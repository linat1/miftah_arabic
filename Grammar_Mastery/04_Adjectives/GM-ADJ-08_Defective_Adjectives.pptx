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10–13 Grammar words · 13–24 The grammar, step by step · 24–26 Quick check · 26–29 I Do · 29–38 We Do (sort, repair, practise) · 38–49 You Do (read, speak, write on your route) · 49–54 Feedback (model, self-check, exit ticket) · 54–56 Preparation.
FLEX slides are optional: use them if the class is moving quickly; otherwise the same activities are on the website for homework.
Content source: Miftah Arabic website, Mastery &amp; Revision › Grammar › Adjectives › GM-ADJ-08 (“Defective Adjectives such as غَالٍ and رَاضٍ”). The Do Now, quick check, game practice, exit ticket and mastery check are the website’s own quizzes; the reading text, speaking and writing tasks are the website’s four-skills application. Explanation slides, worked examples, sorter, repair items, frames and model translations are teacher-made on the website rules and labelled in the notes.
SUPPORT FOR THIS CLASS (Arabic not yet secure; mixed levels):
• Core: three shapes of one word — غَالٍ (a … , subject or after a preposition) · الْغَالِي (with al-) · غَالِيَةٌ (feminine). Develop: the accusative brings the yāʾ back (كِتَابًا غَالِيًا). Stretch: the same pattern in nouns (نَادٍ / النَّادِي · وَادٍ / الْوَادِي · الْمَاضِي) and the masculine plural (رَاضُونَ).
• Pronunciation first: say ghālin with a clear -in; then al-ghālī with a long -ī. Students hear the difference before they write it.
• Common vocabulary: غَالٍ expensive · رَاضٍ satisfied · عَالٍ high · مَاضٍ past · بَاقٍ remaining · هَادٍ guiding (recognition).
• Grammar words are always given in English AND Arabic: students should be able to name the rule, not just apply it.
• Colour code (same as all Miftah lessons): WHO = blue, MEANING = purple, ENDING = pink, PATTERN = orange, KEY WORD = teal.
• SEND “automatic doors”: lesson map, chunked tasks, worked examples before practice, cover-the-text reading and “pass” for reading aloud are built in for everyone.
ROUTES: Core (green) = students whose Arabic is not yet secure; Develop (amber) = on track; Stretch (red) = confident. Same objective for everyone — the task changes, not the goal.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The website Entry Check (all five questions) — it uses the defective words prepared at the end of GM-ADJ-07.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The final yāʾ hides in “a … ” (subject or after a preposition): ghālin. It comes back with al-, in the object, and before tāʾ marbūṭa.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are drawn from the website lesson purpose and its Core / Develop / Stretch routes.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WORDS (3 min). These are the words we use to TALK ABOUT the grammar. Hear → Say → See → Use:
say each term twice, class repeats, point to the example on the card, then ask “Which word means …?” (chat the number).
Core students learn the English name and recognise the Arabic; Develop/Stretch use the Arabic term when explaining a rule.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(3 min) — website “What is a defective adjective?”. Say ghālin / rāḍin / ʿālin aloud with a strong final -in before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(4 min) — website “When the yāʾ returns”. Gesture: hand covering the yāʾ for rows 1–2, hand lifting away for rows 3–5.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(3 min) — website “Feminine forms”, plus teacher-added nouns and the plural for Stretch recognition.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teacher-written hinge questions on the website’s three steps.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at every step: name the rule in English and Arabic as you apply it.
Colour-code hidden (teal) vs visible (pink). Ask each time: “-un / -in, or al- / -an?”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Students copy TWO that are useful for them.
• Core: copy one and change one word. • Develop: copy two and change the noun. • Stretch: combine two into one longer sentence.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Students type H or V and give the reason: -un/-in → hidden; al-, -an or ة →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Students type H or V and give the reason: -un/-in → hidden; al-, -an or ة →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(2 min). Row 5: bāqin = remaining (الْوَقْتُ الْبَاقِي = the remaining time) — useful for exams.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teacher-written practice on the website rules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AND NOTICE (3 min) — website reading text, extended by the teacher. Read it aloud once while students follow; then they hunt for today’s grammar.
Task: Website: underline every defective adjective and say whether its yāʾ is hidden or visible — and why.
SEND reading strategy: cover the text and uncover one sentence at a time. Core: use the green glossary.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(3 min). The first two sentences are the website text; the rest is teacher-written. Questions teacher-written.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 student reads the phrase aloud and names the rule (in English or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(3 min) — website speaking task (45–60 seconds). Sequence: ● 10s think → ↔ 45s rehearse aloud with mic muted → ◎ two named students on open mic (warned in advance) → + ? the class types one follow-up in chat → ↺ one student summarises.
Routes: Core uses the Core prompt and stem; Develop the Develop prompt; Stretch the last prompt.
Website: 45–60 seconds with six accurate structures. Boys: أَنَا رَاضٍ (rāḍin); girls: أَنَا رَاضِيَةٌ.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writing task: Write 90–120 words describing a person, place, object or experience, with at least eight target adjective structures, underlined.
LIVE FEEDBACK: students post their first two sentences in the chat after 3 minutes. Scan and correct the target rule immediately (private chat for individual corrections).
Work with the less able: stay with Core students for the first 3 minutes. SEND: chunk the Core task — “two sentences, then show 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built on today’s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teacher model on the website writing workshop, with an English translation for Core students.
Students find in the model (● 20s → ◎) the items on the chips. 
Then each student chooses ONE thing from the model to add to their own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3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(GM-ADJ-09 · Nisba Adjectives) will spend class time USING this language, so students prepare it tonight — short, simple, easy to access (school guidance: “Simple, Short, Interesting, Relevant, Easy to access”). The five words prepare GM-ADJ-09 (website Adjectives lesson 9: nisba adjectives).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MIFTAH GRAMMAR MASTERY  ·  ADJECTIVES  ·  GM-ADJ-08</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GM-ADJ-08</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Defective Adjectives</a:t>
            </a:r>
            <a:endParaRPr lang="en-US" sz="4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الصِّفَاتُ الْمَنْقُوصَةُ مِثْلُ غَالٍ وَرَاضٍ</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Some adjectives end in a hidden -ī: expensive is ghālin (no yāʾ) in “a … book”, but al-ghālī with al-, ghāliyan as an object, and ghāliya for a feminine noun. The yāʾ hides only in -un and -in positions.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GM-ADJ-08 · Grammar Mastery</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All pathways · revision</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Grammar › Adjectives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GM-ADJ-08 · Adjectives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GM-ADJ-08</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GM-ADJ-08 · Adjectives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GM-ADJ-08</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What “defective” means; when the yāʾ returns; feminine forms.</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Sort hidden / visible yāʾ, complete, repair.</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GM-ADJ-09.</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GM-ADJ-08 · Adjectives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كِتَابٌ</a:t>
            </a:r>
            <a:pPr algn="l" indent="0" marL="0">
              <a:buNone/>
            </a:pPr>
            <a:r>
              <a:rPr lang="en-US" sz="1250" b="1" dirty="0">
                <a:solidFill>
                  <a:srgbClr val="1B3B6F"/>
                </a:solidFill>
                <a:latin typeface="Calibri" pitchFamily="34" charset="0"/>
                <a:cs typeface="Amiri" pitchFamily="2" charset="-78"/>
              </a:rPr>
              <a:t> ...</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غَالِيٌ</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غَالٍ</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غَالِيًا</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الْكِتَابُ</a:t>
            </a:r>
            <a:pPr algn="l" indent="0" marL="0">
              <a:buNone/>
            </a:pPr>
            <a:r>
              <a:rPr lang="en-US" sz="1250" b="1" dirty="0">
                <a:solidFill>
                  <a:srgbClr val="1B3B6F"/>
                </a:solidFill>
                <a:latin typeface="Calibri" pitchFamily="34" charset="0"/>
                <a:cs typeface="Amiri" pitchFamily="2" charset="-78"/>
              </a:rPr>
              <a:t> ...</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الْغَالِي</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الْغَالِ</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غَالٍ</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اشْتَرَيْتُ كِتَابًا</a:t>
            </a:r>
            <a:pPr algn="l" indent="0" marL="0">
              <a:buNone/>
            </a:pPr>
            <a:r>
              <a:rPr lang="en-US" sz="1250" b="1" dirty="0">
                <a:solidFill>
                  <a:srgbClr val="1B3B6F"/>
                </a:solidFill>
                <a:latin typeface="Calibri" pitchFamily="34" charset="0"/>
                <a:cs typeface="Amiri" pitchFamily="2" charset="-78"/>
              </a:rPr>
              <a:t> ...</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غَالٍ</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الْغَالِي</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غَالِيًا</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feminine form</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غَالٍ</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غَالِيُونَ</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غَالِيَةٌ</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principle best supports this lesson?</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Check the noun first</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Translate word by word from English</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Ignore definiteness</a:t>
            </a:r>
            <a:endParaRPr lang="en-US" sz="12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GM-ADJ-08 · Adjectives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كِتَابٌ</a:t>
            </a:r>
            <a:pPr algn="l" indent="0" marL="0">
              <a:buNone/>
            </a:pPr>
            <a:r>
              <a:rPr lang="en-US" sz="1250" b="1" dirty="0">
                <a:solidFill>
                  <a:srgbClr val="1B3B6F"/>
                </a:solidFill>
                <a:latin typeface="Calibri" pitchFamily="34" charset="0"/>
                <a:cs typeface="Amiri" pitchFamily="2" charset="-78"/>
              </a:rPr>
              <a:t> ...</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غَالِيٌ</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غَالٍ</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غَالِيًا</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indefinite nominative drops the yāʾ.</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الْكِتَابُ</a:t>
            </a:r>
            <a:pPr algn="l" indent="0" marL="0">
              <a:buNone/>
            </a:pPr>
            <a:r>
              <a:rPr lang="en-US" sz="1250" b="1" dirty="0">
                <a:solidFill>
                  <a:srgbClr val="1B3B6F"/>
                </a:solidFill>
                <a:latin typeface="Calibri" pitchFamily="34" charset="0"/>
                <a:cs typeface="Amiri" pitchFamily="2" charset="-78"/>
              </a:rPr>
              <a:t> ...</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الْغَالِي</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الْغَالِ</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غَالٍ</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definite form restores the yāʾ.</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اشْتَرَيْتُ كِتَابًا</a:t>
            </a:r>
            <a:pPr algn="l" indent="0" marL="0">
              <a:buNone/>
            </a:pPr>
            <a:r>
              <a:rPr lang="en-US" sz="1250" b="1" dirty="0">
                <a:solidFill>
                  <a:srgbClr val="1B3B6F"/>
                </a:solidFill>
                <a:latin typeface="Calibri" pitchFamily="34" charset="0"/>
                <a:cs typeface="Amiri" pitchFamily="2" charset="-78"/>
              </a:rPr>
              <a:t> ...</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غَالٍ</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الْغَالِي</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غَالِيًا</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indefinite accusative keeps the yāʾ.</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feminine form</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غَالٍ</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غَالِيُونَ</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غَالِيَةٌ</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feminine ending follows the yāʾ.</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principle best supports this lesson?</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Check the noun first</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Translate word by word from English</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Ignore definiteness</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noun controls adjective agreement.</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150" b="1" dirty="0">
                <a:solidFill>
                  <a:srgbClr val="1F2A37"/>
                </a:solidFill>
                <a:latin typeface="Calibri" pitchFamily="34" charset="0"/>
                <a:cs typeface="Amiri" pitchFamily="2" charset="-78"/>
              </a:rPr>
              <a:t>The final yāʾ hides in “a … ” (subject or after a preposition): ghālin. It comes back with al-, in the object, and before tāʾ marbūṭa.</a:t>
            </a:r>
            <a:endParaRPr lang="en-US" sz="115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كِتَابٌ </a:t>
            </a:r>
            <a:pPr rtl="1" algn="ctr" indent="0" marL="0">
              <a:buNone/>
            </a:pPr>
            <a:r>
              <a:rPr lang="ar-SA" altLang="en-US" sz="2400" b="1" dirty="0">
                <a:solidFill>
                  <a:srgbClr val="0E7C86"/>
                </a:solidFill>
                <a:latin typeface="Amiri" pitchFamily="2" charset="-78"/>
                <a:cs typeface="Amiri" pitchFamily="2" charset="-78"/>
              </a:rPr>
              <a:t>غَالٍ</a:t>
            </a:r>
            <a:pPr rtl="1" algn="ctr" indent="0" marL="0">
              <a:buNone/>
            </a:pPr>
            <a:r>
              <a:rPr lang="ar-SA" altLang="en-US" sz="2400" b="1" dirty="0">
                <a:solidFill>
                  <a:srgbClr val="1B3B6F"/>
                </a:solidFill>
                <a:latin typeface="Amiri" pitchFamily="2" charset="-78"/>
                <a:cs typeface="Amiri" pitchFamily="2" charset="-78"/>
              </a:rPr>
              <a:t> ‖ الْكِتَابُ </a:t>
            </a:r>
            <a:pPr rtl="1" algn="ctr" indent="0" marL="0">
              <a:buNone/>
            </a:pPr>
            <a:r>
              <a:rPr lang="ar-SA" altLang="en-US" sz="2400" b="1" dirty="0">
                <a:solidFill>
                  <a:srgbClr val="D6336C"/>
                </a:solidFill>
                <a:latin typeface="Amiri" pitchFamily="2" charset="-78"/>
                <a:cs typeface="Amiri" pitchFamily="2" charset="-78"/>
              </a:rPr>
              <a:t>الْغَالِي</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GM-ADJ-08 · Adjectives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GM-ADJ-08</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Recognise a defective adjective (hidden final yāʾ).</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Write the indefinite form with -in and no yāʾ.</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Bring the yāʾ back with al-, in the accusative and in the feminine.</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Spot the same pattern in common nouns.</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say and write an expensive book and the expensive book.</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write the feminine with the yāʾ.</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write the object with the yāʾ: ghāliyan.</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explain when the yāʾ hides.</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read nādin / an-nādī and wādin / al-wādī.</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use the plural rāḍūna.</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GM-ADJ-08 · Adjectives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THE GRAMMAR WORDS WE WILL USE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Grammar words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مُصْطَلَحَاتُ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الْمَنْقُوصُ</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defective (hidden final yāʾ)</a:t>
            </a:r>
            <a:endParaRPr lang="en-US" sz="1350" dirty="0"/>
          </a:p>
          <a:p>
            <a:pPr indent="0" marL="0">
              <a:buNone/>
            </a:pPr>
            <a:r>
              <a:rPr lang="en-US" sz="1100" i="1" dirty="0">
                <a:solidFill>
                  <a:srgbClr val="5A6472"/>
                </a:solidFill>
                <a:latin typeface="Calibri" pitchFamily="34" charset="0"/>
                <a:cs typeface="Amiri" pitchFamily="2" charset="-78"/>
              </a:rPr>
              <a:t>al-man-qū-ṣu</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غَالٍ · رَاضٍ</a:t>
            </a:r>
            <a:endParaRPr lang="ar-SA" sz="13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Shape 23"/>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7" name="Text 24"/>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8" name="Text 25"/>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غَالٍ</a:t>
            </a:r>
            <a:endParaRPr lang="ar-SA" sz="3000" dirty="0"/>
          </a:p>
        </p:txBody>
      </p:sp>
      <p:sp>
        <p:nvSpPr>
          <p:cNvPr id="29" name="Text 26"/>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expensive</a:t>
            </a:r>
            <a:endParaRPr lang="en-US" sz="1350" dirty="0"/>
          </a:p>
          <a:p>
            <a:pPr indent="0" marL="0">
              <a:buNone/>
            </a:pPr>
            <a:r>
              <a:rPr lang="en-US" sz="1100" i="1" dirty="0">
                <a:solidFill>
                  <a:srgbClr val="5A6472"/>
                </a:solidFill>
                <a:latin typeface="Calibri" pitchFamily="34" charset="0"/>
                <a:cs typeface="Amiri" pitchFamily="2" charset="-78"/>
              </a:rPr>
              <a:t>ghālin</a:t>
            </a:r>
            <a:endParaRPr lang="en-US" sz="1350" dirty="0"/>
          </a:p>
        </p:txBody>
      </p:sp>
      <p:sp>
        <p:nvSpPr>
          <p:cNvPr id="30" name="Text 27"/>
          <p:cNvSpPr txBox="1"/>
          <p:nvPr/>
        </p:nvSpPr>
        <p:spPr>
          <a:xfrm>
            <a:off x="4416552"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الْغَالِي · غَالِيَةٌ</a:t>
            </a:r>
            <a:endParaRPr lang="ar-SA" sz="130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4" name="Shape 31"/>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رَاضٍ</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satisfied, pleased</a:t>
            </a:r>
            <a:endParaRPr lang="en-US" sz="1350" dirty="0"/>
          </a:p>
          <a:p>
            <a:pPr indent="0" marL="0">
              <a:buNone/>
            </a:pPr>
            <a:r>
              <a:rPr lang="en-US" sz="1100" i="1" dirty="0">
                <a:solidFill>
                  <a:srgbClr val="5A6472"/>
                </a:solidFill>
                <a:latin typeface="Calibri" pitchFamily="34" charset="0"/>
                <a:cs typeface="Amiri" pitchFamily="2" charset="-78"/>
              </a:rPr>
              <a:t>rāḍin</a:t>
            </a:r>
            <a:endParaRPr lang="en-US" sz="1350" dirty="0"/>
          </a:p>
        </p:txBody>
      </p:sp>
      <p:sp>
        <p:nvSpPr>
          <p:cNvPr id="38" name="Text 35"/>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رَاضٍ عَنْ …</a:t>
            </a:r>
            <a:endParaRPr lang="ar-SA" sz="13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عَالٍ</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high</a:t>
            </a:r>
            <a:endParaRPr lang="en-US" sz="1350" dirty="0"/>
          </a:p>
          <a:p>
            <a:pPr indent="0" marL="0">
              <a:buNone/>
            </a:pPr>
            <a:r>
              <a:rPr lang="en-US" sz="1100" i="1" dirty="0">
                <a:solidFill>
                  <a:srgbClr val="5A6472"/>
                </a:solidFill>
                <a:latin typeface="Calibri" pitchFamily="34" charset="0"/>
                <a:cs typeface="Amiri" pitchFamily="2" charset="-78"/>
              </a:rPr>
              <a:t>ʿālin</a:t>
            </a:r>
            <a:endParaRPr lang="en-US" sz="1350" dirty="0"/>
          </a:p>
        </p:txBody>
      </p:sp>
      <p:sp>
        <p:nvSpPr>
          <p:cNvPr id="46" name="Text 43"/>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جَبَلٌ عَالٍ</a:t>
            </a:r>
            <a:endParaRPr lang="ar-SA" sz="1300" dirty="0"/>
          </a:p>
        </p:txBody>
      </p:sp>
      <p:sp>
        <p:nvSpPr>
          <p:cNvPr id="47" name="Shape 4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4389120" y="4261104"/>
            <a:ext cx="310896" cy="310896"/>
          </a:xfrm>
          <a:prstGeom prst="ellipse">
            <a:avLst/>
          </a:prstGeom>
          <a:solidFill>
            <a:srgbClr val="F4F1EA"/>
          </a:solidFill>
          <a:ln w="12700">
            <a:solidFill>
              <a:srgbClr val="F4F1EA"/>
            </a:solidFill>
            <a:prstDash val="solid"/>
          </a:ln>
        </p:spPr>
      </p:sp>
      <p:sp>
        <p:nvSpPr>
          <p:cNvPr id="49" name="Text 4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0" name="Shape 4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مَاضٍ</a:t>
            </a:r>
            <a:endParaRPr lang="ar-SA" sz="3000" dirty="0"/>
          </a:p>
        </p:txBody>
      </p:sp>
      <p:sp>
        <p:nvSpPr>
          <p:cNvPr id="53" name="Text 5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past, last</a:t>
            </a:r>
            <a:endParaRPr lang="en-US" sz="1350" dirty="0"/>
          </a:p>
          <a:p>
            <a:pPr indent="0" marL="0">
              <a:buNone/>
            </a:pPr>
            <a:r>
              <a:rPr lang="en-US" sz="1100" i="1" dirty="0">
                <a:solidFill>
                  <a:srgbClr val="5A6472"/>
                </a:solidFill>
                <a:latin typeface="Calibri" pitchFamily="34" charset="0"/>
                <a:cs typeface="Amiri" pitchFamily="2" charset="-78"/>
              </a:rPr>
              <a:t>māḍin</a:t>
            </a:r>
            <a:endParaRPr lang="en-US" sz="1350" dirty="0"/>
          </a:p>
        </p:txBody>
      </p:sp>
      <p:sp>
        <p:nvSpPr>
          <p:cNvPr id="54" name="Text 51"/>
          <p:cNvSpPr txBox="1"/>
          <p:nvPr/>
        </p:nvSpPr>
        <p:spPr>
          <a:xfrm>
            <a:off x="4416552"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cs typeface="Amiri" pitchFamily="2" charset="-78"/>
              </a:rPr>
              <a:t>الْأُسْبُوعُ الْمَاضِي</a:t>
            </a:r>
            <a:endParaRPr lang="ar-SA" sz="1300" dirty="0"/>
          </a:p>
        </p:txBody>
      </p:sp>
      <p:sp>
        <p:nvSpPr>
          <p:cNvPr id="55" name="Shape 5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566928" y="4261104"/>
            <a:ext cx="310896" cy="310896"/>
          </a:xfrm>
          <a:prstGeom prst="ellipse">
            <a:avLst/>
          </a:prstGeom>
          <a:solidFill>
            <a:srgbClr val="F4F1EA"/>
          </a:solidFill>
          <a:ln w="12700">
            <a:solidFill>
              <a:srgbClr val="F4F1EA"/>
            </a:solidFill>
            <a:prstDash val="solid"/>
          </a:ln>
        </p:spPr>
      </p:sp>
      <p:sp>
        <p:nvSpPr>
          <p:cNvPr id="57" name="Text 5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58" name="Shape 55"/>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تَنْوِينُ الْكَسْرِ</a:t>
            </a:r>
            <a:endParaRPr lang="ar-SA" sz="3000" dirty="0"/>
          </a:p>
        </p:txBody>
      </p:sp>
      <p:sp>
        <p:nvSpPr>
          <p:cNvPr id="61" name="Text 58"/>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kasra tanwīn (-in)</a:t>
            </a:r>
            <a:endParaRPr lang="en-US" sz="1350" dirty="0"/>
          </a:p>
          <a:p>
            <a:pPr indent="0" marL="0">
              <a:buNone/>
            </a:pPr>
            <a:r>
              <a:rPr lang="en-US" sz="1100" i="1" dirty="0">
                <a:solidFill>
                  <a:srgbClr val="5A6472"/>
                </a:solidFill>
                <a:latin typeface="Calibri" pitchFamily="34" charset="0"/>
                <a:cs typeface="Amiri" pitchFamily="2" charset="-78"/>
              </a:rPr>
              <a:t>tan-wī-nu al-kas-ri</a:t>
            </a:r>
            <a:endParaRPr lang="en-US" sz="1350" dirty="0"/>
          </a:p>
        </p:txBody>
      </p:sp>
      <p:sp>
        <p:nvSpPr>
          <p:cNvPr id="62" name="Text 59"/>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what is left: </a:t>
            </a:r>
            <a:pPr algn="l" indent="0" marL="0">
              <a:buNone/>
            </a:pPr>
            <a:r>
              <a:rPr lang="ar-SA" altLang="en-US" sz="1300" dirty="0">
                <a:solidFill>
                  <a:srgbClr val="8A6D1E"/>
                </a:solidFill>
                <a:latin typeface="Amiri" pitchFamily="2" charset="-78"/>
                <a:cs typeface="Amiri" pitchFamily="2" charset="-78"/>
              </a:rPr>
              <a:t>ـٍ</a:t>
            </a:r>
            <a:endParaRPr lang="en-US" sz="100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GM-ADJ-08 · Adjectives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STEP 1 · WHAT IS A DEFECTIVE ADJECTIVE?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yāʾ that hides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مَا الْمَنْقُوصُ؟</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GM-ADJ-08</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THE RULE, STEP BY STEP</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Some adjectives end in an unstressed yāʾ (website).</a:t>
            </a:r>
            <a:endParaRPr lang="en-US" sz="1300" dirty="0"/>
          </a:p>
        </p:txBody>
      </p:sp>
      <p:sp>
        <p:nvSpPr>
          <p:cNvPr id="20" name="Shape 17"/>
          <p:cNvSpPr/>
          <p:nvPr/>
        </p:nvSpPr>
        <p:spPr>
          <a:xfrm>
            <a:off x="658368" y="2885846"/>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288584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776118"/>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In the INDEFINITE nominative and genitive singular, the yāʾ is dropped in writing and speech (website).</a:t>
            </a:r>
            <a:endParaRPr lang="en-US" sz="1300" dirty="0"/>
          </a:p>
        </p:txBody>
      </p:sp>
      <p:sp>
        <p:nvSpPr>
          <p:cNvPr id="23" name="Shape 20"/>
          <p:cNvSpPr/>
          <p:nvPr/>
        </p:nvSpPr>
        <p:spPr>
          <a:xfrm>
            <a:off x="658368" y="3485693"/>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485693"/>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375965"/>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Only kasra tanwīn is left: ghālin, rāḍin, ʿālin.</a:t>
            </a:r>
            <a:endParaRPr lang="en-US" sz="1300" dirty="0"/>
          </a:p>
        </p:txBody>
      </p:sp>
      <p:sp>
        <p:nvSpPr>
          <p:cNvPr id="26" name="Shape 23"/>
          <p:cNvSpPr/>
          <p:nvPr/>
        </p:nvSpPr>
        <p:spPr>
          <a:xfrm>
            <a:off x="658368" y="4085539"/>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085539"/>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3975811"/>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So “an expensive book” is kitābun ghālin — not “ghāliyun”.</a:t>
            </a:r>
            <a:endParaRPr lang="en-US" sz="1300" dirty="0"/>
          </a:p>
        </p:txBody>
      </p:sp>
      <p:sp>
        <p:nvSpPr>
          <p:cNvPr id="29" name="Shape 26"/>
          <p:cNvSpPr/>
          <p:nvPr/>
        </p:nvSpPr>
        <p:spPr>
          <a:xfrm>
            <a:off x="658368" y="4685386"/>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58368" y="468538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5</a:t>
            </a:r>
            <a:endParaRPr lang="en-US" sz="1100" dirty="0"/>
          </a:p>
        </p:txBody>
      </p:sp>
      <p:sp>
        <p:nvSpPr>
          <p:cNvPr id="31" name="Text 28"/>
          <p:cNvSpPr txBox="1"/>
          <p:nvPr/>
        </p:nvSpPr>
        <p:spPr>
          <a:xfrm>
            <a:off x="1078992" y="4575658"/>
            <a:ext cx="5394960" cy="563270"/>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It is the same word; only the spelling of the ending changes.</a:t>
            </a:r>
            <a:endParaRPr lang="en-US" sz="1300" dirty="0"/>
          </a:p>
        </p:txBody>
      </p:sp>
      <p:sp>
        <p:nvSpPr>
          <p:cNvPr id="32" name="Shape 29"/>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Text 30"/>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WORKED EXAMPLES</a:t>
            </a:r>
            <a:endParaRPr lang="en-US" sz="1000" dirty="0"/>
          </a:p>
        </p:txBody>
      </p:sp>
      <p:sp>
        <p:nvSpPr>
          <p:cNvPr id="34" name="Text 31"/>
          <p:cNvSpPr txBox="1"/>
          <p:nvPr/>
        </p:nvSpPr>
        <p:spPr>
          <a:xfrm>
            <a:off x="6949440" y="2194560"/>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cs typeface="Amiri" pitchFamily="2" charset="-78"/>
              </a:rPr>
              <a:t>هَذَا كِتَابٌ غَالٍ.</a:t>
            </a:r>
            <a:endParaRPr lang="ar-SA" sz="1950" dirty="0"/>
          </a:p>
        </p:txBody>
      </p:sp>
      <p:sp>
        <p:nvSpPr>
          <p:cNvPr id="35" name="Text 32"/>
          <p:cNvSpPr txBox="1"/>
          <p:nvPr/>
        </p:nvSpPr>
        <p:spPr>
          <a:xfrm>
            <a:off x="6949440" y="2619573"/>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This is an expensive book.  ·  website · nominative</a:t>
            </a:r>
            <a:endParaRPr lang="en-US" sz="1100" dirty="0"/>
          </a:p>
        </p:txBody>
      </p:sp>
      <p:sp>
        <p:nvSpPr>
          <p:cNvPr id="36" name="Shape 33"/>
          <p:cNvSpPr/>
          <p:nvPr/>
        </p:nvSpPr>
        <p:spPr>
          <a:xfrm>
            <a:off x="6995160" y="2935224"/>
            <a:ext cx="4553712" cy="0"/>
          </a:xfrm>
          <a:prstGeom prst="line">
            <a:avLst/>
          </a:prstGeom>
          <a:noFill/>
          <a:ln w="9525">
            <a:solidFill>
              <a:srgbClr val="E4DCCB"/>
            </a:solidFill>
            <a:prstDash val="dash"/>
          </a:ln>
        </p:spPr>
      </p:sp>
      <p:sp>
        <p:nvSpPr>
          <p:cNvPr id="37" name="Text 34"/>
          <p:cNvSpPr txBox="1"/>
          <p:nvPr/>
        </p:nvSpPr>
        <p:spPr>
          <a:xfrm>
            <a:off x="6949440" y="2953512"/>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cs typeface="Amiri" pitchFamily="2" charset="-78"/>
              </a:rPr>
              <a:t>مَرَرْتُ بِكِتَابٍ غَالٍ.</a:t>
            </a:r>
            <a:endParaRPr lang="ar-SA" sz="1950" dirty="0"/>
          </a:p>
        </p:txBody>
      </p:sp>
      <p:sp>
        <p:nvSpPr>
          <p:cNvPr id="38" name="Text 35"/>
          <p:cNvSpPr txBox="1"/>
          <p:nvPr/>
        </p:nvSpPr>
        <p:spPr>
          <a:xfrm>
            <a:off x="6949440" y="3378525"/>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 passed an expensive book.  ·  website · genitive</a:t>
            </a:r>
            <a:endParaRPr lang="en-US" sz="1100" dirty="0"/>
          </a:p>
        </p:txBody>
      </p:sp>
      <p:sp>
        <p:nvSpPr>
          <p:cNvPr id="39" name="Shape 36"/>
          <p:cNvSpPr/>
          <p:nvPr/>
        </p:nvSpPr>
        <p:spPr>
          <a:xfrm>
            <a:off x="6995160" y="3694176"/>
            <a:ext cx="4553712" cy="0"/>
          </a:xfrm>
          <a:prstGeom prst="line">
            <a:avLst/>
          </a:prstGeom>
          <a:noFill/>
          <a:ln w="9525">
            <a:solidFill>
              <a:srgbClr val="E4DCCB"/>
            </a:solidFill>
            <a:prstDash val="dash"/>
          </a:ln>
        </p:spPr>
      </p:sp>
      <p:sp>
        <p:nvSpPr>
          <p:cNvPr id="40" name="Text 37"/>
          <p:cNvSpPr txBox="1"/>
          <p:nvPr/>
        </p:nvSpPr>
        <p:spPr>
          <a:xfrm>
            <a:off x="6949440" y="3712464"/>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cs typeface="Amiri" pitchFamily="2" charset="-78"/>
              </a:rPr>
              <a:t>هُوَ رَاضٍ عَنِ النَّتِيجَةِ.</a:t>
            </a:r>
            <a:endParaRPr lang="ar-SA" sz="1950" dirty="0"/>
          </a:p>
        </p:txBody>
      </p:sp>
      <p:sp>
        <p:nvSpPr>
          <p:cNvPr id="41" name="Text 38"/>
          <p:cNvSpPr txBox="1"/>
          <p:nvPr/>
        </p:nvSpPr>
        <p:spPr>
          <a:xfrm>
            <a:off x="6949440" y="4137477"/>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He is satisfied with the result.  ·  website</a:t>
            </a:r>
            <a:endParaRPr lang="en-US" sz="1100" dirty="0"/>
          </a:p>
        </p:txBody>
      </p:sp>
      <p:sp>
        <p:nvSpPr>
          <p:cNvPr id="42" name="Shape 39"/>
          <p:cNvSpPr/>
          <p:nvPr/>
        </p:nvSpPr>
        <p:spPr>
          <a:xfrm>
            <a:off x="6995160" y="4453128"/>
            <a:ext cx="4553712" cy="0"/>
          </a:xfrm>
          <a:prstGeom prst="line">
            <a:avLst/>
          </a:prstGeom>
          <a:noFill/>
          <a:ln w="9525">
            <a:solidFill>
              <a:srgbClr val="E4DCCB"/>
            </a:solidFill>
            <a:prstDash val="dash"/>
          </a:ln>
        </p:spPr>
      </p:sp>
      <p:sp>
        <p:nvSpPr>
          <p:cNvPr id="43" name="Text 40"/>
          <p:cNvSpPr txBox="1"/>
          <p:nvPr/>
        </p:nvSpPr>
        <p:spPr>
          <a:xfrm>
            <a:off x="6949440" y="4471416"/>
            <a:ext cx="4645152" cy="425013"/>
          </a:xfrm>
          <a:prstGeom prst="rect">
            <a:avLst/>
          </a:prstGeom>
          <a:noFill/>
          <a:ln/>
        </p:spPr>
        <p:txBody>
          <a:bodyPr wrap="square" lIns="0" tIns="0" rIns="0" bIns="0" rtlCol="0" anchor="ctr"/>
          <a:lstStyle/>
          <a:p>
            <a:pPr rtl="1" algn="ctr" indent="0" marL="0">
              <a:buNone/>
            </a:pPr>
            <a:r>
              <a:rPr lang="ar-SA" altLang="en-US" sz="1950" b="1" dirty="0">
                <a:solidFill>
                  <a:srgbClr val="1B3B6F"/>
                </a:solidFill>
                <a:latin typeface="Amiri" pitchFamily="2" charset="-78"/>
                <a:cs typeface="Amiri" pitchFamily="2" charset="-78"/>
              </a:rPr>
              <a:t>هَذَا جَبَلٌ عَالٍ.</a:t>
            </a:r>
            <a:endParaRPr lang="ar-SA" sz="1950" dirty="0"/>
          </a:p>
        </p:txBody>
      </p:sp>
      <p:sp>
        <p:nvSpPr>
          <p:cNvPr id="44" name="Text 41"/>
          <p:cNvSpPr txBox="1"/>
          <p:nvPr/>
        </p:nvSpPr>
        <p:spPr>
          <a:xfrm>
            <a:off x="6949440" y="4896429"/>
            <a:ext cx="4645152" cy="303581"/>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This is a high mountain.</a:t>
            </a:r>
            <a:endParaRPr lang="en-US" sz="1100" dirty="0"/>
          </a:p>
        </p:txBody>
      </p:sp>
      <p:sp>
        <p:nvSpPr>
          <p:cNvPr id="45" name="Shape 42"/>
          <p:cNvSpPr/>
          <p:nvPr/>
        </p:nvSpPr>
        <p:spPr>
          <a:xfrm>
            <a:off x="457200" y="5394960"/>
            <a:ext cx="11274552" cy="914400"/>
          </a:xfrm>
          <a:prstGeom prst="roundRect">
            <a:avLst>
              <a:gd name="adj" fmla="val 8000"/>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B83227"/>
                </a:solidFill>
                <a:latin typeface="Calibri" pitchFamily="34" charset="0"/>
                <a:cs typeface="Amiri" pitchFamily="2" charset="-78"/>
              </a:rPr>
              <a:t>WEBSITE CLINIC</a:t>
            </a:r>
            <a:endParaRPr lang="en-US" sz="1100" dirty="0"/>
          </a:p>
        </p:txBody>
      </p:sp>
      <p:sp>
        <p:nvSpPr>
          <p:cNvPr id="47" name="Text 44"/>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full formal Arabic, never write ghāliyun with the yāʾ in the indefinite nominative: write ghālin.</a:t>
            </a:r>
            <a:endParaRPr lang="en-US" sz="12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GM-ADJ-08 · Adjectives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 STEP 2 · WHEN THE YĀʾ RETURNS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Hidden or visible? Four positions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مَتَى تَعُودُ الْيَاءُ؟</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11312" y="1810512"/>
            <a:ext cx="3447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yāʾ?</a:t>
            </a:r>
            <a:endParaRPr lang="en-US" sz="1100" dirty="0"/>
          </a:p>
        </p:txBody>
      </p:sp>
      <p:sp>
        <p:nvSpPr>
          <p:cNvPr id="17" name="Text 14"/>
          <p:cNvSpPr txBox="1"/>
          <p:nvPr/>
        </p:nvSpPr>
        <p:spPr>
          <a:xfrm>
            <a:off x="363931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 (website)</a:t>
            </a:r>
            <a:endParaRPr lang="en-US" sz="1100" dirty="0"/>
          </a:p>
        </p:txBody>
      </p:sp>
      <p:sp>
        <p:nvSpPr>
          <p:cNvPr id="18" name="Text 15"/>
          <p:cNvSpPr txBox="1"/>
          <p:nvPr/>
        </p:nvSpPr>
        <p:spPr>
          <a:xfrm>
            <a:off x="53035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Position</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8247888" y="2267712"/>
            <a:ext cx="34107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hidden: -in</a:t>
            </a:r>
            <a:endParaRPr lang="en-US" sz="1100" dirty="0"/>
          </a:p>
        </p:txBody>
      </p:sp>
      <p:sp>
        <p:nvSpPr>
          <p:cNvPr id="21" name="Text 18"/>
          <p:cNvSpPr txBox="1"/>
          <p:nvPr/>
        </p:nvSpPr>
        <p:spPr>
          <a:xfrm>
            <a:off x="3657600" y="2267712"/>
            <a:ext cx="43891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كِتَابٌ غَالٍ</a:t>
            </a:r>
            <a:endParaRPr lang="ar-SA" sz="2400" dirty="0"/>
          </a:p>
        </p:txBody>
      </p:sp>
      <p:sp>
        <p:nvSpPr>
          <p:cNvPr id="22" name="Text 19"/>
          <p:cNvSpPr txBox="1"/>
          <p:nvPr/>
        </p:nvSpPr>
        <p:spPr>
          <a:xfrm>
            <a:off x="566928" y="2267712"/>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indefinite, subject / predicate</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247888" y="3004718"/>
            <a:ext cx="34107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hidden: -in</a:t>
            </a:r>
            <a:endParaRPr lang="en-US" sz="1100" dirty="0"/>
          </a:p>
        </p:txBody>
      </p:sp>
      <p:sp>
        <p:nvSpPr>
          <p:cNvPr id="27" name="Text 24"/>
          <p:cNvSpPr txBox="1"/>
          <p:nvPr/>
        </p:nvSpPr>
        <p:spPr>
          <a:xfrm>
            <a:off x="3657600" y="3004718"/>
            <a:ext cx="43891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بِكِتَابٍ غَالٍ</a:t>
            </a:r>
            <a:endParaRPr lang="ar-SA" sz="2400" dirty="0"/>
          </a:p>
        </p:txBody>
      </p:sp>
      <p:sp>
        <p:nvSpPr>
          <p:cNvPr id="28" name="Text 25"/>
          <p:cNvSpPr txBox="1"/>
          <p:nvPr/>
        </p:nvSpPr>
        <p:spPr>
          <a:xfrm>
            <a:off x="566928" y="3004718"/>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indefinite, after a preposition</a:t>
            </a:r>
            <a:endParaRPr lang="en-US" sz="1100" dirty="0"/>
          </a:p>
        </p:txBody>
      </p:sp>
      <p:sp>
        <p:nvSpPr>
          <p:cNvPr id="29" name="Shape 26"/>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2" name="Text 29"/>
          <p:cNvSpPr txBox="1"/>
          <p:nvPr/>
        </p:nvSpPr>
        <p:spPr>
          <a:xfrm>
            <a:off x="8247888" y="3741725"/>
            <a:ext cx="34107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VISIBLE: -ī</a:t>
            </a:r>
            <a:endParaRPr lang="en-US" sz="1100" dirty="0"/>
          </a:p>
        </p:txBody>
      </p:sp>
      <p:sp>
        <p:nvSpPr>
          <p:cNvPr id="33" name="Text 30"/>
          <p:cNvSpPr txBox="1"/>
          <p:nvPr/>
        </p:nvSpPr>
        <p:spPr>
          <a:xfrm>
            <a:off x="3657600" y="3741725"/>
            <a:ext cx="43891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الْكِتَابُ الْغَالِي</a:t>
            </a:r>
            <a:endParaRPr lang="ar-SA" sz="2400" dirty="0"/>
          </a:p>
        </p:txBody>
      </p:sp>
      <p:sp>
        <p:nvSpPr>
          <p:cNvPr id="34" name="Text 31"/>
          <p:cNvSpPr txBox="1"/>
          <p:nvPr/>
        </p:nvSpPr>
        <p:spPr>
          <a:xfrm>
            <a:off x="566928" y="3741725"/>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definite (al-)</a:t>
            </a:r>
            <a:endParaRPr lang="en-US" sz="1100" dirty="0"/>
          </a:p>
        </p:txBody>
      </p:sp>
      <p:sp>
        <p:nvSpPr>
          <p:cNvPr id="35" name="Shape 32"/>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8" name="Text 35"/>
          <p:cNvSpPr txBox="1"/>
          <p:nvPr/>
        </p:nvSpPr>
        <p:spPr>
          <a:xfrm>
            <a:off x="8247888" y="4478731"/>
            <a:ext cx="34107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VISIBLE: -iyan</a:t>
            </a:r>
            <a:endParaRPr lang="en-US" sz="1100" dirty="0"/>
          </a:p>
        </p:txBody>
      </p:sp>
      <p:sp>
        <p:nvSpPr>
          <p:cNvPr id="39" name="Text 36"/>
          <p:cNvSpPr txBox="1"/>
          <p:nvPr/>
        </p:nvSpPr>
        <p:spPr>
          <a:xfrm>
            <a:off x="3657600" y="4478731"/>
            <a:ext cx="43891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اشْتَرَيْتُ كِتَابًا غَالِيًا.</a:t>
            </a:r>
            <a:endParaRPr lang="ar-SA" sz="2400" dirty="0"/>
          </a:p>
        </p:txBody>
      </p:sp>
      <p:sp>
        <p:nvSpPr>
          <p:cNvPr id="40" name="Text 37"/>
          <p:cNvSpPr txBox="1"/>
          <p:nvPr/>
        </p:nvSpPr>
        <p:spPr>
          <a:xfrm>
            <a:off x="566928" y="4478731"/>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indefinite object</a:t>
            </a:r>
            <a:endParaRPr lang="en-US" sz="1100" dirty="0"/>
          </a:p>
        </p:txBody>
      </p:sp>
      <p:sp>
        <p:nvSpPr>
          <p:cNvPr id="41" name="Shape 38"/>
          <p:cNvSpPr/>
          <p:nvPr/>
        </p:nvSpPr>
        <p:spPr>
          <a:xfrm>
            <a:off x="11091672" y="4524451"/>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52445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4" name="Text 41"/>
          <p:cNvSpPr txBox="1"/>
          <p:nvPr/>
        </p:nvSpPr>
        <p:spPr>
          <a:xfrm>
            <a:off x="8247888" y="5215738"/>
            <a:ext cx="34107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VISIBLE: -iyan</a:t>
            </a:r>
            <a:endParaRPr lang="en-US" sz="1100" dirty="0"/>
          </a:p>
        </p:txBody>
      </p:sp>
      <p:sp>
        <p:nvSpPr>
          <p:cNvPr id="45" name="Text 42"/>
          <p:cNvSpPr txBox="1"/>
          <p:nvPr/>
        </p:nvSpPr>
        <p:spPr>
          <a:xfrm>
            <a:off x="3657600" y="5215738"/>
            <a:ext cx="438912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رَأَيْتُ رَجُلًا رَاضِيًا.</a:t>
            </a:r>
            <a:endParaRPr lang="ar-SA" sz="2400" dirty="0"/>
          </a:p>
        </p:txBody>
      </p:sp>
      <p:sp>
        <p:nvSpPr>
          <p:cNvPr id="46" name="Text 43"/>
          <p:cNvSpPr txBox="1"/>
          <p:nvPr/>
        </p:nvSpPr>
        <p:spPr>
          <a:xfrm>
            <a:off x="566928" y="5215738"/>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indefinite object (person)</a:t>
            </a:r>
            <a:endParaRPr lang="en-US" sz="1100" dirty="0"/>
          </a:p>
        </p:txBody>
      </p:sp>
      <p:sp>
        <p:nvSpPr>
          <p:cNvPr id="47" name="Text 4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Memory rule: the yāʾ hides only behind -un and -in. With al- or -an, it comes back.</a:t>
            </a:r>
            <a:endParaRPr lang="en-US" sz="11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GM-ADJ-08 · Adjectives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 STEP 3 · FEMININE FORMS (WEBSITE) · AND THE SAME PATTERN IN NOUNS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Feminine — and nouns that behave the same</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الْمُؤَنَّثُ وَأَسْمَاءٌ مِثْلُهُ</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11312" y="1810512"/>
            <a:ext cx="3447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Notice</a:t>
            </a:r>
            <a:endParaRPr lang="en-US" sz="1100" dirty="0"/>
          </a:p>
        </p:txBody>
      </p:sp>
      <p:sp>
        <p:nvSpPr>
          <p:cNvPr id="17" name="Text 14"/>
          <p:cNvSpPr txBox="1"/>
          <p:nvPr/>
        </p:nvSpPr>
        <p:spPr>
          <a:xfrm>
            <a:off x="363931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Arabic</a:t>
            </a:r>
            <a:endParaRPr lang="en-US" sz="1100" dirty="0"/>
          </a:p>
        </p:txBody>
      </p:sp>
      <p:sp>
        <p:nvSpPr>
          <p:cNvPr id="18" name="Text 15"/>
          <p:cNvSpPr txBox="1"/>
          <p:nvPr/>
        </p:nvSpPr>
        <p:spPr>
          <a:xfrm>
            <a:off x="53035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247888" y="2267712"/>
            <a:ext cx="34107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feminine: yāʾ always visible (website)</a:t>
            </a:r>
            <a:endParaRPr lang="en-US" sz="1100" dirty="0"/>
          </a:p>
        </p:txBody>
      </p:sp>
      <p:sp>
        <p:nvSpPr>
          <p:cNvPr id="21" name="Text 18"/>
          <p:cNvSpPr txBox="1"/>
          <p:nvPr/>
        </p:nvSpPr>
        <p:spPr>
          <a:xfrm>
            <a:off x="3657600" y="2267712"/>
            <a:ext cx="43891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حَقِيبَةٌ غَالِيَةٌ</a:t>
            </a:r>
            <a:endParaRPr lang="ar-SA" sz="2400" dirty="0"/>
          </a:p>
        </p:txBody>
      </p:sp>
      <p:sp>
        <p:nvSpPr>
          <p:cNvPr id="22" name="Text 19"/>
          <p:cNvSpPr txBox="1"/>
          <p:nvPr/>
        </p:nvSpPr>
        <p:spPr>
          <a:xfrm>
            <a:off x="566928" y="2267712"/>
            <a:ext cx="29260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expensive bag</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247888" y="2881884"/>
            <a:ext cx="34107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website</a:t>
            </a:r>
            <a:endParaRPr lang="en-US" sz="1100" dirty="0"/>
          </a:p>
        </p:txBody>
      </p:sp>
      <p:sp>
        <p:nvSpPr>
          <p:cNvPr id="27" name="Text 24"/>
          <p:cNvSpPr txBox="1"/>
          <p:nvPr/>
        </p:nvSpPr>
        <p:spPr>
          <a:xfrm>
            <a:off x="3657600" y="2881884"/>
            <a:ext cx="43891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طَالِبَةٌ رَاضِيَةٌ</a:t>
            </a:r>
            <a:endParaRPr lang="ar-SA" sz="2400" dirty="0"/>
          </a:p>
        </p:txBody>
      </p:sp>
      <p:sp>
        <p:nvSpPr>
          <p:cNvPr id="28" name="Text 25"/>
          <p:cNvSpPr txBox="1"/>
          <p:nvPr/>
        </p:nvSpPr>
        <p:spPr>
          <a:xfrm>
            <a:off x="566928" y="2881884"/>
            <a:ext cx="29260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satisfied student (f.)</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247888" y="3496056"/>
            <a:ext cx="34107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definite → -ī</a:t>
            </a:r>
            <a:endParaRPr lang="en-US" sz="1100" dirty="0"/>
          </a:p>
        </p:txBody>
      </p:sp>
      <p:sp>
        <p:nvSpPr>
          <p:cNvPr id="33" name="Text 30"/>
          <p:cNvSpPr txBox="1"/>
          <p:nvPr/>
        </p:nvSpPr>
        <p:spPr>
          <a:xfrm>
            <a:off x="3657600" y="3496056"/>
            <a:ext cx="43891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الْأُسْبُوعُ الْمَاضِي</a:t>
            </a:r>
            <a:endParaRPr lang="ar-SA" sz="2400" dirty="0"/>
          </a:p>
        </p:txBody>
      </p:sp>
      <p:sp>
        <p:nvSpPr>
          <p:cNvPr id="34" name="Text 31"/>
          <p:cNvSpPr txBox="1"/>
          <p:nvPr/>
        </p:nvSpPr>
        <p:spPr>
          <a:xfrm>
            <a:off x="566928" y="3496056"/>
            <a:ext cx="29260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last week</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247888" y="4110228"/>
            <a:ext cx="34107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noun with the same pattern</a:t>
            </a:r>
            <a:endParaRPr lang="en-US" sz="1100" dirty="0"/>
          </a:p>
        </p:txBody>
      </p:sp>
      <p:sp>
        <p:nvSpPr>
          <p:cNvPr id="39" name="Text 36"/>
          <p:cNvSpPr txBox="1"/>
          <p:nvPr/>
        </p:nvSpPr>
        <p:spPr>
          <a:xfrm>
            <a:off x="3657600" y="4110228"/>
            <a:ext cx="43891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نَادٍ · النَّادِي</a:t>
            </a:r>
            <a:endParaRPr lang="ar-SA" sz="2400" dirty="0"/>
          </a:p>
        </p:txBody>
      </p:sp>
      <p:sp>
        <p:nvSpPr>
          <p:cNvPr id="40" name="Text 37"/>
          <p:cNvSpPr txBox="1"/>
          <p:nvPr/>
        </p:nvSpPr>
        <p:spPr>
          <a:xfrm>
            <a:off x="566928" y="4110228"/>
            <a:ext cx="29260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club / the club</a:t>
            </a:r>
            <a:endParaRPr lang="en-US" sz="1100" dirty="0"/>
          </a:p>
        </p:txBody>
      </p:sp>
      <p:sp>
        <p:nvSpPr>
          <p:cNvPr id="41" name="Shape 38"/>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2" name="Text 39"/>
          <p:cNvSpPr txBox="1"/>
          <p:nvPr/>
        </p:nvSpPr>
        <p:spPr>
          <a:xfrm>
            <a:off x="8247888" y="4724400"/>
            <a:ext cx="34107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noun with the same pattern</a:t>
            </a:r>
            <a:endParaRPr lang="en-US" sz="1100" dirty="0"/>
          </a:p>
        </p:txBody>
      </p:sp>
      <p:sp>
        <p:nvSpPr>
          <p:cNvPr id="43" name="Text 40"/>
          <p:cNvSpPr txBox="1"/>
          <p:nvPr/>
        </p:nvSpPr>
        <p:spPr>
          <a:xfrm>
            <a:off x="3657600" y="4724400"/>
            <a:ext cx="43891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وَادٍ · الْوَادِي</a:t>
            </a:r>
            <a:endParaRPr lang="ar-SA" sz="2400" dirty="0"/>
          </a:p>
        </p:txBody>
      </p:sp>
      <p:sp>
        <p:nvSpPr>
          <p:cNvPr id="44" name="Text 41"/>
          <p:cNvSpPr txBox="1"/>
          <p:nvPr/>
        </p:nvSpPr>
        <p:spPr>
          <a:xfrm>
            <a:off x="566928" y="4724400"/>
            <a:ext cx="29260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valley / the valley</a:t>
            </a:r>
            <a:endParaRPr lang="en-US" sz="1100" dirty="0"/>
          </a:p>
        </p:txBody>
      </p:sp>
      <p:sp>
        <p:nvSpPr>
          <p:cNvPr id="45" name="Shape 4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6" name="Text 43"/>
          <p:cNvSpPr txBox="1"/>
          <p:nvPr/>
        </p:nvSpPr>
        <p:spPr>
          <a:xfrm>
            <a:off x="8247888" y="5338572"/>
            <a:ext cx="34107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yāʾ disappears before -ūna</a:t>
            </a:r>
            <a:endParaRPr lang="en-US" sz="1100" dirty="0"/>
          </a:p>
        </p:txBody>
      </p:sp>
      <p:sp>
        <p:nvSpPr>
          <p:cNvPr id="47" name="Text 44"/>
          <p:cNvSpPr txBox="1"/>
          <p:nvPr/>
        </p:nvSpPr>
        <p:spPr>
          <a:xfrm>
            <a:off x="3657600" y="5338572"/>
            <a:ext cx="4389120" cy="559308"/>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رَاضُونَ</a:t>
            </a:r>
            <a:endParaRPr lang="ar-SA" sz="2400" dirty="0"/>
          </a:p>
        </p:txBody>
      </p:sp>
      <p:sp>
        <p:nvSpPr>
          <p:cNvPr id="48" name="Text 45"/>
          <p:cNvSpPr txBox="1"/>
          <p:nvPr/>
        </p:nvSpPr>
        <p:spPr>
          <a:xfrm>
            <a:off x="566928" y="5338572"/>
            <a:ext cx="292608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satisfied (people, plural)</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Website: the feminine shows the yāʾ clearly before tāʾ marbūṭa — ghāliya, rāḍiya, ʿāliya.</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GM-ADJ-08 · Adjectives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GM-ADJ-08</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high building”.</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مَبْنًى عَالِيٌ</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مَبْنًى الْعَالِي</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مَبْنًى عَالٍ</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high building”.</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الْمَبْنَى الْعَالِي</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الْمَبْنَى الْعَالِ</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الْمَبْنَى عَالٍ</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bought an expensive watch (f.)”.</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اشْتَرَيْتُ سَاعَةً غَالٍ.</a:t>
            </a:r>
            <a:endParaRPr lang="ar-SA" sz="20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اشْتَرَيْتُ سَاعَةً غَالِيَةً.</a:t>
            </a:r>
            <a:endParaRPr lang="ar-SA" sz="20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اشْتَرَيْتُ سَاعَةً غَالِيًا.</a:t>
            </a:r>
            <a:endParaRPr lang="ar-SA" sz="2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saw a satisfied customer (m.)”.</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رَأَيْتُ زَبُونًا رَاضِيًا.</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رَأَيْتُ زَبُونًا رَاضٍ.</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رَأَيْتُ زَبُونًا رَاضِيٌ.</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GM-ADJ-08 · Adjectives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GM-ADJ-08</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 high building”.</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مَبْنًى عَالِيٌ</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مَبْنًى الْعَالِي</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مَبْنًى عَالٍ</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Indefinite nominative → hidden yāʾ.</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high building”.</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الْمَبْنَى الْعَالِي</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الْمَبْنَى الْعَالِ</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الْمَبْنَى عَالٍ</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Definite → yāʾ returns.</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bought an expensive watch (f.)”.</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اشْتَرَيْتُ سَاعَةً غَالٍ.</a:t>
            </a:r>
            <a:endParaRPr lang="ar-SA" sz="170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اشْتَرَيْتُ سَاعَةً غَالِيَةً.</a:t>
            </a:r>
            <a:endParaRPr lang="ar-SA" sz="170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اشْتَرَيْتُ سَاعَةً غَالِيًا.</a:t>
            </a:r>
            <a:endParaRPr lang="ar-SA" sz="170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Feminine: yāʾ + </a:t>
            </a:r>
            <a:pPr algn="l" indent="0" marL="0">
              <a:buNone/>
            </a:pPr>
            <a:r>
              <a:rPr lang="ar-SA" altLang="en-US" sz="1350" dirty="0">
                <a:solidFill>
                  <a:srgbClr val="8A6D1E"/>
                </a:solidFill>
                <a:latin typeface="Amiri" pitchFamily="2" charset="-78"/>
                <a:cs typeface="Amiri" pitchFamily="2" charset="-78"/>
              </a:rPr>
              <a:t>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saw a satisfied customer (m.)”.</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رَأَيْتُ زَبُونًا رَاضِيًا.</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رَأَيْتُ زَبُونًا رَاضٍ.</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رَأَيْتُ زَبُونًا رَاضِيٌ.</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Accusative → yāʾ returns.</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GM-ADJ-08 · Adjectives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follow the yāʾ</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GM-ADJ-08</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Indefinite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هَاتِفٌ غَالٍ</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subject → -in, no yāʾ.</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Definite</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الْهَاتِفُ الْغَالِي</a:t>
            </a:r>
            <a:endParaRPr lang="ar-SA" sz="28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al- → -ī.</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Object</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اشْتَرَى هَاتِفًا غَالِيًا</a:t>
            </a:r>
            <a:endParaRPr lang="ar-SA" sz="28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-an → yāʾ back.</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Feminine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cs typeface="Amiri" pitchFamily="2" charset="-78"/>
              </a:rPr>
              <a:t>سَاعَةٌ غَالِيَةٌ</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yāʾ + </a:t>
            </a:r>
            <a:pPr algn="l" indent="0" marL="0">
              <a:buNone/>
            </a:pPr>
            <a:r>
              <a:rPr lang="ar-SA" altLang="en-US" sz="1500" dirty="0">
                <a:solidFill>
                  <a:srgbClr val="1F2A37"/>
                </a:solidFill>
                <a:latin typeface="Amiri" pitchFamily="2" charset="-78"/>
                <a:cs typeface="Amiri" pitchFamily="2" charset="-78"/>
              </a:rPr>
              <a:t>ة</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9528048"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YĀʾ HIDDEN</a:t>
            </a:r>
            <a:endParaRPr lang="en-US" sz="800" dirty="0"/>
          </a:p>
        </p:txBody>
      </p:sp>
      <p:sp>
        <p:nvSpPr>
          <p:cNvPr id="47" name="Shape 43"/>
          <p:cNvSpPr/>
          <p:nvPr/>
        </p:nvSpPr>
        <p:spPr>
          <a:xfrm>
            <a:off x="10515600"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YĀʾ VISIBLE</a:t>
            </a:r>
            <a:endParaRPr lang="en-US" sz="800" dirty="0"/>
          </a:p>
        </p:txBody>
      </p:sp>
      <p:sp>
        <p:nvSpPr>
          <p:cNvPr id="49" name="Text 45"/>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2050" b="1" dirty="0">
                <a:solidFill>
                  <a:srgbClr val="1B3B6F"/>
                </a:solidFill>
                <a:latin typeface="Amiri" pitchFamily="2" charset="-78"/>
                <a:cs typeface="Amiri" pitchFamily="2" charset="-78"/>
              </a:rPr>
              <a:t>هَذَا هَاتِفٌ </a:t>
            </a:r>
            <a:pPr rtl="1" algn="r" indent="0" marL="0">
              <a:buNone/>
            </a:pPr>
            <a:r>
              <a:rPr lang="ar-SA" altLang="en-US" sz="2050" b="1" dirty="0">
                <a:solidFill>
                  <a:srgbClr val="0E7C86"/>
                </a:solidFill>
                <a:latin typeface="Amiri" pitchFamily="2" charset="-78"/>
                <a:cs typeface="Amiri" pitchFamily="2" charset="-78"/>
              </a:rPr>
              <a:t>غَالٍ</a:t>
            </a:r>
            <a:pPr rtl="1" algn="r" indent="0" marL="0">
              <a:buNone/>
            </a:pPr>
            <a:r>
              <a:rPr lang="ar-SA" altLang="en-US" sz="2050" b="1" dirty="0">
                <a:solidFill>
                  <a:srgbClr val="1B3B6F"/>
                </a:solidFill>
                <a:latin typeface="Amiri" pitchFamily="2" charset="-78"/>
                <a:cs typeface="Amiri" pitchFamily="2" charset="-78"/>
              </a:rPr>
              <a:t>، لَكِنَّ أَخِي اشْتَرَى هَاتِفًا </a:t>
            </a:r>
            <a:pPr rtl="1" algn="r" indent="0" marL="0">
              <a:buNone/>
            </a:pPr>
            <a:r>
              <a:rPr lang="ar-SA" altLang="en-US" sz="2050" b="1" dirty="0">
                <a:solidFill>
                  <a:srgbClr val="D6336C"/>
                </a:solidFill>
                <a:latin typeface="Amiri" pitchFamily="2" charset="-78"/>
                <a:cs typeface="Amiri" pitchFamily="2" charset="-78"/>
              </a:rPr>
              <a:t>غَالِيًا</a:t>
            </a:r>
            <a:pPr rtl="1" algn="r" indent="0" marL="0">
              <a:buNone/>
            </a:pPr>
            <a:r>
              <a:rPr lang="ar-SA" altLang="en-US" sz="2050" b="1" dirty="0">
                <a:solidFill>
                  <a:srgbClr val="1B3B6F"/>
                </a:solidFill>
                <a:latin typeface="Amiri" pitchFamily="2" charset="-78"/>
                <a:cs typeface="Amiri" pitchFamily="2" charset="-78"/>
              </a:rPr>
              <a:t> أَيْضًا. الْهَاتِفُ </a:t>
            </a:r>
            <a:pPr rtl="1" algn="r" indent="0" marL="0">
              <a:buNone/>
            </a:pPr>
            <a:r>
              <a:rPr lang="ar-SA" altLang="en-US" sz="2050" b="1" dirty="0">
                <a:solidFill>
                  <a:srgbClr val="D6336C"/>
                </a:solidFill>
                <a:latin typeface="Amiri" pitchFamily="2" charset="-78"/>
                <a:cs typeface="Amiri" pitchFamily="2" charset="-78"/>
              </a:rPr>
              <a:t>الْغَالِي</a:t>
            </a:r>
            <a:pPr rtl="1" algn="r" indent="0" marL="0">
              <a:buNone/>
            </a:pPr>
            <a:r>
              <a:rPr lang="ar-SA" altLang="en-US" sz="2050" b="1" dirty="0">
                <a:solidFill>
                  <a:srgbClr val="1B3B6F"/>
                </a:solidFill>
                <a:latin typeface="Amiri" pitchFamily="2" charset="-78"/>
                <a:cs typeface="Amiri" pitchFamily="2" charset="-78"/>
              </a:rPr>
              <a:t> لَيْسَ دَائِمًا الْأَفْضَلَ، وَأَنَا </a:t>
            </a:r>
            <a:pPr rtl="1" algn="r" indent="0" marL="0">
              <a:buNone/>
            </a:pPr>
            <a:r>
              <a:rPr lang="ar-SA" altLang="en-US" sz="2050" b="1" dirty="0">
                <a:solidFill>
                  <a:srgbClr val="0E7C86"/>
                </a:solidFill>
                <a:latin typeface="Amiri" pitchFamily="2" charset="-78"/>
                <a:cs typeface="Amiri" pitchFamily="2" charset="-78"/>
              </a:rPr>
              <a:t>رَاضٍ</a:t>
            </a:r>
            <a:pPr rtl="1" algn="r" indent="0" marL="0">
              <a:buNone/>
            </a:pPr>
            <a:r>
              <a:rPr lang="ar-SA" altLang="en-US" sz="2050" b="1" dirty="0">
                <a:solidFill>
                  <a:srgbClr val="1B3B6F"/>
                </a:solidFill>
                <a:latin typeface="Amiri" pitchFamily="2" charset="-78"/>
                <a:cs typeface="Amiri" pitchFamily="2" charset="-78"/>
              </a:rPr>
              <a:t> عَنْ هَاتِفِي الْقَدِيمِ.</a:t>
            </a:r>
            <a:endParaRPr lang="ar-SA" sz="2050" dirty="0"/>
          </a:p>
        </p:txBody>
      </p:sp>
      <p:sp>
        <p:nvSpPr>
          <p:cNvPr id="50" name="Text 46"/>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50" i="1" dirty="0">
                <a:solidFill>
                  <a:srgbClr val="5A6472"/>
                </a:solidFill>
                <a:latin typeface="Calibri" pitchFamily="34" charset="0"/>
                <a:cs typeface="Amiri" pitchFamily="2" charset="-78"/>
              </a:rPr>
              <a:t>This is an expensive phone, but my brother bought an expensive phone too. The expensive phone is not always the best, and I am satisfied with my old phone.</a:t>
            </a:r>
            <a:endParaRPr lang="en-US" sz="1150" dirty="0"/>
          </a:p>
        </p:txBody>
      </p:sp>
      <p:sp>
        <p:nvSpPr>
          <p:cNvPr id="51"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GM-ADJ-08 · Adjectives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GM-ADJ-08</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الْكِتَابُ الْغَالِي مُفِيدٌ.</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The expensive book is useful.</a:t>
            </a:r>
            <a:endParaRPr lang="en-US" sz="1250" dirty="0"/>
          </a:p>
          <a:p>
            <a:pPr indent="0" marL="0">
              <a:buNone/>
            </a:pPr>
            <a:r>
              <a:rPr lang="en-US" sz="1050" i="1" dirty="0">
                <a:solidFill>
                  <a:srgbClr val="8A6D1E"/>
                </a:solidFill>
                <a:latin typeface="Calibri" pitchFamily="34" charset="0"/>
                <a:cs typeface="Amiri" pitchFamily="2" charset="-78"/>
              </a:rPr>
              <a:t>Website model bank: definite.</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أُمِّي رَاضِيَةٌ عَنْ نَتِيجَتِي.</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My mother is pleased with my result.</a:t>
            </a:r>
            <a:endParaRPr lang="en-US" sz="1250" dirty="0"/>
          </a:p>
          <a:p>
            <a:pPr indent="0" marL="0">
              <a:buNone/>
            </a:pPr>
            <a:r>
              <a:rPr lang="en-US" sz="1050" i="1" dirty="0">
                <a:solidFill>
                  <a:srgbClr val="8A6D1E"/>
                </a:solidFill>
                <a:latin typeface="Calibri" pitchFamily="34" charset="0"/>
                <a:cs typeface="Amiri" pitchFamily="2" charset="-78"/>
              </a:rPr>
              <a:t>Feminine: yāʾ visible.</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سَافَرْنَا فِي الشَّهْرِ الْمَاضِي.</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We travelled last month.</a:t>
            </a:r>
            <a:endParaRPr lang="en-US" sz="1250" dirty="0"/>
          </a:p>
          <a:p>
            <a:pPr indent="0" marL="0">
              <a:buNone/>
            </a:pPr>
            <a:r>
              <a:rPr lang="en-US" sz="1050" i="1" dirty="0">
                <a:solidFill>
                  <a:srgbClr val="8A6D1E"/>
                </a:solidFill>
                <a:latin typeface="Calibri" pitchFamily="34" charset="0"/>
                <a:cs typeface="Amiri" pitchFamily="2" charset="-78"/>
              </a:rPr>
              <a:t>al-māḍī: definite.</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نَزَلْنَا مِنْ جَبَلٍ عَالٍ.</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We came down from a high mountain.</a:t>
            </a:r>
            <a:endParaRPr lang="en-US" sz="1250" dirty="0"/>
          </a:p>
          <a:p>
            <a:pPr indent="0" marL="0">
              <a:buNone/>
            </a:pPr>
            <a:r>
              <a:rPr lang="en-US" sz="1050" i="1" dirty="0">
                <a:solidFill>
                  <a:srgbClr val="8A6D1E"/>
                </a:solidFill>
                <a:latin typeface="Calibri" pitchFamily="34" charset="0"/>
                <a:cs typeface="Amiri" pitchFamily="2" charset="-78"/>
              </a:rPr>
              <a:t>After a preposition: hidden.</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GM-ADJ-08 · Adjectives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 IT · IS THE YĀʾ WRITTEN?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Hidden or visible yāʾ?</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الْيَاءُ ظَاهِرَةٌ أَمْ مَحْذُوفَةٌ؟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GM-ADJ-08</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ثَمَنٌ غَالٍ</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الثَّمَنُ الْغَالِي</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صَوْتٌ عَالٍ</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صَوْتًا عَالِيًا</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فِي نَادٍ</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فِي النَّادِي</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رَجُلٌ رَاضٍ</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امْرَأَةٌ رَاضِيَةٌ</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yāʾ hidden (-in)</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yāʾ visible</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GM-ADJ-08 · Adjectives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GM-ADJ-08</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yāʾ hidden (-in)</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ثَمَنٌ غَالٍ</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صَوْتٌ عَالٍ</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فِي نَادٍ</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رَجُلٌ رَاضٍ</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yāʾ visible</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الثَّمَنُ الْغَالِي</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صَوْتًا عَالِيًا</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فِي النَّادِي</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امْرَأَةٌ رَاضِيَةٌ</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GM-ADJ-08 · Adjectives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ONE WORD, FOUR SHAPES · SAY IT ALOUD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Complete the family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أَكْمِلِ الْأَشْكَالَ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034272" y="1810512"/>
            <a:ext cx="26243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feminine</a:t>
            </a:r>
            <a:endParaRPr lang="en-US" sz="1100" dirty="0"/>
          </a:p>
        </p:txBody>
      </p:sp>
      <p:sp>
        <p:nvSpPr>
          <p:cNvPr id="17" name="Text 14"/>
          <p:cNvSpPr txBox="1"/>
          <p:nvPr/>
        </p:nvSpPr>
        <p:spPr>
          <a:xfrm>
            <a:off x="6199632" y="1810512"/>
            <a:ext cx="2688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 (object)</a:t>
            </a:r>
            <a:endParaRPr lang="en-US" sz="1100" dirty="0"/>
          </a:p>
        </p:txBody>
      </p:sp>
      <p:sp>
        <p:nvSpPr>
          <p:cNvPr id="18" name="Text 15"/>
          <p:cNvSpPr txBox="1"/>
          <p:nvPr/>
        </p:nvSpPr>
        <p:spPr>
          <a:xfrm>
            <a:off x="3364992" y="1810512"/>
            <a:ext cx="2688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a:t>
            </a:r>
            <a:endParaRPr lang="en-US" sz="1100" dirty="0"/>
          </a:p>
        </p:txBody>
      </p:sp>
      <p:sp>
        <p:nvSpPr>
          <p:cNvPr id="19" name="Text 16"/>
          <p:cNvSpPr txBox="1"/>
          <p:nvPr/>
        </p:nvSpPr>
        <p:spPr>
          <a:xfrm>
            <a:off x="530352" y="1810512"/>
            <a:ext cx="2688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 (subject)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9052560" y="2267712"/>
            <a:ext cx="258775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غَالِيَةٌ</a:t>
            </a:r>
            <a:endParaRPr lang="ar-SA" sz="2400" dirty="0"/>
          </a:p>
        </p:txBody>
      </p:sp>
      <p:sp>
        <p:nvSpPr>
          <p:cNvPr id="22" name="Text 19"/>
          <p:cNvSpPr txBox="1"/>
          <p:nvPr/>
        </p:nvSpPr>
        <p:spPr>
          <a:xfrm>
            <a:off x="6217920" y="2267712"/>
            <a:ext cx="26517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غَالِيًا</a:t>
            </a:r>
            <a:endParaRPr lang="ar-SA" sz="2400" dirty="0"/>
          </a:p>
        </p:txBody>
      </p:sp>
      <p:sp>
        <p:nvSpPr>
          <p:cNvPr id="23" name="Text 20"/>
          <p:cNvSpPr txBox="1"/>
          <p:nvPr/>
        </p:nvSpPr>
        <p:spPr>
          <a:xfrm>
            <a:off x="3383280" y="2267712"/>
            <a:ext cx="26517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الْغَالِي</a:t>
            </a:r>
            <a:endParaRPr lang="ar-SA" sz="2400" dirty="0"/>
          </a:p>
        </p:txBody>
      </p:sp>
      <p:sp>
        <p:nvSpPr>
          <p:cNvPr id="24" name="Text 21"/>
          <p:cNvSpPr txBox="1"/>
          <p:nvPr/>
        </p:nvSpPr>
        <p:spPr>
          <a:xfrm>
            <a:off x="548640" y="2267712"/>
            <a:ext cx="26517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غَالٍ</a:t>
            </a:r>
            <a:endParaRPr lang="ar-SA" sz="24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9052560" y="3004718"/>
            <a:ext cx="258775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رَاضِيَةٌ</a:t>
            </a:r>
            <a:endParaRPr lang="ar-SA" sz="2400" dirty="0"/>
          </a:p>
        </p:txBody>
      </p:sp>
      <p:sp>
        <p:nvSpPr>
          <p:cNvPr id="29" name="Text 26"/>
          <p:cNvSpPr txBox="1"/>
          <p:nvPr/>
        </p:nvSpPr>
        <p:spPr>
          <a:xfrm>
            <a:off x="6217920" y="3004718"/>
            <a:ext cx="26517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رَاضِيًا</a:t>
            </a:r>
            <a:endParaRPr lang="ar-SA" sz="2400" dirty="0"/>
          </a:p>
        </p:txBody>
      </p:sp>
      <p:sp>
        <p:nvSpPr>
          <p:cNvPr id="30" name="Text 27"/>
          <p:cNvSpPr txBox="1"/>
          <p:nvPr/>
        </p:nvSpPr>
        <p:spPr>
          <a:xfrm>
            <a:off x="3383280" y="3004718"/>
            <a:ext cx="26517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الرَّاضِي</a:t>
            </a:r>
            <a:endParaRPr lang="ar-SA" sz="2400" dirty="0"/>
          </a:p>
        </p:txBody>
      </p:sp>
      <p:sp>
        <p:nvSpPr>
          <p:cNvPr id="31" name="Text 28"/>
          <p:cNvSpPr txBox="1"/>
          <p:nvPr/>
        </p:nvSpPr>
        <p:spPr>
          <a:xfrm>
            <a:off x="548640" y="3004718"/>
            <a:ext cx="26517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رَاضٍ</a:t>
            </a:r>
            <a:endParaRPr lang="ar-SA" sz="24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9052560" y="3741725"/>
            <a:ext cx="258775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عَالِيَةٌ</a:t>
            </a:r>
            <a:endParaRPr lang="ar-SA" sz="2400" dirty="0"/>
          </a:p>
        </p:txBody>
      </p:sp>
      <p:sp>
        <p:nvSpPr>
          <p:cNvPr id="36" name="Text 33"/>
          <p:cNvSpPr txBox="1"/>
          <p:nvPr/>
        </p:nvSpPr>
        <p:spPr>
          <a:xfrm>
            <a:off x="6217920" y="3741725"/>
            <a:ext cx="26517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عَالِيًا</a:t>
            </a:r>
            <a:endParaRPr lang="ar-SA" sz="2400" dirty="0"/>
          </a:p>
        </p:txBody>
      </p:sp>
      <p:sp>
        <p:nvSpPr>
          <p:cNvPr id="37" name="Text 34"/>
          <p:cNvSpPr txBox="1"/>
          <p:nvPr/>
        </p:nvSpPr>
        <p:spPr>
          <a:xfrm>
            <a:off x="3383280" y="3741725"/>
            <a:ext cx="26517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الْعَالِي</a:t>
            </a:r>
            <a:endParaRPr lang="ar-SA" sz="2400" dirty="0"/>
          </a:p>
        </p:txBody>
      </p:sp>
      <p:sp>
        <p:nvSpPr>
          <p:cNvPr id="38" name="Text 35"/>
          <p:cNvSpPr txBox="1"/>
          <p:nvPr/>
        </p:nvSpPr>
        <p:spPr>
          <a:xfrm>
            <a:off x="548640" y="3741725"/>
            <a:ext cx="26517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عَالٍ</a:t>
            </a:r>
            <a:endParaRPr lang="ar-SA" sz="2400" dirty="0"/>
          </a:p>
        </p:txBody>
      </p:sp>
      <p:sp>
        <p:nvSpPr>
          <p:cNvPr id="39" name="Shape 36"/>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2" name="Text 39"/>
          <p:cNvSpPr txBox="1"/>
          <p:nvPr/>
        </p:nvSpPr>
        <p:spPr>
          <a:xfrm>
            <a:off x="9052560" y="4478731"/>
            <a:ext cx="258775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مَاضِيَةٌ</a:t>
            </a:r>
            <a:endParaRPr lang="ar-SA" sz="2400" dirty="0"/>
          </a:p>
        </p:txBody>
      </p:sp>
      <p:sp>
        <p:nvSpPr>
          <p:cNvPr id="43" name="Text 40"/>
          <p:cNvSpPr txBox="1"/>
          <p:nvPr/>
        </p:nvSpPr>
        <p:spPr>
          <a:xfrm>
            <a:off x="6217920" y="4478731"/>
            <a:ext cx="26517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مَاضِيًا</a:t>
            </a:r>
            <a:endParaRPr lang="ar-SA" sz="2400" dirty="0"/>
          </a:p>
        </p:txBody>
      </p:sp>
      <p:sp>
        <p:nvSpPr>
          <p:cNvPr id="44" name="Text 41"/>
          <p:cNvSpPr txBox="1"/>
          <p:nvPr/>
        </p:nvSpPr>
        <p:spPr>
          <a:xfrm>
            <a:off x="3383280" y="4478731"/>
            <a:ext cx="26517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الْمَاضِي</a:t>
            </a:r>
            <a:endParaRPr lang="ar-SA" sz="2400" dirty="0"/>
          </a:p>
        </p:txBody>
      </p:sp>
      <p:sp>
        <p:nvSpPr>
          <p:cNvPr id="45" name="Text 42"/>
          <p:cNvSpPr txBox="1"/>
          <p:nvPr/>
        </p:nvSpPr>
        <p:spPr>
          <a:xfrm>
            <a:off x="548640" y="4478731"/>
            <a:ext cx="26517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مَاضٍ</a:t>
            </a:r>
            <a:endParaRPr lang="ar-SA" sz="2400" dirty="0"/>
          </a:p>
        </p:txBody>
      </p:sp>
      <p:sp>
        <p:nvSpPr>
          <p:cNvPr id="46" name="Shape 43"/>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7" name="Text 44"/>
          <p:cNvSpPr txBox="1"/>
          <p:nvPr/>
        </p:nvSpPr>
        <p:spPr>
          <a:xfrm>
            <a:off x="9052560" y="5215738"/>
            <a:ext cx="2587752"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بَاقِيَةٌ</a:t>
            </a:r>
            <a:endParaRPr lang="ar-SA" sz="2400" dirty="0"/>
          </a:p>
        </p:txBody>
      </p:sp>
      <p:sp>
        <p:nvSpPr>
          <p:cNvPr id="48" name="Text 45"/>
          <p:cNvSpPr txBox="1"/>
          <p:nvPr/>
        </p:nvSpPr>
        <p:spPr>
          <a:xfrm>
            <a:off x="6217920" y="5215738"/>
            <a:ext cx="26517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بَاقِيًا</a:t>
            </a:r>
            <a:endParaRPr lang="ar-SA" sz="2400" dirty="0"/>
          </a:p>
        </p:txBody>
      </p:sp>
      <p:sp>
        <p:nvSpPr>
          <p:cNvPr id="49" name="Text 46"/>
          <p:cNvSpPr txBox="1"/>
          <p:nvPr/>
        </p:nvSpPr>
        <p:spPr>
          <a:xfrm>
            <a:off x="3383280" y="5215738"/>
            <a:ext cx="26517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الْبَاقِي</a:t>
            </a:r>
            <a:endParaRPr lang="ar-SA" sz="2400" dirty="0"/>
          </a:p>
        </p:txBody>
      </p:sp>
      <p:sp>
        <p:nvSpPr>
          <p:cNvPr id="50" name="Text 47"/>
          <p:cNvSpPr txBox="1"/>
          <p:nvPr/>
        </p:nvSpPr>
        <p:spPr>
          <a:xfrm>
            <a:off x="548640" y="5215738"/>
            <a:ext cx="2651760" cy="682142"/>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cs typeface="Amiri" pitchFamily="2" charset="-78"/>
              </a:rPr>
              <a:t>بَاقٍ</a:t>
            </a:r>
            <a:endParaRPr lang="ar-SA" sz="240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Cover all but the first column. Students build the other three, saying each aloud.</a:t>
            </a:r>
            <a:endParaRPr lang="en-US" sz="11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GM-ADJ-08 · Adjectives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GM-ADJ-08</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هَذَا قَمِيصٌ غَالِيٌ.</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-un or -in?</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الْجَبَلُ الْعَالِ</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Is there al-?</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اشْتَرَيْتُ قَمِيصًا غَالٍ.</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Is it an object?</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GM-ADJ-08 · Adjectives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GM-ADJ-08</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هَذَا قَمِيصٌ غَالِيٌ.</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هَذَا قَمِيصٌ غَالٍ.</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Indefinite nominative → hidden yāʾ (website clinic).</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الْجَبَلُ الْعَالِ</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الْجَبَلُ الْعَالِي</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Definite → the yāʾ returns (website clinic).</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اشْتَرَيْتُ قَمِيصًا غَالٍ.</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اشْتَرَيْتُ قَمِيصًا غَالِيًا.</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Accusative → the yāʾ returns.</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GM-ADJ-08 · Adjectives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GUIDED PRACTICE · TEACHER-WRITTEN PRACTICE ON THE WEBSITE RULES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GM-ADJ-08</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“in an expensive hotel”.</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فُنْدُقٍ غَالِي</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فُنْدُقٍ غَالِيٍ</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 فُنْدُقٍ غَالٍ</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past year”.</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السَّنَةُ الْمَاضِي</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السَّنَةُ الْمَاضِيَةُ</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السَّنَةُ مَاضٍ</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“He is satisfied.”</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هُوَ رَاضِيٌ.</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هُوَ رَاضٍ.</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هُوَ الرَّاضِي.</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heard a loud (high) voice.”</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سَمِعْتُ صَوْتًا عَالٍ.</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سَمِعْتُ صَوْتٌ عَالٍ.</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سَمِعْتُ صَوْتًا عَالِيًا.</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GM-ADJ-08 · Adjectives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GM-ADJ-08</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“in an expensive hotel”.</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فِي فُنْدُقٍ غَالِي</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فِي فُنْدُقٍ غَالِيٍ</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فِي فُنْدُقٍ غَالٍ</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Genitive indefinite → hidden.</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past year”.</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السَّنَةُ الْمَاضِي</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السَّنَةُ الْمَاضِيَةُ</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السَّنَةُ مَاضٍ</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Feminine + definite.</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“He is satisfied.”</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هُوَ رَاضِيٌ.</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هُوَ رَاضٍ.</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هُوَ الرَّاضِي.</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Indefinite predicate → hidden.</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heard a loud (high) voice.”</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سَمِعْتُ صَوْتًا عَالٍ.</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سَمِعْتُ صَوْتٌ عَالٍ.</a:t>
            </a:r>
            <a:endParaRPr lang="ar-SA" sz="170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سَمِعْتُ صَوْتًا عَالِيًا.</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Object → yāʾ returns.</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GM-ADJ-08 · Adjectives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83" b="1" spc="150" kern="0" dirty="0">
                <a:solidFill>
                  <a:srgbClr val="1E6B52"/>
                </a:solidFill>
                <a:latin typeface="Calibri" pitchFamily="34" charset="0"/>
                <a:cs typeface="Amiri" pitchFamily="2" charset="-78"/>
              </a:rPr>
              <a:t>YOU DO · READ AND NOTICE · WEBSITE READING TEXT, EXTENDED BY THE TEACHER</a:t>
            </a:r>
            <a:endParaRPr lang="en-US" sz="983"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Shopping in my city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اِقْرَأْ وَلَاحِظْ</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GM-ADJ-08</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cs typeface="Amiri" pitchFamily="2" charset="-78"/>
              </a:rPr>
              <a:t>فِي مَدِينَتِي أَمَاكِنُ جَمِيلَةٌ وَشَوَارِعُ وَاسِعَةٌ. هَذِهِ الْمَدْرَسَةُ الْجَدِيدَةُ قَرِيبَةٌ، وَذَلِكَ الْمَتْحَفُ الْقَدِيمُ مُثِيرٌ لِلِاهْتِمَامِ. فِي السُّوقِ مَحَلٌّ غَالٍ، وَفِيهِ الْمَلَابِسُ الْغَالِيَةُ. فِي الشَّهْرِ الْمَاضِي اشْتَرَيْتُ مِنْهُ قَمِيصًا غَالِيًا، لَكِنِّي لَسْتُ رَاضِيًا عَنْهُ!</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أَمَاكِنُ</a:t>
            </a:r>
            <a:endParaRPr lang="ar-SA" sz="1600" dirty="0"/>
          </a:p>
        </p:txBody>
      </p:sp>
      <p:sp>
        <p:nvSpPr>
          <p:cNvPr id="20" name="Text 17"/>
          <p:cNvSpPr txBox="1"/>
          <p:nvPr/>
        </p:nvSpPr>
        <p:spPr>
          <a:xfrm>
            <a:off x="8851392" y="22128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places</a:t>
            </a:r>
            <a:endParaRPr lang="en-US" sz="1050" dirty="0"/>
          </a:p>
        </p:txBody>
      </p:sp>
      <p:sp>
        <p:nvSpPr>
          <p:cNvPr id="21" name="Text 18"/>
          <p:cNvSpPr txBox="1"/>
          <p:nvPr/>
        </p:nvSpPr>
        <p:spPr>
          <a:xfrm>
            <a:off x="10102291" y="27157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مُثِيرٌ لِلِاهْتِمَامِ</a:t>
            </a:r>
            <a:endParaRPr lang="ar-SA" sz="1600" dirty="0"/>
          </a:p>
        </p:txBody>
      </p:sp>
      <p:sp>
        <p:nvSpPr>
          <p:cNvPr id="22" name="Text 19"/>
          <p:cNvSpPr txBox="1"/>
          <p:nvPr/>
        </p:nvSpPr>
        <p:spPr>
          <a:xfrm>
            <a:off x="8851392" y="27157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interesting</a:t>
            </a:r>
            <a:endParaRPr lang="en-US" sz="1050" dirty="0"/>
          </a:p>
        </p:txBody>
      </p:sp>
      <p:sp>
        <p:nvSpPr>
          <p:cNvPr id="23" name="Text 20"/>
          <p:cNvSpPr txBox="1"/>
          <p:nvPr/>
        </p:nvSpPr>
        <p:spPr>
          <a:xfrm>
            <a:off x="10102291" y="321868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مَحَلٌّ</a:t>
            </a:r>
            <a:endParaRPr lang="ar-SA" sz="1600" dirty="0"/>
          </a:p>
        </p:txBody>
      </p:sp>
      <p:sp>
        <p:nvSpPr>
          <p:cNvPr id="24" name="Text 21"/>
          <p:cNvSpPr txBox="1"/>
          <p:nvPr/>
        </p:nvSpPr>
        <p:spPr>
          <a:xfrm>
            <a:off x="8851392" y="321868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shop</a:t>
            </a:r>
            <a:endParaRPr lang="en-US" sz="1050" dirty="0"/>
          </a:p>
        </p:txBody>
      </p:sp>
      <p:sp>
        <p:nvSpPr>
          <p:cNvPr id="25" name="Text 22"/>
          <p:cNvSpPr txBox="1"/>
          <p:nvPr/>
        </p:nvSpPr>
        <p:spPr>
          <a:xfrm>
            <a:off x="10102291" y="372160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الْمَلَابِسُ</a:t>
            </a:r>
            <a:endParaRPr lang="ar-SA" sz="1600" dirty="0"/>
          </a:p>
        </p:txBody>
      </p:sp>
      <p:sp>
        <p:nvSpPr>
          <p:cNvPr id="26" name="Text 23"/>
          <p:cNvSpPr txBox="1"/>
          <p:nvPr/>
        </p:nvSpPr>
        <p:spPr>
          <a:xfrm>
            <a:off x="8851392" y="372160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clothes</a:t>
            </a:r>
            <a:endParaRPr lang="en-US" sz="1050" dirty="0"/>
          </a:p>
        </p:txBody>
      </p:sp>
      <p:sp>
        <p:nvSpPr>
          <p:cNvPr id="27" name="Text 24"/>
          <p:cNvSpPr txBox="1"/>
          <p:nvPr/>
        </p:nvSpPr>
        <p:spPr>
          <a:xfrm>
            <a:off x="10102291" y="422452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اشْتَرَيْتُ</a:t>
            </a:r>
            <a:endParaRPr lang="ar-SA" sz="1600" dirty="0"/>
          </a:p>
        </p:txBody>
      </p:sp>
      <p:sp>
        <p:nvSpPr>
          <p:cNvPr id="28" name="Text 25"/>
          <p:cNvSpPr txBox="1"/>
          <p:nvPr/>
        </p:nvSpPr>
        <p:spPr>
          <a:xfrm>
            <a:off x="8851392" y="422452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bought</a:t>
            </a:r>
            <a:endParaRPr lang="en-US" sz="1050" dirty="0"/>
          </a:p>
        </p:txBody>
      </p:sp>
      <p:sp>
        <p:nvSpPr>
          <p:cNvPr id="29" name="Text 26"/>
          <p:cNvSpPr txBox="1"/>
          <p:nvPr/>
        </p:nvSpPr>
        <p:spPr>
          <a:xfrm>
            <a:off x="10102291" y="472744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لَسْتُ</a:t>
            </a:r>
            <a:endParaRPr lang="ar-SA" sz="1600" dirty="0"/>
          </a:p>
        </p:txBody>
      </p:sp>
      <p:sp>
        <p:nvSpPr>
          <p:cNvPr id="30" name="Text 27"/>
          <p:cNvSpPr txBox="1"/>
          <p:nvPr/>
        </p:nvSpPr>
        <p:spPr>
          <a:xfrm>
            <a:off x="8851392" y="472744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am not</a:t>
            </a:r>
            <a:endParaRPr lang="en-US" sz="1050" dirty="0"/>
          </a:p>
        </p:txBody>
      </p:sp>
      <p:sp>
        <p:nvSpPr>
          <p:cNvPr id="31" name="Text 28"/>
          <p:cNvSpPr txBox="1"/>
          <p:nvPr/>
        </p:nvSpPr>
        <p:spPr>
          <a:xfrm>
            <a:off x="10102291" y="5230368"/>
            <a:ext cx="1508760" cy="502920"/>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عَنْهُ</a:t>
            </a:r>
            <a:endParaRPr lang="ar-SA" sz="1600" dirty="0"/>
          </a:p>
        </p:txBody>
      </p:sp>
      <p:sp>
        <p:nvSpPr>
          <p:cNvPr id="32" name="Text 29"/>
          <p:cNvSpPr txBox="1"/>
          <p:nvPr/>
        </p:nvSpPr>
        <p:spPr>
          <a:xfrm>
            <a:off x="8851392" y="5230368"/>
            <a:ext cx="1388059" cy="502920"/>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with it</a:t>
            </a:r>
            <a:endParaRPr lang="en-US" sz="10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GM-ADJ-08 · Adjectives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GRAMMAR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notice the grammar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the yāʾ hidden in the shop phrase?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feminine.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indefinite and nominative.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has al-.</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the yāʾ visible in the clothes phrase?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an object.</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plural people.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feminine (and definite).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it </a:t>
            </a:r>
            <a:pPr algn="l" indent="0" marL="0">
              <a:buNone/>
            </a:pPr>
            <a:r>
              <a:rPr lang="ar-SA" altLang="en-US" sz="1650" b="1" dirty="0">
                <a:solidFill>
                  <a:srgbClr val="1B3B6F"/>
                </a:solidFill>
                <a:latin typeface="Amiri" pitchFamily="2" charset="-78"/>
                <a:cs typeface="Amiri" pitchFamily="2" charset="-78"/>
              </a:rPr>
              <a:t>قَمِيصًا غَالِيًا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the object of “I bought”.</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after a preposition.</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definite.</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it </a:t>
            </a:r>
            <a:pPr algn="l" indent="0" marL="0">
              <a:buNone/>
            </a:pPr>
            <a:r>
              <a:rPr lang="ar-SA" altLang="en-US" sz="1650" b="1" dirty="0">
                <a:solidFill>
                  <a:srgbClr val="1B3B6F"/>
                </a:solidFill>
                <a:latin typeface="Amiri" pitchFamily="2" charset="-78"/>
                <a:cs typeface="Amiri" pitchFamily="2" charset="-78"/>
              </a:rPr>
              <a:t>رَاضِيًا</a:t>
            </a:r>
            <a:pPr algn="l" indent="0" marL="0">
              <a:buNone/>
            </a:pPr>
            <a:r>
              <a:rPr lang="en-US" sz="1250" b="1" dirty="0">
                <a:solidFill>
                  <a:srgbClr val="1B3B6F"/>
                </a:solidFill>
                <a:latin typeface="Calibri" pitchFamily="34" charset="0"/>
                <a:cs typeface="Amiri" pitchFamily="2" charset="-78"/>
              </a:rPr>
              <a:t> after </a:t>
            </a:r>
            <a:pPr algn="l" indent="0" marL="0">
              <a:buNone/>
            </a:pPr>
            <a:r>
              <a:rPr lang="ar-SA" altLang="en-US" sz="1650" b="1" dirty="0">
                <a:solidFill>
                  <a:srgbClr val="1B3B6F"/>
                </a:solidFill>
                <a:latin typeface="Amiri" pitchFamily="2" charset="-78"/>
                <a:cs typeface="Amiri" pitchFamily="2" charset="-78"/>
              </a:rPr>
              <a:t>لَسْتُ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feminine.</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Laysa makes its predicate accusative.</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definite.</a:t>
            </a:r>
            <a:endParaRPr lang="en-US" sz="1250" dirty="0"/>
          </a:p>
        </p:txBody>
      </p:sp>
      <p:sp>
        <p:nvSpPr>
          <p:cNvPr id="67" name="Shape 64"/>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8" name="Text 65"/>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69" name="Text 66"/>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GM-ADJ-08 · Adjectives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the yāʾ hidden in the shop phrase?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feminine.</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is indefinite and nominative.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has al-.</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kitābun ghālin pattern.</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the yāʾ visible in the clothes phrase?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an object.</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plural people.</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is feminine (and definite).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Feminine: yāʾ + </a:t>
            </a:r>
            <a:pPr algn="l" indent="0" marL="0">
              <a:buNone/>
            </a:pPr>
            <a:r>
              <a:rPr lang="ar-SA" altLang="en-US" sz="1350" dirty="0">
                <a:solidFill>
                  <a:srgbClr val="8A6D1E"/>
                </a:solidFill>
                <a:latin typeface="Amiri" pitchFamily="2" charset="-78"/>
                <a:cs typeface="Amiri" pitchFamily="2" charset="-78"/>
              </a:rPr>
              <a:t>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it </a:t>
            </a:r>
            <a:pPr algn="l" indent="0" marL="0">
              <a:buNone/>
            </a:pPr>
            <a:r>
              <a:rPr lang="ar-SA" altLang="en-US" sz="1650" b="1" dirty="0">
                <a:solidFill>
                  <a:srgbClr val="1B3B6F"/>
                </a:solidFill>
                <a:latin typeface="Amiri" pitchFamily="2" charset="-78"/>
                <a:cs typeface="Amiri" pitchFamily="2" charset="-78"/>
              </a:rPr>
              <a:t>قَمِيصًا غَالِيًا</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It is the object of “I bought”.</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after a preposition.</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definite.</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Accusative → yāʾ visible.</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is it </a:t>
            </a:r>
            <a:pPr algn="l" indent="0" marL="0">
              <a:buNone/>
            </a:pPr>
            <a:r>
              <a:rPr lang="ar-SA" altLang="en-US" sz="1650" b="1" dirty="0">
                <a:solidFill>
                  <a:srgbClr val="1B3B6F"/>
                </a:solidFill>
                <a:latin typeface="Amiri" pitchFamily="2" charset="-78"/>
                <a:cs typeface="Amiri" pitchFamily="2" charset="-78"/>
              </a:rPr>
              <a:t>رَاضِيًا</a:t>
            </a:r>
            <a:pPr algn="l" indent="0" marL="0">
              <a:buNone/>
            </a:pPr>
            <a:r>
              <a:rPr lang="en-US" sz="1250" b="1" dirty="0">
                <a:solidFill>
                  <a:srgbClr val="1B3B6F"/>
                </a:solidFill>
                <a:latin typeface="Calibri" pitchFamily="34" charset="0"/>
                <a:cs typeface="Amiri" pitchFamily="2" charset="-78"/>
              </a:rPr>
              <a:t> after </a:t>
            </a:r>
            <a:pPr algn="l" indent="0" marL="0">
              <a:buNone/>
            </a:pPr>
            <a:r>
              <a:rPr lang="ar-SA" altLang="en-US" sz="1650" b="1" dirty="0">
                <a:solidFill>
                  <a:srgbClr val="1B3B6F"/>
                </a:solidFill>
                <a:latin typeface="Amiri" pitchFamily="2" charset="-78"/>
                <a:cs typeface="Amiri" pitchFamily="2" charset="-78"/>
              </a:rPr>
              <a:t>لَسْتُ</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feminine.</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Laysa makes its predicate accusative.</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definite.</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Stretch: laysa + -an → yāʾ visible.</a:t>
            </a:r>
            <a:endParaRPr lang="en-US" sz="1050" dirty="0"/>
          </a:p>
        </p:txBody>
      </p:sp>
      <p:sp>
        <p:nvSpPr>
          <p:cNvPr id="75" name="Shape 72"/>
          <p:cNvSpPr/>
          <p:nvPr/>
        </p:nvSpPr>
        <p:spPr>
          <a:xfrm>
            <a:off x="4276344"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6" name="Text 73"/>
          <p:cNvSpPr txBox="1"/>
          <p:nvPr/>
        </p:nvSpPr>
        <p:spPr>
          <a:xfrm>
            <a:off x="4459224"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GRAMMAR DETECTIVE</a:t>
            </a:r>
            <a:endParaRPr lang="en-US" sz="1000" dirty="0"/>
          </a:p>
        </p:txBody>
      </p:sp>
      <p:sp>
        <p:nvSpPr>
          <p:cNvPr id="77" name="Text 74"/>
          <p:cNvSpPr txBox="1"/>
          <p:nvPr/>
        </p:nvSpPr>
        <p:spPr>
          <a:xfrm>
            <a:off x="4459224"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the phrase in the text.</a:t>
            </a:r>
            <a:endParaRPr lang="en-US" sz="1250" dirty="0"/>
          </a:p>
          <a:p>
            <a:pPr algn="l" indent="0" marL="0">
              <a:buNone/>
            </a:pPr>
            <a:r>
              <a:rPr lang="en-US" sz="1250" dirty="0">
                <a:solidFill>
                  <a:srgbClr val="1F2A37"/>
                </a:solidFill>
                <a:latin typeface="Calibri" pitchFamily="34" charset="0"/>
                <a:cs typeface="Amiri" pitchFamily="2" charset="-78"/>
              </a:rPr>
              <a:t>3. Name the rule that explains it.</a:t>
            </a:r>
            <a:endParaRPr lang="en-US" sz="12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GM-ADJ-08 · Adjectives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Speaking: prices and opinions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GM-ADJ-08</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الشَّيْءُ الْغَالِي فِي بَيْتِكُمْ؟</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مَاذَا اشْتَرَيْتَ فِي الشَّهْرِ الْمَاضِي؟ هَلْ كَانَ غَالِيًا؟</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هَلْ أَنْتَ رَاضٍ عَنْ مُسْتَوَاكَ فِي الْعَرَبِيَّةِ؟ لِمَاذَا؟</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الشَّيْءُ الْغَالِي فِي بَيْتِنَا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فِي الشَّهْرِ الْمَاضِي اشْتَرَيْتُ ___ غَالِيًا.</a:t>
            </a:r>
            <a:endParaRPr lang="ar-SA" sz="16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أَنَا رَاضٍ / رَاضِيَةٌ عَنْ ___ لِأَنَّ ___ .</a:t>
            </a:r>
            <a:endParaRPr lang="ar-SA" sz="160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هَلْ أَنْتِ رَاضِيَةٌ عَنْ نَتِيجَتِكِ؟</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Are you pleased with your result? (to a girl)</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نَعَمْ، أَنَا رَاضِيَةٌ، لَكِنَّ أَبِي يُرِيدُ دَرَجَةً عَالِيَةً جِدًّا!</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Yes, I am pleased, but my father wants a very high mark!</a:t>
            </a:r>
            <a:endParaRPr lang="en-US" sz="9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GM-ADJ-08 · Adjectives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GM-ADJ-08</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6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Describe expensive and high things with ghālin / al-ghālī / ʿālin.</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Indefinite → -in; with al- → -ī.</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objects (ghāliyan) and feminine nouns (ghāliya).</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Use the four-shape table.</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90–120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Website task: a shopping trip last month, with māḍin / al-māḍī and rāḍin.</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Am I satisfied? Was it expensive?</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GM-ADJ-08 · Adjectives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GM-ADJ-08</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الْأُسْبُوعِ ______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Last week I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اشْتَرَيْتُ ______ غَالِيًا.</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bought an expensive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أَنَا رَاضٍ عَنْ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am satisfied with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أُمِّي رَاضِيَةٌ عَنْ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mother is satisfied with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هَذَا هَاتِفٌ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is an expensive phone.</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الْهَاتِفُ ______ جَمِيلٌ.</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expensive phone is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هَذِهِ حَقِيبَةٌ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This is an expensive bag.</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ذَلِكَ جَبَلٌ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That is a high mountain.</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غَالٍ  ·  الْغَالِي  ·  غَالِيًا  ·  غَالِيَةٌ  ·  عَالٍ  ·  الْعَالِي  ·  عَالِيَةٌ  ·  رَاضٍ  ·  رَاضِيَةٌ  ·  الْمَاضِي  ·  الْمَاضِيَةِ  ·  رَخِيصٌ</a:t>
            </a:r>
            <a:endParaRPr lang="ar-SA" sz="160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GM-ADJ-08 · Adjectives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GM-ADJ-08</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Website extended writing workshop: 90–120 words about a shopping trip or a special purchase, with at least eight target adjective structures.</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Two indefinite defective adjectives with hidden yāʾ (-in).</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Two definite forms with -ī.</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indefinite object with -iyan.</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Two feminine forms with -iya.</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Last week / last month with al-māḍī / al-māḍiya.</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USEFUL FOR THIS TASK</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الشَّهْرِ الْمَاضِي</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last month</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فِي السَّنَةِ الْمَاضِيَةِ</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last year</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كَانَ الثَّمَنُ غَالِيًا</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price was expensive</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أَنَا رَاضٍ عَنْ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am satisfied with …</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بِصَوْتٍ عَالٍ</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in a loud voice</a:t>
            </a:r>
            <a:endParaRPr lang="en-US" sz="1050" dirty="0"/>
          </a:p>
        </p:txBody>
      </p:sp>
      <p:sp>
        <p:nvSpPr>
          <p:cNvPr id="36" name="Text 33"/>
          <p:cNvSpPr txBox="1"/>
          <p:nvPr/>
        </p:nvSpPr>
        <p:spPr>
          <a:xfrm>
            <a:off x="8412480" y="552297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الْوَقْتُ الْبَاقِي</a:t>
            </a:r>
            <a:endParaRPr lang="ar-SA" sz="1800" dirty="0"/>
          </a:p>
        </p:txBody>
      </p:sp>
      <p:sp>
        <p:nvSpPr>
          <p:cNvPr id="37" name="Text 34"/>
          <p:cNvSpPr txBox="1"/>
          <p:nvPr/>
        </p:nvSpPr>
        <p:spPr>
          <a:xfrm>
            <a:off x="6400800" y="585216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remaining time</a:t>
            </a:r>
            <a:endParaRPr lang="en-US" sz="1050" dirty="0"/>
          </a:p>
        </p:txBody>
      </p:sp>
      <p:sp>
        <p:nvSpPr>
          <p:cNvPr id="38" name="Text 3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GM-ADJ-08 · Adjectives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GM-ADJ-08</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cs typeface="Amiri" pitchFamily="2" charset="-78"/>
              </a:rPr>
              <a:t>فِي الشَّهْرِ الْمَاضِي ذَهَبْتُ مَعَ أُمِّي إِلَى مَرْكَزِ تَسَوُّقٍ كَبِيرٍ. كُلُّ شَيْءٍ هُنَاكَ غَالٍ! رَأَيْتُ حِذَاءً رِيَاضِيًّا غَالِيًا جِدًّا، وَحَقِيبَةً غَالِيَةً لِأُخْتِي. فِي النِّهَايَةِ اشْتَرَيْتُ الْقَمِيصَ الْأَرْخَصَ، لَا الْقَمِيصَ الْغَالِي. أُمِّي كَانَتْ رَاضِيَةً، وَأَنَا رَاضٍ أَيْضًا.</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Last month I went with my mother to a big shopping centre. Everything there is expensive! I saw some very expensive trainers and an expensive bag for my sister. In the end I bought the cheaper shirt, not the expensive shirt. My mother was pleased, and I am pleased too.</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hidden yāʾ (-in)</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visible -ī</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-iyan object</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feminine -iya</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GM-ADJ-08 · Adjectives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GM-ADJ-08</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Indefinite subject / after a preposition: -in, no yāʾ.</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With al-: the yāʾ is written.</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Indefinite object: -iyan.</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Feminine: -iya with tāʾ marbūṭa.</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al-māḍī or a noun like an-nādī.</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GM-ADJ-08 · Adjectives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GM-ADJ-08</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“an expensive car (f.)”.</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سَيَّارَةٌ غَالِيَةٌ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سَيَّارَةٌ غَالٍ</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سَيَّارَةٌ غَالِيٌ</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high mountain”.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الْجَبَلُ الْعَالِ</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الْجَبَلُ الْعَالِي</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الْجَبَلُ عَالٍ</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“This is an expensive book.”</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هَذَا كِتَابٌ غَالٍ.</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هَذَا كِتَابٌ غَالِيٌ.</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هَذَا كِتَابٌ غَالِيًا.</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GM-ADJ-08 · Adjectives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GM-ADJ-08</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“an expensive car (f.)”.</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سَيَّارَةٌ غَالِيَةٌ</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سَيَّارَةٌ غَالٍ</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سَيَّارَةٌ غَالِيٌ</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Feminine: yāʾ + </a:t>
            </a:r>
            <a:pPr algn="l" indent="0" marL="0">
              <a:buNone/>
            </a:pPr>
            <a:r>
              <a:rPr lang="ar-SA" altLang="en-US" sz="1350" dirty="0">
                <a:solidFill>
                  <a:srgbClr val="8A6D1E"/>
                </a:solidFill>
                <a:latin typeface="Amiri" pitchFamily="2" charset="-78"/>
                <a:cs typeface="Amiri" pitchFamily="2" charset="-78"/>
              </a:rPr>
              <a:t>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high mountain”.</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الْجَبَلُ الْعَالِ</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الْجَبَلُ الْعَالِي</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الْجَبَلُ عَالٍ</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Definite → -ī.</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“This is an expensive book.”</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هَذَا كِتَابٌ غَالٍ.</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هَذَا كِتَابٌ غَالِيٌ.</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هَذَا كِتَابٌ غَالِيًا.</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Indefinite nominative → hidden yāʾ.</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GM-ADJ-08 · Adjectives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Before GM-ADJ-09: get ready at home</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Grammar Mastery · Adjectives · GM-ADJ-08</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GM-ADJ-09 · Nisba Adjectives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مِصْرِيٌّ</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Egyptian (m.)</a:t>
            </a:r>
            <a:pPr indent="0" marL="0">
              <a:buNone/>
            </a:pPr>
            <a:r>
              <a:rPr lang="en-US" sz="1000" i="1" dirty="0">
                <a:solidFill>
                  <a:srgbClr val="5A6472"/>
                </a:solidFill>
                <a:latin typeface="Calibri" pitchFamily="34" charset="0"/>
                <a:cs typeface="Amiri" pitchFamily="2" charset="-78"/>
              </a:rPr>
              <a:t>  f. مِصْرِيَّةٌ</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عَرَبِيٌّ</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Arab, Arabic (m.)</a:t>
            </a:r>
            <a:pPr indent="0" marL="0">
              <a:buNone/>
            </a:pPr>
            <a:r>
              <a:rPr lang="en-US" sz="1000" i="1" dirty="0">
                <a:solidFill>
                  <a:srgbClr val="5A6472"/>
                </a:solidFill>
                <a:latin typeface="Calibri" pitchFamily="34" charset="0"/>
                <a:cs typeface="Amiri" pitchFamily="2" charset="-78"/>
              </a:rPr>
              <a:t>  f. عَرَبِيَّةٌ</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بِرِيطَانِيٌّ</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British (m.)</a:t>
            </a:r>
            <a:pPr indent="0" marL="0">
              <a:buNone/>
            </a:pPr>
            <a:r>
              <a:rPr lang="en-US" sz="1000" i="1" dirty="0">
                <a:solidFill>
                  <a:srgbClr val="5A6472"/>
                </a:solidFill>
                <a:latin typeface="Calibri" pitchFamily="34" charset="0"/>
                <a:cs typeface="Amiri" pitchFamily="2" charset="-78"/>
              </a:rPr>
              <a:t>  f. بِرِيطَانِيَّةٌ</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شَمَالِيٌّ</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northern</a:t>
            </a:r>
            <a:pPr indent="0" marL="0">
              <a:buNone/>
            </a:pPr>
            <a:r>
              <a:rPr lang="en-US" sz="1000" i="1" dirty="0">
                <a:solidFill>
                  <a:srgbClr val="5A6472"/>
                </a:solidFill>
                <a:latin typeface="Calibri" pitchFamily="34" charset="0"/>
                <a:cs typeface="Amiri" pitchFamily="2" charset="-78"/>
              </a:rPr>
              <a:t>  from شَمَالٌ</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تَارِيخِيٌّ</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historical</a:t>
            </a:r>
            <a:pPr indent="0" marL="0">
              <a:buNone/>
            </a:pPr>
            <a:r>
              <a:rPr lang="en-US" sz="1000" i="1" dirty="0">
                <a:solidFill>
                  <a:srgbClr val="5A6472"/>
                </a:solidFill>
                <a:latin typeface="Calibri" pitchFamily="34" charset="0"/>
                <a:cs typeface="Amiri" pitchFamily="2" charset="-78"/>
              </a:rPr>
              <a:t>  from تَارِيخٌ</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From Miṣr (Egypt) we get miṣriyy (Egyptian). What is the ending? How would you say “Pakistani” or “Moroccan”?</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مِصْرُ · مِصْرِيٌّ — بَاكِسْتَانُ · ______</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the four shapes of ghālin, rāḍin and ʿālin.</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eight sentences using the four shapes.</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workshop about a shopping trip.</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GM-ADJ-08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GM-ADJ-09 · Nisba Adjectives</a:t>
            </a:r>
            <a:endParaRPr lang="en-US" sz="2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صِفَاتُ النِّسْبَةِ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the yāʾ hides behind -un / -in (ghālin) · it comes back with al- (al-ghālī), with -an (ghāliyan) and before </a:t>
            </a:r>
            <a:pPr algn="l" indent="0" marL="0">
              <a:buNone/>
            </a:pPr>
            <a:r>
              <a:rPr lang="ar-SA" altLang="en-US" sz="1700" b="1" dirty="0">
                <a:solidFill>
                  <a:srgbClr val="FFFFFF"/>
                </a:solidFill>
                <a:latin typeface="Amiri" pitchFamily="2" charset="-78"/>
                <a:cs typeface="Amiri" pitchFamily="2" charset="-78"/>
              </a:rPr>
              <a:t>ة</a:t>
            </a:r>
            <a:pPr algn="l" indent="0" marL="0">
              <a:buNone/>
            </a:pPr>
            <a:r>
              <a:rPr lang="en-US" sz="1300" b="1" dirty="0">
                <a:solidFill>
                  <a:srgbClr val="FFFFFF"/>
                </a:solidFill>
                <a:latin typeface="Calibri" pitchFamily="34" charset="0"/>
                <a:cs typeface="Amiri" pitchFamily="2" charset="-78"/>
              </a:rPr>
              <a:t> (ghāliya).</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GM-ADJ-08 · Defective Adjectives</dc:title>
  <dc:subject>PptxGenJS Presentation</dc:subject>
  <dc:creator>Al Madina Online School · Arabic Department</dc:creator>
  <cp:lastModifiedBy>Al Madina Online School · Arabic Department</cp:lastModifiedBy>
  <cp:revision>1</cp:revision>
  <dcterms:created xsi:type="dcterms:W3CDTF">2026-10-11T06:42:03Z</dcterms:created>
  <dcterms:modified xsi:type="dcterms:W3CDTF">2026-10-11T06:42:03Z</dcterms:modified>
</cp:coreProperties>
</file>