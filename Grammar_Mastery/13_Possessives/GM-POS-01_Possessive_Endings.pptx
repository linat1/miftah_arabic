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Possessives › GM-POS-01 (“Possessive Endings”).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the singular owners -ī, -ka, -ki, -hu, -hā, -nā on regular and tāʾ marbūṭa nouns (madrasatī, ḥaqībatuki). Develop: the dual and plural owners (-kumā, -kum, -kunna, -humā, -hum, -hunna), the case vowel before the suffix (kitābuhu / kitābahu / kitābihi) and kitābuhu l-jadīdu vs kitābuhu jadīdun. Stretch: nūn deletion (kitābāhu, muʿallimūhum) and sound feminine plurals (sayyārātihinna).
• Website warning: do not confuse owner and object — sayyāratuhu = HIS car (the car is feminine, the owner is masculine).
• Colour code: orange = noun + owner ending. Recycles GM-PRO attached pronouns and GM-CASE-01 to 03 (the case vowel stays before the suffix).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Possession Starter — GM-PRO subject pronouns and attached endings.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Noun + owner ending = one word. The ending shows the owner; tāʾ marbūṭa opens to t; no 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“The complete possessive-suffix family” (singular owners + our). Hold up objects and say whose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(2 min) — website suffix table (dual and plural owners). Core learners need -kum and -hum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(2 min) — website “Tāʾ marbūṭa opens before a suffix”. Model the three steps on the board with ghurfa.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(3 min) — website “Regular nouns and case before the suffix” + “Possession makes the noun definite”. In unvowelled writing the forms look identical — the sentence role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5 (2 min) — website “Dual and sound masculine plural: delete the nūn” + “Sound feminine plurals keep -āt”.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mini-check: match the owner.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reading-and-reference lines, extended. Website question: why does madrasatihimā refer to two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cover columns 2–5 and build them together. Then point to real objects: kitābī, ḥaqībatuhā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Trap card: kutubuhu — many books but ONE owner (his). The ending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Trap card: kutubuhu — many books but ONE owner (his). The ending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mini-check: open the tāʾ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belongings profile (teacher-written). Read it aloud once while students follow; then they hunt for today’s grammar.
Task: Website: for each ending, name the owner. Explain why ghurfatuhumā refers to two people.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profile for the website reading-and-reference task;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task. Sequence: ● 10s think → ↔ 45s rehearse aloud with mic muted → ◎ two named students on open mic (warned in advance) → + ? the class types one follow-up in chat → ↺ one student summarises.
Routes: Core uses the Core prompt and stem; Develop the Develop prompt; Stretch the last prompt.
Website: describe six objects, changing the owner each time (mine, yours, hers, ours, theirs); include one dual and one sound feminine plural.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100–120 Arabic words describing a family, group of friends, classroom or fictional household and their belongings.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(GM-POS-02 · Possessive Iḍāfa Construction) will spend class time USING this language, so students prepare it tonight — short, simple, easy to access (school guidance: “Simple, Short, Interesting, Relevant, Easy to access”). The five phrases prepare GM-POS-02 (website: possessive iḍāfa).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POSSESSIVES  ·  GM-POS-01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GM-POS-01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Possessive Endings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ضَمَائِرُ الْمِلْكِيَّةِ الْمُتَّصِلَةُ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One word shows the thing and its owner: kitābī (my book), madrasatuhā (her school), baytunā (our house). The ending shows the OWNER. Tāʾ marbūṭa opens to t, and the noun never takes al- as well.</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GM-POS-01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Possessives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Owners (singular); owners (plural); tāʾ marbūṭa; case and definiteness; nūn and -āt.</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Whose is it?; one owner or more?;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GM-POS-02.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means “my book”?</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كِتَابُكَ</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كِتَابُهُ</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“your bag” when speaking to one female.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حَقِيبَتُكِ</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حَقِيبَتُكَ</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حَقِيبَتُكُمْ</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to </a:t>
            </a:r>
            <a:pPr algn="l" indent="0" marL="0">
              <a:buNone/>
            </a:pPr>
            <a:r>
              <a:rPr lang="ar-SA" altLang="en-US" sz="1650" b="1" dirty="0">
                <a:solidFill>
                  <a:srgbClr val="1B3B6F"/>
                </a:solidFill>
                <a:latin typeface="Amiri" pitchFamily="2" charset="-78"/>
                <a:cs typeface="Amiri" pitchFamily="2" charset="-78"/>
              </a:rPr>
              <a:t>ة</a:t>
            </a:r>
            <a:pPr algn="l" indent="0" marL="0">
              <a:buNone/>
            </a:pPr>
            <a:r>
              <a:rPr lang="en-US" sz="1250" b="1" dirty="0">
                <a:solidFill>
                  <a:srgbClr val="1B3B6F"/>
                </a:solidFill>
                <a:latin typeface="Calibri" pitchFamily="34" charset="0"/>
                <a:cs typeface="Amiri" pitchFamily="2" charset="-78"/>
              </a:rPr>
              <a:t> before a suffix?</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disappears completely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remains </a:t>
            </a:r>
            <a:pPr algn="l" indent="0" marL="0">
              <a:buNone/>
            </a:pPr>
            <a:r>
              <a:rPr lang="ar-SA" altLang="en-US" sz="1650" dirty="0">
                <a:solidFill>
                  <a:srgbClr val="1F2A37"/>
                </a:solidFill>
                <a:latin typeface="Amiri" pitchFamily="2" charset="-78"/>
                <a:cs typeface="Amiri" pitchFamily="2" charset="-78"/>
              </a:rPr>
              <a:t>ة</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opens to </a:t>
            </a:r>
            <a:pPr algn="l" indent="0" marL="0">
              <a:buNone/>
            </a:pPr>
            <a:r>
              <a:rPr lang="ar-SA" altLang="en-US" sz="1650" dirty="0">
                <a:solidFill>
                  <a:srgbClr val="1F2A37"/>
                </a:solidFill>
                <a:latin typeface="Amiri" pitchFamily="2" charset="-78"/>
                <a:cs typeface="Amiri" pitchFamily="2" charset="-78"/>
              </a:rPr>
              <a:t>ت</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means “our house”?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بَيْتُهَا</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بَيْتُهُمْ</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بَيْتُنَا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Can a noun with a possessive ending also take al-?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the suffix already makes it definite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 always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with </a:t>
            </a:r>
            <a:pPr algn="l" indent="0" marL="0">
              <a:buNone/>
            </a:pPr>
            <a:r>
              <a:rPr lang="ar-SA" altLang="en-US" sz="1650" dirty="0">
                <a:solidFill>
                  <a:srgbClr val="1F2A37"/>
                </a:solidFill>
                <a:latin typeface="Amiri" pitchFamily="2" charset="-78"/>
                <a:cs typeface="Amiri" pitchFamily="2" charset="-78"/>
              </a:rPr>
              <a:t>ـِي</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means “my book”?</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كِتَابُكَ</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كِتَابِي</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كِتَابُهُ</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-ī = my.</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“your bag” when speaking to one female.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حَقِيبَتُكِ</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حَقِيبَتُكَ</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حَقِيبَتُكُمْ</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One girl: -ki.</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to </a:t>
            </a:r>
            <a:pPr algn="l" indent="0" marL="0">
              <a:buNone/>
            </a:pPr>
            <a:r>
              <a:rPr lang="ar-SA" altLang="en-US" sz="1650" b="1" dirty="0">
                <a:solidFill>
                  <a:srgbClr val="1B3B6F"/>
                </a:solidFill>
                <a:latin typeface="Amiri" pitchFamily="2" charset="-78"/>
                <a:cs typeface="Amiri" pitchFamily="2" charset="-78"/>
              </a:rPr>
              <a:t>ة</a:t>
            </a:r>
            <a:pPr algn="l" indent="0" marL="0">
              <a:buNone/>
            </a:pPr>
            <a:r>
              <a:rPr lang="en-US" sz="1250" b="1" dirty="0">
                <a:solidFill>
                  <a:srgbClr val="1B3B6F"/>
                </a:solidFill>
                <a:latin typeface="Calibri" pitchFamily="34" charset="0"/>
                <a:cs typeface="Amiri" pitchFamily="2" charset="-78"/>
              </a:rPr>
              <a:t> before a suffix?</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disappears completely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remains </a:t>
            </a:r>
            <a:pPr algn="l" indent="0" marL="0">
              <a:buNone/>
            </a:pPr>
            <a:r>
              <a:rPr lang="ar-SA" altLang="en-US" sz="1650" dirty="0">
                <a:solidFill>
                  <a:srgbClr val="9AA1AB"/>
                </a:solidFill>
                <a:latin typeface="Amiri" pitchFamily="2" charset="-78"/>
                <a:cs typeface="Amiri" pitchFamily="2" charset="-78"/>
              </a:rPr>
              <a:t>ة</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opens to </a:t>
            </a:r>
            <a:pPr algn="l" indent="0" marL="0">
              <a:buNone/>
            </a:pPr>
            <a:r>
              <a:rPr lang="ar-SA" altLang="en-US" sz="1650" b="1" dirty="0">
                <a:solidFill>
                  <a:srgbClr val="1F2A37"/>
                </a:solidFill>
                <a:latin typeface="Amiri" pitchFamily="2" charset="-78"/>
                <a:cs typeface="Amiri" pitchFamily="2" charset="-78"/>
              </a:rPr>
              <a:t>ت</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Madrasa → madrasatī.</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means “our house”?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بَيْتُهَا</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بَيْتُهُمْ</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بَيْتُنَا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-nā = our.</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Can a noun with a possessive ending also take al-?</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No: the suffix already makes it definite</a:t>
            </a:r>
            <a:endParaRPr lang="en-US" sz="12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Yes, always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with </a:t>
            </a:r>
            <a:pPr algn="l" indent="0" marL="0">
              <a:buNone/>
            </a:pPr>
            <a:r>
              <a:rPr lang="ar-SA" altLang="en-US" sz="1650" dirty="0">
                <a:solidFill>
                  <a:srgbClr val="9AA1AB"/>
                </a:solidFill>
                <a:latin typeface="Amiri" pitchFamily="2" charset="-78"/>
                <a:cs typeface="Amiri" pitchFamily="2" charset="-78"/>
              </a:rPr>
              <a:t>ـِي</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 the ending already makes it definite.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Noun + owner ending = one word. The ending shows the owner; tāʾ marbūṭa opens to t; no al-.</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C77700"/>
                </a:solidFill>
                <a:latin typeface="Amiri" pitchFamily="2" charset="-78"/>
                <a:cs typeface="Amiri" pitchFamily="2" charset="-78"/>
              </a:rPr>
              <a:t>كِتَابِي</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C77700"/>
                </a:solidFill>
                <a:latin typeface="Amiri" pitchFamily="2" charset="-78"/>
                <a:cs typeface="Amiri" pitchFamily="2" charset="-78"/>
              </a:rPr>
              <a:t>مَدْرَسَتُهَا</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C77700"/>
                </a:solidFill>
                <a:latin typeface="Amiri" pitchFamily="2" charset="-78"/>
                <a:cs typeface="Amiri" pitchFamily="2" charset="-78"/>
              </a:rPr>
              <a:t>بَيْتُنَا</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Match each ending to its owner.</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Open tāʾ marbūṭa before an ending.</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Keep the case vowel before the ending.</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“his new book” from “his book is new”.</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use -ī, -ka, -ki, -hu, -hā, -nā.</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open the tāʾ marbūṭa: madrasatī.</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-kum, -hum, -humā, -hunna.</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write qaraʾtu kitābahu (-a).</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drop the nūn: kitābāhu, muʿallimūhum.</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write a 100–120-word belongings profile.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ضَمِيرُ الْمِلْكِيَّةِ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possessive ending</a:t>
            </a:r>
            <a:endParaRPr lang="en-US" sz="1350" dirty="0"/>
          </a:p>
          <a:p>
            <a:pPr indent="0" marL="0">
              <a:buNone/>
            </a:pPr>
            <a:r>
              <a:rPr lang="en-US" sz="1100" i="1" dirty="0">
                <a:solidFill>
                  <a:srgbClr val="5A6472"/>
                </a:solidFill>
                <a:latin typeface="Calibri" pitchFamily="34" charset="0"/>
                <a:cs typeface="Amiri" pitchFamily="2" charset="-78"/>
              </a:rPr>
              <a:t>ḍa-mī-ru al-mil-kiy-ya-ti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ـِي · ـهُ · ـهَا</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الْمَالِكُ</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owner</a:t>
            </a:r>
            <a:endParaRPr lang="en-US" sz="1350" dirty="0"/>
          </a:p>
          <a:p>
            <a:pPr indent="0" marL="0">
              <a:buNone/>
            </a:pPr>
            <a:r>
              <a:rPr lang="en-US" sz="1100" i="1" dirty="0">
                <a:solidFill>
                  <a:srgbClr val="5A6472"/>
                </a:solidFill>
                <a:latin typeface="Calibri" pitchFamily="34" charset="0"/>
                <a:cs typeface="Amiri" pitchFamily="2" charset="-78"/>
              </a:rPr>
              <a:t>al-mā-li-ku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cs typeface="Amiri" pitchFamily="2" charset="-78"/>
              </a:rPr>
              <a:t>كِتَابُهَا</a:t>
            </a:r>
            <a:pPr algn="l" indent="0" marL="0">
              <a:buNone/>
            </a:pPr>
            <a:r>
              <a:rPr lang="en-US" sz="1000" i="1" dirty="0">
                <a:solidFill>
                  <a:srgbClr val="8A6D1E"/>
                </a:solidFill>
                <a:latin typeface="Calibri" pitchFamily="34" charset="0"/>
                <a:cs typeface="Amiri" pitchFamily="2" charset="-78"/>
              </a:rPr>
              <a:t> = her book</a:t>
            </a:r>
            <a:endParaRPr lang="en-US" sz="10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التَّاءُ الْمَرْبُوطَةُ</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tāʾ marbūṭa — opens to t</a:t>
            </a:r>
            <a:endParaRPr lang="en-US" sz="1350" dirty="0"/>
          </a:p>
          <a:p>
            <a:pPr indent="0" marL="0">
              <a:buNone/>
            </a:pPr>
            <a:r>
              <a:rPr lang="en-US" sz="1100" i="1" dirty="0">
                <a:solidFill>
                  <a:srgbClr val="5A6472"/>
                </a:solidFill>
                <a:latin typeface="Calibri" pitchFamily="34" charset="0"/>
                <a:cs typeface="Amiri" pitchFamily="2" charset="-78"/>
              </a:rPr>
              <a:t>at-tā-ʾu al-mar-bū-ṭa-tu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مَدْرَسَةٌ · مَدْرَسَتِي</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الْمَعْرِفَةُ</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definite (the ending makes it so)</a:t>
            </a:r>
            <a:endParaRPr lang="en-US" sz="1350" dirty="0"/>
          </a:p>
          <a:p>
            <a:pPr indent="0" marL="0">
              <a:buNone/>
            </a:pPr>
            <a:r>
              <a:rPr lang="en-US" sz="1100" i="1" dirty="0">
                <a:solidFill>
                  <a:srgbClr val="5A6472"/>
                </a:solidFill>
                <a:latin typeface="Calibri" pitchFamily="34" charset="0"/>
                <a:cs typeface="Amiri" pitchFamily="2" charset="-78"/>
              </a:rPr>
              <a:t>al-maʿ-ri-fa-tu</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كِتَابُهُ الْجَدِيدُ</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حَذْفُ النُّونِ</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dropping the nūn</a:t>
            </a:r>
            <a:endParaRPr lang="en-US" sz="1350" dirty="0"/>
          </a:p>
          <a:p>
            <a:pPr indent="0" marL="0">
              <a:buNone/>
            </a:pPr>
            <a:r>
              <a:rPr lang="en-US" sz="1100" i="1" dirty="0">
                <a:solidFill>
                  <a:srgbClr val="5A6472"/>
                </a:solidFill>
                <a:latin typeface="Calibri" pitchFamily="34" charset="0"/>
                <a:cs typeface="Amiri" pitchFamily="2" charset="-78"/>
              </a:rPr>
              <a:t>ḥadh-fu an-nū-ni</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كِتَابَاهُ · مُعَلِّمُوهُمْ</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جَمْعُ الْمُؤَنَّثِ السَّالِمُ</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sound feminine plural (-āt)</a:t>
            </a:r>
            <a:endParaRPr lang="en-US" sz="1350" dirty="0"/>
          </a:p>
          <a:p>
            <a:pPr indent="0" marL="0">
              <a:buNone/>
            </a:pPr>
            <a:r>
              <a:rPr lang="en-US" sz="1100" i="1" dirty="0">
                <a:solidFill>
                  <a:srgbClr val="5A6472"/>
                </a:solidFill>
                <a:latin typeface="Calibri" pitchFamily="34" charset="0"/>
                <a:cs typeface="Amiri" pitchFamily="2" charset="-78"/>
              </a:rPr>
              <a:t>jam-ʿu al-mu-ʾan-na-thi as-sā-li-mu</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سَيَّارَاتُهُنَّ</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1 · THE SUFFIX FAMILY: ONE OWNER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your, his, her, our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ضَمَائِرُ الْمِلْكِيَّةِ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66267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With kitāb</a:t>
            </a:r>
            <a:endParaRPr lang="en-US" sz="1100" dirty="0"/>
          </a:p>
        </p:txBody>
      </p:sp>
      <p:sp>
        <p:nvSpPr>
          <p:cNvPr id="17" name="Text 14"/>
          <p:cNvSpPr txBox="1"/>
          <p:nvPr/>
        </p:nvSpPr>
        <p:spPr>
          <a:xfrm>
            <a:off x="546811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Ending</a:t>
            </a:r>
            <a:endParaRPr lang="en-US" sz="1100" dirty="0"/>
          </a:p>
        </p:txBody>
      </p:sp>
      <p:sp>
        <p:nvSpPr>
          <p:cNvPr id="18" name="Text 15"/>
          <p:cNvSpPr txBox="1"/>
          <p:nvPr/>
        </p:nvSpPr>
        <p:spPr>
          <a:xfrm>
            <a:off x="32735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Pronoun</a:t>
            </a:r>
            <a:endParaRPr lang="en-US" sz="1100" dirty="0"/>
          </a:p>
        </p:txBody>
      </p:sp>
      <p:sp>
        <p:nvSpPr>
          <p:cNvPr id="19" name="Text 16"/>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Owner</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680960" y="2267712"/>
            <a:ext cx="3959352"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كِتَابِي</a:t>
            </a:r>
            <a:endParaRPr lang="ar-SA" sz="2600" dirty="0"/>
          </a:p>
        </p:txBody>
      </p:sp>
      <p:sp>
        <p:nvSpPr>
          <p:cNvPr id="22" name="Text 19"/>
          <p:cNvSpPr txBox="1"/>
          <p:nvPr/>
        </p:nvSpPr>
        <p:spPr>
          <a:xfrm>
            <a:off x="5486400" y="226771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ـِي</a:t>
            </a:r>
            <a:endParaRPr lang="ar-SA" sz="2400" dirty="0"/>
          </a:p>
        </p:txBody>
      </p:sp>
      <p:sp>
        <p:nvSpPr>
          <p:cNvPr id="23" name="Text 20"/>
          <p:cNvSpPr txBox="1"/>
          <p:nvPr/>
        </p:nvSpPr>
        <p:spPr>
          <a:xfrm>
            <a:off x="3291840" y="226771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أَنَا</a:t>
            </a:r>
            <a:endParaRPr lang="ar-SA" sz="2400" dirty="0"/>
          </a:p>
        </p:txBody>
      </p:sp>
      <p:sp>
        <p:nvSpPr>
          <p:cNvPr id="24" name="Text 21"/>
          <p:cNvSpPr txBox="1"/>
          <p:nvPr/>
        </p:nvSpPr>
        <p:spPr>
          <a:xfrm>
            <a:off x="566928" y="2267712"/>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680960" y="2881884"/>
            <a:ext cx="3959352"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كِتَابُكَ</a:t>
            </a:r>
            <a:endParaRPr lang="ar-SA" sz="2600" dirty="0"/>
          </a:p>
        </p:txBody>
      </p:sp>
      <p:sp>
        <p:nvSpPr>
          <p:cNvPr id="29" name="Text 26"/>
          <p:cNvSpPr txBox="1"/>
          <p:nvPr/>
        </p:nvSpPr>
        <p:spPr>
          <a:xfrm>
            <a:off x="5486400" y="2881884"/>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ـكَ</a:t>
            </a:r>
            <a:endParaRPr lang="ar-SA" sz="2400" dirty="0"/>
          </a:p>
        </p:txBody>
      </p:sp>
      <p:sp>
        <p:nvSpPr>
          <p:cNvPr id="30" name="Text 27"/>
          <p:cNvSpPr txBox="1"/>
          <p:nvPr/>
        </p:nvSpPr>
        <p:spPr>
          <a:xfrm>
            <a:off x="3291840" y="2881884"/>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أَنْتَ</a:t>
            </a:r>
            <a:endParaRPr lang="ar-SA" sz="2400" dirty="0"/>
          </a:p>
        </p:txBody>
      </p:sp>
      <p:sp>
        <p:nvSpPr>
          <p:cNvPr id="31" name="Text 28"/>
          <p:cNvSpPr txBox="1"/>
          <p:nvPr/>
        </p:nvSpPr>
        <p:spPr>
          <a:xfrm>
            <a:off x="566928" y="2881884"/>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(one male)</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680960" y="3496056"/>
            <a:ext cx="3959352"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كِتَابُكِ</a:t>
            </a:r>
            <a:endParaRPr lang="ar-SA" sz="2600" dirty="0"/>
          </a:p>
        </p:txBody>
      </p:sp>
      <p:sp>
        <p:nvSpPr>
          <p:cNvPr id="36" name="Text 33"/>
          <p:cNvSpPr txBox="1"/>
          <p:nvPr/>
        </p:nvSpPr>
        <p:spPr>
          <a:xfrm>
            <a:off x="5486400" y="3496056"/>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ـكِ</a:t>
            </a:r>
            <a:endParaRPr lang="ar-SA" sz="2400" dirty="0"/>
          </a:p>
        </p:txBody>
      </p:sp>
      <p:sp>
        <p:nvSpPr>
          <p:cNvPr id="37" name="Text 34"/>
          <p:cNvSpPr txBox="1"/>
          <p:nvPr/>
        </p:nvSpPr>
        <p:spPr>
          <a:xfrm>
            <a:off x="3291840" y="3496056"/>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أَنْتِ</a:t>
            </a:r>
            <a:endParaRPr lang="ar-SA" sz="2400" dirty="0"/>
          </a:p>
        </p:txBody>
      </p:sp>
      <p:sp>
        <p:nvSpPr>
          <p:cNvPr id="38" name="Text 35"/>
          <p:cNvSpPr txBox="1"/>
          <p:nvPr/>
        </p:nvSpPr>
        <p:spPr>
          <a:xfrm>
            <a:off x="566928" y="3496056"/>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(one female)</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680960" y="4110228"/>
            <a:ext cx="3959352"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كِتَابُهُ</a:t>
            </a:r>
            <a:endParaRPr lang="ar-SA" sz="2600" dirty="0"/>
          </a:p>
        </p:txBody>
      </p:sp>
      <p:sp>
        <p:nvSpPr>
          <p:cNvPr id="43" name="Text 40"/>
          <p:cNvSpPr txBox="1"/>
          <p:nvPr/>
        </p:nvSpPr>
        <p:spPr>
          <a:xfrm>
            <a:off x="5486400" y="4110228"/>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ـهُ</a:t>
            </a:r>
            <a:endParaRPr lang="ar-SA" sz="2400" dirty="0"/>
          </a:p>
        </p:txBody>
      </p:sp>
      <p:sp>
        <p:nvSpPr>
          <p:cNvPr id="44" name="Text 41"/>
          <p:cNvSpPr txBox="1"/>
          <p:nvPr/>
        </p:nvSpPr>
        <p:spPr>
          <a:xfrm>
            <a:off x="3291840" y="4110228"/>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هُوَ</a:t>
            </a:r>
            <a:endParaRPr lang="ar-SA" sz="2400" dirty="0"/>
          </a:p>
        </p:txBody>
      </p:sp>
      <p:sp>
        <p:nvSpPr>
          <p:cNvPr id="45" name="Text 42"/>
          <p:cNvSpPr txBox="1"/>
          <p:nvPr/>
        </p:nvSpPr>
        <p:spPr>
          <a:xfrm>
            <a:off x="566928" y="4110228"/>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his / its (m.)</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680960" y="4724400"/>
            <a:ext cx="3959352"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كِتَابُهَا</a:t>
            </a:r>
            <a:endParaRPr lang="ar-SA" sz="2600" dirty="0"/>
          </a:p>
        </p:txBody>
      </p:sp>
      <p:sp>
        <p:nvSpPr>
          <p:cNvPr id="50" name="Text 47"/>
          <p:cNvSpPr txBox="1"/>
          <p:nvPr/>
        </p:nvSpPr>
        <p:spPr>
          <a:xfrm>
            <a:off x="5486400" y="4724400"/>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ـهَا</a:t>
            </a:r>
            <a:endParaRPr lang="ar-SA" sz="2400" dirty="0"/>
          </a:p>
        </p:txBody>
      </p:sp>
      <p:sp>
        <p:nvSpPr>
          <p:cNvPr id="51" name="Text 48"/>
          <p:cNvSpPr txBox="1"/>
          <p:nvPr/>
        </p:nvSpPr>
        <p:spPr>
          <a:xfrm>
            <a:off x="3291840" y="4724400"/>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هِيَ</a:t>
            </a:r>
            <a:endParaRPr lang="ar-SA" sz="2400" dirty="0"/>
          </a:p>
        </p:txBody>
      </p:sp>
      <p:sp>
        <p:nvSpPr>
          <p:cNvPr id="52" name="Text 49"/>
          <p:cNvSpPr txBox="1"/>
          <p:nvPr/>
        </p:nvSpPr>
        <p:spPr>
          <a:xfrm>
            <a:off x="566928" y="4724400"/>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her / its (f.)</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680960" y="5338572"/>
            <a:ext cx="3959352"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كِتَابُنَا</a:t>
            </a:r>
            <a:endParaRPr lang="ar-SA" sz="2600" dirty="0"/>
          </a:p>
        </p:txBody>
      </p:sp>
      <p:sp>
        <p:nvSpPr>
          <p:cNvPr id="57" name="Text 54"/>
          <p:cNvSpPr txBox="1"/>
          <p:nvPr/>
        </p:nvSpPr>
        <p:spPr>
          <a:xfrm>
            <a:off x="5486400" y="533857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ـنَا</a:t>
            </a:r>
            <a:endParaRPr lang="ar-SA" sz="2400" dirty="0"/>
          </a:p>
        </p:txBody>
      </p:sp>
      <p:sp>
        <p:nvSpPr>
          <p:cNvPr id="58" name="Text 55"/>
          <p:cNvSpPr txBox="1"/>
          <p:nvPr/>
        </p:nvSpPr>
        <p:spPr>
          <a:xfrm>
            <a:off x="3291840" y="533857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نَحْنُ</a:t>
            </a:r>
            <a:endParaRPr lang="ar-SA" sz="2400" dirty="0"/>
          </a:p>
        </p:txBody>
      </p:sp>
      <p:sp>
        <p:nvSpPr>
          <p:cNvPr id="59" name="Text 56"/>
          <p:cNvSpPr txBox="1"/>
          <p:nvPr/>
        </p:nvSpPr>
        <p:spPr>
          <a:xfrm>
            <a:off x="566928" y="5338572"/>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our</a:t>
            </a:r>
            <a:endParaRPr lang="en-US" sz="1100" dirty="0"/>
          </a:p>
        </p:txBody>
      </p:sp>
      <p:sp>
        <p:nvSpPr>
          <p:cNvPr id="60" name="Shape 57"/>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Text 5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the ending identifies the OWNER, not the object. Sayyāratuhu = his car (the car is feminine; the owner is male). Kitābuhā = her book (the book is masculine; the owner is female).</a:t>
            </a:r>
            <a:endParaRPr lang="en-US" sz="11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33" b="1" spc="150" kern="0" dirty="0">
                <a:solidFill>
                  <a:srgbClr val="1B3B6F"/>
                </a:solidFill>
                <a:latin typeface="Calibri" pitchFamily="34" charset="0"/>
                <a:cs typeface="Amiri" pitchFamily="2" charset="-78"/>
              </a:rPr>
              <a:t>GRAMMAR · PART 2 · THE SUFFIX FAMILY: TWO OR MORE OWNERS (WEBSITE TABLE) · DEVELOP</a:t>
            </a:r>
            <a:endParaRPr lang="en-US" sz="83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(all of you) and their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الْمُثَنَّى وَالْجَمْعُ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With kitāb</a:t>
            </a:r>
            <a:endParaRPr lang="en-US" sz="1100" dirty="0"/>
          </a:p>
        </p:txBody>
      </p:sp>
      <p:sp>
        <p:nvSpPr>
          <p:cNvPr id="17" name="Text 14"/>
          <p:cNvSpPr txBox="1"/>
          <p:nvPr/>
        </p:nvSpPr>
        <p:spPr>
          <a:xfrm>
            <a:off x="583387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Ending</a:t>
            </a:r>
            <a:endParaRPr lang="en-US" sz="1100" dirty="0"/>
          </a:p>
        </p:txBody>
      </p:sp>
      <p:sp>
        <p:nvSpPr>
          <p:cNvPr id="18" name="Text 15"/>
          <p:cNvSpPr txBox="1"/>
          <p:nvPr/>
        </p:nvSpPr>
        <p:spPr>
          <a:xfrm>
            <a:off x="363931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Pronoun</a:t>
            </a:r>
            <a:endParaRPr lang="en-US" sz="1100" dirty="0"/>
          </a:p>
        </p:txBody>
      </p:sp>
      <p:sp>
        <p:nvSpPr>
          <p:cNvPr id="19" name="Text 16"/>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Owner</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046720" y="2267712"/>
            <a:ext cx="3593592"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كِتَابُكُمَا</a:t>
            </a:r>
            <a:endParaRPr lang="ar-SA" sz="2600" dirty="0"/>
          </a:p>
        </p:txBody>
      </p:sp>
      <p:sp>
        <p:nvSpPr>
          <p:cNvPr id="22" name="Text 19"/>
          <p:cNvSpPr txBox="1"/>
          <p:nvPr/>
        </p:nvSpPr>
        <p:spPr>
          <a:xfrm>
            <a:off x="5852160" y="226771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ـكُمَا</a:t>
            </a:r>
            <a:endParaRPr lang="ar-SA" sz="2400" dirty="0"/>
          </a:p>
        </p:txBody>
      </p:sp>
      <p:sp>
        <p:nvSpPr>
          <p:cNvPr id="23" name="Text 20"/>
          <p:cNvSpPr txBox="1"/>
          <p:nvPr/>
        </p:nvSpPr>
        <p:spPr>
          <a:xfrm>
            <a:off x="3657600" y="226771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أَنْتُمَا</a:t>
            </a:r>
            <a:endParaRPr lang="ar-SA" sz="2400" dirty="0"/>
          </a:p>
        </p:txBody>
      </p:sp>
      <p:sp>
        <p:nvSpPr>
          <p:cNvPr id="24" name="Text 21"/>
          <p:cNvSpPr txBox="1"/>
          <p:nvPr/>
        </p:nvSpPr>
        <p:spPr>
          <a:xfrm>
            <a:off x="566928" y="2267712"/>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(two)</a:t>
            </a:r>
            <a:endParaRPr lang="en-US" sz="110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46720" y="2881884"/>
            <a:ext cx="3593592"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كِتَابُكُمْ</a:t>
            </a:r>
            <a:endParaRPr lang="ar-SA" sz="2600" dirty="0"/>
          </a:p>
        </p:txBody>
      </p:sp>
      <p:sp>
        <p:nvSpPr>
          <p:cNvPr id="27" name="Text 24"/>
          <p:cNvSpPr txBox="1"/>
          <p:nvPr/>
        </p:nvSpPr>
        <p:spPr>
          <a:xfrm>
            <a:off x="5852160" y="2881884"/>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ـكُمْ</a:t>
            </a:r>
            <a:endParaRPr lang="ar-SA" sz="2400" dirty="0"/>
          </a:p>
        </p:txBody>
      </p:sp>
      <p:sp>
        <p:nvSpPr>
          <p:cNvPr id="28" name="Text 25"/>
          <p:cNvSpPr txBox="1"/>
          <p:nvPr/>
        </p:nvSpPr>
        <p:spPr>
          <a:xfrm>
            <a:off x="3657600" y="2881884"/>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أَنْتُمْ</a:t>
            </a:r>
            <a:endParaRPr lang="ar-SA" sz="2400" dirty="0"/>
          </a:p>
        </p:txBody>
      </p:sp>
      <p:sp>
        <p:nvSpPr>
          <p:cNvPr id="29" name="Text 26"/>
          <p:cNvSpPr txBox="1"/>
          <p:nvPr/>
        </p:nvSpPr>
        <p:spPr>
          <a:xfrm>
            <a:off x="566928" y="2881884"/>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(group m. / mixed)</a:t>
            </a:r>
            <a:endParaRPr lang="en-US" sz="1100" dirty="0"/>
          </a:p>
        </p:txBody>
      </p:sp>
      <p:sp>
        <p:nvSpPr>
          <p:cNvPr id="30" name="Shape 27"/>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2" name="Shape 29"/>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3" name="Text 30"/>
          <p:cNvSpPr txBox="1"/>
          <p:nvPr/>
        </p:nvSpPr>
        <p:spPr>
          <a:xfrm>
            <a:off x="8046720" y="3496056"/>
            <a:ext cx="3593592"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كِتَابُكُنَّ</a:t>
            </a:r>
            <a:endParaRPr lang="ar-SA" sz="2600" dirty="0"/>
          </a:p>
        </p:txBody>
      </p:sp>
      <p:sp>
        <p:nvSpPr>
          <p:cNvPr id="34" name="Text 31"/>
          <p:cNvSpPr txBox="1"/>
          <p:nvPr/>
        </p:nvSpPr>
        <p:spPr>
          <a:xfrm>
            <a:off x="5852160" y="3496056"/>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ـكُنَّ</a:t>
            </a:r>
            <a:endParaRPr lang="ar-SA" sz="2400" dirty="0"/>
          </a:p>
        </p:txBody>
      </p:sp>
      <p:sp>
        <p:nvSpPr>
          <p:cNvPr id="35" name="Text 32"/>
          <p:cNvSpPr txBox="1"/>
          <p:nvPr/>
        </p:nvSpPr>
        <p:spPr>
          <a:xfrm>
            <a:off x="3657600" y="3496056"/>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أَنْتُنَّ</a:t>
            </a:r>
            <a:endParaRPr lang="ar-SA" sz="2400" dirty="0"/>
          </a:p>
        </p:txBody>
      </p:sp>
      <p:sp>
        <p:nvSpPr>
          <p:cNvPr id="36" name="Text 33"/>
          <p:cNvSpPr txBox="1"/>
          <p:nvPr/>
        </p:nvSpPr>
        <p:spPr>
          <a:xfrm>
            <a:off x="566928" y="3496056"/>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(group f.)</a:t>
            </a:r>
            <a:endParaRPr lang="en-US" sz="110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46720" y="4110228"/>
            <a:ext cx="3593592"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كِتَابُهُمَا</a:t>
            </a:r>
            <a:endParaRPr lang="ar-SA" sz="2600" dirty="0"/>
          </a:p>
        </p:txBody>
      </p:sp>
      <p:sp>
        <p:nvSpPr>
          <p:cNvPr id="39" name="Text 36"/>
          <p:cNvSpPr txBox="1"/>
          <p:nvPr/>
        </p:nvSpPr>
        <p:spPr>
          <a:xfrm>
            <a:off x="5852160" y="4110228"/>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ـهُمَا</a:t>
            </a:r>
            <a:endParaRPr lang="ar-SA" sz="2400" dirty="0"/>
          </a:p>
        </p:txBody>
      </p:sp>
      <p:sp>
        <p:nvSpPr>
          <p:cNvPr id="40" name="Text 37"/>
          <p:cNvSpPr txBox="1"/>
          <p:nvPr/>
        </p:nvSpPr>
        <p:spPr>
          <a:xfrm>
            <a:off x="3657600" y="4110228"/>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هُمَا</a:t>
            </a:r>
            <a:endParaRPr lang="ar-SA" sz="2400" dirty="0"/>
          </a:p>
        </p:txBody>
      </p:sp>
      <p:sp>
        <p:nvSpPr>
          <p:cNvPr id="41" name="Text 38"/>
          <p:cNvSpPr txBox="1"/>
          <p:nvPr/>
        </p:nvSpPr>
        <p:spPr>
          <a:xfrm>
            <a:off x="566928" y="4110228"/>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their (two)</a:t>
            </a:r>
            <a:endParaRPr lang="en-US" sz="1100" dirty="0"/>
          </a:p>
        </p:txBody>
      </p:sp>
      <p:sp>
        <p:nvSpPr>
          <p:cNvPr id="42" name="Shape 39"/>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3" name="Text 40"/>
          <p:cNvSpPr txBox="1"/>
          <p:nvPr/>
        </p:nvSpPr>
        <p:spPr>
          <a:xfrm>
            <a:off x="8046720" y="4724400"/>
            <a:ext cx="3593592"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كِتَابُهُمْ</a:t>
            </a:r>
            <a:endParaRPr lang="ar-SA" sz="2600" dirty="0"/>
          </a:p>
        </p:txBody>
      </p:sp>
      <p:sp>
        <p:nvSpPr>
          <p:cNvPr id="44" name="Text 41"/>
          <p:cNvSpPr txBox="1"/>
          <p:nvPr/>
        </p:nvSpPr>
        <p:spPr>
          <a:xfrm>
            <a:off x="5852160" y="4724400"/>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ـهُمْ</a:t>
            </a:r>
            <a:endParaRPr lang="ar-SA" sz="2400" dirty="0"/>
          </a:p>
        </p:txBody>
      </p:sp>
      <p:sp>
        <p:nvSpPr>
          <p:cNvPr id="45" name="Text 42"/>
          <p:cNvSpPr txBox="1"/>
          <p:nvPr/>
        </p:nvSpPr>
        <p:spPr>
          <a:xfrm>
            <a:off x="3657600" y="4724400"/>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هُمْ</a:t>
            </a:r>
            <a:endParaRPr lang="ar-SA" sz="2400" dirty="0"/>
          </a:p>
        </p:txBody>
      </p:sp>
      <p:sp>
        <p:nvSpPr>
          <p:cNvPr id="46" name="Text 43"/>
          <p:cNvSpPr txBox="1"/>
          <p:nvPr/>
        </p:nvSpPr>
        <p:spPr>
          <a:xfrm>
            <a:off x="566928" y="4724400"/>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their (m. / mixed)</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46720" y="5338572"/>
            <a:ext cx="3593592"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كِتَابُهُنَّ</a:t>
            </a:r>
            <a:endParaRPr lang="ar-SA" sz="2600" dirty="0"/>
          </a:p>
        </p:txBody>
      </p:sp>
      <p:sp>
        <p:nvSpPr>
          <p:cNvPr id="51" name="Text 48"/>
          <p:cNvSpPr txBox="1"/>
          <p:nvPr/>
        </p:nvSpPr>
        <p:spPr>
          <a:xfrm>
            <a:off x="5852160" y="533857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ـهُنَّ</a:t>
            </a:r>
            <a:endParaRPr lang="ar-SA" sz="2400" dirty="0"/>
          </a:p>
        </p:txBody>
      </p:sp>
      <p:sp>
        <p:nvSpPr>
          <p:cNvPr id="52" name="Text 49"/>
          <p:cNvSpPr txBox="1"/>
          <p:nvPr/>
        </p:nvSpPr>
        <p:spPr>
          <a:xfrm>
            <a:off x="3657600" y="533857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هُنَّ</a:t>
            </a:r>
            <a:endParaRPr lang="ar-SA" sz="2400" dirty="0"/>
          </a:p>
        </p:txBody>
      </p:sp>
      <p:sp>
        <p:nvSpPr>
          <p:cNvPr id="53" name="Text 50"/>
          <p:cNvSpPr txBox="1"/>
          <p:nvPr/>
        </p:nvSpPr>
        <p:spPr>
          <a:xfrm>
            <a:off x="566928" y="5338572"/>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their (f.)</a:t>
            </a:r>
            <a:endParaRPr lang="en-US" sz="1100" dirty="0"/>
          </a:p>
        </p:txBody>
      </p:sp>
      <p:sp>
        <p:nvSpPr>
          <p:cNvPr id="54" name="Text 5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i or y, -hu / -hum / -hunna become -hi / -him / -hinna: fī kitābihi, fī baytihim. The meaning does not change.</a:t>
            </a:r>
            <a:endParaRPr lang="en-US" sz="11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3 · TĀʾ MARBŪṬA OPENS BEFORE A SUFFIX (WEBSITE MODELS)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Tāʾ marbūṭa opens to 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التَّاءُ الْمَرْبُوطَةُ تُفْتَحُ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66267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345643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With owner</a:t>
            </a:r>
            <a:endParaRPr lang="en-US" sz="1100" dirty="0"/>
          </a:p>
        </p:txBody>
      </p:sp>
      <p:sp>
        <p:nvSpPr>
          <p:cNvPr id="18" name="Text 15"/>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Noun</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699248" y="2267712"/>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school</a:t>
            </a:r>
            <a:endParaRPr lang="en-US" sz="1100" dirty="0"/>
          </a:p>
        </p:txBody>
      </p:sp>
      <p:sp>
        <p:nvSpPr>
          <p:cNvPr id="21" name="Text 18"/>
          <p:cNvSpPr txBox="1"/>
          <p:nvPr/>
        </p:nvSpPr>
        <p:spPr>
          <a:xfrm>
            <a:off x="3474720" y="2267712"/>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مَدْرَسَتِي</a:t>
            </a:r>
            <a:endParaRPr lang="ar-SA" sz="2400" dirty="0"/>
          </a:p>
        </p:txBody>
      </p:sp>
      <p:sp>
        <p:nvSpPr>
          <p:cNvPr id="22" name="Text 19"/>
          <p:cNvSpPr txBox="1"/>
          <p:nvPr/>
        </p:nvSpPr>
        <p:spPr>
          <a:xfrm>
            <a:off x="548640" y="2267712"/>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مَدْرَسَةٌ</a:t>
            </a:r>
            <a:endParaRPr lang="ar-SA" sz="2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699248" y="3004718"/>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bag (m.)</a:t>
            </a:r>
            <a:endParaRPr lang="en-US" sz="1100" dirty="0"/>
          </a:p>
        </p:txBody>
      </p:sp>
      <p:sp>
        <p:nvSpPr>
          <p:cNvPr id="27" name="Text 24"/>
          <p:cNvSpPr txBox="1"/>
          <p:nvPr/>
        </p:nvSpPr>
        <p:spPr>
          <a:xfrm>
            <a:off x="3474720" y="3004718"/>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حَقِيبَتُكَ</a:t>
            </a:r>
            <a:endParaRPr lang="ar-SA" sz="2400" dirty="0"/>
          </a:p>
        </p:txBody>
      </p:sp>
      <p:sp>
        <p:nvSpPr>
          <p:cNvPr id="28" name="Text 25"/>
          <p:cNvSpPr txBox="1"/>
          <p:nvPr/>
        </p:nvSpPr>
        <p:spPr>
          <a:xfrm>
            <a:off x="548640" y="3004718"/>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حَقِيبَةٌ</a:t>
            </a:r>
            <a:endParaRPr lang="ar-SA" sz="26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699248" y="3741725"/>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visited her family.</a:t>
            </a:r>
            <a:endParaRPr lang="en-US" sz="1100" dirty="0"/>
          </a:p>
        </p:txBody>
      </p:sp>
      <p:sp>
        <p:nvSpPr>
          <p:cNvPr id="33" name="Text 30"/>
          <p:cNvSpPr txBox="1"/>
          <p:nvPr/>
        </p:nvSpPr>
        <p:spPr>
          <a:xfrm>
            <a:off x="3474720" y="3741725"/>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زُرْتُ عَائِلَتَهَا.</a:t>
            </a:r>
            <a:endParaRPr lang="ar-SA" sz="2400" dirty="0"/>
          </a:p>
        </p:txBody>
      </p:sp>
      <p:sp>
        <p:nvSpPr>
          <p:cNvPr id="34" name="Text 31"/>
          <p:cNvSpPr txBox="1"/>
          <p:nvPr/>
        </p:nvSpPr>
        <p:spPr>
          <a:xfrm>
            <a:off x="548640" y="3741725"/>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عَائِلَةٌ</a:t>
            </a:r>
            <a:endParaRPr lang="ar-SA" sz="26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7699248" y="4478731"/>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our room</a:t>
            </a:r>
            <a:endParaRPr lang="en-US" sz="1100" dirty="0"/>
          </a:p>
        </p:txBody>
      </p:sp>
      <p:sp>
        <p:nvSpPr>
          <p:cNvPr id="39" name="Text 36"/>
          <p:cNvSpPr txBox="1"/>
          <p:nvPr/>
        </p:nvSpPr>
        <p:spPr>
          <a:xfrm>
            <a:off x="3474720" y="4478731"/>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فِي غُرْفَتِنَا</a:t>
            </a:r>
            <a:endParaRPr lang="ar-SA" sz="2400" dirty="0"/>
          </a:p>
        </p:txBody>
      </p:sp>
      <p:sp>
        <p:nvSpPr>
          <p:cNvPr id="40" name="Text 37"/>
          <p:cNvSpPr txBox="1"/>
          <p:nvPr/>
        </p:nvSpPr>
        <p:spPr>
          <a:xfrm>
            <a:off x="548640" y="4478731"/>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غُرْفَةٌ</a:t>
            </a:r>
            <a:endParaRPr lang="ar-SA" sz="26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7699248" y="5215738"/>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their car</a:t>
            </a:r>
            <a:endParaRPr lang="en-US" sz="1100" dirty="0"/>
          </a:p>
        </p:txBody>
      </p:sp>
      <p:sp>
        <p:nvSpPr>
          <p:cNvPr id="43" name="Text 40"/>
          <p:cNvSpPr txBox="1"/>
          <p:nvPr/>
        </p:nvSpPr>
        <p:spPr>
          <a:xfrm>
            <a:off x="3474720" y="5215738"/>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سَيَّارَتُهُمْ</a:t>
            </a:r>
            <a:endParaRPr lang="ar-SA" sz="2400" dirty="0"/>
          </a:p>
        </p:txBody>
      </p:sp>
      <p:sp>
        <p:nvSpPr>
          <p:cNvPr id="44" name="Text 41"/>
          <p:cNvSpPr txBox="1"/>
          <p:nvPr/>
        </p:nvSpPr>
        <p:spPr>
          <a:xfrm>
            <a:off x="548640" y="5215738"/>
            <a:ext cx="27432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سَيَّارَةٌ</a:t>
            </a:r>
            <a:endParaRPr lang="ar-SA" sz="26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three-step method: (1) remove the tanwīn, (2) change the tāʾ marbūṭa to t, (3) attach the owner ending. Never keep the closed tāʾ marbūṭa in front of an ending.</a:t>
            </a:r>
            <a:endParaRPr lang="en-US" sz="110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4 · CASE AND DEFINITENESS (WEBSITE TABLES)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The case vowel stays — and the noun is definite</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الْإِعْرَابُ وَالتَّعْرِيفُ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1131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Decision</a:t>
            </a:r>
            <a:endParaRPr lang="en-US" sz="1100" dirty="0"/>
          </a:p>
        </p:txBody>
      </p:sp>
      <p:sp>
        <p:nvSpPr>
          <p:cNvPr id="17" name="Text 14"/>
          <p:cNvSpPr txBox="1"/>
          <p:nvPr/>
        </p:nvSpPr>
        <p:spPr>
          <a:xfrm>
            <a:off x="363931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247888" y="2267712"/>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subject: -u + hu</a:t>
            </a:r>
            <a:endParaRPr lang="en-US" sz="1100" dirty="0"/>
          </a:p>
        </p:txBody>
      </p:sp>
      <p:sp>
        <p:nvSpPr>
          <p:cNvPr id="21" name="Text 18"/>
          <p:cNvSpPr txBox="1"/>
          <p:nvPr/>
        </p:nvSpPr>
        <p:spPr>
          <a:xfrm>
            <a:off x="3657600" y="2267712"/>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كِتَابُهُ جَدِيدٌ.</a:t>
            </a:r>
            <a:endParaRPr lang="ar-SA" sz="2200" dirty="0"/>
          </a:p>
        </p:txBody>
      </p:sp>
      <p:sp>
        <p:nvSpPr>
          <p:cNvPr id="22" name="Text 19"/>
          <p:cNvSpPr txBox="1"/>
          <p:nvPr/>
        </p:nvSpPr>
        <p:spPr>
          <a:xfrm>
            <a:off x="566928" y="2267712"/>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His book is new.</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247888" y="2881884"/>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object: -a + hu</a:t>
            </a:r>
            <a:endParaRPr lang="en-US" sz="1100" dirty="0"/>
          </a:p>
        </p:txBody>
      </p:sp>
      <p:sp>
        <p:nvSpPr>
          <p:cNvPr id="27" name="Text 24"/>
          <p:cNvSpPr txBox="1"/>
          <p:nvPr/>
        </p:nvSpPr>
        <p:spPr>
          <a:xfrm>
            <a:off x="3657600" y="2881884"/>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قَرَأْتُ كِتَابَهُ.</a:t>
            </a:r>
            <a:endParaRPr lang="ar-SA" sz="2200" dirty="0"/>
          </a:p>
        </p:txBody>
      </p:sp>
      <p:sp>
        <p:nvSpPr>
          <p:cNvPr id="28" name="Text 25"/>
          <p:cNvSpPr txBox="1"/>
          <p:nvPr/>
        </p:nvSpPr>
        <p:spPr>
          <a:xfrm>
            <a:off x="566928" y="2881884"/>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read his book.</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247888" y="3496056"/>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ilā: -i + hi</a:t>
            </a:r>
            <a:endParaRPr lang="en-US" sz="1100" dirty="0"/>
          </a:p>
        </p:txBody>
      </p:sp>
      <p:sp>
        <p:nvSpPr>
          <p:cNvPr id="33" name="Text 30"/>
          <p:cNvSpPr txBox="1"/>
          <p:nvPr/>
        </p:nvSpPr>
        <p:spPr>
          <a:xfrm>
            <a:off x="3657600" y="3496056"/>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نَظَرْتُ إِلَى كِتَابِهِ.</a:t>
            </a:r>
            <a:endParaRPr lang="ar-SA" sz="2200" dirty="0"/>
          </a:p>
        </p:txBody>
      </p:sp>
      <p:sp>
        <p:nvSpPr>
          <p:cNvPr id="34" name="Text 31"/>
          <p:cNvSpPr txBox="1"/>
          <p:nvPr/>
        </p:nvSpPr>
        <p:spPr>
          <a:xfrm>
            <a:off x="566928" y="3496056"/>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looked at his book.</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247888" y="4110228"/>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adjective takes al-</a:t>
            </a:r>
            <a:endParaRPr lang="en-US" sz="1100" dirty="0"/>
          </a:p>
        </p:txBody>
      </p:sp>
      <p:sp>
        <p:nvSpPr>
          <p:cNvPr id="39" name="Text 36"/>
          <p:cNvSpPr txBox="1"/>
          <p:nvPr/>
        </p:nvSpPr>
        <p:spPr>
          <a:xfrm>
            <a:off x="3657600" y="4110228"/>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كِتَابُهُ الْجَدِيدُ</a:t>
            </a:r>
            <a:endParaRPr lang="ar-SA" sz="2200" dirty="0"/>
          </a:p>
        </p:txBody>
      </p:sp>
      <p:sp>
        <p:nvSpPr>
          <p:cNvPr id="40" name="Text 37"/>
          <p:cNvSpPr txBox="1"/>
          <p:nvPr/>
        </p:nvSpPr>
        <p:spPr>
          <a:xfrm>
            <a:off x="566928" y="4110228"/>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his new book</a:t>
            </a:r>
            <a:endParaRPr lang="en-US" sz="11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247888" y="4724400"/>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both -a</a:t>
            </a:r>
            <a:endParaRPr lang="en-US" sz="1100" dirty="0"/>
          </a:p>
        </p:txBody>
      </p:sp>
      <p:sp>
        <p:nvSpPr>
          <p:cNvPr id="43" name="Text 40"/>
          <p:cNvSpPr txBox="1"/>
          <p:nvPr/>
        </p:nvSpPr>
        <p:spPr>
          <a:xfrm>
            <a:off x="3657600" y="4724400"/>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قَرَأْتُ كِتَابَهُ الْجَدِيدَ.</a:t>
            </a:r>
            <a:endParaRPr lang="ar-SA" sz="2200" dirty="0"/>
          </a:p>
        </p:txBody>
      </p:sp>
      <p:sp>
        <p:nvSpPr>
          <p:cNvPr id="44" name="Text 41"/>
          <p:cNvSpPr txBox="1"/>
          <p:nvPr/>
        </p:nvSpPr>
        <p:spPr>
          <a:xfrm>
            <a:off x="566928" y="4724400"/>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read his new book.</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247888" y="5338572"/>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both -i</a:t>
            </a:r>
            <a:endParaRPr lang="en-US" sz="1100" dirty="0"/>
          </a:p>
        </p:txBody>
      </p:sp>
      <p:sp>
        <p:nvSpPr>
          <p:cNvPr id="47" name="Text 44"/>
          <p:cNvSpPr txBox="1"/>
          <p:nvPr/>
        </p:nvSpPr>
        <p:spPr>
          <a:xfrm>
            <a:off x="3657600" y="5338572"/>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 كِتَابِهِ الْجَدِيدِ</a:t>
            </a:r>
            <a:endParaRPr lang="ar-SA" sz="2200" dirty="0"/>
          </a:p>
        </p:txBody>
      </p:sp>
      <p:sp>
        <p:nvSpPr>
          <p:cNvPr id="48" name="Text 45"/>
          <p:cNvSpPr txBox="1"/>
          <p:nvPr/>
        </p:nvSpPr>
        <p:spPr>
          <a:xfrm>
            <a:off x="566928" y="5338572"/>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his new book</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warning: never add al- to the same noun — kitābuhu, never al-kitābuhu. The ending makes the noun definite, so an adjective describing it takes al-: kitābuhu l-jadīdu (phrase) vs kitābuhu jadīdun (sentence).</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1B3B6F"/>
                </a:solidFill>
                <a:latin typeface="Calibri" pitchFamily="34" charset="0"/>
                <a:cs typeface="Amiri" pitchFamily="2" charset="-78"/>
              </a:rPr>
              <a:t>GRAMMAR · PART 5 · DUALS, SOUND PLURALS AND -ĀT (WEBSITE TABLES) · STRETCH</a:t>
            </a:r>
            <a:endParaRPr lang="en-US" sz="95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Drop the nūn — keep the -āt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حَذْفُ النُّونِ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565392" y="1810512"/>
            <a:ext cx="5093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changed</a:t>
            </a:r>
            <a:endParaRPr lang="en-US" sz="1100" dirty="0"/>
          </a:p>
        </p:txBody>
      </p:sp>
      <p:sp>
        <p:nvSpPr>
          <p:cNvPr id="17" name="Text 14"/>
          <p:cNvSpPr txBox="1"/>
          <p:nvPr/>
        </p:nvSpPr>
        <p:spPr>
          <a:xfrm>
            <a:off x="32735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With owner</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Base form</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6601968" y="2267712"/>
            <a:ext cx="50566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nominative dual: -āni → -ā + hu</a:t>
            </a:r>
            <a:endParaRPr lang="en-US" sz="1100" dirty="0"/>
          </a:p>
        </p:txBody>
      </p:sp>
      <p:sp>
        <p:nvSpPr>
          <p:cNvPr id="21" name="Text 18"/>
          <p:cNvSpPr txBox="1"/>
          <p:nvPr/>
        </p:nvSpPr>
        <p:spPr>
          <a:xfrm>
            <a:off x="3291840" y="2267712"/>
            <a:ext cx="31089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كِتَابَاهُ</a:t>
            </a:r>
            <a:endParaRPr lang="ar-SA" sz="2400" dirty="0"/>
          </a:p>
        </p:txBody>
      </p:sp>
      <p:sp>
        <p:nvSpPr>
          <p:cNvPr id="22" name="Text 19"/>
          <p:cNvSpPr txBox="1"/>
          <p:nvPr/>
        </p:nvSpPr>
        <p:spPr>
          <a:xfrm>
            <a:off x="548640" y="2267712"/>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كِتَابَانِ</a:t>
            </a:r>
            <a:endParaRPr lang="ar-SA" sz="24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6601968" y="2881884"/>
            <a:ext cx="50566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 / gen. dual: -ayni → -ay + hi</a:t>
            </a:r>
            <a:endParaRPr lang="en-US" sz="1100" dirty="0"/>
          </a:p>
        </p:txBody>
      </p:sp>
      <p:sp>
        <p:nvSpPr>
          <p:cNvPr id="25" name="Text 22"/>
          <p:cNvSpPr txBox="1"/>
          <p:nvPr/>
        </p:nvSpPr>
        <p:spPr>
          <a:xfrm>
            <a:off x="3291840" y="2881884"/>
            <a:ext cx="31089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كِتَابَيْهِ</a:t>
            </a:r>
            <a:endParaRPr lang="ar-SA" sz="2400" dirty="0"/>
          </a:p>
        </p:txBody>
      </p:sp>
      <p:sp>
        <p:nvSpPr>
          <p:cNvPr id="26" name="Text 23"/>
          <p:cNvSpPr txBox="1"/>
          <p:nvPr/>
        </p:nvSpPr>
        <p:spPr>
          <a:xfrm>
            <a:off x="548640" y="2881884"/>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كِتَابَيْنِ</a:t>
            </a:r>
            <a:endParaRPr lang="ar-SA" sz="24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6601968" y="3496056"/>
            <a:ext cx="50566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nominative plural: -ūna → -ū + hum</a:t>
            </a:r>
            <a:endParaRPr lang="en-US" sz="1100" dirty="0"/>
          </a:p>
        </p:txBody>
      </p:sp>
      <p:sp>
        <p:nvSpPr>
          <p:cNvPr id="29" name="Text 26"/>
          <p:cNvSpPr txBox="1"/>
          <p:nvPr/>
        </p:nvSpPr>
        <p:spPr>
          <a:xfrm>
            <a:off x="3291840" y="3496056"/>
            <a:ext cx="31089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مُعَلِّمُوهُمْ</a:t>
            </a:r>
            <a:endParaRPr lang="ar-SA" sz="2400" dirty="0"/>
          </a:p>
        </p:txBody>
      </p:sp>
      <p:sp>
        <p:nvSpPr>
          <p:cNvPr id="30" name="Text 27"/>
          <p:cNvSpPr txBox="1"/>
          <p:nvPr/>
        </p:nvSpPr>
        <p:spPr>
          <a:xfrm>
            <a:off x="548640" y="3496056"/>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مُعَلِّمُونَ</a:t>
            </a:r>
            <a:endParaRPr lang="ar-SA" sz="24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6601968" y="4110228"/>
            <a:ext cx="50566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 / gen. plural: -īna → -ī + him</a:t>
            </a:r>
            <a:endParaRPr lang="en-US" sz="1100" dirty="0"/>
          </a:p>
        </p:txBody>
      </p:sp>
      <p:sp>
        <p:nvSpPr>
          <p:cNvPr id="33" name="Text 30"/>
          <p:cNvSpPr txBox="1"/>
          <p:nvPr/>
        </p:nvSpPr>
        <p:spPr>
          <a:xfrm>
            <a:off x="3291840" y="4110228"/>
            <a:ext cx="31089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مُعَلِّمِيهِمْ</a:t>
            </a:r>
            <a:endParaRPr lang="ar-SA" sz="2400" dirty="0"/>
          </a:p>
        </p:txBody>
      </p:sp>
      <p:sp>
        <p:nvSpPr>
          <p:cNvPr id="34" name="Text 31"/>
          <p:cNvSpPr txBox="1"/>
          <p:nvPr/>
        </p:nvSpPr>
        <p:spPr>
          <a:xfrm>
            <a:off x="548640" y="4110228"/>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مُعَلِّمِينَ</a:t>
            </a:r>
            <a:endParaRPr lang="ar-SA" sz="24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6601968" y="4724400"/>
            <a:ext cx="50566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nominative: -ātu + hunna</a:t>
            </a:r>
            <a:endParaRPr lang="en-US" sz="1100" dirty="0"/>
          </a:p>
        </p:txBody>
      </p:sp>
      <p:sp>
        <p:nvSpPr>
          <p:cNvPr id="37" name="Text 34"/>
          <p:cNvSpPr txBox="1"/>
          <p:nvPr/>
        </p:nvSpPr>
        <p:spPr>
          <a:xfrm>
            <a:off x="3291840" y="4724400"/>
            <a:ext cx="31089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سَيَّارَاتُهُنَّ</a:t>
            </a:r>
            <a:endParaRPr lang="ar-SA" sz="2400" dirty="0"/>
          </a:p>
        </p:txBody>
      </p:sp>
      <p:sp>
        <p:nvSpPr>
          <p:cNvPr id="38" name="Text 35"/>
          <p:cNvSpPr txBox="1"/>
          <p:nvPr/>
        </p:nvSpPr>
        <p:spPr>
          <a:xfrm>
            <a:off x="548640" y="4724400"/>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سَيَّارَاتٌ</a:t>
            </a:r>
            <a:endParaRPr lang="ar-SA" sz="24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6601968" y="5338572"/>
            <a:ext cx="50566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 AND gen.: -āti + hinna</a:t>
            </a:r>
            <a:endParaRPr lang="en-US" sz="1100" dirty="0"/>
          </a:p>
        </p:txBody>
      </p:sp>
      <p:sp>
        <p:nvSpPr>
          <p:cNvPr id="41" name="Text 38"/>
          <p:cNvSpPr txBox="1"/>
          <p:nvPr/>
        </p:nvSpPr>
        <p:spPr>
          <a:xfrm>
            <a:off x="3291840" y="5338572"/>
            <a:ext cx="31089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سَيَّارَاتِهِنَّ</a:t>
            </a:r>
            <a:endParaRPr lang="ar-SA" sz="2400" dirty="0"/>
          </a:p>
        </p:txBody>
      </p:sp>
      <p:sp>
        <p:nvSpPr>
          <p:cNvPr id="42" name="Text 39"/>
          <p:cNvSpPr txBox="1"/>
          <p:nvPr/>
        </p:nvSpPr>
        <p:spPr>
          <a:xfrm>
            <a:off x="548640" y="5338572"/>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سَيَّارَاتٍ</a:t>
            </a:r>
            <a:endParaRPr lang="ar-SA" sz="24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why: an attached pronoun puts the noun in a construct (iḍāfa) relationship, and dual / sound masculine plural construct forms drop their nūn. Sound feminine plurals keep -āt; the vowel before the ending shows the case.</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“your book” to one male.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كِتَابُكِ</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كِتَابُكُمَا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كِتَابُكَ</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“your book” to two people.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كِتَابُكُمَا</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كِتَابُكُمْ</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كِتَابُكُنَّ</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“her book”.</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كِتَابُهُ</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كِتَابُهَا</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كِتَابُهُنَّ</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“their book” for female owners.</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كِتَابُهُنَّ</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كِتَابُهُمْ</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كِتَابُهُمَا</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“your book” to one male.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كِتَابُكِ</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كِتَابُكُمَا</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كِتَابُكَ</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One male: -ka.</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“your book” to two people.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كِتَابُكُمَا</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كِتَابُكُمْ</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كِتَابُكُنَّ</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Two people: -kumā.</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“her book”.</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كِتَابُهُ</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كِتَابُهَا</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كِتَابُهُنَّ</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-hā = her.</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“their book” for female owners.</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كِتَابُهُنَّ</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كِتَابُهُمْ</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كِتَابُهُمَا</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Female group: -hunna.</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track who owns what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Owner</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لَيْلَى</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Whose friend? -hā.</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Open the tāʾ</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صَدِيقَتَهَا</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ṣadīqa → ṣadīqatahā.</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Two owners</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مَدْرَسَتِهِمَا</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Both girls: -humā.</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No al-</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حَقِيبَتَهَا</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Ending = definite.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10515600" y="4736592"/>
            <a:ext cx="914400" cy="237744"/>
          </a:xfrm>
          <a:prstGeom prst="roundRect">
            <a:avLst>
              <a:gd name="adj" fmla="val 50000"/>
            </a:avLst>
          </a:prstGeom>
          <a:solidFill>
            <a:srgbClr val="C77700"/>
          </a:solidFill>
          <a:ln w="12700">
            <a:solidFill>
              <a:srgbClr val="C77700"/>
            </a:solidFill>
            <a:prstDash val="solid"/>
          </a:ln>
        </p:spPr>
      </p:sp>
      <p:sp>
        <p:nvSpPr>
          <p:cNvPr id="46" name="Text 42"/>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NOUN + OWNER</a:t>
            </a:r>
            <a:endParaRPr lang="en-US" sz="800" dirty="0"/>
          </a:p>
        </p:txBody>
      </p:sp>
      <p:sp>
        <p:nvSpPr>
          <p:cNvPr id="47" name="Text 43"/>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1B3B6F"/>
                </a:solidFill>
                <a:latin typeface="Amiri" pitchFamily="2" charset="-78"/>
                <a:cs typeface="Amiri" pitchFamily="2" charset="-78"/>
              </a:rPr>
              <a:t>زَارَتْ لَيْلَى </a:t>
            </a:r>
            <a:pPr rtl="1" algn="r" indent="0" marL="0">
              <a:lnSpc>
                <a:spcPct val="120000"/>
              </a:lnSpc>
              <a:buNone/>
            </a:pPr>
            <a:r>
              <a:rPr lang="ar-SA" altLang="en-US" sz="1650" b="1" dirty="0">
                <a:solidFill>
                  <a:srgbClr val="C77700"/>
                </a:solidFill>
                <a:latin typeface="Amiri" pitchFamily="2" charset="-78"/>
                <a:cs typeface="Amiri" pitchFamily="2" charset="-78"/>
              </a:rPr>
              <a:t>صَدِيقَتَهَا</a:t>
            </a:r>
            <a:pPr rtl="1" algn="r" indent="0" marL="0">
              <a:lnSpc>
                <a:spcPct val="120000"/>
              </a:lnSpc>
              <a:buNone/>
            </a:pPr>
            <a:r>
              <a:rPr lang="ar-SA" altLang="en-US" sz="1650" b="1" dirty="0">
                <a:solidFill>
                  <a:srgbClr val="1B3B6F"/>
                </a:solidFill>
                <a:latin typeface="Amiri" pitchFamily="2" charset="-78"/>
                <a:cs typeface="Amiri" pitchFamily="2" charset="-78"/>
              </a:rPr>
              <a:t> سَلْمَى. </a:t>
            </a:r>
            <a:pPr rtl="1" algn="r" indent="0" marL="0">
              <a:lnSpc>
                <a:spcPct val="120000"/>
              </a:lnSpc>
              <a:buNone/>
            </a:pPr>
            <a:r>
              <a:rPr lang="ar-SA" altLang="en-US" sz="1650" b="1" dirty="0">
                <a:solidFill>
                  <a:srgbClr val="C77700"/>
                </a:solidFill>
                <a:latin typeface="Amiri" pitchFamily="2" charset="-78"/>
                <a:cs typeface="Amiri" pitchFamily="2" charset="-78"/>
              </a:rPr>
              <a:t>بَيْتُهَا</a:t>
            </a:r>
            <a:pPr rtl="1" algn="r" indent="0" marL="0">
              <a:lnSpc>
                <a:spcPct val="120000"/>
              </a:lnSpc>
              <a:buNone/>
            </a:pPr>
            <a:r>
              <a:rPr lang="ar-SA" altLang="en-US" sz="1650" b="1" dirty="0">
                <a:solidFill>
                  <a:srgbClr val="1B3B6F"/>
                </a:solidFill>
                <a:latin typeface="Amiri" pitchFamily="2" charset="-78"/>
                <a:cs typeface="Amiri" pitchFamily="2" charset="-78"/>
              </a:rPr>
              <a:t> قَرِيبٌ مِنْ </a:t>
            </a:r>
            <a:pPr rtl="1" algn="r" indent="0" marL="0">
              <a:lnSpc>
                <a:spcPct val="120000"/>
              </a:lnSpc>
              <a:buNone/>
            </a:pPr>
            <a:r>
              <a:rPr lang="ar-SA" altLang="en-US" sz="1650" b="1" dirty="0">
                <a:solidFill>
                  <a:srgbClr val="C77700"/>
                </a:solidFill>
                <a:latin typeface="Amiri" pitchFamily="2" charset="-78"/>
                <a:cs typeface="Amiri" pitchFamily="2" charset="-78"/>
              </a:rPr>
              <a:t>مَدْرَسَتِهِمَا</a:t>
            </a:r>
            <a:pPr rtl="1" algn="r" indent="0" marL="0">
              <a:lnSpc>
                <a:spcPct val="120000"/>
              </a:lnSpc>
              <a:buNone/>
            </a:pPr>
            <a:r>
              <a:rPr lang="ar-SA" altLang="en-US" sz="1650" b="1" dirty="0">
                <a:solidFill>
                  <a:srgbClr val="1B3B6F"/>
                </a:solidFill>
                <a:latin typeface="Amiri" pitchFamily="2" charset="-78"/>
                <a:cs typeface="Amiri" pitchFamily="2" charset="-78"/>
              </a:rPr>
              <a:t>. </a:t>
            </a:r>
            <a:pPr rtl="1" algn="r" indent="0" marL="0">
              <a:lnSpc>
                <a:spcPct val="120000"/>
              </a:lnSpc>
              <a:buNone/>
            </a:pPr>
            <a:r>
              <a:rPr lang="ar-SA" altLang="en-US" sz="1650" b="1" dirty="0">
                <a:solidFill>
                  <a:srgbClr val="C77700"/>
                </a:solidFill>
                <a:latin typeface="Amiri" pitchFamily="2" charset="-78"/>
                <a:cs typeface="Amiri" pitchFamily="2" charset="-78"/>
              </a:rPr>
              <a:t>غُرْفَتُهَا</a:t>
            </a:r>
            <a:pPr rtl="1" algn="r" indent="0" marL="0">
              <a:lnSpc>
                <a:spcPct val="120000"/>
              </a:lnSpc>
              <a:buNone/>
            </a:pPr>
            <a:r>
              <a:rPr lang="ar-SA" altLang="en-US" sz="1650" b="1" dirty="0">
                <a:solidFill>
                  <a:srgbClr val="1B3B6F"/>
                </a:solidFill>
                <a:latin typeface="Amiri" pitchFamily="2" charset="-78"/>
                <a:cs typeface="Amiri" pitchFamily="2" charset="-78"/>
              </a:rPr>
              <a:t> مُرَتَّبَةٌ. وَضَعَتْ لَيْلَى </a:t>
            </a:r>
            <a:pPr rtl="1" algn="r" indent="0" marL="0">
              <a:lnSpc>
                <a:spcPct val="120000"/>
              </a:lnSpc>
              <a:buNone/>
            </a:pPr>
            <a:r>
              <a:rPr lang="ar-SA" altLang="en-US" sz="1650" b="1" dirty="0">
                <a:solidFill>
                  <a:srgbClr val="C77700"/>
                </a:solidFill>
                <a:latin typeface="Amiri" pitchFamily="2" charset="-78"/>
                <a:cs typeface="Amiri" pitchFamily="2" charset="-78"/>
              </a:rPr>
              <a:t>حَقِيبَتَهَا</a:t>
            </a:r>
            <a:pPr rtl="1" algn="r" indent="0" marL="0">
              <a:lnSpc>
                <a:spcPct val="120000"/>
              </a:lnSpc>
              <a:buNone/>
            </a:pPr>
            <a:r>
              <a:rPr lang="ar-SA" altLang="en-US" sz="1650" b="1" dirty="0">
                <a:solidFill>
                  <a:srgbClr val="1B3B6F"/>
                </a:solidFill>
                <a:latin typeface="Amiri" pitchFamily="2" charset="-78"/>
                <a:cs typeface="Amiri" pitchFamily="2" charset="-78"/>
              </a:rPr>
              <a:t> بِجَانِبِ كُتُبِ سَلْمَى. قَالَتْ سَلْمَى: «هَذِهِ </a:t>
            </a:r>
            <a:pPr rtl="1" algn="r" indent="0" marL="0">
              <a:lnSpc>
                <a:spcPct val="120000"/>
              </a:lnSpc>
              <a:buNone/>
            </a:pPr>
            <a:r>
              <a:rPr lang="ar-SA" altLang="en-US" sz="1650" b="1" dirty="0">
                <a:solidFill>
                  <a:srgbClr val="C77700"/>
                </a:solidFill>
                <a:latin typeface="Amiri" pitchFamily="2" charset="-78"/>
                <a:cs typeface="Amiri" pitchFamily="2" charset="-78"/>
              </a:rPr>
              <a:t>كُتُبِي</a:t>
            </a:r>
            <a:pPr rtl="1" algn="r" indent="0" marL="0">
              <a:lnSpc>
                <a:spcPct val="120000"/>
              </a:lnSpc>
              <a:buNone/>
            </a:pPr>
            <a:r>
              <a:rPr lang="ar-SA" altLang="en-US" sz="1650" b="1" dirty="0">
                <a:solidFill>
                  <a:srgbClr val="1B3B6F"/>
                </a:solidFill>
                <a:latin typeface="Amiri" pitchFamily="2" charset="-78"/>
                <a:cs typeface="Amiri" pitchFamily="2" charset="-78"/>
              </a:rPr>
              <a:t> الْجَدِيدَةُ».</a:t>
            </a:r>
            <a:endParaRPr lang="ar-SA" sz="1650" dirty="0"/>
          </a:p>
        </p:txBody>
      </p:sp>
      <p:sp>
        <p:nvSpPr>
          <p:cNvPr id="48" name="Text 44"/>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Laylā visited her friend Salmā. Her house is near their school. Her room is tidy. Laylā put her bag next to Salmā’s books. Salmā said: “These are my new books.”</a:t>
            </a:r>
            <a:endParaRPr lang="en-US" sz="1100" dirty="0"/>
          </a:p>
        </p:txBody>
      </p:sp>
      <p:sp>
        <p:nvSpPr>
          <p:cNvPr id="49"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هَذَا كِتَابِي.</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is my book.</a:t>
            </a:r>
            <a:endParaRPr lang="en-US" sz="1250" dirty="0"/>
          </a:p>
          <a:p>
            <a:pPr indent="0" marL="0">
              <a:buNone/>
            </a:pPr>
            <a:r>
              <a:rPr lang="en-US" sz="1050" i="1" dirty="0">
                <a:solidFill>
                  <a:srgbClr val="8A6D1E"/>
                </a:solidFill>
                <a:latin typeface="Calibri" pitchFamily="34" charset="0"/>
                <a:cs typeface="Amiri" pitchFamily="2" charset="-78"/>
              </a:rPr>
              <a:t>my: -ī.</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أَيْنَ حَقِيبَتُكِ؟</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Where is your bag? (to a girl)</a:t>
            </a:r>
            <a:endParaRPr lang="en-US" sz="1250" dirty="0"/>
          </a:p>
          <a:p>
            <a:pPr indent="0" marL="0">
              <a:buNone/>
            </a:pPr>
            <a:r>
              <a:rPr lang="en-US" sz="1050" i="1" dirty="0">
                <a:solidFill>
                  <a:srgbClr val="8A6D1E"/>
                </a:solidFill>
                <a:latin typeface="Calibri" pitchFamily="34" charset="0"/>
                <a:cs typeface="Amiri" pitchFamily="2" charset="-78"/>
              </a:rPr>
              <a:t>Tāʾ marbūṭa opens: -atu-.</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مَدْرَسَتُهُمْ كَبِيرَةٌ.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Their school is big.</a:t>
            </a:r>
            <a:endParaRPr lang="en-US" sz="1250" dirty="0"/>
          </a:p>
          <a:p>
            <a:pPr indent="0" marL="0">
              <a:buNone/>
            </a:pPr>
            <a:r>
              <a:rPr lang="en-US" sz="1050" i="1" dirty="0">
                <a:solidFill>
                  <a:srgbClr val="8A6D1E"/>
                </a:solidFill>
                <a:latin typeface="Calibri" pitchFamily="34" charset="0"/>
                <a:cs typeface="Amiri" pitchFamily="2" charset="-78"/>
              </a:rPr>
              <a:t>their: -hum.</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قَرَأْتُ كِتَابَهُ الْجَدِيدَ.</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read his new book.</a:t>
            </a:r>
            <a:endParaRPr lang="en-US" sz="1250" dirty="0"/>
          </a:p>
          <a:p>
            <a:pPr indent="0" marL="0">
              <a:buNone/>
            </a:pPr>
            <a:r>
              <a:rPr lang="en-US" sz="1050" i="1" dirty="0">
                <a:solidFill>
                  <a:srgbClr val="8A6D1E"/>
                </a:solidFill>
                <a:latin typeface="Calibri" pitchFamily="34" charset="0"/>
                <a:cs typeface="Amiri" pitchFamily="2" charset="-78"/>
              </a:rPr>
              <a:t>Object -a; adjective al-.</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WHOSE IS IT? (WEBSITE SPEAKING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her, our, their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لِمَنْ هَذَا؟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51890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their (m.)</a:t>
            </a:r>
            <a:endParaRPr lang="en-US" sz="1100" dirty="0"/>
          </a:p>
        </p:txBody>
      </p:sp>
      <p:sp>
        <p:nvSpPr>
          <p:cNvPr id="17" name="Text 14"/>
          <p:cNvSpPr txBox="1"/>
          <p:nvPr/>
        </p:nvSpPr>
        <p:spPr>
          <a:xfrm>
            <a:off x="723290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our</a:t>
            </a:r>
            <a:endParaRPr lang="en-US" sz="1100" dirty="0"/>
          </a:p>
        </p:txBody>
      </p:sp>
      <p:sp>
        <p:nvSpPr>
          <p:cNvPr id="18" name="Text 15"/>
          <p:cNvSpPr txBox="1"/>
          <p:nvPr/>
        </p:nvSpPr>
        <p:spPr>
          <a:xfrm>
            <a:off x="494690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her</a:t>
            </a:r>
            <a:endParaRPr lang="en-US" sz="1100" dirty="0"/>
          </a:p>
        </p:txBody>
      </p:sp>
      <p:sp>
        <p:nvSpPr>
          <p:cNvPr id="19" name="Text 16"/>
          <p:cNvSpPr txBox="1"/>
          <p:nvPr/>
        </p:nvSpPr>
        <p:spPr>
          <a:xfrm>
            <a:off x="266090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a:t>
            </a:r>
            <a:endParaRPr lang="en-US" sz="1100" dirty="0"/>
          </a:p>
        </p:txBody>
      </p:sp>
      <p:sp>
        <p:nvSpPr>
          <p:cNvPr id="20" name="Text 17"/>
          <p:cNvSpPr txBox="1"/>
          <p:nvPr/>
        </p:nvSpPr>
        <p:spPr>
          <a:xfrm>
            <a:off x="530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Noun</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537192" y="2267712"/>
            <a:ext cx="2103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كِتَابُهُمْ</a:t>
            </a:r>
            <a:endParaRPr lang="ar-SA" sz="2400" dirty="0"/>
          </a:p>
        </p:txBody>
      </p:sp>
      <p:sp>
        <p:nvSpPr>
          <p:cNvPr id="23" name="Text 20"/>
          <p:cNvSpPr txBox="1"/>
          <p:nvPr/>
        </p:nvSpPr>
        <p:spPr>
          <a:xfrm>
            <a:off x="7251192" y="2267712"/>
            <a:ext cx="2103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كِتَابُنَا</a:t>
            </a:r>
            <a:endParaRPr lang="ar-SA" sz="2400" dirty="0"/>
          </a:p>
        </p:txBody>
      </p:sp>
      <p:sp>
        <p:nvSpPr>
          <p:cNvPr id="24" name="Text 21"/>
          <p:cNvSpPr txBox="1"/>
          <p:nvPr/>
        </p:nvSpPr>
        <p:spPr>
          <a:xfrm>
            <a:off x="4965192" y="2267712"/>
            <a:ext cx="2103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كِتَابُهَا</a:t>
            </a:r>
            <a:endParaRPr lang="ar-SA" sz="2400" dirty="0"/>
          </a:p>
        </p:txBody>
      </p:sp>
      <p:sp>
        <p:nvSpPr>
          <p:cNvPr id="25" name="Text 22"/>
          <p:cNvSpPr txBox="1"/>
          <p:nvPr/>
        </p:nvSpPr>
        <p:spPr>
          <a:xfrm>
            <a:off x="2679192" y="2267712"/>
            <a:ext cx="2103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كِتَابِي</a:t>
            </a:r>
            <a:endParaRPr lang="ar-SA" sz="2400" dirty="0"/>
          </a:p>
        </p:txBody>
      </p:sp>
      <p:sp>
        <p:nvSpPr>
          <p:cNvPr id="26" name="Text 23"/>
          <p:cNvSpPr txBox="1"/>
          <p:nvPr/>
        </p:nvSpPr>
        <p:spPr>
          <a:xfrm>
            <a:off x="548640" y="2267712"/>
            <a:ext cx="194767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كِتَابٌ</a:t>
            </a:r>
            <a:endParaRPr lang="ar-SA" sz="24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537192" y="2881884"/>
            <a:ext cx="2103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بَيْتُهُمْ</a:t>
            </a:r>
            <a:endParaRPr lang="ar-SA" sz="2400" dirty="0"/>
          </a:p>
        </p:txBody>
      </p:sp>
      <p:sp>
        <p:nvSpPr>
          <p:cNvPr id="31" name="Text 28"/>
          <p:cNvSpPr txBox="1"/>
          <p:nvPr/>
        </p:nvSpPr>
        <p:spPr>
          <a:xfrm>
            <a:off x="7251192" y="2881884"/>
            <a:ext cx="2103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بَيْتُنَا</a:t>
            </a:r>
            <a:endParaRPr lang="ar-SA" sz="2400" dirty="0"/>
          </a:p>
        </p:txBody>
      </p:sp>
      <p:sp>
        <p:nvSpPr>
          <p:cNvPr id="32" name="Text 29"/>
          <p:cNvSpPr txBox="1"/>
          <p:nvPr/>
        </p:nvSpPr>
        <p:spPr>
          <a:xfrm>
            <a:off x="4965192" y="2881884"/>
            <a:ext cx="2103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بَيْتُهَا</a:t>
            </a:r>
            <a:endParaRPr lang="ar-SA" sz="2400" dirty="0"/>
          </a:p>
        </p:txBody>
      </p:sp>
      <p:sp>
        <p:nvSpPr>
          <p:cNvPr id="33" name="Text 30"/>
          <p:cNvSpPr txBox="1"/>
          <p:nvPr/>
        </p:nvSpPr>
        <p:spPr>
          <a:xfrm>
            <a:off x="2679192" y="2881884"/>
            <a:ext cx="2103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بَيْتِي</a:t>
            </a:r>
            <a:endParaRPr lang="ar-SA" sz="2400" dirty="0"/>
          </a:p>
        </p:txBody>
      </p:sp>
      <p:sp>
        <p:nvSpPr>
          <p:cNvPr id="34" name="Text 31"/>
          <p:cNvSpPr txBox="1"/>
          <p:nvPr/>
        </p:nvSpPr>
        <p:spPr>
          <a:xfrm>
            <a:off x="548640" y="2881884"/>
            <a:ext cx="194767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بَيْتٌ</a:t>
            </a:r>
            <a:endParaRPr lang="ar-SA" sz="24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537192" y="3496056"/>
            <a:ext cx="2103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مَدْرَسَتُهُمْ</a:t>
            </a:r>
            <a:endParaRPr lang="ar-SA" sz="2400" dirty="0"/>
          </a:p>
        </p:txBody>
      </p:sp>
      <p:sp>
        <p:nvSpPr>
          <p:cNvPr id="39" name="Text 36"/>
          <p:cNvSpPr txBox="1"/>
          <p:nvPr/>
        </p:nvSpPr>
        <p:spPr>
          <a:xfrm>
            <a:off x="7251192" y="3496056"/>
            <a:ext cx="2103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مَدْرَسَتُنَا</a:t>
            </a:r>
            <a:endParaRPr lang="ar-SA" sz="2400" dirty="0"/>
          </a:p>
        </p:txBody>
      </p:sp>
      <p:sp>
        <p:nvSpPr>
          <p:cNvPr id="40" name="Text 37"/>
          <p:cNvSpPr txBox="1"/>
          <p:nvPr/>
        </p:nvSpPr>
        <p:spPr>
          <a:xfrm>
            <a:off x="4965192" y="3496056"/>
            <a:ext cx="2103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مَدْرَسَتُهَا</a:t>
            </a:r>
            <a:endParaRPr lang="ar-SA" sz="2400" dirty="0"/>
          </a:p>
        </p:txBody>
      </p:sp>
      <p:sp>
        <p:nvSpPr>
          <p:cNvPr id="41" name="Text 38"/>
          <p:cNvSpPr txBox="1"/>
          <p:nvPr/>
        </p:nvSpPr>
        <p:spPr>
          <a:xfrm>
            <a:off x="2679192" y="3496056"/>
            <a:ext cx="2103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مَدْرَسَتِي</a:t>
            </a:r>
            <a:endParaRPr lang="ar-SA" sz="2400" dirty="0"/>
          </a:p>
        </p:txBody>
      </p:sp>
      <p:sp>
        <p:nvSpPr>
          <p:cNvPr id="42" name="Text 39"/>
          <p:cNvSpPr txBox="1"/>
          <p:nvPr/>
        </p:nvSpPr>
        <p:spPr>
          <a:xfrm>
            <a:off x="548640" y="3496056"/>
            <a:ext cx="194767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مَدْرَسَةٌ</a:t>
            </a:r>
            <a:endParaRPr lang="ar-SA" sz="24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537192" y="4110228"/>
            <a:ext cx="2103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سَيَّارَتُهُمْ</a:t>
            </a:r>
            <a:endParaRPr lang="ar-SA" sz="2400" dirty="0"/>
          </a:p>
        </p:txBody>
      </p:sp>
      <p:sp>
        <p:nvSpPr>
          <p:cNvPr id="47" name="Text 44"/>
          <p:cNvSpPr txBox="1"/>
          <p:nvPr/>
        </p:nvSpPr>
        <p:spPr>
          <a:xfrm>
            <a:off x="7251192" y="4110228"/>
            <a:ext cx="2103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سَيَّارَتُنَا</a:t>
            </a:r>
            <a:endParaRPr lang="ar-SA" sz="2400" dirty="0"/>
          </a:p>
        </p:txBody>
      </p:sp>
      <p:sp>
        <p:nvSpPr>
          <p:cNvPr id="48" name="Text 45"/>
          <p:cNvSpPr txBox="1"/>
          <p:nvPr/>
        </p:nvSpPr>
        <p:spPr>
          <a:xfrm>
            <a:off x="4965192" y="4110228"/>
            <a:ext cx="2103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سَيَّارَتُهَا</a:t>
            </a:r>
            <a:endParaRPr lang="ar-SA" sz="2400" dirty="0"/>
          </a:p>
        </p:txBody>
      </p:sp>
      <p:sp>
        <p:nvSpPr>
          <p:cNvPr id="49" name="Text 46"/>
          <p:cNvSpPr txBox="1"/>
          <p:nvPr/>
        </p:nvSpPr>
        <p:spPr>
          <a:xfrm>
            <a:off x="2679192" y="4110228"/>
            <a:ext cx="2103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سَيَّارَتِي</a:t>
            </a:r>
            <a:endParaRPr lang="ar-SA" sz="2400" dirty="0"/>
          </a:p>
        </p:txBody>
      </p:sp>
      <p:sp>
        <p:nvSpPr>
          <p:cNvPr id="50" name="Text 47"/>
          <p:cNvSpPr txBox="1"/>
          <p:nvPr/>
        </p:nvSpPr>
        <p:spPr>
          <a:xfrm>
            <a:off x="548640" y="4110228"/>
            <a:ext cx="194767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سَيَّارَةٌ</a:t>
            </a:r>
            <a:endParaRPr lang="ar-SA" sz="2400" dirty="0"/>
          </a:p>
        </p:txBody>
      </p:sp>
      <p:sp>
        <p:nvSpPr>
          <p:cNvPr id="51" name="Shape 4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2" name="Text 49"/>
          <p:cNvSpPr txBox="1"/>
          <p:nvPr/>
        </p:nvSpPr>
        <p:spPr>
          <a:xfrm>
            <a:off x="9537192" y="4724400"/>
            <a:ext cx="2103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غُرْفَتُهُمْ</a:t>
            </a:r>
            <a:endParaRPr lang="ar-SA" sz="2400" dirty="0"/>
          </a:p>
        </p:txBody>
      </p:sp>
      <p:sp>
        <p:nvSpPr>
          <p:cNvPr id="53" name="Text 50"/>
          <p:cNvSpPr txBox="1"/>
          <p:nvPr/>
        </p:nvSpPr>
        <p:spPr>
          <a:xfrm>
            <a:off x="7251192" y="4724400"/>
            <a:ext cx="2103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غُرْفَتُنَا</a:t>
            </a:r>
            <a:endParaRPr lang="ar-SA" sz="2400" dirty="0"/>
          </a:p>
        </p:txBody>
      </p:sp>
      <p:sp>
        <p:nvSpPr>
          <p:cNvPr id="54" name="Text 51"/>
          <p:cNvSpPr txBox="1"/>
          <p:nvPr/>
        </p:nvSpPr>
        <p:spPr>
          <a:xfrm>
            <a:off x="4965192" y="4724400"/>
            <a:ext cx="2103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غُرْفَتُهَا</a:t>
            </a:r>
            <a:endParaRPr lang="ar-SA" sz="2400" dirty="0"/>
          </a:p>
        </p:txBody>
      </p:sp>
      <p:sp>
        <p:nvSpPr>
          <p:cNvPr id="55" name="Text 52"/>
          <p:cNvSpPr txBox="1"/>
          <p:nvPr/>
        </p:nvSpPr>
        <p:spPr>
          <a:xfrm>
            <a:off x="2679192" y="4724400"/>
            <a:ext cx="2103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غُرْفَتِي</a:t>
            </a:r>
            <a:endParaRPr lang="ar-SA" sz="2400" dirty="0"/>
          </a:p>
        </p:txBody>
      </p:sp>
      <p:sp>
        <p:nvSpPr>
          <p:cNvPr id="56" name="Text 53"/>
          <p:cNvSpPr txBox="1"/>
          <p:nvPr/>
        </p:nvSpPr>
        <p:spPr>
          <a:xfrm>
            <a:off x="548640" y="4724400"/>
            <a:ext cx="194767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غُرْفَةٌ</a:t>
            </a:r>
            <a:endParaRPr lang="ar-SA" sz="2400" dirty="0"/>
          </a:p>
        </p:txBody>
      </p:sp>
      <p:sp>
        <p:nvSpPr>
          <p:cNvPr id="57" name="Shape 54"/>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8" name="Text 55"/>
          <p:cNvSpPr txBox="1"/>
          <p:nvPr/>
        </p:nvSpPr>
        <p:spPr>
          <a:xfrm>
            <a:off x="9537192" y="5338572"/>
            <a:ext cx="2103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حَقِيبَتُهُمْ</a:t>
            </a:r>
            <a:endParaRPr lang="ar-SA" sz="2400" dirty="0"/>
          </a:p>
        </p:txBody>
      </p:sp>
      <p:sp>
        <p:nvSpPr>
          <p:cNvPr id="59" name="Text 56"/>
          <p:cNvSpPr txBox="1"/>
          <p:nvPr/>
        </p:nvSpPr>
        <p:spPr>
          <a:xfrm>
            <a:off x="7251192" y="5338572"/>
            <a:ext cx="2103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حَقِيبَتُنَا</a:t>
            </a:r>
            <a:endParaRPr lang="ar-SA" sz="2400" dirty="0"/>
          </a:p>
        </p:txBody>
      </p:sp>
      <p:sp>
        <p:nvSpPr>
          <p:cNvPr id="60" name="Text 57"/>
          <p:cNvSpPr txBox="1"/>
          <p:nvPr/>
        </p:nvSpPr>
        <p:spPr>
          <a:xfrm>
            <a:off x="4965192" y="5338572"/>
            <a:ext cx="2103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حَقِيبَتُهَا</a:t>
            </a:r>
            <a:endParaRPr lang="ar-SA" sz="2400" dirty="0"/>
          </a:p>
        </p:txBody>
      </p:sp>
      <p:sp>
        <p:nvSpPr>
          <p:cNvPr id="61" name="Text 58"/>
          <p:cNvSpPr txBox="1"/>
          <p:nvPr/>
        </p:nvSpPr>
        <p:spPr>
          <a:xfrm>
            <a:off x="2679192" y="5338572"/>
            <a:ext cx="2103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حَقِيبَتِي</a:t>
            </a:r>
            <a:endParaRPr lang="ar-SA" sz="2400" dirty="0"/>
          </a:p>
        </p:txBody>
      </p:sp>
      <p:sp>
        <p:nvSpPr>
          <p:cNvPr id="62" name="Text 59"/>
          <p:cNvSpPr txBox="1"/>
          <p:nvPr/>
        </p:nvSpPr>
        <p:spPr>
          <a:xfrm>
            <a:off x="548640" y="5338572"/>
            <a:ext cx="194767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حَقِيبَةٌ</a:t>
            </a:r>
            <a:endParaRPr lang="ar-SA" sz="2400" dirty="0"/>
          </a:p>
        </p:txBody>
      </p:sp>
      <p:sp>
        <p:nvSpPr>
          <p:cNvPr id="63" name="Text 6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Rows 3–6: remember to open the tāʾ marbūṭa to t before every ending.</a:t>
            </a:r>
            <a:endParaRPr lang="en-US" sz="11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READ THE OWNER, NOT THE OBJECT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owner or more?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مَالِكٌ وَاحِدٌ أَمْ أَكْثَرُ؟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كِتَابِي</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حَقِيبَتُكِ</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كُتُبُهُ</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سَيَّارَتُهَا</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كِتَابُنَا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مَدْرَسَتُهُمْ</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غُرْفَتُهُمَا</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بَيْتُكُمْ</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One owner</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Two or more owners</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One owner</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كِتَابِي</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حَقِيبَتُكِ</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كُتُبُهُ</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سَيَّارَتُهَا</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Two or more owners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كِتَابُنَا</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مَدْرَسَتُهُمْ</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غُرْفَتُهُمَا</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بَيْتُكُمْ</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هَذِهِ مَدْرَسَةِي.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happens to the tāʾ marbūṭa?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هَذَا الْكِتَابُهُ.</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Can it have al- AND an ending?</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قَرَأْتُ كِتَابُهُ.</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the book the doer or the object?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هَذِهِ مَدْرَسَةِي.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هَذِهِ مَدْرَسَتِي.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Open the tāʾ marbūṭa to t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هَذَا الْكِتَابُهُ.</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هَذَا كِتَابُهُ.</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 al- with a possessive ending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قَرَأْتُ كِتَابُهُ.</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قَرَأْتُ كِتَابَهُ.</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object takes -a before the ending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MINI-CHECK: OPEN THE TĀʾ</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school”.</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مَدْرَسَةِي</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الْمَدْرَسَتِي</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مَدْرَسَتِي</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“his room” (as a subject).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غُرْفَةُهُ</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غُرْفَتُهُ</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غُرْفَتِهِ</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visited her school.”</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زُرْتُ مَدْرَسَتُهَا.</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زُرْتُ مَدْرَسَتَهَا.</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زُرْتُ مَدْرَسَةَهَا.</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their house”.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بَيْتُهُمْ</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الْبَيْتِهِمْ</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بَيْتِهِمْ</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school”.</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مَدْرَسَةِي</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الْمَدْرَسَتِي</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مَدْرَسَتِي</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Open the tāʾ; no al-.</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“his room” (as a subject).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غُرْفَةُهُ</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غُرْفَتُهُ</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غُرْفَتِهِ</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Ghurfatu + hu.</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visited her school.”</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زُرْتُ مَدْرَسَتُهَا.</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زُرْتُ مَدْرَسَتَهَا.</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زُرْتُ مَدْرَسَةَهَا.</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Object: madrasatahā.</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their house”.</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بَيْتُهُمْ</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الْبَيْتِهِمْ</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بَيْتِهِمْ</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fī: baytihim.</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 AND NOTICE · WEBSITE BELONGINGS PROFILE (TEACHER-WRITTEN)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Hudā’s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اِسْمِي هُدَى، وَهَذِهِ عَائِلَتِي. أَبِي طَبِيبٌ، وَعِيَادَتُهُ قَرِيبَةٌ مِنْ بَيْتِنَا. أُمِّي مُعَلِّمَةٌ، وَطَالِبَاتُهَا مُجْتَهِدَاتٌ. لِي أَخَوَانِ تَوْأَمَانِ، وَغُرْفَتُهُمَا بِجَانِبِ غُرْفَتِي؛ غُرْفَتُهُمَا مَلِيئَةٌ بِالْكُتُبِ وَالْأَلْعَابِ. جَدَّتِي تَسْكُنُ مَعَنَا، وَحَدِيقَتُهَا أَجْمَلُ مَكَانٍ فِي الْبَيْتِ. سَيَّارَتُنَا قَدِيمَةٌ، لَكِنَّ أَبِي يُحِبُّهَا. مَا اسْمُكَ؟ وَكَيْفَ عَائِلَتُكَ؟</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عِيَادَتُهُ</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his clinic</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طَالِبَاتُهَا</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her students (f.)</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تَوْأَمَانِ</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twins</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مَلِيئَةٌ</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full</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حَدِيقَتُهَا</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her garden</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father’s clinic?</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city centre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near our house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next to the school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Whose room is next to Hudā’s?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grandmother’s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mother’s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two brothers’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-hā in ṭālibātuhā refer to?</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mother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Hudā</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grandmother</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Whose garden is the most beautiful place?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mother’s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grandmother’s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twins’</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father’s clinic?</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city centre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near our house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next to the school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ʿIyādatuhu qarībatun min baytinā.</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Whose room is next to Hudā’s?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grandmother’s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mother’s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her two brothers’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Ghurfatuhumā: -humā = their (two).</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-hā in ṭālibātuhā refer to?</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mother</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Hudā</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grandmother</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mother’s students.</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Whose garden is the most beautiful place?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mother’s</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grandmother’s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twins’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Ḥadīqatuhā — jaddatī.</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whose is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هَذَا؟ لِمَنْ هَذَا؟</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أَغْرَاضَ صَدِيقِكَ.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بَيْتَ عَائِلَتِكَ وَأَغْرَاضَكُمْ.</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هَذَا كِتَابِي، وَهَذِهِ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حَقِيبَتُهُ ___ ، وَكُتُبُهُ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cs typeface="Amiri" pitchFamily="2" charset="-78"/>
              </a:rPr>
              <a:t>بَيْتُنَا ___ ، وَغُرْفَتِي ___ ، وَسَيَّارَتُنَا ___ .</a:t>
            </a:r>
            <a:endParaRPr lang="ar-SA" sz="13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هَلْ هَذِهِ حَقِيبَتُكِ؟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Is this your bag?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لَا، لَيْسَتْ حَقِيبَتِي؛ هَذِهِ حَقِيبَةُ أُخْتِي. حَقِيبَتِي زَرْقَاءُ، وَكُتُبِي فِيهَا.</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50" i="1" dirty="0">
                <a:solidFill>
                  <a:srgbClr val="5A6472"/>
                </a:solidFill>
                <a:latin typeface="Calibri" pitchFamily="34" charset="0"/>
                <a:cs typeface="Amiri" pitchFamily="2" charset="-78"/>
              </a:rPr>
              <a:t>No, it is not my bag; this is my sister’s bag. My bag is blue, and my books are in it.</a:t>
            </a:r>
            <a:endParaRPr lang="en-US" sz="8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Your family: who they are and one thing each owns.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abī … · sayyāratuhu … · ummī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plural owners and two adjective contrasts.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baytunā l-jadīdu · baytunā jadīdun.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belongings profile with the full checklist.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Make an owner key first.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حَقِيبَتُهَا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Her bag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مُعَلِّمُهُمْ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Their teacher is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وَضَعْتُ كُتُبِي فِي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put my books in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عَائِلَتُكِ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Your (f.) family is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اِسْمِي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name is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مَدْرَسَتِي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school is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غُرْفَتُهُ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room is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بَيْتُنَا فِي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Our house is in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كِتَابِي  ·  بَيْتُنَا  ·  غُرْفَتِي  ·  سَيَّارَتُهُ  ·  حَقِيبَتُهَا  ·  مُعَلِّمُهُمْ  ·  عَائِلَتُكِ  ·  كَبِيرٌ  ·  جَدِيدَةٌ  ·  قَدِيمَةٌ  ·  مُرَتَّبَةٌ  ·  جَمِيلٌ  ·  قَرِيبٌ</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belongings and relationships profile (100–120 words).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eight different possessive endings.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tāʾ marbūṭa nouns with endings.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dual possessed form (nūn dropped).</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sound plural possessed form.</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adjective contrasts (his new book / his book is new).</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هَذِهِ عَائِلَتِي</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is my family</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أَبِي</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father</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أُمِّي</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mother</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أَخَوَايَ</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two brothers</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جَارُنَا</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our neighbour</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رَأْيُكُمْ؟</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what do you (all) think?</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cs typeface="Amiri" pitchFamily="2" charset="-78"/>
              </a:rPr>
              <a:t>فِي بَيْتِنَا خَمْسَةُ أَشْخَاصٍ. أَبِي مُهَنْدِسٌ، وَمَكْتَبُهُ فِي وَسَطِ الْمَدِينَةِ. أُمِّي خَيَّاطَةٌ، وَآلَةُ خِيَاطَتِهَا فِي غُرْفَةِ الْجُلُوسِ. أُخْتِي الْكَبِيرَةُ طَالِبَةٌ فِي الْجَامِعَةِ، وَكُتُبُهَا فِي كُلِّ مَكَانٍ! أَخَوَايَ الصَّغِيرَانِ يَلْعَبَانِ كُرَةَ الْقَدَمِ، وَكُرَتُهُمَا دَائِمًا فِي الْحَدِيقَةِ. أَمَّا أَنَا فَغُرْفَتِي صَغِيرَةٌ، لَكِنَّ نَافِذَتَهَا كَبِيرَةٌ. مَكْتَبِي بِجَانِبِ النَّافِذَةِ، وَعَلَيْهِ حَاسُوبِي وَدَفَاتِرِي. سَيَّارَتُنَا الْقَدِيمَةُ بَيْضَاءُ، وَجَارُنَا يُصْلِحُهَا لَنَا أَحْيَانًا. عَائِلَتُنَا صَغِيرَةٌ، لَكِنَّ قُلُوبَنَا كَبِيرَةٌ. مَا رَأْيُكُمْ فِي عَائِلَتِي؟</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There are five people in our house. My father is an engineer, and his office is in the city centre. My mother is a dressmaker, and her sewing machine is in the living room. My older sister is a university student, and her books are everywhere! My two little brothers play football, and their ball is always in the garden. As for me, my room is small, but its window is big. My desk is next to the window, and on it are my computer and my exercise books. Our old car is white, and our neighbour sometimes repairs it for us. Our family is small, but our hearts are big. What do you think of my family?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-ī (my)</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-hā on a tāʾ marbūṭa noun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-humā (their two)</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possessed noun + al- adjective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ending matches the owner.</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opened every tāʾ marbūṭa before an ending.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No noun has al- AND an ending.</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Objects: -a before the ending; after prepositions: -i.</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dropped the nūn: kitābāhu, muʿallimūhum.</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“our house is new”.</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بَيْتُنَا جَدِيدٌ</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بَيْتُنَا الْجَدِيدُ</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الْبَيْتُنَا جَدِيدٌ</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“your two bags” (to one female, as a subject).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حَقِيبَتَانِكِ</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حَقِيبَتَاكِ</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حَقِيبَتَيْكِ</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looked at his book.”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نَظَرْتُ إِلَى كِتَابِهِ.</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نَظَرْتُ إِلَى كِتَابُهُ.</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نَظَرْتُ إِلَى الْكِتَابِهِ.</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“our house is new”.</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بَيْتُنَا جَدِيدٌ</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بَيْتُنَا الْجَدِيدُ</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الْبَيْتُنَا جَدِيدٌ</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Predicate: indefinite jadīdun.</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“your two bags” (to one female, as a subject).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حَقِيبَتَانِكِ</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حَقِيبَتَاكِ</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حَقِيبَتَيْكِ</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Nūn dropped: ḥaqībatāki.</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looked at his book.”</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نَظَرْتُ إِلَى كِتَابِهِ.</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نَظَرْتُ إِلَى كِتَابُهُ.</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نَظَرْتُ إِلَى الْكِتَابِهِ.</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ilā: kitābihi.</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GM-POS-01 · Possessives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GM-POS-02: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GM-POS-02 · Possessive Iḍāfa Construction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كِتَابُ الطَّالِبِ</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student’s book</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بَابُ الْبَيْتِ</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door of the house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مُدِيرُ الْمَدْرَسَةِ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head of the school</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سَيَّارَةُ أَبِي</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my father’s car</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مِفْتَاحُ السَّيَّارَةِ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car key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Kitābuhu = his book. How would you say “Aḥmad’s book” with two nouns side by side?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كِتَابُهُ = كِتَابُ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my / her / our forms for six nouns (three with tāʾ marbūṭa).</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four sentences: subject, object, after a preposition, with an adjective.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belongings profile (100–120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GM-POS-01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cs typeface="Amiri" pitchFamily="2" charset="-78"/>
              </a:rPr>
              <a:t>GM-POS-02 · Possessive Iḍāfa Construction</a:t>
            </a:r>
            <a:endParaRPr lang="en-US" sz="22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تَرْكِيبُ الْإِضَافَةِ لِلْمِلْكِيَّةِ وَالِارْتِبَاطِ</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noun + owner ending = one word (kitābī, kitābuhā, kitābunā) · the ending shows the owner · tāʾ marbūṭa opens to t before an ending · never al- + ending · the case vowel stays: kitābuhu / kitābahu / kitābihi · duals and -ūna plurals drop the nūn.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GM-POS-01 · Possessive Endings</dc:title>
  <dc:subject>PptxGenJS Presentation</dc:subject>
  <dc:creator>Al Madina Online School · Arabic Department</dc:creator>
  <cp:lastModifiedBy>Al Madina Online School · Arabic Department</cp:lastModifiedBy>
  <cp:revision>1</cp:revision>
  <dcterms:created xsi:type="dcterms:W3CDTF">2026-10-11T06:42:26Z</dcterms:created>
  <dcterms:modified xsi:type="dcterms:W3CDTF">2026-10-11T06:42:26Z</dcterms:modified>
</cp:coreProperties>
</file>