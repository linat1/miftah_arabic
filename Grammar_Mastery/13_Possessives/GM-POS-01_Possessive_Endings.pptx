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GM-POS-01 (“Possessive Endings”).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singular owners -ī, -ka, -ki, -hu, -hā, -nā on regular and tāʾ marbūṭa nouns (madrasatī, ḥaqībatuki). Develop: the dual and plural owners (-kumā, -kum, -kunna, -humā, -hum, -hunna), the case vowel before the suffix (kitābuhu / kitābahu / kitābihi) and kitābuhu l-jadīdu vs kitābuhu jadīdun. Stretch: nūn deletion (kitābāhu, muʿallimūhum) and sound feminine plurals (sayyārātihinna).
• Website warning: do not confuse owner and object — sayyāratuhu = HIS car (the car is feminine, the owner is masculine).
• Colour code: orange = noun + owner ending. Recycles GM-PRO attached pronouns and GM-CASE-01 to 03 (the case vowel stays before the suffix).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Possession Starter — GM-PRO subject pronouns and attached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 owner ending = one word. The ending shows the owner; tāʾ marbūṭa opens to t; no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complete possessive-suffix family” (singular owners + our). Hold up objects and say whose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suffix table (dual and plural owners). Core learners need -kum and -hum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“Tāʾ marbūṭa opens before a suffix”. Model the three steps on the board with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“Regular nouns and case before the suffix” + “Possession makes the noun definite”. In unvowelled writing the forms look identical — the sentence role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“Dual and sound masculine plural: delete the nūn” + “Sound feminine plurals keep -āt”.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match the owner.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reading-and-reference lines, extended. Website question: why does madrasatihimā refer to two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2–5 and build them together. Then point to real objects: kitābī, ḥaqībatuhā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Trap card: kutubuhu — many books but ONE owner (his). The ending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Trap card: kutubuhu — many books but ONE owner (his). The ending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open the tāʾ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belongings profile (teacher-written). Read it aloud once while students follow; then they hunt for today’s grammar.
Task: Website: for each ending, name the owner. Explain why ghurfatuhumā refers to two people.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reading-and-reference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six objects, changing the owner each time (mine, yours, hers, ours, theirs); include one dual and one sound feminine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describing a family, group of friends, classroom or fictional household and their belongings.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(GM-POS-02 · Possessive Iḍāfa Construction) will spend class time USING this language, so students prepare it tonight — short, simple, easy to access (school guidance: “Simple, Short, Interesting, Relevant, Easy to access”). The five phrases prepare GM-POS-02 (website: possessive iḍāfa).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POSSESSIVES  ·  GM-POS-01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GM-POS-01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Possessive Endings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ضَمَائِرُ الْمِلْكِيَّةِ الْمُتَّصِلَةُ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word shows the thing and its owner: kitābī (my book), madrasatuhā (her school), baytunā (our house). The ending shows the OWNER. Tāʾ marbūṭa opens to t, and the noun never takes al- as well.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GM-POS-01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Owners (singular); owners (plural); tāʾ marbūṭa; case and definiteness; nūn and -āt.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Whose is it?; one owner or more?;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GM-POS-02.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bag” when speaking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حَقِيبَتُكُمْ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before a suffix?</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disappears completely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remains </a:t>
            </a:r>
            <a:pPr algn="l" indent="0" marL="0">
              <a:buNone/>
            </a:pPr>
            <a:r>
              <a:rPr lang="ar-SA" altLang="en-US" sz="1650" dirty="0">
                <a:solidFill>
                  <a:srgbClr val="1F2A37"/>
                </a:solidFill>
                <a:latin typeface="Amiri" pitchFamily="2" charset="-78"/>
                <a:ea typeface="Amiri" pitchFamily="2" charset="-78"/>
                <a:cs typeface="Amiri" pitchFamily="2" charset="-78"/>
              </a:rPr>
              <a:t>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to </a:t>
            </a:r>
            <a:pPr algn="l" indent="0" marL="0">
              <a:buNone/>
            </a:pPr>
            <a:r>
              <a:rPr lang="ar-SA" altLang="en-US" sz="1650" dirty="0">
                <a:solidFill>
                  <a:srgbClr val="1F2A37"/>
                </a:solidFill>
                <a:latin typeface="Amiri" pitchFamily="2" charset="-78"/>
                <a:ea typeface="Amiri" pitchFamily="2" charset="-78"/>
                <a:cs typeface="Amiri" pitchFamily="2" charset="-78"/>
              </a:rPr>
              <a:t>ت</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“our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 noun with a possessive ending also take 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the suffix already makes it definite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with </a:t>
            </a:r>
            <a:pPr algn="l" indent="0" marL="0">
              <a:buNone/>
            </a:pPr>
            <a:r>
              <a:rPr lang="ar-SA" altLang="en-US" sz="1650" dirty="0">
                <a:solidFill>
                  <a:srgbClr val="1F2A37"/>
                </a:solidFill>
                <a:latin typeface="Amiri" pitchFamily="2" charset="-78"/>
                <a:ea typeface="Amiri" pitchFamily="2" charset="-78"/>
                <a:cs typeface="Amiri" pitchFamily="2" charset="-78"/>
              </a:rPr>
              <a:t>ـِي</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-ī = my.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bag” when speaking to one female.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حَقِيبَتُكِ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حَقِيبَتُكُمْ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girl: -ki.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before a suffix?</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disappears completely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remains </a:t>
            </a:r>
            <a:pPr algn="l" indent="0" marL="0">
              <a:buNone/>
            </a:pPr>
            <a:r>
              <a:rPr lang="ar-SA" altLang="en-US" sz="1650" dirty="0">
                <a:solidFill>
                  <a:srgbClr val="9AA1AB"/>
                </a:solidFill>
                <a:latin typeface="Amiri" pitchFamily="2" charset="-78"/>
                <a:ea typeface="Amiri" pitchFamily="2" charset="-78"/>
                <a:cs typeface="Amiri" pitchFamily="2" charset="-78"/>
              </a:rPr>
              <a:t>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opens to </a:t>
            </a:r>
            <a:pPr algn="l" indent="0" marL="0">
              <a:buNone/>
            </a:pPr>
            <a:r>
              <a:rPr lang="ar-SA" altLang="en-US" sz="1650" b="1" dirty="0">
                <a:solidFill>
                  <a:srgbClr val="1F2A37"/>
                </a:solidFill>
                <a:latin typeface="Amiri" pitchFamily="2" charset="-78"/>
                <a:ea typeface="Amiri" pitchFamily="2" charset="-78"/>
                <a:cs typeface="Amiri" pitchFamily="2" charset="-78"/>
              </a:rPr>
              <a:t>ت</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Madrasa → madrasatī.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“our house”?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 our.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 noun with a possessive ending also take 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No: the suffix already makes it definite</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with </a:t>
            </a:r>
            <a:pPr algn="l" indent="0" marL="0">
              <a:buNone/>
            </a:pPr>
            <a:r>
              <a:rPr lang="ar-SA" altLang="en-US" sz="1650" dirty="0">
                <a:solidFill>
                  <a:srgbClr val="9AA1AB"/>
                </a:solidFill>
                <a:latin typeface="Amiri" pitchFamily="2" charset="-78"/>
                <a:ea typeface="Amiri" pitchFamily="2" charset="-78"/>
                <a:cs typeface="Amiri" pitchFamily="2" charset="-78"/>
              </a:rPr>
              <a:t>ـِي</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the ending already makes it definite.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Noun + owner ending = one word. The ending shows the owner; tāʾ marbūṭa opens to t; no 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كِتَابِي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C77700"/>
                </a:solidFill>
                <a:latin typeface="Amiri" pitchFamily="2" charset="-78"/>
                <a:ea typeface="Amiri" pitchFamily="2" charset="-78"/>
                <a:cs typeface="Amiri" pitchFamily="2" charset="-78"/>
              </a:rPr>
              <a:t>مَدْرَسَتُهَا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C77700"/>
                </a:solidFill>
                <a:latin typeface="Amiri" pitchFamily="2" charset="-78"/>
                <a:ea typeface="Amiri" pitchFamily="2" charset="-78"/>
                <a:cs typeface="Amiri" pitchFamily="2" charset="-78"/>
              </a:rPr>
              <a:t>بَيْتُنَا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ending to its owner.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tāʾ marbūṭa before an ending.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case vowel before the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“his new book” from “his book is new”.</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-ī, -ka, -ki, -hu, -hā, -nā.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open the tāʾ marbūṭa: madrasatī.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-kum, -hum, -humā, -hunna.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qaraʾtu kitābahu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drop the nūn: kitābāhu, muʿallimūhum.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100–120-word belongings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ضَمِيرُ الْمِلْكِيَّةِ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possessive ending</a:t>
            </a:r>
            <a:endParaRPr lang="en-US" sz="1350" dirty="0"/>
          </a:p>
          <a:p>
            <a:pPr indent="0" marL="0">
              <a:buNone/>
            </a:pPr>
            <a:r>
              <a:rPr lang="en-US" sz="1100" i="1" dirty="0">
                <a:solidFill>
                  <a:srgbClr val="5A6472"/>
                </a:solidFill>
                <a:latin typeface="Calibri" pitchFamily="34" charset="0"/>
                <a:cs typeface="Amiri" pitchFamily="2" charset="-78"/>
              </a:rPr>
              <a:t>ḍa-mī-ru al-mil-kiy-ya-ti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ـِي · ـهُ · ـهَا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الْمَالِكُ</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owner</a:t>
            </a:r>
            <a:endParaRPr lang="en-US" sz="1350" dirty="0"/>
          </a:p>
          <a:p>
            <a:pPr indent="0" marL="0">
              <a:buNone/>
            </a:pPr>
            <a:r>
              <a:rPr lang="en-US" sz="1100" i="1" dirty="0">
                <a:solidFill>
                  <a:srgbClr val="5A6472"/>
                </a:solidFill>
                <a:latin typeface="Calibri" pitchFamily="34" charset="0"/>
                <a:cs typeface="Amiri" pitchFamily="2" charset="-78"/>
              </a:rPr>
              <a:t>al-mā-li-ku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كِتَابُهَا</a:t>
            </a:r>
            <a:pPr algn="l" indent="0" marL="0">
              <a:buNone/>
            </a:pPr>
            <a:r>
              <a:rPr lang="en-US" sz="1000" i="1" dirty="0">
                <a:solidFill>
                  <a:srgbClr val="8A6D1E"/>
                </a:solidFill>
                <a:latin typeface="Calibri" pitchFamily="34" charset="0"/>
                <a:cs typeface="Amiri" pitchFamily="2" charset="-78"/>
              </a:rPr>
              <a:t> = her book</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التَّاءُ الْمَرْبُوطَةُ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tāʾ marbūṭa — opens to t</a:t>
            </a:r>
            <a:endParaRPr lang="en-US" sz="1350" dirty="0"/>
          </a:p>
          <a:p>
            <a:pPr indent="0" marL="0">
              <a:buNone/>
            </a:pPr>
            <a:r>
              <a:rPr lang="en-US" sz="1100" i="1" dirty="0">
                <a:solidFill>
                  <a:srgbClr val="5A6472"/>
                </a:solidFill>
                <a:latin typeface="Calibri" pitchFamily="34" charset="0"/>
                <a:cs typeface="Amiri" pitchFamily="2" charset="-78"/>
              </a:rPr>
              <a:t>at-tā-ʾu al-mar-bū-ṭa-tu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مَدْرَسَةٌ · مَدْرَسَتِي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الْمَعْرِفَةُ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 (the ending makes it so)</a:t>
            </a:r>
            <a:endParaRPr lang="en-US" sz="1350" dirty="0"/>
          </a:p>
          <a:p>
            <a:pPr indent="0" marL="0">
              <a:buNone/>
            </a:pPr>
            <a:r>
              <a:rPr lang="en-US" sz="1100" i="1" dirty="0">
                <a:solidFill>
                  <a:srgbClr val="5A6472"/>
                </a:solidFill>
                <a:latin typeface="Calibri" pitchFamily="34" charset="0"/>
                <a:cs typeface="Amiri" pitchFamily="2" charset="-78"/>
              </a:rPr>
              <a:t>al-maʿ-ri-fa-tu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كِتَابُهُ الْجَدِيدُ</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حَذْفُ النُّونِ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dropping the nūn</a:t>
            </a:r>
            <a:endParaRPr lang="en-US" sz="1350" dirty="0"/>
          </a:p>
          <a:p>
            <a:pPr indent="0" marL="0">
              <a:buNone/>
            </a:pPr>
            <a:r>
              <a:rPr lang="en-US" sz="1100" i="1" dirty="0">
                <a:solidFill>
                  <a:srgbClr val="5A6472"/>
                </a:solidFill>
                <a:latin typeface="Calibri" pitchFamily="34" charset="0"/>
                <a:cs typeface="Amiri" pitchFamily="2" charset="-78"/>
              </a:rPr>
              <a:t>ḥadh-fu an-nū-ni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كِتَابَاهُ · مُعَلِّمُوهُمْ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الْمُؤَنَّثِ السَّالِمُ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sound feminine plural (-āt)</a:t>
            </a:r>
            <a:endParaRPr lang="en-US" sz="1350" dirty="0"/>
          </a:p>
          <a:p>
            <a:pPr indent="0" marL="0">
              <a:buNone/>
            </a:pPr>
            <a:r>
              <a:rPr lang="en-US" sz="1100" i="1" dirty="0">
                <a:solidFill>
                  <a:srgbClr val="5A6472"/>
                </a:solidFill>
                <a:latin typeface="Calibri" pitchFamily="34" charset="0"/>
                <a:cs typeface="Amiri" pitchFamily="2" charset="-78"/>
              </a:rPr>
              <a:t>jam-ʿu al-mu-ʾan-na-thi as-sā-li-mu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سَيَّارَاتُهُنَّ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SUFFIX FAMILY: ONE OWNER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your, his, her, 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ضَمَائِرُ 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kitāb</a:t>
            </a:r>
            <a:endParaRPr lang="en-US" sz="1100" dirty="0"/>
          </a:p>
        </p:txBody>
      </p:sp>
      <p:sp>
        <p:nvSpPr>
          <p:cNvPr id="17" name="Text 14"/>
          <p:cNvSpPr txBox="1"/>
          <p:nvPr/>
        </p:nvSpPr>
        <p:spPr>
          <a:xfrm>
            <a:off x="5468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8" name="Text 15"/>
          <p:cNvSpPr txBox="1"/>
          <p:nvPr/>
        </p:nvSpPr>
        <p:spPr>
          <a:xfrm>
            <a:off x="32735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كِتَابِي</a:t>
            </a:r>
            <a:endParaRPr lang="ar-SA" sz="2600" dirty="0"/>
          </a:p>
        </p:txBody>
      </p:sp>
      <p:sp>
        <p:nvSpPr>
          <p:cNvPr id="22" name="Text 19"/>
          <p:cNvSpPr txBox="1"/>
          <p:nvPr/>
        </p:nvSpPr>
        <p:spPr>
          <a:xfrm>
            <a:off x="548640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ـِي</a:t>
            </a:r>
            <a:endParaRPr lang="ar-SA" sz="2400" dirty="0"/>
          </a:p>
        </p:txBody>
      </p:sp>
      <p:sp>
        <p:nvSpPr>
          <p:cNvPr id="23" name="Text 20"/>
          <p:cNvSpPr txBox="1"/>
          <p:nvPr/>
        </p:nvSpPr>
        <p:spPr>
          <a:xfrm>
            <a:off x="32918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4" name="Text 21"/>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كِتَابُكَ</a:t>
            </a:r>
            <a:endParaRPr lang="ar-SA" sz="2600" dirty="0"/>
          </a:p>
        </p:txBody>
      </p:sp>
      <p:sp>
        <p:nvSpPr>
          <p:cNvPr id="29" name="Text 26"/>
          <p:cNvSpPr txBox="1"/>
          <p:nvPr/>
        </p:nvSpPr>
        <p:spPr>
          <a:xfrm>
            <a:off x="548640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a:t>
            </a:r>
            <a:endParaRPr lang="ar-SA" sz="2400" dirty="0"/>
          </a:p>
        </p:txBody>
      </p:sp>
      <p:sp>
        <p:nvSpPr>
          <p:cNvPr id="30" name="Text 27"/>
          <p:cNvSpPr txBox="1"/>
          <p:nvPr/>
        </p:nvSpPr>
        <p:spPr>
          <a:xfrm>
            <a:off x="32918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1" name="Text 28"/>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(one male)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كِتَابُكِ</a:t>
            </a:r>
            <a:endParaRPr lang="ar-SA" sz="2600" dirty="0"/>
          </a:p>
        </p:txBody>
      </p:sp>
      <p:sp>
        <p:nvSpPr>
          <p:cNvPr id="36" name="Text 33"/>
          <p:cNvSpPr txBox="1"/>
          <p:nvPr/>
        </p:nvSpPr>
        <p:spPr>
          <a:xfrm>
            <a:off x="548640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a:t>
            </a:r>
            <a:endParaRPr lang="ar-SA" sz="2400" dirty="0"/>
          </a:p>
        </p:txBody>
      </p:sp>
      <p:sp>
        <p:nvSpPr>
          <p:cNvPr id="37" name="Text 34"/>
          <p:cNvSpPr txBox="1"/>
          <p:nvPr/>
        </p:nvSpPr>
        <p:spPr>
          <a:xfrm>
            <a:off x="32918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8" name="Text 35"/>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(one female)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كِتَابُهُ</a:t>
            </a:r>
            <a:endParaRPr lang="ar-SA" sz="2600" dirty="0"/>
          </a:p>
        </p:txBody>
      </p:sp>
      <p:sp>
        <p:nvSpPr>
          <p:cNvPr id="43" name="Text 40"/>
          <p:cNvSpPr txBox="1"/>
          <p:nvPr/>
        </p:nvSpPr>
        <p:spPr>
          <a:xfrm>
            <a:off x="548640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a:t>
            </a:r>
            <a:endParaRPr lang="ar-SA" sz="2400" dirty="0"/>
          </a:p>
        </p:txBody>
      </p:sp>
      <p:sp>
        <p:nvSpPr>
          <p:cNvPr id="44" name="Text 41"/>
          <p:cNvSpPr txBox="1"/>
          <p:nvPr/>
        </p:nvSpPr>
        <p:spPr>
          <a:xfrm>
            <a:off x="32918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45" name="Text 42"/>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 its (m.)</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كِتَابُهَا</a:t>
            </a:r>
            <a:endParaRPr lang="ar-SA" sz="2600" dirty="0"/>
          </a:p>
        </p:txBody>
      </p:sp>
      <p:sp>
        <p:nvSpPr>
          <p:cNvPr id="50" name="Text 47"/>
          <p:cNvSpPr txBox="1"/>
          <p:nvPr/>
        </p:nvSpPr>
        <p:spPr>
          <a:xfrm>
            <a:off x="548640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ـهَا</a:t>
            </a:r>
            <a:endParaRPr lang="ar-SA" sz="2400" dirty="0"/>
          </a:p>
        </p:txBody>
      </p:sp>
      <p:sp>
        <p:nvSpPr>
          <p:cNvPr id="51" name="Text 48"/>
          <p:cNvSpPr txBox="1"/>
          <p:nvPr/>
        </p:nvSpPr>
        <p:spPr>
          <a:xfrm>
            <a:off x="32918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52" name="Text 4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 its (f.)</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كِتَابُنَا</a:t>
            </a:r>
            <a:endParaRPr lang="ar-SA" sz="2600" dirty="0"/>
          </a:p>
        </p:txBody>
      </p:sp>
      <p:sp>
        <p:nvSpPr>
          <p:cNvPr id="57" name="Text 54"/>
          <p:cNvSpPr txBox="1"/>
          <p:nvPr/>
        </p:nvSpPr>
        <p:spPr>
          <a:xfrm>
            <a:off x="548640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ـنَا</a:t>
            </a:r>
            <a:endParaRPr lang="ar-SA" sz="2400" dirty="0"/>
          </a:p>
        </p:txBody>
      </p:sp>
      <p:sp>
        <p:nvSpPr>
          <p:cNvPr id="58" name="Text 55"/>
          <p:cNvSpPr txBox="1"/>
          <p:nvPr/>
        </p:nvSpPr>
        <p:spPr>
          <a:xfrm>
            <a:off x="32918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9" name="Text 56"/>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ending identifies the OWNER, not the object. Sayyāratuhu = his car (the car is feminine; the owner is male). Kitābuhā = her book (the book is masculine; the owner is female).</a:t>
            </a:r>
            <a:endParaRPr lang="en-US" sz="11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 PART 2 · THE SUFFIX FAMILY: TWO OR MORE OWNERS (WEBSITE TABLE)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(all of you) and their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الْمُثَنَّى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kitāb</a:t>
            </a:r>
            <a:endParaRPr lang="en-US" sz="1100" dirty="0"/>
          </a:p>
        </p:txBody>
      </p:sp>
      <p:sp>
        <p:nvSpPr>
          <p:cNvPr id="17" name="Text 14"/>
          <p:cNvSpPr txBox="1"/>
          <p:nvPr/>
        </p:nvSpPr>
        <p:spPr>
          <a:xfrm>
            <a:off x="58338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8" name="Text 15"/>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046720" y="2267712"/>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كِتَابُكُمَا</a:t>
            </a:r>
            <a:endParaRPr lang="ar-SA" sz="2600" dirty="0"/>
          </a:p>
        </p:txBody>
      </p:sp>
      <p:sp>
        <p:nvSpPr>
          <p:cNvPr id="22" name="Text 19"/>
          <p:cNvSpPr txBox="1"/>
          <p:nvPr/>
        </p:nvSpPr>
        <p:spPr>
          <a:xfrm>
            <a:off x="585216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ـكُمَا</a:t>
            </a:r>
            <a:endParaRPr lang="ar-SA" sz="2400" dirty="0"/>
          </a:p>
        </p:txBody>
      </p:sp>
      <p:sp>
        <p:nvSpPr>
          <p:cNvPr id="23" name="Text 20"/>
          <p:cNvSpPr txBox="1"/>
          <p:nvPr/>
        </p:nvSpPr>
        <p:spPr>
          <a:xfrm>
            <a:off x="365760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a:t>
            </a:r>
            <a:endParaRPr lang="ar-SA" sz="2400" dirty="0"/>
          </a:p>
        </p:txBody>
      </p:sp>
      <p:sp>
        <p:nvSpPr>
          <p:cNvPr id="24" name="Text 21"/>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(two)</a:t>
            </a:r>
            <a:endParaRPr lang="en-US" sz="110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46720" y="2881884"/>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كِتَابُكُمْ</a:t>
            </a:r>
            <a:endParaRPr lang="ar-SA" sz="2600" dirty="0"/>
          </a:p>
        </p:txBody>
      </p:sp>
      <p:sp>
        <p:nvSpPr>
          <p:cNvPr id="27" name="Text 24"/>
          <p:cNvSpPr txBox="1"/>
          <p:nvPr/>
        </p:nvSpPr>
        <p:spPr>
          <a:xfrm>
            <a:off x="585216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ـكُمْ</a:t>
            </a:r>
            <a:endParaRPr lang="ar-SA" sz="2400" dirty="0"/>
          </a:p>
        </p:txBody>
      </p:sp>
      <p:sp>
        <p:nvSpPr>
          <p:cNvPr id="28" name="Text 25"/>
          <p:cNvSpPr txBox="1"/>
          <p:nvPr/>
        </p:nvSpPr>
        <p:spPr>
          <a:xfrm>
            <a:off x="365760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29" name="Text 26"/>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(group m. / mixed)</a:t>
            </a:r>
            <a:endParaRPr lang="en-US" sz="1100" dirty="0"/>
          </a:p>
        </p:txBody>
      </p:sp>
      <p:sp>
        <p:nvSpPr>
          <p:cNvPr id="30" name="Shape 27"/>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046720" y="3496056"/>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كِتَابُكُنَّ</a:t>
            </a:r>
            <a:endParaRPr lang="ar-SA" sz="2600" dirty="0"/>
          </a:p>
        </p:txBody>
      </p:sp>
      <p:sp>
        <p:nvSpPr>
          <p:cNvPr id="34" name="Text 31"/>
          <p:cNvSpPr txBox="1"/>
          <p:nvPr/>
        </p:nvSpPr>
        <p:spPr>
          <a:xfrm>
            <a:off x="585216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ـكُنَّ</a:t>
            </a:r>
            <a:endParaRPr lang="ar-SA" sz="2400" dirty="0"/>
          </a:p>
        </p:txBody>
      </p:sp>
      <p:sp>
        <p:nvSpPr>
          <p:cNvPr id="35" name="Text 32"/>
          <p:cNvSpPr txBox="1"/>
          <p:nvPr/>
        </p:nvSpPr>
        <p:spPr>
          <a:xfrm>
            <a:off x="365760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أَنْتُنَّ</a:t>
            </a:r>
            <a:endParaRPr lang="ar-SA" sz="2400" dirty="0"/>
          </a:p>
        </p:txBody>
      </p:sp>
      <p:sp>
        <p:nvSpPr>
          <p:cNvPr id="36" name="Text 33"/>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(group f.)</a:t>
            </a:r>
            <a:endParaRPr lang="en-US" sz="110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46720" y="4110228"/>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كِتَابُهُمَا</a:t>
            </a:r>
            <a:endParaRPr lang="ar-SA" sz="2600" dirty="0"/>
          </a:p>
        </p:txBody>
      </p:sp>
      <p:sp>
        <p:nvSpPr>
          <p:cNvPr id="39" name="Text 36"/>
          <p:cNvSpPr txBox="1"/>
          <p:nvPr/>
        </p:nvSpPr>
        <p:spPr>
          <a:xfrm>
            <a:off x="585216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ـهُمَا</a:t>
            </a:r>
            <a:endParaRPr lang="ar-SA" sz="2400" dirty="0"/>
          </a:p>
        </p:txBody>
      </p:sp>
      <p:sp>
        <p:nvSpPr>
          <p:cNvPr id="40" name="Text 37"/>
          <p:cNvSpPr txBox="1"/>
          <p:nvPr/>
        </p:nvSpPr>
        <p:spPr>
          <a:xfrm>
            <a:off x="365760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هُمَا</a:t>
            </a:r>
            <a:endParaRPr lang="ar-SA" sz="2400" dirty="0"/>
          </a:p>
        </p:txBody>
      </p:sp>
      <p:sp>
        <p:nvSpPr>
          <p:cNvPr id="41" name="Text 38"/>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(two)</a:t>
            </a:r>
            <a:endParaRPr lang="en-US" sz="1100" dirty="0"/>
          </a:p>
        </p:txBody>
      </p:sp>
      <p:sp>
        <p:nvSpPr>
          <p:cNvPr id="42" name="Shape 3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3" name="Text 40"/>
          <p:cNvSpPr txBox="1"/>
          <p:nvPr/>
        </p:nvSpPr>
        <p:spPr>
          <a:xfrm>
            <a:off x="8046720" y="4724400"/>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كِتَابُهُمْ</a:t>
            </a:r>
            <a:endParaRPr lang="ar-SA" sz="2600" dirty="0"/>
          </a:p>
        </p:txBody>
      </p:sp>
      <p:sp>
        <p:nvSpPr>
          <p:cNvPr id="44" name="Text 41"/>
          <p:cNvSpPr txBox="1"/>
          <p:nvPr/>
        </p:nvSpPr>
        <p:spPr>
          <a:xfrm>
            <a:off x="585216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ـهُمْ</a:t>
            </a:r>
            <a:endParaRPr lang="ar-SA" sz="2400" dirty="0"/>
          </a:p>
        </p:txBody>
      </p:sp>
      <p:sp>
        <p:nvSpPr>
          <p:cNvPr id="45" name="Text 42"/>
          <p:cNvSpPr txBox="1"/>
          <p:nvPr/>
        </p:nvSpPr>
        <p:spPr>
          <a:xfrm>
            <a:off x="365760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46" name="Text 43"/>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(m. / mixed)</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46720" y="5338572"/>
            <a:ext cx="359359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كِتَابُهُنَّ</a:t>
            </a:r>
            <a:endParaRPr lang="ar-SA" sz="2600" dirty="0"/>
          </a:p>
        </p:txBody>
      </p:sp>
      <p:sp>
        <p:nvSpPr>
          <p:cNvPr id="51" name="Text 48"/>
          <p:cNvSpPr txBox="1"/>
          <p:nvPr/>
        </p:nvSpPr>
        <p:spPr>
          <a:xfrm>
            <a:off x="585216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ـهُنَّ</a:t>
            </a:r>
            <a:endParaRPr lang="ar-SA" sz="2400" dirty="0"/>
          </a:p>
        </p:txBody>
      </p:sp>
      <p:sp>
        <p:nvSpPr>
          <p:cNvPr id="52" name="Text 49"/>
          <p:cNvSpPr txBox="1"/>
          <p:nvPr/>
        </p:nvSpPr>
        <p:spPr>
          <a:xfrm>
            <a:off x="365760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a:t>
            </a:r>
            <a:endParaRPr lang="ar-SA" sz="2400" dirty="0"/>
          </a:p>
        </p:txBody>
      </p:sp>
      <p:sp>
        <p:nvSpPr>
          <p:cNvPr id="53" name="Text 50"/>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(f.)</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i or y, -hu / -hum / -hunna become -hi / -him / -hinna: fī kitābihi, fī baytihim. The meaning does not change.</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TĀʾ MARBŪṬA OPENS BEFORE A SUFFIX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Tāʾ marbūṭa opens to 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التَّاءُ الْمَرْبُوطَةُ تُفْتَحُ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owner</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school</a:t>
            </a:r>
            <a:endParaRPr lang="en-US" sz="1100" dirty="0"/>
          </a:p>
        </p:txBody>
      </p:sp>
      <p:sp>
        <p:nvSpPr>
          <p:cNvPr id="21" name="Text 18"/>
          <p:cNvSpPr txBox="1"/>
          <p:nvPr/>
        </p:nvSpPr>
        <p:spPr>
          <a:xfrm>
            <a:off x="347472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مَدْرَسَتِي</a:t>
            </a:r>
            <a:endParaRPr lang="ar-SA" sz="24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مَدْرَسَةٌ</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bag (m.)</a:t>
            </a:r>
            <a:endParaRPr lang="en-US" sz="1100" dirty="0"/>
          </a:p>
        </p:txBody>
      </p:sp>
      <p:sp>
        <p:nvSpPr>
          <p:cNvPr id="27" name="Text 24"/>
          <p:cNvSpPr txBox="1"/>
          <p:nvPr/>
        </p:nvSpPr>
        <p:spPr>
          <a:xfrm>
            <a:off x="347472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حَقِيبَتُكَ</a:t>
            </a:r>
            <a:endParaRPr lang="ar-SA" sz="24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حَقِيبَةٌ</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visited her family.</a:t>
            </a:r>
            <a:endParaRPr lang="en-US" sz="1100" dirty="0"/>
          </a:p>
        </p:txBody>
      </p:sp>
      <p:sp>
        <p:nvSpPr>
          <p:cNvPr id="33" name="Text 30"/>
          <p:cNvSpPr txBox="1"/>
          <p:nvPr/>
        </p:nvSpPr>
        <p:spPr>
          <a:xfrm>
            <a:off x="347472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زُرْتُ عَائِلَتَهَا.</a:t>
            </a:r>
            <a:endParaRPr lang="ar-SA" sz="24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عَائِلَةٌ</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our room</a:t>
            </a:r>
            <a:endParaRPr lang="en-US" sz="1100" dirty="0"/>
          </a:p>
        </p:txBody>
      </p:sp>
      <p:sp>
        <p:nvSpPr>
          <p:cNvPr id="39" name="Text 36"/>
          <p:cNvSpPr txBox="1"/>
          <p:nvPr/>
        </p:nvSpPr>
        <p:spPr>
          <a:xfrm>
            <a:off x="347472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غُرْفَتِنَا</a:t>
            </a:r>
            <a:endParaRPr lang="ar-SA" sz="2400" dirty="0"/>
          </a:p>
        </p:txBody>
      </p:sp>
      <p:sp>
        <p:nvSpPr>
          <p:cNvPr id="40" name="Text 37"/>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غُرْفَةٌ</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car</a:t>
            </a:r>
            <a:endParaRPr lang="en-US" sz="1100" dirty="0"/>
          </a:p>
        </p:txBody>
      </p:sp>
      <p:sp>
        <p:nvSpPr>
          <p:cNvPr id="43" name="Text 40"/>
          <p:cNvSpPr txBox="1"/>
          <p:nvPr/>
        </p:nvSpPr>
        <p:spPr>
          <a:xfrm>
            <a:off x="347472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سَيَّارَتُهُمْ</a:t>
            </a:r>
            <a:endParaRPr lang="ar-SA" sz="2400" dirty="0"/>
          </a:p>
        </p:txBody>
      </p:sp>
      <p:sp>
        <p:nvSpPr>
          <p:cNvPr id="44" name="Text 41"/>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سَيَّارَةٌ</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three-step method: (1) remove the tanwīn, (2) change the tāʾ marbūṭa to t, (3) attach the owner ending. Never keep the closed tāʾ marbūṭa in front of an ending.</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CASE AND DEFINITENESS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case vowel stays — and the noun is definite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الْإِعْرَابُ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Decision</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-u + hu</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كِتَابُهُ جَدِيدٌ.</a:t>
            </a:r>
            <a:endParaRPr lang="ar-SA" sz="22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book is new.</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-a + hu</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كِتَابَهُ.</a:t>
            </a:r>
            <a:endParaRPr lang="ar-SA" sz="22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his book.</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ilā: -i + hi</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نَظَرْتُ إِلَى كِتَابِهِ.</a:t>
            </a:r>
            <a:endParaRPr lang="ar-SA" sz="22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looked at his book.</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takes al-</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كِتَابُهُ الْجَدِيدُ</a:t>
            </a:r>
            <a:endParaRPr lang="ar-SA" sz="22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new book</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كِتَابَهُ الْجَدِيدَ.</a:t>
            </a:r>
            <a:endParaRPr lang="ar-SA" sz="22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his new book.</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-i</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كِتَابِهِ الْجَدِيدِ</a:t>
            </a:r>
            <a:endParaRPr lang="ar-SA" sz="22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his new book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never add al- to the same noun — kitābuhu, never al-kitābuhu. The ending makes the noun definite, so an adjective describing it takes al-: kitābuhu l-jadīdu (phrase) vs kitābuhu jadīdun (sentence).</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5 · DUALS, SOUND PLURALS AND -ĀT (WEBSITE TABLES)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Drop the nūn — keep the -āt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حَذْفُ النُّونِ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changed</a:t>
            </a:r>
            <a:endParaRPr lang="en-US" sz="1100" dirty="0"/>
          </a:p>
        </p:txBody>
      </p:sp>
      <p:sp>
        <p:nvSpPr>
          <p:cNvPr id="17" name="Text 14"/>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owner</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form</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601968" y="2267712"/>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dual: -āni → -ā + hu</a:t>
            </a:r>
            <a:endParaRPr lang="en-US" sz="1100" dirty="0"/>
          </a:p>
        </p:txBody>
      </p:sp>
      <p:sp>
        <p:nvSpPr>
          <p:cNvPr id="21" name="Text 18"/>
          <p:cNvSpPr txBox="1"/>
          <p:nvPr/>
        </p:nvSpPr>
        <p:spPr>
          <a:xfrm>
            <a:off x="32918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كِتَابَاهُ</a:t>
            </a:r>
            <a:endParaRPr lang="ar-SA" sz="24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كِتَابَانِ</a:t>
            </a:r>
            <a:endParaRPr lang="ar-SA" sz="24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6601968" y="2881884"/>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 / gen. dual: -ayni → -ay + hi</a:t>
            </a:r>
            <a:endParaRPr lang="en-US" sz="1100" dirty="0"/>
          </a:p>
        </p:txBody>
      </p:sp>
      <p:sp>
        <p:nvSpPr>
          <p:cNvPr id="25" name="Text 22"/>
          <p:cNvSpPr txBox="1"/>
          <p:nvPr/>
        </p:nvSpPr>
        <p:spPr>
          <a:xfrm>
            <a:off x="32918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كِتَابَيْهِ</a:t>
            </a:r>
            <a:endParaRPr lang="ar-SA" sz="2400" dirty="0"/>
          </a:p>
        </p:txBody>
      </p:sp>
      <p:sp>
        <p:nvSpPr>
          <p:cNvPr id="26" name="Text 23"/>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كِتَابَيْنِ</a:t>
            </a:r>
            <a:endParaRPr lang="ar-SA" sz="24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6601968" y="3496056"/>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plural: -ūna → -ū + hum</a:t>
            </a:r>
            <a:endParaRPr lang="en-US" sz="1100" dirty="0"/>
          </a:p>
        </p:txBody>
      </p:sp>
      <p:sp>
        <p:nvSpPr>
          <p:cNvPr id="29" name="Text 26"/>
          <p:cNvSpPr txBox="1"/>
          <p:nvPr/>
        </p:nvSpPr>
        <p:spPr>
          <a:xfrm>
            <a:off x="32918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مُعَلِّمُوهُمْ</a:t>
            </a:r>
            <a:endParaRPr lang="ar-SA" sz="2400" dirty="0"/>
          </a:p>
        </p:txBody>
      </p:sp>
      <p:sp>
        <p:nvSpPr>
          <p:cNvPr id="30" name="Text 27"/>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مُعَلِّمُونَ</a:t>
            </a:r>
            <a:endParaRPr lang="ar-SA" sz="24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6601968" y="4110228"/>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 / gen. plural: -īna → -ī + him</a:t>
            </a:r>
            <a:endParaRPr lang="en-US" sz="1100" dirty="0"/>
          </a:p>
        </p:txBody>
      </p:sp>
      <p:sp>
        <p:nvSpPr>
          <p:cNvPr id="33" name="Text 30"/>
          <p:cNvSpPr txBox="1"/>
          <p:nvPr/>
        </p:nvSpPr>
        <p:spPr>
          <a:xfrm>
            <a:off x="32918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مُعَلِّمِيهِمْ</a:t>
            </a:r>
            <a:endParaRPr lang="ar-SA" sz="2400" dirty="0"/>
          </a:p>
        </p:txBody>
      </p:sp>
      <p:sp>
        <p:nvSpPr>
          <p:cNvPr id="34" name="Text 31"/>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مُعَلِّمِينَ</a:t>
            </a:r>
            <a:endParaRPr lang="ar-SA" sz="24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6601968" y="4724400"/>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-ātu + hunna</a:t>
            </a:r>
            <a:endParaRPr lang="en-US" sz="1100" dirty="0"/>
          </a:p>
        </p:txBody>
      </p:sp>
      <p:sp>
        <p:nvSpPr>
          <p:cNvPr id="37" name="Text 34"/>
          <p:cNvSpPr txBox="1"/>
          <p:nvPr/>
        </p:nvSpPr>
        <p:spPr>
          <a:xfrm>
            <a:off x="32918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سَيَّارَاتُهُنَّ</a:t>
            </a:r>
            <a:endParaRPr lang="ar-SA" sz="2400" dirty="0"/>
          </a:p>
        </p:txBody>
      </p:sp>
      <p:sp>
        <p:nvSpPr>
          <p:cNvPr id="38" name="Text 35"/>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سَيَّارَاتٌ</a:t>
            </a:r>
            <a:endParaRPr lang="ar-SA" sz="24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601968" y="5338572"/>
            <a:ext cx="5056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 AND gen.: -āti + hinna</a:t>
            </a:r>
            <a:endParaRPr lang="en-US" sz="1100" dirty="0"/>
          </a:p>
        </p:txBody>
      </p:sp>
      <p:sp>
        <p:nvSpPr>
          <p:cNvPr id="41" name="Text 38"/>
          <p:cNvSpPr txBox="1"/>
          <p:nvPr/>
        </p:nvSpPr>
        <p:spPr>
          <a:xfrm>
            <a:off x="32918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سَيَّارَاتِهِنَّ</a:t>
            </a:r>
            <a:endParaRPr lang="ar-SA" sz="2400" dirty="0"/>
          </a:p>
        </p:txBody>
      </p:sp>
      <p:sp>
        <p:nvSpPr>
          <p:cNvPr id="42" name="Text 39"/>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سَيَّارَاتٍ</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why: an attached pronoun puts the noun in a construct (iḍāfa) relationship, and dual / sound masculine plural construct forms drop their nūn. Sound feminine plurals keep -āt; the vowel before the ending shows the case.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to two people.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book”.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book” for female owners.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كِتَابُكُمَا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male: -ka.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to two people.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كِتَابُكُمَا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people: -kumā.</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book”.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 =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book” for female owners.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كِتَابُهُنَّ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group: -hunna.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track who owns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Owner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لَيْلَى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Whose friend? -hā.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Open the tāʾ</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صَدِيقَتَهَا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ṣadīqa → ṣadīqatahā.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Two owners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مَدْرَسَتِهِمَا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girls: -humā.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 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حَقِيبَتَهَا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Ending = definite.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 OWNER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زَارَتْ لَيْلَى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صَدِيقَتَهَا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سَلْمَى.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بَيْتُهَا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قَرِيبٌ مِنْ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مَدْرَسَتِهِمَا</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غُرْفَتُهَا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مُرَتَّبَةٌ. وَضَعَتْ لَيْلَى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حَقِيبَتَهَا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بِجَانِبِ كُتُبِ سَلْمَى. قَالَتْ سَلْمَى: «هَذِهِ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كُتُبِي</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الْجَدِيدَةُ».</a:t>
            </a:r>
            <a:endParaRPr lang="ar-SA" sz="16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Laylā visited her friend Salmā. Her house is near their school. Her room is tidy. Laylā put her bag next to Salmā’s books. Salmā said: “These are my new books.”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كِتَابِي.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book.</a:t>
            </a:r>
            <a:endParaRPr lang="en-US" sz="1250" dirty="0"/>
          </a:p>
          <a:p>
            <a:pPr indent="0" marL="0">
              <a:buNone/>
            </a:pPr>
            <a:r>
              <a:rPr lang="en-US" sz="1050" i="1" dirty="0">
                <a:solidFill>
                  <a:srgbClr val="8A6D1E"/>
                </a:solidFill>
                <a:latin typeface="Calibri" pitchFamily="34" charset="0"/>
                <a:cs typeface="Amiri" pitchFamily="2" charset="-78"/>
              </a:rPr>
              <a:t>my: -ī.</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أَيْنَ حَقِيبَتُكِ؟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is your bag? (to a girl)</a:t>
            </a:r>
            <a:endParaRPr lang="en-US" sz="1250" dirty="0"/>
          </a:p>
          <a:p>
            <a:pPr indent="0" marL="0">
              <a:buNone/>
            </a:pPr>
            <a:r>
              <a:rPr lang="en-US" sz="1050" i="1" dirty="0">
                <a:solidFill>
                  <a:srgbClr val="8A6D1E"/>
                </a:solidFill>
                <a:latin typeface="Calibri" pitchFamily="34" charset="0"/>
                <a:cs typeface="Amiri" pitchFamily="2" charset="-78"/>
              </a:rPr>
              <a:t>Tāʾ marbūṭa opens: -atu-.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مَدْرَسَتُهُمْ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Their school is big.</a:t>
            </a:r>
            <a:endParaRPr lang="en-US" sz="1250" dirty="0"/>
          </a:p>
          <a:p>
            <a:pPr indent="0" marL="0">
              <a:buNone/>
            </a:pPr>
            <a:r>
              <a:rPr lang="en-US" sz="1050" i="1" dirty="0">
                <a:solidFill>
                  <a:srgbClr val="8A6D1E"/>
                </a:solidFill>
                <a:latin typeface="Calibri" pitchFamily="34" charset="0"/>
                <a:cs typeface="Amiri" pitchFamily="2" charset="-78"/>
              </a:rPr>
              <a:t>their: -hum.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قَرَأْتُ كِتَابَهُ الْجَدِيدَ.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read his new book.</a:t>
            </a:r>
            <a:endParaRPr lang="en-US" sz="1250" dirty="0"/>
          </a:p>
          <a:p>
            <a:pPr indent="0" marL="0">
              <a:buNone/>
            </a:pPr>
            <a:r>
              <a:rPr lang="en-US" sz="1050" i="1" dirty="0">
                <a:solidFill>
                  <a:srgbClr val="8A6D1E"/>
                </a:solidFill>
                <a:latin typeface="Calibri" pitchFamily="34" charset="0"/>
                <a:cs typeface="Amiri" pitchFamily="2" charset="-78"/>
              </a:rPr>
              <a:t>Object -a; adjective al-.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WHOSE IS IT? (WEBSITE SPEAKING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her, our, their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لِمَنْ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their (m.)</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our</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her</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537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كِتَابُهُمْ</a:t>
            </a:r>
            <a:endParaRPr lang="ar-SA" sz="2400" dirty="0"/>
          </a:p>
        </p:txBody>
      </p:sp>
      <p:sp>
        <p:nvSpPr>
          <p:cNvPr id="23" name="Text 20"/>
          <p:cNvSpPr txBox="1"/>
          <p:nvPr/>
        </p:nvSpPr>
        <p:spPr>
          <a:xfrm>
            <a:off x="7251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كِتَابُنَا</a:t>
            </a:r>
            <a:endParaRPr lang="ar-SA" sz="2400" dirty="0"/>
          </a:p>
        </p:txBody>
      </p:sp>
      <p:sp>
        <p:nvSpPr>
          <p:cNvPr id="24" name="Text 21"/>
          <p:cNvSpPr txBox="1"/>
          <p:nvPr/>
        </p:nvSpPr>
        <p:spPr>
          <a:xfrm>
            <a:off x="4965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كِتَابُهَا</a:t>
            </a:r>
            <a:endParaRPr lang="ar-SA" sz="2400" dirty="0"/>
          </a:p>
        </p:txBody>
      </p:sp>
      <p:sp>
        <p:nvSpPr>
          <p:cNvPr id="25" name="Text 22"/>
          <p:cNvSpPr txBox="1"/>
          <p:nvPr/>
        </p:nvSpPr>
        <p:spPr>
          <a:xfrm>
            <a:off x="2679192" y="226771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كِتَابِي</a:t>
            </a:r>
            <a:endParaRPr lang="ar-SA" sz="2400" dirty="0"/>
          </a:p>
        </p:txBody>
      </p:sp>
      <p:sp>
        <p:nvSpPr>
          <p:cNvPr id="26" name="Text 23"/>
          <p:cNvSpPr txBox="1"/>
          <p:nvPr/>
        </p:nvSpPr>
        <p:spPr>
          <a:xfrm>
            <a:off x="548640" y="2267712"/>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537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بَيْتُهُمْ</a:t>
            </a:r>
            <a:endParaRPr lang="ar-SA" sz="2400" dirty="0"/>
          </a:p>
        </p:txBody>
      </p:sp>
      <p:sp>
        <p:nvSpPr>
          <p:cNvPr id="31" name="Text 28"/>
          <p:cNvSpPr txBox="1"/>
          <p:nvPr/>
        </p:nvSpPr>
        <p:spPr>
          <a:xfrm>
            <a:off x="7251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بَيْتُنَا</a:t>
            </a:r>
            <a:endParaRPr lang="ar-SA" sz="2400" dirty="0"/>
          </a:p>
        </p:txBody>
      </p:sp>
      <p:sp>
        <p:nvSpPr>
          <p:cNvPr id="32" name="Text 29"/>
          <p:cNvSpPr txBox="1"/>
          <p:nvPr/>
        </p:nvSpPr>
        <p:spPr>
          <a:xfrm>
            <a:off x="4965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بَيْتُهَا</a:t>
            </a:r>
            <a:endParaRPr lang="ar-SA" sz="2400" dirty="0"/>
          </a:p>
        </p:txBody>
      </p:sp>
      <p:sp>
        <p:nvSpPr>
          <p:cNvPr id="33" name="Text 30"/>
          <p:cNvSpPr txBox="1"/>
          <p:nvPr/>
        </p:nvSpPr>
        <p:spPr>
          <a:xfrm>
            <a:off x="2679192" y="2881884"/>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بَيْتِي</a:t>
            </a:r>
            <a:endParaRPr lang="ar-SA" sz="2400" dirty="0"/>
          </a:p>
        </p:txBody>
      </p:sp>
      <p:sp>
        <p:nvSpPr>
          <p:cNvPr id="34" name="Text 31"/>
          <p:cNvSpPr txBox="1"/>
          <p:nvPr/>
        </p:nvSpPr>
        <p:spPr>
          <a:xfrm>
            <a:off x="548640" y="2881884"/>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a:t>
            </a:r>
            <a:endParaRPr lang="ar-SA" sz="24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537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مَدْرَسَتُهُمْ</a:t>
            </a:r>
            <a:endParaRPr lang="ar-SA" sz="2400" dirty="0"/>
          </a:p>
        </p:txBody>
      </p:sp>
      <p:sp>
        <p:nvSpPr>
          <p:cNvPr id="39" name="Text 36"/>
          <p:cNvSpPr txBox="1"/>
          <p:nvPr/>
        </p:nvSpPr>
        <p:spPr>
          <a:xfrm>
            <a:off x="7251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مَدْرَسَتُنَا</a:t>
            </a:r>
            <a:endParaRPr lang="ar-SA" sz="2400" dirty="0"/>
          </a:p>
        </p:txBody>
      </p:sp>
      <p:sp>
        <p:nvSpPr>
          <p:cNvPr id="40" name="Text 37"/>
          <p:cNvSpPr txBox="1"/>
          <p:nvPr/>
        </p:nvSpPr>
        <p:spPr>
          <a:xfrm>
            <a:off x="4965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مَدْرَسَتُهَا</a:t>
            </a:r>
            <a:endParaRPr lang="ar-SA" sz="2400" dirty="0"/>
          </a:p>
        </p:txBody>
      </p:sp>
      <p:sp>
        <p:nvSpPr>
          <p:cNvPr id="41" name="Text 38"/>
          <p:cNvSpPr txBox="1"/>
          <p:nvPr/>
        </p:nvSpPr>
        <p:spPr>
          <a:xfrm>
            <a:off x="2679192" y="3496056"/>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مَدْرَسَتِي</a:t>
            </a:r>
            <a:endParaRPr lang="ar-SA" sz="2400" dirty="0"/>
          </a:p>
        </p:txBody>
      </p:sp>
      <p:sp>
        <p:nvSpPr>
          <p:cNvPr id="42" name="Text 39"/>
          <p:cNvSpPr txBox="1"/>
          <p:nvPr/>
        </p:nvSpPr>
        <p:spPr>
          <a:xfrm>
            <a:off x="548640" y="3496056"/>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a:t>
            </a:r>
            <a:endParaRPr lang="ar-SA" sz="24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537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سَيَّارَتُهُمْ</a:t>
            </a:r>
            <a:endParaRPr lang="ar-SA" sz="2400" dirty="0"/>
          </a:p>
        </p:txBody>
      </p:sp>
      <p:sp>
        <p:nvSpPr>
          <p:cNvPr id="47" name="Text 44"/>
          <p:cNvSpPr txBox="1"/>
          <p:nvPr/>
        </p:nvSpPr>
        <p:spPr>
          <a:xfrm>
            <a:off x="7251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سَيَّارَتُنَا</a:t>
            </a:r>
            <a:endParaRPr lang="ar-SA" sz="2400" dirty="0"/>
          </a:p>
        </p:txBody>
      </p:sp>
      <p:sp>
        <p:nvSpPr>
          <p:cNvPr id="48" name="Text 45"/>
          <p:cNvSpPr txBox="1"/>
          <p:nvPr/>
        </p:nvSpPr>
        <p:spPr>
          <a:xfrm>
            <a:off x="4965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سَيَّارَتُهَا</a:t>
            </a:r>
            <a:endParaRPr lang="ar-SA" sz="2400" dirty="0"/>
          </a:p>
        </p:txBody>
      </p:sp>
      <p:sp>
        <p:nvSpPr>
          <p:cNvPr id="49" name="Text 46"/>
          <p:cNvSpPr txBox="1"/>
          <p:nvPr/>
        </p:nvSpPr>
        <p:spPr>
          <a:xfrm>
            <a:off x="2679192" y="4110228"/>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سَيَّارَتِي</a:t>
            </a:r>
            <a:endParaRPr lang="ar-SA" sz="2400" dirty="0"/>
          </a:p>
        </p:txBody>
      </p:sp>
      <p:sp>
        <p:nvSpPr>
          <p:cNvPr id="50" name="Text 47"/>
          <p:cNvSpPr txBox="1"/>
          <p:nvPr/>
        </p:nvSpPr>
        <p:spPr>
          <a:xfrm>
            <a:off x="548640" y="4110228"/>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سَيَّارَةٌ</a:t>
            </a:r>
            <a:endParaRPr lang="ar-SA" sz="2400" dirty="0"/>
          </a:p>
        </p:txBody>
      </p:sp>
      <p:sp>
        <p:nvSpPr>
          <p:cNvPr id="51" name="Shape 4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2" name="Text 49"/>
          <p:cNvSpPr txBox="1"/>
          <p:nvPr/>
        </p:nvSpPr>
        <p:spPr>
          <a:xfrm>
            <a:off x="9537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غُرْفَتُهُمْ</a:t>
            </a:r>
            <a:endParaRPr lang="ar-SA" sz="2400" dirty="0"/>
          </a:p>
        </p:txBody>
      </p:sp>
      <p:sp>
        <p:nvSpPr>
          <p:cNvPr id="53" name="Text 50"/>
          <p:cNvSpPr txBox="1"/>
          <p:nvPr/>
        </p:nvSpPr>
        <p:spPr>
          <a:xfrm>
            <a:off x="7251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غُرْفَتُنَا</a:t>
            </a:r>
            <a:endParaRPr lang="ar-SA" sz="2400" dirty="0"/>
          </a:p>
        </p:txBody>
      </p:sp>
      <p:sp>
        <p:nvSpPr>
          <p:cNvPr id="54" name="Text 51"/>
          <p:cNvSpPr txBox="1"/>
          <p:nvPr/>
        </p:nvSpPr>
        <p:spPr>
          <a:xfrm>
            <a:off x="4965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غُرْفَتُهَا</a:t>
            </a:r>
            <a:endParaRPr lang="ar-SA" sz="2400" dirty="0"/>
          </a:p>
        </p:txBody>
      </p:sp>
      <p:sp>
        <p:nvSpPr>
          <p:cNvPr id="55" name="Text 52"/>
          <p:cNvSpPr txBox="1"/>
          <p:nvPr/>
        </p:nvSpPr>
        <p:spPr>
          <a:xfrm>
            <a:off x="2679192" y="4724400"/>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غُرْفَتِي</a:t>
            </a:r>
            <a:endParaRPr lang="ar-SA" sz="2400" dirty="0"/>
          </a:p>
        </p:txBody>
      </p:sp>
      <p:sp>
        <p:nvSpPr>
          <p:cNvPr id="56" name="Text 53"/>
          <p:cNvSpPr txBox="1"/>
          <p:nvPr/>
        </p:nvSpPr>
        <p:spPr>
          <a:xfrm>
            <a:off x="548640" y="4724400"/>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غُرْفَةٌ</a:t>
            </a:r>
            <a:endParaRPr lang="ar-SA" sz="24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9537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حَقِيبَتُهُمْ</a:t>
            </a:r>
            <a:endParaRPr lang="ar-SA" sz="2400" dirty="0"/>
          </a:p>
        </p:txBody>
      </p:sp>
      <p:sp>
        <p:nvSpPr>
          <p:cNvPr id="59" name="Text 56"/>
          <p:cNvSpPr txBox="1"/>
          <p:nvPr/>
        </p:nvSpPr>
        <p:spPr>
          <a:xfrm>
            <a:off x="7251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حَقِيبَتُنَا</a:t>
            </a:r>
            <a:endParaRPr lang="ar-SA" sz="2400" dirty="0"/>
          </a:p>
        </p:txBody>
      </p:sp>
      <p:sp>
        <p:nvSpPr>
          <p:cNvPr id="60" name="Text 57"/>
          <p:cNvSpPr txBox="1"/>
          <p:nvPr/>
        </p:nvSpPr>
        <p:spPr>
          <a:xfrm>
            <a:off x="4965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حَقِيبَتُهَا</a:t>
            </a:r>
            <a:endParaRPr lang="ar-SA" sz="2400" dirty="0"/>
          </a:p>
        </p:txBody>
      </p:sp>
      <p:sp>
        <p:nvSpPr>
          <p:cNvPr id="61" name="Text 58"/>
          <p:cNvSpPr txBox="1"/>
          <p:nvPr/>
        </p:nvSpPr>
        <p:spPr>
          <a:xfrm>
            <a:off x="2679192" y="5338572"/>
            <a:ext cx="2103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حَقِيبَتِي</a:t>
            </a:r>
            <a:endParaRPr lang="ar-SA" sz="2400" dirty="0"/>
          </a:p>
        </p:txBody>
      </p:sp>
      <p:sp>
        <p:nvSpPr>
          <p:cNvPr id="62" name="Text 59"/>
          <p:cNvSpPr txBox="1"/>
          <p:nvPr/>
        </p:nvSpPr>
        <p:spPr>
          <a:xfrm>
            <a:off x="548640" y="5338572"/>
            <a:ext cx="19476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a:t>
            </a:r>
            <a:endParaRPr lang="ar-SA" sz="24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Rows 3–6: remember to open the tāʾ marbūṭa to t before every ending.</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READ THE OWNER, NOT THE OBJECT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owner or more?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مَالِكٌ وَاحِدٌ أَمْ أَكْثَرُ؟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حَقِيبَتُكِ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مَدْرَسَتُهُمْ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غُرْفَتُهُمَا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بَيْتُكُمْ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 owner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Two or more owners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 owner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حَقِيبَتُكِ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كُتُبُهُ</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سَيَّارَتُهَا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Two or more owners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كِتَابُنَا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مَدْرَسَتُهُمْ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غُرْفَتُهُمَا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بَيْتُكُمْ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مَدْرَسَةِي.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the tāʾ marbūṭa?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الْكِتَابُهُ.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Can it have al- AND an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قَرَأْتُ كِتَابُهُ.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book the doer or the object?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مَدْرَسَةِي.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مَدْرَسَتِي.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Open the tāʾ marbūṭa to 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الْكِتَابُهُ.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كِتَابُهُ.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al- with a possessive ending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قَرَأْتُ كِتَابُهُ.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قَرَأْتُ كِتَابَهُ.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object takes -a before the ending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MINI-CHECK: OPEN THE TĀʾ</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room” (as a subject).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غُرْفَةُهُ</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her school.”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مَدْرَسَتُهَا.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مَدْرَسَتَهَا.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مَدْرَسَةَهَا.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their house”.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بَيْتُهُمْ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الْبَيْتِهِمْ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بَيْتِهِمْ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Open the tāʾ; no 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room” (as a subject).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غُرْفَةُهُ</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Ghurfatu + hu.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her school.”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مَدْرَسَتُهَا.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مَدْرَسَتَهَا.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مَدْرَسَةَهَا.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madrasatahā.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their house”.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بَيْتُهُمْ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الْبَيْتِهِمْ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بَيْتِهِمْ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baytihim.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BELONGINGS PROFILE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Hudā’s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هُدَى، وَهَذِهِ عَائِلَتِي. أَبِي طَبِيبٌ، وَعِيَادَتُهُ قَرِيبَةٌ مِنْ بَيْتِنَا. أُمِّي مُعَلِّمَةٌ، وَطَالِبَاتُهَا مُجْتَهِدَاتٌ. لِي أَخَوَانِ تَوْأَمَانِ، وَغُرْفَتُهُمَا بِجَانِبِ غُرْفَتِي؛ غُرْفَتُهُمَا مَلِيئَةٌ بِالْكُتُبِ وَالْأَلْعَابِ. جَدَّتِي تَسْكُنُ مَعَنَا، وَحَدِيقَتُهَا أَجْمَلُ مَكَانٍ فِي الْبَيْتِ. سَيَّارَتُنَا قَدِيمَةٌ، لَكِنَّ أَبِي يُحِبُّهَا. مَا اسْمُكَ؟ وَكَيْفَ عَائِلَتُكَ؟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عِيَادَتُهُ</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clinic</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طَالِبَاتُهَا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students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تَوْأَمَانِ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twins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مَلِيئَةٌ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full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حَدِيقَتُهَا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garden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father’s clinic?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our house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room is next to Hudā’s?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grandmother’s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two brothers’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-hā in ṭālibātuhā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Hudā</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garden is the most beautiful place?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twins’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father’s clinic?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city centre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our house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ʿIyādatuhu qarībatun min baytinā.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room is next to Hudā’s?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grandmother’s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two brothers’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Ghurfatuhumā: -humā = their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-hā in ṭālibātuhā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Hudā</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mother’s students.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garden is the most beautiful place?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grandmother’s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twins’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Ḥadīqatuhā — jaddatī.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لِمَنْ هَذَا؟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أَغْرَاضَ صَدِيقِكَ.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 عَائِلَتِكَ وَأَغْرَاضَكُمْ.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كِتَابِي،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حَقِيبَتُهُ ___ ، وَكُتُبُهُ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بَيْتُنَا ___ ، وَغُرْفَتِي ___ ، وَسَيَّارَتُنَا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هَذِهِ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this your bag?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لَيْسَتْ حَقِيبَتِي؛ هَذِهِ حَقِيبَةُ أُخْتِي. حَقِيبَتِي زَرْقَاءُ، وَكُتُبِي فِيهَا.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No, it is not my bag; this is my sister’s bag. My bag is blue, and my books are in it.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family: who they are and one thing each owns.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abī … · sayyāratuhu … · ummī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 owners and two adjective contrasts.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baytunā l-jadīdu · baytunā jadīdun.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belongings profile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Make an owner key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bag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مُعَلِّمُهُمْ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Their teacher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وَضَعْتُ كُتُبِي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put my books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عَائِلَتُكِ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Your (f.) family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غُرْفَتُهُ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room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is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كِتَابِي  ·  بَيْتُنَا  ·  غُرْفَتِي  ·  سَيَّارَتُهُ  ·  حَقِيبَتُهَا  ·  مُعَلِّمُهُمْ  ·  عَائِلَتُكِ  ·  كَبِيرٌ  ·  جَدِيدَةٌ  ·  قَدِيمَةٌ  ·  مُرَتَّبَةٌ  ·  جَمِيلٌ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belongings and relationships profile (100–120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eight different possessive endings.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tāʾ marbūṭa nouns with endings.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possessed form (nūn dropped).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sound plural possessed form.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adjective contrasts (his new book / his book is new).</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عَائِلَتِي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أَخَوَايَ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two brothers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جَارُنَا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neighbour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do you (all) think?</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بَيْتِنَا خَمْسَةُ أَشْخَاصٍ. أَبِي مُهَنْدِسٌ، وَمَكْتَبُهُ فِي وَسَطِ الْمَدِينَةِ. أُمِّي خَيَّاطَةٌ، وَآلَةُ خِيَاطَتِهَا فِي غُرْفَةِ الْجُلُوسِ. أُخْتِي الْكَبِيرَةُ طَالِبَةٌ فِي الْجَامِعَةِ، وَكُتُبُهَا فِي كُلِّ مَكَانٍ! أَخَوَايَ الصَّغِيرَانِ يَلْعَبَانِ كُرَةَ الْقَدَمِ، وَكُرَتُهُمَا دَائِمًا فِي الْحَدِيقَةِ. أَمَّا أَنَا فَغُرْفَتِي صَغِيرَةٌ، لَكِنَّ نَافِذَتَهَا كَبِيرَةٌ. مَكْتَبِي بِجَانِبِ النَّافِذَةِ، وَعَلَيْهِ حَاسُوبِي وَدَفَاتِرِي. سَيَّارَتُنَا الْقَدِيمَةُ بَيْضَاءُ، وَجَارُنَا يُصْلِحُهَا لَنَا أَحْيَانًا. عَائِلَتُنَا صَغِيرَةٌ، لَكِنَّ قُلُوبَنَا كَبِيرَةٌ. مَا رَأْيُكُمْ فِي عَائِلَتِي؟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five people in our house. My father is an engineer, and his office is in the city centre. My mother is a dressmaker, and her sewing machine is in the living room. My older sister is a university student, and her books are everywhere! My two little brothers play football, and their ball is always in the garden. As for me, my room is small, but its window is big. My desk is next to the window, and on it are my computer and my exercise books. Our old car is white, and our neighbour sometimes repairs it for us. Our family is small, but our hearts are big. What do you think of my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-ī (my)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-hā on a tāʾ marbūṭa 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-humā (their two)</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possessed noun + al- adjective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ending matches the owner.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opened every tāʾ marbūṭa before an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noun has al- AND an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Objects: -a before the ending; after prepositions: -i.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nūn: kitābāhu, muʿallimūhum.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house is new”.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بَيْتُنَا جَدِيدٌ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بَيْتُنَا الْجَدِيدُ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الْبَيْتُنَا جَدِيدٌ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two bags” (to one female, as a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حَقِيبَتَانِكِ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حَقِيبَتَاكِ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حَقِيبَتَيْكِ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looked at his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نَظَرْتُ إِلَى كِتَابِهِ.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نَظَرْتُ إِلَى كِتَابُهُ.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نَظَرْتُ إِلَى الْكِتَابِهِ.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house is new”.</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بَيْتُنَا جَدِيدٌ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بَيْتُنَا الْجَدِيدُ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الْبَيْتُنَا جَدِيدٌ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Predicate: indefinite jadīdun.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two bags” (to one female, as a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حَقِيبَتَانِكِ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حَقِيبَتَاكِ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حَقِيبَتَيْكِ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Nūn dropped: ḥaqībatāki.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looked at his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نَظَرْتُ إِلَى كِتَابِهِ.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نَظَرْتُ إِلَى كِتَابُهُ.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نَظَرْتُ إِلَى الْكِتَابِهِ.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ilā: kitābihi.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GM-POS-01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GM-POS-02: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Possessives · GM-POS-01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GM-POS-02 · Possessive Iḍāfa Construction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 الطَّالِبِ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بَابُ الْبَيْتِ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door of the house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مُدِيرُ الْمَدْرَسَةِ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head of the school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سَيَّارَةُ أَبِي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father’s car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مِفْتَاحُ السَّيَّارَةِ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car key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Kitābuhu = his book. How would you say “Aḥmad’s book” with two nouns side by side?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كِتَابُهُ = كِتَابُ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my / her / our forms for six nouns (three with tāʾ marbūṭa).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sentences: subject, object, after a preposition, with an adjective.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belongings profile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GM-POS-01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GM-POS-02 · Possessive Iḍāfa Construction</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تَرْكِيبُ الْإِضَافَةِ لِلْمِلْكِيَّةِ وَالِارْتِبَاطِ</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 owner ending = one word (kitābī, kitābuhā, kitābunā) · the ending shows the owner · tāʾ marbūṭa opens to t before an ending · never al- + ending · the case vowel stays: kitābuhu / kitābahu / kitābihi · duals and -ūna plurals drop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GM-POS-01 · Possessive Endings</dc:title>
  <dc:subject>PptxGenJS Presentation</dc:subject>
  <dc:creator>Al Madina Online School · Arabic Department</dc:creator>
  <cp:lastModifiedBy>Al Madina Online School · Arabic Department</cp:lastModifiedBy>
  <cp:revision>1</cp:revision>
  <dcterms:created xsi:type="dcterms:W3CDTF">2026-10-11T06:42:26Z</dcterms:created>
  <dcterms:modified xsi:type="dcterms:W3CDTF">2026-10-11T06:42:26Z</dcterms:modified>
</cp:coreProperties>
</file>