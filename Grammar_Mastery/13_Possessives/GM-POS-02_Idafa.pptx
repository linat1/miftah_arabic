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Possessives › GM-POS-02 (“Possessive Iḍāfa Construction”).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build a two-noun iḍāfa — first noun bare (no al-, no tanwīn), second noun genitive (bābu l-madrasati, kitābu Laylā). Develop: definite vs indefinite chains (kitābu ṭ-ṭālibi / kitābu ṭālibin), the first noun’s case from its sentence role (fataḥtu bāba l-madrasati), three-noun chains. Stretch: dual and plural construct forms (ṭālibā l-madrasati, muʿallimū l-madrasati) and adjective scope.
• Website precision: the first noun is not “indefinite” — it is in the construct state (bare); the whole phrase is definite or indefinite according to the FINAL possessor.
• Colour code: teal = first noun, purple = possessor. Builds directly on GM-CASE-03 (genitive) and GM-POS-01 (nūn deletion before suffixes).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Iḍāfa Starter — GM-CASE-03 genitive and GM-POS-01 possessive endings.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First noun: bare (no al-, no tanwīn). Last noun: genitive — and it decides definiteness.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two-part architecture” + “Names, suffixes and established expressions”. Precision: the first noun is bare (construct state), not “indefinite”.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“The first noun changes case; the possessor stays genitive” (rows 4–5 from the website Mastery and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(2 min) — website “Longer iḍāfa chains”. Read right to left, then translate left to right: keys ← car ← father.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website “Dual and sound masculine plural in iḍāfa”. Connected speech: ṭālibayi l-madrasati (helping kasra).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“Adjective scope” (rows 4–5 from the website Mastery). Recycles GM-CASE-03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mini-checks: definiteness and case across the chain.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reading lines, extended. Website question: why does al-mawhūbi describe the male student, not the school? (masculine,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 first noun looks the same in every card — only the last noun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The first noun looks the same in every card — only the last noun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mini-checks: case across the chain and construct number forms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(teacher-written tour). Read it aloud once while students follow; then they hunt for today’s grammar.
Task: Website: bracket each iḍāfa chain and underline every possessor. Explain which noun al-kabīratu describes.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tour for the website reading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Sequence: ● 10s think → ↔ 45s rehearse aloud with mic muted → ◎ two named students on open mic (warned in advance) → + ? the class types one follow-up in chat → ↺ one student summarises.
Routes: Core uses the Core prompt and stem; Develop the Develop prompt; Stretch the last prompt.
Website: give a 60-second tour with eight iḍāfa expressions, including one chain of three nouns.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110–130 Arabic words describing a school, home, workplace, town or fictional venue.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(GM-POS-03 · Possession with ʿinda and li-) will spend class time USING this language, so students prepare it tonight — short, simple, easy to access (school guidance: “Simple, Short, Interesting, Relevant, Easy to access”). The five words prepare GM-POS-03 (website: possession with ʿinda and li-).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POSSESSIVES  ·  GM-POS-02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GM-POS-02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00" b="1" dirty="0">
                <a:solidFill>
                  <a:srgbClr val="FFFFFF"/>
                </a:solidFill>
                <a:latin typeface="Cambria" pitchFamily="34" charset="0"/>
                <a:cs typeface="Amiri" pitchFamily="2" charset="-78"/>
              </a:rPr>
              <a:t>Possessive Iḍāfa Construction</a:t>
            </a:r>
            <a:endParaRPr lang="en-US" sz="36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تَرْكِيبُ الْإِضَافَةِ لِلْمِلْكِيَّةِ وَالِارْتِبَاطِ</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Arabic links two nouns with no apostrophe: bābu l-madrasati (the school door), kitābu ṭālibin (a student’s book). The first noun is bare — no al-, no tanwīn; the last noun is genitive and decides whether the whole phrase is definite.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GM-POS-02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Possessives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Architecture; first-noun case; chains; dual and plural; adjective scope.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the iḍāfa; definite or indefinite?;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GM-POS-03.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school door”?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الْبَابُ الْمَدْرَسَةِ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always true of the second noun in an iḍāfa?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genitive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must take </a:t>
            </a:r>
            <a:pPr algn="l" indent="0" marL="0">
              <a:buNone/>
            </a:pPr>
            <a:r>
              <a:rPr lang="ar-SA" altLang="en-US" sz="1650" dirty="0">
                <a:solidFill>
                  <a:srgbClr val="1F2A37"/>
                </a:solidFill>
                <a:latin typeface="Amiri" pitchFamily="2" charset="-78"/>
                <a:ea typeface="Amiri" pitchFamily="2" charset="-78"/>
                <a:cs typeface="Amiri" pitchFamily="2" charset="-78"/>
              </a:rPr>
              <a:t>الـ</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accusative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the first noun take tanwīn?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always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when the second noun is definite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indefinite?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مَدْرَسَتِنَا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مَدْرَسَةٍ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“Laylā’s book”.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لَيْلَى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 لَيْلَى</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لَيْلَى</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school door”?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الْبَابُ الْمَدْرَسَةِ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بَابُ الْمَدْرَسَةِ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الْمَدْرَسَةِ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Bare first noun + genitive second noun.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always true of the second noun in an iḍāfa?</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genitive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must take </a:t>
            </a:r>
            <a:pPr algn="l" indent="0" marL="0">
              <a:buNone/>
            </a:pPr>
            <a:r>
              <a:rPr lang="ar-SA" altLang="en-US" sz="1650" dirty="0">
                <a:solidFill>
                  <a:srgbClr val="9AA1AB"/>
                </a:solidFill>
                <a:latin typeface="Amiri" pitchFamily="2" charset="-78"/>
                <a:ea typeface="Amiri" pitchFamily="2" charset="-78"/>
                <a:cs typeface="Amiri" pitchFamily="2" charset="-78"/>
              </a:rPr>
              <a:t>الـ</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accusative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second noun is always genitive.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the first noun take tanwīn?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always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when the second noun is definite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tanwīn on the first noun.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indefinite?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الْمَدْرَسَةِ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مَدْرَسَتِنَا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بَابُ مَدْرَسَةٍ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indefinite last noun → indefinite phrase.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“Laylā’s book”.</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 لَيْلَى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الْكِتَابُ لَيْلَى</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 لَيْلَى</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name can be the possessor.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First noun: bare (no al-, no tanwīn). Last noun: genitive — and it decides definiteness.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بَابُ</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7B3FA0"/>
                </a:solidFill>
                <a:latin typeface="Amiri" pitchFamily="2" charset="-78"/>
                <a:ea typeface="Amiri" pitchFamily="2" charset="-78"/>
                <a:cs typeface="Amiri" pitchFamily="2" charset="-78"/>
              </a:rPr>
              <a:t>الْمَدْرَسَةِ</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كِتَابُ</a:t>
            </a:r>
            <a:pPr rtl="1" algn="ctr" indent="0" marL="0">
              <a:buNone/>
            </a:pPr>
            <a:r>
              <a:rPr lang="ar-SA" altLang="en-US" sz="2400" b="1" dirty="0">
                <a:solidFill>
                  <a:srgbClr val="1B3B6F"/>
                </a:solidFill>
                <a:latin typeface="Amiri" pitchFamily="2" charset="-78"/>
                <a:cs typeface="Amiri" pitchFamily="2" charset="-78"/>
              </a:rPr>
              <a:t> </a:t>
            </a:r>
            <a:pPr rtl="1" algn="ctr" indent="0" marL="0">
              <a:buNone/>
            </a:pPr>
            <a:r>
              <a:rPr lang="ar-SA" altLang="en-US" sz="2400" b="1" dirty="0">
                <a:solidFill>
                  <a:srgbClr val="7B3FA0"/>
                </a:solidFill>
                <a:latin typeface="Amiri" pitchFamily="2" charset="-78"/>
                <a:ea typeface="Amiri" pitchFamily="2" charset="-78"/>
                <a:cs typeface="Amiri" pitchFamily="2" charset="-78"/>
              </a:rPr>
              <a:t>طَالِبٍ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a two-noun iḍāfa.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it definite or indefinite.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the first noun its sentence case.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Build chains and show adjective scope.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bābu l-madrasati.</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never put al- or tanwīn on the first noun.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kitābu ṭālibin and fataḥtu bāba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build three-noun chains.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muʿallimū l-madrasati.</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110–130 words with ten iḍāfas.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الْإِضَافَةُ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iḍāfa: noun + noun</a:t>
            </a:r>
            <a:endParaRPr lang="en-US" sz="1350" dirty="0"/>
          </a:p>
          <a:p>
            <a:pPr indent="0" marL="0">
              <a:buNone/>
            </a:pPr>
            <a:r>
              <a:rPr lang="en-US" sz="1100" i="1" dirty="0">
                <a:solidFill>
                  <a:srgbClr val="5A6472"/>
                </a:solidFill>
                <a:latin typeface="Calibri" pitchFamily="34" charset="0"/>
                <a:cs typeface="Amiri" pitchFamily="2" charset="-78"/>
              </a:rPr>
              <a:t>al-i-ḍā-fa-tu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بَابُ الْمَدْرَسَةِ</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الْمُضَافُ</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 noun (bare)</a:t>
            </a:r>
            <a:endParaRPr lang="en-US" sz="1350" dirty="0"/>
          </a:p>
          <a:p>
            <a:pPr indent="0" marL="0">
              <a:buNone/>
            </a:pPr>
            <a:r>
              <a:rPr lang="en-US" sz="1100" i="1" dirty="0">
                <a:solidFill>
                  <a:srgbClr val="5A6472"/>
                </a:solidFill>
                <a:latin typeface="Calibri" pitchFamily="34" charset="0"/>
                <a:cs typeface="Amiri" pitchFamily="2" charset="-78"/>
              </a:rPr>
              <a:t>al-mu-ḍā-fu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بَابُ</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الْمُضَافُ إِلَيْهِ</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possessor (genitive)</a:t>
            </a:r>
            <a:endParaRPr lang="en-US" sz="1350" dirty="0"/>
          </a:p>
          <a:p>
            <a:pPr indent="0" marL="0">
              <a:buNone/>
            </a:pPr>
            <a:r>
              <a:rPr lang="en-US" sz="1100" i="1" dirty="0">
                <a:solidFill>
                  <a:srgbClr val="5A6472"/>
                </a:solidFill>
                <a:latin typeface="Calibri" pitchFamily="34" charset="0"/>
                <a:cs typeface="Amiri" pitchFamily="2" charset="-78"/>
              </a:rPr>
              <a:t>al-mu-ḍā-fu i-lay-hi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الْمَدْرَسَةِ</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السِّلْسِلَةُ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chain of three or more</a:t>
            </a:r>
            <a:endParaRPr lang="en-US" sz="1350" dirty="0"/>
          </a:p>
          <a:p>
            <a:pPr indent="0" marL="0">
              <a:buNone/>
            </a:pPr>
            <a:r>
              <a:rPr lang="en-US" sz="1100" i="1" dirty="0">
                <a:solidFill>
                  <a:srgbClr val="5A6472"/>
                </a:solidFill>
                <a:latin typeface="Calibri" pitchFamily="34" charset="0"/>
                <a:cs typeface="Amiri" pitchFamily="2" charset="-78"/>
              </a:rPr>
              <a:t>as-sil-si-la-tu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بَابُ فَصْلِ الْمَدْرَسَةِ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مَعْرِفَةٌ · نَكِرَةٌ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definite · indefinite</a:t>
            </a:r>
            <a:endParaRPr lang="en-US" sz="1350" dirty="0"/>
          </a:p>
          <a:p>
            <a:pPr indent="0" marL="0">
              <a:buNone/>
            </a:pPr>
            <a:r>
              <a:rPr lang="en-US" sz="1100" i="1" dirty="0">
                <a:solidFill>
                  <a:srgbClr val="5A6472"/>
                </a:solidFill>
                <a:latin typeface="Calibri" pitchFamily="34" charset="0"/>
                <a:cs typeface="Amiri" pitchFamily="2" charset="-78"/>
              </a:rPr>
              <a:t>maʿ-ri-fa-tun · na-ki-ra-tun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كِتَابُ الطَّالِبِ · كِتَابُ طَالِبٍ</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حَذْفُ النُّونِ</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dropping the nūn</a:t>
            </a:r>
            <a:endParaRPr lang="en-US" sz="1350" dirty="0"/>
          </a:p>
          <a:p>
            <a:pPr indent="0" marL="0">
              <a:buNone/>
            </a:pPr>
            <a:r>
              <a:rPr lang="en-US" sz="1100" i="1" dirty="0">
                <a:solidFill>
                  <a:srgbClr val="5A6472"/>
                </a:solidFill>
                <a:latin typeface="Calibri" pitchFamily="34" charset="0"/>
                <a:cs typeface="Amiri" pitchFamily="2" charset="-78"/>
              </a:rPr>
              <a:t>ḥadh-fu an-nū-ni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مُعَلِّمُو الْمَدْرَسَةِ</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TWO-PART ARCHITECTURE (WEBSITE TABLES)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last noun decides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الْمُضَافُ وَالْمُضَافُ إِلَيْهِ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040112" y="1810512"/>
            <a:ext cx="1618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 is</a:t>
            </a:r>
            <a:endParaRPr lang="en-US" sz="1100" dirty="0"/>
          </a:p>
        </p:txBody>
      </p:sp>
      <p:sp>
        <p:nvSpPr>
          <p:cNvPr id="17" name="Text 14"/>
          <p:cNvSpPr txBox="1"/>
          <p:nvPr/>
        </p:nvSpPr>
        <p:spPr>
          <a:xfrm>
            <a:off x="69311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345643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Iḍāfa</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Final possessor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076688" y="2267712"/>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a:t>
            </a:r>
            <a:endParaRPr lang="en-US" sz="1100" dirty="0"/>
          </a:p>
        </p:txBody>
      </p:sp>
      <p:sp>
        <p:nvSpPr>
          <p:cNvPr id="22" name="Text 19"/>
          <p:cNvSpPr txBox="1"/>
          <p:nvPr/>
        </p:nvSpPr>
        <p:spPr>
          <a:xfrm>
            <a:off x="696772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book</a:t>
            </a:r>
            <a:endParaRPr lang="en-US" sz="1100" dirty="0"/>
          </a:p>
        </p:txBody>
      </p:sp>
      <p:sp>
        <p:nvSpPr>
          <p:cNvPr id="23" name="Text 20"/>
          <p:cNvSpPr txBox="1"/>
          <p:nvPr/>
        </p:nvSpPr>
        <p:spPr>
          <a:xfrm>
            <a:off x="3474720" y="2267712"/>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الطَّالِبِ</a:t>
            </a:r>
            <a:endParaRPr lang="ar-SA" sz="2400" dirty="0"/>
          </a:p>
        </p:txBody>
      </p:sp>
      <p:sp>
        <p:nvSpPr>
          <p:cNvPr id="24" name="Text 21"/>
          <p:cNvSpPr txBox="1"/>
          <p:nvPr/>
        </p:nvSpPr>
        <p:spPr>
          <a:xfrm>
            <a:off x="56692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 noun</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076688" y="3004718"/>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a:t>
            </a:r>
            <a:endParaRPr lang="en-US" sz="1100" dirty="0"/>
          </a:p>
        </p:txBody>
      </p:sp>
      <p:sp>
        <p:nvSpPr>
          <p:cNvPr id="29" name="Text 26"/>
          <p:cNvSpPr txBox="1"/>
          <p:nvPr/>
        </p:nvSpPr>
        <p:spPr>
          <a:xfrm>
            <a:off x="696772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student’s book</a:t>
            </a:r>
            <a:endParaRPr lang="en-US" sz="1100" dirty="0"/>
          </a:p>
        </p:txBody>
      </p:sp>
      <p:sp>
        <p:nvSpPr>
          <p:cNvPr id="30" name="Text 27"/>
          <p:cNvSpPr txBox="1"/>
          <p:nvPr/>
        </p:nvSpPr>
        <p:spPr>
          <a:xfrm>
            <a:off x="3474720" y="300471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طَالِبٍ</a:t>
            </a:r>
            <a:endParaRPr lang="ar-SA" sz="2400" dirty="0"/>
          </a:p>
        </p:txBody>
      </p:sp>
      <p:sp>
        <p:nvSpPr>
          <p:cNvPr id="31" name="Text 28"/>
          <p:cNvSpPr txBox="1"/>
          <p:nvPr/>
        </p:nvSpPr>
        <p:spPr>
          <a:xfrm>
            <a:off x="56692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noun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076688" y="3741725"/>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a:t>
            </a:r>
            <a:endParaRPr lang="en-US" sz="1100" dirty="0"/>
          </a:p>
        </p:txBody>
      </p:sp>
      <p:sp>
        <p:nvSpPr>
          <p:cNvPr id="36" name="Text 33"/>
          <p:cNvSpPr txBox="1"/>
          <p:nvPr/>
        </p:nvSpPr>
        <p:spPr>
          <a:xfrm>
            <a:off x="696772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Laylā’s book</a:t>
            </a:r>
            <a:endParaRPr lang="en-US" sz="1100" dirty="0"/>
          </a:p>
        </p:txBody>
      </p:sp>
      <p:sp>
        <p:nvSpPr>
          <p:cNvPr id="37" name="Text 34"/>
          <p:cNvSpPr txBox="1"/>
          <p:nvPr/>
        </p:nvSpPr>
        <p:spPr>
          <a:xfrm>
            <a:off x="3474720" y="3741725"/>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لَيْلَى</a:t>
            </a:r>
            <a:endParaRPr lang="ar-SA" sz="2400" dirty="0"/>
          </a:p>
        </p:txBody>
      </p:sp>
      <p:sp>
        <p:nvSpPr>
          <p:cNvPr id="38" name="Text 35"/>
          <p:cNvSpPr txBox="1"/>
          <p:nvPr/>
        </p:nvSpPr>
        <p:spPr>
          <a:xfrm>
            <a:off x="56692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proper name</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10076688" y="4478731"/>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a:t>
            </a:r>
            <a:endParaRPr lang="en-US" sz="1100" dirty="0"/>
          </a:p>
        </p:txBody>
      </p:sp>
      <p:sp>
        <p:nvSpPr>
          <p:cNvPr id="43" name="Text 40"/>
          <p:cNvSpPr txBox="1"/>
          <p:nvPr/>
        </p:nvSpPr>
        <p:spPr>
          <a:xfrm>
            <a:off x="696772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friend’s book</a:t>
            </a:r>
            <a:endParaRPr lang="en-US" sz="1100" dirty="0"/>
          </a:p>
        </p:txBody>
      </p:sp>
      <p:sp>
        <p:nvSpPr>
          <p:cNvPr id="44" name="Text 41"/>
          <p:cNvSpPr txBox="1"/>
          <p:nvPr/>
        </p:nvSpPr>
        <p:spPr>
          <a:xfrm>
            <a:off x="3474720" y="4478731"/>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صَدِيقِي</a:t>
            </a:r>
            <a:endParaRPr lang="ar-SA" sz="2400" dirty="0"/>
          </a:p>
        </p:txBody>
      </p:sp>
      <p:sp>
        <p:nvSpPr>
          <p:cNvPr id="45" name="Text 42"/>
          <p:cNvSpPr txBox="1"/>
          <p:nvPr/>
        </p:nvSpPr>
        <p:spPr>
          <a:xfrm>
            <a:off x="56692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noun + suffix</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10076688" y="5215738"/>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a:t>
            </a:r>
            <a:endParaRPr lang="en-US" sz="1100" dirty="0"/>
          </a:p>
        </p:txBody>
      </p:sp>
      <p:sp>
        <p:nvSpPr>
          <p:cNvPr id="48" name="Text 45"/>
          <p:cNvSpPr txBox="1"/>
          <p:nvPr/>
        </p:nvSpPr>
        <p:spPr>
          <a:xfrm>
            <a:off x="696772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brother’s friend’s book</a:t>
            </a:r>
            <a:endParaRPr lang="en-US" sz="1100" dirty="0"/>
          </a:p>
        </p:txBody>
      </p:sp>
      <p:sp>
        <p:nvSpPr>
          <p:cNvPr id="49" name="Text 46"/>
          <p:cNvSpPr txBox="1"/>
          <p:nvPr/>
        </p:nvSpPr>
        <p:spPr>
          <a:xfrm>
            <a:off x="3474720" y="5215738"/>
            <a:ext cx="32918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صَدِيقِ أَخِي</a:t>
            </a:r>
            <a:endParaRPr lang="ar-SA" sz="2400" dirty="0"/>
          </a:p>
        </p:txBody>
      </p:sp>
      <p:sp>
        <p:nvSpPr>
          <p:cNvPr id="50" name="Text 47"/>
          <p:cNvSpPr txBox="1"/>
          <p:nvPr/>
        </p:nvSpPr>
        <p:spPr>
          <a:xfrm>
            <a:off x="56692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longer chain</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rules: the FIRST noun (muḍāf) takes no al- and no tanwīn — its case comes from the sentence. The SECOND noun (muḍāf ilayh) is always genitive and may be definite or indefinite.</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 PART 2 · THE FIRST NOUN CHANGES CASE (WEBSITE TABLE) · DEVELOP</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unit inside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إِعْرَابُ الْمُضَافِ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Case pattern</a:t>
            </a:r>
            <a:endParaRPr lang="en-US" sz="1100" dirty="0"/>
          </a:p>
        </p:txBody>
      </p:sp>
      <p:sp>
        <p:nvSpPr>
          <p:cNvPr id="17" name="Text 14"/>
          <p:cNvSpPr txBox="1"/>
          <p:nvPr/>
        </p:nvSpPr>
        <p:spPr>
          <a:xfrm>
            <a:off x="30906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Role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247888" y="2267712"/>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-u + second -i</a:t>
            </a:r>
            <a:endParaRPr lang="en-US" sz="1100" dirty="0"/>
          </a:p>
        </p:txBody>
      </p:sp>
      <p:sp>
        <p:nvSpPr>
          <p:cNvPr id="21" name="Text 18"/>
          <p:cNvSpPr txBox="1"/>
          <p:nvPr/>
        </p:nvSpPr>
        <p:spPr>
          <a:xfrm>
            <a:off x="3108960" y="2267712"/>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بَابُ الْمَدْرَسَةِ مَفْتُوحٌ.</a:t>
            </a:r>
            <a:endParaRPr lang="ar-SA" sz="2200" dirty="0"/>
          </a:p>
        </p:txBody>
      </p:sp>
      <p:sp>
        <p:nvSpPr>
          <p:cNvPr id="22" name="Text 19"/>
          <p:cNvSpPr txBox="1"/>
          <p:nvPr/>
        </p:nvSpPr>
        <p:spPr>
          <a:xfrm>
            <a:off x="566928" y="2267712"/>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topic / subject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247888" y="300471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-a + second -i</a:t>
            </a:r>
            <a:endParaRPr lang="en-US" sz="1100" dirty="0"/>
          </a:p>
        </p:txBody>
      </p:sp>
      <p:sp>
        <p:nvSpPr>
          <p:cNvPr id="27" name="Text 24"/>
          <p:cNvSpPr txBox="1"/>
          <p:nvPr/>
        </p:nvSpPr>
        <p:spPr>
          <a:xfrm>
            <a:off x="3108960" y="3004718"/>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فَتَحْتُ بَابَ الْمَدْرَسَةِ.</a:t>
            </a:r>
            <a:endParaRPr lang="ar-SA" sz="2200" dirty="0"/>
          </a:p>
        </p:txBody>
      </p:sp>
      <p:sp>
        <p:nvSpPr>
          <p:cNvPr id="28" name="Text 25"/>
          <p:cNvSpPr txBox="1"/>
          <p:nvPr/>
        </p:nvSpPr>
        <p:spPr>
          <a:xfrm>
            <a:off x="566928" y="300471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 object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247888" y="3741725"/>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-i + second -i</a:t>
            </a:r>
            <a:endParaRPr lang="en-US" sz="1100" dirty="0"/>
          </a:p>
        </p:txBody>
      </p:sp>
      <p:sp>
        <p:nvSpPr>
          <p:cNvPr id="33" name="Text 30"/>
          <p:cNvSpPr txBox="1"/>
          <p:nvPr/>
        </p:nvSpPr>
        <p:spPr>
          <a:xfrm>
            <a:off x="3108960" y="3741725"/>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وَقَفْتُ عِنْدَ بَابِ الْمَدْرَسَةِ.</a:t>
            </a:r>
            <a:endParaRPr lang="ar-SA" sz="2200" dirty="0"/>
          </a:p>
        </p:txBody>
      </p:sp>
      <p:sp>
        <p:nvSpPr>
          <p:cNvPr id="34" name="Text 31"/>
          <p:cNvSpPr txBox="1"/>
          <p:nvPr/>
        </p:nvSpPr>
        <p:spPr>
          <a:xfrm>
            <a:off x="566928" y="3741725"/>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 locator</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247888" y="4478731"/>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-a + second -i</a:t>
            </a:r>
            <a:endParaRPr lang="en-US" sz="1100" dirty="0"/>
          </a:p>
        </p:txBody>
      </p:sp>
      <p:sp>
        <p:nvSpPr>
          <p:cNvPr id="37" name="Text 34"/>
          <p:cNvSpPr txBox="1"/>
          <p:nvPr/>
        </p:nvSpPr>
        <p:spPr>
          <a:xfrm>
            <a:off x="3108960" y="4478731"/>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زُرْتُ مَكْتَبَةَ مَدْرَسَتِنَا.</a:t>
            </a:r>
            <a:endParaRPr lang="ar-SA" sz="2200" dirty="0"/>
          </a:p>
        </p:txBody>
      </p:sp>
      <p:sp>
        <p:nvSpPr>
          <p:cNvPr id="38" name="Text 35"/>
          <p:cNvSpPr txBox="1"/>
          <p:nvPr/>
        </p:nvSpPr>
        <p:spPr>
          <a:xfrm>
            <a:off x="566928" y="4478731"/>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 object</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247888" y="521573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-i + second -i</a:t>
            </a:r>
            <a:endParaRPr lang="en-US" sz="1100" dirty="0"/>
          </a:p>
        </p:txBody>
      </p:sp>
      <p:sp>
        <p:nvSpPr>
          <p:cNvPr id="41" name="Text 38"/>
          <p:cNvSpPr txBox="1"/>
          <p:nvPr/>
        </p:nvSpPr>
        <p:spPr>
          <a:xfrm>
            <a:off x="3108960" y="5215738"/>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دَرَسْتُ فِي مَكْتَبَةِ الْمَدِينَةِ.</a:t>
            </a:r>
            <a:endParaRPr lang="ar-SA" sz="2200" dirty="0"/>
          </a:p>
        </p:txBody>
      </p:sp>
      <p:sp>
        <p:nvSpPr>
          <p:cNvPr id="42" name="Text 39"/>
          <p:cNvSpPr txBox="1"/>
          <p:nvPr/>
        </p:nvSpPr>
        <p:spPr>
          <a:xfrm>
            <a:off x="566928" y="521573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fī</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genitive of the second noun belongs to the iḍāfa; the case of the first noun belongs to the sentence around it.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LONGER IḌĀFA CHAINS (WEBSITE MODELS)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from the 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سِلْسِلَةُ الْإِضَافَةِ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Last noun</a:t>
            </a:r>
            <a:endParaRPr lang="en-US" sz="1100" dirty="0"/>
          </a:p>
        </p:txBody>
      </p:sp>
      <p:sp>
        <p:nvSpPr>
          <p:cNvPr id="17" name="Text 14"/>
          <p:cNvSpPr txBox="1"/>
          <p:nvPr/>
        </p:nvSpPr>
        <p:spPr>
          <a:xfrm>
            <a:off x="49194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4242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Chain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96528" y="2267712"/>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a:t>
            </a:r>
            <a:endParaRPr lang="en-US" sz="1100" dirty="0"/>
          </a:p>
        </p:txBody>
      </p:sp>
      <p:sp>
        <p:nvSpPr>
          <p:cNvPr id="21" name="Text 18"/>
          <p:cNvSpPr txBox="1"/>
          <p:nvPr/>
        </p:nvSpPr>
        <p:spPr>
          <a:xfrm>
            <a:off x="4956048" y="2267712"/>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door of the school’s classroom</a:t>
            </a:r>
            <a:endParaRPr lang="en-US" sz="1100" dirty="0"/>
          </a:p>
        </p:txBody>
      </p:sp>
      <p:sp>
        <p:nvSpPr>
          <p:cNvPr id="22" name="Text 19"/>
          <p:cNvSpPr txBox="1"/>
          <p:nvPr/>
        </p:nvSpPr>
        <p:spPr>
          <a:xfrm>
            <a:off x="548640" y="2267712"/>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فَصْلِ الْمَدْرَسَةِ</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96528" y="3054096"/>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a:t>
            </a:r>
            <a:endParaRPr lang="en-US" sz="1100" dirty="0"/>
          </a:p>
        </p:txBody>
      </p:sp>
      <p:sp>
        <p:nvSpPr>
          <p:cNvPr id="27" name="Text 24"/>
          <p:cNvSpPr txBox="1"/>
          <p:nvPr/>
        </p:nvSpPr>
        <p:spPr>
          <a:xfrm>
            <a:off x="4956048" y="3054096"/>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manager of the company office</a:t>
            </a:r>
            <a:endParaRPr lang="en-US" sz="1100" dirty="0"/>
          </a:p>
        </p:txBody>
      </p:sp>
      <p:sp>
        <p:nvSpPr>
          <p:cNvPr id="28" name="Text 25"/>
          <p:cNvSpPr txBox="1"/>
          <p:nvPr/>
        </p:nvSpPr>
        <p:spPr>
          <a:xfrm>
            <a:off x="548640" y="3054096"/>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مُدِيرُ مَكْتَبِ الشَّرِكَةِ</a:t>
            </a:r>
            <a:endParaRPr lang="ar-SA" sz="24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796528" y="3840480"/>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suffix → definite</a:t>
            </a:r>
            <a:endParaRPr lang="en-US" sz="1100" dirty="0"/>
          </a:p>
        </p:txBody>
      </p:sp>
      <p:sp>
        <p:nvSpPr>
          <p:cNvPr id="31" name="Text 28"/>
          <p:cNvSpPr txBox="1"/>
          <p:nvPr/>
        </p:nvSpPr>
        <p:spPr>
          <a:xfrm>
            <a:off x="4956048" y="3840480"/>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father’s car keys</a:t>
            </a:r>
            <a:endParaRPr lang="en-US" sz="1100" dirty="0"/>
          </a:p>
        </p:txBody>
      </p:sp>
      <p:sp>
        <p:nvSpPr>
          <p:cNvPr id="32" name="Text 29"/>
          <p:cNvSpPr txBox="1"/>
          <p:nvPr/>
        </p:nvSpPr>
        <p:spPr>
          <a:xfrm>
            <a:off x="548640" y="3840480"/>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مَفَاتِيحُ سَيَّارَةِ أَبِي</a:t>
            </a:r>
            <a:endParaRPr lang="ar-SA" sz="2400" dirty="0"/>
          </a:p>
        </p:txBody>
      </p:sp>
      <p:sp>
        <p:nvSpPr>
          <p:cNvPr id="33" name="Shape 3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8796528" y="4626864"/>
            <a:ext cx="28620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-īna</a:t>
            </a:r>
            <a:endParaRPr lang="en-US" sz="1100" dirty="0"/>
          </a:p>
        </p:txBody>
      </p:sp>
      <p:sp>
        <p:nvSpPr>
          <p:cNvPr id="37" name="Text 34"/>
          <p:cNvSpPr txBox="1"/>
          <p:nvPr/>
        </p:nvSpPr>
        <p:spPr>
          <a:xfrm>
            <a:off x="4956048" y="4626864"/>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teachers’ training programme</a:t>
            </a:r>
            <a:endParaRPr lang="en-US" sz="1100" dirty="0"/>
          </a:p>
        </p:txBody>
      </p:sp>
      <p:sp>
        <p:nvSpPr>
          <p:cNvPr id="38" name="Text 35"/>
          <p:cNvSpPr txBox="1"/>
          <p:nvPr/>
        </p:nvSpPr>
        <p:spPr>
          <a:xfrm>
            <a:off x="548640" y="4626864"/>
            <a:ext cx="420624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بَرْنَامَجُ تَدْرِيبِ الْمُعَلِّمِينَ</a:t>
            </a:r>
            <a:endParaRPr lang="ar-SA" sz="24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method: decide the final possessor first and put it in the genitive; then add each noun in front of it — bare, no al-, no tanwīn. Every middle noun is genitive AND bare.</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 PART 4 · DUAL AND PLURAL FIRST NOUNS (WEBSITE TABLE) · STRETCH</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nūn drops — again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الْمُثَنَّى وَالْجَمْعُ مُضَافَيْنِ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2735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Construct</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Independent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669280" y="2267712"/>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طَالِبَا الْمَدْرَسَةِ</a:t>
            </a:r>
            <a:endParaRPr lang="ar-SA" sz="2200" dirty="0"/>
          </a:p>
        </p:txBody>
      </p:sp>
      <p:sp>
        <p:nvSpPr>
          <p:cNvPr id="21" name="Text 18"/>
          <p:cNvSpPr txBox="1"/>
          <p:nvPr/>
        </p:nvSpPr>
        <p:spPr>
          <a:xfrm>
            <a:off x="329184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طَالِبَا</a:t>
            </a:r>
            <a:endParaRPr lang="ar-SA" sz="2400" dirty="0"/>
          </a:p>
        </p:txBody>
      </p:sp>
      <p:sp>
        <p:nvSpPr>
          <p:cNvPr id="22" name="Text 19"/>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طَالِبَانِ</a:t>
            </a:r>
            <a:endParaRPr lang="ar-SA" sz="24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5669280" y="3004718"/>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قَابَلْتُ طَالِبَيِ الْمَدْرَسَةِ.</a:t>
            </a:r>
            <a:endParaRPr lang="ar-SA" sz="2200" dirty="0"/>
          </a:p>
        </p:txBody>
      </p:sp>
      <p:sp>
        <p:nvSpPr>
          <p:cNvPr id="25" name="Text 22"/>
          <p:cNvSpPr txBox="1"/>
          <p:nvPr/>
        </p:nvSpPr>
        <p:spPr>
          <a:xfrm>
            <a:off x="329184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طَالِبَيِ</a:t>
            </a:r>
            <a:endParaRPr lang="ar-SA" sz="2400" dirty="0"/>
          </a:p>
        </p:txBody>
      </p:sp>
      <p:sp>
        <p:nvSpPr>
          <p:cNvPr id="26" name="Text 23"/>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طَالِبَيْنِ</a:t>
            </a:r>
            <a:endParaRPr lang="ar-SA" sz="24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5669280" y="3741725"/>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مُعَلِّمُو الْمَدْرَسَةِ</a:t>
            </a:r>
            <a:endParaRPr lang="ar-SA" sz="2200" dirty="0"/>
          </a:p>
        </p:txBody>
      </p:sp>
      <p:sp>
        <p:nvSpPr>
          <p:cNvPr id="29" name="Text 26"/>
          <p:cNvSpPr txBox="1"/>
          <p:nvPr/>
        </p:nvSpPr>
        <p:spPr>
          <a:xfrm>
            <a:off x="329184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مُعَلِّمُو</a:t>
            </a:r>
            <a:endParaRPr lang="ar-SA" sz="2400" dirty="0"/>
          </a:p>
        </p:txBody>
      </p:sp>
      <p:sp>
        <p:nvSpPr>
          <p:cNvPr id="30" name="Text 27"/>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مُعَلِّمُونَ</a:t>
            </a:r>
            <a:endParaRPr lang="ar-SA" sz="24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5669280" y="4478731"/>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تَحَدَّثْتُ مَعَ مُعَلِّمِي الْمَدْرَسَةِ.</a:t>
            </a:r>
            <a:endParaRPr lang="ar-SA" sz="2200" dirty="0"/>
          </a:p>
        </p:txBody>
      </p:sp>
      <p:sp>
        <p:nvSpPr>
          <p:cNvPr id="33" name="Text 30"/>
          <p:cNvSpPr txBox="1"/>
          <p:nvPr/>
        </p:nvSpPr>
        <p:spPr>
          <a:xfrm>
            <a:off x="329184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مُعَلِّمِي</a:t>
            </a:r>
            <a:endParaRPr lang="ar-SA" sz="2400" dirty="0"/>
          </a:p>
        </p:txBody>
      </p:sp>
      <p:sp>
        <p:nvSpPr>
          <p:cNvPr id="34" name="Text 31"/>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مُعَلِّمِينَ</a:t>
            </a:r>
            <a:endParaRPr lang="ar-SA" sz="24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5669280" y="5215738"/>
            <a:ext cx="59710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طَالِبَاتُ الْمَدْرَسَةِ</a:t>
            </a:r>
            <a:endParaRPr lang="ar-SA" sz="2200" dirty="0"/>
          </a:p>
        </p:txBody>
      </p:sp>
      <p:sp>
        <p:nvSpPr>
          <p:cNvPr id="37" name="Text 34"/>
          <p:cNvSpPr txBox="1"/>
          <p:nvPr/>
        </p:nvSpPr>
        <p:spPr>
          <a:xfrm>
            <a:off x="329184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طَالِبَاتُ</a:t>
            </a:r>
            <a:endParaRPr lang="ar-SA" sz="2400" dirty="0"/>
          </a:p>
        </p:txBody>
      </p:sp>
      <p:sp>
        <p:nvSpPr>
          <p:cNvPr id="38" name="Text 35"/>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طَالِبَاتٌ</a:t>
            </a:r>
            <a:endParaRPr lang="ar-SA" sz="24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the same nūn-deletion rule as with possessive endings (kitābāhu). Sound feminine plurals have no final nūn, so ṭālibātu l-madrasati stays intact — only the tanwīn goes.</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5 · ADJECTIVE SCOPE (WEBSITE TABLE)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noun is described?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لِمَنِ الصِّفَةُ؟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Evidence</a:t>
            </a:r>
            <a:endParaRPr lang="en-US" sz="1100" dirty="0"/>
          </a:p>
        </p:txBody>
      </p:sp>
      <p:sp>
        <p:nvSpPr>
          <p:cNvPr id="17" name="Text 14"/>
          <p:cNvSpPr txBox="1"/>
          <p:nvPr/>
        </p:nvSpPr>
        <p:spPr>
          <a:xfrm>
            <a:off x="40050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-u → the door</a:t>
            </a:r>
            <a:endParaRPr lang="en-US" sz="1100" dirty="0"/>
          </a:p>
        </p:txBody>
      </p:sp>
      <p:sp>
        <p:nvSpPr>
          <p:cNvPr id="21" name="Text 18"/>
          <p:cNvSpPr txBox="1"/>
          <p:nvPr/>
        </p:nvSpPr>
        <p:spPr>
          <a:xfrm>
            <a:off x="4023360" y="2267712"/>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الْمَدْرَسَةِ الْكَبِيرُ</a:t>
            </a:r>
            <a:endParaRPr lang="ar-SA" sz="2400" dirty="0"/>
          </a:p>
        </p:txBody>
      </p:sp>
      <p:sp>
        <p:nvSpPr>
          <p:cNvPr id="22" name="Text 19"/>
          <p:cNvSpPr txBox="1"/>
          <p:nvPr/>
        </p:nvSpPr>
        <p:spPr>
          <a:xfrm>
            <a:off x="566928" y="2267712"/>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school’s large door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-i → the school</a:t>
            </a:r>
            <a:endParaRPr lang="en-US" sz="1100" dirty="0"/>
          </a:p>
        </p:txBody>
      </p:sp>
      <p:sp>
        <p:nvSpPr>
          <p:cNvPr id="27" name="Text 24"/>
          <p:cNvSpPr txBox="1"/>
          <p:nvPr/>
        </p:nvSpPr>
        <p:spPr>
          <a:xfrm>
            <a:off x="4023360" y="3004718"/>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الْمَدْرَسَةِ الْكَبِيرَةِ</a:t>
            </a:r>
            <a:endParaRPr lang="ar-SA" sz="2400" dirty="0"/>
          </a:p>
        </p:txBody>
      </p:sp>
      <p:sp>
        <p:nvSpPr>
          <p:cNvPr id="28" name="Text 25"/>
          <p:cNvSpPr txBox="1"/>
          <p:nvPr/>
        </p:nvSpPr>
        <p:spPr>
          <a:xfrm>
            <a:off x="566928" y="3004718"/>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door of the large school</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al- → predicate</a:t>
            </a:r>
            <a:endParaRPr lang="en-US" sz="1100" dirty="0"/>
          </a:p>
        </p:txBody>
      </p:sp>
      <p:sp>
        <p:nvSpPr>
          <p:cNvPr id="33" name="Text 30"/>
          <p:cNvSpPr txBox="1"/>
          <p:nvPr/>
        </p:nvSpPr>
        <p:spPr>
          <a:xfrm>
            <a:off x="4023360" y="3741725"/>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الْمَدْرَسَةِ كَبِيرٌ</a:t>
            </a:r>
            <a:endParaRPr lang="ar-SA" sz="2400" dirty="0"/>
          </a:p>
        </p:txBody>
      </p:sp>
      <p:sp>
        <p:nvSpPr>
          <p:cNvPr id="34" name="Text 31"/>
          <p:cNvSpPr txBox="1"/>
          <p:nvPr/>
        </p:nvSpPr>
        <p:spPr>
          <a:xfrm>
            <a:off x="566928" y="3741725"/>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 door is large</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 the student</a:t>
            </a:r>
            <a:endParaRPr lang="en-US" sz="1100" dirty="0"/>
          </a:p>
        </p:txBody>
      </p:sp>
      <p:sp>
        <p:nvSpPr>
          <p:cNvPr id="37" name="Text 34"/>
          <p:cNvSpPr txBox="1"/>
          <p:nvPr/>
        </p:nvSpPr>
        <p:spPr>
          <a:xfrm>
            <a:off x="4023360" y="4478731"/>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الطَّالِبِ الْجَدِيدِ</a:t>
            </a:r>
            <a:endParaRPr lang="ar-SA" sz="2400" dirty="0"/>
          </a:p>
        </p:txBody>
      </p:sp>
      <p:sp>
        <p:nvSpPr>
          <p:cNvPr id="38" name="Text 35"/>
          <p:cNvSpPr txBox="1"/>
          <p:nvPr/>
        </p:nvSpPr>
        <p:spPr>
          <a:xfrm>
            <a:off x="566928" y="4478731"/>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new student’s book</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 the book</a:t>
            </a:r>
            <a:endParaRPr lang="en-US" sz="1100" dirty="0"/>
          </a:p>
        </p:txBody>
      </p:sp>
      <p:sp>
        <p:nvSpPr>
          <p:cNvPr id="41" name="Text 38"/>
          <p:cNvSpPr txBox="1"/>
          <p:nvPr/>
        </p:nvSpPr>
        <p:spPr>
          <a:xfrm>
            <a:off x="4023360" y="5215738"/>
            <a:ext cx="38404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 الطَّالِبِ الْجَدِيدُ</a:t>
            </a:r>
            <a:endParaRPr lang="ar-SA" sz="2400" dirty="0"/>
          </a:p>
        </p:txBody>
      </p:sp>
      <p:sp>
        <p:nvSpPr>
          <p:cNvPr id="42" name="Text 39"/>
          <p:cNvSpPr txBox="1"/>
          <p:nvPr/>
        </p:nvSpPr>
        <p:spPr>
          <a:xfrm>
            <a:off x="566928" y="5215738"/>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student’s new book</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nearest noun is not enough. The adjective follows the WHOLE iḍāfa; gender, number, definiteness and case show which noun it describes.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student’s book”.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 طَالِبٍ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طَالِبٍ</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student’s book”.</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 الطَّالِبِ</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school’s library”.</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الْمَكْتَبَةُ مَدْرَسَتِنَا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 مَدْرَسَتِنَا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 مَدْرَسَتِنَا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school door is open.”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 مَفْتُوحٌ.</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 مَفْتُوحٌ.</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بَابِ الْمَدْرَسَةِ مَفْتُوحٌ.</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student’s book”.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 الطَّالِبِ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الْكِتَابُ طَالِبٍ</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 طَالِبٍ</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last noun → indefinite phrase.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student’s book”.</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 الطَّالِبِ</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الْكِتَابُ الطَّالِبِ</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 الطَّالِبِ</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Bare + definite genitive.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“our school’s library”.</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الْمَكْتَبَةُ مَدْرَسَتِنَا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مَكْتَبَةُ مَدْرَسَتِنَا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مَكْتَبَةٌ مَدْرَسَتِنَا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makes the chain definite.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school door is open.”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بَابُ الْمَدْرَسَةِ مَفْتُوحٌ.</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الْمَدْرَسَةِ مَفْتُوحٌ.</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بَابِ الْمَدْرَسَةِ مَفْتُوحٌ.</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 noun -u (topic); second -i.</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unpack the chains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Last 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الْمَدِينَةِ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Definite: whole chain definite.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Middle noun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فُنُونِ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Bare, -i.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First noun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مَعْرِضَ</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Object: -a, no al-.</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Scope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الْمَوْهُوبِ</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 -i: the student.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FIRST NOUN</a:t>
            </a:r>
            <a:endParaRPr lang="en-US" sz="800" dirty="0"/>
          </a:p>
        </p:txBody>
      </p:sp>
      <p:sp>
        <p:nvSpPr>
          <p:cNvPr id="47" name="Shape 43"/>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POSSESSOR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زُرْنَا </a:t>
            </a:r>
            <a:pPr rtl="1" algn="r" indent="0" marL="0">
              <a:buNone/>
            </a:pPr>
            <a:r>
              <a:rPr lang="ar-SA" altLang="en-US" sz="1900" b="1" dirty="0">
                <a:solidFill>
                  <a:srgbClr val="0E7C86"/>
                </a:solidFill>
                <a:latin typeface="Amiri" pitchFamily="2" charset="-78"/>
                <a:ea typeface="Amiri" pitchFamily="2" charset="-78"/>
                <a:cs typeface="Amiri" pitchFamily="2" charset="-78"/>
              </a:rPr>
              <a:t>مَعْرِضَ</a:t>
            </a:r>
            <a:pPr rtl="1" algn="r" indent="0" marL="0">
              <a:buNone/>
            </a:pPr>
            <a:r>
              <a:rPr lang="ar-SA" altLang="en-US" sz="1900" b="1" dirty="0">
                <a:solidFill>
                  <a:srgbClr val="1B3B6F"/>
                </a:solidFill>
                <a:latin typeface="Amiri" pitchFamily="2" charset="-78"/>
                <a:cs typeface="Amiri" pitchFamily="2" charset="-78"/>
              </a:rPr>
              <a:t> </a:t>
            </a:r>
            <a:pPr rtl="1" algn="r" indent="0" marL="0">
              <a:buNone/>
            </a:pPr>
            <a:r>
              <a:rPr lang="ar-SA" altLang="en-US" sz="1900" b="1" dirty="0">
                <a:solidFill>
                  <a:srgbClr val="7B3FA0"/>
                </a:solidFill>
                <a:latin typeface="Amiri" pitchFamily="2" charset="-78"/>
                <a:ea typeface="Amiri" pitchFamily="2" charset="-78"/>
                <a:cs typeface="Amiri" pitchFamily="2" charset="-78"/>
              </a:rPr>
              <a:t>فُنُونِ الْمَدِينَةِ</a:t>
            </a:r>
            <a:pPr rtl="1" algn="r" indent="0" marL="0">
              <a:buNone/>
            </a:pPr>
            <a:r>
              <a:rPr lang="ar-SA" altLang="en-US" sz="1900" b="1" dirty="0">
                <a:solidFill>
                  <a:srgbClr val="1B3B6F"/>
                </a:solidFill>
                <a:latin typeface="Amiri" pitchFamily="2" charset="-78"/>
                <a:ea typeface="Amiri" pitchFamily="2" charset="-78"/>
                <a:cs typeface="Amiri" pitchFamily="2" charset="-78"/>
              </a:rPr>
              <a:t>، ثُمَّ دَخَلْنَا </a:t>
            </a:r>
            <a:pPr rtl="1" algn="r" indent="0" marL="0">
              <a:buNone/>
            </a:pPr>
            <a:r>
              <a:rPr lang="ar-SA" altLang="en-US" sz="1900" b="1" dirty="0">
                <a:solidFill>
                  <a:srgbClr val="0E7C86"/>
                </a:solidFill>
                <a:latin typeface="Amiri" pitchFamily="2" charset="-78"/>
                <a:ea typeface="Amiri" pitchFamily="2" charset="-78"/>
                <a:cs typeface="Amiri" pitchFamily="2" charset="-78"/>
              </a:rPr>
              <a:t>قَاعَةَ</a:t>
            </a:r>
            <a:pPr rtl="1" algn="r" indent="0" marL="0">
              <a:buNone/>
            </a:pPr>
            <a:r>
              <a:rPr lang="ar-SA" altLang="en-US" sz="1900" b="1" dirty="0">
                <a:solidFill>
                  <a:srgbClr val="1B3B6F"/>
                </a:solidFill>
                <a:latin typeface="Amiri" pitchFamily="2" charset="-78"/>
                <a:cs typeface="Amiri" pitchFamily="2" charset="-78"/>
              </a:rPr>
              <a:t> </a:t>
            </a:r>
            <a:pPr rtl="1" algn="r" indent="0" marL="0">
              <a:buNone/>
            </a:pPr>
            <a:r>
              <a:rPr lang="ar-SA" altLang="en-US" sz="1900" b="1" dirty="0">
                <a:solidFill>
                  <a:srgbClr val="7B3FA0"/>
                </a:solidFill>
                <a:latin typeface="Amiri" pitchFamily="2" charset="-78"/>
                <a:ea typeface="Amiri" pitchFamily="2" charset="-78"/>
                <a:cs typeface="Amiri" pitchFamily="2" charset="-78"/>
              </a:rPr>
              <a:t>أَعْمَالِ الطُّلَّابِ</a:t>
            </a:r>
            <a:pPr rtl="1" algn="r" indent="0" marL="0">
              <a:buNone/>
            </a:pPr>
            <a:r>
              <a:rPr lang="ar-SA" altLang="en-US" sz="1900" b="1" dirty="0">
                <a:solidFill>
                  <a:srgbClr val="1B3B6F"/>
                </a:solidFill>
                <a:latin typeface="Amiri" pitchFamily="2" charset="-78"/>
                <a:ea typeface="Amiri" pitchFamily="2" charset="-78"/>
                <a:cs typeface="Amiri" pitchFamily="2" charset="-78"/>
              </a:rPr>
              <a:t>. أَعْجَبَتْنِي </a:t>
            </a:r>
            <a:pPr rtl="1" algn="r" indent="0" marL="0">
              <a:buNone/>
            </a:pPr>
            <a:r>
              <a:rPr lang="ar-SA" altLang="en-US" sz="1900" b="1" dirty="0">
                <a:solidFill>
                  <a:srgbClr val="0E7C86"/>
                </a:solidFill>
                <a:latin typeface="Amiri" pitchFamily="2" charset="-78"/>
                <a:ea typeface="Amiri" pitchFamily="2" charset="-78"/>
                <a:cs typeface="Amiri" pitchFamily="2" charset="-78"/>
              </a:rPr>
              <a:t>لَوْحَةُ</a:t>
            </a:r>
            <a:pPr rtl="1" algn="r" indent="0" marL="0">
              <a:buNone/>
            </a:pPr>
            <a:r>
              <a:rPr lang="ar-SA" altLang="en-US" sz="1900" b="1" dirty="0">
                <a:solidFill>
                  <a:srgbClr val="1B3B6F"/>
                </a:solidFill>
                <a:latin typeface="Amiri" pitchFamily="2" charset="-78"/>
                <a:cs typeface="Amiri" pitchFamily="2" charset="-78"/>
              </a:rPr>
              <a:t> </a:t>
            </a:r>
            <a:pPr rtl="1" algn="r" indent="0" marL="0">
              <a:buNone/>
            </a:pPr>
            <a:r>
              <a:rPr lang="ar-SA" altLang="en-US" sz="1900" b="1" dirty="0">
                <a:solidFill>
                  <a:srgbClr val="7B3FA0"/>
                </a:solidFill>
                <a:latin typeface="Amiri" pitchFamily="2" charset="-78"/>
                <a:ea typeface="Amiri" pitchFamily="2" charset="-78"/>
                <a:cs typeface="Amiri" pitchFamily="2" charset="-78"/>
              </a:rPr>
              <a:t>طَالِبِ مَدْرَسَتِنَا</a:t>
            </a:r>
            <a:pPr rtl="1" algn="r" indent="0" marL="0">
              <a:buNone/>
            </a:pPr>
            <a:r>
              <a:rPr lang="ar-SA" altLang="en-US" sz="1900" b="1" dirty="0">
                <a:solidFill>
                  <a:srgbClr val="1B3B6F"/>
                </a:solidFill>
                <a:latin typeface="Amiri" pitchFamily="2" charset="-78"/>
                <a:ea typeface="Amiri" pitchFamily="2" charset="-78"/>
                <a:cs typeface="Amiri" pitchFamily="2" charset="-78"/>
              </a:rPr>
              <a:t> الْمَوْهُوبِ. اِشْتَرَيْتُ </a:t>
            </a:r>
            <a:pPr rtl="1" algn="r" indent="0" marL="0">
              <a:buNone/>
            </a:pPr>
            <a:r>
              <a:rPr lang="ar-SA" altLang="en-US" sz="1900" b="1" dirty="0">
                <a:solidFill>
                  <a:srgbClr val="0E7C86"/>
                </a:solidFill>
                <a:latin typeface="Amiri" pitchFamily="2" charset="-78"/>
                <a:ea typeface="Amiri" pitchFamily="2" charset="-78"/>
                <a:cs typeface="Amiri" pitchFamily="2" charset="-78"/>
              </a:rPr>
              <a:t>كِتَابَ</a:t>
            </a:r>
            <a:pPr rtl="1" algn="r" indent="0" marL="0">
              <a:buNone/>
            </a:pPr>
            <a:r>
              <a:rPr lang="ar-SA" altLang="en-US" sz="1900" b="1" dirty="0">
                <a:solidFill>
                  <a:srgbClr val="1B3B6F"/>
                </a:solidFill>
                <a:latin typeface="Amiri" pitchFamily="2" charset="-78"/>
                <a:cs typeface="Amiri" pitchFamily="2" charset="-78"/>
              </a:rPr>
              <a:t> </a:t>
            </a:r>
            <a:pPr rtl="1" algn="r" indent="0" marL="0">
              <a:buNone/>
            </a:pPr>
            <a:r>
              <a:rPr lang="ar-SA" altLang="en-US" sz="1900" b="1" dirty="0">
                <a:solidFill>
                  <a:srgbClr val="7B3FA0"/>
                </a:solidFill>
                <a:latin typeface="Amiri" pitchFamily="2" charset="-78"/>
                <a:ea typeface="Amiri" pitchFamily="2" charset="-78"/>
                <a:cs typeface="Amiri" pitchFamily="2" charset="-78"/>
              </a:rPr>
              <a:t>فَنَّانٍ</a:t>
            </a:r>
            <a:pPr rtl="1" algn="r" indent="0" marL="0">
              <a:buNone/>
            </a:pPr>
            <a:r>
              <a:rPr lang="ar-SA" altLang="en-US" sz="1900" b="1" dirty="0">
                <a:solidFill>
                  <a:srgbClr val="1B3B6F"/>
                </a:solidFill>
                <a:latin typeface="Amiri" pitchFamily="2" charset="-78"/>
                <a:ea typeface="Amiri" pitchFamily="2" charset="-78"/>
                <a:cs typeface="Amiri" pitchFamily="2" charset="-78"/>
              </a:rPr>
              <a:t> مَشْهُورٍ.</a:t>
            </a:r>
            <a:endParaRPr lang="ar-SA" sz="19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We visited the city’s art exhibition, then we went into the hall of the students’ work. I liked the painting by our school’s talented student. I bought a book by a famous artist.</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فَتَحْتُ بَابَ الْمَدْرَسَةِ.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opened the school door.</a:t>
            </a:r>
            <a:endParaRPr lang="en-US" sz="1250" dirty="0"/>
          </a:p>
          <a:p>
            <a:pPr indent="0" marL="0">
              <a:buNone/>
            </a:pPr>
            <a:r>
              <a:rPr lang="en-US" sz="1050" i="1" dirty="0">
                <a:solidFill>
                  <a:srgbClr val="8A6D1E"/>
                </a:solidFill>
                <a:latin typeface="Calibri" pitchFamily="34" charset="0"/>
                <a:cs typeface="Amiri" pitchFamily="2" charset="-78"/>
              </a:rPr>
              <a:t>Object -a + possessor -i.</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كِتَابُ طَالِبٍ.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a student’s book.</a:t>
            </a:r>
            <a:endParaRPr lang="en-US" sz="1250" dirty="0"/>
          </a:p>
          <a:p>
            <a:pPr indent="0" marL="0">
              <a:buNone/>
            </a:pPr>
            <a:r>
              <a:rPr lang="en-US" sz="1050" i="1" dirty="0">
                <a:solidFill>
                  <a:srgbClr val="8A6D1E"/>
                </a:solidFill>
                <a:latin typeface="Calibri" pitchFamily="34" charset="0"/>
                <a:cs typeface="Amiri" pitchFamily="2" charset="-78"/>
              </a:rPr>
              <a:t>Indefinite chain.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أَيْنَ مَفَاتِيحُ سَيَّارَةِ أَبِي؟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Where are my father’s car keys?</a:t>
            </a:r>
            <a:endParaRPr lang="en-US" sz="1250" dirty="0"/>
          </a:p>
          <a:p>
            <a:pPr indent="0" marL="0">
              <a:buNone/>
            </a:pPr>
            <a:r>
              <a:rPr lang="en-US" sz="1050" i="1" dirty="0">
                <a:solidFill>
                  <a:srgbClr val="8A6D1E"/>
                </a:solidFill>
                <a:latin typeface="Calibri" pitchFamily="34" charset="0"/>
                <a:cs typeface="Amiri" pitchFamily="2" charset="-78"/>
              </a:rPr>
              <a:t>Three-noun chain.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مُعَلِّمُو الْمَدْرَسَةِ لُطَفَاءُ.</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school’s teachers are kind.</a:t>
            </a:r>
            <a:endParaRPr lang="en-US" sz="1250" dirty="0"/>
          </a:p>
          <a:p>
            <a:pPr indent="0" marL="0">
              <a:buNone/>
            </a:pPr>
            <a:r>
              <a:rPr lang="en-US" sz="1050" i="1" dirty="0">
                <a:solidFill>
                  <a:srgbClr val="8A6D1E"/>
                </a:solidFill>
                <a:latin typeface="Calibri" pitchFamily="34" charset="0"/>
                <a:cs typeface="Amiri" pitchFamily="2" charset="-78"/>
              </a:rPr>
              <a:t>Nūn dropped.</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THE IḌĀFA (WEBSITE GAME)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Bare first noun, genitive possessor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الْإِضَافَةَ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382219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Iḍāfa</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43076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bare + definite -i</a:t>
            </a:r>
            <a:endParaRPr lang="en-US" sz="1100" dirty="0"/>
          </a:p>
        </p:txBody>
      </p:sp>
      <p:sp>
        <p:nvSpPr>
          <p:cNvPr id="21" name="Text 18"/>
          <p:cNvSpPr txBox="1"/>
          <p:nvPr/>
        </p:nvSpPr>
        <p:spPr>
          <a:xfrm>
            <a:off x="3840480" y="2267712"/>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الْبَيْتِ</a:t>
            </a:r>
            <a:endParaRPr lang="ar-SA" sz="2400" dirty="0"/>
          </a:p>
        </p:txBody>
      </p:sp>
      <p:sp>
        <p:nvSpPr>
          <p:cNvPr id="22" name="Text 19"/>
          <p:cNvSpPr txBox="1"/>
          <p:nvPr/>
        </p:nvSpPr>
        <p:spPr>
          <a:xfrm>
            <a:off x="566928" y="226771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door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43076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-in</a:t>
            </a:r>
            <a:endParaRPr lang="en-US" sz="1100" dirty="0"/>
          </a:p>
        </p:txBody>
      </p:sp>
      <p:sp>
        <p:nvSpPr>
          <p:cNvPr id="27" name="Text 24"/>
          <p:cNvSpPr txBox="1"/>
          <p:nvPr/>
        </p:nvSpPr>
        <p:spPr>
          <a:xfrm>
            <a:off x="3840480" y="2881884"/>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بَيْتٍ</a:t>
            </a:r>
            <a:endParaRPr lang="ar-SA" sz="2400" dirty="0"/>
          </a:p>
        </p:txBody>
      </p:sp>
      <p:sp>
        <p:nvSpPr>
          <p:cNvPr id="28" name="Text 25"/>
          <p:cNvSpPr txBox="1"/>
          <p:nvPr/>
        </p:nvSpPr>
        <p:spPr>
          <a:xfrm>
            <a:off x="566928" y="2881884"/>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house door</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43076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as possessor</a:t>
            </a:r>
            <a:endParaRPr lang="en-US" sz="1100" dirty="0"/>
          </a:p>
        </p:txBody>
      </p:sp>
      <p:sp>
        <p:nvSpPr>
          <p:cNvPr id="33" name="Text 30"/>
          <p:cNvSpPr txBox="1"/>
          <p:nvPr/>
        </p:nvSpPr>
        <p:spPr>
          <a:xfrm>
            <a:off x="3840480" y="3496056"/>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حَقِيبَةُ لَيْلَى</a:t>
            </a:r>
            <a:endParaRPr lang="ar-SA" sz="2400" dirty="0"/>
          </a:p>
        </p:txBody>
      </p:sp>
      <p:sp>
        <p:nvSpPr>
          <p:cNvPr id="34" name="Text 31"/>
          <p:cNvSpPr txBox="1"/>
          <p:nvPr/>
        </p:nvSpPr>
        <p:spPr>
          <a:xfrm>
            <a:off x="566928" y="3496056"/>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Laylā’s bag</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43076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suffix → definite</a:t>
            </a:r>
            <a:endParaRPr lang="en-US" sz="1100" dirty="0"/>
          </a:p>
        </p:txBody>
      </p:sp>
      <p:sp>
        <p:nvSpPr>
          <p:cNvPr id="39" name="Text 36"/>
          <p:cNvSpPr txBox="1"/>
          <p:nvPr/>
        </p:nvSpPr>
        <p:spPr>
          <a:xfrm>
            <a:off x="3840480" y="4110228"/>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بَابُ فَصْلِنَا</a:t>
            </a:r>
            <a:endParaRPr lang="ar-SA" sz="2400" dirty="0"/>
          </a:p>
        </p:txBody>
      </p:sp>
      <p:sp>
        <p:nvSpPr>
          <p:cNvPr id="40" name="Text 37"/>
          <p:cNvSpPr txBox="1"/>
          <p:nvPr/>
        </p:nvSpPr>
        <p:spPr>
          <a:xfrm>
            <a:off x="566928" y="4110228"/>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our classroom door</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43076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 -a</a:t>
            </a:r>
            <a:endParaRPr lang="en-US" sz="1100" dirty="0"/>
          </a:p>
        </p:txBody>
      </p:sp>
      <p:sp>
        <p:nvSpPr>
          <p:cNvPr id="43" name="Text 40"/>
          <p:cNvSpPr txBox="1"/>
          <p:nvPr/>
        </p:nvSpPr>
        <p:spPr>
          <a:xfrm>
            <a:off x="3840480" y="4724400"/>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فَتَحْتُ بَابَ الْفَصْلِ.</a:t>
            </a:r>
            <a:endParaRPr lang="ar-SA" sz="2400" dirty="0"/>
          </a:p>
        </p:txBody>
      </p:sp>
      <p:sp>
        <p:nvSpPr>
          <p:cNvPr id="44" name="Text 41"/>
          <p:cNvSpPr txBox="1"/>
          <p:nvPr/>
        </p:nvSpPr>
        <p:spPr>
          <a:xfrm>
            <a:off x="566928" y="4724400"/>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opened the classroom door.</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43076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nūn drops</a:t>
            </a:r>
            <a:endParaRPr lang="en-US" sz="1100" dirty="0"/>
          </a:p>
        </p:txBody>
      </p:sp>
      <p:sp>
        <p:nvSpPr>
          <p:cNvPr id="47" name="Text 44"/>
          <p:cNvSpPr txBox="1"/>
          <p:nvPr/>
        </p:nvSpPr>
        <p:spPr>
          <a:xfrm>
            <a:off x="3840480" y="5338572"/>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حَافِلَتَا الْمَدْرَسَةِ</a:t>
            </a:r>
            <a:endParaRPr lang="ar-SA" sz="2400" dirty="0"/>
          </a:p>
        </p:txBody>
      </p:sp>
      <p:sp>
        <p:nvSpPr>
          <p:cNvPr id="48" name="Text 45"/>
          <p:cNvSpPr txBox="1"/>
          <p:nvPr/>
        </p:nvSpPr>
        <p:spPr>
          <a:xfrm>
            <a:off x="566928" y="533857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school’s two buses</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editing check: first noun, final possessor, chain definiteness, adjective target — one decision at a time.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LOOK AT THE LAST NOUN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Definite or indefinite?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مَعْرِفَةٌ أَمْ نَكِرَةٌ؟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 الطَّالِبِ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 مَدْرَسَتِنَا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 لَيْلَى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مُدِيرُ الشَّرِكَةِ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 طَالِبٍ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 بَيْتٍ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مُدِيرُ شَرِكَةٍ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نَوْمٍ</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Definite (“the …”)</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Indefinite (“a …”)</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Definite (“the …”)</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 الطَّالِبِ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 مَدْرَسَتِنَا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 لَيْلَى</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مُدِيرُ الشَّرِكَةِ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Indefinite (“a …”)</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 طَالِبٍ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 بَيْتٍ</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مُدِيرُ شَرِكَةٍ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نَوْمٍ</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بَابٌ الْمَدْرَسَةِ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Tanwīn on the first noun?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طَالِبَانِ الْمَدْرَسَةِ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happens to the dual nūn?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بَابُ الْمَدْرَسَةِ الْكَبِيرَةُ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noun is big?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بَابٌ الْمَدْرَسَةِ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بَابُ الْمَدْرَسَةِ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 tanwīn on the first noun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طَالِبَانِ الْمَدْرَسَةِ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طَالِبَا الْمَدْرَسَةِ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dual drops its nūn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بَابُ الْمَدْرَسَةِ الْكَبِيرَةُ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بَابُ الْمَدْرَسَةِ الْكَبِيرَةِ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adjective for the school is genitive too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GUIDED PRACTICE · WEBSITE MINI-CHECKS: CASE ACROSS THE CHAIN AND CONSTRUCT NUMBER FORMS</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opened the school door.”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فَتَحْتُ بَابُ الْمَدْرَسَةِ.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فَتَحْتُ بَابِ الْمَدْرَسَةِ.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فَتَحْتُ بَابَ الْمَدْرَسَةِ.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stood by the school door.”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وَقَفْتُ عِنْدَ بَابُ الْمَدْرَسَةِ.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وَقَفْتُ عِنْدَ بَابِ الْمَدْرَسَةِ.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وَقَفْتُ عِنْدَ بَابَ الْمَدْرَسَةِ.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school’s two students” (as a subject).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طَالِبَانِ الْمَدْرَسَةِ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طَالِبَا الْمَدْرَسَةِ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طَالِبَيْ الْمَدْرَسَةِ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school’s teachers” (as a subject).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مُعَلِّمُونَ الْمَدْرَسَةِ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مُعَلِّمِي الْمَدْرَسَةِ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مُعَلِّمُو الْمَدْرَسَةِ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opened the school door.”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فَتَحْتُ بَابُ الْمَدْرَسَةِ.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فَتَحْتُ بَابِ الْمَدْرَسَةِ.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فَتَحْتُ بَابَ الْمَدْرَسَةِ.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bāba.</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stood by the school door.”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وَقَفْتُ عِنْدَ بَابُ الْمَدْرَسَةِ.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وَقَفْتُ عِنْدَ بَابِ الْمَدْرَسَةِ.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وَقَفْتُ عِنْدَ بَابَ الْمَدْرَسَةِ.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ʿinda: bābi.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school’s two students” (as a subject).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طَالِبَانِ الْمَدْرَسَةِ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طَالِبَا الْمَدْرَسَةِ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طَالِبَيْ الْمَدْرَسَةِ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Ṭālibā: nūn dropped.</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school’s teachers” (as a subject).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مُعَلِّمُونَ الْمَدْرَسَةِ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مُعَلِّمِي الْمَدْرَسَةِ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مُعَلِّمُو الْمَدْرَسَةِ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Muʿallimū: nūn dropped.</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WEBSITE READING (TEACHER-WRITTEN TOUR)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tour of our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بِكُمْ فِي مَدْرَسَتِنَا! هَذَا مَكْتَبُ الْمُدِيرِ، وَبِجَانِبِهِ غُرْفَةُ الْمُعَلِّمِينَ. فِي الطَّابِقِ الْأَوَّلِ مَكْتَبَةُ الْمَدْرَسَةِ الْكَبِيرَةُ، وَفِيهَا كُتُبُ قِصَصٍ كَثِيرَةٌ. أَمَامَ الْمَكْتَبَةِ مُخْتَبَرُ الْعُلُومِ، وَمُعَلِّمُو الْعُلُومِ لَطِيفُونَ جِدًّا. خَلْفَ الْمَبْنَى مَلْعَبُ كُرَةِ الْقَدَمِ، وَبِجَانِبِهِ مَوْقِفُ حَافِلَاتِ الْمَدْرَسَةِ. فِي نِهَايَةِ الْجَوْلَةِ سَنَزُورُ مَعْرِضَ رُسُومِ الطُّلَّابِ.</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مُخْتَبَرُ</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laboratory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مَلْعَبُ</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pitch / playing field</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مَوْقِفُ</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stop / car park</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الْجَوْلَةِ</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tour</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رُسُومِ</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drawings</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head teacher’s office?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teachers’ room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science lab</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maktabatu l-madrasati l-kabīratu, what is big?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school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floor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first noun has lost its nūn?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مُعَلِّمُو الْعُلُومِ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 قِصَصٍ</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مَلْعَبُ كُرَةِ الْقَدَمِ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visitors see at the end?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football pitch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students’ art exhibition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stop</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next to the head teacher’s office?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library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teachers’ room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science lab</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Ghurfatu l-muʿallimīna.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maktabatu l-madrasati l-kabīratu, what is big?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school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floor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library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 it matches maktabatu.</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first noun has lost its nūn?</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مُعَلِّمُو الْعُلُومِ</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 قِصَصٍ</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مَلْعَبُ كُرَةِ الْقَدَمِ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Muʿallimūna → muʿallimū.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visitors see at the end?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football pitch</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students’ art exhibition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stop</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Maʿriḍa rusūmi ṭ-ṭullābi.</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 60-second tour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الْأَمَاكِنُ فِي مَدْرَسَتِكَ؟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بَيْتَكَ: مَا الْغُرَفُ؟</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خُذْنَا فِي جَوْلَةٍ فِي مَدِينَتِكَ.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مَدْرَسَتِي مَكْتَبُ ___ وَغُرْفَةُ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هَذِهِ غُرْفَةُ ___ ، وَتِلْكَ غُرْفَةُ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هُنَا مَتْحَفُ ___ ، وَهُنَاكَ سُوقُ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أَيْنَ مَكْتَبُ الْمُدِيرِ؟</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is the head teacher’s office?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مَكْتَبُ الْمُدِيرِ بِجَانِبِ غُرْفَةِ الْمُعَلِّمِينَ، أَمَامَ بَابِ الْمَدْرَسَةِ الرَّئِيسِيِّ.</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 head teacher’s office is next to the teachers’ room, opposite the school’s main door.</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Your school: five places, each an iḍāfa.</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maktabu l-mudīri · ghurfatu l-muʿallimīna.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indefinite iḍāfas and one three-noun chain.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kitābu ṭālibin · bābu faṣli l-madrasati.</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110–130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place description with ten iḍāfas.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Draw a chain diagram first.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زُرْتُ مَتْحَفَ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visited the … museum</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مُعَلِّمُو الْمَدْرَسَةِ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school’s teachers are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______ صَدِيقِ أَخِي.</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brother’s friend’s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أَمَامَ بَابِ الْمَدْرَسَةِ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front of the school gate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______ الْمَدْرَسَةِ.</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the school’s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غُرْفَةُ الْمُعَلِّمِينَ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teachers’ room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فِي مَكْتَبَةِ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in the … library</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سَيَّارَةُ أَبِي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father’s car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بَابُ  ·  مَكْتَبُ  ·  غُرْفَةُ  ·  مَكْتَبَةُ  ·  مُدِيرُ  ·  الْمَدْرَسَةِ  ·  الْمُعَلِّمِينَ  ·  الْمَدِينَةِ  ·  الطُّلَّابِ  ·  أَبِي  ·  كَبِيرٌ  ·  جَمِيلَةٌ  ·  قَرِيبٌ</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place description (110–130 words): a school, home, workplace, town or fictional venue.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ten iḍāfa constructions.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indefinite and four definite.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with a proper name or a suffix.</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or -ūna construct (nūn dropped).</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adjective-scope contrast.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وَسَطِ الْمَدِينَةِ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city centre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بِجَانِبِ</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to</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أَمَامَ</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opposite / in front of</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قِسْمُ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department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مَكْتَبُ الِاسْتِقْبَالِ</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reception desk</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إِدَارَةُ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management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أَعْمَلُ فِي الصَّيْفِ مُتَطَوِّعَةً فِي مُسْتَشْفَى الْأَطْفَالِ فِي مَدِينَتِنَا. يَقَعُ الْمُسْتَشْفَى فِي وَسَطِ الْمَدِينَةِ، بِجَانِبِ حَدِيقَةِ الْحَيَوَانَاتِ. عِنْدَ بَابِ الْمُسْتَشْفَى الرَّئِيسِيِّ مَكْتَبُ الِاسْتِقْبَالِ، وَمُوَظَّفُو الِاسْتِقْبَالِ لُطَفَاءُ جِدًّا. فِي الطَّابِقِ الثَّانِي غُرْفَةُ أَلْعَابِ الْأَطْفَالِ الْمُلَوَّنَةُ، وَهِيَ مَكَانِي الْمُفَضَّلُ. أَقْرَأُ قِصَصَ الْأَنْبِيَاءِ لِلْأَطْفَالِ، وَأُسَاعِدُ مُمَرِّضَتَيِ الْقِسْمِ. مُدِيرُ قِسْمِ التَّطَوُّعِ رَجُلٌ نَشِيطٌ، وَمَكْتَبُهُ قُرْبَ مَطْعَمِ الْمُوَظَّفِينَ. فِي نِهَايَةِ كُلِّ أُسْبُوعٍ نَكْتُبُ تَقْرِيرَ الْعَمَلِ، وَنُرْسِلُهُ إِلَى إِدَارَةِ الْمُسْتَشْفَى. أَتَمَنَّى أَنْ أُصْبِحَ طَبِيبَةَ أَطْفَالٍ فِي الْمُسْتَقْبَلِ.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the summer I volunteer at the children’s hospital in our city. The hospital is in the city centre, next to the zoo. At the hospital’s main door is the reception desk, and the reception staff are very kind. On the second floor is the colourful children’s playroom, and it is my favourite place. I read stories of the prophets to the children, and I help the ward’s two nurses. The head of the volunteering department is an energetic man, and his office is near the staff restaurant. At the end of every week we write the work report and send it to the hospital management. I hope to become a children’s doctor in the future.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definite iḍāfa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indefinite iḍāfa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construct dual / plural (nūn dropped)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three-noun chain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first nouns have no al- and no tanwīn.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possessors end in -i / -in.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first noun takes its sentence case (-u / -a / -i).</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at least one three-noun chain.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Duals and -ūna plurals lost their nūn.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visited our school library.”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مَكْتَبَةَ مَدْرَسَتِنَا.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مَكْتَبَةُ مَدْرَسَتِنَا.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مَكْتَبَةِ مَدْرَسَتِنَا.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new student’s book”?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 الْجَدِيدُ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 الْجَدِيدِ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 جَدِيدٌ</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student’s new book”?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 الْجَدِيدُ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 الْجَدِيدِ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 الطَّالِبِ جَدِيدٌ</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visited our school library.”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زُرْتُ مَكْتَبَةَ مَدْرَسَتِنَا.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زُرْتُ مَكْتَبَةُ مَدْرَسَتِنَا.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زُرْتُ مَكْتَبَةِ مَدْرَسَتِنَا.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maktabata.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new student’s book”?</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كِتَابُ الطَّالِبِ الْجَدِيدُ</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كِتَابُ الطَّالِبِ الْجَدِيدِ</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كِتَابُ الطَّالِبِ جَدِيدٌ</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 describes the student.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student’s new book”?</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كِتَابُ الطَّالِبِ الْجَدِيدُ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كِتَابُ الطَّالِبِ الْجَدِيدِ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كِتَابُ الطَّالِبِ جَدِيدٌ</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 describes the book.</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GM-POS-02 · Possessives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GM-POS-03: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GM-POS-03 · Possession with ʿinda and li-</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have (with 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 (m.) have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have / it is mine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لَهُ</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has / it is his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لَيْسَ عِنْدِي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do not have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Arabic has no verb “to have”. ʿindī kitābun = “with me is a book” = I have a book. How would you say “I have a brother”?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عِنْدِي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two-noun iḍāfas for places in your home or school.</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four sentences: the same iḍāfa as subject, object, after fī, after ʿinda.</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place description (110–130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GM-POS-02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GM-POS-03 · Possession with ʿinda and li-</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التَّعْبِيرُ عَنِ الْمِلْكِيَّةِ بِـ«عِنْدَ» وَ«لِـ»</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first noun bare (no al-, no tanwīn) + possessor in -i · the LAST noun decides definite or indefinite · the first noun takes its sentence case · chains: build from the end · duals and -ūna plurals drop the nūn · the adjective’s form shows which noun it describes.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GM-POS-02 · Possessive Iḍāfa Construction</dc:title>
  <dc:subject>PptxGenJS Presentation</dc:subject>
  <dc:creator>Al Madina Online School · Arabic Department</dc:creator>
  <cp:lastModifiedBy>Al Madina Online School · Arabic Department</cp:lastModifiedBy>
  <cp:revision>1</cp:revision>
  <dcterms:created xsi:type="dcterms:W3CDTF">2026-10-11T06:42:26Z</dcterms:created>
  <dcterms:modified xsi:type="dcterms:W3CDTF">2026-10-11T06:42:26Z</dcterms:modified>
</cp:coreProperties>
</file>