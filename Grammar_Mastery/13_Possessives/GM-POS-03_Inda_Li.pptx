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Possessives › GM-POS-03 (“Possession with عِنْدَ and لِـ”).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ʿindī, ʿindaka, ʿindahu, ʿindahā … + item in -u (ʿindī qalamun); lī, laka, lahu, lahā for belonging; hal ʿindaka …? and li-man hādhā? Develop: the full families, laysa ʿindī for negation, and choosing ʿinda / li- / maʿa by meaning. Stretch: dual and plural items with agreement (ʿindahumā ṭiflāni), allocation (al-ghurfatu l-ūlā li-ṭ-ṭullābi) and combining all possession systems.
• Website warning: do not use bare lā before ʿinda as the formal pattern — say laysa ʿindī waqtun. The adjective matches the ITEM, not the owner: ʿindahā kitābun jadīdun.
• Colour code: teal = marker, blue = item. Brings together GM-POS-01 (suffixes), GM-POS-02 (iḍāfa), GM-NVS-04 (laysa) and GM-CP prepositions.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GM-POS-01 pronoun endings, GM-CASE-01 nominative and GM-NVS-04 laysa.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Has → ʿinda · belongs to → li- · with me now → maʿa. The item stays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“ʿinda + pronoun”. Literally “with me (is) a question”. Students pass a pen round: ʿindī qalamun → ʿindahu qalamun → ʿindahā qalamun.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“li- + noun or pronoun”. Other forms: lakumā, lakum, lakunna, lahumā, lahunna.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“Choose by meaning”. Row 4: I have an idea, but the decision belongs to the head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“Questions and negation”. Recycles GM-NVS-04 laysa.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“Number and agreement of the possessed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ʿinda and li- families.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“Combine all three possession systems” text. Website task: find a suffix (safarihi, ḥaqībatāhā), an iḍāfa (jawāzu safarihi), ʿinda, li- and maʿa.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students build each answer, then hold up 1 / 2 / 3 fingers for ʿinda / li- / maʿa.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clinic items. For each repair card students say the correct form and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clinic items. For each repair card students say the correct form and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mini-checks: li- family, choose the relationship, ask and negate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allocation notice (extended). Read it aloud once while students follow; then they hunt for today’s grammar.
Task: Website: explain the relationship each possession marker shows — has, belongs / allocated, or physically with.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allocation notice, extended by the teacher;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role-play. Sequence: ● 10s think → ↔ 45s rehearse aloud with mic muted → ◎ two named students on open mic (warned in advance) → + ? the class types one follow-up in chat → ↺ one student summarises.
Routes: Core uses the Core prompt and stem; Develop the Develop prompt; Stretch the last prompt.
Website role-play: ask who has an item, whose it is and whether it is with the person now — hal ʿindaka …? li-man hādhā? hal huwa laka? hal huwa maʿaka l-āna?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about belongings and responsibilities in a home, class, journey, event or workplace.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(GM-INT-01 · Yes / No Questions) will spend class time USING this language, so students prepare it tonight — short, simple, easy to access (school guidance: “Simple, Short, Interesting, Relevant, Easy to access”). The five words prepare GM-INT-01 (website: yes / no questions with hal and the question hamza).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POSSESSIVES  ·  GM-POS-03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GM-POS-03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cs typeface="Amiri" pitchFamily="2" charset="-78"/>
              </a:rPr>
              <a:t>Possession with ʿinda and li-</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التَّعْبِيرُ عَنِ الْمِلْكِيَّةِ بِـ«عِنْدَ» وَ«لِـ»</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has no verb “to have”. ʿIndī qalamun = I have a pen; hādhā l-qalamu lī = this pen is mine; al-qalamu maʿī = the pen is with me (now). Choose the marker that matches the relationship.</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GM-POS-03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Possessives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ʿinda family; li- family; has / belongs / with; questions and negatives; item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Has, belongs or with?; correct or repair;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GM-INT-01.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قَلَمٌ.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قَلَمٌ.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قَلَمَ.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book is mine.”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الْكِتَابُ 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الْكِتَابُ عِنْدِي.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الْكِتَابُ مَعِيَّةٌ.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“you have”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“Whose is this?”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هَذَا؟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لِمَنْ هَذَا؟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“with me/on my person”?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قَلَمٌ.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قَلَمٌ.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 قَلَمَ.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ʿIndī + item in -un.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book is mine.”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الْكِتَابُ لِي.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الْكِتَابُ عِنْدِي.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الْكِتَابُ مَعِيَّةٌ.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Belongs to me: lī.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“you have”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ʿindaki.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“Whose is this?”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هَذَا؟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لِمَنْ هَذَا؟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Li-man = whose?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“with me/on my person”?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Maʿī = physically with 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Has → ʿinda · belongs to → li- · with me now → maʿa. The item stays nominative.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عِنْدِي</a:t>
            </a:r>
            <a:pPr rtl="1" algn="ctr" indent="0" marL="0">
              <a:lnSpc>
                <a:spcPct val="120000"/>
              </a:lnSpc>
              <a:buNone/>
            </a:pPr>
            <a:r>
              <a:rPr lang="ar-SA" altLang="en-US" sz="2050" b="1" dirty="0">
                <a:solidFill>
                  <a:srgbClr val="1B3B6F"/>
                </a:solidFill>
                <a:latin typeface="Amiri" pitchFamily="2" charset="-78"/>
                <a:cs typeface="Amiri" pitchFamily="2" charset="-78"/>
              </a:rPr>
              <a:t> </a:t>
            </a:r>
            <a:pPr rtl="1" algn="ctr" indent="0" marL="0">
              <a:lnSpc>
                <a:spcPct val="120000"/>
              </a:lnSpc>
              <a:buNone/>
            </a:pPr>
            <a:r>
              <a:rPr lang="ar-SA" altLang="en-US" sz="2050" b="1" dirty="0">
                <a:solidFill>
                  <a:srgbClr val="1D5FBF"/>
                </a:solidFill>
                <a:latin typeface="Amiri" pitchFamily="2" charset="-78"/>
                <a:ea typeface="Amiri" pitchFamily="2" charset="-78"/>
                <a:cs typeface="Amiri" pitchFamily="2" charset="-78"/>
              </a:rPr>
              <a:t>قَلَمٌ</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الْقَلَمُ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لِي</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الْقَلَمُ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مَعِي</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I and others have with ʿinda.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who something belongs to with li-.</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ʿinda, li- or maʿa by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negate possession.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ʿindī …, ʿindahu …, ʿindahā …</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li-man hādhā? and answer huwa lī.</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laysa ʿindī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choose ʿinda, li- or maʿa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dual and plural items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110–130 words on belongings and responsibilities.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 at — “has”</a:t>
            </a:r>
            <a:endParaRPr lang="en-US" sz="1350" dirty="0"/>
          </a:p>
          <a:p>
            <a:pPr indent="0" marL="0">
              <a:buNone/>
            </a:pPr>
            <a:r>
              <a:rPr lang="en-US" sz="1100" i="1" dirty="0">
                <a:solidFill>
                  <a:srgbClr val="5A6472"/>
                </a:solidFill>
                <a:latin typeface="Calibri" pitchFamily="34" charset="0"/>
                <a:cs typeface="Amiri" pitchFamily="2" charset="-78"/>
              </a:rPr>
              <a:t>ʿin-da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عِنْدِي كِتَابٌ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 belongs to</a:t>
            </a:r>
            <a:endParaRPr lang="en-US" sz="1350" dirty="0"/>
          </a:p>
          <a:p>
            <a:pPr indent="0" marL="0">
              <a:buNone/>
            </a:pPr>
            <a:r>
              <a:rPr lang="en-US" sz="1100" i="1" dirty="0">
                <a:solidFill>
                  <a:srgbClr val="5A6472"/>
                </a:solidFill>
                <a:latin typeface="Calibri" pitchFamily="34" charset="0"/>
                <a:cs typeface="Amiri" pitchFamily="2" charset="-78"/>
              </a:rPr>
              <a:t>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هَذَا لِي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(physically, now)</a:t>
            </a:r>
            <a:endParaRPr lang="en-US" sz="1350" dirty="0"/>
          </a:p>
          <a:p>
            <a:pPr indent="0" marL="0">
              <a:buNone/>
            </a:pPr>
            <a:r>
              <a:rPr lang="en-US" sz="1100" i="1" dirty="0">
                <a:solidFill>
                  <a:srgbClr val="5A6472"/>
                </a:solidFill>
                <a:latin typeface="Calibri" pitchFamily="34" charset="0"/>
                <a:cs typeface="Amiri" pitchFamily="2" charset="-78"/>
              </a:rPr>
              <a:t>ma-ʿa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الْمِفْتَاحُ مَعِي</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whose? / for whom?</a:t>
            </a:r>
            <a:endParaRPr lang="en-US" sz="1350" dirty="0"/>
          </a:p>
          <a:p>
            <a:pPr indent="0" marL="0">
              <a:buNone/>
            </a:pPr>
            <a:r>
              <a:rPr lang="en-US" sz="1100" i="1" dirty="0">
                <a:solidFill>
                  <a:srgbClr val="5A6472"/>
                </a:solidFill>
                <a:latin typeface="Calibri" pitchFamily="34" charset="0"/>
                <a:cs typeface="Amiri" pitchFamily="2" charset="-78"/>
              </a:rPr>
              <a:t>li-man?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لِمَنْ هَذَا؟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عِنْدِي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have</a:t>
            </a:r>
            <a:endParaRPr lang="en-US" sz="1350" dirty="0"/>
          </a:p>
          <a:p>
            <a:pPr indent="0" marL="0">
              <a:buNone/>
            </a:pPr>
            <a:r>
              <a:rPr lang="en-US" sz="1100" i="1" dirty="0">
                <a:solidFill>
                  <a:srgbClr val="5A6472"/>
                </a:solidFill>
                <a:latin typeface="Calibri" pitchFamily="34" charset="0"/>
                <a:cs typeface="Amiri" pitchFamily="2" charset="-78"/>
              </a:rPr>
              <a:t>lay-sa ʿin-dī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لَيْسَ عِنْدِي وَقْتٌ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الْمِلْكِيَّةُ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possession / ownership</a:t>
            </a:r>
            <a:endParaRPr lang="en-US" sz="1350" dirty="0"/>
          </a:p>
          <a:p>
            <a:pPr indent="0" marL="0">
              <a:buNone/>
            </a:pPr>
            <a:r>
              <a:rPr lang="en-US" sz="1100" i="1" dirty="0">
                <a:solidFill>
                  <a:srgbClr val="5A6472"/>
                </a:solidFill>
                <a:latin typeface="Calibri" pitchFamily="34" charset="0"/>
                <a:cs typeface="Amiri" pitchFamily="2" charset="-78"/>
              </a:rPr>
              <a:t>al-mil-kiy-ya-tu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عِنْدَ · لِـ · مَعَ</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ʿINDA + PRONOUN = “HAS”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With me = I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 +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0906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5669280" y="2267712"/>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سُؤَالٌ.</a:t>
            </a:r>
            <a:endParaRPr lang="ar-SA" sz="2200" dirty="0"/>
          </a:p>
        </p:txBody>
      </p:sp>
      <p:sp>
        <p:nvSpPr>
          <p:cNvPr id="21" name="Text 18"/>
          <p:cNvSpPr txBox="1"/>
          <p:nvPr/>
        </p:nvSpPr>
        <p:spPr>
          <a:xfrm>
            <a:off x="3108960" y="2267712"/>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a:t>
            </a:r>
            <a:endParaRPr lang="ar-SA" sz="2200" dirty="0"/>
          </a:p>
        </p:txBody>
      </p:sp>
      <p:sp>
        <p:nvSpPr>
          <p:cNvPr id="22" name="Text 19"/>
          <p:cNvSpPr txBox="1"/>
          <p:nvPr/>
        </p:nvSpPr>
        <p:spPr>
          <a:xfrm>
            <a:off x="566928" y="2267712"/>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5669280" y="2794145"/>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عِنْدَنَا وَقْتٌ.</a:t>
            </a:r>
            <a:endParaRPr lang="ar-SA" sz="2200" dirty="0"/>
          </a:p>
        </p:txBody>
      </p:sp>
      <p:sp>
        <p:nvSpPr>
          <p:cNvPr id="27" name="Text 24"/>
          <p:cNvSpPr txBox="1"/>
          <p:nvPr/>
        </p:nvSpPr>
        <p:spPr>
          <a:xfrm>
            <a:off x="3108960" y="27941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عِنْدَنَا</a:t>
            </a:r>
            <a:endParaRPr lang="ar-SA" sz="2200" dirty="0"/>
          </a:p>
        </p:txBody>
      </p:sp>
      <p:sp>
        <p:nvSpPr>
          <p:cNvPr id="28" name="Text 25"/>
          <p:cNvSpPr txBox="1"/>
          <p:nvPr/>
        </p:nvSpPr>
        <p:spPr>
          <a:xfrm>
            <a:off x="566928" y="27941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5669280" y="3320578"/>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عِنْدَكَ قَلَمٌ؟</a:t>
            </a:r>
            <a:endParaRPr lang="ar-SA" sz="2200" dirty="0"/>
          </a:p>
        </p:txBody>
      </p:sp>
      <p:sp>
        <p:nvSpPr>
          <p:cNvPr id="33" name="Text 30"/>
          <p:cNvSpPr txBox="1"/>
          <p:nvPr/>
        </p:nvSpPr>
        <p:spPr>
          <a:xfrm>
            <a:off x="3108960" y="33205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عِنْدَكَ</a:t>
            </a:r>
            <a:endParaRPr lang="ar-SA" sz="2200" dirty="0"/>
          </a:p>
        </p:txBody>
      </p:sp>
      <p:sp>
        <p:nvSpPr>
          <p:cNvPr id="34" name="Text 31"/>
          <p:cNvSpPr txBox="1"/>
          <p:nvPr/>
        </p:nvSpPr>
        <p:spPr>
          <a:xfrm>
            <a:off x="566928" y="33205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(one male)</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5669280" y="3847011"/>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عِنْدَكِ فِكْرَةٌ؟</a:t>
            </a:r>
            <a:endParaRPr lang="ar-SA" sz="2200" dirty="0"/>
          </a:p>
        </p:txBody>
      </p:sp>
      <p:sp>
        <p:nvSpPr>
          <p:cNvPr id="39" name="Text 36"/>
          <p:cNvSpPr txBox="1"/>
          <p:nvPr/>
        </p:nvSpPr>
        <p:spPr>
          <a:xfrm>
            <a:off x="3108960" y="38470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عِنْدَكِ</a:t>
            </a:r>
            <a:endParaRPr lang="ar-SA" sz="2200" dirty="0"/>
          </a:p>
        </p:txBody>
      </p:sp>
      <p:sp>
        <p:nvSpPr>
          <p:cNvPr id="40" name="Text 37"/>
          <p:cNvSpPr txBox="1"/>
          <p:nvPr/>
        </p:nvSpPr>
        <p:spPr>
          <a:xfrm>
            <a:off x="566928" y="38470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(one female)</a:t>
            </a:r>
            <a:endParaRPr lang="en-US" sz="1100" dirty="0"/>
          </a:p>
        </p:txBody>
      </p:sp>
      <p:sp>
        <p:nvSpPr>
          <p:cNvPr id="41" name="Shape 38"/>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4" name="Text 41"/>
          <p:cNvSpPr txBox="1"/>
          <p:nvPr/>
        </p:nvSpPr>
        <p:spPr>
          <a:xfrm>
            <a:off x="5669280" y="4373445"/>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 سَيَّارَةٌ.</a:t>
            </a:r>
            <a:endParaRPr lang="ar-SA" sz="2200" dirty="0"/>
          </a:p>
        </p:txBody>
      </p:sp>
      <p:sp>
        <p:nvSpPr>
          <p:cNvPr id="45" name="Text 42"/>
          <p:cNvSpPr txBox="1"/>
          <p:nvPr/>
        </p:nvSpPr>
        <p:spPr>
          <a:xfrm>
            <a:off x="3108960" y="43734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a:t>
            </a:r>
            <a:endParaRPr lang="ar-SA" sz="2200" dirty="0"/>
          </a:p>
        </p:txBody>
      </p:sp>
      <p:sp>
        <p:nvSpPr>
          <p:cNvPr id="46" name="Text 43"/>
          <p:cNvSpPr txBox="1"/>
          <p:nvPr/>
        </p:nvSpPr>
        <p:spPr>
          <a:xfrm>
            <a:off x="566928" y="43734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47" name="Shape 44"/>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0" name="Text 47"/>
          <p:cNvSpPr txBox="1"/>
          <p:nvPr/>
        </p:nvSpPr>
        <p:spPr>
          <a:xfrm>
            <a:off x="5669280" y="4899878"/>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عِنْدَهَا أُخْتَانِ.</a:t>
            </a:r>
            <a:endParaRPr lang="ar-SA" sz="2200" dirty="0"/>
          </a:p>
        </p:txBody>
      </p:sp>
      <p:sp>
        <p:nvSpPr>
          <p:cNvPr id="51" name="Text 48"/>
          <p:cNvSpPr txBox="1"/>
          <p:nvPr/>
        </p:nvSpPr>
        <p:spPr>
          <a:xfrm>
            <a:off x="3108960" y="48998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عِنْدَهَا</a:t>
            </a:r>
            <a:endParaRPr lang="ar-SA" sz="2200" dirty="0"/>
          </a:p>
        </p:txBody>
      </p:sp>
      <p:sp>
        <p:nvSpPr>
          <p:cNvPr id="52" name="Text 49"/>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53" name="Shape 50"/>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4" name="Text 51"/>
          <p:cNvSpPr txBox="1"/>
          <p:nvPr/>
        </p:nvSpPr>
        <p:spPr>
          <a:xfrm>
            <a:off x="5669280" y="5426311"/>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عِنْدَهُمْ مَشْرُوعٌ.</a:t>
            </a:r>
            <a:endParaRPr lang="ar-SA" sz="2200" dirty="0"/>
          </a:p>
        </p:txBody>
      </p:sp>
      <p:sp>
        <p:nvSpPr>
          <p:cNvPr id="55" name="Text 52"/>
          <p:cNvSpPr txBox="1"/>
          <p:nvPr/>
        </p:nvSpPr>
        <p:spPr>
          <a:xfrm>
            <a:off x="3108960" y="54263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عِنْدَهُمْ</a:t>
            </a:r>
            <a:endParaRPr lang="ar-SA" sz="2200" dirty="0"/>
          </a:p>
        </p:txBody>
      </p:sp>
      <p:sp>
        <p:nvSpPr>
          <p:cNvPr id="56" name="Text 53"/>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mixed)</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case pattern: the item is the delayed topic, so it is NOMINATIVE — ʿindī kitābun, ʿindī sayyāratāni, ʿindī kutubun. Other forms follow the POS-01 endings: ʿindakumā, ʿindakum, ʿindakunna, ʿindahumā, ʿindahunna.</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LI- + NOUN OR PRONOUN = BELONGS TO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It is mine, yours, his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لِـ +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5486400" y="2267712"/>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لِي.</a:t>
            </a:r>
            <a:endParaRPr lang="ar-SA" sz="2200" dirty="0"/>
          </a:p>
        </p:txBody>
      </p:sp>
      <p:sp>
        <p:nvSpPr>
          <p:cNvPr id="21" name="Text 18"/>
          <p:cNvSpPr txBox="1"/>
          <p:nvPr/>
        </p:nvSpPr>
        <p:spPr>
          <a:xfrm>
            <a:off x="3108960" y="2267712"/>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a:t>
            </a:r>
            <a:endParaRPr lang="ar-SA" sz="2200" dirty="0"/>
          </a:p>
        </p:txBody>
      </p:sp>
      <p:sp>
        <p:nvSpPr>
          <p:cNvPr id="22" name="Text 19"/>
          <p:cNvSpPr txBox="1"/>
          <p:nvPr/>
        </p:nvSpPr>
        <p:spPr>
          <a:xfrm>
            <a:off x="566928" y="2267712"/>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5486400" y="2794145"/>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الْمَشْرُوعُ لَنَا.</a:t>
            </a:r>
            <a:endParaRPr lang="ar-SA" sz="2200" dirty="0"/>
          </a:p>
        </p:txBody>
      </p:sp>
      <p:sp>
        <p:nvSpPr>
          <p:cNvPr id="27" name="Text 24"/>
          <p:cNvSpPr txBox="1"/>
          <p:nvPr/>
        </p:nvSpPr>
        <p:spPr>
          <a:xfrm>
            <a:off x="3108960" y="2794145"/>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لَنَا</a:t>
            </a:r>
            <a:endParaRPr lang="ar-SA" sz="2200" dirty="0"/>
          </a:p>
        </p:txBody>
      </p:sp>
      <p:sp>
        <p:nvSpPr>
          <p:cNvPr id="28" name="Text 25"/>
          <p:cNvSpPr txBox="1"/>
          <p:nvPr/>
        </p:nvSpPr>
        <p:spPr>
          <a:xfrm>
            <a:off x="566928" y="27941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5486400" y="3320578"/>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الْمَقْعَدُ لَكَ.</a:t>
            </a:r>
            <a:endParaRPr lang="ar-SA" sz="2200" dirty="0"/>
          </a:p>
        </p:txBody>
      </p:sp>
      <p:sp>
        <p:nvSpPr>
          <p:cNvPr id="33" name="Text 30"/>
          <p:cNvSpPr txBox="1"/>
          <p:nvPr/>
        </p:nvSpPr>
        <p:spPr>
          <a:xfrm>
            <a:off x="3108960" y="3320578"/>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a:t>
            </a:r>
            <a:endParaRPr lang="ar-SA" sz="2200" dirty="0"/>
          </a:p>
        </p:txBody>
      </p:sp>
      <p:sp>
        <p:nvSpPr>
          <p:cNvPr id="34" name="Text 31"/>
          <p:cNvSpPr txBox="1"/>
          <p:nvPr/>
        </p:nvSpPr>
        <p:spPr>
          <a:xfrm>
            <a:off x="566928" y="33205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(one male)</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5486400" y="3847011"/>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الرِّسَالَةُ لَكِ.</a:t>
            </a:r>
            <a:endParaRPr lang="ar-SA" sz="2200" dirty="0"/>
          </a:p>
        </p:txBody>
      </p:sp>
      <p:sp>
        <p:nvSpPr>
          <p:cNvPr id="39" name="Text 36"/>
          <p:cNvSpPr txBox="1"/>
          <p:nvPr/>
        </p:nvSpPr>
        <p:spPr>
          <a:xfrm>
            <a:off x="3108960" y="3847011"/>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a:t>
            </a:r>
            <a:endParaRPr lang="ar-SA" sz="2200" dirty="0"/>
          </a:p>
        </p:txBody>
      </p:sp>
      <p:sp>
        <p:nvSpPr>
          <p:cNvPr id="40" name="Text 37"/>
          <p:cNvSpPr txBox="1"/>
          <p:nvPr/>
        </p:nvSpPr>
        <p:spPr>
          <a:xfrm>
            <a:off x="566928" y="38470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(one female)</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5486400" y="4373445"/>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الْقَلَمُ لَهُ.</a:t>
            </a:r>
            <a:endParaRPr lang="ar-SA" sz="2200" dirty="0"/>
          </a:p>
        </p:txBody>
      </p:sp>
      <p:sp>
        <p:nvSpPr>
          <p:cNvPr id="43" name="Text 40"/>
          <p:cNvSpPr txBox="1"/>
          <p:nvPr/>
        </p:nvSpPr>
        <p:spPr>
          <a:xfrm>
            <a:off x="3108960" y="4373445"/>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لَهُ</a:t>
            </a:r>
            <a:endParaRPr lang="ar-SA" sz="2200" dirty="0"/>
          </a:p>
        </p:txBody>
      </p:sp>
      <p:sp>
        <p:nvSpPr>
          <p:cNvPr id="44" name="Text 41"/>
          <p:cNvSpPr txBox="1"/>
          <p:nvPr/>
        </p:nvSpPr>
        <p:spPr>
          <a:xfrm>
            <a:off x="566928" y="43734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him</a:t>
            </a:r>
            <a:endParaRPr lang="en-US" sz="1100" dirty="0"/>
          </a:p>
        </p:txBody>
      </p:sp>
      <p:sp>
        <p:nvSpPr>
          <p:cNvPr id="45" name="Shape 42"/>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8" name="Text 45"/>
          <p:cNvSpPr txBox="1"/>
          <p:nvPr/>
        </p:nvSpPr>
        <p:spPr>
          <a:xfrm>
            <a:off x="5486400" y="4899878"/>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السَّيَّارَةُ لَهَا.</a:t>
            </a:r>
            <a:endParaRPr lang="ar-SA" sz="2200" dirty="0"/>
          </a:p>
        </p:txBody>
      </p:sp>
      <p:sp>
        <p:nvSpPr>
          <p:cNvPr id="49" name="Text 46"/>
          <p:cNvSpPr txBox="1"/>
          <p:nvPr/>
        </p:nvSpPr>
        <p:spPr>
          <a:xfrm>
            <a:off x="3108960" y="4899878"/>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لَهَا</a:t>
            </a:r>
            <a:endParaRPr lang="ar-SA" sz="2200" dirty="0"/>
          </a:p>
        </p:txBody>
      </p:sp>
      <p:sp>
        <p:nvSpPr>
          <p:cNvPr id="50" name="Text 47"/>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a:t>
            </a:r>
            <a:endParaRPr lang="en-US" sz="1100" dirty="0"/>
          </a:p>
        </p:txBody>
      </p:sp>
      <p:sp>
        <p:nvSpPr>
          <p:cNvPr id="51" name="Shape 48"/>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2" name="Text 49"/>
          <p:cNvSpPr txBox="1"/>
          <p:nvPr/>
        </p:nvSpPr>
        <p:spPr>
          <a:xfrm>
            <a:off x="5486400" y="5426311"/>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الْقَرَارُ لَهُمْ.</a:t>
            </a:r>
            <a:endParaRPr lang="ar-SA" sz="2200" dirty="0"/>
          </a:p>
        </p:txBody>
      </p:sp>
      <p:sp>
        <p:nvSpPr>
          <p:cNvPr id="53" name="Text 50"/>
          <p:cNvSpPr txBox="1"/>
          <p:nvPr/>
        </p:nvSpPr>
        <p:spPr>
          <a:xfrm>
            <a:off x="3108960" y="5426311"/>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لَهُمْ</a:t>
            </a:r>
            <a:endParaRPr lang="ar-SA" sz="2200" dirty="0"/>
          </a:p>
        </p:txBody>
      </p:sp>
      <p:sp>
        <p:nvSpPr>
          <p:cNvPr id="54" name="Text 51"/>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them (m. / mixed)</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spelling: li- becomes la- before most pronouns (laka, lahu), but li + -ī = lī. Before al- the alif drops: li-l-muʿallimi, li-ṭ-ṭullābi.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CHOOSE BY MEANING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Has, belongs, or with me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 أَمْ لِـ أَمْ 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1879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Intended 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852160" y="2267712"/>
            <a:ext cx="57881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سَيَّارَةٌ.</a:t>
            </a:r>
            <a:endParaRPr lang="ar-SA" sz="2200" dirty="0"/>
          </a:p>
        </p:txBody>
      </p:sp>
      <p:sp>
        <p:nvSpPr>
          <p:cNvPr id="21" name="Text 18"/>
          <p:cNvSpPr txBox="1"/>
          <p:nvPr/>
        </p:nvSpPr>
        <p:spPr>
          <a:xfrm>
            <a:off x="4224528"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ʿinda</a:t>
            </a:r>
            <a:endParaRPr lang="en-US" sz="1100" dirty="0"/>
          </a:p>
        </p:txBody>
      </p:sp>
      <p:sp>
        <p:nvSpPr>
          <p:cNvPr id="22" name="Text 19"/>
          <p:cNvSpPr txBox="1"/>
          <p:nvPr/>
        </p:nvSpPr>
        <p:spPr>
          <a:xfrm>
            <a:off x="56692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someone has / it is available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852160" y="3054096"/>
            <a:ext cx="57881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السَّيَّارَةُ لِي.</a:t>
            </a:r>
            <a:endParaRPr lang="ar-SA" sz="2200" dirty="0"/>
          </a:p>
        </p:txBody>
      </p:sp>
      <p:sp>
        <p:nvSpPr>
          <p:cNvPr id="27" name="Text 24"/>
          <p:cNvSpPr txBox="1"/>
          <p:nvPr/>
        </p:nvSpPr>
        <p:spPr>
          <a:xfrm>
            <a:off x="4224528"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t>
            </a:r>
            <a:endParaRPr lang="en-US" sz="1100" dirty="0"/>
          </a:p>
        </p:txBody>
      </p:sp>
      <p:sp>
        <p:nvSpPr>
          <p:cNvPr id="28" name="Text 25"/>
          <p:cNvSpPr txBox="1"/>
          <p:nvPr/>
        </p:nvSpPr>
        <p:spPr>
          <a:xfrm>
            <a:off x="56692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belongs to / is for someone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852160" y="3840480"/>
            <a:ext cx="57881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السَّيَّارَةُ مَعِي الْيَوْمَ.</a:t>
            </a:r>
            <a:endParaRPr lang="ar-SA" sz="2200" dirty="0"/>
          </a:p>
        </p:txBody>
      </p:sp>
      <p:sp>
        <p:nvSpPr>
          <p:cNvPr id="33" name="Text 30"/>
          <p:cNvSpPr txBox="1"/>
          <p:nvPr/>
        </p:nvSpPr>
        <p:spPr>
          <a:xfrm>
            <a:off x="4224528"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a:t>
            </a:r>
            <a:endParaRPr lang="en-US" sz="1100" dirty="0"/>
          </a:p>
        </p:txBody>
      </p:sp>
      <p:sp>
        <p:nvSpPr>
          <p:cNvPr id="34" name="Text 31"/>
          <p:cNvSpPr txBox="1"/>
          <p:nvPr/>
        </p:nvSpPr>
        <p:spPr>
          <a:xfrm>
            <a:off x="56692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physically with someone now</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852160" y="4626864"/>
            <a:ext cx="57881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فِكْرَةٌ، وَلَكِنَّ الْقَرَارَ لِلْمُدِيرِ.</a:t>
            </a:r>
            <a:endParaRPr lang="ar-SA" sz="2200" dirty="0"/>
          </a:p>
        </p:txBody>
      </p:sp>
      <p:sp>
        <p:nvSpPr>
          <p:cNvPr id="39" name="Text 36"/>
          <p:cNvSpPr txBox="1"/>
          <p:nvPr/>
        </p:nvSpPr>
        <p:spPr>
          <a:xfrm>
            <a:off x="4224528"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ʿinda + li-</a:t>
            </a:r>
            <a:endParaRPr lang="en-US" sz="1100" dirty="0"/>
          </a:p>
        </p:txBody>
      </p:sp>
      <p:sp>
        <p:nvSpPr>
          <p:cNvPr id="40" name="Text 37"/>
          <p:cNvSpPr txBox="1"/>
          <p:nvPr/>
        </p:nvSpPr>
        <p:spPr>
          <a:xfrm>
            <a:off x="566928" y="4626864"/>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relationships together</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three overlap in English (“have”) but focus on different relationships. Maʿī can mean someone else’s passport is with me today; lī means it is mine.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QUESTIONS AND NEGATION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 answer, deny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وَالنَّفْيُ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Purpose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949440" y="226771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عِنْدَكِ سُؤَالٌ؟</a:t>
            </a:r>
            <a:endParaRPr lang="ar-SA" sz="2200" dirty="0"/>
          </a:p>
        </p:txBody>
      </p:sp>
      <p:sp>
        <p:nvSpPr>
          <p:cNvPr id="21" name="Text 18"/>
          <p:cNvSpPr txBox="1"/>
          <p:nvPr/>
        </p:nvSpPr>
        <p:spPr>
          <a:xfrm>
            <a:off x="367588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 + ʿinda + item</a:t>
            </a:r>
            <a:endParaRPr lang="en-US" sz="11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if someone has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949440" y="2881884"/>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عِنْدَكُمْ؟</a:t>
            </a:r>
            <a:endParaRPr lang="ar-SA" sz="2200" dirty="0"/>
          </a:p>
        </p:txBody>
      </p:sp>
      <p:sp>
        <p:nvSpPr>
          <p:cNvPr id="27" name="Text 24"/>
          <p:cNvSpPr txBox="1"/>
          <p:nvPr/>
        </p:nvSpPr>
        <p:spPr>
          <a:xfrm>
            <a:off x="367588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mādhā + ʿinda</a:t>
            </a:r>
            <a:endParaRPr lang="en-US" sz="11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what someone has</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6949440" y="3496056"/>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لِمَنْ هَذِهِ الْحَقِيبَةُ؟</a:t>
            </a:r>
            <a:endParaRPr lang="ar-SA" sz="2200" dirty="0"/>
          </a:p>
        </p:txBody>
      </p:sp>
      <p:sp>
        <p:nvSpPr>
          <p:cNvPr id="31" name="Text 28"/>
          <p:cNvSpPr txBox="1"/>
          <p:nvPr/>
        </p:nvSpPr>
        <p:spPr>
          <a:xfrm>
            <a:off x="367588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li-man + item</a:t>
            </a:r>
            <a:endParaRPr lang="en-US" sz="1100" dirty="0"/>
          </a:p>
        </p:txBody>
      </p:sp>
      <p:sp>
        <p:nvSpPr>
          <p:cNvPr id="32" name="Text 29"/>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who owns it</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949440" y="4110228"/>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لَهَا.</a:t>
            </a:r>
            <a:endParaRPr lang="ar-SA" sz="2200" dirty="0"/>
          </a:p>
        </p:txBody>
      </p:sp>
      <p:sp>
        <p:nvSpPr>
          <p:cNvPr id="37" name="Text 34"/>
          <p:cNvSpPr txBox="1"/>
          <p:nvPr/>
        </p:nvSpPr>
        <p:spPr>
          <a:xfrm>
            <a:off x="367588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item + li- + pronoun</a:t>
            </a:r>
            <a:endParaRPr lang="en-US" sz="1100" dirty="0"/>
          </a:p>
        </p:txBody>
      </p:sp>
      <p:sp>
        <p:nvSpPr>
          <p:cNvPr id="38" name="Text 35"/>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ownership</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949440" y="4724400"/>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لَيْسَ عِنْدِي وَقْتٌ.</a:t>
            </a:r>
            <a:endParaRPr lang="ar-SA" sz="2200" dirty="0"/>
          </a:p>
        </p:txBody>
      </p:sp>
      <p:sp>
        <p:nvSpPr>
          <p:cNvPr id="43" name="Text 40"/>
          <p:cNvSpPr txBox="1"/>
          <p:nvPr/>
        </p:nvSpPr>
        <p:spPr>
          <a:xfrm>
            <a:off x="367588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 + ʿinda</a:t>
            </a:r>
            <a:endParaRPr lang="en-US" sz="11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deny having</a:t>
            </a:r>
            <a:endParaRPr lang="en-US" sz="1100" dirty="0"/>
          </a:p>
        </p:txBody>
      </p:sp>
      <p:sp>
        <p:nvSpPr>
          <p:cNvPr id="45" name="Shape 42"/>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949440" y="533857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الْكِتَابُ لَيْسَ لِي.</a:t>
            </a:r>
            <a:endParaRPr lang="ar-SA" sz="2200" dirty="0"/>
          </a:p>
        </p:txBody>
      </p:sp>
      <p:sp>
        <p:nvSpPr>
          <p:cNvPr id="49" name="Text 46"/>
          <p:cNvSpPr txBox="1"/>
          <p:nvPr/>
        </p:nvSpPr>
        <p:spPr>
          <a:xfrm>
            <a:off x="367588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item + laysa + li-</a:t>
            </a:r>
            <a:endParaRPr lang="en-US" sz="1100" dirty="0"/>
          </a:p>
        </p:txBody>
      </p:sp>
      <p:sp>
        <p:nvSpPr>
          <p:cNvPr id="50" name="Text 47"/>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deny owning</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lā ʿindī is not the formal pattern — use laysa ʿindī … (or lā amliku … for literal ownership). After laysa ʿindī the item stays nominative: waqtun.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 PART 5 · NUMBER AND AGREEMENT OF THE ITEM (WEBSITE TABLE) · STRETCH</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The item keeps its own gender and number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مُطَابَقَةُ الْمَمْلُوكِ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Item 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adjective (owner f.)</a:t>
            </a:r>
            <a:endParaRPr lang="en-US" sz="1100" dirty="0"/>
          </a:p>
        </p:txBody>
      </p:sp>
      <p:sp>
        <p:nvSpPr>
          <p:cNvPr id="21" name="Text 18"/>
          <p:cNvSpPr txBox="1"/>
          <p:nvPr/>
        </p:nvSpPr>
        <p:spPr>
          <a:xfrm>
            <a:off x="347472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عِنْدَهَا قَلَمٌ جَدِيدٌ.</a:t>
            </a:r>
            <a:endParaRPr lang="ar-SA" sz="22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adjective (owner m.)</a:t>
            </a:r>
            <a:endParaRPr lang="en-US" sz="1100" dirty="0"/>
          </a:p>
        </p:txBody>
      </p:sp>
      <p:sp>
        <p:nvSpPr>
          <p:cNvPr id="27" name="Text 24"/>
          <p:cNvSpPr txBox="1"/>
          <p:nvPr/>
        </p:nvSpPr>
        <p:spPr>
          <a:xfrm>
            <a:off x="347472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 سَيَّارَةٌ جَدِيدَةٌ.</a:t>
            </a:r>
            <a:endParaRPr lang="ar-SA" sz="22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dual -āni</a:t>
            </a:r>
            <a:endParaRPr lang="en-US" sz="1100" dirty="0"/>
          </a:p>
        </p:txBody>
      </p:sp>
      <p:sp>
        <p:nvSpPr>
          <p:cNvPr id="33" name="Text 30"/>
          <p:cNvSpPr txBox="1"/>
          <p:nvPr/>
        </p:nvSpPr>
        <p:spPr>
          <a:xfrm>
            <a:off x="347472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عِنْدَهُمَا طِفْلَانِ.</a:t>
            </a:r>
            <a:endParaRPr lang="ar-SA" sz="22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plural agreement</a:t>
            </a:r>
            <a:endParaRPr lang="en-US" sz="1100" dirty="0"/>
          </a:p>
        </p:txBody>
      </p:sp>
      <p:sp>
        <p:nvSpPr>
          <p:cNvPr id="37" name="Text 34"/>
          <p:cNvSpPr txBox="1"/>
          <p:nvPr/>
        </p:nvSpPr>
        <p:spPr>
          <a:xfrm>
            <a:off x="347472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عِنْدَنَا مُعَلِّمُونَ مُخْلِصُونَ.</a:t>
            </a:r>
            <a:endParaRPr lang="ar-SA" sz="2200" dirty="0"/>
          </a:p>
        </p:txBody>
      </p:sp>
      <p:sp>
        <p:nvSpPr>
          <p:cNvPr id="38" name="Text 35"/>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plural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singular adjective</a:t>
            </a:r>
            <a:endParaRPr lang="en-US" sz="1100" dirty="0"/>
          </a:p>
        </p:txBody>
      </p:sp>
      <p:sp>
        <p:nvSpPr>
          <p:cNvPr id="41" name="Text 38"/>
          <p:cNvSpPr txBox="1"/>
          <p:nvPr/>
        </p:nvSpPr>
        <p:spPr>
          <a:xfrm>
            <a:off x="347472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كُتُبٌ مُفِيدَةٌ.</a:t>
            </a:r>
            <a:endParaRPr lang="ar-SA" sz="2200" dirty="0"/>
          </a:p>
        </p:txBody>
      </p:sp>
      <p:sp>
        <p:nvSpPr>
          <p:cNvPr id="42" name="Text 39"/>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pronoun inside ʿindahā shows the owner; it does NOT make the item feminine. Check the item and its adjective as a pair.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have” (two people).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عِنْدَهُمَا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a new idea.”</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 فِكْرَةٌ جَدِيدَةٌ.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عِنْدَهَا فِكْرَةٌ جَدِيدَةٌ.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فِكْرَةً جَدِيدَةً.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seat is for you” (to one male).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الْمَقْعَدُ 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الْمَقْعَدُ لَكِ.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الْمَقْعَدُ عِنْدَكَ.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عِنْدَكُمَا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عِنْدَهُمْ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have” (two people).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عِنْدَهُمَا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عِنْدَهُمْ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عِنْدَهُنَّ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ʿindahumā.</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a new idea.”</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عِنْدَهُ فِكْرَةٌ جَدِيدَةٌ.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عِنْدَهَا فِكْرَةٌ جَدِيدَةٌ.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 فِكْرَةً جَدِيدَةً.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ʿIndahā + fikratun jadīdatun.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seat is for you” (to one male).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الْمَقْعَدُ 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الْمَقْعَدُ لَكِ.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الْمَقْعَدُ عِنْدَكَ.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Laka = for you (m.).</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choose the right marker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Has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عِنْدِي حَاسُوبٌ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Available to me: ʿinda.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Belongs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لِأَخِي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Owner: li-.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With 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Physically with me now.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Item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تَذْكِرَتَانِ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Nominative dual.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MARKER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ITEM (-u)</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عِنْدِي</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حَاسُوبٌ مَحْمُولٌ</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أَسْتَخْدِمُهُ لِلدِّرَاسَةِ، وَلَكِنَّ هَذَا الْهَاتِفَ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لِأَخِي</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جَوَازُ سَفَرِهِ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مَعِي</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الْيَوْمَ، لِأَنَّنَا سَنَذْهَبُ إِلَى الْمَطَارِ.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عِنْدَ أُخْتِي</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تَذْكِرَتَانِ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وَحَقِيبَتَاهَا فِي السَّيَّارَةِ.</a:t>
            </a:r>
            <a:endParaRPr lang="ar-SA" sz="15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have a laptop that I use for studying, but this phone is my brother’s. His passport is with me today because we are going to the airport. My sister has two tickets, and her two bags are in the car.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قَلَمٌ.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pen.</a:t>
            </a:r>
            <a:endParaRPr lang="en-US" sz="1250" dirty="0"/>
          </a:p>
          <a:p>
            <a:pPr indent="0" marL="0">
              <a:buNone/>
            </a:pPr>
            <a:r>
              <a:rPr lang="en-US" sz="1050" i="1" dirty="0">
                <a:solidFill>
                  <a:srgbClr val="8A6D1E"/>
                </a:solidFill>
                <a:latin typeface="Calibri" pitchFamily="34" charset="0"/>
                <a:cs typeface="Amiri" pitchFamily="2" charset="-78"/>
              </a:rPr>
              <a:t>Has: ʿinda.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الْقَلَمُ 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pen is mine.</a:t>
            </a:r>
            <a:endParaRPr lang="en-US" sz="1250" dirty="0"/>
          </a:p>
          <a:p>
            <a:pPr indent="0" marL="0">
              <a:buNone/>
            </a:pPr>
            <a:r>
              <a:rPr lang="en-US" sz="1050" i="1" dirty="0">
                <a:solidFill>
                  <a:srgbClr val="8A6D1E"/>
                </a:solidFill>
                <a:latin typeface="Calibri" pitchFamily="34" charset="0"/>
                <a:cs typeface="Amiri" pitchFamily="2" charset="-78"/>
              </a:rPr>
              <a:t>Belongs: li-.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الْقَلَمُ مَعِي.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pen is with me.</a:t>
            </a:r>
            <a:endParaRPr lang="en-US" sz="1250" dirty="0"/>
          </a:p>
          <a:p>
            <a:pPr indent="0" marL="0">
              <a:buNone/>
            </a:pPr>
            <a:r>
              <a:rPr lang="en-US" sz="1050" i="1" dirty="0">
                <a:solidFill>
                  <a:srgbClr val="8A6D1E"/>
                </a:solidFill>
                <a:latin typeface="Calibri" pitchFamily="34" charset="0"/>
                <a:cs typeface="Amiri" pitchFamily="2" charset="-78"/>
              </a:rPr>
              <a:t>With me now: maʿa.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لَيْسَ عِنْدِي وَقْتٌ.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no time.</a:t>
            </a:r>
            <a:endParaRPr lang="en-US" sz="1250" dirty="0"/>
          </a:p>
          <a:p>
            <a:pPr indent="0" marL="0">
              <a:buNone/>
            </a:pPr>
            <a:r>
              <a:rPr lang="en-US" sz="1050" i="1" dirty="0">
                <a:solidFill>
                  <a:srgbClr val="8A6D1E"/>
                </a:solidFill>
                <a:latin typeface="Calibri" pitchFamily="34" charset="0"/>
                <a:cs typeface="Amiri" pitchFamily="2" charset="-78"/>
              </a:rPr>
              <a:t>Negative: laysa ʿindī.</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HAS, BELONGS OR WITH? (WEBSITE MINI-CHECKS)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meaning to the marker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الْعَلَاقَةَ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7" name="Text 14"/>
          <p:cNvSpPr txBox="1"/>
          <p:nvPr/>
        </p:nvSpPr>
        <p:spPr>
          <a:xfrm>
            <a:off x="40050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ʿinda</a:t>
            </a:r>
            <a:endParaRPr lang="en-US" sz="1100" dirty="0"/>
          </a:p>
        </p:txBody>
      </p:sp>
      <p:sp>
        <p:nvSpPr>
          <p:cNvPr id="21" name="Text 18"/>
          <p:cNvSpPr txBox="1"/>
          <p:nvPr/>
        </p:nvSpPr>
        <p:spPr>
          <a:xfrm>
            <a:off x="4023360" y="226771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وَقْتٌ.</a:t>
            </a:r>
            <a:endParaRPr lang="ar-SA" sz="22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t>
            </a:r>
            <a:endParaRPr lang="en-US" sz="1100" dirty="0"/>
          </a:p>
        </p:txBody>
      </p:sp>
      <p:sp>
        <p:nvSpPr>
          <p:cNvPr id="27" name="Text 24"/>
          <p:cNvSpPr txBox="1"/>
          <p:nvPr/>
        </p:nvSpPr>
        <p:spPr>
          <a:xfrm>
            <a:off x="4023360" y="2881884"/>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الْوَقْتُ لِي.</a:t>
            </a:r>
            <a:endParaRPr lang="ar-SA" sz="22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time slot is mine.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a:t>
            </a:r>
            <a:endParaRPr lang="en-US" sz="1100" dirty="0"/>
          </a:p>
        </p:txBody>
      </p:sp>
      <p:sp>
        <p:nvSpPr>
          <p:cNvPr id="33" name="Text 30"/>
          <p:cNvSpPr txBox="1"/>
          <p:nvPr/>
        </p:nvSpPr>
        <p:spPr>
          <a:xfrm>
            <a:off x="4023360" y="3496056"/>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الْمَفَاتِيحُ مَعِي.</a:t>
            </a:r>
            <a:endParaRPr lang="ar-SA" sz="2200" dirty="0"/>
          </a:p>
        </p:txBody>
      </p:sp>
      <p:sp>
        <p:nvSpPr>
          <p:cNvPr id="34" name="Text 31"/>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keys are with me.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 + ʿinda</a:t>
            </a:r>
            <a:endParaRPr lang="en-US" sz="1100" dirty="0"/>
          </a:p>
        </p:txBody>
      </p:sp>
      <p:sp>
        <p:nvSpPr>
          <p:cNvPr id="39" name="Text 36"/>
          <p:cNvSpPr txBox="1"/>
          <p:nvPr/>
        </p:nvSpPr>
        <p:spPr>
          <a:xfrm>
            <a:off x="4023360" y="4110228"/>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عِنْدَكِ سُؤَالٌ؟</a:t>
            </a:r>
            <a:endParaRPr lang="ar-SA" sz="2200" dirty="0"/>
          </a:p>
        </p:txBody>
      </p:sp>
      <p:sp>
        <p:nvSpPr>
          <p:cNvPr id="40" name="Text 37"/>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(f.) have a question?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li-man</a:t>
            </a:r>
            <a:endParaRPr lang="en-US" sz="1100" dirty="0"/>
          </a:p>
        </p:txBody>
      </p:sp>
      <p:sp>
        <p:nvSpPr>
          <p:cNvPr id="43" name="Text 40"/>
          <p:cNvSpPr txBox="1"/>
          <p:nvPr/>
        </p:nvSpPr>
        <p:spPr>
          <a:xfrm>
            <a:off x="4023360" y="4724400"/>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لِمَنْ هَذِهِ الْحَقِيبَةُ؟</a:t>
            </a:r>
            <a:endParaRPr lang="ar-SA" sz="22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Whose bag is this?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 + li-</a:t>
            </a:r>
            <a:endParaRPr lang="en-US" sz="1100" dirty="0"/>
          </a:p>
        </p:txBody>
      </p:sp>
      <p:sp>
        <p:nvSpPr>
          <p:cNvPr id="47" name="Text 44"/>
          <p:cNvSpPr txBox="1"/>
          <p:nvPr/>
        </p:nvSpPr>
        <p:spPr>
          <a:xfrm>
            <a:off x="4023360" y="533857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الْكِتَابُ لَيْسَ لِي.</a:t>
            </a:r>
            <a:endParaRPr lang="ar-SA" sz="22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is not mine.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choose the structure that matches the relationship — availability, ownership, allocation or physical accompaniment.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WEBSITE PROOFREADING CLINIC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Correct, or needs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صَحِيحٌ أَمْ يَحْتَاجُ إِلَى 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قَلَمٌ.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الْمَقْعَدُ لِي.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عِنْدِي وَقْتٌ.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عِنْدَهَا كِتَابٌ جَدِيدٌ.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قَلَمًا.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عِنْدِي وَقْتٌ.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عِنْدَهَا كِتَابٌ جَدِيدَةٌ.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لِإِي هَذَا الْمَقْعَدُ.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repair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قَلَمٌ.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الْمَقْعَدُ لِي.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عِنْدِي وَقْتٌ.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عِنْدَهَا كِتَابٌ جَدِيدٌ.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repair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قَلَمًا.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عِنْدِي وَقْتٌ.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عِنْدَهَا كِتَابٌ جَدِيدَةٌ.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لِإِي هَذَا الْمَقْعَدُ.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الْكِتَابُ عِنْدِي.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Mine, or just with 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عِنْدِي الْمَفَاتِيحُ مَعِي.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Has or with me now?</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عِنْدِي قَلَمٌ.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anyone being contrasted?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الْكِتَابُ عِنْدِي.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الْكِتَابُ لِي.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say “it is mine”, use lī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عِنْدِي الْمَفَاتِيحُ مَعِي.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الْمَفَاتِيحُ مَعِي.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one focus; do not stack markers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عِنْدِي قَلَمٌ.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عِنْدِي قَلَمٌ.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Anā is not needed unless you are contrasting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MINI-CHECKS: LI- FAMILY, CHOOSE THE RELATIONSHIP, ASK AND NEGATE</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decision is theirs” (m. / mixed group).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الْقَرَارُ عِنْدَهُمْ.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الْقَرَارُ لَهُنَّ.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الْقَرَارُ لَهُمْ.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time.”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الْوَقْتُ لِي.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وَقْتٌ.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الْوَقْتُ مَعِي.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the keys with me.”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مَفَاتِيحُهَا.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الْمَفَاتِيحُ مَعِي.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الْمَفَاتِيحُ لِي.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a question?” (to one female).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سُؤَالٌ؟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لِمَنْ سُؤَالُكِ؟</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سُؤَالٌ؟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decision is theirs” (m. / mixed group).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الْقَرَارُ عِنْدَهُمْ.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الْقَرَارُ لَهُنَّ.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الْقَرَارُ لَهُمْ.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Lahum = for / belonging to them.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time.”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الْوَقْتُ لِي.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وَقْتٌ.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الْوَقْتُ مَعِي.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Availability: ʿindī.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the keys with me.”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مَفَاتِيحُهَا.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الْمَفَاتِيحُ مَعِي.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الْمَفَاتِيحُ لِي.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Physically with me: maʿī.</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a question?” (to one female).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عِنْدَكَ سُؤَالٌ؟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لِمَنْ سُؤَالُكِ؟</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عِنْدَكِ سُؤَالٌ؟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Hal + ʿindaki.</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ALLOCATION NOTICE (EXTENDED)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Trip notice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إِلَى طُلَّابِ الرِّحْلَةِ: الْغُرْفَةُ الْأُولَى لِلطُّلَّابِ، وَالثَّانِيَةُ لِلطَّالِبَاتِ. عِنْدَ كُلِّ مَجْمُوعَةٍ مِفْتَاحٌ، وَالْبِطَاقَاتُ مَعَ الْمُشْرِفَةِ. الْحَافِلَةُ الزَّرْقَاءُ لَنَا، وَالْحَمْرَاءُ لِمَدْرَسَةٍ أُخْرَى. لَيْسَ عِنْدَنَا وَقْتٌ طَوِيلٌ لِلْغَدَاءِ، فَخُذُوا طَعَامَكُمْ مَعَكُمْ. إِذَا كَانَ عِنْدَكُمْ سُؤَالٌ، فَالْمُشْرِفَةُ مَعَنَا طُولَ الْيَوْمِ.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الْمُشْرِفَةِ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supervisor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مِفْتَاحٌ</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key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الْبِطَاقَاتُ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cards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الزَّرْقَاءُ</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blue (one)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طُولَ الْيَوْمِ</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day</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second room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supervisor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cards?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rooms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bus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supervisor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bus is theirs?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red 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they take their food with them?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late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not much time for lunch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restaurant is closed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second room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boys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girls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supervisor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Wa-th-thāniyatu li-ṭ-ṭālibāti: allocation (li-).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cards?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rooms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bus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the supervisor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Maʿa l-mushrifati: physically with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bus is theirs?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blue one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red one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Al-ḥāfilatu z-zarqāʾu lanā.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they take their food with them?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is late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there is not much time for lunch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restaurant is closed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 ʿindanā waqtun ṭawīlun.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lost property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عِنْدَكَ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لِمَنْ هَذِهِ الْأَشْيَاءُ؟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فَقَدْتَ حَقِيبَتَكَ. اِسْأَلْ زَمِيلَكَ وَأَجِبْ.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عِنْدِي ___ وَ___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الْقَلَمُ ___ ، وَذَلِكَ الْكِتَابُ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هَلْ عِنْدَكَ ___ ؟ لِمَنْ ___ ؟ هَلْ هُوَ مَعَكَ الْآنَ؟</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لِمَنْ هَذِهِ الْحَقِيبَةُ السَّوْدَاءُ؟</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Whose is this black bag?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لَيْسَتْ لِي؛ حَقِيبَتِي مَعِي. رُبَّمَا هِيَ لِيُوسُفَ، فَعِنْدَهُ حَقِيبَةٌ سَوْدَاءُ.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It is not mine; my bag is with me. Maybe it is Yūsuf’s — he has a black bag.</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 family: who has what.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ʿinda abī … · ʿindī … · ʿindahā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who things belong to, one negative and one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al-ghurfatu lī · laysa ʿindī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account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columns: has / belongs / with.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عِنْدِي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الْغُرْفَةُ لِأُخْتِي، وَتِلْكَ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room is my sister’s, and that one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الْمَفَاتِيحُ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keys are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لِمَنْ هَذَا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Whose … is this?</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 أَخِي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has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لِي.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 is mine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عِنْدِي  ·  عِنْدَهُ  ·  عِنْدَهَا  ·  عِنْدَنَا  ·  لِي  ·  لَهُ  ·  لَهَا  ·  لَنَا  ·  مَعِي  ·  لِمَنْ  ·  لَيْسَ عِنْدِي  ·  وَقْتٌ  ·  سَيَّارَةٌ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account (110–130 words): ownership, availability and responsibility in a home, class, journey, event or workplace.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ʿinda forms and four li- forms.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maʿa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questions and one negative (laysa ʿindī).</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or plural item.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possessive suffixes and two iḍāfa phrases.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مَسْؤُولِيَّةٌ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responsibility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لِكُلِّ شَخْصٍ</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person has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دَائِمًا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always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promised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like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عَائِلَتِنَا لِكُلِّ شَخْصٍ مَسْؤُولِيَّةٌ. عِنْدَ أَبِي سَيَّارَةٌ كَبِيرَةٌ، وَهُوَ يُوصِلُنَا إِلَى الْمَدْرَسَةِ كُلَّ صَبَاحٍ. مَفَاتِيحُ الْبَيْتِ مَعَ أُمِّي دَائِمًا، لِأَنَّهَا آخِرُ مَنْ يَخْرُجُ. الْغُرْفَةُ الْكَبِيرَةُ لِي وَلِأُخْتِي، وَالصَّغِيرَةُ لِأَخِي الصَّغِيرِ. عِنْدَنَا حَاسُوبَانِ: الْأَوَّلُ لِلدِّرَاسَةِ، وَالثَّانِي لِأَبِي. لَيْسَ عِنْدِي هَاتِفٌ خَاصٌّ بَعْدُ، لَكِنَّ أُمِّي وَعَدَتْنِي بِهَاتِفٍ فِي عِيدِ مِيلَادِي. أُخْتِي عِنْدَهَا قِطَّةٌ صَغِيرَةٌ، وَإِطْعَامُ الْقِطَّةِ مَسْؤُولِيَّتُهَا. فِي يَوْمِ الْجُمُعَةِ الْمَطْبَخُ لِجَدَّتِي، فَهِيَ تَطْبُخُ لَنَا أَطْيَبَ طَعَامٍ. هَلْ عِنْدَكُمْ نِظَامٌ مِثْلُ نِظَامِنَا؟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our family everyone has a responsibility. My father has a big car, and he drives us to school every morning. The house keys are always with my mother, because she is the last one to leave. The big room is mine and my sister’s, and the small one is my little brother’s. We have two computers: the first is for studying and the second is my father’s. I do not have my own phone yet, but my mother has promised me a phone for my birthday. My sister has a little cat, and feeding the cat is her responsibility. On Fridays the kitchen belongs to my grandmother — she cooks us the most delicious food. Do you have a system like ours?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ʿinda (has)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 (belongs / for)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maʿa (with now)</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laysa ʿindī</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ʿindī the item ends in -un.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lī / lahu / lahā for “mine / his / hers”.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laysa ʿindī, not lā ʿindī.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ʿinda, li- or maʿa by meaning.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adjective matches the item, not the owner.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have two children” (two owners).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عِنْدَهُمَا طِفْلَانِ.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عِنْدَهُمْ طِفْلَيْنِ.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لَهُمَا طِفْلَيْنِ.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“Whose bag is this?”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عِنْدَ هَذِهِ الْحَقِيبَةِ؟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لِمَنْ هَذِهِ الْحَقِيبَةُ؟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حَقِيبَةٌ؟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combined answer.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عِنْدِي حَاسُوبٌ، وَلَكِنَّ هَذَا الْهَاتِفَ لِأَخِي، وَمَفَاتِيحُهُ مَعِي.</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عِنْدِي حَاسُوبًا، وَلَكِنَّ هَذَا الْهَاتِفُ عِنْدَ أَخِي لِي.</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لِي حَاسُوبٌ مَعَ أَخِي عِنْدِي.</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have two children” (two owners).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عِنْدَهُمَا طِفْلَانِ.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عِنْدَهُمْ طِفْلَيْنِ.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لَهُمَا طِفْلَيْنِ.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ʿIndahumā + ṭiflāni.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“Whose bag is this?”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عِنْدَ هَذِهِ الْحَقِيبَةِ؟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لِمَنْ هَذِهِ الْحَقِيبَةُ؟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عِنْدَكِ حَقِيبَةٌ؟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Li-man = whose.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combined answer.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عِنْدِي حَاسُوبٌ، وَلَكِنَّ هَذَا الْهَاتِفَ لِأَخِي، وَمَفَاتِيحُهُ مَعِي.</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عِنْدِي حَاسُوبًا، وَلَكِنَّ هَذَا الْهَاتِفُ عِنْدَ أَخِي لِي.</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لِي حَاسُوبٌ مَعَ أَخِي عِنْدِي.</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marker does its own job.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GM-POS-03 · Possessives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GM-INT-01: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GM-INT-01 · Yes / No Questions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yes / no question word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question hamza (yes / no)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نَعَمْ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yes (after a negative question)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To make a yes / no question, put hal in front: anta ṭālibun → hal anta ṭālibun? How would you ask “Do you have a pen?”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عِنْدَكَ قَلَمٌ؟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three with ʿindī / ʿindahu / ʿindahā, three with lī / lahu / lahā.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lost-property dialogue with li-man, hal ʿindaka and laysa ʿindī.</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account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GM-POS-03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GM-INT-01 · Yes / No Questions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أَسْئِلَةُ نَعَمْ وَلَا بِـ«هَلْ» وَهَمْزَةِ الِاسْتِفْهَامِ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has → ʿindī / ʿindahu / ʿindahā + item in -un · belongs to → lī / lahu / lahā / li-l-… · with me now → maʿī · ask: hal ʿindaka …? li-man …? · deny: laysa ʿindī … · the item keeps its own gender and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GM-POS-03 · Possession with ʿinda and li-</dc:title>
  <dc:subject>PptxGenJS Presentation</dc:subject>
  <dc:creator>Al Madina Online School · Arabic Department</dc:creator>
  <cp:lastModifiedBy>Al Madina Online School · Arabic Department</cp:lastModifiedBy>
  <cp:revision>1</cp:revision>
  <dcterms:created xsi:type="dcterms:W3CDTF">2026-10-11T06:42:27Z</dcterms:created>
  <dcterms:modified xsi:type="dcterms:W3CDTF">2026-10-11T06:42:27Z</dcterms:modified>
</cp:coreProperties>
</file>