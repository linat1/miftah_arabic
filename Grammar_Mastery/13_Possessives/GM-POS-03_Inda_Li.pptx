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Possessives › GM-POS-03 (“Possession with عِنْدَ and لِـ”).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ʿindī, ʿindaka, ʿindahu, ʿindahā … + item in -u (ʿindī qalamun); lī, laka, lahu, lahā for belonging; hal ʿindaka …? and li-man hādhā? Develop: the full families, laysa ʿindī for negation, and choosing ʿinda / li- / maʿa by meaning. Stretch: dual and plural items with agreement (ʿindahumā ṭiflāni), allocation (al-ghurfatu l-ūlā li-ṭ-ṭullābi) and combining all possession systems.
• Website warning: do not use bare lā before ʿinda as the formal pattern — say laysa ʿindī waqtun. The adjective matches the ITEM, not the owner: ʿindahā kitābun jadīdun.
• Colour code: teal = marker, blue = item. Brings together GM-POS-01 (suffixes), GM-POS-02 (iḍāfa), GM-NVS-04 (laysa) and GM-CP prepositions.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starter — GM-POS-01 pronoun endings, GM-CASE-01 nominative and GM-NVS-04 laysa.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Has → ʿinda · belongs to → li- · with me now → maʿa. The item stays nominative.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“ʿinda + pronoun”. Literally “with me (is) a question”. Students pass a pen round: ʿindī qalamun → ʿindahu qalamun → ʿindahā qalamun.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(3 min) — website “li- + noun or pronoun”. Other forms: lakumā, lakum, lakunna, lahumā, lahunna.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 website “Choose by meaning”. Row 4: I have an idea, but the decision belongs to the head teacher.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(2 min) — website “Questions and negation”. Recycles GM-NVS-04 laysa.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5 (2 min) — website “Number and agreement of the possessed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mini-checks: ʿinda and li- families.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“Combine all three possession systems” text. Website task: find a suffix (safarihi, ḥaqībatāhā), an iḍāfa (jawāzu safarihi), ʿinda, li- and maʿa.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cover column 2; students build each answer, then hold up 1 / 2 / 3 fingers for ʿinda / li- / maʿa.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website clinic items. For each repair card students say the correct form and the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website clinic items. For each repair card students say the correct form and the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mini-checks: li- family, choose the relationship, ask and negate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allocation notice (extended). Read it aloud once while students follow; then they hunt for today’s grammar.
Task: Website: explain the relationship each possession marker shows — has, belongs / allocated, or physically with.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Website allocation notice, extended by the teacher;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role-play. Sequence: ● 10s think → ↔ 45s rehearse aloud with mic muted → ◎ two named students on open mic (warned in advance) → + ? the class types one follow-up in chat → ↺ one student summarises.
Routes: Core uses the Core prompt and stem; Develop the Develop prompt; Stretch the last prompt.
Website role-play: ask who has an item, whose it is and whether it is with the person now — hal ʿindaka …? li-man hādhā? hal huwa laka? hal huwa maʿaka l-āna?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110–130 Arabic words about belongings and responsibilities in a home, class, journey, event or workplace.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(GM-INT-01 · Yes / No Questions) will spend class time USING this language, so students prepare it tonight — short, simple, easy to access (school guidance: “Simple, Short, Interesting, Relevant, Easy to access”). The five words prepare GM-INT-01 (website: yes / no questions with hal and the question hamza).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POSSESSIVES  ·  GM-POS-03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GM-POS-03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850" b="1" dirty="0">
                <a:solidFill>
                  <a:srgbClr val="FFFFFF"/>
                </a:solidFill>
                <a:latin typeface="Cambria" pitchFamily="34" charset="0"/>
                <a:cs typeface="Amiri" pitchFamily="2" charset="-78"/>
              </a:rPr>
              <a:t>Possession with ʿinda and li-</a:t>
            </a:r>
            <a:endParaRPr lang="en-US" sz="38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التَّعْبِيرُ عَنِ الْمِلْكِيَّةِ بِـ«عِنْدَ» وَ«لِـ»</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Arabic has no verb “to have”. ʿIndī qalamun = I have a pen; hādhā l-qalamu lī = this pen is mine; al-qalamu maʿī = the pen is with me (now). Choose the marker that matches the relationship.</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GM-POS-03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Possessives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GM-POS-03 · Possessives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GM-POS-03 · Possessives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ʿinda family; li- family; has / belongs / with; questions and negatives; item agreement.</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Has, belongs or with?; correct or repair;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GM-INT-01.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GM-POS-03 · Possessives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have a pen.”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قَلَمٌ.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عِنْدِي قَلَمٌ.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لِي قَلَمَ.</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book is mine.”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هَذَا الْكِتَابُ لِي.</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هَذَا الْكِتَابُ عِنْدِي.</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هَذَا الْكِتَابُ مَعِيَّةٌ.</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means “you have” to one female?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عِنْدَكَ</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عِنْدَكُمْ</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عِنْدَكِ</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asks “Whose is this?”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مَاذَا عِنْدَكَ؟</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أَيْنَ هَذَا؟</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لِمَنْ هَذَا؟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“with me/on my person”?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مَعِي</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عِنْدِي</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لِي</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GM-POS-03 · Possessives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have a pen.”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أَنَا قَلَمٌ.</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عِنْدِي قَلَمٌ.</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لِي قَلَمَ.</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ʿIndī + item in -un.</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book is mine.”</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هَذَا الْكِتَابُ لِي.</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هَذَا الْكِتَابُ عِنْدِي.</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هَذَا الْكِتَابُ مَعِيَّةٌ.</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Belongs to me: lī.</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means “you have” to one female?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عِنْدَكَ</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عِنْدَكُمْ</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عِنْدَكِ</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One female: ʿindaki.</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asks “Whose is this?”</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مَاذَا عِنْدَكَ؟</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أَيْنَ هَذَا؟</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لِمَنْ هَذَا؟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Li-man = whose?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“with me/on my person”?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مَعِي</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عِنْدِي</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لِي</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Maʿī = physically with me.</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Has → ʿinda · belongs to → li- · with me now → maʿa. The item stays nominative.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050" b="1" dirty="0">
                <a:solidFill>
                  <a:srgbClr val="0E7C86"/>
                </a:solidFill>
                <a:latin typeface="Amiri" pitchFamily="2" charset="-78"/>
                <a:cs typeface="Amiri" pitchFamily="2" charset="-78"/>
              </a:rPr>
              <a:t>عِنْدِي</a:t>
            </a:r>
            <a:pPr rtl="1" algn="ctr" indent="0" marL="0">
              <a:lnSpc>
                <a:spcPct val="120000"/>
              </a:lnSpc>
              <a:buNone/>
            </a:pPr>
            <a:r>
              <a:rPr lang="ar-SA" altLang="en-US" sz="2050" b="1" dirty="0">
                <a:solidFill>
                  <a:srgbClr val="1B3B6F"/>
                </a:solidFill>
                <a:latin typeface="Amiri" pitchFamily="2" charset="-78"/>
                <a:cs typeface="Amiri" pitchFamily="2" charset="-78"/>
              </a:rPr>
              <a:t> </a:t>
            </a:r>
            <a:pPr rtl="1" algn="ctr" indent="0" marL="0">
              <a:lnSpc>
                <a:spcPct val="120000"/>
              </a:lnSpc>
              <a:buNone/>
            </a:pPr>
            <a:r>
              <a:rPr lang="ar-SA" altLang="en-US" sz="2050" b="1" dirty="0">
                <a:solidFill>
                  <a:srgbClr val="1D5FBF"/>
                </a:solidFill>
                <a:latin typeface="Amiri" pitchFamily="2" charset="-78"/>
                <a:cs typeface="Amiri" pitchFamily="2" charset="-78"/>
              </a:rPr>
              <a:t>قَلَمٌ</a:t>
            </a:r>
            <a:pPr rtl="1" algn="ctr" indent="0" marL="0">
              <a:lnSpc>
                <a:spcPct val="120000"/>
              </a:lnSpc>
              <a:buNone/>
            </a:pPr>
            <a:r>
              <a:rPr lang="ar-SA" altLang="en-US" sz="2050" b="1" dirty="0">
                <a:solidFill>
                  <a:srgbClr val="1B3B6F"/>
                </a:solidFill>
                <a:latin typeface="Amiri" pitchFamily="2" charset="-78"/>
                <a:cs typeface="Amiri" pitchFamily="2" charset="-78"/>
              </a:rPr>
              <a:t> ‖ الْقَلَمُ </a:t>
            </a:r>
            <a:pPr rtl="1" algn="ctr" indent="0" marL="0">
              <a:lnSpc>
                <a:spcPct val="120000"/>
              </a:lnSpc>
              <a:buNone/>
            </a:pPr>
            <a:r>
              <a:rPr lang="ar-SA" altLang="en-US" sz="2050" b="1" dirty="0">
                <a:solidFill>
                  <a:srgbClr val="0E7C86"/>
                </a:solidFill>
                <a:latin typeface="Amiri" pitchFamily="2" charset="-78"/>
                <a:cs typeface="Amiri" pitchFamily="2" charset="-78"/>
              </a:rPr>
              <a:t>لِي</a:t>
            </a:r>
            <a:pPr rtl="1" algn="ctr" indent="0" marL="0">
              <a:lnSpc>
                <a:spcPct val="120000"/>
              </a:lnSpc>
              <a:buNone/>
            </a:pPr>
            <a:r>
              <a:rPr lang="ar-SA" altLang="en-US" sz="2050" b="1" dirty="0">
                <a:solidFill>
                  <a:srgbClr val="1B3B6F"/>
                </a:solidFill>
                <a:latin typeface="Amiri" pitchFamily="2" charset="-78"/>
                <a:cs typeface="Amiri" pitchFamily="2" charset="-78"/>
              </a:rPr>
              <a:t> ‖ الْقَلَمُ </a:t>
            </a:r>
            <a:pPr rtl="1" algn="ctr" indent="0" marL="0">
              <a:lnSpc>
                <a:spcPct val="120000"/>
              </a:lnSpc>
              <a:buNone/>
            </a:pPr>
            <a:r>
              <a:rPr lang="ar-SA" altLang="en-US" sz="2050" b="1" dirty="0">
                <a:solidFill>
                  <a:srgbClr val="0E7C86"/>
                </a:solidFill>
                <a:latin typeface="Amiri" pitchFamily="2" charset="-78"/>
                <a:cs typeface="Amiri" pitchFamily="2" charset="-78"/>
              </a:rPr>
              <a:t>مَعِي</a:t>
            </a:r>
            <a:endParaRPr lang="ar-SA" sz="20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GM-POS-03 · Possessives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Say what I and others have with ʿinda.</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Say who something belongs to with li-.</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Choose ʿinda, li- or maʿa by meaning.</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Ask and negate possession.</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ʿindī …, ʿindahu …, ʿindahā …</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ask li-man hādhā? and answer huwa lī.</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say laysa ʿindī …</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choose ʿinda, li- or maʿa correctly.</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use dual and plural items correctly.</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write 110–130 words on belongings and responsibilities.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GM-POS-03 · Possessives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عِنْدَ</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with / at — “has”</a:t>
            </a:r>
            <a:endParaRPr lang="en-US" sz="1350" dirty="0"/>
          </a:p>
          <a:p>
            <a:pPr indent="0" marL="0">
              <a:buNone/>
            </a:pPr>
            <a:r>
              <a:rPr lang="en-US" sz="1100" i="1" dirty="0">
                <a:solidFill>
                  <a:srgbClr val="5A6472"/>
                </a:solidFill>
                <a:latin typeface="Calibri" pitchFamily="34" charset="0"/>
                <a:cs typeface="Amiri" pitchFamily="2" charset="-78"/>
              </a:rPr>
              <a:t>ʿin-da</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عِنْدِي كِتَابٌ</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لِـ</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 / belongs to</a:t>
            </a:r>
            <a:endParaRPr lang="en-US" sz="1350" dirty="0"/>
          </a:p>
          <a:p>
            <a:pPr indent="0" marL="0">
              <a:buNone/>
            </a:pPr>
            <a:r>
              <a:rPr lang="en-US" sz="1100" i="1" dirty="0">
                <a:solidFill>
                  <a:srgbClr val="5A6472"/>
                </a:solidFill>
                <a:latin typeface="Calibri" pitchFamily="34" charset="0"/>
                <a:cs typeface="Amiri" pitchFamily="2" charset="-78"/>
              </a:rPr>
              <a:t>li</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هَذَا لِي</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مَعَ</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with (physically, now)</a:t>
            </a:r>
            <a:endParaRPr lang="en-US" sz="1350" dirty="0"/>
          </a:p>
          <a:p>
            <a:pPr indent="0" marL="0">
              <a:buNone/>
            </a:pPr>
            <a:r>
              <a:rPr lang="en-US" sz="1100" i="1" dirty="0">
                <a:solidFill>
                  <a:srgbClr val="5A6472"/>
                </a:solidFill>
                <a:latin typeface="Calibri" pitchFamily="34" charset="0"/>
                <a:cs typeface="Amiri" pitchFamily="2" charset="-78"/>
              </a:rPr>
              <a:t>ma-ʿa</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الْمِفْتَاحُ مَعِي</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لِمَنْ؟</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whose? / for whom?</a:t>
            </a:r>
            <a:endParaRPr lang="en-US" sz="1350" dirty="0"/>
          </a:p>
          <a:p>
            <a:pPr indent="0" marL="0">
              <a:buNone/>
            </a:pPr>
            <a:r>
              <a:rPr lang="en-US" sz="1100" i="1" dirty="0">
                <a:solidFill>
                  <a:srgbClr val="5A6472"/>
                </a:solidFill>
                <a:latin typeface="Calibri" pitchFamily="34" charset="0"/>
                <a:cs typeface="Amiri" pitchFamily="2" charset="-78"/>
              </a:rPr>
              <a:t>li-man?</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لِمَنْ هَذَا؟</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لَيْسَ عِنْدِي</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do not have</a:t>
            </a:r>
            <a:endParaRPr lang="en-US" sz="1350" dirty="0"/>
          </a:p>
          <a:p>
            <a:pPr indent="0" marL="0">
              <a:buNone/>
            </a:pPr>
            <a:r>
              <a:rPr lang="en-US" sz="1100" i="1" dirty="0">
                <a:solidFill>
                  <a:srgbClr val="5A6472"/>
                </a:solidFill>
                <a:latin typeface="Calibri" pitchFamily="34" charset="0"/>
                <a:cs typeface="Amiri" pitchFamily="2" charset="-78"/>
              </a:rPr>
              <a:t>lay-sa ʿin-dī</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لَيْسَ عِنْدِي وَقْتٌ</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الْمِلْكِيَّةُ</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possession / ownership</a:t>
            </a:r>
            <a:endParaRPr lang="en-US" sz="1350" dirty="0"/>
          </a:p>
          <a:p>
            <a:pPr indent="0" marL="0">
              <a:buNone/>
            </a:pPr>
            <a:r>
              <a:rPr lang="en-US" sz="1100" i="1" dirty="0">
                <a:solidFill>
                  <a:srgbClr val="5A6472"/>
                </a:solidFill>
                <a:latin typeface="Calibri" pitchFamily="34" charset="0"/>
                <a:cs typeface="Amiri" pitchFamily="2" charset="-78"/>
              </a:rPr>
              <a:t>al-mil-kiy-ya-tu</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عِنْدَ · لِـ · مَعَ</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GM-POS-03 · Possessives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1 · ʿINDA + PRONOUN = “HAS”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With me = I have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عِنْدَ + الضَّمِيرِ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650992" y="1810512"/>
            <a:ext cx="6007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Website model</a:t>
            </a:r>
            <a:endParaRPr lang="en-US" sz="1100" dirty="0"/>
          </a:p>
        </p:txBody>
      </p:sp>
      <p:sp>
        <p:nvSpPr>
          <p:cNvPr id="17" name="Text 14"/>
          <p:cNvSpPr txBox="1"/>
          <p:nvPr/>
        </p:nvSpPr>
        <p:spPr>
          <a:xfrm>
            <a:off x="309067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Form</a:t>
            </a:r>
            <a:endParaRPr lang="en-US" sz="1100" dirty="0"/>
          </a:p>
        </p:txBody>
      </p:sp>
      <p:sp>
        <p:nvSpPr>
          <p:cNvPr id="18" name="Text 15"/>
          <p:cNvSpPr txBox="1"/>
          <p:nvPr/>
        </p:nvSpPr>
        <p:spPr>
          <a:xfrm>
            <a:off x="5303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Person</a:t>
            </a:r>
            <a:endParaRPr lang="en-US" sz="1100" dirty="0"/>
          </a:p>
        </p:txBody>
      </p:sp>
      <p:sp>
        <p:nvSpPr>
          <p:cNvPr id="19" name="Shape 16"/>
          <p:cNvSpPr/>
          <p:nvPr/>
        </p:nvSpPr>
        <p:spPr>
          <a:xfrm>
            <a:off x="457200" y="2267712"/>
            <a:ext cx="11274552" cy="471569"/>
          </a:xfrm>
          <a:prstGeom prst="roundRect">
            <a:avLst>
              <a:gd name="adj" fmla="val 9695"/>
            </a:avLst>
          </a:prstGeom>
          <a:solidFill>
            <a:srgbClr val="FFFFFF"/>
          </a:solidFill>
          <a:ln w="9525">
            <a:solidFill>
              <a:srgbClr val="D8D0BF"/>
            </a:solidFill>
            <a:prstDash val="solid"/>
          </a:ln>
        </p:spPr>
      </p:sp>
      <p:sp>
        <p:nvSpPr>
          <p:cNvPr id="20" name="Text 17"/>
          <p:cNvSpPr txBox="1"/>
          <p:nvPr/>
        </p:nvSpPr>
        <p:spPr>
          <a:xfrm>
            <a:off x="5669280" y="2267712"/>
            <a:ext cx="597103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عِنْدِي سُؤَالٌ.</a:t>
            </a:r>
            <a:endParaRPr lang="ar-SA" sz="2200" dirty="0"/>
          </a:p>
        </p:txBody>
      </p:sp>
      <p:sp>
        <p:nvSpPr>
          <p:cNvPr id="21" name="Text 18"/>
          <p:cNvSpPr txBox="1"/>
          <p:nvPr/>
        </p:nvSpPr>
        <p:spPr>
          <a:xfrm>
            <a:off x="3108960" y="2267712"/>
            <a:ext cx="23774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عِنْدِي</a:t>
            </a:r>
            <a:endParaRPr lang="ar-SA" sz="2200" dirty="0"/>
          </a:p>
        </p:txBody>
      </p:sp>
      <p:sp>
        <p:nvSpPr>
          <p:cNvPr id="22" name="Text 19"/>
          <p:cNvSpPr txBox="1"/>
          <p:nvPr/>
        </p:nvSpPr>
        <p:spPr>
          <a:xfrm>
            <a:off x="566928" y="2267712"/>
            <a:ext cx="237744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794145"/>
            <a:ext cx="11274552" cy="471569"/>
          </a:xfrm>
          <a:prstGeom prst="roundRect">
            <a:avLst>
              <a:gd name="adj" fmla="val 9695"/>
            </a:avLst>
          </a:prstGeom>
          <a:solidFill>
            <a:srgbClr val="F4F1EA"/>
          </a:solidFill>
          <a:ln w="9525">
            <a:solidFill>
              <a:srgbClr val="D8D0BF"/>
            </a:solidFill>
            <a:prstDash val="solid"/>
          </a:ln>
        </p:spPr>
      </p:sp>
      <p:sp>
        <p:nvSpPr>
          <p:cNvPr id="26" name="Text 23"/>
          <p:cNvSpPr txBox="1"/>
          <p:nvPr/>
        </p:nvSpPr>
        <p:spPr>
          <a:xfrm>
            <a:off x="5669280" y="2794145"/>
            <a:ext cx="597103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عِنْدَنَا وَقْتٌ.</a:t>
            </a:r>
            <a:endParaRPr lang="ar-SA" sz="2200" dirty="0"/>
          </a:p>
        </p:txBody>
      </p:sp>
      <p:sp>
        <p:nvSpPr>
          <p:cNvPr id="27" name="Text 24"/>
          <p:cNvSpPr txBox="1"/>
          <p:nvPr/>
        </p:nvSpPr>
        <p:spPr>
          <a:xfrm>
            <a:off x="3108960" y="2794145"/>
            <a:ext cx="23774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عِنْدَنَا</a:t>
            </a:r>
            <a:endParaRPr lang="ar-SA" sz="2200" dirty="0"/>
          </a:p>
        </p:txBody>
      </p:sp>
      <p:sp>
        <p:nvSpPr>
          <p:cNvPr id="28" name="Text 25"/>
          <p:cNvSpPr txBox="1"/>
          <p:nvPr/>
        </p:nvSpPr>
        <p:spPr>
          <a:xfrm>
            <a:off x="566928" y="2794145"/>
            <a:ext cx="237744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a:t>
            </a:r>
            <a:endParaRPr lang="en-US" sz="1100" dirty="0"/>
          </a:p>
        </p:txBody>
      </p:sp>
      <p:sp>
        <p:nvSpPr>
          <p:cNvPr id="29" name="Shape 26"/>
          <p:cNvSpPr/>
          <p:nvPr/>
        </p:nvSpPr>
        <p:spPr>
          <a:xfrm>
            <a:off x="11091672" y="2839865"/>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83986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320578"/>
            <a:ext cx="11274552" cy="471569"/>
          </a:xfrm>
          <a:prstGeom prst="roundRect">
            <a:avLst>
              <a:gd name="adj" fmla="val 9695"/>
            </a:avLst>
          </a:prstGeom>
          <a:solidFill>
            <a:srgbClr val="FFFFFF"/>
          </a:solidFill>
          <a:ln w="9525">
            <a:solidFill>
              <a:srgbClr val="D8D0BF"/>
            </a:solidFill>
            <a:prstDash val="solid"/>
          </a:ln>
        </p:spPr>
      </p:sp>
      <p:sp>
        <p:nvSpPr>
          <p:cNvPr id="32" name="Text 29"/>
          <p:cNvSpPr txBox="1"/>
          <p:nvPr/>
        </p:nvSpPr>
        <p:spPr>
          <a:xfrm>
            <a:off x="5669280" y="3320578"/>
            <a:ext cx="597103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هَلْ عِنْدَكَ قَلَمٌ؟</a:t>
            </a:r>
            <a:endParaRPr lang="ar-SA" sz="2200" dirty="0"/>
          </a:p>
        </p:txBody>
      </p:sp>
      <p:sp>
        <p:nvSpPr>
          <p:cNvPr id="33" name="Text 30"/>
          <p:cNvSpPr txBox="1"/>
          <p:nvPr/>
        </p:nvSpPr>
        <p:spPr>
          <a:xfrm>
            <a:off x="3108960" y="3320578"/>
            <a:ext cx="23774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عِنْدَكَ</a:t>
            </a:r>
            <a:endParaRPr lang="ar-SA" sz="2200" dirty="0"/>
          </a:p>
        </p:txBody>
      </p:sp>
      <p:sp>
        <p:nvSpPr>
          <p:cNvPr id="34" name="Text 31"/>
          <p:cNvSpPr txBox="1"/>
          <p:nvPr/>
        </p:nvSpPr>
        <p:spPr>
          <a:xfrm>
            <a:off x="566928" y="3320578"/>
            <a:ext cx="237744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(one male)</a:t>
            </a:r>
            <a:endParaRPr lang="en-US" sz="1100" dirty="0"/>
          </a:p>
        </p:txBody>
      </p:sp>
      <p:sp>
        <p:nvSpPr>
          <p:cNvPr id="35" name="Shape 32"/>
          <p:cNvSpPr/>
          <p:nvPr/>
        </p:nvSpPr>
        <p:spPr>
          <a:xfrm>
            <a:off x="11091672" y="336629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36629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847011"/>
            <a:ext cx="11274552" cy="471569"/>
          </a:xfrm>
          <a:prstGeom prst="roundRect">
            <a:avLst>
              <a:gd name="adj" fmla="val 9695"/>
            </a:avLst>
          </a:prstGeom>
          <a:solidFill>
            <a:srgbClr val="F4F1EA"/>
          </a:solidFill>
          <a:ln w="9525">
            <a:solidFill>
              <a:srgbClr val="D8D0BF"/>
            </a:solidFill>
            <a:prstDash val="solid"/>
          </a:ln>
        </p:spPr>
      </p:sp>
      <p:sp>
        <p:nvSpPr>
          <p:cNvPr id="38" name="Text 35"/>
          <p:cNvSpPr txBox="1"/>
          <p:nvPr/>
        </p:nvSpPr>
        <p:spPr>
          <a:xfrm>
            <a:off x="5669280" y="3847011"/>
            <a:ext cx="597103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هَلْ عِنْدَكِ فِكْرَةٌ؟</a:t>
            </a:r>
            <a:endParaRPr lang="ar-SA" sz="2200" dirty="0"/>
          </a:p>
        </p:txBody>
      </p:sp>
      <p:sp>
        <p:nvSpPr>
          <p:cNvPr id="39" name="Text 36"/>
          <p:cNvSpPr txBox="1"/>
          <p:nvPr/>
        </p:nvSpPr>
        <p:spPr>
          <a:xfrm>
            <a:off x="3108960" y="3847011"/>
            <a:ext cx="23774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عِنْدَكِ</a:t>
            </a:r>
            <a:endParaRPr lang="ar-SA" sz="2200" dirty="0"/>
          </a:p>
        </p:txBody>
      </p:sp>
      <p:sp>
        <p:nvSpPr>
          <p:cNvPr id="40" name="Text 37"/>
          <p:cNvSpPr txBox="1"/>
          <p:nvPr/>
        </p:nvSpPr>
        <p:spPr>
          <a:xfrm>
            <a:off x="566928" y="3847011"/>
            <a:ext cx="237744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(one female)</a:t>
            </a:r>
            <a:endParaRPr lang="en-US" sz="1100" dirty="0"/>
          </a:p>
        </p:txBody>
      </p:sp>
      <p:sp>
        <p:nvSpPr>
          <p:cNvPr id="41" name="Shape 38"/>
          <p:cNvSpPr/>
          <p:nvPr/>
        </p:nvSpPr>
        <p:spPr>
          <a:xfrm>
            <a:off x="11091672" y="3892731"/>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389273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373445"/>
            <a:ext cx="11274552" cy="471569"/>
          </a:xfrm>
          <a:prstGeom prst="roundRect">
            <a:avLst>
              <a:gd name="adj" fmla="val 9695"/>
            </a:avLst>
          </a:prstGeom>
          <a:solidFill>
            <a:srgbClr val="FFFFFF"/>
          </a:solidFill>
          <a:ln w="9525">
            <a:solidFill>
              <a:srgbClr val="D8D0BF"/>
            </a:solidFill>
            <a:prstDash val="solid"/>
          </a:ln>
        </p:spPr>
      </p:sp>
      <p:sp>
        <p:nvSpPr>
          <p:cNvPr id="44" name="Text 41"/>
          <p:cNvSpPr txBox="1"/>
          <p:nvPr/>
        </p:nvSpPr>
        <p:spPr>
          <a:xfrm>
            <a:off x="5669280" y="4373445"/>
            <a:ext cx="597103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عِنْدَهُ سَيَّارَةٌ.</a:t>
            </a:r>
            <a:endParaRPr lang="ar-SA" sz="2200" dirty="0"/>
          </a:p>
        </p:txBody>
      </p:sp>
      <p:sp>
        <p:nvSpPr>
          <p:cNvPr id="45" name="Text 42"/>
          <p:cNvSpPr txBox="1"/>
          <p:nvPr/>
        </p:nvSpPr>
        <p:spPr>
          <a:xfrm>
            <a:off x="3108960" y="4373445"/>
            <a:ext cx="23774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عِنْدَهُ</a:t>
            </a:r>
            <a:endParaRPr lang="ar-SA" sz="2200" dirty="0"/>
          </a:p>
        </p:txBody>
      </p:sp>
      <p:sp>
        <p:nvSpPr>
          <p:cNvPr id="46" name="Text 43"/>
          <p:cNvSpPr txBox="1"/>
          <p:nvPr/>
        </p:nvSpPr>
        <p:spPr>
          <a:xfrm>
            <a:off x="566928" y="4373445"/>
            <a:ext cx="237744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a:t>
            </a:r>
            <a:endParaRPr lang="en-US" sz="1100" dirty="0"/>
          </a:p>
        </p:txBody>
      </p:sp>
      <p:sp>
        <p:nvSpPr>
          <p:cNvPr id="47" name="Shape 44"/>
          <p:cNvSpPr/>
          <p:nvPr/>
        </p:nvSpPr>
        <p:spPr>
          <a:xfrm>
            <a:off x="11091672" y="4419165"/>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41916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4899878"/>
            <a:ext cx="11274552" cy="471569"/>
          </a:xfrm>
          <a:prstGeom prst="roundRect">
            <a:avLst>
              <a:gd name="adj" fmla="val 9695"/>
            </a:avLst>
          </a:prstGeom>
          <a:solidFill>
            <a:srgbClr val="F4F1EA"/>
          </a:solidFill>
          <a:ln w="9525">
            <a:solidFill>
              <a:srgbClr val="D8D0BF"/>
            </a:solidFill>
            <a:prstDash val="solid"/>
          </a:ln>
        </p:spPr>
      </p:sp>
      <p:sp>
        <p:nvSpPr>
          <p:cNvPr id="50" name="Text 47"/>
          <p:cNvSpPr txBox="1"/>
          <p:nvPr/>
        </p:nvSpPr>
        <p:spPr>
          <a:xfrm>
            <a:off x="5669280" y="4899878"/>
            <a:ext cx="597103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عِنْدَهَا أُخْتَانِ.</a:t>
            </a:r>
            <a:endParaRPr lang="ar-SA" sz="2200" dirty="0"/>
          </a:p>
        </p:txBody>
      </p:sp>
      <p:sp>
        <p:nvSpPr>
          <p:cNvPr id="51" name="Text 48"/>
          <p:cNvSpPr txBox="1"/>
          <p:nvPr/>
        </p:nvSpPr>
        <p:spPr>
          <a:xfrm>
            <a:off x="3108960" y="4899878"/>
            <a:ext cx="23774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عِنْدَهَا</a:t>
            </a:r>
            <a:endParaRPr lang="ar-SA" sz="2200" dirty="0"/>
          </a:p>
        </p:txBody>
      </p:sp>
      <p:sp>
        <p:nvSpPr>
          <p:cNvPr id="52" name="Text 49"/>
          <p:cNvSpPr txBox="1"/>
          <p:nvPr/>
        </p:nvSpPr>
        <p:spPr>
          <a:xfrm>
            <a:off x="566928" y="4899878"/>
            <a:ext cx="237744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a:t>
            </a:r>
            <a:endParaRPr lang="en-US" sz="1100" dirty="0"/>
          </a:p>
        </p:txBody>
      </p:sp>
      <p:sp>
        <p:nvSpPr>
          <p:cNvPr id="53" name="Shape 50"/>
          <p:cNvSpPr/>
          <p:nvPr/>
        </p:nvSpPr>
        <p:spPr>
          <a:xfrm>
            <a:off x="457200" y="5426311"/>
            <a:ext cx="11274552" cy="471569"/>
          </a:xfrm>
          <a:prstGeom prst="roundRect">
            <a:avLst>
              <a:gd name="adj" fmla="val 9695"/>
            </a:avLst>
          </a:prstGeom>
          <a:solidFill>
            <a:srgbClr val="FFFFFF"/>
          </a:solidFill>
          <a:ln w="9525">
            <a:solidFill>
              <a:srgbClr val="D8D0BF"/>
            </a:solidFill>
            <a:prstDash val="solid"/>
          </a:ln>
        </p:spPr>
      </p:sp>
      <p:sp>
        <p:nvSpPr>
          <p:cNvPr id="54" name="Text 51"/>
          <p:cNvSpPr txBox="1"/>
          <p:nvPr/>
        </p:nvSpPr>
        <p:spPr>
          <a:xfrm>
            <a:off x="5669280" y="5426311"/>
            <a:ext cx="597103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عِنْدَهُمْ مَشْرُوعٌ.</a:t>
            </a:r>
            <a:endParaRPr lang="ar-SA" sz="2200" dirty="0"/>
          </a:p>
        </p:txBody>
      </p:sp>
      <p:sp>
        <p:nvSpPr>
          <p:cNvPr id="55" name="Text 52"/>
          <p:cNvSpPr txBox="1"/>
          <p:nvPr/>
        </p:nvSpPr>
        <p:spPr>
          <a:xfrm>
            <a:off x="3108960" y="5426311"/>
            <a:ext cx="237744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عِنْدَهُمْ</a:t>
            </a:r>
            <a:endParaRPr lang="ar-SA" sz="2200" dirty="0"/>
          </a:p>
        </p:txBody>
      </p:sp>
      <p:sp>
        <p:nvSpPr>
          <p:cNvPr id="56" name="Text 53"/>
          <p:cNvSpPr txBox="1"/>
          <p:nvPr/>
        </p:nvSpPr>
        <p:spPr>
          <a:xfrm>
            <a:off x="566928" y="5426311"/>
            <a:ext cx="237744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 (m. / mixed)</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case pattern: the item is the delayed topic, so it is NOMINATIVE — ʿindī kitābun, ʿindī sayyāratāni, ʿindī kutubun. Other forms follow the POS-01 endings: ʿindakumā, ʿindakum, ʿindakunna, ʿindahumā, ʿindahunna.</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GM-POS-03 · Possessives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2 · LI- + NOUN OR PRONOUN = BELONGS TO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It is mine, yours, his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لِـ + الضَّمِيرِ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468112" y="1810512"/>
            <a:ext cx="6190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Website model</a:t>
            </a:r>
            <a:endParaRPr lang="en-US" sz="1100" dirty="0"/>
          </a:p>
        </p:txBody>
      </p:sp>
      <p:sp>
        <p:nvSpPr>
          <p:cNvPr id="17" name="Text 14"/>
          <p:cNvSpPr txBox="1"/>
          <p:nvPr/>
        </p:nvSpPr>
        <p:spPr>
          <a:xfrm>
            <a:off x="309067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Form</a:t>
            </a:r>
            <a:endParaRPr lang="en-US" sz="1100" dirty="0"/>
          </a:p>
        </p:txBody>
      </p:sp>
      <p:sp>
        <p:nvSpPr>
          <p:cNvPr id="18" name="Text 15"/>
          <p:cNvSpPr txBox="1"/>
          <p:nvPr/>
        </p:nvSpPr>
        <p:spPr>
          <a:xfrm>
            <a:off x="5303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Person</a:t>
            </a:r>
            <a:endParaRPr lang="en-US" sz="1100" dirty="0"/>
          </a:p>
        </p:txBody>
      </p:sp>
      <p:sp>
        <p:nvSpPr>
          <p:cNvPr id="19" name="Shape 16"/>
          <p:cNvSpPr/>
          <p:nvPr/>
        </p:nvSpPr>
        <p:spPr>
          <a:xfrm>
            <a:off x="457200" y="2267712"/>
            <a:ext cx="11274552" cy="471569"/>
          </a:xfrm>
          <a:prstGeom prst="roundRect">
            <a:avLst>
              <a:gd name="adj" fmla="val 9695"/>
            </a:avLst>
          </a:prstGeom>
          <a:solidFill>
            <a:srgbClr val="FFFFFF"/>
          </a:solidFill>
          <a:ln w="9525">
            <a:solidFill>
              <a:srgbClr val="D8D0BF"/>
            </a:solidFill>
            <a:prstDash val="solid"/>
          </a:ln>
        </p:spPr>
      </p:sp>
      <p:sp>
        <p:nvSpPr>
          <p:cNvPr id="20" name="Text 17"/>
          <p:cNvSpPr txBox="1"/>
          <p:nvPr/>
        </p:nvSpPr>
        <p:spPr>
          <a:xfrm>
            <a:off x="5486400" y="2267712"/>
            <a:ext cx="615391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هَذَا لِي.</a:t>
            </a:r>
            <a:endParaRPr lang="ar-SA" sz="2200" dirty="0"/>
          </a:p>
        </p:txBody>
      </p:sp>
      <p:sp>
        <p:nvSpPr>
          <p:cNvPr id="21" name="Text 18"/>
          <p:cNvSpPr txBox="1"/>
          <p:nvPr/>
        </p:nvSpPr>
        <p:spPr>
          <a:xfrm>
            <a:off x="3108960" y="2267712"/>
            <a:ext cx="219456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لِي</a:t>
            </a:r>
            <a:endParaRPr lang="ar-SA" sz="2200" dirty="0"/>
          </a:p>
        </p:txBody>
      </p:sp>
      <p:sp>
        <p:nvSpPr>
          <p:cNvPr id="22" name="Text 19"/>
          <p:cNvSpPr txBox="1"/>
          <p:nvPr/>
        </p:nvSpPr>
        <p:spPr>
          <a:xfrm>
            <a:off x="566928" y="2267712"/>
            <a:ext cx="237744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794145"/>
            <a:ext cx="11274552" cy="471569"/>
          </a:xfrm>
          <a:prstGeom prst="roundRect">
            <a:avLst>
              <a:gd name="adj" fmla="val 9695"/>
            </a:avLst>
          </a:prstGeom>
          <a:solidFill>
            <a:srgbClr val="F4F1EA"/>
          </a:solidFill>
          <a:ln w="9525">
            <a:solidFill>
              <a:srgbClr val="D8D0BF"/>
            </a:solidFill>
            <a:prstDash val="solid"/>
          </a:ln>
        </p:spPr>
      </p:sp>
      <p:sp>
        <p:nvSpPr>
          <p:cNvPr id="26" name="Text 23"/>
          <p:cNvSpPr txBox="1"/>
          <p:nvPr/>
        </p:nvSpPr>
        <p:spPr>
          <a:xfrm>
            <a:off x="5486400" y="2794145"/>
            <a:ext cx="615391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هَذَا الْمَشْرُوعُ لَنَا.</a:t>
            </a:r>
            <a:endParaRPr lang="ar-SA" sz="2200" dirty="0"/>
          </a:p>
        </p:txBody>
      </p:sp>
      <p:sp>
        <p:nvSpPr>
          <p:cNvPr id="27" name="Text 24"/>
          <p:cNvSpPr txBox="1"/>
          <p:nvPr/>
        </p:nvSpPr>
        <p:spPr>
          <a:xfrm>
            <a:off x="3108960" y="2794145"/>
            <a:ext cx="219456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لَنَا</a:t>
            </a:r>
            <a:endParaRPr lang="ar-SA" sz="2200" dirty="0"/>
          </a:p>
        </p:txBody>
      </p:sp>
      <p:sp>
        <p:nvSpPr>
          <p:cNvPr id="28" name="Text 25"/>
          <p:cNvSpPr txBox="1"/>
          <p:nvPr/>
        </p:nvSpPr>
        <p:spPr>
          <a:xfrm>
            <a:off x="566928" y="2794145"/>
            <a:ext cx="237744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a:t>
            </a:r>
            <a:endParaRPr lang="en-US" sz="1100" dirty="0"/>
          </a:p>
        </p:txBody>
      </p:sp>
      <p:sp>
        <p:nvSpPr>
          <p:cNvPr id="29" name="Shape 26"/>
          <p:cNvSpPr/>
          <p:nvPr/>
        </p:nvSpPr>
        <p:spPr>
          <a:xfrm>
            <a:off x="11091672" y="2839865"/>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83986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320578"/>
            <a:ext cx="11274552" cy="471569"/>
          </a:xfrm>
          <a:prstGeom prst="roundRect">
            <a:avLst>
              <a:gd name="adj" fmla="val 9695"/>
            </a:avLst>
          </a:prstGeom>
          <a:solidFill>
            <a:srgbClr val="FFFFFF"/>
          </a:solidFill>
          <a:ln w="9525">
            <a:solidFill>
              <a:srgbClr val="D8D0BF"/>
            </a:solidFill>
            <a:prstDash val="solid"/>
          </a:ln>
        </p:spPr>
      </p:sp>
      <p:sp>
        <p:nvSpPr>
          <p:cNvPr id="32" name="Text 29"/>
          <p:cNvSpPr txBox="1"/>
          <p:nvPr/>
        </p:nvSpPr>
        <p:spPr>
          <a:xfrm>
            <a:off x="5486400" y="3320578"/>
            <a:ext cx="615391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هَذَا الْمَقْعَدُ لَكَ.</a:t>
            </a:r>
            <a:endParaRPr lang="ar-SA" sz="2200" dirty="0"/>
          </a:p>
        </p:txBody>
      </p:sp>
      <p:sp>
        <p:nvSpPr>
          <p:cNvPr id="33" name="Text 30"/>
          <p:cNvSpPr txBox="1"/>
          <p:nvPr/>
        </p:nvSpPr>
        <p:spPr>
          <a:xfrm>
            <a:off x="3108960" y="3320578"/>
            <a:ext cx="219456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لَكَ</a:t>
            </a:r>
            <a:endParaRPr lang="ar-SA" sz="2200" dirty="0"/>
          </a:p>
        </p:txBody>
      </p:sp>
      <p:sp>
        <p:nvSpPr>
          <p:cNvPr id="34" name="Text 31"/>
          <p:cNvSpPr txBox="1"/>
          <p:nvPr/>
        </p:nvSpPr>
        <p:spPr>
          <a:xfrm>
            <a:off x="566928" y="3320578"/>
            <a:ext cx="237744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(one male)</a:t>
            </a:r>
            <a:endParaRPr lang="en-US" sz="1100" dirty="0"/>
          </a:p>
        </p:txBody>
      </p:sp>
      <p:sp>
        <p:nvSpPr>
          <p:cNvPr id="35" name="Shape 32"/>
          <p:cNvSpPr/>
          <p:nvPr/>
        </p:nvSpPr>
        <p:spPr>
          <a:xfrm>
            <a:off x="11091672" y="336629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36629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847011"/>
            <a:ext cx="11274552" cy="471569"/>
          </a:xfrm>
          <a:prstGeom prst="roundRect">
            <a:avLst>
              <a:gd name="adj" fmla="val 9695"/>
            </a:avLst>
          </a:prstGeom>
          <a:solidFill>
            <a:srgbClr val="F4F1EA"/>
          </a:solidFill>
          <a:ln w="9525">
            <a:solidFill>
              <a:srgbClr val="D8D0BF"/>
            </a:solidFill>
            <a:prstDash val="solid"/>
          </a:ln>
        </p:spPr>
      </p:sp>
      <p:sp>
        <p:nvSpPr>
          <p:cNvPr id="38" name="Text 35"/>
          <p:cNvSpPr txBox="1"/>
          <p:nvPr/>
        </p:nvSpPr>
        <p:spPr>
          <a:xfrm>
            <a:off x="5486400" y="3847011"/>
            <a:ext cx="615391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هَذِهِ الرِّسَالَةُ لَكِ.</a:t>
            </a:r>
            <a:endParaRPr lang="ar-SA" sz="2200" dirty="0"/>
          </a:p>
        </p:txBody>
      </p:sp>
      <p:sp>
        <p:nvSpPr>
          <p:cNvPr id="39" name="Text 36"/>
          <p:cNvSpPr txBox="1"/>
          <p:nvPr/>
        </p:nvSpPr>
        <p:spPr>
          <a:xfrm>
            <a:off x="3108960" y="3847011"/>
            <a:ext cx="219456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لَكِ</a:t>
            </a:r>
            <a:endParaRPr lang="ar-SA" sz="2200" dirty="0"/>
          </a:p>
        </p:txBody>
      </p:sp>
      <p:sp>
        <p:nvSpPr>
          <p:cNvPr id="40" name="Text 37"/>
          <p:cNvSpPr txBox="1"/>
          <p:nvPr/>
        </p:nvSpPr>
        <p:spPr>
          <a:xfrm>
            <a:off x="566928" y="3847011"/>
            <a:ext cx="237744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(one female)</a:t>
            </a:r>
            <a:endParaRPr lang="en-US" sz="1100" dirty="0"/>
          </a:p>
        </p:txBody>
      </p:sp>
      <p:sp>
        <p:nvSpPr>
          <p:cNvPr id="41" name="Shape 38"/>
          <p:cNvSpPr/>
          <p:nvPr/>
        </p:nvSpPr>
        <p:spPr>
          <a:xfrm>
            <a:off x="457200" y="4373445"/>
            <a:ext cx="11274552" cy="471569"/>
          </a:xfrm>
          <a:prstGeom prst="roundRect">
            <a:avLst>
              <a:gd name="adj" fmla="val 9695"/>
            </a:avLst>
          </a:prstGeom>
          <a:solidFill>
            <a:srgbClr val="FFFFFF"/>
          </a:solidFill>
          <a:ln w="9525">
            <a:solidFill>
              <a:srgbClr val="D8D0BF"/>
            </a:solidFill>
            <a:prstDash val="solid"/>
          </a:ln>
        </p:spPr>
      </p:sp>
      <p:sp>
        <p:nvSpPr>
          <p:cNvPr id="42" name="Text 39"/>
          <p:cNvSpPr txBox="1"/>
          <p:nvPr/>
        </p:nvSpPr>
        <p:spPr>
          <a:xfrm>
            <a:off x="5486400" y="4373445"/>
            <a:ext cx="615391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الْقَلَمُ لَهُ.</a:t>
            </a:r>
            <a:endParaRPr lang="ar-SA" sz="2200" dirty="0"/>
          </a:p>
        </p:txBody>
      </p:sp>
      <p:sp>
        <p:nvSpPr>
          <p:cNvPr id="43" name="Text 40"/>
          <p:cNvSpPr txBox="1"/>
          <p:nvPr/>
        </p:nvSpPr>
        <p:spPr>
          <a:xfrm>
            <a:off x="3108960" y="4373445"/>
            <a:ext cx="219456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لَهُ</a:t>
            </a:r>
            <a:endParaRPr lang="ar-SA" sz="2200" dirty="0"/>
          </a:p>
        </p:txBody>
      </p:sp>
      <p:sp>
        <p:nvSpPr>
          <p:cNvPr id="44" name="Text 41"/>
          <p:cNvSpPr txBox="1"/>
          <p:nvPr/>
        </p:nvSpPr>
        <p:spPr>
          <a:xfrm>
            <a:off x="566928" y="4373445"/>
            <a:ext cx="237744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him</a:t>
            </a:r>
            <a:endParaRPr lang="en-US" sz="1100" dirty="0"/>
          </a:p>
        </p:txBody>
      </p:sp>
      <p:sp>
        <p:nvSpPr>
          <p:cNvPr id="45" name="Shape 42"/>
          <p:cNvSpPr/>
          <p:nvPr/>
        </p:nvSpPr>
        <p:spPr>
          <a:xfrm>
            <a:off x="11091672" y="4419165"/>
            <a:ext cx="548640" cy="182880"/>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1091672" y="441916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7" name="Shape 44"/>
          <p:cNvSpPr/>
          <p:nvPr/>
        </p:nvSpPr>
        <p:spPr>
          <a:xfrm>
            <a:off x="457200" y="4899878"/>
            <a:ext cx="11274552" cy="471569"/>
          </a:xfrm>
          <a:prstGeom prst="roundRect">
            <a:avLst>
              <a:gd name="adj" fmla="val 9695"/>
            </a:avLst>
          </a:prstGeom>
          <a:solidFill>
            <a:srgbClr val="F4F1EA"/>
          </a:solidFill>
          <a:ln w="9525">
            <a:solidFill>
              <a:srgbClr val="D8D0BF"/>
            </a:solidFill>
            <a:prstDash val="solid"/>
          </a:ln>
        </p:spPr>
      </p:sp>
      <p:sp>
        <p:nvSpPr>
          <p:cNvPr id="48" name="Text 45"/>
          <p:cNvSpPr txBox="1"/>
          <p:nvPr/>
        </p:nvSpPr>
        <p:spPr>
          <a:xfrm>
            <a:off x="5486400" y="4899878"/>
            <a:ext cx="615391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السَّيَّارَةُ لَهَا.</a:t>
            </a:r>
            <a:endParaRPr lang="ar-SA" sz="2200" dirty="0"/>
          </a:p>
        </p:txBody>
      </p:sp>
      <p:sp>
        <p:nvSpPr>
          <p:cNvPr id="49" name="Text 46"/>
          <p:cNvSpPr txBox="1"/>
          <p:nvPr/>
        </p:nvSpPr>
        <p:spPr>
          <a:xfrm>
            <a:off x="3108960" y="4899878"/>
            <a:ext cx="219456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لَهَا</a:t>
            </a:r>
            <a:endParaRPr lang="ar-SA" sz="2200" dirty="0"/>
          </a:p>
        </p:txBody>
      </p:sp>
      <p:sp>
        <p:nvSpPr>
          <p:cNvPr id="50" name="Text 47"/>
          <p:cNvSpPr txBox="1"/>
          <p:nvPr/>
        </p:nvSpPr>
        <p:spPr>
          <a:xfrm>
            <a:off x="566928" y="4899878"/>
            <a:ext cx="237744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her</a:t>
            </a:r>
            <a:endParaRPr lang="en-US" sz="1100" dirty="0"/>
          </a:p>
        </p:txBody>
      </p:sp>
      <p:sp>
        <p:nvSpPr>
          <p:cNvPr id="51" name="Shape 48"/>
          <p:cNvSpPr/>
          <p:nvPr/>
        </p:nvSpPr>
        <p:spPr>
          <a:xfrm>
            <a:off x="457200" y="5426311"/>
            <a:ext cx="11274552" cy="471569"/>
          </a:xfrm>
          <a:prstGeom prst="roundRect">
            <a:avLst>
              <a:gd name="adj" fmla="val 9695"/>
            </a:avLst>
          </a:prstGeom>
          <a:solidFill>
            <a:srgbClr val="FFFFFF"/>
          </a:solidFill>
          <a:ln w="9525">
            <a:solidFill>
              <a:srgbClr val="D8D0BF"/>
            </a:solidFill>
            <a:prstDash val="solid"/>
          </a:ln>
        </p:spPr>
      </p:sp>
      <p:sp>
        <p:nvSpPr>
          <p:cNvPr id="52" name="Text 49"/>
          <p:cNvSpPr txBox="1"/>
          <p:nvPr/>
        </p:nvSpPr>
        <p:spPr>
          <a:xfrm>
            <a:off x="5486400" y="5426311"/>
            <a:ext cx="6153912"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الْقَرَارُ لَهُمْ.</a:t>
            </a:r>
            <a:endParaRPr lang="ar-SA" sz="2200" dirty="0"/>
          </a:p>
        </p:txBody>
      </p:sp>
      <p:sp>
        <p:nvSpPr>
          <p:cNvPr id="53" name="Text 50"/>
          <p:cNvSpPr txBox="1"/>
          <p:nvPr/>
        </p:nvSpPr>
        <p:spPr>
          <a:xfrm>
            <a:off x="3108960" y="5426311"/>
            <a:ext cx="2194560" cy="471569"/>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لَهُمْ</a:t>
            </a:r>
            <a:endParaRPr lang="ar-SA" sz="2200" dirty="0"/>
          </a:p>
        </p:txBody>
      </p:sp>
      <p:sp>
        <p:nvSpPr>
          <p:cNvPr id="54" name="Text 51"/>
          <p:cNvSpPr txBox="1"/>
          <p:nvPr/>
        </p:nvSpPr>
        <p:spPr>
          <a:xfrm>
            <a:off x="566928" y="5426311"/>
            <a:ext cx="2377440" cy="471569"/>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them (m. / mixed)</a:t>
            </a:r>
            <a:endParaRPr lang="en-US" sz="110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spelling: li- becomes la- before most pronouns (laka, lahu), but li + -ī = lī. Before al- the alif drops: li-l-muʿallimi, li-ṭ-ṭullābi.</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GM-POS-03 · Possessives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3 · CHOOSE BY MEANING (WEBSITE TABLE)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Has, belongs, or with me now?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عِنْدَ أَمْ لِـ أَمْ مَعَ؟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833872" y="1810512"/>
            <a:ext cx="58247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7" name="Text 14"/>
          <p:cNvSpPr txBox="1"/>
          <p:nvPr/>
        </p:nvSpPr>
        <p:spPr>
          <a:xfrm>
            <a:off x="4187952" y="1810512"/>
            <a:ext cx="1499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Marker</a:t>
            </a:r>
            <a:endParaRPr lang="en-US" sz="1100" dirty="0"/>
          </a:p>
        </p:txBody>
      </p:sp>
      <p:sp>
        <p:nvSpPr>
          <p:cNvPr id="18" name="Text 15"/>
          <p:cNvSpPr txBox="1"/>
          <p:nvPr/>
        </p:nvSpPr>
        <p:spPr>
          <a:xfrm>
            <a:off x="530352"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Intended meaning</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5852160" y="2267712"/>
            <a:ext cx="578815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عِنْدِي سَيَّارَةٌ.</a:t>
            </a:r>
            <a:endParaRPr lang="ar-SA" sz="2200" dirty="0"/>
          </a:p>
        </p:txBody>
      </p:sp>
      <p:sp>
        <p:nvSpPr>
          <p:cNvPr id="21" name="Text 18"/>
          <p:cNvSpPr txBox="1"/>
          <p:nvPr/>
        </p:nvSpPr>
        <p:spPr>
          <a:xfrm>
            <a:off x="4224528" y="2267712"/>
            <a:ext cx="1463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ʿinda</a:t>
            </a:r>
            <a:endParaRPr lang="en-US" sz="1100" dirty="0"/>
          </a:p>
        </p:txBody>
      </p:sp>
      <p:sp>
        <p:nvSpPr>
          <p:cNvPr id="22" name="Text 19"/>
          <p:cNvSpPr txBox="1"/>
          <p:nvPr/>
        </p:nvSpPr>
        <p:spPr>
          <a:xfrm>
            <a:off x="566928" y="2267712"/>
            <a:ext cx="34747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someone has / it is available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5852160" y="3054096"/>
            <a:ext cx="578815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السَّيَّارَةُ لِي.</a:t>
            </a:r>
            <a:endParaRPr lang="ar-SA" sz="2200" dirty="0"/>
          </a:p>
        </p:txBody>
      </p:sp>
      <p:sp>
        <p:nvSpPr>
          <p:cNvPr id="27" name="Text 24"/>
          <p:cNvSpPr txBox="1"/>
          <p:nvPr/>
        </p:nvSpPr>
        <p:spPr>
          <a:xfrm>
            <a:off x="4224528" y="3054096"/>
            <a:ext cx="1463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a:t>
            </a:r>
            <a:endParaRPr lang="en-US" sz="1100" dirty="0"/>
          </a:p>
        </p:txBody>
      </p:sp>
      <p:sp>
        <p:nvSpPr>
          <p:cNvPr id="28" name="Text 25"/>
          <p:cNvSpPr txBox="1"/>
          <p:nvPr/>
        </p:nvSpPr>
        <p:spPr>
          <a:xfrm>
            <a:off x="566928" y="3054096"/>
            <a:ext cx="34747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belongs to / is for someone</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5852160" y="3840480"/>
            <a:ext cx="578815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السَّيَّارَةُ مَعِي الْيَوْمَ.</a:t>
            </a:r>
            <a:endParaRPr lang="ar-SA" sz="2200" dirty="0"/>
          </a:p>
        </p:txBody>
      </p:sp>
      <p:sp>
        <p:nvSpPr>
          <p:cNvPr id="33" name="Text 30"/>
          <p:cNvSpPr txBox="1"/>
          <p:nvPr/>
        </p:nvSpPr>
        <p:spPr>
          <a:xfrm>
            <a:off x="4224528" y="3840480"/>
            <a:ext cx="1463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maʿa</a:t>
            </a:r>
            <a:endParaRPr lang="en-US" sz="1100" dirty="0"/>
          </a:p>
        </p:txBody>
      </p:sp>
      <p:sp>
        <p:nvSpPr>
          <p:cNvPr id="34" name="Text 31"/>
          <p:cNvSpPr txBox="1"/>
          <p:nvPr/>
        </p:nvSpPr>
        <p:spPr>
          <a:xfrm>
            <a:off x="566928" y="3840480"/>
            <a:ext cx="34747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is physically with someone now</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5852160" y="4626864"/>
            <a:ext cx="578815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عِنْدِي فِكْرَةٌ، وَلَكِنَّ الْقَرَارَ لِلْمُدِيرِ.</a:t>
            </a:r>
            <a:endParaRPr lang="ar-SA" sz="2200" dirty="0"/>
          </a:p>
        </p:txBody>
      </p:sp>
      <p:sp>
        <p:nvSpPr>
          <p:cNvPr id="39" name="Text 36"/>
          <p:cNvSpPr txBox="1"/>
          <p:nvPr/>
        </p:nvSpPr>
        <p:spPr>
          <a:xfrm>
            <a:off x="4224528" y="4626864"/>
            <a:ext cx="1463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ʿinda + li-</a:t>
            </a:r>
            <a:endParaRPr lang="en-US" sz="1100" dirty="0"/>
          </a:p>
        </p:txBody>
      </p:sp>
      <p:sp>
        <p:nvSpPr>
          <p:cNvPr id="40" name="Text 37"/>
          <p:cNvSpPr txBox="1"/>
          <p:nvPr/>
        </p:nvSpPr>
        <p:spPr>
          <a:xfrm>
            <a:off x="566928" y="4626864"/>
            <a:ext cx="34747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relationships together</a:t>
            </a:r>
            <a:endParaRPr lang="en-US" sz="1100" dirty="0"/>
          </a:p>
        </p:txBody>
      </p:sp>
      <p:sp>
        <p:nvSpPr>
          <p:cNvPr id="41" name="Text 3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the three overlap in English (“have”) but focus on different relationships. Maʿī can mean someone else’s passport is with me today; lī means it is mine.</a:t>
            </a:r>
            <a:endParaRPr lang="en-US" sz="11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GM-POS-03 · Possessives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4 · QUESTIONS AND NEGATION (WEBSITE TABLE)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Ask, answer, deny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السُّؤَالُ وَالنَّفْيُ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931152" y="1810512"/>
            <a:ext cx="47274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7" name="Text 14"/>
          <p:cNvSpPr txBox="1"/>
          <p:nvPr/>
        </p:nvSpPr>
        <p:spPr>
          <a:xfrm>
            <a:off x="363931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Pattern</a:t>
            </a:r>
            <a:endParaRPr lang="en-US" sz="1100" dirty="0"/>
          </a:p>
        </p:txBody>
      </p:sp>
      <p:sp>
        <p:nvSpPr>
          <p:cNvPr id="18" name="Text 15"/>
          <p:cNvSpPr txBox="1"/>
          <p:nvPr/>
        </p:nvSpPr>
        <p:spPr>
          <a:xfrm>
            <a:off x="5303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Purpose</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6949440" y="2267712"/>
            <a:ext cx="469087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هَلْ عِنْدَكِ سُؤَالٌ؟</a:t>
            </a:r>
            <a:endParaRPr lang="ar-SA" sz="2200" dirty="0"/>
          </a:p>
        </p:txBody>
      </p:sp>
      <p:sp>
        <p:nvSpPr>
          <p:cNvPr id="21" name="Text 18"/>
          <p:cNvSpPr txBox="1"/>
          <p:nvPr/>
        </p:nvSpPr>
        <p:spPr>
          <a:xfrm>
            <a:off x="3675888" y="2267712"/>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hal + ʿinda + item</a:t>
            </a:r>
            <a:endParaRPr lang="en-US" sz="1100" dirty="0"/>
          </a:p>
        </p:txBody>
      </p:sp>
      <p:sp>
        <p:nvSpPr>
          <p:cNvPr id="22" name="Text 19"/>
          <p:cNvSpPr txBox="1"/>
          <p:nvPr/>
        </p:nvSpPr>
        <p:spPr>
          <a:xfrm>
            <a:off x="566928" y="2267712"/>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if someone has</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6949440" y="2881884"/>
            <a:ext cx="469087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مَاذَا عِنْدَكُمْ؟</a:t>
            </a:r>
            <a:endParaRPr lang="ar-SA" sz="2200" dirty="0"/>
          </a:p>
        </p:txBody>
      </p:sp>
      <p:sp>
        <p:nvSpPr>
          <p:cNvPr id="27" name="Text 24"/>
          <p:cNvSpPr txBox="1"/>
          <p:nvPr/>
        </p:nvSpPr>
        <p:spPr>
          <a:xfrm>
            <a:off x="3675888" y="2881884"/>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mādhā + ʿinda</a:t>
            </a:r>
            <a:endParaRPr lang="en-US" sz="1100" dirty="0"/>
          </a:p>
        </p:txBody>
      </p:sp>
      <p:sp>
        <p:nvSpPr>
          <p:cNvPr id="28" name="Text 25"/>
          <p:cNvSpPr txBox="1"/>
          <p:nvPr/>
        </p:nvSpPr>
        <p:spPr>
          <a:xfrm>
            <a:off x="566928" y="2881884"/>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what someone has</a:t>
            </a:r>
            <a:endParaRPr lang="en-US" sz="1100" dirty="0"/>
          </a:p>
        </p:txBody>
      </p:sp>
      <p:sp>
        <p:nvSpPr>
          <p:cNvPr id="29" name="Shape 26"/>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0" name="Text 27"/>
          <p:cNvSpPr txBox="1"/>
          <p:nvPr/>
        </p:nvSpPr>
        <p:spPr>
          <a:xfrm>
            <a:off x="6949440" y="3496056"/>
            <a:ext cx="469087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لِمَنْ هَذِهِ الْحَقِيبَةُ؟</a:t>
            </a:r>
            <a:endParaRPr lang="ar-SA" sz="2200" dirty="0"/>
          </a:p>
        </p:txBody>
      </p:sp>
      <p:sp>
        <p:nvSpPr>
          <p:cNvPr id="31" name="Text 28"/>
          <p:cNvSpPr txBox="1"/>
          <p:nvPr/>
        </p:nvSpPr>
        <p:spPr>
          <a:xfrm>
            <a:off x="3675888" y="3496056"/>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li-man + item</a:t>
            </a:r>
            <a:endParaRPr lang="en-US" sz="1100" dirty="0"/>
          </a:p>
        </p:txBody>
      </p:sp>
      <p:sp>
        <p:nvSpPr>
          <p:cNvPr id="32" name="Text 29"/>
          <p:cNvSpPr txBox="1"/>
          <p:nvPr/>
        </p:nvSpPr>
        <p:spPr>
          <a:xfrm>
            <a:off x="566928" y="3496056"/>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who owns it</a:t>
            </a:r>
            <a:endParaRPr lang="en-US" sz="1100" dirty="0"/>
          </a:p>
        </p:txBody>
      </p:sp>
      <p:sp>
        <p:nvSpPr>
          <p:cNvPr id="33" name="Shape 3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5" name="Shape 3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6" name="Text 33"/>
          <p:cNvSpPr txBox="1"/>
          <p:nvPr/>
        </p:nvSpPr>
        <p:spPr>
          <a:xfrm>
            <a:off x="6949440" y="4110228"/>
            <a:ext cx="469087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هِيَ لَهَا.</a:t>
            </a:r>
            <a:endParaRPr lang="ar-SA" sz="2200" dirty="0"/>
          </a:p>
        </p:txBody>
      </p:sp>
      <p:sp>
        <p:nvSpPr>
          <p:cNvPr id="37" name="Text 34"/>
          <p:cNvSpPr txBox="1"/>
          <p:nvPr/>
        </p:nvSpPr>
        <p:spPr>
          <a:xfrm>
            <a:off x="3675888" y="4110228"/>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item + li- + pronoun</a:t>
            </a:r>
            <a:endParaRPr lang="en-US" sz="1100" dirty="0"/>
          </a:p>
        </p:txBody>
      </p:sp>
      <p:sp>
        <p:nvSpPr>
          <p:cNvPr id="38" name="Text 35"/>
          <p:cNvSpPr txBox="1"/>
          <p:nvPr/>
        </p:nvSpPr>
        <p:spPr>
          <a:xfrm>
            <a:off x="566928" y="4110228"/>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ownership</a:t>
            </a:r>
            <a:endParaRPr lang="en-US" sz="1100" dirty="0"/>
          </a:p>
        </p:txBody>
      </p:sp>
      <p:sp>
        <p:nvSpPr>
          <p:cNvPr id="39" name="Shape 36"/>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6949440" y="4724400"/>
            <a:ext cx="469087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لَيْسَ عِنْدِي وَقْتٌ.</a:t>
            </a:r>
            <a:endParaRPr lang="ar-SA" sz="2200" dirty="0"/>
          </a:p>
        </p:txBody>
      </p:sp>
      <p:sp>
        <p:nvSpPr>
          <p:cNvPr id="43" name="Text 40"/>
          <p:cNvSpPr txBox="1"/>
          <p:nvPr/>
        </p:nvSpPr>
        <p:spPr>
          <a:xfrm>
            <a:off x="3675888" y="4724400"/>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laysa + ʿinda</a:t>
            </a:r>
            <a:endParaRPr lang="en-US" sz="1100" dirty="0"/>
          </a:p>
        </p:txBody>
      </p:sp>
      <p:sp>
        <p:nvSpPr>
          <p:cNvPr id="44" name="Text 41"/>
          <p:cNvSpPr txBox="1"/>
          <p:nvPr/>
        </p:nvSpPr>
        <p:spPr>
          <a:xfrm>
            <a:off x="566928" y="4724400"/>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deny having</a:t>
            </a:r>
            <a:endParaRPr lang="en-US" sz="1100" dirty="0"/>
          </a:p>
        </p:txBody>
      </p:sp>
      <p:sp>
        <p:nvSpPr>
          <p:cNvPr id="45" name="Shape 42"/>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7" name="Shape 44"/>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8" name="Text 45"/>
          <p:cNvSpPr txBox="1"/>
          <p:nvPr/>
        </p:nvSpPr>
        <p:spPr>
          <a:xfrm>
            <a:off x="6949440" y="5338572"/>
            <a:ext cx="469087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هَذَا الْكِتَابُ لَيْسَ لِي.</a:t>
            </a:r>
            <a:endParaRPr lang="ar-SA" sz="2200" dirty="0"/>
          </a:p>
        </p:txBody>
      </p:sp>
      <p:sp>
        <p:nvSpPr>
          <p:cNvPr id="49" name="Text 46"/>
          <p:cNvSpPr txBox="1"/>
          <p:nvPr/>
        </p:nvSpPr>
        <p:spPr>
          <a:xfrm>
            <a:off x="3675888" y="5338572"/>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item + laysa + li-</a:t>
            </a:r>
            <a:endParaRPr lang="en-US" sz="1100" dirty="0"/>
          </a:p>
        </p:txBody>
      </p:sp>
      <p:sp>
        <p:nvSpPr>
          <p:cNvPr id="50" name="Text 47"/>
          <p:cNvSpPr txBox="1"/>
          <p:nvPr/>
        </p:nvSpPr>
        <p:spPr>
          <a:xfrm>
            <a:off x="566928" y="5338572"/>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deny owning</a:t>
            </a:r>
            <a:endParaRPr lang="en-US" sz="11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warning: lā ʿindī is not the formal pattern — use laysa ʿindī … (or lā amliku … for literal ownership). After laysa ʿindī the item stays nominative: waqtun.</a:t>
            </a:r>
            <a:endParaRPr lang="en-US" sz="110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GM-POS-03 · Possessives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03" b="1" spc="150" kern="0" dirty="0">
                <a:solidFill>
                  <a:srgbClr val="1B3B6F"/>
                </a:solidFill>
                <a:latin typeface="Calibri" pitchFamily="34" charset="0"/>
                <a:cs typeface="Amiri" pitchFamily="2" charset="-78"/>
              </a:rPr>
              <a:t>GRAMMAR · PART 5 · NUMBER AND AGREEMENT OF THE ITEM (WEBSITE TABLE) · STRETCH</a:t>
            </a:r>
            <a:endParaRPr lang="en-US" sz="90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The item keeps its own gender and number</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مُطَابَقَةُ الْمَمْلُوكِ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57707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Notice</a:t>
            </a:r>
            <a:endParaRPr lang="en-US" sz="1100" dirty="0"/>
          </a:p>
        </p:txBody>
      </p:sp>
      <p:sp>
        <p:nvSpPr>
          <p:cNvPr id="17" name="Text 14"/>
          <p:cNvSpPr txBox="1"/>
          <p:nvPr/>
        </p:nvSpPr>
        <p:spPr>
          <a:xfrm>
            <a:off x="345643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Website model</a:t>
            </a:r>
            <a:endParaRPr lang="en-US" sz="1100" dirty="0"/>
          </a:p>
        </p:txBody>
      </p:sp>
      <p:sp>
        <p:nvSpPr>
          <p:cNvPr id="18" name="Text 15"/>
          <p:cNvSpPr txBox="1"/>
          <p:nvPr/>
        </p:nvSpPr>
        <p:spPr>
          <a:xfrm>
            <a:off x="5303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Item type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613648" y="2267712"/>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 adjective (owner f.)</a:t>
            </a:r>
            <a:endParaRPr lang="en-US" sz="1100" dirty="0"/>
          </a:p>
        </p:txBody>
      </p:sp>
      <p:sp>
        <p:nvSpPr>
          <p:cNvPr id="21" name="Text 18"/>
          <p:cNvSpPr txBox="1"/>
          <p:nvPr/>
        </p:nvSpPr>
        <p:spPr>
          <a:xfrm>
            <a:off x="3474720" y="2267712"/>
            <a:ext cx="49377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عِنْدَهَا قَلَمٌ جَدِيدٌ.</a:t>
            </a:r>
            <a:endParaRPr lang="ar-SA" sz="2200" dirty="0"/>
          </a:p>
        </p:txBody>
      </p:sp>
      <p:sp>
        <p:nvSpPr>
          <p:cNvPr id="22" name="Text 19"/>
          <p:cNvSpPr txBox="1"/>
          <p:nvPr/>
        </p:nvSpPr>
        <p:spPr>
          <a:xfrm>
            <a:off x="566928" y="2267712"/>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masculine singular</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613648" y="3004718"/>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 adjective (owner m.)</a:t>
            </a:r>
            <a:endParaRPr lang="en-US" sz="1100" dirty="0"/>
          </a:p>
        </p:txBody>
      </p:sp>
      <p:sp>
        <p:nvSpPr>
          <p:cNvPr id="27" name="Text 24"/>
          <p:cNvSpPr txBox="1"/>
          <p:nvPr/>
        </p:nvSpPr>
        <p:spPr>
          <a:xfrm>
            <a:off x="3474720" y="3004718"/>
            <a:ext cx="49377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عِنْدَهُ سَيَّارَةٌ جَدِيدَةٌ.</a:t>
            </a:r>
            <a:endParaRPr lang="ar-SA" sz="2200" dirty="0"/>
          </a:p>
        </p:txBody>
      </p:sp>
      <p:sp>
        <p:nvSpPr>
          <p:cNvPr id="28" name="Text 25"/>
          <p:cNvSpPr txBox="1"/>
          <p:nvPr/>
        </p:nvSpPr>
        <p:spPr>
          <a:xfrm>
            <a:off x="566928" y="3004718"/>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feminine singular</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8613648" y="3741725"/>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nominative dual -āni</a:t>
            </a:r>
            <a:endParaRPr lang="en-US" sz="1100" dirty="0"/>
          </a:p>
        </p:txBody>
      </p:sp>
      <p:sp>
        <p:nvSpPr>
          <p:cNvPr id="33" name="Text 30"/>
          <p:cNvSpPr txBox="1"/>
          <p:nvPr/>
        </p:nvSpPr>
        <p:spPr>
          <a:xfrm>
            <a:off x="3474720" y="3741725"/>
            <a:ext cx="49377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عِنْدَهُمَا طِفْلَانِ.</a:t>
            </a:r>
            <a:endParaRPr lang="ar-SA" sz="2200" dirty="0"/>
          </a:p>
        </p:txBody>
      </p:sp>
      <p:sp>
        <p:nvSpPr>
          <p:cNvPr id="34" name="Text 31"/>
          <p:cNvSpPr txBox="1"/>
          <p:nvPr/>
        </p:nvSpPr>
        <p:spPr>
          <a:xfrm>
            <a:off x="566928" y="3741725"/>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dual</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613648" y="4478731"/>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full plural agreement</a:t>
            </a:r>
            <a:endParaRPr lang="en-US" sz="1100" dirty="0"/>
          </a:p>
        </p:txBody>
      </p:sp>
      <p:sp>
        <p:nvSpPr>
          <p:cNvPr id="37" name="Text 34"/>
          <p:cNvSpPr txBox="1"/>
          <p:nvPr/>
        </p:nvSpPr>
        <p:spPr>
          <a:xfrm>
            <a:off x="3474720" y="4478731"/>
            <a:ext cx="49377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عِنْدَنَا مُعَلِّمُونَ مُخْلِصُونَ.</a:t>
            </a:r>
            <a:endParaRPr lang="ar-SA" sz="2200" dirty="0"/>
          </a:p>
        </p:txBody>
      </p:sp>
      <p:sp>
        <p:nvSpPr>
          <p:cNvPr id="38" name="Text 35"/>
          <p:cNvSpPr txBox="1"/>
          <p:nvPr/>
        </p:nvSpPr>
        <p:spPr>
          <a:xfrm>
            <a:off x="566928" y="4478731"/>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human plural</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8613648" y="5215738"/>
            <a:ext cx="3044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 singular adjective</a:t>
            </a:r>
            <a:endParaRPr lang="en-US" sz="1100" dirty="0"/>
          </a:p>
        </p:txBody>
      </p:sp>
      <p:sp>
        <p:nvSpPr>
          <p:cNvPr id="41" name="Text 38"/>
          <p:cNvSpPr txBox="1"/>
          <p:nvPr/>
        </p:nvSpPr>
        <p:spPr>
          <a:xfrm>
            <a:off x="3474720" y="5215738"/>
            <a:ext cx="49377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عِنْدِي كُتُبٌ مُفِيدَةٌ.</a:t>
            </a:r>
            <a:endParaRPr lang="ar-SA" sz="2200" dirty="0"/>
          </a:p>
        </p:txBody>
      </p:sp>
      <p:sp>
        <p:nvSpPr>
          <p:cNvPr id="42" name="Text 39"/>
          <p:cNvSpPr txBox="1"/>
          <p:nvPr/>
        </p:nvSpPr>
        <p:spPr>
          <a:xfrm>
            <a:off x="566928" y="5215738"/>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non-human plural</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the pronoun inside ʿindahā shows the owner; it does NOT make the item feminine. Check the item and its adjective as a pair.</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GM-POS-03 · Possessives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have”.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عِنْدَكُمَا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عِنْدَهُمْ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عِنْدَنَا</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have” (two people).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عِنْدَهُمَا</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عِنْدَهُمْ</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عِنْدَهُنَّ</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has a new idea.”</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عِنْدَهُ فِكْرَةٌ جَدِيدَةٌ.</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عِنْدَهَا فِكْرَةٌ جَدِيدَةٌ.</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لَهَا فِكْرَةً جَدِيدَةً.</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seat is for you” (to one male).</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هَذَا الْمَقْعَدُ لَكَ.</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هَذَا الْمَقْعَدُ لَكِ.</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هَذَا الْمَقْعَدُ عِنْدَكَ.</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GM-POS-03 · Possessives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have”.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عِنْدَكُمَا</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عِنْدَهُمْ</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عِنْدَنَا</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-nā = we.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have” (two people).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عِنْدَهُمَا</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عِنْدَهُمْ</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عِنْدَهُنَّ</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Dual: ʿindahumā.</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has a new idea.”</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عِنْدَهُ فِكْرَةٌ جَدِيدَةٌ.</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عِنْدَهَا فِكْرَةٌ جَدِيدَةٌ.</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لَهَا فِكْرَةً جَدِيدَةً.</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ʿIndahā + fikratun jadīdatun.</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seat is for you” (to one male).</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هَذَا الْمَقْعَدُ لَكَ.</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هَذَا الْمَقْعَدُ لَكِ.</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هَذَا الْمَقْعَدُ عِنْدَكَ.</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Laka = for you (m.).</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GM-POS-03 · Possessives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Watch me choose the right marker</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Has</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عِنْدِي حَاسُوبٌ</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Available to me: ʿinda.</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Belongs</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لِأَخِي</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Owner: li-.</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With me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مَعِي</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Physically with me now.</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Item</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تَذْكِرَتَانِ</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Nominative dual.</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MARKER</a:t>
            </a:r>
            <a:endParaRPr lang="en-US" sz="800" dirty="0"/>
          </a:p>
        </p:txBody>
      </p:sp>
      <p:sp>
        <p:nvSpPr>
          <p:cNvPr id="47" name="Shape 43"/>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ITEM (-u)</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500" b="1" dirty="0">
                <a:solidFill>
                  <a:srgbClr val="0E7C86"/>
                </a:solidFill>
                <a:latin typeface="Amiri" pitchFamily="2" charset="-78"/>
                <a:cs typeface="Amiri" pitchFamily="2" charset="-78"/>
              </a:rPr>
              <a:t>عِنْدِي</a:t>
            </a:r>
            <a:pPr rtl="1" algn="r" indent="0" marL="0">
              <a:lnSpc>
                <a:spcPct val="120000"/>
              </a:lnSpc>
              <a:buNone/>
            </a:pPr>
            <a:r>
              <a:rPr lang="ar-SA" altLang="en-US" sz="1500" b="1" dirty="0">
                <a:solidFill>
                  <a:srgbClr val="1B3B6F"/>
                </a:solidFill>
                <a:latin typeface="Amiri" pitchFamily="2" charset="-78"/>
                <a:cs typeface="Amiri" pitchFamily="2" charset="-78"/>
              </a:rPr>
              <a:t> </a:t>
            </a:r>
            <a:pPr rtl="1" algn="r" indent="0" marL="0">
              <a:lnSpc>
                <a:spcPct val="120000"/>
              </a:lnSpc>
              <a:buNone/>
            </a:pPr>
            <a:r>
              <a:rPr lang="ar-SA" altLang="en-US" sz="1500" b="1" dirty="0">
                <a:solidFill>
                  <a:srgbClr val="1D5FBF"/>
                </a:solidFill>
                <a:latin typeface="Amiri" pitchFamily="2" charset="-78"/>
                <a:cs typeface="Amiri" pitchFamily="2" charset="-78"/>
              </a:rPr>
              <a:t>حَاسُوبٌ مَحْمُولٌ</a:t>
            </a:r>
            <a:pPr rtl="1" algn="r" indent="0" marL="0">
              <a:lnSpc>
                <a:spcPct val="120000"/>
              </a:lnSpc>
              <a:buNone/>
            </a:pPr>
            <a:r>
              <a:rPr lang="ar-SA" altLang="en-US" sz="1500" b="1" dirty="0">
                <a:solidFill>
                  <a:srgbClr val="1B3B6F"/>
                </a:solidFill>
                <a:latin typeface="Amiri" pitchFamily="2" charset="-78"/>
                <a:cs typeface="Amiri" pitchFamily="2" charset="-78"/>
              </a:rPr>
              <a:t> أَسْتَخْدِمُهُ لِلدِّرَاسَةِ، وَلَكِنَّ هَذَا الْهَاتِفَ </a:t>
            </a:r>
            <a:pPr rtl="1" algn="r" indent="0" marL="0">
              <a:lnSpc>
                <a:spcPct val="120000"/>
              </a:lnSpc>
              <a:buNone/>
            </a:pPr>
            <a:r>
              <a:rPr lang="ar-SA" altLang="en-US" sz="1500" b="1" dirty="0">
                <a:solidFill>
                  <a:srgbClr val="0E7C86"/>
                </a:solidFill>
                <a:latin typeface="Amiri" pitchFamily="2" charset="-78"/>
                <a:cs typeface="Amiri" pitchFamily="2" charset="-78"/>
              </a:rPr>
              <a:t>لِأَخِي</a:t>
            </a:r>
            <a:pPr rtl="1" algn="r" indent="0" marL="0">
              <a:lnSpc>
                <a:spcPct val="120000"/>
              </a:lnSpc>
              <a:buNone/>
            </a:pPr>
            <a:r>
              <a:rPr lang="ar-SA" altLang="en-US" sz="1500" b="1" dirty="0">
                <a:solidFill>
                  <a:srgbClr val="1B3B6F"/>
                </a:solidFill>
                <a:latin typeface="Amiri" pitchFamily="2" charset="-78"/>
                <a:cs typeface="Amiri" pitchFamily="2" charset="-78"/>
              </a:rPr>
              <a:t>. جَوَازُ سَفَرِهِ </a:t>
            </a:r>
            <a:pPr rtl="1" algn="r" indent="0" marL="0">
              <a:lnSpc>
                <a:spcPct val="120000"/>
              </a:lnSpc>
              <a:buNone/>
            </a:pPr>
            <a:r>
              <a:rPr lang="ar-SA" altLang="en-US" sz="1500" b="1" dirty="0">
                <a:solidFill>
                  <a:srgbClr val="0E7C86"/>
                </a:solidFill>
                <a:latin typeface="Amiri" pitchFamily="2" charset="-78"/>
                <a:cs typeface="Amiri" pitchFamily="2" charset="-78"/>
              </a:rPr>
              <a:t>مَعِي</a:t>
            </a:r>
            <a:pPr rtl="1" algn="r" indent="0" marL="0">
              <a:lnSpc>
                <a:spcPct val="120000"/>
              </a:lnSpc>
              <a:buNone/>
            </a:pPr>
            <a:r>
              <a:rPr lang="ar-SA" altLang="en-US" sz="1500" b="1" dirty="0">
                <a:solidFill>
                  <a:srgbClr val="1B3B6F"/>
                </a:solidFill>
                <a:latin typeface="Amiri" pitchFamily="2" charset="-78"/>
                <a:cs typeface="Amiri" pitchFamily="2" charset="-78"/>
              </a:rPr>
              <a:t> الْيَوْمَ، لِأَنَّنَا سَنَذْهَبُ إِلَى الْمَطَارِ. </a:t>
            </a:r>
            <a:pPr rtl="1" algn="r" indent="0" marL="0">
              <a:lnSpc>
                <a:spcPct val="120000"/>
              </a:lnSpc>
              <a:buNone/>
            </a:pPr>
            <a:r>
              <a:rPr lang="ar-SA" altLang="en-US" sz="1500" b="1" dirty="0">
                <a:solidFill>
                  <a:srgbClr val="0E7C86"/>
                </a:solidFill>
                <a:latin typeface="Amiri" pitchFamily="2" charset="-78"/>
                <a:cs typeface="Amiri" pitchFamily="2" charset="-78"/>
              </a:rPr>
              <a:t>عِنْدَ أُخْتِي</a:t>
            </a:r>
            <a:pPr rtl="1" algn="r" indent="0" marL="0">
              <a:lnSpc>
                <a:spcPct val="120000"/>
              </a:lnSpc>
              <a:buNone/>
            </a:pPr>
            <a:r>
              <a:rPr lang="ar-SA" altLang="en-US" sz="1500" b="1" dirty="0">
                <a:solidFill>
                  <a:srgbClr val="1B3B6F"/>
                </a:solidFill>
                <a:latin typeface="Amiri" pitchFamily="2" charset="-78"/>
                <a:cs typeface="Amiri" pitchFamily="2" charset="-78"/>
              </a:rPr>
              <a:t> </a:t>
            </a:r>
            <a:pPr rtl="1" algn="r" indent="0" marL="0">
              <a:lnSpc>
                <a:spcPct val="120000"/>
              </a:lnSpc>
              <a:buNone/>
            </a:pPr>
            <a:r>
              <a:rPr lang="ar-SA" altLang="en-US" sz="1500" b="1" dirty="0">
                <a:solidFill>
                  <a:srgbClr val="1D5FBF"/>
                </a:solidFill>
                <a:latin typeface="Amiri" pitchFamily="2" charset="-78"/>
                <a:cs typeface="Amiri" pitchFamily="2" charset="-78"/>
              </a:rPr>
              <a:t>تَذْكِرَتَانِ</a:t>
            </a:r>
            <a:pPr rtl="1" algn="r" indent="0" marL="0">
              <a:lnSpc>
                <a:spcPct val="120000"/>
              </a:lnSpc>
              <a:buNone/>
            </a:pPr>
            <a:r>
              <a:rPr lang="ar-SA" altLang="en-US" sz="1500" b="1" dirty="0">
                <a:solidFill>
                  <a:srgbClr val="1B3B6F"/>
                </a:solidFill>
                <a:latin typeface="Amiri" pitchFamily="2" charset="-78"/>
                <a:cs typeface="Amiri" pitchFamily="2" charset="-78"/>
              </a:rPr>
              <a:t>، وَحَقِيبَتَاهَا فِي السَّيَّارَةِ.</a:t>
            </a:r>
            <a:endParaRPr lang="ar-SA" sz="15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 have a laptop that I use for studying, but this phone is my brother’s. His passport is with me today because we are going to the airport. My sister has two tickets, and her two bags are in the car.</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GM-POS-03 · Possessives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عِنْدِي قَلَمٌ.</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have a pen.</a:t>
            </a:r>
            <a:endParaRPr lang="en-US" sz="1250" dirty="0"/>
          </a:p>
          <a:p>
            <a:pPr indent="0" marL="0">
              <a:buNone/>
            </a:pPr>
            <a:r>
              <a:rPr lang="en-US" sz="1050" i="1" dirty="0">
                <a:solidFill>
                  <a:srgbClr val="8A6D1E"/>
                </a:solidFill>
                <a:latin typeface="Calibri" pitchFamily="34" charset="0"/>
                <a:cs typeface="Amiri" pitchFamily="2" charset="-78"/>
              </a:rPr>
              <a:t>Has: ʿinda.</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هَذَا الْقَلَمُ لِي.</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This pen is mine.</a:t>
            </a:r>
            <a:endParaRPr lang="en-US" sz="1250" dirty="0"/>
          </a:p>
          <a:p>
            <a:pPr indent="0" marL="0">
              <a:buNone/>
            </a:pPr>
            <a:r>
              <a:rPr lang="en-US" sz="1050" i="1" dirty="0">
                <a:solidFill>
                  <a:srgbClr val="8A6D1E"/>
                </a:solidFill>
                <a:latin typeface="Calibri" pitchFamily="34" charset="0"/>
                <a:cs typeface="Amiri" pitchFamily="2" charset="-78"/>
              </a:rPr>
              <a:t>Belongs: li-.</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الْقَلَمُ مَعِي.</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pen is with me.</a:t>
            </a:r>
            <a:endParaRPr lang="en-US" sz="1250" dirty="0"/>
          </a:p>
          <a:p>
            <a:pPr indent="0" marL="0">
              <a:buNone/>
            </a:pPr>
            <a:r>
              <a:rPr lang="en-US" sz="1050" i="1" dirty="0">
                <a:solidFill>
                  <a:srgbClr val="8A6D1E"/>
                </a:solidFill>
                <a:latin typeface="Calibri" pitchFamily="34" charset="0"/>
                <a:cs typeface="Amiri" pitchFamily="2" charset="-78"/>
              </a:rPr>
              <a:t>With me now: maʿa.</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لَيْسَ عِنْدِي وَقْتٌ.</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have no time.</a:t>
            </a:r>
            <a:endParaRPr lang="en-US" sz="1250" dirty="0"/>
          </a:p>
          <a:p>
            <a:pPr indent="0" marL="0">
              <a:buNone/>
            </a:pPr>
            <a:r>
              <a:rPr lang="en-US" sz="1050" i="1" dirty="0">
                <a:solidFill>
                  <a:srgbClr val="8A6D1E"/>
                </a:solidFill>
                <a:latin typeface="Calibri" pitchFamily="34" charset="0"/>
                <a:cs typeface="Amiri" pitchFamily="2" charset="-78"/>
              </a:rPr>
              <a:t>Negative: laysa ʿindī.</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GM-POS-03 · Possessives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HAS, BELONGS OR WITH? (WEBSITE MINI-CHECKS)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Match the meaning to the marker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اِخْتَرِ الْعَلَاقَةَ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Marker</a:t>
            </a:r>
            <a:endParaRPr lang="en-US" sz="1100" dirty="0"/>
          </a:p>
        </p:txBody>
      </p:sp>
      <p:sp>
        <p:nvSpPr>
          <p:cNvPr id="17" name="Text 14"/>
          <p:cNvSpPr txBox="1"/>
          <p:nvPr/>
        </p:nvSpPr>
        <p:spPr>
          <a:xfrm>
            <a:off x="4005072"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8" name="Text 15"/>
          <p:cNvSpPr txBox="1"/>
          <p:nvPr/>
        </p:nvSpPr>
        <p:spPr>
          <a:xfrm>
            <a:off x="530352" y="1810512"/>
            <a:ext cx="3328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796528" y="226771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ʿinda</a:t>
            </a:r>
            <a:endParaRPr lang="en-US" sz="1100" dirty="0"/>
          </a:p>
        </p:txBody>
      </p:sp>
      <p:sp>
        <p:nvSpPr>
          <p:cNvPr id="21" name="Text 18"/>
          <p:cNvSpPr txBox="1"/>
          <p:nvPr/>
        </p:nvSpPr>
        <p:spPr>
          <a:xfrm>
            <a:off x="4023360" y="2267712"/>
            <a:ext cx="45720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عِنْدِي وَقْتٌ.</a:t>
            </a:r>
            <a:endParaRPr lang="ar-SA" sz="2200" dirty="0"/>
          </a:p>
        </p:txBody>
      </p:sp>
      <p:sp>
        <p:nvSpPr>
          <p:cNvPr id="22" name="Text 19"/>
          <p:cNvSpPr txBox="1"/>
          <p:nvPr/>
        </p:nvSpPr>
        <p:spPr>
          <a:xfrm>
            <a:off x="566928" y="2267712"/>
            <a:ext cx="3291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have time.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796528" y="2881884"/>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a:t>
            </a:r>
            <a:endParaRPr lang="en-US" sz="1100" dirty="0"/>
          </a:p>
        </p:txBody>
      </p:sp>
      <p:sp>
        <p:nvSpPr>
          <p:cNvPr id="27" name="Text 24"/>
          <p:cNvSpPr txBox="1"/>
          <p:nvPr/>
        </p:nvSpPr>
        <p:spPr>
          <a:xfrm>
            <a:off x="4023360" y="2881884"/>
            <a:ext cx="45720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هَذَا الْوَقْتُ لِي.</a:t>
            </a:r>
            <a:endParaRPr lang="ar-SA" sz="2200" dirty="0"/>
          </a:p>
        </p:txBody>
      </p:sp>
      <p:sp>
        <p:nvSpPr>
          <p:cNvPr id="28" name="Text 25"/>
          <p:cNvSpPr txBox="1"/>
          <p:nvPr/>
        </p:nvSpPr>
        <p:spPr>
          <a:xfrm>
            <a:off x="566928" y="2881884"/>
            <a:ext cx="3291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time slot is mine.</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796528" y="3496056"/>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maʿa</a:t>
            </a:r>
            <a:endParaRPr lang="en-US" sz="1100" dirty="0"/>
          </a:p>
        </p:txBody>
      </p:sp>
      <p:sp>
        <p:nvSpPr>
          <p:cNvPr id="33" name="Text 30"/>
          <p:cNvSpPr txBox="1"/>
          <p:nvPr/>
        </p:nvSpPr>
        <p:spPr>
          <a:xfrm>
            <a:off x="4023360" y="3496056"/>
            <a:ext cx="45720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الْمَفَاتِيحُ مَعِي.</a:t>
            </a:r>
            <a:endParaRPr lang="ar-SA" sz="2200" dirty="0"/>
          </a:p>
        </p:txBody>
      </p:sp>
      <p:sp>
        <p:nvSpPr>
          <p:cNvPr id="34" name="Text 31"/>
          <p:cNvSpPr txBox="1"/>
          <p:nvPr/>
        </p:nvSpPr>
        <p:spPr>
          <a:xfrm>
            <a:off x="566928" y="3496056"/>
            <a:ext cx="3291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keys are with me.</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796528" y="4110228"/>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hal + ʿinda</a:t>
            </a:r>
            <a:endParaRPr lang="en-US" sz="1100" dirty="0"/>
          </a:p>
        </p:txBody>
      </p:sp>
      <p:sp>
        <p:nvSpPr>
          <p:cNvPr id="39" name="Text 36"/>
          <p:cNvSpPr txBox="1"/>
          <p:nvPr/>
        </p:nvSpPr>
        <p:spPr>
          <a:xfrm>
            <a:off x="4023360" y="4110228"/>
            <a:ext cx="45720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هَلْ عِنْدَكِ سُؤَالٌ؟</a:t>
            </a:r>
            <a:endParaRPr lang="ar-SA" sz="2200" dirty="0"/>
          </a:p>
        </p:txBody>
      </p:sp>
      <p:sp>
        <p:nvSpPr>
          <p:cNvPr id="40" name="Text 37"/>
          <p:cNvSpPr txBox="1"/>
          <p:nvPr/>
        </p:nvSpPr>
        <p:spPr>
          <a:xfrm>
            <a:off x="566928" y="4110228"/>
            <a:ext cx="3291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(f.) have a question?</a:t>
            </a:r>
            <a:endParaRPr lang="en-US" sz="11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8796528" y="4724400"/>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li-man</a:t>
            </a:r>
            <a:endParaRPr lang="en-US" sz="1100" dirty="0"/>
          </a:p>
        </p:txBody>
      </p:sp>
      <p:sp>
        <p:nvSpPr>
          <p:cNvPr id="43" name="Text 40"/>
          <p:cNvSpPr txBox="1"/>
          <p:nvPr/>
        </p:nvSpPr>
        <p:spPr>
          <a:xfrm>
            <a:off x="4023360" y="4724400"/>
            <a:ext cx="45720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لِمَنْ هَذِهِ الْحَقِيبَةُ؟</a:t>
            </a:r>
            <a:endParaRPr lang="ar-SA" sz="2200" dirty="0"/>
          </a:p>
        </p:txBody>
      </p:sp>
      <p:sp>
        <p:nvSpPr>
          <p:cNvPr id="44" name="Text 41"/>
          <p:cNvSpPr txBox="1"/>
          <p:nvPr/>
        </p:nvSpPr>
        <p:spPr>
          <a:xfrm>
            <a:off x="566928" y="4724400"/>
            <a:ext cx="3291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Whose bag is this?</a:t>
            </a:r>
            <a:endParaRPr lang="en-US" sz="11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8796528" y="533857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laysa + li-</a:t>
            </a:r>
            <a:endParaRPr lang="en-US" sz="1100" dirty="0"/>
          </a:p>
        </p:txBody>
      </p:sp>
      <p:sp>
        <p:nvSpPr>
          <p:cNvPr id="47" name="Text 44"/>
          <p:cNvSpPr txBox="1"/>
          <p:nvPr/>
        </p:nvSpPr>
        <p:spPr>
          <a:xfrm>
            <a:off x="4023360" y="5338572"/>
            <a:ext cx="45720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هَذَا الْكِتَابُ لَيْسَ لِي.</a:t>
            </a:r>
            <a:endParaRPr lang="ar-SA" sz="2200" dirty="0"/>
          </a:p>
        </p:txBody>
      </p:sp>
      <p:sp>
        <p:nvSpPr>
          <p:cNvPr id="48" name="Text 45"/>
          <p:cNvSpPr txBox="1"/>
          <p:nvPr/>
        </p:nvSpPr>
        <p:spPr>
          <a:xfrm>
            <a:off x="566928" y="5338572"/>
            <a:ext cx="32918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book is not mine.</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choose the structure that matches the relationship — availability, ownership, allocation or physical accompaniment.</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GM-POS-03 · Possessives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WEBSITE PROOFREADING CLINIC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Correct, or needs repair?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صَحِيحٌ أَمْ يَحْتَاجُ إِلَى تَصْحِيحٍ؟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عِنْدِي قَلَمٌ.</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هَذَا الْمَقْعَدُ لِي.</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لَيْسَ عِنْدِي وَقْتٌ.</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عِنْدَهَا كِتَابٌ جَدِيدٌ.</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عِنْدِي قَلَمًا.</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لَا عِنْدِي وَقْتٌ.</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عِنْدَهَا كِتَابٌ جَدِيدَةٌ.</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لِإِي هَذَا الْمَقْعَدُ.</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Correct</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Needs repair</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GM-POS-03 · Possessives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GM-POS-03</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Correct</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عِنْدِي قَلَمٌ.</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هَذَا الْمَقْعَدُ لِي.</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لَيْسَ عِنْدِي وَقْتٌ.</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عِنْدَهَا كِتَابٌ جَدِيدٌ.</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Needs repair</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عِنْدِي قَلَمًا.</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لَا عِنْدِي وَقْتٌ.</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عِنْدَهَا كِتَابٌ جَدِيدَةٌ.</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لِإِي هَذَا الْمَقْعَدُ.</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GM-POS-03 · Possessives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هَذَا الْكِتَابُ عِنْدِي.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Mine, or just with me?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عِنْدِي الْمَفَاتِيحُ مَعِي.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Has or with me now?</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أَنَا عِنْدِي قَلَمٌ.</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anyone being contrasted?</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GM-POS-03 · Possessives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هَذَا الْكِتَابُ عِنْدِي.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هَذَا الْكِتَابُ لِي.</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To say “it is mine”, use lī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عِنْدِي الْمَفَاتِيحُ مَعِي.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الْمَفَاتِيحُ مَعِي.</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Choose one focus; do not stack markers (website clinic).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أَنَا عِنْدِي قَلَمٌ.</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عِنْدِي قَلَمٌ.</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Anā is not needed unless you are contrasting (website clinic).</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GM-POS-03 · Possessives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GUIDED PRACTICE · WEBSITE MINI-CHECKS: LI- FAMILY, CHOOSE THE RELATIONSHIP, ASK AND NEGATE</a:t>
            </a:r>
            <a:endParaRPr lang="en-US" sz="8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decision is theirs” (m. / mixed group).</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الْقَرَارُ عِنْدَهُمْ.</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الْقَرَارُ لَهُنَّ.</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الْقَرَارُ لَهُمْ.</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have time.”</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هَذَا الْوَقْتُ لِي.</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عِنْدِي وَقْتٌ.</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الْوَقْتُ مَعِي.</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have the keys with me.”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عِنْدِي مَفَاتِيحُهَا.</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الْمَفَاتِيحُ مَعِي.</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الْمَفَاتِيحُ لِي.</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“Do you have a question?” (to one female).</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عِنْدَكَ سُؤَالٌ؟</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لِمَنْ سُؤَالُكِ؟</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عِنْدَكِ سُؤَالٌ؟</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GM-POS-03 · Possessives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decision is theirs” (m. / mixed group).</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الْقَرَارُ عِنْدَهُمْ.</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الْقَرَارُ لَهُنَّ.</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الْقَرَارُ لَهُمْ.</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Lahum = for / belonging to them.</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have time.”</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هَذَا الْوَقْتُ لِي.</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عِنْدِي وَقْتٌ.</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الْوَقْتُ مَعِي.</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Availability: ʿindī.</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have the keys with me.”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عِنْدِي مَفَاتِيحُهَا.</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الْمَفَاتِيحُ مَعِي.</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الْمَفَاتِيحُ لِي.</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Physically with me: maʿī.</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“Do you have a question?” (to one female).</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هَلْ عِنْدَكَ سُؤَالٌ؟</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لِمَنْ سُؤَالُكِ؟</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هَلْ عِنْدَكِ سُؤَالٌ؟</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Hal + ʿindaki.</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GM-POS-03 · Possessives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YOU DO · READ AND NOTICE · WEBSITE ALLOCATION NOTICE (EXTENDED)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Trip notice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GM-POS-03</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إِلَى طُلَّابِ الرِّحْلَةِ: الْغُرْفَةُ الْأُولَى لِلطُّلَّابِ، وَالثَّانِيَةُ لِلطَّالِبَاتِ. عِنْدَ كُلِّ مَجْمُوعَةٍ مِفْتَاحٌ، وَالْبِطَاقَاتُ مَعَ الْمُشْرِفَةِ. الْحَافِلَةُ الزَّرْقَاءُ لَنَا، وَالْحَمْرَاءُ لِمَدْرَسَةٍ أُخْرَى. لَيْسَ عِنْدَنَا وَقْتٌ طَوِيلٌ لِلْغَدَاءِ، فَخُذُوا طَعَامَكُمْ مَعَكُمْ. إِذَا كَانَ عِنْدَكُمْ سُؤَالٌ، فَالْمُشْرِفَةُ مَعَنَا طُولَ الْيَوْمِ.</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الْمُشْرِفَةِ</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supervisor (f.)</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مِفْتَاحٌ</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key</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الْبِطَاقَاتُ</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cards</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الزَّرْقَاءُ</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blue (one)</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طُولَ الْيَوْمِ</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all day</a:t>
            </a:r>
            <a:endParaRPr lang="en-US" sz="10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GM-POS-03 · Possessives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the second room for?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boys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girls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supervisor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are the cards?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rooms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bus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the supervisor</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bus is theirs?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blue one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red one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should they take their food with them?</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bus is late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is not much time for lunch</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restaurant is closed</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GM-POS-03 · Possessives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the second room for?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boys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girls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supervisor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Wa-th-thāniyatu li-ṭ-ṭālibāti: allocation (li-).</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are the cards?</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rooms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the bus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with the supervisor</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Maʿa l-mushrifati: physically with her.</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bus is theirs?</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blue one</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red one</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Al-ḥāfilatu z-zarqāʾu lanā.</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should they take their food with them?</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bus is late</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there is not much time for lunch</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restaurant is closed</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Laysa ʿindanā waqtun ṭawīlun.</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GM-POS-03 · Possessives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lost property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عِنْدَكَ فِي حَقِيبَتِكَ؟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لِمَنْ هَذِهِ الْأَشْيَاءُ؟</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فَقَدْتَ حَقِيبَتَكَ. اِسْأَلْ زَمِيلَكَ وَأَجِبْ.</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عِنْدِي ___ وَ___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هَذَا الْقَلَمُ ___ ، وَذَلِكَ الْكِتَابُ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2" charset="-78"/>
                <a:cs typeface="Amiri" pitchFamily="2" charset="-78"/>
              </a:rPr>
              <a:t>هَلْ عِنْدَكَ ___ ؟ لِمَنْ ___ ؟ هَلْ هُوَ مَعَكَ الْآنَ؟</a:t>
            </a:r>
            <a:endParaRPr lang="ar-SA" sz="13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لِمَنْ هَذِهِ الْحَقِيبَةُ السَّوْدَاءُ؟</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Whose is this black bag?</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لَيْسَتْ لِي؛ حَقِيبَتِي مَعِي. رُبَّمَا هِيَ لِيُوسُفَ، فَعِنْدَهُ حَقِيبَةٌ سَوْدَاءُ.</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00" i="1" dirty="0">
                <a:solidFill>
                  <a:srgbClr val="5A6472"/>
                </a:solidFill>
                <a:latin typeface="Calibri" pitchFamily="34" charset="0"/>
                <a:cs typeface="Amiri" pitchFamily="2" charset="-78"/>
              </a:rPr>
              <a:t>It is not mine; my bag is with me. Maybe it is Yūsuf’s — he has a black bag.</a:t>
            </a:r>
            <a:endParaRPr lang="en-US" sz="9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GM-POS-03 · Possessives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Your family: who has what.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ʿinda abī … · ʿindī … · ʿindahā …</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who things belong to, one negative and one question.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al-ghurfatu lī · laysa ʿindī …</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110–130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account with the full checklist.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Three columns: has / belongs / with.</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GM-POS-03 · Possessives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لَيْسَ عِنْدِي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do not have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هَذِهِ الْغُرْفَةُ لِأُخْتِي، وَتِلْكَ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room is my sister’s, and that one is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الْمَفَاتِيحُ مَعَ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keys are with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لِمَنْ هَذَا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Whose … is this?</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عِنْدِي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a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عِنْدَ أَخِي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brother has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هَذَا ______ لِي.</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 is mine</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عِنْدَكَ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Do you have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عِنْدِي  ·  عِنْدَهُ  ·  عِنْدَهَا  ·  عِنْدَنَا  ·  لِي  ·  لَهُ  ·  لَهَا  ·  لَنَا  ·  مَعِي  ·  لِمَنْ  ·  لَيْسَ عِنْدِي  ·  وَقْتٌ  ·  سَيَّارَةٌ</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GM-POS-03 · Possessives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account (110–130 words): ownership, availability and responsibility in a home, class, journey, event or workplace.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Four ʿinda forms and four li- forms.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maʿa forms.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questions and one negative (laysa ʿindī).</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dual or plural item.</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possessive suffixes and two iḍāfa phrases.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مَسْؤُولِيَّةٌ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responsibility</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لِكُلِّ شَخْصٍ</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each person has</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دَائِمًا</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always</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بَعْدُ</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yet</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وَعَدَ</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promised</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مِثْلُ</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like</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GM-POS-03 · Possessives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cs typeface="Amiri" pitchFamily="2" charset="-78"/>
              </a:rPr>
              <a:t>فِي عَائِلَتِنَا لِكُلِّ شَخْصٍ مَسْؤُولِيَّةٌ. عِنْدَ أَبِي سَيَّارَةٌ كَبِيرَةٌ، وَهُوَ يُوصِلُنَا إِلَى الْمَدْرَسَةِ كُلَّ صَبَاحٍ. مَفَاتِيحُ الْبَيْتِ مَعَ أُمِّي دَائِمًا، لِأَنَّهَا آخِرُ مَنْ يَخْرُجُ. الْغُرْفَةُ الْكَبِيرَةُ لِي وَلِأُخْتِي، وَالصَّغِيرَةُ لِأَخِي الصَّغِيرِ. عِنْدَنَا حَاسُوبَانِ: الْأَوَّلُ لِلدِّرَاسَةِ، وَالثَّانِي لِأَبِي. لَيْسَ عِنْدِي هَاتِفٌ خَاصٌّ بَعْدُ، لَكِنَّ أُمِّي وَعَدَتْنِي بِهَاتِفٍ فِي عِيدِ مِيلَادِي. أُخْتِي عِنْدَهَا قِطَّةٌ صَغِيرَةٌ، وَإِطْعَامُ الْقِطَّةِ مَسْؤُولِيَّتُهَا. فِي يَوْمِ الْجُمُعَةِ الْمَطْبَخُ لِجَدَّتِي، فَهِيَ تَطْبُخُ لَنَا أَطْيَبَ طَعَامٍ. هَلْ عِنْدَكُمْ نِظَامٌ مِثْلُ نِظَامِنَا؟</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our family everyone has a responsibility. My father has a big car, and he drives us to school every morning. The house keys are always with my mother, because she is the last one to leave. The big room is mine and my sister’s, and the small one is my little brother’s. We have two computers: the first is for studying and the second is my father’s. I do not have my own phone yet, but my mother has promised me a phone for my birthday. My sister has a little cat, and feeding the cat is her responsibility. On Fridays the kitchen belongs to my grandmother — she cooks us the most delicious food. Do you have a system like ours?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ʿinda (has)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li- (belongs / for)</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maʿa (with now)</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laysa ʿindī</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GM-POS-03 · Possessives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ʿindī the item ends in -un.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lī / lahu / lahā for “mine / his / hers”.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laysa ʿindī, not lā ʿindī.</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chose ʿinda, li- or maʿa by meaning.</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The adjective matches the item, not the owner.</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GM-POS-03 · Possessives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have two children” (two owners).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عِنْدَهُمَا طِفْلَانِ.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عِنْدَهُمْ طِفْلَيْنِ.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لَهُمَا طِفْلَيْنِ.</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“Whose bag is this?”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مَاذَا عِنْدَ هَذِهِ الْحَقِيبَةِ؟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لِمَنْ هَذِهِ الْحَقِيبَةُ؟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عِنْدَكِ حَقِيبَةٌ؟</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combined answer.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cs typeface="Amiri" pitchFamily="2" charset="-78"/>
              </a:rPr>
              <a:t>عِنْدِي حَاسُوبٌ، وَلَكِنَّ هَذَا الْهَاتِفَ لِأَخِي، وَمَفَاتِيحُهُ مَعِي.</a:t>
            </a:r>
            <a:endParaRPr lang="ar-SA"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cs typeface="Amiri" pitchFamily="2" charset="-78"/>
              </a:rPr>
              <a:t>عِنْدِي حَاسُوبًا، وَلَكِنَّ هَذَا الْهَاتِفُ عِنْدَ أَخِي لِي.</a:t>
            </a:r>
            <a:endParaRPr lang="ar-SA"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cs typeface="Amiri" pitchFamily="2" charset="-78"/>
              </a:rPr>
              <a:t>لِي حَاسُوبٌ مَعَ أَخِي عِنْدِي.</a:t>
            </a:r>
            <a:endParaRPr lang="ar-SA"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GM-POS-03 · Possessives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have two children” (two owners).</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عِنْدَهُمَا طِفْلَانِ.</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عِنْدَهُمْ طِفْلَيْنِ.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لَهُمَا طِفْلَيْنِ.</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ʿIndahumā + ṭiflāni.</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“Whose bag is this?”</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مَاذَا عِنْدَ هَذِهِ الْحَقِيبَةِ؟</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لِمَنْ هَذِهِ الْحَقِيبَةُ؟</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هَلْ عِنْدَكِ حَقِيبَةٌ؟</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Li-man = whose.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combined answer.</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250" b="1" dirty="0">
                <a:solidFill>
                  <a:srgbClr val="1F2A37"/>
                </a:solidFill>
                <a:latin typeface="Amiri" pitchFamily="2" charset="-78"/>
                <a:cs typeface="Amiri" pitchFamily="2" charset="-78"/>
              </a:rPr>
              <a:t>عِنْدِي حَاسُوبٌ، وَلَكِنَّ هَذَا الْهَاتِفَ لِأَخِي، وَمَفَاتِيحُهُ مَعِي.</a:t>
            </a:r>
            <a:endParaRPr lang="ar-SA"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250" dirty="0">
                <a:solidFill>
                  <a:srgbClr val="9AA1AB"/>
                </a:solidFill>
                <a:latin typeface="Amiri" pitchFamily="2" charset="-78"/>
                <a:cs typeface="Amiri" pitchFamily="2" charset="-78"/>
              </a:rPr>
              <a:t>عِنْدِي حَاسُوبًا، وَلَكِنَّ هَذَا الْهَاتِفُ عِنْدَ أَخِي لِي.</a:t>
            </a:r>
            <a:endParaRPr lang="ar-SA"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250" dirty="0">
                <a:solidFill>
                  <a:srgbClr val="9AA1AB"/>
                </a:solidFill>
                <a:latin typeface="Amiri" pitchFamily="2" charset="-78"/>
                <a:cs typeface="Amiri" pitchFamily="2" charset="-78"/>
              </a:rPr>
              <a:t>لِي حَاسُوبٌ مَعَ أَخِي عِنْدِي.</a:t>
            </a:r>
            <a:endParaRPr lang="ar-SA"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Each marker does its own job.</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GM-POS-03 · Possessives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Before GM-INT-01: get ready at home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Possessives · GM-POS-03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GM-INT-01 · Yes / No Questions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هَلْ</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yes / no question word</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question hamza (yes / no)</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نَعَمْ</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yes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لَا</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no</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بَلَى</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yes (after a negative question)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To make a yes / no question, put hal in front: anta ṭālibun → hal anta ṭālibun? How would you ask “Do you have a pen?”</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______ عِنْدَكَ قَلَمٌ؟</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six sentences: three with ʿindī / ʿindahu / ʿindahā, three with lī / lahu / lahā.</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 lost-property dialogue with li-man, hal ʿindaka and laysa ʿindī.</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account (110–130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GM-POS-03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GM-INT-01 · Yes / No Questions</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أَسْئِلَةُ نَعَمْ وَلَا بِـ«هَلْ» وَهَمْزَةِ الِاسْتِفْهَامِ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has → ʿindī / ʿindahu / ʿindahā + item in -un · belongs to → lī / lahu / lahā / li-l-… · with me now → maʿī · ask: hal ʿindaka …? li-man …? · deny: laysa ʿindī … · the item keeps its own gender and number.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GM-POS-03 · Possession with ʿinda and li-</dc:title>
  <dc:subject>PptxGenJS Presentation</dc:subject>
  <dc:creator>Al Madina Online School · Arabic Department</dc:creator>
  <cp:lastModifiedBy>Al Madina Online School · Arabic Department</cp:lastModifiedBy>
  <cp:revision>1</cp:revision>
  <dcterms:created xsi:type="dcterms:W3CDTF">2026-10-11T06:42:27Z</dcterms:created>
  <dcterms:modified xsi:type="dcterms:W3CDTF">2026-10-11T06:42:27Z</dcterms:modified>
</cp:coreProperties>
</file>