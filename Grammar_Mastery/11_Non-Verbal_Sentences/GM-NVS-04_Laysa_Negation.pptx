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GM-NVS-04 (“Negation with لَيْسَ”).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laysa / laysat / lastu with identity, description and location (lastu fī l-bayt, laysat mutʿabatan). Develop: the full laysa table (lasnā, laysū, lasna) and human plural order (laysa ṭ-ṭullābu vs aṭ-ṭullābu laysū). Stretch: choose the right negative system — laysa (state) vs lā (action), lam yakun (past state), lan yakūna (future state).
• Website key contrast: laysa akhī fī l-maktab denies a LOCATION; lā yaʿmalu akhī fī l-maktab denies an ACTION. Never laysa + verb (laysa adhhabu).
• Colour code: teal = negative word, blue = noun (-u), orange = predicate (-an). Final lesson of the area: revises GM-NVS-01 to 03 and GM-VS-04 negation (mā, lam, lan).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GM-NVS-03 kāna pattern (-an predicates) and GM-VS-04 negatives (lā, lam, 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Laysa works like kāna: noun -u, predicate -an. State → laysa; action → 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“Negating the present nominal sentence” (rows 4–5 teacher-added). Same change as kāna, but the meaning is present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“Conjugating laysa”. Like kāna, the long vowel shortens before an ending: laysa → lastu, lasnā. Female group: lasna mustaʿiddātin.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“State negation versus action negation”. Past action can also use mā + past (mā ʿamila) — GM-VS-04.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“Negative states across time” (rows 4–5 teacher-added). Lam yakun / lan yakūna use the present of kāna, so the predicate is still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extended. Last sentence: an action → lā, not laysa.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Entry and Final Mastery items. Website: first decide state or action, then choose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Entry and Final Mastery items. Website: first decide state or action, then choose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myth-buster). Read it aloud once while students follow; then they hunt for today’s grammar.
Task: Website paper route: underline each negative and label it state, action, past or future.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for the website “correct three misconceptions”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say clearly what someone or something is not, where it is not and how the negative state changes across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about a place, person or activity. State three things that are true and correct three things that are not true.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(GM-CASE-01 · The Nominative Case) will spend class time USING this language, so students prepare it tonight — short, simple, easy to access (school guidance: “Simple, Short, Interesting, Relevant, Easy to access”). The five words prepare GM-CASE-01 (website: the nominative case).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NON-VERBAL SENTENCES  ·  GM-NVS-04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GM-NVS-04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Negation with Laysa</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نَفْيُ الْجُمْلَةِ الِاسْمِيَّةِ بِـلَيْسَ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Laysa = “is not”: laysa Aḥmadu ṭabīban (Aḥmad is not a doctor), lastu fī l-bayt (I am not at home). It works like kāna. For actions use lā (lā adhhabu); for past and future states use lam yakun and lan yakūna.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GM-NVS-04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Laysa like kāna; conjugation; state or action?; across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Make it negative; which system?;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GM-CASE-01.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not a doctor.”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طَبِيبٌ.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طَبِيبًا.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طَبِيبًا.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not tired.”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 مُتْعَبَةً.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مُتْعَبَةٌ.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لَسْتِ مُتْعَبًا.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not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أَنَا فِي الْبَيْتِ.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لَسْتَ فِي الْبَيْتِ.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لَسْتُ فِي الْبَيْتِ.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action rather than a state?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لَسْتُ فِي الْمَدْرَسَةِ.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الطَّقْسُ جَمِيلًا.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أَذْهَبُ الْيَوْمَ.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was not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يَكُنْ فِي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فِي الْمَدْرَسَةِ أَمْسِ.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يَكُنْ فِي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not a doctor.”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طَبِيبٌ.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 طَبِيبًا.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طَبِيبًا.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 + ṭabīban (-an).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not tired.”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لَيْسَتْ مُتْعَبَةً.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مُتْعَبَةٌ.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لَسْتِ مُتْعَبًا.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 + mutʿabatan.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not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أَنَا فِي الْبَيْتِ.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لَسْتَ فِي الْبَيْتِ.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لَسْتُ فِي الْبَيْتِ.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not = lastu.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action rather than a state?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لَسْتُ فِي الْمَدْرَسَةِ.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الطَّقْسُ جَمِيلًا.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أَذْهَبُ الْيَوْمَ.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verb =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was not at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 يَكُنْ فِي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فِي الْمَدْرَسَةِ أَمْسِ.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يَكُنْ فِي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state: lam yakun.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Laysa works like kāna: noun -u, predicate -an. State → laysa; action → 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لَيْسَ</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cs typeface="Amiri" pitchFamily="2" charset="-78"/>
              </a:rPr>
              <a:t>الْجَوُّ</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cs typeface="Amiri" pitchFamily="2" charset="-78"/>
              </a:rPr>
              <a:t>بَارِدًا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لَا</a:t>
            </a:r>
            <a:pPr rtl="1" algn="ctr" indent="0" marL="0">
              <a:buNone/>
            </a:pPr>
            <a:r>
              <a:rPr lang="ar-SA" altLang="en-US" sz="2400" b="1" dirty="0">
                <a:solidFill>
                  <a:srgbClr val="1B3B6F"/>
                </a:solidFill>
                <a:latin typeface="Amiri" pitchFamily="2" charset="-78"/>
                <a:cs typeface="Amiri" pitchFamily="2" charset="-78"/>
              </a:rPr>
              <a:t> أَذْهَبُ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someone or something is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right form of laysa.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laysa for states and lā for actions.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states in the past and future.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laysa … -an and lastu fī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laysa, laysat, lastu.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lasnā, laysū, lasna.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choose laysa or lā.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lam yakun and lan yakūna.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correct three myths in 100–120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negation</a:t>
            </a:r>
            <a:endParaRPr lang="en-US" sz="1350" dirty="0"/>
          </a:p>
          <a:p>
            <a:pPr indent="0" marL="0">
              <a:buNone/>
            </a:pPr>
            <a:r>
              <a:rPr lang="en-US" sz="1100" i="1" dirty="0">
                <a:solidFill>
                  <a:srgbClr val="5A6472"/>
                </a:solidFill>
                <a:latin typeface="Calibri" pitchFamily="34" charset="0"/>
                <a:cs typeface="Amiri" pitchFamily="2" charset="-78"/>
              </a:rPr>
              <a:t>an-naf-yu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لَيْسَ · لَا · لَمْ · لَنْ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لَيْسَ</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not (state)</a:t>
            </a:r>
            <a:endParaRPr lang="en-US" sz="1350" dirty="0"/>
          </a:p>
          <a:p>
            <a:pPr indent="0" marL="0">
              <a:buNone/>
            </a:pPr>
            <a:r>
              <a:rPr lang="en-US" sz="1100" i="1" dirty="0">
                <a:solidFill>
                  <a:srgbClr val="5A6472"/>
                </a:solidFill>
                <a:latin typeface="Calibri" pitchFamily="34" charset="0"/>
                <a:cs typeface="Amiri" pitchFamily="2" charset="-78"/>
              </a:rPr>
              <a:t>lay-sa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لَيْسَ طَبِيبًا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نَفْيُ الْحَالَةِ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negating a state</a:t>
            </a:r>
            <a:endParaRPr lang="en-US" sz="1350" dirty="0"/>
          </a:p>
          <a:p>
            <a:pPr indent="0" marL="0">
              <a:buNone/>
            </a:pPr>
            <a:r>
              <a:rPr lang="en-US" sz="1100" i="1" dirty="0">
                <a:solidFill>
                  <a:srgbClr val="5A6472"/>
                </a:solidFill>
                <a:latin typeface="Calibri" pitchFamily="34" charset="0"/>
                <a:cs typeface="Amiri" pitchFamily="2" charset="-78"/>
              </a:rPr>
              <a:t>naf-yu al-ḥā-la-ti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لَسْتُ مُتْعَبًا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نَفْيُ الْفِعْلِ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negating an action</a:t>
            </a:r>
            <a:endParaRPr lang="en-US" sz="1350" dirty="0"/>
          </a:p>
          <a:p>
            <a:pPr indent="0" marL="0">
              <a:buNone/>
            </a:pPr>
            <a:r>
              <a:rPr lang="en-US" sz="1100" i="1" dirty="0">
                <a:solidFill>
                  <a:srgbClr val="5A6472"/>
                </a:solidFill>
                <a:latin typeface="Calibri" pitchFamily="34" charset="0"/>
                <a:cs typeface="Amiri" pitchFamily="2" charset="-78"/>
              </a:rPr>
              <a:t>naf-yu al-fiʿ-li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لَا أَذْهَبُ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 يَكُنْ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not (past state)</a:t>
            </a:r>
            <a:endParaRPr lang="en-US" sz="1350" dirty="0"/>
          </a:p>
          <a:p>
            <a:pPr indent="0" marL="0">
              <a:buNone/>
            </a:pPr>
            <a:r>
              <a:rPr lang="en-US" sz="1100" i="1" dirty="0">
                <a:solidFill>
                  <a:srgbClr val="5A6472"/>
                </a:solidFill>
                <a:latin typeface="Calibri" pitchFamily="34" charset="0"/>
                <a:cs typeface="Amiri" pitchFamily="2" charset="-78"/>
              </a:rPr>
              <a:t>lam ya-kun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لَمْ يَكُنْ مُتْعَبًا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لَنْ يَكُونَ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 be (future state)</a:t>
            </a:r>
            <a:endParaRPr lang="en-US" sz="1350" dirty="0"/>
          </a:p>
          <a:p>
            <a:pPr indent="0" marL="0">
              <a:buNone/>
            </a:pPr>
            <a:r>
              <a:rPr lang="en-US" sz="1100" i="1" dirty="0">
                <a:solidFill>
                  <a:srgbClr val="5A6472"/>
                </a:solidFill>
                <a:latin typeface="Calibri" pitchFamily="34" charset="0"/>
                <a:cs typeface="Amiri" pitchFamily="2" charset="-78"/>
              </a:rPr>
              <a:t>lan ya-kū-na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لَنْ يَكُونَ بَارِدًا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1 · NEGATING THE PRESENT NOMINAL SENTENCE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Laysa works like kāna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cs typeface="Amiri" pitchFamily="2" charset="-78"/>
              </a:rPr>
              <a:t>لَيْسَ + اسْمُهَا الْمَرْفُوعُ + خَبَرُهَا الْمَنْصُوبُ</a:t>
            </a:r>
            <a:endParaRPr lang="ar-SA" sz="23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Aḥmad is not a doctor.</a:t>
            </a:r>
            <a:endParaRPr lang="en-US" sz="1100" dirty="0"/>
          </a:p>
        </p:txBody>
      </p:sp>
      <p:sp>
        <p:nvSpPr>
          <p:cNvPr id="21" name="Text 18"/>
          <p:cNvSpPr txBox="1"/>
          <p:nvPr/>
        </p:nvSpPr>
        <p:spPr>
          <a:xfrm>
            <a:off x="40233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 أَحْمَدُ طَبِيبًا.</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أَحْمَدُ طَبِيبٌ.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 is not large.</a:t>
            </a:r>
            <a:endParaRPr lang="en-US" sz="1100" dirty="0"/>
          </a:p>
        </p:txBody>
      </p:sp>
      <p:sp>
        <p:nvSpPr>
          <p:cNvPr id="27" name="Text 24"/>
          <p:cNvSpPr txBox="1"/>
          <p:nvPr/>
        </p:nvSpPr>
        <p:spPr>
          <a:xfrm>
            <a:off x="40233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لَيْسَتِ الْغُرْفَةُ كَبِيرَةً.</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الْغُرْفَةُ 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is not at home.</a:t>
            </a:r>
            <a:endParaRPr lang="en-US" sz="1100" dirty="0"/>
          </a:p>
        </p:txBody>
      </p:sp>
      <p:sp>
        <p:nvSpPr>
          <p:cNvPr id="33" name="Text 30"/>
          <p:cNvSpPr txBox="1"/>
          <p:nvPr/>
        </p:nvSpPr>
        <p:spPr>
          <a:xfrm>
            <a:off x="40233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لَيْسَتْ مَرْيَمُ فِي الْبَيْتِ.</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مَرْيَمُ فِي الْبَيْتِ.</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is not cold.</a:t>
            </a:r>
            <a:endParaRPr lang="en-US" sz="1100" dirty="0"/>
          </a:p>
        </p:txBody>
      </p:sp>
      <p:sp>
        <p:nvSpPr>
          <p:cNvPr id="39" name="Text 36"/>
          <p:cNvSpPr txBox="1"/>
          <p:nvPr/>
        </p:nvSpPr>
        <p:spPr>
          <a:xfrm>
            <a:off x="40233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 الْجَوُّ بَارِدًا.</a:t>
            </a:r>
            <a:endParaRPr lang="ar-SA" sz="24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الْجَوُّ بَارِدٌ.</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are not ready.</a:t>
            </a:r>
            <a:endParaRPr lang="en-US" sz="1100" dirty="0"/>
          </a:p>
        </p:txBody>
      </p:sp>
      <p:sp>
        <p:nvSpPr>
          <p:cNvPr id="43" name="Text 40"/>
          <p:cNvSpPr txBox="1"/>
          <p:nvPr/>
        </p:nvSpPr>
        <p:spPr>
          <a:xfrm>
            <a:off x="40233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 الطُّلَّابُ مُسْتَعِدِّينَ.</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 مُسْتَعِدُّونَ.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case-aware pattern: laysa is a negative member of the kāna family — the noun stays -u, a one-word predicate becomes -an. A place phrase keeps its own case: laysat Maryamu fī l-bayti.</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CONJUGATING LAYSA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Laysa changes with the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لَيْسَ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لَسْتُ مُتْعَبَةً.</a:t>
            </a:r>
            <a:endParaRPr lang="ar-SA" sz="2400" dirty="0"/>
          </a:p>
        </p:txBody>
      </p:sp>
      <p:sp>
        <p:nvSpPr>
          <p:cNvPr id="21" name="Text 18"/>
          <p:cNvSpPr txBox="1"/>
          <p:nvPr/>
        </p:nvSpPr>
        <p:spPr>
          <a:xfrm>
            <a:off x="310896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لَسْتُ</a:t>
            </a:r>
            <a:endParaRPr lang="ar-SA" sz="2600" dirty="0"/>
          </a:p>
        </p:txBody>
      </p:sp>
      <p:sp>
        <p:nvSpPr>
          <p:cNvPr id="22" name="Text 19"/>
          <p:cNvSpPr txBox="1"/>
          <p:nvPr/>
        </p:nvSpPr>
        <p:spPr>
          <a:xfrm>
            <a:off x="5669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لَسْتِ مُتَأَخِّرَةً.</a:t>
            </a:r>
            <a:endParaRPr lang="ar-SA" sz="2400" dirty="0"/>
          </a:p>
        </p:txBody>
      </p:sp>
      <p:sp>
        <p:nvSpPr>
          <p:cNvPr id="27" name="Text 24"/>
          <p:cNvSpPr txBox="1"/>
          <p:nvPr/>
        </p:nvSpPr>
        <p:spPr>
          <a:xfrm>
            <a:off x="310896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لَسْتَ · لَسْتِ</a:t>
            </a:r>
            <a:endParaRPr lang="ar-SA" sz="2600" dirty="0"/>
          </a:p>
        </p:txBody>
      </p:sp>
      <p:sp>
        <p:nvSpPr>
          <p:cNvPr id="28" name="Text 25"/>
          <p:cNvSpPr txBox="1"/>
          <p:nvPr/>
        </p:nvSpPr>
        <p:spPr>
          <a:xfrm>
            <a:off x="5669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 مَشْغُولًا.</a:t>
            </a:r>
            <a:endParaRPr lang="ar-SA" sz="2400" dirty="0"/>
          </a:p>
        </p:txBody>
      </p:sp>
      <p:sp>
        <p:nvSpPr>
          <p:cNvPr id="31" name="Text 28"/>
          <p:cNvSpPr txBox="1"/>
          <p:nvPr/>
        </p:nvSpPr>
        <p:spPr>
          <a:xfrm>
            <a:off x="310896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لَيْسَ</a:t>
            </a:r>
            <a:endParaRPr lang="ar-SA" sz="2600" dirty="0"/>
          </a:p>
        </p:txBody>
      </p:sp>
      <p:sp>
        <p:nvSpPr>
          <p:cNvPr id="32" name="Text 29"/>
          <p:cNvSpPr txBox="1"/>
          <p:nvPr/>
        </p:nvSpPr>
        <p:spPr>
          <a:xfrm>
            <a:off x="5669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it (m.)</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لَيْسَتْ مَشْغُولَةً.</a:t>
            </a:r>
            <a:endParaRPr lang="ar-SA" sz="2400" dirty="0"/>
          </a:p>
        </p:txBody>
      </p:sp>
      <p:sp>
        <p:nvSpPr>
          <p:cNvPr id="37" name="Text 34"/>
          <p:cNvSpPr txBox="1"/>
          <p:nvPr/>
        </p:nvSpPr>
        <p:spPr>
          <a:xfrm>
            <a:off x="310896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لَيْسَتْ</a:t>
            </a:r>
            <a:endParaRPr lang="ar-SA" sz="2600" dirty="0"/>
          </a:p>
        </p:txBody>
      </p:sp>
      <p:sp>
        <p:nvSpPr>
          <p:cNvPr id="38" name="Text 35"/>
          <p:cNvSpPr txBox="1"/>
          <p:nvPr/>
        </p:nvSpPr>
        <p:spPr>
          <a:xfrm>
            <a:off x="5669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it (f.)</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لَسْنَا فِي الْبَيْتِ.</a:t>
            </a:r>
            <a:endParaRPr lang="ar-SA" sz="2400" dirty="0"/>
          </a:p>
        </p:txBody>
      </p:sp>
      <p:sp>
        <p:nvSpPr>
          <p:cNvPr id="43" name="Text 40"/>
          <p:cNvSpPr txBox="1"/>
          <p:nvPr/>
        </p:nvSpPr>
        <p:spPr>
          <a:xfrm>
            <a:off x="310896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لَسْنَا</a:t>
            </a:r>
            <a:endParaRPr lang="ar-SA" sz="2600" dirty="0"/>
          </a:p>
        </p:txBody>
      </p:sp>
      <p:sp>
        <p:nvSpPr>
          <p:cNvPr id="44" name="Text 41"/>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لَيْسُوا مُسْتَعِدِّينَ.</a:t>
            </a:r>
            <a:endParaRPr lang="ar-SA" sz="2400" dirty="0"/>
          </a:p>
        </p:txBody>
      </p:sp>
      <p:sp>
        <p:nvSpPr>
          <p:cNvPr id="47" name="Text 44"/>
          <p:cNvSpPr txBox="1"/>
          <p:nvPr/>
        </p:nvSpPr>
        <p:spPr>
          <a:xfrm>
            <a:off x="310896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لَيْسُوا · لَسْنَ</a:t>
            </a:r>
            <a:endParaRPr lang="ar-SA" sz="2600" dirty="0"/>
          </a:p>
        </p:txBody>
      </p:sp>
      <p:sp>
        <p:nvSpPr>
          <p:cNvPr id="48" name="Text 45"/>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order matters with human plurals — laysa ṭ-ṭullābu fī l-faṣl (verb first, singular) but aṭ-ṭullābu laysū fī l-faṣl (subject first, full agreement). The pronoun disappears: lastu, never laysa anā.</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 PART 3 · STATE NEGATION VS ACTION NEGATION (WEBSITE TABLE)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state or an action? Choose the tool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نَفْيُ الْحَالَةِ وَنَفْيُ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negated?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لَيْسَ أَخِي طَبِيبًا.</a:t>
            </a:r>
            <a:endParaRPr lang="ar-SA" sz="2200" dirty="0"/>
          </a:p>
        </p:txBody>
      </p:sp>
      <p:sp>
        <p:nvSpPr>
          <p:cNvPr id="21" name="Text 18"/>
          <p:cNvSpPr txBox="1"/>
          <p:nvPr/>
        </p:nvSpPr>
        <p:spPr>
          <a:xfrm>
            <a:off x="3493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a:t>
            </a:r>
            <a:endParaRPr lang="en-US" sz="11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identity / description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لَيْسَ أَخِي فِي الْمَكْتَبِ.</a:t>
            </a:r>
            <a:endParaRPr lang="ar-SA" sz="2200" dirty="0"/>
          </a:p>
        </p:txBody>
      </p:sp>
      <p:sp>
        <p:nvSpPr>
          <p:cNvPr id="27" name="Text 24"/>
          <p:cNvSpPr txBox="1"/>
          <p:nvPr/>
        </p:nvSpPr>
        <p:spPr>
          <a:xfrm>
            <a:off x="3493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a:t>
            </a:r>
            <a:endParaRPr lang="en-US" sz="11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location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يَعْمَلُ أَخِي يَوْمَ الْجُمُعَةِ.</a:t>
            </a:r>
            <a:endParaRPr lang="ar-SA" sz="2200" dirty="0"/>
          </a:p>
        </p:txBody>
      </p:sp>
      <p:sp>
        <p:nvSpPr>
          <p:cNvPr id="33" name="Text 30"/>
          <p:cNvSpPr txBox="1"/>
          <p:nvPr/>
        </p:nvSpPr>
        <p:spPr>
          <a:xfrm>
            <a:off x="3493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present verb</a:t>
            </a:r>
            <a:endParaRPr lang="en-US" sz="11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habitual action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لَمْ يَعْمَلْ أَخِي أَمْسِ.</a:t>
            </a:r>
            <a:endParaRPr lang="ar-SA" sz="2200" dirty="0"/>
          </a:p>
        </p:txBody>
      </p:sp>
      <p:sp>
        <p:nvSpPr>
          <p:cNvPr id="39" name="Text 36"/>
          <p:cNvSpPr txBox="1"/>
          <p:nvPr/>
        </p:nvSpPr>
        <p:spPr>
          <a:xfrm>
            <a:off x="3493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present form</a:t>
            </a:r>
            <a:endParaRPr lang="en-US" sz="11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action</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لَنْ يَعْمَلَ أَخِي غَدًا.</a:t>
            </a:r>
            <a:endParaRPr lang="ar-SA" sz="2200" dirty="0"/>
          </a:p>
        </p:txBody>
      </p:sp>
      <p:sp>
        <p:nvSpPr>
          <p:cNvPr id="43" name="Text 40"/>
          <p:cNvSpPr txBox="1"/>
          <p:nvPr/>
        </p:nvSpPr>
        <p:spPr>
          <a:xfrm>
            <a:off x="3493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present form</a:t>
            </a:r>
            <a:endParaRPr lang="en-US" sz="11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action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key contrast: laysa akhī fī l-maktab denies where he is; lā yaʿmalu akhī fī l-maktab denies what he does. Rule of thumb: if there is a verb, do not use laysa.</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NEGATIVE STATES ACROSS TIME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 not · is not · will not be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النَّفْيُ عَبْرَ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3591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road is not crowded.</a:t>
            </a:r>
            <a:endParaRPr lang="en-US" sz="1100" dirty="0"/>
          </a:p>
        </p:txBody>
      </p:sp>
      <p:sp>
        <p:nvSpPr>
          <p:cNvPr id="21" name="Text 18"/>
          <p:cNvSpPr txBox="1"/>
          <p:nvPr/>
        </p:nvSpPr>
        <p:spPr>
          <a:xfrm>
            <a:off x="23774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لَيْسَ الطَّرِيقُ مُزْدَحِمًا.</a:t>
            </a:r>
            <a:endParaRPr lang="ar-SA" sz="22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road was not crowded yesterday.</a:t>
            </a:r>
            <a:endParaRPr lang="en-US" sz="1100" dirty="0"/>
          </a:p>
        </p:txBody>
      </p:sp>
      <p:sp>
        <p:nvSpPr>
          <p:cNvPr id="27" name="Text 24"/>
          <p:cNvSpPr txBox="1"/>
          <p:nvPr/>
        </p:nvSpPr>
        <p:spPr>
          <a:xfrm>
            <a:off x="23774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لَمْ يَكُنِ الطَّرِيقُ مُزْدَحِمًا أَمْسِ.</a:t>
            </a:r>
            <a:endParaRPr lang="ar-SA" sz="22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road will not be crowded tomorrow.</a:t>
            </a:r>
            <a:endParaRPr lang="en-US" sz="1100" dirty="0"/>
          </a:p>
        </p:txBody>
      </p:sp>
      <p:sp>
        <p:nvSpPr>
          <p:cNvPr id="31" name="Text 28"/>
          <p:cNvSpPr txBox="1"/>
          <p:nvPr/>
        </p:nvSpPr>
        <p:spPr>
          <a:xfrm>
            <a:off x="23774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لَنْ يَكُونَ الطَّرِيقُ مُزْدَحِمًا غَدًا.</a:t>
            </a:r>
            <a:endParaRPr lang="ar-SA" sz="2200" dirty="0"/>
          </a:p>
        </p:txBody>
      </p:sp>
      <p:sp>
        <p:nvSpPr>
          <p:cNvPr id="32" name="Text 2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 was not clean.</a:t>
            </a:r>
            <a:endParaRPr lang="en-US" sz="1100" dirty="0"/>
          </a:p>
        </p:txBody>
      </p:sp>
      <p:sp>
        <p:nvSpPr>
          <p:cNvPr id="35" name="Text 32"/>
          <p:cNvSpPr txBox="1"/>
          <p:nvPr/>
        </p:nvSpPr>
        <p:spPr>
          <a:xfrm>
            <a:off x="23774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لَمْ تَكُنِ الْغُرْفَةُ نَظِيفَةً.</a:t>
            </a:r>
            <a:endParaRPr lang="ar-SA" sz="2200" dirty="0"/>
          </a:p>
        </p:txBody>
      </p:sp>
      <p:sp>
        <p:nvSpPr>
          <p:cNvPr id="36" name="Text 33"/>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(f.)</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 will not be difficult.</a:t>
            </a:r>
            <a:endParaRPr lang="en-US" sz="1100" dirty="0"/>
          </a:p>
        </p:txBody>
      </p:sp>
      <p:sp>
        <p:nvSpPr>
          <p:cNvPr id="39" name="Text 36"/>
          <p:cNvSpPr txBox="1"/>
          <p:nvPr/>
        </p:nvSpPr>
        <p:spPr>
          <a:xfrm>
            <a:off x="23774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لَنْ تَكُونَ الْمُشْكِلَةُ صَعْبَةً.</a:t>
            </a:r>
            <a:endParaRPr lang="ar-SA" sz="2200" dirty="0"/>
          </a:p>
        </p:txBody>
      </p:sp>
      <p:sp>
        <p:nvSpPr>
          <p:cNvPr id="40" name="Text 37"/>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(f.)</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laysa is for the PRESENT only — never laysa … amsi. Website Stretch: formal Arabic may add bi- to the predicate: laysa l-amru bi-ṣaʿbin. The core target stays laysa l-amru ṣaʿban.</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room is not large.”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 الْغُرْفَةَ كَبِيرَةٌ.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الْغُرْفَةُ كَبِيرًا.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 الْغُرْفَةُ كَبِيرَةً.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are not in the classroom.”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الطُّلَّابُ فِي الْفَصْلِ.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لَيْسُوا الطُّلَّابُ فِي الْفَصْلِ.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الطُّلَّابَ فِي الْفَصْلَ.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subject-first full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لَيْسَ فِي الْفَصْلِ.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لَيْسُوا فِي الْفَصْلِ.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 لَسْنَ فِي الْفَصْلِ.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are not late.”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لَسْتِ مُتَأَخِّرَةً.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لَسْتَ مُتَأَخِّرًا.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 مُتَأَخِّرَةٌ.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room is not large.”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لَيْسَتِ الْغُرْفَةَ كَبِيرَةٌ.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الْغُرْفَةُ كَبِيرًا.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لَيْسَتِ الْغُرْفَةُ كَبِيرَةً.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 + al-ghurfatu + kabīratan.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are not in the classroom.”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 الطُّلَّابُ فِي الْفَصْلِ.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لَيْسُوا الطُّلَّابُ فِي الْفَصْلِ.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الطُّلَّابَ فِي الْفَصْلَ.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laysa; place phrase unchanged.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subject-first full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الطُّلَّابُ لَيْسَ فِي الْفَصْلِ.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الطُّلَّابُ لَيْسُوا فِي الْفَصْلِ.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الطُّلَّابُ لَسْنَ فِي الْفَصْلِ.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Students first → laysū.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are not late.”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لَسْتِ مُتَأَخِّرَةً.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لَسْتَ مُتَأَخِّرًا.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لَيْسَتْ مُتَأَخِّرَةٌ.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(f.) = lasti + mutaʾakhkhiratan.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correct a myth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Myth</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الْمَدِينَةُ صَاخِبَةٌ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 people think…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State or action?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حَالَةٌ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description: state.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لَيْسَتْ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City: feminine.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صَاخِبَةً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 becomes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NEGATIVE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-u</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 -an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يَظُنُّ بَعْضُ النَّاسِ أَنَّ الْمَدِينَةَ صَاخِبَةٌ دَائِمًا، لَكِنَّهَا </a:t>
            </a:r>
            <a:pPr rtl="1" algn="r" indent="0" marL="0">
              <a:lnSpc>
                <a:spcPct val="120000"/>
              </a:lnSpc>
              <a:buNone/>
            </a:pPr>
            <a:r>
              <a:rPr lang="ar-SA" altLang="en-US" sz="1400" b="1" dirty="0">
                <a:solidFill>
                  <a:srgbClr val="0E7C86"/>
                </a:solidFill>
                <a:latin typeface="Amiri" pitchFamily="2" charset="-78"/>
                <a:cs typeface="Amiri" pitchFamily="2" charset="-78"/>
              </a:rPr>
              <a:t>لَيْسَتْ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cs typeface="Amiri" pitchFamily="2" charset="-78"/>
              </a:rPr>
              <a:t>صَاخِبَةً</a:t>
            </a:r>
            <a:pPr rtl="1" algn="r" indent="0" marL="0">
              <a:lnSpc>
                <a:spcPct val="120000"/>
              </a:lnSpc>
              <a:buNone/>
            </a:pPr>
            <a:r>
              <a:rPr lang="ar-SA" altLang="en-US" sz="1400" b="1" dirty="0">
                <a:solidFill>
                  <a:srgbClr val="1B3B6F"/>
                </a:solidFill>
                <a:latin typeface="Amiri" pitchFamily="2" charset="-78"/>
                <a:cs typeface="Amiri" pitchFamily="2" charset="-78"/>
              </a:rPr>
              <a:t> فِي الصَّبَاحِ الْبَاكِرِ. </a:t>
            </a:r>
            <a:pPr rtl="1" algn="r" indent="0" marL="0">
              <a:lnSpc>
                <a:spcPct val="120000"/>
              </a:lnSpc>
              <a:buNone/>
            </a:pPr>
            <a:r>
              <a:rPr lang="ar-SA" altLang="en-US" sz="1400" b="1" dirty="0">
                <a:solidFill>
                  <a:srgbClr val="0E7C86"/>
                </a:solidFill>
                <a:latin typeface="Amiri" pitchFamily="2" charset="-78"/>
                <a:cs typeface="Amiri" pitchFamily="2" charset="-78"/>
              </a:rPr>
              <a:t>لَيْسَ</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السُّوقُ</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cs typeface="Amiri" pitchFamily="2" charset="-78"/>
              </a:rPr>
              <a:t>بَعِيدًا</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لَمْ يَكُنِ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الطَّقْسُ</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cs typeface="Amiri" pitchFamily="2" charset="-78"/>
              </a:rPr>
              <a:t>جَمِيلًا</a:t>
            </a:r>
            <a:pPr rtl="1" algn="r" indent="0" marL="0">
              <a:lnSpc>
                <a:spcPct val="120000"/>
              </a:lnSpc>
              <a:buNone/>
            </a:pPr>
            <a:r>
              <a:rPr lang="ar-SA" altLang="en-US" sz="1400" b="1" dirty="0">
                <a:solidFill>
                  <a:srgbClr val="1B3B6F"/>
                </a:solidFill>
                <a:latin typeface="Amiri" pitchFamily="2" charset="-78"/>
                <a:cs typeface="Amiri" pitchFamily="2" charset="-78"/>
              </a:rPr>
              <a:t> أَمْسِ، لَكِنَّهُ </a:t>
            </a:r>
            <a:pPr rtl="1" algn="r" indent="0" marL="0">
              <a:lnSpc>
                <a:spcPct val="120000"/>
              </a:lnSpc>
              <a:buNone/>
            </a:pPr>
            <a:r>
              <a:rPr lang="ar-SA" altLang="en-US" sz="1400" b="1" dirty="0">
                <a:solidFill>
                  <a:srgbClr val="0E7C86"/>
                </a:solidFill>
                <a:latin typeface="Amiri" pitchFamily="2" charset="-78"/>
                <a:cs typeface="Amiri" pitchFamily="2" charset="-78"/>
              </a:rPr>
              <a:t>لَنْ يَكُونَ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C77700"/>
                </a:solidFill>
                <a:latin typeface="Amiri" pitchFamily="2" charset="-78"/>
                <a:cs typeface="Amiri" pitchFamily="2" charset="-78"/>
              </a:rPr>
              <a:t>بَارِدًا</a:t>
            </a:r>
            <a:pPr rtl="1" algn="r" indent="0" marL="0">
              <a:lnSpc>
                <a:spcPct val="120000"/>
              </a:lnSpc>
              <a:buNone/>
            </a:pPr>
            <a:r>
              <a:rPr lang="ar-SA" altLang="en-US" sz="1400" b="1" dirty="0">
                <a:solidFill>
                  <a:srgbClr val="1B3B6F"/>
                </a:solidFill>
                <a:latin typeface="Amiri" pitchFamily="2" charset="-78"/>
                <a:cs typeface="Amiri" pitchFamily="2" charset="-78"/>
              </a:rPr>
              <a:t> غَدًا. </a:t>
            </a:r>
            <a:pPr rtl="1" algn="r" indent="0" marL="0">
              <a:lnSpc>
                <a:spcPct val="120000"/>
              </a:lnSpc>
              <a:buNone/>
            </a:pPr>
            <a:r>
              <a:rPr lang="ar-SA" altLang="en-US" sz="1400" b="1" dirty="0">
                <a:solidFill>
                  <a:srgbClr val="0E7C86"/>
                </a:solidFill>
                <a:latin typeface="Amiri" pitchFamily="2" charset="-78"/>
                <a:cs typeface="Amiri" pitchFamily="2" charset="-78"/>
              </a:rPr>
              <a:t>لَا</a:t>
            </a:r>
            <a:pPr rtl="1" algn="r" indent="0" marL="0">
              <a:lnSpc>
                <a:spcPct val="120000"/>
              </a:lnSpc>
              <a:buNone/>
            </a:pPr>
            <a:r>
              <a:rPr lang="ar-SA" altLang="en-US" sz="1400" b="1" dirty="0">
                <a:solidFill>
                  <a:srgbClr val="1B3B6F"/>
                </a:solidFill>
                <a:latin typeface="Amiri" pitchFamily="2" charset="-78"/>
                <a:cs typeface="Amiri" pitchFamily="2" charset="-78"/>
              </a:rPr>
              <a:t> يَفْتَحُ الْمَتْحَفُ أَبْوَابَهُ يَوْمَ الِاثْنَيْنِ.</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Some people think the city is always noisy, but it is not noisy early in the morning. The market is not far. The weather was not nice yesterday, but it will not be cold tomorrow. The museum does not open on Mondays.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لَيْسَ أَحْمَدُ طَبِيبًا.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Aḥmad is not a doctor.</a:t>
            </a:r>
            <a:endParaRPr lang="en-US" sz="1250" dirty="0"/>
          </a:p>
          <a:p>
            <a:pPr indent="0" marL="0">
              <a:buNone/>
            </a:pPr>
            <a:r>
              <a:rPr lang="en-US" sz="1050" i="1" dirty="0">
                <a:solidFill>
                  <a:srgbClr val="8A6D1E"/>
                </a:solidFill>
                <a:latin typeface="Calibri" pitchFamily="34" charset="0"/>
                <a:cs typeface="Amiri" pitchFamily="2" charset="-78"/>
              </a:rPr>
              <a:t>Identity: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لَسْتُ فِي الْبَيْتِ.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not at home.</a:t>
            </a:r>
            <a:endParaRPr lang="en-US" sz="1250" dirty="0"/>
          </a:p>
          <a:p>
            <a:pPr indent="0" marL="0">
              <a:buNone/>
            </a:pPr>
            <a:r>
              <a:rPr lang="en-US" sz="1050" i="1" dirty="0">
                <a:solidFill>
                  <a:srgbClr val="8A6D1E"/>
                </a:solidFill>
                <a:latin typeface="Calibri" pitchFamily="34" charset="0"/>
                <a:cs typeface="Amiri" pitchFamily="2" charset="-78"/>
              </a:rPr>
              <a:t>Place: no change.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يَعْمَلُ أَخِي يَوْمَ الْجُمُعَةِ.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does not work on Fridays.</a:t>
            </a:r>
            <a:endParaRPr lang="en-US" sz="1250" dirty="0"/>
          </a:p>
          <a:p>
            <a:pPr indent="0" marL="0">
              <a:buNone/>
            </a:pPr>
            <a:r>
              <a:rPr lang="en-US" sz="1050" i="1" dirty="0">
                <a:solidFill>
                  <a:srgbClr val="8A6D1E"/>
                </a:solidFill>
                <a:latin typeface="Calibri" pitchFamily="34" charset="0"/>
                <a:cs typeface="Amiri" pitchFamily="2" charset="-78"/>
              </a:rPr>
              <a:t>Action: 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لَمْ يَكُنِ الطَّرِيقُ مُزْدَحِمًا.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road was not crowded.</a:t>
            </a:r>
            <a:endParaRPr lang="en-US" sz="1250" dirty="0"/>
          </a:p>
          <a:p>
            <a:pPr indent="0" marL="0">
              <a:buNone/>
            </a:pPr>
            <a:r>
              <a:rPr lang="en-US" sz="1050" i="1" dirty="0">
                <a:solidFill>
                  <a:srgbClr val="8A6D1E"/>
                </a:solidFill>
                <a:latin typeface="Calibri" pitchFamily="34" charset="0"/>
                <a:cs typeface="Amiri" pitchFamily="2" charset="-78"/>
              </a:rPr>
              <a:t>Past state.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MAKE IT NEGATIVE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Positive → negative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اِنْفِ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becomes -an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لَيْسَ طَبِيبًا.</a:t>
            </a:r>
            <a:endParaRPr lang="ar-SA" sz="22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طَبِيبٌ.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no change</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لَيْسَتْ فِي الْبَيْتِ.</a:t>
            </a:r>
            <a:endParaRPr lang="ar-SA" sz="22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فِي الْبَيْتِ.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lastu</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لَسْتُ مَشْغُولَةً.</a:t>
            </a:r>
            <a:endParaRPr lang="ar-SA" sz="22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مَشْغُولَةٌ.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-ūna becomes -īna</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لَسْنَا مُتَأَخِّرِينَ.</a:t>
            </a:r>
            <a:endParaRPr lang="ar-SA" sz="22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نَحْنُ مُتَأَخِّرُونَ.</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 first: laysū</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لَيْسُوا فِي الْمَكْتَبَةِ.</a:t>
            </a:r>
            <a:endParaRPr lang="ar-SA" sz="22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فِي الْمَكْتَبَةِ.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lam yakun</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لَمْ يَكُنْ مُتْعَبًا.</a:t>
            </a:r>
            <a:endParaRPr lang="ar-SA" sz="22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مُتْعَبًا.</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disappears into laysa: huwa → laysa, hiya → laysat, anā → lastu, naḥnu → lasnā.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 WHICH NEGATIVE SYSTEM?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 action, past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 أَدَاةِ 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لَيْسَ الطَّقْسُ جَمِيلًا.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لَسْتُ فِي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أَذْهَبُ الْيَوْمَ.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يَعْمَلُ الْمَكْتَبُ يَوْمَ الْجُمُعَةِ.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يَكُنْ مُتْعَبًا.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يَكُنِ الطَّرِيقُ مُزْدَحِمًا.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يَكُونَ الطَّقْسُ بَارِدًا.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تَكُونَ الْمُشْكِلَةُ صَعْبَةً.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 state</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state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Future state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 state</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لَيْسَ الطَّقْسُ جَمِيلًا.</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لَسْتُ فِي الْمَدْرَسَةِ.</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أَذْهَبُ الْيَوْمَ.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لَا يَعْمَلُ الْمَكْتَبُ يَوْمَ الْجُمُعَةِ.</a:t>
            </a:r>
            <a:endParaRPr lang="ar-SA" sz="165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state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يَكُنْ مُتْعَبًا.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يَكُنِ الطَّرِيقُ مُزْدَحِمًا.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Future state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يَكُونَ الطَّقْسُ بَارِدًا.</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تَكُونَ الْمُشْكِلَةُ صَعْبَةً.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لَيْسَ هِيَ مُتْعَبَةٌ.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form for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لَيْسَ أَذْهَبُ الْيَوْمَ.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there a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لَيْسَ الطَّقْسُ بَارِدًا أَمْسِ.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Present or past?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لَيْسَ هِيَ مُتْعَبَةٌ.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لَيْسَتْ مُتْعَبَةً.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Conjugate laysa; predicate -an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لَيْسَ أَذْهَبُ الْيَوْمَ.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أَذْهَبُ الْيَوْمَ.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action needs lā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لَيْسَ الطَّقْسُ بَارِدًا أَمْسِ.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لَمْ يَكُنِ الطَّقْسُ بَارِدًا أَمْسِ.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Past state: lam yakun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masculine singular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الطَّعَامَ جَاهِزٌ.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الطَّعَامُ جَاهِزٌ.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الطَّعَامُ جَاهِزًا.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singular form.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السَّيَّارَةُ سَرِيعًا.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 السَّيَّارَةُ سَرِيعَةً.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 السَّيَّارَةَ سَرِيعَةٌ.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are not ready.”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لَيْسُوا مُسْتَعِدَّاتٌ.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لَسْنَ مُسْتَعِدَّاتٍ.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لَسْنَ مُسْتَعِدَّاتٌ.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verb?</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الْمَكْتَبُ يَعْمَلُ.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يَعْمَلُ الْمَكْتَبُ غَدًا.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يَعْمَلُ الْمَكْتَبُ يَوْمَ الْجُمُعَةِ.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masculine singular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الطَّعَامَ جَاهِزٌ.</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الطَّعَامُ جَاهِزٌ.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 الطَّعَامُ جَاهِزًا.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-u, predicate -an.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singular form.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السَّيَّارَةُ سَرِيعًا.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لَيْسَتِ السَّيَّارَةُ سَرِيعَةً.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لَيْسَتِ السَّيَّارَةَ سَرِيعَةٌ.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Laysati s-sayyāratu sarīʿatan.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are not ready.”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لَيْسُوا مُسْتَعِدَّاتٌ.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لَسْنَ مُسْتَعِدَّاتٍ.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لَسْنَ مُسْتَعِدَّاتٌ.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Lasna + mustaʿiddātin.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verb?</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الْمَكْتَبُ يَعْمَلُ.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يَعْمَلُ الْمَكْتَبُ غَدًا.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يَعْمَلُ الْمَكْتَبُ يَوْمَ الْجُمُعَةِ.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SKILLS WORKSHOP (TEACHER-WRITTEN MYTH-BUSTER)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Myths about our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يَعْتَقِدُ كَثِيرٌ مِنَ السُّيَّاحِ أَنَّ مَدِينَتَنَا حَارَّةٌ طُولَ السَّنَةِ، لَكِنَّهَا لَيْسَتْ حَارَّةً فِي الشِّتَاءِ؛ الْجَوُّ لَطِيفٌ وَبَارِدٌ أَحْيَانًا. يَظُنُّونَ أَيْضًا أَنَّ الْأَسْوَاقَ غَالِيَةٌ، وَلَكِنَّ الْأَسْعَارَ لَيْسَتْ مُرْتَفِعَةً فِي السُّوقِ الْقَدِيمِ. الْمَتَاحِفُ لَيْسَتْ مُمِلَّةً، فَهِيَ مَلِيئَةٌ بِالْقِصَصِ. لَا تَفْتَحُ الْمَحَلَّاتُ يَوْمَ الْجُمُعَةِ صَبَاحًا. لَمْ يَكُنِ الْمَطَارُ كَبِيرًا قَبْلَ عَشْرِ سَنَوَاتٍ، لَكِنَّهُ الْآنَ ضَخْمٌ. فِي الْمُسْتَقْبَلِ لَنْ يَكُونَ الطَّرِيقُ إِلَى الْمَطَارِ مُزْدَحِمًا، لِأَنَّ الْقِطَارَ الْجَدِيدَ سَيَصِلُ إِلَيْهِ.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السُّيَّاحِ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tourists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طُولَ السَّنَةِ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year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مُمِلَّةً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boring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الْمَحَلَّاتُ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shops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ضَخْمٌ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huge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city hot in winter?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very hot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is mild, sometimes cold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are not told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negates an action?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لَيْسَتْ مُمِلَّةً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يَكُنِ الْمَطَارُ كَبِيرًا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تَفْتَحُ الْمَحَلَّاتُ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airport like ten years ago?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big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big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 road to the airport not be crowded?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will close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train will reach the airport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will be fewer tourists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city hot in winter?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very hot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it is mild, sometimes cold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are not told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Laysat ḥārratan fī sh-shitāʾ.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negates an action?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لَيْسَتْ مُمِلَّةً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يَكُنِ الْمَطَارُ كَبِيرًا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تَفْتَحُ الْمَحَلَّاتُ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verb.</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airport like ten years ago?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big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big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yakun kabīran.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 road to the airport not be crowded?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will close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new train will reach the airport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will be fewer tourists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 l-qiṭāra l-jadīda sa-yaṣilu ilayh.</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set the record straight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أَنْتَ مُتْعَبٌ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مَدِينَتُكَ كَبِيرَةٌ وَمُزْدَحِمَةٌ؟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صَحِّحْ فِكْرَةً خَاطِئَةً عَنْ بَلَدِكَ.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لَا، لَسْتُ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مَدِينَتِي لَيْسَتْ ___ ، لَكِنَّهَا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يَظُنُّ النَّاسُ أَنَّ ___ ، لَكِنَّهُ لَيْسَ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الِامْتِحَانُ صَعْبٌ؟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the exam hard?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لَا، لَيْسَ صَعْبًا، لَكِنَّهُ طَوِيلٌ. لَمْ يَكُنِ الِامْتِحَانُ الْمَاضِي سَهْلًا، وَلَكِنَّ هَذَا لَنْ يَكُونَ مُشْكِلَةً.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No, it is not hard, but it is long. The last exam was not easy, but this one will not be a problem.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things you or your school are NOT.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lastu … · laysat madrasatī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action negative and one past state.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lā adhhabu · lam yakun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myth-buster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Truth / myth table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أَذْهَبُ إِلَى ______ يَوْمَ الْجُمُعَةِ.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go to … on Friday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 يَكُنِ الطَّقْسُ ______ أَمْسِ.</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was not … yesterday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يَكُونَ الِامْتِحَانُ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exam will not be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يَظُنُّ النَّاسُ أَنَّ ______ ، لَكِنَّهُ لَيْسَ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People think …, but it is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لَسْتُ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not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لَيْسَتْ 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school is not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أَخِي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is not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لَسْنَا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not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لَيْسَ  ·  لَيْسَتْ  ·  لَسْتُ  ·  لَسْنَا  ·  لَيْسُوا  ·  لَا  ·  لَمْ يَكُنْ  ·  لَنْ يَكُونَ  ·  صَعْبًا  ·  بَعِيدًا  ·  مُزْدَحِمًا  ·  مُمِلًّا  ·  غَالِيًا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task (100–120 words): a place, person or activity — three truths and three corrected myths.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forms of laysa.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 action negative with lā.</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lam yakun (past state).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lan yakūna (future state).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one-word predicate after laysa in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يَظُنُّ النَّاسُ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 think that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الْحَقِيقَةِ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fact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صَحِيحًا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not true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أَبَدًا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at all / never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 he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دَائِمًا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always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2" charset="-78"/>
                <a:cs typeface="Amiri" pitchFamily="2" charset="-78"/>
              </a:rPr>
              <a:t>يَظُنُّ بَعْضُ النَّاسِ أَنَّ الْمَدْرَسَةَ عَلَى الْإِنْتَرْنِتِ سَهْلَةٌ وَمُمِلَّةٌ، لَكِنَّهَا لَيْسَتْ سَهْلَةً وَلَيْسَتْ مُمِلَّةً أَبَدًا. أَنَا طَالِبَةٌ فِي مَدْرَسَةٍ عَلَى الْإِنْتَرْنِتِ مُنْذُ سَنَتَيْنِ. لَسْتُ وَحِيدَةً، فَصَفِّي مَلِيءٌ بِطَالِبَاتٍ مِنْ بُلْدَانٍ كَثِيرَةٍ. الدُّرُوسُ لَيْسَتْ قَصِيرَةً، وَالْوَاجِبَاتُ كَثِيرَةٌ. لَا نَجْلِسُ أَمَامَ الشَّاشَةِ طُولَ الْيَوْمِ، لِأَنَّ الْمُعَلِّمَاتِ يُعْطِينَنَا اسْتِرَاحَاتٍ. فِي الْبِدَايَةِ لَمْ يَكُنِ الْأَمْرُ سَهْلًا؛ لَمْ تَكُنِ التِّقْنِيَّةُ وَاضِحَةً لِي، وَكُنْتُ أَخْجَلُ مِنَ الْكَلَامِ. الْآنَ لَسْتُ خَجُولَةً، وَأُشَارِكُ فِي كُلِّ دَرْسٍ. صَدِيقَاتِي لَسْنَ بَعِيدَاتٍ عَنِّي فِي الْحَقِيقَةِ، فَنَتَكَلَّمُ كُلَّ يَوْمٍ. فِي السَّنَةِ الْقَادِمَةِ لَنْ تَكُونَ الِامْتِحَانَاتُ سَهْلَةً، لَكِنَّنِي لَنْ أَكُونَ خَائِفَةً، لِأَنَّنِي مُسْتَعِدَّةٌ.</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Some people think that online school is easy and boring, but it is not easy and not boring at all. I have been a student at an online school for two years. I am not lonely: my class is full of girls from many countries. The lessons are not short, and there is a lot of homework. We do not sit in front of the screen all day, because the teachers give us breaks. At the beginning it was not easy; the technology was not clear to me, and I used to be shy about speaking. Now I am not shy, and I take part in every lesson. My friends are not really far from me — we talk every day. Next year the exams will not be easy, but I will not be afraid, because I am ready.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laysat +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lastu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lā + present (action)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lam yakun / lan yakūna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laysa, my one-word predicates end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right form: lastu, laysa, laysat.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lā (not laysa) before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phrases after laysa did not 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Past state → lam yakun; future state → lan yakūna.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location negation.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أَحْمَدُ فِي الْمَكْتَبِ.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أَحْمَدَ فِي الْمَكْتَبَ.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أَحْمَدُ فِي الْمَكْتَبِ.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past state?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الطَّرِيقُ مُزْدَحِمًا أَمْسِ.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يَكُنِ الطَّرِيقُ مُزْدَحِمًا.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يَكُنِ الطَّرِيقُ مُزْدَحِمًا.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future state?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يَكُونَ الطَّقْسُ بَارِدًا غَدًا.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يَكُنِ الطَّقْسُ بَارِدًا غَدًا.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الطَّقْسُ بَارِدًا أَمْسِ.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location negation.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لَيْسَ أَحْمَدُ فِي الْمَكْتَبِ.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لَيْسَ أَحْمَدَ فِي الْمَكْتَبَ.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أَحْمَدُ فِي الْمَكْتَبِ.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Laysa + place phrase (no change).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past state?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لَيْسَ الطَّرِيقُ مُزْدَحِمًا أَمْسِ.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لَمْ يَكُنِ الطَّرِيقُ مُزْدَحِمًا.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 يَكُنِ الطَّرِيقُ مُزْدَحِمًا.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state: lam yakun.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future state?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لَنْ يَكُونَ الطَّقْسُ بَارِدًا غَدًا.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لَمْ يَكُنِ الطَّقْسُ بَارِدًا غَدًا.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لَيْسَ الطَّقْسُ بَارِدًا أَمْسِ.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state: lan yakūna.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GM-NVS-04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Before GM-CASE-01: get ready at home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GM-CASE-01 · The Nominative Case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الضَّمَّةُ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ḍamma: the -u ending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الرَّفْعُ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nominative case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الْفَاعِلُ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subject (doer)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الْمُبْتَدَأُ</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topic</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الْخَبَرُ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predicate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this unit: which words always ended in -u? (Hint: the doer of a verb, the topic, the noun of kāna and laysa.)</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الطَّالِبُ مُجْتَهِدٌ — أَيْنَ الضَّمَّةُ؟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laysa sentences about yourself and your school.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state negatives (laysa) and three action negatives (lā).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myth-buster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GM-NVS-04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GM-CASE-01 · The Nominative Case</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حَالَةُ الرَّفْعِ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laysa = is not (present state) and works like kāna: noun -u, predicate -an · lastu, lasta, lasti, laysa, laysat, lasnā, laysū, lasna · actions → lā + present · past state → lam yakun · future state → lan yakūna.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GM-NVS-04 · Negation with Laysa</dc:title>
  <dc:subject>PptxGenJS Presentation</dc:subject>
  <dc:creator>Al Madina Online School · Arabic Department</dc:creator>
  <cp:lastModifiedBy>Al Madina Online School · Arabic Department</cp:lastModifiedBy>
  <cp:revision>1</cp:revision>
  <dcterms:created xsi:type="dcterms:W3CDTF">2026-10-11T06:42:25Z</dcterms:created>
  <dcterms:modified xsi:type="dcterms:W3CDTF">2026-10-11T06:42:25Z</dcterms:modified>
</cp:coreProperties>
</file>