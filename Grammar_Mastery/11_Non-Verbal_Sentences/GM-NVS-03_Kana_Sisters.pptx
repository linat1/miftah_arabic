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Lst>
  <p:notesMasterIdLst>
    <p:notesMasterId r:id="rId3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notesMaster" Target="notesMasters/notesMaster1.xml"/><Relationship Id="rId38" Type="http://schemas.openxmlformats.org/officeDocument/2006/relationships/presProps" Target="presProps.xml"/><Relationship Id="rId39" Type="http://schemas.openxmlformats.org/officeDocument/2006/relationships/viewProps" Target="viewProps.xml"/><Relationship Id="rId40" Type="http://schemas.openxmlformats.org/officeDocument/2006/relationships/theme" Target="theme/theme1.xml"/><Relationship Id="rId4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AT A GLANCE — planned for 56 minutes, leaving about 4 minutes for Teams delays.
0–1 Welcome · 1–2 Lesson map · 2–9 Do Now + answers · 9–10 Objectives · 10–13 Grammar words · 13–24 The grammar, step by step · 24–26 Quick check · 26–29 I Do · 29–38 We Do (sort, repair, practise) · 38–49 You Do (read, speak, write on your route) · 49–54 Feedback (model, self-check, exit ticket) · 54–56 Preparation.
FLEX slides are optional: use them if the class is moving quickly; otherwise the same activities are on the website for homework.
Content source: Miftah Arabic website, Mastery &amp; Revision › Grammar › Non-Verbal Sentences › GM-NVS-03 (“كَانَ and Its Sisters”). The Do Now, quick check, game practice, exit ticket and mastery check are the website’s own quizzes; the reading text, speaking and writing tasks are the website’s four-skills application. Explanation slides, worked examples, sorter, repair items, frames and model translations are teacher-made on the website rules and labelled in the notes.
SUPPORT FOR THIS CLASS (Arabic not yet secure; mixed levels):
• Core: kāna / kānat / kuntu with description and location (kāna l-jawwu bāridan, kuntu fī l-bayt). Develop: the full kāna table (kunnā, kānū, kunna) and kāna + present for habits (kuntu aqraʾu kulla yawm). Stretch: ṣāra / aṣbaḥa (became), ẓalla (remained), mā zāla (still) with full case control.
• This is the mirror image of inna (GM-NVS-02): inna changes the NOUN to -a; kāna changes the PREDICATE to -an. Place phrases (fī l-bayt) never change.
• Colour code: teal = kāna-family verb, blue = noun (-u), orange = predicate (-an). Recycles GM-VS-02/03 agreement: kāna ṭ-ṭullābu (verb first) vs aṭ-ṭullābu kānū (subject first).
• Grammar words are always given in English AND Arabic: students should be able to name the rule, not just apply it.
• Colour code (same as all Miftah lessons): WHO = blue, MEANING = purple, ENDING = pink, PATTERN = orange, KEY WORD = teal.
• SEND “automatic doors”: lesson map, chunked tasks, worked examples before practice, cover-the-text reading and “pass” for reading aloud are built in for everyone.
ROUTES: Core (green) = students whose Arabic is not yet secure; Develop (amber) = on track; Stretch (red) = confident. Same objective for everyone — the task changes, not the goal.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MAP (30 seconds) — SEND training: “absolute predictability”. Show the whole journey so students know what is coming and when they will be asked to speak or write. Point to the green box: using the Core supports is normal and expected (“automatic doors”).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 NOW (5 min independent + 2 min going through answers).
The website Entry Check — GM-NVS-01 nominal sentences, GM-NVS-02 case change and GM-V past endings (-tu, -nā, -ū).
• Students work silently. Answers go in the chat as five letters only when the timer ends.
• Core students may answer in English and use their book.
• While they work: register, note late joiners, note anyone not attempting (Self-Management).
• Go THROUGH the answers on the next slide — ask one student (after thinking time) to explain WHY for each.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(2 min). Reveal and ask “why?” for each (● 10s think → named student, warned in advance).
Key idea for today (bottom-right card): Kāna + noun in -u + predicate in -an. Kāna + present verb = “used 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OBJECTIVES (1 min).
Left: the lesson objectives exactly as they appear on the website.
Right: the same objectives broken into three routes. Everyone starts with Core; most students reach Develop; confident students aim for Stretch. Students decide privately which route they are aiming for (● Think 10s) — revisit in Feedback.
Objectives are drawn from the website lesson purpose and its Core / Develop / Stretch routes.
EAL: read the Core statements aloud, pointing to the Arabic as you say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GRAMMAR WORDS (3 min). These are the words we use to TALK ABOUT the grammar. Hear → Say → See → Use:
say each term twice, class repeats, point to the example on the card, then ask “Which word means …?” (chat the number).
Core students learn the English name and recognise the Arabic; Develop/Stretch use the Arabic term when explaining a rule.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1 (3 min) — website “From present state to past state” (rows 4–5 teacher-added). Compare with inna: inna changes the first word, kāna changes the second.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2 (3 min) — website “Conjugating kāna”. The long ā shortens when an ending is added: kāna → kuntu, kunnā. Female group: kunna mujtahidātin.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3 (3 min) — website “kāna + present” (rows 2 and 5 teacher-added). Both verbs agree with the subject: kunnā nalʿabu, kānū yazūrūna.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PART 4 (2 min) — website “Core sisters for change and continuation”. Same pattern as kāna: noun -u, predicate -an. Mā ziltu = I am still.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FOR UNDERSTANDING (2 min) — website Conjugation Check.
● Think 20s silently → everyone types four letters in chat together on “3-2-1-go”. “Show me” alternative: A/B/C fingers to camera (EAL: show, not tell).
Read the chat: if more than a quarter of the class misses a question, re-teach that rule with its grammar slide before moving on (Live feedback: correct misconceptions immediately).
Use the results to confirm routes for the You Do task.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Ask “Who can build on that?” (+) — a student explains why one wrong option is wrong.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DO (3 min) — think aloud at every step: name the rule in English and Arabic as you apply it.
Website skills-workshop lines. Kuntu aqsunu = “I used to live” (kāna + present).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SENTENCES (1 min). Students copy TWO that are useful for them.
• Core: copy one and change one word. • Develop: copy two and change the noun. • Stretch: combine two into one longer sentence.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(3 min) — website game items. Cover column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game items. Ask for the English meaning of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(2 min) — website models and game items. Ask for the English meaning of each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common mistakes (2 min).
● 20s think: find the mistake → ↔ 30s: agree with a partner (chat DM or whisper) → ◎ share.
Core prompts are printed on each card. Stretch: explain each fix with a grammar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DO — website Final Mastery check (FLEX, 2 min). If time is short these are homework on the website.
“Show me” alternative: students hold up A/B/C fingers to camera.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the answers; link each to the grammar rule or vocabulary card it tests.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 AND NOTICE (3 min) — website skills workshop (teacher-written then-and-now). Read it aloud once while students follow; then they hunt for today’s grammar.
Task: Website paper route: make a then / now plan from the text and underline every form from the kāna family.
SEND reading strategy: cover the text and uncover one sentence at a time. Core: use the green glossary.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READING QUESTIONS (3 min). Teacher-written account for the website then-and-now task; questions teacher-written.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 through each answer: a student reads the phrase aloud and names the rule (in English or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SPEAKING (3 min) — website skills workshop. Sequence: ● 10s think → ↔ 45s rehearse aloud with mic muted → ◎ two named students on open mic (warned in advance) → + ? the class types one follow-up in chat → ↺ one student summarises.
Routes: Core uses the Core prompt and stem; Develop the Develop prompt; Stretch the last prompt.
Website: describe how people, places and routines were in the past and how situations changed or continued.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YOU DO (9 min writing). Steer routes using the Do Now and quick-check results.
Website writing task: Write 110–130 Arabic words comparing a place, routine or period in your life in the past and now.
LIVE FEEDBACK: students post their first two sentences in the chat after 3 minutes. Scan and correct the target rule immediately (private chat for individual corrections).
Work with the less able: stay with Core students for the first 3 minutes. SEND: chunk the Core task — “two sentences, then show me”.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Keep on screen during writing — Core students complete the frames on the right; Develop students use the frames on the left.
Frames and word bank use only this lesson’s website language (EAL: sentence frame + word bank scaffold; same objective, adapted task).
EAL Band A–B students: complete three frames, then copy and adapt one model sentence.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Stretch students work from this slide. Checklist = website writing checklist; phrase bank = phrases built on today’s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FEEDBACK (1 min) — teacher model on the website writing task, with an English translation for Core students.
Students find in the model (● 20s → ◎) the items on the chips. 
Then each student chooses ONE thing from the model to add to their own writing.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EXIT TICKET (2 min) — 3 of the website’s 3 end-of-lesson questions (“Final self-marking check”). The rest are on the website for homework.
Anyone scoring low → Core route next lesson and a check-in during the Do Now. Record Pastoral Tracker points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reveal. Students self-mark and type their score out of 3 in the chat.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PREPARATION — flipped learning (2 min to explain).
Next lesson (GM-NVS-04 · Negation with Laysa) will spend class time USING this language, so students prepare it tonight — short, simple, easy to access (school guidance: “Simple, Short, Interesting, Relevant, Easy to access”). The five words prepare GM-NVS-04 (website: negation with laysa).
Follow-up: the next Do Now tests two of these words (Flipped Learning: keep it short AND follow up).
Homework by route (website tasks). No internet? Students copy the five words from this slide into their book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34" charset="0"/>
                <a:ea typeface="Amiri" pitchFamily="34" charset="-122"/>
                <a:cs typeface="Amiri" pitchFamily="34" charset="-120"/>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Al Madina Online School</a:t>
            </a:r>
            <a:endParaRPr lang="en-US" sz="1400" dirty="0"/>
          </a:p>
          <a:p>
            <a:pPr indent="0" marL="0">
              <a:buNone/>
            </a:pPr>
            <a:r>
              <a:rPr lang="en-US" sz="800" b="1" spc="200" kern="0" dirty="0">
                <a:solidFill>
                  <a:srgbClr val="D4AF37"/>
                </a:solidFill>
                <a:latin typeface="Calibri" pitchFamily="34" charset="0"/>
                <a:ea typeface="Calibri" pitchFamily="34" charset="-122"/>
                <a:cs typeface="Calibri" pitchFamily="34" charset="-120"/>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ea typeface="Calibri" pitchFamily="34" charset="-122"/>
                <a:cs typeface="Calibri" pitchFamily="34" charset="-120"/>
              </a:rPr>
              <a:t>MIFTAH GRAMMAR MASTERY  ·  NON-VERBAL SENTENCES  ·  GM-NVS-03</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ea typeface="Cambria" pitchFamily="34" charset="-122"/>
                <a:cs typeface="Cambria" pitchFamily="34" charset="-120"/>
              </a:rPr>
              <a:t>GM-NVS-03</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4000" b="1" dirty="0">
                <a:solidFill>
                  <a:srgbClr val="FFFFFF"/>
                </a:solidFill>
                <a:latin typeface="Cambria" pitchFamily="34" charset="0"/>
                <a:ea typeface="Cambria" pitchFamily="34" charset="-122"/>
                <a:cs typeface="Cambria" pitchFamily="34" charset="-120"/>
              </a:rPr>
              <a:t>Kāna and Its Sisters</a:t>
            </a:r>
            <a:endParaRPr lang="en-US" sz="400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34" charset="0"/>
                <a:ea typeface="Amiri" pitchFamily="34" charset="-122"/>
                <a:cs typeface="Amiri" pitchFamily="34" charset="-120"/>
              </a:rPr>
              <a:t>كَانَ وَأَخَوَاتُهَا</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400" dirty="0">
                <a:solidFill>
                  <a:srgbClr val="C6D2E6"/>
                </a:solidFill>
                <a:latin typeface="Calibri" pitchFamily="34" charset="0"/>
                <a:ea typeface="Calibri" pitchFamily="34" charset="-122"/>
                <a:cs typeface="Calibri" pitchFamily="34" charset="-120"/>
              </a:rPr>
              <a:t>Kāna moves a sentence into the past: al-jawwu bāridun → kāna l-jawwu bāridan (the weather was cold). The noun keeps -u; the predicate takes -an. Kuntu aqraʾu = I used to read; ṣāra = became; mā zāla = still.</a:t>
            </a:r>
            <a:endParaRPr lang="en-US" sz="140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LESSON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GM-NVS-03 · Grammar Mastery</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DURATION</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LEVEL</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All pathways · revision</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ea typeface="Calibri" pitchFamily="34" charset="-122"/>
                <a:cs typeface="Calibri" pitchFamily="34" charset="-120"/>
              </a:rPr>
              <a:t>ON THE WEBSITE</a:t>
            </a:r>
            <a:endParaRPr lang="en-US" sz="850" dirty="0"/>
          </a:p>
          <a:p>
            <a:pPr indent="0" marL="0">
              <a:buNone/>
            </a:pPr>
            <a:r>
              <a:rPr lang="en-US" sz="1200" b="1" dirty="0">
                <a:solidFill>
                  <a:srgbClr val="FFFFFF"/>
                </a:solidFill>
                <a:latin typeface="Calibri" pitchFamily="34" charset="0"/>
                <a:ea typeface="Calibri" pitchFamily="34" charset="-122"/>
                <a:cs typeface="Calibri" pitchFamily="34" charset="-120"/>
              </a:rPr>
              <a:t>Grammar › Non-Verbal Sentences</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Camera on</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Mic muted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Chat for learning</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ea typeface="Calibri" pitchFamily="34" charset="-122"/>
                <a:cs typeface="Calibri" pitchFamily="34" charset="-120"/>
              </a:rPr>
              <a:t>Raise your hand</a:t>
            </a:r>
            <a:endParaRPr lang="en-US" sz="1500" dirty="0"/>
          </a:p>
          <a:p>
            <a:pPr indent="0" marL="0">
              <a:buNone/>
            </a:pPr>
            <a:r>
              <a:rPr lang="en-US" sz="1150" dirty="0">
                <a:solidFill>
                  <a:srgbClr val="5A6472"/>
                </a:solidFill>
                <a:latin typeface="Calibri" pitchFamily="34" charset="0"/>
                <a:ea typeface="Calibri" pitchFamily="34" charset="-122"/>
                <a:cs typeface="Calibri" pitchFamily="34" charset="-120"/>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Think</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Rehearse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Build</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Challenge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Share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ea typeface="Arial" pitchFamily="34" charset="-122"/>
                <a:cs typeface="Arial" pitchFamily="34" charset="-120"/>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ea typeface="Calibri" pitchFamily="34" charset="-122"/>
                <a:cs typeface="Calibri" pitchFamily="34" charset="-120"/>
              </a:rPr>
              <a:t>Summarise</a:t>
            </a:r>
            <a:endParaRPr lang="en-US" sz="1400" dirty="0"/>
          </a:p>
          <a:p>
            <a:pPr indent="0" marL="0">
              <a:buNone/>
            </a:pPr>
            <a:r>
              <a:rPr lang="en-US" sz="1100" dirty="0">
                <a:solidFill>
                  <a:srgbClr val="5A6472"/>
                </a:solidFill>
                <a:latin typeface="Calibri" pitchFamily="34" charset="0"/>
                <a:ea typeface="Calibri" pitchFamily="34" charset="-122"/>
                <a:cs typeface="Calibri" pitchFamily="34" charset="-120"/>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ea typeface="Calibri" pitchFamily="34" charset="-122"/>
                <a:cs typeface="Calibri" pitchFamily="34" charset="-120"/>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 / 35</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TODAY’S LESSON MAP</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Our lesson today, step by step</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خَرِيطَةُ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281466" cy="566928"/>
          </a:xfrm>
          <a:prstGeom prst="roundRect">
            <a:avLst>
              <a:gd name="adj" fmla="val 9677"/>
            </a:avLst>
          </a:prstGeom>
          <a:solidFill>
            <a:srgbClr val="0E7C86"/>
          </a:solidFill>
          <a:ln w="12700">
            <a:solidFill>
              <a:srgbClr val="0E7C86"/>
            </a:solidFill>
            <a:prstDash val="solid"/>
          </a:ln>
        </p:spPr>
      </p:sp>
      <p:sp>
        <p:nvSpPr>
          <p:cNvPr id="17" name="Text 14"/>
          <p:cNvSpPr txBox="1"/>
          <p:nvPr/>
        </p:nvSpPr>
        <p:spPr>
          <a:xfrm>
            <a:off x="60350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DO NOW</a:t>
            </a:r>
            <a:endParaRPr lang="en-US" sz="1000" dirty="0"/>
          </a:p>
        </p:txBody>
      </p:sp>
      <p:sp>
        <p:nvSpPr>
          <p:cNvPr id="18" name="Text 15"/>
          <p:cNvSpPr txBox="1"/>
          <p:nvPr/>
        </p:nvSpPr>
        <p:spPr>
          <a:xfrm>
            <a:off x="60350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7 min</a:t>
            </a:r>
            <a:endParaRPr lang="en-US" sz="1000" dirty="0"/>
          </a:p>
        </p:txBody>
      </p:sp>
      <p:sp>
        <p:nvSpPr>
          <p:cNvPr id="19" name="Shape 16"/>
          <p:cNvSpPr/>
          <p:nvPr/>
        </p:nvSpPr>
        <p:spPr>
          <a:xfrm>
            <a:off x="1006493"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00649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1</a:t>
            </a:r>
            <a:endParaRPr lang="en-US" sz="1300" dirty="0"/>
          </a:p>
        </p:txBody>
      </p:sp>
      <p:sp>
        <p:nvSpPr>
          <p:cNvPr id="21" name="Text 18"/>
          <p:cNvSpPr txBox="1"/>
          <p:nvPr/>
        </p:nvSpPr>
        <p:spPr>
          <a:xfrm>
            <a:off x="58521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Retrieval quiz on your own, then we check together.</a:t>
            </a:r>
            <a:endParaRPr lang="en-US" sz="1200" dirty="0"/>
          </a:p>
        </p:txBody>
      </p:sp>
      <p:sp>
        <p:nvSpPr>
          <p:cNvPr id="22" name="Text 19"/>
          <p:cNvSpPr txBox="1"/>
          <p:nvPr/>
        </p:nvSpPr>
        <p:spPr>
          <a:xfrm>
            <a:off x="54864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0E7C86"/>
                </a:solidFill>
                <a:latin typeface="Amiri" pitchFamily="34" charset="0"/>
                <a:ea typeface="Amiri" pitchFamily="34" charset="-122"/>
                <a:cs typeface="Amiri" pitchFamily="34" charset="-120"/>
              </a:rPr>
              <a:t>اِبْدَأِ الآنَ</a:t>
            </a:r>
            <a:endParaRPr lang="ar-SA" sz="1500" dirty="0"/>
          </a:p>
        </p:txBody>
      </p:sp>
      <p:sp>
        <p:nvSpPr>
          <p:cNvPr id="23" name="Shape 20"/>
          <p:cNvSpPr/>
          <p:nvPr/>
        </p:nvSpPr>
        <p:spPr>
          <a:xfrm>
            <a:off x="2086138"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195866" y="1938528"/>
            <a:ext cx="1281466" cy="566928"/>
          </a:xfrm>
          <a:prstGeom prst="roundRect">
            <a:avLst>
              <a:gd name="adj" fmla="val 9677"/>
            </a:avLst>
          </a:prstGeom>
          <a:solidFill>
            <a:srgbClr val="1B3B6F"/>
          </a:solidFill>
          <a:ln w="12700">
            <a:solidFill>
              <a:srgbClr val="1B3B6F"/>
            </a:solidFill>
            <a:prstDash val="solid"/>
          </a:ln>
        </p:spPr>
      </p:sp>
      <p:sp>
        <p:nvSpPr>
          <p:cNvPr id="25" name="Text 22"/>
          <p:cNvSpPr txBox="1"/>
          <p:nvPr/>
        </p:nvSpPr>
        <p:spPr>
          <a:xfrm>
            <a:off x="2232442"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TEACHER INSTRUCTION</a:t>
            </a:r>
            <a:endParaRPr lang="en-US" sz="1000" dirty="0"/>
          </a:p>
        </p:txBody>
      </p:sp>
      <p:sp>
        <p:nvSpPr>
          <p:cNvPr id="26" name="Text 23"/>
          <p:cNvSpPr txBox="1"/>
          <p:nvPr/>
        </p:nvSpPr>
        <p:spPr>
          <a:xfrm>
            <a:off x="2232442"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14 min</a:t>
            </a:r>
            <a:endParaRPr lang="en-US" sz="1000" dirty="0"/>
          </a:p>
        </p:txBody>
      </p:sp>
      <p:sp>
        <p:nvSpPr>
          <p:cNvPr id="27" name="Shape 24"/>
          <p:cNvSpPr/>
          <p:nvPr/>
        </p:nvSpPr>
        <p:spPr>
          <a:xfrm>
            <a:off x="2635431"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263543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2</a:t>
            </a:r>
            <a:endParaRPr lang="en-US" sz="1300" dirty="0"/>
          </a:p>
        </p:txBody>
      </p:sp>
      <p:sp>
        <p:nvSpPr>
          <p:cNvPr id="29" name="Text 26"/>
          <p:cNvSpPr txBox="1"/>
          <p:nvPr/>
        </p:nvSpPr>
        <p:spPr>
          <a:xfrm>
            <a:off x="2214154"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Present → past; conjugation; kāna + present; the sisters.</a:t>
            </a:r>
            <a:endParaRPr lang="en-US" sz="1200" dirty="0"/>
          </a:p>
        </p:txBody>
      </p:sp>
      <p:sp>
        <p:nvSpPr>
          <p:cNvPr id="30" name="Text 27"/>
          <p:cNvSpPr txBox="1"/>
          <p:nvPr/>
        </p:nvSpPr>
        <p:spPr>
          <a:xfrm>
            <a:off x="2177578"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34" charset="0"/>
                <a:ea typeface="Amiri" pitchFamily="34" charset="-122"/>
                <a:cs typeface="Amiri" pitchFamily="34" charset="-120"/>
              </a:rPr>
              <a:t>كَلِمَاتٌ وَقَوَاعِدُ</a:t>
            </a:r>
            <a:endParaRPr lang="ar-SA" sz="1500" dirty="0"/>
          </a:p>
        </p:txBody>
      </p:sp>
      <p:sp>
        <p:nvSpPr>
          <p:cNvPr id="31" name="Shape 28"/>
          <p:cNvSpPr/>
          <p:nvPr/>
        </p:nvSpPr>
        <p:spPr>
          <a:xfrm>
            <a:off x="3715077"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3824805" y="1938528"/>
            <a:ext cx="1281466" cy="566928"/>
          </a:xfrm>
          <a:prstGeom prst="roundRect">
            <a:avLst>
              <a:gd name="adj" fmla="val 9677"/>
            </a:avLst>
          </a:prstGeom>
          <a:solidFill>
            <a:srgbClr val="6B4C9A"/>
          </a:solidFill>
          <a:ln w="12700">
            <a:solidFill>
              <a:srgbClr val="6B4C9A"/>
            </a:solidFill>
            <a:prstDash val="solid"/>
          </a:ln>
        </p:spPr>
      </p:sp>
      <p:sp>
        <p:nvSpPr>
          <p:cNvPr id="33" name="Text 30"/>
          <p:cNvSpPr txBox="1"/>
          <p:nvPr/>
        </p:nvSpPr>
        <p:spPr>
          <a:xfrm>
            <a:off x="3861381"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I DO</a:t>
            </a:r>
            <a:endParaRPr lang="en-US" sz="1000" dirty="0"/>
          </a:p>
        </p:txBody>
      </p:sp>
      <p:sp>
        <p:nvSpPr>
          <p:cNvPr id="34" name="Text 31"/>
          <p:cNvSpPr txBox="1"/>
          <p:nvPr/>
        </p:nvSpPr>
        <p:spPr>
          <a:xfrm>
            <a:off x="3861381"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3 min</a:t>
            </a:r>
            <a:endParaRPr lang="en-US" sz="1000" dirty="0"/>
          </a:p>
        </p:txBody>
      </p:sp>
      <p:sp>
        <p:nvSpPr>
          <p:cNvPr id="35" name="Shape 32"/>
          <p:cNvSpPr/>
          <p:nvPr/>
        </p:nvSpPr>
        <p:spPr>
          <a:xfrm>
            <a:off x="4264370"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4264370"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3</a:t>
            </a:r>
            <a:endParaRPr lang="en-US" sz="1300" dirty="0"/>
          </a:p>
        </p:txBody>
      </p:sp>
      <p:sp>
        <p:nvSpPr>
          <p:cNvPr id="37" name="Text 34"/>
          <p:cNvSpPr txBox="1"/>
          <p:nvPr/>
        </p:nvSpPr>
        <p:spPr>
          <a:xfrm>
            <a:off x="3843093"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Watch me build one sentence. Copy it into your book.</a:t>
            </a:r>
            <a:endParaRPr lang="en-US" sz="1200" dirty="0"/>
          </a:p>
        </p:txBody>
      </p:sp>
      <p:sp>
        <p:nvSpPr>
          <p:cNvPr id="38" name="Text 35"/>
          <p:cNvSpPr txBox="1"/>
          <p:nvPr/>
        </p:nvSpPr>
        <p:spPr>
          <a:xfrm>
            <a:off x="3806517"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6B4C9A"/>
                </a:solidFill>
                <a:latin typeface="Amiri" pitchFamily="34" charset="0"/>
                <a:ea typeface="Amiri" pitchFamily="34" charset="-122"/>
                <a:cs typeface="Amiri" pitchFamily="34" charset="-120"/>
              </a:rPr>
              <a:t>شَاهِدْ</a:t>
            </a:r>
            <a:endParaRPr lang="ar-SA" sz="1500" dirty="0"/>
          </a:p>
        </p:txBody>
      </p:sp>
      <p:sp>
        <p:nvSpPr>
          <p:cNvPr id="39" name="Shape 36"/>
          <p:cNvSpPr/>
          <p:nvPr/>
        </p:nvSpPr>
        <p:spPr>
          <a:xfrm>
            <a:off x="5344015"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5453743" y="1938528"/>
            <a:ext cx="1281466" cy="566928"/>
          </a:xfrm>
          <a:prstGeom prst="roundRect">
            <a:avLst>
              <a:gd name="adj" fmla="val 9677"/>
            </a:avLst>
          </a:prstGeom>
          <a:solidFill>
            <a:srgbClr val="2F6FB0"/>
          </a:solidFill>
          <a:ln w="12700">
            <a:solidFill>
              <a:srgbClr val="2F6FB0"/>
            </a:solidFill>
            <a:prstDash val="solid"/>
          </a:ln>
        </p:spPr>
      </p:sp>
      <p:sp>
        <p:nvSpPr>
          <p:cNvPr id="41" name="Text 38"/>
          <p:cNvSpPr txBox="1"/>
          <p:nvPr/>
        </p:nvSpPr>
        <p:spPr>
          <a:xfrm>
            <a:off x="5490319"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WE DO</a:t>
            </a:r>
            <a:endParaRPr lang="en-US" sz="1000" dirty="0"/>
          </a:p>
        </p:txBody>
      </p:sp>
      <p:sp>
        <p:nvSpPr>
          <p:cNvPr id="42" name="Text 39"/>
          <p:cNvSpPr txBox="1"/>
          <p:nvPr/>
        </p:nvSpPr>
        <p:spPr>
          <a:xfrm>
            <a:off x="5490319"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9 min</a:t>
            </a:r>
            <a:endParaRPr lang="en-US" sz="1000" dirty="0"/>
          </a:p>
        </p:txBody>
      </p:sp>
      <p:sp>
        <p:nvSpPr>
          <p:cNvPr id="43" name="Shape 40"/>
          <p:cNvSpPr/>
          <p:nvPr/>
        </p:nvSpPr>
        <p:spPr>
          <a:xfrm>
            <a:off x="5893308"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4</a:t>
            </a:r>
            <a:endParaRPr lang="en-US" sz="1300" dirty="0"/>
          </a:p>
        </p:txBody>
      </p:sp>
      <p:sp>
        <p:nvSpPr>
          <p:cNvPr id="45" name="Text 42"/>
          <p:cNvSpPr txBox="1"/>
          <p:nvPr/>
        </p:nvSpPr>
        <p:spPr>
          <a:xfrm>
            <a:off x="5472031"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Now → then; sort by meaning; repair.</a:t>
            </a:r>
            <a:endParaRPr lang="en-US" sz="1200" dirty="0"/>
          </a:p>
        </p:txBody>
      </p:sp>
      <p:sp>
        <p:nvSpPr>
          <p:cNvPr id="46" name="Text 43"/>
          <p:cNvSpPr txBox="1"/>
          <p:nvPr/>
        </p:nvSpPr>
        <p:spPr>
          <a:xfrm>
            <a:off x="5435455"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34" charset="0"/>
                <a:ea typeface="Amiri" pitchFamily="34" charset="-122"/>
                <a:cs typeface="Amiri" pitchFamily="34" charset="-120"/>
              </a:rPr>
              <a:t>مَعًا</a:t>
            </a:r>
            <a:endParaRPr lang="ar-SA" sz="1500" dirty="0"/>
          </a:p>
        </p:txBody>
      </p:sp>
      <p:sp>
        <p:nvSpPr>
          <p:cNvPr id="47" name="Shape 44"/>
          <p:cNvSpPr/>
          <p:nvPr/>
        </p:nvSpPr>
        <p:spPr>
          <a:xfrm>
            <a:off x="6972953"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7082681" y="1938528"/>
            <a:ext cx="1281466" cy="566928"/>
          </a:xfrm>
          <a:prstGeom prst="roundRect">
            <a:avLst>
              <a:gd name="adj" fmla="val 9677"/>
            </a:avLst>
          </a:prstGeom>
          <a:solidFill>
            <a:srgbClr val="1E6B52"/>
          </a:solidFill>
          <a:ln w="12700">
            <a:solidFill>
              <a:srgbClr val="1E6B52"/>
            </a:solidFill>
            <a:prstDash val="solid"/>
          </a:ln>
        </p:spPr>
      </p:sp>
      <p:sp>
        <p:nvSpPr>
          <p:cNvPr id="49" name="Text 46"/>
          <p:cNvSpPr txBox="1"/>
          <p:nvPr/>
        </p:nvSpPr>
        <p:spPr>
          <a:xfrm>
            <a:off x="7119257"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YOU DO</a:t>
            </a:r>
            <a:endParaRPr lang="en-US" sz="1000" dirty="0"/>
          </a:p>
        </p:txBody>
      </p:sp>
      <p:sp>
        <p:nvSpPr>
          <p:cNvPr id="50" name="Text 47"/>
          <p:cNvSpPr txBox="1"/>
          <p:nvPr/>
        </p:nvSpPr>
        <p:spPr>
          <a:xfrm>
            <a:off x="7119257"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12 min</a:t>
            </a:r>
            <a:endParaRPr lang="en-US" sz="1000" dirty="0"/>
          </a:p>
        </p:txBody>
      </p:sp>
      <p:sp>
        <p:nvSpPr>
          <p:cNvPr id="51" name="Shape 48"/>
          <p:cNvSpPr/>
          <p:nvPr/>
        </p:nvSpPr>
        <p:spPr>
          <a:xfrm>
            <a:off x="7522246"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7522246"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5</a:t>
            </a:r>
            <a:endParaRPr lang="en-US" sz="1300" dirty="0"/>
          </a:p>
        </p:txBody>
      </p:sp>
      <p:sp>
        <p:nvSpPr>
          <p:cNvPr id="53" name="Text 50"/>
          <p:cNvSpPr txBox="1"/>
          <p:nvPr/>
        </p:nvSpPr>
        <p:spPr>
          <a:xfrm>
            <a:off x="7100969"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Speak first, then write on your route.</a:t>
            </a:r>
            <a:endParaRPr lang="en-US" sz="1200" dirty="0"/>
          </a:p>
        </p:txBody>
      </p:sp>
      <p:sp>
        <p:nvSpPr>
          <p:cNvPr id="54" name="Text 51"/>
          <p:cNvSpPr txBox="1"/>
          <p:nvPr/>
        </p:nvSpPr>
        <p:spPr>
          <a:xfrm>
            <a:off x="7064393"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34" charset="0"/>
                <a:ea typeface="Amiri" pitchFamily="34" charset="-122"/>
                <a:cs typeface="Amiri" pitchFamily="34" charset="-120"/>
              </a:rPr>
              <a:t>وَحْدَكَ</a:t>
            </a:r>
            <a:endParaRPr lang="ar-SA" sz="1500" dirty="0"/>
          </a:p>
        </p:txBody>
      </p:sp>
      <p:sp>
        <p:nvSpPr>
          <p:cNvPr id="55" name="Shape 52"/>
          <p:cNvSpPr/>
          <p:nvPr/>
        </p:nvSpPr>
        <p:spPr>
          <a:xfrm>
            <a:off x="8601891"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8711619" y="1938528"/>
            <a:ext cx="1281466" cy="566928"/>
          </a:xfrm>
          <a:prstGeom prst="roundRect">
            <a:avLst>
              <a:gd name="adj" fmla="val 9677"/>
            </a:avLst>
          </a:prstGeom>
          <a:solidFill>
            <a:srgbClr val="8A6D1E"/>
          </a:solidFill>
          <a:ln w="12700">
            <a:solidFill>
              <a:srgbClr val="8A6D1E"/>
            </a:solidFill>
            <a:prstDash val="solid"/>
          </a:ln>
        </p:spPr>
      </p:sp>
      <p:sp>
        <p:nvSpPr>
          <p:cNvPr id="57" name="Text 54"/>
          <p:cNvSpPr txBox="1"/>
          <p:nvPr/>
        </p:nvSpPr>
        <p:spPr>
          <a:xfrm>
            <a:off x="8748195"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FEEDBACK</a:t>
            </a:r>
            <a:endParaRPr lang="en-US" sz="1000" dirty="0"/>
          </a:p>
        </p:txBody>
      </p:sp>
      <p:sp>
        <p:nvSpPr>
          <p:cNvPr id="58" name="Text 55"/>
          <p:cNvSpPr txBox="1"/>
          <p:nvPr/>
        </p:nvSpPr>
        <p:spPr>
          <a:xfrm>
            <a:off x="8748195"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5 min</a:t>
            </a:r>
            <a:endParaRPr lang="en-US" sz="1000" dirty="0"/>
          </a:p>
        </p:txBody>
      </p:sp>
      <p:sp>
        <p:nvSpPr>
          <p:cNvPr id="59" name="Shape 56"/>
          <p:cNvSpPr/>
          <p:nvPr/>
        </p:nvSpPr>
        <p:spPr>
          <a:xfrm>
            <a:off x="9151185" y="2651760"/>
            <a:ext cx="402336" cy="402336"/>
          </a:xfrm>
          <a:prstGeom prst="ellipse">
            <a:avLst/>
          </a:prstGeom>
          <a:solidFill>
            <a:srgbClr val="F4F1EA"/>
          </a:solidFill>
          <a:ln w="12700">
            <a:solidFill>
              <a:srgbClr val="F4F1EA"/>
            </a:solidFill>
            <a:prstDash val="solid"/>
          </a:ln>
        </p:spPr>
      </p:sp>
      <p:sp>
        <p:nvSpPr>
          <p:cNvPr id="60" name="Text 57"/>
          <p:cNvSpPr txBox="1"/>
          <p:nvPr/>
        </p:nvSpPr>
        <p:spPr>
          <a:xfrm>
            <a:off x="915118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6</a:t>
            </a:r>
            <a:endParaRPr lang="en-US" sz="1300" dirty="0"/>
          </a:p>
        </p:txBody>
      </p:sp>
      <p:sp>
        <p:nvSpPr>
          <p:cNvPr id="61" name="Text 58"/>
          <p:cNvSpPr txBox="1"/>
          <p:nvPr/>
        </p:nvSpPr>
        <p:spPr>
          <a:xfrm>
            <a:off x="8729907"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Compare with a model and complete the exit ticket.</a:t>
            </a:r>
            <a:endParaRPr lang="en-US" sz="1200" dirty="0"/>
          </a:p>
        </p:txBody>
      </p:sp>
      <p:sp>
        <p:nvSpPr>
          <p:cNvPr id="62" name="Text 59"/>
          <p:cNvSpPr txBox="1"/>
          <p:nvPr/>
        </p:nvSpPr>
        <p:spPr>
          <a:xfrm>
            <a:off x="8693331"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34" charset="0"/>
                <a:ea typeface="Amiri" pitchFamily="34" charset="-122"/>
                <a:cs typeface="Amiri" pitchFamily="34" charset="-120"/>
              </a:rPr>
              <a:t>قَيِّمْ عَمَلَكَ</a:t>
            </a:r>
            <a:endParaRPr lang="ar-SA" sz="1500" dirty="0"/>
          </a:p>
        </p:txBody>
      </p:sp>
      <p:sp>
        <p:nvSpPr>
          <p:cNvPr id="63" name="Shape 60"/>
          <p:cNvSpPr/>
          <p:nvPr/>
        </p:nvSpPr>
        <p:spPr>
          <a:xfrm>
            <a:off x="10230830" y="1828800"/>
            <a:ext cx="1500922" cy="3246120"/>
          </a:xfrm>
          <a:prstGeom prst="roundRect">
            <a:avLst>
              <a:gd name="adj" fmla="val 487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4" name="Shape 61"/>
          <p:cNvSpPr/>
          <p:nvPr/>
        </p:nvSpPr>
        <p:spPr>
          <a:xfrm>
            <a:off x="10340558" y="1938528"/>
            <a:ext cx="1281466" cy="566928"/>
          </a:xfrm>
          <a:prstGeom prst="roundRect">
            <a:avLst>
              <a:gd name="adj" fmla="val 9677"/>
            </a:avLst>
          </a:prstGeom>
          <a:solidFill>
            <a:srgbClr val="C45A3C"/>
          </a:solidFill>
          <a:ln w="12700">
            <a:solidFill>
              <a:srgbClr val="C45A3C"/>
            </a:solidFill>
            <a:prstDash val="solid"/>
          </a:ln>
        </p:spPr>
      </p:sp>
      <p:sp>
        <p:nvSpPr>
          <p:cNvPr id="65" name="Text 62"/>
          <p:cNvSpPr txBox="1"/>
          <p:nvPr/>
        </p:nvSpPr>
        <p:spPr>
          <a:xfrm>
            <a:off x="10377134" y="1956816"/>
            <a:ext cx="1208314"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PREPARATION</a:t>
            </a:r>
            <a:endParaRPr lang="en-US" sz="1000" dirty="0"/>
          </a:p>
        </p:txBody>
      </p:sp>
      <p:sp>
        <p:nvSpPr>
          <p:cNvPr id="66" name="Text 63"/>
          <p:cNvSpPr txBox="1"/>
          <p:nvPr/>
        </p:nvSpPr>
        <p:spPr>
          <a:xfrm>
            <a:off x="10377134" y="2249424"/>
            <a:ext cx="1208314"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ea typeface="Calibri" pitchFamily="34" charset="-122"/>
                <a:cs typeface="Calibri" pitchFamily="34" charset="-120"/>
              </a:rPr>
              <a:t>2 min</a:t>
            </a:r>
            <a:endParaRPr lang="en-US" sz="1000" dirty="0"/>
          </a:p>
        </p:txBody>
      </p:sp>
      <p:sp>
        <p:nvSpPr>
          <p:cNvPr id="67" name="Shape 64"/>
          <p:cNvSpPr/>
          <p:nvPr/>
        </p:nvSpPr>
        <p:spPr>
          <a:xfrm>
            <a:off x="10780123" y="2651760"/>
            <a:ext cx="402336" cy="402336"/>
          </a:xfrm>
          <a:prstGeom prst="ellipse">
            <a:avLst/>
          </a:prstGeom>
          <a:solidFill>
            <a:srgbClr val="F4F1EA"/>
          </a:solidFill>
          <a:ln w="12700">
            <a:solidFill>
              <a:srgbClr val="F4F1EA"/>
            </a:solidFill>
            <a:prstDash val="solid"/>
          </a:ln>
        </p:spPr>
      </p:sp>
      <p:sp>
        <p:nvSpPr>
          <p:cNvPr id="68" name="Text 65"/>
          <p:cNvSpPr txBox="1"/>
          <p:nvPr/>
        </p:nvSpPr>
        <p:spPr>
          <a:xfrm>
            <a:off x="10780123"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ea typeface="Calibri" pitchFamily="34" charset="-122"/>
                <a:cs typeface="Calibri" pitchFamily="34" charset="-120"/>
              </a:rPr>
              <a:t>7</a:t>
            </a:r>
            <a:endParaRPr lang="en-US" sz="1300" dirty="0"/>
          </a:p>
        </p:txBody>
      </p:sp>
      <p:sp>
        <p:nvSpPr>
          <p:cNvPr id="69" name="Text 66"/>
          <p:cNvSpPr txBox="1"/>
          <p:nvPr/>
        </p:nvSpPr>
        <p:spPr>
          <a:xfrm>
            <a:off x="10358846" y="3145536"/>
            <a:ext cx="1244890"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ea typeface="Calibri" pitchFamily="34" charset="-122"/>
                <a:cs typeface="Calibri" pitchFamily="34" charset="-120"/>
              </a:rPr>
              <a:t>Get ready at home for GM-NVS-04.</a:t>
            </a:r>
            <a:endParaRPr lang="en-US" sz="1200" dirty="0"/>
          </a:p>
        </p:txBody>
      </p:sp>
      <p:sp>
        <p:nvSpPr>
          <p:cNvPr id="70" name="Text 67"/>
          <p:cNvSpPr txBox="1"/>
          <p:nvPr/>
        </p:nvSpPr>
        <p:spPr>
          <a:xfrm>
            <a:off x="10322270" y="4526280"/>
            <a:ext cx="1318042" cy="438912"/>
          </a:xfrm>
          <a:prstGeom prst="rect">
            <a:avLst/>
          </a:prstGeom>
          <a:noFill/>
          <a:ln/>
        </p:spPr>
        <p:txBody>
          <a:bodyPr wrap="square" lIns="0" tIns="0" rIns="0" bIns="0" rtlCol="0" anchor="ctr"/>
          <a:lstStyle/>
          <a:p>
            <a:pPr rtl="1" algn="ctr" indent="0" marL="0">
              <a:buNone/>
            </a:pPr>
            <a:r>
              <a:rPr lang="ar-SA" altLang="en-US" sz="1500" b="1" dirty="0">
                <a:solidFill>
                  <a:srgbClr val="C45A3C"/>
                </a:solidFill>
                <a:latin typeface="Amiri" pitchFamily="34" charset="0"/>
                <a:ea typeface="Amiri" pitchFamily="34" charset="-122"/>
                <a:cs typeface="Amiri" pitchFamily="34" charset="-120"/>
              </a:rPr>
              <a:t>اِسْتَعِدَّ</a:t>
            </a:r>
            <a:endParaRPr lang="ar-SA" sz="1500" dirty="0"/>
          </a:p>
        </p:txBody>
      </p:sp>
      <p:sp>
        <p:nvSpPr>
          <p:cNvPr id="71" name="Shape 68"/>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2" name="Text 69"/>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IF ARABIC FEELS HARD TODAY</a:t>
            </a:r>
            <a:endParaRPr lang="en-US" sz="1000" dirty="0"/>
          </a:p>
        </p:txBody>
      </p:sp>
      <p:sp>
        <p:nvSpPr>
          <p:cNvPr id="73" name="Text 70"/>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Look for the green CORE boxes: they give you transliteration, English meanings and sentence frames. You never need every word — find the key word first. You can answer in the chat, in English, or by holding up A / B / C to your camera.</a:t>
            </a:r>
            <a:endParaRPr lang="en-US" sz="1250" dirty="0"/>
          </a:p>
        </p:txBody>
      </p:sp>
      <p:sp>
        <p:nvSpPr>
          <p:cNvPr id="74" name="Text 7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 / 35</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ON YOUR OWN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750" b="1" dirty="0">
                <a:solidFill>
                  <a:srgbClr val="1B3B6F"/>
                </a:solidFill>
                <a:latin typeface="Cambria" pitchFamily="34" charset="0"/>
                <a:ea typeface="Cambria" pitchFamily="34" charset="-122"/>
                <a:cs typeface="Cambria" pitchFamily="34" charset="-120"/>
              </a:rPr>
              <a:t>Retrieval: what do you remember?</a:t>
            </a:r>
            <a:endParaRPr lang="en-US" sz="2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اِبْدَأِ الآنَ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Put “The weather is beautiful” in the past.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الطَّقْسَ جَمِيلٌ.</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الطَّقْسُ جَمِيلًا.</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الطَّقْسُ كَانَ جَمِيلٌ.</a:t>
            </a:r>
            <a:endParaRPr lang="ar-SA" sz="20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was at home.”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فِي الْبَيْتِ.</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أَنَا فِي الْبَيْتِ.</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فِي الْبَيْتِ.</a:t>
            </a:r>
            <a:endParaRPr lang="ar-SA" sz="20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was tired.”</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مُتْعَبَةٌ.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مُتْعَبًا.</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مُتْعَبَةً.</a:t>
            </a:r>
            <a:endParaRPr lang="ar-SA" sz="20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a repeated past habit?</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قَرَأْتُ كُلَّ يَوْمٍ.</a:t>
            </a:r>
            <a:endParaRPr lang="ar-SA" sz="20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أَنَا قَرَأَ كُلَّ يَوْمٍ.</a:t>
            </a:r>
            <a:endParaRPr lang="ar-SA" sz="20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أَقْرَأُ كُلَّ يَوْمٍ.</a:t>
            </a:r>
            <a:endParaRPr lang="ar-SA" sz="2050" dirty="0"/>
          </a:p>
        </p:txBody>
      </p:sp>
      <p:sp>
        <p:nvSpPr>
          <p:cNvPr id="67" name="Shape 64"/>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8" name="Shape 65"/>
          <p:cNvSpPr/>
          <p:nvPr/>
        </p:nvSpPr>
        <p:spPr>
          <a:xfrm>
            <a:off x="4404360" y="4288536"/>
            <a:ext cx="310896" cy="310896"/>
          </a:xfrm>
          <a:prstGeom prst="ellipse">
            <a:avLst/>
          </a:prstGeom>
          <a:solidFill>
            <a:srgbClr val="1B3B6F"/>
          </a:solidFill>
          <a:ln w="12700">
            <a:solidFill>
              <a:srgbClr val="1B3B6F"/>
            </a:solidFill>
            <a:prstDash val="solid"/>
          </a:ln>
        </p:spPr>
      </p:sp>
      <p:sp>
        <p:nvSpPr>
          <p:cNvPr id="69" name="Text 66"/>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0" name="Text 67"/>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city became crowded”?</a:t>
            </a:r>
            <a:endParaRPr lang="en-US" sz="1250" dirty="0"/>
          </a:p>
        </p:txBody>
      </p:sp>
      <p:sp>
        <p:nvSpPr>
          <p:cNvPr id="71" name="Shape 68"/>
          <p:cNvSpPr/>
          <p:nvPr/>
        </p:nvSpPr>
        <p:spPr>
          <a:xfrm>
            <a:off x="4459224" y="4873752"/>
            <a:ext cx="256032" cy="256032"/>
          </a:xfrm>
          <a:prstGeom prst="ellipse">
            <a:avLst/>
          </a:prstGeom>
          <a:solidFill>
            <a:srgbClr val="F4F1EA"/>
          </a:solidFill>
          <a:ln w="12700">
            <a:solidFill>
              <a:srgbClr val="F4F1EA"/>
            </a:solidFill>
            <a:prstDash val="solid"/>
          </a:ln>
        </p:spPr>
      </p:sp>
      <p:sp>
        <p:nvSpPr>
          <p:cNvPr id="72" name="Text 69"/>
          <p:cNvSpPr txBox="1"/>
          <p:nvPr/>
        </p:nvSpPr>
        <p:spPr>
          <a:xfrm>
            <a:off x="4459224"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73" name="Text 70"/>
          <p:cNvSpPr txBox="1"/>
          <p:nvPr/>
        </p:nvSpPr>
        <p:spPr>
          <a:xfrm>
            <a:off x="4788408" y="47731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صَارَتِ الْمَدِينَةُ مُزْدَحِمَةً.</a:t>
            </a:r>
            <a:endParaRPr lang="ar-SA" sz="2050" dirty="0"/>
          </a:p>
        </p:txBody>
      </p:sp>
      <p:sp>
        <p:nvSpPr>
          <p:cNvPr id="74" name="Shape 71"/>
          <p:cNvSpPr/>
          <p:nvPr/>
        </p:nvSpPr>
        <p:spPr>
          <a:xfrm>
            <a:off x="4459224" y="5330952"/>
            <a:ext cx="256032" cy="256032"/>
          </a:xfrm>
          <a:prstGeom prst="ellipse">
            <a:avLst/>
          </a:prstGeom>
          <a:solidFill>
            <a:srgbClr val="F4F1EA"/>
          </a:solidFill>
          <a:ln w="12700">
            <a:solidFill>
              <a:srgbClr val="F4F1EA"/>
            </a:solidFill>
            <a:prstDash val="solid"/>
          </a:ln>
        </p:spPr>
      </p:sp>
      <p:sp>
        <p:nvSpPr>
          <p:cNvPr id="75" name="Text 72"/>
          <p:cNvSpPr txBox="1"/>
          <p:nvPr/>
        </p:nvSpPr>
        <p:spPr>
          <a:xfrm>
            <a:off x="4459224"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6" name="Text 73"/>
          <p:cNvSpPr txBox="1"/>
          <p:nvPr/>
        </p:nvSpPr>
        <p:spPr>
          <a:xfrm>
            <a:off x="4788408" y="52303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صَارَ الْمَدِينَةَ مُزْدَحِمَةٌ.</a:t>
            </a:r>
            <a:endParaRPr lang="ar-SA" sz="2050" dirty="0"/>
          </a:p>
        </p:txBody>
      </p:sp>
      <p:sp>
        <p:nvSpPr>
          <p:cNvPr id="77" name="Shape 74"/>
          <p:cNvSpPr/>
          <p:nvPr/>
        </p:nvSpPr>
        <p:spPr>
          <a:xfrm>
            <a:off x="4459224" y="5788152"/>
            <a:ext cx="256032" cy="256032"/>
          </a:xfrm>
          <a:prstGeom prst="ellipse">
            <a:avLst/>
          </a:prstGeom>
          <a:solidFill>
            <a:srgbClr val="F4F1EA"/>
          </a:solidFill>
          <a:ln w="12700">
            <a:solidFill>
              <a:srgbClr val="F4F1EA"/>
            </a:solidFill>
            <a:prstDash val="solid"/>
          </a:ln>
        </p:spPr>
      </p:sp>
      <p:sp>
        <p:nvSpPr>
          <p:cNvPr id="78" name="Text 75"/>
          <p:cNvSpPr txBox="1"/>
          <p:nvPr/>
        </p:nvSpPr>
        <p:spPr>
          <a:xfrm>
            <a:off x="4459224"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9" name="Text 76"/>
          <p:cNvSpPr txBox="1"/>
          <p:nvPr/>
        </p:nvSpPr>
        <p:spPr>
          <a:xfrm>
            <a:off x="4788408" y="5687568"/>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 الْمَدِينَةَ مُزْدَحِمَةً.</a:t>
            </a:r>
            <a:endParaRPr lang="ar-SA" sz="2050" dirty="0"/>
          </a:p>
        </p:txBody>
      </p:sp>
      <p:sp>
        <p:nvSpPr>
          <p:cNvPr id="80" name="Shape 77"/>
          <p:cNvSpPr/>
          <p:nvPr/>
        </p:nvSpPr>
        <p:spPr>
          <a:xfrm>
            <a:off x="8095488" y="4151376"/>
            <a:ext cx="3636264" cy="2157984"/>
          </a:xfrm>
          <a:prstGeom prst="roundRect">
            <a:avLst>
              <a:gd name="adj" fmla="val 3390"/>
            </a:avLst>
          </a:prstGeom>
          <a:solidFill>
            <a:srgbClr val="E8F4F5"/>
          </a:solidFill>
          <a:ln w="9525">
            <a:solidFill>
              <a:srgbClr val="9CCFD4"/>
            </a:solidFill>
            <a:prstDash val="solid"/>
          </a:ln>
          <a:effectLst>
            <a:outerShdw sx="100000" sy="100000" kx="0" ky="0" algn="bl" rotWithShape="0" blurRad="50800" dist="19050" dir="5400000">
              <a:srgbClr val="000000">
                <a:alpha val="10000"/>
              </a:srgbClr>
            </a:outerShdw>
          </a:effectLst>
        </p:spPr>
      </p:sp>
      <p:sp>
        <p:nvSpPr>
          <p:cNvPr id="81" name="Text 78"/>
          <p:cNvSpPr txBox="1"/>
          <p:nvPr/>
        </p:nvSpPr>
        <p:spPr>
          <a:xfrm>
            <a:off x="8296656" y="4471416"/>
            <a:ext cx="3270504" cy="274320"/>
          </a:xfrm>
          <a:prstGeom prst="rect">
            <a:avLst/>
          </a:prstGeom>
          <a:noFill/>
          <a:ln/>
        </p:spPr>
        <p:txBody>
          <a:bodyPr wrap="square" lIns="0" tIns="0" rIns="0" bIns="0" rtlCol="0" anchor="ctr"/>
          <a:lstStyle/>
          <a:p>
            <a:pPr algn="l" indent="0" marL="0">
              <a:buNone/>
            </a:pPr>
            <a:r>
              <a:rPr lang="en-US" sz="1100" b="1" spc="200" kern="0" dirty="0">
                <a:solidFill>
                  <a:srgbClr val="0E7C86"/>
                </a:solidFill>
                <a:latin typeface="Calibri" pitchFamily="34" charset="0"/>
                <a:ea typeface="Calibri" pitchFamily="34" charset="-122"/>
                <a:cs typeface="Calibri" pitchFamily="34" charset="-120"/>
              </a:rPr>
              <a:t>HOW TO ANSWER</a:t>
            </a:r>
            <a:endParaRPr lang="en-US" sz="1100" dirty="0"/>
          </a:p>
        </p:txBody>
      </p:sp>
      <p:sp>
        <p:nvSpPr>
          <p:cNvPr id="82" name="Text 79"/>
          <p:cNvSpPr txBox="1"/>
          <p:nvPr/>
        </p:nvSpPr>
        <p:spPr>
          <a:xfrm>
            <a:off x="8296656" y="4754880"/>
            <a:ext cx="3270504" cy="82296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ea typeface="Calibri" pitchFamily="34" charset="-122"/>
                <a:cs typeface="Calibri" pitchFamily="34" charset="-120"/>
              </a:rPr>
              <a:t>Work on your own in silence.</a:t>
            </a:r>
            <a:endParaRPr lang="en-US" sz="1350" dirty="0"/>
          </a:p>
          <a:p>
            <a:pPr algn="l" indent="0" marL="0">
              <a:buNone/>
            </a:pPr>
            <a:r>
              <a:rPr lang="en-US" sz="1350" dirty="0">
                <a:solidFill>
                  <a:srgbClr val="1F2A37"/>
                </a:solidFill>
                <a:latin typeface="Calibri" pitchFamily="34" charset="0"/>
                <a:ea typeface="Calibri" pitchFamily="34" charset="-122"/>
                <a:cs typeface="Calibri" pitchFamily="34" charset="-120"/>
              </a:rPr>
              <a:t>When the timer ends, type in the chat:</a:t>
            </a:r>
            <a:endParaRPr lang="en-US" sz="1350" dirty="0"/>
          </a:p>
        </p:txBody>
      </p:sp>
      <p:sp>
        <p:nvSpPr>
          <p:cNvPr id="83" name="Text 80"/>
          <p:cNvSpPr txBox="1"/>
          <p:nvPr/>
        </p:nvSpPr>
        <p:spPr>
          <a:xfrm>
            <a:off x="8296656" y="5522976"/>
            <a:ext cx="3270504" cy="310896"/>
          </a:xfrm>
          <a:prstGeom prst="rect">
            <a:avLst/>
          </a:prstGeom>
          <a:noFill/>
          <a:ln/>
        </p:spPr>
        <p:txBody>
          <a:bodyPr wrap="square" lIns="0" tIns="0" rIns="0" bIns="0" rtlCol="0" anchor="ctr"/>
          <a:lstStyle/>
          <a:p>
            <a:pPr algn="l" indent="0" marL="0">
              <a:buNone/>
            </a:pPr>
            <a:r>
              <a:rPr lang="en-US" sz="1400" b="1" dirty="0">
                <a:solidFill>
                  <a:srgbClr val="1B3B6F"/>
                </a:solidFill>
                <a:latin typeface="Consolas" pitchFamily="34" charset="0"/>
                <a:ea typeface="Consolas" pitchFamily="34" charset="-122"/>
                <a:cs typeface="Consolas" pitchFamily="34" charset="-120"/>
              </a:rPr>
              <a:t>1_  2_  3_  4_  5_</a:t>
            </a:r>
            <a:endParaRPr lang="en-US" sz="1400" dirty="0"/>
          </a:p>
        </p:txBody>
      </p:sp>
      <p:sp>
        <p:nvSpPr>
          <p:cNvPr id="84" name="Text 81"/>
          <p:cNvSpPr txBox="1"/>
          <p:nvPr/>
        </p:nvSpPr>
        <p:spPr>
          <a:xfrm>
            <a:off x="8296656" y="5742432"/>
            <a:ext cx="3270504" cy="402336"/>
          </a:xfrm>
          <a:prstGeom prst="rect">
            <a:avLst/>
          </a:prstGeom>
          <a:noFill/>
          <a:ln/>
        </p:spPr>
        <p:txBody>
          <a:bodyPr wrap="square" lIns="0" tIns="0" rIns="0" bIns="0" rtlCol="0" anchor="ctr"/>
          <a:lstStyle/>
          <a:p>
            <a:pPr algn="l" indent="0" marL="0">
              <a:buNone/>
            </a:pPr>
            <a:r>
              <a:rPr lang="en-US" sz="1800" b="1" dirty="0">
                <a:solidFill>
                  <a:srgbClr val="0E7C86"/>
                </a:solidFill>
                <a:latin typeface="Calibri" pitchFamily="34" charset="0"/>
                <a:ea typeface="Calibri" pitchFamily="34" charset="-122"/>
                <a:cs typeface="Calibri" pitchFamily="34" charset="-120"/>
              </a:rPr>
              <a:t>⏱  5 : 00</a:t>
            </a:r>
            <a:endParaRPr lang="en-US" sz="1800" dirty="0"/>
          </a:p>
        </p:txBody>
      </p:sp>
      <p:sp>
        <p:nvSpPr>
          <p:cNvPr id="85" name="Text 8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4 / 35</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0E7C86"/>
          </a:solidFill>
          <a:ln w="12700">
            <a:solidFill>
              <a:srgbClr val="0E7C86"/>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DO NOW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0E7C86"/>
                </a:solidFill>
                <a:latin typeface="Calibri" pitchFamily="34" charset="0"/>
                <a:ea typeface="Calibri" pitchFamily="34" charset="-122"/>
                <a:cs typeface="Calibri" pitchFamily="34" charset="-120"/>
              </a:rPr>
              <a:t>DO NOW · ANSWERS AND REASONS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Let’s check — and explain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Put “The weather is beautiful” in the past.</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الطَّقْسَ جَمِيلٌ.</a:t>
            </a:r>
            <a:endParaRPr lang="ar-SA" sz="170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الطَّقْسُ جَمِيلًا.</a:t>
            </a:r>
            <a:endParaRPr lang="ar-SA" sz="170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الطَّقْسُ كَانَ جَمِيلٌ.</a:t>
            </a:r>
            <a:endParaRPr lang="ar-SA" sz="170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 -u, predicate -an: jamīlan.</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was at home.”</a:t>
            </a:r>
            <a:endParaRPr lang="en-US" sz="1250" dirty="0"/>
          </a:p>
        </p:txBody>
      </p:sp>
      <p:sp>
        <p:nvSpPr>
          <p:cNvPr id="34" name="Shape 31"/>
          <p:cNvSpPr/>
          <p:nvPr/>
        </p:nvSpPr>
        <p:spPr>
          <a:xfrm>
            <a:off x="4367784" y="2453640"/>
            <a:ext cx="3453384"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4459224"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4788408" y="2432304"/>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فِي الْبَيْتِ.</a:t>
            </a:r>
            <a:endParaRPr lang="ar-SA" sz="1700" dirty="0"/>
          </a:p>
        </p:txBody>
      </p:sp>
      <p:sp>
        <p:nvSpPr>
          <p:cNvPr id="38" name="Shape 35"/>
          <p:cNvSpPr/>
          <p:nvPr/>
        </p:nvSpPr>
        <p:spPr>
          <a:xfrm>
            <a:off x="4459224"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أَنَا فِي الْبَيْتِ.</a:t>
            </a:r>
            <a:endParaRPr lang="ar-SA" sz="1700" dirty="0"/>
          </a:p>
        </p:txBody>
      </p:sp>
      <p:sp>
        <p:nvSpPr>
          <p:cNvPr id="41" name="Shape 38"/>
          <p:cNvSpPr/>
          <p:nvPr/>
        </p:nvSpPr>
        <p:spPr>
          <a:xfrm>
            <a:off x="4459224"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فِي الْبَيْتِ.</a:t>
            </a:r>
            <a:endParaRPr lang="ar-SA" sz="170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I was = kuntu.</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“She was tired.”</a:t>
            </a:r>
            <a:endParaRPr lang="en-US" sz="1250" dirty="0"/>
          </a:p>
        </p:txBody>
      </p:sp>
      <p:sp>
        <p:nvSpPr>
          <p:cNvPr id="49" name="Shape 46"/>
          <p:cNvSpPr/>
          <p:nvPr/>
        </p:nvSpPr>
        <p:spPr>
          <a:xfrm>
            <a:off x="8278368" y="2490216"/>
            <a:ext cx="256032" cy="256032"/>
          </a:xfrm>
          <a:prstGeom prst="ellipse">
            <a:avLst/>
          </a:prstGeom>
          <a:solidFill>
            <a:srgbClr val="C9CED6"/>
          </a:solidFill>
          <a:ln w="12700">
            <a:solidFill>
              <a:srgbClr val="C9CED6"/>
            </a:solidFill>
            <a:prstDash val="solid"/>
          </a:ln>
        </p:spPr>
      </p:sp>
      <p:sp>
        <p:nvSpPr>
          <p:cNvPr id="50" name="Text 47"/>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8607552" y="243230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مُتْعَبَةٌ.</a:t>
            </a:r>
            <a:endParaRPr lang="ar-SA" sz="1700" dirty="0"/>
          </a:p>
        </p:txBody>
      </p:sp>
      <p:sp>
        <p:nvSpPr>
          <p:cNvPr id="52" name="Shape 49"/>
          <p:cNvSpPr/>
          <p:nvPr/>
        </p:nvSpPr>
        <p:spPr>
          <a:xfrm>
            <a:off x="8278368" y="2862072"/>
            <a:ext cx="256032" cy="256032"/>
          </a:xfrm>
          <a:prstGeom prst="ellipse">
            <a:avLst/>
          </a:prstGeom>
          <a:solidFill>
            <a:srgbClr val="C9CED6"/>
          </a:solidFill>
          <a:ln w="12700">
            <a:solidFill>
              <a:srgbClr val="C9CED6"/>
            </a:solidFill>
            <a:prstDash val="solid"/>
          </a:ln>
        </p:spPr>
      </p:sp>
      <p:sp>
        <p:nvSpPr>
          <p:cNvPr id="53" name="Text 50"/>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4" name="Text 51"/>
          <p:cNvSpPr txBox="1"/>
          <p:nvPr/>
        </p:nvSpPr>
        <p:spPr>
          <a:xfrm>
            <a:off x="8607552" y="280416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مُتْعَبًا.</a:t>
            </a:r>
            <a:endParaRPr lang="ar-SA" sz="1700" dirty="0"/>
          </a:p>
        </p:txBody>
      </p:sp>
      <p:sp>
        <p:nvSpPr>
          <p:cNvPr id="55" name="Shape 52"/>
          <p:cNvSpPr/>
          <p:nvPr/>
        </p:nvSpPr>
        <p:spPr>
          <a:xfrm>
            <a:off x="8186928" y="3197352"/>
            <a:ext cx="3453384" cy="347472"/>
          </a:xfrm>
          <a:prstGeom prst="roundRect">
            <a:avLst>
              <a:gd name="adj" fmla="val 15789"/>
            </a:avLst>
          </a:prstGeom>
          <a:solidFill>
            <a:srgbClr val="E6F4EC"/>
          </a:solidFill>
          <a:ln w="9525">
            <a:solidFill>
              <a:srgbClr val="2E8B57"/>
            </a:solidFill>
            <a:prstDash val="solid"/>
          </a:ln>
        </p:spPr>
      </p:sp>
      <p:sp>
        <p:nvSpPr>
          <p:cNvPr id="56" name="Shape 53"/>
          <p:cNvSpPr/>
          <p:nvPr/>
        </p:nvSpPr>
        <p:spPr>
          <a:xfrm>
            <a:off x="8278368" y="3233928"/>
            <a:ext cx="256032" cy="256032"/>
          </a:xfrm>
          <a:prstGeom prst="ellipse">
            <a:avLst/>
          </a:prstGeom>
          <a:solidFill>
            <a:srgbClr val="2E8B57"/>
          </a:solidFill>
          <a:ln w="12700">
            <a:solidFill>
              <a:srgbClr val="2E8B57"/>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مُتْعَبَةً.</a:t>
            </a:r>
            <a:endParaRPr lang="ar-SA" sz="170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She was = kānat + mutʿabatan.</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expresses a repeated past habit?</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قَرَأْتُ كُلَّ يَوْمٍ.</a:t>
            </a:r>
            <a:endParaRPr lang="ar-SA" sz="1700" dirty="0"/>
          </a:p>
        </p:txBody>
      </p:sp>
      <p:sp>
        <p:nvSpPr>
          <p:cNvPr id="67" name="Shape 64"/>
          <p:cNvSpPr/>
          <p:nvPr/>
        </p:nvSpPr>
        <p:spPr>
          <a:xfrm>
            <a:off x="640080" y="5202936"/>
            <a:ext cx="256032" cy="256032"/>
          </a:xfrm>
          <a:prstGeom prst="ellipse">
            <a:avLst/>
          </a:prstGeom>
          <a:solidFill>
            <a:srgbClr val="C9CED6"/>
          </a:solidFill>
          <a:ln w="12700">
            <a:solidFill>
              <a:srgbClr val="C9CED6"/>
            </a:solidFill>
            <a:prstDash val="solid"/>
          </a:ln>
        </p:spPr>
      </p:sp>
      <p:sp>
        <p:nvSpPr>
          <p:cNvPr id="68" name="Text 65"/>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9" name="Text 66"/>
          <p:cNvSpPr txBox="1"/>
          <p:nvPr/>
        </p:nvSpPr>
        <p:spPr>
          <a:xfrm>
            <a:off x="969264"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أَنَا قَرَأَ كُلَّ يَوْمٍ.</a:t>
            </a:r>
            <a:endParaRPr lang="ar-SA" sz="1700" dirty="0"/>
          </a:p>
        </p:txBody>
      </p:sp>
      <p:sp>
        <p:nvSpPr>
          <p:cNvPr id="70" name="Shape 67"/>
          <p:cNvSpPr/>
          <p:nvPr/>
        </p:nvSpPr>
        <p:spPr>
          <a:xfrm>
            <a:off x="548640" y="5538216"/>
            <a:ext cx="3453384" cy="347472"/>
          </a:xfrm>
          <a:prstGeom prst="roundRect">
            <a:avLst>
              <a:gd name="adj" fmla="val 15789"/>
            </a:avLst>
          </a:prstGeom>
          <a:solidFill>
            <a:srgbClr val="E6F4EC"/>
          </a:solidFill>
          <a:ln w="9525">
            <a:solidFill>
              <a:srgbClr val="2E8B57"/>
            </a:solidFill>
            <a:prstDash val="solid"/>
          </a:ln>
        </p:spPr>
      </p:sp>
      <p:sp>
        <p:nvSpPr>
          <p:cNvPr id="71" name="Shape 68"/>
          <p:cNvSpPr/>
          <p:nvPr/>
        </p:nvSpPr>
        <p:spPr>
          <a:xfrm>
            <a:off x="640080" y="5574792"/>
            <a:ext cx="256032" cy="256032"/>
          </a:xfrm>
          <a:prstGeom prst="ellipse">
            <a:avLst/>
          </a:prstGeom>
          <a:solidFill>
            <a:srgbClr val="2E8B57"/>
          </a:solidFill>
          <a:ln w="12700">
            <a:solidFill>
              <a:srgbClr val="2E8B57"/>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أَقْرَأُ كُلَّ يَوْمٍ.</a:t>
            </a:r>
            <a:endParaRPr lang="ar-SA" sz="170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Kuntu + present = used to.</a:t>
            </a:r>
            <a:endParaRPr lang="en-US" sz="1050" dirty="0"/>
          </a:p>
        </p:txBody>
      </p:sp>
      <p:sp>
        <p:nvSpPr>
          <p:cNvPr id="75" name="Shape 72"/>
          <p:cNvSpPr/>
          <p:nvPr/>
        </p:nvSpPr>
        <p:spPr>
          <a:xfrm>
            <a:off x="4276344"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76" name="Shape 73"/>
          <p:cNvSpPr/>
          <p:nvPr/>
        </p:nvSpPr>
        <p:spPr>
          <a:xfrm>
            <a:off x="4404360" y="4288536"/>
            <a:ext cx="310896" cy="310896"/>
          </a:xfrm>
          <a:prstGeom prst="ellipse">
            <a:avLst/>
          </a:prstGeom>
          <a:solidFill>
            <a:srgbClr val="1B3B6F"/>
          </a:solidFill>
          <a:ln w="12700">
            <a:solidFill>
              <a:srgbClr val="1B3B6F"/>
            </a:solidFill>
            <a:prstDash val="solid"/>
          </a:ln>
        </p:spPr>
      </p:sp>
      <p:sp>
        <p:nvSpPr>
          <p:cNvPr id="77" name="Text 74"/>
          <p:cNvSpPr txBox="1"/>
          <p:nvPr/>
        </p:nvSpPr>
        <p:spPr>
          <a:xfrm>
            <a:off x="4404360"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5</a:t>
            </a:r>
            <a:endParaRPr lang="en-US" sz="1100" dirty="0"/>
          </a:p>
        </p:txBody>
      </p:sp>
      <p:sp>
        <p:nvSpPr>
          <p:cNvPr id="78" name="Text 75"/>
          <p:cNvSpPr txBox="1"/>
          <p:nvPr/>
        </p:nvSpPr>
        <p:spPr>
          <a:xfrm>
            <a:off x="4770120"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city became crowded”?</a:t>
            </a:r>
            <a:endParaRPr lang="en-US" sz="1250" dirty="0"/>
          </a:p>
        </p:txBody>
      </p:sp>
      <p:sp>
        <p:nvSpPr>
          <p:cNvPr id="79" name="Shape 76"/>
          <p:cNvSpPr/>
          <p:nvPr/>
        </p:nvSpPr>
        <p:spPr>
          <a:xfrm>
            <a:off x="4367784" y="4794504"/>
            <a:ext cx="3453384" cy="347472"/>
          </a:xfrm>
          <a:prstGeom prst="roundRect">
            <a:avLst>
              <a:gd name="adj" fmla="val 15789"/>
            </a:avLst>
          </a:prstGeom>
          <a:solidFill>
            <a:srgbClr val="E6F4EC"/>
          </a:solidFill>
          <a:ln w="9525">
            <a:solidFill>
              <a:srgbClr val="2E8B57"/>
            </a:solidFill>
            <a:prstDash val="solid"/>
          </a:ln>
        </p:spPr>
      </p:sp>
      <p:sp>
        <p:nvSpPr>
          <p:cNvPr id="80" name="Shape 77"/>
          <p:cNvSpPr/>
          <p:nvPr/>
        </p:nvSpPr>
        <p:spPr>
          <a:xfrm>
            <a:off x="4459224" y="4831080"/>
            <a:ext cx="256032" cy="256032"/>
          </a:xfrm>
          <a:prstGeom prst="ellipse">
            <a:avLst/>
          </a:prstGeom>
          <a:solidFill>
            <a:srgbClr val="2E8B57"/>
          </a:solidFill>
          <a:ln w="12700">
            <a:solidFill>
              <a:srgbClr val="2E8B57"/>
            </a:solidFill>
            <a:prstDash val="solid"/>
          </a:ln>
        </p:spPr>
      </p:sp>
      <p:sp>
        <p:nvSpPr>
          <p:cNvPr id="81" name="Text 78"/>
          <p:cNvSpPr txBox="1"/>
          <p:nvPr/>
        </p:nvSpPr>
        <p:spPr>
          <a:xfrm>
            <a:off x="4459224"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82" name="Text 79"/>
          <p:cNvSpPr txBox="1"/>
          <p:nvPr/>
        </p:nvSpPr>
        <p:spPr>
          <a:xfrm>
            <a:off x="4788408" y="4773168"/>
            <a:ext cx="2977896"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صَارَتِ الْمَدِينَةُ مُزْدَحِمَةً.</a:t>
            </a:r>
            <a:endParaRPr lang="ar-SA" sz="1700" dirty="0"/>
          </a:p>
        </p:txBody>
      </p:sp>
      <p:sp>
        <p:nvSpPr>
          <p:cNvPr id="83" name="Shape 80"/>
          <p:cNvSpPr/>
          <p:nvPr/>
        </p:nvSpPr>
        <p:spPr>
          <a:xfrm>
            <a:off x="4459224" y="5202936"/>
            <a:ext cx="256032" cy="256032"/>
          </a:xfrm>
          <a:prstGeom prst="ellipse">
            <a:avLst/>
          </a:prstGeom>
          <a:solidFill>
            <a:srgbClr val="C9CED6"/>
          </a:solidFill>
          <a:ln w="12700">
            <a:solidFill>
              <a:srgbClr val="C9CED6"/>
            </a:solidFill>
            <a:prstDash val="solid"/>
          </a:ln>
        </p:spPr>
      </p:sp>
      <p:sp>
        <p:nvSpPr>
          <p:cNvPr id="84" name="Text 81"/>
          <p:cNvSpPr txBox="1"/>
          <p:nvPr/>
        </p:nvSpPr>
        <p:spPr>
          <a:xfrm>
            <a:off x="4459224"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85" name="Text 82"/>
          <p:cNvSpPr txBox="1"/>
          <p:nvPr/>
        </p:nvSpPr>
        <p:spPr>
          <a:xfrm>
            <a:off x="4788408" y="5145024"/>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صَارَ الْمَدِينَةَ مُزْدَحِمَةٌ.</a:t>
            </a:r>
            <a:endParaRPr lang="ar-SA" sz="1700" dirty="0"/>
          </a:p>
        </p:txBody>
      </p:sp>
      <p:sp>
        <p:nvSpPr>
          <p:cNvPr id="86" name="Shape 83"/>
          <p:cNvSpPr/>
          <p:nvPr/>
        </p:nvSpPr>
        <p:spPr>
          <a:xfrm>
            <a:off x="4459224" y="5574792"/>
            <a:ext cx="256032" cy="256032"/>
          </a:xfrm>
          <a:prstGeom prst="ellipse">
            <a:avLst/>
          </a:prstGeom>
          <a:solidFill>
            <a:srgbClr val="C9CED6"/>
          </a:solidFill>
          <a:ln w="12700">
            <a:solidFill>
              <a:srgbClr val="C9CED6"/>
            </a:solidFill>
            <a:prstDash val="solid"/>
          </a:ln>
        </p:spPr>
      </p:sp>
      <p:sp>
        <p:nvSpPr>
          <p:cNvPr id="87" name="Text 84"/>
          <p:cNvSpPr txBox="1"/>
          <p:nvPr/>
        </p:nvSpPr>
        <p:spPr>
          <a:xfrm>
            <a:off x="4459224"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88" name="Text 85"/>
          <p:cNvSpPr txBox="1"/>
          <p:nvPr/>
        </p:nvSpPr>
        <p:spPr>
          <a:xfrm>
            <a:off x="4788408" y="5516880"/>
            <a:ext cx="2977896"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 الْمَدِينَةَ مُزْدَحِمَةً.</a:t>
            </a:r>
            <a:endParaRPr lang="ar-SA" sz="1700" dirty="0"/>
          </a:p>
        </p:txBody>
      </p:sp>
      <p:sp>
        <p:nvSpPr>
          <p:cNvPr id="89" name="Text 86"/>
          <p:cNvSpPr txBox="1"/>
          <p:nvPr/>
        </p:nvSpPr>
        <p:spPr>
          <a:xfrm>
            <a:off x="4404360"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Ṣāra = became.</a:t>
            </a:r>
            <a:endParaRPr lang="en-US" sz="1050" dirty="0"/>
          </a:p>
        </p:txBody>
      </p:sp>
      <p:sp>
        <p:nvSpPr>
          <p:cNvPr id="90" name="Shape 87"/>
          <p:cNvSpPr/>
          <p:nvPr/>
        </p:nvSpPr>
        <p:spPr>
          <a:xfrm>
            <a:off x="8095488" y="4151376"/>
            <a:ext cx="3636264" cy="2157984"/>
          </a:xfrm>
          <a:prstGeom prst="roundRect">
            <a:avLst>
              <a:gd name="adj" fmla="val 3390"/>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91" name="Text 88"/>
          <p:cNvSpPr txBox="1"/>
          <p:nvPr/>
        </p:nvSpPr>
        <p:spPr>
          <a:xfrm>
            <a:off x="8278368" y="4279392"/>
            <a:ext cx="3270504" cy="256032"/>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ea typeface="Calibri" pitchFamily="34" charset="-122"/>
                <a:cs typeface="Calibri" pitchFamily="34" charset="-120"/>
              </a:rPr>
              <a:t>THE KEY IDEA FOR TODAY</a:t>
            </a:r>
            <a:endParaRPr lang="en-US" sz="1000" dirty="0"/>
          </a:p>
        </p:txBody>
      </p:sp>
      <p:sp>
        <p:nvSpPr>
          <p:cNvPr id="92" name="Text 89"/>
          <p:cNvSpPr txBox="1"/>
          <p:nvPr/>
        </p:nvSpPr>
        <p:spPr>
          <a:xfrm>
            <a:off x="8278368" y="4553712"/>
            <a:ext cx="3270504" cy="640080"/>
          </a:xfrm>
          <a:prstGeom prst="rect">
            <a:avLst/>
          </a:prstGeom>
          <a:noFill/>
          <a:ln/>
        </p:spPr>
        <p:txBody>
          <a:bodyPr wrap="square" lIns="0" tIns="0" rIns="0" bIns="0" rtlCol="0" anchor="t"/>
          <a:lstStyle/>
          <a:p>
            <a:pPr algn="l" indent="0" marL="0">
              <a:buNone/>
            </a:pPr>
            <a:r>
              <a:rPr lang="en-US" sz="1300" b="1" dirty="0">
                <a:solidFill>
                  <a:srgbClr val="1F2A37"/>
                </a:solidFill>
                <a:latin typeface="Calibri" pitchFamily="34" charset="0"/>
                <a:ea typeface="Calibri" pitchFamily="34" charset="-122"/>
                <a:cs typeface="Calibri" pitchFamily="34" charset="-120"/>
              </a:rPr>
              <a:t>Kāna + noun in -u + predicate in -an. Kāna + present verb = “used to”.</a:t>
            </a:r>
            <a:endParaRPr lang="en-US" sz="1300" dirty="0"/>
          </a:p>
        </p:txBody>
      </p:sp>
      <p:sp>
        <p:nvSpPr>
          <p:cNvPr id="93" name="Text 90"/>
          <p:cNvSpPr txBox="1"/>
          <p:nvPr/>
        </p:nvSpPr>
        <p:spPr>
          <a:xfrm>
            <a:off x="8278368" y="5202936"/>
            <a:ext cx="3270504" cy="1014984"/>
          </a:xfrm>
          <a:prstGeom prst="rect">
            <a:avLst/>
          </a:prstGeom>
          <a:noFill/>
          <a:ln/>
        </p:spPr>
        <p:txBody>
          <a:bodyPr wrap="square" lIns="0" tIns="0" rIns="0" bIns="0" rtlCol="0" anchor="ctr"/>
          <a:lstStyle/>
          <a:p>
            <a:pPr rtl="1" algn="ctr" indent="0" marL="0">
              <a:buNone/>
            </a:pPr>
            <a:r>
              <a:rPr lang="ar-SA" altLang="en-US" sz="2400" b="1" dirty="0">
                <a:solidFill>
                  <a:srgbClr val="0E7C86"/>
                </a:solidFill>
                <a:latin typeface="Amiri" pitchFamily="34" charset="0"/>
                <a:ea typeface="Amiri" pitchFamily="34" charset="-122"/>
                <a:cs typeface="Amiri" pitchFamily="34" charset="-120"/>
              </a:rPr>
              <a:t>كَانَ</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1D5FBF"/>
                </a:solidFill>
                <a:latin typeface="Amiri" pitchFamily="34" charset="0"/>
                <a:ea typeface="Amiri" pitchFamily="34" charset="-122"/>
                <a:cs typeface="Amiri" pitchFamily="34" charset="-120"/>
              </a:rPr>
              <a:t>الْجَوُّ</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C77700"/>
                </a:solidFill>
                <a:latin typeface="Amiri" pitchFamily="34" charset="0"/>
                <a:ea typeface="Amiri" pitchFamily="34" charset="-122"/>
                <a:cs typeface="Amiri" pitchFamily="34" charset="-120"/>
              </a:rPr>
              <a:t>بَارِدًا</a:t>
            </a:r>
            <a:pPr rtl="1" algn="ctr" indent="0" marL="0">
              <a:buNone/>
            </a:pPr>
            <a:r>
              <a:rPr lang="ar-SA" altLang="en-US" sz="2400" b="1" dirty="0">
                <a:solidFill>
                  <a:srgbClr val="1B3B6F"/>
                </a:solidFill>
                <a:latin typeface="Amiri" pitchFamily="34" charset="0"/>
                <a:ea typeface="Amiri" pitchFamily="34" charset="-122"/>
                <a:cs typeface="Amiri" pitchFamily="34" charset="-120"/>
              </a:rPr>
              <a:t> ‖ </a:t>
            </a:r>
            <a:pPr rtl="1" algn="ctr" indent="0" marL="0">
              <a:buNone/>
            </a:pPr>
            <a:r>
              <a:rPr lang="ar-SA" altLang="en-US" sz="2400" b="1" dirty="0">
                <a:solidFill>
                  <a:srgbClr val="0E7C86"/>
                </a:solidFill>
                <a:latin typeface="Amiri" pitchFamily="34" charset="0"/>
                <a:ea typeface="Amiri" pitchFamily="34" charset="-122"/>
                <a:cs typeface="Amiri" pitchFamily="34" charset="-120"/>
              </a:rPr>
              <a:t>كُنْتُ</a:t>
            </a:r>
            <a:pPr rtl="1" algn="ctr" indent="0" marL="0">
              <a:buNone/>
            </a:pPr>
            <a:r>
              <a:rPr lang="ar-SA" altLang="en-US" sz="2400" b="1" dirty="0">
                <a:solidFill>
                  <a:srgbClr val="1B3B6F"/>
                </a:solidFill>
                <a:latin typeface="Amiri" pitchFamily="34" charset="0"/>
                <a:ea typeface="Amiri" pitchFamily="34" charset="-122"/>
                <a:cs typeface="Amiri" pitchFamily="34" charset="-120"/>
              </a:rPr>
              <a:t> </a:t>
            </a:r>
            <a:pPr rtl="1" algn="ctr" indent="0" marL="0">
              <a:buNone/>
            </a:pPr>
            <a:r>
              <a:rPr lang="ar-SA" altLang="en-US" sz="2400" b="1" dirty="0">
                <a:solidFill>
                  <a:srgbClr val="C77700"/>
                </a:solidFill>
                <a:latin typeface="Amiri" pitchFamily="34" charset="0"/>
                <a:ea typeface="Amiri" pitchFamily="34" charset="-122"/>
                <a:cs typeface="Amiri" pitchFamily="34" charset="-120"/>
              </a:rPr>
              <a:t>أَقْرَأُ</a:t>
            </a:r>
            <a:endParaRPr lang="ar-SA" sz="2400" dirty="0"/>
          </a:p>
        </p:txBody>
      </p:sp>
      <p:sp>
        <p:nvSpPr>
          <p:cNvPr id="94" name="Text 9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5 / 35</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ea typeface="Calibri" pitchFamily="34" charset="-122"/>
                <a:cs typeface="Calibri" pitchFamily="34" charset="-120"/>
              </a:rPr>
              <a:t>LESSON OBJECTIVES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Objectives and success criteria</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الأَهْدَافُ وَمَعَايِيرُ النَّجَاحِ</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4663440" cy="4315968"/>
          </a:xfrm>
          <a:prstGeom prst="roundRect">
            <a:avLst>
              <a:gd name="adj" fmla="val 1695"/>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20240"/>
            <a:ext cx="2743200" cy="292608"/>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ea typeface="Calibri" pitchFamily="34" charset="-122"/>
                <a:cs typeface="Calibri" pitchFamily="34" charset="-120"/>
              </a:rPr>
              <a:t>TODAY YOU WILL</a:t>
            </a:r>
            <a:endParaRPr lang="en-US" sz="1100" dirty="0"/>
          </a:p>
        </p:txBody>
      </p:sp>
      <p:sp>
        <p:nvSpPr>
          <p:cNvPr id="17" name="Text 14"/>
          <p:cNvSpPr txBox="1"/>
          <p:nvPr/>
        </p:nvSpPr>
        <p:spPr>
          <a:xfrm>
            <a:off x="2834640" y="1874520"/>
            <a:ext cx="2103120" cy="365760"/>
          </a:xfrm>
          <a:prstGeom prst="rect">
            <a:avLst/>
          </a:prstGeom>
          <a:noFill/>
          <a:ln/>
        </p:spPr>
        <p:txBody>
          <a:bodyPr wrap="square" lIns="0" tIns="0" rIns="0" bIns="0" rtlCol="0" anchor="ctr"/>
          <a:lstStyle/>
          <a:p>
            <a:pPr rtl="1" algn="r" indent="0" marL="0">
              <a:buNone/>
            </a:pPr>
            <a:r>
              <a:rPr lang="ar-SA" altLang="en-US" sz="1600" dirty="0">
                <a:solidFill>
                  <a:srgbClr val="8A6D1E"/>
                </a:solidFill>
                <a:latin typeface="Amiri" pitchFamily="34" charset="0"/>
                <a:ea typeface="Amiri" pitchFamily="34" charset="-122"/>
                <a:cs typeface="Amiri" pitchFamily="34" charset="-120"/>
              </a:rPr>
              <a:t>سَتَتَعَلَّمُ اليَوْمَ</a:t>
            </a:r>
            <a:endParaRPr lang="ar-SA" sz="1600" dirty="0"/>
          </a:p>
        </p:txBody>
      </p:sp>
      <p:sp>
        <p:nvSpPr>
          <p:cNvPr id="18" name="Shape 15"/>
          <p:cNvSpPr/>
          <p:nvPr/>
        </p:nvSpPr>
        <p:spPr>
          <a:xfrm>
            <a:off x="685800" y="2395728"/>
            <a:ext cx="365760" cy="365760"/>
          </a:xfrm>
          <a:prstGeom prst="ellipse">
            <a:avLst/>
          </a:prstGeom>
          <a:solidFill>
            <a:srgbClr val="1B3B6F"/>
          </a:solidFill>
          <a:ln w="12700">
            <a:solidFill>
              <a:srgbClr val="1B3B6F"/>
            </a:solidFill>
            <a:prstDash val="solid"/>
          </a:ln>
        </p:spPr>
      </p:sp>
      <p:sp>
        <p:nvSpPr>
          <p:cNvPr id="19" name="Text 16"/>
          <p:cNvSpPr txBox="1"/>
          <p:nvPr/>
        </p:nvSpPr>
        <p:spPr>
          <a:xfrm>
            <a:off x="685800" y="2395728"/>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1</a:t>
            </a:r>
            <a:endParaRPr lang="en-US" sz="1200" dirty="0"/>
          </a:p>
        </p:txBody>
      </p:sp>
      <p:sp>
        <p:nvSpPr>
          <p:cNvPr id="20" name="Text 17"/>
          <p:cNvSpPr txBox="1"/>
          <p:nvPr/>
        </p:nvSpPr>
        <p:spPr>
          <a:xfrm>
            <a:off x="1188720" y="2286000"/>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Put a nominal sentence in the past with kāna.</a:t>
            </a:r>
            <a:endParaRPr lang="en-US" sz="1300" dirty="0"/>
          </a:p>
        </p:txBody>
      </p:sp>
      <p:sp>
        <p:nvSpPr>
          <p:cNvPr id="21" name="Shape 18"/>
          <p:cNvSpPr/>
          <p:nvPr/>
        </p:nvSpPr>
        <p:spPr>
          <a:xfrm>
            <a:off x="685800" y="3291840"/>
            <a:ext cx="365760" cy="365760"/>
          </a:xfrm>
          <a:prstGeom prst="ellipse">
            <a:avLst/>
          </a:prstGeom>
          <a:solidFill>
            <a:srgbClr val="1B3B6F"/>
          </a:solidFill>
          <a:ln w="12700">
            <a:solidFill>
              <a:srgbClr val="1B3B6F"/>
            </a:solidFill>
            <a:prstDash val="solid"/>
          </a:ln>
        </p:spPr>
      </p:sp>
      <p:sp>
        <p:nvSpPr>
          <p:cNvPr id="22" name="Text 19"/>
          <p:cNvSpPr txBox="1"/>
          <p:nvPr/>
        </p:nvSpPr>
        <p:spPr>
          <a:xfrm>
            <a:off x="685800" y="3291840"/>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2</a:t>
            </a:r>
            <a:endParaRPr lang="en-US" sz="1200" dirty="0"/>
          </a:p>
        </p:txBody>
      </p:sp>
      <p:sp>
        <p:nvSpPr>
          <p:cNvPr id="23" name="Text 20"/>
          <p:cNvSpPr txBox="1"/>
          <p:nvPr/>
        </p:nvSpPr>
        <p:spPr>
          <a:xfrm>
            <a:off x="1188720" y="3182112"/>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Use the right form of kāna.</a:t>
            </a:r>
            <a:endParaRPr lang="en-US" sz="1300" dirty="0"/>
          </a:p>
        </p:txBody>
      </p:sp>
      <p:sp>
        <p:nvSpPr>
          <p:cNvPr id="24" name="Shape 21"/>
          <p:cNvSpPr/>
          <p:nvPr/>
        </p:nvSpPr>
        <p:spPr>
          <a:xfrm>
            <a:off x="685800" y="4187952"/>
            <a:ext cx="365760" cy="365760"/>
          </a:xfrm>
          <a:prstGeom prst="ellipse">
            <a:avLst/>
          </a:prstGeom>
          <a:solidFill>
            <a:srgbClr val="1B3B6F"/>
          </a:solidFill>
          <a:ln w="12700">
            <a:solidFill>
              <a:srgbClr val="1B3B6F"/>
            </a:solidFill>
            <a:prstDash val="solid"/>
          </a:ln>
        </p:spPr>
      </p:sp>
      <p:sp>
        <p:nvSpPr>
          <p:cNvPr id="25" name="Text 22"/>
          <p:cNvSpPr txBox="1"/>
          <p:nvPr/>
        </p:nvSpPr>
        <p:spPr>
          <a:xfrm>
            <a:off x="685800" y="4187952"/>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3</a:t>
            </a:r>
            <a:endParaRPr lang="en-US" sz="1200" dirty="0"/>
          </a:p>
        </p:txBody>
      </p:sp>
      <p:sp>
        <p:nvSpPr>
          <p:cNvPr id="26" name="Text 23"/>
          <p:cNvSpPr txBox="1"/>
          <p:nvPr/>
        </p:nvSpPr>
        <p:spPr>
          <a:xfrm>
            <a:off x="1188720" y="4078224"/>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I used to do.</a:t>
            </a:r>
            <a:endParaRPr lang="en-US" sz="1300" dirty="0"/>
          </a:p>
        </p:txBody>
      </p:sp>
      <p:sp>
        <p:nvSpPr>
          <p:cNvPr id="27" name="Shape 24"/>
          <p:cNvSpPr/>
          <p:nvPr/>
        </p:nvSpPr>
        <p:spPr>
          <a:xfrm>
            <a:off x="685800" y="5084064"/>
            <a:ext cx="365760" cy="365760"/>
          </a:xfrm>
          <a:prstGeom prst="ellipse">
            <a:avLst/>
          </a:prstGeom>
          <a:solidFill>
            <a:srgbClr val="1B3B6F"/>
          </a:solidFill>
          <a:ln w="12700">
            <a:solidFill>
              <a:srgbClr val="1B3B6F"/>
            </a:solidFill>
            <a:prstDash val="solid"/>
          </a:ln>
        </p:spPr>
      </p:sp>
      <p:sp>
        <p:nvSpPr>
          <p:cNvPr id="28" name="Text 25"/>
          <p:cNvSpPr txBox="1"/>
          <p:nvPr/>
        </p:nvSpPr>
        <p:spPr>
          <a:xfrm>
            <a:off x="685800" y="5084064"/>
            <a:ext cx="365760" cy="365760"/>
          </a:xfrm>
          <a:prstGeom prst="rect">
            <a:avLst/>
          </a:prstGeom>
          <a:noFill/>
          <a:ln/>
        </p:spPr>
        <p:txBody>
          <a:bodyPr wrap="square" lIns="0" tIns="0" rIns="0" bIns="0" rtlCol="0" anchor="ctr"/>
          <a:lstStyle/>
          <a:p>
            <a:pPr algn="ctr" indent="0" marL="0">
              <a:buNone/>
            </a:pPr>
            <a:r>
              <a:rPr lang="en-US" sz="1200" b="1" dirty="0">
                <a:solidFill>
                  <a:srgbClr val="D4AF37"/>
                </a:solidFill>
                <a:latin typeface="Calibri" pitchFamily="34" charset="0"/>
                <a:ea typeface="Calibri" pitchFamily="34" charset="-122"/>
                <a:cs typeface="Calibri" pitchFamily="34" charset="-120"/>
              </a:rPr>
              <a:t>4</a:t>
            </a:r>
            <a:endParaRPr lang="en-US" sz="1200" dirty="0"/>
          </a:p>
        </p:txBody>
      </p:sp>
      <p:sp>
        <p:nvSpPr>
          <p:cNvPr id="29" name="Text 26"/>
          <p:cNvSpPr txBox="1"/>
          <p:nvPr/>
        </p:nvSpPr>
        <p:spPr>
          <a:xfrm>
            <a:off x="1188720" y="4974336"/>
            <a:ext cx="3749040" cy="841248"/>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Say what became and what is still.</a:t>
            </a:r>
            <a:endParaRPr lang="en-US" sz="1300" dirty="0"/>
          </a:p>
        </p:txBody>
      </p:sp>
      <p:sp>
        <p:nvSpPr>
          <p:cNvPr id="30" name="Shape 27"/>
          <p:cNvSpPr/>
          <p:nvPr/>
        </p:nvSpPr>
        <p:spPr>
          <a:xfrm>
            <a:off x="5349240" y="1810512"/>
            <a:ext cx="6382512" cy="1353312"/>
          </a:xfrm>
          <a:prstGeom prst="roundRect">
            <a:avLst>
              <a:gd name="adj" fmla="val 5405"/>
            </a:avLst>
          </a:prstGeom>
          <a:solidFill>
            <a:srgbClr val="E9F5EE"/>
          </a:solidFill>
          <a:ln w="9525">
            <a:solidFill>
              <a:srgbClr val="2E8B57"/>
            </a:solidFill>
            <a:prstDash val="solid"/>
          </a:ln>
        </p:spPr>
      </p:sp>
      <p:sp>
        <p:nvSpPr>
          <p:cNvPr id="31" name="Shape 28"/>
          <p:cNvSpPr/>
          <p:nvPr/>
        </p:nvSpPr>
        <p:spPr>
          <a:xfrm>
            <a:off x="5532120" y="1947672"/>
            <a:ext cx="1143000" cy="292608"/>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5532120" y="194767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CORE</a:t>
            </a:r>
            <a:endParaRPr lang="en-US" sz="950" dirty="0"/>
          </a:p>
        </p:txBody>
      </p:sp>
      <p:sp>
        <p:nvSpPr>
          <p:cNvPr id="33" name="Text 30"/>
          <p:cNvSpPr txBox="1"/>
          <p:nvPr/>
        </p:nvSpPr>
        <p:spPr>
          <a:xfrm>
            <a:off x="6766560" y="1947672"/>
            <a:ext cx="1828800" cy="292608"/>
          </a:xfrm>
          <a:prstGeom prst="rect">
            <a:avLst/>
          </a:prstGeom>
          <a:noFill/>
          <a:ln/>
        </p:spPr>
        <p:txBody>
          <a:bodyPr wrap="square" lIns="0" tIns="0" rIns="0" bIns="0" rtlCol="0" anchor="ctr"/>
          <a:lstStyle/>
          <a:p>
            <a:pPr algn="l" indent="0" marL="0">
              <a:buNone/>
            </a:pPr>
            <a:r>
              <a:rPr lang="en-US" sz="1050" b="1" i="1" dirty="0">
                <a:solidFill>
                  <a:srgbClr val="2E8B57"/>
                </a:solidFill>
                <a:latin typeface="Calibri" pitchFamily="34" charset="0"/>
                <a:ea typeface="Calibri" pitchFamily="34" charset="-122"/>
                <a:cs typeface="Calibri" pitchFamily="34" charset="-120"/>
              </a:rPr>
              <a:t>Everyone</a:t>
            </a:r>
            <a:endParaRPr lang="en-US" sz="1050" dirty="0"/>
          </a:p>
        </p:txBody>
      </p:sp>
      <p:sp>
        <p:nvSpPr>
          <p:cNvPr id="34" name="Text 31"/>
          <p:cNvSpPr txBox="1"/>
          <p:nvPr/>
        </p:nvSpPr>
        <p:spPr>
          <a:xfrm>
            <a:off x="5532120" y="228600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write kāna l-jawwu bāridan.</a:t>
            </a:r>
            <a:endParaRPr lang="en-US" sz="1300" dirty="0"/>
          </a:p>
        </p:txBody>
      </p:sp>
      <p:sp>
        <p:nvSpPr>
          <p:cNvPr id="35" name="Text 32"/>
          <p:cNvSpPr txBox="1"/>
          <p:nvPr/>
        </p:nvSpPr>
        <p:spPr>
          <a:xfrm>
            <a:off x="5532120" y="2697480"/>
            <a:ext cx="6016752" cy="393192"/>
          </a:xfrm>
          <a:prstGeom prst="rect">
            <a:avLst/>
          </a:prstGeom>
          <a:noFill/>
          <a:ln/>
        </p:spPr>
        <p:txBody>
          <a:bodyPr wrap="square" lIns="0" tIns="0" rIns="0" bIns="0" rtlCol="0" anchor="ctr"/>
          <a:lstStyle/>
          <a:p>
            <a:pPr algn="l" indent="0" marL="0">
              <a:buNone/>
            </a:pPr>
            <a:r>
              <a:rPr lang="en-US" sz="1300" b="1" dirty="0">
                <a:solidFill>
                  <a:srgbClr val="2E8B57"/>
                </a:solidFill>
                <a:latin typeface="Calibri" pitchFamily="34" charset="0"/>
                <a:ea typeface="Calibri" pitchFamily="34" charset="-122"/>
                <a:cs typeface="Calibri" pitchFamily="34" charset="-120"/>
              </a:rPr>
              <a:t>☐  I use kuntu, kāna, kānat.</a:t>
            </a:r>
            <a:endParaRPr lang="en-US" sz="1300" dirty="0"/>
          </a:p>
        </p:txBody>
      </p:sp>
      <p:sp>
        <p:nvSpPr>
          <p:cNvPr id="36" name="Shape 33"/>
          <p:cNvSpPr/>
          <p:nvPr/>
        </p:nvSpPr>
        <p:spPr>
          <a:xfrm>
            <a:off x="5349240" y="3273552"/>
            <a:ext cx="6382512" cy="1353312"/>
          </a:xfrm>
          <a:prstGeom prst="roundRect">
            <a:avLst>
              <a:gd name="adj" fmla="val 5405"/>
            </a:avLst>
          </a:prstGeom>
          <a:solidFill>
            <a:srgbClr val="FCF1E0"/>
          </a:solidFill>
          <a:ln w="9525">
            <a:solidFill>
              <a:srgbClr val="C9780A"/>
            </a:solidFill>
            <a:prstDash val="solid"/>
          </a:ln>
        </p:spPr>
      </p:sp>
      <p:sp>
        <p:nvSpPr>
          <p:cNvPr id="37" name="Shape 34"/>
          <p:cNvSpPr/>
          <p:nvPr/>
        </p:nvSpPr>
        <p:spPr>
          <a:xfrm>
            <a:off x="5532120" y="3410712"/>
            <a:ext cx="1143000" cy="292608"/>
          </a:xfrm>
          <a:prstGeom prst="roundRect">
            <a:avLst>
              <a:gd name="adj" fmla="val 50000"/>
            </a:avLst>
          </a:prstGeom>
          <a:solidFill>
            <a:srgbClr val="C9780A"/>
          </a:solidFill>
          <a:ln w="12700">
            <a:solidFill>
              <a:srgbClr val="C9780A"/>
            </a:solidFill>
            <a:prstDash val="solid"/>
          </a:ln>
        </p:spPr>
      </p:sp>
      <p:sp>
        <p:nvSpPr>
          <p:cNvPr id="38" name="Text 35"/>
          <p:cNvSpPr txBox="1"/>
          <p:nvPr/>
        </p:nvSpPr>
        <p:spPr>
          <a:xfrm>
            <a:off x="5532120" y="341071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DEVELOP</a:t>
            </a:r>
            <a:endParaRPr lang="en-US" sz="950" dirty="0"/>
          </a:p>
        </p:txBody>
      </p:sp>
      <p:sp>
        <p:nvSpPr>
          <p:cNvPr id="39" name="Text 36"/>
          <p:cNvSpPr txBox="1"/>
          <p:nvPr/>
        </p:nvSpPr>
        <p:spPr>
          <a:xfrm>
            <a:off x="6766560" y="3410712"/>
            <a:ext cx="1828800" cy="292608"/>
          </a:xfrm>
          <a:prstGeom prst="rect">
            <a:avLst/>
          </a:prstGeom>
          <a:noFill/>
          <a:ln/>
        </p:spPr>
        <p:txBody>
          <a:bodyPr wrap="square" lIns="0" tIns="0" rIns="0" bIns="0" rtlCol="0" anchor="ctr"/>
          <a:lstStyle/>
          <a:p>
            <a:pPr algn="l" indent="0" marL="0">
              <a:buNone/>
            </a:pPr>
            <a:r>
              <a:rPr lang="en-US" sz="1050" b="1" i="1" dirty="0">
                <a:solidFill>
                  <a:srgbClr val="C9780A"/>
                </a:solidFill>
                <a:latin typeface="Calibri" pitchFamily="34" charset="0"/>
                <a:ea typeface="Calibri" pitchFamily="34" charset="-122"/>
                <a:cs typeface="Calibri" pitchFamily="34" charset="-120"/>
              </a:rPr>
              <a:t>Most of us</a:t>
            </a:r>
            <a:endParaRPr lang="en-US" sz="1050" dirty="0"/>
          </a:p>
        </p:txBody>
      </p:sp>
      <p:sp>
        <p:nvSpPr>
          <p:cNvPr id="40" name="Text 37"/>
          <p:cNvSpPr txBox="1"/>
          <p:nvPr/>
        </p:nvSpPr>
        <p:spPr>
          <a:xfrm>
            <a:off x="5532120" y="374904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use kunnā, kānū, kunna.</a:t>
            </a:r>
            <a:endParaRPr lang="en-US" sz="1300" dirty="0"/>
          </a:p>
        </p:txBody>
      </p:sp>
      <p:sp>
        <p:nvSpPr>
          <p:cNvPr id="41" name="Text 38"/>
          <p:cNvSpPr txBox="1"/>
          <p:nvPr/>
        </p:nvSpPr>
        <p:spPr>
          <a:xfrm>
            <a:off x="5532120" y="4160520"/>
            <a:ext cx="6016752" cy="393192"/>
          </a:xfrm>
          <a:prstGeom prst="rect">
            <a:avLst/>
          </a:prstGeom>
          <a:noFill/>
          <a:ln/>
        </p:spPr>
        <p:txBody>
          <a:bodyPr wrap="square" lIns="0" tIns="0" rIns="0" bIns="0" rtlCol="0" anchor="ctr"/>
          <a:lstStyle/>
          <a:p>
            <a:pPr algn="l" indent="0" marL="0">
              <a:buNone/>
            </a:pPr>
            <a:r>
              <a:rPr lang="en-US" sz="1300" b="1" dirty="0">
                <a:solidFill>
                  <a:srgbClr val="C9780A"/>
                </a:solidFill>
                <a:latin typeface="Calibri" pitchFamily="34" charset="0"/>
                <a:ea typeface="Calibri" pitchFamily="34" charset="-122"/>
                <a:cs typeface="Calibri" pitchFamily="34" charset="-120"/>
              </a:rPr>
              <a:t>☐  I write kuntu + present for habits.</a:t>
            </a:r>
            <a:endParaRPr lang="en-US" sz="1300" dirty="0"/>
          </a:p>
        </p:txBody>
      </p:sp>
      <p:sp>
        <p:nvSpPr>
          <p:cNvPr id="42" name="Shape 39"/>
          <p:cNvSpPr/>
          <p:nvPr/>
        </p:nvSpPr>
        <p:spPr>
          <a:xfrm>
            <a:off x="5349240" y="4736592"/>
            <a:ext cx="6382512" cy="1353312"/>
          </a:xfrm>
          <a:prstGeom prst="roundRect">
            <a:avLst>
              <a:gd name="adj" fmla="val 5405"/>
            </a:avLst>
          </a:prstGeom>
          <a:solidFill>
            <a:srgbClr val="FBEAEA"/>
          </a:solidFill>
          <a:ln w="9525">
            <a:solidFill>
              <a:srgbClr val="B83227"/>
            </a:solidFill>
            <a:prstDash val="solid"/>
          </a:ln>
        </p:spPr>
      </p:sp>
      <p:sp>
        <p:nvSpPr>
          <p:cNvPr id="43" name="Shape 40"/>
          <p:cNvSpPr/>
          <p:nvPr/>
        </p:nvSpPr>
        <p:spPr>
          <a:xfrm>
            <a:off x="5532120" y="4873752"/>
            <a:ext cx="1143000" cy="292608"/>
          </a:xfrm>
          <a:prstGeom prst="roundRect">
            <a:avLst>
              <a:gd name="adj" fmla="val 50000"/>
            </a:avLst>
          </a:prstGeom>
          <a:solidFill>
            <a:srgbClr val="B83227"/>
          </a:solidFill>
          <a:ln w="12700">
            <a:solidFill>
              <a:srgbClr val="B83227"/>
            </a:solidFill>
            <a:prstDash val="solid"/>
          </a:ln>
        </p:spPr>
      </p:sp>
      <p:sp>
        <p:nvSpPr>
          <p:cNvPr id="44" name="Text 41"/>
          <p:cNvSpPr txBox="1"/>
          <p:nvPr/>
        </p:nvSpPr>
        <p:spPr>
          <a:xfrm>
            <a:off x="5532120" y="4873752"/>
            <a:ext cx="11430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45" name="Text 42"/>
          <p:cNvSpPr txBox="1"/>
          <p:nvPr/>
        </p:nvSpPr>
        <p:spPr>
          <a:xfrm>
            <a:off x="6766560" y="4873752"/>
            <a:ext cx="1828800" cy="292608"/>
          </a:xfrm>
          <a:prstGeom prst="rect">
            <a:avLst/>
          </a:prstGeom>
          <a:noFill/>
          <a:ln/>
        </p:spPr>
        <p:txBody>
          <a:bodyPr wrap="square" lIns="0" tIns="0" rIns="0" bIns="0" rtlCol="0" anchor="ctr"/>
          <a:lstStyle/>
          <a:p>
            <a:pPr algn="l" indent="0" marL="0">
              <a:buNone/>
            </a:pPr>
            <a:r>
              <a:rPr lang="en-US" sz="1050" b="1" i="1" dirty="0">
                <a:solidFill>
                  <a:srgbClr val="B83227"/>
                </a:solidFill>
                <a:latin typeface="Calibri" pitchFamily="34" charset="0"/>
                <a:ea typeface="Calibri" pitchFamily="34" charset="-122"/>
                <a:cs typeface="Calibri" pitchFamily="34" charset="-120"/>
              </a:rPr>
              <a:t>Aim high</a:t>
            </a:r>
            <a:endParaRPr lang="en-US" sz="1050" dirty="0"/>
          </a:p>
        </p:txBody>
      </p:sp>
      <p:sp>
        <p:nvSpPr>
          <p:cNvPr id="46" name="Text 43"/>
          <p:cNvSpPr txBox="1"/>
          <p:nvPr/>
        </p:nvSpPr>
        <p:spPr>
          <a:xfrm>
            <a:off x="5532120" y="521208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use ṣāra, ẓalla and mā zāla.</a:t>
            </a:r>
            <a:endParaRPr lang="en-US" sz="1300" dirty="0"/>
          </a:p>
        </p:txBody>
      </p:sp>
      <p:sp>
        <p:nvSpPr>
          <p:cNvPr id="47" name="Text 44"/>
          <p:cNvSpPr txBox="1"/>
          <p:nvPr/>
        </p:nvSpPr>
        <p:spPr>
          <a:xfrm>
            <a:off x="5532120" y="5623560"/>
            <a:ext cx="6016752" cy="393192"/>
          </a:xfrm>
          <a:prstGeom prst="rect">
            <a:avLst/>
          </a:prstGeom>
          <a:noFill/>
          <a:ln/>
        </p:spPr>
        <p:txBody>
          <a:bodyPr wrap="square" lIns="0" tIns="0" rIns="0" bIns="0" rtlCol="0" anchor="ctr"/>
          <a:lstStyle/>
          <a:p>
            <a:pPr algn="l" indent="0" marL="0">
              <a:buNone/>
            </a:pPr>
            <a:r>
              <a:rPr lang="en-US" sz="1300" b="1" dirty="0">
                <a:solidFill>
                  <a:srgbClr val="B83227"/>
                </a:solidFill>
                <a:latin typeface="Calibri" pitchFamily="34" charset="0"/>
                <a:ea typeface="Calibri" pitchFamily="34" charset="-122"/>
                <a:cs typeface="Calibri" pitchFamily="34" charset="-120"/>
              </a:rPr>
              <a:t>☐  I write a then-and-now account of 110–130 words.</a:t>
            </a:r>
            <a:endParaRPr lang="en-US" sz="1300" dirty="0"/>
          </a:p>
        </p:txBody>
      </p:sp>
      <p:sp>
        <p:nvSpPr>
          <p:cNvPr id="48"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6 / 35</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KEY WORDS · THE GRAMMAR WORDS WE WILL USE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Grammar words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مُصْطَلَحَاتُ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1</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كَانَ وَأَخَوَاتُهَا</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kāna and its sisters</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kā-na wa-ʾa-kha-wā-tu-hā</a:t>
            </a:r>
            <a:endParaRPr lang="en-US" sz="1350" dirty="0"/>
          </a:p>
        </p:txBody>
      </p:sp>
      <p:sp>
        <p:nvSpPr>
          <p:cNvPr id="22" name="Text 19"/>
          <p:cNvSpPr txBox="1"/>
          <p:nvPr/>
        </p:nvSpPr>
        <p:spPr>
          <a:xfrm>
            <a:off x="8238744"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كَانَ · صَارَ · مَا زَالَ</a:t>
            </a:r>
            <a:endParaRPr lang="ar-SA" sz="1300" dirty="0"/>
          </a:p>
        </p:txBody>
      </p:sp>
      <p:sp>
        <p:nvSpPr>
          <p:cNvPr id="23" name="Shape 20"/>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389120" y="1920240"/>
            <a:ext cx="310896" cy="310896"/>
          </a:xfrm>
          <a:prstGeom prst="ellipse">
            <a:avLst/>
          </a:prstGeom>
          <a:solidFill>
            <a:srgbClr val="F4F1EA"/>
          </a:solidFill>
          <a:ln w="12700">
            <a:solidFill>
              <a:srgbClr val="F4F1EA"/>
            </a:solidFill>
            <a:prstDash val="solid"/>
          </a:ln>
        </p:spPr>
      </p:sp>
      <p:sp>
        <p:nvSpPr>
          <p:cNvPr id="25" name="Text 22"/>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2</a:t>
            </a:r>
            <a:endParaRPr lang="en-US" sz="1000" dirty="0"/>
          </a:p>
        </p:txBody>
      </p:sp>
      <p:sp>
        <p:nvSpPr>
          <p:cNvPr id="26" name="Shape 23"/>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7" name="Text 24"/>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8" name="Text 25"/>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اسْمُ كَانَ</a:t>
            </a:r>
            <a:endParaRPr lang="ar-SA" sz="3000" dirty="0"/>
          </a:p>
        </p:txBody>
      </p:sp>
      <p:sp>
        <p:nvSpPr>
          <p:cNvPr id="29" name="Text 26"/>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noun of kāna (-u)</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as-mu kā-na</a:t>
            </a:r>
            <a:endParaRPr lang="en-US" sz="1350" dirty="0"/>
          </a:p>
        </p:txBody>
      </p:sp>
      <p:sp>
        <p:nvSpPr>
          <p:cNvPr id="30" name="Text 27"/>
          <p:cNvSpPr txBox="1"/>
          <p:nvPr/>
        </p:nvSpPr>
        <p:spPr>
          <a:xfrm>
            <a:off x="4416552"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كَانَ الْجَوُّ</a:t>
            </a:r>
            <a:endParaRPr lang="ar-SA" sz="1300" dirty="0"/>
          </a:p>
        </p:txBody>
      </p:sp>
      <p:sp>
        <p:nvSpPr>
          <p:cNvPr id="31" name="Shape 28"/>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66928" y="1920240"/>
            <a:ext cx="310896" cy="310896"/>
          </a:xfrm>
          <a:prstGeom prst="ellipse">
            <a:avLst/>
          </a:prstGeom>
          <a:solidFill>
            <a:srgbClr val="F4F1EA"/>
          </a:solidFill>
          <a:ln w="12700">
            <a:solidFill>
              <a:srgbClr val="F4F1EA"/>
            </a:solidFill>
            <a:prstDash val="solid"/>
          </a:ln>
        </p:spPr>
      </p:sp>
      <p:sp>
        <p:nvSpPr>
          <p:cNvPr id="33" name="Text 30"/>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3</a:t>
            </a:r>
            <a:endParaRPr lang="en-US" sz="1000" dirty="0"/>
          </a:p>
        </p:txBody>
      </p:sp>
      <p:sp>
        <p:nvSpPr>
          <p:cNvPr id="34" name="Shape 31"/>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6" name="Text 33"/>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خَبَرُ كَانَ</a:t>
            </a:r>
            <a:endParaRPr lang="ar-SA" sz="3000" dirty="0"/>
          </a:p>
        </p:txBody>
      </p:sp>
      <p:sp>
        <p:nvSpPr>
          <p:cNvPr id="37" name="Text 34"/>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the predicate of kāna (-an)</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kha-ba-ru kā-na</a:t>
            </a:r>
            <a:endParaRPr lang="en-US" sz="1350" dirty="0"/>
          </a:p>
        </p:txBody>
      </p:sp>
      <p:sp>
        <p:nvSpPr>
          <p:cNvPr id="38" name="Text 35"/>
          <p:cNvSpPr txBox="1"/>
          <p:nvPr/>
        </p:nvSpPr>
        <p:spPr>
          <a:xfrm>
            <a:off x="594360" y="3621024"/>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بَارِدًا</a:t>
            </a:r>
            <a:endParaRPr lang="ar-SA" sz="1300" dirty="0"/>
          </a:p>
        </p:txBody>
      </p:sp>
      <p:sp>
        <p:nvSpPr>
          <p:cNvPr id="39" name="Shape 36"/>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8211312" y="4261104"/>
            <a:ext cx="310896" cy="310896"/>
          </a:xfrm>
          <a:prstGeom prst="ellipse">
            <a:avLst/>
          </a:prstGeom>
          <a:solidFill>
            <a:srgbClr val="F4F1EA"/>
          </a:solidFill>
          <a:ln w="12700">
            <a:solidFill>
              <a:srgbClr val="F4F1EA"/>
            </a:solidFill>
            <a:prstDash val="solid"/>
          </a:ln>
        </p:spPr>
      </p:sp>
      <p:sp>
        <p:nvSpPr>
          <p:cNvPr id="41" name="Text 38"/>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4</a:t>
            </a:r>
            <a:endParaRPr lang="en-US" sz="1000" dirty="0"/>
          </a:p>
        </p:txBody>
      </p:sp>
      <p:sp>
        <p:nvSpPr>
          <p:cNvPr id="42" name="Shape 39"/>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3" name="Text 40"/>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4" name="Text 41"/>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الْعَادَةُ فِي الْمَاضِي</a:t>
            </a:r>
            <a:endParaRPr lang="ar-SA" sz="3000" dirty="0"/>
          </a:p>
        </p:txBody>
      </p:sp>
      <p:sp>
        <p:nvSpPr>
          <p:cNvPr id="45" name="Text 42"/>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past habit (“used to”)</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al-ʿā-da-tu fī al-mā-ḍī</a:t>
            </a:r>
            <a:endParaRPr lang="en-US" sz="1350" dirty="0"/>
          </a:p>
        </p:txBody>
      </p:sp>
      <p:sp>
        <p:nvSpPr>
          <p:cNvPr id="46" name="Text 43"/>
          <p:cNvSpPr txBox="1"/>
          <p:nvPr/>
        </p:nvSpPr>
        <p:spPr>
          <a:xfrm>
            <a:off x="8238744"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كُنْتُ أَقْرَأُ</a:t>
            </a:r>
            <a:endParaRPr lang="ar-SA" sz="1300" dirty="0"/>
          </a:p>
        </p:txBody>
      </p:sp>
      <p:sp>
        <p:nvSpPr>
          <p:cNvPr id="47" name="Shape 44"/>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4389120" y="4261104"/>
            <a:ext cx="310896" cy="310896"/>
          </a:xfrm>
          <a:prstGeom prst="ellipse">
            <a:avLst/>
          </a:prstGeom>
          <a:solidFill>
            <a:srgbClr val="F4F1EA"/>
          </a:solidFill>
          <a:ln w="12700">
            <a:solidFill>
              <a:srgbClr val="F4F1EA"/>
            </a:solidFill>
            <a:prstDash val="solid"/>
          </a:ln>
        </p:spPr>
      </p:sp>
      <p:sp>
        <p:nvSpPr>
          <p:cNvPr id="49" name="Text 46"/>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5</a:t>
            </a:r>
            <a:endParaRPr lang="en-US" sz="1000" dirty="0"/>
          </a:p>
        </p:txBody>
      </p:sp>
      <p:sp>
        <p:nvSpPr>
          <p:cNvPr id="50" name="Shape 47"/>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52" name="Text 49"/>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التَّحَوُّلُ</a:t>
            </a:r>
            <a:endParaRPr lang="ar-SA" sz="3000" dirty="0"/>
          </a:p>
        </p:txBody>
      </p:sp>
      <p:sp>
        <p:nvSpPr>
          <p:cNvPr id="53" name="Text 50"/>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change (“became”)</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at-ta-ḥaw-wu-lu</a:t>
            </a:r>
            <a:endParaRPr lang="en-US" sz="1350" dirty="0"/>
          </a:p>
        </p:txBody>
      </p:sp>
      <p:sp>
        <p:nvSpPr>
          <p:cNvPr id="54" name="Text 51"/>
          <p:cNvSpPr txBox="1"/>
          <p:nvPr/>
        </p:nvSpPr>
        <p:spPr>
          <a:xfrm>
            <a:off x="4416552"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صَارَ · أَصْبَحَ</a:t>
            </a:r>
            <a:endParaRPr lang="ar-SA" sz="1300" dirty="0"/>
          </a:p>
        </p:txBody>
      </p:sp>
      <p:sp>
        <p:nvSpPr>
          <p:cNvPr id="55" name="Shape 52"/>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6" name="Shape 53"/>
          <p:cNvSpPr/>
          <p:nvPr/>
        </p:nvSpPr>
        <p:spPr>
          <a:xfrm>
            <a:off x="566928" y="4261104"/>
            <a:ext cx="310896" cy="310896"/>
          </a:xfrm>
          <a:prstGeom prst="ellipse">
            <a:avLst/>
          </a:prstGeom>
          <a:solidFill>
            <a:srgbClr val="F4F1EA"/>
          </a:solidFill>
          <a:ln w="12700">
            <a:solidFill>
              <a:srgbClr val="F4F1EA"/>
            </a:solidFill>
            <a:prstDash val="solid"/>
          </a:ln>
        </p:spPr>
      </p:sp>
      <p:sp>
        <p:nvSpPr>
          <p:cNvPr id="57" name="Text 54"/>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ea typeface="Calibri" pitchFamily="34" charset="-122"/>
                <a:cs typeface="Calibri" pitchFamily="34" charset="-120"/>
              </a:rPr>
              <a:t>6</a:t>
            </a:r>
            <a:endParaRPr lang="en-US" sz="1000" dirty="0"/>
          </a:p>
        </p:txBody>
      </p:sp>
      <p:sp>
        <p:nvSpPr>
          <p:cNvPr id="58" name="Shape 55"/>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9" name="Text 56"/>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60" name="Text 57"/>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34" charset="0"/>
                <a:ea typeface="Amiri" pitchFamily="34" charset="-122"/>
                <a:cs typeface="Amiri" pitchFamily="34" charset="-120"/>
              </a:rPr>
              <a:t>الِاسْتِمْرَارُ</a:t>
            </a:r>
            <a:endParaRPr lang="ar-SA" sz="3000" dirty="0"/>
          </a:p>
        </p:txBody>
      </p:sp>
      <p:sp>
        <p:nvSpPr>
          <p:cNvPr id="61" name="Text 58"/>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ea typeface="Calibri" pitchFamily="34" charset="-122"/>
                <a:cs typeface="Calibri" pitchFamily="34" charset="-120"/>
              </a:rPr>
              <a:t>continuing (“still”)</a:t>
            </a:r>
            <a:endParaRPr lang="en-US" sz="1350" dirty="0"/>
          </a:p>
          <a:p>
            <a:pPr indent="0" marL="0">
              <a:buNone/>
            </a:pPr>
            <a:r>
              <a:rPr lang="en-US" sz="1100" i="1" dirty="0">
                <a:solidFill>
                  <a:srgbClr val="5A6472"/>
                </a:solidFill>
                <a:latin typeface="Calibri" pitchFamily="34" charset="0"/>
                <a:ea typeface="Calibri" pitchFamily="34" charset="-122"/>
                <a:cs typeface="Calibri" pitchFamily="34" charset="-120"/>
              </a:rPr>
              <a:t>al-ِs-tim-rā-ru</a:t>
            </a:r>
            <a:endParaRPr lang="en-US" sz="1350" dirty="0"/>
          </a:p>
        </p:txBody>
      </p:sp>
      <p:sp>
        <p:nvSpPr>
          <p:cNvPr id="62" name="Text 59"/>
          <p:cNvSpPr txBox="1"/>
          <p:nvPr/>
        </p:nvSpPr>
        <p:spPr>
          <a:xfrm>
            <a:off x="594360" y="5961888"/>
            <a:ext cx="3364992" cy="292608"/>
          </a:xfrm>
          <a:prstGeom prst="rect">
            <a:avLst/>
          </a:prstGeom>
          <a:noFill/>
          <a:ln/>
        </p:spPr>
        <p:txBody>
          <a:bodyPr wrap="square" lIns="0" tIns="0" rIns="0" bIns="0" rtlCol="0" anchor="ctr"/>
          <a:lstStyle/>
          <a:p>
            <a:pPr rtl="1" algn="r" indent="0" marL="0">
              <a:buNone/>
            </a:pPr>
            <a:r>
              <a:rPr lang="ar-SA" altLang="en-US" sz="1300" dirty="0">
                <a:solidFill>
                  <a:srgbClr val="8A6D1E"/>
                </a:solidFill>
                <a:latin typeface="Amiri" pitchFamily="34" charset="0"/>
                <a:ea typeface="Amiri" pitchFamily="34" charset="-122"/>
                <a:cs typeface="Amiri" pitchFamily="34" charset="-120"/>
              </a:rPr>
              <a:t>مَا زَالَ · ظَلَّ</a:t>
            </a:r>
            <a:endParaRPr lang="ar-SA" sz="130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7 / 35</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B3B6F"/>
                </a:solidFill>
                <a:latin typeface="Calibri" pitchFamily="34" charset="0"/>
                <a:ea typeface="Calibri" pitchFamily="34" charset="-122"/>
                <a:cs typeface="Calibri" pitchFamily="34" charset="-120"/>
              </a:rPr>
              <a:t>GRAMMAR · PART 1 · FROM PRESENT STATE TO PAST STATE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ea typeface="Cambria" pitchFamily="34" charset="-122"/>
                <a:cs typeface="Cambria" pitchFamily="34" charset="-120"/>
              </a:rPr>
              <a:t>Kāna changes the predicate: -un becomes -an</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350" b="1" dirty="0">
                <a:solidFill>
                  <a:srgbClr val="8A6D1E"/>
                </a:solidFill>
                <a:latin typeface="Amiri" pitchFamily="34" charset="0"/>
                <a:ea typeface="Amiri" pitchFamily="34" charset="-122"/>
                <a:cs typeface="Amiri" pitchFamily="34" charset="-120"/>
              </a:rPr>
              <a:t>كَانَ + اسْمُهَا الْمَرْفُوعُ + خَبَرُهَا الْمَنْصُوبُ</a:t>
            </a:r>
            <a:endParaRPr lang="ar-SA" sz="235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11312" y="1810512"/>
            <a:ext cx="3447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40050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Past with kāna</a:t>
            </a:r>
            <a:endParaRPr lang="en-US" sz="1100" dirty="0"/>
          </a:p>
        </p:txBody>
      </p:sp>
      <p:sp>
        <p:nvSpPr>
          <p:cNvPr id="18" name="Text 15"/>
          <p:cNvSpPr txBox="1"/>
          <p:nvPr/>
        </p:nvSpPr>
        <p:spPr>
          <a:xfrm>
            <a:off x="530352" y="1810512"/>
            <a:ext cx="33284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Present</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247888" y="2267712"/>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weather was cold.</a:t>
            </a:r>
            <a:endParaRPr lang="en-US" sz="1100" dirty="0"/>
          </a:p>
        </p:txBody>
      </p:sp>
      <p:sp>
        <p:nvSpPr>
          <p:cNvPr id="21" name="Text 18"/>
          <p:cNvSpPr txBox="1"/>
          <p:nvPr/>
        </p:nvSpPr>
        <p:spPr>
          <a:xfrm>
            <a:off x="4023360" y="2267712"/>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 الْجَوُّ بَارِدًا.</a:t>
            </a:r>
            <a:endParaRPr lang="ar-SA" sz="2400" dirty="0"/>
          </a:p>
        </p:txBody>
      </p:sp>
      <p:sp>
        <p:nvSpPr>
          <p:cNvPr id="22" name="Text 19"/>
          <p:cNvSpPr txBox="1"/>
          <p:nvPr/>
        </p:nvSpPr>
        <p:spPr>
          <a:xfrm>
            <a:off x="548640" y="2267712"/>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الْجَوُّ بَارِدٌ.</a:t>
            </a:r>
            <a:endParaRPr lang="ar-SA" sz="24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247888" y="300471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Aḥmad was a student.</a:t>
            </a:r>
            <a:endParaRPr lang="en-US" sz="1100" dirty="0"/>
          </a:p>
        </p:txBody>
      </p:sp>
      <p:sp>
        <p:nvSpPr>
          <p:cNvPr id="27" name="Text 24"/>
          <p:cNvSpPr txBox="1"/>
          <p:nvPr/>
        </p:nvSpPr>
        <p:spPr>
          <a:xfrm>
            <a:off x="4023360" y="300471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 أَحْمَدُ طَالِبًا.</a:t>
            </a:r>
            <a:endParaRPr lang="ar-SA" sz="2400" dirty="0"/>
          </a:p>
        </p:txBody>
      </p:sp>
      <p:sp>
        <p:nvSpPr>
          <p:cNvPr id="28" name="Text 25"/>
          <p:cNvSpPr txBox="1"/>
          <p:nvPr/>
        </p:nvSpPr>
        <p:spPr>
          <a:xfrm>
            <a:off x="548640" y="300471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أَحْمَدُ طَالِبٌ.</a:t>
            </a:r>
            <a:endParaRPr lang="ar-SA" sz="24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247888" y="3741725"/>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Maryam was at home.</a:t>
            </a:r>
            <a:endParaRPr lang="en-US" sz="1100" dirty="0"/>
          </a:p>
        </p:txBody>
      </p:sp>
      <p:sp>
        <p:nvSpPr>
          <p:cNvPr id="33" name="Text 30"/>
          <p:cNvSpPr txBox="1"/>
          <p:nvPr/>
        </p:nvSpPr>
        <p:spPr>
          <a:xfrm>
            <a:off x="4023360" y="3741725"/>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كَانَتْ مَرْيَمُ فِي الْبَيْتِ.</a:t>
            </a:r>
            <a:endParaRPr lang="ar-SA" sz="2400" dirty="0"/>
          </a:p>
        </p:txBody>
      </p:sp>
      <p:sp>
        <p:nvSpPr>
          <p:cNvPr id="34" name="Text 31"/>
          <p:cNvSpPr txBox="1"/>
          <p:nvPr/>
        </p:nvSpPr>
        <p:spPr>
          <a:xfrm>
            <a:off x="548640" y="3741725"/>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مَرْيَمُ فِي الْبَيْتِ.</a:t>
            </a:r>
            <a:endParaRPr lang="ar-SA" sz="2400" dirty="0"/>
          </a:p>
        </p:txBody>
      </p:sp>
      <p:sp>
        <p:nvSpPr>
          <p:cNvPr id="35" name="Shape 32"/>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8" name="Text 35"/>
          <p:cNvSpPr txBox="1"/>
          <p:nvPr/>
        </p:nvSpPr>
        <p:spPr>
          <a:xfrm>
            <a:off x="8247888" y="4478731"/>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room was clean.</a:t>
            </a:r>
            <a:endParaRPr lang="en-US" sz="1100" dirty="0"/>
          </a:p>
        </p:txBody>
      </p:sp>
      <p:sp>
        <p:nvSpPr>
          <p:cNvPr id="39" name="Text 36"/>
          <p:cNvSpPr txBox="1"/>
          <p:nvPr/>
        </p:nvSpPr>
        <p:spPr>
          <a:xfrm>
            <a:off x="4023360" y="4478731"/>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كَانَتِ الْغُرْفَةُ نَظِيفَةً.</a:t>
            </a:r>
            <a:endParaRPr lang="ar-SA" sz="2400" dirty="0"/>
          </a:p>
        </p:txBody>
      </p:sp>
      <p:sp>
        <p:nvSpPr>
          <p:cNvPr id="40" name="Text 37"/>
          <p:cNvSpPr txBox="1"/>
          <p:nvPr/>
        </p:nvSpPr>
        <p:spPr>
          <a:xfrm>
            <a:off x="548640" y="4478731"/>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الْغُرْفَةُ نَظِيفَةٌ.</a:t>
            </a:r>
            <a:endParaRPr lang="ar-SA" sz="2400" dirty="0"/>
          </a:p>
        </p:txBody>
      </p:sp>
      <p:sp>
        <p:nvSpPr>
          <p:cNvPr id="41" name="Shape 3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2" name="Text 39"/>
          <p:cNvSpPr txBox="1"/>
          <p:nvPr/>
        </p:nvSpPr>
        <p:spPr>
          <a:xfrm>
            <a:off x="8247888" y="5215738"/>
            <a:ext cx="341071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students were ready.</a:t>
            </a:r>
            <a:endParaRPr lang="en-US" sz="1100" dirty="0"/>
          </a:p>
        </p:txBody>
      </p:sp>
      <p:sp>
        <p:nvSpPr>
          <p:cNvPr id="43" name="Text 40"/>
          <p:cNvSpPr txBox="1"/>
          <p:nvPr/>
        </p:nvSpPr>
        <p:spPr>
          <a:xfrm>
            <a:off x="4023360" y="5215738"/>
            <a:ext cx="402336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 الطُّلَّابُ مُسْتَعِدِّينَ.</a:t>
            </a:r>
            <a:endParaRPr lang="ar-SA" sz="2400" dirty="0"/>
          </a:p>
        </p:txBody>
      </p:sp>
      <p:sp>
        <p:nvSpPr>
          <p:cNvPr id="44" name="Text 41"/>
          <p:cNvSpPr txBox="1"/>
          <p:nvPr/>
        </p:nvSpPr>
        <p:spPr>
          <a:xfrm>
            <a:off x="548640" y="5215738"/>
            <a:ext cx="3291840" cy="682142"/>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الطُّلَّابُ مُسْتَعِدُّونَ.</a:t>
            </a:r>
            <a:endParaRPr lang="ar-SA" sz="2400" dirty="0"/>
          </a:p>
        </p:txBody>
      </p:sp>
      <p:sp>
        <p:nvSpPr>
          <p:cNvPr id="45" name="Text 42"/>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case-aware pattern: the noun stays -u; a one-word predicate becomes -an (or -īna for -ūna plurals). A place phrase keeps its own case: kānat Maryamu fī l-bayti — no change.</a:t>
            </a:r>
            <a:endParaRPr lang="en-US" sz="1100" dirty="0"/>
          </a:p>
        </p:txBody>
      </p:sp>
      <p:sp>
        <p:nvSpPr>
          <p:cNvPr id="46" name="Text 4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8 / 35</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GRAMMAR · PART 2 · CONJUGATING KĀNA (WEBSITE TABLE)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Kāna changes with the person</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تَصْرِيفُ 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3090672" y="1810512"/>
            <a:ext cx="277977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Form</a:t>
            </a:r>
            <a:endParaRPr lang="en-US" sz="1100" dirty="0"/>
          </a:p>
        </p:txBody>
      </p:sp>
      <p:sp>
        <p:nvSpPr>
          <p:cNvPr id="18" name="Text 15"/>
          <p:cNvSpPr txBox="1"/>
          <p:nvPr/>
        </p:nvSpPr>
        <p:spPr>
          <a:xfrm>
            <a:off x="530352" y="1810512"/>
            <a:ext cx="24140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Person</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6035040" y="226771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كُنْتُ مُتْعَبَةً.</a:t>
            </a:r>
            <a:endParaRPr lang="ar-SA" sz="2400" dirty="0"/>
          </a:p>
        </p:txBody>
      </p:sp>
      <p:sp>
        <p:nvSpPr>
          <p:cNvPr id="21" name="Text 18"/>
          <p:cNvSpPr txBox="1"/>
          <p:nvPr/>
        </p:nvSpPr>
        <p:spPr>
          <a:xfrm>
            <a:off x="3108960" y="226771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كُنْتُ</a:t>
            </a:r>
            <a:endParaRPr lang="ar-SA" sz="2600" dirty="0"/>
          </a:p>
        </p:txBody>
      </p:sp>
      <p:sp>
        <p:nvSpPr>
          <p:cNvPr id="22" name="Text 19"/>
          <p:cNvSpPr txBox="1"/>
          <p:nvPr/>
        </p:nvSpPr>
        <p:spPr>
          <a:xfrm>
            <a:off x="566928" y="226771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6035040" y="2881884"/>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كُنْتِ فِي الْمَدْرَسَةِ.</a:t>
            </a:r>
            <a:endParaRPr lang="ar-SA" sz="2400" dirty="0"/>
          </a:p>
        </p:txBody>
      </p:sp>
      <p:sp>
        <p:nvSpPr>
          <p:cNvPr id="27" name="Text 24"/>
          <p:cNvSpPr txBox="1"/>
          <p:nvPr/>
        </p:nvSpPr>
        <p:spPr>
          <a:xfrm>
            <a:off x="3108960" y="2881884"/>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كُنْتَ · كُنْتِ</a:t>
            </a:r>
            <a:endParaRPr lang="ar-SA" sz="2600" dirty="0"/>
          </a:p>
        </p:txBody>
      </p:sp>
      <p:sp>
        <p:nvSpPr>
          <p:cNvPr id="28" name="Text 25"/>
          <p:cNvSpPr txBox="1"/>
          <p:nvPr/>
        </p:nvSpPr>
        <p:spPr>
          <a:xfrm>
            <a:off x="566928" y="2881884"/>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you (m. · f.)</a:t>
            </a:r>
            <a:endParaRPr lang="en-US" sz="1100" dirty="0"/>
          </a:p>
        </p:txBody>
      </p:sp>
      <p:sp>
        <p:nvSpPr>
          <p:cNvPr id="29" name="Shape 26"/>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0" name="Text 27"/>
          <p:cNvSpPr txBox="1"/>
          <p:nvPr/>
        </p:nvSpPr>
        <p:spPr>
          <a:xfrm>
            <a:off x="6035040" y="3496056"/>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 مُسْتَعِدًّا.</a:t>
            </a:r>
            <a:endParaRPr lang="ar-SA" sz="2400" dirty="0"/>
          </a:p>
        </p:txBody>
      </p:sp>
      <p:sp>
        <p:nvSpPr>
          <p:cNvPr id="31" name="Text 28"/>
          <p:cNvSpPr txBox="1"/>
          <p:nvPr/>
        </p:nvSpPr>
        <p:spPr>
          <a:xfrm>
            <a:off x="3108960" y="3496056"/>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كَانَ</a:t>
            </a:r>
            <a:endParaRPr lang="ar-SA" sz="2600" dirty="0"/>
          </a:p>
        </p:txBody>
      </p:sp>
      <p:sp>
        <p:nvSpPr>
          <p:cNvPr id="32" name="Text 29"/>
          <p:cNvSpPr txBox="1"/>
          <p:nvPr/>
        </p:nvSpPr>
        <p:spPr>
          <a:xfrm>
            <a:off x="566928" y="3496056"/>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he / it (m.)</a:t>
            </a:r>
            <a:endParaRPr lang="en-US" sz="1100" dirty="0"/>
          </a:p>
        </p:txBody>
      </p:sp>
      <p:sp>
        <p:nvSpPr>
          <p:cNvPr id="33" name="Shape 30"/>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4" name="Text 31"/>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5" name="Shape 32"/>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6" name="Text 33"/>
          <p:cNvSpPr txBox="1"/>
          <p:nvPr/>
        </p:nvSpPr>
        <p:spPr>
          <a:xfrm>
            <a:off x="6035040" y="4110228"/>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كَانَتْ مُسْتَعِدَّةً.</a:t>
            </a:r>
            <a:endParaRPr lang="ar-SA" sz="2400" dirty="0"/>
          </a:p>
        </p:txBody>
      </p:sp>
      <p:sp>
        <p:nvSpPr>
          <p:cNvPr id="37" name="Text 34"/>
          <p:cNvSpPr txBox="1"/>
          <p:nvPr/>
        </p:nvSpPr>
        <p:spPr>
          <a:xfrm>
            <a:off x="3108960" y="4110228"/>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كَانَتْ</a:t>
            </a:r>
            <a:endParaRPr lang="ar-SA" sz="2600" dirty="0"/>
          </a:p>
        </p:txBody>
      </p:sp>
      <p:sp>
        <p:nvSpPr>
          <p:cNvPr id="38" name="Text 35"/>
          <p:cNvSpPr txBox="1"/>
          <p:nvPr/>
        </p:nvSpPr>
        <p:spPr>
          <a:xfrm>
            <a:off x="566928" y="4110228"/>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 it (f.)</a:t>
            </a:r>
            <a:endParaRPr lang="en-US" sz="1100" dirty="0"/>
          </a:p>
        </p:txBody>
      </p:sp>
      <p:sp>
        <p:nvSpPr>
          <p:cNvPr id="39" name="Shape 36"/>
          <p:cNvSpPr/>
          <p:nvPr/>
        </p:nvSpPr>
        <p:spPr>
          <a:xfrm>
            <a:off x="11091672" y="4155948"/>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415594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6035040" y="4724400"/>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كُنَّا فِي الْمَكْتَبَةِ.</a:t>
            </a:r>
            <a:endParaRPr lang="ar-SA" sz="2400" dirty="0"/>
          </a:p>
        </p:txBody>
      </p:sp>
      <p:sp>
        <p:nvSpPr>
          <p:cNvPr id="43" name="Text 40"/>
          <p:cNvSpPr txBox="1"/>
          <p:nvPr/>
        </p:nvSpPr>
        <p:spPr>
          <a:xfrm>
            <a:off x="3108960" y="4724400"/>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كُنَّا</a:t>
            </a:r>
            <a:endParaRPr lang="ar-SA" sz="2600" dirty="0"/>
          </a:p>
        </p:txBody>
      </p:sp>
      <p:sp>
        <p:nvSpPr>
          <p:cNvPr id="44" name="Text 41"/>
          <p:cNvSpPr txBox="1"/>
          <p:nvPr/>
        </p:nvSpPr>
        <p:spPr>
          <a:xfrm>
            <a:off x="566928" y="4724400"/>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a:t>
            </a:r>
            <a:endParaRPr lang="en-US" sz="11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6035040" y="5338572"/>
            <a:ext cx="5605272" cy="559308"/>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كَانُوا مُجْتَهِدِينَ.</a:t>
            </a:r>
            <a:endParaRPr lang="ar-SA" sz="2400" dirty="0"/>
          </a:p>
        </p:txBody>
      </p:sp>
      <p:sp>
        <p:nvSpPr>
          <p:cNvPr id="47" name="Text 44"/>
          <p:cNvSpPr txBox="1"/>
          <p:nvPr/>
        </p:nvSpPr>
        <p:spPr>
          <a:xfrm>
            <a:off x="3108960" y="5338572"/>
            <a:ext cx="2743200" cy="559308"/>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كَانُوا · كُنَّ</a:t>
            </a:r>
            <a:endParaRPr lang="ar-SA" sz="2600" dirty="0"/>
          </a:p>
        </p:txBody>
      </p:sp>
      <p:sp>
        <p:nvSpPr>
          <p:cNvPr id="48" name="Text 45"/>
          <p:cNvSpPr txBox="1"/>
          <p:nvPr/>
        </p:nvSpPr>
        <p:spPr>
          <a:xfrm>
            <a:off x="566928" y="5338572"/>
            <a:ext cx="237744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(m. · f.)</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word-order link: kāna ṭ-ṭullābu mustaʿiddīna (verb first → singular) and aṭ-ṭullābu kānū mustaʿiddīna (subject first → full agreement) — exactly like GM-VS-02/03.</a:t>
            </a:r>
            <a:endParaRPr lang="en-US" sz="110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9 / 35</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07" b="1" spc="150" kern="0" dirty="0">
                <a:solidFill>
                  <a:srgbClr val="1B3B6F"/>
                </a:solidFill>
                <a:latin typeface="Calibri" pitchFamily="34" charset="0"/>
                <a:ea typeface="Calibri" pitchFamily="34" charset="-122"/>
                <a:cs typeface="Calibri" pitchFamily="34" charset="-120"/>
              </a:rPr>
              <a:t>GRAMMAR · PART 3 · KĀNA + PRESENT = “USED TO” / “WAS …ING” (WEBSITE TABLE) · DEVELOP</a:t>
            </a:r>
            <a:endParaRPr lang="en-US" sz="807"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650" b="1" dirty="0">
                <a:solidFill>
                  <a:srgbClr val="1B3B6F"/>
                </a:solidFill>
                <a:latin typeface="Cambria" pitchFamily="34" charset="0"/>
                <a:ea typeface="Cambria" pitchFamily="34" charset="-122"/>
                <a:cs typeface="Cambria" pitchFamily="34" charset="-120"/>
              </a:rPr>
              <a:t>Past habits and background actions</a:t>
            </a:r>
            <a:endParaRPr lang="en-US" sz="26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كَانَ + الْمُضَارِعُ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394192" y="1810512"/>
            <a:ext cx="326440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7" name="Text 14"/>
          <p:cNvSpPr txBox="1"/>
          <p:nvPr/>
        </p:nvSpPr>
        <p:spPr>
          <a:xfrm>
            <a:off x="2907792" y="1810512"/>
            <a:ext cx="5340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Model</a:t>
            </a:r>
            <a:endParaRPr lang="en-US" sz="1100" dirty="0"/>
          </a:p>
        </p:txBody>
      </p:sp>
      <p:sp>
        <p:nvSpPr>
          <p:cNvPr id="18" name="Text 15"/>
          <p:cNvSpPr txBox="1"/>
          <p:nvPr/>
        </p:nvSpPr>
        <p:spPr>
          <a:xfrm>
            <a:off x="53035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Frame</a:t>
            </a:r>
            <a:endParaRPr lang="en-US" sz="1100" dirty="0"/>
          </a:p>
        </p:txBody>
      </p:sp>
      <p:sp>
        <p:nvSpPr>
          <p:cNvPr id="19" name="Shape 16"/>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0" name="Text 17"/>
          <p:cNvSpPr txBox="1"/>
          <p:nvPr/>
        </p:nvSpPr>
        <p:spPr>
          <a:xfrm>
            <a:off x="8430768" y="2267712"/>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 used to read every day.</a:t>
            </a:r>
            <a:endParaRPr lang="en-US" sz="1100" dirty="0"/>
          </a:p>
        </p:txBody>
      </p:sp>
      <p:sp>
        <p:nvSpPr>
          <p:cNvPr id="21" name="Text 18"/>
          <p:cNvSpPr txBox="1"/>
          <p:nvPr/>
        </p:nvSpPr>
        <p:spPr>
          <a:xfrm>
            <a:off x="2926080" y="2267712"/>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كُنْتُ أَقْرَأُ كُلَّ يَوْمٍ.</a:t>
            </a:r>
            <a:endParaRPr lang="ar-SA" sz="2200" dirty="0"/>
          </a:p>
        </p:txBody>
      </p:sp>
      <p:sp>
        <p:nvSpPr>
          <p:cNvPr id="22" name="Text 19"/>
          <p:cNvSpPr txBox="1"/>
          <p:nvPr/>
        </p:nvSpPr>
        <p:spPr>
          <a:xfrm>
            <a:off x="56692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habit</a:t>
            </a:r>
            <a:endParaRPr lang="en-US" sz="11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6" name="Text 23"/>
          <p:cNvSpPr txBox="1"/>
          <p:nvPr/>
        </p:nvSpPr>
        <p:spPr>
          <a:xfrm>
            <a:off x="8430768" y="300471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We used to play after school.</a:t>
            </a:r>
            <a:endParaRPr lang="en-US" sz="1100" dirty="0"/>
          </a:p>
        </p:txBody>
      </p:sp>
      <p:sp>
        <p:nvSpPr>
          <p:cNvPr id="27" name="Text 24"/>
          <p:cNvSpPr txBox="1"/>
          <p:nvPr/>
        </p:nvSpPr>
        <p:spPr>
          <a:xfrm>
            <a:off x="2926080" y="3004718"/>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كُنَّا نَلْعَبُ بَعْدَ الْمَدْرَسَةِ.</a:t>
            </a:r>
            <a:endParaRPr lang="ar-SA" sz="2200" dirty="0"/>
          </a:p>
        </p:txBody>
      </p:sp>
      <p:sp>
        <p:nvSpPr>
          <p:cNvPr id="28" name="Text 25"/>
          <p:cNvSpPr txBox="1"/>
          <p:nvPr/>
        </p:nvSpPr>
        <p:spPr>
          <a:xfrm>
            <a:off x="56692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habit (we)</a:t>
            </a:r>
            <a:endParaRPr lang="en-US" sz="1100" dirty="0"/>
          </a:p>
        </p:txBody>
      </p:sp>
      <p:sp>
        <p:nvSpPr>
          <p:cNvPr id="29" name="Shape 26"/>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2" name="Text 29"/>
          <p:cNvSpPr txBox="1"/>
          <p:nvPr/>
        </p:nvSpPr>
        <p:spPr>
          <a:xfrm>
            <a:off x="8430768" y="3741725"/>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She was studying when I called.</a:t>
            </a:r>
            <a:endParaRPr lang="en-US" sz="1100" dirty="0"/>
          </a:p>
        </p:txBody>
      </p:sp>
      <p:sp>
        <p:nvSpPr>
          <p:cNvPr id="33" name="Text 30"/>
          <p:cNvSpPr txBox="1"/>
          <p:nvPr/>
        </p:nvSpPr>
        <p:spPr>
          <a:xfrm>
            <a:off x="2926080" y="3741725"/>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كَانَتْ تَدْرُسُ عِنْدَمَا اتَّصَلْتُ.</a:t>
            </a:r>
            <a:endParaRPr lang="ar-SA" sz="2200" dirty="0"/>
          </a:p>
        </p:txBody>
      </p:sp>
      <p:sp>
        <p:nvSpPr>
          <p:cNvPr id="34" name="Text 31"/>
          <p:cNvSpPr txBox="1"/>
          <p:nvPr/>
        </p:nvSpPr>
        <p:spPr>
          <a:xfrm>
            <a:off x="56692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past ongoing</a:t>
            </a:r>
            <a:endParaRPr lang="en-US" sz="1100" dirty="0"/>
          </a:p>
        </p:txBody>
      </p:sp>
      <p:sp>
        <p:nvSpPr>
          <p:cNvPr id="35" name="Shape 3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36" name="Text 33"/>
          <p:cNvSpPr txBox="1"/>
          <p:nvPr/>
        </p:nvSpPr>
        <p:spPr>
          <a:xfrm>
            <a:off x="8430768" y="4478731"/>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 weather was beautiful and the children were playing.</a:t>
            </a:r>
            <a:endParaRPr lang="en-US" sz="1100" dirty="0"/>
          </a:p>
        </p:txBody>
      </p:sp>
      <p:sp>
        <p:nvSpPr>
          <p:cNvPr id="37" name="Text 34"/>
          <p:cNvSpPr txBox="1"/>
          <p:nvPr/>
        </p:nvSpPr>
        <p:spPr>
          <a:xfrm>
            <a:off x="2926080" y="4478731"/>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الْجَوُّ جَمِيلًا، وَكَانَ الْأَطْفَالُ يَلْعَبُونَ.</a:t>
            </a:r>
            <a:endParaRPr lang="ar-SA" sz="2200" dirty="0"/>
          </a:p>
        </p:txBody>
      </p:sp>
      <p:sp>
        <p:nvSpPr>
          <p:cNvPr id="38" name="Text 35"/>
          <p:cNvSpPr txBox="1"/>
          <p:nvPr/>
        </p:nvSpPr>
        <p:spPr>
          <a:xfrm>
            <a:off x="56692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background scene</a:t>
            </a:r>
            <a:endParaRPr lang="en-US" sz="1100" dirty="0"/>
          </a:p>
        </p:txBody>
      </p:sp>
      <p:sp>
        <p:nvSpPr>
          <p:cNvPr id="39" name="Shape 36"/>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0" name="Text 37"/>
          <p:cNvSpPr txBox="1"/>
          <p:nvPr/>
        </p:nvSpPr>
        <p:spPr>
          <a:xfrm>
            <a:off x="8430768" y="5215738"/>
            <a:ext cx="3227832"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They used to visit their grandmother every Friday.</a:t>
            </a:r>
            <a:endParaRPr lang="en-US" sz="1100" dirty="0"/>
          </a:p>
        </p:txBody>
      </p:sp>
      <p:sp>
        <p:nvSpPr>
          <p:cNvPr id="41" name="Text 38"/>
          <p:cNvSpPr txBox="1"/>
          <p:nvPr/>
        </p:nvSpPr>
        <p:spPr>
          <a:xfrm>
            <a:off x="2926080" y="5215738"/>
            <a:ext cx="5303520" cy="682142"/>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كَانُوا يَزُورُونَ جَدَّتَهُمْ كُلَّ جُمُعَةٍ.</a:t>
            </a:r>
            <a:endParaRPr lang="ar-SA" sz="2200" dirty="0"/>
          </a:p>
        </p:txBody>
      </p:sp>
      <p:sp>
        <p:nvSpPr>
          <p:cNvPr id="42" name="Text 39"/>
          <p:cNvSpPr txBox="1"/>
          <p:nvPr/>
        </p:nvSpPr>
        <p:spPr>
          <a:xfrm>
            <a:off x="56692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family habit</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Website warning: do not double the past. Kuntu darastu kulla yawm does not mean “I used to study”. Use kuntu adrusu — kāna + present.</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10 / 35</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60" b="1" spc="150" kern="0" dirty="0">
                <a:solidFill>
                  <a:srgbClr val="1B3B6F"/>
                </a:solidFill>
                <a:latin typeface="Calibri" pitchFamily="34" charset="0"/>
                <a:ea typeface="Calibri" pitchFamily="34" charset="-122"/>
                <a:cs typeface="Calibri" pitchFamily="34" charset="-120"/>
              </a:rPr>
              <a:t>GRAMMAR · PART 4 · SISTERS FOR CHANGE AND CONTINUATION (WEBSITE TABLE) · STRETCH</a:t>
            </a:r>
            <a:endParaRPr lang="en-US" sz="86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Became, remained, still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أَخَوَاتُ كَانَ</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6016752" y="1810512"/>
            <a:ext cx="56418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Website model</a:t>
            </a:r>
            <a:endParaRPr lang="en-US" sz="1100" dirty="0"/>
          </a:p>
        </p:txBody>
      </p:sp>
      <p:sp>
        <p:nvSpPr>
          <p:cNvPr id="17" name="Text 14"/>
          <p:cNvSpPr txBox="1"/>
          <p:nvPr/>
        </p:nvSpPr>
        <p:spPr>
          <a:xfrm>
            <a:off x="272491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Meaning</a:t>
            </a:r>
            <a:endParaRPr lang="en-US" sz="1100" dirty="0"/>
          </a:p>
        </p:txBody>
      </p:sp>
      <p:sp>
        <p:nvSpPr>
          <p:cNvPr id="18" name="Text 15"/>
          <p:cNvSpPr txBox="1"/>
          <p:nvPr/>
        </p:nvSpPr>
        <p:spPr>
          <a:xfrm>
            <a:off x="530352" y="1810512"/>
            <a:ext cx="20482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Verb</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6035040" y="2267712"/>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أَصْبَحَ الْجَوُّ دَافِئًا.</a:t>
            </a:r>
            <a:endParaRPr lang="ar-SA" sz="2400" dirty="0"/>
          </a:p>
        </p:txBody>
      </p:sp>
      <p:sp>
        <p:nvSpPr>
          <p:cNvPr id="21" name="Text 18"/>
          <p:cNvSpPr txBox="1"/>
          <p:nvPr/>
        </p:nvSpPr>
        <p:spPr>
          <a:xfrm>
            <a:off x="276148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became (often: by morning)</a:t>
            </a:r>
            <a:endParaRPr lang="en-US" sz="1100" dirty="0"/>
          </a:p>
        </p:txBody>
      </p:sp>
      <p:sp>
        <p:nvSpPr>
          <p:cNvPr id="22" name="Text 19"/>
          <p:cNvSpPr txBox="1"/>
          <p:nvPr/>
        </p:nvSpPr>
        <p:spPr>
          <a:xfrm>
            <a:off x="548640" y="2267712"/>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أَصْبَحَ</a:t>
            </a:r>
            <a:endParaRPr lang="ar-SA" sz="2600" dirty="0"/>
          </a:p>
        </p:txBody>
      </p:sp>
      <p:sp>
        <p:nvSpPr>
          <p:cNvPr id="23" name="Shape 20"/>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4" name="Text 21"/>
          <p:cNvSpPr txBox="1"/>
          <p:nvPr/>
        </p:nvSpPr>
        <p:spPr>
          <a:xfrm>
            <a:off x="6035040" y="3054096"/>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صَارَ الطَّرِيقُ مُزْدَحِمًا.</a:t>
            </a:r>
            <a:endParaRPr lang="ar-SA" sz="2400" dirty="0"/>
          </a:p>
        </p:txBody>
      </p:sp>
      <p:sp>
        <p:nvSpPr>
          <p:cNvPr id="25" name="Text 22"/>
          <p:cNvSpPr txBox="1"/>
          <p:nvPr/>
        </p:nvSpPr>
        <p:spPr>
          <a:xfrm>
            <a:off x="276148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became / turned into</a:t>
            </a:r>
            <a:endParaRPr lang="en-US" sz="1100" dirty="0"/>
          </a:p>
        </p:txBody>
      </p:sp>
      <p:sp>
        <p:nvSpPr>
          <p:cNvPr id="26" name="Text 23"/>
          <p:cNvSpPr txBox="1"/>
          <p:nvPr/>
        </p:nvSpPr>
        <p:spPr>
          <a:xfrm>
            <a:off x="548640" y="3054096"/>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صَارَ</a:t>
            </a:r>
            <a:endParaRPr lang="ar-SA" sz="2600" dirty="0"/>
          </a:p>
        </p:txBody>
      </p:sp>
      <p:sp>
        <p:nvSpPr>
          <p:cNvPr id="27" name="Shape 24"/>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6035040" y="3840480"/>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ظَلَّ الْبَابُ مَفْتُوحًا.</a:t>
            </a:r>
            <a:endParaRPr lang="ar-SA" sz="2400" dirty="0"/>
          </a:p>
        </p:txBody>
      </p:sp>
      <p:sp>
        <p:nvSpPr>
          <p:cNvPr id="31" name="Text 28"/>
          <p:cNvSpPr txBox="1"/>
          <p:nvPr/>
        </p:nvSpPr>
        <p:spPr>
          <a:xfrm>
            <a:off x="276148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remained / kept on</a:t>
            </a:r>
            <a:endParaRPr lang="en-US" sz="1100" dirty="0"/>
          </a:p>
        </p:txBody>
      </p:sp>
      <p:sp>
        <p:nvSpPr>
          <p:cNvPr id="32" name="Text 29"/>
          <p:cNvSpPr txBox="1"/>
          <p:nvPr/>
        </p:nvSpPr>
        <p:spPr>
          <a:xfrm>
            <a:off x="548640" y="3840480"/>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ظَلَّ</a:t>
            </a:r>
            <a:endParaRPr lang="ar-SA" sz="2600" dirty="0"/>
          </a:p>
        </p:txBody>
      </p:sp>
      <p:sp>
        <p:nvSpPr>
          <p:cNvPr id="33" name="Shape 30"/>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4" name="Text 31"/>
          <p:cNvSpPr txBox="1"/>
          <p:nvPr/>
        </p:nvSpPr>
        <p:spPr>
          <a:xfrm>
            <a:off x="6035040" y="4626864"/>
            <a:ext cx="5605272" cy="731520"/>
          </a:xfrm>
          <a:prstGeom prst="rect">
            <a:avLst/>
          </a:prstGeom>
          <a:noFill/>
          <a:ln/>
        </p:spPr>
        <p:txBody>
          <a:bodyPr wrap="square" lIns="0" tIns="0" rIns="0" bIns="0" rtlCol="0" anchor="ctr"/>
          <a:lstStyle/>
          <a:p>
            <a:pPr rtl="1" algn="ctr" indent="0" marL="0">
              <a:buNone/>
            </a:pPr>
            <a:r>
              <a:rPr lang="ar-SA" altLang="en-US" sz="2400" b="1" dirty="0">
                <a:solidFill>
                  <a:srgbClr val="1B3B6F"/>
                </a:solidFill>
                <a:latin typeface="Amiri" pitchFamily="34" charset="0"/>
                <a:ea typeface="Amiri" pitchFamily="34" charset="-122"/>
                <a:cs typeface="Amiri" pitchFamily="34" charset="-120"/>
              </a:rPr>
              <a:t>مَا زَالَتِ الْمَدْرَسَةُ مَفْتُوحَةً.</a:t>
            </a:r>
            <a:endParaRPr lang="ar-SA" sz="2400" dirty="0"/>
          </a:p>
        </p:txBody>
      </p:sp>
      <p:sp>
        <p:nvSpPr>
          <p:cNvPr id="35" name="Text 32"/>
          <p:cNvSpPr txBox="1"/>
          <p:nvPr/>
        </p:nvSpPr>
        <p:spPr>
          <a:xfrm>
            <a:off x="276148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is still</a:t>
            </a:r>
            <a:endParaRPr lang="en-US" sz="1100" dirty="0"/>
          </a:p>
        </p:txBody>
      </p:sp>
      <p:sp>
        <p:nvSpPr>
          <p:cNvPr id="36" name="Text 33"/>
          <p:cNvSpPr txBox="1"/>
          <p:nvPr/>
        </p:nvSpPr>
        <p:spPr>
          <a:xfrm>
            <a:off x="548640" y="4626864"/>
            <a:ext cx="2011680" cy="731520"/>
          </a:xfrm>
          <a:prstGeom prst="rect">
            <a:avLst/>
          </a:prstGeom>
          <a:noFill/>
          <a:ln/>
        </p:spPr>
        <p:txBody>
          <a:bodyPr wrap="square" lIns="0" tIns="0" rIns="0" bIns="0" rtlCol="0" anchor="ctr"/>
          <a:lstStyle/>
          <a:p>
            <a:pPr rtl="1" algn="ctr" indent="0" marL="0">
              <a:buNone/>
            </a:pPr>
            <a:r>
              <a:rPr lang="ar-SA" altLang="en-US" sz="2600" b="1" dirty="0">
                <a:solidFill>
                  <a:srgbClr val="1B3B6F"/>
                </a:solidFill>
                <a:latin typeface="Amiri" pitchFamily="34" charset="0"/>
                <a:ea typeface="Amiri" pitchFamily="34" charset="-122"/>
                <a:cs typeface="Amiri" pitchFamily="34" charset="-120"/>
              </a:rPr>
              <a:t>مَا زَالَ</a:t>
            </a:r>
            <a:endParaRPr lang="ar-SA" sz="2600" dirty="0"/>
          </a:p>
        </p:txBody>
      </p:sp>
      <p:sp>
        <p:nvSpPr>
          <p:cNvPr id="37" name="Shape 34"/>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38" name="Text 35"/>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ea typeface="Calibri" pitchFamily="34" charset="-122"/>
                <a:cs typeface="Calibri" pitchFamily="34" charset="-120"/>
              </a:rPr>
              <a:t>Website: choose the sister for its meaning — past state, change or continuation — not to look advanced. Mā zāla needs its mā: zālat alone means the opposite (“ceased”).</a:t>
            </a:r>
            <a:endParaRPr lang="en-US" sz="11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11 / 35</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HINGE QUESTIONS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Quick check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فَحْصٌ سَرِيعٌ</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were ready.”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كَانُوا مُسْتَعِدُونَ.</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كُنَّا مُسْتَعِدُونَ.</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كُنَّا مُسْتَعِدِّينَ.</a:t>
            </a:r>
            <a:endParaRPr lang="ar-SA" sz="2050" dirty="0"/>
          </a:p>
        </p:txBody>
      </p:sp>
      <p:sp>
        <p:nvSpPr>
          <p:cNvPr id="28" name="Shape 25"/>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6313932"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teachers (f.) were in the hall.”</a:t>
            </a:r>
            <a:endParaRPr lang="en-US" sz="1250" dirty="0"/>
          </a:p>
        </p:txBody>
      </p:sp>
      <p:sp>
        <p:nvSpPr>
          <p:cNvPr id="32" name="Shape 29"/>
          <p:cNvSpPr/>
          <p:nvPr/>
        </p:nvSpPr>
        <p:spPr>
          <a:xfrm>
            <a:off x="6368796"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الْمُعَلِّمَاتُ فِي الْقَاعَةِ.</a:t>
            </a:r>
            <a:endParaRPr lang="ar-SA" sz="2050" dirty="0"/>
          </a:p>
        </p:txBody>
      </p:sp>
      <p:sp>
        <p:nvSpPr>
          <p:cNvPr id="35" name="Shape 32"/>
          <p:cNvSpPr/>
          <p:nvPr/>
        </p:nvSpPr>
        <p:spPr>
          <a:xfrm>
            <a:off x="6368796"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كَانُوا الْمُعَلِّمَاتُ فِي الْقَاعَةِ.</a:t>
            </a:r>
            <a:endParaRPr lang="ar-SA" sz="2050" dirty="0"/>
          </a:p>
        </p:txBody>
      </p:sp>
      <p:sp>
        <p:nvSpPr>
          <p:cNvPr id="38" name="Shape 35"/>
          <p:cNvSpPr/>
          <p:nvPr/>
        </p:nvSpPr>
        <p:spPr>
          <a:xfrm>
            <a:off x="6368796"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كَانَتِ الْمُعَلِّمَاتَ فِي الْقَاعَةُ.</a:t>
            </a:r>
            <a:endParaRPr lang="ar-SA" sz="2050" dirty="0"/>
          </a:p>
        </p:txBody>
      </p:sp>
      <p:sp>
        <p:nvSpPr>
          <p:cNvPr id="41" name="Shape 38"/>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585216" y="4288536"/>
            <a:ext cx="310896" cy="310896"/>
          </a:xfrm>
          <a:prstGeom prst="ellipse">
            <a:avLst/>
          </a:prstGeom>
          <a:solidFill>
            <a:srgbClr val="1B3B6F"/>
          </a:solidFill>
          <a:ln w="12700">
            <a:solidFill>
              <a:srgbClr val="1B3B6F"/>
            </a:solidFill>
            <a:prstDash val="solid"/>
          </a:ln>
        </p:spPr>
      </p:sp>
      <p:sp>
        <p:nvSpPr>
          <p:cNvPr id="43" name="Text 40"/>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subject-first form.</a:t>
            </a:r>
            <a:endParaRPr lang="en-US" sz="1250" dirty="0"/>
          </a:p>
        </p:txBody>
      </p:sp>
      <p:sp>
        <p:nvSpPr>
          <p:cNvPr id="45" name="Shape 42"/>
          <p:cNvSpPr/>
          <p:nvPr/>
        </p:nvSpPr>
        <p:spPr>
          <a:xfrm>
            <a:off x="640080" y="4873752"/>
            <a:ext cx="256032" cy="256032"/>
          </a:xfrm>
          <a:prstGeom prst="ellipse">
            <a:avLst/>
          </a:prstGeom>
          <a:solidFill>
            <a:srgbClr val="F4F1EA"/>
          </a:solidFill>
          <a:ln w="12700">
            <a:solidFill>
              <a:srgbClr val="F4F1EA"/>
            </a:solidFill>
            <a:prstDash val="solid"/>
          </a:ln>
        </p:spPr>
      </p:sp>
      <p:sp>
        <p:nvSpPr>
          <p:cNvPr id="46" name="Text 43"/>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الْمُعَلِّمَاتُ كَانَتْ فِي الْقَاعَةِ.</a:t>
            </a:r>
            <a:endParaRPr lang="ar-SA" sz="2050" dirty="0"/>
          </a:p>
        </p:txBody>
      </p:sp>
      <p:sp>
        <p:nvSpPr>
          <p:cNvPr id="48" name="Shape 45"/>
          <p:cNvSpPr/>
          <p:nvPr/>
        </p:nvSpPr>
        <p:spPr>
          <a:xfrm>
            <a:off x="640080" y="5330952"/>
            <a:ext cx="256032" cy="256032"/>
          </a:xfrm>
          <a:prstGeom prst="ellipse">
            <a:avLst/>
          </a:prstGeom>
          <a:solidFill>
            <a:srgbClr val="F4F1EA"/>
          </a:solidFill>
          <a:ln w="12700">
            <a:solidFill>
              <a:srgbClr val="F4F1EA"/>
            </a:solidFill>
            <a:prstDash val="solid"/>
          </a:ln>
        </p:spPr>
      </p:sp>
      <p:sp>
        <p:nvSpPr>
          <p:cNvPr id="49" name="Text 46"/>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الْمُعَلِّمَاتُ كُنَّ فِي الْقَاعَةِ.</a:t>
            </a:r>
            <a:endParaRPr lang="ar-SA" sz="2050" dirty="0"/>
          </a:p>
        </p:txBody>
      </p:sp>
      <p:sp>
        <p:nvSpPr>
          <p:cNvPr id="51" name="Shape 48"/>
          <p:cNvSpPr/>
          <p:nvPr/>
        </p:nvSpPr>
        <p:spPr>
          <a:xfrm>
            <a:off x="640080" y="5788152"/>
            <a:ext cx="256032" cy="256032"/>
          </a:xfrm>
          <a:prstGeom prst="ellipse">
            <a:avLst/>
          </a:prstGeom>
          <a:solidFill>
            <a:srgbClr val="F4F1EA"/>
          </a:solidFill>
          <a:ln w="12700">
            <a:solidFill>
              <a:srgbClr val="F4F1EA"/>
            </a:solidFill>
            <a:prstDash val="solid"/>
          </a:ln>
        </p:spPr>
      </p:sp>
      <p:sp>
        <p:nvSpPr>
          <p:cNvPr id="52" name="Text 49"/>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الْمُعَلِّمَاتُ كَانُوا فِي الْقَاعَةِ.</a:t>
            </a:r>
            <a:endParaRPr lang="ar-SA" sz="2050" dirty="0"/>
          </a:p>
        </p:txBody>
      </p:sp>
      <p:sp>
        <p:nvSpPr>
          <p:cNvPr id="54" name="Shape 51"/>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6313932"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continued to be calm.”</a:t>
            </a:r>
            <a:endParaRPr lang="en-US" sz="1250" dirty="0"/>
          </a:p>
        </p:txBody>
      </p:sp>
      <p:sp>
        <p:nvSpPr>
          <p:cNvPr id="58" name="Shape 55"/>
          <p:cNvSpPr/>
          <p:nvPr/>
        </p:nvSpPr>
        <p:spPr>
          <a:xfrm>
            <a:off x="6368796"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ظَلَّ هَادِئًا.</a:t>
            </a:r>
            <a:endParaRPr lang="ar-SA" sz="2050" dirty="0"/>
          </a:p>
        </p:txBody>
      </p:sp>
      <p:sp>
        <p:nvSpPr>
          <p:cNvPr id="61" name="Shape 58"/>
          <p:cNvSpPr/>
          <p:nvPr/>
        </p:nvSpPr>
        <p:spPr>
          <a:xfrm>
            <a:off x="6368796"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ظَلَّ هَادِئٌ.</a:t>
            </a:r>
            <a:endParaRPr lang="ar-SA" sz="2050" dirty="0"/>
          </a:p>
        </p:txBody>
      </p:sp>
      <p:sp>
        <p:nvSpPr>
          <p:cNvPr id="64" name="Shape 61"/>
          <p:cNvSpPr/>
          <p:nvPr/>
        </p:nvSpPr>
        <p:spPr>
          <a:xfrm>
            <a:off x="6368796"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إِنَّهُ ظَلَّ هَادِئٌ.</a:t>
            </a:r>
            <a:endParaRPr lang="ar-SA" sz="2050" dirty="0"/>
          </a:p>
        </p:txBody>
      </p:sp>
      <p:sp>
        <p:nvSpPr>
          <p:cNvPr id="67" name="Text 6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12 / 35</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ea typeface="Calibri" pitchFamily="34" charset="-122"/>
                <a:cs typeface="Calibri" pitchFamily="34" charset="-120"/>
              </a:rPr>
              <a:t>CHECK FOR UNDERSTANDING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“We were ready.”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كَانُوا مُسْتَعِدُونَ.</a:t>
            </a:r>
            <a:endParaRPr lang="ar-SA" sz="1700" dirty="0"/>
          </a:p>
        </p:txBody>
      </p:sp>
      <p:sp>
        <p:nvSpPr>
          <p:cNvPr id="22" name="Shape 19"/>
          <p:cNvSpPr/>
          <p:nvPr/>
        </p:nvSpPr>
        <p:spPr>
          <a:xfrm>
            <a:off x="640080" y="2862072"/>
            <a:ext cx="256032" cy="256032"/>
          </a:xfrm>
          <a:prstGeom prst="ellipse">
            <a:avLst/>
          </a:prstGeom>
          <a:solidFill>
            <a:srgbClr val="C9CED6"/>
          </a:solidFill>
          <a:ln w="12700">
            <a:solidFill>
              <a:srgbClr val="C9CED6"/>
            </a:solidFill>
            <a:prstDash val="solid"/>
          </a:ln>
        </p:spPr>
      </p:sp>
      <p:sp>
        <p:nvSpPr>
          <p:cNvPr id="23" name="Text 20"/>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كُنَّا مُسْتَعِدُونَ.</a:t>
            </a:r>
            <a:endParaRPr lang="ar-SA" sz="1700" dirty="0"/>
          </a:p>
        </p:txBody>
      </p:sp>
      <p:sp>
        <p:nvSpPr>
          <p:cNvPr id="25" name="Shape 22"/>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6" name="Shape 23"/>
          <p:cNvSpPr/>
          <p:nvPr/>
        </p:nvSpPr>
        <p:spPr>
          <a:xfrm>
            <a:off x="640080" y="3233928"/>
            <a:ext cx="256032" cy="256032"/>
          </a:xfrm>
          <a:prstGeom prst="ellipse">
            <a:avLst/>
          </a:prstGeom>
          <a:solidFill>
            <a:srgbClr val="2E8B57"/>
          </a:solidFill>
          <a:ln w="12700">
            <a:solidFill>
              <a:srgbClr val="2E8B57"/>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كُنَّا مُسْتَعِدِّينَ.</a:t>
            </a:r>
            <a:endParaRPr lang="ar-SA" sz="1700" dirty="0"/>
          </a:p>
        </p:txBody>
      </p:sp>
      <p:sp>
        <p:nvSpPr>
          <p:cNvPr id="29" name="Text 26"/>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Kunnā + mustaʿiddīna (-īna).</a:t>
            </a:r>
            <a:endParaRPr lang="en-US" sz="1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teachers (f.) were in the hall.”</a:t>
            </a:r>
            <a:endParaRPr lang="en-US" sz="1250" dirty="0"/>
          </a:p>
        </p:txBody>
      </p:sp>
      <p:sp>
        <p:nvSpPr>
          <p:cNvPr id="34" name="Shape 31"/>
          <p:cNvSpPr/>
          <p:nvPr/>
        </p:nvSpPr>
        <p:spPr>
          <a:xfrm>
            <a:off x="6277356" y="2453640"/>
            <a:ext cx="5362956" cy="347472"/>
          </a:xfrm>
          <a:prstGeom prst="roundRect">
            <a:avLst>
              <a:gd name="adj" fmla="val 15789"/>
            </a:avLst>
          </a:prstGeom>
          <a:solidFill>
            <a:srgbClr val="E6F4EC"/>
          </a:solidFill>
          <a:ln w="9525">
            <a:solidFill>
              <a:srgbClr val="2E8B57"/>
            </a:solidFill>
            <a:prstDash val="solid"/>
          </a:ln>
        </p:spPr>
      </p:sp>
      <p:sp>
        <p:nvSpPr>
          <p:cNvPr id="35" name="Shape 32"/>
          <p:cNvSpPr/>
          <p:nvPr/>
        </p:nvSpPr>
        <p:spPr>
          <a:xfrm>
            <a:off x="6368796" y="2490216"/>
            <a:ext cx="256032" cy="256032"/>
          </a:xfrm>
          <a:prstGeom prst="ellipse">
            <a:avLst/>
          </a:prstGeom>
          <a:solidFill>
            <a:srgbClr val="2E8B57"/>
          </a:solidFill>
          <a:ln w="12700">
            <a:solidFill>
              <a:srgbClr val="2E8B57"/>
            </a:solidFill>
            <a:prstDash val="solid"/>
          </a:ln>
        </p:spPr>
      </p:sp>
      <p:sp>
        <p:nvSpPr>
          <p:cNvPr id="36" name="Text 33"/>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37" name="Text 34"/>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كَانَتِ الْمُعَلِّمَاتُ فِي الْقَاعَةِ.</a:t>
            </a:r>
            <a:endParaRPr lang="ar-SA" sz="1700" dirty="0"/>
          </a:p>
        </p:txBody>
      </p:sp>
      <p:sp>
        <p:nvSpPr>
          <p:cNvPr id="38" name="Shape 35"/>
          <p:cNvSpPr/>
          <p:nvPr/>
        </p:nvSpPr>
        <p:spPr>
          <a:xfrm>
            <a:off x="6368796" y="2862072"/>
            <a:ext cx="256032" cy="256032"/>
          </a:xfrm>
          <a:prstGeom prst="ellipse">
            <a:avLst/>
          </a:prstGeom>
          <a:solidFill>
            <a:srgbClr val="C9CED6"/>
          </a:solidFill>
          <a:ln w="12700">
            <a:solidFill>
              <a:srgbClr val="C9CED6"/>
            </a:solidFill>
            <a:prstDash val="solid"/>
          </a:ln>
        </p:spPr>
      </p:sp>
      <p:sp>
        <p:nvSpPr>
          <p:cNvPr id="39" name="Text 36"/>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كَانُوا الْمُعَلِّمَاتُ فِي الْقَاعَةِ.</a:t>
            </a:r>
            <a:endParaRPr lang="ar-SA" sz="1700" dirty="0"/>
          </a:p>
        </p:txBody>
      </p:sp>
      <p:sp>
        <p:nvSpPr>
          <p:cNvPr id="41" name="Shape 38"/>
          <p:cNvSpPr/>
          <p:nvPr/>
        </p:nvSpPr>
        <p:spPr>
          <a:xfrm>
            <a:off x="6368796" y="323392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كَانَتِ الْمُعَلِّمَاتَ فِي الْقَاعَةُ.</a:t>
            </a:r>
            <a:endParaRPr lang="ar-SA" sz="1700" dirty="0"/>
          </a:p>
        </p:txBody>
      </p:sp>
      <p:sp>
        <p:nvSpPr>
          <p:cNvPr id="44" name="Text 41"/>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Verb first → kānat; place phrase unchanged.</a:t>
            </a:r>
            <a:endParaRPr lang="en-US" sz="1050" dirty="0"/>
          </a:p>
        </p:txBody>
      </p:sp>
      <p:sp>
        <p:nvSpPr>
          <p:cNvPr id="45" name="Shape 42"/>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585216" y="4288536"/>
            <a:ext cx="310896" cy="310896"/>
          </a:xfrm>
          <a:prstGeom prst="ellipse">
            <a:avLst/>
          </a:prstGeom>
          <a:solidFill>
            <a:srgbClr val="1B3B6F"/>
          </a:solidFill>
          <a:ln w="12700">
            <a:solidFill>
              <a:srgbClr val="1B3B6F"/>
            </a:solidFill>
            <a:prstDash val="solid"/>
          </a:ln>
        </p:spPr>
      </p:sp>
      <p:sp>
        <p:nvSpPr>
          <p:cNvPr id="47" name="Text 44"/>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subject-first form.</a:t>
            </a:r>
            <a:endParaRPr lang="en-US" sz="1250" dirty="0"/>
          </a:p>
        </p:txBody>
      </p:sp>
      <p:sp>
        <p:nvSpPr>
          <p:cNvPr id="49" name="Shape 46"/>
          <p:cNvSpPr/>
          <p:nvPr/>
        </p:nvSpPr>
        <p:spPr>
          <a:xfrm>
            <a:off x="640080" y="4831080"/>
            <a:ext cx="256032" cy="256032"/>
          </a:xfrm>
          <a:prstGeom prst="ellipse">
            <a:avLst/>
          </a:prstGeom>
          <a:solidFill>
            <a:srgbClr val="C9CED6"/>
          </a:solidFill>
          <a:ln w="12700">
            <a:solidFill>
              <a:srgbClr val="C9CED6"/>
            </a:solidFill>
            <a:prstDash val="solid"/>
          </a:ln>
        </p:spPr>
      </p:sp>
      <p:sp>
        <p:nvSpPr>
          <p:cNvPr id="50" name="Text 47"/>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1" name="Text 48"/>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الْمُعَلِّمَاتُ كَانَتْ فِي الْقَاعَةِ.</a:t>
            </a:r>
            <a:endParaRPr lang="ar-SA" sz="1700" dirty="0"/>
          </a:p>
        </p:txBody>
      </p:sp>
      <p:sp>
        <p:nvSpPr>
          <p:cNvPr id="52" name="Shape 49"/>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3" name="Shape 50"/>
          <p:cNvSpPr/>
          <p:nvPr/>
        </p:nvSpPr>
        <p:spPr>
          <a:xfrm>
            <a:off x="640080" y="5202936"/>
            <a:ext cx="256032" cy="256032"/>
          </a:xfrm>
          <a:prstGeom prst="ellipse">
            <a:avLst/>
          </a:prstGeom>
          <a:solidFill>
            <a:srgbClr val="2E8B57"/>
          </a:solidFill>
          <a:ln w="12700">
            <a:solidFill>
              <a:srgbClr val="2E8B57"/>
            </a:solidFill>
            <a:prstDash val="solid"/>
          </a:ln>
        </p:spPr>
      </p:sp>
      <p:sp>
        <p:nvSpPr>
          <p:cNvPr id="54" name="Text 51"/>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الْمُعَلِّمَاتُ كُنَّ فِي الْقَاعَةِ.</a:t>
            </a:r>
            <a:endParaRPr lang="ar-SA" sz="1700" dirty="0"/>
          </a:p>
        </p:txBody>
      </p:sp>
      <p:sp>
        <p:nvSpPr>
          <p:cNvPr id="56" name="Shape 53"/>
          <p:cNvSpPr/>
          <p:nvPr/>
        </p:nvSpPr>
        <p:spPr>
          <a:xfrm>
            <a:off x="640080" y="5574792"/>
            <a:ext cx="256032" cy="256032"/>
          </a:xfrm>
          <a:prstGeom prst="ellipse">
            <a:avLst/>
          </a:prstGeom>
          <a:solidFill>
            <a:srgbClr val="C9CED6"/>
          </a:solidFill>
          <a:ln w="12700">
            <a:solidFill>
              <a:srgbClr val="C9CED6"/>
            </a:solidFill>
            <a:prstDash val="solid"/>
          </a:ln>
        </p:spPr>
      </p:sp>
      <p:sp>
        <p:nvSpPr>
          <p:cNvPr id="57" name="Text 54"/>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الْمُعَلِّمَاتُ كَانُوا فِي الْقَاعَةِ.</a:t>
            </a:r>
            <a:endParaRPr lang="ar-SA" sz="1700" dirty="0"/>
          </a:p>
        </p:txBody>
      </p:sp>
      <p:sp>
        <p:nvSpPr>
          <p:cNvPr id="59" name="Text 56"/>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Female group first → kunna.</a:t>
            </a:r>
            <a:endParaRPr lang="en-US" sz="1050" dirty="0"/>
          </a:p>
        </p:txBody>
      </p:sp>
      <p:sp>
        <p:nvSpPr>
          <p:cNvPr id="60" name="Shape 57"/>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6313932"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“He continued to be calm.”</a:t>
            </a:r>
            <a:endParaRPr lang="en-US" sz="1250" dirty="0"/>
          </a:p>
        </p:txBody>
      </p:sp>
      <p:sp>
        <p:nvSpPr>
          <p:cNvPr id="64" name="Shape 61"/>
          <p:cNvSpPr/>
          <p:nvPr/>
        </p:nvSpPr>
        <p:spPr>
          <a:xfrm>
            <a:off x="6277356" y="4794504"/>
            <a:ext cx="5362956" cy="347472"/>
          </a:xfrm>
          <a:prstGeom prst="roundRect">
            <a:avLst>
              <a:gd name="adj" fmla="val 15789"/>
            </a:avLst>
          </a:prstGeom>
          <a:solidFill>
            <a:srgbClr val="E6F4EC"/>
          </a:solidFill>
          <a:ln w="9525">
            <a:solidFill>
              <a:srgbClr val="2E8B57"/>
            </a:solidFill>
            <a:prstDash val="solid"/>
          </a:ln>
        </p:spPr>
      </p:sp>
      <p:sp>
        <p:nvSpPr>
          <p:cNvPr id="65" name="Shape 62"/>
          <p:cNvSpPr/>
          <p:nvPr/>
        </p:nvSpPr>
        <p:spPr>
          <a:xfrm>
            <a:off x="6368796" y="4831080"/>
            <a:ext cx="256032" cy="256032"/>
          </a:xfrm>
          <a:prstGeom prst="ellipse">
            <a:avLst/>
          </a:prstGeom>
          <a:solidFill>
            <a:srgbClr val="2E8B57"/>
          </a:solidFill>
          <a:ln w="12700">
            <a:solidFill>
              <a:srgbClr val="2E8B57"/>
            </a:solidFill>
            <a:prstDash val="solid"/>
          </a:ln>
        </p:spPr>
      </p:sp>
      <p:sp>
        <p:nvSpPr>
          <p:cNvPr id="66" name="Text 63"/>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67" name="Text 64"/>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ظَلَّ هَادِئًا.</a:t>
            </a:r>
            <a:endParaRPr lang="ar-SA" sz="1700" dirty="0"/>
          </a:p>
        </p:txBody>
      </p:sp>
      <p:sp>
        <p:nvSpPr>
          <p:cNvPr id="68" name="Shape 65"/>
          <p:cNvSpPr/>
          <p:nvPr/>
        </p:nvSpPr>
        <p:spPr>
          <a:xfrm>
            <a:off x="6368796" y="5202936"/>
            <a:ext cx="256032" cy="256032"/>
          </a:xfrm>
          <a:prstGeom prst="ellipse">
            <a:avLst/>
          </a:prstGeom>
          <a:solidFill>
            <a:srgbClr val="C9CED6"/>
          </a:solidFill>
          <a:ln w="12700">
            <a:solidFill>
              <a:srgbClr val="C9CED6"/>
            </a:solidFill>
            <a:prstDash val="solid"/>
          </a:ln>
        </p:spPr>
      </p:sp>
      <p:sp>
        <p:nvSpPr>
          <p:cNvPr id="69" name="Text 66"/>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ظَلَّ هَادِئٌ.</a:t>
            </a:r>
            <a:endParaRPr lang="ar-SA" sz="1700" dirty="0"/>
          </a:p>
        </p:txBody>
      </p:sp>
      <p:sp>
        <p:nvSpPr>
          <p:cNvPr id="71" name="Shape 68"/>
          <p:cNvSpPr/>
          <p:nvPr/>
        </p:nvSpPr>
        <p:spPr>
          <a:xfrm>
            <a:off x="6368796"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إِنَّهُ ظَلَّ هَادِئٌ.</a:t>
            </a:r>
            <a:endParaRPr lang="ar-SA" sz="1700" dirty="0"/>
          </a:p>
        </p:txBody>
      </p:sp>
      <p:sp>
        <p:nvSpPr>
          <p:cNvPr id="74" name="Text 71"/>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Ẓalla + hādiʾan.</a:t>
            </a:r>
            <a:endParaRPr lang="en-US" sz="1050" dirty="0"/>
          </a:p>
        </p:txBody>
      </p:sp>
      <p:sp>
        <p:nvSpPr>
          <p:cNvPr id="75" name="Text 7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13 / 35</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WATCH, THEN COPY</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Watch me describe then and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شَاهِدْ ثُمَّ 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9050274"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19688" y="1938528"/>
            <a:ext cx="384048" cy="384048"/>
          </a:xfrm>
          <a:prstGeom prst="ellipse">
            <a:avLst/>
          </a:prstGeom>
          <a:solidFill>
            <a:srgbClr val="6B4C9A"/>
          </a:solidFill>
          <a:ln w="12700">
            <a:solidFill>
              <a:srgbClr val="6B4C9A"/>
            </a:solidFill>
            <a:prstDash val="solid"/>
          </a:ln>
        </p:spPr>
      </p:sp>
      <p:sp>
        <p:nvSpPr>
          <p:cNvPr id="17" name="Text 14"/>
          <p:cNvSpPr txBox="1"/>
          <p:nvPr/>
        </p:nvSpPr>
        <p:spPr>
          <a:xfrm>
            <a:off x="11219688"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18" name="Text 15"/>
          <p:cNvSpPr txBox="1"/>
          <p:nvPr/>
        </p:nvSpPr>
        <p:spPr>
          <a:xfrm>
            <a:off x="9187434"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Now</a:t>
            </a:r>
            <a:endParaRPr lang="en-US" sz="1250" dirty="0"/>
          </a:p>
        </p:txBody>
      </p:sp>
      <p:sp>
        <p:nvSpPr>
          <p:cNvPr id="19" name="Text 16"/>
          <p:cNvSpPr txBox="1"/>
          <p:nvPr/>
        </p:nvSpPr>
        <p:spPr>
          <a:xfrm>
            <a:off x="9160002"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الطَّرِيقُ هَادِئٌ</a:t>
            </a:r>
            <a:endParaRPr lang="ar-SA" sz="2800" dirty="0"/>
          </a:p>
        </p:txBody>
      </p:sp>
      <p:sp>
        <p:nvSpPr>
          <p:cNvPr id="20" name="Text 17"/>
          <p:cNvSpPr txBox="1"/>
          <p:nvPr/>
        </p:nvSpPr>
        <p:spPr>
          <a:xfrm>
            <a:off x="9187434"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Present: -un.</a:t>
            </a:r>
            <a:endParaRPr lang="en-US" sz="1150" dirty="0"/>
          </a:p>
        </p:txBody>
      </p:sp>
      <p:sp>
        <p:nvSpPr>
          <p:cNvPr id="21" name="Text 18"/>
          <p:cNvSpPr txBox="1"/>
          <p:nvPr/>
        </p:nvSpPr>
        <p:spPr>
          <a:xfrm>
            <a:off x="8867394"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2" name="Shape 19"/>
          <p:cNvSpPr/>
          <p:nvPr/>
        </p:nvSpPr>
        <p:spPr>
          <a:xfrm>
            <a:off x="6185916"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8355330" y="1938528"/>
            <a:ext cx="384048" cy="384048"/>
          </a:xfrm>
          <a:prstGeom prst="ellipse">
            <a:avLst/>
          </a:prstGeom>
          <a:solidFill>
            <a:srgbClr val="6B4C9A"/>
          </a:solidFill>
          <a:ln w="12700">
            <a:solidFill>
              <a:srgbClr val="6B4C9A"/>
            </a:solidFill>
            <a:prstDash val="solid"/>
          </a:ln>
        </p:spPr>
      </p:sp>
      <p:sp>
        <p:nvSpPr>
          <p:cNvPr id="24" name="Text 21"/>
          <p:cNvSpPr txBox="1"/>
          <p:nvPr/>
        </p:nvSpPr>
        <p:spPr>
          <a:xfrm>
            <a:off x="8355330"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25" name="Text 22"/>
          <p:cNvSpPr txBox="1"/>
          <p:nvPr/>
        </p:nvSpPr>
        <p:spPr>
          <a:xfrm>
            <a:off x="6323076"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Then</a:t>
            </a:r>
            <a:endParaRPr lang="en-US" sz="1250" dirty="0"/>
          </a:p>
        </p:txBody>
      </p:sp>
      <p:sp>
        <p:nvSpPr>
          <p:cNvPr id="26" name="Text 23"/>
          <p:cNvSpPr txBox="1"/>
          <p:nvPr/>
        </p:nvSpPr>
        <p:spPr>
          <a:xfrm>
            <a:off x="6295644"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كَانَ</a:t>
            </a:r>
            <a:endParaRPr lang="ar-SA" sz="2800" dirty="0"/>
          </a:p>
        </p:txBody>
      </p:sp>
      <p:sp>
        <p:nvSpPr>
          <p:cNvPr id="27" name="Text 24"/>
          <p:cNvSpPr txBox="1"/>
          <p:nvPr/>
        </p:nvSpPr>
        <p:spPr>
          <a:xfrm>
            <a:off x="6323076"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Past frame.</a:t>
            </a:r>
            <a:endParaRPr lang="en-US" sz="1150" dirty="0"/>
          </a:p>
        </p:txBody>
      </p:sp>
      <p:sp>
        <p:nvSpPr>
          <p:cNvPr id="28" name="Text 25"/>
          <p:cNvSpPr txBox="1"/>
          <p:nvPr/>
        </p:nvSpPr>
        <p:spPr>
          <a:xfrm>
            <a:off x="6003036"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29" name="Shape 26"/>
          <p:cNvSpPr/>
          <p:nvPr/>
        </p:nvSpPr>
        <p:spPr>
          <a:xfrm>
            <a:off x="3321558"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490972" y="1938528"/>
            <a:ext cx="384048" cy="384048"/>
          </a:xfrm>
          <a:prstGeom prst="ellipse">
            <a:avLst/>
          </a:prstGeom>
          <a:solidFill>
            <a:srgbClr val="6B4C9A"/>
          </a:solidFill>
          <a:ln w="12700">
            <a:solidFill>
              <a:srgbClr val="6B4C9A"/>
            </a:solidFill>
            <a:prstDash val="solid"/>
          </a:ln>
        </p:spPr>
      </p:sp>
      <p:sp>
        <p:nvSpPr>
          <p:cNvPr id="31" name="Text 28"/>
          <p:cNvSpPr txBox="1"/>
          <p:nvPr/>
        </p:nvSpPr>
        <p:spPr>
          <a:xfrm>
            <a:off x="5490972"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32" name="Text 29"/>
          <p:cNvSpPr txBox="1"/>
          <p:nvPr/>
        </p:nvSpPr>
        <p:spPr>
          <a:xfrm>
            <a:off x="3458718"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Predicate</a:t>
            </a:r>
            <a:endParaRPr lang="en-US" sz="1250" dirty="0"/>
          </a:p>
        </p:txBody>
      </p:sp>
      <p:sp>
        <p:nvSpPr>
          <p:cNvPr id="33" name="Text 30"/>
          <p:cNvSpPr txBox="1"/>
          <p:nvPr/>
        </p:nvSpPr>
        <p:spPr>
          <a:xfrm>
            <a:off x="3431286"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هَادِئًا</a:t>
            </a:r>
            <a:endParaRPr lang="ar-SA" sz="2800" dirty="0"/>
          </a:p>
        </p:txBody>
      </p:sp>
      <p:sp>
        <p:nvSpPr>
          <p:cNvPr id="34" name="Text 31"/>
          <p:cNvSpPr txBox="1"/>
          <p:nvPr/>
        </p:nvSpPr>
        <p:spPr>
          <a:xfrm>
            <a:off x="3458718"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-un becomes -an.</a:t>
            </a:r>
            <a:endParaRPr lang="en-US" sz="1150" dirty="0"/>
          </a:p>
        </p:txBody>
      </p:sp>
      <p:sp>
        <p:nvSpPr>
          <p:cNvPr id="35" name="Text 32"/>
          <p:cNvSpPr txBox="1"/>
          <p:nvPr/>
        </p:nvSpPr>
        <p:spPr>
          <a:xfrm>
            <a:off x="3138678" y="2770632"/>
            <a:ext cx="182880" cy="365760"/>
          </a:xfrm>
          <a:prstGeom prst="rect">
            <a:avLst/>
          </a:prstGeom>
          <a:noFill/>
          <a:ln/>
        </p:spPr>
        <p:txBody>
          <a:bodyPr wrap="square" lIns="0" tIns="0" rIns="0" bIns="0" rtlCol="0" anchor="ctr"/>
          <a:lstStyle/>
          <a:p>
            <a:pPr algn="ctr" indent="0" marL="0">
              <a:buNone/>
            </a:pPr>
            <a:r>
              <a:rPr lang="en-US" sz="1400" dirty="0">
                <a:solidFill>
                  <a:srgbClr val="5A6472"/>
                </a:solidFill>
                <a:latin typeface="Calibri" pitchFamily="34" charset="0"/>
                <a:ea typeface="Calibri" pitchFamily="34" charset="-122"/>
                <a:cs typeface="Calibri" pitchFamily="34" charset="-120"/>
              </a:rPr>
              <a:t>←</a:t>
            </a:r>
            <a:endParaRPr lang="en-US" sz="1400" dirty="0"/>
          </a:p>
        </p:txBody>
      </p:sp>
      <p:sp>
        <p:nvSpPr>
          <p:cNvPr id="36" name="Shape 33"/>
          <p:cNvSpPr/>
          <p:nvPr/>
        </p:nvSpPr>
        <p:spPr>
          <a:xfrm>
            <a:off x="457200" y="1810512"/>
            <a:ext cx="2681478" cy="2487168"/>
          </a:xfrm>
          <a:prstGeom prst="roundRect">
            <a:avLst>
              <a:gd name="adj" fmla="val 294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2626614" y="1938528"/>
            <a:ext cx="384048" cy="384048"/>
          </a:xfrm>
          <a:prstGeom prst="ellipse">
            <a:avLst/>
          </a:prstGeom>
          <a:solidFill>
            <a:srgbClr val="6B4C9A"/>
          </a:solidFill>
          <a:ln w="12700">
            <a:solidFill>
              <a:srgbClr val="6B4C9A"/>
            </a:solidFill>
            <a:prstDash val="solid"/>
          </a:ln>
        </p:spPr>
      </p:sp>
      <p:sp>
        <p:nvSpPr>
          <p:cNvPr id="38" name="Text 35"/>
          <p:cNvSpPr txBox="1"/>
          <p:nvPr/>
        </p:nvSpPr>
        <p:spPr>
          <a:xfrm>
            <a:off x="2626614" y="1938528"/>
            <a:ext cx="384048" cy="384048"/>
          </a:xfrm>
          <a:prstGeom prst="rect">
            <a:avLst/>
          </a:prstGeom>
          <a:no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39" name="Text 36"/>
          <p:cNvSpPr txBox="1"/>
          <p:nvPr/>
        </p:nvSpPr>
        <p:spPr>
          <a:xfrm>
            <a:off x="594360" y="1920240"/>
            <a:ext cx="1949958" cy="457200"/>
          </a:xfrm>
          <a:prstGeom prst="rect">
            <a:avLst/>
          </a:prstGeom>
          <a:noFill/>
          <a:ln/>
        </p:spPr>
        <p:txBody>
          <a:bodyPr wrap="square" lIns="0" tIns="0" rIns="0" bIns="0" rtlCol="0" anchor="ctr"/>
          <a:lstStyle/>
          <a:p>
            <a:pPr algn="l" indent="0" marL="0">
              <a:buNone/>
            </a:pPr>
            <a:r>
              <a:rPr lang="en-US" sz="1250" b="1" dirty="0">
                <a:solidFill>
                  <a:srgbClr val="6B4C9A"/>
                </a:solidFill>
                <a:latin typeface="Calibri" pitchFamily="34" charset="0"/>
                <a:ea typeface="Calibri" pitchFamily="34" charset="-122"/>
                <a:cs typeface="Calibri" pitchFamily="34" charset="-120"/>
              </a:rPr>
              <a:t>Still</a:t>
            </a:r>
            <a:endParaRPr lang="en-US" sz="1250" dirty="0"/>
          </a:p>
        </p:txBody>
      </p:sp>
      <p:sp>
        <p:nvSpPr>
          <p:cNvPr id="40" name="Text 37"/>
          <p:cNvSpPr txBox="1"/>
          <p:nvPr/>
        </p:nvSpPr>
        <p:spPr>
          <a:xfrm>
            <a:off x="566928" y="2450592"/>
            <a:ext cx="2462022" cy="914400"/>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34" charset="0"/>
                <a:ea typeface="Amiri" pitchFamily="34" charset="-122"/>
                <a:cs typeface="Amiri" pitchFamily="34" charset="-120"/>
              </a:rPr>
              <a:t>مَا زَالَ جَمِيلًا</a:t>
            </a:r>
            <a:endParaRPr lang="ar-SA" sz="2800" dirty="0"/>
          </a:p>
        </p:txBody>
      </p:sp>
      <p:sp>
        <p:nvSpPr>
          <p:cNvPr id="41" name="Text 38"/>
          <p:cNvSpPr txBox="1"/>
          <p:nvPr/>
        </p:nvSpPr>
        <p:spPr>
          <a:xfrm>
            <a:off x="594360" y="3410712"/>
            <a:ext cx="2407158" cy="804672"/>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ea typeface="Calibri" pitchFamily="34" charset="-122"/>
                <a:cs typeface="Calibri" pitchFamily="34" charset="-120"/>
              </a:rPr>
              <a:t>It continues.</a:t>
            </a:r>
            <a:endParaRPr lang="en-US" sz="1150" dirty="0"/>
          </a:p>
        </p:txBody>
      </p:sp>
      <p:sp>
        <p:nvSpPr>
          <p:cNvPr id="42" name="Shape 39"/>
          <p:cNvSpPr/>
          <p:nvPr/>
        </p:nvSpPr>
        <p:spPr>
          <a:xfrm>
            <a:off x="457200" y="4480560"/>
            <a:ext cx="11274552" cy="1828800"/>
          </a:xfrm>
          <a:prstGeom prst="roundRect">
            <a:avLst>
              <a:gd name="adj" fmla="val 4000"/>
            </a:avLst>
          </a:prstGeom>
          <a:solidFill>
            <a:srgbClr val="F1ECF8"/>
          </a:solidFill>
          <a:ln w="9525">
            <a:solidFill>
              <a:srgbClr val="CFC2E3"/>
            </a:solidFill>
            <a:prstDash val="solid"/>
          </a:ln>
          <a:effectLst>
            <a:outerShdw sx="100000" sy="100000" kx="0" ky="0" algn="bl" rotWithShape="0" blurRad="50800" dist="19050" dir="5400000">
              <a:srgbClr val="000000">
                <a:alpha val="10000"/>
              </a:srgbClr>
            </a:outerShdw>
          </a:effectLst>
        </p:spPr>
      </p:sp>
      <p:pic>
        <p:nvPicPr>
          <p:cNvPr id="43" name="Image 0" descr="preencoded.png">    </p:cNvPr>
          <p:cNvPicPr>
            <a:picLocks noChangeAspect="1"/>
          </p:cNvPicPr>
          <p:nvPr/>
        </p:nvPicPr>
        <p:blipFill>
          <a:blip r:embed="rId1"/>
          <a:stretch>
            <a:fillRect/>
          </a:stretch>
        </p:blipFill>
        <p:spPr>
          <a:xfrm>
            <a:off x="685800" y="4663440"/>
            <a:ext cx="457200" cy="457200"/>
          </a:xfrm>
          <a:prstGeom prst="rect">
            <a:avLst/>
          </a:prstGeom>
        </p:spPr>
      </p:pic>
      <p:sp>
        <p:nvSpPr>
          <p:cNvPr id="44" name="Text 40"/>
          <p:cNvSpPr txBox="1"/>
          <p:nvPr/>
        </p:nvSpPr>
        <p:spPr>
          <a:xfrm>
            <a:off x="1280160" y="4736592"/>
            <a:ext cx="3657600" cy="310896"/>
          </a:xfrm>
          <a:prstGeom prst="rect">
            <a:avLst/>
          </a:prstGeom>
          <a:noFill/>
          <a:ln/>
        </p:spPr>
        <p:txBody>
          <a:bodyPr wrap="square" lIns="0" tIns="0" rIns="0" bIns="0" rtlCol="0" anchor="ctr"/>
          <a:lstStyle/>
          <a:p>
            <a:pPr algn="l" indent="0" marL="0">
              <a:buNone/>
            </a:pPr>
            <a:r>
              <a:rPr lang="en-US" sz="1200" b="1" spc="200" kern="0" dirty="0">
                <a:solidFill>
                  <a:srgbClr val="6B4C9A"/>
                </a:solidFill>
                <a:latin typeface="Calibri" pitchFamily="34" charset="0"/>
                <a:ea typeface="Calibri" pitchFamily="34" charset="-122"/>
                <a:cs typeface="Calibri" pitchFamily="34" charset="-120"/>
              </a:rPr>
              <a:t>COPY THIS INTO YOUR BOOK</a:t>
            </a:r>
            <a:endParaRPr lang="en-US" sz="1200" dirty="0"/>
          </a:p>
        </p:txBody>
      </p:sp>
      <p:sp>
        <p:nvSpPr>
          <p:cNvPr id="45" name="Shape 41"/>
          <p:cNvSpPr/>
          <p:nvPr/>
        </p:nvSpPr>
        <p:spPr>
          <a:xfrm>
            <a:off x="8540496" y="4736592"/>
            <a:ext cx="914400" cy="237744"/>
          </a:xfrm>
          <a:prstGeom prst="roundRect">
            <a:avLst>
              <a:gd name="adj" fmla="val 50000"/>
            </a:avLst>
          </a:prstGeom>
          <a:solidFill>
            <a:srgbClr val="0E7C86"/>
          </a:solidFill>
          <a:ln w="12700">
            <a:solidFill>
              <a:srgbClr val="0E7C86"/>
            </a:solidFill>
            <a:prstDash val="solid"/>
          </a:ln>
        </p:spPr>
      </p:sp>
      <p:sp>
        <p:nvSpPr>
          <p:cNvPr id="46" name="Text 42"/>
          <p:cNvSpPr txBox="1"/>
          <p:nvPr/>
        </p:nvSpPr>
        <p:spPr>
          <a:xfrm>
            <a:off x="8540496"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KĀNA FAMILY</a:t>
            </a:r>
            <a:endParaRPr lang="en-US" sz="800" dirty="0"/>
          </a:p>
        </p:txBody>
      </p:sp>
      <p:sp>
        <p:nvSpPr>
          <p:cNvPr id="47" name="Shape 43"/>
          <p:cNvSpPr/>
          <p:nvPr/>
        </p:nvSpPr>
        <p:spPr>
          <a:xfrm>
            <a:off x="9528048" y="4736592"/>
            <a:ext cx="914400" cy="237744"/>
          </a:xfrm>
          <a:prstGeom prst="roundRect">
            <a:avLst>
              <a:gd name="adj" fmla="val 50000"/>
            </a:avLst>
          </a:prstGeom>
          <a:solidFill>
            <a:srgbClr val="1D5FBF"/>
          </a:solidFill>
          <a:ln w="12700">
            <a:solidFill>
              <a:srgbClr val="1D5FBF"/>
            </a:solidFill>
            <a:prstDash val="solid"/>
          </a:ln>
        </p:spPr>
      </p:sp>
      <p:sp>
        <p:nvSpPr>
          <p:cNvPr id="48" name="Text 44"/>
          <p:cNvSpPr txBox="1"/>
          <p:nvPr/>
        </p:nvSpPr>
        <p:spPr>
          <a:xfrm>
            <a:off x="9528048"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NOUN -u</a:t>
            </a:r>
            <a:endParaRPr lang="en-US" sz="800" dirty="0"/>
          </a:p>
        </p:txBody>
      </p:sp>
      <p:sp>
        <p:nvSpPr>
          <p:cNvPr id="49" name="Shape 45"/>
          <p:cNvSpPr/>
          <p:nvPr/>
        </p:nvSpPr>
        <p:spPr>
          <a:xfrm>
            <a:off x="10515600" y="4736592"/>
            <a:ext cx="914400" cy="237744"/>
          </a:xfrm>
          <a:prstGeom prst="roundRect">
            <a:avLst>
              <a:gd name="adj" fmla="val 50000"/>
            </a:avLst>
          </a:prstGeom>
          <a:solidFill>
            <a:srgbClr val="C77700"/>
          </a:solidFill>
          <a:ln w="12700">
            <a:solidFill>
              <a:srgbClr val="C77700"/>
            </a:solidFill>
            <a:prstDash val="solid"/>
          </a:ln>
        </p:spPr>
      </p:sp>
      <p:sp>
        <p:nvSpPr>
          <p:cNvPr id="50" name="Text 46"/>
          <p:cNvSpPr txBox="1"/>
          <p:nvPr/>
        </p:nvSpPr>
        <p:spPr>
          <a:xfrm>
            <a:off x="10515600" y="4736592"/>
            <a:ext cx="914400" cy="237744"/>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PRED. -an</a:t>
            </a:r>
            <a:endParaRPr lang="en-US" sz="800" dirty="0"/>
          </a:p>
        </p:txBody>
      </p:sp>
      <p:sp>
        <p:nvSpPr>
          <p:cNvPr id="51" name="Text 47"/>
          <p:cNvSpPr txBox="1"/>
          <p:nvPr/>
        </p:nvSpPr>
        <p:spPr>
          <a:xfrm>
            <a:off x="685800" y="5029200"/>
            <a:ext cx="10817352" cy="731520"/>
          </a:xfrm>
          <a:prstGeom prst="rect">
            <a:avLst/>
          </a:prstGeom>
          <a:noFill/>
          <a:ln/>
        </p:spPr>
        <p:txBody>
          <a:bodyPr wrap="square" lIns="0" tIns="0" rIns="0" bIns="0" rtlCol="0" anchor="ctr"/>
          <a:lstStyle/>
          <a:p>
            <a:pPr rtl="1" algn="r" indent="0" marL="0">
              <a:buNone/>
            </a:pPr>
            <a:r>
              <a:rPr lang="ar-SA" altLang="en-US" sz="1950" b="1" dirty="0">
                <a:solidFill>
                  <a:srgbClr val="1B3B6F"/>
                </a:solidFill>
                <a:latin typeface="Amiri" pitchFamily="34" charset="0"/>
                <a:ea typeface="Amiri" pitchFamily="34" charset="-122"/>
                <a:cs typeface="Amiri" pitchFamily="34" charset="-120"/>
              </a:rPr>
              <a:t>عِنْدَمَا </a:t>
            </a:r>
            <a:pPr rtl="1" algn="r" indent="0" marL="0">
              <a:buNone/>
            </a:pPr>
            <a:r>
              <a:rPr lang="ar-SA" altLang="en-US" sz="1950" b="1" dirty="0">
                <a:solidFill>
                  <a:srgbClr val="0E7C86"/>
                </a:solidFill>
                <a:latin typeface="Amiri" pitchFamily="34" charset="0"/>
                <a:ea typeface="Amiri" pitchFamily="34" charset="-122"/>
                <a:cs typeface="Amiri" pitchFamily="34" charset="-120"/>
              </a:rPr>
              <a:t>كُنْتُ</a:t>
            </a:r>
            <a:pPr rtl="1" algn="r" indent="0" marL="0">
              <a:buNone/>
            </a:pPr>
            <a:r>
              <a:rPr lang="ar-SA" altLang="en-US" sz="1950" b="1" dirty="0">
                <a:solidFill>
                  <a:srgbClr val="1B3B6F"/>
                </a:solidFill>
                <a:latin typeface="Amiri" pitchFamily="34" charset="0"/>
                <a:ea typeface="Amiri" pitchFamily="34" charset="-122"/>
                <a:cs typeface="Amiri" pitchFamily="34" charset="-120"/>
              </a:rPr>
              <a:t> </a:t>
            </a:r>
            <a:pPr rtl="1" algn="r" indent="0" marL="0">
              <a:buNone/>
            </a:pPr>
            <a:r>
              <a:rPr lang="ar-SA" altLang="en-US" sz="1950" b="1" dirty="0">
                <a:solidFill>
                  <a:srgbClr val="C77700"/>
                </a:solidFill>
                <a:latin typeface="Amiri" pitchFamily="34" charset="0"/>
                <a:ea typeface="Amiri" pitchFamily="34" charset="-122"/>
                <a:cs typeface="Amiri" pitchFamily="34" charset="-120"/>
              </a:rPr>
              <a:t>صَغِيرَةً</a:t>
            </a:r>
            <a:pPr rtl="1" algn="r" indent="0" marL="0">
              <a:buNone/>
            </a:pPr>
            <a:r>
              <a:rPr lang="ar-SA" altLang="en-US" sz="1950" b="1" dirty="0">
                <a:solidFill>
                  <a:srgbClr val="1B3B6F"/>
                </a:solidFill>
                <a:latin typeface="Amiri" pitchFamily="34" charset="0"/>
                <a:ea typeface="Amiri" pitchFamily="34" charset="-122"/>
                <a:cs typeface="Amiri" pitchFamily="34" charset="-120"/>
              </a:rPr>
              <a:t>، </a:t>
            </a:r>
            <a:pPr rtl="1" algn="r" indent="0" marL="0">
              <a:buNone/>
            </a:pPr>
            <a:r>
              <a:rPr lang="ar-SA" altLang="en-US" sz="1950" b="1" dirty="0">
                <a:solidFill>
                  <a:srgbClr val="0E7C86"/>
                </a:solidFill>
                <a:latin typeface="Amiri" pitchFamily="34" charset="0"/>
                <a:ea typeface="Amiri" pitchFamily="34" charset="-122"/>
                <a:cs typeface="Amiri" pitchFamily="34" charset="-120"/>
              </a:rPr>
              <a:t>كُنْتُ</a:t>
            </a:r>
            <a:pPr rtl="1" algn="r" indent="0" marL="0">
              <a:buNone/>
            </a:pPr>
            <a:r>
              <a:rPr lang="ar-SA" altLang="en-US" sz="1950" b="1" dirty="0">
                <a:solidFill>
                  <a:srgbClr val="1B3B6F"/>
                </a:solidFill>
                <a:latin typeface="Amiri" pitchFamily="34" charset="0"/>
                <a:ea typeface="Amiri" pitchFamily="34" charset="-122"/>
                <a:cs typeface="Amiri" pitchFamily="34" charset="-120"/>
              </a:rPr>
              <a:t> </a:t>
            </a:r>
            <a:pPr rtl="1" algn="r" indent="0" marL="0">
              <a:buNone/>
            </a:pPr>
            <a:r>
              <a:rPr lang="ar-SA" altLang="en-US" sz="1950" b="1" dirty="0">
                <a:solidFill>
                  <a:srgbClr val="C77700"/>
                </a:solidFill>
                <a:latin typeface="Amiri" pitchFamily="34" charset="0"/>
                <a:ea typeface="Amiri" pitchFamily="34" charset="-122"/>
                <a:cs typeface="Amiri" pitchFamily="34" charset="-120"/>
              </a:rPr>
              <a:t>أَسْكُنُ</a:t>
            </a:r>
            <a:pPr rtl="1" algn="r" indent="0" marL="0">
              <a:buNone/>
            </a:pPr>
            <a:r>
              <a:rPr lang="ar-SA" altLang="en-US" sz="1950" b="1" dirty="0">
                <a:solidFill>
                  <a:srgbClr val="1B3B6F"/>
                </a:solidFill>
                <a:latin typeface="Amiri" pitchFamily="34" charset="0"/>
                <a:ea typeface="Amiri" pitchFamily="34" charset="-122"/>
                <a:cs typeface="Amiri" pitchFamily="34" charset="-120"/>
              </a:rPr>
              <a:t> قُرْبَ الْمَدْرَسَةِ. </a:t>
            </a:r>
            <a:pPr rtl="1" algn="r" indent="0" marL="0">
              <a:buNone/>
            </a:pPr>
            <a:r>
              <a:rPr lang="ar-SA" altLang="en-US" sz="1950" b="1" dirty="0">
                <a:solidFill>
                  <a:srgbClr val="0E7C86"/>
                </a:solidFill>
                <a:latin typeface="Amiri" pitchFamily="34" charset="0"/>
                <a:ea typeface="Amiri" pitchFamily="34" charset="-122"/>
                <a:cs typeface="Amiri" pitchFamily="34" charset="-120"/>
              </a:rPr>
              <a:t>كَانَ</a:t>
            </a:r>
            <a:pPr rtl="1" algn="r" indent="0" marL="0">
              <a:buNone/>
            </a:pPr>
            <a:r>
              <a:rPr lang="ar-SA" altLang="en-US" sz="1950" b="1" dirty="0">
                <a:solidFill>
                  <a:srgbClr val="1B3B6F"/>
                </a:solidFill>
                <a:latin typeface="Amiri" pitchFamily="34" charset="0"/>
                <a:ea typeface="Amiri" pitchFamily="34" charset="-122"/>
                <a:cs typeface="Amiri" pitchFamily="34" charset="-120"/>
              </a:rPr>
              <a:t> </a:t>
            </a:r>
            <a:pPr rtl="1" algn="r" indent="0" marL="0">
              <a:buNone/>
            </a:pPr>
            <a:r>
              <a:rPr lang="ar-SA" altLang="en-US" sz="1950" b="1" dirty="0">
                <a:solidFill>
                  <a:srgbClr val="1D5FBF"/>
                </a:solidFill>
                <a:latin typeface="Amiri" pitchFamily="34" charset="0"/>
                <a:ea typeface="Amiri" pitchFamily="34" charset="-122"/>
                <a:cs typeface="Amiri" pitchFamily="34" charset="-120"/>
              </a:rPr>
              <a:t>الطَّرِيقُ</a:t>
            </a:r>
            <a:pPr rtl="1" algn="r" indent="0" marL="0">
              <a:buNone/>
            </a:pPr>
            <a:r>
              <a:rPr lang="ar-SA" altLang="en-US" sz="1950" b="1" dirty="0">
                <a:solidFill>
                  <a:srgbClr val="1B3B6F"/>
                </a:solidFill>
                <a:latin typeface="Amiri" pitchFamily="34" charset="0"/>
                <a:ea typeface="Amiri" pitchFamily="34" charset="-122"/>
                <a:cs typeface="Amiri" pitchFamily="34" charset="-120"/>
              </a:rPr>
              <a:t> </a:t>
            </a:r>
            <a:pPr rtl="1" algn="r" indent="0" marL="0">
              <a:buNone/>
            </a:pPr>
            <a:r>
              <a:rPr lang="ar-SA" altLang="en-US" sz="1950" b="1" dirty="0">
                <a:solidFill>
                  <a:srgbClr val="C77700"/>
                </a:solidFill>
                <a:latin typeface="Amiri" pitchFamily="34" charset="0"/>
                <a:ea typeface="Amiri" pitchFamily="34" charset="-122"/>
                <a:cs typeface="Amiri" pitchFamily="34" charset="-120"/>
              </a:rPr>
              <a:t>هَادِئًا</a:t>
            </a:r>
            <a:pPr rtl="1" algn="r" indent="0" marL="0">
              <a:buNone/>
            </a:pPr>
            <a:r>
              <a:rPr lang="ar-SA" altLang="en-US" sz="1950" b="1" dirty="0">
                <a:solidFill>
                  <a:srgbClr val="1B3B6F"/>
                </a:solidFill>
                <a:latin typeface="Amiri" pitchFamily="34" charset="0"/>
                <a:ea typeface="Amiri" pitchFamily="34" charset="-122"/>
                <a:cs typeface="Amiri" pitchFamily="34" charset="-120"/>
              </a:rPr>
              <a:t>. بَعْدَ بِنَاءِ الْمَحَطَّةِ، </a:t>
            </a:r>
            <a:pPr rtl="1" algn="r" indent="0" marL="0">
              <a:buNone/>
            </a:pPr>
            <a:r>
              <a:rPr lang="ar-SA" altLang="en-US" sz="1950" b="1" dirty="0">
                <a:solidFill>
                  <a:srgbClr val="0E7C86"/>
                </a:solidFill>
                <a:latin typeface="Amiri" pitchFamily="34" charset="0"/>
                <a:ea typeface="Amiri" pitchFamily="34" charset="-122"/>
                <a:cs typeface="Amiri" pitchFamily="34" charset="-120"/>
              </a:rPr>
              <a:t>صَارَ</a:t>
            </a:r>
            <a:pPr rtl="1" algn="r" indent="0" marL="0">
              <a:buNone/>
            </a:pPr>
            <a:r>
              <a:rPr lang="ar-SA" altLang="en-US" sz="1950" b="1" dirty="0">
                <a:solidFill>
                  <a:srgbClr val="1B3B6F"/>
                </a:solidFill>
                <a:latin typeface="Amiri" pitchFamily="34" charset="0"/>
                <a:ea typeface="Amiri" pitchFamily="34" charset="-122"/>
                <a:cs typeface="Amiri" pitchFamily="34" charset="-120"/>
              </a:rPr>
              <a:t> </a:t>
            </a:r>
            <a:pPr rtl="1" algn="r" indent="0" marL="0">
              <a:buNone/>
            </a:pPr>
            <a:r>
              <a:rPr lang="ar-SA" altLang="en-US" sz="1950" b="1" dirty="0">
                <a:solidFill>
                  <a:srgbClr val="1D5FBF"/>
                </a:solidFill>
                <a:latin typeface="Amiri" pitchFamily="34" charset="0"/>
                <a:ea typeface="Amiri" pitchFamily="34" charset="-122"/>
                <a:cs typeface="Amiri" pitchFamily="34" charset="-120"/>
              </a:rPr>
              <a:t>الْحَيُّ</a:t>
            </a:r>
            <a:pPr rtl="1" algn="r" indent="0" marL="0">
              <a:buNone/>
            </a:pPr>
            <a:r>
              <a:rPr lang="ar-SA" altLang="en-US" sz="1950" b="1" dirty="0">
                <a:solidFill>
                  <a:srgbClr val="1B3B6F"/>
                </a:solidFill>
                <a:latin typeface="Amiri" pitchFamily="34" charset="0"/>
                <a:ea typeface="Amiri" pitchFamily="34" charset="-122"/>
                <a:cs typeface="Amiri" pitchFamily="34" charset="-120"/>
              </a:rPr>
              <a:t> </a:t>
            </a:r>
            <a:pPr rtl="1" algn="r" indent="0" marL="0">
              <a:buNone/>
            </a:pPr>
            <a:r>
              <a:rPr lang="ar-SA" altLang="en-US" sz="1950" b="1" dirty="0">
                <a:solidFill>
                  <a:srgbClr val="C77700"/>
                </a:solidFill>
                <a:latin typeface="Amiri" pitchFamily="34" charset="0"/>
                <a:ea typeface="Amiri" pitchFamily="34" charset="-122"/>
                <a:cs typeface="Amiri" pitchFamily="34" charset="-120"/>
              </a:rPr>
              <a:t>مُزْدَحِمًا</a:t>
            </a:r>
            <a:pPr rtl="1" algn="r" indent="0" marL="0">
              <a:buNone/>
            </a:pPr>
            <a:r>
              <a:rPr lang="ar-SA" altLang="en-US" sz="1950" b="1" dirty="0">
                <a:solidFill>
                  <a:srgbClr val="1B3B6F"/>
                </a:solidFill>
                <a:latin typeface="Amiri" pitchFamily="34" charset="0"/>
                <a:ea typeface="Amiri" pitchFamily="34" charset="-122"/>
                <a:cs typeface="Amiri" pitchFamily="34" charset="-120"/>
              </a:rPr>
              <a:t>، لَكِنَّهُ </a:t>
            </a:r>
            <a:pPr rtl="1" algn="r" indent="0" marL="0">
              <a:buNone/>
            </a:pPr>
            <a:r>
              <a:rPr lang="ar-SA" altLang="en-US" sz="1950" b="1" dirty="0">
                <a:solidFill>
                  <a:srgbClr val="0E7C86"/>
                </a:solidFill>
                <a:latin typeface="Amiri" pitchFamily="34" charset="0"/>
                <a:ea typeface="Amiri" pitchFamily="34" charset="-122"/>
                <a:cs typeface="Amiri" pitchFamily="34" charset="-120"/>
              </a:rPr>
              <a:t>مَا زَالَ</a:t>
            </a:r>
            <a:pPr rtl="1" algn="r" indent="0" marL="0">
              <a:buNone/>
            </a:pPr>
            <a:r>
              <a:rPr lang="ar-SA" altLang="en-US" sz="1950" b="1" dirty="0">
                <a:solidFill>
                  <a:srgbClr val="1B3B6F"/>
                </a:solidFill>
                <a:latin typeface="Amiri" pitchFamily="34" charset="0"/>
                <a:ea typeface="Amiri" pitchFamily="34" charset="-122"/>
                <a:cs typeface="Amiri" pitchFamily="34" charset="-120"/>
              </a:rPr>
              <a:t> </a:t>
            </a:r>
            <a:pPr rtl="1" algn="r" indent="0" marL="0">
              <a:buNone/>
            </a:pPr>
            <a:r>
              <a:rPr lang="ar-SA" altLang="en-US" sz="1950" b="1" dirty="0">
                <a:solidFill>
                  <a:srgbClr val="C77700"/>
                </a:solidFill>
                <a:latin typeface="Amiri" pitchFamily="34" charset="0"/>
                <a:ea typeface="Amiri" pitchFamily="34" charset="-122"/>
                <a:cs typeface="Amiri" pitchFamily="34" charset="-120"/>
              </a:rPr>
              <a:t>جَمِيلًا</a:t>
            </a:r>
            <a:pPr rtl="1" algn="r" indent="0" marL="0">
              <a:buNone/>
            </a:pPr>
            <a:r>
              <a:rPr lang="ar-SA" altLang="en-US" sz="1950" b="1" dirty="0">
                <a:solidFill>
                  <a:srgbClr val="1B3B6F"/>
                </a:solidFill>
                <a:latin typeface="Amiri" pitchFamily="34" charset="0"/>
                <a:ea typeface="Amiri" pitchFamily="34" charset="-122"/>
                <a:cs typeface="Amiri" pitchFamily="34" charset="-120"/>
              </a:rPr>
              <a:t>.</a:t>
            </a:r>
            <a:endParaRPr lang="ar-SA" sz="1950" dirty="0"/>
          </a:p>
        </p:txBody>
      </p:sp>
      <p:sp>
        <p:nvSpPr>
          <p:cNvPr id="52" name="Text 48"/>
          <p:cNvSpPr txBox="1"/>
          <p:nvPr/>
        </p:nvSpPr>
        <p:spPr>
          <a:xfrm>
            <a:off x="685800" y="5760720"/>
            <a:ext cx="10817352" cy="365760"/>
          </a:xfrm>
          <a:prstGeom prst="rect">
            <a:avLst/>
          </a:prstGeom>
          <a:noFill/>
          <a:ln/>
        </p:spPr>
        <p:txBody>
          <a:bodyPr wrap="square" lIns="0" tIns="0" rIns="0" bIns="0" rtlCol="0" anchor="ctr"/>
          <a:lstStyle/>
          <a:p>
            <a:pPr algn="r" indent="0" marL="0">
              <a:buNone/>
            </a:pPr>
            <a:r>
              <a:rPr lang="en-US" sz="1150" i="1" dirty="0">
                <a:solidFill>
                  <a:srgbClr val="5A6472"/>
                </a:solidFill>
                <a:latin typeface="Calibri" pitchFamily="34" charset="0"/>
                <a:ea typeface="Calibri" pitchFamily="34" charset="-122"/>
                <a:cs typeface="Calibri" pitchFamily="34" charset="-120"/>
              </a:rPr>
              <a:t>When I was little, I used to live near the school. The road was quiet. After the station was built, the neighbourhood became crowded, but it is still beautiful.</a:t>
            </a:r>
            <a:endParaRPr lang="en-US" sz="1150" dirty="0"/>
          </a:p>
        </p:txBody>
      </p:sp>
      <p:sp>
        <p:nvSpPr>
          <p:cNvPr id="53" name="Text 49"/>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14 / 35</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6B4C9A"/>
          </a:solidFill>
          <a:ln w="12700">
            <a:solidFill>
              <a:srgbClr val="6B4C9A"/>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I DO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6B4C9A"/>
                </a:solidFill>
                <a:latin typeface="Calibri" pitchFamily="34" charset="0"/>
                <a:ea typeface="Calibri" pitchFamily="34" charset="-122"/>
                <a:cs typeface="Calibri" pitchFamily="34" charset="-120"/>
              </a:rPr>
              <a:t>I DO · MODEL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Sentences to borrow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جُمَلٌ نَمُوذَجِيَّةٌ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201400" y="2123694"/>
            <a:ext cx="402336" cy="402336"/>
          </a:xfrm>
          <a:prstGeom prst="ellipse">
            <a:avLst/>
          </a:prstGeom>
          <a:solidFill>
            <a:srgbClr val="1B3B6F"/>
          </a:solidFill>
          <a:ln w="12700">
            <a:solidFill>
              <a:srgbClr val="1B3B6F"/>
            </a:solidFill>
            <a:prstDash val="solid"/>
          </a:ln>
        </p:spPr>
      </p:sp>
      <p:sp>
        <p:nvSpPr>
          <p:cNvPr id="17" name="Text 14"/>
          <p:cNvSpPr txBox="1"/>
          <p:nvPr/>
        </p:nvSpPr>
        <p:spPr>
          <a:xfrm>
            <a:off x="11201400" y="212369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572000" y="1847088"/>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كَانَ الْجَوُّ بَارِدًا.</a:t>
            </a:r>
            <a:endParaRPr lang="ar-SA" sz="2600" dirty="0"/>
          </a:p>
        </p:txBody>
      </p:sp>
      <p:sp>
        <p:nvSpPr>
          <p:cNvPr id="19" name="Text 16"/>
          <p:cNvSpPr txBox="1"/>
          <p:nvPr/>
        </p:nvSpPr>
        <p:spPr>
          <a:xfrm>
            <a:off x="685800" y="1856232"/>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weather was cold.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state: -an.</a:t>
            </a:r>
            <a:endParaRPr lang="en-US" sz="1250" dirty="0"/>
          </a:p>
        </p:txBody>
      </p:sp>
      <p:sp>
        <p:nvSpPr>
          <p:cNvPr id="20" name="Shape 17"/>
          <p:cNvSpPr/>
          <p:nvPr/>
        </p:nvSpPr>
        <p:spPr>
          <a:xfrm>
            <a:off x="457200" y="2967228"/>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201400" y="3280410"/>
            <a:ext cx="402336" cy="402336"/>
          </a:xfrm>
          <a:prstGeom prst="ellipse">
            <a:avLst/>
          </a:prstGeom>
          <a:solidFill>
            <a:srgbClr val="1B3B6F"/>
          </a:solidFill>
          <a:ln w="12700">
            <a:solidFill>
              <a:srgbClr val="1B3B6F"/>
            </a:solidFill>
            <a:prstDash val="solid"/>
          </a:ln>
        </p:spPr>
      </p:sp>
      <p:sp>
        <p:nvSpPr>
          <p:cNvPr id="22" name="Text 19"/>
          <p:cNvSpPr txBox="1"/>
          <p:nvPr/>
        </p:nvSpPr>
        <p:spPr>
          <a:xfrm>
            <a:off x="11201400" y="3280410"/>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572000" y="3003804"/>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كُنْتُ أَقْرَأُ كُلَّ يَوْمٍ.</a:t>
            </a:r>
            <a:endParaRPr lang="ar-SA" sz="2600" dirty="0"/>
          </a:p>
        </p:txBody>
      </p:sp>
      <p:sp>
        <p:nvSpPr>
          <p:cNvPr id="24" name="Text 21"/>
          <p:cNvSpPr txBox="1"/>
          <p:nvPr/>
        </p:nvSpPr>
        <p:spPr>
          <a:xfrm>
            <a:off x="685800" y="3012948"/>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I used to read every day.</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Past habit.</a:t>
            </a:r>
            <a:endParaRPr lang="en-US" sz="1250" dirty="0"/>
          </a:p>
        </p:txBody>
      </p:sp>
      <p:sp>
        <p:nvSpPr>
          <p:cNvPr id="25" name="Shape 22"/>
          <p:cNvSpPr/>
          <p:nvPr/>
        </p:nvSpPr>
        <p:spPr>
          <a:xfrm>
            <a:off x="457200" y="4123944"/>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201400" y="4437126"/>
            <a:ext cx="402336" cy="402336"/>
          </a:xfrm>
          <a:prstGeom prst="ellipse">
            <a:avLst/>
          </a:prstGeom>
          <a:solidFill>
            <a:srgbClr val="1B3B6F"/>
          </a:solidFill>
          <a:ln w="12700">
            <a:solidFill>
              <a:srgbClr val="1B3B6F"/>
            </a:solidFill>
            <a:prstDash val="solid"/>
          </a:ln>
        </p:spPr>
      </p:sp>
      <p:sp>
        <p:nvSpPr>
          <p:cNvPr id="27" name="Text 24"/>
          <p:cNvSpPr txBox="1"/>
          <p:nvPr/>
        </p:nvSpPr>
        <p:spPr>
          <a:xfrm>
            <a:off x="11201400" y="443712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572000" y="4160520"/>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صَارَ الطَّرِيقُ مُزْدَحِمًا.</a:t>
            </a:r>
            <a:endParaRPr lang="ar-SA" sz="2600" dirty="0"/>
          </a:p>
        </p:txBody>
      </p:sp>
      <p:sp>
        <p:nvSpPr>
          <p:cNvPr id="29" name="Text 26"/>
          <p:cNvSpPr txBox="1"/>
          <p:nvPr/>
        </p:nvSpPr>
        <p:spPr>
          <a:xfrm>
            <a:off x="685800" y="4169664"/>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road became crowded.</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Change.</a:t>
            </a:r>
            <a:endParaRPr lang="en-US" sz="1250" dirty="0"/>
          </a:p>
        </p:txBody>
      </p:sp>
      <p:sp>
        <p:nvSpPr>
          <p:cNvPr id="30" name="Shape 27"/>
          <p:cNvSpPr/>
          <p:nvPr/>
        </p:nvSpPr>
        <p:spPr>
          <a:xfrm>
            <a:off x="457200" y="5280660"/>
            <a:ext cx="11274552" cy="1028700"/>
          </a:xfrm>
          <a:prstGeom prst="roundRect">
            <a:avLst>
              <a:gd name="adj" fmla="val 711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11201400" y="5593842"/>
            <a:ext cx="402336" cy="402336"/>
          </a:xfrm>
          <a:prstGeom prst="ellipse">
            <a:avLst/>
          </a:prstGeom>
          <a:solidFill>
            <a:srgbClr val="1B3B6F"/>
          </a:solidFill>
          <a:ln w="12700">
            <a:solidFill>
              <a:srgbClr val="1B3B6F"/>
            </a:solidFill>
            <a:prstDash val="solid"/>
          </a:ln>
        </p:spPr>
      </p:sp>
      <p:sp>
        <p:nvSpPr>
          <p:cNvPr id="32" name="Text 29"/>
          <p:cNvSpPr txBox="1"/>
          <p:nvPr/>
        </p:nvSpPr>
        <p:spPr>
          <a:xfrm>
            <a:off x="11201400" y="5593842"/>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4</a:t>
            </a:r>
            <a:endParaRPr lang="en-US" sz="1300" dirty="0"/>
          </a:p>
        </p:txBody>
      </p:sp>
      <p:sp>
        <p:nvSpPr>
          <p:cNvPr id="33" name="Text 30"/>
          <p:cNvSpPr txBox="1"/>
          <p:nvPr/>
        </p:nvSpPr>
        <p:spPr>
          <a:xfrm>
            <a:off x="4572000" y="5317236"/>
            <a:ext cx="6492240" cy="955548"/>
          </a:xfrm>
          <a:prstGeom prst="rect">
            <a:avLst/>
          </a:prstGeom>
          <a:noFill/>
          <a:ln/>
        </p:spPr>
        <p:txBody>
          <a:bodyPr wrap="square" lIns="0" tIns="0" rIns="0" bIns="0" rtlCol="0" anchor="ctr"/>
          <a:lstStyle/>
          <a:p>
            <a:pPr rtl="1" algn="r" indent="0" marL="0">
              <a:buNone/>
            </a:pPr>
            <a:r>
              <a:rPr lang="ar-SA" altLang="en-US" sz="2600" b="1" dirty="0">
                <a:solidFill>
                  <a:srgbClr val="1B3B6F"/>
                </a:solidFill>
                <a:latin typeface="Amiri" pitchFamily="34" charset="0"/>
                <a:ea typeface="Amiri" pitchFamily="34" charset="-122"/>
                <a:cs typeface="Amiri" pitchFamily="34" charset="-120"/>
              </a:rPr>
              <a:t>مَا زَالَتِ الْمَدْرَسَةُ مَفْتُوحَةً.</a:t>
            </a:r>
            <a:endParaRPr lang="ar-SA" sz="2600" dirty="0"/>
          </a:p>
        </p:txBody>
      </p:sp>
      <p:sp>
        <p:nvSpPr>
          <p:cNvPr id="34" name="Text 31"/>
          <p:cNvSpPr txBox="1"/>
          <p:nvPr/>
        </p:nvSpPr>
        <p:spPr>
          <a:xfrm>
            <a:off x="685800" y="5326380"/>
            <a:ext cx="3749040" cy="937260"/>
          </a:xfrm>
          <a:prstGeom prst="rect">
            <a:avLst/>
          </a:prstGeom>
          <a:noFill/>
          <a:ln/>
        </p:spPr>
        <p:txBody>
          <a:bodyPr wrap="square" lIns="0" tIns="0" rIns="0" bIns="0" rtlCol="0" anchor="ctr"/>
          <a:lstStyle/>
          <a:p>
            <a:pPr indent="0" marL="0">
              <a:buNone/>
            </a:pPr>
            <a:r>
              <a:rPr lang="en-US" sz="1250" b="1" dirty="0">
                <a:solidFill>
                  <a:srgbClr val="1F2A37"/>
                </a:solidFill>
                <a:latin typeface="Calibri" pitchFamily="34" charset="0"/>
                <a:ea typeface="Calibri" pitchFamily="34" charset="-122"/>
                <a:cs typeface="Calibri" pitchFamily="34" charset="-120"/>
              </a:rPr>
              <a:t>The school is still open.</a:t>
            </a:r>
            <a:endParaRPr lang="en-US" sz="1250" dirty="0"/>
          </a:p>
          <a:p>
            <a:pPr indent="0" marL="0">
              <a:buNone/>
            </a:pPr>
            <a:r>
              <a:rPr lang="en-US" sz="1050" i="1" dirty="0">
                <a:solidFill>
                  <a:srgbClr val="8A6D1E"/>
                </a:solidFill>
                <a:latin typeface="Calibri" pitchFamily="34" charset="0"/>
                <a:ea typeface="Calibri" pitchFamily="34" charset="-122"/>
                <a:cs typeface="Calibri" pitchFamily="34" charset="-120"/>
              </a:rPr>
              <a:t>Continuation.</a:t>
            </a:r>
            <a:endParaRPr lang="en-US" sz="1250" dirty="0"/>
          </a:p>
        </p:txBody>
      </p:sp>
      <p:sp>
        <p:nvSpPr>
          <p:cNvPr id="35" name="Text 3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15 / 35</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NOW → THEN (WEBSITE GAME)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Put it in the past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حَوِّلْ إِلَى الْمَاضِي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668512" y="1810512"/>
            <a:ext cx="29900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Watch</a:t>
            </a:r>
            <a:endParaRPr lang="en-US" sz="1100" dirty="0"/>
          </a:p>
        </p:txBody>
      </p:sp>
      <p:sp>
        <p:nvSpPr>
          <p:cNvPr id="17" name="Text 14"/>
          <p:cNvSpPr txBox="1"/>
          <p:nvPr/>
        </p:nvSpPr>
        <p:spPr>
          <a:xfrm>
            <a:off x="4462272" y="1810512"/>
            <a:ext cx="40599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Then</a:t>
            </a:r>
            <a:endParaRPr lang="en-US" sz="1100" dirty="0"/>
          </a:p>
        </p:txBody>
      </p:sp>
      <p:sp>
        <p:nvSpPr>
          <p:cNvPr id="18" name="Text 15"/>
          <p:cNvSpPr txBox="1"/>
          <p:nvPr/>
        </p:nvSpPr>
        <p:spPr>
          <a:xfrm>
            <a:off x="53035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Now</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8705088" y="226771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-un becomes -an</a:t>
            </a:r>
            <a:endParaRPr lang="en-US" sz="1100" dirty="0"/>
          </a:p>
        </p:txBody>
      </p:sp>
      <p:sp>
        <p:nvSpPr>
          <p:cNvPr id="21" name="Text 18"/>
          <p:cNvSpPr txBox="1"/>
          <p:nvPr/>
        </p:nvSpPr>
        <p:spPr>
          <a:xfrm>
            <a:off x="4480560" y="226771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الطَّقْسُ جَمِيلًا.</a:t>
            </a:r>
            <a:endParaRPr lang="ar-SA" sz="2200" dirty="0"/>
          </a:p>
        </p:txBody>
      </p:sp>
      <p:sp>
        <p:nvSpPr>
          <p:cNvPr id="22" name="Text 19"/>
          <p:cNvSpPr txBox="1"/>
          <p:nvPr/>
        </p:nvSpPr>
        <p:spPr>
          <a:xfrm>
            <a:off x="548640" y="226771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الطَّقْسُ جَمِيلٌ.</a:t>
            </a:r>
            <a:endParaRPr lang="ar-SA" sz="2200" dirty="0"/>
          </a:p>
        </p:txBody>
      </p:sp>
      <p:sp>
        <p:nvSpPr>
          <p:cNvPr id="23" name="Shape 20"/>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25" name="Shape 22"/>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6" name="Text 23"/>
          <p:cNvSpPr txBox="1"/>
          <p:nvPr/>
        </p:nvSpPr>
        <p:spPr>
          <a:xfrm>
            <a:off x="8705088" y="2881884"/>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place: no change</a:t>
            </a:r>
            <a:endParaRPr lang="en-US" sz="1100" dirty="0"/>
          </a:p>
        </p:txBody>
      </p:sp>
      <p:sp>
        <p:nvSpPr>
          <p:cNvPr id="27" name="Text 24"/>
          <p:cNvSpPr txBox="1"/>
          <p:nvPr/>
        </p:nvSpPr>
        <p:spPr>
          <a:xfrm>
            <a:off x="4480560" y="2881884"/>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كُنْتُ فِي الْمَدْرَسَةِ.</a:t>
            </a:r>
            <a:endParaRPr lang="ar-SA" sz="2200" dirty="0"/>
          </a:p>
        </p:txBody>
      </p:sp>
      <p:sp>
        <p:nvSpPr>
          <p:cNvPr id="28" name="Text 25"/>
          <p:cNvSpPr txBox="1"/>
          <p:nvPr/>
        </p:nvSpPr>
        <p:spPr>
          <a:xfrm>
            <a:off x="548640" y="2881884"/>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أَنَا فِي الْمَدْرَسَةِ.</a:t>
            </a:r>
            <a:endParaRPr lang="ar-SA" sz="2200" dirty="0"/>
          </a:p>
        </p:txBody>
      </p:sp>
      <p:sp>
        <p:nvSpPr>
          <p:cNvPr id="29" name="Shape 26"/>
          <p:cNvSpPr/>
          <p:nvPr/>
        </p:nvSpPr>
        <p:spPr>
          <a:xfrm>
            <a:off x="11091672" y="2927604"/>
            <a:ext cx="548640" cy="182880"/>
          </a:xfrm>
          <a:prstGeom prst="roundRect">
            <a:avLst>
              <a:gd name="adj" fmla="val 50000"/>
            </a:avLst>
          </a:prstGeom>
          <a:solidFill>
            <a:srgbClr val="2E8B57"/>
          </a:solidFill>
          <a:ln w="12700">
            <a:solidFill>
              <a:srgbClr val="2E8B57"/>
            </a:solidFill>
            <a:prstDash val="solid"/>
          </a:ln>
        </p:spPr>
      </p:sp>
      <p:sp>
        <p:nvSpPr>
          <p:cNvPr id="30" name="Text 27"/>
          <p:cNvSpPr txBox="1"/>
          <p:nvPr/>
        </p:nvSpPr>
        <p:spPr>
          <a:xfrm>
            <a:off x="11091672" y="292760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1" name="Shape 28"/>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32" name="Text 29"/>
          <p:cNvSpPr txBox="1"/>
          <p:nvPr/>
        </p:nvSpPr>
        <p:spPr>
          <a:xfrm>
            <a:off x="8705088" y="3496056"/>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kānat for she</a:t>
            </a:r>
            <a:endParaRPr lang="en-US" sz="1100" dirty="0"/>
          </a:p>
        </p:txBody>
      </p:sp>
      <p:sp>
        <p:nvSpPr>
          <p:cNvPr id="33" name="Text 30"/>
          <p:cNvSpPr txBox="1"/>
          <p:nvPr/>
        </p:nvSpPr>
        <p:spPr>
          <a:xfrm>
            <a:off x="4480560" y="3496056"/>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كَانَتْ سَعِيدَةً.</a:t>
            </a:r>
            <a:endParaRPr lang="ar-SA" sz="2200" dirty="0"/>
          </a:p>
        </p:txBody>
      </p:sp>
      <p:sp>
        <p:nvSpPr>
          <p:cNvPr id="34" name="Text 31"/>
          <p:cNvSpPr txBox="1"/>
          <p:nvPr/>
        </p:nvSpPr>
        <p:spPr>
          <a:xfrm>
            <a:off x="548640" y="3496056"/>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هِيَ سَعِيدَةٌ.</a:t>
            </a:r>
            <a:endParaRPr lang="ar-SA" sz="2200" dirty="0"/>
          </a:p>
        </p:txBody>
      </p:sp>
      <p:sp>
        <p:nvSpPr>
          <p:cNvPr id="35" name="Shape 32"/>
          <p:cNvSpPr/>
          <p:nvPr/>
        </p:nvSpPr>
        <p:spPr>
          <a:xfrm>
            <a:off x="11091672" y="3541776"/>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54177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ea typeface="Calibri" pitchFamily="34" charset="-122"/>
                <a:cs typeface="Calibri" pitchFamily="34" charset="-120"/>
              </a:rPr>
              <a:t>CORE</a:t>
            </a:r>
            <a:endParaRPr lang="en-US" sz="650" dirty="0"/>
          </a:p>
        </p:txBody>
      </p:sp>
      <p:sp>
        <p:nvSpPr>
          <p:cNvPr id="37" name="Shape 34"/>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8" name="Text 35"/>
          <p:cNvSpPr txBox="1"/>
          <p:nvPr/>
        </p:nvSpPr>
        <p:spPr>
          <a:xfrm>
            <a:off x="8705088" y="4110228"/>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used to</a:t>
            </a:r>
            <a:endParaRPr lang="en-US" sz="1100" dirty="0"/>
          </a:p>
        </p:txBody>
      </p:sp>
      <p:sp>
        <p:nvSpPr>
          <p:cNvPr id="39" name="Text 36"/>
          <p:cNvSpPr txBox="1"/>
          <p:nvPr/>
        </p:nvSpPr>
        <p:spPr>
          <a:xfrm>
            <a:off x="4480560" y="4110228"/>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كُنَّا نَلْعَبُ بَعْدَ الْمَدْرَسَةِ.</a:t>
            </a:r>
            <a:endParaRPr lang="ar-SA" sz="2200" dirty="0"/>
          </a:p>
        </p:txBody>
      </p:sp>
      <p:sp>
        <p:nvSpPr>
          <p:cNvPr id="40" name="Text 37"/>
          <p:cNvSpPr txBox="1"/>
          <p:nvPr/>
        </p:nvSpPr>
        <p:spPr>
          <a:xfrm>
            <a:off x="548640" y="4110228"/>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نَحْنُ نَلْعَبُ بَعْدَ الْمَدْرَسَةِ.</a:t>
            </a:r>
            <a:endParaRPr lang="ar-SA" sz="2200" dirty="0"/>
          </a:p>
        </p:txBody>
      </p:sp>
      <p:sp>
        <p:nvSpPr>
          <p:cNvPr id="41" name="Shape 38"/>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42" name="Text 39"/>
          <p:cNvSpPr txBox="1"/>
          <p:nvPr/>
        </p:nvSpPr>
        <p:spPr>
          <a:xfrm>
            <a:off x="8705088" y="4724400"/>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verb first: kāna</a:t>
            </a:r>
            <a:endParaRPr lang="en-US" sz="1100" dirty="0"/>
          </a:p>
        </p:txBody>
      </p:sp>
      <p:sp>
        <p:nvSpPr>
          <p:cNvPr id="43" name="Text 40"/>
          <p:cNvSpPr txBox="1"/>
          <p:nvPr/>
        </p:nvSpPr>
        <p:spPr>
          <a:xfrm>
            <a:off x="4480560" y="4724400"/>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 الطُّلَّابُ فِي الْمَكْتَبَةِ.</a:t>
            </a:r>
            <a:endParaRPr lang="ar-SA" sz="2200" dirty="0"/>
          </a:p>
        </p:txBody>
      </p:sp>
      <p:sp>
        <p:nvSpPr>
          <p:cNvPr id="44" name="Text 41"/>
          <p:cNvSpPr txBox="1"/>
          <p:nvPr/>
        </p:nvSpPr>
        <p:spPr>
          <a:xfrm>
            <a:off x="548640" y="4724400"/>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الطُّلَّابُ فِي الْمَكْتَبَةِ.</a:t>
            </a:r>
            <a:endParaRPr lang="ar-SA" sz="2200" dirty="0"/>
          </a:p>
        </p:txBody>
      </p:sp>
      <p:sp>
        <p:nvSpPr>
          <p:cNvPr id="45" name="Shape 42"/>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6" name="Text 43"/>
          <p:cNvSpPr txBox="1"/>
          <p:nvPr/>
        </p:nvSpPr>
        <p:spPr>
          <a:xfrm>
            <a:off x="8705088" y="5338572"/>
            <a:ext cx="29535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ea typeface="Calibri" pitchFamily="34" charset="-122"/>
                <a:cs typeface="Calibri" pitchFamily="34" charset="-120"/>
              </a:rPr>
              <a:t>-ūna becomes -īna</a:t>
            </a:r>
            <a:endParaRPr lang="en-US" sz="1100" dirty="0"/>
          </a:p>
        </p:txBody>
      </p:sp>
      <p:sp>
        <p:nvSpPr>
          <p:cNvPr id="47" name="Text 44"/>
          <p:cNvSpPr txBox="1"/>
          <p:nvPr/>
        </p:nvSpPr>
        <p:spPr>
          <a:xfrm>
            <a:off x="4480560" y="5338572"/>
            <a:ext cx="402336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كَانُوا مُتْعَبِينَ.</a:t>
            </a:r>
            <a:endParaRPr lang="ar-SA" sz="2200" dirty="0"/>
          </a:p>
        </p:txBody>
      </p:sp>
      <p:sp>
        <p:nvSpPr>
          <p:cNvPr id="48" name="Text 45"/>
          <p:cNvSpPr txBox="1"/>
          <p:nvPr/>
        </p:nvSpPr>
        <p:spPr>
          <a:xfrm>
            <a:off x="548640" y="5338572"/>
            <a:ext cx="3749040" cy="559308"/>
          </a:xfrm>
          <a:prstGeom prst="rect">
            <a:avLst/>
          </a:prstGeom>
          <a:noFill/>
          <a:ln/>
        </p:spPr>
        <p:txBody>
          <a:bodyPr wrap="square" lIns="0" tIns="0" rIns="0" bIns="0" rtlCol="0" anchor="ctr"/>
          <a:lstStyle/>
          <a:p>
            <a:pPr rtl="1" algn="ctr" indent="0" marL="0">
              <a:buNone/>
            </a:pPr>
            <a:r>
              <a:rPr lang="ar-SA" altLang="en-US" sz="2200" b="1" dirty="0">
                <a:solidFill>
                  <a:srgbClr val="1B3B6F"/>
                </a:solidFill>
                <a:latin typeface="Amiri" pitchFamily="34" charset="0"/>
                <a:ea typeface="Amiri" pitchFamily="34" charset="-122"/>
                <a:cs typeface="Amiri" pitchFamily="34" charset="-120"/>
              </a:rPr>
              <a:t>هُمْ مُتْعَبُونَ.</a:t>
            </a:r>
            <a:endParaRPr lang="ar-SA" sz="22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The pronoun disappears into kāna: anā → kuntu, hiya → kānat, hum → kānū. Do not write kāna anā.</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16 / 35</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 IT · WHAT DOES THE SENTENCE TELL US?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Was, used to, became or still?</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مَاذَا تُضِيفُ الْكَلِمَةُ؟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9015984"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9107424"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الْبَيْتُ هَادِئًا.</a:t>
            </a:r>
            <a:endParaRPr lang="ar-SA" sz="1800" dirty="0"/>
          </a:p>
        </p:txBody>
      </p:sp>
      <p:sp>
        <p:nvSpPr>
          <p:cNvPr id="17" name="Shape 14"/>
          <p:cNvSpPr/>
          <p:nvPr/>
        </p:nvSpPr>
        <p:spPr>
          <a:xfrm>
            <a:off x="6163056"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6254496"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مَرْيَمُ فِي الْبَيْتِ.</a:t>
            </a:r>
            <a:endParaRPr lang="ar-SA" sz="1800" dirty="0"/>
          </a:p>
        </p:txBody>
      </p:sp>
      <p:sp>
        <p:nvSpPr>
          <p:cNvPr id="19" name="Shape 16"/>
          <p:cNvSpPr/>
          <p:nvPr/>
        </p:nvSpPr>
        <p:spPr>
          <a:xfrm>
            <a:off x="3310128"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0" name="Text 17"/>
          <p:cNvSpPr txBox="1"/>
          <p:nvPr/>
        </p:nvSpPr>
        <p:spPr>
          <a:xfrm>
            <a:off x="3401568"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أَقْرَأُ كُلَّ يَوْمٍ.</a:t>
            </a:r>
            <a:endParaRPr lang="ar-SA" sz="1800" dirty="0"/>
          </a:p>
        </p:txBody>
      </p:sp>
      <p:sp>
        <p:nvSpPr>
          <p:cNvPr id="21" name="Shape 18"/>
          <p:cNvSpPr/>
          <p:nvPr/>
        </p:nvSpPr>
        <p:spPr>
          <a:xfrm>
            <a:off x="457200" y="1810512"/>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548640" y="1810512"/>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كُنَّا نَلْعَبُ بَعْدَ الْمَدْرَسَةِ.</a:t>
            </a:r>
            <a:endParaRPr lang="ar-SA" sz="1800" dirty="0"/>
          </a:p>
        </p:txBody>
      </p:sp>
      <p:sp>
        <p:nvSpPr>
          <p:cNvPr id="23" name="Shape 20"/>
          <p:cNvSpPr/>
          <p:nvPr/>
        </p:nvSpPr>
        <p:spPr>
          <a:xfrm>
            <a:off x="9015984"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4" name="Text 21"/>
          <p:cNvSpPr txBox="1"/>
          <p:nvPr/>
        </p:nvSpPr>
        <p:spPr>
          <a:xfrm>
            <a:off x="9107424"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صَارَ الشَّارِعُ مُزْدَحِمًا.</a:t>
            </a:r>
            <a:endParaRPr lang="ar-SA" sz="1800" dirty="0"/>
          </a:p>
        </p:txBody>
      </p:sp>
      <p:sp>
        <p:nvSpPr>
          <p:cNvPr id="25" name="Shape 22"/>
          <p:cNvSpPr/>
          <p:nvPr/>
        </p:nvSpPr>
        <p:spPr>
          <a:xfrm>
            <a:off x="6163056"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6" name="Text 23"/>
          <p:cNvSpPr txBox="1"/>
          <p:nvPr/>
        </p:nvSpPr>
        <p:spPr>
          <a:xfrm>
            <a:off x="6254496"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أَصْبَحَ الْجَوُّ دَافِئًا.</a:t>
            </a:r>
            <a:endParaRPr lang="ar-SA" sz="1800" dirty="0"/>
          </a:p>
        </p:txBody>
      </p:sp>
      <p:sp>
        <p:nvSpPr>
          <p:cNvPr id="27" name="Shape 24"/>
          <p:cNvSpPr/>
          <p:nvPr/>
        </p:nvSpPr>
        <p:spPr>
          <a:xfrm>
            <a:off x="3310128"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3401568"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زَالَتِ الْمُشْكِلَةُ خَطِيرَةً.</a:t>
            </a:r>
            <a:endParaRPr lang="ar-SA" sz="1800" dirty="0"/>
          </a:p>
        </p:txBody>
      </p:sp>
      <p:sp>
        <p:nvSpPr>
          <p:cNvPr id="29" name="Shape 26"/>
          <p:cNvSpPr/>
          <p:nvPr/>
        </p:nvSpPr>
        <p:spPr>
          <a:xfrm>
            <a:off x="457200" y="2322576"/>
            <a:ext cx="2715768" cy="438912"/>
          </a:xfrm>
          <a:prstGeom prst="roundRect">
            <a:avLst>
              <a:gd name="adj" fmla="val 12500"/>
            </a:avLst>
          </a:prstGeom>
          <a:solidFill>
            <a:srgbClr val="FFF4DC"/>
          </a:solidFill>
          <a:ln w="9525">
            <a:solidFill>
              <a:srgbClr val="E6C98A"/>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548640" y="2322576"/>
            <a:ext cx="253288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زَالَ الْبَابُ مَفْتُوحًا.</a:t>
            </a:r>
            <a:endParaRPr lang="ar-SA" sz="1800" dirty="0"/>
          </a:p>
        </p:txBody>
      </p:sp>
      <p:sp>
        <p:nvSpPr>
          <p:cNvPr id="31" name="Shape 28"/>
          <p:cNvSpPr/>
          <p:nvPr/>
        </p:nvSpPr>
        <p:spPr>
          <a:xfrm>
            <a:off x="9050274" y="3017520"/>
            <a:ext cx="2681478" cy="3291840"/>
          </a:xfrm>
          <a:prstGeom prst="roundRect">
            <a:avLst>
              <a:gd name="adj" fmla="val 2728"/>
            </a:avLst>
          </a:prstGeom>
          <a:solidFill>
            <a:srgbClr val="EEF3FA"/>
          </a:solidFill>
          <a:ln w="9525">
            <a:solidFill>
              <a:srgbClr val="C9D6EA"/>
            </a:solidFill>
            <a:prstDash val="solid"/>
          </a:ln>
        </p:spPr>
      </p:sp>
      <p:sp>
        <p:nvSpPr>
          <p:cNvPr id="32" name="Shape 29"/>
          <p:cNvSpPr/>
          <p:nvPr/>
        </p:nvSpPr>
        <p:spPr>
          <a:xfrm>
            <a:off x="9187434" y="3127248"/>
            <a:ext cx="2407158" cy="310896"/>
          </a:xfrm>
          <a:prstGeom prst="roundRect">
            <a:avLst>
              <a:gd name="adj" fmla="val 50000"/>
            </a:avLst>
          </a:prstGeom>
          <a:solidFill>
            <a:srgbClr val="2F6FB0"/>
          </a:solidFill>
          <a:ln w="12700">
            <a:solidFill>
              <a:srgbClr val="2F6FB0"/>
            </a:solidFill>
            <a:prstDash val="solid"/>
          </a:ln>
        </p:spPr>
      </p:sp>
      <p:sp>
        <p:nvSpPr>
          <p:cNvPr id="33" name="Text 30"/>
          <p:cNvSpPr txBox="1"/>
          <p:nvPr/>
        </p:nvSpPr>
        <p:spPr>
          <a:xfrm>
            <a:off x="9187434"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Was</a:t>
            </a:r>
            <a:endParaRPr lang="en-US" sz="950" dirty="0"/>
          </a:p>
        </p:txBody>
      </p:sp>
      <p:sp>
        <p:nvSpPr>
          <p:cNvPr id="34" name="Shape 31"/>
          <p:cNvSpPr/>
          <p:nvPr/>
        </p:nvSpPr>
        <p:spPr>
          <a:xfrm>
            <a:off x="6185916" y="3017520"/>
            <a:ext cx="2681478" cy="3291840"/>
          </a:xfrm>
          <a:prstGeom prst="roundRect">
            <a:avLst>
              <a:gd name="adj" fmla="val 2728"/>
            </a:avLst>
          </a:prstGeom>
          <a:solidFill>
            <a:srgbClr val="EEF3FA"/>
          </a:solidFill>
          <a:ln w="9525">
            <a:solidFill>
              <a:srgbClr val="C9D6EA"/>
            </a:solidFill>
            <a:prstDash val="solid"/>
          </a:ln>
        </p:spPr>
      </p:sp>
      <p:sp>
        <p:nvSpPr>
          <p:cNvPr id="35" name="Shape 32"/>
          <p:cNvSpPr/>
          <p:nvPr/>
        </p:nvSpPr>
        <p:spPr>
          <a:xfrm>
            <a:off x="6323076" y="3127248"/>
            <a:ext cx="2407158" cy="310896"/>
          </a:xfrm>
          <a:prstGeom prst="roundRect">
            <a:avLst>
              <a:gd name="adj" fmla="val 50000"/>
            </a:avLst>
          </a:prstGeom>
          <a:solidFill>
            <a:srgbClr val="2F6FB0"/>
          </a:solidFill>
          <a:ln w="12700">
            <a:solidFill>
              <a:srgbClr val="2F6FB0"/>
            </a:solidFill>
            <a:prstDash val="solid"/>
          </a:ln>
        </p:spPr>
      </p:sp>
      <p:sp>
        <p:nvSpPr>
          <p:cNvPr id="36" name="Text 33"/>
          <p:cNvSpPr txBox="1"/>
          <p:nvPr/>
        </p:nvSpPr>
        <p:spPr>
          <a:xfrm>
            <a:off x="6323076"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Used to</a:t>
            </a:r>
            <a:endParaRPr lang="en-US" sz="950" dirty="0"/>
          </a:p>
        </p:txBody>
      </p:sp>
      <p:sp>
        <p:nvSpPr>
          <p:cNvPr id="37" name="Shape 34"/>
          <p:cNvSpPr/>
          <p:nvPr/>
        </p:nvSpPr>
        <p:spPr>
          <a:xfrm>
            <a:off x="3321558" y="3017520"/>
            <a:ext cx="2681478" cy="3291840"/>
          </a:xfrm>
          <a:prstGeom prst="roundRect">
            <a:avLst>
              <a:gd name="adj" fmla="val 2728"/>
            </a:avLst>
          </a:prstGeom>
          <a:solidFill>
            <a:srgbClr val="EEF3FA"/>
          </a:solidFill>
          <a:ln w="9525">
            <a:solidFill>
              <a:srgbClr val="C9D6EA"/>
            </a:solidFill>
            <a:prstDash val="solid"/>
          </a:ln>
        </p:spPr>
      </p:sp>
      <p:sp>
        <p:nvSpPr>
          <p:cNvPr id="38" name="Shape 35"/>
          <p:cNvSpPr/>
          <p:nvPr/>
        </p:nvSpPr>
        <p:spPr>
          <a:xfrm>
            <a:off x="3458718" y="3127248"/>
            <a:ext cx="2407158" cy="310896"/>
          </a:xfrm>
          <a:prstGeom prst="roundRect">
            <a:avLst>
              <a:gd name="adj" fmla="val 50000"/>
            </a:avLst>
          </a:prstGeom>
          <a:solidFill>
            <a:srgbClr val="2F6FB0"/>
          </a:solidFill>
          <a:ln w="12700">
            <a:solidFill>
              <a:srgbClr val="2F6FB0"/>
            </a:solidFill>
            <a:prstDash val="solid"/>
          </a:ln>
        </p:spPr>
      </p:sp>
      <p:sp>
        <p:nvSpPr>
          <p:cNvPr id="39" name="Text 36"/>
          <p:cNvSpPr txBox="1"/>
          <p:nvPr/>
        </p:nvSpPr>
        <p:spPr>
          <a:xfrm>
            <a:off x="3458718"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Became</a:t>
            </a:r>
            <a:endParaRPr lang="en-US" sz="950" dirty="0"/>
          </a:p>
        </p:txBody>
      </p:sp>
      <p:sp>
        <p:nvSpPr>
          <p:cNvPr id="40" name="Shape 37"/>
          <p:cNvSpPr/>
          <p:nvPr/>
        </p:nvSpPr>
        <p:spPr>
          <a:xfrm>
            <a:off x="457200" y="3017520"/>
            <a:ext cx="2681478" cy="3291840"/>
          </a:xfrm>
          <a:prstGeom prst="roundRect">
            <a:avLst>
              <a:gd name="adj" fmla="val 2728"/>
            </a:avLst>
          </a:prstGeom>
          <a:solidFill>
            <a:srgbClr val="EEF3FA"/>
          </a:solidFill>
          <a:ln w="9525">
            <a:solidFill>
              <a:srgbClr val="C9D6EA"/>
            </a:solidFill>
            <a:prstDash val="solid"/>
          </a:ln>
        </p:spPr>
      </p:sp>
      <p:sp>
        <p:nvSpPr>
          <p:cNvPr id="41" name="Shape 38"/>
          <p:cNvSpPr/>
          <p:nvPr/>
        </p:nvSpPr>
        <p:spPr>
          <a:xfrm>
            <a:off x="594360" y="3127248"/>
            <a:ext cx="2407158" cy="310896"/>
          </a:xfrm>
          <a:prstGeom prst="roundRect">
            <a:avLst>
              <a:gd name="adj" fmla="val 50000"/>
            </a:avLst>
          </a:prstGeom>
          <a:solidFill>
            <a:srgbClr val="2F6FB0"/>
          </a:solidFill>
          <a:ln w="12700">
            <a:solidFill>
              <a:srgbClr val="2F6FB0"/>
            </a:solidFill>
            <a:prstDash val="solid"/>
          </a:ln>
        </p:spPr>
      </p:sp>
      <p:sp>
        <p:nvSpPr>
          <p:cNvPr id="42" name="Text 39"/>
          <p:cNvSpPr txBox="1"/>
          <p:nvPr/>
        </p:nvSpPr>
        <p:spPr>
          <a:xfrm>
            <a:off x="594360" y="3127248"/>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Still</a:t>
            </a:r>
            <a:endParaRPr lang="en-US" sz="95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17 / 35</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SORTER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Sorted</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9050274" y="1810512"/>
            <a:ext cx="2681478" cy="4498848"/>
          </a:xfrm>
          <a:prstGeom prst="roundRect">
            <a:avLst>
              <a:gd name="adj" fmla="val 2728"/>
            </a:avLst>
          </a:prstGeom>
          <a:solidFill>
            <a:srgbClr val="EEF3FA"/>
          </a:solidFill>
          <a:ln w="9525">
            <a:solidFill>
              <a:srgbClr val="C9D6EA"/>
            </a:solidFill>
            <a:prstDash val="solid"/>
          </a:ln>
        </p:spPr>
      </p:sp>
      <p:sp>
        <p:nvSpPr>
          <p:cNvPr id="16" name="Shape 13"/>
          <p:cNvSpPr/>
          <p:nvPr/>
        </p:nvSpPr>
        <p:spPr>
          <a:xfrm>
            <a:off x="9187434" y="1920240"/>
            <a:ext cx="2407158" cy="310896"/>
          </a:xfrm>
          <a:prstGeom prst="roundRect">
            <a:avLst>
              <a:gd name="adj" fmla="val 50000"/>
            </a:avLst>
          </a:prstGeom>
          <a:solidFill>
            <a:srgbClr val="2F6FB0"/>
          </a:solidFill>
          <a:ln w="12700">
            <a:solidFill>
              <a:srgbClr val="2F6FB0"/>
            </a:solidFill>
            <a:prstDash val="solid"/>
          </a:ln>
        </p:spPr>
      </p:sp>
      <p:sp>
        <p:nvSpPr>
          <p:cNvPr id="17" name="Text 14"/>
          <p:cNvSpPr txBox="1"/>
          <p:nvPr/>
        </p:nvSpPr>
        <p:spPr>
          <a:xfrm>
            <a:off x="9187434"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1 · Was</a:t>
            </a:r>
            <a:endParaRPr lang="en-US" sz="950" dirty="0"/>
          </a:p>
        </p:txBody>
      </p:sp>
      <p:sp>
        <p:nvSpPr>
          <p:cNvPr id="18" name="Shape 15"/>
          <p:cNvSpPr/>
          <p:nvPr/>
        </p:nvSpPr>
        <p:spPr>
          <a:xfrm>
            <a:off x="9187434" y="2377440"/>
            <a:ext cx="2407158" cy="438912"/>
          </a:xfrm>
          <a:prstGeom prst="roundRect">
            <a:avLst>
              <a:gd name="adj" fmla="val 12500"/>
            </a:avLst>
          </a:prstGeom>
          <a:solidFill>
            <a:srgbClr val="FFF4DC"/>
          </a:solidFill>
          <a:ln w="9525">
            <a:solidFill>
              <a:srgbClr val="E6C98A"/>
            </a:solidFill>
            <a:prstDash val="solid"/>
          </a:ln>
        </p:spPr>
      </p:sp>
      <p:sp>
        <p:nvSpPr>
          <p:cNvPr id="19" name="Text 16"/>
          <p:cNvSpPr txBox="1"/>
          <p:nvPr/>
        </p:nvSpPr>
        <p:spPr>
          <a:xfrm>
            <a:off x="9278874"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 الْبَيْتُ هَادِئًا.</a:t>
            </a:r>
            <a:endParaRPr lang="ar-SA" sz="1800" dirty="0"/>
          </a:p>
        </p:txBody>
      </p:sp>
      <p:sp>
        <p:nvSpPr>
          <p:cNvPr id="20" name="Shape 17"/>
          <p:cNvSpPr/>
          <p:nvPr/>
        </p:nvSpPr>
        <p:spPr>
          <a:xfrm>
            <a:off x="9187434" y="2889504"/>
            <a:ext cx="2407158" cy="438912"/>
          </a:xfrm>
          <a:prstGeom prst="roundRect">
            <a:avLst>
              <a:gd name="adj" fmla="val 12500"/>
            </a:avLst>
          </a:prstGeom>
          <a:solidFill>
            <a:srgbClr val="FFF4DC"/>
          </a:solidFill>
          <a:ln w="9525">
            <a:solidFill>
              <a:srgbClr val="E6C98A"/>
            </a:solidFill>
            <a:prstDash val="solid"/>
          </a:ln>
        </p:spPr>
      </p:sp>
      <p:sp>
        <p:nvSpPr>
          <p:cNvPr id="21" name="Text 18"/>
          <p:cNvSpPr txBox="1"/>
          <p:nvPr/>
        </p:nvSpPr>
        <p:spPr>
          <a:xfrm>
            <a:off x="9278874"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كَانَتْ مَرْيَمُ فِي الْبَيْتِ.</a:t>
            </a:r>
            <a:endParaRPr lang="ar-SA" sz="1800" dirty="0"/>
          </a:p>
        </p:txBody>
      </p:sp>
      <p:sp>
        <p:nvSpPr>
          <p:cNvPr id="22" name="Shape 19"/>
          <p:cNvSpPr/>
          <p:nvPr/>
        </p:nvSpPr>
        <p:spPr>
          <a:xfrm>
            <a:off x="6185916" y="1810512"/>
            <a:ext cx="2681478" cy="4498848"/>
          </a:xfrm>
          <a:prstGeom prst="roundRect">
            <a:avLst>
              <a:gd name="adj" fmla="val 2728"/>
            </a:avLst>
          </a:prstGeom>
          <a:solidFill>
            <a:srgbClr val="EEF3FA"/>
          </a:solidFill>
          <a:ln w="9525">
            <a:solidFill>
              <a:srgbClr val="C9D6EA"/>
            </a:solidFill>
            <a:prstDash val="solid"/>
          </a:ln>
        </p:spPr>
      </p:sp>
      <p:sp>
        <p:nvSpPr>
          <p:cNvPr id="23" name="Shape 20"/>
          <p:cNvSpPr/>
          <p:nvPr/>
        </p:nvSpPr>
        <p:spPr>
          <a:xfrm>
            <a:off x="6323076" y="1920240"/>
            <a:ext cx="2407158" cy="310896"/>
          </a:xfrm>
          <a:prstGeom prst="roundRect">
            <a:avLst>
              <a:gd name="adj" fmla="val 50000"/>
            </a:avLst>
          </a:prstGeom>
          <a:solidFill>
            <a:srgbClr val="2F6FB0"/>
          </a:solidFill>
          <a:ln w="12700">
            <a:solidFill>
              <a:srgbClr val="2F6FB0"/>
            </a:solidFill>
            <a:prstDash val="solid"/>
          </a:ln>
        </p:spPr>
      </p:sp>
      <p:sp>
        <p:nvSpPr>
          <p:cNvPr id="24" name="Text 21"/>
          <p:cNvSpPr txBox="1"/>
          <p:nvPr/>
        </p:nvSpPr>
        <p:spPr>
          <a:xfrm>
            <a:off x="6323076"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2 · Used to</a:t>
            </a:r>
            <a:endParaRPr lang="en-US" sz="950" dirty="0"/>
          </a:p>
        </p:txBody>
      </p:sp>
      <p:sp>
        <p:nvSpPr>
          <p:cNvPr id="25" name="Shape 22"/>
          <p:cNvSpPr/>
          <p:nvPr/>
        </p:nvSpPr>
        <p:spPr>
          <a:xfrm>
            <a:off x="6323076" y="2377440"/>
            <a:ext cx="2407158" cy="438912"/>
          </a:xfrm>
          <a:prstGeom prst="roundRect">
            <a:avLst>
              <a:gd name="adj" fmla="val 12500"/>
            </a:avLst>
          </a:prstGeom>
          <a:solidFill>
            <a:srgbClr val="FFF4DC"/>
          </a:solidFill>
          <a:ln w="9525">
            <a:solidFill>
              <a:srgbClr val="E6C98A"/>
            </a:solidFill>
            <a:prstDash val="solid"/>
          </a:ln>
        </p:spPr>
      </p:sp>
      <p:sp>
        <p:nvSpPr>
          <p:cNvPr id="26" name="Text 23"/>
          <p:cNvSpPr txBox="1"/>
          <p:nvPr/>
        </p:nvSpPr>
        <p:spPr>
          <a:xfrm>
            <a:off x="6414516"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كُنْتُ أَقْرَأُ كُلَّ يَوْمٍ.</a:t>
            </a:r>
            <a:endParaRPr lang="ar-SA" sz="1800" dirty="0"/>
          </a:p>
        </p:txBody>
      </p:sp>
      <p:sp>
        <p:nvSpPr>
          <p:cNvPr id="27" name="Shape 24"/>
          <p:cNvSpPr/>
          <p:nvPr/>
        </p:nvSpPr>
        <p:spPr>
          <a:xfrm>
            <a:off x="6323076" y="2889504"/>
            <a:ext cx="2407158" cy="438912"/>
          </a:xfrm>
          <a:prstGeom prst="roundRect">
            <a:avLst>
              <a:gd name="adj" fmla="val 12500"/>
            </a:avLst>
          </a:prstGeom>
          <a:solidFill>
            <a:srgbClr val="FFF4DC"/>
          </a:solidFill>
          <a:ln w="9525">
            <a:solidFill>
              <a:srgbClr val="E6C98A"/>
            </a:solidFill>
            <a:prstDash val="solid"/>
          </a:ln>
        </p:spPr>
      </p:sp>
      <p:sp>
        <p:nvSpPr>
          <p:cNvPr id="28" name="Text 25"/>
          <p:cNvSpPr txBox="1"/>
          <p:nvPr/>
        </p:nvSpPr>
        <p:spPr>
          <a:xfrm>
            <a:off x="6414516"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كُنَّا نَلْعَبُ بَعْدَ الْمَدْرَسَةِ.</a:t>
            </a:r>
            <a:endParaRPr lang="ar-SA" sz="1800" dirty="0"/>
          </a:p>
        </p:txBody>
      </p:sp>
      <p:sp>
        <p:nvSpPr>
          <p:cNvPr id="29" name="Shape 26"/>
          <p:cNvSpPr/>
          <p:nvPr/>
        </p:nvSpPr>
        <p:spPr>
          <a:xfrm>
            <a:off x="3321558" y="1810512"/>
            <a:ext cx="2681478" cy="4498848"/>
          </a:xfrm>
          <a:prstGeom prst="roundRect">
            <a:avLst>
              <a:gd name="adj" fmla="val 2728"/>
            </a:avLst>
          </a:prstGeom>
          <a:solidFill>
            <a:srgbClr val="EEF3FA"/>
          </a:solidFill>
          <a:ln w="9525">
            <a:solidFill>
              <a:srgbClr val="C9D6EA"/>
            </a:solidFill>
            <a:prstDash val="solid"/>
          </a:ln>
        </p:spPr>
      </p:sp>
      <p:sp>
        <p:nvSpPr>
          <p:cNvPr id="30" name="Shape 27"/>
          <p:cNvSpPr/>
          <p:nvPr/>
        </p:nvSpPr>
        <p:spPr>
          <a:xfrm>
            <a:off x="3458718" y="1920240"/>
            <a:ext cx="2407158" cy="310896"/>
          </a:xfrm>
          <a:prstGeom prst="roundRect">
            <a:avLst>
              <a:gd name="adj" fmla="val 50000"/>
            </a:avLst>
          </a:prstGeom>
          <a:solidFill>
            <a:srgbClr val="2F6FB0"/>
          </a:solidFill>
          <a:ln w="12700">
            <a:solidFill>
              <a:srgbClr val="2F6FB0"/>
            </a:solidFill>
            <a:prstDash val="solid"/>
          </a:ln>
        </p:spPr>
      </p:sp>
      <p:sp>
        <p:nvSpPr>
          <p:cNvPr id="31" name="Text 28"/>
          <p:cNvSpPr txBox="1"/>
          <p:nvPr/>
        </p:nvSpPr>
        <p:spPr>
          <a:xfrm>
            <a:off x="3458718"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3 · Became</a:t>
            </a:r>
            <a:endParaRPr lang="en-US" sz="950" dirty="0"/>
          </a:p>
        </p:txBody>
      </p:sp>
      <p:sp>
        <p:nvSpPr>
          <p:cNvPr id="32" name="Shape 29"/>
          <p:cNvSpPr/>
          <p:nvPr/>
        </p:nvSpPr>
        <p:spPr>
          <a:xfrm>
            <a:off x="3458718" y="2377440"/>
            <a:ext cx="2407158" cy="438912"/>
          </a:xfrm>
          <a:prstGeom prst="roundRect">
            <a:avLst>
              <a:gd name="adj" fmla="val 12500"/>
            </a:avLst>
          </a:prstGeom>
          <a:solidFill>
            <a:srgbClr val="FFF4DC"/>
          </a:solidFill>
          <a:ln w="9525">
            <a:solidFill>
              <a:srgbClr val="E6C98A"/>
            </a:solidFill>
            <a:prstDash val="solid"/>
          </a:ln>
        </p:spPr>
      </p:sp>
      <p:sp>
        <p:nvSpPr>
          <p:cNvPr id="33" name="Text 30"/>
          <p:cNvSpPr txBox="1"/>
          <p:nvPr/>
        </p:nvSpPr>
        <p:spPr>
          <a:xfrm>
            <a:off x="3550158"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صَارَ الشَّارِعُ مُزْدَحِمًا.</a:t>
            </a:r>
            <a:endParaRPr lang="ar-SA" sz="1800" dirty="0"/>
          </a:p>
        </p:txBody>
      </p:sp>
      <p:sp>
        <p:nvSpPr>
          <p:cNvPr id="34" name="Shape 31"/>
          <p:cNvSpPr/>
          <p:nvPr/>
        </p:nvSpPr>
        <p:spPr>
          <a:xfrm>
            <a:off x="3458718" y="2889504"/>
            <a:ext cx="2407158" cy="438912"/>
          </a:xfrm>
          <a:prstGeom prst="roundRect">
            <a:avLst>
              <a:gd name="adj" fmla="val 12500"/>
            </a:avLst>
          </a:prstGeom>
          <a:solidFill>
            <a:srgbClr val="FFF4DC"/>
          </a:solidFill>
          <a:ln w="9525">
            <a:solidFill>
              <a:srgbClr val="E6C98A"/>
            </a:solidFill>
            <a:prstDash val="solid"/>
          </a:ln>
        </p:spPr>
      </p:sp>
      <p:sp>
        <p:nvSpPr>
          <p:cNvPr id="35" name="Text 32"/>
          <p:cNvSpPr txBox="1"/>
          <p:nvPr/>
        </p:nvSpPr>
        <p:spPr>
          <a:xfrm>
            <a:off x="3550158"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أَصْبَحَ الْجَوُّ دَافِئًا.</a:t>
            </a:r>
            <a:endParaRPr lang="ar-SA" sz="1800" dirty="0"/>
          </a:p>
        </p:txBody>
      </p:sp>
      <p:sp>
        <p:nvSpPr>
          <p:cNvPr id="36" name="Shape 33"/>
          <p:cNvSpPr/>
          <p:nvPr/>
        </p:nvSpPr>
        <p:spPr>
          <a:xfrm>
            <a:off x="457200" y="1810512"/>
            <a:ext cx="2681478" cy="4498848"/>
          </a:xfrm>
          <a:prstGeom prst="roundRect">
            <a:avLst>
              <a:gd name="adj" fmla="val 2728"/>
            </a:avLst>
          </a:prstGeom>
          <a:solidFill>
            <a:srgbClr val="EEF3FA"/>
          </a:solidFill>
          <a:ln w="9525">
            <a:solidFill>
              <a:srgbClr val="C9D6EA"/>
            </a:solidFill>
            <a:prstDash val="solid"/>
          </a:ln>
        </p:spPr>
      </p:sp>
      <p:sp>
        <p:nvSpPr>
          <p:cNvPr id="37" name="Shape 34"/>
          <p:cNvSpPr/>
          <p:nvPr/>
        </p:nvSpPr>
        <p:spPr>
          <a:xfrm>
            <a:off x="594360" y="1920240"/>
            <a:ext cx="2407158" cy="310896"/>
          </a:xfrm>
          <a:prstGeom prst="roundRect">
            <a:avLst>
              <a:gd name="adj" fmla="val 50000"/>
            </a:avLst>
          </a:prstGeom>
          <a:solidFill>
            <a:srgbClr val="2F6FB0"/>
          </a:solidFill>
          <a:ln w="12700">
            <a:solidFill>
              <a:srgbClr val="2F6FB0"/>
            </a:solidFill>
            <a:prstDash val="solid"/>
          </a:ln>
        </p:spPr>
      </p:sp>
      <p:sp>
        <p:nvSpPr>
          <p:cNvPr id="38" name="Text 35"/>
          <p:cNvSpPr txBox="1"/>
          <p:nvPr/>
        </p:nvSpPr>
        <p:spPr>
          <a:xfrm>
            <a:off x="594360" y="1920240"/>
            <a:ext cx="2407158" cy="310896"/>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4 · Still</a:t>
            </a:r>
            <a:endParaRPr lang="en-US" sz="950" dirty="0"/>
          </a:p>
        </p:txBody>
      </p:sp>
      <p:sp>
        <p:nvSpPr>
          <p:cNvPr id="39" name="Shape 36"/>
          <p:cNvSpPr/>
          <p:nvPr/>
        </p:nvSpPr>
        <p:spPr>
          <a:xfrm>
            <a:off x="594360" y="2377440"/>
            <a:ext cx="2407158" cy="438912"/>
          </a:xfrm>
          <a:prstGeom prst="roundRect">
            <a:avLst>
              <a:gd name="adj" fmla="val 12500"/>
            </a:avLst>
          </a:prstGeom>
          <a:solidFill>
            <a:srgbClr val="FFF4DC"/>
          </a:solidFill>
          <a:ln w="9525">
            <a:solidFill>
              <a:srgbClr val="E6C98A"/>
            </a:solidFill>
            <a:prstDash val="solid"/>
          </a:ln>
        </p:spPr>
      </p:sp>
      <p:sp>
        <p:nvSpPr>
          <p:cNvPr id="40" name="Text 37"/>
          <p:cNvSpPr txBox="1"/>
          <p:nvPr/>
        </p:nvSpPr>
        <p:spPr>
          <a:xfrm>
            <a:off x="685800" y="2377440"/>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زَالَتِ الْمُشْكِلَةُ خَطِيرَةً.</a:t>
            </a:r>
            <a:endParaRPr lang="ar-SA" sz="1800" dirty="0"/>
          </a:p>
        </p:txBody>
      </p:sp>
      <p:sp>
        <p:nvSpPr>
          <p:cNvPr id="41" name="Shape 38"/>
          <p:cNvSpPr/>
          <p:nvPr/>
        </p:nvSpPr>
        <p:spPr>
          <a:xfrm>
            <a:off x="594360" y="2889504"/>
            <a:ext cx="2407158" cy="438912"/>
          </a:xfrm>
          <a:prstGeom prst="roundRect">
            <a:avLst>
              <a:gd name="adj" fmla="val 12500"/>
            </a:avLst>
          </a:prstGeom>
          <a:solidFill>
            <a:srgbClr val="FFF4DC"/>
          </a:solidFill>
          <a:ln w="9525">
            <a:solidFill>
              <a:srgbClr val="E6C98A"/>
            </a:solidFill>
            <a:prstDash val="solid"/>
          </a:ln>
        </p:spPr>
      </p:sp>
      <p:sp>
        <p:nvSpPr>
          <p:cNvPr id="42" name="Text 39"/>
          <p:cNvSpPr txBox="1"/>
          <p:nvPr/>
        </p:nvSpPr>
        <p:spPr>
          <a:xfrm>
            <a:off x="685800" y="2889504"/>
            <a:ext cx="2224278" cy="43891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34" charset="0"/>
                <a:ea typeface="Amiri" pitchFamily="34" charset="-122"/>
                <a:cs typeface="Amiri" pitchFamily="34" charset="-120"/>
              </a:rPr>
              <a:t>مَا زَالَ الْبَابُ مَفْتُوحًا.</a:t>
            </a:r>
            <a:endParaRPr lang="ar-SA" sz="1800" dirty="0"/>
          </a:p>
        </p:txBody>
      </p:sp>
      <p:sp>
        <p:nvSpPr>
          <p:cNvPr id="43" name="Text 4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18 / 35</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SPOT AND FIX</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Repair the mistake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صَحِّحِ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كَانَ الطَّقْسَ جَمِيلٌ.</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Which word takes -an?</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كُنْتُ دَرَسْتُ كُلَّ يَوْمٍ.</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Habit: past or present verb after kuntu?</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34" charset="0"/>
                <a:ea typeface="Amiri" pitchFamily="34" charset="-122"/>
                <a:cs typeface="Amiri" pitchFamily="34" charset="-120"/>
              </a:rPr>
              <a:t>زَالَتِ الْمُشْكِلَةُ صَعْبَةً.</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ea typeface="Calibri" pitchFamily="34" charset="-122"/>
                <a:cs typeface="Calibri" pitchFamily="34" charset="-120"/>
              </a:rPr>
              <a:t>What is missing before zālat?</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19 / 35</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Fixed — and why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التَّصْحِيحُ وَالسَّبَبُ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كَانَ الطَّقْسَ جَمِيلٌ.</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كَانَ الطَّقْسُ جَمِيلًا.</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Noun -u, predicate -an (website clinic).</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كُنْتُ دَرَسْتُ كُلَّ يَوْمٍ.</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كُنْتُ أَدْرُسُ كُلَّ يَوْمٍ.</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Habit: kāna + present (website clinic).</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زَالَتِ الْمُشْكِلَةُ صَعْبَةً.</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ea typeface="Calibri" pitchFamily="34" charset="-122"/>
                <a:cs typeface="Calibri" pitchFamily="34" charset="-120"/>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34" charset="0"/>
                <a:ea typeface="Amiri" pitchFamily="34" charset="-122"/>
                <a:cs typeface="Amiri" pitchFamily="34" charset="-120"/>
              </a:rPr>
              <a:t>مَا زَالَتِ الْمُشْكِلَةُ صَعْبَةً.</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ea typeface="Calibri" pitchFamily="34" charset="-122"/>
                <a:cs typeface="Calibri" pitchFamily="34" charset="-120"/>
              </a:rPr>
              <a:t>“Still” needs mā (website clinic).</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20 / 35</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GUIDED PRACTICE · WEBSITE FINAL MASTERY CHECK</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More practice</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تَدْرِيبٌ إِضَافِيٌّ</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case-aware model.</a:t>
            </a:r>
            <a:endParaRPr lang="en-US" sz="1250" dirty="0"/>
          </a:p>
        </p:txBody>
      </p:sp>
      <p:sp>
        <p:nvSpPr>
          <p:cNvPr id="21" name="Shape 18"/>
          <p:cNvSpPr/>
          <p:nvPr/>
        </p:nvSpPr>
        <p:spPr>
          <a:xfrm>
            <a:off x="640080" y="2532888"/>
            <a:ext cx="256032" cy="256032"/>
          </a:xfrm>
          <a:prstGeom prst="ellipse">
            <a:avLst/>
          </a:prstGeom>
          <a:solidFill>
            <a:srgbClr val="F4F1EA"/>
          </a:solidFill>
          <a:ln w="12700">
            <a:solidFill>
              <a:srgbClr val="F4F1EA"/>
            </a:solidFill>
            <a:prstDash val="solid"/>
          </a:ln>
        </p:spPr>
      </p:sp>
      <p:sp>
        <p:nvSpPr>
          <p:cNvPr id="22" name="Text 19"/>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الْبَيْتَ هَادِئٌ.</a:t>
            </a:r>
            <a:endParaRPr lang="ar-SA" sz="2050" dirty="0"/>
          </a:p>
        </p:txBody>
      </p:sp>
      <p:sp>
        <p:nvSpPr>
          <p:cNvPr id="24" name="Shape 21"/>
          <p:cNvSpPr/>
          <p:nvPr/>
        </p:nvSpPr>
        <p:spPr>
          <a:xfrm>
            <a:off x="640080" y="2990088"/>
            <a:ext cx="256032" cy="256032"/>
          </a:xfrm>
          <a:prstGeom prst="ellipse">
            <a:avLst/>
          </a:prstGeom>
          <a:solidFill>
            <a:srgbClr val="F4F1EA"/>
          </a:solidFill>
          <a:ln w="12700">
            <a:solidFill>
              <a:srgbClr val="F4F1EA"/>
            </a:solidFill>
            <a:prstDash val="solid"/>
          </a:ln>
        </p:spPr>
      </p:sp>
      <p:sp>
        <p:nvSpPr>
          <p:cNvPr id="25" name="Text 22"/>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الْبَيْتِ هَادِئًا.</a:t>
            </a:r>
            <a:endParaRPr lang="ar-SA" sz="2050" dirty="0"/>
          </a:p>
        </p:txBody>
      </p:sp>
      <p:sp>
        <p:nvSpPr>
          <p:cNvPr id="27" name="Shape 24"/>
          <p:cNvSpPr/>
          <p:nvPr/>
        </p:nvSpPr>
        <p:spPr>
          <a:xfrm>
            <a:off x="640080" y="3447288"/>
            <a:ext cx="256032" cy="256032"/>
          </a:xfrm>
          <a:prstGeom prst="ellipse">
            <a:avLst/>
          </a:prstGeom>
          <a:solidFill>
            <a:srgbClr val="F4F1EA"/>
          </a:solidFill>
          <a:ln w="12700">
            <a:solidFill>
              <a:srgbClr val="F4F1EA"/>
            </a:solidFill>
            <a:prstDash val="solid"/>
          </a:ln>
        </p:spPr>
      </p:sp>
      <p:sp>
        <p:nvSpPr>
          <p:cNvPr id="28" name="Text 25"/>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9" name="Text 26"/>
          <p:cNvSpPr txBox="1"/>
          <p:nvPr/>
        </p:nvSpPr>
        <p:spPr>
          <a:xfrm>
            <a:off x="969264"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الْبَيْتُ هَادِئًا.</a:t>
            </a:r>
            <a:endParaRPr lang="ar-SA" sz="2050" dirty="0"/>
          </a:p>
        </p:txBody>
      </p:sp>
      <p:sp>
        <p:nvSpPr>
          <p:cNvPr id="30" name="Shape 27"/>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313932"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was a student.”</a:t>
            </a:r>
            <a:endParaRPr lang="en-US" sz="1250" dirty="0"/>
          </a:p>
        </p:txBody>
      </p:sp>
      <p:sp>
        <p:nvSpPr>
          <p:cNvPr id="34" name="Shape 31"/>
          <p:cNvSpPr/>
          <p:nvPr/>
        </p:nvSpPr>
        <p:spPr>
          <a:xfrm>
            <a:off x="6368796" y="2532888"/>
            <a:ext cx="256032" cy="256032"/>
          </a:xfrm>
          <a:prstGeom prst="ellipse">
            <a:avLst/>
          </a:prstGeom>
          <a:solidFill>
            <a:srgbClr val="F4F1EA"/>
          </a:solidFill>
          <a:ln w="12700">
            <a:solidFill>
              <a:srgbClr val="F4F1EA"/>
            </a:solidFill>
            <a:prstDash val="solid"/>
          </a:ln>
        </p:spPr>
      </p:sp>
      <p:sp>
        <p:nvSpPr>
          <p:cNvPr id="35" name="Text 32"/>
          <p:cNvSpPr txBox="1"/>
          <p:nvPr/>
        </p:nvSpPr>
        <p:spPr>
          <a:xfrm>
            <a:off x="6368796"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6697980" y="24323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 أَنَا طَالِبٌ.</a:t>
            </a:r>
            <a:endParaRPr lang="ar-SA" sz="2050" dirty="0"/>
          </a:p>
        </p:txBody>
      </p:sp>
      <p:sp>
        <p:nvSpPr>
          <p:cNvPr id="37" name="Shape 34"/>
          <p:cNvSpPr/>
          <p:nvPr/>
        </p:nvSpPr>
        <p:spPr>
          <a:xfrm>
            <a:off x="6368796" y="2990088"/>
            <a:ext cx="256032" cy="256032"/>
          </a:xfrm>
          <a:prstGeom prst="ellipse">
            <a:avLst/>
          </a:prstGeom>
          <a:solidFill>
            <a:srgbClr val="F4F1EA"/>
          </a:solidFill>
          <a:ln w="12700">
            <a:solidFill>
              <a:srgbClr val="F4F1EA"/>
            </a:solidFill>
            <a:prstDash val="solid"/>
          </a:ln>
        </p:spPr>
      </p:sp>
      <p:sp>
        <p:nvSpPr>
          <p:cNvPr id="38" name="Text 35"/>
          <p:cNvSpPr txBox="1"/>
          <p:nvPr/>
        </p:nvSpPr>
        <p:spPr>
          <a:xfrm>
            <a:off x="6368796"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6697980" y="28895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طَالِبًا.</a:t>
            </a:r>
            <a:endParaRPr lang="ar-SA" sz="2050" dirty="0"/>
          </a:p>
        </p:txBody>
      </p:sp>
      <p:sp>
        <p:nvSpPr>
          <p:cNvPr id="40" name="Shape 37"/>
          <p:cNvSpPr/>
          <p:nvPr/>
        </p:nvSpPr>
        <p:spPr>
          <a:xfrm>
            <a:off x="6368796" y="3447288"/>
            <a:ext cx="256032" cy="256032"/>
          </a:xfrm>
          <a:prstGeom prst="ellipse">
            <a:avLst/>
          </a:prstGeom>
          <a:solidFill>
            <a:srgbClr val="F4F1EA"/>
          </a:solidFill>
          <a:ln w="12700">
            <a:solidFill>
              <a:srgbClr val="F4F1EA"/>
            </a:solidFill>
            <a:prstDash val="solid"/>
          </a:ln>
        </p:spPr>
      </p:sp>
      <p:sp>
        <p:nvSpPr>
          <p:cNvPr id="41" name="Text 38"/>
          <p:cNvSpPr txBox="1"/>
          <p:nvPr/>
        </p:nvSpPr>
        <p:spPr>
          <a:xfrm>
            <a:off x="6368796"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2" name="Text 39"/>
          <p:cNvSpPr txBox="1"/>
          <p:nvPr/>
        </p:nvSpPr>
        <p:spPr>
          <a:xfrm>
            <a:off x="6697980" y="3346704"/>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طَالِبًا.</a:t>
            </a:r>
            <a:endParaRPr lang="ar-SA" sz="2050" dirty="0"/>
          </a:p>
        </p:txBody>
      </p:sp>
      <p:sp>
        <p:nvSpPr>
          <p:cNvPr id="43" name="Shape 40"/>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585216" y="4288536"/>
            <a:ext cx="310896" cy="310896"/>
          </a:xfrm>
          <a:prstGeom prst="ellipse">
            <a:avLst/>
          </a:prstGeom>
          <a:solidFill>
            <a:srgbClr val="1B3B6F"/>
          </a:solidFill>
          <a:ln w="12700">
            <a:solidFill>
              <a:srgbClr val="1B3B6F"/>
            </a:solidFill>
            <a:prstDash val="solid"/>
          </a:ln>
        </p:spPr>
      </p:sp>
      <p:sp>
        <p:nvSpPr>
          <p:cNvPr id="45" name="Text 42"/>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6" name="Text 43"/>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were tired.” (m. / mixed)</a:t>
            </a:r>
            <a:endParaRPr lang="en-US" sz="1250" dirty="0"/>
          </a:p>
        </p:txBody>
      </p:sp>
      <p:sp>
        <p:nvSpPr>
          <p:cNvPr id="47" name="Shape 44"/>
          <p:cNvSpPr/>
          <p:nvPr/>
        </p:nvSpPr>
        <p:spPr>
          <a:xfrm>
            <a:off x="640080" y="4873752"/>
            <a:ext cx="256032" cy="256032"/>
          </a:xfrm>
          <a:prstGeom prst="ellipse">
            <a:avLst/>
          </a:prstGeom>
          <a:solidFill>
            <a:srgbClr val="F4F1EA"/>
          </a:solidFill>
          <a:ln w="12700">
            <a:solidFill>
              <a:srgbClr val="F4F1EA"/>
            </a:solidFill>
            <a:prstDash val="solid"/>
          </a:ln>
        </p:spPr>
      </p:sp>
      <p:sp>
        <p:nvSpPr>
          <p:cNvPr id="48" name="Text 45"/>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9" name="Text 46"/>
          <p:cNvSpPr txBox="1"/>
          <p:nvPr/>
        </p:nvSpPr>
        <p:spPr>
          <a:xfrm>
            <a:off x="969264"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كَانُوا مُتْعَبُونَ.</a:t>
            </a:r>
            <a:endParaRPr lang="ar-SA" sz="2050" dirty="0"/>
          </a:p>
        </p:txBody>
      </p:sp>
      <p:sp>
        <p:nvSpPr>
          <p:cNvPr id="50" name="Shape 47"/>
          <p:cNvSpPr/>
          <p:nvPr/>
        </p:nvSpPr>
        <p:spPr>
          <a:xfrm>
            <a:off x="640080" y="5330952"/>
            <a:ext cx="256032" cy="256032"/>
          </a:xfrm>
          <a:prstGeom prst="ellipse">
            <a:avLst/>
          </a:prstGeom>
          <a:solidFill>
            <a:srgbClr val="F4F1EA"/>
          </a:solidFill>
          <a:ln w="12700">
            <a:solidFill>
              <a:srgbClr val="F4F1EA"/>
            </a:solidFill>
            <a:prstDash val="solid"/>
          </a:ln>
        </p:spPr>
      </p:sp>
      <p:sp>
        <p:nvSpPr>
          <p:cNvPr id="51" name="Text 48"/>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2" name="Text 49"/>
          <p:cNvSpPr txBox="1"/>
          <p:nvPr/>
        </p:nvSpPr>
        <p:spPr>
          <a:xfrm>
            <a:off x="969264"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كَانُوا مُتْعَبِينَ.</a:t>
            </a:r>
            <a:endParaRPr lang="ar-SA" sz="2050" dirty="0"/>
          </a:p>
        </p:txBody>
      </p:sp>
      <p:sp>
        <p:nvSpPr>
          <p:cNvPr id="53" name="Shape 50"/>
          <p:cNvSpPr/>
          <p:nvPr/>
        </p:nvSpPr>
        <p:spPr>
          <a:xfrm>
            <a:off x="640080" y="5788152"/>
            <a:ext cx="256032" cy="256032"/>
          </a:xfrm>
          <a:prstGeom prst="ellipse">
            <a:avLst/>
          </a:prstGeom>
          <a:solidFill>
            <a:srgbClr val="F4F1EA"/>
          </a:solidFill>
          <a:ln w="12700">
            <a:solidFill>
              <a:srgbClr val="F4F1EA"/>
            </a:solidFill>
            <a:prstDash val="solid"/>
          </a:ln>
        </p:spPr>
      </p:sp>
      <p:sp>
        <p:nvSpPr>
          <p:cNvPr id="54" name="Text 51"/>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5" name="Text 52"/>
          <p:cNvSpPr txBox="1"/>
          <p:nvPr/>
        </p:nvSpPr>
        <p:spPr>
          <a:xfrm>
            <a:off x="969264"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 مُتْعَبَاتٌ.</a:t>
            </a:r>
            <a:endParaRPr lang="ar-SA" sz="2050" dirty="0"/>
          </a:p>
        </p:txBody>
      </p:sp>
      <p:sp>
        <p:nvSpPr>
          <p:cNvPr id="56" name="Shape 53"/>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7" name="Shape 54"/>
          <p:cNvSpPr/>
          <p:nvPr/>
        </p:nvSpPr>
        <p:spPr>
          <a:xfrm>
            <a:off x="6313932" y="4288536"/>
            <a:ext cx="310896" cy="310896"/>
          </a:xfrm>
          <a:prstGeom prst="ellipse">
            <a:avLst/>
          </a:prstGeom>
          <a:solidFill>
            <a:srgbClr val="1B3B6F"/>
          </a:solidFill>
          <a:ln w="12700">
            <a:solidFill>
              <a:srgbClr val="1B3B6F"/>
            </a:solidFill>
            <a:prstDash val="solid"/>
          </a:ln>
        </p:spPr>
      </p:sp>
      <p:sp>
        <p:nvSpPr>
          <p:cNvPr id="58" name="Text 55"/>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9" name="Text 56"/>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used to study in the evening”?</a:t>
            </a:r>
            <a:endParaRPr lang="en-US" sz="1250" dirty="0"/>
          </a:p>
        </p:txBody>
      </p:sp>
      <p:sp>
        <p:nvSpPr>
          <p:cNvPr id="60" name="Shape 57"/>
          <p:cNvSpPr/>
          <p:nvPr/>
        </p:nvSpPr>
        <p:spPr>
          <a:xfrm>
            <a:off x="6368796" y="4873752"/>
            <a:ext cx="256032" cy="256032"/>
          </a:xfrm>
          <a:prstGeom prst="ellipse">
            <a:avLst/>
          </a:prstGeom>
          <a:solidFill>
            <a:srgbClr val="F4F1EA"/>
          </a:solidFill>
          <a:ln w="12700">
            <a:solidFill>
              <a:srgbClr val="F4F1EA"/>
            </a:solidFill>
            <a:prstDash val="solid"/>
          </a:ln>
        </p:spPr>
      </p:sp>
      <p:sp>
        <p:nvSpPr>
          <p:cNvPr id="61" name="Text 58"/>
          <p:cNvSpPr txBox="1"/>
          <p:nvPr/>
        </p:nvSpPr>
        <p:spPr>
          <a:xfrm>
            <a:off x="6368796"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2" name="Text 59"/>
          <p:cNvSpPr txBox="1"/>
          <p:nvPr/>
        </p:nvSpPr>
        <p:spPr>
          <a:xfrm>
            <a:off x="6697980" y="47731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دَرَسْتُ فِي الْمَسَاءِ.</a:t>
            </a:r>
            <a:endParaRPr lang="ar-SA" sz="2050" dirty="0"/>
          </a:p>
        </p:txBody>
      </p:sp>
      <p:sp>
        <p:nvSpPr>
          <p:cNvPr id="63" name="Shape 60"/>
          <p:cNvSpPr/>
          <p:nvPr/>
        </p:nvSpPr>
        <p:spPr>
          <a:xfrm>
            <a:off x="6368796" y="5330952"/>
            <a:ext cx="256032" cy="256032"/>
          </a:xfrm>
          <a:prstGeom prst="ellipse">
            <a:avLst/>
          </a:prstGeom>
          <a:solidFill>
            <a:srgbClr val="F4F1EA"/>
          </a:solidFill>
          <a:ln w="12700">
            <a:solidFill>
              <a:srgbClr val="F4F1EA"/>
            </a:solidFill>
            <a:prstDash val="solid"/>
          </a:ln>
        </p:spPr>
      </p:sp>
      <p:sp>
        <p:nvSpPr>
          <p:cNvPr id="64" name="Text 61"/>
          <p:cNvSpPr txBox="1"/>
          <p:nvPr/>
        </p:nvSpPr>
        <p:spPr>
          <a:xfrm>
            <a:off x="6368796"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5" name="Text 62"/>
          <p:cNvSpPr txBox="1"/>
          <p:nvPr/>
        </p:nvSpPr>
        <p:spPr>
          <a:xfrm>
            <a:off x="6697980" y="52303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سَأَدْرُسُ فِي الْمَسَاءِ.</a:t>
            </a:r>
            <a:endParaRPr lang="ar-SA" sz="2050" dirty="0"/>
          </a:p>
        </p:txBody>
      </p:sp>
      <p:sp>
        <p:nvSpPr>
          <p:cNvPr id="66" name="Shape 63"/>
          <p:cNvSpPr/>
          <p:nvPr/>
        </p:nvSpPr>
        <p:spPr>
          <a:xfrm>
            <a:off x="6368796" y="5788152"/>
            <a:ext cx="256032" cy="256032"/>
          </a:xfrm>
          <a:prstGeom prst="ellipse">
            <a:avLst/>
          </a:prstGeom>
          <a:solidFill>
            <a:srgbClr val="F4F1EA"/>
          </a:solidFill>
          <a:ln w="12700">
            <a:solidFill>
              <a:srgbClr val="F4F1EA"/>
            </a:solidFill>
            <a:prstDash val="solid"/>
          </a:ln>
        </p:spPr>
      </p:sp>
      <p:sp>
        <p:nvSpPr>
          <p:cNvPr id="67" name="Text 64"/>
          <p:cNvSpPr txBox="1"/>
          <p:nvPr/>
        </p:nvSpPr>
        <p:spPr>
          <a:xfrm>
            <a:off x="6368796"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8" name="Text 65"/>
          <p:cNvSpPr txBox="1"/>
          <p:nvPr/>
        </p:nvSpPr>
        <p:spPr>
          <a:xfrm>
            <a:off x="6697980" y="5687568"/>
            <a:ext cx="4887468"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كُنْتُ أَدْرُسُ فِي الْمَسَاءِ.</a:t>
            </a:r>
            <a:endParaRPr lang="ar-SA" sz="2050" dirty="0"/>
          </a:p>
        </p:txBody>
      </p:sp>
      <p:sp>
        <p:nvSpPr>
          <p:cNvPr id="69" name="Text 6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21 / 35</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WE DO</a:t>
            </a:r>
            <a:endParaRPr lang="en-US" sz="900" dirty="0"/>
          </a:p>
        </p:txBody>
      </p:sp>
      <p:sp>
        <p:nvSpPr>
          <p:cNvPr id="10" name="Shape 8"/>
          <p:cNvSpPr/>
          <p:nvPr/>
        </p:nvSpPr>
        <p:spPr>
          <a:xfrm>
            <a:off x="6291072" y="274320"/>
            <a:ext cx="960120" cy="329184"/>
          </a:xfrm>
          <a:prstGeom prst="roundRect">
            <a:avLst>
              <a:gd name="adj" fmla="val 50000"/>
            </a:avLst>
          </a:prstGeom>
          <a:solidFill>
            <a:srgbClr val="FFFDF8"/>
          </a:solidFill>
          <a:ln w="12700">
            <a:solidFill>
              <a:srgbClr val="5A6472"/>
            </a:solidFill>
            <a:prstDash val="dash"/>
          </a:ln>
        </p:spPr>
      </p:sp>
      <p:sp>
        <p:nvSpPr>
          <p:cNvPr id="11" name="Text 9"/>
          <p:cNvSpPr txBox="1"/>
          <p:nvPr/>
        </p:nvSpPr>
        <p:spPr>
          <a:xfrm>
            <a:off x="6291072" y="274320"/>
            <a:ext cx="960120" cy="329184"/>
          </a:xfrm>
          <a:prstGeom prst="rect">
            <a:avLst/>
          </a:prstGeom>
          <a:noFill/>
          <a:ln/>
        </p:spPr>
        <p:txBody>
          <a:bodyPr wrap="square" lIns="0" tIns="0" rIns="0" bIns="0" rtlCol="0" anchor="ctr"/>
          <a:lstStyle/>
          <a:p>
            <a:pPr algn="ctr" indent="0" marL="0">
              <a:buNone/>
            </a:pPr>
            <a:r>
              <a:rPr lang="en-US" sz="850" b="1" spc="100" kern="0" dirty="0">
                <a:solidFill>
                  <a:srgbClr val="5A6472"/>
                </a:solidFill>
                <a:latin typeface="Calibri" pitchFamily="34" charset="0"/>
                <a:ea typeface="Calibri" pitchFamily="34" charset="-122"/>
                <a:cs typeface="Calibri" pitchFamily="34" charset="-120"/>
              </a:rPr>
              <a:t>FLEX</a:t>
            </a:r>
            <a:endParaRPr lang="en-US" sz="850" dirty="0"/>
          </a:p>
        </p:txBody>
      </p:sp>
      <p:sp>
        <p:nvSpPr>
          <p:cNvPr id="12" name="Text 10"/>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ea typeface="Calibri" pitchFamily="34" charset="-122"/>
                <a:cs typeface="Calibri" pitchFamily="34" charset="-120"/>
              </a:rPr>
              <a:t>WE DO · ANSWERS</a:t>
            </a:r>
            <a:endParaRPr lang="en-US" sz="1000" dirty="0"/>
          </a:p>
        </p:txBody>
      </p:sp>
      <p:sp>
        <p:nvSpPr>
          <p:cNvPr id="13" name="Text 11"/>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Answers and reasons</a:t>
            </a:r>
            <a:endParaRPr lang="en-US" sz="2800" dirty="0"/>
          </a:p>
        </p:txBody>
      </p:sp>
      <p:sp>
        <p:nvSpPr>
          <p:cNvPr id="14" name="Text 12"/>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الإِجَابَاتُ وَالتَّعْلِيلُ</a:t>
            </a:r>
            <a:endParaRPr lang="ar-SA" sz="2800" dirty="0"/>
          </a:p>
        </p:txBody>
      </p:sp>
      <p:sp>
        <p:nvSpPr>
          <p:cNvPr id="15" name="Text 13"/>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7" name="Shape 14"/>
          <p:cNvSpPr/>
          <p:nvPr/>
        </p:nvSpPr>
        <p:spPr>
          <a:xfrm>
            <a:off x="457200"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8" name="Shape 15"/>
          <p:cNvSpPr/>
          <p:nvPr/>
        </p:nvSpPr>
        <p:spPr>
          <a:xfrm>
            <a:off x="585216" y="1947672"/>
            <a:ext cx="310896" cy="310896"/>
          </a:xfrm>
          <a:prstGeom prst="ellipse">
            <a:avLst/>
          </a:prstGeom>
          <a:solidFill>
            <a:srgbClr val="1B3B6F"/>
          </a:solidFill>
          <a:ln w="12700">
            <a:solidFill>
              <a:srgbClr val="1B3B6F"/>
            </a:solidFill>
            <a:prstDash val="solid"/>
          </a:ln>
        </p:spPr>
      </p:sp>
      <p:sp>
        <p:nvSpPr>
          <p:cNvPr id="19" name="Text 16"/>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20" name="Text 17"/>
          <p:cNvSpPr txBox="1"/>
          <p:nvPr/>
        </p:nvSpPr>
        <p:spPr>
          <a:xfrm>
            <a:off x="950976"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 correct case-aware model.</a:t>
            </a:r>
            <a:endParaRPr lang="en-US" sz="1250" dirty="0"/>
          </a:p>
        </p:txBody>
      </p:sp>
      <p:sp>
        <p:nvSpPr>
          <p:cNvPr id="21" name="Shape 18"/>
          <p:cNvSpPr/>
          <p:nvPr/>
        </p:nvSpPr>
        <p:spPr>
          <a:xfrm>
            <a:off x="640080" y="2490216"/>
            <a:ext cx="256032" cy="256032"/>
          </a:xfrm>
          <a:prstGeom prst="ellipse">
            <a:avLst/>
          </a:prstGeom>
          <a:solidFill>
            <a:srgbClr val="C9CED6"/>
          </a:solidFill>
          <a:ln w="12700">
            <a:solidFill>
              <a:srgbClr val="C9CED6"/>
            </a:solidFill>
            <a:prstDash val="solid"/>
          </a:ln>
        </p:spPr>
      </p:sp>
      <p:sp>
        <p:nvSpPr>
          <p:cNvPr id="22" name="Text 19"/>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3" name="Text 20"/>
          <p:cNvSpPr txBox="1"/>
          <p:nvPr/>
        </p:nvSpPr>
        <p:spPr>
          <a:xfrm>
            <a:off x="969264"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الْبَيْتَ هَادِئٌ.</a:t>
            </a:r>
            <a:endParaRPr lang="ar-SA" sz="1700" dirty="0"/>
          </a:p>
        </p:txBody>
      </p:sp>
      <p:sp>
        <p:nvSpPr>
          <p:cNvPr id="24" name="Shape 21"/>
          <p:cNvSpPr/>
          <p:nvPr/>
        </p:nvSpPr>
        <p:spPr>
          <a:xfrm>
            <a:off x="640080" y="2862072"/>
            <a:ext cx="256032" cy="256032"/>
          </a:xfrm>
          <a:prstGeom prst="ellipse">
            <a:avLst/>
          </a:prstGeom>
          <a:solidFill>
            <a:srgbClr val="C9CED6"/>
          </a:solidFill>
          <a:ln w="12700">
            <a:solidFill>
              <a:srgbClr val="C9CED6"/>
            </a:solidFill>
            <a:prstDash val="solid"/>
          </a:ln>
        </p:spPr>
      </p:sp>
      <p:sp>
        <p:nvSpPr>
          <p:cNvPr id="25" name="Text 22"/>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6" name="Text 23"/>
          <p:cNvSpPr txBox="1"/>
          <p:nvPr/>
        </p:nvSpPr>
        <p:spPr>
          <a:xfrm>
            <a:off x="969264" y="280416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الْبَيْتِ هَادِئًا.</a:t>
            </a:r>
            <a:endParaRPr lang="ar-SA" sz="1700" dirty="0"/>
          </a:p>
        </p:txBody>
      </p:sp>
      <p:sp>
        <p:nvSpPr>
          <p:cNvPr id="27" name="Shape 24"/>
          <p:cNvSpPr/>
          <p:nvPr/>
        </p:nvSpPr>
        <p:spPr>
          <a:xfrm>
            <a:off x="548640" y="3197352"/>
            <a:ext cx="5362956" cy="347472"/>
          </a:xfrm>
          <a:prstGeom prst="roundRect">
            <a:avLst>
              <a:gd name="adj" fmla="val 15789"/>
            </a:avLst>
          </a:prstGeom>
          <a:solidFill>
            <a:srgbClr val="E6F4EC"/>
          </a:solidFill>
          <a:ln w="9525">
            <a:solidFill>
              <a:srgbClr val="2E8B57"/>
            </a:solidFill>
            <a:prstDash val="solid"/>
          </a:ln>
        </p:spPr>
      </p:sp>
      <p:sp>
        <p:nvSpPr>
          <p:cNvPr id="28" name="Shape 25"/>
          <p:cNvSpPr/>
          <p:nvPr/>
        </p:nvSpPr>
        <p:spPr>
          <a:xfrm>
            <a:off x="640080" y="3233928"/>
            <a:ext cx="256032" cy="256032"/>
          </a:xfrm>
          <a:prstGeom prst="ellipse">
            <a:avLst/>
          </a:prstGeom>
          <a:solidFill>
            <a:srgbClr val="2E8B57"/>
          </a:solidFill>
          <a:ln w="12700">
            <a:solidFill>
              <a:srgbClr val="2E8B57"/>
            </a:solidFill>
            <a:prstDash val="solid"/>
          </a:ln>
        </p:spPr>
      </p:sp>
      <p:sp>
        <p:nvSpPr>
          <p:cNvPr id="29" name="Text 26"/>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30" name="Text 27"/>
          <p:cNvSpPr txBox="1"/>
          <p:nvPr/>
        </p:nvSpPr>
        <p:spPr>
          <a:xfrm>
            <a:off x="969264" y="3176016"/>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 الْبَيْتُ هَادِئًا.</a:t>
            </a:r>
            <a:endParaRPr lang="ar-SA" sz="1700" dirty="0"/>
          </a:p>
        </p:txBody>
      </p:sp>
      <p:sp>
        <p:nvSpPr>
          <p:cNvPr id="31" name="Text 28"/>
          <p:cNvSpPr txBox="1"/>
          <p:nvPr/>
        </p:nvSpPr>
        <p:spPr>
          <a:xfrm>
            <a:off x="585216"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Noun -u, predicate -an.</a:t>
            </a:r>
            <a:endParaRPr lang="en-US" sz="1050" dirty="0"/>
          </a:p>
        </p:txBody>
      </p:sp>
      <p:sp>
        <p:nvSpPr>
          <p:cNvPr id="32" name="Shape 29"/>
          <p:cNvSpPr/>
          <p:nvPr/>
        </p:nvSpPr>
        <p:spPr>
          <a:xfrm>
            <a:off x="6185916" y="1810512"/>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3" name="Shape 30"/>
          <p:cNvSpPr/>
          <p:nvPr/>
        </p:nvSpPr>
        <p:spPr>
          <a:xfrm>
            <a:off x="6313932" y="1947672"/>
            <a:ext cx="310896" cy="310896"/>
          </a:xfrm>
          <a:prstGeom prst="ellipse">
            <a:avLst/>
          </a:prstGeom>
          <a:solidFill>
            <a:srgbClr val="1B3B6F"/>
          </a:solidFill>
          <a:ln w="12700">
            <a:solidFill>
              <a:srgbClr val="1B3B6F"/>
            </a:solidFill>
            <a:prstDash val="solid"/>
          </a:ln>
        </p:spPr>
      </p:sp>
      <p:sp>
        <p:nvSpPr>
          <p:cNvPr id="34" name="Text 31"/>
          <p:cNvSpPr txBox="1"/>
          <p:nvPr/>
        </p:nvSpPr>
        <p:spPr>
          <a:xfrm>
            <a:off x="6313932"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5" name="Text 32"/>
          <p:cNvSpPr txBox="1"/>
          <p:nvPr/>
        </p:nvSpPr>
        <p:spPr>
          <a:xfrm>
            <a:off x="6679692" y="1883664"/>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“I was a student.”</a:t>
            </a:r>
            <a:endParaRPr lang="en-US" sz="1250" dirty="0"/>
          </a:p>
        </p:txBody>
      </p:sp>
      <p:sp>
        <p:nvSpPr>
          <p:cNvPr id="36" name="Shape 33"/>
          <p:cNvSpPr/>
          <p:nvPr/>
        </p:nvSpPr>
        <p:spPr>
          <a:xfrm>
            <a:off x="6368796" y="2490216"/>
            <a:ext cx="256032" cy="256032"/>
          </a:xfrm>
          <a:prstGeom prst="ellipse">
            <a:avLst/>
          </a:prstGeom>
          <a:solidFill>
            <a:srgbClr val="C9CED6"/>
          </a:solidFill>
          <a:ln w="12700">
            <a:solidFill>
              <a:srgbClr val="C9CED6"/>
            </a:solidFill>
            <a:prstDash val="solid"/>
          </a:ln>
        </p:spPr>
      </p:sp>
      <p:sp>
        <p:nvSpPr>
          <p:cNvPr id="37" name="Text 34"/>
          <p:cNvSpPr txBox="1"/>
          <p:nvPr/>
        </p:nvSpPr>
        <p:spPr>
          <a:xfrm>
            <a:off x="6368796"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8" name="Text 35"/>
          <p:cNvSpPr txBox="1"/>
          <p:nvPr/>
        </p:nvSpPr>
        <p:spPr>
          <a:xfrm>
            <a:off x="6697980" y="243230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 أَنَا طَالِبٌ.</a:t>
            </a:r>
            <a:endParaRPr lang="ar-SA" sz="1700" dirty="0"/>
          </a:p>
        </p:txBody>
      </p:sp>
      <p:sp>
        <p:nvSpPr>
          <p:cNvPr id="39" name="Shape 36"/>
          <p:cNvSpPr/>
          <p:nvPr/>
        </p:nvSpPr>
        <p:spPr>
          <a:xfrm>
            <a:off x="6277356" y="2825496"/>
            <a:ext cx="5362956" cy="347472"/>
          </a:xfrm>
          <a:prstGeom prst="roundRect">
            <a:avLst>
              <a:gd name="adj" fmla="val 15789"/>
            </a:avLst>
          </a:prstGeom>
          <a:solidFill>
            <a:srgbClr val="E6F4EC"/>
          </a:solidFill>
          <a:ln w="9525">
            <a:solidFill>
              <a:srgbClr val="2E8B57"/>
            </a:solidFill>
            <a:prstDash val="solid"/>
          </a:ln>
        </p:spPr>
      </p:sp>
      <p:sp>
        <p:nvSpPr>
          <p:cNvPr id="40" name="Shape 37"/>
          <p:cNvSpPr/>
          <p:nvPr/>
        </p:nvSpPr>
        <p:spPr>
          <a:xfrm>
            <a:off x="6368796" y="2862072"/>
            <a:ext cx="256032" cy="256032"/>
          </a:xfrm>
          <a:prstGeom prst="ellipse">
            <a:avLst/>
          </a:prstGeom>
          <a:solidFill>
            <a:srgbClr val="2E8B57"/>
          </a:solidFill>
          <a:ln w="12700">
            <a:solidFill>
              <a:srgbClr val="2E8B57"/>
            </a:solidFill>
            <a:prstDash val="solid"/>
          </a:ln>
        </p:spPr>
      </p:sp>
      <p:sp>
        <p:nvSpPr>
          <p:cNvPr id="41" name="Text 38"/>
          <p:cNvSpPr txBox="1"/>
          <p:nvPr/>
        </p:nvSpPr>
        <p:spPr>
          <a:xfrm>
            <a:off x="6368796"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2" name="Text 39"/>
          <p:cNvSpPr txBox="1"/>
          <p:nvPr/>
        </p:nvSpPr>
        <p:spPr>
          <a:xfrm>
            <a:off x="6697980" y="280416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طَالِبًا.</a:t>
            </a:r>
            <a:endParaRPr lang="ar-SA" sz="1700" dirty="0"/>
          </a:p>
        </p:txBody>
      </p:sp>
      <p:sp>
        <p:nvSpPr>
          <p:cNvPr id="43" name="Shape 40"/>
          <p:cNvSpPr/>
          <p:nvPr/>
        </p:nvSpPr>
        <p:spPr>
          <a:xfrm>
            <a:off x="6368796" y="3233928"/>
            <a:ext cx="256032" cy="256032"/>
          </a:xfrm>
          <a:prstGeom prst="ellipse">
            <a:avLst/>
          </a:prstGeom>
          <a:solidFill>
            <a:srgbClr val="C9CED6"/>
          </a:solidFill>
          <a:ln w="12700">
            <a:solidFill>
              <a:srgbClr val="C9CED6"/>
            </a:solidFill>
            <a:prstDash val="solid"/>
          </a:ln>
        </p:spPr>
      </p:sp>
      <p:sp>
        <p:nvSpPr>
          <p:cNvPr id="44" name="Text 41"/>
          <p:cNvSpPr txBox="1"/>
          <p:nvPr/>
        </p:nvSpPr>
        <p:spPr>
          <a:xfrm>
            <a:off x="6368796"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5" name="Text 42"/>
          <p:cNvSpPr txBox="1"/>
          <p:nvPr/>
        </p:nvSpPr>
        <p:spPr>
          <a:xfrm>
            <a:off x="6697980" y="3176016"/>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طَالِبًا.</a:t>
            </a:r>
            <a:endParaRPr lang="ar-SA" sz="1700" dirty="0"/>
          </a:p>
        </p:txBody>
      </p:sp>
      <p:sp>
        <p:nvSpPr>
          <p:cNvPr id="46" name="Text 43"/>
          <p:cNvSpPr txBox="1"/>
          <p:nvPr/>
        </p:nvSpPr>
        <p:spPr>
          <a:xfrm>
            <a:off x="6313932" y="3566160"/>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Kuntu ṭāliban.</a:t>
            </a:r>
            <a:endParaRPr lang="en-US" sz="1050" dirty="0"/>
          </a:p>
        </p:txBody>
      </p:sp>
      <p:sp>
        <p:nvSpPr>
          <p:cNvPr id="47" name="Shape 44"/>
          <p:cNvSpPr/>
          <p:nvPr/>
        </p:nvSpPr>
        <p:spPr>
          <a:xfrm>
            <a:off x="457200"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585216" y="4288536"/>
            <a:ext cx="310896" cy="310896"/>
          </a:xfrm>
          <a:prstGeom prst="ellipse">
            <a:avLst/>
          </a:prstGeom>
          <a:solidFill>
            <a:srgbClr val="1B3B6F"/>
          </a:solidFill>
          <a:ln w="12700">
            <a:solidFill>
              <a:srgbClr val="1B3B6F"/>
            </a:solidFill>
            <a:prstDash val="solid"/>
          </a:ln>
        </p:spPr>
      </p:sp>
      <p:sp>
        <p:nvSpPr>
          <p:cNvPr id="49" name="Text 46"/>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50" name="Text 47"/>
          <p:cNvSpPr txBox="1"/>
          <p:nvPr/>
        </p:nvSpPr>
        <p:spPr>
          <a:xfrm>
            <a:off x="950976"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Choose “They were tired.” (m. / mixed)</a:t>
            </a:r>
            <a:endParaRPr lang="en-US" sz="1250" dirty="0"/>
          </a:p>
        </p:txBody>
      </p:sp>
      <p:sp>
        <p:nvSpPr>
          <p:cNvPr id="51" name="Shape 48"/>
          <p:cNvSpPr/>
          <p:nvPr/>
        </p:nvSpPr>
        <p:spPr>
          <a:xfrm>
            <a:off x="640080" y="4831080"/>
            <a:ext cx="256032" cy="256032"/>
          </a:xfrm>
          <a:prstGeom prst="ellipse">
            <a:avLst/>
          </a:prstGeom>
          <a:solidFill>
            <a:srgbClr val="C9CED6"/>
          </a:solidFill>
          <a:ln w="12700">
            <a:solidFill>
              <a:srgbClr val="C9CED6"/>
            </a:solidFill>
            <a:prstDash val="solid"/>
          </a:ln>
        </p:spPr>
      </p:sp>
      <p:sp>
        <p:nvSpPr>
          <p:cNvPr id="52" name="Text 49"/>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53" name="Text 50"/>
          <p:cNvSpPr txBox="1"/>
          <p:nvPr/>
        </p:nvSpPr>
        <p:spPr>
          <a:xfrm>
            <a:off x="969264"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كَانُوا مُتْعَبُونَ.</a:t>
            </a:r>
            <a:endParaRPr lang="ar-SA" sz="1700" dirty="0"/>
          </a:p>
        </p:txBody>
      </p:sp>
      <p:sp>
        <p:nvSpPr>
          <p:cNvPr id="54" name="Shape 51"/>
          <p:cNvSpPr/>
          <p:nvPr/>
        </p:nvSpPr>
        <p:spPr>
          <a:xfrm>
            <a:off x="548640" y="5166360"/>
            <a:ext cx="5362956" cy="347472"/>
          </a:xfrm>
          <a:prstGeom prst="roundRect">
            <a:avLst>
              <a:gd name="adj" fmla="val 15789"/>
            </a:avLst>
          </a:prstGeom>
          <a:solidFill>
            <a:srgbClr val="E6F4EC"/>
          </a:solidFill>
          <a:ln w="9525">
            <a:solidFill>
              <a:srgbClr val="2E8B57"/>
            </a:solidFill>
            <a:prstDash val="solid"/>
          </a:ln>
        </p:spPr>
      </p:sp>
      <p:sp>
        <p:nvSpPr>
          <p:cNvPr id="55" name="Shape 52"/>
          <p:cNvSpPr/>
          <p:nvPr/>
        </p:nvSpPr>
        <p:spPr>
          <a:xfrm>
            <a:off x="640080" y="5202936"/>
            <a:ext cx="256032" cy="256032"/>
          </a:xfrm>
          <a:prstGeom prst="ellipse">
            <a:avLst/>
          </a:prstGeom>
          <a:solidFill>
            <a:srgbClr val="2E8B57"/>
          </a:solidFill>
          <a:ln w="12700">
            <a:solidFill>
              <a:srgbClr val="2E8B57"/>
            </a:solidFill>
            <a:prstDash val="solid"/>
          </a:ln>
        </p:spPr>
      </p:sp>
      <p:sp>
        <p:nvSpPr>
          <p:cNvPr id="56" name="Text 53"/>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57" name="Text 54"/>
          <p:cNvSpPr txBox="1"/>
          <p:nvPr/>
        </p:nvSpPr>
        <p:spPr>
          <a:xfrm>
            <a:off x="969264" y="5145024"/>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كَانُوا مُتْعَبِينَ.</a:t>
            </a:r>
            <a:endParaRPr lang="ar-SA" sz="1700" dirty="0"/>
          </a:p>
        </p:txBody>
      </p:sp>
      <p:sp>
        <p:nvSpPr>
          <p:cNvPr id="58" name="Shape 55"/>
          <p:cNvSpPr/>
          <p:nvPr/>
        </p:nvSpPr>
        <p:spPr>
          <a:xfrm>
            <a:off x="640080" y="5574792"/>
            <a:ext cx="256032" cy="256032"/>
          </a:xfrm>
          <a:prstGeom prst="ellipse">
            <a:avLst/>
          </a:prstGeom>
          <a:solidFill>
            <a:srgbClr val="C9CED6"/>
          </a:solidFill>
          <a:ln w="12700">
            <a:solidFill>
              <a:srgbClr val="C9CED6"/>
            </a:solidFill>
            <a:prstDash val="solid"/>
          </a:ln>
        </p:spPr>
      </p:sp>
      <p:sp>
        <p:nvSpPr>
          <p:cNvPr id="59" name="Text 56"/>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0" name="Text 57"/>
          <p:cNvSpPr txBox="1"/>
          <p:nvPr/>
        </p:nvSpPr>
        <p:spPr>
          <a:xfrm>
            <a:off x="969264" y="5516880"/>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 مُتْعَبَاتٌ.</a:t>
            </a:r>
            <a:endParaRPr lang="ar-SA" sz="1700" dirty="0"/>
          </a:p>
        </p:txBody>
      </p:sp>
      <p:sp>
        <p:nvSpPr>
          <p:cNvPr id="61" name="Text 58"/>
          <p:cNvSpPr txBox="1"/>
          <p:nvPr/>
        </p:nvSpPr>
        <p:spPr>
          <a:xfrm>
            <a:off x="585216"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Kānū mutʿabīna.</a:t>
            </a:r>
            <a:endParaRPr lang="en-US" sz="1050" dirty="0"/>
          </a:p>
        </p:txBody>
      </p:sp>
      <p:sp>
        <p:nvSpPr>
          <p:cNvPr id="62" name="Shape 59"/>
          <p:cNvSpPr/>
          <p:nvPr/>
        </p:nvSpPr>
        <p:spPr>
          <a:xfrm>
            <a:off x="6185916" y="4151376"/>
            <a:ext cx="5545836"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6313932" y="4288536"/>
            <a:ext cx="310896" cy="310896"/>
          </a:xfrm>
          <a:prstGeom prst="ellipse">
            <a:avLst/>
          </a:prstGeom>
          <a:solidFill>
            <a:srgbClr val="1B3B6F"/>
          </a:solidFill>
          <a:ln w="12700">
            <a:solidFill>
              <a:srgbClr val="1B3B6F"/>
            </a:solidFill>
            <a:prstDash val="solid"/>
          </a:ln>
        </p:spPr>
      </p:sp>
      <p:sp>
        <p:nvSpPr>
          <p:cNvPr id="64" name="Text 61"/>
          <p:cNvSpPr txBox="1"/>
          <p:nvPr/>
        </p:nvSpPr>
        <p:spPr>
          <a:xfrm>
            <a:off x="6313932"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5" name="Text 62"/>
          <p:cNvSpPr txBox="1"/>
          <p:nvPr/>
        </p:nvSpPr>
        <p:spPr>
          <a:xfrm>
            <a:off x="6679692" y="4224528"/>
            <a:ext cx="4942332"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“I used to study in the evening”?</a:t>
            </a:r>
            <a:endParaRPr lang="en-US" sz="1250" dirty="0"/>
          </a:p>
        </p:txBody>
      </p:sp>
      <p:sp>
        <p:nvSpPr>
          <p:cNvPr id="66" name="Shape 63"/>
          <p:cNvSpPr/>
          <p:nvPr/>
        </p:nvSpPr>
        <p:spPr>
          <a:xfrm>
            <a:off x="6368796" y="4831080"/>
            <a:ext cx="256032" cy="256032"/>
          </a:xfrm>
          <a:prstGeom prst="ellipse">
            <a:avLst/>
          </a:prstGeom>
          <a:solidFill>
            <a:srgbClr val="C9CED6"/>
          </a:solidFill>
          <a:ln w="12700">
            <a:solidFill>
              <a:srgbClr val="C9CED6"/>
            </a:solidFill>
            <a:prstDash val="solid"/>
          </a:ln>
        </p:spPr>
      </p:sp>
      <p:sp>
        <p:nvSpPr>
          <p:cNvPr id="67" name="Text 64"/>
          <p:cNvSpPr txBox="1"/>
          <p:nvPr/>
        </p:nvSpPr>
        <p:spPr>
          <a:xfrm>
            <a:off x="6368796"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8" name="Text 65"/>
          <p:cNvSpPr txBox="1"/>
          <p:nvPr/>
        </p:nvSpPr>
        <p:spPr>
          <a:xfrm>
            <a:off x="6697980" y="4773168"/>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كُنْتُ دَرَسْتُ فِي الْمَسَاءِ.</a:t>
            </a:r>
            <a:endParaRPr lang="ar-SA" sz="1700" dirty="0"/>
          </a:p>
        </p:txBody>
      </p:sp>
      <p:sp>
        <p:nvSpPr>
          <p:cNvPr id="69" name="Shape 66"/>
          <p:cNvSpPr/>
          <p:nvPr/>
        </p:nvSpPr>
        <p:spPr>
          <a:xfrm>
            <a:off x="6368796" y="5202936"/>
            <a:ext cx="256032" cy="256032"/>
          </a:xfrm>
          <a:prstGeom prst="ellipse">
            <a:avLst/>
          </a:prstGeom>
          <a:solidFill>
            <a:srgbClr val="C9CED6"/>
          </a:solidFill>
          <a:ln w="12700">
            <a:solidFill>
              <a:srgbClr val="C9CED6"/>
            </a:solidFill>
            <a:prstDash val="solid"/>
          </a:ln>
        </p:spPr>
      </p:sp>
      <p:sp>
        <p:nvSpPr>
          <p:cNvPr id="70" name="Text 67"/>
          <p:cNvSpPr txBox="1"/>
          <p:nvPr/>
        </p:nvSpPr>
        <p:spPr>
          <a:xfrm>
            <a:off x="6368796" y="520293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71" name="Text 68"/>
          <p:cNvSpPr txBox="1"/>
          <p:nvPr/>
        </p:nvSpPr>
        <p:spPr>
          <a:xfrm>
            <a:off x="6697980" y="5145024"/>
            <a:ext cx="4887468" cy="371856"/>
          </a:xfrm>
          <a:prstGeom prst="rect">
            <a:avLst/>
          </a:prstGeom>
          <a:noFill/>
          <a:ln/>
        </p:spPr>
        <p:txBody>
          <a:bodyPr wrap="square" lIns="0" tIns="0" rIns="0" bIns="0" rtlCol="0" anchor="ctr"/>
          <a:lstStyle/>
          <a:p>
            <a:pPr rtl="1" algn="r" indent="0" marL="0">
              <a:buNone/>
            </a:pPr>
            <a:r>
              <a:rPr lang="ar-SA" altLang="en-US" sz="1700" dirty="0">
                <a:solidFill>
                  <a:srgbClr val="9AA1AB"/>
                </a:solidFill>
                <a:latin typeface="Amiri" pitchFamily="34" charset="0"/>
                <a:ea typeface="Amiri" pitchFamily="34" charset="-122"/>
                <a:cs typeface="Amiri" pitchFamily="34" charset="-120"/>
              </a:rPr>
              <a:t>سَأَدْرُسُ فِي الْمَسَاءِ.</a:t>
            </a:r>
            <a:endParaRPr lang="ar-SA" sz="1700" dirty="0"/>
          </a:p>
        </p:txBody>
      </p:sp>
      <p:sp>
        <p:nvSpPr>
          <p:cNvPr id="72" name="Shape 69"/>
          <p:cNvSpPr/>
          <p:nvPr/>
        </p:nvSpPr>
        <p:spPr>
          <a:xfrm>
            <a:off x="6277356" y="5538216"/>
            <a:ext cx="5362956" cy="347472"/>
          </a:xfrm>
          <a:prstGeom prst="roundRect">
            <a:avLst>
              <a:gd name="adj" fmla="val 15789"/>
            </a:avLst>
          </a:prstGeom>
          <a:solidFill>
            <a:srgbClr val="E6F4EC"/>
          </a:solidFill>
          <a:ln w="9525">
            <a:solidFill>
              <a:srgbClr val="2E8B57"/>
            </a:solidFill>
            <a:prstDash val="solid"/>
          </a:ln>
        </p:spPr>
      </p:sp>
      <p:sp>
        <p:nvSpPr>
          <p:cNvPr id="73" name="Shape 70"/>
          <p:cNvSpPr/>
          <p:nvPr/>
        </p:nvSpPr>
        <p:spPr>
          <a:xfrm>
            <a:off x="6368796" y="5574792"/>
            <a:ext cx="256032" cy="256032"/>
          </a:xfrm>
          <a:prstGeom prst="ellipse">
            <a:avLst/>
          </a:prstGeom>
          <a:solidFill>
            <a:srgbClr val="2E8B57"/>
          </a:solidFill>
          <a:ln w="12700">
            <a:solidFill>
              <a:srgbClr val="2E8B57"/>
            </a:solidFill>
            <a:prstDash val="solid"/>
          </a:ln>
        </p:spPr>
      </p:sp>
      <p:sp>
        <p:nvSpPr>
          <p:cNvPr id="74" name="Text 71"/>
          <p:cNvSpPr txBox="1"/>
          <p:nvPr/>
        </p:nvSpPr>
        <p:spPr>
          <a:xfrm>
            <a:off x="6368796" y="557479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75" name="Text 72"/>
          <p:cNvSpPr txBox="1"/>
          <p:nvPr/>
        </p:nvSpPr>
        <p:spPr>
          <a:xfrm>
            <a:off x="6697980" y="5516880"/>
            <a:ext cx="4887468" cy="371856"/>
          </a:xfrm>
          <a:prstGeom prst="rect">
            <a:avLst/>
          </a:prstGeom>
          <a:noFill/>
          <a:ln/>
        </p:spPr>
        <p:txBody>
          <a:bodyPr wrap="square" lIns="0" tIns="0" rIns="0" bIns="0" rtlCol="0" anchor="ctr"/>
          <a:lstStyle/>
          <a:p>
            <a:pPr rtl="1" algn="r" indent="0" marL="0">
              <a:buNone/>
            </a:pPr>
            <a:r>
              <a:rPr lang="ar-SA" altLang="en-US" sz="1700" b="1" dirty="0">
                <a:solidFill>
                  <a:srgbClr val="1F2A37"/>
                </a:solidFill>
                <a:latin typeface="Amiri" pitchFamily="34" charset="0"/>
                <a:ea typeface="Amiri" pitchFamily="34" charset="-122"/>
                <a:cs typeface="Amiri" pitchFamily="34" charset="-120"/>
              </a:rPr>
              <a:t>كُنْتُ أَدْرُسُ فِي الْمَسَاءِ.</a:t>
            </a:r>
            <a:endParaRPr lang="ar-SA" sz="1700" dirty="0"/>
          </a:p>
        </p:txBody>
      </p:sp>
      <p:sp>
        <p:nvSpPr>
          <p:cNvPr id="76" name="Text 73"/>
          <p:cNvSpPr txBox="1"/>
          <p:nvPr/>
        </p:nvSpPr>
        <p:spPr>
          <a:xfrm>
            <a:off x="6313932" y="5907024"/>
            <a:ext cx="5289804"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Kuntu + present.</a:t>
            </a:r>
            <a:endParaRPr lang="en-US" sz="1050" dirty="0"/>
          </a:p>
        </p:txBody>
      </p:sp>
      <p:sp>
        <p:nvSpPr>
          <p:cNvPr id="77" name="Text 7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22 / 35</a:t>
            </a:r>
            <a:endParaRPr lang="en-US" sz="8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846" b="1" spc="150" kern="0" dirty="0">
                <a:solidFill>
                  <a:srgbClr val="1E6B52"/>
                </a:solidFill>
                <a:latin typeface="Calibri" pitchFamily="34" charset="0"/>
                <a:ea typeface="Calibri" pitchFamily="34" charset="-122"/>
                <a:cs typeface="Calibri" pitchFamily="34" charset="-120"/>
              </a:rPr>
              <a:t>YOU DO · READ AND NOTICE · WEBSITE SKILLS WORKSHOP (TEACHER-WRITTEN THEN-AND-NOW)</a:t>
            </a:r>
            <a:endParaRPr lang="en-US" sz="846"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My grandfather’s village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اِقْرَأْ وَلَاحِظْ</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807415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65960"/>
            <a:ext cx="7616952" cy="4206240"/>
          </a:xfrm>
          <a:prstGeom prst="rect">
            <a:avLst/>
          </a:prstGeom>
          <a:noFill/>
          <a:ln/>
        </p:spPr>
        <p:txBody>
          <a:bodyPr wrap="square" lIns="0" tIns="0" rIns="0" bIns="0" rtlCol="0" anchor="t"/>
          <a:lstStyle/>
          <a:p>
            <a:pPr rtl="1" algn="r" indent="0" marL="0">
              <a:lnSpc>
                <a:spcPct val="120000"/>
              </a:lnSpc>
              <a:buNone/>
            </a:pPr>
            <a:r>
              <a:rPr lang="ar-SA" altLang="en-US" sz="2600" dirty="0">
                <a:solidFill>
                  <a:srgbClr val="1F2A37"/>
                </a:solidFill>
                <a:latin typeface="Amiri" pitchFamily="34" charset="0"/>
                <a:ea typeface="Amiri" pitchFamily="34" charset="-122"/>
                <a:cs typeface="Amiri" pitchFamily="34" charset="-120"/>
              </a:rPr>
              <a:t>قَبْلَ عَشْرِ سَنَوَاتٍ كَانَتْ قَرْيَةُ جَدِّي صَغِيرَةً وَهَادِئَةً. كَانَ النَّاسُ يَعْمَلُونَ فِي الْمَزَارِعِ، وَكَانَ الْأَطْفَالُ يَلْعَبُونَ قُرْبَ النَّهْرِ. كَانَتِ الطُّرُقُ تُرَابِيَّةً، وَكَانَ السُّوقُ بَعِيدًا. ثُمَّ بَنَتِ الْحُكُومَةُ مَدْرَسَةً وَمُسْتَشْفًى، فَصَارَتِ الْقَرْيَةُ أَكْبَرَ، وَأَصْبَحَتِ الطُّرُقُ وَاسِعَةً. الْيَوْمَ الْقَرْيَةُ مُزْدَحِمَةٌ، لَكِنَّهَا مَا زَالَتْ جَمِيلَةً، وَمَا زَالَ جَدِّي يَسْكُنُ فِي بَيْتِهِ الْقَدِيمِ.</a:t>
            </a:r>
            <a:endParaRPr lang="ar-SA" sz="2600" dirty="0"/>
          </a:p>
        </p:txBody>
      </p:sp>
      <p:sp>
        <p:nvSpPr>
          <p:cNvPr id="17" name="Shape 14"/>
          <p:cNvSpPr/>
          <p:nvPr/>
        </p:nvSpPr>
        <p:spPr>
          <a:xfrm>
            <a:off x="8714232" y="1810512"/>
            <a:ext cx="3017520" cy="4498848"/>
          </a:xfrm>
          <a:prstGeom prst="roundRect">
            <a:avLst>
              <a:gd name="adj" fmla="val 2424"/>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8" name="Text 15"/>
          <p:cNvSpPr txBox="1"/>
          <p:nvPr/>
        </p:nvSpPr>
        <p:spPr>
          <a:xfrm>
            <a:off x="8897112" y="1883664"/>
            <a:ext cx="2651760" cy="292608"/>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KEY WORDS</a:t>
            </a:r>
            <a:endParaRPr lang="en-US" sz="1000" dirty="0"/>
          </a:p>
        </p:txBody>
      </p:sp>
      <p:sp>
        <p:nvSpPr>
          <p:cNvPr id="19" name="Text 16"/>
          <p:cNvSpPr txBox="1"/>
          <p:nvPr/>
        </p:nvSpPr>
        <p:spPr>
          <a:xfrm>
            <a:off x="10102291" y="221284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قَرْيَةُ</a:t>
            </a:r>
            <a:endParaRPr lang="ar-SA" sz="1600" dirty="0"/>
          </a:p>
        </p:txBody>
      </p:sp>
      <p:sp>
        <p:nvSpPr>
          <p:cNvPr id="20" name="Text 17"/>
          <p:cNvSpPr txBox="1"/>
          <p:nvPr/>
        </p:nvSpPr>
        <p:spPr>
          <a:xfrm>
            <a:off x="8851392" y="221284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village</a:t>
            </a:r>
            <a:endParaRPr lang="en-US" sz="1050" dirty="0"/>
          </a:p>
        </p:txBody>
      </p:sp>
      <p:sp>
        <p:nvSpPr>
          <p:cNvPr id="21" name="Text 18"/>
          <p:cNvSpPr txBox="1"/>
          <p:nvPr/>
        </p:nvSpPr>
        <p:spPr>
          <a:xfrm>
            <a:off x="10102291" y="271576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الْمَزَارِعِ</a:t>
            </a:r>
            <a:endParaRPr lang="ar-SA" sz="1600" dirty="0"/>
          </a:p>
        </p:txBody>
      </p:sp>
      <p:sp>
        <p:nvSpPr>
          <p:cNvPr id="22" name="Text 19"/>
          <p:cNvSpPr txBox="1"/>
          <p:nvPr/>
        </p:nvSpPr>
        <p:spPr>
          <a:xfrm>
            <a:off x="8851392" y="271576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farms</a:t>
            </a:r>
            <a:endParaRPr lang="en-US" sz="1050" dirty="0"/>
          </a:p>
        </p:txBody>
      </p:sp>
      <p:sp>
        <p:nvSpPr>
          <p:cNvPr id="23" name="Text 20"/>
          <p:cNvSpPr txBox="1"/>
          <p:nvPr/>
        </p:nvSpPr>
        <p:spPr>
          <a:xfrm>
            <a:off x="10102291" y="321868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تُرَابِيَّةً</a:t>
            </a:r>
            <a:endParaRPr lang="ar-SA" sz="1600" dirty="0"/>
          </a:p>
        </p:txBody>
      </p:sp>
      <p:sp>
        <p:nvSpPr>
          <p:cNvPr id="24" name="Text 21"/>
          <p:cNvSpPr txBox="1"/>
          <p:nvPr/>
        </p:nvSpPr>
        <p:spPr>
          <a:xfrm>
            <a:off x="8851392" y="321868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dirt (unpaved)</a:t>
            </a:r>
            <a:endParaRPr lang="en-US" sz="1050" dirty="0"/>
          </a:p>
        </p:txBody>
      </p:sp>
      <p:sp>
        <p:nvSpPr>
          <p:cNvPr id="25" name="Text 22"/>
          <p:cNvSpPr txBox="1"/>
          <p:nvPr/>
        </p:nvSpPr>
        <p:spPr>
          <a:xfrm>
            <a:off x="10102291" y="372160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الْحُكُومَةُ</a:t>
            </a:r>
            <a:endParaRPr lang="ar-SA" sz="1600" dirty="0"/>
          </a:p>
        </p:txBody>
      </p:sp>
      <p:sp>
        <p:nvSpPr>
          <p:cNvPr id="26" name="Text 23"/>
          <p:cNvSpPr txBox="1"/>
          <p:nvPr/>
        </p:nvSpPr>
        <p:spPr>
          <a:xfrm>
            <a:off x="8851392" y="372160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the government</a:t>
            </a:r>
            <a:endParaRPr lang="en-US" sz="1050" dirty="0"/>
          </a:p>
        </p:txBody>
      </p:sp>
      <p:sp>
        <p:nvSpPr>
          <p:cNvPr id="27" name="Text 24"/>
          <p:cNvSpPr txBox="1"/>
          <p:nvPr/>
        </p:nvSpPr>
        <p:spPr>
          <a:xfrm>
            <a:off x="10102291" y="4224528"/>
            <a:ext cx="1508760" cy="502920"/>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وَاسِعَةً</a:t>
            </a:r>
            <a:endParaRPr lang="ar-SA" sz="1600" dirty="0"/>
          </a:p>
        </p:txBody>
      </p:sp>
      <p:sp>
        <p:nvSpPr>
          <p:cNvPr id="28" name="Text 25"/>
          <p:cNvSpPr txBox="1"/>
          <p:nvPr/>
        </p:nvSpPr>
        <p:spPr>
          <a:xfrm>
            <a:off x="8851392" y="4224528"/>
            <a:ext cx="1388059" cy="502920"/>
          </a:xfrm>
          <a:prstGeom prst="rect">
            <a:avLst/>
          </a:prstGeom>
          <a:noFill/>
          <a:ln/>
        </p:spPr>
        <p:txBody>
          <a:bodyPr wrap="square" lIns="0" tIns="0" rIns="0" bIns="0" rtlCol="0" anchor="ctr"/>
          <a:lstStyle/>
          <a:p>
            <a:pPr algn="l" indent="0" marL="0">
              <a:buNone/>
            </a:pPr>
            <a:r>
              <a:rPr lang="en-US" sz="1050" dirty="0">
                <a:solidFill>
                  <a:srgbClr val="1F2A37"/>
                </a:solidFill>
                <a:latin typeface="Calibri" pitchFamily="34" charset="0"/>
                <a:ea typeface="Calibri" pitchFamily="34" charset="-122"/>
                <a:cs typeface="Calibri" pitchFamily="34" charset="-120"/>
              </a:rPr>
              <a:t>wide</a:t>
            </a:r>
            <a:endParaRPr lang="en-US" sz="1050" dirty="0"/>
          </a:p>
        </p:txBody>
      </p:sp>
      <p:sp>
        <p:nvSpPr>
          <p:cNvPr id="29" name="Text 2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23 / 35</a:t>
            </a:r>
            <a:endParaRPr lang="en-US" sz="8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QUESTIONS · FIND THE GRAMMAR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notice the grammar</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أَسْئِلَةُ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children use to play?</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school</a:t>
            </a:r>
            <a:endParaRPr lang="en-US" sz="12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near the river</a:t>
            </a:r>
            <a:endParaRPr lang="en-US" sz="12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in the market</a:t>
            </a:r>
            <a:endParaRPr lang="en-US" sz="1250" dirty="0"/>
          </a:p>
        </p:txBody>
      </p:sp>
      <p:sp>
        <p:nvSpPr>
          <p:cNvPr id="28" name="Shape 25"/>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changed the village?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the river dried up</a:t>
            </a:r>
            <a:endParaRPr lang="en-US" sz="12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people left</a:t>
            </a:r>
            <a:endParaRPr lang="en-US" sz="12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 new school and hospital</a:t>
            </a:r>
            <a:endParaRPr lang="en-US" sz="1250" dirty="0"/>
          </a:p>
        </p:txBody>
      </p:sp>
      <p:sp>
        <p:nvSpPr>
          <p:cNvPr id="41" name="Shape 38"/>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mā zāla tell us about the grandfather?</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still lives in his old house</a:t>
            </a:r>
            <a:endParaRPr lang="en-US" sz="12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moved away</a:t>
            </a:r>
            <a:endParaRPr lang="en-US" sz="12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he works on a farm</a:t>
            </a:r>
            <a:endParaRPr lang="en-US" sz="1250" dirty="0"/>
          </a:p>
        </p:txBody>
      </p:sp>
      <p:sp>
        <p:nvSpPr>
          <p:cNvPr id="54" name="Shape 51"/>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585216" y="4288536"/>
            <a:ext cx="310896" cy="310896"/>
          </a:xfrm>
          <a:prstGeom prst="ellipse">
            <a:avLst/>
          </a:prstGeom>
          <a:solidFill>
            <a:srgbClr val="1B3B6F"/>
          </a:solidFill>
          <a:ln w="12700">
            <a:solidFill>
              <a:srgbClr val="1B3B6F"/>
            </a:solidFill>
            <a:prstDash val="solid"/>
          </a:ln>
        </p:spPr>
      </p:sp>
      <p:sp>
        <p:nvSpPr>
          <p:cNvPr id="56" name="Text 53"/>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57" name="Text 54"/>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kānati ṭ-ṭuruqu (feminine singular)?</a:t>
            </a:r>
            <a:endParaRPr lang="en-US" sz="1250" dirty="0"/>
          </a:p>
        </p:txBody>
      </p:sp>
      <p:sp>
        <p:nvSpPr>
          <p:cNvPr id="58" name="Shape 55"/>
          <p:cNvSpPr/>
          <p:nvPr/>
        </p:nvSpPr>
        <p:spPr>
          <a:xfrm>
            <a:off x="640080" y="4873752"/>
            <a:ext cx="256032" cy="256032"/>
          </a:xfrm>
          <a:prstGeom prst="ellipse">
            <a:avLst/>
          </a:prstGeom>
          <a:solidFill>
            <a:srgbClr val="F4F1EA"/>
          </a:solidFill>
          <a:ln w="12700">
            <a:solidFill>
              <a:srgbClr val="F4F1EA"/>
            </a:solidFill>
            <a:prstDash val="solid"/>
          </a:ln>
        </p:spPr>
      </p:sp>
      <p:sp>
        <p:nvSpPr>
          <p:cNvPr id="59" name="Text 56"/>
          <p:cNvSpPr txBox="1"/>
          <p:nvPr/>
        </p:nvSpPr>
        <p:spPr>
          <a:xfrm>
            <a:off x="640080" y="48737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0" name="Text 57"/>
          <p:cNvSpPr txBox="1"/>
          <p:nvPr/>
        </p:nvSpPr>
        <p:spPr>
          <a:xfrm>
            <a:off x="969264" y="47731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it is a mistake</a:t>
            </a:r>
            <a:endParaRPr lang="en-US" sz="1250" dirty="0"/>
          </a:p>
        </p:txBody>
      </p:sp>
      <p:sp>
        <p:nvSpPr>
          <p:cNvPr id="61" name="Shape 58"/>
          <p:cNvSpPr/>
          <p:nvPr/>
        </p:nvSpPr>
        <p:spPr>
          <a:xfrm>
            <a:off x="640080" y="5330952"/>
            <a:ext cx="256032" cy="256032"/>
          </a:xfrm>
          <a:prstGeom prst="ellipse">
            <a:avLst/>
          </a:prstGeom>
          <a:solidFill>
            <a:srgbClr val="F4F1EA"/>
          </a:solidFill>
          <a:ln w="12700">
            <a:solidFill>
              <a:srgbClr val="F4F1EA"/>
            </a:solidFill>
            <a:prstDash val="solid"/>
          </a:ln>
        </p:spPr>
      </p:sp>
      <p:sp>
        <p:nvSpPr>
          <p:cNvPr id="62" name="Text 59"/>
          <p:cNvSpPr txBox="1"/>
          <p:nvPr/>
        </p:nvSpPr>
        <p:spPr>
          <a:xfrm>
            <a:off x="640080" y="53309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63" name="Text 60"/>
          <p:cNvSpPr txBox="1"/>
          <p:nvPr/>
        </p:nvSpPr>
        <p:spPr>
          <a:xfrm>
            <a:off x="969264" y="52303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roads are things</a:t>
            </a:r>
            <a:endParaRPr lang="en-US" sz="1250" dirty="0"/>
          </a:p>
        </p:txBody>
      </p:sp>
      <p:sp>
        <p:nvSpPr>
          <p:cNvPr id="64" name="Shape 61"/>
          <p:cNvSpPr/>
          <p:nvPr/>
        </p:nvSpPr>
        <p:spPr>
          <a:xfrm>
            <a:off x="640080" y="5788152"/>
            <a:ext cx="256032" cy="256032"/>
          </a:xfrm>
          <a:prstGeom prst="ellipse">
            <a:avLst/>
          </a:prstGeom>
          <a:solidFill>
            <a:srgbClr val="F4F1EA"/>
          </a:solidFill>
          <a:ln w="12700">
            <a:solidFill>
              <a:srgbClr val="F4F1EA"/>
            </a:solidFill>
            <a:prstDash val="solid"/>
          </a:ln>
        </p:spPr>
      </p:sp>
      <p:sp>
        <p:nvSpPr>
          <p:cNvPr id="65" name="Text 62"/>
          <p:cNvSpPr txBox="1"/>
          <p:nvPr/>
        </p:nvSpPr>
        <p:spPr>
          <a:xfrm>
            <a:off x="640080" y="578815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66" name="Text 63"/>
          <p:cNvSpPr txBox="1"/>
          <p:nvPr/>
        </p:nvSpPr>
        <p:spPr>
          <a:xfrm>
            <a:off x="969264" y="5687568"/>
            <a:ext cx="2977896" cy="4572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only one road</a:t>
            </a:r>
            <a:endParaRPr lang="en-US" sz="1250" dirty="0"/>
          </a:p>
        </p:txBody>
      </p:sp>
      <p:sp>
        <p:nvSpPr>
          <p:cNvPr id="67" name="Shape 64"/>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68" name="Text 65"/>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69" name="Text 66"/>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0" name="Text 6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24 / 35</a:t>
            </a:r>
            <a:endParaRPr lang="en-US" sz="8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READING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Reading: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القِرَاءَةِ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Where did the children use to play?</a:t>
            </a:r>
            <a:endParaRPr lang="en-US" sz="1250" dirty="0"/>
          </a:p>
        </p:txBody>
      </p:sp>
      <p:sp>
        <p:nvSpPr>
          <p:cNvPr id="19" name="Shape 16"/>
          <p:cNvSpPr/>
          <p:nvPr/>
        </p:nvSpPr>
        <p:spPr>
          <a:xfrm>
            <a:off x="640080" y="2490216"/>
            <a:ext cx="256032" cy="256032"/>
          </a:xfrm>
          <a:prstGeom prst="ellipse">
            <a:avLst/>
          </a:prstGeom>
          <a:solidFill>
            <a:srgbClr val="C9CED6"/>
          </a:solidFill>
          <a:ln w="12700">
            <a:solidFill>
              <a:srgbClr val="C9CED6"/>
            </a:solidFill>
            <a:prstDash val="solid"/>
          </a:ln>
        </p:spPr>
      </p:sp>
      <p:sp>
        <p:nvSpPr>
          <p:cNvPr id="20" name="Text 17"/>
          <p:cNvSpPr txBox="1"/>
          <p:nvPr/>
        </p:nvSpPr>
        <p:spPr>
          <a:xfrm>
            <a:off x="640080"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school</a:t>
            </a:r>
            <a:endParaRPr lang="en-US" sz="1250" dirty="0"/>
          </a:p>
        </p:txBody>
      </p:sp>
      <p:sp>
        <p:nvSpPr>
          <p:cNvPr id="22" name="Shape 19"/>
          <p:cNvSpPr/>
          <p:nvPr/>
        </p:nvSpPr>
        <p:spPr>
          <a:xfrm>
            <a:off x="548640" y="2825496"/>
            <a:ext cx="3453384" cy="347472"/>
          </a:xfrm>
          <a:prstGeom prst="roundRect">
            <a:avLst>
              <a:gd name="adj" fmla="val 15789"/>
            </a:avLst>
          </a:prstGeom>
          <a:solidFill>
            <a:srgbClr val="E6F4EC"/>
          </a:solidFill>
          <a:ln w="9525">
            <a:solidFill>
              <a:srgbClr val="2E8B57"/>
            </a:solidFill>
            <a:prstDash val="solid"/>
          </a:ln>
        </p:spPr>
      </p:sp>
      <p:sp>
        <p:nvSpPr>
          <p:cNvPr id="23" name="Shape 20"/>
          <p:cNvSpPr/>
          <p:nvPr/>
        </p:nvSpPr>
        <p:spPr>
          <a:xfrm>
            <a:off x="640080" y="2862072"/>
            <a:ext cx="256032" cy="256032"/>
          </a:xfrm>
          <a:prstGeom prst="ellipse">
            <a:avLst/>
          </a:prstGeom>
          <a:solidFill>
            <a:srgbClr val="2E8B57"/>
          </a:solidFill>
          <a:ln w="12700">
            <a:solidFill>
              <a:srgbClr val="2E8B57"/>
            </a:solidFill>
            <a:prstDash val="solid"/>
          </a:ln>
        </p:spPr>
      </p:sp>
      <p:sp>
        <p:nvSpPr>
          <p:cNvPr id="24" name="Text 21"/>
          <p:cNvSpPr txBox="1"/>
          <p:nvPr/>
        </p:nvSpPr>
        <p:spPr>
          <a:xfrm>
            <a:off x="640080" y="2862072"/>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04160"/>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near the river</a:t>
            </a:r>
            <a:endParaRPr lang="en-US" sz="1250" dirty="0"/>
          </a:p>
        </p:txBody>
      </p:sp>
      <p:sp>
        <p:nvSpPr>
          <p:cNvPr id="26" name="Shape 23"/>
          <p:cNvSpPr/>
          <p:nvPr/>
        </p:nvSpPr>
        <p:spPr>
          <a:xfrm>
            <a:off x="640080" y="323392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in the market</a:t>
            </a:r>
            <a:endParaRPr lang="en-US" sz="1250" dirty="0"/>
          </a:p>
        </p:txBody>
      </p:sp>
      <p:sp>
        <p:nvSpPr>
          <p:cNvPr id="29" name="Text 26"/>
          <p:cNvSpPr txBox="1"/>
          <p:nvPr/>
        </p:nvSpPr>
        <p:spPr>
          <a:xfrm>
            <a:off x="585216"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Kāna l-aṭfālu yalʿabūna qurba n-nahr.</a:t>
            </a:r>
            <a:endParaRPr lang="en-US" sz="1050" dirty="0"/>
          </a:p>
        </p:txBody>
      </p:sp>
      <p:sp>
        <p:nvSpPr>
          <p:cNvPr id="30" name="Shape 27"/>
          <p:cNvSpPr/>
          <p:nvPr/>
        </p:nvSpPr>
        <p:spPr>
          <a:xfrm>
            <a:off x="4276344"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changed the village?</a:t>
            </a:r>
            <a:endParaRPr lang="en-US" sz="1250" dirty="0"/>
          </a:p>
        </p:txBody>
      </p:sp>
      <p:sp>
        <p:nvSpPr>
          <p:cNvPr id="34" name="Shape 31"/>
          <p:cNvSpPr/>
          <p:nvPr/>
        </p:nvSpPr>
        <p:spPr>
          <a:xfrm>
            <a:off x="4459224" y="2490216"/>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490216"/>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the river dried up</a:t>
            </a:r>
            <a:endParaRPr lang="en-US" sz="1250" dirty="0"/>
          </a:p>
        </p:txBody>
      </p:sp>
      <p:sp>
        <p:nvSpPr>
          <p:cNvPr id="37" name="Shape 34"/>
          <p:cNvSpPr/>
          <p:nvPr/>
        </p:nvSpPr>
        <p:spPr>
          <a:xfrm>
            <a:off x="4459224" y="2862072"/>
            <a:ext cx="256032" cy="256032"/>
          </a:xfrm>
          <a:prstGeom prst="ellipse">
            <a:avLst/>
          </a:prstGeom>
          <a:solidFill>
            <a:srgbClr val="C9CED6"/>
          </a:solidFill>
          <a:ln w="12700">
            <a:solidFill>
              <a:srgbClr val="C9CED6"/>
            </a:solidFill>
            <a:prstDash val="solid"/>
          </a:ln>
        </p:spPr>
      </p:sp>
      <p:sp>
        <p:nvSpPr>
          <p:cNvPr id="38" name="Text 35"/>
          <p:cNvSpPr txBox="1"/>
          <p:nvPr/>
        </p:nvSpPr>
        <p:spPr>
          <a:xfrm>
            <a:off x="4459224"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9" name="Text 36"/>
          <p:cNvSpPr txBox="1"/>
          <p:nvPr/>
        </p:nvSpPr>
        <p:spPr>
          <a:xfrm>
            <a:off x="4788408"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people left</a:t>
            </a:r>
            <a:endParaRPr lang="en-US" sz="1250" dirty="0"/>
          </a:p>
        </p:txBody>
      </p:sp>
      <p:sp>
        <p:nvSpPr>
          <p:cNvPr id="40" name="Shape 37"/>
          <p:cNvSpPr/>
          <p:nvPr/>
        </p:nvSpPr>
        <p:spPr>
          <a:xfrm>
            <a:off x="4367784" y="3197352"/>
            <a:ext cx="3453384" cy="347472"/>
          </a:xfrm>
          <a:prstGeom prst="roundRect">
            <a:avLst>
              <a:gd name="adj" fmla="val 15789"/>
            </a:avLst>
          </a:prstGeom>
          <a:solidFill>
            <a:srgbClr val="E6F4EC"/>
          </a:solidFill>
          <a:ln w="9525">
            <a:solidFill>
              <a:srgbClr val="2E8B57"/>
            </a:solidFill>
            <a:prstDash val="solid"/>
          </a:ln>
        </p:spPr>
      </p:sp>
      <p:sp>
        <p:nvSpPr>
          <p:cNvPr id="41" name="Shape 38"/>
          <p:cNvSpPr/>
          <p:nvPr/>
        </p:nvSpPr>
        <p:spPr>
          <a:xfrm>
            <a:off x="4459224" y="3233928"/>
            <a:ext cx="256032" cy="256032"/>
          </a:xfrm>
          <a:prstGeom prst="ellipse">
            <a:avLst/>
          </a:prstGeom>
          <a:solidFill>
            <a:srgbClr val="2E8B57"/>
          </a:solidFill>
          <a:ln w="12700">
            <a:solidFill>
              <a:srgbClr val="2E8B57"/>
            </a:solidFill>
            <a:prstDash val="solid"/>
          </a:ln>
        </p:spPr>
      </p:sp>
      <p:sp>
        <p:nvSpPr>
          <p:cNvPr id="42" name="Text 39"/>
          <p:cNvSpPr txBox="1"/>
          <p:nvPr/>
        </p:nvSpPr>
        <p:spPr>
          <a:xfrm>
            <a:off x="4459224" y="323392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176016"/>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a new school and hospital</a:t>
            </a:r>
            <a:endParaRPr lang="en-US" sz="1250" dirty="0"/>
          </a:p>
        </p:txBody>
      </p:sp>
      <p:sp>
        <p:nvSpPr>
          <p:cNvPr id="44" name="Text 41"/>
          <p:cNvSpPr txBox="1"/>
          <p:nvPr/>
        </p:nvSpPr>
        <p:spPr>
          <a:xfrm>
            <a:off x="4404360"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Banati l-ḥukūmatu madrasatan wa-mustashfan.</a:t>
            </a:r>
            <a:endParaRPr lang="en-US" sz="1050" dirty="0"/>
          </a:p>
        </p:txBody>
      </p:sp>
      <p:sp>
        <p:nvSpPr>
          <p:cNvPr id="45" name="Shape 42"/>
          <p:cNvSpPr/>
          <p:nvPr/>
        </p:nvSpPr>
        <p:spPr>
          <a:xfrm>
            <a:off x="8095488" y="1810512"/>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What does mā zāla tell us about the grandfather?</a:t>
            </a:r>
            <a:endParaRPr lang="en-US" sz="1250" dirty="0"/>
          </a:p>
        </p:txBody>
      </p:sp>
      <p:sp>
        <p:nvSpPr>
          <p:cNvPr id="49" name="Shape 46"/>
          <p:cNvSpPr/>
          <p:nvPr/>
        </p:nvSpPr>
        <p:spPr>
          <a:xfrm>
            <a:off x="8186928" y="2453640"/>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490216"/>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49021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he still lives in his old house</a:t>
            </a:r>
            <a:endParaRPr lang="en-US" sz="1250" dirty="0"/>
          </a:p>
        </p:txBody>
      </p:sp>
      <p:sp>
        <p:nvSpPr>
          <p:cNvPr id="53" name="Shape 50"/>
          <p:cNvSpPr/>
          <p:nvPr/>
        </p:nvSpPr>
        <p:spPr>
          <a:xfrm>
            <a:off x="8278368" y="2862072"/>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86207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0416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moved away</a:t>
            </a:r>
            <a:endParaRPr lang="en-US" sz="1250" dirty="0"/>
          </a:p>
        </p:txBody>
      </p:sp>
      <p:sp>
        <p:nvSpPr>
          <p:cNvPr id="56" name="Shape 53"/>
          <p:cNvSpPr/>
          <p:nvPr/>
        </p:nvSpPr>
        <p:spPr>
          <a:xfrm>
            <a:off x="8278368" y="323392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23392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176016"/>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he works on a farm</a:t>
            </a:r>
            <a:endParaRPr lang="en-US" sz="1250" dirty="0"/>
          </a:p>
        </p:txBody>
      </p:sp>
      <p:sp>
        <p:nvSpPr>
          <p:cNvPr id="59" name="Text 56"/>
          <p:cNvSpPr txBox="1"/>
          <p:nvPr/>
        </p:nvSpPr>
        <p:spPr>
          <a:xfrm>
            <a:off x="8223504" y="3566160"/>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 zāla = still.</a:t>
            </a:r>
            <a:endParaRPr lang="en-US" sz="1050" dirty="0"/>
          </a:p>
        </p:txBody>
      </p:sp>
      <p:sp>
        <p:nvSpPr>
          <p:cNvPr id="60" name="Shape 57"/>
          <p:cNvSpPr/>
          <p:nvPr/>
        </p:nvSpPr>
        <p:spPr>
          <a:xfrm>
            <a:off x="457200" y="4151376"/>
            <a:ext cx="3636264"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1" name="Shape 58"/>
          <p:cNvSpPr/>
          <p:nvPr/>
        </p:nvSpPr>
        <p:spPr>
          <a:xfrm>
            <a:off x="585216" y="4288536"/>
            <a:ext cx="310896" cy="310896"/>
          </a:xfrm>
          <a:prstGeom prst="ellipse">
            <a:avLst/>
          </a:prstGeom>
          <a:solidFill>
            <a:srgbClr val="1B3B6F"/>
          </a:solidFill>
          <a:ln w="12700">
            <a:solidFill>
              <a:srgbClr val="1B3B6F"/>
            </a:solidFill>
            <a:prstDash val="solid"/>
          </a:ln>
        </p:spPr>
      </p:sp>
      <p:sp>
        <p:nvSpPr>
          <p:cNvPr id="62" name="Text 59"/>
          <p:cNvSpPr txBox="1"/>
          <p:nvPr/>
        </p:nvSpPr>
        <p:spPr>
          <a:xfrm>
            <a:off x="585216" y="4288536"/>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4</a:t>
            </a:r>
            <a:endParaRPr lang="en-US" sz="1100" dirty="0"/>
          </a:p>
        </p:txBody>
      </p:sp>
      <p:sp>
        <p:nvSpPr>
          <p:cNvPr id="63" name="Text 60"/>
          <p:cNvSpPr txBox="1"/>
          <p:nvPr/>
        </p:nvSpPr>
        <p:spPr>
          <a:xfrm>
            <a:off x="950976" y="4224528"/>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Why kānati ṭ-ṭuruqu (feminine singular)?</a:t>
            </a:r>
            <a:endParaRPr lang="en-US" sz="1250" dirty="0"/>
          </a:p>
        </p:txBody>
      </p:sp>
      <p:sp>
        <p:nvSpPr>
          <p:cNvPr id="64" name="Shape 61"/>
          <p:cNvSpPr/>
          <p:nvPr/>
        </p:nvSpPr>
        <p:spPr>
          <a:xfrm>
            <a:off x="640080" y="4831080"/>
            <a:ext cx="256032" cy="256032"/>
          </a:xfrm>
          <a:prstGeom prst="ellipse">
            <a:avLst/>
          </a:prstGeom>
          <a:solidFill>
            <a:srgbClr val="C9CED6"/>
          </a:solidFill>
          <a:ln w="12700">
            <a:solidFill>
              <a:srgbClr val="C9CED6"/>
            </a:solidFill>
            <a:prstDash val="solid"/>
          </a:ln>
        </p:spPr>
      </p:sp>
      <p:sp>
        <p:nvSpPr>
          <p:cNvPr id="65" name="Text 62"/>
          <p:cNvSpPr txBox="1"/>
          <p:nvPr/>
        </p:nvSpPr>
        <p:spPr>
          <a:xfrm>
            <a:off x="640080" y="4831080"/>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66" name="Text 63"/>
          <p:cNvSpPr txBox="1"/>
          <p:nvPr/>
        </p:nvSpPr>
        <p:spPr>
          <a:xfrm>
            <a:off x="969264" y="4773168"/>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it is a mistake</a:t>
            </a:r>
            <a:endParaRPr lang="en-US" sz="1250" dirty="0"/>
          </a:p>
        </p:txBody>
      </p:sp>
      <p:sp>
        <p:nvSpPr>
          <p:cNvPr id="67" name="Shape 64"/>
          <p:cNvSpPr/>
          <p:nvPr/>
        </p:nvSpPr>
        <p:spPr>
          <a:xfrm>
            <a:off x="548640" y="5166360"/>
            <a:ext cx="3453384" cy="347472"/>
          </a:xfrm>
          <a:prstGeom prst="roundRect">
            <a:avLst>
              <a:gd name="adj" fmla="val 15789"/>
            </a:avLst>
          </a:prstGeom>
          <a:solidFill>
            <a:srgbClr val="E6F4EC"/>
          </a:solidFill>
          <a:ln w="9525">
            <a:solidFill>
              <a:srgbClr val="2E8B57"/>
            </a:solidFill>
            <a:prstDash val="solid"/>
          </a:ln>
        </p:spPr>
      </p:sp>
      <p:sp>
        <p:nvSpPr>
          <p:cNvPr id="68" name="Shape 65"/>
          <p:cNvSpPr/>
          <p:nvPr/>
        </p:nvSpPr>
        <p:spPr>
          <a:xfrm>
            <a:off x="640080" y="5202936"/>
            <a:ext cx="256032" cy="256032"/>
          </a:xfrm>
          <a:prstGeom prst="ellipse">
            <a:avLst/>
          </a:prstGeom>
          <a:solidFill>
            <a:srgbClr val="2E8B57"/>
          </a:solidFill>
          <a:ln w="12700">
            <a:solidFill>
              <a:srgbClr val="2E8B57"/>
            </a:solidFill>
            <a:prstDash val="solid"/>
          </a:ln>
        </p:spPr>
      </p:sp>
      <p:sp>
        <p:nvSpPr>
          <p:cNvPr id="69" name="Text 66"/>
          <p:cNvSpPr txBox="1"/>
          <p:nvPr/>
        </p:nvSpPr>
        <p:spPr>
          <a:xfrm>
            <a:off x="640080" y="5202936"/>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70" name="Text 67"/>
          <p:cNvSpPr txBox="1"/>
          <p:nvPr/>
        </p:nvSpPr>
        <p:spPr>
          <a:xfrm>
            <a:off x="969264" y="5145024"/>
            <a:ext cx="2977896" cy="371856"/>
          </a:xfrm>
          <a:prstGeom prst="rect">
            <a:avLst/>
          </a:prstGeom>
          <a:noFill/>
          <a:ln/>
        </p:spPr>
        <p:txBody>
          <a:bodyPr wrap="square" lIns="0" tIns="0" rIns="0" bIns="0" rtlCol="0" anchor="ctr"/>
          <a:lstStyle/>
          <a:p>
            <a:pPr algn="l" indent="0" marL="0">
              <a:buNone/>
            </a:pPr>
            <a:r>
              <a:rPr lang="en-US" sz="1250" b="1" dirty="0">
                <a:solidFill>
                  <a:srgbClr val="1F2A37"/>
                </a:solidFill>
                <a:latin typeface="Calibri" pitchFamily="34" charset="0"/>
                <a:ea typeface="Calibri" pitchFamily="34" charset="-122"/>
                <a:cs typeface="Calibri" pitchFamily="34" charset="-120"/>
              </a:rPr>
              <a:t>roads are things</a:t>
            </a:r>
            <a:endParaRPr lang="en-US" sz="1250" dirty="0"/>
          </a:p>
        </p:txBody>
      </p:sp>
      <p:sp>
        <p:nvSpPr>
          <p:cNvPr id="71" name="Shape 68"/>
          <p:cNvSpPr/>
          <p:nvPr/>
        </p:nvSpPr>
        <p:spPr>
          <a:xfrm>
            <a:off x="640080" y="5574792"/>
            <a:ext cx="256032" cy="256032"/>
          </a:xfrm>
          <a:prstGeom prst="ellipse">
            <a:avLst/>
          </a:prstGeom>
          <a:solidFill>
            <a:srgbClr val="C9CED6"/>
          </a:solidFill>
          <a:ln w="12700">
            <a:solidFill>
              <a:srgbClr val="C9CED6"/>
            </a:solidFill>
            <a:prstDash val="solid"/>
          </a:ln>
        </p:spPr>
      </p:sp>
      <p:sp>
        <p:nvSpPr>
          <p:cNvPr id="72" name="Text 69"/>
          <p:cNvSpPr txBox="1"/>
          <p:nvPr/>
        </p:nvSpPr>
        <p:spPr>
          <a:xfrm>
            <a:off x="640080" y="5574792"/>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73" name="Text 70"/>
          <p:cNvSpPr txBox="1"/>
          <p:nvPr/>
        </p:nvSpPr>
        <p:spPr>
          <a:xfrm>
            <a:off x="969264" y="5516880"/>
            <a:ext cx="2977896" cy="371856"/>
          </a:xfrm>
          <a:prstGeom prst="rect">
            <a:avLst/>
          </a:prstGeom>
          <a:noFill/>
          <a:ln/>
        </p:spPr>
        <p:txBody>
          <a:bodyPr wrap="square" lIns="0" tIns="0" rIns="0" bIns="0" rtlCol="0" anchor="ctr"/>
          <a:lstStyle/>
          <a:p>
            <a:pPr algn="l" indent="0" marL="0">
              <a:buNone/>
            </a:pPr>
            <a:r>
              <a:rPr lang="en-US" sz="1250" dirty="0">
                <a:solidFill>
                  <a:srgbClr val="9AA1AB"/>
                </a:solidFill>
                <a:latin typeface="Calibri" pitchFamily="34" charset="0"/>
                <a:ea typeface="Calibri" pitchFamily="34" charset="-122"/>
                <a:cs typeface="Calibri" pitchFamily="34" charset="-120"/>
              </a:rPr>
              <a:t>only one road</a:t>
            </a:r>
            <a:endParaRPr lang="en-US" sz="1250" dirty="0"/>
          </a:p>
        </p:txBody>
      </p:sp>
      <p:sp>
        <p:nvSpPr>
          <p:cNvPr id="74" name="Text 71"/>
          <p:cNvSpPr txBox="1"/>
          <p:nvPr/>
        </p:nvSpPr>
        <p:spPr>
          <a:xfrm>
            <a:off x="585216" y="590702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Non-human plural → feminine singular.</a:t>
            </a:r>
            <a:endParaRPr lang="en-US" sz="1050" dirty="0"/>
          </a:p>
        </p:txBody>
      </p:sp>
      <p:sp>
        <p:nvSpPr>
          <p:cNvPr id="75" name="Shape 72"/>
          <p:cNvSpPr/>
          <p:nvPr/>
        </p:nvSpPr>
        <p:spPr>
          <a:xfrm>
            <a:off x="4276344" y="4151376"/>
            <a:ext cx="3636264" cy="2157984"/>
          </a:xfrm>
          <a:prstGeom prst="roundRect">
            <a:avLst>
              <a:gd name="adj" fmla="val 3390"/>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76" name="Text 73"/>
          <p:cNvSpPr txBox="1"/>
          <p:nvPr/>
        </p:nvSpPr>
        <p:spPr>
          <a:xfrm>
            <a:off x="4459224" y="4279392"/>
            <a:ext cx="3270504"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ea typeface="Calibri" pitchFamily="34" charset="-122"/>
                <a:cs typeface="Calibri" pitchFamily="34" charset="-120"/>
              </a:rPr>
              <a:t>GRAMMAR DETECTIVE</a:t>
            </a:r>
            <a:endParaRPr lang="en-US" sz="1000" dirty="0"/>
          </a:p>
        </p:txBody>
      </p:sp>
      <p:sp>
        <p:nvSpPr>
          <p:cNvPr id="77" name="Text 74"/>
          <p:cNvSpPr txBox="1"/>
          <p:nvPr/>
        </p:nvSpPr>
        <p:spPr>
          <a:xfrm>
            <a:off x="4459224" y="4590288"/>
            <a:ext cx="3270504" cy="1609344"/>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ea typeface="Calibri" pitchFamily="34" charset="-122"/>
                <a:cs typeface="Calibri" pitchFamily="34" charset="-120"/>
              </a:rPr>
              <a:t>1. Read the question first.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2. Find the phrase in the text.</a:t>
            </a:r>
            <a:endParaRPr lang="en-US" sz="1250" dirty="0"/>
          </a:p>
          <a:p>
            <a:pPr algn="l" indent="0" marL="0">
              <a:buNone/>
            </a:pPr>
            <a:r>
              <a:rPr lang="en-US" sz="1250" dirty="0">
                <a:solidFill>
                  <a:srgbClr val="1F2A37"/>
                </a:solidFill>
                <a:latin typeface="Calibri" pitchFamily="34" charset="0"/>
                <a:ea typeface="Calibri" pitchFamily="34" charset="-122"/>
                <a:cs typeface="Calibri" pitchFamily="34" charset="-120"/>
              </a:rPr>
              <a:t>3. Name the rule that explains it.</a:t>
            </a:r>
            <a:endParaRPr lang="en-US" sz="1250" dirty="0"/>
          </a:p>
        </p:txBody>
      </p:sp>
      <p:sp>
        <p:nvSpPr>
          <p:cNvPr id="78" name="Text 7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25 / 35</a:t>
            </a:r>
            <a:endParaRPr lang="en-US" sz="8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SAY IT BEFORE YOU WRITE IT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Speaking: then and now</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التَّحَدُّثُ</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2185416" cy="566928"/>
          </a:xfrm>
          <a:prstGeom prst="roundRect">
            <a:avLst>
              <a:gd name="adj" fmla="val 12903"/>
            </a:avLst>
          </a:prstGeom>
          <a:solidFill>
            <a:srgbClr val="EEF3FA"/>
          </a:solidFill>
          <a:ln w="9525">
            <a:solidFill>
              <a:srgbClr val="C9D6EA"/>
            </a:solidFill>
            <a:prstDash val="solid"/>
          </a:ln>
        </p:spPr>
      </p:sp>
      <p:sp>
        <p:nvSpPr>
          <p:cNvPr id="16" name="Text 13"/>
          <p:cNvSpPr txBox="1"/>
          <p:nvPr/>
        </p:nvSpPr>
        <p:spPr>
          <a:xfrm>
            <a:off x="512064"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17" name="Text 14"/>
          <p:cNvSpPr txBox="1"/>
          <p:nvPr/>
        </p:nvSpPr>
        <p:spPr>
          <a:xfrm>
            <a:off x="914400"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Think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10 seconds</a:t>
            </a:r>
            <a:endParaRPr lang="en-US" sz="1050" dirty="0"/>
          </a:p>
        </p:txBody>
      </p:sp>
      <p:sp>
        <p:nvSpPr>
          <p:cNvPr id="18" name="Shape 15"/>
          <p:cNvSpPr/>
          <p:nvPr/>
        </p:nvSpPr>
        <p:spPr>
          <a:xfrm>
            <a:off x="2729484" y="1810512"/>
            <a:ext cx="2185416" cy="566928"/>
          </a:xfrm>
          <a:prstGeom prst="roundRect">
            <a:avLst>
              <a:gd name="adj" fmla="val 12903"/>
            </a:avLst>
          </a:prstGeom>
          <a:solidFill>
            <a:srgbClr val="EEF3FA"/>
          </a:solidFill>
          <a:ln w="9525">
            <a:solidFill>
              <a:srgbClr val="C9D6EA"/>
            </a:solidFill>
            <a:prstDash val="solid"/>
          </a:ln>
        </p:spPr>
      </p:sp>
      <p:sp>
        <p:nvSpPr>
          <p:cNvPr id="19" name="Text 16"/>
          <p:cNvSpPr txBox="1"/>
          <p:nvPr/>
        </p:nvSpPr>
        <p:spPr>
          <a:xfrm>
            <a:off x="2784348"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0" name="Text 17"/>
          <p:cNvSpPr txBox="1"/>
          <p:nvPr/>
        </p:nvSpPr>
        <p:spPr>
          <a:xfrm>
            <a:off x="3186684"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Rehearse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muted · 45 s</a:t>
            </a:r>
            <a:endParaRPr lang="en-US" sz="1050" dirty="0"/>
          </a:p>
        </p:txBody>
      </p:sp>
      <p:sp>
        <p:nvSpPr>
          <p:cNvPr id="21" name="Shape 18"/>
          <p:cNvSpPr/>
          <p:nvPr/>
        </p:nvSpPr>
        <p:spPr>
          <a:xfrm>
            <a:off x="5001768" y="1810512"/>
            <a:ext cx="2185416" cy="566928"/>
          </a:xfrm>
          <a:prstGeom prst="roundRect">
            <a:avLst>
              <a:gd name="adj" fmla="val 12903"/>
            </a:avLst>
          </a:prstGeom>
          <a:solidFill>
            <a:srgbClr val="EEF3FA"/>
          </a:solidFill>
          <a:ln w="9525">
            <a:solidFill>
              <a:srgbClr val="C9D6EA"/>
            </a:solidFill>
            <a:prstDash val="solid"/>
          </a:ln>
        </p:spPr>
      </p:sp>
      <p:sp>
        <p:nvSpPr>
          <p:cNvPr id="22" name="Text 19"/>
          <p:cNvSpPr txBox="1"/>
          <p:nvPr/>
        </p:nvSpPr>
        <p:spPr>
          <a:xfrm>
            <a:off x="5056632"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3" name="Text 20"/>
          <p:cNvSpPr txBox="1"/>
          <p:nvPr/>
        </p:nvSpPr>
        <p:spPr>
          <a:xfrm>
            <a:off x="5458968"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Pairs share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open mic</a:t>
            </a:r>
            <a:endParaRPr lang="en-US" sz="1050" dirty="0"/>
          </a:p>
        </p:txBody>
      </p:sp>
      <p:sp>
        <p:nvSpPr>
          <p:cNvPr id="24" name="Shape 21"/>
          <p:cNvSpPr/>
          <p:nvPr/>
        </p:nvSpPr>
        <p:spPr>
          <a:xfrm>
            <a:off x="7274052" y="1810512"/>
            <a:ext cx="2185416" cy="566928"/>
          </a:xfrm>
          <a:prstGeom prst="roundRect">
            <a:avLst>
              <a:gd name="adj" fmla="val 12903"/>
            </a:avLst>
          </a:prstGeom>
          <a:solidFill>
            <a:srgbClr val="EEF3FA"/>
          </a:solidFill>
          <a:ln w="9525">
            <a:solidFill>
              <a:srgbClr val="C9D6EA"/>
            </a:solidFill>
            <a:prstDash val="solid"/>
          </a:ln>
        </p:spPr>
      </p:sp>
      <p:sp>
        <p:nvSpPr>
          <p:cNvPr id="25" name="Text 22"/>
          <p:cNvSpPr txBox="1"/>
          <p:nvPr/>
        </p:nvSpPr>
        <p:spPr>
          <a:xfrm>
            <a:off x="7328916"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 ?</a:t>
            </a:r>
            <a:endParaRPr lang="en-US" sz="1800" dirty="0"/>
          </a:p>
        </p:txBody>
      </p:sp>
      <p:sp>
        <p:nvSpPr>
          <p:cNvPr id="26" name="Text 23"/>
          <p:cNvSpPr txBox="1"/>
          <p:nvPr/>
        </p:nvSpPr>
        <p:spPr>
          <a:xfrm>
            <a:off x="7731252"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Build / ask</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in the chat</a:t>
            </a:r>
            <a:endParaRPr lang="en-US" sz="1050" dirty="0"/>
          </a:p>
        </p:txBody>
      </p:sp>
      <p:sp>
        <p:nvSpPr>
          <p:cNvPr id="27" name="Shape 24"/>
          <p:cNvSpPr/>
          <p:nvPr/>
        </p:nvSpPr>
        <p:spPr>
          <a:xfrm>
            <a:off x="9546336" y="1810512"/>
            <a:ext cx="2185416" cy="566928"/>
          </a:xfrm>
          <a:prstGeom prst="roundRect">
            <a:avLst>
              <a:gd name="adj" fmla="val 12903"/>
            </a:avLst>
          </a:prstGeom>
          <a:solidFill>
            <a:srgbClr val="EEF3FA"/>
          </a:solidFill>
          <a:ln w="9525">
            <a:solidFill>
              <a:srgbClr val="C9D6EA"/>
            </a:solidFill>
            <a:prstDash val="solid"/>
          </a:ln>
        </p:spPr>
      </p:sp>
      <p:sp>
        <p:nvSpPr>
          <p:cNvPr id="28" name="Text 25"/>
          <p:cNvSpPr txBox="1"/>
          <p:nvPr/>
        </p:nvSpPr>
        <p:spPr>
          <a:xfrm>
            <a:off x="9601200" y="1810512"/>
            <a:ext cx="384048" cy="566928"/>
          </a:xfrm>
          <a:prstGeom prst="rect">
            <a:avLst/>
          </a:prstGeom>
          <a:noFill/>
          <a:ln/>
        </p:spPr>
        <p:txBody>
          <a:bodyPr wrap="square" lIns="0" tIns="0" rIns="0" bIns="0" rtlCol="0" anchor="ctr"/>
          <a:lstStyle/>
          <a:p>
            <a:pPr algn="ctr" indent="0" marL="0">
              <a:buNone/>
            </a:pPr>
            <a:r>
              <a:rPr lang="en-US" sz="1800" b="1" dirty="0">
                <a:solidFill>
                  <a:srgbClr val="1B3B6F"/>
                </a:solidFill>
                <a:latin typeface="Arial" pitchFamily="34" charset="0"/>
                <a:ea typeface="Arial" pitchFamily="34" charset="-122"/>
                <a:cs typeface="Arial" pitchFamily="34" charset="-120"/>
              </a:rPr>
              <a:t>↺</a:t>
            </a:r>
            <a:endParaRPr lang="en-US" sz="1800" dirty="0"/>
          </a:p>
        </p:txBody>
      </p:sp>
      <p:sp>
        <p:nvSpPr>
          <p:cNvPr id="29" name="Text 26"/>
          <p:cNvSpPr txBox="1"/>
          <p:nvPr/>
        </p:nvSpPr>
        <p:spPr>
          <a:xfrm>
            <a:off x="10003536" y="1810512"/>
            <a:ext cx="1682496" cy="566928"/>
          </a:xfrm>
          <a:prstGeom prst="rect">
            <a:avLst/>
          </a:prstGeom>
          <a:noFill/>
          <a:ln/>
        </p:spPr>
        <p:txBody>
          <a:bodyPr wrap="square" lIns="0" tIns="0" rIns="0" bIns="0" rtlCol="0" anchor="ctr"/>
          <a:lstStyle/>
          <a:p>
            <a:pPr indent="0" marL="0">
              <a:buNone/>
            </a:pPr>
            <a:r>
              <a:rPr lang="en-US" sz="1050" b="1" dirty="0">
                <a:solidFill>
                  <a:srgbClr val="1B3B6F"/>
                </a:solidFill>
                <a:latin typeface="Calibri" pitchFamily="34" charset="0"/>
                <a:ea typeface="Calibri" pitchFamily="34" charset="-122"/>
                <a:cs typeface="Calibri" pitchFamily="34" charset="-120"/>
              </a:rPr>
              <a:t>Summarise</a:t>
            </a:r>
            <a:endParaRPr lang="en-US" sz="1050" dirty="0"/>
          </a:p>
          <a:p>
            <a:pPr indent="0" marL="0">
              <a:buNone/>
            </a:pPr>
            <a:r>
              <a:rPr lang="en-US" sz="950" dirty="0">
                <a:solidFill>
                  <a:srgbClr val="5A6472"/>
                </a:solidFill>
                <a:latin typeface="Calibri" pitchFamily="34" charset="0"/>
                <a:ea typeface="Calibri" pitchFamily="34" charset="-122"/>
                <a:cs typeface="Calibri" pitchFamily="34" charset="-120"/>
              </a:rPr>
              <a:t>he / she …</a:t>
            </a:r>
            <a:endParaRPr lang="en-US" sz="1050" dirty="0"/>
          </a:p>
        </p:txBody>
      </p:sp>
      <p:sp>
        <p:nvSpPr>
          <p:cNvPr id="30" name="Shape 27"/>
          <p:cNvSpPr/>
          <p:nvPr/>
        </p:nvSpPr>
        <p:spPr>
          <a:xfrm>
            <a:off x="4754880" y="2487168"/>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846320" y="2642616"/>
            <a:ext cx="960120" cy="256032"/>
          </a:xfrm>
          <a:prstGeom prst="roundRect">
            <a:avLst>
              <a:gd name="adj" fmla="val 50000"/>
            </a:avLst>
          </a:prstGeom>
          <a:solidFill>
            <a:srgbClr val="2E8B57"/>
          </a:solidFill>
          <a:ln w="12700">
            <a:solidFill>
              <a:srgbClr val="2E8B57"/>
            </a:solidFill>
            <a:prstDash val="solid"/>
          </a:ln>
        </p:spPr>
      </p:sp>
      <p:sp>
        <p:nvSpPr>
          <p:cNvPr id="32" name="Text 29"/>
          <p:cNvSpPr txBox="1"/>
          <p:nvPr/>
        </p:nvSpPr>
        <p:spPr>
          <a:xfrm>
            <a:off x="4846320" y="2642616"/>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33" name="Text 30"/>
          <p:cNvSpPr txBox="1"/>
          <p:nvPr/>
        </p:nvSpPr>
        <p:spPr>
          <a:xfrm>
            <a:off x="5897880" y="2487168"/>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كُنْتَ عِنْدَمَا كُنْتَ صَغِيرًا؟</a:t>
            </a:r>
            <a:endParaRPr lang="ar-SA" sz="1800" dirty="0"/>
          </a:p>
        </p:txBody>
      </p:sp>
      <p:sp>
        <p:nvSpPr>
          <p:cNvPr id="34" name="Shape 31"/>
          <p:cNvSpPr/>
          <p:nvPr/>
        </p:nvSpPr>
        <p:spPr>
          <a:xfrm>
            <a:off x="4754880" y="3108960"/>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5" name="Shape 32"/>
          <p:cNvSpPr/>
          <p:nvPr/>
        </p:nvSpPr>
        <p:spPr>
          <a:xfrm>
            <a:off x="4846320" y="3264408"/>
            <a:ext cx="960120" cy="256032"/>
          </a:xfrm>
          <a:prstGeom prst="roundRect">
            <a:avLst>
              <a:gd name="adj" fmla="val 50000"/>
            </a:avLst>
          </a:prstGeom>
          <a:solidFill>
            <a:srgbClr val="C9780A"/>
          </a:solidFill>
          <a:ln w="12700">
            <a:solidFill>
              <a:srgbClr val="C9780A"/>
            </a:solidFill>
            <a:prstDash val="solid"/>
          </a:ln>
        </p:spPr>
      </p:sp>
      <p:sp>
        <p:nvSpPr>
          <p:cNvPr id="36" name="Text 33"/>
          <p:cNvSpPr txBox="1"/>
          <p:nvPr/>
        </p:nvSpPr>
        <p:spPr>
          <a:xfrm>
            <a:off x="4846320" y="3264408"/>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7" name="Text 34"/>
          <p:cNvSpPr txBox="1"/>
          <p:nvPr/>
        </p:nvSpPr>
        <p:spPr>
          <a:xfrm>
            <a:off x="5897880" y="3108960"/>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مَاذَا كُنْتَ تَفْعَلُ فِي الْعُطْلَةِ؟</a:t>
            </a:r>
            <a:endParaRPr lang="ar-SA" sz="1800" dirty="0"/>
          </a:p>
        </p:txBody>
      </p:sp>
      <p:sp>
        <p:nvSpPr>
          <p:cNvPr id="38" name="Shape 35"/>
          <p:cNvSpPr/>
          <p:nvPr/>
        </p:nvSpPr>
        <p:spPr>
          <a:xfrm>
            <a:off x="4754880" y="3730752"/>
            <a:ext cx="6976872" cy="566928"/>
          </a:xfrm>
          <a:prstGeom prst="roundRect">
            <a:avLst>
              <a:gd name="adj" fmla="val 1290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9" name="Shape 36"/>
          <p:cNvSpPr/>
          <p:nvPr/>
        </p:nvSpPr>
        <p:spPr>
          <a:xfrm>
            <a:off x="4846320" y="3886200"/>
            <a:ext cx="960120" cy="256032"/>
          </a:xfrm>
          <a:prstGeom prst="roundRect">
            <a:avLst>
              <a:gd name="adj" fmla="val 50000"/>
            </a:avLst>
          </a:prstGeom>
          <a:solidFill>
            <a:srgbClr val="B83227"/>
          </a:solidFill>
          <a:ln w="12700">
            <a:solidFill>
              <a:srgbClr val="B83227"/>
            </a:solidFill>
            <a:prstDash val="solid"/>
          </a:ln>
        </p:spPr>
      </p:sp>
      <p:sp>
        <p:nvSpPr>
          <p:cNvPr id="40" name="Text 37"/>
          <p:cNvSpPr txBox="1"/>
          <p:nvPr/>
        </p:nvSpPr>
        <p:spPr>
          <a:xfrm>
            <a:off x="4846320" y="3886200"/>
            <a:ext cx="9601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1" name="Text 38"/>
          <p:cNvSpPr txBox="1"/>
          <p:nvPr/>
        </p:nvSpPr>
        <p:spPr>
          <a:xfrm>
            <a:off x="5897880" y="3730752"/>
            <a:ext cx="5696712" cy="56692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كَيْفَ تَغَيَّرَتْ مَدِينَتُكَ؟</a:t>
            </a:r>
            <a:endParaRPr lang="ar-SA" sz="1800" dirty="0"/>
          </a:p>
        </p:txBody>
      </p:sp>
      <p:sp>
        <p:nvSpPr>
          <p:cNvPr id="42" name="Shape 39"/>
          <p:cNvSpPr/>
          <p:nvPr/>
        </p:nvSpPr>
        <p:spPr>
          <a:xfrm>
            <a:off x="457200" y="2487168"/>
            <a:ext cx="4114800" cy="2651760"/>
          </a:xfrm>
          <a:prstGeom prst="roundRect">
            <a:avLst>
              <a:gd name="adj" fmla="val 2759"/>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640080" y="2542032"/>
            <a:ext cx="27432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SENTENCE STEMS</a:t>
            </a:r>
            <a:endParaRPr lang="en-US" sz="1000" dirty="0"/>
          </a:p>
        </p:txBody>
      </p:sp>
      <p:sp>
        <p:nvSpPr>
          <p:cNvPr id="44" name="Shape 41"/>
          <p:cNvSpPr/>
          <p:nvPr/>
        </p:nvSpPr>
        <p:spPr>
          <a:xfrm>
            <a:off x="640080" y="3008376"/>
            <a:ext cx="1051560" cy="256032"/>
          </a:xfrm>
          <a:prstGeom prst="roundRect">
            <a:avLst>
              <a:gd name="adj" fmla="val 50000"/>
            </a:avLst>
          </a:prstGeom>
          <a:solidFill>
            <a:srgbClr val="2E8B57"/>
          </a:solidFill>
          <a:ln w="12700">
            <a:solidFill>
              <a:srgbClr val="2E8B57"/>
            </a:solidFill>
            <a:prstDash val="solid"/>
          </a:ln>
        </p:spPr>
      </p:sp>
      <p:sp>
        <p:nvSpPr>
          <p:cNvPr id="45" name="Text 42"/>
          <p:cNvSpPr txBox="1"/>
          <p:nvPr/>
        </p:nvSpPr>
        <p:spPr>
          <a:xfrm>
            <a:off x="640080" y="3008376"/>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46" name="Text 43"/>
          <p:cNvSpPr txBox="1"/>
          <p:nvPr/>
        </p:nvSpPr>
        <p:spPr>
          <a:xfrm>
            <a:off x="1783080" y="2852928"/>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D5FBF"/>
                </a:solidFill>
                <a:latin typeface="Amiri" pitchFamily="34" charset="0"/>
                <a:ea typeface="Amiri" pitchFamily="34" charset="-122"/>
                <a:cs typeface="Amiri" pitchFamily="34" charset="-120"/>
              </a:rPr>
              <a:t>عِنْدَمَا كُنْتُ صَغِيرًا، كُنْتُ ___ .</a:t>
            </a:r>
            <a:endParaRPr lang="ar-SA" sz="1600" dirty="0"/>
          </a:p>
        </p:txBody>
      </p:sp>
      <p:sp>
        <p:nvSpPr>
          <p:cNvPr id="47" name="Shape 44"/>
          <p:cNvSpPr/>
          <p:nvPr/>
        </p:nvSpPr>
        <p:spPr>
          <a:xfrm>
            <a:off x="640080" y="3566160"/>
            <a:ext cx="1051560" cy="256032"/>
          </a:xfrm>
          <a:prstGeom prst="roundRect">
            <a:avLst>
              <a:gd name="adj" fmla="val 50000"/>
            </a:avLst>
          </a:prstGeom>
          <a:solidFill>
            <a:srgbClr val="C9780A"/>
          </a:solidFill>
          <a:ln w="12700">
            <a:solidFill>
              <a:srgbClr val="C9780A"/>
            </a:solidFill>
            <a:prstDash val="solid"/>
          </a:ln>
        </p:spPr>
      </p:sp>
      <p:sp>
        <p:nvSpPr>
          <p:cNvPr id="48" name="Text 45"/>
          <p:cNvSpPr txBox="1"/>
          <p:nvPr/>
        </p:nvSpPr>
        <p:spPr>
          <a:xfrm>
            <a:off x="640080" y="3566160"/>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49" name="Text 46"/>
          <p:cNvSpPr txBox="1"/>
          <p:nvPr/>
        </p:nvSpPr>
        <p:spPr>
          <a:xfrm>
            <a:off x="1783080" y="3410712"/>
            <a:ext cx="2697480" cy="557784"/>
          </a:xfrm>
          <a:prstGeom prst="rect">
            <a:avLst/>
          </a:prstGeom>
          <a:noFill/>
          <a:ln/>
        </p:spPr>
        <p:txBody>
          <a:bodyPr wrap="square" lIns="0" tIns="0" rIns="0" bIns="0" rtlCol="0" anchor="ctr"/>
          <a:lstStyle/>
          <a:p>
            <a:pPr rtl="1" algn="r" indent="0" marL="0">
              <a:buNone/>
            </a:pPr>
            <a:r>
              <a:rPr lang="ar-SA" altLang="en-US" sz="1600" b="1" dirty="0">
                <a:solidFill>
                  <a:srgbClr val="1F2A37"/>
                </a:solidFill>
                <a:latin typeface="Amiri" pitchFamily="34" charset="0"/>
                <a:ea typeface="Amiri" pitchFamily="34" charset="-122"/>
                <a:cs typeface="Amiri" pitchFamily="34" charset="-120"/>
              </a:rPr>
              <a:t>كُنْتُ ___ كُلَّ يَوْمٍ، وَكَانَ أَخِي ___ .</a:t>
            </a:r>
            <a:endParaRPr lang="ar-SA" sz="1600" dirty="0"/>
          </a:p>
        </p:txBody>
      </p:sp>
      <p:sp>
        <p:nvSpPr>
          <p:cNvPr id="50" name="Shape 47"/>
          <p:cNvSpPr/>
          <p:nvPr/>
        </p:nvSpPr>
        <p:spPr>
          <a:xfrm>
            <a:off x="640080" y="4123944"/>
            <a:ext cx="1051560" cy="256032"/>
          </a:xfrm>
          <a:prstGeom prst="roundRect">
            <a:avLst>
              <a:gd name="adj" fmla="val 50000"/>
            </a:avLst>
          </a:prstGeom>
          <a:solidFill>
            <a:srgbClr val="B83227"/>
          </a:solidFill>
          <a:ln w="12700">
            <a:solidFill>
              <a:srgbClr val="B83227"/>
            </a:solidFill>
            <a:prstDash val="solid"/>
          </a:ln>
        </p:spPr>
      </p:sp>
      <p:sp>
        <p:nvSpPr>
          <p:cNvPr id="51" name="Text 48"/>
          <p:cNvSpPr txBox="1"/>
          <p:nvPr/>
        </p:nvSpPr>
        <p:spPr>
          <a:xfrm>
            <a:off x="640080" y="4123944"/>
            <a:ext cx="105156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52" name="Text 49"/>
          <p:cNvSpPr txBox="1"/>
          <p:nvPr/>
        </p:nvSpPr>
        <p:spPr>
          <a:xfrm>
            <a:off x="1783080" y="3968496"/>
            <a:ext cx="2697480" cy="557784"/>
          </a:xfrm>
          <a:prstGeom prst="rect">
            <a:avLst/>
          </a:prstGeom>
          <a:noFill/>
          <a:ln/>
        </p:spPr>
        <p:txBody>
          <a:bodyPr wrap="square" lIns="0" tIns="0" rIns="0" bIns="0" rtlCol="0" anchor="ctr"/>
          <a:lstStyle/>
          <a:p>
            <a:pPr rtl="1" algn="r" indent="0" marL="0">
              <a:lnSpc>
                <a:spcPct val="120000"/>
              </a:lnSpc>
              <a:buNone/>
            </a:pPr>
            <a:r>
              <a:rPr lang="ar-SA" altLang="en-US" sz="1050" b="1" dirty="0">
                <a:solidFill>
                  <a:srgbClr val="1F2A37"/>
                </a:solidFill>
                <a:latin typeface="Amiri" pitchFamily="34" charset="0"/>
                <a:ea typeface="Amiri" pitchFamily="34" charset="-122"/>
                <a:cs typeface="Amiri" pitchFamily="34" charset="-120"/>
              </a:rPr>
              <a:t>كَانَتْ مَدِينَتِي ___ ، ثُمَّ صَارَتْ ___ ، لَكِنَّهَا مَا زَالَتْ ___ .</a:t>
            </a:r>
            <a:endParaRPr lang="ar-SA" sz="1050" dirty="0"/>
          </a:p>
        </p:txBody>
      </p:sp>
      <p:sp>
        <p:nvSpPr>
          <p:cNvPr id="53" name="Shape 50"/>
          <p:cNvSpPr/>
          <p:nvPr/>
        </p:nvSpPr>
        <p:spPr>
          <a:xfrm>
            <a:off x="457200" y="5248656"/>
            <a:ext cx="11274552" cy="1060704"/>
          </a:xfrm>
          <a:prstGeom prst="roundRect">
            <a:avLst>
              <a:gd name="adj" fmla="val 6897"/>
            </a:avLst>
          </a:prstGeom>
          <a:solidFill>
            <a:srgbClr val="EAF3EF"/>
          </a:solidFill>
          <a:ln w="9525">
            <a:solidFill>
              <a:srgbClr val="A8CDB9"/>
            </a:solidFill>
            <a:prstDash val="solid"/>
          </a:ln>
          <a:effectLst>
            <a:outerShdw sx="100000" sy="100000" kx="0" ky="0" algn="bl" rotWithShape="0" blurRad="50800" dist="19050" dir="5400000">
              <a:srgbClr val="000000">
                <a:alpha val="10000"/>
              </a:srgbClr>
            </a:outerShdw>
          </a:effectLst>
        </p:spPr>
      </p:sp>
      <p:sp>
        <p:nvSpPr>
          <p:cNvPr id="54" name="Text 51"/>
          <p:cNvSpPr txBox="1"/>
          <p:nvPr/>
        </p:nvSpPr>
        <p:spPr>
          <a:xfrm>
            <a:off x="640080" y="5285232"/>
            <a:ext cx="2011680" cy="256032"/>
          </a:xfrm>
          <a:prstGeom prst="rect">
            <a:avLst/>
          </a:prstGeom>
          <a:noFill/>
          <a:ln/>
        </p:spPr>
        <p:txBody>
          <a:bodyPr wrap="square" lIns="0" tIns="0" rIns="0" bIns="0" rtlCol="0" anchor="ctr"/>
          <a:lstStyle/>
          <a:p>
            <a:pPr algn="l" indent="0" marL="0">
              <a:buNone/>
            </a:pPr>
            <a:r>
              <a:rPr lang="en-US" sz="950" b="1" spc="100" kern="0" dirty="0">
                <a:solidFill>
                  <a:srgbClr val="1E6B52"/>
                </a:solidFill>
                <a:latin typeface="Calibri" pitchFamily="34" charset="0"/>
                <a:ea typeface="Calibri" pitchFamily="34" charset="-122"/>
                <a:cs typeface="Calibri" pitchFamily="34" charset="-120"/>
              </a:rPr>
              <a:t>MODEL (WEBSITE)</a:t>
            </a:r>
            <a:endParaRPr lang="en-US" sz="950" dirty="0"/>
          </a:p>
        </p:txBody>
      </p:sp>
      <p:sp>
        <p:nvSpPr>
          <p:cNvPr id="55" name="Shape 52"/>
          <p:cNvSpPr/>
          <p:nvPr/>
        </p:nvSpPr>
        <p:spPr>
          <a:xfrm>
            <a:off x="11274552" y="5559552"/>
            <a:ext cx="292608" cy="292608"/>
          </a:xfrm>
          <a:prstGeom prst="ellipse">
            <a:avLst/>
          </a:prstGeom>
          <a:solidFill>
            <a:srgbClr val="1E6B52"/>
          </a:solidFill>
          <a:ln w="12700">
            <a:solidFill>
              <a:srgbClr val="1E6B52"/>
            </a:solidFill>
            <a:prstDash val="solid"/>
          </a:ln>
        </p:spPr>
      </p:sp>
      <p:sp>
        <p:nvSpPr>
          <p:cNvPr id="56" name="Text 53"/>
          <p:cNvSpPr txBox="1"/>
          <p:nvPr/>
        </p:nvSpPr>
        <p:spPr>
          <a:xfrm>
            <a:off x="11274552" y="555955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A</a:t>
            </a:r>
            <a:endParaRPr lang="en-US" sz="1000" dirty="0"/>
          </a:p>
        </p:txBody>
      </p:sp>
      <p:sp>
        <p:nvSpPr>
          <p:cNvPr id="57" name="Text 54"/>
          <p:cNvSpPr txBox="1"/>
          <p:nvPr/>
        </p:nvSpPr>
        <p:spPr>
          <a:xfrm>
            <a:off x="2834640" y="552297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كَيْفَ كَانَتْ مَدْرَسَتُكِ الْقَدِيمَةُ؟</a:t>
            </a:r>
            <a:endParaRPr lang="ar-SA" sz="1550" dirty="0"/>
          </a:p>
        </p:txBody>
      </p:sp>
      <p:sp>
        <p:nvSpPr>
          <p:cNvPr id="58" name="Text 55"/>
          <p:cNvSpPr txBox="1"/>
          <p:nvPr/>
        </p:nvSpPr>
        <p:spPr>
          <a:xfrm>
            <a:off x="640080" y="5522976"/>
            <a:ext cx="2148840" cy="365760"/>
          </a:xfrm>
          <a:prstGeom prst="rect">
            <a:avLst/>
          </a:prstGeom>
          <a:noFill/>
          <a:ln/>
        </p:spPr>
        <p:txBody>
          <a:bodyPr wrap="square" lIns="0" tIns="0" rIns="0" bIns="0" rtlCol="0" anchor="ctr"/>
          <a:lstStyle/>
          <a:p>
            <a:pPr algn="l" indent="0" marL="0">
              <a:buNone/>
            </a:pPr>
            <a:r>
              <a:rPr lang="en-US" sz="950" i="1" dirty="0">
                <a:solidFill>
                  <a:srgbClr val="5A6472"/>
                </a:solidFill>
                <a:latin typeface="Calibri" pitchFamily="34" charset="0"/>
                <a:ea typeface="Calibri" pitchFamily="34" charset="-122"/>
                <a:cs typeface="Calibri" pitchFamily="34" charset="-120"/>
              </a:rPr>
              <a:t>What was your old school like? (to a girl)</a:t>
            </a:r>
            <a:endParaRPr lang="en-US" sz="950" dirty="0"/>
          </a:p>
        </p:txBody>
      </p:sp>
      <p:sp>
        <p:nvSpPr>
          <p:cNvPr id="59" name="Shape 56"/>
          <p:cNvSpPr/>
          <p:nvPr/>
        </p:nvSpPr>
        <p:spPr>
          <a:xfrm>
            <a:off x="11274552" y="5925312"/>
            <a:ext cx="292608" cy="292608"/>
          </a:xfrm>
          <a:prstGeom prst="ellipse">
            <a:avLst/>
          </a:prstGeom>
          <a:solidFill>
            <a:srgbClr val="1E6B52"/>
          </a:solidFill>
          <a:ln w="12700">
            <a:solidFill>
              <a:srgbClr val="1E6B52"/>
            </a:solidFill>
            <a:prstDash val="solid"/>
          </a:ln>
        </p:spPr>
      </p:sp>
      <p:sp>
        <p:nvSpPr>
          <p:cNvPr id="60" name="Text 57"/>
          <p:cNvSpPr txBox="1"/>
          <p:nvPr/>
        </p:nvSpPr>
        <p:spPr>
          <a:xfrm>
            <a:off x="11274552" y="5925312"/>
            <a:ext cx="292608" cy="292608"/>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ea typeface="Calibri" pitchFamily="34" charset="-122"/>
                <a:cs typeface="Calibri" pitchFamily="34" charset="-120"/>
              </a:rPr>
              <a:t>B</a:t>
            </a:r>
            <a:endParaRPr lang="en-US" sz="1000" dirty="0"/>
          </a:p>
        </p:txBody>
      </p:sp>
      <p:sp>
        <p:nvSpPr>
          <p:cNvPr id="61" name="Text 58"/>
          <p:cNvSpPr txBox="1"/>
          <p:nvPr/>
        </p:nvSpPr>
        <p:spPr>
          <a:xfrm>
            <a:off x="2834640" y="5888736"/>
            <a:ext cx="8348472" cy="365760"/>
          </a:xfrm>
          <a:prstGeom prst="rect">
            <a:avLst/>
          </a:prstGeom>
          <a:noFill/>
          <a:ln/>
        </p:spPr>
        <p:txBody>
          <a:bodyPr wrap="square" lIns="0" tIns="0" rIns="0" bIns="0" rtlCol="0" anchor="ctr"/>
          <a:lstStyle/>
          <a:p>
            <a:pPr rtl="1" algn="r" indent="0" marL="0">
              <a:buNone/>
            </a:pPr>
            <a:r>
              <a:rPr lang="ar-SA" altLang="en-US" sz="1550" dirty="0">
                <a:solidFill>
                  <a:srgbClr val="1F2A37"/>
                </a:solidFill>
                <a:latin typeface="Amiri" pitchFamily="34" charset="0"/>
                <a:ea typeface="Amiri" pitchFamily="34" charset="-122"/>
                <a:cs typeface="Amiri" pitchFamily="34" charset="-120"/>
              </a:rPr>
              <a:t>كَانَتْ صَغِيرَةً، وَكُنَّا نَلْعَبُ فِي سَاحَةٍ ضَيِّقَةٍ. الْآنَ صَارَتْ أَكْبَرَ، لَكِنَّ الْمُعَلِّمِينَ مَا زَالُوا لُطَفَاءَ.</a:t>
            </a:r>
            <a:endParaRPr lang="ar-SA" sz="1550" dirty="0"/>
          </a:p>
        </p:txBody>
      </p:sp>
      <p:sp>
        <p:nvSpPr>
          <p:cNvPr id="62" name="Text 59"/>
          <p:cNvSpPr txBox="1"/>
          <p:nvPr/>
        </p:nvSpPr>
        <p:spPr>
          <a:xfrm>
            <a:off x="640080" y="5888736"/>
            <a:ext cx="2148840" cy="365760"/>
          </a:xfrm>
          <a:prstGeom prst="rect">
            <a:avLst/>
          </a:prstGeom>
          <a:noFill/>
          <a:ln/>
        </p:spPr>
        <p:txBody>
          <a:bodyPr wrap="square" lIns="0" tIns="0" rIns="0" bIns="0" rtlCol="0" anchor="ctr"/>
          <a:lstStyle/>
          <a:p>
            <a:pPr algn="l" indent="0" marL="0">
              <a:buNone/>
            </a:pPr>
            <a:r>
              <a:rPr lang="en-US" sz="750" i="1" dirty="0">
                <a:solidFill>
                  <a:srgbClr val="5A6472"/>
                </a:solidFill>
                <a:latin typeface="Calibri" pitchFamily="34" charset="0"/>
                <a:ea typeface="Calibri" pitchFamily="34" charset="-122"/>
                <a:cs typeface="Calibri" pitchFamily="34" charset="-120"/>
              </a:rPr>
              <a:t>It was small, and we used to play in a narrow yard. Now it has become bigger, but the teachers are still kind.</a:t>
            </a:r>
            <a:endParaRPr lang="en-US" sz="7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26 / 35</a:t>
            </a:r>
            <a:endParaRPr lang="en-US" sz="8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 · 9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INDEPENDENT PRACTICE · 9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Write: choose your route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اُكْتُبْ</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3639312" cy="4315968"/>
          </a:xfrm>
          <a:prstGeom prst="roundRect">
            <a:avLst>
              <a:gd name="adj" fmla="val 2010"/>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310896"/>
          </a:xfrm>
          <a:prstGeom prst="roundRect">
            <a:avLst>
              <a:gd name="adj" fmla="val 50000"/>
            </a:avLst>
          </a:prstGeom>
          <a:solidFill>
            <a:srgbClr val="2E8B57"/>
          </a:solidFill>
          <a:ln w="12700">
            <a:solidFill>
              <a:srgbClr val="2E8B57"/>
            </a:solidFill>
            <a:prstDash val="solid"/>
          </a:ln>
        </p:spPr>
      </p:sp>
      <p:sp>
        <p:nvSpPr>
          <p:cNvPr id="17" name="Text 14"/>
          <p:cNvSpPr txBox="1"/>
          <p:nvPr/>
        </p:nvSpPr>
        <p:spPr>
          <a:xfrm>
            <a:off x="640080"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CORE</a:t>
            </a:r>
            <a:endParaRPr lang="en-US" sz="1000" dirty="0"/>
          </a:p>
        </p:txBody>
      </p:sp>
      <p:sp>
        <p:nvSpPr>
          <p:cNvPr id="18" name="Text 15"/>
          <p:cNvSpPr txBox="1"/>
          <p:nvPr/>
        </p:nvSpPr>
        <p:spPr>
          <a:xfrm>
            <a:off x="2450592"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2E8B57"/>
                </a:solidFill>
                <a:latin typeface="Amiri" pitchFamily="34" charset="0"/>
                <a:ea typeface="Amiri" pitchFamily="34" charset="-122"/>
                <a:cs typeface="Amiri" pitchFamily="34" charset="-120"/>
              </a:rPr>
              <a:t>الأَسَاسُ</a:t>
            </a:r>
            <a:endParaRPr lang="ar-SA" sz="1800" dirty="0"/>
          </a:p>
        </p:txBody>
      </p:sp>
      <p:sp>
        <p:nvSpPr>
          <p:cNvPr id="19" name="Text 16"/>
          <p:cNvSpPr txBox="1"/>
          <p:nvPr/>
        </p:nvSpPr>
        <p:spPr>
          <a:xfrm>
            <a:off x="640080" y="2377440"/>
            <a:ext cx="3273552" cy="457200"/>
          </a:xfrm>
          <a:prstGeom prst="rect">
            <a:avLst/>
          </a:prstGeom>
          <a:noFill/>
          <a:ln/>
        </p:spPr>
        <p:txBody>
          <a:bodyPr wrap="square" lIns="0" tIns="0" rIns="0" bIns="0" rtlCol="0" anchor="ctr"/>
          <a:lstStyle/>
          <a:p>
            <a:pPr algn="l" indent="0" marL="0">
              <a:buNone/>
            </a:pPr>
            <a:r>
              <a:rPr lang="en-US" sz="2200" b="1" dirty="0">
                <a:solidFill>
                  <a:srgbClr val="2E8B57"/>
                </a:solidFill>
                <a:latin typeface="Cambria" pitchFamily="34" charset="0"/>
                <a:ea typeface="Cambria" pitchFamily="34" charset="-122"/>
                <a:cs typeface="Cambria" pitchFamily="34" charset="-120"/>
              </a:rPr>
              <a:t>5 sentences</a:t>
            </a:r>
            <a:endParaRPr lang="en-US" sz="2200" dirty="0"/>
          </a:p>
        </p:txBody>
      </p:sp>
      <p:sp>
        <p:nvSpPr>
          <p:cNvPr id="20" name="Text 17"/>
          <p:cNvSpPr txBox="1"/>
          <p:nvPr/>
        </p:nvSpPr>
        <p:spPr>
          <a:xfrm>
            <a:off x="640080"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When I was little: four kāna sentences.</a:t>
            </a:r>
            <a:endParaRPr lang="en-US" sz="1400" dirty="0"/>
          </a:p>
        </p:txBody>
      </p:sp>
      <p:sp>
        <p:nvSpPr>
          <p:cNvPr id="21" name="Shape 18"/>
          <p:cNvSpPr/>
          <p:nvPr/>
        </p:nvSpPr>
        <p:spPr>
          <a:xfrm>
            <a:off x="640080" y="4160520"/>
            <a:ext cx="3273552" cy="1783080"/>
          </a:xfrm>
          <a:prstGeom prst="roundRect">
            <a:avLst>
              <a:gd name="adj" fmla="val 4103"/>
            </a:avLst>
          </a:prstGeom>
          <a:solidFill>
            <a:srgbClr val="FFFFFF"/>
          </a:solidFill>
          <a:ln w="9525">
            <a:solidFill>
              <a:srgbClr val="FFFFFF"/>
            </a:solidFill>
            <a:prstDash val="solid"/>
          </a:ln>
        </p:spPr>
      </p:sp>
      <p:sp>
        <p:nvSpPr>
          <p:cNvPr id="22" name="Text 19"/>
          <p:cNvSpPr txBox="1"/>
          <p:nvPr/>
        </p:nvSpPr>
        <p:spPr>
          <a:xfrm>
            <a:off x="731520" y="4224528"/>
            <a:ext cx="3090672" cy="1645920"/>
          </a:xfrm>
          <a:prstGeom prst="rect">
            <a:avLst/>
          </a:prstGeom>
          <a:noFill/>
          <a:ln/>
        </p:spPr>
        <p:txBody>
          <a:bodyPr wrap="square" lIns="0" tIns="0" rIns="0" bIns="0" rtlCol="0" anchor="t"/>
          <a:lstStyle/>
          <a:p>
            <a:pPr indent="0" marL="0">
              <a:buNone/>
            </a:pPr>
            <a:r>
              <a:rPr lang="en-US" sz="900" b="1" spc="200" kern="0" dirty="0">
                <a:solidFill>
                  <a:srgbClr val="2E8B5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kuntu ṣaghīran · kāna baytunā …</a:t>
            </a:r>
            <a:endParaRPr lang="en-US" sz="900" dirty="0"/>
          </a:p>
        </p:txBody>
      </p:sp>
      <p:sp>
        <p:nvSpPr>
          <p:cNvPr id="23" name="Shape 20"/>
          <p:cNvSpPr/>
          <p:nvPr/>
        </p:nvSpPr>
        <p:spPr>
          <a:xfrm>
            <a:off x="4279392" y="1810512"/>
            <a:ext cx="3639312" cy="4315968"/>
          </a:xfrm>
          <a:prstGeom prst="roundRect">
            <a:avLst>
              <a:gd name="adj" fmla="val 2010"/>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4462272" y="1938528"/>
            <a:ext cx="1188720" cy="310896"/>
          </a:xfrm>
          <a:prstGeom prst="roundRect">
            <a:avLst>
              <a:gd name="adj" fmla="val 50000"/>
            </a:avLst>
          </a:prstGeom>
          <a:solidFill>
            <a:srgbClr val="C9780A"/>
          </a:solidFill>
          <a:ln w="12700">
            <a:solidFill>
              <a:srgbClr val="C9780A"/>
            </a:solidFill>
            <a:prstDash val="solid"/>
          </a:ln>
        </p:spPr>
      </p:sp>
      <p:sp>
        <p:nvSpPr>
          <p:cNvPr id="25" name="Text 22"/>
          <p:cNvSpPr txBox="1"/>
          <p:nvPr/>
        </p:nvSpPr>
        <p:spPr>
          <a:xfrm>
            <a:off x="4462272"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DEVELOP</a:t>
            </a:r>
            <a:endParaRPr lang="en-US" sz="1000" dirty="0"/>
          </a:p>
        </p:txBody>
      </p:sp>
      <p:sp>
        <p:nvSpPr>
          <p:cNvPr id="26" name="Text 23"/>
          <p:cNvSpPr txBox="1"/>
          <p:nvPr/>
        </p:nvSpPr>
        <p:spPr>
          <a:xfrm>
            <a:off x="6272784"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C9780A"/>
                </a:solidFill>
                <a:latin typeface="Amiri" pitchFamily="34" charset="0"/>
                <a:ea typeface="Amiri" pitchFamily="34" charset="-122"/>
                <a:cs typeface="Amiri" pitchFamily="34" charset="-120"/>
              </a:rPr>
              <a:t>التَّطْوِيرُ</a:t>
            </a:r>
            <a:endParaRPr lang="ar-SA" sz="1800" dirty="0"/>
          </a:p>
        </p:txBody>
      </p:sp>
      <p:sp>
        <p:nvSpPr>
          <p:cNvPr id="27" name="Text 24"/>
          <p:cNvSpPr txBox="1"/>
          <p:nvPr/>
        </p:nvSpPr>
        <p:spPr>
          <a:xfrm>
            <a:off x="4462272" y="2377440"/>
            <a:ext cx="3273552" cy="457200"/>
          </a:xfrm>
          <a:prstGeom prst="rect">
            <a:avLst/>
          </a:prstGeom>
          <a:noFill/>
          <a:ln/>
        </p:spPr>
        <p:txBody>
          <a:bodyPr wrap="square" lIns="0" tIns="0" rIns="0" bIns="0" rtlCol="0" anchor="ctr"/>
          <a:lstStyle/>
          <a:p>
            <a:pPr algn="l" indent="0" marL="0">
              <a:buNone/>
            </a:pPr>
            <a:r>
              <a:rPr lang="en-US" sz="2200" b="1" dirty="0">
                <a:solidFill>
                  <a:srgbClr val="C9780A"/>
                </a:solidFill>
                <a:latin typeface="Cambria" pitchFamily="34" charset="0"/>
                <a:ea typeface="Cambria" pitchFamily="34" charset="-122"/>
                <a:cs typeface="Cambria" pitchFamily="34" charset="-120"/>
              </a:rPr>
              <a:t>8 sentences</a:t>
            </a:r>
            <a:endParaRPr lang="en-US" sz="2200" dirty="0"/>
          </a:p>
        </p:txBody>
      </p:sp>
      <p:sp>
        <p:nvSpPr>
          <p:cNvPr id="28" name="Text 25"/>
          <p:cNvSpPr txBox="1"/>
          <p:nvPr/>
        </p:nvSpPr>
        <p:spPr>
          <a:xfrm>
            <a:off x="4462272"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Add two habits and one change.</a:t>
            </a:r>
            <a:endParaRPr lang="en-US" sz="1400" dirty="0"/>
          </a:p>
        </p:txBody>
      </p:sp>
      <p:sp>
        <p:nvSpPr>
          <p:cNvPr id="29" name="Shape 26"/>
          <p:cNvSpPr/>
          <p:nvPr/>
        </p:nvSpPr>
        <p:spPr>
          <a:xfrm>
            <a:off x="4462272" y="4160520"/>
            <a:ext cx="3273552" cy="1783080"/>
          </a:xfrm>
          <a:prstGeom prst="roundRect">
            <a:avLst>
              <a:gd name="adj" fmla="val 4103"/>
            </a:avLst>
          </a:prstGeom>
          <a:solidFill>
            <a:srgbClr val="FFFFFF"/>
          </a:solidFill>
          <a:ln w="9525">
            <a:solidFill>
              <a:srgbClr val="FFFFFF"/>
            </a:solidFill>
            <a:prstDash val="solid"/>
          </a:ln>
        </p:spPr>
      </p:sp>
      <p:sp>
        <p:nvSpPr>
          <p:cNvPr id="30" name="Text 27"/>
          <p:cNvSpPr txBox="1"/>
          <p:nvPr/>
        </p:nvSpPr>
        <p:spPr>
          <a:xfrm>
            <a:off x="4553712" y="4224528"/>
            <a:ext cx="3090672" cy="1645920"/>
          </a:xfrm>
          <a:prstGeom prst="rect">
            <a:avLst/>
          </a:prstGeom>
          <a:noFill/>
          <a:ln/>
        </p:spPr>
        <p:txBody>
          <a:bodyPr wrap="square" lIns="0" tIns="0" rIns="0" bIns="0" rtlCol="0" anchor="t"/>
          <a:lstStyle/>
          <a:p>
            <a:pPr indent="0" marL="0">
              <a:buNone/>
            </a:pPr>
            <a:r>
              <a:rPr lang="en-US" sz="900" b="1" spc="200" kern="0" dirty="0">
                <a:solidFill>
                  <a:srgbClr val="C9780A"/>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kuntu alʿabu · ṣāra …</a:t>
            </a:r>
            <a:endParaRPr lang="en-US" sz="900" dirty="0"/>
          </a:p>
        </p:txBody>
      </p:sp>
      <p:sp>
        <p:nvSpPr>
          <p:cNvPr id="31" name="Shape 28"/>
          <p:cNvSpPr/>
          <p:nvPr/>
        </p:nvSpPr>
        <p:spPr>
          <a:xfrm>
            <a:off x="8101584" y="1810512"/>
            <a:ext cx="3639312" cy="4315968"/>
          </a:xfrm>
          <a:prstGeom prst="roundRect">
            <a:avLst>
              <a:gd name="adj" fmla="val 2010"/>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8284464" y="1938528"/>
            <a:ext cx="1188720" cy="310896"/>
          </a:xfrm>
          <a:prstGeom prst="roundRect">
            <a:avLst>
              <a:gd name="adj" fmla="val 50000"/>
            </a:avLst>
          </a:prstGeom>
          <a:solidFill>
            <a:srgbClr val="B83227"/>
          </a:solidFill>
          <a:ln w="12700">
            <a:solidFill>
              <a:srgbClr val="B83227"/>
            </a:solidFill>
            <a:prstDash val="solid"/>
          </a:ln>
        </p:spPr>
      </p:sp>
      <p:sp>
        <p:nvSpPr>
          <p:cNvPr id="33" name="Text 30"/>
          <p:cNvSpPr txBox="1"/>
          <p:nvPr/>
        </p:nvSpPr>
        <p:spPr>
          <a:xfrm>
            <a:off x="8284464" y="1938528"/>
            <a:ext cx="1188720" cy="310896"/>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ea typeface="Calibri" pitchFamily="34" charset="-122"/>
                <a:cs typeface="Calibri" pitchFamily="34" charset="-120"/>
              </a:rPr>
              <a:t>STRETCH</a:t>
            </a:r>
            <a:endParaRPr lang="en-US" sz="1000" dirty="0"/>
          </a:p>
        </p:txBody>
      </p:sp>
      <p:sp>
        <p:nvSpPr>
          <p:cNvPr id="34" name="Text 31"/>
          <p:cNvSpPr txBox="1"/>
          <p:nvPr/>
        </p:nvSpPr>
        <p:spPr>
          <a:xfrm>
            <a:off x="10094976" y="1883664"/>
            <a:ext cx="1463040" cy="420624"/>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34" charset="0"/>
                <a:ea typeface="Amiri" pitchFamily="34" charset="-122"/>
                <a:cs typeface="Amiri" pitchFamily="34" charset="-120"/>
              </a:rPr>
              <a:t>التَّحَدِّي</a:t>
            </a:r>
            <a:endParaRPr lang="ar-SA" sz="1800" dirty="0"/>
          </a:p>
        </p:txBody>
      </p:sp>
      <p:sp>
        <p:nvSpPr>
          <p:cNvPr id="35" name="Text 32"/>
          <p:cNvSpPr txBox="1"/>
          <p:nvPr/>
        </p:nvSpPr>
        <p:spPr>
          <a:xfrm>
            <a:off x="8284464" y="2377440"/>
            <a:ext cx="3273552" cy="457200"/>
          </a:xfrm>
          <a:prstGeom prst="rect">
            <a:avLst/>
          </a:prstGeom>
          <a:noFill/>
          <a:ln/>
        </p:spPr>
        <p:txBody>
          <a:bodyPr wrap="square" lIns="0" tIns="0" rIns="0" bIns="0" rtlCol="0" anchor="ctr"/>
          <a:lstStyle/>
          <a:p>
            <a:pPr algn="l" indent="0" marL="0">
              <a:buNone/>
            </a:pPr>
            <a:r>
              <a:rPr lang="en-US" sz="2200" b="1" dirty="0">
                <a:solidFill>
                  <a:srgbClr val="B83227"/>
                </a:solidFill>
                <a:latin typeface="Cambria" pitchFamily="34" charset="0"/>
                <a:ea typeface="Cambria" pitchFamily="34" charset="-122"/>
                <a:cs typeface="Cambria" pitchFamily="34" charset="-120"/>
              </a:rPr>
              <a:t>110–130 words</a:t>
            </a:r>
            <a:endParaRPr lang="en-US" sz="2200" dirty="0"/>
          </a:p>
        </p:txBody>
      </p:sp>
      <p:sp>
        <p:nvSpPr>
          <p:cNvPr id="36" name="Text 33"/>
          <p:cNvSpPr txBox="1"/>
          <p:nvPr/>
        </p:nvSpPr>
        <p:spPr>
          <a:xfrm>
            <a:off x="8284464" y="2880360"/>
            <a:ext cx="3273552" cy="1188720"/>
          </a:xfrm>
          <a:prstGeom prst="rect">
            <a:avLst/>
          </a:prstGeom>
          <a:noFill/>
          <a:ln/>
        </p:spPr>
        <p:txBody>
          <a:bodyPr wrap="square" lIns="0" tIns="0" rIns="0" bIns="0" rtlCol="0" anchor="ctr"/>
          <a:lstStyle/>
          <a:p>
            <a:pPr algn="l" indent="0" marL="0">
              <a:buNone/>
            </a:pPr>
            <a:r>
              <a:rPr lang="en-US" sz="1400" b="1" dirty="0">
                <a:solidFill>
                  <a:srgbClr val="1F2A37"/>
                </a:solidFill>
                <a:latin typeface="Calibri" pitchFamily="34" charset="0"/>
                <a:ea typeface="Calibri" pitchFamily="34" charset="-122"/>
                <a:cs typeface="Calibri" pitchFamily="34" charset="-120"/>
              </a:rPr>
              <a:t>Website then-and-now account with the full checklist.</a:t>
            </a:r>
            <a:endParaRPr lang="en-US" sz="1400" dirty="0"/>
          </a:p>
        </p:txBody>
      </p:sp>
      <p:sp>
        <p:nvSpPr>
          <p:cNvPr id="37" name="Shape 34"/>
          <p:cNvSpPr/>
          <p:nvPr/>
        </p:nvSpPr>
        <p:spPr>
          <a:xfrm>
            <a:off x="8284464" y="4160520"/>
            <a:ext cx="3273552" cy="1783080"/>
          </a:xfrm>
          <a:prstGeom prst="roundRect">
            <a:avLst>
              <a:gd name="adj" fmla="val 4103"/>
            </a:avLst>
          </a:prstGeom>
          <a:solidFill>
            <a:srgbClr val="FFFFFF"/>
          </a:solidFill>
          <a:ln w="9525">
            <a:solidFill>
              <a:srgbClr val="FFFFFF"/>
            </a:solidFill>
            <a:prstDash val="solid"/>
          </a:ln>
        </p:spPr>
      </p:sp>
      <p:sp>
        <p:nvSpPr>
          <p:cNvPr id="38" name="Text 35"/>
          <p:cNvSpPr txBox="1"/>
          <p:nvPr/>
        </p:nvSpPr>
        <p:spPr>
          <a:xfrm>
            <a:off x="8375904" y="4224528"/>
            <a:ext cx="3090672" cy="1645920"/>
          </a:xfrm>
          <a:prstGeom prst="rect">
            <a:avLst/>
          </a:prstGeom>
          <a:noFill/>
          <a:ln/>
        </p:spPr>
        <p:txBody>
          <a:bodyPr wrap="square" lIns="0" tIns="0" rIns="0" bIns="0" rtlCol="0" anchor="t"/>
          <a:lstStyle/>
          <a:p>
            <a:pPr indent="0" marL="0">
              <a:buNone/>
            </a:pPr>
            <a:r>
              <a:rPr lang="en-US" sz="900" b="1" spc="200" kern="0" dirty="0">
                <a:solidFill>
                  <a:srgbClr val="B83227"/>
                </a:solidFill>
                <a:latin typeface="Calibri" pitchFamily="34" charset="0"/>
                <a:ea typeface="Calibri" pitchFamily="34" charset="-122"/>
                <a:cs typeface="Calibri" pitchFamily="34" charset="-120"/>
              </a:rPr>
              <a:t>HOW</a:t>
            </a:r>
            <a:endParaRPr lang="en-US" sz="900" dirty="0"/>
          </a:p>
          <a:p>
            <a:pPr indent="0" marL="0">
              <a:buNone/>
            </a:pPr>
            <a:r>
              <a:rPr lang="en-US" sz="1150" dirty="0">
                <a:solidFill>
                  <a:srgbClr val="1F2A37"/>
                </a:solidFill>
                <a:latin typeface="Calibri" pitchFamily="34" charset="0"/>
                <a:ea typeface="Calibri" pitchFamily="34" charset="-122"/>
                <a:cs typeface="Calibri" pitchFamily="34" charset="-120"/>
              </a:rPr>
              <a:t>Include mā zāla.</a:t>
            </a:r>
            <a:endParaRPr lang="en-US" sz="9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27 / 35</a:t>
            </a:r>
            <a:endParaRPr lang="en-US" sz="8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SUPPORT · CORE AND DEVELOP FRAMES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Sentence frames and word bank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قَوَالِبُ الجُمَلِ</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كُنْتُ أَلْعَبُ ______ .</a:t>
            </a:r>
            <a:endParaRPr lang="ar-SA" sz="180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I used to play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أَصْدِقَائِي كَانُوا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friends were …</a:t>
            </a:r>
            <a:endParaRPr lang="en-US" sz="1050" dirty="0"/>
          </a:p>
        </p:txBody>
      </p:sp>
      <p:sp>
        <p:nvSpPr>
          <p:cNvPr id="22" name="Text 19"/>
          <p:cNvSpPr txBox="1"/>
          <p:nvPr/>
        </p:nvSpPr>
        <p:spPr>
          <a:xfrm>
            <a:off x="2468880"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صَارَ الشَّارِعُ ______ .</a:t>
            </a:r>
            <a:endParaRPr lang="ar-SA" sz="1800" dirty="0"/>
          </a:p>
        </p:txBody>
      </p:sp>
      <p:sp>
        <p:nvSpPr>
          <p:cNvPr id="23" name="Text 20"/>
          <p:cNvSpPr txBox="1"/>
          <p:nvPr/>
        </p:nvSpPr>
        <p:spPr>
          <a:xfrm>
            <a:off x="594360"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The street became …</a:t>
            </a:r>
            <a:endParaRPr lang="en-US" sz="1050" dirty="0"/>
          </a:p>
        </p:txBody>
      </p:sp>
      <p:sp>
        <p:nvSpPr>
          <p:cNvPr id="24" name="Text 21"/>
          <p:cNvSpPr txBox="1"/>
          <p:nvPr/>
        </p:nvSpPr>
        <p:spPr>
          <a:xfrm>
            <a:off x="2468880"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مَا زَالَتْ جَدَّتِي ______ .</a:t>
            </a:r>
            <a:endParaRPr lang="ar-SA" sz="1800" dirty="0"/>
          </a:p>
        </p:txBody>
      </p:sp>
      <p:sp>
        <p:nvSpPr>
          <p:cNvPr id="25" name="Text 22"/>
          <p:cNvSpPr txBox="1"/>
          <p:nvPr/>
        </p:nvSpPr>
        <p:spPr>
          <a:xfrm>
            <a:off x="594360"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grandmother is still …</a:t>
            </a:r>
            <a:endParaRPr lang="en-US" sz="1050" dirty="0"/>
          </a:p>
        </p:txBody>
      </p:sp>
      <p:sp>
        <p:nvSpPr>
          <p:cNvPr id="26" name="Shape 23"/>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7" name="Shape 24"/>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29" name="Text 26"/>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كُنْتُ صَغِيرًا، كُنْتُ ______ .</a:t>
            </a:r>
            <a:endParaRPr lang="ar-SA" sz="1800" dirty="0"/>
          </a:p>
        </p:txBody>
      </p:sp>
      <p:sp>
        <p:nvSpPr>
          <p:cNvPr id="30" name="Text 27"/>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When I was little, I was …</a:t>
            </a:r>
            <a:endParaRPr lang="en-US" sz="1050" dirty="0"/>
          </a:p>
        </p:txBody>
      </p:sp>
      <p:sp>
        <p:nvSpPr>
          <p:cNvPr id="31" name="Text 28"/>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 بَيْتُنَا ______ .</a:t>
            </a:r>
            <a:endParaRPr lang="ar-SA" sz="1800" dirty="0"/>
          </a:p>
        </p:txBody>
      </p:sp>
      <p:sp>
        <p:nvSpPr>
          <p:cNvPr id="32" name="Text 29"/>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Our house was …</a:t>
            </a:r>
            <a:endParaRPr lang="en-US" sz="1050" dirty="0"/>
          </a:p>
        </p:txBody>
      </p:sp>
      <p:sp>
        <p:nvSpPr>
          <p:cNvPr id="33" name="Text 30"/>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كَانَتْ مَدْرَسَتِي ______ .</a:t>
            </a:r>
            <a:endParaRPr lang="ar-SA" sz="1800" dirty="0"/>
          </a:p>
        </p:txBody>
      </p:sp>
      <p:sp>
        <p:nvSpPr>
          <p:cNvPr id="34" name="Text 31"/>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My school was …</a:t>
            </a:r>
            <a:endParaRPr lang="en-US" sz="1050" dirty="0"/>
          </a:p>
        </p:txBody>
      </p:sp>
      <p:sp>
        <p:nvSpPr>
          <p:cNvPr id="35" name="Text 32"/>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كُنَّا فِي ______ .</a:t>
            </a:r>
            <a:endParaRPr lang="ar-SA" sz="1800" dirty="0"/>
          </a:p>
        </p:txBody>
      </p:sp>
      <p:sp>
        <p:nvSpPr>
          <p:cNvPr id="36" name="Text 33"/>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ea typeface="Calibri" pitchFamily="34" charset="-122"/>
                <a:cs typeface="Calibri" pitchFamily="34" charset="-120"/>
              </a:rPr>
              <a:t>We were in …</a:t>
            </a:r>
            <a:endParaRPr lang="en-US" sz="1050" dirty="0"/>
          </a:p>
        </p:txBody>
      </p:sp>
      <p:sp>
        <p:nvSpPr>
          <p:cNvPr id="37" name="Shape 34"/>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8" name="Text 35"/>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WORD BANK</a:t>
            </a:r>
            <a:endParaRPr lang="en-US" sz="950" dirty="0"/>
          </a:p>
        </p:txBody>
      </p:sp>
      <p:sp>
        <p:nvSpPr>
          <p:cNvPr id="39" name="Text 36"/>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34" charset="0"/>
                <a:ea typeface="Amiri" pitchFamily="34" charset="-122"/>
                <a:cs typeface="Amiri" pitchFamily="34" charset="-120"/>
              </a:rPr>
              <a:t>كَانَ  ·  كَانَتْ  ·  كُنْتُ  ·  كُنَّا  ·  كَانُوا  ·  صَارَ  ·  أَصْبَحَ  ·  مَا زَالَ  ·  هَادِئًا  ·  مُزْدَحِمًا  ·  صَغِيرًا  ·  كَبِيرًا  ·  جَمِيلًا</a:t>
            </a:r>
            <a:endParaRPr lang="ar-SA" sz="160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28 / 35</a:t>
            </a:r>
            <a:endParaRPr lang="en-US" sz="8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388352" y="274320"/>
            <a:ext cx="1371600"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YOU DO</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ea typeface="Calibri" pitchFamily="34" charset="-122"/>
                <a:cs typeface="Calibri" pitchFamily="34" charset="-120"/>
              </a:rPr>
              <a:t>YOU DO · STRETCH · THE WEBSITE WRITING TASK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Stretch: the full writing task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مُهِمَّةُ التَّحَدِّي</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5577840" cy="4498848"/>
          </a:xfrm>
          <a:prstGeom prst="roundRect">
            <a:avLst>
              <a:gd name="adj" fmla="val 1626"/>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188720" cy="292608"/>
          </a:xfrm>
          <a:prstGeom prst="roundRect">
            <a:avLst>
              <a:gd name="adj" fmla="val 50000"/>
            </a:avLst>
          </a:prstGeom>
          <a:solidFill>
            <a:srgbClr val="B83227"/>
          </a:solidFill>
          <a:ln w="12700">
            <a:solidFill>
              <a:srgbClr val="B83227"/>
            </a:solidFill>
            <a:prstDash val="solid"/>
          </a:ln>
        </p:spPr>
      </p:sp>
      <p:sp>
        <p:nvSpPr>
          <p:cNvPr id="17" name="Text 14"/>
          <p:cNvSpPr txBox="1"/>
          <p:nvPr/>
        </p:nvSpPr>
        <p:spPr>
          <a:xfrm>
            <a:off x="640080" y="1938528"/>
            <a:ext cx="118872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STRETCH</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ea typeface="Calibri" pitchFamily="34" charset="-122"/>
                <a:cs typeface="Calibri" pitchFamily="34" charset="-120"/>
              </a:rPr>
              <a:t>Website then-and-now account (110–130 words): a place, routine or period in your life.</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Four different forms of kāna.</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kāna + present habit.</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ṣāra or aṣbaḥa.</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One mā zāla.</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  Accurate time expressions (qabla …, al-yawma, ʿindamā).</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ea typeface="Calibri" pitchFamily="34" charset="-122"/>
                <a:cs typeface="Calibri" pitchFamily="34" charset="-120"/>
              </a:rPr>
              <a:t>PHRASE BANK — USEFUL FOR THIS TASK</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عِنْدَمَا كُنْتُ صَغِيرًا</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when I was little</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قَبْلَ … سَنَوَاتٍ</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 years ago</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فِي الْمَاضِي</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in the past</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الْيَوْمَ</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today</a:t>
            </a:r>
            <a:endParaRPr lang="en-US" sz="1050" dirty="0"/>
          </a:p>
        </p:txBody>
      </p:sp>
      <p:sp>
        <p:nvSpPr>
          <p:cNvPr id="34" name="Text 31"/>
          <p:cNvSpPr txBox="1"/>
          <p:nvPr/>
        </p:nvSpPr>
        <p:spPr>
          <a:xfrm>
            <a:off x="8412480" y="4864608"/>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بَعْدَ ذَلِكَ</a:t>
            </a:r>
            <a:endParaRPr lang="ar-SA" sz="1800" dirty="0"/>
          </a:p>
        </p:txBody>
      </p:sp>
      <p:sp>
        <p:nvSpPr>
          <p:cNvPr id="35" name="Text 32"/>
          <p:cNvSpPr txBox="1"/>
          <p:nvPr/>
        </p:nvSpPr>
        <p:spPr>
          <a:xfrm>
            <a:off x="6400800" y="5193792"/>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after that</a:t>
            </a:r>
            <a:endParaRPr lang="en-US" sz="1050" dirty="0"/>
          </a:p>
        </p:txBody>
      </p:sp>
      <p:sp>
        <p:nvSpPr>
          <p:cNvPr id="36" name="Text 33"/>
          <p:cNvSpPr txBox="1"/>
          <p:nvPr/>
        </p:nvSpPr>
        <p:spPr>
          <a:xfrm>
            <a:off x="8412480" y="552297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34" charset="0"/>
                <a:ea typeface="Amiri" pitchFamily="34" charset="-122"/>
                <a:cs typeface="Amiri" pitchFamily="34" charset="-120"/>
              </a:rPr>
              <a:t>رَغْمَ</a:t>
            </a:r>
            <a:endParaRPr lang="ar-SA" sz="1800" dirty="0"/>
          </a:p>
        </p:txBody>
      </p:sp>
      <p:sp>
        <p:nvSpPr>
          <p:cNvPr id="37" name="Text 34"/>
          <p:cNvSpPr txBox="1"/>
          <p:nvPr/>
        </p:nvSpPr>
        <p:spPr>
          <a:xfrm>
            <a:off x="6400800" y="585216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ea typeface="Calibri" pitchFamily="34" charset="-122"/>
                <a:cs typeface="Calibri" pitchFamily="34" charset="-120"/>
              </a:rPr>
              <a:t>despite</a:t>
            </a:r>
            <a:endParaRPr lang="en-US" sz="1050" dirty="0"/>
          </a:p>
        </p:txBody>
      </p:sp>
      <p:sp>
        <p:nvSpPr>
          <p:cNvPr id="38" name="Text 3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29 / 35</a:t>
            </a:r>
            <a:endParaRPr lang="en-US" sz="8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COMPARE WITH THE MODEL</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What a strong answer looks like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نَمُوذَجُ الإِجَابَةِ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300" dirty="0">
                <a:solidFill>
                  <a:srgbClr val="1F2A37"/>
                </a:solidFill>
                <a:latin typeface="Amiri" pitchFamily="34" charset="0"/>
                <a:ea typeface="Amiri" pitchFamily="34" charset="-122"/>
                <a:cs typeface="Amiri" pitchFamily="34" charset="-120"/>
              </a:rPr>
              <a:t>عِنْدَمَا كُنْتُ فِي الْمَدْرَسَةِ الِابْتِدَائِيَّةِ، كُنَّا نَسْكُنُ فِي شَقَّةٍ صَغِيرَةٍ وَسَطَ الْمَدِينَةِ. كَانَتِ الشَّقَّةُ قَدِيمَةً، لَكِنَّهَا كَانَتْ دَافِئَةً وَمُرِيحَةً. كُنْتُ أَمْشِي إِلَى الْمَدْرَسَةِ كُلَّ صَبَاحٍ مَعَ أَخِي، وَكَانَ الطَّرِيقُ قَصِيرًا وَهَادِئًا. كَانَ جِيرَانُنَا لُطَفَاءَ، وَكَانُوا يَزُورُونَنَا فِي الْأَعْيَادِ. قَبْلَ ثَلَاثِ سَنَوَاتٍ انْتَقَلْنَا إِلَى بَيْتٍ جَدِيدٍ خَارِجَ الْمَدِينَةِ. أَصْبَحَتْ غُرْفَتِي أَكْبَرَ، وَصَارَتِ الْحَدِيقَةُ مَكَانِي الْمُفَضَّلَ. لَكِنَّ الطَّرِيقَ إِلَى الْمَدْرَسَةِ صَارَ طَوِيلًا، فَأَصْبَحْتُ أَرْكَبُ الْحَافِلَةَ. مَا زِلْتُ أَتَذَكَّرُ الشَّقَّةَ الْقَدِيمَةَ، وَمَا زَالَ أَبِي يَزُورُ جِيرَانَنَا الْقُدَمَاءَ كُلَّ شَهْرٍ. ظَلَّتْ صَدَاقَتُنَا قَوِيَّةً رَغْمَ الْمَسَافَةِ.</a:t>
            </a:r>
            <a:endParaRPr lang="ar-SA" sz="23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ea typeface="Calibri" pitchFamily="34" charset="-122"/>
                <a:cs typeface="Calibri" pitchFamily="34" charset="-120"/>
              </a:rPr>
              <a:t>When I was in primary school, we lived in a small flat in the city centre. The flat was old, but it was warm and comfortable. I used to walk to school every morning with my brother, and the road was short and quiet. Our neighbours were kind, and they used to visit us at Eid. Three years ago we moved to a new house outside the city. My room became bigger, and the garden became my favourite place. But the road to school became long, so I started taking the bus. I still remember the old flat, and my father still visits our old neighbours every month. Our friendship has remained strong despite the distance.</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ea typeface="Calibri" pitchFamily="34" charset="-122"/>
                <a:cs typeface="Calibri" pitchFamily="34" charset="-120"/>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 + -an predicate</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kāna + present (habit)</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ṣāra / aṣbaḥa</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en-US" sz="950" b="1" dirty="0">
                <a:solidFill>
                  <a:srgbClr val="FFFFFF"/>
                </a:solidFill>
                <a:latin typeface="Calibri" pitchFamily="34" charset="0"/>
                <a:ea typeface="Calibri" pitchFamily="34" charset="-122"/>
                <a:cs typeface="Calibri" pitchFamily="34" charset="-120"/>
              </a:rPr>
              <a:t>mā zāla</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30 / 35</a:t>
            </a:r>
            <a:endParaRPr lang="en-US" sz="8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After kāna, my one-word predicates end in -an.</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the right form: kuntu, kāna, kānat.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My habits use kāna + present (kuntu alʿabu).</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Place phrases after kāna did not change.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ea typeface="Calibri" pitchFamily="34" charset="-122"/>
                <a:cs typeface="Calibri" pitchFamily="34" charset="-120"/>
              </a:rPr>
              <a:t>I used ṣāra and mā zāla with the right meaning.</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ea typeface="Calibri" pitchFamily="34" charset="-122"/>
                <a:cs typeface="Calibri" pitchFamily="34" charset="-120"/>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ea typeface="Calibri" pitchFamily="34" charset="-122"/>
                <a:cs typeface="Calibri" pitchFamily="34" charset="-120"/>
              </a:rPr>
              <a:t>WWW</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ea typeface="Calibri" pitchFamily="34" charset="-122"/>
                <a:cs typeface="Calibri" pitchFamily="34" charset="-120"/>
              </a:rPr>
              <a:t>EBI</a:t>
            </a:r>
            <a:endParaRPr lang="en-US" sz="1800" dirty="0"/>
          </a:p>
          <a:p>
            <a:pPr indent="0" marL="0">
              <a:buNone/>
            </a:pPr>
            <a:r>
              <a:rPr lang="en-US" sz="1200" dirty="0">
                <a:solidFill>
                  <a:srgbClr val="1F2A37"/>
                </a:solidFill>
                <a:latin typeface="Calibri" pitchFamily="34" charset="0"/>
                <a:ea typeface="Calibri" pitchFamily="34" charset="-122"/>
                <a:cs typeface="Calibri" pitchFamily="34" charset="-120"/>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31 / 35</a:t>
            </a:r>
            <a:endParaRPr lang="en-US" sz="8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ON YOUR OWN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three questions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room became quiet”?</a:t>
            </a:r>
            <a:endParaRPr lang="en-US" sz="1250" dirty="0"/>
          </a:p>
        </p:txBody>
      </p:sp>
      <p:sp>
        <p:nvSpPr>
          <p:cNvPr id="19" name="Shape 16"/>
          <p:cNvSpPr/>
          <p:nvPr/>
        </p:nvSpPr>
        <p:spPr>
          <a:xfrm>
            <a:off x="640080" y="2532888"/>
            <a:ext cx="256032" cy="256032"/>
          </a:xfrm>
          <a:prstGeom prst="ellipse">
            <a:avLst/>
          </a:prstGeom>
          <a:solidFill>
            <a:srgbClr val="F4F1EA"/>
          </a:solidFill>
          <a:ln w="12700">
            <a:solidFill>
              <a:srgbClr val="F4F1EA"/>
            </a:solidFill>
            <a:prstDash val="solid"/>
          </a:ln>
        </p:spPr>
      </p:sp>
      <p:sp>
        <p:nvSpPr>
          <p:cNvPr id="20" name="Text 17"/>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21" name="Text 18"/>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صَارَتِ الْغُرْفَةُ هَادِئَةً.</a:t>
            </a:r>
            <a:endParaRPr lang="ar-SA" sz="2050" dirty="0"/>
          </a:p>
        </p:txBody>
      </p:sp>
      <p:sp>
        <p:nvSpPr>
          <p:cNvPr id="22" name="Shape 19"/>
          <p:cNvSpPr/>
          <p:nvPr/>
        </p:nvSpPr>
        <p:spPr>
          <a:xfrm>
            <a:off x="640080" y="2990088"/>
            <a:ext cx="256032" cy="256032"/>
          </a:xfrm>
          <a:prstGeom prst="ellipse">
            <a:avLst/>
          </a:prstGeom>
          <a:solidFill>
            <a:srgbClr val="F4F1EA"/>
          </a:solidFill>
          <a:ln w="12700">
            <a:solidFill>
              <a:srgbClr val="F4F1EA"/>
            </a:solidFill>
            <a:prstDash val="solid"/>
          </a:ln>
        </p:spPr>
      </p:sp>
      <p:sp>
        <p:nvSpPr>
          <p:cNvPr id="23" name="Text 20"/>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4" name="Text 21"/>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صَارَتِ الْغُرْفَةَ هَادِئَةٌ.</a:t>
            </a:r>
            <a:endParaRPr lang="ar-SA" sz="2050" dirty="0"/>
          </a:p>
        </p:txBody>
      </p:sp>
      <p:sp>
        <p:nvSpPr>
          <p:cNvPr id="25" name="Shape 22"/>
          <p:cNvSpPr/>
          <p:nvPr/>
        </p:nvSpPr>
        <p:spPr>
          <a:xfrm>
            <a:off x="640080" y="3447288"/>
            <a:ext cx="256032" cy="256032"/>
          </a:xfrm>
          <a:prstGeom prst="ellipse">
            <a:avLst/>
          </a:prstGeom>
          <a:solidFill>
            <a:srgbClr val="F4F1EA"/>
          </a:solidFill>
          <a:ln w="12700">
            <a:solidFill>
              <a:srgbClr val="F4F1EA"/>
            </a:solidFill>
            <a:prstDash val="solid"/>
          </a:ln>
        </p:spPr>
      </p:sp>
      <p:sp>
        <p:nvSpPr>
          <p:cNvPr id="26" name="Text 23"/>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7" name="Text 24"/>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كَأَنَّ الْغُرْفَةَ هَادِئَةٌ.</a:t>
            </a:r>
            <a:endParaRPr lang="ar-SA" sz="2050" dirty="0"/>
          </a:p>
        </p:txBody>
      </p:sp>
      <p:sp>
        <p:nvSpPr>
          <p:cNvPr id="28" name="Shape 25"/>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9" name="Shape 26"/>
          <p:cNvSpPr/>
          <p:nvPr/>
        </p:nvSpPr>
        <p:spPr>
          <a:xfrm>
            <a:off x="4404360" y="1947672"/>
            <a:ext cx="310896" cy="310896"/>
          </a:xfrm>
          <a:prstGeom prst="ellipse">
            <a:avLst/>
          </a:prstGeom>
          <a:solidFill>
            <a:srgbClr val="1B3B6F"/>
          </a:solidFill>
          <a:ln w="12700">
            <a:solidFill>
              <a:srgbClr val="1B3B6F"/>
            </a:solidFill>
            <a:prstDash val="solid"/>
          </a:ln>
        </p:spPr>
      </p:sp>
      <p:sp>
        <p:nvSpPr>
          <p:cNvPr id="30" name="Text 27"/>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1" name="Text 28"/>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student remained active”?</a:t>
            </a:r>
            <a:endParaRPr lang="en-US" sz="1250" dirty="0"/>
          </a:p>
        </p:txBody>
      </p:sp>
      <p:sp>
        <p:nvSpPr>
          <p:cNvPr id="32" name="Shape 29"/>
          <p:cNvSpPr/>
          <p:nvPr/>
        </p:nvSpPr>
        <p:spPr>
          <a:xfrm>
            <a:off x="4459224" y="2532888"/>
            <a:ext cx="256032" cy="256032"/>
          </a:xfrm>
          <a:prstGeom prst="ellipse">
            <a:avLst/>
          </a:prstGeom>
          <a:solidFill>
            <a:srgbClr val="F4F1EA"/>
          </a:solidFill>
          <a:ln w="12700">
            <a:solidFill>
              <a:srgbClr val="F4F1EA"/>
            </a:solidFill>
            <a:prstDash val="solid"/>
          </a:ln>
        </p:spPr>
      </p:sp>
      <p:sp>
        <p:nvSpPr>
          <p:cNvPr id="33" name="Text 30"/>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4" name="Text 31"/>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ظَلَّ الطَّالِبَ نَشِيطٌ.</a:t>
            </a:r>
            <a:endParaRPr lang="ar-SA" sz="2050" dirty="0"/>
          </a:p>
        </p:txBody>
      </p:sp>
      <p:sp>
        <p:nvSpPr>
          <p:cNvPr id="35" name="Shape 32"/>
          <p:cNvSpPr/>
          <p:nvPr/>
        </p:nvSpPr>
        <p:spPr>
          <a:xfrm>
            <a:off x="4459224" y="2990088"/>
            <a:ext cx="256032" cy="256032"/>
          </a:xfrm>
          <a:prstGeom prst="ellipse">
            <a:avLst/>
          </a:prstGeom>
          <a:solidFill>
            <a:srgbClr val="F4F1EA"/>
          </a:solidFill>
          <a:ln w="12700">
            <a:solidFill>
              <a:srgbClr val="F4F1EA"/>
            </a:solidFill>
            <a:prstDash val="solid"/>
          </a:ln>
        </p:spPr>
      </p:sp>
      <p:sp>
        <p:nvSpPr>
          <p:cNvPr id="36" name="Text 33"/>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37" name="Text 34"/>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ظَلَّ الطَّالِبُ نَشِيطًا.</a:t>
            </a:r>
            <a:endParaRPr lang="ar-SA" sz="2050" dirty="0"/>
          </a:p>
        </p:txBody>
      </p:sp>
      <p:sp>
        <p:nvSpPr>
          <p:cNvPr id="38" name="Shape 35"/>
          <p:cNvSpPr/>
          <p:nvPr/>
        </p:nvSpPr>
        <p:spPr>
          <a:xfrm>
            <a:off x="4459224" y="3447288"/>
            <a:ext cx="256032" cy="256032"/>
          </a:xfrm>
          <a:prstGeom prst="ellipse">
            <a:avLst/>
          </a:prstGeom>
          <a:solidFill>
            <a:srgbClr val="F4F1EA"/>
          </a:solidFill>
          <a:ln w="12700">
            <a:solidFill>
              <a:srgbClr val="F4F1EA"/>
            </a:solidFill>
            <a:prstDash val="solid"/>
          </a:ln>
        </p:spPr>
      </p:sp>
      <p:sp>
        <p:nvSpPr>
          <p:cNvPr id="39" name="Text 36"/>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0" name="Text 37"/>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لَعَلَّ الطَّالِبَ نَشِيطٌ.</a:t>
            </a:r>
            <a:endParaRPr lang="ar-SA" sz="2050" dirty="0"/>
          </a:p>
        </p:txBody>
      </p:sp>
      <p:sp>
        <p:nvSpPr>
          <p:cNvPr id="41" name="Shape 38"/>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8223504" y="1947672"/>
            <a:ext cx="310896" cy="310896"/>
          </a:xfrm>
          <a:prstGeom prst="ellipse">
            <a:avLst/>
          </a:prstGeom>
          <a:solidFill>
            <a:srgbClr val="1B3B6F"/>
          </a:solidFill>
          <a:ln w="12700">
            <a:solidFill>
              <a:srgbClr val="1B3B6F"/>
            </a:solidFill>
            <a:prstDash val="solid"/>
          </a:ln>
        </p:spPr>
      </p:sp>
      <p:sp>
        <p:nvSpPr>
          <p:cNvPr id="43" name="Text 40"/>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4" name="Text 41"/>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school is still open”?</a:t>
            </a:r>
            <a:endParaRPr lang="en-US" sz="1250" dirty="0"/>
          </a:p>
        </p:txBody>
      </p:sp>
      <p:sp>
        <p:nvSpPr>
          <p:cNvPr id="45" name="Shape 42"/>
          <p:cNvSpPr/>
          <p:nvPr/>
        </p:nvSpPr>
        <p:spPr>
          <a:xfrm>
            <a:off x="8278368" y="2532888"/>
            <a:ext cx="256032" cy="256032"/>
          </a:xfrm>
          <a:prstGeom prst="ellipse">
            <a:avLst/>
          </a:prstGeom>
          <a:solidFill>
            <a:srgbClr val="F4F1EA"/>
          </a:solidFill>
          <a:ln w="12700">
            <a:solidFill>
              <a:srgbClr val="F4F1EA"/>
            </a:solidFill>
            <a:prstDash val="solid"/>
          </a:ln>
        </p:spPr>
      </p:sp>
      <p:sp>
        <p:nvSpPr>
          <p:cNvPr id="46" name="Text 43"/>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47" name="Text 44"/>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زَالَتِ الْمَدْرَسَةُ مَفْتُوحَةً.</a:t>
            </a:r>
            <a:endParaRPr lang="ar-SA" sz="2050" dirty="0"/>
          </a:p>
        </p:txBody>
      </p:sp>
      <p:sp>
        <p:nvSpPr>
          <p:cNvPr id="48" name="Shape 45"/>
          <p:cNvSpPr/>
          <p:nvPr/>
        </p:nvSpPr>
        <p:spPr>
          <a:xfrm>
            <a:off x="8278368" y="2990088"/>
            <a:ext cx="256032" cy="256032"/>
          </a:xfrm>
          <a:prstGeom prst="ellipse">
            <a:avLst/>
          </a:prstGeom>
          <a:solidFill>
            <a:srgbClr val="F4F1EA"/>
          </a:solidFill>
          <a:ln w="12700">
            <a:solidFill>
              <a:srgbClr val="F4F1EA"/>
            </a:solidFill>
            <a:prstDash val="solid"/>
          </a:ln>
        </p:spPr>
      </p:sp>
      <p:sp>
        <p:nvSpPr>
          <p:cNvPr id="49" name="Text 46"/>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0" name="Text 47"/>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زَالَتِ الْمَدْرَسَةُ مَفْتُوحَةٌ.</a:t>
            </a:r>
            <a:endParaRPr lang="ar-SA" sz="2050" dirty="0"/>
          </a:p>
        </p:txBody>
      </p:sp>
      <p:sp>
        <p:nvSpPr>
          <p:cNvPr id="51" name="Shape 48"/>
          <p:cNvSpPr/>
          <p:nvPr/>
        </p:nvSpPr>
        <p:spPr>
          <a:xfrm>
            <a:off x="8278368" y="3447288"/>
            <a:ext cx="256032" cy="256032"/>
          </a:xfrm>
          <a:prstGeom prst="ellipse">
            <a:avLst/>
          </a:prstGeom>
          <a:solidFill>
            <a:srgbClr val="F4F1EA"/>
          </a:solidFill>
          <a:ln w="12700">
            <a:solidFill>
              <a:srgbClr val="F4F1EA"/>
            </a:solidFill>
            <a:prstDash val="solid"/>
          </a:ln>
        </p:spPr>
      </p:sp>
      <p:sp>
        <p:nvSpPr>
          <p:cNvPr id="52" name="Text 49"/>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3" name="Text 50"/>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1F2A37"/>
                </a:solidFill>
                <a:latin typeface="Amiri" pitchFamily="34" charset="0"/>
                <a:ea typeface="Amiri" pitchFamily="34" charset="-122"/>
                <a:cs typeface="Amiri" pitchFamily="34" charset="-120"/>
              </a:rPr>
              <a:t>مَا زَالَتِ الْمَدْرَسَةَ مَفْتُوحَةٌ.</a:t>
            </a:r>
            <a:endParaRPr lang="ar-SA" sz="2050" dirty="0"/>
          </a:p>
        </p:txBody>
      </p:sp>
      <p:sp>
        <p:nvSpPr>
          <p:cNvPr id="54" name="Shape 51"/>
          <p:cNvSpPr/>
          <p:nvPr/>
        </p:nvSpPr>
        <p:spPr>
          <a:xfrm>
            <a:off x="457200" y="5532120"/>
            <a:ext cx="11274552" cy="777240"/>
          </a:xfrm>
          <a:prstGeom prst="roundRect">
            <a:avLst>
              <a:gd name="adj" fmla="val 9412"/>
            </a:avLst>
          </a:prstGeom>
          <a:solidFill>
            <a:srgbClr val="FFF7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55" name="Text 52"/>
          <p:cNvSpPr txBox="1"/>
          <p:nvPr/>
        </p:nvSpPr>
        <p:spPr>
          <a:xfrm>
            <a:off x="685800" y="5577840"/>
            <a:ext cx="2830068" cy="685800"/>
          </a:xfrm>
          <a:prstGeom prst="rect">
            <a:avLst/>
          </a:prstGeom>
          <a:noFill/>
          <a:ln/>
        </p:spPr>
        <p:txBody>
          <a:bodyPr wrap="square" lIns="0" tIns="0" rIns="0" bIns="0" rtlCol="0" anchor="ctr"/>
          <a:lstStyle/>
          <a:p>
            <a:pPr algn="l" indent="0" marL="0">
              <a:buNone/>
            </a:pPr>
            <a:r>
              <a:rPr lang="en-US" sz="1200" b="1" spc="100" kern="0" dirty="0">
                <a:solidFill>
                  <a:srgbClr val="8A6D1E"/>
                </a:solidFill>
                <a:latin typeface="Calibri" pitchFamily="34" charset="0"/>
                <a:ea typeface="Calibri" pitchFamily="34" charset="-122"/>
                <a:cs typeface="Calibri" pitchFamily="34" charset="-120"/>
              </a:rPr>
              <a:t>ON YOUR OWN · 2 MINUTES</a:t>
            </a:r>
            <a:endParaRPr lang="en-US" sz="1200" dirty="0"/>
          </a:p>
        </p:txBody>
      </p:sp>
      <p:sp>
        <p:nvSpPr>
          <p:cNvPr id="56" name="Text 53"/>
          <p:cNvSpPr txBox="1"/>
          <p:nvPr/>
        </p:nvSpPr>
        <p:spPr>
          <a:xfrm>
            <a:off x="3515868" y="5577840"/>
            <a:ext cx="8051292"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Answer silently. When the timer ends, type your three letters in the chat: 1_ 2_ 3_. The other end-of-lesson questions are on the website.</a:t>
            </a:r>
            <a:endParaRPr lang="en-US" sz="12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32 / 35</a:t>
            </a:r>
            <a:endParaRPr lang="en-US" sz="8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ea typeface="Calibri" pitchFamily="34" charset="-122"/>
                <a:cs typeface="Calibri" pitchFamily="34" charset="-120"/>
              </a:rPr>
              <a:t>EXIT TICKET ·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ea typeface="Cambria" pitchFamily="34" charset="-122"/>
                <a:cs typeface="Cambria" pitchFamily="34" charset="-120"/>
              </a:rPr>
              <a:t>Exit ticket: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إِجَابَاتُ تَذْكِرَةِ الخُرُوجِ</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85216" y="1947672"/>
            <a:ext cx="310896" cy="310896"/>
          </a:xfrm>
          <a:prstGeom prst="ellipse">
            <a:avLst/>
          </a:prstGeom>
          <a:solidFill>
            <a:srgbClr val="1B3B6F"/>
          </a:solidFill>
          <a:ln w="12700">
            <a:solidFill>
              <a:srgbClr val="1B3B6F"/>
            </a:solidFill>
            <a:prstDash val="solid"/>
          </a:ln>
        </p:spPr>
      </p:sp>
      <p:sp>
        <p:nvSpPr>
          <p:cNvPr id="17" name="Text 14"/>
          <p:cNvSpPr txBox="1"/>
          <p:nvPr/>
        </p:nvSpPr>
        <p:spPr>
          <a:xfrm>
            <a:off x="585216"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a:t>
            </a:r>
            <a:endParaRPr lang="en-US" sz="1100" dirty="0"/>
          </a:p>
        </p:txBody>
      </p:sp>
      <p:sp>
        <p:nvSpPr>
          <p:cNvPr id="18" name="Text 15"/>
          <p:cNvSpPr txBox="1"/>
          <p:nvPr/>
        </p:nvSpPr>
        <p:spPr>
          <a:xfrm>
            <a:off x="950976"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room became quiet”?</a:t>
            </a:r>
            <a:endParaRPr lang="en-US" sz="1250" dirty="0"/>
          </a:p>
        </p:txBody>
      </p:sp>
      <p:sp>
        <p:nvSpPr>
          <p:cNvPr id="19" name="Shape 16"/>
          <p:cNvSpPr/>
          <p:nvPr/>
        </p:nvSpPr>
        <p:spPr>
          <a:xfrm>
            <a:off x="548640" y="2496312"/>
            <a:ext cx="3453384" cy="347472"/>
          </a:xfrm>
          <a:prstGeom prst="roundRect">
            <a:avLst>
              <a:gd name="adj" fmla="val 15789"/>
            </a:avLst>
          </a:prstGeom>
          <a:solidFill>
            <a:srgbClr val="E6F4EC"/>
          </a:solidFill>
          <a:ln w="9525">
            <a:solidFill>
              <a:srgbClr val="2E8B57"/>
            </a:solidFill>
            <a:prstDash val="solid"/>
          </a:ln>
        </p:spPr>
      </p:sp>
      <p:sp>
        <p:nvSpPr>
          <p:cNvPr id="20" name="Shape 17"/>
          <p:cNvSpPr/>
          <p:nvPr/>
        </p:nvSpPr>
        <p:spPr>
          <a:xfrm>
            <a:off x="640080" y="2532888"/>
            <a:ext cx="256032" cy="256032"/>
          </a:xfrm>
          <a:prstGeom prst="ellipse">
            <a:avLst/>
          </a:prstGeom>
          <a:solidFill>
            <a:srgbClr val="2E8B57"/>
          </a:solidFill>
          <a:ln w="12700">
            <a:solidFill>
              <a:srgbClr val="2E8B57"/>
            </a:solidFill>
            <a:prstDash val="solid"/>
          </a:ln>
        </p:spPr>
      </p:sp>
      <p:sp>
        <p:nvSpPr>
          <p:cNvPr id="21" name="Text 18"/>
          <p:cNvSpPr txBox="1"/>
          <p:nvPr/>
        </p:nvSpPr>
        <p:spPr>
          <a:xfrm>
            <a:off x="640080"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22" name="Text 19"/>
          <p:cNvSpPr txBox="1"/>
          <p:nvPr/>
        </p:nvSpPr>
        <p:spPr>
          <a:xfrm>
            <a:off x="969264"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صَارَتِ الْغُرْفَةُ هَادِئَةً.</a:t>
            </a:r>
            <a:endParaRPr lang="ar-SA" sz="2050" dirty="0"/>
          </a:p>
        </p:txBody>
      </p:sp>
      <p:sp>
        <p:nvSpPr>
          <p:cNvPr id="23" name="Shape 20"/>
          <p:cNvSpPr/>
          <p:nvPr/>
        </p:nvSpPr>
        <p:spPr>
          <a:xfrm>
            <a:off x="640080" y="2990088"/>
            <a:ext cx="256032" cy="256032"/>
          </a:xfrm>
          <a:prstGeom prst="ellipse">
            <a:avLst/>
          </a:prstGeom>
          <a:solidFill>
            <a:srgbClr val="C9CED6"/>
          </a:solidFill>
          <a:ln w="12700">
            <a:solidFill>
              <a:srgbClr val="C9CED6"/>
            </a:solidFill>
            <a:prstDash val="solid"/>
          </a:ln>
        </p:spPr>
      </p:sp>
      <p:sp>
        <p:nvSpPr>
          <p:cNvPr id="24" name="Text 21"/>
          <p:cNvSpPr txBox="1"/>
          <p:nvPr/>
        </p:nvSpPr>
        <p:spPr>
          <a:xfrm>
            <a:off x="640080"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25" name="Text 22"/>
          <p:cNvSpPr txBox="1"/>
          <p:nvPr/>
        </p:nvSpPr>
        <p:spPr>
          <a:xfrm>
            <a:off x="969264"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صَارَتِ الْغُرْفَةَ هَادِئَةٌ.</a:t>
            </a:r>
            <a:endParaRPr lang="ar-SA" sz="2050" dirty="0"/>
          </a:p>
        </p:txBody>
      </p:sp>
      <p:sp>
        <p:nvSpPr>
          <p:cNvPr id="26" name="Shape 23"/>
          <p:cNvSpPr/>
          <p:nvPr/>
        </p:nvSpPr>
        <p:spPr>
          <a:xfrm>
            <a:off x="640080" y="3447288"/>
            <a:ext cx="256032" cy="256032"/>
          </a:xfrm>
          <a:prstGeom prst="ellipse">
            <a:avLst/>
          </a:prstGeom>
          <a:solidFill>
            <a:srgbClr val="C9CED6"/>
          </a:solidFill>
          <a:ln w="12700">
            <a:solidFill>
              <a:srgbClr val="C9CED6"/>
            </a:solidFill>
            <a:prstDash val="solid"/>
          </a:ln>
        </p:spPr>
      </p:sp>
      <p:sp>
        <p:nvSpPr>
          <p:cNvPr id="27" name="Text 24"/>
          <p:cNvSpPr txBox="1"/>
          <p:nvPr/>
        </p:nvSpPr>
        <p:spPr>
          <a:xfrm>
            <a:off x="640080"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28" name="Text 25"/>
          <p:cNvSpPr txBox="1"/>
          <p:nvPr/>
        </p:nvSpPr>
        <p:spPr>
          <a:xfrm>
            <a:off x="969264"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كَأَنَّ الْغُرْفَةَ هَادِئَةٌ.</a:t>
            </a:r>
            <a:endParaRPr lang="ar-SA" sz="2050" dirty="0"/>
          </a:p>
        </p:txBody>
      </p:sp>
      <p:sp>
        <p:nvSpPr>
          <p:cNvPr id="29" name="Text 26"/>
          <p:cNvSpPr txBox="1"/>
          <p:nvPr/>
        </p:nvSpPr>
        <p:spPr>
          <a:xfrm>
            <a:off x="585216"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Ṣārati l-ghurfatu hādiʾatan.</a:t>
            </a:r>
            <a:endParaRPr lang="en-US" sz="1050" dirty="0"/>
          </a:p>
        </p:txBody>
      </p:sp>
      <p:sp>
        <p:nvSpPr>
          <p:cNvPr id="30" name="Shape 27"/>
          <p:cNvSpPr/>
          <p:nvPr/>
        </p:nvSpPr>
        <p:spPr>
          <a:xfrm>
            <a:off x="4276344"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4404360" y="1947672"/>
            <a:ext cx="310896" cy="310896"/>
          </a:xfrm>
          <a:prstGeom prst="ellipse">
            <a:avLst/>
          </a:prstGeom>
          <a:solidFill>
            <a:srgbClr val="1B3B6F"/>
          </a:solidFill>
          <a:ln w="12700">
            <a:solidFill>
              <a:srgbClr val="1B3B6F"/>
            </a:solidFill>
            <a:prstDash val="solid"/>
          </a:ln>
        </p:spPr>
      </p:sp>
      <p:sp>
        <p:nvSpPr>
          <p:cNvPr id="32" name="Text 29"/>
          <p:cNvSpPr txBox="1"/>
          <p:nvPr/>
        </p:nvSpPr>
        <p:spPr>
          <a:xfrm>
            <a:off x="4404360"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2</a:t>
            </a:r>
            <a:endParaRPr lang="en-US" sz="1100" dirty="0"/>
          </a:p>
        </p:txBody>
      </p:sp>
      <p:sp>
        <p:nvSpPr>
          <p:cNvPr id="33" name="Text 30"/>
          <p:cNvSpPr txBox="1"/>
          <p:nvPr/>
        </p:nvSpPr>
        <p:spPr>
          <a:xfrm>
            <a:off x="4770120"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student remained active”?</a:t>
            </a:r>
            <a:endParaRPr lang="en-US" sz="1250" dirty="0"/>
          </a:p>
        </p:txBody>
      </p:sp>
      <p:sp>
        <p:nvSpPr>
          <p:cNvPr id="34" name="Shape 31"/>
          <p:cNvSpPr/>
          <p:nvPr/>
        </p:nvSpPr>
        <p:spPr>
          <a:xfrm>
            <a:off x="4459224" y="2532888"/>
            <a:ext cx="256032" cy="256032"/>
          </a:xfrm>
          <a:prstGeom prst="ellipse">
            <a:avLst/>
          </a:prstGeom>
          <a:solidFill>
            <a:srgbClr val="C9CED6"/>
          </a:solidFill>
          <a:ln w="12700">
            <a:solidFill>
              <a:srgbClr val="C9CED6"/>
            </a:solidFill>
            <a:prstDash val="solid"/>
          </a:ln>
        </p:spPr>
      </p:sp>
      <p:sp>
        <p:nvSpPr>
          <p:cNvPr id="35" name="Text 32"/>
          <p:cNvSpPr txBox="1"/>
          <p:nvPr/>
        </p:nvSpPr>
        <p:spPr>
          <a:xfrm>
            <a:off x="4459224" y="25328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A</a:t>
            </a:r>
            <a:endParaRPr lang="en-US" sz="900" dirty="0"/>
          </a:p>
        </p:txBody>
      </p:sp>
      <p:sp>
        <p:nvSpPr>
          <p:cNvPr id="36" name="Text 33"/>
          <p:cNvSpPr txBox="1"/>
          <p:nvPr/>
        </p:nvSpPr>
        <p:spPr>
          <a:xfrm>
            <a:off x="4788408" y="24323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ظَلَّ الطَّالِبَ نَشِيطٌ.</a:t>
            </a:r>
            <a:endParaRPr lang="ar-SA" sz="2050" dirty="0"/>
          </a:p>
        </p:txBody>
      </p:sp>
      <p:sp>
        <p:nvSpPr>
          <p:cNvPr id="37" name="Shape 34"/>
          <p:cNvSpPr/>
          <p:nvPr/>
        </p:nvSpPr>
        <p:spPr>
          <a:xfrm>
            <a:off x="4367784" y="2953512"/>
            <a:ext cx="3453384" cy="347472"/>
          </a:xfrm>
          <a:prstGeom prst="roundRect">
            <a:avLst>
              <a:gd name="adj" fmla="val 15789"/>
            </a:avLst>
          </a:prstGeom>
          <a:solidFill>
            <a:srgbClr val="E6F4EC"/>
          </a:solidFill>
          <a:ln w="9525">
            <a:solidFill>
              <a:srgbClr val="2E8B57"/>
            </a:solidFill>
            <a:prstDash val="solid"/>
          </a:ln>
        </p:spPr>
      </p:sp>
      <p:sp>
        <p:nvSpPr>
          <p:cNvPr id="38" name="Shape 35"/>
          <p:cNvSpPr/>
          <p:nvPr/>
        </p:nvSpPr>
        <p:spPr>
          <a:xfrm>
            <a:off x="4459224" y="2990088"/>
            <a:ext cx="256032" cy="256032"/>
          </a:xfrm>
          <a:prstGeom prst="ellipse">
            <a:avLst/>
          </a:prstGeom>
          <a:solidFill>
            <a:srgbClr val="2E8B57"/>
          </a:solidFill>
          <a:ln w="12700">
            <a:solidFill>
              <a:srgbClr val="2E8B57"/>
            </a:solidFill>
            <a:prstDash val="solid"/>
          </a:ln>
        </p:spPr>
      </p:sp>
      <p:sp>
        <p:nvSpPr>
          <p:cNvPr id="39" name="Text 36"/>
          <p:cNvSpPr txBox="1"/>
          <p:nvPr/>
        </p:nvSpPr>
        <p:spPr>
          <a:xfrm>
            <a:off x="4459224" y="29900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B</a:t>
            </a:r>
            <a:endParaRPr lang="en-US" sz="900" dirty="0"/>
          </a:p>
        </p:txBody>
      </p:sp>
      <p:sp>
        <p:nvSpPr>
          <p:cNvPr id="40" name="Text 37"/>
          <p:cNvSpPr txBox="1"/>
          <p:nvPr/>
        </p:nvSpPr>
        <p:spPr>
          <a:xfrm>
            <a:off x="4788408" y="28895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ظَلَّ الطَّالِبُ نَشِيطًا.</a:t>
            </a:r>
            <a:endParaRPr lang="ar-SA" sz="2050" dirty="0"/>
          </a:p>
        </p:txBody>
      </p:sp>
      <p:sp>
        <p:nvSpPr>
          <p:cNvPr id="41" name="Shape 38"/>
          <p:cNvSpPr/>
          <p:nvPr/>
        </p:nvSpPr>
        <p:spPr>
          <a:xfrm>
            <a:off x="4459224" y="3447288"/>
            <a:ext cx="256032" cy="256032"/>
          </a:xfrm>
          <a:prstGeom prst="ellipse">
            <a:avLst/>
          </a:prstGeom>
          <a:solidFill>
            <a:srgbClr val="C9CED6"/>
          </a:solidFill>
          <a:ln w="12700">
            <a:solidFill>
              <a:srgbClr val="C9CED6"/>
            </a:solidFill>
            <a:prstDash val="solid"/>
          </a:ln>
        </p:spPr>
      </p:sp>
      <p:sp>
        <p:nvSpPr>
          <p:cNvPr id="42" name="Text 39"/>
          <p:cNvSpPr txBox="1"/>
          <p:nvPr/>
        </p:nvSpPr>
        <p:spPr>
          <a:xfrm>
            <a:off x="4459224"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43" name="Text 40"/>
          <p:cNvSpPr txBox="1"/>
          <p:nvPr/>
        </p:nvSpPr>
        <p:spPr>
          <a:xfrm>
            <a:off x="4788408"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لَعَلَّ الطَّالِبَ نَشِيطٌ.</a:t>
            </a:r>
            <a:endParaRPr lang="ar-SA" sz="2050" dirty="0"/>
          </a:p>
        </p:txBody>
      </p:sp>
      <p:sp>
        <p:nvSpPr>
          <p:cNvPr id="44" name="Text 41"/>
          <p:cNvSpPr txBox="1"/>
          <p:nvPr/>
        </p:nvSpPr>
        <p:spPr>
          <a:xfrm>
            <a:off x="4404360"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Ẓalla + nashīṭan.</a:t>
            </a:r>
            <a:endParaRPr lang="en-US" sz="1050" dirty="0"/>
          </a:p>
        </p:txBody>
      </p:sp>
      <p:sp>
        <p:nvSpPr>
          <p:cNvPr id="45" name="Shape 42"/>
          <p:cNvSpPr/>
          <p:nvPr/>
        </p:nvSpPr>
        <p:spPr>
          <a:xfrm>
            <a:off x="8095488" y="1810512"/>
            <a:ext cx="3636264" cy="3538728"/>
          </a:xfrm>
          <a:prstGeom prst="roundRect">
            <a:avLst>
              <a:gd name="adj" fmla="val 206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23504" y="1947672"/>
            <a:ext cx="310896" cy="310896"/>
          </a:xfrm>
          <a:prstGeom prst="ellipse">
            <a:avLst/>
          </a:prstGeom>
          <a:solidFill>
            <a:srgbClr val="1B3B6F"/>
          </a:solidFill>
          <a:ln w="12700">
            <a:solidFill>
              <a:srgbClr val="1B3B6F"/>
            </a:solidFill>
            <a:prstDash val="solid"/>
          </a:ln>
        </p:spPr>
      </p:sp>
      <p:sp>
        <p:nvSpPr>
          <p:cNvPr id="47" name="Text 44"/>
          <p:cNvSpPr txBox="1"/>
          <p:nvPr/>
        </p:nvSpPr>
        <p:spPr>
          <a:xfrm>
            <a:off x="8223504" y="1947672"/>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3</a:t>
            </a:r>
            <a:endParaRPr lang="en-US" sz="1100" dirty="0"/>
          </a:p>
        </p:txBody>
      </p:sp>
      <p:sp>
        <p:nvSpPr>
          <p:cNvPr id="48" name="Text 45"/>
          <p:cNvSpPr txBox="1"/>
          <p:nvPr/>
        </p:nvSpPr>
        <p:spPr>
          <a:xfrm>
            <a:off x="8589264" y="1883664"/>
            <a:ext cx="3032760" cy="475488"/>
          </a:xfrm>
          <a:prstGeom prst="rect">
            <a:avLst/>
          </a:prstGeom>
          <a:noFill/>
          <a:ln/>
        </p:spPr>
        <p:txBody>
          <a:bodyPr wrap="square" lIns="0" tIns="0" rIns="0" bIns="0" rtlCol="0" anchor="ctr"/>
          <a:lstStyle/>
          <a:p>
            <a:pPr algn="l" indent="0" marL="0">
              <a:buNone/>
            </a:pPr>
            <a:r>
              <a:rPr lang="en-US" sz="1250" b="1" dirty="0">
                <a:solidFill>
                  <a:srgbClr val="1B3B6F"/>
                </a:solidFill>
                <a:latin typeface="Calibri" pitchFamily="34" charset="0"/>
                <a:ea typeface="Calibri" pitchFamily="34" charset="-122"/>
                <a:cs typeface="Calibri" pitchFamily="34" charset="-120"/>
              </a:rPr>
              <a:t>Which means “The school is still open”?</a:t>
            </a:r>
            <a:endParaRPr lang="en-US" sz="1250" dirty="0"/>
          </a:p>
        </p:txBody>
      </p:sp>
      <p:sp>
        <p:nvSpPr>
          <p:cNvPr id="49" name="Shape 46"/>
          <p:cNvSpPr/>
          <p:nvPr/>
        </p:nvSpPr>
        <p:spPr>
          <a:xfrm>
            <a:off x="8186928" y="2496312"/>
            <a:ext cx="3453384" cy="347472"/>
          </a:xfrm>
          <a:prstGeom prst="roundRect">
            <a:avLst>
              <a:gd name="adj" fmla="val 15789"/>
            </a:avLst>
          </a:prstGeom>
          <a:solidFill>
            <a:srgbClr val="E6F4EC"/>
          </a:solidFill>
          <a:ln w="9525">
            <a:solidFill>
              <a:srgbClr val="2E8B57"/>
            </a:solidFill>
            <a:prstDash val="solid"/>
          </a:ln>
        </p:spPr>
      </p:sp>
      <p:sp>
        <p:nvSpPr>
          <p:cNvPr id="50" name="Shape 47"/>
          <p:cNvSpPr/>
          <p:nvPr/>
        </p:nvSpPr>
        <p:spPr>
          <a:xfrm>
            <a:off x="8278368" y="2532888"/>
            <a:ext cx="256032" cy="256032"/>
          </a:xfrm>
          <a:prstGeom prst="ellipse">
            <a:avLst/>
          </a:prstGeom>
          <a:solidFill>
            <a:srgbClr val="2E8B57"/>
          </a:solidFill>
          <a:ln w="12700">
            <a:solidFill>
              <a:srgbClr val="2E8B57"/>
            </a:solidFill>
            <a:prstDash val="solid"/>
          </a:ln>
        </p:spPr>
      </p:sp>
      <p:sp>
        <p:nvSpPr>
          <p:cNvPr id="51" name="Text 48"/>
          <p:cNvSpPr txBox="1"/>
          <p:nvPr/>
        </p:nvSpPr>
        <p:spPr>
          <a:xfrm>
            <a:off x="8278368" y="2532888"/>
            <a:ext cx="256032" cy="256032"/>
          </a:xfrm>
          <a:prstGeom prst="rect">
            <a:avLst/>
          </a:prstGeom>
          <a:noFill/>
          <a:ln/>
        </p:spPr>
        <p:txBody>
          <a:bodyPr wrap="square" lIns="0" tIns="0" rIns="0" bIns="0" rtlCol="0" anchor="ctr"/>
          <a:lstStyle/>
          <a:p>
            <a:pPr algn="ctr" indent="0" marL="0">
              <a:buNone/>
            </a:pPr>
            <a:r>
              <a:rPr lang="en-US" sz="900" b="1" dirty="0">
                <a:solidFill>
                  <a:srgbClr val="FFFFFF"/>
                </a:solidFill>
                <a:latin typeface="Calibri" pitchFamily="34" charset="0"/>
                <a:ea typeface="Calibri" pitchFamily="34" charset="-122"/>
                <a:cs typeface="Calibri" pitchFamily="34" charset="-120"/>
              </a:rPr>
              <a:t>A</a:t>
            </a:r>
            <a:endParaRPr lang="en-US" sz="900" dirty="0"/>
          </a:p>
        </p:txBody>
      </p:sp>
      <p:sp>
        <p:nvSpPr>
          <p:cNvPr id="52" name="Text 49"/>
          <p:cNvSpPr txBox="1"/>
          <p:nvPr/>
        </p:nvSpPr>
        <p:spPr>
          <a:xfrm>
            <a:off x="8607552" y="2432304"/>
            <a:ext cx="2977896" cy="457200"/>
          </a:xfrm>
          <a:prstGeom prst="rect">
            <a:avLst/>
          </a:prstGeom>
          <a:noFill/>
          <a:ln/>
        </p:spPr>
        <p:txBody>
          <a:bodyPr wrap="square" lIns="0" tIns="0" rIns="0" bIns="0" rtlCol="0" anchor="ctr"/>
          <a:lstStyle/>
          <a:p>
            <a:pPr rtl="1" algn="r" indent="0" marL="0">
              <a:buNone/>
            </a:pPr>
            <a:r>
              <a:rPr lang="ar-SA" altLang="en-US" sz="2050" b="1" dirty="0">
                <a:solidFill>
                  <a:srgbClr val="1F2A37"/>
                </a:solidFill>
                <a:latin typeface="Amiri" pitchFamily="34" charset="0"/>
                <a:ea typeface="Amiri" pitchFamily="34" charset="-122"/>
                <a:cs typeface="Amiri" pitchFamily="34" charset="-120"/>
              </a:rPr>
              <a:t>مَا زَالَتِ الْمَدْرَسَةُ مَفْتُوحَةً.</a:t>
            </a:r>
            <a:endParaRPr lang="ar-SA" sz="2050" dirty="0"/>
          </a:p>
        </p:txBody>
      </p:sp>
      <p:sp>
        <p:nvSpPr>
          <p:cNvPr id="53" name="Shape 50"/>
          <p:cNvSpPr/>
          <p:nvPr/>
        </p:nvSpPr>
        <p:spPr>
          <a:xfrm>
            <a:off x="8278368" y="2990088"/>
            <a:ext cx="256032" cy="256032"/>
          </a:xfrm>
          <a:prstGeom prst="ellipse">
            <a:avLst/>
          </a:prstGeom>
          <a:solidFill>
            <a:srgbClr val="C9CED6"/>
          </a:solidFill>
          <a:ln w="12700">
            <a:solidFill>
              <a:srgbClr val="C9CED6"/>
            </a:solidFill>
            <a:prstDash val="solid"/>
          </a:ln>
        </p:spPr>
      </p:sp>
      <p:sp>
        <p:nvSpPr>
          <p:cNvPr id="54" name="Text 51"/>
          <p:cNvSpPr txBox="1"/>
          <p:nvPr/>
        </p:nvSpPr>
        <p:spPr>
          <a:xfrm>
            <a:off x="8278368" y="29900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B</a:t>
            </a:r>
            <a:endParaRPr lang="en-US" sz="900" dirty="0"/>
          </a:p>
        </p:txBody>
      </p:sp>
      <p:sp>
        <p:nvSpPr>
          <p:cNvPr id="55" name="Text 52"/>
          <p:cNvSpPr txBox="1"/>
          <p:nvPr/>
        </p:nvSpPr>
        <p:spPr>
          <a:xfrm>
            <a:off x="8607552" y="28895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زَالَتِ الْمَدْرَسَةُ مَفْتُوحَةٌ.</a:t>
            </a:r>
            <a:endParaRPr lang="ar-SA" sz="2050" dirty="0"/>
          </a:p>
        </p:txBody>
      </p:sp>
      <p:sp>
        <p:nvSpPr>
          <p:cNvPr id="56" name="Shape 53"/>
          <p:cNvSpPr/>
          <p:nvPr/>
        </p:nvSpPr>
        <p:spPr>
          <a:xfrm>
            <a:off x="8278368" y="3447288"/>
            <a:ext cx="256032" cy="256032"/>
          </a:xfrm>
          <a:prstGeom prst="ellipse">
            <a:avLst/>
          </a:prstGeom>
          <a:solidFill>
            <a:srgbClr val="C9CED6"/>
          </a:solidFill>
          <a:ln w="12700">
            <a:solidFill>
              <a:srgbClr val="C9CED6"/>
            </a:solidFill>
            <a:prstDash val="solid"/>
          </a:ln>
        </p:spPr>
      </p:sp>
      <p:sp>
        <p:nvSpPr>
          <p:cNvPr id="57" name="Text 54"/>
          <p:cNvSpPr txBox="1"/>
          <p:nvPr/>
        </p:nvSpPr>
        <p:spPr>
          <a:xfrm>
            <a:off x="8278368" y="3447288"/>
            <a:ext cx="256032" cy="256032"/>
          </a:xfrm>
          <a:prstGeom prst="rect">
            <a:avLst/>
          </a:prstGeom>
          <a:noFill/>
          <a:ln/>
        </p:spPr>
        <p:txBody>
          <a:bodyPr wrap="square" lIns="0" tIns="0" rIns="0" bIns="0" rtlCol="0" anchor="ctr"/>
          <a:lstStyle/>
          <a:p>
            <a:pPr algn="ctr" indent="0" marL="0">
              <a:buNone/>
            </a:pPr>
            <a:r>
              <a:rPr lang="en-US" sz="900" b="1" dirty="0">
                <a:solidFill>
                  <a:srgbClr val="1B3B6F"/>
                </a:solidFill>
                <a:latin typeface="Calibri" pitchFamily="34" charset="0"/>
                <a:ea typeface="Calibri" pitchFamily="34" charset="-122"/>
                <a:cs typeface="Calibri" pitchFamily="34" charset="-120"/>
              </a:rPr>
              <a:t>C</a:t>
            </a:r>
            <a:endParaRPr lang="en-US" sz="900" dirty="0"/>
          </a:p>
        </p:txBody>
      </p:sp>
      <p:sp>
        <p:nvSpPr>
          <p:cNvPr id="58" name="Text 55"/>
          <p:cNvSpPr txBox="1"/>
          <p:nvPr/>
        </p:nvSpPr>
        <p:spPr>
          <a:xfrm>
            <a:off x="8607552" y="3346704"/>
            <a:ext cx="2977896" cy="457200"/>
          </a:xfrm>
          <a:prstGeom prst="rect">
            <a:avLst/>
          </a:prstGeom>
          <a:noFill/>
          <a:ln/>
        </p:spPr>
        <p:txBody>
          <a:bodyPr wrap="square" lIns="0" tIns="0" rIns="0" bIns="0" rtlCol="0" anchor="ctr"/>
          <a:lstStyle/>
          <a:p>
            <a:pPr rtl="1" algn="r" indent="0" marL="0">
              <a:buNone/>
            </a:pPr>
            <a:r>
              <a:rPr lang="ar-SA" altLang="en-US" sz="2050" dirty="0">
                <a:solidFill>
                  <a:srgbClr val="9AA1AB"/>
                </a:solidFill>
                <a:latin typeface="Amiri" pitchFamily="34" charset="0"/>
                <a:ea typeface="Amiri" pitchFamily="34" charset="-122"/>
                <a:cs typeface="Amiri" pitchFamily="34" charset="-120"/>
              </a:rPr>
              <a:t>مَا زَالَتِ الْمَدْرَسَةَ مَفْتُوحَةٌ.</a:t>
            </a:r>
            <a:endParaRPr lang="ar-SA" sz="2050" dirty="0"/>
          </a:p>
        </p:txBody>
      </p:sp>
      <p:sp>
        <p:nvSpPr>
          <p:cNvPr id="59" name="Text 56"/>
          <p:cNvSpPr txBox="1"/>
          <p:nvPr/>
        </p:nvSpPr>
        <p:spPr>
          <a:xfrm>
            <a:off x="8223504" y="4946904"/>
            <a:ext cx="3380232" cy="365760"/>
          </a:xfrm>
          <a:prstGeom prst="rect">
            <a:avLst/>
          </a:prstGeom>
          <a:noFill/>
          <a:ln/>
        </p:spPr>
        <p:txBody>
          <a:bodyPr wrap="square" lIns="0" tIns="0" rIns="0" bIns="0" rtlCol="0" anchor="ctr"/>
          <a:lstStyle/>
          <a:p>
            <a:pPr algn="l" indent="0" marL="0">
              <a:buNone/>
            </a:pPr>
            <a:r>
              <a:rPr lang="en-US" sz="1050" i="1" dirty="0">
                <a:solidFill>
                  <a:srgbClr val="8A6D1E"/>
                </a:solidFill>
                <a:latin typeface="Calibri" pitchFamily="34" charset="0"/>
                <a:ea typeface="Calibri" pitchFamily="34" charset="-122"/>
                <a:cs typeface="Calibri" pitchFamily="34" charset="-120"/>
              </a:rPr>
              <a:t>Mā zālat + maftūḥatan.</a:t>
            </a:r>
            <a:endParaRPr lang="en-US" sz="1050" dirty="0"/>
          </a:p>
        </p:txBody>
      </p:sp>
      <p:sp>
        <p:nvSpPr>
          <p:cNvPr id="60" name="Shape 57"/>
          <p:cNvSpPr/>
          <p:nvPr/>
        </p:nvSpPr>
        <p:spPr>
          <a:xfrm>
            <a:off x="457200" y="5532120"/>
            <a:ext cx="11274552" cy="777240"/>
          </a:xfrm>
          <a:prstGeom prst="roundRect">
            <a:avLst>
              <a:gd name="adj" fmla="val 9412"/>
            </a:avLst>
          </a:prstGeom>
          <a:solidFill>
            <a:srgbClr val="EEF3FA"/>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61" name="Text 58"/>
          <p:cNvSpPr txBox="1"/>
          <p:nvPr/>
        </p:nvSpPr>
        <p:spPr>
          <a:xfrm>
            <a:off x="685800" y="5577840"/>
            <a:ext cx="937260" cy="685800"/>
          </a:xfrm>
          <a:prstGeom prst="rect">
            <a:avLst/>
          </a:prstGeom>
          <a:noFill/>
          <a:ln/>
        </p:spPr>
        <p:txBody>
          <a:bodyPr wrap="square" lIns="0" tIns="0" rIns="0" bIns="0" rtlCol="0" anchor="ctr"/>
          <a:lstStyle/>
          <a:p>
            <a:pPr algn="l" indent="0" marL="0">
              <a:buNone/>
            </a:pPr>
            <a:r>
              <a:rPr lang="en-US" sz="1200" b="1" spc="100" kern="0" dirty="0">
                <a:solidFill>
                  <a:srgbClr val="1B3B6F"/>
                </a:solidFill>
                <a:latin typeface="Calibri" pitchFamily="34" charset="0"/>
                <a:ea typeface="Calibri" pitchFamily="34" charset="-122"/>
                <a:cs typeface="Calibri" pitchFamily="34" charset="-120"/>
              </a:rPr>
              <a:t>SCORE</a:t>
            </a:r>
            <a:endParaRPr lang="en-US" sz="1200" dirty="0"/>
          </a:p>
        </p:txBody>
      </p:sp>
      <p:sp>
        <p:nvSpPr>
          <p:cNvPr id="62" name="Text 59"/>
          <p:cNvSpPr txBox="1"/>
          <p:nvPr/>
        </p:nvSpPr>
        <p:spPr>
          <a:xfrm>
            <a:off x="1623060" y="5577840"/>
            <a:ext cx="9944100" cy="685800"/>
          </a:xfrm>
          <a:prstGeom prst="rect">
            <a:avLst/>
          </a:prstGeom>
          <a:noFill/>
          <a:ln/>
        </p:spPr>
        <p:txBody>
          <a:bodyPr wrap="square" lIns="0" tIns="0" rIns="0" bIns="0" rtlCol="0" anchor="ctr"/>
          <a:lstStyle/>
          <a:p>
            <a:pPr algn="l" indent="0" marL="0">
              <a:buNone/>
            </a:pPr>
            <a:r>
              <a:rPr lang="en-US" sz="1250" dirty="0">
                <a:solidFill>
                  <a:srgbClr val="1F2A37"/>
                </a:solidFill>
                <a:latin typeface="Calibri" pitchFamily="34" charset="0"/>
                <a:ea typeface="Calibri" pitchFamily="34" charset="-122"/>
                <a:cs typeface="Calibri" pitchFamily="34" charset="-120"/>
              </a:rPr>
              <a:t>3/3 → aim for Stretch next lesson  ·  2/3 → Develop  ·  0–1 → Core route and a quick check-in during the next Do Now.</a:t>
            </a:r>
            <a:endParaRPr lang="en-US" sz="1250" dirty="0"/>
          </a:p>
        </p:txBody>
      </p:sp>
      <p:sp>
        <p:nvSpPr>
          <p:cNvPr id="63" name="Text 6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33 / 35</a:t>
            </a:r>
            <a:endParaRPr lang="en-US" sz="8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34" charset="0"/>
                <a:ea typeface="Amiri" pitchFamily="34" charset="-122"/>
                <a:cs typeface="Amiri" pitchFamily="34" charset="-120"/>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ea typeface="Cambria" pitchFamily="34" charset="-122"/>
                <a:cs typeface="Cambria" pitchFamily="34" charset="-120"/>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ea typeface="Calibri" pitchFamily="34" charset="-122"/>
                <a:cs typeface="Calibri" pitchFamily="34" charset="-120"/>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ea typeface="Calibri" pitchFamily="34" charset="-122"/>
                <a:cs typeface="Calibri" pitchFamily="34" charset="-120"/>
              </a:rPr>
              <a:t>GM-NVS-03 · Non-Verbal Sentences</a:t>
            </a:r>
            <a:endParaRPr lang="en-US" sz="950" dirty="0"/>
          </a:p>
        </p:txBody>
      </p:sp>
      <p:sp>
        <p:nvSpPr>
          <p:cNvPr id="8" name="Shape 6"/>
          <p:cNvSpPr/>
          <p:nvPr/>
        </p:nvSpPr>
        <p:spPr>
          <a:xfrm>
            <a:off x="6915607" y="274320"/>
            <a:ext cx="1844345" cy="329184"/>
          </a:xfrm>
          <a:prstGeom prst="roundRect">
            <a:avLst>
              <a:gd name="adj" fmla="val 50000"/>
            </a:avLst>
          </a:prstGeom>
          <a:solidFill>
            <a:srgbClr val="C45A3C"/>
          </a:solidFill>
          <a:ln w="12700">
            <a:solidFill>
              <a:srgbClr val="C45A3C"/>
            </a:solidFill>
            <a:prstDash val="solid"/>
          </a:ln>
        </p:spPr>
      </p:sp>
      <p:sp>
        <p:nvSpPr>
          <p:cNvPr id="9" name="Text 7"/>
          <p:cNvSpPr txBox="1"/>
          <p:nvPr/>
        </p:nvSpPr>
        <p:spPr>
          <a:xfrm>
            <a:off x="6915607" y="274320"/>
            <a:ext cx="1844345"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ea typeface="Calibri" pitchFamily="34" charset="-122"/>
                <a:cs typeface="Calibri" pitchFamily="34" charset="-120"/>
              </a:rPr>
              <a:t>PREPARATION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C45A3C"/>
                </a:solidFill>
                <a:latin typeface="Calibri" pitchFamily="34" charset="0"/>
                <a:ea typeface="Calibri" pitchFamily="34" charset="-122"/>
                <a:cs typeface="Calibri" pitchFamily="34" charset="-120"/>
              </a:rPr>
              <a:t>PREPARATION FOR NEXT LESSON · ABOUT 10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50" b="1" dirty="0">
                <a:solidFill>
                  <a:srgbClr val="1B3B6F"/>
                </a:solidFill>
                <a:latin typeface="Cambria" pitchFamily="34" charset="0"/>
                <a:ea typeface="Cambria" pitchFamily="34" charset="-122"/>
                <a:cs typeface="Cambria" pitchFamily="34" charset="-120"/>
              </a:rPr>
              <a:t>Before GM-NVS-04: get ready at home</a:t>
            </a:r>
            <a:endParaRPr lang="en-US" sz="24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34" charset="0"/>
                <a:ea typeface="Amiri" pitchFamily="34" charset="-122"/>
                <a:cs typeface="Amiri" pitchFamily="34" charset="-120"/>
              </a:rPr>
              <a:t>التَّحْضِيرُ لِلدَّرْسِ القَادِمِ</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ea typeface="Calibri" pitchFamily="34" charset="-122"/>
                <a:cs typeface="Calibri" pitchFamily="34" charset="-120"/>
              </a:rPr>
              <a:t>Miftah Arabic · Grammar Mastery · Non-Verbal Sentences · GM-NVS-03</a:t>
            </a:r>
            <a:endParaRPr lang="en-US" sz="850" dirty="0"/>
          </a:p>
        </p:txBody>
      </p:sp>
      <p:sp>
        <p:nvSpPr>
          <p:cNvPr id="15" name="Shape 12"/>
          <p:cNvSpPr/>
          <p:nvPr/>
        </p:nvSpPr>
        <p:spPr>
          <a:xfrm>
            <a:off x="457200" y="1810512"/>
            <a:ext cx="5394960" cy="4498848"/>
          </a:xfrm>
          <a:prstGeom prst="roundRect">
            <a:avLst>
              <a:gd name="adj" fmla="val 1626"/>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475488" cy="475488"/>
          </a:xfrm>
          <a:prstGeom prst="ellipse">
            <a:avLst/>
          </a:prstGeom>
          <a:solidFill>
            <a:srgbClr val="C45A3C"/>
          </a:solidFill>
          <a:ln w="12700">
            <a:solidFill>
              <a:srgbClr val="C45A3C"/>
            </a:solidFill>
            <a:prstDash val="solid"/>
          </a:ln>
        </p:spPr>
      </p:sp>
      <p:pic>
        <p:nvPicPr>
          <p:cNvPr id="17" name="Image 0" descr="preencoded.png">    </p:cNvPr>
          <p:cNvPicPr>
            <a:picLocks noChangeAspect="1"/>
          </p:cNvPicPr>
          <p:nvPr/>
        </p:nvPicPr>
        <p:blipFill>
          <a:blip r:embed="rId1"/>
          <a:stretch>
            <a:fillRect/>
          </a:stretch>
        </p:blipFill>
        <p:spPr>
          <a:xfrm>
            <a:off x="731520" y="2029968"/>
            <a:ext cx="292608" cy="292608"/>
          </a:xfrm>
          <a:prstGeom prst="rect">
            <a:avLst/>
          </a:prstGeom>
        </p:spPr>
      </p:pic>
      <p:sp>
        <p:nvSpPr>
          <p:cNvPr id="18" name="Text 14"/>
          <p:cNvSpPr txBox="1"/>
          <p:nvPr/>
        </p:nvSpPr>
        <p:spPr>
          <a:xfrm>
            <a:off x="1207008" y="1920240"/>
            <a:ext cx="4480560" cy="512064"/>
          </a:xfrm>
          <a:prstGeom prst="rect">
            <a:avLst/>
          </a:prstGeom>
          <a:noFill/>
          <a:ln/>
        </p:spPr>
        <p:txBody>
          <a:bodyPr wrap="square" lIns="0" tIns="0" rIns="0" bIns="0" rtlCol="0" anchor="ctr"/>
          <a:lstStyle/>
          <a:p>
            <a:pPr indent="0" marL="0">
              <a:buNone/>
            </a:pPr>
            <a:r>
              <a:rPr lang="en-US" sz="1100" b="1" spc="200" kern="0" dirty="0">
                <a:solidFill>
                  <a:srgbClr val="C45A3C"/>
                </a:solidFill>
                <a:latin typeface="Calibri" pitchFamily="34" charset="0"/>
                <a:ea typeface="Calibri" pitchFamily="34" charset="-122"/>
                <a:cs typeface="Calibri" pitchFamily="34" charset="-120"/>
              </a:rPr>
              <a:t>LEARN THESE 5 WORDS</a:t>
            </a:r>
            <a:endParaRPr lang="en-US" sz="1100" dirty="0"/>
          </a:p>
          <a:p>
            <a:pPr indent="0" marL="0">
              <a:buNone/>
            </a:pPr>
            <a:r>
              <a:rPr lang="en-US" sz="1000" dirty="0">
                <a:solidFill>
                  <a:srgbClr val="5A6472"/>
                </a:solidFill>
                <a:latin typeface="Calibri" pitchFamily="34" charset="0"/>
                <a:ea typeface="Calibri" pitchFamily="34" charset="-122"/>
                <a:cs typeface="Calibri" pitchFamily="34" charset="-120"/>
              </a:rPr>
              <a:t>for GM-NVS-04 · Negation with Laysa</a:t>
            </a:r>
            <a:endParaRPr lang="en-US" sz="1100" dirty="0"/>
          </a:p>
        </p:txBody>
      </p:sp>
      <p:sp>
        <p:nvSpPr>
          <p:cNvPr id="19" name="Text 15"/>
          <p:cNvSpPr txBox="1"/>
          <p:nvPr/>
        </p:nvSpPr>
        <p:spPr>
          <a:xfrm>
            <a:off x="3017520" y="25603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a:t>
            </a:r>
            <a:endParaRPr lang="ar-SA" sz="2000" dirty="0"/>
          </a:p>
        </p:txBody>
      </p:sp>
      <p:sp>
        <p:nvSpPr>
          <p:cNvPr id="20" name="Text 16"/>
          <p:cNvSpPr txBox="1"/>
          <p:nvPr/>
        </p:nvSpPr>
        <p:spPr>
          <a:xfrm>
            <a:off x="685800" y="25603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is not (he / it)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1" name="Text 17"/>
          <p:cNvSpPr txBox="1"/>
          <p:nvPr/>
        </p:nvSpPr>
        <p:spPr>
          <a:xfrm>
            <a:off x="3017520" y="30175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لَيْسَتْ</a:t>
            </a:r>
            <a:endParaRPr lang="ar-SA" sz="2000" dirty="0"/>
          </a:p>
        </p:txBody>
      </p:sp>
      <p:sp>
        <p:nvSpPr>
          <p:cNvPr id="22" name="Text 18"/>
          <p:cNvSpPr txBox="1"/>
          <p:nvPr/>
        </p:nvSpPr>
        <p:spPr>
          <a:xfrm>
            <a:off x="685800" y="30175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is not (she / it f.)</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3" name="Text 19"/>
          <p:cNvSpPr txBox="1"/>
          <p:nvPr/>
        </p:nvSpPr>
        <p:spPr>
          <a:xfrm>
            <a:off x="3017520" y="34747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لَسْتُ</a:t>
            </a:r>
            <a:endParaRPr lang="ar-SA" sz="2000" dirty="0"/>
          </a:p>
        </p:txBody>
      </p:sp>
      <p:sp>
        <p:nvSpPr>
          <p:cNvPr id="24" name="Text 20"/>
          <p:cNvSpPr txBox="1"/>
          <p:nvPr/>
        </p:nvSpPr>
        <p:spPr>
          <a:xfrm>
            <a:off x="685800" y="34747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I am not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5" name="Text 21"/>
          <p:cNvSpPr txBox="1"/>
          <p:nvPr/>
        </p:nvSpPr>
        <p:spPr>
          <a:xfrm>
            <a:off x="3017520" y="39319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لَسْنَا</a:t>
            </a:r>
            <a:endParaRPr lang="ar-SA" sz="2000" dirty="0"/>
          </a:p>
        </p:txBody>
      </p:sp>
      <p:sp>
        <p:nvSpPr>
          <p:cNvPr id="26" name="Text 22"/>
          <p:cNvSpPr txBox="1"/>
          <p:nvPr/>
        </p:nvSpPr>
        <p:spPr>
          <a:xfrm>
            <a:off x="685800" y="39319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we are not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7" name="Text 23"/>
          <p:cNvSpPr txBox="1"/>
          <p:nvPr/>
        </p:nvSpPr>
        <p:spPr>
          <a:xfrm>
            <a:off x="3017520" y="4389120"/>
            <a:ext cx="2651760" cy="438912"/>
          </a:xfrm>
          <a:prstGeom prst="rect">
            <a:avLst/>
          </a:prstGeom>
          <a:noFill/>
          <a:ln/>
        </p:spPr>
        <p:txBody>
          <a:bodyPr wrap="square" lIns="0" tIns="0" rIns="0" bIns="0" rtlCol="0" anchor="ctr"/>
          <a:lstStyle/>
          <a:p>
            <a:pPr rtl="1" algn="r" indent="0" marL="0">
              <a:buNone/>
            </a:pPr>
            <a:r>
              <a:rPr lang="ar-SA" altLang="en-US" sz="2000" b="1" dirty="0">
                <a:solidFill>
                  <a:srgbClr val="1B3B6F"/>
                </a:solidFill>
                <a:latin typeface="Amiri" pitchFamily="34" charset="0"/>
                <a:ea typeface="Amiri" pitchFamily="34" charset="-122"/>
                <a:cs typeface="Amiri" pitchFamily="34" charset="-120"/>
              </a:rPr>
              <a:t>لَيْسُوا</a:t>
            </a:r>
            <a:endParaRPr lang="ar-SA" sz="2000" dirty="0"/>
          </a:p>
        </p:txBody>
      </p:sp>
      <p:sp>
        <p:nvSpPr>
          <p:cNvPr id="28" name="Text 24"/>
          <p:cNvSpPr txBox="1"/>
          <p:nvPr/>
        </p:nvSpPr>
        <p:spPr>
          <a:xfrm>
            <a:off x="685800" y="4389120"/>
            <a:ext cx="2331720" cy="438912"/>
          </a:xfrm>
          <a:prstGeom prst="rect">
            <a:avLst/>
          </a:prstGeom>
          <a:noFill/>
          <a:ln/>
        </p:spPr>
        <p:txBody>
          <a:bodyPr wrap="square" lIns="0" tIns="0" rIns="0" bIns="0" rtlCol="0" anchor="ctr"/>
          <a:lstStyle/>
          <a:p>
            <a:pPr indent="0" marL="0">
              <a:buNone/>
            </a:pPr>
            <a:r>
              <a:rPr lang="en-US" sz="1200" b="1" dirty="0">
                <a:solidFill>
                  <a:srgbClr val="1F2A37"/>
                </a:solidFill>
                <a:latin typeface="Calibri" pitchFamily="34" charset="0"/>
                <a:ea typeface="Calibri" pitchFamily="34" charset="-122"/>
                <a:cs typeface="Calibri" pitchFamily="34" charset="-120"/>
              </a:rPr>
              <a:t>they are not</a:t>
            </a:r>
            <a:pPr indent="0" marL="0">
              <a:buNone/>
            </a:pPr>
            <a:r>
              <a:rPr lang="en-US" sz="1000" i="1" dirty="0">
                <a:solidFill>
                  <a:srgbClr val="5A6472"/>
                </a:solidFill>
                <a:latin typeface="Calibri" pitchFamily="34" charset="0"/>
                <a:ea typeface="Calibri" pitchFamily="34" charset="-122"/>
                <a:cs typeface="Calibri" pitchFamily="34" charset="-120"/>
              </a:rPr>
              <a:t>  —</a:t>
            </a:r>
            <a:endParaRPr lang="en-US" sz="1200" dirty="0"/>
          </a:p>
        </p:txBody>
      </p:sp>
      <p:sp>
        <p:nvSpPr>
          <p:cNvPr id="29" name="Text 25"/>
          <p:cNvSpPr txBox="1"/>
          <p:nvPr/>
        </p:nvSpPr>
        <p:spPr>
          <a:xfrm>
            <a:off x="685800" y="4892040"/>
            <a:ext cx="2743200" cy="237744"/>
          </a:xfrm>
          <a:prstGeom prst="rect">
            <a:avLst/>
          </a:prstGeom>
          <a:noFill/>
          <a:ln/>
        </p:spPr>
        <p:txBody>
          <a:bodyPr wrap="square" lIns="0" tIns="0" rIns="0" bIns="0" rtlCol="0" anchor="ctr"/>
          <a:lstStyle/>
          <a:p>
            <a:pPr algn="l" indent="0" marL="0">
              <a:buNone/>
            </a:pPr>
            <a:r>
              <a:rPr lang="en-US" sz="900" b="1" spc="200" kern="0" dirty="0">
                <a:solidFill>
                  <a:srgbClr val="C45A3C"/>
                </a:solidFill>
                <a:latin typeface="Calibri" pitchFamily="34" charset="0"/>
                <a:ea typeface="Calibri" pitchFamily="34" charset="-122"/>
                <a:cs typeface="Calibri" pitchFamily="34" charset="-120"/>
              </a:rPr>
              <a:t>AND ANSWER ONE QUESTION</a:t>
            </a:r>
            <a:endParaRPr lang="en-US" sz="900" dirty="0"/>
          </a:p>
        </p:txBody>
      </p:sp>
      <p:sp>
        <p:nvSpPr>
          <p:cNvPr id="30" name="Text 26"/>
          <p:cNvSpPr txBox="1"/>
          <p:nvPr/>
        </p:nvSpPr>
        <p:spPr>
          <a:xfrm>
            <a:off x="685800" y="5129784"/>
            <a:ext cx="2194560" cy="1005840"/>
          </a:xfrm>
          <a:prstGeom prst="rect">
            <a:avLst/>
          </a:prstGeom>
          <a:noFill/>
          <a:ln/>
        </p:spPr>
        <p:txBody>
          <a:bodyPr wrap="square" lIns="0" tIns="0" rIns="0" bIns="0" rtlCol="0" anchor="t"/>
          <a:lstStyle/>
          <a:p>
            <a:pPr algn="l" indent="0" marL="0">
              <a:buNone/>
            </a:pPr>
            <a:r>
              <a:rPr lang="en-US" sz="1050" dirty="0">
                <a:solidFill>
                  <a:srgbClr val="1F2A37"/>
                </a:solidFill>
                <a:latin typeface="Calibri" pitchFamily="34" charset="0"/>
                <a:ea typeface="Calibri" pitchFamily="34" charset="-122"/>
                <a:cs typeface="Calibri" pitchFamily="34" charset="-120"/>
              </a:rPr>
              <a:t>Laysa works like kāna: the predicate takes -an. How would you say “The exam is not difficult”?</a:t>
            </a:r>
            <a:endParaRPr lang="en-US" sz="1050" dirty="0"/>
          </a:p>
        </p:txBody>
      </p:sp>
      <p:sp>
        <p:nvSpPr>
          <p:cNvPr id="31" name="Text 27"/>
          <p:cNvSpPr txBox="1"/>
          <p:nvPr/>
        </p:nvSpPr>
        <p:spPr>
          <a:xfrm>
            <a:off x="2926080" y="5074920"/>
            <a:ext cx="2743200" cy="1051560"/>
          </a:xfrm>
          <a:prstGeom prst="rect">
            <a:avLst/>
          </a:prstGeom>
          <a:noFill/>
          <a:ln/>
        </p:spPr>
        <p:txBody>
          <a:bodyPr wrap="square" lIns="0" tIns="0" rIns="0" bIns="0" rtlCol="0" anchor="ctr"/>
          <a:lstStyle/>
          <a:p>
            <a:pPr rtl="1" algn="r" indent="0" marL="0">
              <a:buNone/>
            </a:pPr>
            <a:r>
              <a:rPr lang="ar-SA" altLang="en-US" sz="1700" b="1" dirty="0">
                <a:solidFill>
                  <a:srgbClr val="1B3B6F"/>
                </a:solidFill>
                <a:latin typeface="Amiri" pitchFamily="34" charset="0"/>
                <a:ea typeface="Amiri" pitchFamily="34" charset="-122"/>
                <a:cs typeface="Amiri" pitchFamily="34" charset="-120"/>
              </a:rPr>
              <a:t>لَيْسَ الِامْتِحَانُ ______ .</a:t>
            </a:r>
            <a:endParaRPr lang="ar-SA" sz="1700" dirty="0"/>
          </a:p>
        </p:txBody>
      </p:sp>
      <p:sp>
        <p:nvSpPr>
          <p:cNvPr id="32" name="Text 28"/>
          <p:cNvSpPr txBox="1"/>
          <p:nvPr/>
        </p:nvSpPr>
        <p:spPr>
          <a:xfrm>
            <a:off x="6126480" y="1828800"/>
            <a:ext cx="548640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ea typeface="Calibri" pitchFamily="34" charset="-122"/>
                <a:cs typeface="Calibri" pitchFamily="34" charset="-120"/>
              </a:rPr>
              <a:t>HOMEWORK — CHOOSE YOUR ROUTE</a:t>
            </a:r>
            <a:endParaRPr lang="en-US" sz="1000" dirty="0"/>
          </a:p>
        </p:txBody>
      </p:sp>
      <p:sp>
        <p:nvSpPr>
          <p:cNvPr id="33" name="Shape 29"/>
          <p:cNvSpPr/>
          <p:nvPr/>
        </p:nvSpPr>
        <p:spPr>
          <a:xfrm>
            <a:off x="6126480" y="2194560"/>
            <a:ext cx="5605272" cy="1243584"/>
          </a:xfrm>
          <a:prstGeom prst="roundRect">
            <a:avLst>
              <a:gd name="adj" fmla="val 5882"/>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0"/>
          <p:cNvSpPr/>
          <p:nvPr/>
        </p:nvSpPr>
        <p:spPr>
          <a:xfrm>
            <a:off x="6309360" y="2322576"/>
            <a:ext cx="1051560" cy="274320"/>
          </a:xfrm>
          <a:prstGeom prst="roundRect">
            <a:avLst>
              <a:gd name="adj" fmla="val 50000"/>
            </a:avLst>
          </a:prstGeom>
          <a:solidFill>
            <a:srgbClr val="2E8B57"/>
          </a:solidFill>
          <a:ln w="12700">
            <a:solidFill>
              <a:srgbClr val="2E8B57"/>
            </a:solidFill>
            <a:prstDash val="solid"/>
          </a:ln>
        </p:spPr>
      </p:sp>
      <p:sp>
        <p:nvSpPr>
          <p:cNvPr id="35" name="Text 31"/>
          <p:cNvSpPr txBox="1"/>
          <p:nvPr/>
        </p:nvSpPr>
        <p:spPr>
          <a:xfrm>
            <a:off x="6309360" y="23225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CORE</a:t>
            </a:r>
            <a:endParaRPr lang="en-US" sz="850" dirty="0"/>
          </a:p>
        </p:txBody>
      </p:sp>
      <p:sp>
        <p:nvSpPr>
          <p:cNvPr id="36" name="Text 32"/>
          <p:cNvSpPr txBox="1"/>
          <p:nvPr/>
        </p:nvSpPr>
        <p:spPr>
          <a:xfrm>
            <a:off x="6309360" y="26517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five sentences about when you were little with kuntu / kāna / kānat.</a:t>
            </a:r>
            <a:endParaRPr lang="en-US" sz="1200" dirty="0"/>
          </a:p>
        </p:txBody>
      </p:sp>
      <p:sp>
        <p:nvSpPr>
          <p:cNvPr id="37" name="Shape 33"/>
          <p:cNvSpPr/>
          <p:nvPr/>
        </p:nvSpPr>
        <p:spPr>
          <a:xfrm>
            <a:off x="6126480" y="3566160"/>
            <a:ext cx="5605272" cy="1243584"/>
          </a:xfrm>
          <a:prstGeom prst="roundRect">
            <a:avLst>
              <a:gd name="adj" fmla="val 5882"/>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4"/>
          <p:cNvSpPr/>
          <p:nvPr/>
        </p:nvSpPr>
        <p:spPr>
          <a:xfrm>
            <a:off x="6309360" y="3694176"/>
            <a:ext cx="1051560" cy="274320"/>
          </a:xfrm>
          <a:prstGeom prst="roundRect">
            <a:avLst>
              <a:gd name="adj" fmla="val 50000"/>
            </a:avLst>
          </a:prstGeom>
          <a:solidFill>
            <a:srgbClr val="C9780A"/>
          </a:solidFill>
          <a:ln w="12700">
            <a:solidFill>
              <a:srgbClr val="C9780A"/>
            </a:solidFill>
            <a:prstDash val="solid"/>
          </a:ln>
        </p:spPr>
      </p:sp>
      <p:sp>
        <p:nvSpPr>
          <p:cNvPr id="39" name="Text 35"/>
          <p:cNvSpPr txBox="1"/>
          <p:nvPr/>
        </p:nvSpPr>
        <p:spPr>
          <a:xfrm>
            <a:off x="6309360" y="36941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DEVELOP</a:t>
            </a:r>
            <a:endParaRPr lang="en-US" sz="850" dirty="0"/>
          </a:p>
        </p:txBody>
      </p:sp>
      <p:sp>
        <p:nvSpPr>
          <p:cNvPr id="40" name="Text 36"/>
          <p:cNvSpPr txBox="1"/>
          <p:nvPr/>
        </p:nvSpPr>
        <p:spPr>
          <a:xfrm>
            <a:off x="6309360" y="40233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Write four “used to” sentences and one with ṣāra.</a:t>
            </a:r>
            <a:endParaRPr lang="en-US" sz="1200" dirty="0"/>
          </a:p>
        </p:txBody>
      </p:sp>
      <p:sp>
        <p:nvSpPr>
          <p:cNvPr id="41" name="Shape 37"/>
          <p:cNvSpPr/>
          <p:nvPr/>
        </p:nvSpPr>
        <p:spPr>
          <a:xfrm>
            <a:off x="6126480" y="4937760"/>
            <a:ext cx="5605272" cy="1243584"/>
          </a:xfrm>
          <a:prstGeom prst="roundRect">
            <a:avLst>
              <a:gd name="adj" fmla="val 5882"/>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8"/>
          <p:cNvSpPr/>
          <p:nvPr/>
        </p:nvSpPr>
        <p:spPr>
          <a:xfrm>
            <a:off x="6309360" y="5065776"/>
            <a:ext cx="1051560" cy="274320"/>
          </a:xfrm>
          <a:prstGeom prst="roundRect">
            <a:avLst>
              <a:gd name="adj" fmla="val 50000"/>
            </a:avLst>
          </a:prstGeom>
          <a:solidFill>
            <a:srgbClr val="B83227"/>
          </a:solidFill>
          <a:ln w="12700">
            <a:solidFill>
              <a:srgbClr val="B83227"/>
            </a:solidFill>
            <a:prstDash val="solid"/>
          </a:ln>
        </p:spPr>
      </p:sp>
      <p:sp>
        <p:nvSpPr>
          <p:cNvPr id="43" name="Text 39"/>
          <p:cNvSpPr txBox="1"/>
          <p:nvPr/>
        </p:nvSpPr>
        <p:spPr>
          <a:xfrm>
            <a:off x="6309360" y="5065776"/>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ea typeface="Calibri" pitchFamily="34" charset="-122"/>
                <a:cs typeface="Calibri" pitchFamily="34" charset="-120"/>
              </a:rPr>
              <a:t>STRETCH</a:t>
            </a:r>
            <a:endParaRPr lang="en-US" sz="850" dirty="0"/>
          </a:p>
        </p:txBody>
      </p:sp>
      <p:sp>
        <p:nvSpPr>
          <p:cNvPr id="44" name="Text 40"/>
          <p:cNvSpPr txBox="1"/>
          <p:nvPr/>
        </p:nvSpPr>
        <p:spPr>
          <a:xfrm>
            <a:off x="6309360" y="5394960"/>
            <a:ext cx="5257800" cy="731520"/>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ea typeface="Calibri" pitchFamily="34" charset="-122"/>
                <a:cs typeface="Calibri" pitchFamily="34" charset="-120"/>
              </a:rPr>
              <a:t>Website then-and-now account (110–130 words).</a:t>
            </a:r>
            <a:endParaRPr lang="en-US" sz="1200" dirty="0"/>
          </a:p>
        </p:txBody>
      </p:sp>
      <p:sp>
        <p:nvSpPr>
          <p:cNvPr id="45"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ea typeface="Calibri" pitchFamily="34" charset="-122"/>
                <a:cs typeface="Calibri" pitchFamily="34" charset="-120"/>
              </a:rPr>
              <a:t>34 / 35</a:t>
            </a:r>
            <a:endParaRPr lang="en-US" sz="8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GM-NVS-03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34" charset="0"/>
                <a:ea typeface="Amiri" pitchFamily="34" charset="-122"/>
                <a:cs typeface="Amiri" pitchFamily="34" charset="-120"/>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ea typeface="Calibri" pitchFamily="34" charset="-122"/>
                <a:cs typeface="Calibri" pitchFamily="34" charset="-120"/>
              </a:rPr>
              <a:t>Well done — see you next lesson.</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ea typeface="Calibri" pitchFamily="34" charset="-122"/>
                <a:cs typeface="Calibri" pitchFamily="34" charset="-120"/>
              </a:rPr>
              <a:t>NEXT LESSON</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2800" b="1" dirty="0">
                <a:solidFill>
                  <a:srgbClr val="FFFFFF"/>
                </a:solidFill>
                <a:latin typeface="Cambria" pitchFamily="34" charset="0"/>
                <a:ea typeface="Cambria" pitchFamily="34" charset="-122"/>
                <a:cs typeface="Cambria" pitchFamily="34" charset="-120"/>
              </a:rPr>
              <a:t>GM-NVS-04 · Negation with Laysa</a:t>
            </a:r>
            <a:endParaRPr lang="en-US" sz="280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34" charset="0"/>
                <a:ea typeface="Amiri" pitchFamily="34" charset="-122"/>
                <a:cs typeface="Amiri" pitchFamily="34" charset="-120"/>
              </a:rPr>
              <a:t>نَفْيُ الْجُمْلَةِ الِاسْمِيَّةِ بِـلَيْسَ</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ea typeface="Calibri" pitchFamily="34" charset="-122"/>
                <a:cs typeface="Calibri" pitchFamily="34" charset="-120"/>
              </a:rPr>
              <a:t>Remember: kāna + noun in -u + predicate in -an (kāna l-jawwu bāridan) · place phrases do not change · kuntu, kunnā, kāna, kānat, kānū, kunna · kāna + present = used to · ṣāra / aṣbaḥa = became · ẓalla = remained · mā zāla = still.</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35</Slides>
  <Notes>35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35</vt:i4>
      </vt:variant>
    </vt:vector>
  </HeadingPairs>
  <TitlesOfParts>
    <vt:vector size="3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GM-NVS-03 · Kāna and Its Sisters</dc:title>
  <dc:subject>PptxGenJS Presentation</dc:subject>
  <dc:creator>Al Madina Online School · Arabic Department</dc:creator>
  <cp:lastModifiedBy>Al Madina Online School · Arabic Department</cp:lastModifiedBy>
  <cp:revision>1</cp:revision>
  <dcterms:created xsi:type="dcterms:W3CDTF">2026-10-04T11:05:59Z</dcterms:created>
  <dcterms:modified xsi:type="dcterms:W3CDTF">2026-10-04T11:05:59Z</dcterms:modified>
</cp:coreProperties>
</file>