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Non-Verbal Sentences › GM-NVS-03 (“كَانَ and Its Sisters”).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kāna / kānat / kuntu with description and location (kāna l-jawwu bāridan, kuntu fī l-bayt). Develop: the full kāna table (kunnā, kānū, kunna) and kāna + present for habits (kuntu aqraʾu kulla yawm). Stretch: ṣāra / aṣbaḥa (became), ẓalla (remained), mā zāla (still) with full case control.
• This is the mirror image of inna (GM-NVS-02): inna changes the NOUN to -a; kāna changes the PREDICATE to -an. Place phrases (fī l-bayt) never change.
• Colour code: teal = kāna-family verb, blue = noun (-u), orange = predicate (-an). Recycles GM-VS-02/03 agreement: kāna ṭ-ṭullābu (verb first) vs aṭ-ṭullābu kānū (subject first).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 GM-NVS-01 nominal sentences, GM-NVS-02 case change and GM-V past endings (-tu, -nā, -ū).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Kāna + noun in -u + predicate in -an. Kāna + present verb = “used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“From present state to past state” (rows 4–5 teacher-added). Compare with inna: inna changes the first word, kāna changes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“Conjugating kāna”. The long ā shortens when an ending is added: kāna → kuntu, kunnā. Female group: kunna mujtahidātin.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“kāna + present” (rows 2 and 5 teacher-added). Both verbs agree with the subject: kunnā nalʿabu, kānū yazūrūna.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 website “Core sisters for change and continuation”. Same pattern as kāna: noun -u, predicate -an. Mā ziltu = I am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Conjugation Check.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skills-workshop lines. Kuntu aqsunu = “I used to live” (kāna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models and game items. Ask for the English meaning of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models and game items. Ask for the English meaning of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Final Mastery check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skills workshop (teacher-written then-and-now). Read it aloud once while students follow; then they hunt for today’s grammar.
Task: Website paper route: make a then / now plan from the text and underline every form from the kāna family.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account for the website then-and-now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skills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describe how people, places and routines were in the past and how situations changed or continued.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110–130 Arabic words comparing a place, routine or period in your life in the past and now.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(GM-NVS-04 · Negation with Laysa) will spend class time USING this language, so students prepare it tonight — short, simple, easy to access (school guidance: “Simple, Short, Interesting, Relevant, Easy to access”). The five words prepare GM-NVS-04 (website: negation with laysa).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NON-VERBAL SENTENCES  ·  GM-NVS-03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GM-NVS-03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Kāna and Its Sisters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كَانَ وَأَخَوَاتُهَا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Kāna moves a sentence into the past: al-jawwu bāridun → kāna l-jawwu bāridan (the weather was cold). The noun keeps -u; the predicate takes -an. Kuntu aqraʾu = I used to read; ṣāra = became; mā zāla = still.</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GM-NVS-03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Non-Verbal Sentences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Present → past; conjugation; kāna + present; the sisters.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Now → then; sort by meaning;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GM-NVS-04.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Put “The weather is beautiful” in the past.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الطَّقْسَ جَمِيلٌ.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الطَّقْسُ جَمِيلًا.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الطَّقْسُ كَانَ جَمِيلٌ.</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was at home.”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فِي الْبَيْتِ.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أَنَا فِي الْبَيْتِ.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فِي الْبَيْتِ.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was tired.”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مُتْعَبَةٌ.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مُتْعَبًا.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مُتْعَبَةً.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expresses a repeated past habit?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قَرَأْتُ كُلَّ يَوْمٍ.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قَرَأَ كُلَّ يَوْمٍ.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أَقْرَأُ كُلَّ يَوْمٍ.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city became crowded”?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صَارَتِ الْمَدِينَةُ مُزْدَحِمَةً.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صَارَ الْمَدِينَةَ مُزْدَحِمَةٌ.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 الْمَدِينَةَ مُزْدَحِمَةً.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Put “The weather is beautiful” in the past.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الطَّقْسَ جَمِيلٌ.</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الطَّقْسُ جَمِيلًا.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الطَّقْسُ كَانَ جَمِيلٌ.</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Noun -u, predicate -an: jamīlan.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was at home.”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فِي الْبَيْتِ.</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أَنَا فِي الْبَيْتِ.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فِي الْبَيْتِ.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 was = kuntu.</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was tired.”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مُتْعَبَةٌ.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مُتْعَبًا.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 مُتْعَبَةً.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was = kānat + mutʿabatan.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expresses a repeated past habit?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قَرَأْتُ كُلَّ يَوْمٍ.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قَرَأَ كُلَّ يَوْمٍ.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أَقْرَأُ كُلَّ يَوْمٍ.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Kuntu + present = used to.</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city became crowded”?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صَارَتِ الْمَدِينَةُ مُزْدَحِمَةً.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صَارَ الْمَدِينَةَ مُزْدَحِمَةٌ.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 الْمَدِينَةَ مُزْدَحِمَةً.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Ṣāra = became.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Kāna + noun in -u + predicate in -an. Kāna + present verb = “used to”.</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كَانَ</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1D5FBF"/>
                </a:solidFill>
                <a:latin typeface="Amiri" pitchFamily="2" charset="-78"/>
                <a:ea typeface="Amiri" pitchFamily="2" charset="-78"/>
                <a:cs typeface="Amiri" pitchFamily="2" charset="-78"/>
              </a:rPr>
              <a:t>الْجَوُّ</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C77700"/>
                </a:solidFill>
                <a:latin typeface="Amiri" pitchFamily="2" charset="-78"/>
                <a:ea typeface="Amiri" pitchFamily="2" charset="-78"/>
                <a:cs typeface="Amiri" pitchFamily="2" charset="-78"/>
              </a:rPr>
              <a:t>بَارِدًا</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كُنْتُ</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C77700"/>
                </a:solidFill>
                <a:latin typeface="Amiri" pitchFamily="2" charset="-78"/>
                <a:ea typeface="Amiri" pitchFamily="2" charset="-78"/>
                <a:cs typeface="Amiri" pitchFamily="2" charset="-78"/>
              </a:rPr>
              <a:t>أَقْرَأُ</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Put a nominal sentence in the past with kāna.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right form of kāna.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what I used to do.</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what became and what is still.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kāna l-jawwu bāridan.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kuntu, kāna, kānat.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kunnā, kānū, kunna.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kuntu + present for habits.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ṣāra, ẓalla and mā zāla.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then-and-now account of 110–130 words.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 وَأَخَوَاتُهَا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kāna and its sisters</a:t>
            </a:r>
            <a:endParaRPr lang="en-US" sz="1350" dirty="0"/>
          </a:p>
          <a:p>
            <a:pPr indent="0" marL="0">
              <a:buNone/>
            </a:pPr>
            <a:r>
              <a:rPr lang="en-US" sz="1100" i="1" dirty="0">
                <a:solidFill>
                  <a:srgbClr val="5A6472"/>
                </a:solidFill>
                <a:latin typeface="Calibri" pitchFamily="34" charset="0"/>
                <a:cs typeface="Amiri" pitchFamily="2" charset="-78"/>
              </a:rPr>
              <a:t>kā-na wa-ʾa-kha-wā-tu-hā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كَانَ · صَارَ · مَا زَالَ</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 كَانَ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noun of kāna (-u)</a:t>
            </a:r>
            <a:endParaRPr lang="en-US" sz="1350" dirty="0"/>
          </a:p>
          <a:p>
            <a:pPr indent="0" marL="0">
              <a:buNone/>
            </a:pPr>
            <a:r>
              <a:rPr lang="en-US" sz="1100" i="1" dirty="0">
                <a:solidFill>
                  <a:srgbClr val="5A6472"/>
                </a:solidFill>
                <a:latin typeface="Calibri" pitchFamily="34" charset="0"/>
                <a:cs typeface="Amiri" pitchFamily="2" charset="-78"/>
              </a:rPr>
              <a:t>as-mu kā-na</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كَانَ الْجَوُّ</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خَبَرُ كَانَ</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predicate of kāna (-an)</a:t>
            </a:r>
            <a:endParaRPr lang="en-US" sz="1350" dirty="0"/>
          </a:p>
          <a:p>
            <a:pPr indent="0" marL="0">
              <a:buNone/>
            </a:pPr>
            <a:r>
              <a:rPr lang="en-US" sz="1100" i="1" dirty="0">
                <a:solidFill>
                  <a:srgbClr val="5A6472"/>
                </a:solidFill>
                <a:latin typeface="Calibri" pitchFamily="34" charset="0"/>
                <a:cs typeface="Amiri" pitchFamily="2" charset="-78"/>
              </a:rPr>
              <a:t>kha-ba-ru kā-na</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بَارِدًا</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الْعَادَةُ فِي الْمَاضِي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past habit (“used to”)</a:t>
            </a:r>
            <a:endParaRPr lang="en-US" sz="1350" dirty="0"/>
          </a:p>
          <a:p>
            <a:pPr indent="0" marL="0">
              <a:buNone/>
            </a:pPr>
            <a:r>
              <a:rPr lang="en-US" sz="1100" i="1" dirty="0">
                <a:solidFill>
                  <a:srgbClr val="5A6472"/>
                </a:solidFill>
                <a:latin typeface="Calibri" pitchFamily="34" charset="0"/>
                <a:cs typeface="Amiri" pitchFamily="2" charset="-78"/>
              </a:rPr>
              <a:t>al-ʿā-da-tu fī al-mā-ḍī</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كُنْتُ أَقْرَأُ</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التَّحَوُّلُ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change (“became”)</a:t>
            </a:r>
            <a:endParaRPr lang="en-US" sz="1350" dirty="0"/>
          </a:p>
          <a:p>
            <a:pPr indent="0" marL="0">
              <a:buNone/>
            </a:pPr>
            <a:r>
              <a:rPr lang="en-US" sz="1100" i="1" dirty="0">
                <a:solidFill>
                  <a:srgbClr val="5A6472"/>
                </a:solidFill>
                <a:latin typeface="Calibri" pitchFamily="34" charset="0"/>
                <a:cs typeface="Amiri" pitchFamily="2" charset="-78"/>
              </a:rPr>
              <a:t>at-ta-ḥaw-wu-lu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صَارَ · أَصْبَحَ</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الِاسْتِمْرَارُ</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continuing (“still”)</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al-ِs-tim-rā-ru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مَا زَالَ · ظَلَّ</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FROM PRESENT STATE TO PAST STATE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Kāna changes the predicate: -un becomes -an</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50" b="1" dirty="0">
                <a:solidFill>
                  <a:srgbClr val="8A6D1E"/>
                </a:solidFill>
                <a:latin typeface="Amiri" pitchFamily="2" charset="-78"/>
                <a:ea typeface="Amiri" pitchFamily="2" charset="-78"/>
                <a:cs typeface="Amiri" pitchFamily="2" charset="-78"/>
              </a:rPr>
              <a:t>كَانَ + اسْمُهَا الْمَرْفُوعُ + خَبَرُهَا الْمَنْصُوبُ</a:t>
            </a:r>
            <a:endParaRPr lang="ar-SA" sz="23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40050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with kāna</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247888" y="2267712"/>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weather was cold.</a:t>
            </a:r>
            <a:endParaRPr lang="en-US" sz="1100" dirty="0"/>
          </a:p>
        </p:txBody>
      </p:sp>
      <p:sp>
        <p:nvSpPr>
          <p:cNvPr id="21" name="Text 18"/>
          <p:cNvSpPr txBox="1"/>
          <p:nvPr/>
        </p:nvSpPr>
        <p:spPr>
          <a:xfrm>
            <a:off x="4023360"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كَانَ الْجَوُّ بَارِدًا.</a:t>
            </a:r>
            <a:endParaRPr lang="ar-SA" sz="2400" dirty="0"/>
          </a:p>
        </p:txBody>
      </p:sp>
      <p:sp>
        <p:nvSpPr>
          <p:cNvPr id="22" name="Text 19"/>
          <p:cNvSpPr txBox="1"/>
          <p:nvPr/>
        </p:nvSpPr>
        <p:spPr>
          <a:xfrm>
            <a:off x="548640" y="2267712"/>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الْجَوُّ بَارِدٌ.</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247888" y="300471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Aḥmad was a student.</a:t>
            </a:r>
            <a:endParaRPr lang="en-US" sz="1100" dirty="0"/>
          </a:p>
        </p:txBody>
      </p:sp>
      <p:sp>
        <p:nvSpPr>
          <p:cNvPr id="27" name="Text 24"/>
          <p:cNvSpPr txBox="1"/>
          <p:nvPr/>
        </p:nvSpPr>
        <p:spPr>
          <a:xfrm>
            <a:off x="4023360"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كَانَ أَحْمَدُ طَالِبًا.</a:t>
            </a:r>
            <a:endParaRPr lang="ar-SA" sz="2400" dirty="0"/>
          </a:p>
        </p:txBody>
      </p:sp>
      <p:sp>
        <p:nvSpPr>
          <p:cNvPr id="28" name="Text 25"/>
          <p:cNvSpPr txBox="1"/>
          <p:nvPr/>
        </p:nvSpPr>
        <p:spPr>
          <a:xfrm>
            <a:off x="548640" y="3004718"/>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أَحْمَدُ طَالِبٌ.</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247888" y="3741725"/>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Maryam was at home.</a:t>
            </a:r>
            <a:endParaRPr lang="en-US" sz="1100" dirty="0"/>
          </a:p>
        </p:txBody>
      </p:sp>
      <p:sp>
        <p:nvSpPr>
          <p:cNvPr id="33" name="Text 30"/>
          <p:cNvSpPr txBox="1"/>
          <p:nvPr/>
        </p:nvSpPr>
        <p:spPr>
          <a:xfrm>
            <a:off x="4023360"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كَانَتْ مَرْيَمُ فِي الْبَيْتِ.</a:t>
            </a:r>
            <a:endParaRPr lang="ar-SA" sz="2400" dirty="0"/>
          </a:p>
        </p:txBody>
      </p:sp>
      <p:sp>
        <p:nvSpPr>
          <p:cNvPr id="34" name="Text 31"/>
          <p:cNvSpPr txBox="1"/>
          <p:nvPr/>
        </p:nvSpPr>
        <p:spPr>
          <a:xfrm>
            <a:off x="548640" y="3741725"/>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مَرْيَمُ فِي الْبَيْتِ.</a:t>
            </a:r>
            <a:endParaRPr lang="ar-SA" sz="24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247888" y="4478731"/>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room was clean.</a:t>
            </a:r>
            <a:endParaRPr lang="en-US" sz="1100" dirty="0"/>
          </a:p>
        </p:txBody>
      </p:sp>
      <p:sp>
        <p:nvSpPr>
          <p:cNvPr id="39" name="Text 36"/>
          <p:cNvSpPr txBox="1"/>
          <p:nvPr/>
        </p:nvSpPr>
        <p:spPr>
          <a:xfrm>
            <a:off x="4023360"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كَانَتِ الْغُرْفَةُ نَظِيفَةً.</a:t>
            </a:r>
            <a:endParaRPr lang="ar-SA" sz="2400" dirty="0"/>
          </a:p>
        </p:txBody>
      </p:sp>
      <p:sp>
        <p:nvSpPr>
          <p:cNvPr id="40" name="Text 37"/>
          <p:cNvSpPr txBox="1"/>
          <p:nvPr/>
        </p:nvSpPr>
        <p:spPr>
          <a:xfrm>
            <a:off x="548640" y="4478731"/>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الْغُرْفَةُ نَظِيفَةٌ.</a:t>
            </a:r>
            <a:endParaRPr lang="ar-SA" sz="24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8247888" y="521573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students were ready.</a:t>
            </a:r>
            <a:endParaRPr lang="en-US" sz="1100" dirty="0"/>
          </a:p>
        </p:txBody>
      </p:sp>
      <p:sp>
        <p:nvSpPr>
          <p:cNvPr id="43" name="Text 40"/>
          <p:cNvSpPr txBox="1"/>
          <p:nvPr/>
        </p:nvSpPr>
        <p:spPr>
          <a:xfrm>
            <a:off x="4023360"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كَانَ الطُّلَّابُ مُسْتَعِدِّينَ.</a:t>
            </a:r>
            <a:endParaRPr lang="ar-SA" sz="2400" dirty="0"/>
          </a:p>
        </p:txBody>
      </p:sp>
      <p:sp>
        <p:nvSpPr>
          <p:cNvPr id="44" name="Text 41"/>
          <p:cNvSpPr txBox="1"/>
          <p:nvPr/>
        </p:nvSpPr>
        <p:spPr>
          <a:xfrm>
            <a:off x="548640" y="5215738"/>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الطُّلَّابُ مُسْتَعِدُّونَ.</a:t>
            </a:r>
            <a:endParaRPr lang="ar-SA" sz="24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case-aware pattern: the noun stays -u; a one-word predicate becomes -an (or -īna for -ūna plurals). A place phrase keeps its own case: kānat Maryamu fī l-bayti — no change.</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CONJUGATING KĀNA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Kāna changes with the person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تَصْرِيفُ كَانَ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7" name="Text 14"/>
          <p:cNvSpPr txBox="1"/>
          <p:nvPr/>
        </p:nvSpPr>
        <p:spPr>
          <a:xfrm>
            <a:off x="30906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035040" y="2267712"/>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كُنْتُ مُتْعَبَةً.</a:t>
            </a:r>
            <a:endParaRPr lang="ar-SA" sz="2400" dirty="0"/>
          </a:p>
        </p:txBody>
      </p:sp>
      <p:sp>
        <p:nvSpPr>
          <p:cNvPr id="21" name="Text 18"/>
          <p:cNvSpPr txBox="1"/>
          <p:nvPr/>
        </p:nvSpPr>
        <p:spPr>
          <a:xfrm>
            <a:off x="3108960" y="2267712"/>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كُنْتُ</a:t>
            </a:r>
            <a:endParaRPr lang="ar-SA" sz="2600" dirty="0"/>
          </a:p>
        </p:txBody>
      </p:sp>
      <p:sp>
        <p:nvSpPr>
          <p:cNvPr id="22" name="Text 19"/>
          <p:cNvSpPr txBox="1"/>
          <p:nvPr/>
        </p:nvSpPr>
        <p:spPr>
          <a:xfrm>
            <a:off x="566928" y="2267712"/>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035040" y="2881884"/>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كُنْتِ فِي الْمَدْرَسَةِ.</a:t>
            </a:r>
            <a:endParaRPr lang="ar-SA" sz="2400" dirty="0"/>
          </a:p>
        </p:txBody>
      </p:sp>
      <p:sp>
        <p:nvSpPr>
          <p:cNvPr id="27" name="Text 24"/>
          <p:cNvSpPr txBox="1"/>
          <p:nvPr/>
        </p:nvSpPr>
        <p:spPr>
          <a:xfrm>
            <a:off x="3108960" y="2881884"/>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كُنْتَ · كُنْتِ</a:t>
            </a:r>
            <a:endParaRPr lang="ar-SA" sz="2600" dirty="0"/>
          </a:p>
        </p:txBody>
      </p:sp>
      <p:sp>
        <p:nvSpPr>
          <p:cNvPr id="28" name="Text 25"/>
          <p:cNvSpPr txBox="1"/>
          <p:nvPr/>
        </p:nvSpPr>
        <p:spPr>
          <a:xfrm>
            <a:off x="566928" y="2881884"/>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 · f.)</a:t>
            </a:r>
            <a:endParaRPr lang="en-US" sz="1100" dirty="0"/>
          </a:p>
        </p:txBody>
      </p:sp>
      <p:sp>
        <p:nvSpPr>
          <p:cNvPr id="29" name="Shape 26"/>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0" name="Text 27"/>
          <p:cNvSpPr txBox="1"/>
          <p:nvPr/>
        </p:nvSpPr>
        <p:spPr>
          <a:xfrm>
            <a:off x="6035040" y="3496056"/>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كَانَ مُسْتَعِدًّا.</a:t>
            </a:r>
            <a:endParaRPr lang="ar-SA" sz="2400" dirty="0"/>
          </a:p>
        </p:txBody>
      </p:sp>
      <p:sp>
        <p:nvSpPr>
          <p:cNvPr id="31" name="Text 28"/>
          <p:cNvSpPr txBox="1"/>
          <p:nvPr/>
        </p:nvSpPr>
        <p:spPr>
          <a:xfrm>
            <a:off x="3108960" y="3496056"/>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كَانَ</a:t>
            </a:r>
            <a:endParaRPr lang="ar-SA" sz="2600" dirty="0"/>
          </a:p>
        </p:txBody>
      </p:sp>
      <p:sp>
        <p:nvSpPr>
          <p:cNvPr id="32" name="Text 29"/>
          <p:cNvSpPr txBox="1"/>
          <p:nvPr/>
        </p:nvSpPr>
        <p:spPr>
          <a:xfrm>
            <a:off x="566928" y="3496056"/>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 it (m.)</a:t>
            </a:r>
            <a:endParaRPr lang="en-US" sz="1100" dirty="0"/>
          </a:p>
        </p:txBody>
      </p:sp>
      <p:sp>
        <p:nvSpPr>
          <p:cNvPr id="33" name="Shape 3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6035040" y="4110228"/>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كَانَتْ مُسْتَعِدَّةً.</a:t>
            </a:r>
            <a:endParaRPr lang="ar-SA" sz="2400" dirty="0"/>
          </a:p>
        </p:txBody>
      </p:sp>
      <p:sp>
        <p:nvSpPr>
          <p:cNvPr id="37" name="Text 34"/>
          <p:cNvSpPr txBox="1"/>
          <p:nvPr/>
        </p:nvSpPr>
        <p:spPr>
          <a:xfrm>
            <a:off x="3108960" y="4110228"/>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كَانَتْ</a:t>
            </a:r>
            <a:endParaRPr lang="ar-SA" sz="2600" dirty="0"/>
          </a:p>
        </p:txBody>
      </p:sp>
      <p:sp>
        <p:nvSpPr>
          <p:cNvPr id="38" name="Text 35"/>
          <p:cNvSpPr txBox="1"/>
          <p:nvPr/>
        </p:nvSpPr>
        <p:spPr>
          <a:xfrm>
            <a:off x="566928" y="4110228"/>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 it (f.)</a:t>
            </a:r>
            <a:endParaRPr lang="en-US" sz="1100" dirty="0"/>
          </a:p>
        </p:txBody>
      </p:sp>
      <p:sp>
        <p:nvSpPr>
          <p:cNvPr id="39" name="Shape 36"/>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6035040" y="4724400"/>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كُنَّا فِي الْمَكْتَبَةِ.</a:t>
            </a:r>
            <a:endParaRPr lang="ar-SA" sz="2400" dirty="0"/>
          </a:p>
        </p:txBody>
      </p:sp>
      <p:sp>
        <p:nvSpPr>
          <p:cNvPr id="43" name="Text 40"/>
          <p:cNvSpPr txBox="1"/>
          <p:nvPr/>
        </p:nvSpPr>
        <p:spPr>
          <a:xfrm>
            <a:off x="3108960" y="4724400"/>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كُنَّا</a:t>
            </a:r>
            <a:endParaRPr lang="ar-SA" sz="2600" dirty="0"/>
          </a:p>
        </p:txBody>
      </p:sp>
      <p:sp>
        <p:nvSpPr>
          <p:cNvPr id="44" name="Text 41"/>
          <p:cNvSpPr txBox="1"/>
          <p:nvPr/>
        </p:nvSpPr>
        <p:spPr>
          <a:xfrm>
            <a:off x="566928" y="4724400"/>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6035040" y="5338572"/>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كَانُوا مُجْتَهِدِينَ.</a:t>
            </a:r>
            <a:endParaRPr lang="ar-SA" sz="2400" dirty="0"/>
          </a:p>
        </p:txBody>
      </p:sp>
      <p:sp>
        <p:nvSpPr>
          <p:cNvPr id="47" name="Text 44"/>
          <p:cNvSpPr txBox="1"/>
          <p:nvPr/>
        </p:nvSpPr>
        <p:spPr>
          <a:xfrm>
            <a:off x="3108960" y="5338572"/>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كَانُوا · كُنَّ</a:t>
            </a:r>
            <a:endParaRPr lang="ar-SA" sz="2600" dirty="0"/>
          </a:p>
        </p:txBody>
      </p:sp>
      <p:sp>
        <p:nvSpPr>
          <p:cNvPr id="48" name="Text 45"/>
          <p:cNvSpPr txBox="1"/>
          <p:nvPr/>
        </p:nvSpPr>
        <p:spPr>
          <a:xfrm>
            <a:off x="566928" y="5338572"/>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(m. · f.)</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word-order link: kāna ṭ-ṭullābu mustaʿiddīna (verb first → singular) and aṭ-ṭullābu kānū mustaʿiddīna (subject first → full agreement) — exactly like GM-VS-02/03.</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cs typeface="Amiri" pitchFamily="2" charset="-78"/>
              </a:rPr>
              <a:t>GRAMMAR · PART 3 · KĀNA + PRESENT = “USED TO” / “WAS …ING” (WEBSITE TABLE) · DEVELOP</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Past habits and background actions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كَانَ + الْمُضَارِعُ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290779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430768" y="2267712"/>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used to read every day.</a:t>
            </a:r>
            <a:endParaRPr lang="en-US" sz="1100" dirty="0"/>
          </a:p>
        </p:txBody>
      </p:sp>
      <p:sp>
        <p:nvSpPr>
          <p:cNvPr id="21" name="Text 18"/>
          <p:cNvSpPr txBox="1"/>
          <p:nvPr/>
        </p:nvSpPr>
        <p:spPr>
          <a:xfrm>
            <a:off x="2926080" y="2267712"/>
            <a:ext cx="53035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كُنْتُ أَقْرَأُ كُلَّ يَوْمٍ.</a:t>
            </a:r>
            <a:endParaRPr lang="ar-SA" sz="22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habit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30768" y="300471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used to play after school.</a:t>
            </a:r>
            <a:endParaRPr lang="en-US" sz="1100" dirty="0"/>
          </a:p>
        </p:txBody>
      </p:sp>
      <p:sp>
        <p:nvSpPr>
          <p:cNvPr id="27" name="Text 24"/>
          <p:cNvSpPr txBox="1"/>
          <p:nvPr/>
        </p:nvSpPr>
        <p:spPr>
          <a:xfrm>
            <a:off x="2926080" y="3004718"/>
            <a:ext cx="53035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كُنَّا نَلْعَبُ بَعْدَ الْمَدْرَسَةِ.</a:t>
            </a:r>
            <a:endParaRPr lang="ar-SA" sz="22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habit (we)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430768" y="3741725"/>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was studying when I called.</a:t>
            </a:r>
            <a:endParaRPr lang="en-US" sz="1100" dirty="0"/>
          </a:p>
        </p:txBody>
      </p:sp>
      <p:sp>
        <p:nvSpPr>
          <p:cNvPr id="33" name="Text 30"/>
          <p:cNvSpPr txBox="1"/>
          <p:nvPr/>
        </p:nvSpPr>
        <p:spPr>
          <a:xfrm>
            <a:off x="2926080" y="3741725"/>
            <a:ext cx="53035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كَانَتْ تَدْرُسُ عِنْدَمَا اتَّصَلْتُ.</a:t>
            </a:r>
            <a:endParaRPr lang="ar-SA" sz="2200" dirty="0"/>
          </a:p>
        </p:txBody>
      </p:sp>
      <p:sp>
        <p:nvSpPr>
          <p:cNvPr id="34" name="Text 31"/>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ongoing</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430768" y="4478731"/>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weather was beautiful and the children were playing.</a:t>
            </a:r>
            <a:endParaRPr lang="en-US" sz="1100" dirty="0"/>
          </a:p>
        </p:txBody>
      </p:sp>
      <p:sp>
        <p:nvSpPr>
          <p:cNvPr id="37" name="Text 34"/>
          <p:cNvSpPr txBox="1"/>
          <p:nvPr/>
        </p:nvSpPr>
        <p:spPr>
          <a:xfrm>
            <a:off x="2926080" y="4478731"/>
            <a:ext cx="53035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 الْجَوُّ جَمِيلًا، وَكَانَ الْأَطْفَالُ يَلْعَبُونَ.</a:t>
            </a:r>
            <a:endParaRPr lang="ar-SA" sz="2200" dirty="0"/>
          </a:p>
        </p:txBody>
      </p:sp>
      <p:sp>
        <p:nvSpPr>
          <p:cNvPr id="38" name="Text 35"/>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background scene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430768" y="521573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used to visit their grandmother every Friday.</a:t>
            </a:r>
            <a:endParaRPr lang="en-US" sz="1100" dirty="0"/>
          </a:p>
        </p:txBody>
      </p:sp>
      <p:sp>
        <p:nvSpPr>
          <p:cNvPr id="41" name="Text 38"/>
          <p:cNvSpPr txBox="1"/>
          <p:nvPr/>
        </p:nvSpPr>
        <p:spPr>
          <a:xfrm>
            <a:off x="2926080" y="5215738"/>
            <a:ext cx="53035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كَانُوا يَزُورُونَ جَدَّتَهُمْ كُلَّ جُمُعَةٍ.</a:t>
            </a:r>
            <a:endParaRPr lang="ar-SA" sz="2200" dirty="0"/>
          </a:p>
        </p:txBody>
      </p:sp>
      <p:sp>
        <p:nvSpPr>
          <p:cNvPr id="42" name="Text 39"/>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habit</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do not double the past. Kuntu darastu kulla yawm does not mean “I used to study”. Use kuntu adrusu — kāna + present.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 PART 4 · SISTERS FOR CHANGE AND CONTINUATION (WEBSITE TABLE) · STRETCH</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Became, remained, still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أَخَوَاتُ كَانَ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7" name="Text 14"/>
          <p:cNvSpPr txBox="1"/>
          <p:nvPr/>
        </p:nvSpPr>
        <p:spPr>
          <a:xfrm>
            <a:off x="272491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6035040" y="2267712"/>
            <a:ext cx="56052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أَصْبَحَ الْجَوُّ دَافِئًا.</a:t>
            </a:r>
            <a:endParaRPr lang="ar-SA" sz="2400" dirty="0"/>
          </a:p>
        </p:txBody>
      </p:sp>
      <p:sp>
        <p:nvSpPr>
          <p:cNvPr id="21" name="Text 18"/>
          <p:cNvSpPr txBox="1"/>
          <p:nvPr/>
        </p:nvSpPr>
        <p:spPr>
          <a:xfrm>
            <a:off x="276148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became (often: by morning)</a:t>
            </a:r>
            <a:endParaRPr lang="en-US" sz="1100" dirty="0"/>
          </a:p>
        </p:txBody>
      </p:sp>
      <p:sp>
        <p:nvSpPr>
          <p:cNvPr id="22" name="Text 19"/>
          <p:cNvSpPr txBox="1"/>
          <p:nvPr/>
        </p:nvSpPr>
        <p:spPr>
          <a:xfrm>
            <a:off x="548640" y="2267712"/>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أَصْبَحَ</a:t>
            </a:r>
            <a:endParaRPr lang="ar-SA" sz="26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035040" y="3054096"/>
            <a:ext cx="56052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صَارَ الطَّرِيقُ مُزْدَحِمًا.</a:t>
            </a:r>
            <a:endParaRPr lang="ar-SA" sz="2400" dirty="0"/>
          </a:p>
        </p:txBody>
      </p:sp>
      <p:sp>
        <p:nvSpPr>
          <p:cNvPr id="25" name="Text 22"/>
          <p:cNvSpPr txBox="1"/>
          <p:nvPr/>
        </p:nvSpPr>
        <p:spPr>
          <a:xfrm>
            <a:off x="276148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became / turned into</a:t>
            </a:r>
            <a:endParaRPr lang="en-US" sz="1100" dirty="0"/>
          </a:p>
        </p:txBody>
      </p:sp>
      <p:sp>
        <p:nvSpPr>
          <p:cNvPr id="26" name="Text 23"/>
          <p:cNvSpPr txBox="1"/>
          <p:nvPr/>
        </p:nvSpPr>
        <p:spPr>
          <a:xfrm>
            <a:off x="548640" y="3054096"/>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صَارَ</a:t>
            </a:r>
            <a:endParaRPr lang="ar-SA" sz="2600" dirty="0"/>
          </a:p>
        </p:txBody>
      </p:sp>
      <p:sp>
        <p:nvSpPr>
          <p:cNvPr id="27" name="Shape 24"/>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6035040" y="3840480"/>
            <a:ext cx="56052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ظَلَّ الْبَابُ مَفْتُوحًا.</a:t>
            </a:r>
            <a:endParaRPr lang="ar-SA" sz="2400" dirty="0"/>
          </a:p>
        </p:txBody>
      </p:sp>
      <p:sp>
        <p:nvSpPr>
          <p:cNvPr id="31" name="Text 28"/>
          <p:cNvSpPr txBox="1"/>
          <p:nvPr/>
        </p:nvSpPr>
        <p:spPr>
          <a:xfrm>
            <a:off x="276148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remained / kept on</a:t>
            </a:r>
            <a:endParaRPr lang="en-US" sz="1100" dirty="0"/>
          </a:p>
        </p:txBody>
      </p:sp>
      <p:sp>
        <p:nvSpPr>
          <p:cNvPr id="32" name="Text 29"/>
          <p:cNvSpPr txBox="1"/>
          <p:nvPr/>
        </p:nvSpPr>
        <p:spPr>
          <a:xfrm>
            <a:off x="548640" y="3840480"/>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ظَلَّ</a:t>
            </a:r>
            <a:endParaRPr lang="ar-SA" sz="260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6035040" y="4626864"/>
            <a:ext cx="56052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مَا زَالَتِ الْمَدْرَسَةُ مَفْتُوحَةً.</a:t>
            </a:r>
            <a:endParaRPr lang="ar-SA" sz="2400" dirty="0"/>
          </a:p>
        </p:txBody>
      </p:sp>
      <p:sp>
        <p:nvSpPr>
          <p:cNvPr id="35" name="Text 32"/>
          <p:cNvSpPr txBox="1"/>
          <p:nvPr/>
        </p:nvSpPr>
        <p:spPr>
          <a:xfrm>
            <a:off x="276148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still</a:t>
            </a:r>
            <a:endParaRPr lang="en-US" sz="1100" dirty="0"/>
          </a:p>
        </p:txBody>
      </p:sp>
      <p:sp>
        <p:nvSpPr>
          <p:cNvPr id="36" name="Text 33"/>
          <p:cNvSpPr txBox="1"/>
          <p:nvPr/>
        </p:nvSpPr>
        <p:spPr>
          <a:xfrm>
            <a:off x="548640" y="4626864"/>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مَا زَالَ</a:t>
            </a:r>
            <a:endParaRPr lang="ar-SA" sz="2600" dirty="0"/>
          </a:p>
        </p:txBody>
      </p:sp>
      <p:sp>
        <p:nvSpPr>
          <p:cNvPr id="37" name="Shape 34"/>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choose the sister for its meaning — past state, change or continuation — not to look advanced. Mā zāla needs its mā: zālat alone means the opposite (“ceased”).</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were ready.”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كَانُوا مُسْتَعِدُونَ.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كُنَّا مُسْتَعِدُونَ.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كُنَّا مُسْتَعِدِّينَ.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teachers (f.) were in the hall.”</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الْمُعَلِّمَاتُ فِي الْقَاعَةِ.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كَانُوا الْمُعَلِّمَاتُ فِي الْقَاعَةِ.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الْمُعَلِّمَاتَ فِي الْقَاعَةُ.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subject-first form.</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الْمُعَلِّمَاتُ كَانَتْ فِي الْقَاعَةِ.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الْمُعَلِّمَاتُ كُنَّ فِي الْقَاعَةِ.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الْمُعَلِّمَاتُ كَانُوا فِي الْقَاعَةِ.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continued to be calm.”</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ظَلَّ هَادِئًا.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ظَلَّ هَادِئٌ.</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إِنَّهُ ظَلَّ هَادِئٌ.</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were ready.”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كَانُوا مُسْتَعِدُونَ.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كُنَّا مُسْتَعِدُونَ.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كُنَّا مُسْتَعِدِّينَ.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Kunnā + mustaʿiddīna (-īna).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teachers (f.) were in the hall.”</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 الْمُعَلِّمَاتُ فِي الْقَاعَةِ.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كَانُوا الْمُعَلِّمَاتُ فِي الْقَاعَةِ.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 الْمُعَلِّمَاتَ فِي الْقَاعَةُ.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 first → kānat; place phrase unchanged.</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subject-first form.</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الْمُعَلِّمَاتُ كَانَتْ فِي الْقَاعَةِ.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الْمُعَلِّمَاتُ كُنَّ فِي الْقَاعَةِ.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الْمُعَلِّمَاتُ كَانُوا فِي الْقَاعَةِ.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Female group first → kunna.</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continued to be calm.”</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ظَلَّ هَادِئًا.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ظَلَّ هَادِئٌ.</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إِنَّهُ ظَلَّ هَادِئٌ.</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Ẓalla + hādiʾan.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then and now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Now</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الطَّرِيقُ هَادِئٌ</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Present: -un.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كَانَ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frame.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Predicate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هَادِئًا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-un becomes -an.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Still</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مَا زَالَ جَمِيلًا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It continues.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KĀNA FAMILY</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NOUN -u</a:t>
            </a:r>
            <a:endParaRPr lang="en-US" sz="800" dirty="0"/>
          </a:p>
        </p:txBody>
      </p:sp>
      <p:sp>
        <p:nvSpPr>
          <p:cNvPr id="49" name="Shape 45"/>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PRED. -an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عِنْدَمَا </a:t>
            </a:r>
            <a:pPr rtl="1" algn="r" indent="0" marL="0">
              <a:buNone/>
            </a:pPr>
            <a:r>
              <a:rPr lang="ar-SA" altLang="en-US" sz="1950" b="1" dirty="0">
                <a:solidFill>
                  <a:srgbClr val="0E7C86"/>
                </a:solidFill>
                <a:latin typeface="Amiri" pitchFamily="2" charset="-78"/>
                <a:ea typeface="Amiri" pitchFamily="2" charset="-78"/>
                <a:cs typeface="Amiri" pitchFamily="2" charset="-78"/>
              </a:rPr>
              <a:t>كُنْتُ</a:t>
            </a:r>
            <a:pPr rtl="1" algn="r" indent="0" marL="0">
              <a:buNone/>
            </a:pPr>
            <a:r>
              <a:rPr lang="ar-SA" altLang="en-US" sz="1950" b="1" dirty="0">
                <a:solidFill>
                  <a:srgbClr val="1B3B6F"/>
                </a:solidFill>
                <a:latin typeface="Amiri" pitchFamily="2" charset="-78"/>
                <a:cs typeface="Amiri" pitchFamily="2" charset="-78"/>
              </a:rPr>
              <a:t> </a:t>
            </a:r>
            <a:pPr rtl="1" algn="r" indent="0" marL="0">
              <a:buNone/>
            </a:pPr>
            <a:r>
              <a:rPr lang="ar-SA" altLang="en-US" sz="1950" b="1" dirty="0">
                <a:solidFill>
                  <a:srgbClr val="C77700"/>
                </a:solidFill>
                <a:latin typeface="Amiri" pitchFamily="2" charset="-78"/>
                <a:ea typeface="Amiri" pitchFamily="2" charset="-78"/>
                <a:cs typeface="Amiri" pitchFamily="2" charset="-78"/>
              </a:rPr>
              <a:t>صَغِيرَةً</a:t>
            </a:r>
            <a:pPr rtl="1" algn="r" indent="0" marL="0">
              <a:buNone/>
            </a:pPr>
            <a:r>
              <a:rPr lang="ar-SA" altLang="en-US" sz="1950" b="1" dirty="0">
                <a:solidFill>
                  <a:srgbClr val="1B3B6F"/>
                </a:solidFill>
                <a:latin typeface="Amiri" pitchFamily="2" charset="-78"/>
                <a:ea typeface="Amiri" pitchFamily="2" charset="-78"/>
                <a:cs typeface="Amiri" pitchFamily="2" charset="-78"/>
              </a:rPr>
              <a:t>، </a:t>
            </a:r>
            <a:pPr rtl="1" algn="r" indent="0" marL="0">
              <a:buNone/>
            </a:pPr>
            <a:r>
              <a:rPr lang="ar-SA" altLang="en-US" sz="1950" b="1" dirty="0">
                <a:solidFill>
                  <a:srgbClr val="0E7C86"/>
                </a:solidFill>
                <a:latin typeface="Amiri" pitchFamily="2" charset="-78"/>
                <a:ea typeface="Amiri" pitchFamily="2" charset="-78"/>
                <a:cs typeface="Amiri" pitchFamily="2" charset="-78"/>
              </a:rPr>
              <a:t>كُنْتُ</a:t>
            </a:r>
            <a:pPr rtl="1" algn="r" indent="0" marL="0">
              <a:buNone/>
            </a:pPr>
            <a:r>
              <a:rPr lang="ar-SA" altLang="en-US" sz="1950" b="1" dirty="0">
                <a:solidFill>
                  <a:srgbClr val="1B3B6F"/>
                </a:solidFill>
                <a:latin typeface="Amiri" pitchFamily="2" charset="-78"/>
                <a:cs typeface="Amiri" pitchFamily="2" charset="-78"/>
              </a:rPr>
              <a:t> </a:t>
            </a:r>
            <a:pPr rtl="1" algn="r" indent="0" marL="0">
              <a:buNone/>
            </a:pPr>
            <a:r>
              <a:rPr lang="ar-SA" altLang="en-US" sz="1950" b="1" dirty="0">
                <a:solidFill>
                  <a:srgbClr val="C77700"/>
                </a:solidFill>
                <a:latin typeface="Amiri" pitchFamily="2" charset="-78"/>
                <a:ea typeface="Amiri" pitchFamily="2" charset="-78"/>
                <a:cs typeface="Amiri" pitchFamily="2" charset="-78"/>
              </a:rPr>
              <a:t>أَسْكُنُ</a:t>
            </a:r>
            <a:pPr rtl="1" algn="r" indent="0" marL="0">
              <a:buNone/>
            </a:pPr>
            <a:r>
              <a:rPr lang="ar-SA" altLang="en-US" sz="1950" b="1" dirty="0">
                <a:solidFill>
                  <a:srgbClr val="1B3B6F"/>
                </a:solidFill>
                <a:latin typeface="Amiri" pitchFamily="2" charset="-78"/>
                <a:ea typeface="Amiri" pitchFamily="2" charset="-78"/>
                <a:cs typeface="Amiri" pitchFamily="2" charset="-78"/>
              </a:rPr>
              <a:t> قُرْبَ الْمَدْرَسَةِ. </a:t>
            </a:r>
            <a:pPr rtl="1" algn="r" indent="0" marL="0">
              <a:buNone/>
            </a:pPr>
            <a:r>
              <a:rPr lang="ar-SA" altLang="en-US" sz="1950" b="1" dirty="0">
                <a:solidFill>
                  <a:srgbClr val="0E7C86"/>
                </a:solidFill>
                <a:latin typeface="Amiri" pitchFamily="2" charset="-78"/>
                <a:ea typeface="Amiri" pitchFamily="2" charset="-78"/>
                <a:cs typeface="Amiri" pitchFamily="2" charset="-78"/>
              </a:rPr>
              <a:t>كَانَ</a:t>
            </a:r>
            <a:pPr rtl="1" algn="r" indent="0" marL="0">
              <a:buNone/>
            </a:pPr>
            <a:r>
              <a:rPr lang="ar-SA" altLang="en-US" sz="1950" b="1" dirty="0">
                <a:solidFill>
                  <a:srgbClr val="1B3B6F"/>
                </a:solidFill>
                <a:latin typeface="Amiri" pitchFamily="2" charset="-78"/>
                <a:cs typeface="Amiri" pitchFamily="2" charset="-78"/>
              </a:rPr>
              <a:t> </a:t>
            </a:r>
            <a:pPr rtl="1" algn="r" indent="0" marL="0">
              <a:buNone/>
            </a:pPr>
            <a:r>
              <a:rPr lang="ar-SA" altLang="en-US" sz="1950" b="1" dirty="0">
                <a:solidFill>
                  <a:srgbClr val="1D5FBF"/>
                </a:solidFill>
                <a:latin typeface="Amiri" pitchFamily="2" charset="-78"/>
                <a:ea typeface="Amiri" pitchFamily="2" charset="-78"/>
                <a:cs typeface="Amiri" pitchFamily="2" charset="-78"/>
              </a:rPr>
              <a:t>الطَّرِيقُ</a:t>
            </a:r>
            <a:pPr rtl="1" algn="r" indent="0" marL="0">
              <a:buNone/>
            </a:pPr>
            <a:r>
              <a:rPr lang="ar-SA" altLang="en-US" sz="1950" b="1" dirty="0">
                <a:solidFill>
                  <a:srgbClr val="1B3B6F"/>
                </a:solidFill>
                <a:latin typeface="Amiri" pitchFamily="2" charset="-78"/>
                <a:cs typeface="Amiri" pitchFamily="2" charset="-78"/>
              </a:rPr>
              <a:t> </a:t>
            </a:r>
            <a:pPr rtl="1" algn="r" indent="0" marL="0">
              <a:buNone/>
            </a:pPr>
            <a:r>
              <a:rPr lang="ar-SA" altLang="en-US" sz="1950" b="1" dirty="0">
                <a:solidFill>
                  <a:srgbClr val="C77700"/>
                </a:solidFill>
                <a:latin typeface="Amiri" pitchFamily="2" charset="-78"/>
                <a:ea typeface="Amiri" pitchFamily="2" charset="-78"/>
                <a:cs typeface="Amiri" pitchFamily="2" charset="-78"/>
              </a:rPr>
              <a:t>هَادِئًا</a:t>
            </a:r>
            <a:pPr rtl="1" algn="r" indent="0" marL="0">
              <a:buNone/>
            </a:pPr>
            <a:r>
              <a:rPr lang="ar-SA" altLang="en-US" sz="1950" b="1" dirty="0">
                <a:solidFill>
                  <a:srgbClr val="1B3B6F"/>
                </a:solidFill>
                <a:latin typeface="Amiri" pitchFamily="2" charset="-78"/>
                <a:ea typeface="Amiri" pitchFamily="2" charset="-78"/>
                <a:cs typeface="Amiri" pitchFamily="2" charset="-78"/>
              </a:rPr>
              <a:t>. بَعْدَ بِنَاءِ الْمَحَطَّةِ، </a:t>
            </a:r>
            <a:pPr rtl="1" algn="r" indent="0" marL="0">
              <a:buNone/>
            </a:pPr>
            <a:r>
              <a:rPr lang="ar-SA" altLang="en-US" sz="1950" b="1" dirty="0">
                <a:solidFill>
                  <a:srgbClr val="0E7C86"/>
                </a:solidFill>
                <a:latin typeface="Amiri" pitchFamily="2" charset="-78"/>
                <a:ea typeface="Amiri" pitchFamily="2" charset="-78"/>
                <a:cs typeface="Amiri" pitchFamily="2" charset="-78"/>
              </a:rPr>
              <a:t>صَارَ</a:t>
            </a:r>
            <a:pPr rtl="1" algn="r" indent="0" marL="0">
              <a:buNone/>
            </a:pPr>
            <a:r>
              <a:rPr lang="ar-SA" altLang="en-US" sz="1950" b="1" dirty="0">
                <a:solidFill>
                  <a:srgbClr val="1B3B6F"/>
                </a:solidFill>
                <a:latin typeface="Amiri" pitchFamily="2" charset="-78"/>
                <a:cs typeface="Amiri" pitchFamily="2" charset="-78"/>
              </a:rPr>
              <a:t> </a:t>
            </a:r>
            <a:pPr rtl="1" algn="r" indent="0" marL="0">
              <a:buNone/>
            </a:pPr>
            <a:r>
              <a:rPr lang="ar-SA" altLang="en-US" sz="1950" b="1" dirty="0">
                <a:solidFill>
                  <a:srgbClr val="1D5FBF"/>
                </a:solidFill>
                <a:latin typeface="Amiri" pitchFamily="2" charset="-78"/>
                <a:ea typeface="Amiri" pitchFamily="2" charset="-78"/>
                <a:cs typeface="Amiri" pitchFamily="2" charset="-78"/>
              </a:rPr>
              <a:t>الْحَيُّ</a:t>
            </a:r>
            <a:pPr rtl="1" algn="r" indent="0" marL="0">
              <a:buNone/>
            </a:pPr>
            <a:r>
              <a:rPr lang="ar-SA" altLang="en-US" sz="1950" b="1" dirty="0">
                <a:solidFill>
                  <a:srgbClr val="1B3B6F"/>
                </a:solidFill>
                <a:latin typeface="Amiri" pitchFamily="2" charset="-78"/>
                <a:cs typeface="Amiri" pitchFamily="2" charset="-78"/>
              </a:rPr>
              <a:t> </a:t>
            </a:r>
            <a:pPr rtl="1" algn="r" indent="0" marL="0">
              <a:buNone/>
            </a:pPr>
            <a:r>
              <a:rPr lang="ar-SA" altLang="en-US" sz="1950" b="1" dirty="0">
                <a:solidFill>
                  <a:srgbClr val="C77700"/>
                </a:solidFill>
                <a:latin typeface="Amiri" pitchFamily="2" charset="-78"/>
                <a:ea typeface="Amiri" pitchFamily="2" charset="-78"/>
                <a:cs typeface="Amiri" pitchFamily="2" charset="-78"/>
              </a:rPr>
              <a:t>مُزْدَحِمًا</a:t>
            </a:r>
            <a:pPr rtl="1" algn="r" indent="0" marL="0">
              <a:buNone/>
            </a:pPr>
            <a:r>
              <a:rPr lang="ar-SA" altLang="en-US" sz="1950" b="1" dirty="0">
                <a:solidFill>
                  <a:srgbClr val="1B3B6F"/>
                </a:solidFill>
                <a:latin typeface="Amiri" pitchFamily="2" charset="-78"/>
                <a:ea typeface="Amiri" pitchFamily="2" charset="-78"/>
                <a:cs typeface="Amiri" pitchFamily="2" charset="-78"/>
              </a:rPr>
              <a:t>، لَكِنَّهُ </a:t>
            </a:r>
            <a:pPr rtl="1" algn="r" indent="0" marL="0">
              <a:buNone/>
            </a:pPr>
            <a:r>
              <a:rPr lang="ar-SA" altLang="en-US" sz="1950" b="1" dirty="0">
                <a:solidFill>
                  <a:srgbClr val="0E7C86"/>
                </a:solidFill>
                <a:latin typeface="Amiri" pitchFamily="2" charset="-78"/>
                <a:ea typeface="Amiri" pitchFamily="2" charset="-78"/>
                <a:cs typeface="Amiri" pitchFamily="2" charset="-78"/>
              </a:rPr>
              <a:t>مَا زَالَ</a:t>
            </a:r>
            <a:pPr rtl="1" algn="r" indent="0" marL="0">
              <a:buNone/>
            </a:pPr>
            <a:r>
              <a:rPr lang="ar-SA" altLang="en-US" sz="1950" b="1" dirty="0">
                <a:solidFill>
                  <a:srgbClr val="1B3B6F"/>
                </a:solidFill>
                <a:latin typeface="Amiri" pitchFamily="2" charset="-78"/>
                <a:cs typeface="Amiri" pitchFamily="2" charset="-78"/>
              </a:rPr>
              <a:t> </a:t>
            </a:r>
            <a:pPr rtl="1" algn="r" indent="0" marL="0">
              <a:buNone/>
            </a:pPr>
            <a:r>
              <a:rPr lang="ar-SA" altLang="en-US" sz="1950" b="1" dirty="0">
                <a:solidFill>
                  <a:srgbClr val="C77700"/>
                </a:solidFill>
                <a:latin typeface="Amiri" pitchFamily="2" charset="-78"/>
                <a:ea typeface="Amiri" pitchFamily="2" charset="-78"/>
                <a:cs typeface="Amiri" pitchFamily="2" charset="-78"/>
              </a:rPr>
              <a:t>جَمِيلًا</a:t>
            </a:r>
            <a:pPr rtl="1" algn="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When I was little, I used to live near the school. The road was quiet. After the station was built, the neighbourhood became crowded, but it is still beautiful.</a:t>
            </a:r>
            <a:endParaRPr lang="en-US" sz="115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كَانَ الْجَوُّ بَارِدًا.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weather was cold.</a:t>
            </a:r>
            <a:endParaRPr lang="en-US" sz="1250" dirty="0"/>
          </a:p>
          <a:p>
            <a:pPr indent="0" marL="0">
              <a:buNone/>
            </a:pPr>
            <a:r>
              <a:rPr lang="en-US" sz="1050" i="1" dirty="0">
                <a:solidFill>
                  <a:srgbClr val="8A6D1E"/>
                </a:solidFill>
                <a:latin typeface="Calibri" pitchFamily="34" charset="0"/>
                <a:cs typeface="Amiri" pitchFamily="2" charset="-78"/>
              </a:rPr>
              <a:t>Past state: -an.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كُنْتُ أَقْرَأُ كُلَّ يَوْمٍ.</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used to read every day.</a:t>
            </a:r>
            <a:endParaRPr lang="en-US" sz="1250" dirty="0"/>
          </a:p>
          <a:p>
            <a:pPr indent="0" marL="0">
              <a:buNone/>
            </a:pPr>
            <a:r>
              <a:rPr lang="en-US" sz="1050" i="1" dirty="0">
                <a:solidFill>
                  <a:srgbClr val="8A6D1E"/>
                </a:solidFill>
                <a:latin typeface="Calibri" pitchFamily="34" charset="0"/>
                <a:cs typeface="Amiri" pitchFamily="2" charset="-78"/>
              </a:rPr>
              <a:t>Past habit.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صَارَ الطَّرِيقُ مُزْدَحِمًا.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road became crowded.</a:t>
            </a:r>
            <a:endParaRPr lang="en-US" sz="1250" dirty="0"/>
          </a:p>
          <a:p>
            <a:pPr indent="0" marL="0">
              <a:buNone/>
            </a:pPr>
            <a:r>
              <a:rPr lang="en-US" sz="1050" i="1" dirty="0">
                <a:solidFill>
                  <a:srgbClr val="8A6D1E"/>
                </a:solidFill>
                <a:latin typeface="Calibri" pitchFamily="34" charset="0"/>
                <a:cs typeface="Amiri" pitchFamily="2" charset="-78"/>
              </a:rPr>
              <a:t>Change.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مَا زَالَتِ الْمَدْرَسَةُ مَفْتُوحَةً.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school is still open.</a:t>
            </a:r>
            <a:endParaRPr lang="en-US" sz="1250" dirty="0"/>
          </a:p>
          <a:p>
            <a:pPr indent="0" marL="0">
              <a:buNone/>
            </a:pPr>
            <a:r>
              <a:rPr lang="en-US" sz="1050" i="1" dirty="0">
                <a:solidFill>
                  <a:srgbClr val="8A6D1E"/>
                </a:solidFill>
                <a:latin typeface="Calibri" pitchFamily="34" charset="0"/>
                <a:cs typeface="Amiri" pitchFamily="2" charset="-78"/>
              </a:rPr>
              <a:t>Continuation.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NOW → THEN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Put it in the past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حَوِّلْ إِلَى الْمَاضِي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6851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Watch</a:t>
            </a:r>
            <a:endParaRPr lang="en-US" sz="1100" dirty="0"/>
          </a:p>
        </p:txBody>
      </p:sp>
      <p:sp>
        <p:nvSpPr>
          <p:cNvPr id="17" name="Text 14"/>
          <p:cNvSpPr txBox="1"/>
          <p:nvPr/>
        </p:nvSpPr>
        <p:spPr>
          <a:xfrm>
            <a:off x="44622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Now</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705088" y="226771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 becomes -an</a:t>
            </a:r>
            <a:endParaRPr lang="en-US" sz="1100" dirty="0"/>
          </a:p>
        </p:txBody>
      </p:sp>
      <p:sp>
        <p:nvSpPr>
          <p:cNvPr id="21" name="Text 18"/>
          <p:cNvSpPr txBox="1"/>
          <p:nvPr/>
        </p:nvSpPr>
        <p:spPr>
          <a:xfrm>
            <a:off x="4480560" y="226771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 الطَّقْسُ جَمِيلًا.</a:t>
            </a:r>
            <a:endParaRPr lang="ar-SA" sz="2200" dirty="0"/>
          </a:p>
        </p:txBody>
      </p:sp>
      <p:sp>
        <p:nvSpPr>
          <p:cNvPr id="22" name="Text 19"/>
          <p:cNvSpPr txBox="1"/>
          <p:nvPr/>
        </p:nvSpPr>
        <p:spPr>
          <a:xfrm>
            <a:off x="548640" y="2267712"/>
            <a:ext cx="37490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الطَّقْسُ جَمِيلٌ.</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705088" y="2881884"/>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 no change</a:t>
            </a:r>
            <a:endParaRPr lang="en-US" sz="1100" dirty="0"/>
          </a:p>
        </p:txBody>
      </p:sp>
      <p:sp>
        <p:nvSpPr>
          <p:cNvPr id="27" name="Text 24"/>
          <p:cNvSpPr txBox="1"/>
          <p:nvPr/>
        </p:nvSpPr>
        <p:spPr>
          <a:xfrm>
            <a:off x="4480560" y="2881884"/>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كُنْتُ فِي الْمَدْرَسَةِ.</a:t>
            </a:r>
            <a:endParaRPr lang="ar-SA" sz="2200" dirty="0"/>
          </a:p>
        </p:txBody>
      </p:sp>
      <p:sp>
        <p:nvSpPr>
          <p:cNvPr id="28" name="Text 25"/>
          <p:cNvSpPr txBox="1"/>
          <p:nvPr/>
        </p:nvSpPr>
        <p:spPr>
          <a:xfrm>
            <a:off x="548640" y="2881884"/>
            <a:ext cx="37490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أَنَا فِي الْمَدْرَسَةِ.</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705088" y="3496056"/>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kānat for she</a:t>
            </a:r>
            <a:endParaRPr lang="en-US" sz="1100" dirty="0"/>
          </a:p>
        </p:txBody>
      </p:sp>
      <p:sp>
        <p:nvSpPr>
          <p:cNvPr id="33" name="Text 30"/>
          <p:cNvSpPr txBox="1"/>
          <p:nvPr/>
        </p:nvSpPr>
        <p:spPr>
          <a:xfrm>
            <a:off x="4480560" y="3496056"/>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كَانَتْ سَعِيدَةً.</a:t>
            </a:r>
            <a:endParaRPr lang="ar-SA" sz="2200" dirty="0"/>
          </a:p>
        </p:txBody>
      </p:sp>
      <p:sp>
        <p:nvSpPr>
          <p:cNvPr id="34" name="Text 31"/>
          <p:cNvSpPr txBox="1"/>
          <p:nvPr/>
        </p:nvSpPr>
        <p:spPr>
          <a:xfrm>
            <a:off x="548640" y="3496056"/>
            <a:ext cx="37490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سَعِيدَةٌ.</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705088" y="4110228"/>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to</a:t>
            </a:r>
            <a:endParaRPr lang="en-US" sz="1100" dirty="0"/>
          </a:p>
        </p:txBody>
      </p:sp>
      <p:sp>
        <p:nvSpPr>
          <p:cNvPr id="39" name="Text 36"/>
          <p:cNvSpPr txBox="1"/>
          <p:nvPr/>
        </p:nvSpPr>
        <p:spPr>
          <a:xfrm>
            <a:off x="4480560" y="4110228"/>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كُنَّا نَلْعَبُ بَعْدَ الْمَدْرَسَةِ.</a:t>
            </a:r>
            <a:endParaRPr lang="ar-SA" sz="2200" dirty="0"/>
          </a:p>
        </p:txBody>
      </p:sp>
      <p:sp>
        <p:nvSpPr>
          <p:cNvPr id="40" name="Text 37"/>
          <p:cNvSpPr txBox="1"/>
          <p:nvPr/>
        </p:nvSpPr>
        <p:spPr>
          <a:xfrm>
            <a:off x="548640" y="4110228"/>
            <a:ext cx="37490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نَحْنُ نَلْعَبُ بَعْدَ الْمَدْرَسَةِ.</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705088" y="4724400"/>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first: kāna</a:t>
            </a:r>
            <a:endParaRPr lang="en-US" sz="1100" dirty="0"/>
          </a:p>
        </p:txBody>
      </p:sp>
      <p:sp>
        <p:nvSpPr>
          <p:cNvPr id="43" name="Text 40"/>
          <p:cNvSpPr txBox="1"/>
          <p:nvPr/>
        </p:nvSpPr>
        <p:spPr>
          <a:xfrm>
            <a:off x="4480560" y="4724400"/>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 الطُّلَّابُ فِي الْمَكْتَبَةِ.</a:t>
            </a:r>
            <a:endParaRPr lang="ar-SA" sz="2200" dirty="0"/>
          </a:p>
        </p:txBody>
      </p:sp>
      <p:sp>
        <p:nvSpPr>
          <p:cNvPr id="44" name="Text 41"/>
          <p:cNvSpPr txBox="1"/>
          <p:nvPr/>
        </p:nvSpPr>
        <p:spPr>
          <a:xfrm>
            <a:off x="548640" y="4724400"/>
            <a:ext cx="37490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الطُّلَّابُ فِي الْمَكْتَبَةِ.</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705088" y="533857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-ūna becomes -īna</a:t>
            </a:r>
            <a:endParaRPr lang="en-US" sz="1100" dirty="0"/>
          </a:p>
        </p:txBody>
      </p:sp>
      <p:sp>
        <p:nvSpPr>
          <p:cNvPr id="47" name="Text 44"/>
          <p:cNvSpPr txBox="1"/>
          <p:nvPr/>
        </p:nvSpPr>
        <p:spPr>
          <a:xfrm>
            <a:off x="4480560" y="533857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كَانُوا مُتْعَبِينَ.</a:t>
            </a:r>
            <a:endParaRPr lang="ar-SA" sz="2200" dirty="0"/>
          </a:p>
        </p:txBody>
      </p:sp>
      <p:sp>
        <p:nvSpPr>
          <p:cNvPr id="48" name="Text 45"/>
          <p:cNvSpPr txBox="1"/>
          <p:nvPr/>
        </p:nvSpPr>
        <p:spPr>
          <a:xfrm>
            <a:off x="548640" y="5338572"/>
            <a:ext cx="37490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هُمْ مُتْعَبُونَ.</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pronoun disappears into kāna: anā → kuntu, hiya → kānat, hum → kānū. Do not write kāna anā.</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WHAT DOES THE SENTENCE TELL 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Was, used to, became or still?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تُضِيفُ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الْبَيْتُ هَادِئًا.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مَرْيَمُ فِي الْبَيْتِ.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أَقْرَأُ كُلَّ يَوْمٍ.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كُنَّا نَلْعَبُ بَعْدَ الْمَدْرَسَةِ.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صَارَ الشَّارِعُ مُزْدَحِمًا.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أَصْبَحَ الْجَوُّ دَافِئًا.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زَالَتِ الْمُشْكِلَةُ خَطِيرَةً.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زَالَ الْبَابُ مَفْتُوحًا.</a:t>
            </a:r>
            <a:endParaRPr lang="ar-SA" sz="1800" dirty="0"/>
          </a:p>
        </p:txBody>
      </p:sp>
      <p:sp>
        <p:nvSpPr>
          <p:cNvPr id="31" name="Shape 28"/>
          <p:cNvSpPr/>
          <p:nvPr/>
        </p:nvSpPr>
        <p:spPr>
          <a:xfrm>
            <a:off x="9050274" y="3017520"/>
            <a:ext cx="2681478" cy="3291840"/>
          </a:xfrm>
          <a:prstGeom prst="roundRect">
            <a:avLst>
              <a:gd name="adj" fmla="val 2728"/>
            </a:avLst>
          </a:prstGeom>
          <a:solidFill>
            <a:srgbClr val="EEF3FA"/>
          </a:solidFill>
          <a:ln w="9525">
            <a:solidFill>
              <a:srgbClr val="C9D6EA"/>
            </a:solidFill>
            <a:prstDash val="solid"/>
          </a:ln>
        </p:spPr>
      </p:sp>
      <p:sp>
        <p:nvSpPr>
          <p:cNvPr id="32" name="Shape 29"/>
          <p:cNvSpPr/>
          <p:nvPr/>
        </p:nvSpPr>
        <p:spPr>
          <a:xfrm>
            <a:off x="9187434" y="3127248"/>
            <a:ext cx="2407158"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9187434"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Was</a:t>
            </a:r>
            <a:endParaRPr lang="en-US" sz="950" dirty="0"/>
          </a:p>
        </p:txBody>
      </p:sp>
      <p:sp>
        <p:nvSpPr>
          <p:cNvPr id="34" name="Shape 31"/>
          <p:cNvSpPr/>
          <p:nvPr/>
        </p:nvSpPr>
        <p:spPr>
          <a:xfrm>
            <a:off x="6185916" y="3017520"/>
            <a:ext cx="2681478" cy="3291840"/>
          </a:xfrm>
          <a:prstGeom prst="roundRect">
            <a:avLst>
              <a:gd name="adj" fmla="val 2728"/>
            </a:avLst>
          </a:prstGeom>
          <a:solidFill>
            <a:srgbClr val="EEF3FA"/>
          </a:solidFill>
          <a:ln w="9525">
            <a:solidFill>
              <a:srgbClr val="C9D6EA"/>
            </a:solidFill>
            <a:prstDash val="solid"/>
          </a:ln>
        </p:spPr>
      </p:sp>
      <p:sp>
        <p:nvSpPr>
          <p:cNvPr id="35" name="Shape 32"/>
          <p:cNvSpPr/>
          <p:nvPr/>
        </p:nvSpPr>
        <p:spPr>
          <a:xfrm>
            <a:off x="6323076" y="3127248"/>
            <a:ext cx="2407158"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6323076"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Used to</a:t>
            </a:r>
            <a:endParaRPr lang="en-US" sz="950" dirty="0"/>
          </a:p>
        </p:txBody>
      </p:sp>
      <p:sp>
        <p:nvSpPr>
          <p:cNvPr id="37" name="Shape 34"/>
          <p:cNvSpPr/>
          <p:nvPr/>
        </p:nvSpPr>
        <p:spPr>
          <a:xfrm>
            <a:off x="3321558" y="3017520"/>
            <a:ext cx="2681478" cy="3291840"/>
          </a:xfrm>
          <a:prstGeom prst="roundRect">
            <a:avLst>
              <a:gd name="adj" fmla="val 2728"/>
            </a:avLst>
          </a:prstGeom>
          <a:solidFill>
            <a:srgbClr val="EEF3FA"/>
          </a:solidFill>
          <a:ln w="9525">
            <a:solidFill>
              <a:srgbClr val="C9D6EA"/>
            </a:solidFill>
            <a:prstDash val="solid"/>
          </a:ln>
        </p:spPr>
      </p:sp>
      <p:sp>
        <p:nvSpPr>
          <p:cNvPr id="38" name="Shape 35"/>
          <p:cNvSpPr/>
          <p:nvPr/>
        </p:nvSpPr>
        <p:spPr>
          <a:xfrm>
            <a:off x="3458718" y="3127248"/>
            <a:ext cx="2407158"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3458718"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Became</a:t>
            </a:r>
            <a:endParaRPr lang="en-US" sz="950" dirty="0"/>
          </a:p>
        </p:txBody>
      </p:sp>
      <p:sp>
        <p:nvSpPr>
          <p:cNvPr id="40" name="Shape 37"/>
          <p:cNvSpPr/>
          <p:nvPr/>
        </p:nvSpPr>
        <p:spPr>
          <a:xfrm>
            <a:off x="457200" y="3017520"/>
            <a:ext cx="2681478" cy="3291840"/>
          </a:xfrm>
          <a:prstGeom prst="roundRect">
            <a:avLst>
              <a:gd name="adj" fmla="val 2728"/>
            </a:avLst>
          </a:prstGeom>
          <a:solidFill>
            <a:srgbClr val="EEF3FA"/>
          </a:solidFill>
          <a:ln w="9525">
            <a:solidFill>
              <a:srgbClr val="C9D6EA"/>
            </a:solidFill>
            <a:prstDash val="solid"/>
          </a:ln>
        </p:spPr>
      </p:sp>
      <p:sp>
        <p:nvSpPr>
          <p:cNvPr id="41" name="Shape 38"/>
          <p:cNvSpPr/>
          <p:nvPr/>
        </p:nvSpPr>
        <p:spPr>
          <a:xfrm>
            <a:off x="594360" y="3127248"/>
            <a:ext cx="2407158" cy="310896"/>
          </a:xfrm>
          <a:prstGeom prst="roundRect">
            <a:avLst>
              <a:gd name="adj" fmla="val 50000"/>
            </a:avLst>
          </a:prstGeom>
          <a:solidFill>
            <a:srgbClr val="2F6FB0"/>
          </a:solidFill>
          <a:ln w="12700">
            <a:solidFill>
              <a:srgbClr val="2F6FB0"/>
            </a:solidFill>
            <a:prstDash val="solid"/>
          </a:ln>
        </p:spPr>
      </p:sp>
      <p:sp>
        <p:nvSpPr>
          <p:cNvPr id="42" name="Text 39"/>
          <p:cNvSpPr txBox="1"/>
          <p:nvPr/>
        </p:nvSpPr>
        <p:spPr>
          <a:xfrm>
            <a:off x="594360"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Still</a:t>
            </a:r>
            <a:endParaRPr lang="en-US" sz="9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Was</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الْبَيْتُ هَادِئًا.</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مَرْيَمُ فِي الْبَيْتِ.</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Used to</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أَقْرَأُ كُلَّ يَوْمٍ.</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كُنَّا نَلْعَبُ بَعْدَ الْمَدْرَسَةِ.</a:t>
            </a:r>
            <a:endParaRPr lang="ar-SA" sz="180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Became</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صَارَ الشَّارِعُ مُزْدَحِمًا.</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أَصْبَحَ الْجَوُّ دَافِئًا.</a:t>
            </a:r>
            <a:endParaRPr lang="ar-SA" sz="1800" dirty="0"/>
          </a:p>
        </p:txBody>
      </p:sp>
      <p:sp>
        <p:nvSpPr>
          <p:cNvPr id="36" name="Shape 33"/>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Still</a:t>
            </a:r>
            <a:endParaRPr lang="en-US" sz="950" dirty="0"/>
          </a:p>
        </p:txBody>
      </p:sp>
      <p:sp>
        <p:nvSpPr>
          <p:cNvPr id="39" name="Shape 36"/>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زَالَتِ الْمُشْكِلَةُ خَطِيرَةً.</a:t>
            </a:r>
            <a:endParaRPr lang="ar-SA" sz="1800" dirty="0"/>
          </a:p>
        </p:txBody>
      </p:sp>
      <p:sp>
        <p:nvSpPr>
          <p:cNvPr id="41" name="Shape 38"/>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زَالَ الْبَابُ مَفْتُوحًا.</a:t>
            </a:r>
            <a:endParaRPr lang="ar-SA" sz="18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كَانَ الطَّقْسَ جَمِيلٌ.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word takes -an?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كُنْتُ دَرَسْتُ كُلَّ يَوْمٍ.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Habit: past or present verb after kuntu?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زَالَتِ الْمُشْكِلَةُ صَعْبَةً.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missing before zālat?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كَانَ الطَّقْسَ جَمِيلٌ.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كَانَ الطَّقْسُ جَمِيلًا.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Noun -u, predicate -an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كُنْتُ دَرَسْتُ كُلَّ يَوْمٍ.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كُنْتُ أَدْرُسُ كُلَّ يَوْمٍ.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Habit: kāna + present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زَالَتِ الْمُشْكِلَةُ صَعْبَةً.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مَا زَالَتِ الْمُشْكِلَةُ صَعْبَةً.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“Still” needs mā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FINAL MASTERY CHECK</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case-aware model.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الْبَيْتَ هَادِئٌ.</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الْبَيْتِ هَادِئًا.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الْبَيْتُ هَادِئًا.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was a student.”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أَنَا طَالِبٌ.</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طَالِبًا.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طَالِبًا.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were tired.” (m. / mixed)</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كَانُوا مُتْعَبُونَ.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كَانُوا مُتْعَبِينَ.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 مُتْعَبَاتٌ.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used to study in the evening”?</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دَرَسْتُ فِي الْمَسَاءِ.</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سَأَدْرُسُ فِي الْمَسَاءِ.</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أَدْرُسُ فِي الْمَسَاءِ.</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case-aware model.</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الْبَيْتَ هَادِئٌ.</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الْبَيْتِ هَادِئًا.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الْبَيْتُ هَادِئًا.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Noun -u, predicate -an.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was a student.”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أَنَا طَالِبٌ.</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طَالِبًا.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طَالِبًا.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Kuntu ṭāliban.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were tired.” (m. / mixed)</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كَانُوا مُتْعَبُونَ.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كَانُوا مُتْعَبِينَ.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 مُتْعَبَاتٌ.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Kānū mutʿabīna.</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used to study in the evening”?</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دَرَسْتُ فِي الْمَسَاءِ.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سَأَدْرُسُ فِي الْمَسَاءِ.</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أَدْرُسُ فِي الْمَسَاءِ.</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Kuntu + present.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E6B52"/>
                </a:solidFill>
                <a:latin typeface="Calibri" pitchFamily="34" charset="0"/>
                <a:cs typeface="Amiri" pitchFamily="2" charset="-78"/>
              </a:rPr>
              <a:t>YOU DO · READ AND NOTICE · WEBSITE SKILLS WORKSHOP (TEACHER-WRITTEN THEN-AND-NOW)</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grandfather’s village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قَبْلَ عَشْرِ سَنَوَاتٍ كَانَتْ قَرْيَةُ جَدِّي صَغِيرَةً وَهَادِئَةً. كَانَ النَّاسُ يَعْمَلُونَ فِي الْمَزَارِعِ، وَكَانَ الْأَطْفَالُ يَلْعَبُونَ قُرْبَ النَّهْرِ. كَانَتِ الطُّرُقُ تُرَابِيَّةً، وَكَانَ السُّوقُ بَعِيدًا. ثُمَّ بَنَتِ الْحُكُومَةُ مَدْرَسَةً وَمُسْتَشْفًى، فَصَارَتِ الْقَرْيَةُ أَكْبَرَ، وَأَصْبَحَتِ الطُّرُقُ وَاسِعَةً. الْيَوْمَ الْقَرْيَةُ مُزْدَحِمَةٌ، لَكِنَّهَا مَا زَالَتْ جَمِيلَةً، وَمَا زَالَ جَدِّي يَسْكُنُ فِي بَيْتِهِ الْقَدِيمِ.</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قَرْيَةُ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village</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الْمَزَارِعِ</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farms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تُرَابِيَّةً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dirt (unpaved)</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الْحُكُومَةُ</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government</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وَاسِعَةً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wide</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children use to play?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school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near the river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market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changed the village?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river dried up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people left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school and hospital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mā zāla tell us about the grandfather?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still lives in his old house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moved away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works on a farm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kānati ṭ-ṭuruqu (feminine singular)?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roads are things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road</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children use to play?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school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near the river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market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Kāna l-aṭfālu yalʿabūna qurba n-nahr.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changed the village?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river dried up</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people left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new school and hospital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Banati l-ḥukūmatu madrasatan wa-mustashfan.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mā zāla tell us about the grandfather?</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still lives in his old house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moved away</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works on a farm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 zāla = still.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kānati ṭ-ṭuruqu (feminine singular)?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roads are things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road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feminine singular.</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then and now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كُنْتَ عِنْدَمَا كُنْتَ صَغِيرًا؟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كُنْتَ تَفْعَلُ فِي الْعُطْلَةِ؟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تَغَيَّرَتْ مَدِينَتُكَ؟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عِنْدَمَا كُنْتُ صَغِيرًا، كُنْتُ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كُنْتُ ___ كُلَّ يَوْمٍ، وَكَانَ أَخِي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كَانَتْ مَدِينَتِي ___ ، ثُمَّ صَارَتْ ___ ، لَكِنَّهَا مَا زَالَتْ ___ .</a:t>
            </a:r>
            <a:endParaRPr lang="ar-SA" sz="10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كَانَتْ مَدْرَسَتُكِ الْقَدِيمَةُ؟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was your old school like?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كَانَتْ صَغِيرَةً، وَكُنَّا نَلْعَبُ فِي سَاحَةٍ ضَيِّقَةٍ. الْآنَ صَارَتْ أَكْبَرَ، لَكِنَّ الْمُعَلِّمِينَ مَا زَالُوا لُطَفَاءَ.</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It was small, and we used to play in a narrow yard. Now it has become bigger, but the teachers are still kind.</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When I was little: four kāna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kuntu ṣaghīran · kāna baytunā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habits and one change.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kuntu alʿabu · ṣāra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110–130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then-and-now account with the full checklist.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Include mā zāla.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أَلْعَبُ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used to play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أَصْدِقَائِي كَانُوا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friends were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صَارَ الشَّارِعُ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street became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زَالَتْ جَدَّتِي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grandmother is still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كُنْتُ صَغِيرًا، كُنْتُ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When I was little, I was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بَيْتُنَا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Our house was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مَدْرَسَتِي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school was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were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كَانَ  ·  كَانَتْ  ·  كُنْتُ  ·  كُنَّا  ·  كَانُوا  ·  صَارَ  ·  أَصْبَحَ  ·  مَا زَالَ  ·  هَادِئًا  ·  مُزْدَحِمًا  ·  صَغِيرًا  ·  كَبِيرًا  ·  جَمِيلًا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then-and-now account (110–130 words): a place, routine or period in your life.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different forms of kāna.</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kāna + present habit.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ṣāra or aṣbaḥa.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mā zāla.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Accurate time expressions (qabla …, al-yawma, ʿindamā).</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كُنْتُ صَغِيرًا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I was little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 سَنَوَاتٍ</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years ago</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الْمَاضِي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past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الْيَوْمَ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today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that</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رَغْمَ</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despite</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عِنْدَمَا كُنْتُ فِي الْمَدْرَسَةِ الِابْتِدَائِيَّةِ، كُنَّا نَسْكُنُ فِي شَقَّةٍ صَغِيرَةٍ وَسَطَ الْمَدِينَةِ. كَانَتِ الشَّقَّةُ قَدِيمَةً، لَكِنَّهَا كَانَتْ دَافِئَةً وَمُرِيحَةً. كُنْتُ أَمْشِي إِلَى الْمَدْرَسَةِ كُلَّ صَبَاحٍ مَعَ أَخِي، وَكَانَ الطَّرِيقُ قَصِيرًا وَهَادِئًا. كَانَ جِيرَانُنَا لُطَفَاءَ، وَكَانُوا يَزُورُونَنَا فِي الْأَعْيَادِ. قَبْلَ ثَلَاثِ سَنَوَاتٍ انْتَقَلْنَا إِلَى بَيْتٍ جَدِيدٍ خَارِجَ الْمَدِينَةِ. أَصْبَحَتْ غُرْفَتِي أَكْبَرَ، وَصَارَتِ الْحَدِيقَةُ مَكَانِي الْمُفَضَّلَ. لَكِنَّ الطَّرِيقَ إِلَى الْمَدْرَسَةِ صَارَ طَوِيلًا، فَأَصْبَحْتُ أَرْكَبُ الْحَافِلَةَ. مَا زِلْتُ أَتَذَكَّرُ الشَّقَّةَ الْقَدِيمَةَ، وَمَا زَالَ أَبِي يَزُورُ جِيرَانَنَا الْقُدَمَاءَ كُلَّ شَهْرٍ. ظَلَّتْ صَدَاقَتُنَا قَوِيَّةً رَغْمَ الْمَسَافَةِ.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When I was in primary school, we lived in a small flat in the city centre. The flat was old, but it was warm and comfortable. I used to walk to school every morning with my brother, and the road was short and quiet. Our neighbours were kind, and they used to visit us at Eid. Three years ago we moved to a new house outside the city. My room became bigger, and the garden became my favourite place. But the road to school became long, so I started taking the bus. I still remember the old flat, and my father still visits our old neighbours every month. Our friendship has remained strong despite the distance.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kāna + -an predicate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kāna + present (habit)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ṣāra / aṣbaḥa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mā zāla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kāna, my one-word predicates end in -an.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the right form: kuntu, kāna, kānat.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habits use kāna + present (kuntu alʿabu).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Place phrases after kāna did not change.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ṣāra and mā zāla with the right meaning.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room became quiet”?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صَارَتِ الْغُرْفَةُ هَادِئَةً.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صَارَتِ الْغُرْفَةَ هَادِئَةٌ.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كَأَنَّ الْغُرْفَةَ هَادِئَةٌ.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student remained active”?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ظَلَّ الطَّالِبَ نَشِيطٌ.</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ظَلَّ الطَّالِبُ نَشِيطًا.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لَعَلَّ الطَّالِبَ نَشِيطٌ.</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school is still open”?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زَالَتِ الْمَدْرَسَةُ مَفْتُوحَةً.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زَالَتِ الْمَدْرَسَةُ مَفْتُوحَةٌ.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زَالَتِ الْمَدْرَسَةَ مَفْتُوحَةٌ.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room became quiet”?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صَارَتِ الْغُرْفَةُ هَادِئَةً.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صَارَتِ الْغُرْفَةَ هَادِئَةٌ.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كَأَنَّ الْغُرْفَةَ هَادِئَةٌ.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Ṣārati l-ghurfatu hādiʾatan.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student remained active”?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ظَلَّ الطَّالِبَ نَشِيطٌ.</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ظَلَّ الطَّالِبُ نَشِيطًا.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لَعَلَّ الطَّالِبَ نَشِيطٌ.</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Ẓalla + nashīṭan.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school is still open”?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مَا زَالَتِ الْمَدْرَسَةُ مَفْتُوحَةً.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زَالَتِ الْمَدْرَسَةُ مَفْتُوحَةٌ.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 زَالَتِ الْمَدْرَسَةَ مَفْتُوحَةٌ.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 zālat + maftūḥatan.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GM-NVS-03 · Non-Verbal Sentences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GM-NVS-04: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GM-NVS-04 · Negation with Laysa</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لَيْسَ</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is not (he / it)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لَيْسَتْ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is not (she / it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لَسْتُ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am not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لَسْنَا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 are not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لَيْسُوا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they are not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Laysa works like kāna: the predicate takes -an. How would you say “The exam is not difficult”?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لَيْسَ الِامْتِحَانُ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about when you were little with kuntu / kāna / kānat.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four “used to” sentences and one with ṣāra.</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then-and-now account (110–130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GM-NVS-03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GM-NVS-04 · Negation with Laysa</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نَفْيُ الْجُمْلَةِ الِاسْمِيَّةِ بِـلَيْسَ</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kāna + noun in -u + predicate in -an (kāna l-jawwu bāridan) · place phrases do not change · kuntu, kunnā, kāna, kānat, kānū, kunna · kāna + present = used to · ṣāra / aṣbaḥa = became · ẓalla = remained · mā zāla = still.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GM-NVS-03 · Kāna and Its Sisters</dc:title>
  <dc:subject>PptxGenJS Presentation</dc:subject>
  <dc:creator>Al Madina Online School · Arabic Department</dc:creator>
  <cp:lastModifiedBy>Al Madina Online School · Arabic Department</cp:lastModifiedBy>
  <cp:revision>1</cp:revision>
  <dcterms:created xsi:type="dcterms:W3CDTF">2026-10-11T06:42:24Z</dcterms:created>
  <dcterms:modified xsi:type="dcterms:W3CDTF">2026-10-11T06:42:24Z</dcterms:modified>
</cp:coreProperties>
</file>