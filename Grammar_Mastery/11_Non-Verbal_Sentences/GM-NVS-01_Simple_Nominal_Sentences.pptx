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Non-Verbal Sentences › GM-NVS-01 (“Simple Non-Verbal Sentences”).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subject + predicate with no “is” (huwa ṭālibun, al-jawwu jamīlun) and location with fī (anā fī l-bayt). Develop: agreement — feminine, dual, human plural — and the phrase-or-sentence test (al-baytu l-kabīru vs al-baytu kabīrun). Stretch: non-human plurals (al-kutubu mufīdatun), locator and time predicates, case-aware reading.
• Website transfer warning: never insert yakūnu because English has “is”. Website boundary: case endings explain the structure, but communication comes first — Case Endings (GM-CASE) analyses them later.
• Colour code for the area: blue = topic (mubtadaʾ), orange = predicate (khabar). Recycles GM-PRO pronouns, GM-ADJ agreement and GM-CP prepositions.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 GM-PRO subject pronouns, GM-ADJ adjective agreement and GM-DEM hādhā / hādhihi.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Topic + information = a complete sentence. No word for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“The present equational sentence”. Read each model, then ask: where is the “is”? (There isn’t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“Agreement in single-word predicates”. Core: rows 1, 2 and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“Phrase or complete sentence?” (rows 5–6 teacher-added). Test: can you put a full stop after it and say “is”? Then it is a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(2 min) — website “Three practical predicate types”. Locators: amāma, khalfa, bi-jānibi, bayna, fawqa, taḥta.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Agreement Check.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Built from the website skills-workshop lines. Point out al-fuṣūlu wāsiʿatun: classrooms are things → feminine singular.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cover column 3. Then swap the adjective: mujtahid, saʿīd, mashghūl.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game items. Website tip: read for meaning and definiteness, not just word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game items. Website tip: read for meaning and definiteness, not just word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Final Mastery check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skills workshop (teacher-written description). Read it aloud once while students follow; then they hunt for today’s grammar.
Task: Website: underline each topic once and box each predicate. Label one predicate “word” and one “phrase”.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description for the website skills workshop;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skills workshop. Sequence: ● 10s think → ↔ 45s rehearse aloud with mic muted → ◎ two named students on open mic (warned in advance) → + ? the class types one follow-up in chat → ↺ one student summarises.
Routes: Core uses the Core prompt and stem; Develop the Develop prompt; Stretch the last prompt.
Website: identify people and things, describe them and say where they are — no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80–100 Arabic words introducing yourself or another person and describing a familiar place.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(GM-NVS-02 · Inna and Its Sisters) will spend class time USING this language, so students prepare it tonight — short, simple, easy to access (school guidance: “Simple, Short, Interesting, Relevant, Easy to access”). The five words prepare GM-NVS-02 (website: inna and its sisters).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NON-VERBAL SENTENCES  ·  GM-NVS-01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GM-NVS-01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750" b="1" dirty="0">
                <a:solidFill>
                  <a:srgbClr val="FFFFFF"/>
                </a:solidFill>
                <a:latin typeface="Cambria" pitchFamily="34" charset="0"/>
                <a:cs typeface="Amiri" pitchFamily="2" charset="-78"/>
              </a:rPr>
              <a:t>Simple Non-Verbal Sentences</a:t>
            </a:r>
            <a:endParaRPr lang="en-US" sz="37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الْجُمَلُ الِاسْمِيَّةُ الْبَسِيطَةُ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Arabic needs no “is / am / are” in the present: huwa muhandisun (he is an engineer), al-baytu kabīrun (the house is big), anā fī l-bank (I am in the bank). Topic + information — that is a complete sentence.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GM-NVS-01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Non-Verbal Sentences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No “is”; agreement; phrase or sentence; four predicate types.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Make it agree; phrase or sentence?;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GM-NVS-02.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sentence means “He is an engineer”?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يَكُونُ مُهَنْدِسًا.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مُهَنْدِسٌ.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مُهَنْدِسٌ هُوَ يَكُونُ.</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complete sentence meaning “The house is large”?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الْبَيْتُ كَبِيرٌ.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الْبَيْتُ الْكَبِيرُ.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بَيْتٌ الْكَبِيرُ.</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feminine form.</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طَبِيبٌ.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طَبِيبَةٌ.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طَبِيبَةٌ.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am in the bank”?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الْبَنْكُ.</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أَنَا الْبَنْكُ.</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فِي الْبَنْكِ.</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phrase, not a complete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الْفَصْلُ الْكَبِيرُ</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الْفَصْلُ كَبِيرٌ</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الطَّالِبُ فِي الْفَصْلِ</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sentence means “He is an engineer”?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يَكُونُ مُهَنْدِسًا.</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هُوَ مُهَنْدِسٌ.</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مُهَنْدِسٌ هُوَ يَكُونُ.</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 separate “is” in the present.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complete sentence meaning “The house is large”?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الْبَيْتُ كَبِيرٌ.</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الْبَيْتُ الْكَبِيرُ.</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بَيْتٌ الْكَبِيرُ.</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Definite topic + indefinite predicate = a sentence.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feminine form.</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هِيَ طَبِيبٌ.</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طَبِيبَةٌ.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هِيَ طَبِيبَةٌ.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woman: ṭabībatun.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am in the bank”?</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الْبَنْكُ.</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أَنَا الْبَنْكُ.</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أَنَا فِي الْبَنْكِ.</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Fī + place is the predicate.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phrase, not a complete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الْفَصْلُ الْكَبِيرُ</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الْفَصْلُ كَبِيرٌ</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الطَّالِبُ فِي الْفَصْلِ</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definite → “the large classroom”.</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Topic + information = a complete sentence. No word for “is”.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الْبَيْتُ</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C77700"/>
                </a:solidFill>
                <a:latin typeface="Amiri" pitchFamily="2" charset="-78"/>
                <a:cs typeface="Amiri" pitchFamily="2" charset="-78"/>
              </a:rPr>
              <a:t>كَبِيرٌ</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1D5FBF"/>
                </a:solidFill>
                <a:latin typeface="Amiri" pitchFamily="2" charset="-78"/>
                <a:cs typeface="Amiri" pitchFamily="2" charset="-78"/>
              </a:rPr>
              <a:t>أَنَا</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C77700"/>
                </a:solidFill>
                <a:latin typeface="Amiri" pitchFamily="2" charset="-78"/>
                <a:cs typeface="Amiri" pitchFamily="2" charset="-78"/>
              </a:rPr>
              <a:t>فِي الْبَيْتِ</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sentences with no “is”.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Match the predicate to the subject.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a phrase from a sentence.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where and when with a phrase.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huwa ṭālibun and anā fī l-bayt.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match masculine and feminine.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dual and plural predicates.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tell al-baytu l-kabīru from al-baytu kabīrun.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the non-human plural rule.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describe a person and a place in 80–100 words.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الْجُمْلَةُ الِاسْمِيَّةُ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nominal sentence (no verb)</a:t>
            </a:r>
            <a:endParaRPr lang="en-US" sz="1350" dirty="0"/>
          </a:p>
          <a:p>
            <a:pPr indent="0" marL="0">
              <a:buNone/>
            </a:pPr>
            <a:r>
              <a:rPr lang="en-US" sz="1100" i="1" dirty="0">
                <a:solidFill>
                  <a:srgbClr val="5A6472"/>
                </a:solidFill>
                <a:latin typeface="Calibri" pitchFamily="34" charset="0"/>
                <a:cs typeface="Amiri" pitchFamily="2" charset="-78"/>
              </a:rPr>
              <a:t>al-jum-la-tu al-ِs-miy-ya-tu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الْجَوُّ جَمِيلٌ</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الْمُبْتَدَأُ</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topic — what we talk about</a:t>
            </a:r>
            <a:endParaRPr lang="en-US" sz="1350" dirty="0"/>
          </a:p>
          <a:p>
            <a:pPr indent="0" marL="0">
              <a:buNone/>
            </a:pPr>
            <a:r>
              <a:rPr lang="en-US" sz="1100" i="1" dirty="0">
                <a:solidFill>
                  <a:srgbClr val="5A6472"/>
                </a:solidFill>
                <a:latin typeface="Calibri" pitchFamily="34" charset="0"/>
                <a:cs typeface="Amiri" pitchFamily="2" charset="-78"/>
              </a:rPr>
              <a:t>al-mub-ta-da-ʾu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الْجَوُّ</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الْخَبَرُ</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predicate — the information</a:t>
            </a:r>
            <a:endParaRPr lang="en-US" sz="1350" dirty="0"/>
          </a:p>
          <a:p>
            <a:pPr indent="0" marL="0">
              <a:buNone/>
            </a:pPr>
            <a:r>
              <a:rPr lang="en-US" sz="1100" i="1" dirty="0">
                <a:solidFill>
                  <a:srgbClr val="5A6472"/>
                </a:solidFill>
                <a:latin typeface="Calibri" pitchFamily="34" charset="0"/>
                <a:cs typeface="Amiri" pitchFamily="2" charset="-78"/>
              </a:rPr>
              <a:t>al-kha-ba-ru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جَمِيلٌ</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الْمَعْرِفَةُ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definite (with al- or a name)</a:t>
            </a:r>
            <a:endParaRPr lang="en-US" sz="1350" dirty="0"/>
          </a:p>
          <a:p>
            <a:pPr indent="0" marL="0">
              <a:buNone/>
            </a:pPr>
            <a:r>
              <a:rPr lang="en-US" sz="1100" i="1" dirty="0">
                <a:solidFill>
                  <a:srgbClr val="5A6472"/>
                </a:solidFill>
                <a:latin typeface="Calibri" pitchFamily="34" charset="0"/>
                <a:cs typeface="Amiri" pitchFamily="2" charset="-78"/>
              </a:rPr>
              <a:t>al-maʿ-ri-fa-tu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الْبَيْتُ</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النَّكِرَةُ</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indefinite (with tanwīn)</a:t>
            </a:r>
            <a:endParaRPr lang="en-US" sz="1350" dirty="0"/>
          </a:p>
          <a:p>
            <a:pPr indent="0" marL="0">
              <a:buNone/>
            </a:pPr>
            <a:r>
              <a:rPr lang="en-US" sz="1100" i="1" dirty="0">
                <a:solidFill>
                  <a:srgbClr val="5A6472"/>
                </a:solidFill>
                <a:latin typeface="Calibri" pitchFamily="34" charset="0"/>
                <a:cs typeface="Amiri" pitchFamily="2" charset="-78"/>
              </a:rPr>
              <a:t>an-na-ki-ra-tu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كَبِيرٌ</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شِبْهُ الْجُمْلَةِ</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phrase predicate (where / when)</a:t>
            </a:r>
            <a:endParaRPr lang="en-US" sz="1350" dirty="0"/>
          </a:p>
          <a:p>
            <a:pPr indent="0" marL="0">
              <a:buNone/>
            </a:pPr>
            <a:r>
              <a:rPr lang="en-US" sz="1100" i="1" dirty="0">
                <a:solidFill>
                  <a:srgbClr val="5A6472"/>
                </a:solidFill>
                <a:latin typeface="Calibri" pitchFamily="34" charset="0"/>
                <a:cs typeface="Amiri" pitchFamily="2" charset="-78"/>
              </a:rPr>
              <a:t>shib-hu al-jum-la-ti</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فِي الْبَيْتِ</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THE PRESENT EQUATIONAL SENTENCE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Topic + information — no “is”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الْمُبْتَدَأُ + الْخَبَرُ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114032" y="1810512"/>
            <a:ext cx="4544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290779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model</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Function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150608" y="2267712"/>
            <a:ext cx="4507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is an engineer.</a:t>
            </a:r>
            <a:endParaRPr lang="en-US" sz="1100" dirty="0"/>
          </a:p>
        </p:txBody>
      </p:sp>
      <p:sp>
        <p:nvSpPr>
          <p:cNvPr id="21" name="Text 18"/>
          <p:cNvSpPr txBox="1"/>
          <p:nvPr/>
        </p:nvSpPr>
        <p:spPr>
          <a:xfrm>
            <a:off x="2926080" y="2267712"/>
            <a:ext cx="40233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هُوَ مُهَنْدِسٌ.</a:t>
            </a:r>
            <a:endParaRPr lang="ar-SA" sz="2600" dirty="0"/>
          </a:p>
        </p:txBody>
      </p:sp>
      <p:sp>
        <p:nvSpPr>
          <p:cNvPr id="22" name="Text 19"/>
          <p:cNvSpPr txBox="1"/>
          <p:nvPr/>
        </p:nvSpPr>
        <p:spPr>
          <a:xfrm>
            <a:off x="56692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Identity</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150608" y="3004718"/>
            <a:ext cx="4507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weather is beautiful.</a:t>
            </a:r>
            <a:endParaRPr lang="en-US" sz="1100" dirty="0"/>
          </a:p>
        </p:txBody>
      </p:sp>
      <p:sp>
        <p:nvSpPr>
          <p:cNvPr id="27" name="Text 24"/>
          <p:cNvSpPr txBox="1"/>
          <p:nvPr/>
        </p:nvSpPr>
        <p:spPr>
          <a:xfrm>
            <a:off x="2926080" y="3004718"/>
            <a:ext cx="40233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الْجَوُّ جَمِيلٌ.</a:t>
            </a:r>
            <a:endParaRPr lang="ar-SA" sz="2600" dirty="0"/>
          </a:p>
        </p:txBody>
      </p:sp>
      <p:sp>
        <p:nvSpPr>
          <p:cNvPr id="28" name="Text 25"/>
          <p:cNvSpPr txBox="1"/>
          <p:nvPr/>
        </p:nvSpPr>
        <p:spPr>
          <a:xfrm>
            <a:off x="56692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Description</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150608" y="3741725"/>
            <a:ext cx="4507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a book.</a:t>
            </a:r>
            <a:endParaRPr lang="en-US" sz="1100" dirty="0"/>
          </a:p>
        </p:txBody>
      </p:sp>
      <p:sp>
        <p:nvSpPr>
          <p:cNvPr id="33" name="Text 30"/>
          <p:cNvSpPr txBox="1"/>
          <p:nvPr/>
        </p:nvSpPr>
        <p:spPr>
          <a:xfrm>
            <a:off x="2926080" y="3741725"/>
            <a:ext cx="40233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هَذَا كِتَابٌ.</a:t>
            </a:r>
            <a:endParaRPr lang="ar-SA" sz="2600" dirty="0"/>
          </a:p>
        </p:txBody>
      </p:sp>
      <p:sp>
        <p:nvSpPr>
          <p:cNvPr id="34" name="Text 31"/>
          <p:cNvSpPr txBox="1"/>
          <p:nvPr/>
        </p:nvSpPr>
        <p:spPr>
          <a:xfrm>
            <a:off x="56692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Classification</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150608" y="4478731"/>
            <a:ext cx="4507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in the bank.</a:t>
            </a:r>
            <a:endParaRPr lang="en-US" sz="1100" dirty="0"/>
          </a:p>
        </p:txBody>
      </p:sp>
      <p:sp>
        <p:nvSpPr>
          <p:cNvPr id="39" name="Text 36"/>
          <p:cNvSpPr txBox="1"/>
          <p:nvPr/>
        </p:nvSpPr>
        <p:spPr>
          <a:xfrm>
            <a:off x="2926080" y="4478731"/>
            <a:ext cx="40233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أَنَا فِي الْبَنْكِ.</a:t>
            </a:r>
            <a:endParaRPr lang="ar-SA" sz="2600" dirty="0"/>
          </a:p>
        </p:txBody>
      </p:sp>
      <p:sp>
        <p:nvSpPr>
          <p:cNvPr id="40" name="Text 37"/>
          <p:cNvSpPr txBox="1"/>
          <p:nvPr/>
        </p:nvSpPr>
        <p:spPr>
          <a:xfrm>
            <a:off x="56692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Location</a:t>
            </a:r>
            <a:endParaRPr lang="en-US" sz="1100" dirty="0"/>
          </a:p>
        </p:txBody>
      </p:sp>
      <p:sp>
        <p:nvSpPr>
          <p:cNvPr id="41" name="Shape 3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7150608" y="5215738"/>
            <a:ext cx="4507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are students.</a:t>
            </a:r>
            <a:endParaRPr lang="en-US" sz="1100" dirty="0"/>
          </a:p>
        </p:txBody>
      </p:sp>
      <p:sp>
        <p:nvSpPr>
          <p:cNvPr id="45" name="Text 42"/>
          <p:cNvSpPr txBox="1"/>
          <p:nvPr/>
        </p:nvSpPr>
        <p:spPr>
          <a:xfrm>
            <a:off x="2926080" y="5215738"/>
            <a:ext cx="40233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نَحْنُ طُلَّابٌ.</a:t>
            </a:r>
            <a:endParaRPr lang="ar-SA" sz="2600" dirty="0"/>
          </a:p>
        </p:txBody>
      </p:sp>
      <p:sp>
        <p:nvSpPr>
          <p:cNvPr id="46" name="Text 43"/>
          <p:cNvSpPr txBox="1"/>
          <p:nvPr/>
        </p:nvSpPr>
        <p:spPr>
          <a:xfrm>
            <a:off x="56692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Group identity</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Arabic puts the topic and the information side by side; English adds am / is / are in translation. Common transfer error: do not insert yakūnu just because English has “is” — huwa muhandisun is the natural sentence.</a:t>
            </a:r>
            <a:endParaRPr lang="en-US" sz="11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AGREEMENT IN ONE-WORD PREDICATES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The information matches the topic</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الْمُطَابَقَةُ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Predicate is…</a:t>
            </a:r>
            <a:endParaRPr lang="en-US" sz="1100" dirty="0"/>
          </a:p>
        </p:txBody>
      </p:sp>
      <p:sp>
        <p:nvSpPr>
          <p:cNvPr id="17" name="Text 14"/>
          <p:cNvSpPr txBox="1"/>
          <p:nvPr/>
        </p:nvSpPr>
        <p:spPr>
          <a:xfrm>
            <a:off x="327355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model</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Topic</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430768" y="226771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masculine singular</a:t>
            </a:r>
            <a:endParaRPr lang="en-US" sz="1100" dirty="0"/>
          </a:p>
        </p:txBody>
      </p:sp>
      <p:sp>
        <p:nvSpPr>
          <p:cNvPr id="21" name="Text 18"/>
          <p:cNvSpPr txBox="1"/>
          <p:nvPr/>
        </p:nvSpPr>
        <p:spPr>
          <a:xfrm>
            <a:off x="3291840" y="2267712"/>
            <a:ext cx="4937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هُوَ طَالِبٌ مُجْتَهِدٌ.</a:t>
            </a:r>
            <a:endParaRPr lang="ar-SA" sz="2400" dirty="0"/>
          </a:p>
        </p:txBody>
      </p:sp>
      <p:sp>
        <p:nvSpPr>
          <p:cNvPr id="22" name="Text 19"/>
          <p:cNvSpPr txBox="1"/>
          <p:nvPr/>
        </p:nvSpPr>
        <p:spPr>
          <a:xfrm>
            <a:off x="566928" y="226771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male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430768" y="2881884"/>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singular</a:t>
            </a:r>
            <a:endParaRPr lang="en-US" sz="1100" dirty="0"/>
          </a:p>
        </p:txBody>
      </p:sp>
      <p:sp>
        <p:nvSpPr>
          <p:cNvPr id="27" name="Text 24"/>
          <p:cNvSpPr txBox="1"/>
          <p:nvPr/>
        </p:nvSpPr>
        <p:spPr>
          <a:xfrm>
            <a:off x="3291840" y="2881884"/>
            <a:ext cx="4937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هِيَ طَالِبَةٌ مُجْتَهِدَةٌ.</a:t>
            </a:r>
            <a:endParaRPr lang="ar-SA" sz="2400" dirty="0"/>
          </a:p>
        </p:txBody>
      </p:sp>
      <p:sp>
        <p:nvSpPr>
          <p:cNvPr id="28" name="Text 25"/>
          <p:cNvSpPr txBox="1"/>
          <p:nvPr/>
        </p:nvSpPr>
        <p:spPr>
          <a:xfrm>
            <a:off x="566928" y="2881884"/>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female</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430768" y="3496056"/>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 -āni</a:t>
            </a:r>
            <a:endParaRPr lang="en-US" sz="1100" dirty="0"/>
          </a:p>
        </p:txBody>
      </p:sp>
      <p:sp>
        <p:nvSpPr>
          <p:cNvPr id="33" name="Text 30"/>
          <p:cNvSpPr txBox="1"/>
          <p:nvPr/>
        </p:nvSpPr>
        <p:spPr>
          <a:xfrm>
            <a:off x="3291840" y="3496056"/>
            <a:ext cx="4937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الطَّالِبَانِ مُسْتَعِدَّانِ.</a:t>
            </a:r>
            <a:endParaRPr lang="ar-SA" sz="2400" dirty="0"/>
          </a:p>
        </p:txBody>
      </p:sp>
      <p:sp>
        <p:nvSpPr>
          <p:cNvPr id="34" name="Text 31"/>
          <p:cNvSpPr txBox="1"/>
          <p:nvPr/>
        </p:nvSpPr>
        <p:spPr>
          <a:xfrm>
            <a:off x="566928" y="3496056"/>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males</a:t>
            </a:r>
            <a:endParaRPr lang="en-US" sz="11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8430768" y="4110228"/>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plural: -ūna</a:t>
            </a:r>
            <a:endParaRPr lang="en-US" sz="1100" dirty="0"/>
          </a:p>
        </p:txBody>
      </p:sp>
      <p:sp>
        <p:nvSpPr>
          <p:cNvPr id="37" name="Text 34"/>
          <p:cNvSpPr txBox="1"/>
          <p:nvPr/>
        </p:nvSpPr>
        <p:spPr>
          <a:xfrm>
            <a:off x="3291840" y="4110228"/>
            <a:ext cx="4937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الطُّلَّابُ مُجْتَهِدُونَ.</a:t>
            </a:r>
            <a:endParaRPr lang="ar-SA" sz="2400" dirty="0"/>
          </a:p>
        </p:txBody>
      </p:sp>
      <p:sp>
        <p:nvSpPr>
          <p:cNvPr id="38" name="Text 35"/>
          <p:cNvSpPr txBox="1"/>
          <p:nvPr/>
        </p:nvSpPr>
        <p:spPr>
          <a:xfrm>
            <a:off x="566928" y="4110228"/>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male / mixed group</a:t>
            </a:r>
            <a:endParaRPr lang="en-US" sz="11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8430768" y="4724400"/>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plural: -ātun</a:t>
            </a:r>
            <a:endParaRPr lang="en-US" sz="1100" dirty="0"/>
          </a:p>
        </p:txBody>
      </p:sp>
      <p:sp>
        <p:nvSpPr>
          <p:cNvPr id="41" name="Text 38"/>
          <p:cNvSpPr txBox="1"/>
          <p:nvPr/>
        </p:nvSpPr>
        <p:spPr>
          <a:xfrm>
            <a:off x="3291840" y="4724400"/>
            <a:ext cx="4937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الطَّالِبَاتُ مُجْتَهِدَاتٌ.</a:t>
            </a:r>
            <a:endParaRPr lang="ar-SA" sz="2400" dirty="0"/>
          </a:p>
        </p:txBody>
      </p:sp>
      <p:sp>
        <p:nvSpPr>
          <p:cNvPr id="42" name="Text 39"/>
          <p:cNvSpPr txBox="1"/>
          <p:nvPr/>
        </p:nvSpPr>
        <p:spPr>
          <a:xfrm>
            <a:off x="566928" y="4724400"/>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female group</a:t>
            </a:r>
            <a:endParaRPr lang="en-US" sz="11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8430768" y="533857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singular</a:t>
            </a:r>
            <a:endParaRPr lang="en-US" sz="1100" dirty="0"/>
          </a:p>
        </p:txBody>
      </p:sp>
      <p:sp>
        <p:nvSpPr>
          <p:cNvPr id="45" name="Text 42"/>
          <p:cNvSpPr txBox="1"/>
          <p:nvPr/>
        </p:nvSpPr>
        <p:spPr>
          <a:xfrm>
            <a:off x="3291840" y="5338572"/>
            <a:ext cx="4937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الْكُتُبُ مُفِيدَةٌ.</a:t>
            </a:r>
            <a:endParaRPr lang="ar-SA" sz="2400" dirty="0"/>
          </a:p>
        </p:txBody>
      </p:sp>
      <p:sp>
        <p:nvSpPr>
          <p:cNvPr id="46" name="Text 43"/>
          <p:cNvSpPr txBox="1"/>
          <p:nvPr/>
        </p:nvSpPr>
        <p:spPr>
          <a:xfrm>
            <a:off x="566928" y="533857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things (plural)</a:t>
            </a:r>
            <a:endParaRPr lang="en-US" sz="1100" dirty="0"/>
          </a:p>
        </p:txBody>
      </p:sp>
      <p:sp>
        <p:nvSpPr>
          <p:cNvPr id="47" name="Shape 44"/>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boundary: the case endings help explain the structure, but clear agreement comes first — the Case Endings lessons analyse them later. Things in the plural take the feminine singular, as with verbs (GM-VS-02).</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1B3B6F"/>
                </a:solidFill>
                <a:latin typeface="Calibri" pitchFamily="34" charset="0"/>
                <a:cs typeface="Amiri" pitchFamily="2" charset="-78"/>
              </a:rPr>
              <a:t>GRAMMAR · PART 3 · PHRASE OR COMPLETE SENTENCE? (WEBSITE TABLE) · DEVELOP</a:t>
            </a:r>
            <a:endParaRPr lang="en-US" sz="96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Definite + definite = phrase · definite + indefinite = sentence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عِبَارَةٌ أَمْ 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Analysis</a:t>
            </a:r>
            <a:endParaRPr lang="en-US" sz="1100" dirty="0"/>
          </a:p>
        </p:txBody>
      </p:sp>
      <p:sp>
        <p:nvSpPr>
          <p:cNvPr id="17" name="Text 14"/>
          <p:cNvSpPr txBox="1"/>
          <p:nvPr/>
        </p:nvSpPr>
        <p:spPr>
          <a:xfrm>
            <a:off x="418795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699248" y="2267712"/>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phrase — not finished</a:t>
            </a:r>
            <a:endParaRPr lang="en-US" sz="1100" dirty="0"/>
          </a:p>
        </p:txBody>
      </p:sp>
      <p:sp>
        <p:nvSpPr>
          <p:cNvPr id="21" name="Text 18"/>
          <p:cNvSpPr txBox="1"/>
          <p:nvPr/>
        </p:nvSpPr>
        <p:spPr>
          <a:xfrm>
            <a:off x="4224528" y="2267712"/>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large house</a:t>
            </a:r>
            <a:endParaRPr lang="en-US" sz="1100" dirty="0"/>
          </a:p>
        </p:txBody>
      </p:sp>
      <p:sp>
        <p:nvSpPr>
          <p:cNvPr id="22" name="Text 19"/>
          <p:cNvSpPr txBox="1"/>
          <p:nvPr/>
        </p:nvSpPr>
        <p:spPr>
          <a:xfrm>
            <a:off x="548640" y="2267712"/>
            <a:ext cx="34747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الْبَيْتُ الْكَبِيرُ</a:t>
            </a:r>
            <a:endParaRPr lang="ar-SA" sz="2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7699248" y="2881884"/>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complete sentence</a:t>
            </a:r>
            <a:endParaRPr lang="en-US" sz="1100" dirty="0"/>
          </a:p>
        </p:txBody>
      </p:sp>
      <p:sp>
        <p:nvSpPr>
          <p:cNvPr id="27" name="Text 24"/>
          <p:cNvSpPr txBox="1"/>
          <p:nvPr/>
        </p:nvSpPr>
        <p:spPr>
          <a:xfrm>
            <a:off x="4224528" y="2881884"/>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house is large.</a:t>
            </a:r>
            <a:endParaRPr lang="en-US" sz="1100" dirty="0"/>
          </a:p>
        </p:txBody>
      </p:sp>
      <p:sp>
        <p:nvSpPr>
          <p:cNvPr id="28" name="Text 25"/>
          <p:cNvSpPr txBox="1"/>
          <p:nvPr/>
        </p:nvSpPr>
        <p:spPr>
          <a:xfrm>
            <a:off x="548640" y="2881884"/>
            <a:ext cx="34747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الْبَيْتُ كَبِيرٌ.</a:t>
            </a:r>
            <a:endParaRPr lang="ar-SA" sz="26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7699248" y="3496056"/>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phrase (indefinite)</a:t>
            </a:r>
            <a:endParaRPr lang="en-US" sz="1100" dirty="0"/>
          </a:p>
        </p:txBody>
      </p:sp>
      <p:sp>
        <p:nvSpPr>
          <p:cNvPr id="33" name="Text 30"/>
          <p:cNvSpPr txBox="1"/>
          <p:nvPr/>
        </p:nvSpPr>
        <p:spPr>
          <a:xfrm>
            <a:off x="4224528" y="3496056"/>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new school</a:t>
            </a:r>
            <a:endParaRPr lang="en-US" sz="1100" dirty="0"/>
          </a:p>
        </p:txBody>
      </p:sp>
      <p:sp>
        <p:nvSpPr>
          <p:cNvPr id="34" name="Text 31"/>
          <p:cNvSpPr txBox="1"/>
          <p:nvPr/>
        </p:nvSpPr>
        <p:spPr>
          <a:xfrm>
            <a:off x="548640" y="3496056"/>
            <a:ext cx="34747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مَدْرَسَةٌ جَدِيدَةٌ</a:t>
            </a:r>
            <a:endParaRPr lang="ar-SA" sz="26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7699248" y="4110228"/>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complete sentence</a:t>
            </a:r>
            <a:endParaRPr lang="en-US" sz="1100" dirty="0"/>
          </a:p>
        </p:txBody>
      </p:sp>
      <p:sp>
        <p:nvSpPr>
          <p:cNvPr id="37" name="Text 34"/>
          <p:cNvSpPr txBox="1"/>
          <p:nvPr/>
        </p:nvSpPr>
        <p:spPr>
          <a:xfrm>
            <a:off x="4224528" y="4110228"/>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school is new.</a:t>
            </a:r>
            <a:endParaRPr lang="en-US" sz="1100" dirty="0"/>
          </a:p>
        </p:txBody>
      </p:sp>
      <p:sp>
        <p:nvSpPr>
          <p:cNvPr id="38" name="Text 35"/>
          <p:cNvSpPr txBox="1"/>
          <p:nvPr/>
        </p:nvSpPr>
        <p:spPr>
          <a:xfrm>
            <a:off x="548640" y="4110228"/>
            <a:ext cx="34747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الْمَدْرَسَةُ جَدِيدَةٌ.</a:t>
            </a:r>
            <a:endParaRPr lang="ar-SA" sz="26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7699248" y="4724400"/>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phrase</a:t>
            </a:r>
            <a:endParaRPr lang="en-US" sz="1100" dirty="0"/>
          </a:p>
        </p:txBody>
      </p:sp>
      <p:sp>
        <p:nvSpPr>
          <p:cNvPr id="41" name="Text 38"/>
          <p:cNvSpPr txBox="1"/>
          <p:nvPr/>
        </p:nvSpPr>
        <p:spPr>
          <a:xfrm>
            <a:off x="4224528" y="4724400"/>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book</a:t>
            </a:r>
            <a:endParaRPr lang="en-US" sz="1100" dirty="0"/>
          </a:p>
        </p:txBody>
      </p:sp>
      <p:sp>
        <p:nvSpPr>
          <p:cNvPr id="42" name="Text 39"/>
          <p:cNvSpPr txBox="1"/>
          <p:nvPr/>
        </p:nvSpPr>
        <p:spPr>
          <a:xfrm>
            <a:off x="548640" y="4724400"/>
            <a:ext cx="34747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هَذَا الْكِتَابُ</a:t>
            </a:r>
            <a:endParaRPr lang="ar-SA" sz="26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7699248" y="5338572"/>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complete sentence</a:t>
            </a:r>
            <a:endParaRPr lang="en-US" sz="1100" dirty="0"/>
          </a:p>
        </p:txBody>
      </p:sp>
      <p:sp>
        <p:nvSpPr>
          <p:cNvPr id="45" name="Text 42"/>
          <p:cNvSpPr txBox="1"/>
          <p:nvPr/>
        </p:nvSpPr>
        <p:spPr>
          <a:xfrm>
            <a:off x="4224528" y="5338572"/>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a book.</a:t>
            </a:r>
            <a:endParaRPr lang="en-US" sz="1100" dirty="0"/>
          </a:p>
        </p:txBody>
      </p:sp>
      <p:sp>
        <p:nvSpPr>
          <p:cNvPr id="46" name="Text 43"/>
          <p:cNvSpPr txBox="1"/>
          <p:nvPr/>
        </p:nvSpPr>
        <p:spPr>
          <a:xfrm>
            <a:off x="548640" y="5338572"/>
            <a:ext cx="34747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هَذَا كِتَابٌ.</a:t>
            </a:r>
            <a:endParaRPr lang="ar-SA" sz="26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do not confuse aṭ-ṭālibu l-mujtahidu (“the hardworking student” — a name for someone) with aṭ-ṭālibu mujtahidun (“The student is hardworking” — a statement). Listen for al- on the second word.</a:t>
            </a:r>
            <a:endParaRPr lang="en-US" sz="11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B3B6F"/>
                </a:solidFill>
                <a:latin typeface="Calibri" pitchFamily="34" charset="0"/>
                <a:cs typeface="Amiri" pitchFamily="2" charset="-78"/>
              </a:rPr>
              <a:t>GRAMMAR · PART 4 · THREE PRACTICAL PREDICATE TYPES (WEBSITE TABLE) · STRETCH</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word, a place phrase or a time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أَنْوَاعُ الْخَبَرِ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Tells us</a:t>
            </a:r>
            <a:endParaRPr lang="en-US" sz="1100" dirty="0"/>
          </a:p>
        </p:txBody>
      </p:sp>
      <p:sp>
        <p:nvSpPr>
          <p:cNvPr id="17" name="Text 14"/>
          <p:cNvSpPr txBox="1"/>
          <p:nvPr/>
        </p:nvSpPr>
        <p:spPr>
          <a:xfrm>
            <a:off x="3456432" y="1810512"/>
            <a:ext cx="4791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model</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Predicate type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identity or description</a:t>
            </a:r>
            <a:endParaRPr lang="en-US" sz="1100" dirty="0"/>
          </a:p>
        </p:txBody>
      </p:sp>
      <p:sp>
        <p:nvSpPr>
          <p:cNvPr id="21" name="Text 18"/>
          <p:cNvSpPr txBox="1"/>
          <p:nvPr/>
        </p:nvSpPr>
        <p:spPr>
          <a:xfrm>
            <a:off x="3474720" y="2267712"/>
            <a:ext cx="47548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أَخِي طَبِيبٌ.</a:t>
            </a:r>
            <a:endParaRPr lang="ar-SA" sz="2400" dirty="0"/>
          </a:p>
        </p:txBody>
      </p:sp>
      <p:sp>
        <p:nvSpPr>
          <p:cNvPr id="22" name="Text 19"/>
          <p:cNvSpPr txBox="1"/>
          <p:nvPr/>
        </p:nvSpPr>
        <p:spPr>
          <a:xfrm>
            <a:off x="566928"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word (noun / adjective)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location</a:t>
            </a:r>
            <a:endParaRPr lang="en-US" sz="1100" dirty="0"/>
          </a:p>
        </p:txBody>
      </p:sp>
      <p:sp>
        <p:nvSpPr>
          <p:cNvPr id="27" name="Text 24"/>
          <p:cNvSpPr txBox="1"/>
          <p:nvPr/>
        </p:nvSpPr>
        <p:spPr>
          <a:xfrm>
            <a:off x="3474720" y="3054096"/>
            <a:ext cx="47548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أَخِي فِي الْمُسْتَشْفَى.</a:t>
            </a:r>
            <a:endParaRPr lang="ar-SA" sz="2400" dirty="0"/>
          </a:p>
        </p:txBody>
      </p:sp>
      <p:sp>
        <p:nvSpPr>
          <p:cNvPr id="28" name="Text 25"/>
          <p:cNvSpPr txBox="1"/>
          <p:nvPr/>
        </p:nvSpPr>
        <p:spPr>
          <a:xfrm>
            <a:off x="566928"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preposition phrase</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43076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relative position</a:t>
            </a:r>
            <a:endParaRPr lang="en-US" sz="1100" dirty="0"/>
          </a:p>
        </p:txBody>
      </p:sp>
      <p:sp>
        <p:nvSpPr>
          <p:cNvPr id="33" name="Text 30"/>
          <p:cNvSpPr txBox="1"/>
          <p:nvPr/>
        </p:nvSpPr>
        <p:spPr>
          <a:xfrm>
            <a:off x="3474720" y="3840480"/>
            <a:ext cx="47548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الْمَدْرَسَةُ أَمَامَ الْمَسْجِدِ.</a:t>
            </a:r>
            <a:endParaRPr lang="ar-SA" sz="2400" dirty="0"/>
          </a:p>
        </p:txBody>
      </p:sp>
      <p:sp>
        <p:nvSpPr>
          <p:cNvPr id="34" name="Text 31"/>
          <p:cNvSpPr txBox="1"/>
          <p:nvPr/>
        </p:nvSpPr>
        <p:spPr>
          <a:xfrm>
            <a:off x="566928"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locator phrase</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843076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a:t>
            </a:r>
            <a:endParaRPr lang="en-US" sz="1100" dirty="0"/>
          </a:p>
        </p:txBody>
      </p:sp>
      <p:sp>
        <p:nvSpPr>
          <p:cNvPr id="37" name="Text 34"/>
          <p:cNvSpPr txBox="1"/>
          <p:nvPr/>
        </p:nvSpPr>
        <p:spPr>
          <a:xfrm>
            <a:off x="3474720" y="4626864"/>
            <a:ext cx="47548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الِامْتِحَانُ غَدًا.</a:t>
            </a:r>
            <a:endParaRPr lang="ar-SA" sz="2400" dirty="0"/>
          </a:p>
        </p:txBody>
      </p:sp>
      <p:sp>
        <p:nvSpPr>
          <p:cNvPr id="38" name="Text 35"/>
          <p:cNvSpPr txBox="1"/>
          <p:nvPr/>
        </p:nvSpPr>
        <p:spPr>
          <a:xfrm>
            <a:off x="566928"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time word</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useful feature: a place phrase never changes for gender — huwa fī l-bayt and hiya fī l-bayt. The noun after fī takes kasra: fī l-bayti, fī l-bank (not fī l-banku).</a:t>
            </a:r>
            <a:endParaRPr lang="en-US" sz="11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teacher (f.) is active.”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الْمُعَلِّمَةُ نَشِيطٌ.</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الْمُعَلِّمَةُ النَّشِيطَةُ.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الْمُعَلِّمَةُ نَشِيطَةٌ.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two boys are ready.”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الْوَلَدَانِ مُسْتَعِدَّانِ.</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الْوَلَدَانِ مُسْتَعِدٌ.</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الْوَلَدَانِ الْمُسْتَعِدَّانِ.</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books are useful.”</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الْكُتُبُ مُفِيدَاتٌ.</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الْكُتُبُ مُفِيدَةٌ.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الْكُتُبُ الْمُفِيدَةُ.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location sentence.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الطَّالِبُ فِي الْمَكْتَبَةِ.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الطَّالِبُ الْمَكْتَبَةُ.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الطَّالِبُ الْمَكْتَبَةِ.</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teacher (f.) is active.”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الْمُعَلِّمَةُ نَشِيطٌ.</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الْمُعَلِّمَةُ النَّشِيطَةُ.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الْمُعَلِّمَةُ نَشِيطَةٌ.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and indefinite: nashīṭatun.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two boys are ready.”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الْوَلَدَانِ مُسْتَعِدَّانِ.</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الْوَلَدَانِ مُسْتَعِدٌ.</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الْوَلَدَانِ الْمُسْتَعِدَّانِ.</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boys → dual mustaʿiddāni.</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books are useful.”</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الْكُتُبُ مُفِيدَاتٌ.</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الْكُتُبُ مُفِيدَةٌ.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الْكُتُبُ الْمُفِيدَةُ.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Things → feminine singular.</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location sentence.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الطَّالِبُ فِي الْمَكْتَبَةِ.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الطَّالِبُ الْمَكْتَبَةُ.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الطَّالِبُ الْمَكْتَبَةِ.</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Fī l-maktaba is the predicate.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describe my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Topic</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الْمَدْرَسَةُ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What am I describing?</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Gender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مُؤَنَّثٌ</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Madrasa: feminine.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Predicate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كَبِيرَةٌ</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“is”; -a + tanwīn.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Location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فِي الطَّابِقِ الْأَوَّلِ</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Place phrase.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TOPIC</a:t>
            </a:r>
            <a:endParaRPr lang="en-US" sz="800" dirty="0"/>
          </a:p>
        </p:txBody>
      </p:sp>
      <p:sp>
        <p:nvSpPr>
          <p:cNvPr id="47" name="Shape 43"/>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PREDICATE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800" b="1" dirty="0">
                <a:solidFill>
                  <a:srgbClr val="1D5FBF"/>
                </a:solidFill>
                <a:latin typeface="Amiri" pitchFamily="2" charset="-78"/>
                <a:cs typeface="Amiri" pitchFamily="2" charset="-78"/>
              </a:rPr>
              <a:t>هَذِهِ</a:t>
            </a:r>
            <a:pPr rtl="1" algn="r" indent="0" marL="0">
              <a:buNone/>
            </a:pPr>
            <a:r>
              <a:rPr lang="ar-SA" altLang="en-US" sz="1800" b="1" dirty="0">
                <a:solidFill>
                  <a:srgbClr val="1B3B6F"/>
                </a:solidFill>
                <a:latin typeface="Amiri" pitchFamily="2" charset="-78"/>
                <a:cs typeface="Amiri" pitchFamily="2" charset="-78"/>
              </a:rPr>
              <a:t> </a:t>
            </a:r>
            <a:pPr rtl="1" algn="r" indent="0" marL="0">
              <a:buNone/>
            </a:pPr>
            <a:r>
              <a:rPr lang="ar-SA" altLang="en-US" sz="1800" b="1" dirty="0">
                <a:solidFill>
                  <a:srgbClr val="C77700"/>
                </a:solidFill>
                <a:latin typeface="Amiri" pitchFamily="2" charset="-78"/>
                <a:cs typeface="Amiri" pitchFamily="2" charset="-78"/>
              </a:rPr>
              <a:t>مَدْرَسَتِي</a:t>
            </a:r>
            <a:pPr rtl="1" algn="r" indent="0" marL="0">
              <a:buNone/>
            </a:pPr>
            <a:r>
              <a:rPr lang="ar-SA" altLang="en-US" sz="1800" b="1" dirty="0">
                <a:solidFill>
                  <a:srgbClr val="1B3B6F"/>
                </a:solidFill>
                <a:latin typeface="Amiri" pitchFamily="2" charset="-78"/>
                <a:cs typeface="Amiri" pitchFamily="2" charset="-78"/>
              </a:rPr>
              <a:t>. </a:t>
            </a:r>
            <a:pPr rtl="1" algn="r" indent="0" marL="0">
              <a:buNone/>
            </a:pPr>
            <a:r>
              <a:rPr lang="ar-SA" altLang="en-US" sz="1800" b="1" dirty="0">
                <a:solidFill>
                  <a:srgbClr val="1D5FBF"/>
                </a:solidFill>
                <a:latin typeface="Amiri" pitchFamily="2" charset="-78"/>
                <a:cs typeface="Amiri" pitchFamily="2" charset="-78"/>
              </a:rPr>
              <a:t>هِيَ</a:t>
            </a:r>
            <a:pPr rtl="1" algn="r" indent="0" marL="0">
              <a:buNone/>
            </a:pPr>
            <a:r>
              <a:rPr lang="ar-SA" altLang="en-US" sz="1800" b="1" dirty="0">
                <a:solidFill>
                  <a:srgbClr val="1B3B6F"/>
                </a:solidFill>
                <a:latin typeface="Amiri" pitchFamily="2" charset="-78"/>
                <a:cs typeface="Amiri" pitchFamily="2" charset="-78"/>
              </a:rPr>
              <a:t> </a:t>
            </a:r>
            <a:pPr rtl="1" algn="r" indent="0" marL="0">
              <a:buNone/>
            </a:pPr>
            <a:r>
              <a:rPr lang="ar-SA" altLang="en-US" sz="1800" b="1" dirty="0">
                <a:solidFill>
                  <a:srgbClr val="C77700"/>
                </a:solidFill>
                <a:latin typeface="Amiri" pitchFamily="2" charset="-78"/>
                <a:cs typeface="Amiri" pitchFamily="2" charset="-78"/>
              </a:rPr>
              <a:t>كَبِيرَةٌ وَحَدِيثَةٌ</a:t>
            </a:r>
            <a:pPr rtl="1" algn="r" indent="0" marL="0">
              <a:buNone/>
            </a:pPr>
            <a:r>
              <a:rPr lang="ar-SA" altLang="en-US" sz="1800" b="1" dirty="0">
                <a:solidFill>
                  <a:srgbClr val="1B3B6F"/>
                </a:solidFill>
                <a:latin typeface="Amiri" pitchFamily="2" charset="-78"/>
                <a:cs typeface="Amiri" pitchFamily="2" charset="-78"/>
              </a:rPr>
              <a:t>. </a:t>
            </a:r>
            <a:pPr rtl="1" algn="r" indent="0" marL="0">
              <a:buNone/>
            </a:pPr>
            <a:r>
              <a:rPr lang="ar-SA" altLang="en-US" sz="1800" b="1" dirty="0">
                <a:solidFill>
                  <a:srgbClr val="1D5FBF"/>
                </a:solidFill>
                <a:latin typeface="Amiri" pitchFamily="2" charset="-78"/>
                <a:cs typeface="Amiri" pitchFamily="2" charset="-78"/>
              </a:rPr>
              <a:t>الْمَكْتَبَةُ</a:t>
            </a:r>
            <a:pPr rtl="1" algn="r" indent="0" marL="0">
              <a:buNone/>
            </a:pPr>
            <a:r>
              <a:rPr lang="ar-SA" altLang="en-US" sz="1800" b="1" dirty="0">
                <a:solidFill>
                  <a:srgbClr val="1B3B6F"/>
                </a:solidFill>
                <a:latin typeface="Amiri" pitchFamily="2" charset="-78"/>
                <a:cs typeface="Amiri" pitchFamily="2" charset="-78"/>
              </a:rPr>
              <a:t> </a:t>
            </a:r>
            <a:pPr rtl="1" algn="r" indent="0" marL="0">
              <a:buNone/>
            </a:pPr>
            <a:r>
              <a:rPr lang="ar-SA" altLang="en-US" sz="1800" b="1" dirty="0">
                <a:solidFill>
                  <a:srgbClr val="C77700"/>
                </a:solidFill>
                <a:latin typeface="Amiri" pitchFamily="2" charset="-78"/>
                <a:cs typeface="Amiri" pitchFamily="2" charset="-78"/>
              </a:rPr>
              <a:t>فِي الطَّابِقِ الْأَوَّلِ</a:t>
            </a:r>
            <a:pPr rtl="1" algn="r" indent="0" marL="0">
              <a:buNone/>
            </a:pPr>
            <a:r>
              <a:rPr lang="ar-SA" altLang="en-US" sz="1800" b="1" dirty="0">
                <a:solidFill>
                  <a:srgbClr val="1B3B6F"/>
                </a:solidFill>
                <a:latin typeface="Amiri" pitchFamily="2" charset="-78"/>
                <a:cs typeface="Amiri" pitchFamily="2" charset="-78"/>
              </a:rPr>
              <a:t>. </a:t>
            </a:r>
            <a:pPr rtl="1" algn="r" indent="0" marL="0">
              <a:buNone/>
            </a:pPr>
            <a:r>
              <a:rPr lang="ar-SA" altLang="en-US" sz="1800" b="1" dirty="0">
                <a:solidFill>
                  <a:srgbClr val="1D5FBF"/>
                </a:solidFill>
                <a:latin typeface="Amiri" pitchFamily="2" charset="-78"/>
                <a:cs typeface="Amiri" pitchFamily="2" charset="-78"/>
              </a:rPr>
              <a:t>الْفُصُولُ</a:t>
            </a:r>
            <a:pPr rtl="1" algn="r" indent="0" marL="0">
              <a:buNone/>
            </a:pPr>
            <a:r>
              <a:rPr lang="ar-SA" altLang="en-US" sz="1800" b="1" dirty="0">
                <a:solidFill>
                  <a:srgbClr val="1B3B6F"/>
                </a:solidFill>
                <a:latin typeface="Amiri" pitchFamily="2" charset="-78"/>
                <a:cs typeface="Amiri" pitchFamily="2" charset="-78"/>
              </a:rPr>
              <a:t> </a:t>
            </a:r>
            <a:pPr rtl="1" algn="r" indent="0" marL="0">
              <a:buNone/>
            </a:pPr>
            <a:r>
              <a:rPr lang="ar-SA" altLang="en-US" sz="1800" b="1" dirty="0">
                <a:solidFill>
                  <a:srgbClr val="C77700"/>
                </a:solidFill>
                <a:latin typeface="Amiri" pitchFamily="2" charset="-78"/>
                <a:cs typeface="Amiri" pitchFamily="2" charset="-78"/>
              </a:rPr>
              <a:t>وَاسِعَةٌ</a:t>
            </a:r>
            <a:pPr rtl="1" algn="r" indent="0" marL="0">
              <a:buNone/>
            </a:pPr>
            <a:r>
              <a:rPr lang="ar-SA" altLang="en-US" sz="1800" b="1" dirty="0">
                <a:solidFill>
                  <a:srgbClr val="1B3B6F"/>
                </a:solidFill>
                <a:latin typeface="Amiri" pitchFamily="2" charset="-78"/>
                <a:cs typeface="Amiri" pitchFamily="2" charset="-78"/>
              </a:rPr>
              <a:t>. </a:t>
            </a:r>
            <a:pPr rtl="1" algn="r" indent="0" marL="0">
              <a:buNone/>
            </a:pPr>
            <a:r>
              <a:rPr lang="ar-SA" altLang="en-US" sz="1800" b="1" dirty="0">
                <a:solidFill>
                  <a:srgbClr val="1D5FBF"/>
                </a:solidFill>
                <a:latin typeface="Amiri" pitchFamily="2" charset="-78"/>
                <a:cs typeface="Amiri" pitchFamily="2" charset="-78"/>
              </a:rPr>
              <a:t>أَنَا</a:t>
            </a:r>
            <a:pPr rtl="1" algn="r" indent="0" marL="0">
              <a:buNone/>
            </a:pPr>
            <a:r>
              <a:rPr lang="ar-SA" altLang="en-US" sz="1800" b="1" dirty="0">
                <a:solidFill>
                  <a:srgbClr val="1B3B6F"/>
                </a:solidFill>
                <a:latin typeface="Amiri" pitchFamily="2" charset="-78"/>
                <a:cs typeface="Amiri" pitchFamily="2" charset="-78"/>
              </a:rPr>
              <a:t> </a:t>
            </a:r>
            <a:pPr rtl="1" algn="r" indent="0" marL="0">
              <a:buNone/>
            </a:pPr>
            <a:r>
              <a:rPr lang="ar-SA" altLang="en-US" sz="1800" b="1" dirty="0">
                <a:solidFill>
                  <a:srgbClr val="C77700"/>
                </a:solidFill>
                <a:latin typeface="Amiri" pitchFamily="2" charset="-78"/>
                <a:cs typeface="Amiri" pitchFamily="2" charset="-78"/>
              </a:rPr>
              <a:t>طَالِبَةٌ فِي الصَّفِّ التَّاسِعِ</a:t>
            </a:r>
            <a:pPr rtl="1" algn="r" indent="0" marL="0">
              <a:buNone/>
            </a:pPr>
            <a:r>
              <a:rPr lang="ar-SA" altLang="en-US" sz="1800" b="1" dirty="0">
                <a:solidFill>
                  <a:srgbClr val="1B3B6F"/>
                </a:solidFill>
                <a:latin typeface="Amiri" pitchFamily="2" charset="-78"/>
                <a:cs typeface="Amiri" pitchFamily="2" charset="-78"/>
              </a:rPr>
              <a:t>. </a:t>
            </a:r>
            <a:pPr rtl="1" algn="r" indent="0" marL="0">
              <a:buNone/>
            </a:pPr>
            <a:r>
              <a:rPr lang="ar-SA" altLang="en-US" sz="1800" b="1" dirty="0">
                <a:solidFill>
                  <a:srgbClr val="1D5FBF"/>
                </a:solidFill>
                <a:latin typeface="Amiri" pitchFamily="2" charset="-78"/>
                <a:cs typeface="Amiri" pitchFamily="2" charset="-78"/>
              </a:rPr>
              <a:t>مَادَّتِي الْمُفَضَّلَةُ</a:t>
            </a:r>
            <a:pPr rtl="1" algn="r" indent="0" marL="0">
              <a:buNone/>
            </a:pPr>
            <a:r>
              <a:rPr lang="ar-SA" altLang="en-US" sz="1800" b="1" dirty="0">
                <a:solidFill>
                  <a:srgbClr val="1B3B6F"/>
                </a:solidFill>
                <a:latin typeface="Amiri" pitchFamily="2" charset="-78"/>
                <a:cs typeface="Amiri" pitchFamily="2" charset="-78"/>
              </a:rPr>
              <a:t> </a:t>
            </a:r>
            <a:pPr rtl="1" algn="r" indent="0" marL="0">
              <a:buNone/>
            </a:pPr>
            <a:r>
              <a:rPr lang="ar-SA" altLang="en-US" sz="1800" b="1" dirty="0">
                <a:solidFill>
                  <a:srgbClr val="C77700"/>
                </a:solidFill>
                <a:latin typeface="Amiri" pitchFamily="2" charset="-78"/>
                <a:cs typeface="Amiri" pitchFamily="2" charset="-78"/>
              </a:rPr>
              <a:t>الْعَرَبِيَّةُ</a:t>
            </a:r>
            <a:pPr rtl="1" algn="r" indent="0" marL="0">
              <a:buNone/>
            </a:pPr>
            <a:r>
              <a:rPr lang="ar-SA" altLang="en-US" sz="1800" b="1" dirty="0">
                <a:solidFill>
                  <a:srgbClr val="1B3B6F"/>
                </a:solidFill>
                <a:latin typeface="Amiri" pitchFamily="2" charset="-78"/>
                <a:cs typeface="Amiri" pitchFamily="2" charset="-78"/>
              </a:rPr>
              <a:t>.</a:t>
            </a:r>
            <a:endParaRPr lang="ar-SA" sz="18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This is my school. It is big and modern. The library is on the first floor. The classrooms are spacious. I am a student (f.) in Year 9. My favourite subject is Arabic.</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هُوَ مُهَنْدِسٌ.</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is an engineer.</a:t>
            </a:r>
            <a:endParaRPr lang="en-US" sz="1250" dirty="0"/>
          </a:p>
          <a:p>
            <a:pPr indent="0" marL="0">
              <a:buNone/>
            </a:pPr>
            <a:r>
              <a:rPr lang="en-US" sz="1050" i="1" dirty="0">
                <a:solidFill>
                  <a:srgbClr val="8A6D1E"/>
                </a:solidFill>
                <a:latin typeface="Calibri" pitchFamily="34" charset="0"/>
                <a:cs typeface="Amiri" pitchFamily="2" charset="-78"/>
              </a:rPr>
              <a:t>Identity.</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الْجَوُّ جَمِيلٌ.</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weather is beautiful.</a:t>
            </a:r>
            <a:endParaRPr lang="en-US" sz="1250" dirty="0"/>
          </a:p>
          <a:p>
            <a:pPr indent="0" marL="0">
              <a:buNone/>
            </a:pPr>
            <a:r>
              <a:rPr lang="en-US" sz="1050" i="1" dirty="0">
                <a:solidFill>
                  <a:srgbClr val="8A6D1E"/>
                </a:solidFill>
                <a:latin typeface="Calibri" pitchFamily="34" charset="0"/>
                <a:cs typeface="Amiri" pitchFamily="2" charset="-78"/>
              </a:rPr>
              <a:t>Description.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أَخِي فِي الْمُسْتَشْفَى.</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brother is in the hospital.</a:t>
            </a:r>
            <a:endParaRPr lang="en-US" sz="1250" dirty="0"/>
          </a:p>
          <a:p>
            <a:pPr indent="0" marL="0">
              <a:buNone/>
            </a:pPr>
            <a:r>
              <a:rPr lang="en-US" sz="1050" i="1" dirty="0">
                <a:solidFill>
                  <a:srgbClr val="8A6D1E"/>
                </a:solidFill>
                <a:latin typeface="Calibri" pitchFamily="34" charset="0"/>
                <a:cs typeface="Amiri" pitchFamily="2" charset="-78"/>
              </a:rPr>
              <a:t>Location.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الِامْتِحَانُ غَدًا.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exam is tomorrow.</a:t>
            </a:r>
            <a:endParaRPr lang="en-US" sz="1250" dirty="0"/>
          </a:p>
          <a:p>
            <a:pPr indent="0" marL="0">
              <a:buNone/>
            </a:pPr>
            <a:r>
              <a:rPr lang="en-US" sz="1050" i="1" dirty="0">
                <a:solidFill>
                  <a:srgbClr val="8A6D1E"/>
                </a:solidFill>
                <a:latin typeface="Calibri" pitchFamily="34" charset="0"/>
                <a:cs typeface="Amiri" pitchFamily="2" charset="-78"/>
              </a:rPr>
              <a:t>Time.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MAKE IT AGREE (WEBSITE AGREEMENT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is active?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 نَشِيطٌ؟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Rule</a:t>
            </a:r>
            <a:endParaRPr lang="en-US" sz="1100" dirty="0"/>
          </a:p>
        </p:txBody>
      </p:sp>
      <p:sp>
        <p:nvSpPr>
          <p:cNvPr id="17" name="Text 14"/>
          <p:cNvSpPr txBox="1"/>
          <p:nvPr/>
        </p:nvSpPr>
        <p:spPr>
          <a:xfrm>
            <a:off x="674827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Predicate</a:t>
            </a:r>
            <a:endParaRPr lang="en-US" sz="1100" dirty="0"/>
          </a:p>
        </p:txBody>
      </p:sp>
      <p:sp>
        <p:nvSpPr>
          <p:cNvPr id="18" name="Text 15"/>
          <p:cNvSpPr txBox="1"/>
          <p:nvPr/>
        </p:nvSpPr>
        <p:spPr>
          <a:xfrm>
            <a:off x="363931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 / what?</a:t>
            </a:r>
            <a:endParaRPr lang="en-US" sz="1100" dirty="0"/>
          </a:p>
        </p:txBody>
      </p:sp>
      <p:sp>
        <p:nvSpPr>
          <p:cNvPr id="19" name="Text 16"/>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Topic</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9345168" y="2267712"/>
            <a:ext cx="23134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 singular</a:t>
            </a:r>
            <a:endParaRPr lang="en-US" sz="1100" dirty="0"/>
          </a:p>
        </p:txBody>
      </p:sp>
      <p:sp>
        <p:nvSpPr>
          <p:cNvPr id="22" name="Text 19"/>
          <p:cNvSpPr txBox="1"/>
          <p:nvPr/>
        </p:nvSpPr>
        <p:spPr>
          <a:xfrm>
            <a:off x="6766560" y="2267712"/>
            <a:ext cx="23774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نَشِيطٌ</a:t>
            </a:r>
            <a:endParaRPr lang="ar-SA" sz="2600" dirty="0"/>
          </a:p>
        </p:txBody>
      </p:sp>
      <p:sp>
        <p:nvSpPr>
          <p:cNvPr id="23" name="Text 20"/>
          <p:cNvSpPr txBox="1"/>
          <p:nvPr/>
        </p:nvSpPr>
        <p:spPr>
          <a:xfrm>
            <a:off x="3675888" y="2267712"/>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brother</a:t>
            </a:r>
            <a:endParaRPr lang="en-US" sz="1100" dirty="0"/>
          </a:p>
        </p:txBody>
      </p:sp>
      <p:sp>
        <p:nvSpPr>
          <p:cNvPr id="24" name="Text 21"/>
          <p:cNvSpPr txBox="1"/>
          <p:nvPr/>
        </p:nvSpPr>
        <p:spPr>
          <a:xfrm>
            <a:off x="548640" y="226771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أَخِي</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9345168" y="2881884"/>
            <a:ext cx="23134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 singular</a:t>
            </a:r>
            <a:endParaRPr lang="en-US" sz="1100" dirty="0"/>
          </a:p>
        </p:txBody>
      </p:sp>
      <p:sp>
        <p:nvSpPr>
          <p:cNvPr id="29" name="Text 26"/>
          <p:cNvSpPr txBox="1"/>
          <p:nvPr/>
        </p:nvSpPr>
        <p:spPr>
          <a:xfrm>
            <a:off x="6766560" y="2881884"/>
            <a:ext cx="23774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نَشِيطَةٌ</a:t>
            </a:r>
            <a:endParaRPr lang="ar-SA" sz="2600" dirty="0"/>
          </a:p>
        </p:txBody>
      </p:sp>
      <p:sp>
        <p:nvSpPr>
          <p:cNvPr id="30" name="Text 27"/>
          <p:cNvSpPr txBox="1"/>
          <p:nvPr/>
        </p:nvSpPr>
        <p:spPr>
          <a:xfrm>
            <a:off x="3675888" y="2881884"/>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sister</a:t>
            </a:r>
            <a:endParaRPr lang="en-US" sz="1100" dirty="0"/>
          </a:p>
        </p:txBody>
      </p:sp>
      <p:sp>
        <p:nvSpPr>
          <p:cNvPr id="31" name="Text 28"/>
          <p:cNvSpPr txBox="1"/>
          <p:nvPr/>
        </p:nvSpPr>
        <p:spPr>
          <a:xfrm>
            <a:off x="548640" y="2881884"/>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أُخْتِي</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9345168" y="3496056"/>
            <a:ext cx="23134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a:t>
            </a:r>
            <a:endParaRPr lang="en-US" sz="1100" dirty="0"/>
          </a:p>
        </p:txBody>
      </p:sp>
      <p:sp>
        <p:nvSpPr>
          <p:cNvPr id="36" name="Text 33"/>
          <p:cNvSpPr txBox="1"/>
          <p:nvPr/>
        </p:nvSpPr>
        <p:spPr>
          <a:xfrm>
            <a:off x="6766560" y="3496056"/>
            <a:ext cx="23774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نَشِيطَانِ</a:t>
            </a:r>
            <a:endParaRPr lang="ar-SA" sz="2600" dirty="0"/>
          </a:p>
        </p:txBody>
      </p:sp>
      <p:sp>
        <p:nvSpPr>
          <p:cNvPr id="37" name="Text 34"/>
          <p:cNvSpPr txBox="1"/>
          <p:nvPr/>
        </p:nvSpPr>
        <p:spPr>
          <a:xfrm>
            <a:off x="3675888" y="3496056"/>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two boys</a:t>
            </a:r>
            <a:endParaRPr lang="en-US" sz="1100" dirty="0"/>
          </a:p>
        </p:txBody>
      </p:sp>
      <p:sp>
        <p:nvSpPr>
          <p:cNvPr id="38" name="Text 35"/>
          <p:cNvSpPr txBox="1"/>
          <p:nvPr/>
        </p:nvSpPr>
        <p:spPr>
          <a:xfrm>
            <a:off x="548640" y="3496056"/>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الْوَلَدَانِ</a:t>
            </a:r>
            <a:endParaRPr lang="ar-SA" sz="24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9345168" y="4110228"/>
            <a:ext cx="23134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plural -ūna</a:t>
            </a:r>
            <a:endParaRPr lang="en-US" sz="1100" dirty="0"/>
          </a:p>
        </p:txBody>
      </p:sp>
      <p:sp>
        <p:nvSpPr>
          <p:cNvPr id="41" name="Text 38"/>
          <p:cNvSpPr txBox="1"/>
          <p:nvPr/>
        </p:nvSpPr>
        <p:spPr>
          <a:xfrm>
            <a:off x="6766560" y="4110228"/>
            <a:ext cx="23774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نَشِيطُونَ</a:t>
            </a:r>
            <a:endParaRPr lang="ar-SA" sz="2600" dirty="0"/>
          </a:p>
        </p:txBody>
      </p:sp>
      <p:sp>
        <p:nvSpPr>
          <p:cNvPr id="42" name="Text 39"/>
          <p:cNvSpPr txBox="1"/>
          <p:nvPr/>
        </p:nvSpPr>
        <p:spPr>
          <a:xfrm>
            <a:off x="3675888" y="4110228"/>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teachers (m.)</a:t>
            </a:r>
            <a:endParaRPr lang="en-US" sz="1100" dirty="0"/>
          </a:p>
        </p:txBody>
      </p:sp>
      <p:sp>
        <p:nvSpPr>
          <p:cNvPr id="43" name="Text 40"/>
          <p:cNvSpPr txBox="1"/>
          <p:nvPr/>
        </p:nvSpPr>
        <p:spPr>
          <a:xfrm>
            <a:off x="548640" y="4110228"/>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الْمُعَلِّمُونَ</a:t>
            </a:r>
            <a:endParaRPr lang="ar-SA" sz="24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9345168" y="4724400"/>
            <a:ext cx="23134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plural -ātun</a:t>
            </a:r>
            <a:endParaRPr lang="en-US" sz="1100" dirty="0"/>
          </a:p>
        </p:txBody>
      </p:sp>
      <p:sp>
        <p:nvSpPr>
          <p:cNvPr id="46" name="Text 43"/>
          <p:cNvSpPr txBox="1"/>
          <p:nvPr/>
        </p:nvSpPr>
        <p:spPr>
          <a:xfrm>
            <a:off x="6766560" y="4724400"/>
            <a:ext cx="23774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نَشِيطَاتٌ</a:t>
            </a:r>
            <a:endParaRPr lang="ar-SA" sz="2600" dirty="0"/>
          </a:p>
        </p:txBody>
      </p:sp>
      <p:sp>
        <p:nvSpPr>
          <p:cNvPr id="47" name="Text 44"/>
          <p:cNvSpPr txBox="1"/>
          <p:nvPr/>
        </p:nvSpPr>
        <p:spPr>
          <a:xfrm>
            <a:off x="3675888" y="4724400"/>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teachers (f.)</a:t>
            </a:r>
            <a:endParaRPr lang="en-US" sz="1100" dirty="0"/>
          </a:p>
        </p:txBody>
      </p:sp>
      <p:sp>
        <p:nvSpPr>
          <p:cNvPr id="48" name="Text 45"/>
          <p:cNvSpPr txBox="1"/>
          <p:nvPr/>
        </p:nvSpPr>
        <p:spPr>
          <a:xfrm>
            <a:off x="548640" y="4724400"/>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الْمُعَلِّمَاتُ</a:t>
            </a:r>
            <a:endParaRPr lang="ar-SA" sz="240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9345168" y="5338572"/>
            <a:ext cx="23134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things / animals</a:t>
            </a:r>
            <a:endParaRPr lang="en-US" sz="1100" dirty="0"/>
          </a:p>
        </p:txBody>
      </p:sp>
      <p:sp>
        <p:nvSpPr>
          <p:cNvPr id="51" name="Text 48"/>
          <p:cNvSpPr txBox="1"/>
          <p:nvPr/>
        </p:nvSpPr>
        <p:spPr>
          <a:xfrm>
            <a:off x="6766560" y="5338572"/>
            <a:ext cx="23774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نَشِيطَةٌ</a:t>
            </a:r>
            <a:endParaRPr lang="ar-SA" sz="2600" dirty="0"/>
          </a:p>
        </p:txBody>
      </p:sp>
      <p:sp>
        <p:nvSpPr>
          <p:cNvPr id="52" name="Text 49"/>
          <p:cNvSpPr txBox="1"/>
          <p:nvPr/>
        </p:nvSpPr>
        <p:spPr>
          <a:xfrm>
            <a:off x="3675888" y="5338572"/>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cats</a:t>
            </a:r>
            <a:endParaRPr lang="en-US" sz="1100" dirty="0"/>
          </a:p>
        </p:txBody>
      </p:sp>
      <p:sp>
        <p:nvSpPr>
          <p:cNvPr id="53" name="Text 50"/>
          <p:cNvSpPr txBox="1"/>
          <p:nvPr/>
        </p:nvSpPr>
        <p:spPr>
          <a:xfrm>
            <a:off x="548640" y="533857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الْقِطَطُ</a:t>
            </a:r>
            <a:endParaRPr lang="ar-SA" sz="2400" dirty="0"/>
          </a:p>
        </p:txBody>
      </p:sp>
      <p:sp>
        <p:nvSpPr>
          <p:cNvPr id="54" name="Shape 51"/>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Say the full sentence each time: akhī nashīṭun · ukhtī nashīṭatun … Animals and things in the plural take the feminine singular.</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 PHRASE OR SENTENCE?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Is it finished?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عِبَارَةٌ أَمْ 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الْبَيْتُ الْكَبِيرُ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السَّيَّارَةُ الْجَدِيدَةُ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الْكُتُبُ الْمُفِيدَةُ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الطَّالِبُ الْمُجْتَهِدُ</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الْبَيْتُ كَبِيرٌ.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السَّيَّارَةُ جَدِيدَةٌ.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الْكُتُبُ مُفِيدَةٌ.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الطَّالِبَةُ فِي الْفَصْلِ.</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Phrase (not finished)</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Complete sentence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Phrase (not finished)</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الْبَيْتُ الْكَبِيرُ</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السَّيَّارَةُ الْجَدِيدَةُ</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الْكُتُبُ الْمُفِيدَةُ</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الطَّالِبُ الْمُجْتَهِدُ</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Complete sentence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الْبَيْتُ كَبِيرٌ.</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السَّيَّارَةُ جَدِيدَةٌ.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الْكُتُبُ مُفِيدَةٌ.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الطَّالِبَةُ فِي الْفَصْلِ.</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هُوَ يَكُونُ مُعَلِّمًا.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Does English “is” need a word?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هِيَ طَبِيبٌ.</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the doctor a man or a woman?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السَّيَّارَاتُ سَرِيعَاتٌ.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Are cars people?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هُوَ يَكُونُ مُعَلِّمًا.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هُوَ مُعَلِّمٌ.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 present “is” is needed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هِيَ طَبِيبٌ.</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هِيَ طَبِيبَةٌ.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woman: feminine predicate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السَّيَّارَاتُ سَرِيعَاتٌ.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السَّيَّارَاتُ سَرِيعَةٌ.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Things in the plural → feminine singular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FINAL MASTERY CHECK</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Identify the predicate: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الْجَوُّ جَمِيلٌ.</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الْجَوُّ</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الْجَوُّ جَمِيلٌ</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جَمِيلٌ</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a new car.”</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سَيَّارَةٌ جَدِيدٌ.</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سَيَّارَةٌ جَدِيدَةٌ.</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السَّيَّارَةُ الْجَدِيدَةُ.</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are at home.”</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نَحْنُ الْبَيْتُ.</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نَحْنُ فِي الْبَيْتِ.</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نَحْنُ فِي الْبَيْتُ.</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children are in the garden.”</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الْأَطْفَالُ الْحَدِيقَةُ.</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الْأَطْفَالِ الْحَدِيقَةُ.</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الْأَطْفَالُ فِي الْحَدِيقَةِ.</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Identify the predicate: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الْجَوُّ جَمِيلٌ.</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الْجَوُّ</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الْجَوُّ جَمِيلٌ</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جَمِيلٌ</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Jamīlun gives the information.</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a new car.”</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هَذَا سَيَّارَةٌ جَدِيدٌ.</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هَذِهِ سَيَّارَةٌ جَدِيدَةٌ.</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هَذِهِ السَّيَّارَةُ الْجَدِيدَةُ.</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Sayyāra is feminine: hādhihi … jadīdatun.</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are at home.”</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نَحْنُ الْبَيْتُ.</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نَحْنُ فِي الْبَيْتِ.</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نَحْنُ فِي الْبَيْتُ.</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fī: kasra — fī l-bayti.</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children are in the garden.”</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الْأَطْفَالُ الْحَدِيقَةُ.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الْأَطْفَالِ الْحَدِيقَةُ.</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الْأَطْفَالُ فِي الْحَدِيقَةِ.</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place phrase can be the predicate.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E6B52"/>
                </a:solidFill>
                <a:latin typeface="Calibri" pitchFamily="34" charset="0"/>
                <a:cs typeface="Amiri" pitchFamily="2" charset="-78"/>
              </a:rPr>
              <a:t>YOU DO · READ AND NOTICE · WEBSITE SKILLS WORKSHOP (TEACHER-WRITTEN DESCRIPTION)</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Zaynab’s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اِسْمِي زَيْنَبُ. أَنَا طَالِبَةٌ فِي الصَّفِّ الْعَاشِرِ، وَمَدْرَسَتِي فِي وَسَطِ الْمَدِينَةِ. الْمَدْرَسَةُ قَدِيمَةٌ وَلَكِنَّهَا جَمِيلَةٌ. الْفُصُولُ وَاسِعَةٌ، وَالنَّوَافِذُ كَبِيرَةٌ. مُعَلِّمَتِي الْمُفَضَّلَةُ الْأُسْتَاذَةُ سَارَةُ؛ هِيَ لَطِيفَةٌ وَصَبُورَةٌ. صَدِيقَاتِي مَرِحَاتٌ وَمُجْتَهِدَاتٌ. الْمَكْتَبَةُ بِجَانِبِ الْمَسْجِدِ، وَالْمَلْعَبُ خَلْفَ الْمَدْرَسَةِ. الِامْتِحَانَاتُ بَعْدَ أُسْبُوعَيْنِ!</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وَسَطِ</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centre</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وَاسِعَةٌ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spacious</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النَّوَافِذُ</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windows</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صَبُورَةٌ</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patient (f.)</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مَرِحَاتٌ</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cheerful (f. pl.)</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Zaynab’s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behind the mosque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city centre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to the river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wāsiʿatun with al-fuṣūlu?</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classrooms are for girls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things: feminine singular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predicate tells us a location?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خَلْفَ الْمَدْرَسَةِ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مَرِحَاتٌ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لَطِيفَةٌ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are the exams?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tomorrow</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two weeks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year</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Zaynab’s school?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behind the mosque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city centre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next to the river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Fī wasaṭi l-madīna.</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wāsiʿatun with al-fuṣūlu?</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classrooms are for girls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things: feminine singular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 feminine singular.</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predicate tells us a location?</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خَلْفَ الْمَدْرَسَةِ</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مَرِحَاتٌ</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لَطِيفَةٌ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locator phrase.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are the exams?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tomorrow</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two weeks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next year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Baʿda usbūʿayn.</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who, what and where?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أَنْتَ؟ وَأَيْنَ مَدْرَسَتُكَ؟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صَدِيقَكَ أَوْ صَدِيقَتَكَ.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غُرْفَتَكَ: مَا فِيهَا، وَأَيْنَ الْأَشْيَاءُ؟</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أَنَا ___ ، وَمَدْرَسَتِي فِي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صَدِيقِي ___ وَ___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السَّرِيرُ ___ ، وَالْكُتُبُ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مَنْ هَذِهِ فِي الصُّورَةِ؟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Who is this in the picture?</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هَذِهِ أُخْتِي مَرْيَمُ. هِيَ طَبِيبَةٌ فِي مُسْتَشْفًى كَبِيرٍ، وَزَوْجُهَا مُهَنْدِسٌ. بَيْتُهُمَا قَرِيبٌ مِنْ بَيْتِنَا.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This is my sister Maryam. She is a doctor in a big hospital, and her husband is an engineer. Their house is near our house.</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Yourself: name, class, school and where it is.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anā ṭālib(a) · madrasatī fī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friend and two plural topics.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aṣdiqāʾī mujtahidūna · al-kutubu mufīdatun.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description of a person and a place.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Four word predicates, three place phrases.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أَصْدِقَائِي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friends are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الْفُصُولُ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classrooms are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الْمَلْعَبُ خَلْفَ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playground is behind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هَذَا كِتَابٌ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a … book</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أَنَا ______ فِي الصَّفِّ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a … in Year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مَدْرَسَتِي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school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الْمَكْتَبَةُ بِجَانِبِ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library is next to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مُعَلِّمَتِي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teacher (f.) is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كَبِيرٌ  ·  صَغِيرٌ  ·  جَدِيدٌ  ·  قَدِيمٌ  ·  جَمِيلٌ  ·  وَاسِعٌ  ·  قَرِيبٌ  ·  بَعِيدٌ  ·  فِي  ·  أَمَامَ  ·  خَلْفَ  ·  بِجَانِبِ  ·  بَيْنَ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task (80–100 words): introduce yourself or another person and describe a familiar place.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four one-word predicates.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place or locator predicates.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Correct gender agreement throughout.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non-human plural with a feminine singular predicate.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No inserted yakūnu.</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وَسَطِ</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middle of</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بِجَانِبِ</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to</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أَمَامَ</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front of</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خَلْفَ</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behind</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قَرِيبٌ مِنْ</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near to</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بَعِيدٌ عَنْ</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far from</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اِسْمِي يُوسُفُ، وَأَنَا طَالِبٌ فِي الصَّفِّ التَّاسِعِ. بَيْتُنَا فِي حَيٍّ هَادِئٍ قُرْبَ النَّهْرِ. الْبَيْتُ صَغِيرٌ وَلَكِنَّهُ مُرِيحٌ. غُرْفَتِي فِي الطَّابِقِ الثَّانِي، وَنَافِذَتُهَا أَمَامَ الْحَدِيقَةِ. كُتُبِي كَثِيرَةٌ، وَهِيَ عَلَى رُفُوفٍ بِجَانِبِ السَّرِيرِ. أَبِي مُهَنْدِسٌ، وَأُمِّي مُعَلِّمَةٌ فِي مَدْرَسَةٍ قَرِيبَةٍ. أَخَوَايَ تَوْأَمَانِ، وَهُمَا صَغِيرَانِ وَمَرِحَانِ. جِيرَانُنَا لُطَفَاءُ وَكُرَمَاءُ. الْمَسْجِدُ فِي آخِرِ الشَّارِعِ، وَالسُّوقُ بَعِيدٌ قَلِيلًا.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name is Yūsuf, and I am a student in Year 9. Our house is in a quiet neighbourhood near the river. The house is small but comfortable. My room is on the second floor, and its window faces the garden. My books are many, and they are on shelves next to the bed. My father is an engineer, and my mother is a teacher in a nearby school. My two brothers are twins; they are young and cheerful. Our neighbours are kind and generous. The mosque is at the end of the street, and the market is a little far.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word predicate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place predicate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dual predicate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non-human plural + feminine singular</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did not add a word for “is”.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Feminine topics have feminine predicates.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predicates are indefinite (tanwīn) — so they are sentences, not phrases.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Dual and plural people have dual / plural predicates.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Things in the plural have a feminine singular predicate.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complete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الْمَدْرَسَةُ قَرِيبَةٌ.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الْمَدْرَسَةُ الْقَرِيبَةُ.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مَدْرَسَةٌ الْقَرِيبَةُ.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non-human plural agreement is correct?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السَّيَّارَاتُ سَرِيعَاتٌ.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السَّيَّارَاتُ سَرِيعَةٌ.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السَّيَّارَاتُ سَرِيعُونَ.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not yet a full statement?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الْكِتَابُ الْمُفِيدُ</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الْكِتَابُ مُفِيدٌ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الْكِتَابُ فِي الْحَقِيبَةِ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complete sentence.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الْمَدْرَسَةُ قَرِيبَةٌ.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الْمَدْرَسَةُ الْقَرِيبَةُ.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مَدْرَسَةٌ الْقَرِيبَةُ.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Definite topic + indefinite predicate.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non-human plural agreement is correct?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السَّيَّارَاتُ سَرِيعَاتٌ.</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السَّيَّارَاتُ سَرِيعَةٌ.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السَّيَّارَاتُ سَرِيعُونَ.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Cars are things → sarīʿatun.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not yet a full statement?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الْكِتَابُ الْمُفِيدُ</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الْكِتَابُ مُفِيدٌ</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الْكِتَابُ فِي الْحَقِيبَةِ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definite → a phrase: “the useful book”.</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GM-NVS-01 · Non-Verbal Sentences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GM-NVS-02: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GM-NVS-02 · Inna and Its Sisters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إِنَّ</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indeed / truly (adds emphasis)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لَكِنَّ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but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لِأَنَّ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because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لَعَلَّ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perhaps / hopefully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كَأَنَّ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as if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After inna the topic changes its ending from -u to -a: inna l-jawwa jamīlun. Can you hear the change?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إِنَّ ______ جَمِيلٌ.</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sentences about your family with no “is”.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six sentences: two dual, two plural (people), two plural (things).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description of a person and a place (80–100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GM-NVS-01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GM-NVS-02 · Inna and Its Sisters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إِنَّ وَأَخَوَاتُهَا</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topic + information = a sentence, with no “is” · the predicate matches the topic (ṭabībun / ṭabībatun) · definite + definite = a phrase; definite + indefinite = a sentence · place phrases never change for gender · things in the plural → feminine singular.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GM-NVS-01 · Simple Non-Verbal Sentences</dc:title>
  <dc:subject>PptxGenJS Presentation</dc:subject>
  <dc:creator>Al Madina Online School · Arabic Department</dc:creator>
  <cp:lastModifiedBy>Al Madina Online School · Arabic Department</cp:lastModifiedBy>
  <cp:revision>1</cp:revision>
  <dcterms:created xsi:type="dcterms:W3CDTF">2026-10-11T06:42:23Z</dcterms:created>
  <dcterms:modified xsi:type="dcterms:W3CDTF">2026-10-11T06:42:23Z</dcterms:modified>
</cp:coreProperties>
</file>