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GM-NVS-01 (“Simple Non-Verbal Sentences”).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subject + predicate with no “is” (huwa ṭālibun, al-jawwu jamīlun) and location with fī (anā fī l-bayt). Develop: agreement — feminine, dual, human plural — and the phrase-or-sentence test (al-baytu l-kabīru vs al-baytu kabīrun). Stretch: non-human plurals (al-kutubu mufīdatun), locator and time predicates, case-aware reading.
• Website transfer warning: never insert yakūnu because English has “is”. Website boundary: case endings explain the structure, but communication comes first — Case Endings (GM-CASE) analyses them later.
• Colour code for the area: blue = topic (mubtadaʾ), orange = predicate (khabar). Recycles GM-PRO pronouns, GM-ADJ agreement and GM-CP prepositions.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GM-PRO subject pronouns, GM-ADJ adjective agreement and GM-DEM hādhā / hādhihi.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Topic + information = a complete sentence. No word for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present equational sentence”. Read each model, then ask: where is the “is”? (There isn’t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“Agreement in single-word predicates”. Core: rows 1, 2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“Phrase or complete sentence?” (rows 5–6 teacher-added). Test: can you put a full stop after it and say “is”? Then it is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“Three practical predicate types”. Locators: amāma, khalfa, bi-jānibi, bayna, fawqa, taḥta.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from the website skills-workshop lines. Point out al-fuṣūlu wāsiʿatun: classrooms are things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3. Then swap the adjective: mujtahid, saʿīd, mashghūl.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items. Website tip: read for meaning and definiteness, not just word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items. Website tip: read for meaning and definiteness, not just word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description). Read it aloud once while students follow; then they hunt for today’s grammar.
Task: Website: underline each topic once and box each predicate. Label one predicate “word” and one “phrase”.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identify people and things, describe them and say where they are — no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introducing yourself or another person and describing a familiar place.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(GM-NVS-02 · Inna and Its Sisters) will spend class time USING this language, so students prepare it tonight — short, simple, easy to access (school guidance: “Simple, Short, Interesting, Relevant, Easy to access”). The five words prepare GM-NVS-02 (website: inna and its sisters).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NON-VERBAL SENTENCES  ·  GM-NVS-01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GM-NVS-01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ea typeface="Cambria" pitchFamily="34" charset="-122"/>
                <a:cs typeface="Cambria" pitchFamily="34" charset="-120"/>
              </a:rPr>
              <a:t>Simple Non-Verbal Sentences</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الْجُمَلُ الِاسْمِيَّةُ الْبَسِيطَةُ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needs no “is / am / are” in the present: huwa muhandisun (he is an engineer), al-baytu kabīrun (the house is big), anā fī l-bank (I am in the bank). Topic + information — that is a complete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GM-NVS-01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No “is”; agreement; phrase or sentence; four predicate types.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Make it agree; phrase or sentence?;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GM-NVS-02.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means “He is an engineer”?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يَكُونُ مُهَنْدِسًا.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مُهَنْدِسٌ.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 هُوَ يَكُونُ.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sentence meaning “The house is large”?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كَبِيرٌ.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الْكَبِيرُ.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الْكَبِيرُ.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طَبِيبٌ.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طَبِيبَةٌ.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طَبِيبَةٌ.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am in the bank”?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الْبَنْكُ.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أَنَا الْبَنْكُ.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فِي الْبَنْكِ.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phrase, not a complete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الْفَصْلُ الْكَبِيرُ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الْفَصْلُ كَبِيرٌ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فِي الْفَصْلِ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means “He is an engineer”?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يَكُونُ مُهَنْدِسًا.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مُهَنْدِسٌ.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 هُوَ يَكُونُ.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separate “is” in the present.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sentence meaning “The house is large”?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الْبَيْتُ كَبِيرٌ.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الْكَبِيرُ.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الْكَبِيرُ.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topic + indefinite predicate = a sentence.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طَبِيبٌ.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طَبِيبَةٌ.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طَبِيبَةٌ.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woman: ṭabībatun.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am in the bank”?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الْبَنْكُ.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أَنَا الْبَنْكُ.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فِي الْبَنْكِ.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 place is the predicate.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phrase, not a complete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الْفَصْلُ الْكَبِيرُ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الْفَصْلُ كَبِيرٌ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 فِي الْفَصْلِ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definite → “the large classroom”.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Topic + information = a complete sentence. No word for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الْبَيْتُ</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C77700"/>
                </a:solidFill>
                <a:latin typeface="Amiri" pitchFamily="34" charset="0"/>
                <a:ea typeface="Amiri" pitchFamily="34" charset="-122"/>
                <a:cs typeface="Amiri" pitchFamily="34" charset="-120"/>
              </a:rPr>
              <a:t>كَبِيرٌ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أَنَا</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C77700"/>
                </a:solidFill>
                <a:latin typeface="Amiri" pitchFamily="34" charset="0"/>
                <a:ea typeface="Amiri" pitchFamily="34" charset="-122"/>
                <a:cs typeface="Amiri" pitchFamily="34" charset="-120"/>
              </a:rPr>
              <a:t>فِي الْبَيْتِ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sentences with no “is”.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the predicate to the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phrase from a sentence.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where and when with a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huwa ṭālibun and anā fī l-bayt.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match masculine and feminine.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dual and plural predicates.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tell al-baytu l-kabīru from al-baytu kabīrun.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 non-human plural rule.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describe a person and a place in 80–100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الْجُمْلَةُ الِاسْمِيَّةُ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nominal sentence (no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al-jum-la-tu al-ِs-miy-ya-tu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الْجَوُّ جَمِيلٌ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الْمُبْتَدَأُ</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 what we talk about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al-mub-ta-da-ʾu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الْجَوُّ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predicate — the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al-kha-ba-ru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جَمِيلٌ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الْمَعْرِفَةُ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 (with al- or a name)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al-maʿ-ri-fa-tu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الْبَيْتُ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النَّكِرَةُ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indefinite (with tanwīn)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an-na-ki-ra-tu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كَبِيرٌ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شِبْهُ الْجُمْلَةِ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phrase predicate (where / 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shib-hu al-jum-la-ti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الْبَيْتِ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PRESENT EQUATIONAL SENTENCE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 information — no “is”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الْمُبْتَدَأُ + الْخَبَرُ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50608" y="2267712"/>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is an engineer.</a:t>
            </a:r>
            <a:endParaRPr lang="en-US" sz="1100" dirty="0"/>
          </a:p>
        </p:txBody>
      </p:sp>
      <p:sp>
        <p:nvSpPr>
          <p:cNvPr id="21" name="Text 18"/>
          <p:cNvSpPr txBox="1"/>
          <p:nvPr/>
        </p:nvSpPr>
        <p:spPr>
          <a:xfrm>
            <a:off x="292608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هُوَ مُهَنْدِسٌ.</a:t>
            </a:r>
            <a:endParaRPr lang="ar-SA" sz="26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Identity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50608" y="3004718"/>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is beautiful.</a:t>
            </a:r>
            <a:endParaRPr lang="en-US" sz="1100" dirty="0"/>
          </a:p>
        </p:txBody>
      </p:sp>
      <p:sp>
        <p:nvSpPr>
          <p:cNvPr id="27" name="Text 24"/>
          <p:cNvSpPr txBox="1"/>
          <p:nvPr/>
        </p:nvSpPr>
        <p:spPr>
          <a:xfrm>
            <a:off x="292608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الْجَوُّ جَمِيلٌ.</a:t>
            </a:r>
            <a:endParaRPr lang="ar-SA" sz="26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Description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150608" y="3741725"/>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a book.</a:t>
            </a:r>
            <a:endParaRPr lang="en-US" sz="1100" dirty="0"/>
          </a:p>
        </p:txBody>
      </p:sp>
      <p:sp>
        <p:nvSpPr>
          <p:cNvPr id="33" name="Text 30"/>
          <p:cNvSpPr txBox="1"/>
          <p:nvPr/>
        </p:nvSpPr>
        <p:spPr>
          <a:xfrm>
            <a:off x="292608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كِتَابٌ.</a:t>
            </a:r>
            <a:endParaRPr lang="ar-SA" sz="26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Classification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150608" y="4478731"/>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am in the bank.</a:t>
            </a:r>
            <a:endParaRPr lang="en-US" sz="1100" dirty="0"/>
          </a:p>
        </p:txBody>
      </p:sp>
      <p:sp>
        <p:nvSpPr>
          <p:cNvPr id="39" name="Text 36"/>
          <p:cNvSpPr txBox="1"/>
          <p:nvPr/>
        </p:nvSpPr>
        <p:spPr>
          <a:xfrm>
            <a:off x="292608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أَنَا فِي الْبَنْكِ.</a:t>
            </a:r>
            <a:endParaRPr lang="ar-SA" sz="26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Location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150608" y="5215738"/>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are students.</a:t>
            </a:r>
            <a:endParaRPr lang="en-US" sz="1100" dirty="0"/>
          </a:p>
        </p:txBody>
      </p:sp>
      <p:sp>
        <p:nvSpPr>
          <p:cNvPr id="45" name="Text 42"/>
          <p:cNvSpPr txBox="1"/>
          <p:nvPr/>
        </p:nvSpPr>
        <p:spPr>
          <a:xfrm>
            <a:off x="292608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نَحْنُ طُلَّابٌ.</a:t>
            </a:r>
            <a:endParaRPr lang="ar-SA" sz="2600" dirty="0"/>
          </a:p>
        </p:txBody>
      </p:sp>
      <p:sp>
        <p:nvSpPr>
          <p:cNvPr id="46" name="Text 43"/>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Group identity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Arabic puts the topic and the information side by side; English adds am / is / are in translation. Common transfer error: do not insert yakūnu just because English has “is” — huwa muhandisun is the natural sentence.</a:t>
            </a:r>
            <a:endParaRPr lang="en-US" sz="11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AGREEMENT IN ONE-WORD PREDICATES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information matches the topic</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Predicate is…</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singular</a:t>
            </a:r>
            <a:endParaRPr lang="en-US" sz="1100" dirty="0"/>
          </a:p>
        </p:txBody>
      </p:sp>
      <p:sp>
        <p:nvSpPr>
          <p:cNvPr id="21" name="Text 18"/>
          <p:cNvSpPr txBox="1"/>
          <p:nvPr/>
        </p:nvSpPr>
        <p:spPr>
          <a:xfrm>
            <a:off x="3291840" y="226771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طَالِبٌ مُجْتَهِدٌ.</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male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a:t>
            </a:r>
            <a:endParaRPr lang="en-US" sz="1100" dirty="0"/>
          </a:p>
        </p:txBody>
      </p:sp>
      <p:sp>
        <p:nvSpPr>
          <p:cNvPr id="27" name="Text 24"/>
          <p:cNvSpPr txBox="1"/>
          <p:nvPr/>
        </p:nvSpPr>
        <p:spPr>
          <a:xfrm>
            <a:off x="3291840" y="2881884"/>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 طَالِبَةٌ مُجْتَهِدَةٌ.</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female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-āni</a:t>
            </a:r>
            <a:endParaRPr lang="en-US" sz="1100" dirty="0"/>
          </a:p>
        </p:txBody>
      </p:sp>
      <p:sp>
        <p:nvSpPr>
          <p:cNvPr id="33" name="Text 30"/>
          <p:cNvSpPr txBox="1"/>
          <p:nvPr/>
        </p:nvSpPr>
        <p:spPr>
          <a:xfrm>
            <a:off x="3291840" y="3496056"/>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الطَّالِبَانِ مُسْتَعِدَّانِ.</a:t>
            </a:r>
            <a:endParaRPr lang="ar-SA" sz="24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males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-ūna</a:t>
            </a:r>
            <a:endParaRPr lang="en-US" sz="1100" dirty="0"/>
          </a:p>
        </p:txBody>
      </p:sp>
      <p:sp>
        <p:nvSpPr>
          <p:cNvPr id="37" name="Text 34"/>
          <p:cNvSpPr txBox="1"/>
          <p:nvPr/>
        </p:nvSpPr>
        <p:spPr>
          <a:xfrm>
            <a:off x="3291840" y="4110228"/>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مُجْتَهِدُونَ.</a:t>
            </a:r>
            <a:endParaRPr lang="ar-SA" sz="24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male / mixed group</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-ātun</a:t>
            </a:r>
            <a:endParaRPr lang="en-US" sz="1100" dirty="0"/>
          </a:p>
        </p:txBody>
      </p:sp>
      <p:sp>
        <p:nvSpPr>
          <p:cNvPr id="41" name="Text 38"/>
          <p:cNvSpPr txBox="1"/>
          <p:nvPr/>
        </p:nvSpPr>
        <p:spPr>
          <a:xfrm>
            <a:off x="3291840" y="4724400"/>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 مُجْتَهِدَاتٌ.</a:t>
            </a:r>
            <a:endParaRPr lang="ar-SA" sz="24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female group</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a:t>
            </a:r>
            <a:endParaRPr lang="en-US" sz="1100" dirty="0"/>
          </a:p>
        </p:txBody>
      </p:sp>
      <p:sp>
        <p:nvSpPr>
          <p:cNvPr id="45" name="Text 42"/>
          <p:cNvSpPr txBox="1"/>
          <p:nvPr/>
        </p:nvSpPr>
        <p:spPr>
          <a:xfrm>
            <a:off x="3291840" y="533857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الْكُتُبُ مُفِيدَةٌ.</a:t>
            </a:r>
            <a:endParaRPr lang="ar-SA" sz="24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(plural)</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boundary: the case endings help explain the structure, but clear agreement comes first — the Case Endings lessons analyse them later. Things in the plural take the feminine singular, as with verbs (GM-VS-02).</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3 · PHRASE OR COMPLETE SENTENCE? (WEBSITE TABLE) · DEVELOP</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Definite + definite = phrase · definite + indefinite = sentence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Analysis</a:t>
            </a:r>
            <a:endParaRPr lang="en-US" sz="1100" dirty="0"/>
          </a:p>
        </p:txBody>
      </p:sp>
      <p:sp>
        <p:nvSpPr>
          <p:cNvPr id="17" name="Text 14"/>
          <p:cNvSpPr txBox="1"/>
          <p:nvPr/>
        </p:nvSpPr>
        <p:spPr>
          <a:xfrm>
            <a:off x="41879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 not finished</a:t>
            </a:r>
            <a:endParaRPr lang="en-US" sz="1100" dirty="0"/>
          </a:p>
        </p:txBody>
      </p:sp>
      <p:sp>
        <p:nvSpPr>
          <p:cNvPr id="21" name="Text 18"/>
          <p:cNvSpPr txBox="1"/>
          <p:nvPr/>
        </p:nvSpPr>
        <p:spPr>
          <a:xfrm>
            <a:off x="42245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large house</a:t>
            </a:r>
            <a:endParaRPr lang="en-US" sz="1100" dirty="0"/>
          </a:p>
        </p:txBody>
      </p:sp>
      <p:sp>
        <p:nvSpPr>
          <p:cNvPr id="22" name="Text 19"/>
          <p:cNvSpPr txBox="1"/>
          <p:nvPr/>
        </p:nvSpPr>
        <p:spPr>
          <a:xfrm>
            <a:off x="548640" y="226771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الْبَيْتُ الْكَبِيرُ</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complete sentence</a:t>
            </a:r>
            <a:endParaRPr lang="en-US" sz="1100" dirty="0"/>
          </a:p>
        </p:txBody>
      </p:sp>
      <p:sp>
        <p:nvSpPr>
          <p:cNvPr id="27" name="Text 24"/>
          <p:cNvSpPr txBox="1"/>
          <p:nvPr/>
        </p:nvSpPr>
        <p:spPr>
          <a:xfrm>
            <a:off x="42245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is large.</a:t>
            </a:r>
            <a:endParaRPr lang="en-US" sz="1100" dirty="0"/>
          </a:p>
        </p:txBody>
      </p:sp>
      <p:sp>
        <p:nvSpPr>
          <p:cNvPr id="28" name="Text 25"/>
          <p:cNvSpPr txBox="1"/>
          <p:nvPr/>
        </p:nvSpPr>
        <p:spPr>
          <a:xfrm>
            <a:off x="548640" y="2881884"/>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الْبَيْتُ كَبِيرٌ.</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(indefinite)</a:t>
            </a:r>
            <a:endParaRPr lang="en-US" sz="1100" dirty="0"/>
          </a:p>
        </p:txBody>
      </p:sp>
      <p:sp>
        <p:nvSpPr>
          <p:cNvPr id="33" name="Text 30"/>
          <p:cNvSpPr txBox="1"/>
          <p:nvPr/>
        </p:nvSpPr>
        <p:spPr>
          <a:xfrm>
            <a:off x="42245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new school</a:t>
            </a:r>
            <a:endParaRPr lang="en-US" sz="1100" dirty="0"/>
          </a:p>
        </p:txBody>
      </p:sp>
      <p:sp>
        <p:nvSpPr>
          <p:cNvPr id="34" name="Text 31"/>
          <p:cNvSpPr txBox="1"/>
          <p:nvPr/>
        </p:nvSpPr>
        <p:spPr>
          <a:xfrm>
            <a:off x="548640" y="3496056"/>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مَدْرَسَةٌ جَدِيدَةٌ</a:t>
            </a:r>
            <a:endParaRPr lang="ar-SA" sz="26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complete sentence</a:t>
            </a:r>
            <a:endParaRPr lang="en-US" sz="1100" dirty="0"/>
          </a:p>
        </p:txBody>
      </p:sp>
      <p:sp>
        <p:nvSpPr>
          <p:cNvPr id="37" name="Text 34"/>
          <p:cNvSpPr txBox="1"/>
          <p:nvPr/>
        </p:nvSpPr>
        <p:spPr>
          <a:xfrm>
            <a:off x="42245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is new.</a:t>
            </a:r>
            <a:endParaRPr lang="en-US" sz="1100" dirty="0"/>
          </a:p>
        </p:txBody>
      </p:sp>
      <p:sp>
        <p:nvSpPr>
          <p:cNvPr id="38" name="Text 35"/>
          <p:cNvSpPr txBox="1"/>
          <p:nvPr/>
        </p:nvSpPr>
        <p:spPr>
          <a:xfrm>
            <a:off x="548640" y="4110228"/>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الْمَدْرَسَةُ جَدِيدَةٌ.</a:t>
            </a:r>
            <a:endParaRPr lang="ar-SA" sz="26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a:t>
            </a:r>
            <a:endParaRPr lang="en-US" sz="1100" dirty="0"/>
          </a:p>
        </p:txBody>
      </p:sp>
      <p:sp>
        <p:nvSpPr>
          <p:cNvPr id="41" name="Text 38"/>
          <p:cNvSpPr txBox="1"/>
          <p:nvPr/>
        </p:nvSpPr>
        <p:spPr>
          <a:xfrm>
            <a:off x="42245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book</a:t>
            </a:r>
            <a:endParaRPr lang="en-US" sz="1100" dirty="0"/>
          </a:p>
        </p:txBody>
      </p:sp>
      <p:sp>
        <p:nvSpPr>
          <p:cNvPr id="42" name="Text 39"/>
          <p:cNvSpPr txBox="1"/>
          <p:nvPr/>
        </p:nvSpPr>
        <p:spPr>
          <a:xfrm>
            <a:off x="548640" y="4724400"/>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الْكِتَابُ</a:t>
            </a:r>
            <a:endParaRPr lang="ar-SA" sz="26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complete sentence</a:t>
            </a:r>
            <a:endParaRPr lang="en-US" sz="1100" dirty="0"/>
          </a:p>
        </p:txBody>
      </p:sp>
      <p:sp>
        <p:nvSpPr>
          <p:cNvPr id="45" name="Text 42"/>
          <p:cNvSpPr txBox="1"/>
          <p:nvPr/>
        </p:nvSpPr>
        <p:spPr>
          <a:xfrm>
            <a:off x="42245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a book.</a:t>
            </a:r>
            <a:endParaRPr lang="en-US" sz="1100" dirty="0"/>
          </a:p>
        </p:txBody>
      </p:sp>
      <p:sp>
        <p:nvSpPr>
          <p:cNvPr id="46" name="Text 43"/>
          <p:cNvSpPr txBox="1"/>
          <p:nvPr/>
        </p:nvSpPr>
        <p:spPr>
          <a:xfrm>
            <a:off x="548640" y="533857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كِتَابٌ.</a:t>
            </a:r>
            <a:endParaRPr lang="ar-SA" sz="26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do not confuse aṭ-ṭālibu l-mujtahidu (“the hardworking student” — a name for someone) with aṭ-ṭālibu mujtahidun (“The student is hardworking” — a statement). Listen for al- on the second word.</a:t>
            </a:r>
            <a:endParaRPr lang="en-US" sz="11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 PART 4 · THREE PRACTICAL PREDICATE TYPES (WEBSITE TABLE)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word, a place phrase or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الْخَبَرِ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Tells us</a:t>
            </a:r>
            <a:endParaRPr lang="en-US" sz="1100" dirty="0"/>
          </a:p>
        </p:txBody>
      </p:sp>
      <p:sp>
        <p:nvSpPr>
          <p:cNvPr id="17" name="Text 14"/>
          <p:cNvSpPr txBox="1"/>
          <p:nvPr/>
        </p:nvSpPr>
        <p:spPr>
          <a:xfrm>
            <a:off x="345643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Predicate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identity or description</a:t>
            </a:r>
            <a:endParaRPr lang="en-US" sz="1100" dirty="0"/>
          </a:p>
        </p:txBody>
      </p:sp>
      <p:sp>
        <p:nvSpPr>
          <p:cNvPr id="21" name="Text 18"/>
          <p:cNvSpPr txBox="1"/>
          <p:nvPr/>
        </p:nvSpPr>
        <p:spPr>
          <a:xfrm>
            <a:off x="3474720" y="2267712"/>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أَخِي طَبِيبٌ.</a:t>
            </a:r>
            <a:endParaRPr lang="ar-SA" sz="2400" dirty="0"/>
          </a:p>
        </p:txBody>
      </p:sp>
      <p:sp>
        <p:nvSpPr>
          <p:cNvPr id="22" name="Text 19"/>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word (noun / adjective)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location</a:t>
            </a:r>
            <a:endParaRPr lang="en-US" sz="1100" dirty="0"/>
          </a:p>
        </p:txBody>
      </p:sp>
      <p:sp>
        <p:nvSpPr>
          <p:cNvPr id="27" name="Text 24"/>
          <p:cNvSpPr txBox="1"/>
          <p:nvPr/>
        </p:nvSpPr>
        <p:spPr>
          <a:xfrm>
            <a:off x="3474720" y="3054096"/>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أَخِي فِي الْمُسْتَشْفَى.</a:t>
            </a:r>
            <a:endParaRPr lang="ar-SA" sz="2400" dirty="0"/>
          </a:p>
        </p:txBody>
      </p:sp>
      <p:sp>
        <p:nvSpPr>
          <p:cNvPr id="28" name="Text 25"/>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preposition phrase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position</a:t>
            </a:r>
            <a:endParaRPr lang="en-US" sz="1100" dirty="0"/>
          </a:p>
        </p:txBody>
      </p:sp>
      <p:sp>
        <p:nvSpPr>
          <p:cNvPr id="33" name="Text 30"/>
          <p:cNvSpPr txBox="1"/>
          <p:nvPr/>
        </p:nvSpPr>
        <p:spPr>
          <a:xfrm>
            <a:off x="3474720" y="3840480"/>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أَمَامَ الْمَسْجِدِ.</a:t>
            </a:r>
            <a:endParaRPr lang="ar-SA" sz="2400" dirty="0"/>
          </a:p>
        </p:txBody>
      </p:sp>
      <p:sp>
        <p:nvSpPr>
          <p:cNvPr id="34" name="Text 31"/>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locator phrase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37" name="Text 34"/>
          <p:cNvSpPr txBox="1"/>
          <p:nvPr/>
        </p:nvSpPr>
        <p:spPr>
          <a:xfrm>
            <a:off x="3474720" y="4626864"/>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الِامْتِحَانُ غَدًا.</a:t>
            </a:r>
            <a:endParaRPr lang="ar-SA" sz="2400" dirty="0"/>
          </a:p>
        </p:txBody>
      </p:sp>
      <p:sp>
        <p:nvSpPr>
          <p:cNvPr id="38" name="Text 35"/>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 word</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useful feature: a place phrase never changes for gender — huwa fī l-bayt and hiya fī l-bayt. The noun after fī takes kasra: fī l-bayti, fī l-bank (not fī l-banku).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 (f.) is active.”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نَشِيطٌ.</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النَّشِيطَةُ.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نَشِيطَةٌ.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two boys are ready.”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الْوَلَدَانِ مُسْتَعِدَّانِ.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الْوَلَدَانِ مُسْتَعِدٌ.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الْوَلَدَانِ الْمُسْتَعِدَّانِ.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are useful.”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مُفِيدَاتٌ.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مُفِيدَةٌ.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الْمُفِيدَةُ.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location sentence.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فِي الْمَكْتَبَةِ.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الْمَكْتَبَةُ.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الطَّالِبُ الْمَكْتَبَةِ.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 (f.) is active.”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الْمُعَلِّمَةُ نَشِيطٌ.</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الْمُعَلِّمَةُ النَّشِيطَةُ.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الْمُعَلِّمَةُ نَشِيطَةٌ.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and indefinite: nashīṭatun.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two boys are ready.”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الْوَلَدَانِ مُسْتَعِدَّانِ.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الْوَلَدَانِ مُسْتَعِدٌ.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الْوَلَدَانِ الْمُسْتَعِدَّانِ.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boys → dual mustaʿiddāni.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are useful.”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مُفِيدَاتٌ.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الْكُتُبُ مُفِيدَةٌ.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الْمُفِيدَةُ.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 feminine singular.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location sentence.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 فِي الْمَكْتَبَةِ.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 الْمَكْتَبَةُ.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الطَّالِبُ الْمَكْتَبَةِ.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l-maktaba is the predicate.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Topic</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am I describing?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Gender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مُؤَنَّثٌ</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Madrasa: feminine.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Predicate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كَبِيرَةٌ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“is”; -a + tanwīn.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Location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الطَّابِقِ الْأَوَّلِ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phrase.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TOPIC</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PREDICATE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D5FBF"/>
                </a:solidFill>
                <a:latin typeface="Amiri" pitchFamily="34" charset="0"/>
                <a:ea typeface="Amiri" pitchFamily="34" charset="-122"/>
                <a:cs typeface="Amiri" pitchFamily="34" charset="-120"/>
              </a:rPr>
              <a:t>هَذِهِ</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C77700"/>
                </a:solidFill>
                <a:latin typeface="Amiri" pitchFamily="34" charset="0"/>
                <a:ea typeface="Amiri" pitchFamily="34" charset="-122"/>
                <a:cs typeface="Amiri" pitchFamily="34" charset="-120"/>
              </a:rPr>
              <a:t>مَدْرَسَتِي</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1D5FBF"/>
                </a:solidFill>
                <a:latin typeface="Amiri" pitchFamily="34" charset="0"/>
                <a:ea typeface="Amiri" pitchFamily="34" charset="-122"/>
                <a:cs typeface="Amiri" pitchFamily="34" charset="-120"/>
              </a:rPr>
              <a:t>هِيَ</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C77700"/>
                </a:solidFill>
                <a:latin typeface="Amiri" pitchFamily="34" charset="0"/>
                <a:ea typeface="Amiri" pitchFamily="34" charset="-122"/>
                <a:cs typeface="Amiri" pitchFamily="34" charset="-120"/>
              </a:rPr>
              <a:t>كَبِيرَةٌ وَحَدِيثَةٌ</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1D5FBF"/>
                </a:solidFill>
                <a:latin typeface="Amiri" pitchFamily="34" charset="0"/>
                <a:ea typeface="Amiri" pitchFamily="34" charset="-122"/>
                <a:cs typeface="Amiri" pitchFamily="34" charset="-120"/>
              </a:rPr>
              <a:t>الْمَكْتَبَةُ</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C77700"/>
                </a:solidFill>
                <a:latin typeface="Amiri" pitchFamily="34" charset="0"/>
                <a:ea typeface="Amiri" pitchFamily="34" charset="-122"/>
                <a:cs typeface="Amiri" pitchFamily="34" charset="-120"/>
              </a:rPr>
              <a:t>فِي الطَّابِقِ الْأَوَّلِ</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1D5FBF"/>
                </a:solidFill>
                <a:latin typeface="Amiri" pitchFamily="34" charset="0"/>
                <a:ea typeface="Amiri" pitchFamily="34" charset="-122"/>
                <a:cs typeface="Amiri" pitchFamily="34" charset="-120"/>
              </a:rPr>
              <a:t>الْفُصُولُ</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C77700"/>
                </a:solidFill>
                <a:latin typeface="Amiri" pitchFamily="34" charset="0"/>
                <a:ea typeface="Amiri" pitchFamily="34" charset="-122"/>
                <a:cs typeface="Amiri" pitchFamily="34" charset="-120"/>
              </a:rPr>
              <a:t>وَاسِعَةٌ</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1D5FBF"/>
                </a:solidFill>
                <a:latin typeface="Amiri" pitchFamily="34" charset="0"/>
                <a:ea typeface="Amiri" pitchFamily="34" charset="-122"/>
                <a:cs typeface="Amiri" pitchFamily="34" charset="-120"/>
              </a:rPr>
              <a:t>أَنَا</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C77700"/>
                </a:solidFill>
                <a:latin typeface="Amiri" pitchFamily="34" charset="0"/>
                <a:ea typeface="Amiri" pitchFamily="34" charset="-122"/>
                <a:cs typeface="Amiri" pitchFamily="34" charset="-120"/>
              </a:rPr>
              <a:t>طَالِبَةٌ فِي الصَّفِّ التَّاسِعِ</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1D5FBF"/>
                </a:solidFill>
                <a:latin typeface="Amiri" pitchFamily="34" charset="0"/>
                <a:ea typeface="Amiri" pitchFamily="34" charset="-122"/>
                <a:cs typeface="Amiri" pitchFamily="34" charset="-120"/>
              </a:rPr>
              <a:t>مَادَّتِي الْمُفَضَّلَةُ</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C77700"/>
                </a:solidFill>
                <a:latin typeface="Amiri" pitchFamily="34" charset="0"/>
                <a:ea typeface="Amiri" pitchFamily="34" charset="-122"/>
                <a:cs typeface="Amiri" pitchFamily="34" charset="-120"/>
              </a:rPr>
              <a:t>الْعَرَبِيَّةُ</a:t>
            </a:r>
            <a:pPr rtl="1" algn="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my school. It is big and modern. The library is on the first floor. The classrooms are spacious. I am a student (f.) in Year 9. My favourite subject is Arabic.</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مُهَنْدِسٌ.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an engineer.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Identity.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الْجَوُّ جَمِيلٌ.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is beautiful.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Description.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أَخِي فِي الْمُسْتَشْفَى.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is in the hospital.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Location.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الِامْتِحَانُ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exam is tomorrow.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MAKE IT AGREE (WEBSITE AGREEMENT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active?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نَشِيطٌ؟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67482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Predicate</a:t>
            </a:r>
            <a:endParaRPr lang="en-US" sz="1100" dirty="0"/>
          </a:p>
        </p:txBody>
      </p:sp>
      <p:sp>
        <p:nvSpPr>
          <p:cNvPr id="18" name="Text 15"/>
          <p:cNvSpPr txBox="1"/>
          <p:nvPr/>
        </p:nvSpPr>
        <p:spPr>
          <a:xfrm>
            <a:off x="36393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 / what?</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singular</a:t>
            </a:r>
            <a:endParaRPr lang="en-US" sz="1100" dirty="0"/>
          </a:p>
        </p:txBody>
      </p:sp>
      <p:sp>
        <p:nvSpPr>
          <p:cNvPr id="22" name="Text 19"/>
          <p:cNvSpPr txBox="1"/>
          <p:nvPr/>
        </p:nvSpPr>
        <p:spPr>
          <a:xfrm>
            <a:off x="676656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نَشِيطٌ</a:t>
            </a:r>
            <a:endParaRPr lang="ar-SA" sz="2600" dirty="0"/>
          </a:p>
        </p:txBody>
      </p:sp>
      <p:sp>
        <p:nvSpPr>
          <p:cNvPr id="23" name="Text 20"/>
          <p:cNvSpPr txBox="1"/>
          <p:nvPr/>
        </p:nvSpPr>
        <p:spPr>
          <a:xfrm>
            <a:off x="367588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brother</a:t>
            </a:r>
            <a:endParaRPr lang="en-US" sz="11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أَخِي</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singular</a:t>
            </a:r>
            <a:endParaRPr lang="en-US" sz="1100" dirty="0"/>
          </a:p>
        </p:txBody>
      </p:sp>
      <p:sp>
        <p:nvSpPr>
          <p:cNvPr id="29" name="Text 26"/>
          <p:cNvSpPr txBox="1"/>
          <p:nvPr/>
        </p:nvSpPr>
        <p:spPr>
          <a:xfrm>
            <a:off x="676656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نَشِيطَةٌ</a:t>
            </a:r>
            <a:endParaRPr lang="ar-SA" sz="2600" dirty="0"/>
          </a:p>
        </p:txBody>
      </p:sp>
      <p:sp>
        <p:nvSpPr>
          <p:cNvPr id="30" name="Text 27"/>
          <p:cNvSpPr txBox="1"/>
          <p:nvPr/>
        </p:nvSpPr>
        <p:spPr>
          <a:xfrm>
            <a:off x="367588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sister</a:t>
            </a:r>
            <a:endParaRPr lang="en-US" sz="11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أُخْتِي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36" name="Text 33"/>
          <p:cNvSpPr txBox="1"/>
          <p:nvPr/>
        </p:nvSpPr>
        <p:spPr>
          <a:xfrm>
            <a:off x="676656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نَشِيطَانِ</a:t>
            </a:r>
            <a:endParaRPr lang="ar-SA" sz="2600" dirty="0"/>
          </a:p>
        </p:txBody>
      </p:sp>
      <p:sp>
        <p:nvSpPr>
          <p:cNvPr id="37" name="Text 34"/>
          <p:cNvSpPr txBox="1"/>
          <p:nvPr/>
        </p:nvSpPr>
        <p:spPr>
          <a:xfrm>
            <a:off x="367588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boys</a:t>
            </a:r>
            <a:endParaRPr lang="en-US" sz="11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الْوَلَدَانِ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-ūna</a:t>
            </a:r>
            <a:endParaRPr lang="en-US" sz="1100" dirty="0"/>
          </a:p>
        </p:txBody>
      </p:sp>
      <p:sp>
        <p:nvSpPr>
          <p:cNvPr id="41" name="Text 38"/>
          <p:cNvSpPr txBox="1"/>
          <p:nvPr/>
        </p:nvSpPr>
        <p:spPr>
          <a:xfrm>
            <a:off x="676656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نَشِيطُونَ</a:t>
            </a:r>
            <a:endParaRPr lang="ar-SA" sz="2600" dirty="0"/>
          </a:p>
        </p:txBody>
      </p:sp>
      <p:sp>
        <p:nvSpPr>
          <p:cNvPr id="42" name="Text 39"/>
          <p:cNvSpPr txBox="1"/>
          <p:nvPr/>
        </p:nvSpPr>
        <p:spPr>
          <a:xfrm>
            <a:off x="367588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teachers (m.)</a:t>
            </a:r>
            <a:endParaRPr lang="en-US" sz="1100" dirty="0"/>
          </a:p>
        </p:txBody>
      </p:sp>
      <p:sp>
        <p:nvSpPr>
          <p:cNvPr id="43" name="Text 40"/>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الْمُعَلِّمُونَ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-ātun</a:t>
            </a:r>
            <a:endParaRPr lang="en-US" sz="1100" dirty="0"/>
          </a:p>
        </p:txBody>
      </p:sp>
      <p:sp>
        <p:nvSpPr>
          <p:cNvPr id="46" name="Text 43"/>
          <p:cNvSpPr txBox="1"/>
          <p:nvPr/>
        </p:nvSpPr>
        <p:spPr>
          <a:xfrm>
            <a:off x="676656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نَشِيطَاتٌ</a:t>
            </a:r>
            <a:endParaRPr lang="ar-SA" sz="2600" dirty="0"/>
          </a:p>
        </p:txBody>
      </p:sp>
      <p:sp>
        <p:nvSpPr>
          <p:cNvPr id="47" name="Text 44"/>
          <p:cNvSpPr txBox="1"/>
          <p:nvPr/>
        </p:nvSpPr>
        <p:spPr>
          <a:xfrm>
            <a:off x="367588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teachers (f.)</a:t>
            </a:r>
            <a:endParaRPr lang="en-US" sz="1100" dirty="0"/>
          </a:p>
        </p:txBody>
      </p:sp>
      <p:sp>
        <p:nvSpPr>
          <p:cNvPr id="48" name="Text 45"/>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الْمُعَلِّمَاتُ</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animals</a:t>
            </a:r>
            <a:endParaRPr lang="en-US" sz="1100" dirty="0"/>
          </a:p>
        </p:txBody>
      </p:sp>
      <p:sp>
        <p:nvSpPr>
          <p:cNvPr id="51" name="Text 48"/>
          <p:cNvSpPr txBox="1"/>
          <p:nvPr/>
        </p:nvSpPr>
        <p:spPr>
          <a:xfrm>
            <a:off x="676656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نَشِيطَةٌ</a:t>
            </a:r>
            <a:endParaRPr lang="ar-SA" sz="2600" dirty="0"/>
          </a:p>
        </p:txBody>
      </p:sp>
      <p:sp>
        <p:nvSpPr>
          <p:cNvPr id="52" name="Text 49"/>
          <p:cNvSpPr txBox="1"/>
          <p:nvPr/>
        </p:nvSpPr>
        <p:spPr>
          <a:xfrm>
            <a:off x="367588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cats</a:t>
            </a:r>
            <a:endParaRPr lang="en-US" sz="1100" dirty="0"/>
          </a:p>
        </p:txBody>
      </p:sp>
      <p:sp>
        <p:nvSpPr>
          <p:cNvPr id="53" name="Text 50"/>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الْقِطَطُ</a:t>
            </a:r>
            <a:endParaRPr lang="ar-SA" sz="2400" dirty="0"/>
          </a:p>
        </p:txBody>
      </p:sp>
      <p:sp>
        <p:nvSpPr>
          <p:cNvPr id="54" name="Shape 5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Say the full sentence each time: akhī nashīṭun · ukhtī nashīṭatun … Animals and things in the plural take the feminine singular.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 PHRASE OR SENTENCE?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 it finished?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الْكَبِيرُ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السَّيَّارَةُ الْجَدِيدَةُ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الْكُتُبُ الْمُفِيدَةُ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 الْمُجْتَهِدُ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كَبِيرٌ.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السَّيَّارَةُ جَدِيدَةٌ.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الْكُتُبُ مُفِيدَةٌ.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الطَّالِبَةُ فِي الْفَصْلِ.</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Phrase (not finished)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Complete sentence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Phrase (not finished)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الْكَبِيرُ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السَّيَّارَةُ الْجَدِيدَةُ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الْكُتُبُ الْمُفِيدَةُ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 الْمُجْتَهِدُ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Complete sentence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كَبِيرٌ.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السَّيَّارَةُ جَدِيدَةٌ.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الْكُتُبُ مُفِيدَةٌ.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الطَّالِبَةُ فِي الْفَصْلِ.</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يَكُونُ مُعَلِّمًا.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English “is” need a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doctor a man or a woman?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السَّيَّارَاتُ سَرِيعَاتٌ.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Are cars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يَكُونُ مُعَلِّمًا.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present “is” is needed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طَبِيبَةٌ.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woman: feminine predicate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السَّيَّارَاتُ سَرِيعَاتٌ.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السَّيَّارَاتُ سَرِيعَةٌ.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Things in the plural → feminine singular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predicate: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الْجَوُّ جَمِيلٌ.</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جَمِيلٌ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new car.”</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سَيَّارَةٌ جَدِيدٌ.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سَيَّارَةٌ جَدِيدَةٌ.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السَّيَّارَةُ الْجَدِيدَةُ.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are at home.”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الْبَيْتُ.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فِي الْبَيْتِ.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فِي الْبَيْتُ.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children are in the garden.”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الْأَطْفَالُ الْحَدِيقَةُ.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الْأَطْفَالِ الْحَدِيقَةُ.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الْأَطْفَالُ فِي الْحَدِيقَةِ.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predicate: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الْجَوُّ جَمِيلٌ.</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 جَمِيلٌ</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جَمِيلٌ</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Jamīlun gives the information.</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new car.”</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سَيَّارَةٌ جَدِيدٌ.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سَيَّارَةٌ جَدِيدَةٌ.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السَّيَّارَةُ الْجَدِيدَةُ.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Sayyāra is feminine: hādhihi … jadīdatun.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are at home.”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الْبَيْتُ.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 فِي الْبَيْتِ.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فِي الْبَيْتُ.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fī: kasra — fī l-bayti.</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children are in the garden.”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الْأَطْفَالُ الْحَدِيقَةُ.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الْأَطْفَالِ الْحَدِيقَةُ.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الْأَطْفَالُ فِي الْحَدِيقَةِ.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place phrase can be the predicate.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SKILLS WORKSHOP (TEACHER-WRITTEN DESCRIPTION)</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Zaynab’s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زَيْنَبُ. أَنَا طَالِبَةٌ فِي الصَّفِّ الْعَاشِرِ، وَمَدْرَسَتِي فِي وَسَطِ الْمَدِينَةِ. الْمَدْرَسَةُ قَدِيمَةٌ وَلَكِنَّهَا جَمِيلَةٌ. الْفُصُولُ وَاسِعَةٌ، وَالنَّوَافِذُ كَبِيرَةٌ. مُعَلِّمَتِي الْمُفَضَّلَةُ الْأُسْتَاذَةُ سَارَةُ؛ هِيَ لَطِيفَةٌ وَصَبُورَةٌ. صَدِيقَاتِي مَرِحَاتٌ وَمُجْتَهِدَاتٌ. الْمَكْتَبَةُ بِجَانِبِ الْمَسْجِدِ، وَالْمَلْعَبُ خَلْفَ الْمَدْرَسَةِ. الِامْتِحَانَاتُ بَعْدَ أُسْبُوعَيْنِ!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وَسَطِ</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centre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spacious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النَّوَافِذُ</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windows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صَبُورَةٌ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patient (f.)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cheerful (f. pl.)</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Zaynab’s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mosque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river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wāsiʿatun with al-fuṣūlu?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classrooms are for girls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things: feminine singular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predicate tells us a location?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 الْمَدْرَسَةِ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the exams?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tomorrow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two weeks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Zaynab’s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mosque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river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wasaṭi l-madīna.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wāsiʿatun with al-fuṣūlu?</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classrooms are for girls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things: feminine singular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predicate tells us a location?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خَلْفَ الْمَدْرَسَةِ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مَرِحَاتٌ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لَطِيفَةٌ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locator phrase.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the exams?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tomorrow</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two weeks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Baʿda usbūʿayn.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who, what and 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أَنْتَ؟ وَأَيْنَ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صَدِيقَكَ أَوْ صَدِيقَتَكَ.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غُرْفَتَكَ: مَا فِيهَا، وَأَيْنَ الْأَشْيَاءُ؟</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 وَمَدْرَسَتِي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صَدِيقِي ___ وَ___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السَّرِيرُ ___ ، وَالْكُتُبُ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هَذِهِ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is this in the picture?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أُخْتِي مَرْيَمُ. هِيَ طَبِيبَةٌ فِي مُسْتَشْفًى كَبِيرٍ، وَزَوْجُهَا مُهَنْدِسٌ. بَيْتُهُمَا قَرِيبٌ مِنْ بَيْتِنَا.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This is my sister Maryam. She is a doctor in a big hospital, and her husband is an engineer. Their house is near our house.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Yourself: name, class, school and where it is.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anā ṭālib(a) · madrasatī fī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friend and two plural topics.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aṣdiqāʾī mujtahidūna · al-kutubu mufīdatun.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description of a person and a place.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word predicates, three place phrases.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الْفُصُولُ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classrooms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الْمَلْعَبُ خَلْفَ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playground is behind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كِتَابٌ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 book</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فِي الصَّفِّ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a … in Year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school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الْمَكْتَبَةُ بِجَانِبِ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is next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teacher (f.)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كَبِيرٌ  ·  صَغِيرٌ  ·  جَدِيدٌ  ·  قَدِيمٌ  ·  جَمِيلٌ  ·  وَاسِعٌ  ·  قَرِيبٌ  ·  بَعِيدٌ  ·  فِي  ·  أَمَامَ  ·  خَلْفَ  ·  بِجَانِبِ  ·  بَيْنَ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task (80–100 words): introduce yourself or another person and describe a familiar place.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one-word predicates.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place or locator predicates.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Correct gender agreement throughout.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non-human plural with a feminine singular predicate.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inserted yakūnu.</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وَسَطِ</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middle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next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front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خَلْفَ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behind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قَرِيبٌ مِنْ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near to</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بَعِيدٌ عَنْ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far from</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يُوسُفُ، وَأَنَا طَالِبٌ فِي الصَّفِّ التَّاسِعِ. بَيْتُنَا فِي حَيٍّ هَادِئٍ قُرْبَ النَّهْرِ. الْبَيْتُ صَغِيرٌ وَلَكِنَّهُ مُرِيحٌ. غُرْفَتِي فِي الطَّابِقِ الثَّانِي، وَنَافِذَتُهَا أَمَامَ الْحَدِيقَةِ. كُتُبِي كَثِيرَةٌ، وَهِيَ عَلَى رُفُوفٍ بِجَانِبِ السَّرِيرِ. أَبِي مُهَنْدِسٌ، وَأُمِّي مُعَلِّمَةٌ فِي مَدْرَسَةٍ قَرِيبَةٍ. أَخَوَايَ تَوْأَمَانِ، وَهُمَا صَغِيرَانِ وَمَرِحَانِ. جِيرَانُنَا لُطَفَاءُ وَكُرَمَاءُ. الْمَسْجِدُ فِي آخِرِ الشَّارِعِ، وَالسُّوقُ بَعِيدٌ قَلِيلًا.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name is Yūsuf, and I am a student in Year 9. Our house is in a quiet neighbourhood near the river. The house is small but comfortable. My room is on the second floor, and its window faces the garden. My books are many, and they are on shelves next to the bed. My father is an engineer, and my mother is a teacher in a nearby school. My two brothers are twins; they are young and cheerful. Our neighbours are kind and generous. The mosque is at the end of the street, and the market is a little far.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word predicate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place predicate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 predicate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non-human plural + feminine singular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add a word for “is”.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topics have feminine predicates.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predicates are indefinite (tanwīn) — so they are sentences, not phrases.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Dual and plural people have dual / plural predicates.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Things in the plural have a feminine singular predicate.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قَرِيبَةٌ.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الْقَرِيبَةُ.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 الْقَرِيبَةُ.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non-human plural agreement is correct?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السَّيَّارَاتُ سَرِيعَاتٌ.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السَّيَّارَاتُ سَرِيعَةٌ.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السَّيَّارَاتُ سَرِيعُونَ.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not yet a full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الْمُفِيدُ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مُفِيدٌ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فِي الْحَقِيبَةِ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الْمَدْرَسَةُ قَرِيبَةٌ.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الْمَدْرَسَةُ الْقَرِيبَةُ.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مَدْرَسَةٌ الْقَرِيبَةُ.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topic + indefinite predicate.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non-human plural agreement is correct?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السَّيَّارَاتُ سَرِيعَاتٌ.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السَّيَّارَاتُ سَرِيعَةٌ.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السَّيَّارَاتُ سَرِيعُونَ.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Cars are things → sarīʿatun.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not yet a full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الْكِتَابُ الْمُفِيدُ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مُفِيدٌ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فِي الْحَقِيبَةِ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definite → a phrase: “the useful book”.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GM-NVS-01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GM-NVS-02: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GM-NVS-02 · Inna and Its Sisters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indeed / truly (adds emphasis)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but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perhaps / hopefully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if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After inna the topic changes its ending from -u to -a: inna l-jawwa jamīlun. Can you hear the change?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إِنَّ ______ جَمِيلٌ.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about your family with no “is”.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two dual, two plural (people), two plural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description of a person and a place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GM-NVS-01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GM-NVS-02 · Inna and Its Sisters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إِنَّ وَأَخَوَاتُهَا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topic + information = a sentence, with no “is” · the predicate matches the topic (ṭabībun / ṭabībatun) · definite + definite = a phrase; definite + indefinite = a sentence · place phrases never change for gender · things in the plural → feminine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GM-NVS-01 · Simple Non-Verbal Sentences</dc:title>
  <dc:subject>PptxGenJS Presentation</dc:subject>
  <dc:creator>Al Madina Online School · Arabic Department</dc:creator>
  <cp:lastModifiedBy>Al Madina Online School · Arabic Department</cp:lastModifiedBy>
  <cp:revision>1</cp:revision>
  <dcterms:created xsi:type="dcterms:W3CDTF">2026-10-04T06:25:18Z</dcterms:created>
  <dcterms:modified xsi:type="dcterms:W3CDTF">2026-10-04T06:25:18Z</dcterms:modified>
</cp:coreProperties>
</file>