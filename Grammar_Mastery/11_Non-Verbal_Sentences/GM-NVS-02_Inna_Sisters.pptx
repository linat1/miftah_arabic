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Non-Verbal Sentences › GM-NVS-02 (“إِنَّ and Its Sisters”).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inna for emphasis, aʿtaqidu anna for opinions, li-annahu / li-annahā for reasons — with the noun in -a and the predicate unchanged. Develop: lākinnahu / lākinnahā for contrast, laʿalla for hope, the attached pronouns innanī … innahum. Stretch: layta (wish) and kaʾanna (as if) with full case control.
• Website warning: do not move both endings — only the noun after the particle changes (-u → -a); the predicate stays -u (mujtahidun, not mujtahidan).
• Colour code: teal = particle, blue = its noun (-a), orange = predicate (-u). Builds on GM-NVS-01 (mubtadaʾ + khabar) and GM-CP-04/05 (linking words).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 GM-NVS-01 topic + predicate and GM-CP linking words (li-anna, lākin).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Particle + noun in -a + predicate in -u. Learn each particle with its meaning and one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core change after inna” (rows 4–5 teacher-added). Say column 1, then column 2: students clap on the changed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“inna at the start; anna inside a larger sentence” (row 5 teacher-added).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“Attached pronouns make fluent clauses”. Core: li-annahu / li-annahā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(3 min) — website “A functional map of the main sisters”. Gestures: lākinna = hand flip; laʿalla = crossed fingers; layta = sigh; kaʾanna = hands as a mirror.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inna / anna check.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skills-workshop lines, extended. The predicate can be a whole verb clause (yaḥtāju …, tusāʿidunā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3; students say the new sentence, stressing the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models and Final Mastery items. Ask for the English meaning of each card as it is sorted.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models and Final Mastery items. Ask for the English meaning of each card as it is sorted.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Final Mastery check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opinion). Read it aloud once while students follow; then they hunt for today’s grammar.
Task: Website paper route: colour-code the noun (-a) and the predicate after three particles.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opinion for the website skills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move beyond separate basic sentences by showing emphasis, reason, reporting, contrast and attitude.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100–120 Arabic words about school, technology, travel or leisure.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(GM-NVS-03 · Kāna and Its Sisters) will spend class time USING this language, so students prepare it tonight — short, simple, easy to access (school guidance: “Simple, Short, Interesting, Relevant, Easy to access”). The five words prepare GM-NVS-03 (website: kāna and its sisters).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NON-VERBAL SENTENCES  ·  GM-NVS-02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GM-NVS-02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Inna and Its Sisters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إِنَّ وَأَخَوَاتُهَا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Small words, big jobs: inna (indeed), anna (that), li-anna (because), lākinna (but), laʿalla (perhaps), layta (I wish), kaʾanna (as if). After each one, the topic takes -a and the predicate keeps -u: inna l-jawwa jamīlun.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GM-NVS-02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Non-Verbal Sentences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-a change; inna or anna; pronouns; the meaning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Add the particle; sort by meaning;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GM-NVS-03.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emphasis: “Indeed, the lesson is useful.”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 الدَّرْسُ مُفِيدًا.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 الدَّرْسَ مُفِيدٌ.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الدَّرْسَ إِنَّ مُفِيدٌ.</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أَعْتَقِدُ ___ التَّعَلُّمَ مُهِمٌّ.</a:t>
            </a:r>
            <a:endParaRPr lang="ar-SA" sz="14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“because it is useful”.</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مُفِيدًا</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مُفِيدٌ</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مُفِيدٌ</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expresses a wish?</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 الْعُطْلَةَ طَوِيلَةٌ.</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الْعُطْلَةَ طَوِيلَةٌ.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لَيْتَ الْعُطْلَةَ طَوِيلَةٌ.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contrast form contains a pronoun?</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لَكِنَّهُ مُتْعَبٌ.</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 هُوَ مُتْعَبٌ.</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لَكِنُّهُ مُتْعَبًا.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emphasis: “Indeed, the lesson is useful.”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 الدَّرْسُ مُفِيدًا.</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إِنَّ الدَّرْسَ مُفِيدٌ.</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الدَّرْسَ إِنَّ مُفِيدٌ.</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Noun -a (ad-darsa), predicate -u (mufīdun).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أَعْتَقِدُ ___ التَّعَلُّمَ مُهِمٌّ.</a:t>
            </a:r>
            <a:endParaRPr lang="ar-SA" sz="14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aʿtaqidu: anna.</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“because it is useful”.</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مُفِيدًا</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مُفِيدٌ</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 مُفِيدٌ</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predicate stays -un.</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expresses a wish?</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 الْعُطْلَةَ طَوِيلَةٌ.</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 الْعُطْلَةَ طَوِيلَةٌ.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لَيْتَ الْعُطْلَةَ طَوِيلَةٌ.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Layta = I wish.</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contrast form contains a pronoun?</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لَكِنَّهُ مُتْعَبٌ.</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لَكِنْ هُوَ مُتْعَبٌ.</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لَكِنُّهُ مُتْعَبًا.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Lākinna + hu = lākinnahu.</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Particle + noun in -a + predicate in -u. Learn each particle with its meaning and one frame.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إِنَّ</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1D5FBF"/>
                </a:solidFill>
                <a:latin typeface="Amiri" pitchFamily="34" charset="0"/>
                <a:ea typeface="Amiri" pitchFamily="34" charset="-122"/>
                <a:cs typeface="Amiri" pitchFamily="34" charset="-120"/>
              </a:rPr>
              <a:t>الْجَوَّ</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C77700"/>
                </a:solidFill>
                <a:latin typeface="Amiri" pitchFamily="34" charset="0"/>
                <a:ea typeface="Amiri" pitchFamily="34" charset="-122"/>
                <a:cs typeface="Amiri" pitchFamily="34" charset="-120"/>
              </a:rPr>
              <a:t>جَمِيلٌ</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inna for emphasis.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anna after “I think / I know”.</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reasons and contrasts with pronouns.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Express hope, wish and “as if”.</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inna l-jawwa jamīlun.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aʿtaqidu anna … and li-annahu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lākinnahā and laʿalla.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innanī, innahu, innahum.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layta and kaʾanna.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a 100–120-word connected opinion.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إِنَّ وَأَخَوَاتُهَا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inna and its sisters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in-na wa-ʾa-kha-wā-tu-hā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إِنَّ · أَنَّ · لَكِنَّ</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اسْمُ إِنَّ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noun of inna (-a)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as-mu in-na</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إِنَّ الْجَوَّ</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خَبَرُ إِنَّ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predicate of inna (-u)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kha-ba-ru in-na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جَمِيلٌ</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التَّوْكِيدُ</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emphasis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at-taw-kī-du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إِنَّ</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الرَّجَاءُ · التَّمَنِّي</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hope · wish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ar-ra-jā-ʾu · at-ta-man-nī</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لَعَلَّ · لَيْتَ</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التَّشْبِيهُ</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comparison (“as if”)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at-tash-bī-hu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كَأَنَّ</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THE CORE CHANGE AFTER INNA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Only the first word changes: -u becomes -a</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450" b="1" dirty="0">
                <a:solidFill>
                  <a:srgbClr val="8A6D1E"/>
                </a:solidFill>
                <a:latin typeface="Amiri" pitchFamily="34" charset="0"/>
                <a:ea typeface="Amiri" pitchFamily="34" charset="-122"/>
                <a:cs typeface="Amiri" pitchFamily="34" charset="-120"/>
              </a:rPr>
              <a:t>إِنَّ + اسْمُهَا الْمَنْصُوبُ + خَبَرُهَا الْمَرْفُوعُ</a:t>
            </a:r>
            <a:endParaRPr lang="ar-SA" sz="24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40050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inna</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Before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Indeed, the student is hardworking.</a:t>
            </a:r>
            <a:endParaRPr lang="en-US" sz="1100" dirty="0"/>
          </a:p>
        </p:txBody>
      </p:sp>
      <p:sp>
        <p:nvSpPr>
          <p:cNvPr id="21" name="Text 18"/>
          <p:cNvSpPr txBox="1"/>
          <p:nvPr/>
        </p:nvSpPr>
        <p:spPr>
          <a:xfrm>
            <a:off x="4023360" y="2267712"/>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إِنَّ الطَّالِبَ مُجْتَهِدٌ.</a:t>
            </a:r>
            <a:endParaRPr lang="ar-SA" sz="2400" dirty="0"/>
          </a:p>
        </p:txBody>
      </p:sp>
      <p:sp>
        <p:nvSpPr>
          <p:cNvPr id="22" name="Text 19"/>
          <p:cNvSpPr txBox="1"/>
          <p:nvPr/>
        </p:nvSpPr>
        <p:spPr>
          <a:xfrm>
            <a:off x="548640" y="2267712"/>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 مُجْتَهِدٌ.</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Indeed, the school is large.</a:t>
            </a:r>
            <a:endParaRPr lang="en-US" sz="1100" dirty="0"/>
          </a:p>
        </p:txBody>
      </p:sp>
      <p:sp>
        <p:nvSpPr>
          <p:cNvPr id="27" name="Text 24"/>
          <p:cNvSpPr txBox="1"/>
          <p:nvPr/>
        </p:nvSpPr>
        <p:spPr>
          <a:xfrm>
            <a:off x="4023360" y="300471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إِنَّ الْمَدْرَسَةَ كَبِيرَةٌ.</a:t>
            </a:r>
            <a:endParaRPr lang="ar-SA" sz="2400" dirty="0"/>
          </a:p>
        </p:txBody>
      </p:sp>
      <p:sp>
        <p:nvSpPr>
          <p:cNvPr id="28" name="Text 25"/>
          <p:cNvSpPr txBox="1"/>
          <p:nvPr/>
        </p:nvSpPr>
        <p:spPr>
          <a:xfrm>
            <a:off x="548640" y="300471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الْمَدْرَسَةُ كَبِيرَةٌ.</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Indeed, the students are ready.</a:t>
            </a:r>
            <a:endParaRPr lang="en-US" sz="1100" dirty="0"/>
          </a:p>
        </p:txBody>
      </p:sp>
      <p:sp>
        <p:nvSpPr>
          <p:cNvPr id="33" name="Text 30"/>
          <p:cNvSpPr txBox="1"/>
          <p:nvPr/>
        </p:nvSpPr>
        <p:spPr>
          <a:xfrm>
            <a:off x="4023360" y="3741725"/>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إِنَّ الطُّلَّابَ مُسْتَعِدُّونَ.</a:t>
            </a:r>
            <a:endParaRPr lang="ar-SA" sz="2400" dirty="0"/>
          </a:p>
        </p:txBody>
      </p:sp>
      <p:sp>
        <p:nvSpPr>
          <p:cNvPr id="34" name="Text 31"/>
          <p:cNvSpPr txBox="1"/>
          <p:nvPr/>
        </p:nvSpPr>
        <p:spPr>
          <a:xfrm>
            <a:off x="548640" y="3741725"/>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الطُّلَّابُ مُسْتَعِدُّونَ.</a:t>
            </a:r>
            <a:endParaRPr lang="ar-SA" sz="24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Indeed, the weather is beautiful.</a:t>
            </a:r>
            <a:endParaRPr lang="en-US" sz="1100" dirty="0"/>
          </a:p>
        </p:txBody>
      </p:sp>
      <p:sp>
        <p:nvSpPr>
          <p:cNvPr id="37" name="Text 34"/>
          <p:cNvSpPr txBox="1"/>
          <p:nvPr/>
        </p:nvSpPr>
        <p:spPr>
          <a:xfrm>
            <a:off x="4023360" y="4478731"/>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إِنَّ الْجَوَّ جَمِيلٌ.</a:t>
            </a:r>
            <a:endParaRPr lang="ar-SA" sz="2400" dirty="0"/>
          </a:p>
        </p:txBody>
      </p:sp>
      <p:sp>
        <p:nvSpPr>
          <p:cNvPr id="38" name="Text 35"/>
          <p:cNvSpPr txBox="1"/>
          <p:nvPr/>
        </p:nvSpPr>
        <p:spPr>
          <a:xfrm>
            <a:off x="548640" y="4478731"/>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الْجَوُّ جَمِيلٌ.</a:t>
            </a:r>
            <a:endParaRPr lang="ar-SA" sz="24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Its adjective follows: -a too.</a:t>
            </a:r>
            <a:endParaRPr lang="en-US" sz="1100" dirty="0"/>
          </a:p>
        </p:txBody>
      </p:sp>
      <p:sp>
        <p:nvSpPr>
          <p:cNvPr id="43" name="Text 40"/>
          <p:cNvSpPr txBox="1"/>
          <p:nvPr/>
        </p:nvSpPr>
        <p:spPr>
          <a:xfrm>
            <a:off x="4023360" y="521573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إِنَّ اللُّغَةَ الْعَرَبِيَّةَ جَمِيلَةٌ.</a:t>
            </a:r>
            <a:endParaRPr lang="ar-SA" sz="2400" dirty="0"/>
          </a:p>
        </p:txBody>
      </p:sp>
      <p:sp>
        <p:nvSpPr>
          <p:cNvPr id="44" name="Text 41"/>
          <p:cNvSpPr txBox="1"/>
          <p:nvPr/>
        </p:nvSpPr>
        <p:spPr>
          <a:xfrm>
            <a:off x="548640" y="521573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اللُّغَةُ الْعَرَبِيَّةُ جَمِيلَةٌ.</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warning: do not move both endings. The predicate does NOT become -a just because inna appears — inna ṭ-ṭāliba mujtahidun, never mujtahidan.</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INNA AT THE START, ANNA INSIDE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Same grammar, different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إِنَّ أَمْ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559552" y="1810512"/>
            <a:ext cx="6099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model</a:t>
            </a:r>
            <a:endParaRPr lang="en-US" sz="1100" dirty="0"/>
          </a:p>
        </p:txBody>
      </p:sp>
      <p:sp>
        <p:nvSpPr>
          <p:cNvPr id="17" name="Text 14"/>
          <p:cNvSpPr txBox="1"/>
          <p:nvPr/>
        </p:nvSpPr>
        <p:spPr>
          <a:xfrm>
            <a:off x="290779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Frame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Use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577840" y="2267712"/>
            <a:ext cx="6062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إِنَّ التَّعَلُّمَ مُهِمٌّ.</a:t>
            </a:r>
            <a:endParaRPr lang="ar-SA" sz="2200" dirty="0"/>
          </a:p>
        </p:txBody>
      </p:sp>
      <p:sp>
        <p:nvSpPr>
          <p:cNvPr id="21" name="Text 18"/>
          <p:cNvSpPr txBox="1"/>
          <p:nvPr/>
        </p:nvSpPr>
        <p:spPr>
          <a:xfrm>
            <a:off x="2926080" y="2267712"/>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إِنَّ …</a:t>
            </a:r>
            <a:endParaRPr lang="ar-SA" sz="22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opening emphasis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577840" y="3004718"/>
            <a:ext cx="6062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أَعْتَقِدُ أَنَّ التَّعَلُّمَ مُهِمٌّ.</a:t>
            </a:r>
            <a:endParaRPr lang="ar-SA" sz="2200" dirty="0"/>
          </a:p>
        </p:txBody>
      </p:sp>
      <p:sp>
        <p:nvSpPr>
          <p:cNvPr id="27" name="Text 24"/>
          <p:cNvSpPr txBox="1"/>
          <p:nvPr/>
        </p:nvSpPr>
        <p:spPr>
          <a:xfrm>
            <a:off x="2926080" y="300471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أَعْتَقِدُ أَنَّ …</a:t>
            </a:r>
            <a:endParaRPr lang="ar-SA" sz="22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thought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577840" y="3741725"/>
            <a:ext cx="6062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أَعْرِفُ أَنَّ الطَّرِيقَ طَوِيلٌ.</a:t>
            </a:r>
            <a:endParaRPr lang="ar-SA" sz="2200" dirty="0"/>
          </a:p>
        </p:txBody>
      </p:sp>
      <p:sp>
        <p:nvSpPr>
          <p:cNvPr id="33" name="Text 30"/>
          <p:cNvSpPr txBox="1"/>
          <p:nvPr/>
        </p:nvSpPr>
        <p:spPr>
          <a:xfrm>
            <a:off x="2926080" y="3741725"/>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أَعْرِفُ أَنَّ …</a:t>
            </a:r>
            <a:endParaRPr lang="ar-SA" sz="2200" dirty="0"/>
          </a:p>
        </p:txBody>
      </p:sp>
      <p:sp>
        <p:nvSpPr>
          <p:cNvPr id="34" name="Text 31"/>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knowledge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577840" y="4478731"/>
            <a:ext cx="6062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لِأَنَّ الِامْتِحَانَ قَرِيبٌ.</a:t>
            </a:r>
            <a:endParaRPr lang="ar-SA" sz="2200" dirty="0"/>
          </a:p>
        </p:txBody>
      </p:sp>
      <p:sp>
        <p:nvSpPr>
          <p:cNvPr id="37" name="Text 34"/>
          <p:cNvSpPr txBox="1"/>
          <p:nvPr/>
        </p:nvSpPr>
        <p:spPr>
          <a:xfrm>
            <a:off x="2926080" y="4478731"/>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لِأَنَّ …</a:t>
            </a:r>
            <a:endParaRPr lang="ar-SA" sz="2200" dirty="0"/>
          </a:p>
        </p:txBody>
      </p:sp>
      <p:sp>
        <p:nvSpPr>
          <p:cNvPr id="38" name="Text 35"/>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reason</a:t>
            </a:r>
            <a:endParaRPr lang="en-US" sz="11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5577840" y="5215738"/>
            <a:ext cx="6062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سَمِعْتُ أَنَّ الْمَتْحَفَ مُغْلَقٌ.</a:t>
            </a:r>
            <a:endParaRPr lang="ar-SA" sz="2200" dirty="0"/>
          </a:p>
        </p:txBody>
      </p:sp>
      <p:sp>
        <p:nvSpPr>
          <p:cNvPr id="43" name="Text 40"/>
          <p:cNvSpPr txBox="1"/>
          <p:nvPr/>
        </p:nvSpPr>
        <p:spPr>
          <a:xfrm>
            <a:off x="2926080" y="521573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سَمِعْتُ أَنَّ …</a:t>
            </a:r>
            <a:endParaRPr lang="ar-SA" sz="2200" dirty="0"/>
          </a:p>
        </p:txBody>
      </p:sp>
      <p:sp>
        <p:nvSpPr>
          <p:cNvPr id="44" name="Text 41"/>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news heard</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practical distinction: START an emphatic statement with inna (kasra). After a verb such as aʿtaqidu, aʿrifu, samiʿtu — and inside li-anna — use anna (fatḥa).</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3 · ATTACHED PRONOUNS (WEBSITE TABLE)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noun can be a pronoun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إِنَّ مَعَ الضَّمَائِرِ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model</a:t>
            </a:r>
            <a:endParaRPr lang="en-US" sz="1100" dirty="0"/>
          </a:p>
        </p:txBody>
      </p:sp>
      <p:sp>
        <p:nvSpPr>
          <p:cNvPr id="17" name="Text 14"/>
          <p:cNvSpPr txBox="1"/>
          <p:nvPr/>
        </p:nvSpPr>
        <p:spPr>
          <a:xfrm>
            <a:off x="29077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035040" y="2267712"/>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إِنَّنِي مُسْتَعِدَّةٌ.</a:t>
            </a:r>
            <a:endParaRPr lang="ar-SA" sz="2400" dirty="0"/>
          </a:p>
        </p:txBody>
      </p:sp>
      <p:sp>
        <p:nvSpPr>
          <p:cNvPr id="21" name="Text 18"/>
          <p:cNvSpPr txBox="1"/>
          <p:nvPr/>
        </p:nvSpPr>
        <p:spPr>
          <a:xfrm>
            <a:off x="29260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إِنَّنِي · إِنِّي</a:t>
            </a:r>
            <a:endParaRPr lang="ar-SA" sz="2400" dirty="0"/>
          </a:p>
        </p:txBody>
      </p:sp>
      <p:sp>
        <p:nvSpPr>
          <p:cNvPr id="22" name="Text 19"/>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6035040" y="2881884"/>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إِنَّكِ مُجْتَهِدَةٌ.</a:t>
            </a:r>
            <a:endParaRPr lang="ar-SA" sz="2400" dirty="0"/>
          </a:p>
        </p:txBody>
      </p:sp>
      <p:sp>
        <p:nvSpPr>
          <p:cNvPr id="25" name="Text 22"/>
          <p:cNvSpPr txBox="1"/>
          <p:nvPr/>
        </p:nvSpPr>
        <p:spPr>
          <a:xfrm>
            <a:off x="29260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إِنَّكَ · إِنَّكِ</a:t>
            </a:r>
            <a:endParaRPr lang="ar-SA" sz="2400" dirty="0"/>
          </a:p>
        </p:txBody>
      </p:sp>
      <p:sp>
        <p:nvSpPr>
          <p:cNvPr id="26" name="Text 23"/>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(m. · f.)</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6035040" y="3496056"/>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إِنَّهُ مُفِيدٌ.</a:t>
            </a:r>
            <a:endParaRPr lang="ar-SA" sz="2400" dirty="0"/>
          </a:p>
        </p:txBody>
      </p:sp>
      <p:sp>
        <p:nvSpPr>
          <p:cNvPr id="29" name="Text 26"/>
          <p:cNvSpPr txBox="1"/>
          <p:nvPr/>
        </p:nvSpPr>
        <p:spPr>
          <a:xfrm>
            <a:off x="29260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إِنَّهُ</a:t>
            </a:r>
            <a:endParaRPr lang="ar-SA" sz="2400" dirty="0"/>
          </a:p>
        </p:txBody>
      </p:sp>
      <p:sp>
        <p:nvSpPr>
          <p:cNvPr id="30" name="Text 27"/>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 it (m.)</a:t>
            </a:r>
            <a:endParaRPr lang="en-US" sz="1100" dirty="0"/>
          </a:p>
        </p:txBody>
      </p:sp>
      <p:sp>
        <p:nvSpPr>
          <p:cNvPr id="31" name="Shape 28"/>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4" name="Text 31"/>
          <p:cNvSpPr txBox="1"/>
          <p:nvPr/>
        </p:nvSpPr>
        <p:spPr>
          <a:xfrm>
            <a:off x="6035040" y="4110228"/>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إِنَّهَا مُفِيدَةٌ.</a:t>
            </a:r>
            <a:endParaRPr lang="ar-SA" sz="2400" dirty="0"/>
          </a:p>
        </p:txBody>
      </p:sp>
      <p:sp>
        <p:nvSpPr>
          <p:cNvPr id="35" name="Text 32"/>
          <p:cNvSpPr txBox="1"/>
          <p:nvPr/>
        </p:nvSpPr>
        <p:spPr>
          <a:xfrm>
            <a:off x="29260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إِنَّهَا</a:t>
            </a:r>
            <a:endParaRPr lang="ar-SA" sz="2400" dirty="0"/>
          </a:p>
        </p:txBody>
      </p:sp>
      <p:sp>
        <p:nvSpPr>
          <p:cNvPr id="36" name="Text 33"/>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 / it (f.)</a:t>
            </a:r>
            <a:endParaRPr lang="en-US" sz="1100" dirty="0"/>
          </a:p>
        </p:txBody>
      </p:sp>
      <p:sp>
        <p:nvSpPr>
          <p:cNvPr id="37" name="Shape 34"/>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6035040" y="4724400"/>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إِنَّنَا مُسْتَعِدُّونَ.</a:t>
            </a:r>
            <a:endParaRPr lang="ar-SA" sz="2400" dirty="0"/>
          </a:p>
        </p:txBody>
      </p:sp>
      <p:sp>
        <p:nvSpPr>
          <p:cNvPr id="41" name="Text 38"/>
          <p:cNvSpPr txBox="1"/>
          <p:nvPr/>
        </p:nvSpPr>
        <p:spPr>
          <a:xfrm>
            <a:off x="29260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إِنَّنَا</a:t>
            </a:r>
            <a:endParaRPr lang="ar-SA" sz="2400" dirty="0"/>
          </a:p>
        </p:txBody>
      </p:sp>
      <p:sp>
        <p:nvSpPr>
          <p:cNvPr id="42" name="Text 39"/>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6035040" y="5338572"/>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إِنَّهُمْ نَاجِحُونَ.</a:t>
            </a:r>
            <a:endParaRPr lang="ar-SA" sz="2400" dirty="0"/>
          </a:p>
        </p:txBody>
      </p:sp>
      <p:sp>
        <p:nvSpPr>
          <p:cNvPr id="45" name="Text 42"/>
          <p:cNvSpPr txBox="1"/>
          <p:nvPr/>
        </p:nvSpPr>
        <p:spPr>
          <a:xfrm>
            <a:off x="29260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إِنَّهُمْ · إِنَّهُنَّ</a:t>
            </a:r>
            <a:endParaRPr lang="ar-SA" sz="2400" dirty="0"/>
          </a:p>
        </p:txBody>
      </p:sp>
      <p:sp>
        <p:nvSpPr>
          <p:cNvPr id="46" name="Text 43"/>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high-value frame: ufaḍḍilu l-qirāʾata li-annahā mufīdatun wa-mumtiʿatun — I prefer reading because it is useful and enjoyable. The same endings join anna, li-anna and lākinna.</a:t>
            </a:r>
            <a:endParaRPr lang="en-US" sz="11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 PART 4 · A FUNCTIONAL MAP OF THE SISTERS (WEBSITE TABLE)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Learn the job before the label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مَعَانِي الْأَخَوَاتِ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285232" y="1810512"/>
            <a:ext cx="6373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model</a:t>
            </a:r>
            <a:endParaRPr lang="en-US" sz="1100" dirty="0"/>
          </a:p>
        </p:txBody>
      </p:sp>
      <p:sp>
        <p:nvSpPr>
          <p:cNvPr id="17" name="Text 14"/>
          <p:cNvSpPr txBox="1"/>
          <p:nvPr/>
        </p:nvSpPr>
        <p:spPr>
          <a:xfrm>
            <a:off x="254203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Job</a:t>
            </a:r>
            <a:endParaRPr lang="en-US" sz="1100" dirty="0"/>
          </a:p>
        </p:txBody>
      </p:sp>
      <p:sp>
        <p:nvSpPr>
          <p:cNvPr id="18" name="Text 15"/>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Particle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303520" y="2267712"/>
            <a:ext cx="633679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الطَّرِيقُ طَوِيلٌ، لَكِنَّهُ آمِنٌ.</a:t>
            </a:r>
            <a:endParaRPr lang="ar-SA" sz="2200" dirty="0"/>
          </a:p>
        </p:txBody>
      </p:sp>
      <p:sp>
        <p:nvSpPr>
          <p:cNvPr id="21" name="Text 18"/>
          <p:cNvSpPr txBox="1"/>
          <p:nvPr/>
        </p:nvSpPr>
        <p:spPr>
          <a:xfrm>
            <a:off x="257860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contrast: but</a:t>
            </a:r>
            <a:endParaRPr lang="en-US" sz="1100" dirty="0"/>
          </a:p>
        </p:txBody>
      </p:sp>
      <p:sp>
        <p:nvSpPr>
          <p:cNvPr id="22" name="Text 19"/>
          <p:cNvSpPr txBox="1"/>
          <p:nvPr/>
        </p:nvSpPr>
        <p:spPr>
          <a:xfrm>
            <a:off x="548640" y="2267712"/>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لَكِنَّ</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303520" y="3054096"/>
            <a:ext cx="633679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لَعَلَّ الطَّقْسَ جَمِيلٌ غَدًا.</a:t>
            </a:r>
            <a:endParaRPr lang="ar-SA" sz="2200" dirty="0"/>
          </a:p>
        </p:txBody>
      </p:sp>
      <p:sp>
        <p:nvSpPr>
          <p:cNvPr id="27" name="Text 24"/>
          <p:cNvSpPr txBox="1"/>
          <p:nvPr/>
        </p:nvSpPr>
        <p:spPr>
          <a:xfrm>
            <a:off x="257860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hope: perhaps</a:t>
            </a:r>
            <a:endParaRPr lang="en-US" sz="1100" dirty="0"/>
          </a:p>
        </p:txBody>
      </p:sp>
      <p:sp>
        <p:nvSpPr>
          <p:cNvPr id="28" name="Text 25"/>
          <p:cNvSpPr txBox="1"/>
          <p:nvPr/>
        </p:nvSpPr>
        <p:spPr>
          <a:xfrm>
            <a:off x="548640" y="3054096"/>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لَعَلَّ</a:t>
            </a:r>
            <a:endParaRPr lang="ar-SA" sz="2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5303520" y="3840480"/>
            <a:ext cx="633679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لَيْتَ الْعُطْلَةَ أَطْوَلُ.</a:t>
            </a:r>
            <a:endParaRPr lang="ar-SA" sz="2200" dirty="0"/>
          </a:p>
        </p:txBody>
      </p:sp>
      <p:sp>
        <p:nvSpPr>
          <p:cNvPr id="31" name="Text 28"/>
          <p:cNvSpPr txBox="1"/>
          <p:nvPr/>
        </p:nvSpPr>
        <p:spPr>
          <a:xfrm>
            <a:off x="257860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wish: if only</a:t>
            </a:r>
            <a:endParaRPr lang="en-US" sz="1100" dirty="0"/>
          </a:p>
        </p:txBody>
      </p:sp>
      <p:sp>
        <p:nvSpPr>
          <p:cNvPr id="32" name="Text 29"/>
          <p:cNvSpPr txBox="1"/>
          <p:nvPr/>
        </p:nvSpPr>
        <p:spPr>
          <a:xfrm>
            <a:off x="548640" y="3840480"/>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لَيْتَ</a:t>
            </a:r>
            <a:endParaRPr lang="ar-SA" sz="26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5303520" y="4626864"/>
            <a:ext cx="633679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كَأَنَّ الْبَحْرَ مِرْآةٌ.</a:t>
            </a:r>
            <a:endParaRPr lang="ar-SA" sz="2200" dirty="0"/>
          </a:p>
        </p:txBody>
      </p:sp>
      <p:sp>
        <p:nvSpPr>
          <p:cNvPr id="35" name="Text 32"/>
          <p:cNvSpPr txBox="1"/>
          <p:nvPr/>
        </p:nvSpPr>
        <p:spPr>
          <a:xfrm>
            <a:off x="257860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 if / looks like</a:t>
            </a:r>
            <a:endParaRPr lang="en-US" sz="1100" dirty="0"/>
          </a:p>
        </p:txBody>
      </p:sp>
      <p:sp>
        <p:nvSpPr>
          <p:cNvPr id="36" name="Text 33"/>
          <p:cNvSpPr txBox="1"/>
          <p:nvPr/>
        </p:nvSpPr>
        <p:spPr>
          <a:xfrm>
            <a:off x="548640" y="4626864"/>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كَأَنَّ</a:t>
            </a:r>
            <a:endParaRPr lang="ar-SA" sz="26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lākin (no shadda) simply links a new clause — lākin huwa mutʿabun. Lākinna follows the inna pattern and usually takes a pronoun — lākinnahu mutʿabun. Never lākinnuhu.</a:t>
            </a:r>
            <a:endParaRPr lang="en-US" sz="11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Add inna:</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الْمَدْرَسَةُ كَبِيرَةٌ.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 الْمَدْرَسَةُ كَبِيرَةً.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 الْمَدْرَسَةِ كَبِيرَةٌ.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 الْمَدْرَسَةَ كَبِيرَةٌ.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natural reported opinion.</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أَعْتَقِدُ أَنَّ الْمَدْرَسَةَ مُنَظَّمَةٌ.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أَعْتَقِدُ إِنَّ الْمَدْرَسَةَ مُنَظَّمَةٌ.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أَعْتَقِدُ كَانَتِ الْمَدْرَسَةُ.</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“but she is busy”.</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لَكِنَّهَا مَشْغُولَةً.</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لَكِنَّهَا مَشْغُولَةٌ.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لَكِنَّهُ مَشْغُولَةٌ.</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“It is as though the city is asleep.”</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كَأَنَّ الْمَدِينَةَ نَائِمَةٌ.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كَأَنَّ الْمَدِينَةُ نَائِمَةً.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لَعَلَّ الْمَدِينَةَ نَائِمَةً.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Add inna:</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الْمَدْرَسَةُ كَبِيرَةٌ.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 الْمَدْرَسَةُ كَبِيرَةً.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 الْمَدْرَسَةِ كَبِيرَةٌ.</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إِنَّ الْمَدْرَسَةَ كَبِيرَةٌ.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Noun -a, predicate -u.</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natural reported opinion.</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أَعْتَقِدُ أَنَّ الْمَدْرَسَةَ مُنَظَّمَةٌ.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أَعْتَقِدُ إِنَّ الْمَدْرَسَةَ مُنَظَّمَةٌ.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أَعْتَقِدُ كَانَتِ الْمَدْرَسَةُ.</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aʿtaqidu: anna.</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“but she is busy”.</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لَكِنَّهَا مَشْغُولَةً.</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لَكِنَّهَا مَشْغُولَةٌ.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لَكِنَّهُ مَشْغُولَةٌ.</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Lākinnahā + mashghūlatun.</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“It is as though the city is asleep.”</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كَأَنَّ الْمَدِينَةَ نَائِمَةٌ.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كَأَنَّ الْمَدِينَةُ نَائِمَةً.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لَعَلَّ الْمَدِينَةَ نَائِمَةً.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Kaʾanna + al-madīnata + nāʾimatun.</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Watch me turn a fact into an opinion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Fact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التِّقْنِيَّةُ مُفِيدَةٌ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Topic + predicate.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Frame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أَعْتَقِدُ أَنَّ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My opinion: anna.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Noun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التِّقْنِيَّةَ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-u becomes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Predicate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مُفِيدَةٌ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Stays -un.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PARTICLE</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NOUN (-a)</a:t>
            </a:r>
            <a:endParaRPr lang="en-US" sz="800" dirty="0"/>
          </a:p>
        </p:txBody>
      </p:sp>
      <p:sp>
        <p:nvSpPr>
          <p:cNvPr id="49" name="Shape 45"/>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PREDICATE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0E7C86"/>
                </a:solidFill>
                <a:latin typeface="Amiri" pitchFamily="34" charset="0"/>
                <a:ea typeface="Amiri" pitchFamily="34" charset="-122"/>
                <a:cs typeface="Amiri" pitchFamily="34" charset="-120"/>
              </a:rPr>
              <a:t>أَعْتَقِدُ أَنَّ</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650" b="1" dirty="0">
                <a:solidFill>
                  <a:srgbClr val="1D5FBF"/>
                </a:solidFill>
                <a:latin typeface="Amiri" pitchFamily="34" charset="0"/>
                <a:ea typeface="Amiri" pitchFamily="34" charset="-122"/>
                <a:cs typeface="Amiri" pitchFamily="34" charset="-120"/>
              </a:rPr>
              <a:t>التَّعَلُّمَ</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عَنْ بُعْدٍ </a:t>
            </a:r>
            <a:pPr rtl="1" algn="r" indent="0" marL="0">
              <a:lnSpc>
                <a:spcPct val="120000"/>
              </a:lnSpc>
              <a:buNone/>
            </a:pPr>
            <a:r>
              <a:rPr lang="ar-SA" altLang="en-US" sz="1650" b="1" dirty="0">
                <a:solidFill>
                  <a:srgbClr val="C77700"/>
                </a:solidFill>
                <a:latin typeface="Amiri" pitchFamily="34" charset="0"/>
                <a:ea typeface="Amiri" pitchFamily="34" charset="-122"/>
                <a:cs typeface="Amiri" pitchFamily="34" charset="-120"/>
              </a:rPr>
              <a:t>مُفِيدٌ</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650" b="1" dirty="0">
                <a:solidFill>
                  <a:srgbClr val="0E7C86"/>
                </a:solidFill>
                <a:latin typeface="Amiri" pitchFamily="34" charset="0"/>
                <a:ea typeface="Amiri" pitchFamily="34" charset="-122"/>
                <a:cs typeface="Amiri" pitchFamily="34" charset="-120"/>
              </a:rPr>
              <a:t>لَكِنَّهُ</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650" b="1" dirty="0">
                <a:solidFill>
                  <a:srgbClr val="C77700"/>
                </a:solidFill>
                <a:latin typeface="Amiri" pitchFamily="34" charset="0"/>
                <a:ea typeface="Amiri" pitchFamily="34" charset="-122"/>
                <a:cs typeface="Amiri" pitchFamily="34" charset="-120"/>
              </a:rPr>
              <a:t>يَحْتَاجُ إِلَى تَنْظِيمٍ جَيِّدٍ</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650" b="1" dirty="0">
                <a:solidFill>
                  <a:srgbClr val="0E7C86"/>
                </a:solidFill>
                <a:latin typeface="Amiri" pitchFamily="34" charset="0"/>
                <a:ea typeface="Amiri" pitchFamily="34" charset="-122"/>
                <a:cs typeface="Amiri" pitchFamily="34" charset="-120"/>
              </a:rPr>
              <a:t>لَعَلَّ</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650" b="1" dirty="0">
                <a:solidFill>
                  <a:srgbClr val="1D5FBF"/>
                </a:solidFill>
                <a:latin typeface="Amiri" pitchFamily="34" charset="0"/>
                <a:ea typeface="Amiri" pitchFamily="34" charset="-122"/>
                <a:cs typeface="Amiri" pitchFamily="34" charset="-120"/>
              </a:rPr>
              <a:t>التِّقْنِيَّةَ</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650" b="1" dirty="0">
                <a:solidFill>
                  <a:srgbClr val="C77700"/>
                </a:solidFill>
                <a:latin typeface="Amiri" pitchFamily="34" charset="0"/>
                <a:ea typeface="Amiri" pitchFamily="34" charset="-122"/>
                <a:cs typeface="Amiri" pitchFamily="34" charset="-120"/>
              </a:rPr>
              <a:t>تُسَاعِدُنَا أَكْثَرَ</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فِي الْمُسْتَقْبَلِ، </a:t>
            </a:r>
            <a:pPr rtl="1" algn="r" indent="0" marL="0">
              <a:lnSpc>
                <a:spcPct val="120000"/>
              </a:lnSpc>
              <a:buNone/>
            </a:pPr>
            <a:r>
              <a:rPr lang="ar-SA" altLang="en-US" sz="1650" b="1" dirty="0">
                <a:solidFill>
                  <a:srgbClr val="0E7C86"/>
                </a:solidFill>
                <a:latin typeface="Amiri" pitchFamily="34" charset="0"/>
                <a:ea typeface="Amiri" pitchFamily="34" charset="-122"/>
                <a:cs typeface="Amiri" pitchFamily="34" charset="-120"/>
              </a:rPr>
              <a:t>لِأَنَّهَا</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650" b="1" dirty="0">
                <a:solidFill>
                  <a:srgbClr val="C77700"/>
                </a:solidFill>
                <a:latin typeface="Amiri" pitchFamily="34" charset="0"/>
                <a:ea typeface="Amiri" pitchFamily="34" charset="-122"/>
                <a:cs typeface="Amiri" pitchFamily="34" charset="-120"/>
              </a:rPr>
              <a:t>تَتَطَوَّرُ بِسُرْعَةٍ</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650" b="1" dirty="0">
                <a:solidFill>
                  <a:srgbClr val="0E7C86"/>
                </a:solidFill>
                <a:latin typeface="Amiri" pitchFamily="34" charset="0"/>
                <a:ea typeface="Amiri" pitchFamily="34" charset="-122"/>
                <a:cs typeface="Amiri" pitchFamily="34" charset="-120"/>
              </a:rPr>
              <a:t>إِنَّ</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650" b="1" dirty="0">
                <a:solidFill>
                  <a:srgbClr val="1D5FBF"/>
                </a:solidFill>
                <a:latin typeface="Amiri" pitchFamily="34" charset="0"/>
                <a:ea typeface="Amiri" pitchFamily="34" charset="-122"/>
                <a:cs typeface="Amiri" pitchFamily="34" charset="-120"/>
              </a:rPr>
              <a:t>الْمُسْتَقْبَلَ</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650" b="1" dirty="0">
                <a:solidFill>
                  <a:srgbClr val="C77700"/>
                </a:solidFill>
                <a:latin typeface="Amiri" pitchFamily="34" charset="0"/>
                <a:ea typeface="Amiri" pitchFamily="34" charset="-122"/>
                <a:cs typeface="Amiri" pitchFamily="34" charset="-120"/>
              </a:rPr>
              <a:t>مُشْرِقٌ</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a:t>
            </a:r>
            <a:endParaRPr lang="ar-SA" sz="16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think that distance learning is useful, but it needs good organisation. Perhaps technology will help us more in the future, because it is developing quickly. Indeed, the future is bright!</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إِنَّ الطَّالِبَ مُجْتَهِدٌ.</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Indeed, the student is hardworking.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Emphasis.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أَعْرِفُ أَنَّ الطَّرِيقَ طَوِيلٌ.</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know that the road is long.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After a verb: anna.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أُفَضِّلُ الْقِرَاءَةَ لِأَنَّهَا مُفِيدَةٌ.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prefer reading because it is useful.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li-anna + -hā.</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كَأَنَّ الْبَحْرَ مِرْآةٌ.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as though the sea is a mirror.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Resemblance.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ADD THE PARTICLE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Change one ending — keep the other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أَدْخِلِ الْحَرْفَ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New sentence</a:t>
            </a:r>
            <a:endParaRPr lang="en-US" sz="1100" dirty="0"/>
          </a:p>
        </p:txBody>
      </p:sp>
      <p:sp>
        <p:nvSpPr>
          <p:cNvPr id="17" name="Text 14"/>
          <p:cNvSpPr txBox="1"/>
          <p:nvPr/>
        </p:nvSpPr>
        <p:spPr>
          <a:xfrm>
            <a:off x="382219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Add</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035040" y="2267712"/>
            <a:ext cx="56052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إِنَّ الْمَدِينَةَ جَمِيلَةٌ.</a:t>
            </a:r>
            <a:endParaRPr lang="ar-SA" sz="2200" dirty="0"/>
          </a:p>
        </p:txBody>
      </p:sp>
      <p:sp>
        <p:nvSpPr>
          <p:cNvPr id="21" name="Text 18"/>
          <p:cNvSpPr txBox="1"/>
          <p:nvPr/>
        </p:nvSpPr>
        <p:spPr>
          <a:xfrm>
            <a:off x="3840480" y="2267712"/>
            <a:ext cx="20116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إِنَّ</a:t>
            </a:r>
            <a:endParaRPr lang="ar-SA" sz="2200" dirty="0"/>
          </a:p>
        </p:txBody>
      </p:sp>
      <p:sp>
        <p:nvSpPr>
          <p:cNvPr id="22" name="Text 19"/>
          <p:cNvSpPr txBox="1"/>
          <p:nvPr/>
        </p:nvSpPr>
        <p:spPr>
          <a:xfrm>
            <a:off x="548640" y="2267712"/>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الْمَدِينَةُ جَمِيلَةٌ.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035040" y="2881884"/>
            <a:ext cx="56052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أَعْتَقِدُ أَنَّ الْخُطَّةَ مُفِيدَةٌ.</a:t>
            </a:r>
            <a:endParaRPr lang="ar-SA" sz="2200" dirty="0"/>
          </a:p>
        </p:txBody>
      </p:sp>
      <p:sp>
        <p:nvSpPr>
          <p:cNvPr id="27" name="Text 24"/>
          <p:cNvSpPr txBox="1"/>
          <p:nvPr/>
        </p:nvSpPr>
        <p:spPr>
          <a:xfrm>
            <a:off x="3840480" y="2881884"/>
            <a:ext cx="20116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أَعْتَقِدُ أَنَّ</a:t>
            </a:r>
            <a:endParaRPr lang="ar-SA" sz="2200" dirty="0"/>
          </a:p>
        </p:txBody>
      </p:sp>
      <p:sp>
        <p:nvSpPr>
          <p:cNvPr id="28" name="Text 25"/>
          <p:cNvSpPr txBox="1"/>
          <p:nvPr/>
        </p:nvSpPr>
        <p:spPr>
          <a:xfrm>
            <a:off x="548640" y="2881884"/>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الْخُطَّةُ مُفِيدَةٌ.</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6035040" y="3496056"/>
            <a:ext cx="56052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لِأَنَّهُ مُتْعَبٌ</a:t>
            </a:r>
            <a:endParaRPr lang="ar-SA" sz="2200" dirty="0"/>
          </a:p>
        </p:txBody>
      </p:sp>
      <p:sp>
        <p:nvSpPr>
          <p:cNvPr id="33" name="Text 30"/>
          <p:cNvSpPr txBox="1"/>
          <p:nvPr/>
        </p:nvSpPr>
        <p:spPr>
          <a:xfrm>
            <a:off x="3840480" y="3496056"/>
            <a:ext cx="20116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لِأَنَّ</a:t>
            </a:r>
            <a:endParaRPr lang="ar-SA" sz="2200" dirty="0"/>
          </a:p>
        </p:txBody>
      </p:sp>
      <p:sp>
        <p:nvSpPr>
          <p:cNvPr id="34" name="Text 31"/>
          <p:cNvSpPr txBox="1"/>
          <p:nvPr/>
        </p:nvSpPr>
        <p:spPr>
          <a:xfrm>
            <a:off x="548640" y="3496056"/>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مُتْعَبٌ.</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6035040" y="4110228"/>
            <a:ext cx="56052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لَكِنَّهَا مُنَظَّمَةٌ</a:t>
            </a:r>
            <a:endParaRPr lang="ar-SA" sz="2200" dirty="0"/>
          </a:p>
        </p:txBody>
      </p:sp>
      <p:sp>
        <p:nvSpPr>
          <p:cNvPr id="39" name="Text 36"/>
          <p:cNvSpPr txBox="1"/>
          <p:nvPr/>
        </p:nvSpPr>
        <p:spPr>
          <a:xfrm>
            <a:off x="3840480" y="4110228"/>
            <a:ext cx="20116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لَكِنَّ</a:t>
            </a:r>
            <a:endParaRPr lang="ar-SA" sz="2200" dirty="0"/>
          </a:p>
        </p:txBody>
      </p:sp>
      <p:sp>
        <p:nvSpPr>
          <p:cNvPr id="40" name="Text 37"/>
          <p:cNvSpPr txBox="1"/>
          <p:nvPr/>
        </p:nvSpPr>
        <p:spPr>
          <a:xfrm>
            <a:off x="548640" y="4110228"/>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مُنَظَّمَةٌ.</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6035040" y="4724400"/>
            <a:ext cx="56052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لَعَلَّ الْحَافِلَةَ مُتَأَخِّرَةٌ.</a:t>
            </a:r>
            <a:endParaRPr lang="ar-SA" sz="2200" dirty="0"/>
          </a:p>
        </p:txBody>
      </p:sp>
      <p:sp>
        <p:nvSpPr>
          <p:cNvPr id="43" name="Text 40"/>
          <p:cNvSpPr txBox="1"/>
          <p:nvPr/>
        </p:nvSpPr>
        <p:spPr>
          <a:xfrm>
            <a:off x="3840480" y="4724400"/>
            <a:ext cx="20116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لَعَلَّ</a:t>
            </a:r>
            <a:endParaRPr lang="ar-SA" sz="2200" dirty="0"/>
          </a:p>
        </p:txBody>
      </p:sp>
      <p:sp>
        <p:nvSpPr>
          <p:cNvPr id="44" name="Text 41"/>
          <p:cNvSpPr txBox="1"/>
          <p:nvPr/>
        </p:nvSpPr>
        <p:spPr>
          <a:xfrm>
            <a:off x="548640" y="4724400"/>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الْحَافِلَةُ مُتَأَخِّرَةٌ.</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6035040" y="5338572"/>
            <a:ext cx="56052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كَأَنَّ السَّمَاءَ لَوْحَةٌ.</a:t>
            </a:r>
            <a:endParaRPr lang="ar-SA" sz="2200" dirty="0"/>
          </a:p>
        </p:txBody>
      </p:sp>
      <p:sp>
        <p:nvSpPr>
          <p:cNvPr id="47" name="Text 44"/>
          <p:cNvSpPr txBox="1"/>
          <p:nvPr/>
        </p:nvSpPr>
        <p:spPr>
          <a:xfrm>
            <a:off x="3840480" y="5338572"/>
            <a:ext cx="20116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كَأَنَّ</a:t>
            </a:r>
            <a:endParaRPr lang="ar-SA" sz="2200" dirty="0"/>
          </a:p>
        </p:txBody>
      </p:sp>
      <p:sp>
        <p:nvSpPr>
          <p:cNvPr id="48" name="Text 45"/>
          <p:cNvSpPr txBox="1"/>
          <p:nvPr/>
        </p:nvSpPr>
        <p:spPr>
          <a:xfrm>
            <a:off x="548640" y="5338572"/>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السَّمَاءُ لَوْحَةٌ.</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Huwa and hiya become endings: li-anna + huwa = li-annahu; lākinna + hiya = lākinnahā. The predicate never changes.</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WHAT JOB DOES THE PARTICLE DO?</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Contrast, hope, wish or “as if”?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 مَعْنَى الْحَرْفِ؟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الطَّرِيقُ طَوِيلٌ، لَكِنَّهُ آمِنٌ.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الْبَيْتُ صَغِيرٌ، لَكِنَّهُ جَمِيلٌ.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لَعَلَّ الطَّقْسَ جَمِيلٌ غَدًا.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لَعَلَّ الِامْتِحَانَ سَهْلٌ.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لَيْتَ الْعُطْلَةَ أَطْوَلُ.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لَيْتَ أَخِي هُنَا.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كَأَنَّ الْبَحْرَ مِرْآةٌ.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كَأَنَّ الْمَدِينَةَ نَائِمَةٌ.</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Contrast</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Hope</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Wish</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 As if</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Contrast</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الطَّرِيقُ طَوِيلٌ، لَكِنَّهُ آمِنٌ.</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الْبَيْتُ صَغِيرٌ، لَكِنَّهُ جَمِيلٌ.</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Hope</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لَعَلَّ الطَّقْسَ جَمِيلٌ غَدًا.</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لَعَلَّ الِامْتِحَانَ سَهْلٌ.</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Wish</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لَيْتَ الْعُطْلَةَ أَطْوَلُ.</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لَيْتَ أَخِي هُنَا.</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 As if</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كَأَنَّ الْبَحْرَ مِرْآةٌ.</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كَأَنَّ الْمَدِينَةَ نَائِمَةٌ.</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إِنَّ الطَّالِبُ مُجْتَهِدًا.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word takes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أَعْتَقِدُ إِنَّ الْخُطَّةَ جَيِّدَةٌ.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“I think”: inna or anna?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لِأَنَّهُ مُفِيدًا.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Does the predicate change?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إِنَّ الطَّالِبُ مُجْتَهِدًا.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إِنَّ الطَّالِبَ مُجْتَهِدٌ.</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Noun -a; predicate stays -u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أَعْتَقِدُ إِنَّ الْخُطَّةَ جَيِّدَةٌ.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أَعْتَقِدُ أَنَّ الْخُطَّةَ جَيِّدَةٌ.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 reporting verb: anna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لِأَنَّهُ مُفِيدًا.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لِأَنَّهُ مُفِيدٌ.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predicate stays -un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FINAL MASTERY CHECK</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case-aware model.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 الطَّالِبُ مُجْتَهِدًا.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 الطَّالِبِ مُجْتَهِدٌ.</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 الطَّالِبَ مُجْتَهِدٌ.</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“because she is kind”?</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لَطِيفَةً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لَطِيفَةٌ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لَطِيفَةٌ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attached pronoun.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إِنَّهُ مُسْتَعِدُّونَ.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إِنَّهُمْ مُسْتَعِدُّونَ.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إِنَّهُمْ مُسْتَعِدٌ.</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contrast is grammatically complete?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الطَّرِيقُ طَوِيلٌ، لَكِنَّهُ آمِنًا.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الطَّرِيقُ طَوِيلٌ، لَكِنُّهُ آمِنٌ.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الطَّرِيقُ طَوِيلٌ، لَكِنَّهُ آمِنٌ.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case-aware model.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 الطَّالِبُ مُجْتَهِدًا.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 الطَّالِبِ مُجْتَهِدٌ.</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إِنَّ الطَّالِبَ مُجْتَهِدٌ.</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Ism inna -a; khabar -u.</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“because she is kind”?</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 لَطِيفَةً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 لَطِيفَةٌ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لَطِيفَةٌ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pronoun -hā + laṭīfatun.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attached pronoun.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إِنَّهُ مُسْتَعِدُّونَ.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إِنَّهُمْ مُسْتَعِدُّونَ.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إِنَّهُمْ مُسْتَعِدٌ.</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They (people) → innahum … mustaʿiddūna.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contrast is grammatically complete?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الطَّرِيقُ طَوِيلٌ، لَكِنَّهُ آمِنًا.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الطَّرِيقُ طَوِيلٌ، لَكِنُّهُ آمِنٌ.</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الطَّرِيقُ طَوِيلٌ، لَكِنَّهُ آمِنٌ.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Lākinnahu + āminun.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ea typeface="Calibri" pitchFamily="34" charset="-122"/>
                <a:cs typeface="Calibri" pitchFamily="34" charset="-120"/>
              </a:rPr>
              <a:t>YOU DO · READ AND NOTICE · WEBSITE SKILLS WORKSHOP (TEACHER-WRITTEN OPINION)</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trip to Istanbul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أُحِبُّ السَّفَرَ كَثِيرًا، لِأَنَّهُ يُعَلِّمُنَا أَشْيَاءَ جَدِيدَةً. فِي الصَّيْفِ الْمَاضِي زُرْتُ مَدِينَةَ إِسْطَنْبُولَ مَعَ أُسْرَتِي. إِنَّ الْمَدِينَةَ رَائِعَةٌ! كَأَنَّ الْمَسَاجِدَ الْقَدِيمَةَ قُصُورٌ مِنَ الْقِصَصِ. أَعْتَقِدُ أَنَّ الطَّعَامَ هُنَاكَ لَذِيذٌ جِدًّا، لَكِنَّ الْأَسْعَارَ مُرْتَفِعَةٌ قَلِيلًا. لَيْتَ الْعُطْلَةَ أَطْوَلُ! لَعَلَّنَا نَرْجِعُ إِلَيْهَا فِي السَّنَةِ الْقَادِمَةِ، لِأَنَّ أُمِّي تُحِبُّهَا أَيْضًا.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يُعَلِّمُنَا</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teaches us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رَائِعَةٌ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wonderful</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قُصُورٌ</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palaces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الْأَسْعَارَ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prices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مُرْتَفِعَةٌ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high</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writer love travelling?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cheap</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teaches us new things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food is good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old mosques compared to?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mirrors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paintings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palaces from stories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problem in Istanbul?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prices are a little high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food is bad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far away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wish?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 الْمَدِينَةَ رَائِعَةٌ!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لَيْتَ الْعُطْلَةَ أَطْوَلُ!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لَعَلَّنَا نَرْجِعُ إِلَيْهَا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writer love travelling?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cheap</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teaches us new things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food is good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Li-annahu yuʿallimunā ashyāʾa jadīdatan.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old mosques compared to?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mirrors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paintings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palaces from stories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Kaʾanna: “as if”.</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problem in Istanbul?</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prices are a little high</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food is bad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far away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Lākinna l-asʿāra murtafiʿatun.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wish?</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 الْمَدِينَةَ رَائِعَةٌ!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لَيْتَ الْعُطْلَةَ أَطْوَلُ!</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لَعَلَّنَا نَرْجِعُ إِلَيْهَا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Layta = I wish.</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Speaking: give an opinion with reasons</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تُحِبُّ مَدْرَسَتَكَ؟ 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رَأْيُكَ فِي التِّقْنِيَّةِ؟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تَتَمَنَّى لِلْمُسْتَقْبَلِ؟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نَعَمْ، أُحِبُّهَا لِأَنَّهَا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أَعْتَقِدُ أَنَّ التِّقْنِيَّةَ ___ ، لَكِنَّهَا ___ .</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لَيْتَ ___ ، وَلَعَلَّ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رَأْيُكِ فِي السَّفَرِ؟</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do you think of travelling?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أَعْتَقِدُ أَنَّ السَّفَرَ مُمْتِعٌ، لَكِنَّهُ مُتْعِبٌ أَحْيَانًا. لَيْتَ الطَّائِرَاتِ أَسْرَعُ!</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think that travelling is fun, but it is sometimes tiring. I wish planes were faster!</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My school: what I think and why.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aʿtaqidu anna … · li-annahā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contrast and a hope.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lākinnahu · laʿalla.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connected opinion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layta or kaʾanna.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لَكِنَّهُ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but it (m.)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لَعَلَّ الِامْتِحَانَ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Perhaps the exam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لَيْتَ الْعُطْلَةَ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wish the holiday were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كَأَنَّ الْمَدِينَةَ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as though the city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أَعْتَقِدُ أَنَّ الْمَدْرَسَةَ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think that the school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إِنَّ الْعَرَبِيَّةَ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Indeed, Arabic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______ لِأَنَّهَا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 because it (f.)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أَعْرِفُ أَنَّ الطَّرِيقَ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know that the road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إِنَّ  ·  أَنَّ  ·  لِأَنَّهُ  ·  لِأَنَّهَا  ·  لَكِنَّهُ  ·  لَكِنَّهَا  ·  لَعَلَّ  ·  لَيْتَ  ·  كَأَنَّ  ·  مُفِيدٌ  ·  مُمْتِعٌ  ·  صَعْبٌ  ·  سَهْلٌ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connected opinion (100–120 words): school, technology, travel or leisure.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aʿtaqidu anna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inna statement.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li-anna or li-annahu / li-annahā.</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contrast with lākinna.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hope or wish (laʿalla / layta).</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رَأْيِي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my opinion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أَعْتَقِدُ أَنَّ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think that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أَعْرِفُ أَنَّ</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know that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لِأَنَّهُ</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it / he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لَكِنَّهُ</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it / he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لَعَلَّ</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perhaps</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إِنَّ التِّقْنِيَّةَ جُزْءٌ مُهِمٌّ مِنْ حَيَاتِنَا الْيَوْمَ. أَعْتَقِدُ أَنَّ الْحَاسُوبَ مُفِيدٌ جِدًّا لِلطُّلَّابِ، لِأَنَّهُ يُسَاعِدُهُمْ فِي الْبَحْثِ وَالْكِتَابَةِ. أَعْرِفُ أَنَّ الْهَاتِفَ مُمْتِعٌ أَيْضًا، لَكِنَّهُ يَأْخُذُ وَقْتًا طَوِيلًا. أَحْيَانًا أَجْلِسُ أَمَامَ الشَّاشَةِ سَاعَاتٍ، فَكَأَنَّ الْوَقْتَ طَائِرٌ! أُخْتِي الصَّغِيرَةُ تُحِبُّ الْأَلْعَابَ الْإِلِكْتُرُونِيَّةَ، وَلَكِنَّ أُمِّي تَقُولُ: إِنَّهَا مُضِرَّةٌ لِلْعُيُونِ. لَعَلَّ الْمَدَارِسَ تُعَلِّمُ الطُّلَّابَ كَيْفَ يَسْتَعْمِلُونَ التِّقْنِيَّةَ بِحِكْمَةٍ. لَيْتَ الْيَوْمَ أَطْوَلُ، فَعِنْدِي أَشْيَاءُ كَثِيرَةٌ أُرِيدُ أَنْ أَتَعَلَّمَهَا! فِي رَأْيِي، إِنَّ التَّوَازُنَ هُوَ الْحَلُّ.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Indeed, technology is an important part of our lives today. I think that the computer is very useful for students, because it helps them with research and writing. I know that the phone is fun too, but it takes a long time. Sometimes I sit in front of the screen for hours — it is as though time were a bird! My little sister loves video games, but my mother says: “They are harmful to the eyes.” Perhaps schools will teach students how to use technology wisely. I wish the day were longer, because I have many things I want to learn! In my opinion, balance is the solution.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inna statement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aʿtaqidu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lākinnahu</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layta (wish)</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each particle, the noun ends in -a.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predicate still ends in -u / -un.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anna after aʿtaqidu / aʿrifu.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pronoun endings match: li-annahu (m.), li-annahā (f.).</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layta or kaʾanna correctly.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follows aʿrifu in “I know that…”?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لَعَلَّ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“perhaps the exam is easy”?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لَيْتَ الِامْتِحَانَ سَهْلٌ.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لَعَلَّ الِامْتِحَانَ سَهْلٌ.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 الِامْتِحَانَ سَهْلٌ.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wish the holiday were longer”?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لَيْتَ الْعُطْلَةَ أَطْوَلُ.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كَأَنَّ الْعُطْلَةَ أَطْوَلُ.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 الْعُطْلَةَ أَطْوَلُ.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follows aʿrifu in “I know that…”?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لَعَلَّ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Anna links the content.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“perhaps the exam is easy”?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لَيْتَ الِامْتِحَانَ سَهْلٌ.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لَعَلَّ الِامْتِحَانَ سَهْلٌ.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إِنَّ الِامْتِحَانَ سَهْلٌ.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Laʿalla = hope / possibility.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wish the holiday were longer”?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لَيْتَ الْعُطْلَةَ أَطْوَلُ.</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كَأَنَّ الْعُطْلَةَ أَطْوَلُ.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لَكِنَّ الْعُطْلَةَ أَطْوَلُ.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Layta = wish.</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GM-NVS-02 · Non-Verbal Sentences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GM-NVS-03: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GM-NVS-03 · Kāna and Its Sisters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كَانَ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was / were (he, it)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كَانَتْ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was (she, it f.)</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كُنْتُ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was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صَارَ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became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 زَالَ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is still</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Kāna puts a sentence in the past — and this time the PREDICATE changes to -an: kāna l-jawwu jamīlan. Which word changed?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كَانَ الْجَوُّ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three inna sentences and three aʿtaqidu anna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four reason / contrast sentences with li-annahu / li-annahā / lākinnahu / lākinnahā.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connected opinion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GM-NVS-02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GM-NVS-03 · Kāna and Its Sisters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كَانَ وَأَخَوَاتُهَا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inna / anna / li-anna / lākinna / laʿalla / layta / kaʾanna + noun in -a + predicate in -u · inna starts a sentence; anna follows aʿtaqidu, aʿrifu, samiʿtu · pronouns attach: innahu, li-annahā, lākinnahum · lākin (no shadda) just links.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GM-NVS-02 · Inna and Its Sisters</dc:title>
  <dc:subject>PptxGenJS Presentation</dc:subject>
  <dc:creator>Al Madina Online School · Arabic Department</dc:creator>
  <cp:lastModifiedBy>Al Madina Online School · Arabic Department</cp:lastModifiedBy>
  <cp:revision>1</cp:revision>
  <dcterms:created xsi:type="dcterms:W3CDTF">2026-10-04T06:28:02Z</dcterms:created>
  <dcterms:modified xsi:type="dcterms:W3CDTF">2026-10-04T06:28:02Z</dcterms:modified>
</cp:coreProperties>
</file>