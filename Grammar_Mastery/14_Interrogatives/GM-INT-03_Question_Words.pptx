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Interrogatives › GM-INT-03 (“Common Question Words”).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man, mā, mādhā, ayna, matā — each matched with the right kind of answer (man hādhā? → hādhā akhī). Develop: kayfa, limādhā (answer with li-anna), min ayna / ilā ayna, follow-up questions and reporting. Stretch: question words after prepositions (maʿa man? li-man?) and the compact forms bima, fīma, lima, mimma, ʿamma.
• Website house pattern: mā for identity, names and categories (mā smuka?); mādhā before a verb (mādhā taqraʾu?). Some overlap is possible in Arabic — this is a reliable learner rule, not the only option.
• Colour code: teal = question word. Recycles GM-INT-01/02 (hal, ayy), GM-POS-03 (li-man) and GM-CP prepositions.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Starter — GM-INT-01 hal questions and question intonation.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Choose the word for the missing information — and answer with that kind of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question-word map” (answers from the website game). Gesture for each word: person, object, action, place, clock, method,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“mā and mādhā”. Also mā raʾyuka? (What is your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“man: people in different sentence roles”. Li-man recycles GM-POS-03.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“ayna, min ayna and ilā ayna”, “matā and kayfa”, “limādhā”. Extend: kuntu marīḍan, li-dhālika baqītu fī l-bayti.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“Question words with prepositions”. bima taktubu? = what do you write with? fīma tufakkiru? = what are you thinking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mā or mādhā.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visitor form” questions with teacher answers. Website task: match each question to a field on a visitor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Point out: the person in the question changes (taqraʾu → aqraʾu).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listening-grid categories. Then students make a full question for one card in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listening-grid categories. Then students make a full question for one card in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place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(teacher-written account). Read it aloud once while students follow; then they hunt for today’s grammar.
Task: Website: underline each question word and say what kind of information the answer gives.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reading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follow-ups. Sequence: ● 10s think → ↔ 45s rehearse aloud with mic muted → ◎ two named students on open mic (warned in advance) → + ? the class types one follow-up in chat → ↺ one student summarises.
Routes: Core uses the Core prompt and stem; Develop the Develop prompt; Stretch the last prompt.
Website: ask one question from each category; after every answer, ask a second question on the same topic. Then report the answers in the third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twelve-question interview about daily life, family, school, leisure, travel and future plans, then provide model answers.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interview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(GM-INT-04 · How Many? The Kam Rule) will spend class time USING this language, so students prepare it tonight — short, simple, easy to access (school guidance: “Simple, Short, Interesting, Relevant, Easy to access”). The five phrases prepare GM-INT-04 (website: how many? — the kam rule).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INTERROGATIVES  ·  GM-INT-03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GM-INT-03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Common Question Words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أَدَوَاتُ الِاسْتِفْهَامِ الشَّائِعَةُ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for exactly what is missing: man (who), mā / mādhā (what), ayna (where), matā (when), kayfa (how), limādhā (why). Then give the answer the question asks for — a person, a place, a time or a reason.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GM-INT-03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Interrogatives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map; mā or mādhā; man; place, time, manner, reason; with prepositions.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Answer → question; what does it answer?;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GM-INT-04.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about a person?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about a location?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commonly precedes a verb to ask about an action?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when?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expects a reason?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يَدْرُسُ؟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about a person?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Man = who.</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about a location?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Ayna = where.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commonly precedes a verb to ask about an action?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Mādhā + verb = what … doing?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when?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مَتَى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Matā = when.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expects a reason?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لِمَاذَا تَدْرُسُ؟</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تَدْرُسُ؟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يَدْرُسُ؟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Limādhā → answer with li-anna.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Choose the word for the missing information — and answer with that kind of information.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مَنْ</a:t>
            </a:r>
            <a:pPr rtl="1" algn="ctr" indent="0" marL="0">
              <a:lnSpc>
                <a:spcPct val="120000"/>
              </a:lnSpc>
              <a:buNone/>
            </a:pPr>
            <a:r>
              <a:rPr lang="ar-SA" altLang="en-US" sz="1950" b="1" dirty="0">
                <a:solidFill>
                  <a:srgbClr val="1B3B6F"/>
                </a:solidFill>
                <a:latin typeface="Amiri" pitchFamily="2" charset="-78"/>
                <a:cs typeface="Amiri" pitchFamily="2" charset="-78"/>
              </a:rPr>
              <a:t> هَذَا؟ ‖ </a:t>
            </a:r>
            <a:pPr rtl="1" algn="ctr" indent="0" marL="0">
              <a:lnSpc>
                <a:spcPct val="120000"/>
              </a:lnSpc>
              <a:buNone/>
            </a:pPr>
            <a:r>
              <a:rPr lang="ar-SA" altLang="en-US" sz="1950" b="1" dirty="0">
                <a:solidFill>
                  <a:srgbClr val="0E7C86"/>
                </a:solidFill>
                <a:latin typeface="Amiri" pitchFamily="2" charset="-78"/>
                <a:cs typeface="Amiri" pitchFamily="2" charset="-78"/>
              </a:rPr>
              <a:t>أَيْنَ</a:t>
            </a:r>
            <a:pPr rtl="1" algn="ctr" indent="0" marL="0">
              <a:lnSpc>
                <a:spcPct val="120000"/>
              </a:lnSpc>
              <a:buNone/>
            </a:pPr>
            <a:r>
              <a:rPr lang="ar-SA" altLang="en-US" sz="1950" b="1" dirty="0">
                <a:solidFill>
                  <a:srgbClr val="1B3B6F"/>
                </a:solidFill>
                <a:latin typeface="Amiri" pitchFamily="2" charset="-78"/>
                <a:cs typeface="Amiri" pitchFamily="2" charset="-78"/>
              </a:rPr>
              <a:t> تَسْكُنُ؟ ‖ </a:t>
            </a:r>
            <a:pPr rtl="1" algn="ctr" indent="0" marL="0">
              <a:lnSpc>
                <a:spcPct val="120000"/>
              </a:lnSpc>
              <a:buNone/>
            </a:pPr>
            <a:r>
              <a:rPr lang="ar-SA" altLang="en-US" sz="1950" b="1" dirty="0">
                <a:solidFill>
                  <a:srgbClr val="0E7C86"/>
                </a:solidFill>
                <a:latin typeface="Amiri" pitchFamily="2" charset="-78"/>
                <a:cs typeface="Amiri" pitchFamily="2" charset="-78"/>
              </a:rPr>
              <a:t>لِمَاذَا</a:t>
            </a:r>
            <a:pPr rtl="1" algn="ctr" indent="0" marL="0">
              <a:lnSpc>
                <a:spcPct val="120000"/>
              </a:lnSpc>
              <a:buNone/>
            </a:pPr>
            <a:r>
              <a:rPr lang="ar-SA" altLang="en-US" sz="1950" b="1" dirty="0">
                <a:solidFill>
                  <a:srgbClr val="1B3B6F"/>
                </a:solidFill>
                <a:latin typeface="Amiri" pitchFamily="2" charset="-78"/>
                <a:cs typeface="Amiri" pitchFamily="2" charset="-78"/>
              </a:rPr>
              <a:t> تَدْرُسُ؟</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about people, things, places and times.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mā for names and mādhā before verbs.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where from and where to.</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how and why — and answer with a reason.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man, mā, mādhā, ayna, matā.</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My answer gives the right kind of information.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kayfa, limādhā, min ayna, ilā ayna.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ask a follow-up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maʿa man?, li-man?, fīma?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twelve-question interview.</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a:t>
            </a:r>
            <a:endParaRPr lang="en-US" sz="1350" dirty="0"/>
          </a:p>
          <a:p>
            <a:pPr indent="0" marL="0">
              <a:buNone/>
            </a:pPr>
            <a:r>
              <a:rPr lang="en-US" sz="1100" i="1" dirty="0">
                <a:solidFill>
                  <a:srgbClr val="5A6472"/>
                </a:solidFill>
                <a:latin typeface="Calibri" pitchFamily="34" charset="0"/>
                <a:cs typeface="Amiri" pitchFamily="2" charset="-78"/>
              </a:rPr>
              <a:t>man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مَنْ هَذَا؟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 · مَاذَا</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(name · action)</a:t>
            </a:r>
            <a:endParaRPr lang="en-US" sz="1350" dirty="0"/>
          </a:p>
          <a:p>
            <a:pPr indent="0" marL="0">
              <a:buNone/>
            </a:pPr>
            <a:r>
              <a:rPr lang="en-US" sz="1100" i="1" dirty="0">
                <a:solidFill>
                  <a:srgbClr val="5A6472"/>
                </a:solidFill>
                <a:latin typeface="Calibri" pitchFamily="34" charset="0"/>
                <a:cs typeface="Amiri" pitchFamily="2" charset="-78"/>
              </a:rPr>
              <a:t>mā · mā-dhā</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مَا اسْمُكَ؟ · مَاذَا تَفْعَلُ؟</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مِنْ أَيْنَ · إِلَى أَيْنَ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مَتَى تَبْدَأُ الْحِصَّةُ؟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كَيْفَ</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كَيْفَ حَالُكَ؟</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لِمَاذَا</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لِأَنَّ …</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QUESTION-WORD MAP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Each word opens a different gap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أَدَوَاتِ الِاسْتِفْهَامِ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7" name="Text 14"/>
          <p:cNvSpPr txBox="1"/>
          <p:nvPr/>
        </p:nvSpPr>
        <p:spPr>
          <a:xfrm>
            <a:off x="473659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question</a:t>
            </a:r>
            <a:endParaRPr lang="en-US" sz="1100" dirty="0"/>
          </a:p>
        </p:txBody>
      </p:sp>
      <p:sp>
        <p:nvSpPr>
          <p:cNvPr id="18" name="Text 15"/>
          <p:cNvSpPr txBox="1"/>
          <p:nvPr/>
        </p:nvSpPr>
        <p:spPr>
          <a:xfrm>
            <a:off x="23591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Asks about</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0" name="Shape 17"/>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1" name="Text 18"/>
          <p:cNvSpPr txBox="1"/>
          <p:nvPr/>
        </p:nvSpPr>
        <p:spPr>
          <a:xfrm>
            <a:off x="8321040" y="2267712"/>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أَخِي.</a:t>
            </a:r>
            <a:endParaRPr lang="ar-SA" sz="2200" dirty="0"/>
          </a:p>
        </p:txBody>
      </p:sp>
      <p:sp>
        <p:nvSpPr>
          <p:cNvPr id="22" name="Text 19"/>
          <p:cNvSpPr txBox="1"/>
          <p:nvPr/>
        </p:nvSpPr>
        <p:spPr>
          <a:xfrm>
            <a:off x="4754880" y="2267712"/>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هَذَا؟</a:t>
            </a:r>
            <a:endParaRPr lang="ar-SA" sz="2200" dirty="0"/>
          </a:p>
        </p:txBody>
      </p:sp>
      <p:sp>
        <p:nvSpPr>
          <p:cNvPr id="23" name="Text 20"/>
          <p:cNvSpPr txBox="1"/>
          <p:nvPr/>
        </p:nvSpPr>
        <p:spPr>
          <a:xfrm>
            <a:off x="2395728" y="2267712"/>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t>
            </a:r>
            <a:endParaRPr lang="en-US" sz="1100" dirty="0"/>
          </a:p>
        </p:txBody>
      </p:sp>
      <p:sp>
        <p:nvSpPr>
          <p:cNvPr id="24" name="Text 21"/>
          <p:cNvSpPr txBox="1"/>
          <p:nvPr/>
        </p:nvSpPr>
        <p:spPr>
          <a:xfrm>
            <a:off x="548640" y="2267712"/>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8321040" y="2794145"/>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آدَمُ.</a:t>
            </a:r>
            <a:endParaRPr lang="ar-SA" sz="2200" dirty="0"/>
          </a:p>
        </p:txBody>
      </p:sp>
      <p:sp>
        <p:nvSpPr>
          <p:cNvPr id="29" name="Text 26"/>
          <p:cNvSpPr txBox="1"/>
          <p:nvPr/>
        </p:nvSpPr>
        <p:spPr>
          <a:xfrm>
            <a:off x="4754880" y="2794145"/>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اسْمُكَ؟</a:t>
            </a:r>
            <a:endParaRPr lang="ar-SA" sz="2200" dirty="0"/>
          </a:p>
        </p:txBody>
      </p:sp>
      <p:sp>
        <p:nvSpPr>
          <p:cNvPr id="30" name="Text 27"/>
          <p:cNvSpPr txBox="1"/>
          <p:nvPr/>
        </p:nvSpPr>
        <p:spPr>
          <a:xfrm>
            <a:off x="2395728" y="2794145"/>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thing / a name</a:t>
            </a:r>
            <a:endParaRPr lang="en-US" sz="1100" dirty="0"/>
          </a:p>
        </p:txBody>
      </p:sp>
      <p:sp>
        <p:nvSpPr>
          <p:cNvPr id="31" name="Text 28"/>
          <p:cNvSpPr txBox="1"/>
          <p:nvPr/>
        </p:nvSpPr>
        <p:spPr>
          <a:xfrm>
            <a:off x="548640" y="2794145"/>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a:t>
            </a:r>
            <a:endParaRPr lang="ar-SA" sz="2200" dirty="0"/>
          </a:p>
        </p:txBody>
      </p:sp>
      <p:sp>
        <p:nvSpPr>
          <p:cNvPr id="32" name="Shape 29"/>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5" name="Text 32"/>
          <p:cNvSpPr txBox="1"/>
          <p:nvPr/>
        </p:nvSpPr>
        <p:spPr>
          <a:xfrm>
            <a:off x="8321040" y="3320578"/>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رِوَايَةً.</a:t>
            </a:r>
            <a:endParaRPr lang="ar-SA" sz="2200" dirty="0"/>
          </a:p>
        </p:txBody>
      </p:sp>
      <p:sp>
        <p:nvSpPr>
          <p:cNvPr id="36" name="Text 33"/>
          <p:cNvSpPr txBox="1"/>
          <p:nvPr/>
        </p:nvSpPr>
        <p:spPr>
          <a:xfrm>
            <a:off x="4754880" y="3320578"/>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تَقْرَأُ؟</a:t>
            </a:r>
            <a:endParaRPr lang="ar-SA" sz="2200" dirty="0"/>
          </a:p>
        </p:txBody>
      </p:sp>
      <p:sp>
        <p:nvSpPr>
          <p:cNvPr id="37" name="Text 34"/>
          <p:cNvSpPr txBox="1"/>
          <p:nvPr/>
        </p:nvSpPr>
        <p:spPr>
          <a:xfrm>
            <a:off x="2395728" y="3320578"/>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action / object</a:t>
            </a:r>
            <a:endParaRPr lang="en-US" sz="1100" dirty="0"/>
          </a:p>
        </p:txBody>
      </p:sp>
      <p:sp>
        <p:nvSpPr>
          <p:cNvPr id="38" name="Text 35"/>
          <p:cNvSpPr txBox="1"/>
          <p:nvPr/>
        </p:nvSpPr>
        <p:spPr>
          <a:xfrm>
            <a:off x="548640" y="3320578"/>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a:t>
            </a:r>
            <a:endParaRPr lang="ar-SA" sz="2200" dirty="0"/>
          </a:p>
        </p:txBody>
      </p:sp>
      <p:sp>
        <p:nvSpPr>
          <p:cNvPr id="39" name="Shape 36"/>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2" name="Text 39"/>
          <p:cNvSpPr txBox="1"/>
          <p:nvPr/>
        </p:nvSpPr>
        <p:spPr>
          <a:xfrm>
            <a:off x="8321040" y="3847011"/>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أَسْكُنُ فِي لَنْدَنَ.</a:t>
            </a:r>
            <a:endParaRPr lang="ar-SA" sz="2200" dirty="0"/>
          </a:p>
        </p:txBody>
      </p:sp>
      <p:sp>
        <p:nvSpPr>
          <p:cNvPr id="43" name="Text 40"/>
          <p:cNvSpPr txBox="1"/>
          <p:nvPr/>
        </p:nvSpPr>
        <p:spPr>
          <a:xfrm>
            <a:off x="4754880" y="3847011"/>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أَيْنَ تَسْكُنُ؟</a:t>
            </a:r>
            <a:endParaRPr lang="ar-SA" sz="2200" dirty="0"/>
          </a:p>
        </p:txBody>
      </p:sp>
      <p:sp>
        <p:nvSpPr>
          <p:cNvPr id="44" name="Text 41"/>
          <p:cNvSpPr txBox="1"/>
          <p:nvPr/>
        </p:nvSpPr>
        <p:spPr>
          <a:xfrm>
            <a:off x="2395728" y="3847011"/>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a:t>
            </a:r>
            <a:endParaRPr lang="en-US" sz="1100" dirty="0"/>
          </a:p>
        </p:txBody>
      </p:sp>
      <p:sp>
        <p:nvSpPr>
          <p:cNvPr id="45" name="Text 42"/>
          <p:cNvSpPr txBox="1"/>
          <p:nvPr/>
        </p:nvSpPr>
        <p:spPr>
          <a:xfrm>
            <a:off x="548640" y="3847011"/>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أَيْنَ</a:t>
            </a:r>
            <a:endParaRPr lang="ar-SA" sz="2200" dirty="0"/>
          </a:p>
        </p:txBody>
      </p:sp>
      <p:sp>
        <p:nvSpPr>
          <p:cNvPr id="46" name="Shape 43"/>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9" name="Text 46"/>
          <p:cNvSpPr txBox="1"/>
          <p:nvPr/>
        </p:nvSpPr>
        <p:spPr>
          <a:xfrm>
            <a:off x="8321040" y="4373445"/>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السَّاعَةِ الثَّامِنَةِ.</a:t>
            </a:r>
            <a:endParaRPr lang="ar-SA" sz="2200" dirty="0"/>
          </a:p>
        </p:txBody>
      </p:sp>
      <p:sp>
        <p:nvSpPr>
          <p:cNvPr id="50" name="Text 47"/>
          <p:cNvSpPr txBox="1"/>
          <p:nvPr/>
        </p:nvSpPr>
        <p:spPr>
          <a:xfrm>
            <a:off x="4754880" y="4373445"/>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مَتَى تَبْدَأُ الْحِصَّةُ؟</a:t>
            </a:r>
            <a:endParaRPr lang="ar-SA" sz="2200" dirty="0"/>
          </a:p>
        </p:txBody>
      </p:sp>
      <p:sp>
        <p:nvSpPr>
          <p:cNvPr id="51" name="Text 48"/>
          <p:cNvSpPr txBox="1"/>
          <p:nvPr/>
        </p:nvSpPr>
        <p:spPr>
          <a:xfrm>
            <a:off x="2395728" y="4373445"/>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time</a:t>
            </a:r>
            <a:endParaRPr lang="en-US" sz="1100" dirty="0"/>
          </a:p>
        </p:txBody>
      </p:sp>
      <p:sp>
        <p:nvSpPr>
          <p:cNvPr id="52" name="Text 49"/>
          <p:cNvSpPr txBox="1"/>
          <p:nvPr/>
        </p:nvSpPr>
        <p:spPr>
          <a:xfrm>
            <a:off x="548640" y="4373445"/>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مَتَى</a:t>
            </a:r>
            <a:endParaRPr lang="ar-SA" sz="2200" dirty="0"/>
          </a:p>
        </p:txBody>
      </p:sp>
      <p:sp>
        <p:nvSpPr>
          <p:cNvPr id="53" name="Shape 50"/>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6" name="Text 53"/>
          <p:cNvSpPr txBox="1"/>
          <p:nvPr/>
        </p:nvSpPr>
        <p:spPr>
          <a:xfrm>
            <a:off x="8321040" y="4899878"/>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بِالْحَافِلَةِ.</a:t>
            </a:r>
            <a:endParaRPr lang="ar-SA" sz="2200" dirty="0"/>
          </a:p>
        </p:txBody>
      </p:sp>
      <p:sp>
        <p:nvSpPr>
          <p:cNvPr id="57" name="Text 54"/>
          <p:cNvSpPr txBox="1"/>
          <p:nvPr/>
        </p:nvSpPr>
        <p:spPr>
          <a:xfrm>
            <a:off x="4754880" y="4899878"/>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كَيْفَ تَذْهَبُ؟</a:t>
            </a:r>
            <a:endParaRPr lang="ar-SA" sz="2200" dirty="0"/>
          </a:p>
        </p:txBody>
      </p:sp>
      <p:sp>
        <p:nvSpPr>
          <p:cNvPr id="58" name="Text 55"/>
          <p:cNvSpPr txBox="1"/>
          <p:nvPr/>
        </p:nvSpPr>
        <p:spPr>
          <a:xfrm>
            <a:off x="2395728" y="4899878"/>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manner / state</a:t>
            </a:r>
            <a:endParaRPr lang="en-US" sz="1100" dirty="0"/>
          </a:p>
        </p:txBody>
      </p:sp>
      <p:sp>
        <p:nvSpPr>
          <p:cNvPr id="59" name="Text 56"/>
          <p:cNvSpPr txBox="1"/>
          <p:nvPr/>
        </p:nvSpPr>
        <p:spPr>
          <a:xfrm>
            <a:off x="548640" y="4899878"/>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كَيْفَ</a:t>
            </a:r>
            <a:endParaRPr lang="ar-SA" sz="2200" dirty="0"/>
          </a:p>
        </p:txBody>
      </p:sp>
      <p:sp>
        <p:nvSpPr>
          <p:cNvPr id="60" name="Shape 57"/>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61" name="Text 58"/>
          <p:cNvSpPr txBox="1"/>
          <p:nvPr/>
        </p:nvSpPr>
        <p:spPr>
          <a:xfrm>
            <a:off x="8321040" y="5426311"/>
            <a:ext cx="331927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لِأَنَّهُ مُفِيدٌ.</a:t>
            </a:r>
            <a:endParaRPr lang="ar-SA" sz="2200" dirty="0"/>
          </a:p>
        </p:txBody>
      </p:sp>
      <p:sp>
        <p:nvSpPr>
          <p:cNvPr id="62" name="Text 59"/>
          <p:cNvSpPr txBox="1"/>
          <p:nvPr/>
        </p:nvSpPr>
        <p:spPr>
          <a:xfrm>
            <a:off x="4754880" y="5426311"/>
            <a:ext cx="33832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 تُحِبُّهُ؟</a:t>
            </a:r>
            <a:endParaRPr lang="ar-SA" sz="2200" dirty="0"/>
          </a:p>
        </p:txBody>
      </p:sp>
      <p:sp>
        <p:nvSpPr>
          <p:cNvPr id="63" name="Text 60"/>
          <p:cNvSpPr txBox="1"/>
          <p:nvPr/>
        </p:nvSpPr>
        <p:spPr>
          <a:xfrm>
            <a:off x="2395728" y="5426311"/>
            <a:ext cx="219456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reason</a:t>
            </a:r>
            <a:endParaRPr lang="en-US" sz="1100" dirty="0"/>
          </a:p>
        </p:txBody>
      </p:sp>
      <p:sp>
        <p:nvSpPr>
          <p:cNvPr id="64" name="Text 61"/>
          <p:cNvSpPr txBox="1"/>
          <p:nvPr/>
        </p:nvSpPr>
        <p:spPr>
          <a:xfrm>
            <a:off x="548640" y="5426311"/>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a:t>
            </a:r>
            <a:endParaRPr lang="ar-SA" sz="22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answer alignment: if the answer gives the wrong kind of information, communication fails — even when every word is correct. Kam (how many?) has its own rule: GM-INT-04.</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MĀ AND MĀDHĀ (WEBSITE LISTS)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 What are you doing?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 وَمَاذَا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43708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noun</a:t>
            </a:r>
            <a:endParaRPr lang="en-US" sz="1100" dirty="0"/>
          </a:p>
        </p:txBody>
      </p:sp>
      <p:sp>
        <p:nvSpPr>
          <p:cNvPr id="21" name="Text 18"/>
          <p:cNvSpPr txBox="1"/>
          <p:nvPr/>
        </p:nvSpPr>
        <p:spPr>
          <a:xfrm>
            <a:off x="4407408" y="2267712"/>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a:t>
            </a:r>
            <a:endParaRPr lang="en-US" sz="1100" dirty="0"/>
          </a:p>
        </p:txBody>
      </p:sp>
      <p:sp>
        <p:nvSpPr>
          <p:cNvPr id="22" name="Text 19"/>
          <p:cNvSpPr txBox="1"/>
          <p:nvPr/>
        </p:nvSpPr>
        <p:spPr>
          <a:xfrm>
            <a:off x="548640" y="2267712"/>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هَذَا؟</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noun</a:t>
            </a:r>
            <a:endParaRPr lang="en-US" sz="1100" dirty="0"/>
          </a:p>
        </p:txBody>
      </p:sp>
      <p:sp>
        <p:nvSpPr>
          <p:cNvPr id="27" name="Text 24"/>
          <p:cNvSpPr txBox="1"/>
          <p:nvPr/>
        </p:nvSpPr>
        <p:spPr>
          <a:xfrm>
            <a:off x="4407408" y="2881884"/>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name? (to a girl)</a:t>
            </a:r>
            <a:endParaRPr lang="en-US" sz="1100" dirty="0"/>
          </a:p>
        </p:txBody>
      </p:sp>
      <p:sp>
        <p:nvSpPr>
          <p:cNvPr id="28" name="Text 25"/>
          <p:cNvSpPr txBox="1"/>
          <p:nvPr/>
        </p:nvSpPr>
        <p:spPr>
          <a:xfrm>
            <a:off x="548640" y="2881884"/>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اسْمُكِ؟</a:t>
            </a:r>
            <a:endParaRPr lang="ar-SA" sz="24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noun</a:t>
            </a:r>
            <a:endParaRPr lang="en-US" sz="1100" dirty="0"/>
          </a:p>
        </p:txBody>
      </p:sp>
      <p:sp>
        <p:nvSpPr>
          <p:cNvPr id="33" name="Text 30"/>
          <p:cNvSpPr txBox="1"/>
          <p:nvPr/>
        </p:nvSpPr>
        <p:spPr>
          <a:xfrm>
            <a:off x="4407408" y="3496056"/>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the car?</a:t>
            </a:r>
            <a:endParaRPr lang="en-US" sz="1100" dirty="0"/>
          </a:p>
        </p:txBody>
      </p:sp>
      <p:sp>
        <p:nvSpPr>
          <p:cNvPr id="34" name="Text 31"/>
          <p:cNvSpPr txBox="1"/>
          <p:nvPr/>
        </p:nvSpPr>
        <p:spPr>
          <a:xfrm>
            <a:off x="548640" y="3496056"/>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لَوْنُ السَّيَّارَةِ؟</a:t>
            </a:r>
            <a:endParaRPr lang="ar-SA" sz="24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mādhā + verb</a:t>
            </a:r>
            <a:endParaRPr lang="en-US" sz="1100" dirty="0"/>
          </a:p>
        </p:txBody>
      </p:sp>
      <p:sp>
        <p:nvSpPr>
          <p:cNvPr id="37" name="Text 34"/>
          <p:cNvSpPr txBox="1"/>
          <p:nvPr/>
        </p:nvSpPr>
        <p:spPr>
          <a:xfrm>
            <a:off x="4407408" y="4110228"/>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 doing?</a:t>
            </a:r>
            <a:endParaRPr lang="en-US" sz="1100" dirty="0"/>
          </a:p>
        </p:txBody>
      </p:sp>
      <p:sp>
        <p:nvSpPr>
          <p:cNvPr id="38" name="Text 35"/>
          <p:cNvSpPr txBox="1"/>
          <p:nvPr/>
        </p:nvSpPr>
        <p:spPr>
          <a:xfrm>
            <a:off x="548640" y="4110228"/>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مَاذَا تَفْعَلُ؟</a:t>
            </a:r>
            <a:endParaRPr lang="ar-SA" sz="24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mādhā + verb</a:t>
            </a:r>
            <a:endParaRPr lang="en-US" sz="1100" dirty="0"/>
          </a:p>
        </p:txBody>
      </p:sp>
      <p:sp>
        <p:nvSpPr>
          <p:cNvPr id="43" name="Text 40"/>
          <p:cNvSpPr txBox="1"/>
          <p:nvPr/>
        </p:nvSpPr>
        <p:spPr>
          <a:xfrm>
            <a:off x="4407408" y="4724400"/>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read? (to a girl)</a:t>
            </a:r>
            <a:endParaRPr lang="en-US" sz="1100" dirty="0"/>
          </a:p>
        </p:txBody>
      </p:sp>
      <p:sp>
        <p:nvSpPr>
          <p:cNvPr id="44" name="Text 41"/>
          <p:cNvSpPr txBox="1"/>
          <p:nvPr/>
        </p:nvSpPr>
        <p:spPr>
          <a:xfrm>
            <a:off x="548640" y="4724400"/>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مَاذَا قَرَأْتِ؟</a:t>
            </a:r>
            <a:endParaRPr lang="ar-SA" sz="24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mādhā + verb</a:t>
            </a:r>
            <a:endParaRPr lang="en-US" sz="1100" dirty="0"/>
          </a:p>
        </p:txBody>
      </p:sp>
      <p:sp>
        <p:nvSpPr>
          <p:cNvPr id="47" name="Text 44"/>
          <p:cNvSpPr txBox="1"/>
          <p:nvPr/>
        </p:nvSpPr>
        <p:spPr>
          <a:xfrm>
            <a:off x="4407408" y="5338572"/>
            <a:ext cx="3840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(all) buy?</a:t>
            </a:r>
            <a:endParaRPr lang="en-US" sz="1100" dirty="0"/>
          </a:p>
        </p:txBody>
      </p:sp>
      <p:sp>
        <p:nvSpPr>
          <p:cNvPr id="48" name="Text 45"/>
          <p:cNvSpPr txBox="1"/>
          <p:nvPr/>
        </p:nvSpPr>
        <p:spPr>
          <a:xfrm>
            <a:off x="548640" y="5338572"/>
            <a:ext cx="36576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مَاذَا سَتَشْتَرُونَ؟</a:t>
            </a:r>
            <a:endParaRPr lang="ar-SA" sz="24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accuracy note: Arabic allows some overlap between mā and mādhā. The reliable learner rule: mā before a noun, mādhā before a verb.</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MAN IN DIFFERENT ROLES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whom, with whom, whose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7" name="Text 14"/>
          <p:cNvSpPr txBox="1"/>
          <p:nvPr/>
        </p:nvSpPr>
        <p:spPr>
          <a:xfrm>
            <a:off x="30906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هَذِهِ مُعَلِّمَتِي.</a:t>
            </a:r>
            <a:endParaRPr lang="ar-SA" sz="2400" dirty="0"/>
          </a:p>
        </p:txBody>
      </p:sp>
      <p:sp>
        <p:nvSpPr>
          <p:cNvPr id="21" name="Text 18"/>
          <p:cNvSpPr txBox="1"/>
          <p:nvPr/>
        </p:nvSpPr>
        <p:spPr>
          <a:xfrm>
            <a:off x="310896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هَذِهِ؟</a:t>
            </a:r>
            <a:endParaRPr lang="ar-SA" sz="2400" dirty="0"/>
          </a:p>
        </p:txBody>
      </p:sp>
      <p:sp>
        <p:nvSpPr>
          <p:cNvPr id="22" name="Text 19"/>
          <p:cNvSpPr txBox="1"/>
          <p:nvPr/>
        </p:nvSpPr>
        <p:spPr>
          <a:xfrm>
            <a:off x="56692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identity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فَتَحَهُ الْمُدِيرُ.</a:t>
            </a:r>
            <a:endParaRPr lang="ar-SA" sz="2400" dirty="0"/>
          </a:p>
        </p:txBody>
      </p:sp>
      <p:sp>
        <p:nvSpPr>
          <p:cNvPr id="27" name="Text 24"/>
          <p:cNvSpPr txBox="1"/>
          <p:nvPr/>
        </p:nvSpPr>
        <p:spPr>
          <a:xfrm>
            <a:off x="310896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فَتَحَ الْبَابَ؟</a:t>
            </a:r>
            <a:endParaRPr lang="ar-SA" sz="2400" dirty="0"/>
          </a:p>
        </p:txBody>
      </p:sp>
      <p:sp>
        <p:nvSpPr>
          <p:cNvPr id="28" name="Text 25"/>
          <p:cNvSpPr txBox="1"/>
          <p:nvPr/>
        </p:nvSpPr>
        <p:spPr>
          <a:xfrm>
            <a:off x="56692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زُرْتُ جَدِّي.</a:t>
            </a:r>
            <a:endParaRPr lang="ar-SA" sz="2400" dirty="0"/>
          </a:p>
        </p:txBody>
      </p:sp>
      <p:sp>
        <p:nvSpPr>
          <p:cNvPr id="33" name="Text 30"/>
          <p:cNvSpPr txBox="1"/>
          <p:nvPr/>
        </p:nvSpPr>
        <p:spPr>
          <a:xfrm>
            <a:off x="310896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زُرْتَ؟</a:t>
            </a:r>
            <a:endParaRPr lang="ar-SA" sz="2400" dirty="0"/>
          </a:p>
        </p:txBody>
      </p:sp>
      <p:sp>
        <p:nvSpPr>
          <p:cNvPr id="34" name="Text 31"/>
          <p:cNvSpPr txBox="1"/>
          <p:nvPr/>
        </p:nvSpPr>
        <p:spPr>
          <a:xfrm>
            <a:off x="56692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(whom)</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ذَهَبْتُ مَعَ أُخْتِي.</a:t>
            </a:r>
            <a:endParaRPr lang="ar-SA" sz="2400" dirty="0"/>
          </a:p>
        </p:txBody>
      </p:sp>
      <p:sp>
        <p:nvSpPr>
          <p:cNvPr id="37" name="Text 34"/>
          <p:cNvSpPr txBox="1"/>
          <p:nvPr/>
        </p:nvSpPr>
        <p:spPr>
          <a:xfrm>
            <a:off x="310896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 مَنْ ذَهَبْتِ؟</a:t>
            </a:r>
            <a:endParaRPr lang="ar-SA" sz="2400" dirty="0"/>
          </a:p>
        </p:txBody>
      </p:sp>
      <p:sp>
        <p:nvSpPr>
          <p:cNvPr id="38" name="Text 35"/>
          <p:cNvSpPr txBox="1"/>
          <p:nvPr/>
        </p:nvSpPr>
        <p:spPr>
          <a:xfrm>
            <a:off x="56692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whom</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 لِي.</a:t>
            </a:r>
            <a:endParaRPr lang="ar-SA" sz="2400" dirty="0"/>
          </a:p>
        </p:txBody>
      </p:sp>
      <p:sp>
        <p:nvSpPr>
          <p:cNvPr id="41" name="Text 38"/>
          <p:cNvSpPr txBox="1"/>
          <p:nvPr/>
        </p:nvSpPr>
        <p:spPr>
          <a:xfrm>
            <a:off x="310896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لِمَنْ هَذَا الْكِتَابُ؟</a:t>
            </a:r>
            <a:endParaRPr lang="ar-SA" sz="2400" dirty="0"/>
          </a:p>
        </p:txBody>
      </p:sp>
      <p:sp>
        <p:nvSpPr>
          <p:cNvPr id="42" name="Text 39"/>
          <p:cNvSpPr txBox="1"/>
          <p:nvPr/>
        </p:nvSpPr>
        <p:spPr>
          <a:xfrm>
            <a:off x="56692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whose / for whom</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man can ask who does the action, who receives it, who accompanies, or who owns. A preposition in the question usually comes back in the answer: maʿa man? → maʿa ukhtī.</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4 · PLACE, TIME, MANNER, REASON (WEBSITE MODELS) · DEVELOP</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Keep the preposition — give the right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أَيْنَ · مَتَى · كَيْفَ · 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Asks for</a:t>
            </a:r>
            <a:endParaRPr lang="en-US" sz="1100" dirty="0"/>
          </a:p>
        </p:txBody>
      </p:sp>
      <p:sp>
        <p:nvSpPr>
          <p:cNvPr id="17" name="Text 14"/>
          <p:cNvSpPr txBox="1"/>
          <p:nvPr/>
        </p:nvSpPr>
        <p:spPr>
          <a:xfrm>
            <a:off x="455371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a:t>
            </a:r>
            <a:endParaRPr lang="en-US" sz="1100" dirty="0"/>
          </a:p>
        </p:txBody>
      </p:sp>
      <p:sp>
        <p:nvSpPr>
          <p:cNvPr id="21" name="Text 18"/>
          <p:cNvSpPr txBox="1"/>
          <p:nvPr/>
        </p:nvSpPr>
        <p:spPr>
          <a:xfrm>
            <a:off x="4572000" y="226771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أَسْكُنُ فِي لَنْدَنَ.</a:t>
            </a:r>
            <a:endParaRPr lang="ar-SA" sz="2200" dirty="0"/>
          </a:p>
        </p:txBody>
      </p:sp>
      <p:sp>
        <p:nvSpPr>
          <p:cNvPr id="22" name="Text 19"/>
          <p:cNvSpPr txBox="1"/>
          <p:nvPr/>
        </p:nvSpPr>
        <p:spPr>
          <a:xfrm>
            <a:off x="548640"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أَيْنَ تَسْكُنُ؟</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 (from)</a:t>
            </a:r>
            <a:endParaRPr lang="en-US" sz="1100" dirty="0"/>
          </a:p>
        </p:txBody>
      </p:sp>
      <p:sp>
        <p:nvSpPr>
          <p:cNvPr id="27" name="Text 24"/>
          <p:cNvSpPr txBox="1"/>
          <p:nvPr/>
        </p:nvSpPr>
        <p:spPr>
          <a:xfrm>
            <a:off x="4572000" y="2881884"/>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سُورِيَا.</a:t>
            </a:r>
            <a:endParaRPr lang="ar-SA" sz="2200" dirty="0"/>
          </a:p>
        </p:txBody>
      </p:sp>
      <p:sp>
        <p:nvSpPr>
          <p:cNvPr id="28" name="Text 25"/>
          <p:cNvSpPr txBox="1"/>
          <p:nvPr/>
        </p:nvSpPr>
        <p:spPr>
          <a:xfrm>
            <a:off x="548640"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أَيْنَ أَنْتِ؟</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destination (to)</a:t>
            </a:r>
            <a:endParaRPr lang="en-US" sz="1100" dirty="0"/>
          </a:p>
        </p:txBody>
      </p:sp>
      <p:sp>
        <p:nvSpPr>
          <p:cNvPr id="33" name="Text 30"/>
          <p:cNvSpPr txBox="1"/>
          <p:nvPr/>
        </p:nvSpPr>
        <p:spPr>
          <a:xfrm>
            <a:off x="4572000" y="3496056"/>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سَأَذْهَبُ إِلَى الْمَطَارِ.</a:t>
            </a:r>
            <a:endParaRPr lang="ar-SA" sz="2200" dirty="0"/>
          </a:p>
        </p:txBody>
      </p:sp>
      <p:sp>
        <p:nvSpPr>
          <p:cNvPr id="34" name="Text 31"/>
          <p:cNvSpPr txBox="1"/>
          <p:nvPr/>
        </p:nvSpPr>
        <p:spPr>
          <a:xfrm>
            <a:off x="548640"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إِلَى أَيْنَ سَتَذْهَبُ؟</a:t>
            </a:r>
            <a:endParaRPr lang="ar-SA" sz="22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37" name="Text 34"/>
          <p:cNvSpPr txBox="1"/>
          <p:nvPr/>
        </p:nvSpPr>
        <p:spPr>
          <a:xfrm>
            <a:off x="4572000" y="4110228"/>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بَدَأَ فِي السَّاعَةِ التَّاسِعَةِ.</a:t>
            </a:r>
            <a:endParaRPr lang="ar-SA" sz="2200" dirty="0"/>
          </a:p>
        </p:txBody>
      </p:sp>
      <p:sp>
        <p:nvSpPr>
          <p:cNvPr id="38" name="Text 35"/>
          <p:cNvSpPr txBox="1"/>
          <p:nvPr/>
        </p:nvSpPr>
        <p:spPr>
          <a:xfrm>
            <a:off x="548640"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مَتَى بَدَأَ الدَّرْسُ؟</a:t>
            </a:r>
            <a:endParaRPr lang="ar-SA" sz="22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method</a:t>
            </a:r>
            <a:endParaRPr lang="en-US" sz="1100" dirty="0"/>
          </a:p>
        </p:txBody>
      </p:sp>
      <p:sp>
        <p:nvSpPr>
          <p:cNvPr id="43" name="Text 40"/>
          <p:cNvSpPr txBox="1"/>
          <p:nvPr/>
        </p:nvSpPr>
        <p:spPr>
          <a:xfrm>
            <a:off x="4572000" y="4724400"/>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بِالْحَافِلَةِ.</a:t>
            </a:r>
            <a:endParaRPr lang="ar-SA" sz="2200" dirty="0"/>
          </a:p>
        </p:txBody>
      </p:sp>
      <p:sp>
        <p:nvSpPr>
          <p:cNvPr id="44" name="Text 41"/>
          <p:cNvSpPr txBox="1"/>
          <p:nvPr/>
        </p:nvSpPr>
        <p:spPr>
          <a:xfrm>
            <a:off x="548640"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كَيْفَ تَذْهَبُ إِلَى الْعَمَلِ؟</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47" name="Text 44"/>
          <p:cNvSpPr txBox="1"/>
          <p:nvPr/>
        </p:nvSpPr>
        <p:spPr>
          <a:xfrm>
            <a:off x="4572000" y="533857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لِأَنَّنِي كُنْتُ مَرِيضًا.</a:t>
            </a:r>
            <a:endParaRPr lang="ar-SA" sz="2200" dirty="0"/>
          </a:p>
        </p:txBody>
      </p:sp>
      <p:sp>
        <p:nvSpPr>
          <p:cNvPr id="48" name="Text 45"/>
          <p:cNvSpPr txBox="1"/>
          <p:nvPr/>
        </p:nvSpPr>
        <p:spPr>
          <a:xfrm>
            <a:off x="548640"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 لَمْ تَذْهَبْ؟</a:t>
            </a:r>
            <a:endParaRPr lang="ar-SA" sz="2200" dirty="0"/>
          </a:p>
        </p:txBody>
      </p:sp>
      <p:sp>
        <p:nvSpPr>
          <p:cNvPr id="49" name="Shape 46"/>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do not answer ayna, min ayna and ilā ayna with the same bare place name — keep fī, min or ilā. A why-question needs a reason (li-anna …), not another fact.</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 PART 5 · QUESTION WORDS WITH PREPOSITIONS (WEBSITE TABLE) · STRETCH</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Full forms and compact forms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بِمَ · فِيمَ · 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273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Compact form</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Full form</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852160" y="2267712"/>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بِمَ تَكْتُبُ؟</a:t>
            </a:r>
            <a:endParaRPr lang="ar-SA" sz="2200" dirty="0"/>
          </a:p>
        </p:txBody>
      </p:sp>
      <p:sp>
        <p:nvSpPr>
          <p:cNvPr id="21" name="Text 18"/>
          <p:cNvSpPr txBox="1"/>
          <p:nvPr/>
        </p:nvSpPr>
        <p:spPr>
          <a:xfrm>
            <a:off x="32918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بِمَ</a:t>
            </a:r>
            <a:endParaRPr lang="ar-SA" sz="24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بِمَاذَا</a:t>
            </a:r>
            <a:endParaRPr lang="ar-SA" sz="24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5852160" y="3004718"/>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فِيمَ تُفَكِّرُ؟</a:t>
            </a:r>
            <a:endParaRPr lang="ar-SA" sz="2200" dirty="0"/>
          </a:p>
        </p:txBody>
      </p:sp>
      <p:sp>
        <p:nvSpPr>
          <p:cNvPr id="25" name="Text 22"/>
          <p:cNvSpPr txBox="1"/>
          <p:nvPr/>
        </p:nvSpPr>
        <p:spPr>
          <a:xfrm>
            <a:off x="32918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فِيمَ</a:t>
            </a:r>
            <a:endParaRPr lang="ar-SA" sz="2400" dirty="0"/>
          </a:p>
        </p:txBody>
      </p:sp>
      <p:sp>
        <p:nvSpPr>
          <p:cNvPr id="26" name="Text 23"/>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فِي مَاذَا</a:t>
            </a:r>
            <a:endParaRPr lang="ar-SA" sz="24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5852160" y="3741725"/>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 تَأَخَّرْتَ؟</a:t>
            </a:r>
            <a:endParaRPr lang="ar-SA" sz="2200" dirty="0"/>
          </a:p>
        </p:txBody>
      </p:sp>
      <p:sp>
        <p:nvSpPr>
          <p:cNvPr id="29" name="Text 26"/>
          <p:cNvSpPr txBox="1"/>
          <p:nvPr/>
        </p:nvSpPr>
        <p:spPr>
          <a:xfrm>
            <a:off x="32918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a:t>
            </a:r>
            <a:endParaRPr lang="ar-SA" sz="2400" dirty="0"/>
          </a:p>
        </p:txBody>
      </p:sp>
      <p:sp>
        <p:nvSpPr>
          <p:cNvPr id="30" name="Text 27"/>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لِمَاذَا</a:t>
            </a:r>
            <a:endParaRPr lang="ar-SA" sz="24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5852160" y="4478731"/>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مِمَّ تَخَافُ؟</a:t>
            </a:r>
            <a:endParaRPr lang="ar-SA" sz="2200" dirty="0"/>
          </a:p>
        </p:txBody>
      </p:sp>
      <p:sp>
        <p:nvSpPr>
          <p:cNvPr id="33" name="Text 30"/>
          <p:cNvSpPr txBox="1"/>
          <p:nvPr/>
        </p:nvSpPr>
        <p:spPr>
          <a:xfrm>
            <a:off x="32918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مِمَّ</a:t>
            </a:r>
            <a:endParaRPr lang="ar-SA" sz="2400" dirty="0"/>
          </a:p>
        </p:txBody>
      </p:sp>
      <p:sp>
        <p:nvSpPr>
          <p:cNvPr id="34" name="Text 3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مَاذَا</a:t>
            </a:r>
            <a:endParaRPr lang="ar-SA" sz="24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5852160" y="5215738"/>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عَمَّ تَبْحَثُ؟</a:t>
            </a:r>
            <a:endParaRPr lang="ar-SA" sz="2200" dirty="0"/>
          </a:p>
        </p:txBody>
      </p:sp>
      <p:sp>
        <p:nvSpPr>
          <p:cNvPr id="37" name="Text 34"/>
          <p:cNvSpPr txBox="1"/>
          <p:nvPr/>
        </p:nvSpPr>
        <p:spPr>
          <a:xfrm>
            <a:off x="32918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عَمَّ</a:t>
            </a:r>
            <a:endParaRPr lang="ar-SA" sz="2400" dirty="0"/>
          </a:p>
        </p:txBody>
      </p:sp>
      <p:sp>
        <p:nvSpPr>
          <p:cNvPr id="38" name="Text 35"/>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 مَاذَا</a:t>
            </a:r>
            <a:endParaRPr lang="ar-SA" sz="24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full forms are clear and safe for Core. Stretch learners recognise the compact spellings in formal reading — and use them when secure.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is your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اسْمُكَ يَفْعَلُ؟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اسْمُكَ؟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did you write?”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كَتَبْتَ؟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كَتَبْتَ ماذا؟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colour is the bag?”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تَلْوَنُ الْحَقِيبَةَ؟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لَوْنُ الْحَقِيبَةِ؟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لَوْنُ الْحَقِيبَةِ؟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will they buy?”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سَيَشْتَرُونَ؟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سَيَشْتَرُونَ؟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سَيَشْتَرُونَ؟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is your name?”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اسْمُكَ يَفْعَلُ؟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اسْمُكَ؟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اسْمُكَ؟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did you write?”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كَتَبْتَ؟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اسْمُكَ؟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كَتَبْتَ ماذا؟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Mādhā + verb.</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colour is the bag?”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تَلْوَنُ الْحَقِيبَةَ؟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لَوْنُ الْحَقِيبَةِ؟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لَوْنُ الْحَقِيبَةِ؟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 lawnu …</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“What will they buy?”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سَيَشْتَرُونَ؟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سَيَشْتَرُونَ؟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سَيَشْتَرُونَ؟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Mādhā +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fill in a visitor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مَا اسْمُكَ؟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mā + noun.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Origin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مِنْ أَيْنَ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 = from.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مَتَى</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with a time.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لِمَاذَا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with li-anna.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QUESTION WORD</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مَا</a:t>
            </a:r>
            <a:pPr rtl="1" algn="r" indent="0" marL="0">
              <a:lnSpc>
                <a:spcPct val="120000"/>
              </a:lnSpc>
              <a:buNone/>
            </a:pPr>
            <a:r>
              <a:rPr lang="ar-SA" altLang="en-US" sz="1400" b="1" dirty="0">
                <a:solidFill>
                  <a:srgbClr val="1B3B6F"/>
                </a:solidFill>
                <a:latin typeface="Amiri" pitchFamily="2" charset="-78"/>
                <a:cs typeface="Amiri" pitchFamily="2" charset="-78"/>
              </a:rPr>
              <a:t> اسْمُكَ؟ اِسْمِي آدَمُ. </a:t>
            </a:r>
            <a:pPr rtl="1" algn="r" indent="0" marL="0">
              <a:lnSpc>
                <a:spcPct val="120000"/>
              </a:lnSpc>
              <a:buNone/>
            </a:pPr>
            <a:r>
              <a:rPr lang="ar-SA" altLang="en-US" sz="1400" b="1" dirty="0">
                <a:solidFill>
                  <a:srgbClr val="0E7C86"/>
                </a:solidFill>
                <a:latin typeface="Amiri" pitchFamily="2" charset="-78"/>
                <a:cs typeface="Amiri" pitchFamily="2" charset="-78"/>
              </a:rPr>
              <a:t>مِنْ أَيْنَ</a:t>
            </a:r>
            <a:pPr rtl="1" algn="r" indent="0" marL="0">
              <a:lnSpc>
                <a:spcPct val="120000"/>
              </a:lnSpc>
              <a:buNone/>
            </a:pPr>
            <a:r>
              <a:rPr lang="ar-SA" altLang="en-US" sz="1400" b="1" dirty="0">
                <a:solidFill>
                  <a:srgbClr val="1B3B6F"/>
                </a:solidFill>
                <a:latin typeface="Amiri" pitchFamily="2" charset="-78"/>
                <a:cs typeface="Amiri" pitchFamily="2" charset="-78"/>
              </a:rPr>
              <a:t> أَنْتَ؟ أَنَا مِنْ مَالِيزِيَا. </a:t>
            </a:r>
            <a:pPr rtl="1" algn="r" indent="0" marL="0">
              <a:lnSpc>
                <a:spcPct val="120000"/>
              </a:lnSpc>
              <a:buNone/>
            </a:pPr>
            <a:r>
              <a:rPr lang="ar-SA" altLang="en-US" sz="1400" b="1" dirty="0">
                <a:solidFill>
                  <a:srgbClr val="0E7C86"/>
                </a:solidFill>
                <a:latin typeface="Amiri" pitchFamily="2" charset="-78"/>
                <a:cs typeface="Amiri" pitchFamily="2" charset="-78"/>
              </a:rPr>
              <a:t>أَيْنَ</a:t>
            </a:r>
            <a:pPr rtl="1" algn="r" indent="0" marL="0">
              <a:lnSpc>
                <a:spcPct val="120000"/>
              </a:lnSpc>
              <a:buNone/>
            </a:pPr>
            <a:r>
              <a:rPr lang="ar-SA" altLang="en-US" sz="1400" b="1" dirty="0">
                <a:solidFill>
                  <a:srgbClr val="1B3B6F"/>
                </a:solidFill>
                <a:latin typeface="Amiri" pitchFamily="2" charset="-78"/>
                <a:cs typeface="Amiri" pitchFamily="2" charset="-78"/>
              </a:rPr>
              <a:t> تَسْكُنُ؟ أَسْكُنُ فِي فُنْدُقٍ قُرْبَ الْمَسْجِدِ. </a:t>
            </a:r>
            <a:pPr rtl="1" algn="r" indent="0" marL="0">
              <a:lnSpc>
                <a:spcPct val="120000"/>
              </a:lnSpc>
              <a:buNone/>
            </a:pPr>
            <a:r>
              <a:rPr lang="ar-SA" altLang="en-US" sz="1400" b="1" dirty="0">
                <a:solidFill>
                  <a:srgbClr val="0E7C86"/>
                </a:solidFill>
                <a:latin typeface="Amiri" pitchFamily="2" charset="-78"/>
                <a:cs typeface="Amiri" pitchFamily="2" charset="-78"/>
              </a:rPr>
              <a:t>مَتَى</a:t>
            </a:r>
            <a:pPr rtl="1" algn="r" indent="0" marL="0">
              <a:lnSpc>
                <a:spcPct val="120000"/>
              </a:lnSpc>
              <a:buNone/>
            </a:pPr>
            <a:r>
              <a:rPr lang="ar-SA" altLang="en-US" sz="1400" b="1" dirty="0">
                <a:solidFill>
                  <a:srgbClr val="1B3B6F"/>
                </a:solidFill>
                <a:latin typeface="Amiri" pitchFamily="2" charset="-78"/>
                <a:cs typeface="Amiri" pitchFamily="2" charset="-78"/>
              </a:rPr>
              <a:t> وَصَلْتَ؟ وَصَلْتُ أَمْسِ. </a:t>
            </a:r>
            <a:pPr rtl="1" algn="r" indent="0" marL="0">
              <a:lnSpc>
                <a:spcPct val="120000"/>
              </a:lnSpc>
              <a:buNone/>
            </a:pPr>
            <a:r>
              <a:rPr lang="ar-SA" altLang="en-US" sz="1400" b="1" dirty="0">
                <a:solidFill>
                  <a:srgbClr val="0E7C86"/>
                </a:solidFill>
                <a:latin typeface="Amiri" pitchFamily="2" charset="-78"/>
                <a:cs typeface="Amiri" pitchFamily="2" charset="-78"/>
              </a:rPr>
              <a:t>كَيْفَ</a:t>
            </a:r>
            <a:pPr rtl="1" algn="r" indent="0" marL="0">
              <a:lnSpc>
                <a:spcPct val="120000"/>
              </a:lnSpc>
              <a:buNone/>
            </a:pPr>
            <a:r>
              <a:rPr lang="ar-SA" altLang="en-US" sz="1400" b="1" dirty="0">
                <a:solidFill>
                  <a:srgbClr val="1B3B6F"/>
                </a:solidFill>
                <a:latin typeface="Amiri" pitchFamily="2" charset="-78"/>
                <a:cs typeface="Amiri" pitchFamily="2" charset="-78"/>
              </a:rPr>
              <a:t> سَافَرْتَ؟ سَافَرْتُ بِالطَّائِرَةِ. </a:t>
            </a:r>
            <a:pPr rtl="1" algn="r" indent="0" marL="0">
              <a:lnSpc>
                <a:spcPct val="120000"/>
              </a:lnSpc>
              <a:buNone/>
            </a:pPr>
            <a:r>
              <a:rPr lang="ar-SA" altLang="en-US" sz="1400" b="1" dirty="0">
                <a:solidFill>
                  <a:srgbClr val="0E7C86"/>
                </a:solidFill>
                <a:latin typeface="Amiri" pitchFamily="2" charset="-78"/>
                <a:cs typeface="Amiri" pitchFamily="2" charset="-78"/>
              </a:rPr>
              <a:t>لِمَاذَا</a:t>
            </a:r>
            <a:pPr rtl="1" algn="r" indent="0" marL="0">
              <a:lnSpc>
                <a:spcPct val="120000"/>
              </a:lnSpc>
              <a:buNone/>
            </a:pPr>
            <a:r>
              <a:rPr lang="ar-SA" altLang="en-US" sz="1400" b="1" dirty="0">
                <a:solidFill>
                  <a:srgbClr val="1B3B6F"/>
                </a:solidFill>
                <a:latin typeface="Amiri" pitchFamily="2" charset="-78"/>
                <a:cs typeface="Amiri" pitchFamily="2" charset="-78"/>
              </a:rPr>
              <a:t> زُرْتَ الْمَدِينَةَ؟ لِأَنَّنِي أُحِبُّ تَارِيخَهَا.</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What is your name? My name is Ādam. Where are you from? I am from Malaysia. Where are you staying? In a hotel near the mosque. When did you arrive? I arrived yesterday. How did you travel? I travelled by plane. Why did you visit the city? Because I love its history.</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هَذِهِ؟</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Who is this (f.)?</a:t>
            </a:r>
            <a:endParaRPr lang="en-US" sz="1250" dirty="0"/>
          </a:p>
          <a:p>
            <a:pPr indent="0" marL="0">
              <a:buNone/>
            </a:pPr>
            <a:r>
              <a:rPr lang="en-US" sz="1050" i="1" dirty="0">
                <a:solidFill>
                  <a:srgbClr val="8A6D1E"/>
                </a:solidFill>
                <a:latin typeface="Calibri" pitchFamily="34" charset="0"/>
                <a:cs typeface="Amiri" pitchFamily="2" charset="-78"/>
              </a:rPr>
              <a:t>Person.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مَاذَا تَفْعَلُ؟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are you doing?</a:t>
            </a:r>
            <a:endParaRPr lang="en-US" sz="1250" dirty="0"/>
          </a:p>
          <a:p>
            <a:pPr indent="0" marL="0">
              <a:buNone/>
            </a:pPr>
            <a:r>
              <a:rPr lang="en-US" sz="1050" i="1" dirty="0">
                <a:solidFill>
                  <a:srgbClr val="8A6D1E"/>
                </a:solidFill>
                <a:latin typeface="Calibri" pitchFamily="34" charset="0"/>
                <a:cs typeface="Amiri" pitchFamily="2" charset="-78"/>
              </a:rPr>
              <a:t>mādhā +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إِلَى أَيْنَ سَتُسَافِرِينَ؟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Where will you travel to? (to a girl)</a:t>
            </a:r>
            <a:endParaRPr lang="en-US" sz="1250" dirty="0"/>
          </a:p>
          <a:p>
            <a:pPr indent="0" marL="0">
              <a:buNone/>
            </a:pPr>
            <a:r>
              <a:rPr lang="en-US" sz="1050" i="1" dirty="0">
                <a:solidFill>
                  <a:srgbClr val="8A6D1E"/>
                </a:solidFill>
                <a:latin typeface="Calibri" pitchFamily="34" charset="0"/>
                <a:cs typeface="Amiri" pitchFamily="2" charset="-78"/>
              </a:rPr>
              <a:t>Destination.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لِمَاذَا تَتَعَلَّمُ الْعَرَبِيَّةَ؟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Why are you learning Arabic?</a:t>
            </a:r>
            <a:endParaRPr lang="en-US" sz="1250" dirty="0"/>
          </a:p>
          <a:p>
            <a:pPr indent="0" marL="0">
              <a:buNone/>
            </a:pPr>
            <a:r>
              <a:rPr lang="en-US" sz="1050" i="1" dirty="0">
                <a:solidFill>
                  <a:srgbClr val="8A6D1E"/>
                </a:solidFill>
                <a:latin typeface="Calibri" pitchFamily="34" charset="0"/>
                <a:cs typeface="Amiri" pitchFamily="2" charset="-78"/>
              </a:rPr>
              <a:t>Reason.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 → QUESTION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was the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Category</a:t>
            </a:r>
            <a:endParaRPr lang="en-US" sz="1100" dirty="0"/>
          </a:p>
        </p:txBody>
      </p:sp>
      <p:sp>
        <p:nvSpPr>
          <p:cNvPr id="17" name="Text 14"/>
          <p:cNvSpPr txBox="1"/>
          <p:nvPr/>
        </p:nvSpPr>
        <p:spPr>
          <a:xfrm>
            <a:off x="45537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t>
            </a:r>
            <a:endParaRPr lang="en-US" sz="1100" dirty="0"/>
          </a:p>
        </p:txBody>
      </p:sp>
      <p:sp>
        <p:nvSpPr>
          <p:cNvPr id="21" name="Text 18"/>
          <p:cNvSpPr txBox="1"/>
          <p:nvPr/>
        </p:nvSpPr>
        <p:spPr>
          <a:xfrm>
            <a:off x="457200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هَذَا؟</a:t>
            </a:r>
            <a:endParaRPr lang="ar-SA" sz="2200" dirty="0"/>
          </a:p>
        </p:txBody>
      </p:sp>
      <p:sp>
        <p:nvSpPr>
          <p:cNvPr id="22" name="Text 19"/>
          <p:cNvSpPr txBox="1"/>
          <p:nvPr/>
        </p:nvSpPr>
        <p:spPr>
          <a:xfrm>
            <a:off x="548640"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أَخِي.</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action / object</a:t>
            </a:r>
            <a:endParaRPr lang="en-US" sz="1100" dirty="0"/>
          </a:p>
        </p:txBody>
      </p:sp>
      <p:sp>
        <p:nvSpPr>
          <p:cNvPr id="27" name="Text 24"/>
          <p:cNvSpPr txBox="1"/>
          <p:nvPr/>
        </p:nvSpPr>
        <p:spPr>
          <a:xfrm>
            <a:off x="457200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تَقْرَأُ؟</a:t>
            </a:r>
            <a:endParaRPr lang="ar-SA" sz="2200" dirty="0"/>
          </a:p>
        </p:txBody>
      </p:sp>
      <p:sp>
        <p:nvSpPr>
          <p:cNvPr id="28" name="Text 25"/>
          <p:cNvSpPr txBox="1"/>
          <p:nvPr/>
        </p:nvSpPr>
        <p:spPr>
          <a:xfrm>
            <a:off x="548640"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رِوَايَةً.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a:t>
            </a:r>
            <a:endParaRPr lang="en-US" sz="1100" dirty="0"/>
          </a:p>
        </p:txBody>
      </p:sp>
      <p:sp>
        <p:nvSpPr>
          <p:cNvPr id="33" name="Text 30"/>
          <p:cNvSpPr txBox="1"/>
          <p:nvPr/>
        </p:nvSpPr>
        <p:spPr>
          <a:xfrm>
            <a:off x="457200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أَيْنَ أَنْتَ؟</a:t>
            </a:r>
            <a:endParaRPr lang="ar-SA" sz="2200" dirty="0"/>
          </a:p>
        </p:txBody>
      </p:sp>
      <p:sp>
        <p:nvSpPr>
          <p:cNvPr id="34" name="Text 31"/>
          <p:cNvSpPr txBox="1"/>
          <p:nvPr/>
        </p:nvSpPr>
        <p:spPr>
          <a:xfrm>
            <a:off x="548640"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سُورِيَا.</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destination</a:t>
            </a:r>
            <a:endParaRPr lang="en-US" sz="1100" dirty="0"/>
          </a:p>
        </p:txBody>
      </p:sp>
      <p:sp>
        <p:nvSpPr>
          <p:cNvPr id="39" name="Text 36"/>
          <p:cNvSpPr txBox="1"/>
          <p:nvPr/>
        </p:nvSpPr>
        <p:spPr>
          <a:xfrm>
            <a:off x="457200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إِلَى أَيْنَ سَتَذْهَبُ؟</a:t>
            </a:r>
            <a:endParaRPr lang="ar-SA" sz="2200" dirty="0"/>
          </a:p>
        </p:txBody>
      </p:sp>
      <p:sp>
        <p:nvSpPr>
          <p:cNvPr id="40" name="Text 37"/>
          <p:cNvSpPr txBox="1"/>
          <p:nvPr/>
        </p:nvSpPr>
        <p:spPr>
          <a:xfrm>
            <a:off x="548640"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سَأَذْهَبُ إِلَى الْمَطَارِ.</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method</a:t>
            </a:r>
            <a:endParaRPr lang="en-US" sz="1100" dirty="0"/>
          </a:p>
        </p:txBody>
      </p:sp>
      <p:sp>
        <p:nvSpPr>
          <p:cNvPr id="43" name="Text 40"/>
          <p:cNvSpPr txBox="1"/>
          <p:nvPr/>
        </p:nvSpPr>
        <p:spPr>
          <a:xfrm>
            <a:off x="457200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كَيْفَ تَذْهَبُ؟</a:t>
            </a:r>
            <a:endParaRPr lang="ar-SA" sz="2200" dirty="0"/>
          </a:p>
        </p:txBody>
      </p:sp>
      <p:sp>
        <p:nvSpPr>
          <p:cNvPr id="44" name="Text 41"/>
          <p:cNvSpPr txBox="1"/>
          <p:nvPr/>
        </p:nvSpPr>
        <p:spPr>
          <a:xfrm>
            <a:off x="548640"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بِالْحَافِلَةِ.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47" name="Text 44"/>
          <p:cNvSpPr txBox="1"/>
          <p:nvPr/>
        </p:nvSpPr>
        <p:spPr>
          <a:xfrm>
            <a:off x="457200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 تُحِبُّهُ؟</a:t>
            </a:r>
            <a:endParaRPr lang="ar-SA" sz="2200" dirty="0"/>
          </a:p>
        </p:txBody>
      </p:sp>
      <p:sp>
        <p:nvSpPr>
          <p:cNvPr id="48" name="Text 45"/>
          <p:cNvSpPr txBox="1"/>
          <p:nvPr/>
        </p:nvSpPr>
        <p:spPr>
          <a:xfrm>
            <a:off x="548640"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لِأَنَّهُ مُفِيدٌ.</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question-to-answer match: the answer tells you which question word was used.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QUESTION DOES IT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where, when or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 أَيْنَ · مَتَى · 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الْمُدِيرُ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لَنْدَنَ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الْمَطَارِ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السَّاعَةِ الثَّامِنَةِ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 مُفِيدٌ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لِأَنَّنِي مَرِيضٌ</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Where?</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When?</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Why?</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Who?</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الْمُدِيرُ</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Where?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لَنْدَنَ</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الْمَطَارِ</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When?</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السَّاعَةِ الثَّامِنَةِ</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Why?</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 مُفِيدٌ</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لِأَنَّنِي مَرِيضٌ</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أَيْنَ أَنْتَ مِنْ؟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min go?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اسْمُكَ؟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name a person?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لِمَاذَا تَدْرُسُ؟ — فِي الْمَكْتَبَةِ.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answer give a reason?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أَيْنَ أَنْتَ مِنْ؟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أَيْنَ أَنْتَ؟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preposition goes before ayna (website repair lab).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مَنْ اسْمُكَ؟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مَا اسْمُكَ؟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name is information, not a person: mā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لِمَاذَا تَدْرُسُ؟ — فِي الْمَكْتَبَةِ.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لِمَاذَا تَدْرُسُ؟ — لِأَنَّ الِامْتِحَانَ قَرِيبٌ.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Why → a reason, not a place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MINI-CHECK: PLACE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someone lives.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تَسْكُنُ؟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أَيْنَ أَنْتَ؟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تَسْكُنُ؟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someone is from.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سَتَذْهَبِينَ؟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أَنْتِ؟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أَيْنَ وُلِدْتِ؟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the bus is going.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تَقِفُ الْحَافِلَةُ؟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أَيْنَ تَذْهَبُ الْحَافِلَةُ؟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جَاءَتْ إِلَى؟</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answer to </a:t>
            </a:r>
            <a:pPr algn="l" indent="0" marL="0">
              <a:buNone/>
            </a:pPr>
            <a:r>
              <a:rPr lang="ar-SA" altLang="en-US" sz="1650" b="1" dirty="0">
                <a:solidFill>
                  <a:srgbClr val="1B3B6F"/>
                </a:solidFill>
                <a:latin typeface="Amiri" pitchFamily="2" charset="-78"/>
                <a:cs typeface="Amiri" pitchFamily="2" charset="-78"/>
              </a:rPr>
              <a:t>مِنْ أَيْنَ أَنْتَ؟</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سَأَذْهَبُ إِلَى الْمَغْرِبِ.</a:t>
            </a:r>
            <a:endParaRPr lang="ar-SA" sz="220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أَسْكُنُ هُنَا</a:t>
            </a:r>
            <a:pPr algn="l" indent="0" marL="0">
              <a:buNone/>
            </a:pPr>
            <a:r>
              <a:rPr lang="en-US" sz="1250" dirty="0">
                <a:solidFill>
                  <a:srgbClr val="1F2A37"/>
                </a:solidFill>
                <a:latin typeface="Calibri" pitchFamily="34" charset="0"/>
                <a:cs typeface="Amiri" pitchFamily="2" charset="-78"/>
              </a:rPr>
              <a:t> only.</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أَنَا مِنَ الْمَغْرِبِ.</a:t>
            </a:r>
            <a:endParaRPr lang="ar-SA" sz="22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someone lives.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أَيْنَ تَسْكُنُ؟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أَيْنَ أَنْتَ؟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أَيْنَ تَسْكُنُ؟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Ayna = location.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someone is from.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سَتَذْهَبِينَ؟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أَيْنَ أَنْتِ؟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أَيْنَ وُلِدْتِ؟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Min ayna = origin.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where the bus is going.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أَيْنَ تَقِفُ الْحَافِلَةُ؟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 أَيْنَ تَذْهَبُ الْحَافِلَةُ؟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جَاءَتْ إِلَى؟</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Ilā ayna = destination.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answer to </a:t>
            </a:r>
            <a:pPr algn="l" indent="0" marL="0">
              <a:buNone/>
            </a:pPr>
            <a:r>
              <a:rPr lang="ar-SA" altLang="en-US" sz="1650" b="1" dirty="0">
                <a:solidFill>
                  <a:srgbClr val="1B3B6F"/>
                </a:solidFill>
                <a:latin typeface="Amiri" pitchFamily="2" charset="-78"/>
                <a:cs typeface="Amiri" pitchFamily="2" charset="-78"/>
              </a:rPr>
              <a:t>مِنْ أَيْنَ أَنْتَ؟</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سَأَذْهَبُ إِلَى الْمَغْرِبِ.</a:t>
            </a:r>
            <a:endParaRPr lang="ar-SA" sz="22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أَسْكُنُ هُنَا</a:t>
            </a:r>
            <a:pPr algn="l" indent="0" marL="0">
              <a:buNone/>
            </a:pPr>
            <a:r>
              <a:rPr lang="en-US" sz="1250" dirty="0">
                <a:solidFill>
                  <a:srgbClr val="9AA1AB"/>
                </a:solidFill>
                <a:latin typeface="Calibri" pitchFamily="34" charset="0"/>
                <a:cs typeface="Amiri" pitchFamily="2" charset="-78"/>
              </a:rPr>
              <a:t> only.</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cs typeface="Amiri" pitchFamily="2" charset="-78"/>
              </a:rPr>
              <a:t>أَنَا مِنَ الْمَغْرِبِ.</a:t>
            </a:r>
            <a:endParaRPr lang="ar-SA" sz="22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min in the answer.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(TEACHER-WRITTEN ACCOUNT)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new neighbour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جَاءَتْ جَارَةٌ جَدِيدَةٌ إِلَى عِمَارَتِنَا، فَسَأَلَتْهَا أُمِّي أَسْئِلَةً كَثِيرَةً. سَأَلَتْهَا: مِنْ أَيْنَ أَنْتِ؟ فَقَالَتْ: مِنْ تُونِسَ. ثُمَّ سَأَلَتْهَا: مَتَى وَصَلْتِ؟ فَقَالَتْ: قَبْلَ أُسْبُوعٍ. سَأَلَتْهَا أَيْضًا: مَاذَا تَعْمَلِينَ؟ فَأَجَابَتْ: أَنَا مُمَرِّضَةٌ فِي الْمُسْتَشْفَى الْقَرِيبِ. وَعِنْدَمَا سَأَلَتْهَا: لِمَاذَا اخْتَرْتِ هَذَا الْحَيَّ؟ قَالَتْ: لِأَنَّهُ هَادِئٌ وَقَرِيبٌ مِنْ عَمَلِي. فِي النِّهَايَةِ سَأَلَتْهَا: كَيْفَ نُسَاعِدُكِ؟ فَضَحِكَتِ الْجَارَةُ وَقَالَتْ: بِفِنْجَانِ قَهْوَةٍ!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جَارَةٌ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neighbour (f.)</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عِمَارَتِنَا</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building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مُمَرِّضَةٌ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nurse (f.)</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اخْتَرْتِ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(f.) chose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فِنْجَانِ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cup</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neighbour from?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Syria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Tunisia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job?</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nurse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choose the neighbourhood?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 and near her work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family lives there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about manner?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وَصَلْتِ؟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نُسَاعِدُكِ؟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أَيْنَ أَنْتِ؟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neighbour from?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Syria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Tunisia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Morocco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Min ayna anti? — min Tūnisa.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job?</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nurse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Mādhā taʿmalīna? — mumarriḍa.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choose the neighbourhood?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quiet and near her work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family lives there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Li-annahu hādiʾun wa-qarībun.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about manner?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وَصَلْتِ؟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كَيْفَ نُسَاعِدُكِ؟</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أَيْنَ أَنْتِ؟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Kayfa = how.</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ask, answer, follow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اسْمُكَ؟ وَأَيْنَ تَسْكُنُ؟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فَعَلْتَ فِي الْعُطْلَةِ؟ وَمَعَ مَنْ؟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تَتَعَلَّمُ الْعَرَبِيَّةَ؟ وَكَيْفَ تُذَاكِرُ؟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اِسْمِي ___ ، وَأَسْكُنُ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زُرْتُ ___ مَعَ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أَتَعَلَّمُهَا لِأَنَّ ___ ، وَأُذَاكِرُ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إِلَى أَيْنَ سَافَرْتِ فِي الصَّيْفِ؟</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did you travel to in the summer?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سَافَرْتُ إِلَى الْأُرْدُنِّ مَعَ عَائِلَتِي، وَزُرْنَا الْبَتْرَاءَ. وَأَنْتَ، أَيْنَ قَضَيْتَ الصَّيْفَ؟</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travelled to Jordan with my family, and we visited Petra. And you — where did you spend the summer?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man, mā, mādhā, ayna, matā — with answers.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question per word.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9 questions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kayfa, limādhā and min / ilā ayna.</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 why with li-anna.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 questions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interview with model answers.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present and future; four reasons.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أَيْنَ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 from?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تَذْهَبُ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do you get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تُحِبُّ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Why do you like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Who did you … with?</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Who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the name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do you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يَبْدَأُ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does … start?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  مَا  ·  مَاذَا  ·  أَيْنَ  ·  مِنْ أَيْنَ  ·  إِلَى أَيْنَ  ·  مَتَى  ·  كَيْفَ  ·  لِمَاذَا  ·  لِأَنَّ  ·  مَعَ مَنْ  ·  لِمَنْ  ·  بِالْحَافِلَةِ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topic interview: twelve questions about daily life, family, school, leisure, travel and future plans — with model answers.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man, mā, mādhā, ayna, min ayna, ilā ayna.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matā, kayfa, limādhā and kam.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 answers.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reasons with li-anna.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answer matches its question word.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وُلِدْتُ فِي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born in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school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آخِرَ مَرَّةٍ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time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الْمُفَضَّلُ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favourite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إِنْ شَاءَ اللَّهُ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God willing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لِذَلِكَ</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 therefore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مَا اسْمُكِ؟ اِسْمِي نُورٌ. مِنْ أَيْنَ أَنْتِ؟ أَنَا مِنَ الْعِرَاقِ، وَلَكِنِّي وُلِدْتُ فِي بِرِيطَانِيَا. أَيْنَ تَسْكُنِينَ؟ أَسْكُنُ فِي مَانْشِسْتَرَ. مَنْ يَسْكُنُ مَعَكِ؟ وَالِدَايَ وَأَخِي الصَّغِيرُ. مَاذَا تَفْعَلِينَ بَعْدَ الْمَدْرَسَةِ؟ أَقْرَأُ الْقُرْآنَ ثُمَّ أَلْعَبُ التِّنِسَ. مَتَى تَنَامِينَ؟ فِي السَّاعَةِ الْعَاشِرَةِ. كَيْفَ تَذْهَبِينَ إِلَى الْمَدْرَسَةِ؟ أَدْرُسُ فِي مَدْرَسَةٍ عَلَى الْإِنْتَرْنِتِ، فَلَا أَذْهَبُ إِلَى أَيِّ مَكَانٍ! مَا مَادَّتُكِ الْمُفَضَّلَةُ؟ الْعَرَبِيَّةُ. لِمَاذَا؟ لِأَنَّهَا لُغَةُ الْقُرْآنِ. إِلَى أَيْنَ سَافَرْتِ آخِرَ مَرَّةٍ؟ إِلَى الْمَغْرِبِ. كَمْ يَوْمًا بَقِيتِ هُنَاكَ؟ عَشَرَةَ أَيَّامٍ. مَاذَا سَتَدْرُسِينَ فِي الْجَامِعَةِ؟ سَأَدْرُسُ الطِّبَّ، إِنْ شَاءَ اللَّهُ.</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What is your name? My name is Nūr. Where are you from? I am from Iraq, but I was born in Britain. Where do you live? I live in Manchester. Who lives with you? My parents and my little brother. What do you do after school? I read the Qur’an, then I play tennis. When do you go to sleep? At ten o’clock. How do you get to school? I study at an online school, so I don’t go anywhere! What is your favourite subject? Arabic. Why? Because it is the language of the Qur’an. Where did you travel to last time? To Morocco. How many days did you stay there? Ten days. What will you study at university? I will study medicine, in shāʾ Allāh.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mā + noun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mādhā +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min ayna / ilā ayna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limādhā → li-anna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the word for the missing information.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answer gives that kind of information.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mā before nouns, mādhā before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min / ilā in place questions and answers.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why-question has a li-anna answer.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“When will the lesson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سَيَبْدَأُ الدَّرْسُ؟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سَيَبْدَأُ الدَّرْسُ؟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الدَّرْسُ سَيَبْدَأُ؟</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fits the answer </a:t>
            </a:r>
            <a:pPr algn="l" indent="0" marL="0">
              <a:buNone/>
            </a:pPr>
            <a:r>
              <a:rPr lang="ar-SA" altLang="en-US" sz="1650" b="1" dirty="0">
                <a:solidFill>
                  <a:srgbClr val="1B3B6F"/>
                </a:solidFill>
                <a:latin typeface="Amiri" pitchFamily="2" charset="-78"/>
                <a:cs typeface="Amiri" pitchFamily="2" charset="-78"/>
              </a:rPr>
              <a:t>لِأَنَّنِي أُحِبُّ اللُّغَاتِ؟</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تَتَعَلَّمُ الْعَرَبِيَّةَ؟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تَتَعَلَّمُ الْعَرَبِيَّةَ؟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تَتَعَلَّمُ الْعَرَبِيَّةَ؟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compact question.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فِيمَ تُفَكِّرُ؟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مَا تَفَكَّرَ؟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تُفَكِّرُ فِي؟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“When will the lesson begin?”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مَتَى سَيَبْدَأُ الدَّرْسُ؟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أَيْنَ سَيَبْدَأُ الدَّرْسُ؟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كَيْفَ الدَّرْسُ سَيَبْدَأُ؟</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Matā = time.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fits the answer </a:t>
            </a:r>
            <a:pPr algn="l" indent="0" marL="0">
              <a:buNone/>
            </a:pPr>
            <a:r>
              <a:rPr lang="ar-SA" altLang="en-US" sz="1650" b="1" dirty="0">
                <a:solidFill>
                  <a:srgbClr val="1B3B6F"/>
                </a:solidFill>
                <a:latin typeface="Amiri" pitchFamily="2" charset="-78"/>
                <a:cs typeface="Amiri" pitchFamily="2" charset="-78"/>
              </a:rPr>
              <a:t>لِأَنَّنِي أُحِبُّ اللُّغَاتِ؟</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مَتَى تَتَعَلَّمُ الْعَرَبِيَّةَ؟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لِمَاذَا تَتَعَلَّمُ الْعَرَبِيَّةَ؟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أَيْنَ تَتَعَلَّمُ الْعَرَبِيَّةَ؟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reason → limādhā.</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compact question.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فِيمَ تُفَكِّرُ؟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مَا تَفَكَّرَ؟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 تُفَكِّرُ فِي؟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Fīma = fī mādhā.</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GM-INT-03 · Interrogatives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GM-INT-04: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GM-INT-04 · How Many? The Kam Rule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many? / how much?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كِتَابًا؟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many books?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عُمْرُكَ؟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old are you?</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سَاعَةً؟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many hours?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بِكَمْ؟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much (price)?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After kam the noun is SINGULAR and ends in -an: kam kitāban? (not kutub). How would you ask “How many brothers do you have?” (akh = brother)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كَمْ ______ عِنْدَكَ؟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question for each of man, mā, mādhā, ayna, matā — with answers.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questions with kayfa, limādhā, min ayna, ilā ayna — with answers.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twelve-question interview.</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GM-INT-03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GM-INT-04 · How Many? The Kam Rule</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كَمْ وَالْمُفْرَدُ الْمَنْصُوبُ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man = who · mā + noun / mādhā + verb = what · ayna = where (min ayna = from where, ilā ayna = to where) · matā = when · kayfa = how · limādhā = why → li-anna … · the answer must give the information the question asks for.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GM-INT-03 · Common Question Words</dc:title>
  <dc:subject>PptxGenJS Presentation</dc:subject>
  <dc:creator>Al Madina Online School · Arabic Department</dc:creator>
  <cp:lastModifiedBy>Al Madina Online School · Arabic Department</cp:lastModifiedBy>
  <cp:revision>1</cp:revision>
  <dcterms:created xsi:type="dcterms:W3CDTF">2026-10-11T06:42:15Z</dcterms:created>
  <dcterms:modified xsi:type="dcterms:W3CDTF">2026-10-11T06:42:15Z</dcterms:modified>
</cp:coreProperties>
</file>