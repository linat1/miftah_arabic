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Interrogatives › GM-INT-04 (“How Many? The كَمْ Rule”).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kam + singular indefinite accusative noun (kam waladan? kam sāʿatan? kam marratan?). Develop: tanwīn fatḥ spelling (kitāban with alif; sayyāratan and māʾan without), matching adjectives (kam kitāban jadīdan?), fixed questions kam ʿumruka? and kam thamanu hādhā? / bi-kam? Stretch: kam across tenses, survey questions, and answering with ordinary number grammar.
• Website memory phrase: the number is unknown, so the category noun appears ONCE — in the singular — after kam. Do not copy the kam form into the answer.
• Colour code: teal = kam, pink = counted noun. Final Grammar Mastery deck: recycles GM-NUM-01 to 04 (numbers, age, money), GM-CASE-02 (-an spelling) and GM-INT-01 to 03.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Starter — GM-CASE-02 -an spelling and GM-NUM-01 number phrases.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kam + ONE singular noun in -an (+ adjective in -an). The answer uses a normal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“The core formula”. Column 3 is the website’s own “not this” column. Choral: kam ṭāliban? kam bintan?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(3 min) — website “Tanwīn fatḥ spelling”. Recycles GM-CASE-02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(2 min) — website “Add adjectives and other modifiers” (rows 3–4 from the website game and teacher).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4 (3 min) — website “High-frequency kam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5 (2 min) — website “Answering kam questions” (rows 3–4 teacher-added from GM-NUM-01).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mini-checks: singular accusative and spelling.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“Reading: class survey” questions with teacher answers. Point out: the answers use normal number grammar (tisʿu ṭālibātin, thalātha marrātin).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website game items. Cover column 2; then a partner answers each question with a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For each repair card students say the correct form and which check failed (plural, extra alif, 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For each repair card students say the correct form and which check failed (plural, extra alif, 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mini-check: spelling and Repair lab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class survey (teacher-written report). Read it aloud once while students follow; then they hunt for today’s grammar.
Task: Website: identify the category, tense and counted noun in each kam question. Then check the answers use normal number grammar.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Teacher-written report built on the website class-survey questions;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speaking questionnaire. Sequence: ● 10s think → ↔ 45s rehearse aloud with mic muted → ◎ two named students on open mic (warned in advance) → + ? the class types one follow-up in chat → ↺ one student summarises.
Routes: Core uses the Core prompt and stem; Develop the Develop prompt; Stretch the last prompt.
Website: ask about books, siblings, school subjects, weekly activities, journeys and screen time. Extend every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eight kam questions, collect or invent answers, then write a short report comparing the results.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survey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(P1-L01 · Diet and Nutrition) will spend class time USING this language, so students prepare it tonight — short, simple, easy to access (school guidance: “Simple, Short, Interesting, Relevant, Easy to access”). The five words prepare P1-L01 (Progression: Diet and Nutrition).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MIFTAH GRAMMAR MASTERY  ·  INTERROGATIVES  ·  GM-INT-04</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GM-INT-04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How Many? The Kam Rule</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كَمْ وَالْمُفْرَدُ الْمَنْصُوبُ</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How many? = kam + ONE singular noun ending in -an: kam kitāban? (how many books?), kam sayyāratan? (how many cars?). Never a plural after kam. The answer then uses a normal number: qaraʾtu thalāthata kutubin.</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GM-INT-04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Grammar › Interrogatives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GM-INT-04 · Interrogatives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Interrogatives · GM-INT-04</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GM-INT-04 · Interrogatives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Interrogatives · GM-INT-04</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The formula; spelling; adjectives; frequent questions; answers.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Meaning → question; correct or repair?;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P1-L01.</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GM-INT-04 · Interrogatives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Interrogatives · GM-INT-04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“How many boys?”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أَوْلَادٌ؟</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وَلَدًا؟</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الْوَلَدَ؟</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“How many cars?”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سَيَّارَةً؟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سَيَّارَاتٍ؟</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السَّيَّارَةُ؟</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is spelled correctly with the supporting alif?</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كِتَابً</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كِتَابٌ</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كِتَابًا</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feminine form is correct?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مَدْرَسَةًا</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مَدْرَسَاتٍ</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مَدْرَسَةً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noun + adjective pair after kam.</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كِتَابًا مُفِيدًا؟</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كِتَابًا مُفِيدٌ؟</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كُتُبٍ مُفِيدَةٍ؟</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GM-INT-04 · Interrogatives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Interrogatives · GM-INT-04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“How many boys?”</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كَمْ أَوْلَادٌ؟</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كَمْ وَلَدًا؟</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كَمْ الْوَلَدَ؟</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Singular -an: waladan.</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“How many cars?”</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كَمْ سَيَّارَةً؟</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كَمْ سَيَّارَاتٍ؟</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كَمْ السَّيَّارَةُ؟</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Singular: sayyāratan.</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is spelled correctly with the supporting alif?</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كِتَابً</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كِتَابٌ</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كِتَابًا</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Kitāban: alif added.</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feminine form is correct?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مَدْرَسَةًا</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مَدْرَسَاتٍ</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مَدْرَسَةً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No extra alif after tāʾ marbūṭa.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noun + adjective pair after kam.</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كَمْ كِتَابًا مُفِيدًا؟</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كَمْ كِتَابًا مُفِيدٌ؟</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كَمْ كُتُبٍ مُفِيدَةٍ؟</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Both singular -an.</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kam + ONE singular noun in -an (+ adjective in -an). The answer uses a normal number.</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2000" b="1" dirty="0">
                <a:solidFill>
                  <a:srgbClr val="0E7C86"/>
                </a:solidFill>
                <a:latin typeface="Amiri" pitchFamily="34" charset="0"/>
                <a:ea typeface="Amiri" pitchFamily="34" charset="-122"/>
                <a:cs typeface="Amiri" pitchFamily="34" charset="-120"/>
              </a:rPr>
              <a:t>كَمْ</a:t>
            </a:r>
            <a:pPr rtl="1" algn="ct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 </a:t>
            </a:r>
            <a:pPr rtl="1" algn="ctr" indent="0" marL="0">
              <a:lnSpc>
                <a:spcPct val="120000"/>
              </a:lnSpc>
              <a:buNone/>
            </a:pPr>
            <a:r>
              <a:rPr lang="ar-SA" altLang="en-US" sz="2000" b="1" dirty="0">
                <a:solidFill>
                  <a:srgbClr val="D6336C"/>
                </a:solidFill>
                <a:latin typeface="Amiri" pitchFamily="34" charset="0"/>
                <a:ea typeface="Amiri" pitchFamily="34" charset="-122"/>
                <a:cs typeface="Amiri" pitchFamily="34" charset="-120"/>
              </a:rPr>
              <a:t>كِتَابًا</a:t>
            </a:r>
            <a:pPr rtl="1" algn="ct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 قَرَأْتَ؟ ‖ قَرَأْتُ ثَلَاثَةَ كُتُبٍ.</a:t>
            </a:r>
            <a:endParaRPr lang="ar-SA" sz="20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GM-INT-04 · Interrogatives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Interrogatives · GM-INT-04</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Ask “how many?” with kam + singular -an.</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Spell -an with and without alif.</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Add a matching adjective.</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Answer with a normal number phrase.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write kam kitāban? and kam marratan?</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never put a plural after kam.</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spell sayyāratan and māʾan correctly.</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ask kam ʿumruka? and bi-kam?</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answer with ordinary number grammar.</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write and report an eight-question survey.</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GM-INT-04 · Interrogatives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Interrogatives · GM-INT-04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كَمْ</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how many? / how much?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kam</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كَمْ كِتَابًا؟</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الْمَعْدُودُ</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counted noun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al-maʿ-dū-du</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كِتَابًا</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مُفْرَدٌ مَنْصُوبٌ</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singular, accusative (-an)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muf-ra-dun man-ṣū-bun</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سَيَّارَةً</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تَنْوِينُ الْفَتْحِ</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-an ending (with or without alif)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tan-wī-nu al-fat-ḥi</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قَلَمًا · مَرَّةً</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كَمْ مَرَّةً؟</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how many times? (frequency)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kam mar-ra-tan?</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كَمْ مَرَّةً تَتَدَرَّبُ؟</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بِكَمْ؟</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how much? (price)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bi-kam?</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بِكَمْ هَذَا؟</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GM-INT-04 · Interrogatives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 PART 1 · THE CORE FORMULA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kam + ONE singular noun in -an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كَمْ + اسْمٌ مُفْرَدٌ نَكِرَةٌ مَنْصُوبٌ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Interrogatives · GM-INT-04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662672" y="1810512"/>
            <a:ext cx="3995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Not this</a:t>
            </a:r>
            <a:endParaRPr lang="en-US" sz="1100" dirty="0"/>
          </a:p>
        </p:txBody>
      </p:sp>
      <p:sp>
        <p:nvSpPr>
          <p:cNvPr id="17" name="Text 14"/>
          <p:cNvSpPr txBox="1"/>
          <p:nvPr/>
        </p:nvSpPr>
        <p:spPr>
          <a:xfrm>
            <a:off x="3822192"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Correct</a:t>
            </a:r>
            <a:endParaRPr lang="en-US" sz="1100" dirty="0"/>
          </a:p>
        </p:txBody>
      </p:sp>
      <p:sp>
        <p:nvSpPr>
          <p:cNvPr id="18" name="Text 15"/>
          <p:cNvSpPr txBox="1"/>
          <p:nvPr/>
        </p:nvSpPr>
        <p:spPr>
          <a:xfrm>
            <a:off x="5303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680960" y="2267712"/>
            <a:ext cx="395935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كَمْ طُلَّابٍ؟</a:t>
            </a:r>
            <a:endParaRPr lang="ar-SA" sz="2400" dirty="0"/>
          </a:p>
        </p:txBody>
      </p:sp>
      <p:sp>
        <p:nvSpPr>
          <p:cNvPr id="21" name="Text 18"/>
          <p:cNvSpPr txBox="1"/>
          <p:nvPr/>
        </p:nvSpPr>
        <p:spPr>
          <a:xfrm>
            <a:off x="3840480" y="2267712"/>
            <a:ext cx="36576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كَمْ طَالِبًا؟</a:t>
            </a:r>
            <a:endParaRPr lang="ar-SA" sz="2600" dirty="0"/>
          </a:p>
        </p:txBody>
      </p:sp>
      <p:sp>
        <p:nvSpPr>
          <p:cNvPr id="22" name="Text 19"/>
          <p:cNvSpPr txBox="1"/>
          <p:nvPr/>
        </p:nvSpPr>
        <p:spPr>
          <a:xfrm>
            <a:off x="566928" y="2267712"/>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how many students?</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7680960" y="2881884"/>
            <a:ext cx="395935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كَمْ بَنَاتٍ؟</a:t>
            </a:r>
            <a:endParaRPr lang="ar-SA" sz="2400" dirty="0"/>
          </a:p>
        </p:txBody>
      </p:sp>
      <p:sp>
        <p:nvSpPr>
          <p:cNvPr id="27" name="Text 24"/>
          <p:cNvSpPr txBox="1"/>
          <p:nvPr/>
        </p:nvSpPr>
        <p:spPr>
          <a:xfrm>
            <a:off x="3840480" y="2881884"/>
            <a:ext cx="36576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كَمْ بِنْتًا؟</a:t>
            </a:r>
            <a:endParaRPr lang="ar-SA" sz="2600" dirty="0"/>
          </a:p>
        </p:txBody>
      </p:sp>
      <p:sp>
        <p:nvSpPr>
          <p:cNvPr id="28" name="Text 25"/>
          <p:cNvSpPr txBox="1"/>
          <p:nvPr/>
        </p:nvSpPr>
        <p:spPr>
          <a:xfrm>
            <a:off x="566928" y="2881884"/>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how many girls?</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7680960" y="3496056"/>
            <a:ext cx="395935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كَمْ مَدَارِسَ؟</a:t>
            </a:r>
            <a:endParaRPr lang="ar-SA" sz="2400" dirty="0"/>
          </a:p>
        </p:txBody>
      </p:sp>
      <p:sp>
        <p:nvSpPr>
          <p:cNvPr id="33" name="Text 30"/>
          <p:cNvSpPr txBox="1"/>
          <p:nvPr/>
        </p:nvSpPr>
        <p:spPr>
          <a:xfrm>
            <a:off x="3840480" y="3496056"/>
            <a:ext cx="36576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كَمْ مَدْرَسَةً؟</a:t>
            </a:r>
            <a:endParaRPr lang="ar-SA" sz="2600" dirty="0"/>
          </a:p>
        </p:txBody>
      </p:sp>
      <p:sp>
        <p:nvSpPr>
          <p:cNvPr id="34" name="Text 31"/>
          <p:cNvSpPr txBox="1"/>
          <p:nvPr/>
        </p:nvSpPr>
        <p:spPr>
          <a:xfrm>
            <a:off x="566928" y="3496056"/>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how many schools?</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7680960" y="4110228"/>
            <a:ext cx="395935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كَمْ أَيَّامٍ؟</a:t>
            </a:r>
            <a:endParaRPr lang="ar-SA" sz="2400" dirty="0"/>
          </a:p>
        </p:txBody>
      </p:sp>
      <p:sp>
        <p:nvSpPr>
          <p:cNvPr id="39" name="Text 36"/>
          <p:cNvSpPr txBox="1"/>
          <p:nvPr/>
        </p:nvSpPr>
        <p:spPr>
          <a:xfrm>
            <a:off x="3840480" y="4110228"/>
            <a:ext cx="36576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كَمْ يَوْمًا؟</a:t>
            </a:r>
            <a:endParaRPr lang="ar-SA" sz="2600" dirty="0"/>
          </a:p>
        </p:txBody>
      </p:sp>
      <p:sp>
        <p:nvSpPr>
          <p:cNvPr id="40" name="Text 37"/>
          <p:cNvSpPr txBox="1"/>
          <p:nvPr/>
        </p:nvSpPr>
        <p:spPr>
          <a:xfrm>
            <a:off x="566928" y="4110228"/>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how many days?</a:t>
            </a:r>
            <a:endParaRPr lang="en-US" sz="11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7680960" y="4724400"/>
            <a:ext cx="395935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كَمْ مَرَّاتٍ؟</a:t>
            </a:r>
            <a:endParaRPr lang="ar-SA" sz="2400" dirty="0"/>
          </a:p>
        </p:txBody>
      </p:sp>
      <p:sp>
        <p:nvSpPr>
          <p:cNvPr id="43" name="Text 40"/>
          <p:cNvSpPr txBox="1"/>
          <p:nvPr/>
        </p:nvSpPr>
        <p:spPr>
          <a:xfrm>
            <a:off x="3840480" y="4724400"/>
            <a:ext cx="36576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كَمْ مَرَّةً؟</a:t>
            </a:r>
            <a:endParaRPr lang="ar-SA" sz="2600" dirty="0"/>
          </a:p>
        </p:txBody>
      </p:sp>
      <p:sp>
        <p:nvSpPr>
          <p:cNvPr id="44" name="Text 41"/>
          <p:cNvSpPr txBox="1"/>
          <p:nvPr/>
        </p:nvSpPr>
        <p:spPr>
          <a:xfrm>
            <a:off x="566928" y="4724400"/>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how many times?</a:t>
            </a:r>
            <a:endParaRPr lang="en-US" sz="11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7680960" y="5338572"/>
            <a:ext cx="395935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كَمْ دُرُوسٍ؟</a:t>
            </a:r>
            <a:endParaRPr lang="ar-SA" sz="2400" dirty="0"/>
          </a:p>
        </p:txBody>
      </p:sp>
      <p:sp>
        <p:nvSpPr>
          <p:cNvPr id="47" name="Text 44"/>
          <p:cNvSpPr txBox="1"/>
          <p:nvPr/>
        </p:nvSpPr>
        <p:spPr>
          <a:xfrm>
            <a:off x="3840480" y="5338572"/>
            <a:ext cx="36576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كَمْ دَرْسًا؟</a:t>
            </a:r>
            <a:endParaRPr lang="ar-SA" sz="2600" dirty="0"/>
          </a:p>
        </p:txBody>
      </p:sp>
      <p:sp>
        <p:nvSpPr>
          <p:cNvPr id="48" name="Text 45"/>
          <p:cNvSpPr txBox="1"/>
          <p:nvPr/>
        </p:nvSpPr>
        <p:spPr>
          <a:xfrm>
            <a:off x="566928" y="5338572"/>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how many lessons?</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Website memory phrase: the number is unknown, so the category noun appears ONCE — singular, indefinite (no al-) and accusative (-an). English says “how many books”; Arabic says “how many book”.</a:t>
            </a:r>
            <a:endParaRPr lang="en-US" sz="110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GM-INT-04 · Interrogatives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 PART 2 · TANWĪN FATḤ SPELLING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Alif or no alif?</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كِتَابًا · سَيَّارَةً · مَاءً</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Interrogatives · GM-INT-04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748272" y="1810512"/>
            <a:ext cx="49103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Spelling</a:t>
            </a:r>
            <a:endParaRPr lang="en-US" sz="1100" dirty="0"/>
          </a:p>
        </p:txBody>
      </p:sp>
      <p:sp>
        <p:nvSpPr>
          <p:cNvPr id="17" name="Text 14"/>
          <p:cNvSpPr txBox="1"/>
          <p:nvPr/>
        </p:nvSpPr>
        <p:spPr>
          <a:xfrm>
            <a:off x="3090672"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After kam</a:t>
            </a:r>
            <a:endParaRPr lang="en-US" sz="1100" dirty="0"/>
          </a:p>
        </p:txBody>
      </p:sp>
      <p:sp>
        <p:nvSpPr>
          <p:cNvPr id="18" name="Text 15"/>
          <p:cNvSpPr txBox="1"/>
          <p:nvPr/>
        </p:nvSpPr>
        <p:spPr>
          <a:xfrm>
            <a:off x="53035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Noun</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6784848" y="2267712"/>
            <a:ext cx="48737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regular ending: add the alif</a:t>
            </a:r>
            <a:endParaRPr lang="en-US" sz="1100" dirty="0"/>
          </a:p>
        </p:txBody>
      </p:sp>
      <p:sp>
        <p:nvSpPr>
          <p:cNvPr id="21" name="Text 18"/>
          <p:cNvSpPr txBox="1"/>
          <p:nvPr/>
        </p:nvSpPr>
        <p:spPr>
          <a:xfrm>
            <a:off x="3108960" y="2267712"/>
            <a:ext cx="34747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كَمْ كِتَابًا؟</a:t>
            </a:r>
            <a:endParaRPr lang="ar-SA" sz="2400" dirty="0"/>
          </a:p>
        </p:txBody>
      </p:sp>
      <p:sp>
        <p:nvSpPr>
          <p:cNvPr id="22" name="Text 19"/>
          <p:cNvSpPr txBox="1"/>
          <p:nvPr/>
        </p:nvSpPr>
        <p:spPr>
          <a:xfrm>
            <a:off x="548640" y="2267712"/>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كِتَابٌ</a:t>
            </a:r>
            <a:endParaRPr lang="ar-SA" sz="24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6784848" y="2881884"/>
            <a:ext cx="48737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regular ending: add the alif</a:t>
            </a:r>
            <a:endParaRPr lang="en-US" sz="1100" dirty="0"/>
          </a:p>
        </p:txBody>
      </p:sp>
      <p:sp>
        <p:nvSpPr>
          <p:cNvPr id="27" name="Text 24"/>
          <p:cNvSpPr txBox="1"/>
          <p:nvPr/>
        </p:nvSpPr>
        <p:spPr>
          <a:xfrm>
            <a:off x="3108960" y="2881884"/>
            <a:ext cx="34747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كَمْ قَلَمًا؟</a:t>
            </a:r>
            <a:endParaRPr lang="ar-SA" sz="2400" dirty="0"/>
          </a:p>
        </p:txBody>
      </p:sp>
      <p:sp>
        <p:nvSpPr>
          <p:cNvPr id="28" name="Text 25"/>
          <p:cNvSpPr txBox="1"/>
          <p:nvPr/>
        </p:nvSpPr>
        <p:spPr>
          <a:xfrm>
            <a:off x="548640" y="2881884"/>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قَلَمٌ</a:t>
            </a:r>
            <a:endParaRPr lang="ar-SA" sz="24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6784848" y="3496056"/>
            <a:ext cx="48737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regular ending: add the alif</a:t>
            </a:r>
            <a:endParaRPr lang="en-US" sz="1100" dirty="0"/>
          </a:p>
        </p:txBody>
      </p:sp>
      <p:sp>
        <p:nvSpPr>
          <p:cNvPr id="33" name="Text 30"/>
          <p:cNvSpPr txBox="1"/>
          <p:nvPr/>
        </p:nvSpPr>
        <p:spPr>
          <a:xfrm>
            <a:off x="3108960" y="3496056"/>
            <a:ext cx="34747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كَمْ يَوْمًا؟</a:t>
            </a:r>
            <a:endParaRPr lang="ar-SA" sz="2400" dirty="0"/>
          </a:p>
        </p:txBody>
      </p:sp>
      <p:sp>
        <p:nvSpPr>
          <p:cNvPr id="34" name="Text 31"/>
          <p:cNvSpPr txBox="1"/>
          <p:nvPr/>
        </p:nvSpPr>
        <p:spPr>
          <a:xfrm>
            <a:off x="548640" y="3496056"/>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يَوْمٌ</a:t>
            </a:r>
            <a:endParaRPr lang="ar-SA" sz="2400" dirty="0"/>
          </a:p>
        </p:txBody>
      </p:sp>
      <p:sp>
        <p:nvSpPr>
          <p:cNvPr id="35" name="Shape 3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6" name="Text 33"/>
          <p:cNvSpPr txBox="1"/>
          <p:nvPr/>
        </p:nvSpPr>
        <p:spPr>
          <a:xfrm>
            <a:off x="6784848" y="4110228"/>
            <a:ext cx="48737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tāʾ marbūṭa: NO extra alif</a:t>
            </a:r>
            <a:endParaRPr lang="en-US" sz="1100" dirty="0"/>
          </a:p>
        </p:txBody>
      </p:sp>
      <p:sp>
        <p:nvSpPr>
          <p:cNvPr id="37" name="Text 34"/>
          <p:cNvSpPr txBox="1"/>
          <p:nvPr/>
        </p:nvSpPr>
        <p:spPr>
          <a:xfrm>
            <a:off x="3108960" y="4110228"/>
            <a:ext cx="34747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كَمْ سَيَّارَةً؟</a:t>
            </a:r>
            <a:endParaRPr lang="ar-SA" sz="2400" dirty="0"/>
          </a:p>
        </p:txBody>
      </p:sp>
      <p:sp>
        <p:nvSpPr>
          <p:cNvPr id="38" name="Text 35"/>
          <p:cNvSpPr txBox="1"/>
          <p:nvPr/>
        </p:nvSpPr>
        <p:spPr>
          <a:xfrm>
            <a:off x="548640" y="4110228"/>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سَيَّارَةٌ</a:t>
            </a:r>
            <a:endParaRPr lang="ar-SA" sz="2400" dirty="0"/>
          </a:p>
        </p:txBody>
      </p:sp>
      <p:sp>
        <p:nvSpPr>
          <p:cNvPr id="39" name="Shape 36"/>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6784848" y="4724400"/>
            <a:ext cx="48737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tāʾ marbūṭa: NO extra alif</a:t>
            </a:r>
            <a:endParaRPr lang="en-US" sz="1100" dirty="0"/>
          </a:p>
        </p:txBody>
      </p:sp>
      <p:sp>
        <p:nvSpPr>
          <p:cNvPr id="43" name="Text 40"/>
          <p:cNvSpPr txBox="1"/>
          <p:nvPr/>
        </p:nvSpPr>
        <p:spPr>
          <a:xfrm>
            <a:off x="3108960" y="4724400"/>
            <a:ext cx="34747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كَمْ مَرَّةً؟</a:t>
            </a:r>
            <a:endParaRPr lang="ar-SA" sz="2400" dirty="0"/>
          </a:p>
        </p:txBody>
      </p:sp>
      <p:sp>
        <p:nvSpPr>
          <p:cNvPr id="44" name="Text 41"/>
          <p:cNvSpPr txBox="1"/>
          <p:nvPr/>
        </p:nvSpPr>
        <p:spPr>
          <a:xfrm>
            <a:off x="548640" y="4724400"/>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مَرَّةٌ</a:t>
            </a:r>
            <a:endParaRPr lang="ar-SA" sz="24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6784848" y="5338572"/>
            <a:ext cx="48737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count a unit; māʾan has no extra alif</a:t>
            </a:r>
            <a:endParaRPr lang="en-US" sz="1100" dirty="0"/>
          </a:p>
        </p:txBody>
      </p:sp>
      <p:sp>
        <p:nvSpPr>
          <p:cNvPr id="47" name="Text 44"/>
          <p:cNvSpPr txBox="1"/>
          <p:nvPr/>
        </p:nvSpPr>
        <p:spPr>
          <a:xfrm>
            <a:off x="3108960" y="5338572"/>
            <a:ext cx="34747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كَمْ كُوبًا مِنَ الْمَاءِ؟</a:t>
            </a:r>
            <a:endParaRPr lang="ar-SA" sz="2400" dirty="0"/>
          </a:p>
        </p:txBody>
      </p:sp>
      <p:sp>
        <p:nvSpPr>
          <p:cNvPr id="48" name="Text 45"/>
          <p:cNvSpPr txBox="1"/>
          <p:nvPr/>
        </p:nvSpPr>
        <p:spPr>
          <a:xfrm>
            <a:off x="548640" y="5338572"/>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مَاءٌ</a:t>
            </a:r>
            <a:endParaRPr lang="ar-SA" sz="24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Website common visual error: sayyāratan written with an extra alif is wrong — the tāʾ marbūṭa already carries the -an. Water is not counted directly: count cups (kam kūban mina l-māʾi?).</a:t>
            </a:r>
            <a:endParaRPr lang="en-US" sz="110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GM-INT-04 · Interrogatives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 PART 3 · ADD ADJECTIVES (WEBSITE MODELS) · DEVELOP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The adjective follows: singular -an</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الصِّفَةُ بَعْدَ كَمْ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Interrogatives · GM-INT-04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016752" y="1810512"/>
            <a:ext cx="56418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7" name="Text 14"/>
          <p:cNvSpPr txBox="1"/>
          <p:nvPr/>
        </p:nvSpPr>
        <p:spPr>
          <a:xfrm>
            <a:off x="530352" y="1810512"/>
            <a:ext cx="5340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Question</a:t>
            </a:r>
            <a:endParaRPr lang="en-US" sz="1100" dirty="0"/>
          </a:p>
        </p:txBody>
      </p:sp>
      <p:sp>
        <p:nvSpPr>
          <p:cNvPr id="18" name="Shape 15"/>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19" name="Text 16"/>
          <p:cNvSpPr txBox="1"/>
          <p:nvPr/>
        </p:nvSpPr>
        <p:spPr>
          <a:xfrm>
            <a:off x="6053328" y="2267712"/>
            <a:ext cx="56052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How many new books did you buy?</a:t>
            </a:r>
            <a:endParaRPr lang="en-US" sz="1100" dirty="0"/>
          </a:p>
        </p:txBody>
      </p:sp>
      <p:sp>
        <p:nvSpPr>
          <p:cNvPr id="20" name="Text 17"/>
          <p:cNvSpPr txBox="1"/>
          <p:nvPr/>
        </p:nvSpPr>
        <p:spPr>
          <a:xfrm>
            <a:off x="548640" y="2267712"/>
            <a:ext cx="530352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كَمْ كِتَابًا جَدِيدًا اشْتَرَيْتَ؟</a:t>
            </a:r>
            <a:endParaRPr lang="ar-SA" sz="22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6053328" y="3054096"/>
            <a:ext cx="56052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How many fast cars did you see? (to a girl)</a:t>
            </a:r>
            <a:endParaRPr lang="en-US" sz="1100" dirty="0"/>
          </a:p>
        </p:txBody>
      </p:sp>
      <p:sp>
        <p:nvSpPr>
          <p:cNvPr id="25" name="Text 22"/>
          <p:cNvSpPr txBox="1"/>
          <p:nvPr/>
        </p:nvSpPr>
        <p:spPr>
          <a:xfrm>
            <a:off x="548640" y="3054096"/>
            <a:ext cx="530352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كَمْ سَيَّارَةً سَرِيعَةً رَأَيْتِ؟</a:t>
            </a:r>
            <a:endParaRPr lang="ar-SA" sz="2200" dirty="0"/>
          </a:p>
        </p:txBody>
      </p:sp>
      <p:sp>
        <p:nvSpPr>
          <p:cNvPr id="26" name="Shape 23"/>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8" name="Shape 25"/>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9" name="Text 26"/>
          <p:cNvSpPr txBox="1"/>
          <p:nvPr/>
        </p:nvSpPr>
        <p:spPr>
          <a:xfrm>
            <a:off x="6053328" y="3840480"/>
            <a:ext cx="56052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How many big schools are in your city?</a:t>
            </a:r>
            <a:endParaRPr lang="en-US" sz="1100" dirty="0"/>
          </a:p>
        </p:txBody>
      </p:sp>
      <p:sp>
        <p:nvSpPr>
          <p:cNvPr id="30" name="Text 27"/>
          <p:cNvSpPr txBox="1"/>
          <p:nvPr/>
        </p:nvSpPr>
        <p:spPr>
          <a:xfrm>
            <a:off x="548640" y="3840480"/>
            <a:ext cx="530352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كَمْ مَدْرَسَةً كَبِيرَةً فِي مَدِينَتِكَ؟</a:t>
            </a:r>
            <a:endParaRPr lang="ar-SA" sz="22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6053328" y="4626864"/>
            <a:ext cx="56052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How many new students are in the class?</a:t>
            </a:r>
            <a:endParaRPr lang="en-US" sz="1100" dirty="0"/>
          </a:p>
        </p:txBody>
      </p:sp>
      <p:sp>
        <p:nvSpPr>
          <p:cNvPr id="33" name="Text 30"/>
          <p:cNvSpPr txBox="1"/>
          <p:nvPr/>
        </p:nvSpPr>
        <p:spPr>
          <a:xfrm>
            <a:off x="548640" y="4626864"/>
            <a:ext cx="530352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كَمْ طَالِبًا جَدِيدًا فِي الصَّفِّ؟</a:t>
            </a:r>
            <a:endParaRPr lang="ar-SA" sz="2200" dirty="0"/>
          </a:p>
        </p:txBody>
      </p:sp>
      <p:sp>
        <p:nvSpPr>
          <p:cNvPr id="34" name="Text 3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important note: the answer may use a normal number phrase with different noun rules. Do not copy the singular -an form mechanically into the answer.</a:t>
            </a:r>
            <a:endParaRPr lang="en-US" sz="11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GM-INT-04 · Interrogatives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66" b="1" spc="150" kern="0" dirty="0">
                <a:solidFill>
                  <a:srgbClr val="1B3B6F"/>
                </a:solidFill>
                <a:latin typeface="Calibri" pitchFamily="34" charset="0"/>
                <a:ea typeface="Calibri" pitchFamily="34" charset="-122"/>
                <a:cs typeface="Calibri" pitchFamily="34" charset="-120"/>
              </a:rPr>
              <a:t>GRAMMAR · PART 4 · HIGH-FREQUENCY KAM QUESTIONS (WEBSITE TABLE) · DEVELOP</a:t>
            </a:r>
            <a:endParaRPr lang="en-US" sz="966"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Count it — or use a fixed question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شَائِعَةٌ بِكَمْ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Interrogatives · GM-INT-04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662672" y="1810512"/>
            <a:ext cx="3995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Note</a:t>
            </a:r>
            <a:endParaRPr lang="en-US" sz="1100" dirty="0"/>
          </a:p>
        </p:txBody>
      </p:sp>
      <p:sp>
        <p:nvSpPr>
          <p:cNvPr id="17" name="Text 14"/>
          <p:cNvSpPr txBox="1"/>
          <p:nvPr/>
        </p:nvSpPr>
        <p:spPr>
          <a:xfrm>
            <a:off x="3273552" y="1810512"/>
            <a:ext cx="4242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Question</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Purpose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699248" y="2267712"/>
            <a:ext cx="3959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core rule: singular -an</a:t>
            </a:r>
            <a:endParaRPr lang="en-US" sz="1100" dirty="0"/>
          </a:p>
        </p:txBody>
      </p:sp>
      <p:sp>
        <p:nvSpPr>
          <p:cNvPr id="21" name="Text 18"/>
          <p:cNvSpPr txBox="1"/>
          <p:nvPr/>
        </p:nvSpPr>
        <p:spPr>
          <a:xfrm>
            <a:off x="3291840" y="2267712"/>
            <a:ext cx="420624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كَمْ طَالِبًا فِي الصَّفِّ؟</a:t>
            </a:r>
            <a:endParaRPr lang="ar-SA" sz="2200" dirty="0"/>
          </a:p>
        </p:txBody>
      </p:sp>
      <p:sp>
        <p:nvSpPr>
          <p:cNvPr id="22" name="Text 19"/>
          <p:cNvSpPr txBox="1"/>
          <p:nvPr/>
        </p:nvSpPr>
        <p:spPr>
          <a:xfrm>
            <a:off x="566928" y="2267712"/>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number of people / items</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699248" y="3004718"/>
            <a:ext cx="3959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marratan is counted</a:t>
            </a:r>
            <a:endParaRPr lang="en-US" sz="1100" dirty="0"/>
          </a:p>
        </p:txBody>
      </p:sp>
      <p:sp>
        <p:nvSpPr>
          <p:cNvPr id="27" name="Text 24"/>
          <p:cNvSpPr txBox="1"/>
          <p:nvPr/>
        </p:nvSpPr>
        <p:spPr>
          <a:xfrm>
            <a:off x="3291840" y="3004718"/>
            <a:ext cx="420624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كَمْ مَرَّةً تَتَدَرَّبُ؟</a:t>
            </a:r>
            <a:endParaRPr lang="ar-SA" sz="2200" dirty="0"/>
          </a:p>
        </p:txBody>
      </p:sp>
      <p:sp>
        <p:nvSpPr>
          <p:cNvPr id="28" name="Text 25"/>
          <p:cNvSpPr txBox="1"/>
          <p:nvPr/>
        </p:nvSpPr>
        <p:spPr>
          <a:xfrm>
            <a:off x="566928" y="300471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frequency</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7699248" y="3741725"/>
            <a:ext cx="3959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yawman is counted</a:t>
            </a:r>
            <a:endParaRPr lang="en-US" sz="1100" dirty="0"/>
          </a:p>
        </p:txBody>
      </p:sp>
      <p:sp>
        <p:nvSpPr>
          <p:cNvPr id="33" name="Text 30"/>
          <p:cNvSpPr txBox="1"/>
          <p:nvPr/>
        </p:nvSpPr>
        <p:spPr>
          <a:xfrm>
            <a:off x="3291840" y="3741725"/>
            <a:ext cx="420624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كَمْ يَوْمًا بَقِيتَ؟</a:t>
            </a:r>
            <a:endParaRPr lang="ar-SA" sz="2200" dirty="0"/>
          </a:p>
        </p:txBody>
      </p:sp>
      <p:sp>
        <p:nvSpPr>
          <p:cNvPr id="34" name="Text 31"/>
          <p:cNvSpPr txBox="1"/>
          <p:nvPr/>
        </p:nvSpPr>
        <p:spPr>
          <a:xfrm>
            <a:off x="566928" y="3741725"/>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duration</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7699248" y="4478731"/>
            <a:ext cx="3959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fixed question — no counted noun</a:t>
            </a:r>
            <a:endParaRPr lang="en-US" sz="1100" dirty="0"/>
          </a:p>
        </p:txBody>
      </p:sp>
      <p:sp>
        <p:nvSpPr>
          <p:cNvPr id="37" name="Text 34"/>
          <p:cNvSpPr txBox="1"/>
          <p:nvPr/>
        </p:nvSpPr>
        <p:spPr>
          <a:xfrm>
            <a:off x="3291840" y="4478731"/>
            <a:ext cx="420624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كَمْ عُمْرُكَ؟</a:t>
            </a:r>
            <a:endParaRPr lang="ar-SA" sz="2200" dirty="0"/>
          </a:p>
        </p:txBody>
      </p:sp>
      <p:sp>
        <p:nvSpPr>
          <p:cNvPr id="38" name="Text 35"/>
          <p:cNvSpPr txBox="1"/>
          <p:nvPr/>
        </p:nvSpPr>
        <p:spPr>
          <a:xfrm>
            <a:off x="566928" y="4478731"/>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age</a:t>
            </a:r>
            <a:endParaRPr lang="en-US" sz="1100" dirty="0"/>
          </a:p>
        </p:txBody>
      </p:sp>
      <p:sp>
        <p:nvSpPr>
          <p:cNvPr id="39" name="Shape 36"/>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2" name="Text 39"/>
          <p:cNvSpPr txBox="1"/>
          <p:nvPr/>
        </p:nvSpPr>
        <p:spPr>
          <a:xfrm>
            <a:off x="7699248" y="5215738"/>
            <a:ext cx="3959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fixed question — ask the price</a:t>
            </a:r>
            <a:endParaRPr lang="en-US" sz="1100" dirty="0"/>
          </a:p>
        </p:txBody>
      </p:sp>
      <p:sp>
        <p:nvSpPr>
          <p:cNvPr id="43" name="Text 40"/>
          <p:cNvSpPr txBox="1"/>
          <p:nvPr/>
        </p:nvSpPr>
        <p:spPr>
          <a:xfrm>
            <a:off x="3291840" y="5215738"/>
            <a:ext cx="420624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كَمْ ثَمَنُ هَذَا؟ · بِكَمْ هَذَا؟</a:t>
            </a:r>
            <a:endParaRPr lang="ar-SA" sz="2200" dirty="0"/>
          </a:p>
        </p:txBody>
      </p:sp>
      <p:sp>
        <p:nvSpPr>
          <p:cNvPr id="44" name="Text 41"/>
          <p:cNvSpPr txBox="1"/>
          <p:nvPr/>
        </p:nvSpPr>
        <p:spPr>
          <a:xfrm>
            <a:off x="566928" y="521573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price</a:t>
            </a:r>
            <a:endParaRPr lang="en-US" sz="11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Website: do not over-apply one rule. The singular -an rule is for the COUNTED noun after kam. Kam ʿumruka? and kam thamanu hādhā? are fixed patterns (GM-NUM-03, GM-NUM-04).</a:t>
            </a:r>
            <a:endParaRPr lang="en-US" sz="110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GM-INT-04 · Interrogatives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 PART 5 · ANSWERING KAM QUESTIONS (WEBSITE MODELS) · STRETCH</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answer uses a normal number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الْجَوَابُ عَنْ كَمْ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Interrogatives · GM-INT-04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942832" y="1810512"/>
            <a:ext cx="27157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Note</a:t>
            </a:r>
            <a:endParaRPr lang="en-US" sz="1100" dirty="0"/>
          </a:p>
        </p:txBody>
      </p:sp>
      <p:sp>
        <p:nvSpPr>
          <p:cNvPr id="17" name="Text 14"/>
          <p:cNvSpPr txBox="1"/>
          <p:nvPr/>
        </p:nvSpPr>
        <p:spPr>
          <a:xfrm>
            <a:off x="473659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Answer</a:t>
            </a:r>
            <a:endParaRPr lang="en-US" sz="1100" dirty="0"/>
          </a:p>
        </p:txBody>
      </p:sp>
      <p:sp>
        <p:nvSpPr>
          <p:cNvPr id="18" name="Text 15"/>
          <p:cNvSpPr txBox="1"/>
          <p:nvPr/>
        </p:nvSpPr>
        <p:spPr>
          <a:xfrm>
            <a:off x="53035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Question</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979408" y="2267712"/>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3–10: plural -in</a:t>
            </a:r>
            <a:endParaRPr lang="en-US" sz="1100" dirty="0"/>
          </a:p>
        </p:txBody>
      </p:sp>
      <p:sp>
        <p:nvSpPr>
          <p:cNvPr id="21" name="Text 18"/>
          <p:cNvSpPr txBox="1"/>
          <p:nvPr/>
        </p:nvSpPr>
        <p:spPr>
          <a:xfrm>
            <a:off x="4754880" y="2267712"/>
            <a:ext cx="40233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قَرَأْتُ ثَلَاثَةَ كُتُبٍ.</a:t>
            </a:r>
            <a:endParaRPr lang="ar-SA" sz="2200" dirty="0"/>
          </a:p>
        </p:txBody>
      </p:sp>
      <p:sp>
        <p:nvSpPr>
          <p:cNvPr id="22" name="Text 19"/>
          <p:cNvSpPr txBox="1"/>
          <p:nvPr/>
        </p:nvSpPr>
        <p:spPr>
          <a:xfrm>
            <a:off x="548640" y="2267712"/>
            <a:ext cx="40233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كَمْ كِتَابًا قَرَأْتَ؟</a:t>
            </a:r>
            <a:endParaRPr lang="ar-SA" sz="22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979408" y="3054096"/>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dual: twice</a:t>
            </a:r>
            <a:endParaRPr lang="en-US" sz="1100" dirty="0"/>
          </a:p>
        </p:txBody>
      </p:sp>
      <p:sp>
        <p:nvSpPr>
          <p:cNvPr id="27" name="Text 24"/>
          <p:cNvSpPr txBox="1"/>
          <p:nvPr/>
        </p:nvSpPr>
        <p:spPr>
          <a:xfrm>
            <a:off x="4754880" y="3054096"/>
            <a:ext cx="40233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أَسْبَحُ مَرَّتَيْنِ فِي الْأُسْبُوعِ.</a:t>
            </a:r>
            <a:endParaRPr lang="ar-SA" sz="2200" dirty="0"/>
          </a:p>
        </p:txBody>
      </p:sp>
      <p:sp>
        <p:nvSpPr>
          <p:cNvPr id="28" name="Text 25"/>
          <p:cNvSpPr txBox="1"/>
          <p:nvPr/>
        </p:nvSpPr>
        <p:spPr>
          <a:xfrm>
            <a:off x="548640" y="3054096"/>
            <a:ext cx="40233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كَمْ مَرَّةً تَسْبَحِينَ فِي الْأُسْبُوعِ؟</a:t>
            </a:r>
            <a:endParaRPr lang="ar-SA" sz="22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8979408" y="3840480"/>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11–99: singular -an</a:t>
            </a:r>
            <a:endParaRPr lang="en-US" sz="1100" dirty="0"/>
          </a:p>
        </p:txBody>
      </p:sp>
      <p:sp>
        <p:nvSpPr>
          <p:cNvPr id="31" name="Text 28"/>
          <p:cNvSpPr txBox="1"/>
          <p:nvPr/>
        </p:nvSpPr>
        <p:spPr>
          <a:xfrm>
            <a:off x="4754880" y="3840480"/>
            <a:ext cx="40233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فِي الصَّفِّ عِشْرُونَ طَالِبًا.</a:t>
            </a:r>
            <a:endParaRPr lang="ar-SA" sz="2200" dirty="0"/>
          </a:p>
        </p:txBody>
      </p:sp>
      <p:sp>
        <p:nvSpPr>
          <p:cNvPr id="32" name="Text 29"/>
          <p:cNvSpPr txBox="1"/>
          <p:nvPr/>
        </p:nvSpPr>
        <p:spPr>
          <a:xfrm>
            <a:off x="548640" y="3840480"/>
            <a:ext cx="40233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كَمْ طَالِبًا فِي الصَّفِّ؟</a:t>
            </a:r>
            <a:endParaRPr lang="ar-SA" sz="2200" dirty="0"/>
          </a:p>
        </p:txBody>
      </p:sp>
      <p:sp>
        <p:nvSpPr>
          <p:cNvPr id="33" name="Shape 30"/>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4" name="Text 31"/>
          <p:cNvSpPr txBox="1"/>
          <p:nvPr/>
        </p:nvSpPr>
        <p:spPr>
          <a:xfrm>
            <a:off x="8979408" y="4626864"/>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3–10: plural -in</a:t>
            </a:r>
            <a:endParaRPr lang="en-US" sz="1100" dirty="0"/>
          </a:p>
        </p:txBody>
      </p:sp>
      <p:sp>
        <p:nvSpPr>
          <p:cNvPr id="35" name="Text 32"/>
          <p:cNvSpPr txBox="1"/>
          <p:nvPr/>
        </p:nvSpPr>
        <p:spPr>
          <a:xfrm>
            <a:off x="4754880" y="4626864"/>
            <a:ext cx="40233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بَقِيتُ عَشَرَةَ أَيَّامٍ.</a:t>
            </a:r>
            <a:endParaRPr lang="ar-SA" sz="2200" dirty="0"/>
          </a:p>
        </p:txBody>
      </p:sp>
      <p:sp>
        <p:nvSpPr>
          <p:cNvPr id="36" name="Text 33"/>
          <p:cNvSpPr txBox="1"/>
          <p:nvPr/>
        </p:nvSpPr>
        <p:spPr>
          <a:xfrm>
            <a:off x="548640" y="4626864"/>
            <a:ext cx="40233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كَمْ يَوْمًا بَقِيتَ؟</a:t>
            </a:r>
            <a:endParaRPr lang="ar-SA" sz="2200" dirty="0"/>
          </a:p>
        </p:txBody>
      </p:sp>
      <p:sp>
        <p:nvSpPr>
          <p:cNvPr id="37" name="Text 3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Website: the question tests the kam structure; the answer uses ordinary number–noun rules (GM-NUM-01). Speaking strategy: give the number, then add a time, reason or comparison.</a:t>
            </a:r>
            <a:endParaRPr lang="en-US" sz="110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GM-INT-04 · Interrogatives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Interrogatives · GM-INT-04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“How many lessons?”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دُرُوسٍ؟</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الدَّرْسُ؟</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دَرْسًا؟</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“How many female teachers?”</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مُعَلِّمَةً؟</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مُعَلِّمَاتٍ؟</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الْمُعَلِّمَةَ؟</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“How many hours?”</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سَاعَاتٍ؟</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سَاعَةً؟</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السَّاعَةُ؟</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form after kam.</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قَلَمًا</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قَلَمً</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قَلَمٌ</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GM-INT-04 · Interrogatives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Interrogatives · GM-INT-04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“How many lessons?”</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كَمْ دُرُوسٍ؟</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كَمْ الدَّرْسُ؟</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كَمْ دَرْسًا؟</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Singular: darsan.</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“How many female teachers?”</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كَمْ مُعَلِّمَةً؟</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كَمْ مُعَلِّمَاتٍ؟</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كَمْ الْمُعَلِّمَةَ؟</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Singular feminine: muʿallimatan.</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“How many hours?”</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كَمْ سَاعَاتٍ؟</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كَمْ سَاعَةً؟</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كَمْ السَّاعَةُ؟</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Singular: sāʿatan.</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form after kam.</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قَلَمًا</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قَلَمً</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قَلَمٌ</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Regular qalam: qalaman with alif.</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GM-INT-04 · Interrogatives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write survey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Interrogatives · GM-INT-04</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Category</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طَالِبٌ</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What are we counting?</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Singular</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طَالِبًا</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One form — not ṭullāb.</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Feminine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طَالِبَةً</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No extra alif.</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Frequency</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مَرَّةً</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How many times?</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KAM</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SINGULAR -AN</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كَمْ</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طَالِبًا</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يَمْشِي إِلَى الْمَدْرَسَةِ؟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كَمْ</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طَالِبَةً</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تَرْكَبُ الْحَافِلَةَ؟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كَمْ</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مَرَّةً</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يُمَارِسُونَ الرِّيَاضَةَ فِي الْأُسْبُوعِ؟ — يَمْشِي اثْنَا عَشَرَ طَالِبًا، وَتَرْكَبُ تِسْعُ طَالِبَاتٍ الْحَافِلَةَ، وَيُمَارِسُونَ الرِّيَاضَةَ ثَلَاثَ مَرَّاتٍ.</a:t>
            </a:r>
            <a:endParaRPr lang="ar-SA" sz="14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How many students walk to school? How many girls take the bus? How many times a week do they do sport? — Twelve students walk, nine girls take the bus, and they do sport three times.</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GM-INT-04 · Interrogatives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Interrogatives · GM-INT-04</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كَمْ وَلَدًا فِي الصَّفِّ؟</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How many boys are in the class?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Singular -an.</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كَمْ سَيَّارَةً رَأَيْتَ؟</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How many cars did you see?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No extra alif.</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كَمْ كِتَابًا جَدِيدًا اشْتَرَيْتِ؟</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How many new books did you buy? (to a girl)</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Adjective -an too.</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كَمْ مَرَّةً تَتَدَرَّبُ فِي الْأُسْبُوعِ؟</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How many times a week do you train?</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Frequency.</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GM-INT-04 · Interrogatives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MEANING → KAM QUESTION (WEBSITE GAME)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One noun, singular, -an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اِسْأَلْ بِكَمْ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Interrogatives · GM-INT-04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577072" y="1810512"/>
            <a:ext cx="3081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Check</a:t>
            </a:r>
            <a:endParaRPr lang="en-US" sz="1100" dirty="0"/>
          </a:p>
        </p:txBody>
      </p:sp>
      <p:sp>
        <p:nvSpPr>
          <p:cNvPr id="17" name="Text 14"/>
          <p:cNvSpPr txBox="1"/>
          <p:nvPr/>
        </p:nvSpPr>
        <p:spPr>
          <a:xfrm>
            <a:off x="40050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Arabic</a:t>
            </a:r>
            <a:endParaRPr lang="en-US" sz="1100" dirty="0"/>
          </a:p>
        </p:txBody>
      </p:sp>
      <p:sp>
        <p:nvSpPr>
          <p:cNvPr id="18" name="Text 15"/>
          <p:cNvSpPr txBox="1"/>
          <p:nvPr/>
        </p:nvSpPr>
        <p:spPr>
          <a:xfrm>
            <a:off x="530352" y="1810512"/>
            <a:ext cx="3328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613648" y="2267712"/>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alif added</a:t>
            </a:r>
            <a:endParaRPr lang="en-US" sz="1100" dirty="0"/>
          </a:p>
        </p:txBody>
      </p:sp>
      <p:sp>
        <p:nvSpPr>
          <p:cNvPr id="21" name="Text 18"/>
          <p:cNvSpPr txBox="1"/>
          <p:nvPr/>
        </p:nvSpPr>
        <p:spPr>
          <a:xfrm>
            <a:off x="4023360" y="2267712"/>
            <a:ext cx="4389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كَمْ كِتَابًا؟</a:t>
            </a:r>
            <a:endParaRPr lang="ar-SA" sz="2400" dirty="0"/>
          </a:p>
        </p:txBody>
      </p:sp>
      <p:sp>
        <p:nvSpPr>
          <p:cNvPr id="22" name="Text 19"/>
          <p:cNvSpPr txBox="1"/>
          <p:nvPr/>
        </p:nvSpPr>
        <p:spPr>
          <a:xfrm>
            <a:off x="566928" y="2267712"/>
            <a:ext cx="3291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How many books?</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613648" y="2881884"/>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singular, not banāt</a:t>
            </a:r>
            <a:endParaRPr lang="en-US" sz="1100" dirty="0"/>
          </a:p>
        </p:txBody>
      </p:sp>
      <p:sp>
        <p:nvSpPr>
          <p:cNvPr id="27" name="Text 24"/>
          <p:cNvSpPr txBox="1"/>
          <p:nvPr/>
        </p:nvSpPr>
        <p:spPr>
          <a:xfrm>
            <a:off x="4023360" y="2881884"/>
            <a:ext cx="4389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كَمْ بِنْتًا؟</a:t>
            </a:r>
            <a:endParaRPr lang="ar-SA" sz="2400" dirty="0"/>
          </a:p>
        </p:txBody>
      </p:sp>
      <p:sp>
        <p:nvSpPr>
          <p:cNvPr id="28" name="Text 25"/>
          <p:cNvSpPr txBox="1"/>
          <p:nvPr/>
        </p:nvSpPr>
        <p:spPr>
          <a:xfrm>
            <a:off x="566928" y="2881884"/>
            <a:ext cx="3291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How many girls?</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613648" y="3496056"/>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no extra alif</a:t>
            </a:r>
            <a:endParaRPr lang="en-US" sz="1100" dirty="0"/>
          </a:p>
        </p:txBody>
      </p:sp>
      <p:sp>
        <p:nvSpPr>
          <p:cNvPr id="33" name="Text 30"/>
          <p:cNvSpPr txBox="1"/>
          <p:nvPr/>
        </p:nvSpPr>
        <p:spPr>
          <a:xfrm>
            <a:off x="4023360" y="3496056"/>
            <a:ext cx="4389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كَمْ سَيَّارَةً؟</a:t>
            </a:r>
            <a:endParaRPr lang="ar-SA" sz="2400" dirty="0"/>
          </a:p>
        </p:txBody>
      </p:sp>
      <p:sp>
        <p:nvSpPr>
          <p:cNvPr id="34" name="Text 31"/>
          <p:cNvSpPr txBox="1"/>
          <p:nvPr/>
        </p:nvSpPr>
        <p:spPr>
          <a:xfrm>
            <a:off x="566928" y="3496056"/>
            <a:ext cx="3291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How many cars?</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613648" y="4110228"/>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singular, not ayyām</a:t>
            </a:r>
            <a:endParaRPr lang="en-US" sz="1100" dirty="0"/>
          </a:p>
        </p:txBody>
      </p:sp>
      <p:sp>
        <p:nvSpPr>
          <p:cNvPr id="39" name="Text 36"/>
          <p:cNvSpPr txBox="1"/>
          <p:nvPr/>
        </p:nvSpPr>
        <p:spPr>
          <a:xfrm>
            <a:off x="4023360" y="4110228"/>
            <a:ext cx="4389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كَمْ يَوْمًا؟</a:t>
            </a:r>
            <a:endParaRPr lang="ar-SA" sz="2400" dirty="0"/>
          </a:p>
        </p:txBody>
      </p:sp>
      <p:sp>
        <p:nvSpPr>
          <p:cNvPr id="40" name="Text 37"/>
          <p:cNvSpPr txBox="1"/>
          <p:nvPr/>
        </p:nvSpPr>
        <p:spPr>
          <a:xfrm>
            <a:off x="566928" y="4110228"/>
            <a:ext cx="3291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How many days?</a:t>
            </a:r>
            <a:endParaRPr lang="en-US" sz="11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8613648" y="4724400"/>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adjective -an</a:t>
            </a:r>
            <a:endParaRPr lang="en-US" sz="1100" dirty="0"/>
          </a:p>
        </p:txBody>
      </p:sp>
      <p:sp>
        <p:nvSpPr>
          <p:cNvPr id="43" name="Text 40"/>
          <p:cNvSpPr txBox="1"/>
          <p:nvPr/>
        </p:nvSpPr>
        <p:spPr>
          <a:xfrm>
            <a:off x="4023360" y="4724400"/>
            <a:ext cx="4389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كَمْ كِتَابًا جَدِيدًا؟</a:t>
            </a:r>
            <a:endParaRPr lang="ar-SA" sz="2400" dirty="0"/>
          </a:p>
        </p:txBody>
      </p:sp>
      <p:sp>
        <p:nvSpPr>
          <p:cNvPr id="44" name="Text 41"/>
          <p:cNvSpPr txBox="1"/>
          <p:nvPr/>
        </p:nvSpPr>
        <p:spPr>
          <a:xfrm>
            <a:off x="566928" y="4724400"/>
            <a:ext cx="3291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How many new books?</a:t>
            </a:r>
            <a:endParaRPr lang="en-US" sz="11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8613648" y="5338572"/>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both -atan</a:t>
            </a:r>
            <a:endParaRPr lang="en-US" sz="1100" dirty="0"/>
          </a:p>
        </p:txBody>
      </p:sp>
      <p:sp>
        <p:nvSpPr>
          <p:cNvPr id="47" name="Text 44"/>
          <p:cNvSpPr txBox="1"/>
          <p:nvPr/>
        </p:nvSpPr>
        <p:spPr>
          <a:xfrm>
            <a:off x="4023360" y="5338572"/>
            <a:ext cx="4389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كَمْ مَدْرَسَةً كَبِيرَةً؟</a:t>
            </a:r>
            <a:endParaRPr lang="ar-SA" sz="2400" dirty="0"/>
          </a:p>
        </p:txBody>
      </p:sp>
      <p:sp>
        <p:nvSpPr>
          <p:cNvPr id="48" name="Text 45"/>
          <p:cNvSpPr txBox="1"/>
          <p:nvPr/>
        </p:nvSpPr>
        <p:spPr>
          <a:xfrm>
            <a:off x="566928" y="5338572"/>
            <a:ext cx="3291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How many large schools?</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proofreading sequence: singular → indefinite → -an spelling → adjective agreement.</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GM-INT-04 · Interrogatives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 IT · WEBSITE REPAIR GAME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Correct, or needs repair?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صَحِيحٌ أَمْ يَحْتَاجُ إِلَى تَصْحِيحٍ؟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Interrogatives · GM-INT-04</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كَمْ كِتَابًا؟</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كَمْ سَيَّارَةً؟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كَمْ يَوْمًا؟</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كَمْ عُمْرُكَ؟</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كَمْ كُتُبٍ؟</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كَمْ سَيَّارَةًا؟</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كَمْ أَيَّامٍ؟</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كَمْ الْوَلَدُ؟</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Correct</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Needs repair</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GM-INT-04 · Interrogatives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Interrogatives · GM-INT-04</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Correct</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كَمْ كِتَابًا؟</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كَمْ سَيَّارَةً؟</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كَمْ يَوْمًا؟</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كَمْ عُمْرُكَ؟</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Needs repair</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كَمْ كُتُبٍ؟</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كَمْ سَيَّارَةًا؟</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كَمْ أَيَّامٍ؟</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كَمْ الْوَلَدُ؟</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GM-INT-04 · Interrogatives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Interrogatives · GM-INT-04</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كَمْ طُلَّابٍ فِي الصَّفِّ؟</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Plural after kam?</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كَمْ مَدْرَسَةًا فِي الْمَدِينَةِ؟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Alif after tāʾ marbūṭa?</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قَرَأْتُ كَمْ كِتَابًا.</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Does the answer repeat kam?</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GM-INT-04 · Interrogatives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Interrogatives · GM-INT-04</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كَمْ طُلَّابٍ فِي الصَّفِّ؟</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كَمْ طَالِبًا فِي الصَّفِّ؟</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Singular -an after kam (website repair lab).</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كَمْ مَدْرَسَةًا فِي الْمَدِينَةِ؟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كَمْ مَدْرَسَةً فِي الْمَدِينَةِ؟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No extra alif after tāʾ marbūṭa (website repair lab).</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قَرَأْتُ كَمْ كِتَابًا.</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قَرَأْتُ ثَلَاثَةَ كُتُبٍ.</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answer uses a normal number (website note).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GM-INT-04 · Interrogatives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GUIDED PRACTICE · WEBSITE MINI-CHECK: SPELLING AND REPAIR LAB</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Interrogatives · GM-INT-04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feminine form after kam.</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حَقِيبَةًا</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حَقَائِبٍ</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حَقِيبَةً</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spelling of “water” (-an).</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مَاءًا</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مَاءً</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مَاءٌ</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kam question is fully accurate?</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يَوْمً بَقِيَ؟</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يَوْمًا بَقِيَ؟</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أَيَّامٍ بَقِيَ؟</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Repair:</a:t>
            </a:r>
            <a:endParaRPr lang="en-US" sz="1200" dirty="0"/>
          </a:p>
        </p:txBody>
      </p:sp>
      <p:sp>
        <p:nvSpPr>
          <p:cNvPr id="60" name="Text 57"/>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كَمْ كِتَابًا مُفِيدٌ قَرَأْتَ؟</a:t>
            </a:r>
            <a:endParaRPr lang="ar-SA" sz="150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كُتُبٍ مُفِيدَةٍ قَرَأْتَ؟</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كِتَابٌ مُفِيدٌ قَرَأْتَ؟</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كِتَابًا مُفِيدًا قَرَأْتَ؟</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GM-INT-04 · Interrogatives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Interrogatives · GM-INT-04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feminine form after kam.</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حَقِيبَةًا</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حَقَائِبٍ</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حَقِيبَةً</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Ḥaqībatan: no extra alif.</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spelling of “water” (-an).</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مَاءًا</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مَاءً</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مَاءٌ</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Māʾan: no extra alif.</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kam question is fully accurate?</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كَمْ يَوْمً بَقِيَ؟</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كَمْ يَوْمًا بَقِيَ؟</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كَمْ أَيَّامٍ بَقِيَ؟</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Yawman: singular -an with alif.</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Repair:</a:t>
            </a:r>
            <a:endParaRPr lang="en-US" sz="1200" dirty="0"/>
          </a:p>
        </p:txBody>
      </p:sp>
      <p:sp>
        <p:nvSpPr>
          <p:cNvPr id="66" name="Text 63"/>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كَمْ كِتَابًا مُفِيدٌ قَرَأْتَ؟</a:t>
            </a:r>
            <a:endParaRPr lang="ar-SA" sz="150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كَمْ كُتُبٍ مُفِيدَةٍ قَرَأْتَ؟</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كَمْ كِتَابٌ مُفِيدٌ قَرَأْتَ؟</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كَمْ كِتَابًا مُفِيدًا قَرَأْتَ؟</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Adjective -an too: mufīdan.</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GM-INT-04 · Interrogatives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46" b="1" spc="150" kern="0" dirty="0">
                <a:solidFill>
                  <a:srgbClr val="1E6B52"/>
                </a:solidFill>
                <a:latin typeface="Calibri" pitchFamily="34" charset="0"/>
                <a:ea typeface="Calibri" pitchFamily="34" charset="-122"/>
                <a:cs typeface="Calibri" pitchFamily="34" charset="-120"/>
              </a:rPr>
              <a:t>YOU DO · READ AND NOTICE · WEBSITE READING: CLASS SURVEY (TEACHER-WRITTEN REPORT)</a:t>
            </a:r>
            <a:endParaRPr lang="en-US" sz="846"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class survey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Interrogatives · GM-INT-04</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أَجْرَيْنَا اسْتِبْيَانًا فِي صَفِّنَا. سَأَلْنَا: كَمْ أَخًا وَأُخْتًا عِنْدَكَ؟ كَمْ كِتَابًا تَقْرَأُ فِي الشَّهْرِ؟ كَمْ سَاعَةً تَقْضِي أَمَامَ الشَّاشَةِ يَوْمِيًّا؟ وَجَدْنَا أَنَّ أَغْلَبَ الطُّلَّابِ عِنْدَهُمْ أَخَوَانِ أَوْ ثَلَاثَةُ إِخْوَةٍ. يَقْرَأُ الطَّالِبُ كِتَابَيْنِ فِي الشَّهْرِ تَقْرِيبًا، وَلَكِنَّهُ يَقْضِي أَرْبَعَ سَاعَاتٍ أَمَامَ الشَّاشَةِ كُلَّ يَوْمٍ! سَأَلْنَا أَيْضًا: كَمْ مَرَّةً تُمَارِسُ الرِّيَاضَةَ؟ فَكَانَ الْجَوَابُ: مَرَّتَيْنِ فِي الْأُسْبُوعِ فَقَطْ.</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اسْتِبْيَانًا</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survey</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الشَّاشَةِ</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screen</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يَوْمِيًّا</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daily</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أَغْلَبَ</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most</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تَقْرِيبًا</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about / roughly</a:t>
            </a:r>
            <a:endParaRPr lang="en-US" sz="105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GM-INT-04 · Interrogatives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Interrogatives · GM-INT-04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books does a student read per month?</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four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about two</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ten</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hours a day in front of a screen?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three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four</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kam sāʿatan, not kam sāʿātin?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after kam: singular -an</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only one hour</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a mistake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often do they do sport?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every day</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twice a week</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three times a week</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GM-INT-04 · Interrogatives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Interrogatives · GM-INT-04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books does a student read per month?</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four</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about two</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ten</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Kitābayni fī sh-shahri taqrīban.</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hours a day in front of a screen?</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two</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three</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four</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Arbaʿa sāʿātin.</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kam sāʿatan, not kam sāʿātin?</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after kam: singular -an</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only one hour</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a mistake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kam rule.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often do they do sport?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every day</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twice a week</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three times a week</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Marratayni fī l-usbūʿi faqaṭ.</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GM-INT-04 · Interrogatives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the class questionnaire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Interrogatives · GM-INT-04</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كَمْ أَخًا عِنْدَكَ؟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كَمْ سَاعَةً تَدْرُسُ كُلَّ يَوْمٍ؟</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كَمْ مَرَّةً سَافَرْتَ هَذِهِ السَّنَةَ؟ وَإِلَى أَيْنَ؟</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عِنْدِي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أَدْرُسُ ___ كُلَّ يَوْمٍ، لِأَنَّ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سَافَرْتُ ___ : إِلَى ___ وَ___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كَمْ عُمْرُكِ؟ وَكَمْ أُخْتًا عِنْدَكِ؟</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How old are you? And how many sisters do you have? (to a girl)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عُمْرِي أَرْبَعَةَ عَشَرَ عَامًا، وَعِنْدِي أُخْتَانِ وَأَخٌ وَاحِدٌ.</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I am fourteen, and I have two sisters and one brother.</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GM-INT-04 · Interrogatives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Interrogatives · GM-INT-04</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questions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kam questions about your class and family.</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kam ṭāliban? kam akhan?</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 questions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feminine nouns, an adjective, frequency and duration.</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kam marratan? kam yawman?</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8 questions + report</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Website survey with a results report.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Answers in normal number grammar.</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GM-INT-04 · Interrogatives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Interrogatives · GM-INT-04</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كَمْ سَاعَةً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How many hours do you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كَمْ مَرَّةً ______ فِي الْأُسْبُوعِ؟</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How many times a week do you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كَمْ ______ جَدِيدًا اشْتَرَيْتَ؟</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How many new … did you buy?</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كَمْ يَوْمًا بَقِيتَ فِي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How many days did you stay in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كَمْ ______ فِي صَفِّكَ؟</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How many … are in your class?</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كَمْ ______ عِنْدَكَ؟</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How many … do you have?</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كَمْ عُمْرُ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How old is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بِكَمْ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How much is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كَمْ  ·  طَالِبًا  ·  طَالِبَةً  ·  كِتَابًا  ·  سَاعَةً  ·  مَرَّةً  ·  يَوْمًا  ·  أَخًا  ·  أُخْتًا  ·  كُوبًا  ·  جَدِيدًا  ·  بِكَمْ  ·  عُمْرُكَ</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GM-INT-04 · Interrogatives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Interrogatives · GM-INT-04</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Website class or family survey: eight kam questions, answers and a short comparison report.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Eight singular -an counted nouns.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Two feminine nouns and two adjectives.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duration and one frequency question.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fixed age or price question.</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Answers in normal number grammar.</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أَجْرَيْنَا اسْتِبْيَانًا</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we carried out a survey</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النَّتَائِجُ</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results</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أَغْلَبُ</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most</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تَقْرِيبًا</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about</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يَوْمِيًّا</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daily</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فَقَطْ</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only</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GM-INT-04 · Interrogatives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Interrogatives · GM-INT-04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أَسْئِلَةُ الِاسْتِبْيَانِ: كَمْ شَخْصًا فِي أُسْرَتِكَ؟ كَمْ غُرْفَةً فِي بَيْتِكُمْ؟ كَمْ كِتَابًا قَرَأْتَ هَذَا الشَّهْرَ؟ كَمْ سَاعَةً تَنَامُ كُلَّ لَيْلَةٍ؟ كَمْ مَرَّةً تَأْكُلُ الْخُضَارَ فِي الْأُسْبُوعِ؟ كَمْ كُوبًا مِنَ الْمَاءِ تَشْرَبُ يَوْمِيًّا؟ كَمْ عُمْرُ أَكْبَرِ شَخْصٍ فِي أُسْرَتِكَ؟ بِكَمِ اشْتَرَيْتَ آخِرَ كِتَابٍ؟ — النَّتَائِجُ: فِي أُسْرَةِ أَغْلَبِ الطُّلَّابِ خَمْسَةُ أَشْخَاصٍ، وَفِي بُيُوتِهِمْ أَرْبَعُ غُرَفٍ. قَرَأَ الطُّلَّابُ كِتَابًا وَاحِدًا هَذَا الشَّهْرَ، وَيَنَامُونَ ثَمَانِيَ سَاعَاتٍ تَقْرِيبًا. يَأْكُلُونَ الْخُضَارَ خَمْسَ مَرَّاتٍ فِي الْأُسْبُوعِ، وَيَشْرَبُونَ سِتَّةَ أَكْوَابٍ مِنَ الْمَاءِ. أَكْبَرُ شَخْصٍ فِي أَغْلَبِ الْأُسَرِ هُوَ الْجَدُّ أَوِ الْجَدَّةُ.</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Survey questions: How many people are in your family? How many rooms are in your house? How many books did you read this month? How many hours do you sleep each night? How many times a week do you eat vegetables? How many glasses of water do you drink a day? How old is the oldest person in your family? How much did you pay for your last book? — Results: most students’ families have five people, and their houses have four rooms. The students read one book this month, and they sleep about eight hours. They eat vegetables five times a week and drink six glasses of water. The oldest person in most families is the grandfather or grandmother.</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kam + singular -an</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kam marratan (frequency)</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fixed question (kam ʿumru / bi-kam)</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answer in normal number grammar</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36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GM-INT-04 · Interrogatives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Interrogatives · GM-INT-04</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After kam I wrote ONE singular noun.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The noun ends in -an and has no al-.</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No extra alif after tāʾ marbūṭa or hamza.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adjectives after kam end in -an too.</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answers use normal number grammar, not the kam form.</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36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GM-INT-04 · Interrogatives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Interrogatives · GM-INT-04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“How many schools?”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مَدْرَسَةً؟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مَدَارِسَ؟</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مَدْرَسَةًا؟</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frequency question.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مَرَّاتٍ تَذْهَبُ؟</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مَرَّةً تَذْهَبُ؟</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الْمَرَّةَ تَذْهَبُ؟</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natural question about water.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كُوبًا مِنَ الْمَاءِ شَرِبْتَ؟</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مِيَاهٍ شَرِبْتَ؟</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الْمَاءَ شَرِبْتَ؟</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36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GM-INT-04 · Interrogatives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Interrogatives · GM-INT-04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“How many schools?”</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كَمْ مَدْرَسَةً؟</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كَمْ مَدَارِسَ؟</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كَمْ مَدْرَسَةًا؟</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Madrasatan, no extra alif.</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frequency question.</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كَمْ مَرَّاتٍ تَذْهَبُ؟</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كَمْ مَرَّةً تَذْهَبُ؟</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كَمْ الْمَرَّةَ تَذْهَبُ؟</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Kam marratan?</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natural question about water.</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كَمْ كُوبًا مِنَ الْمَاءِ شَرِبْتَ؟</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كَمْ مِيَاهٍ شَرِبْتَ؟</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كَمْ الْمَاءَ شَرِبْتَ؟</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Count cups: kam kūban.</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36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GM-INT-04 · Interrogatives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P1-L01: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Interrogatives · GM-INT-04</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P1-L01 · Diet and Nutrition</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بُرُوتِينٌ</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protein</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كَرْبُوهِيدْرَاتٌ</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carbohydrates</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دُهُونٌ</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fats</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أَلْيَافٌ</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fibre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يَحْتَوِي عَلَى</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contains</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Next we move on to Progression P1: Diet and Nutrition. What do you think eggs contain?</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يَحْتَوِي الْبَيْضُ عَلَى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five kam questions about your home and family.</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eight kam questions with two adjectives and one frequency question.</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survey with a results report.</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36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GM-INT-04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P1-L01 · Diet and Nutrition</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الْغِذَاءُ وَالتَّغْذِيَةُ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kam + ONE singular noun in -an (kam kitāban? kam sayyāratan?) · no plural, no al- · alif on regular nouns, none after tāʾ marbūṭa or hamza · adjectives -an too · kam ʿumruka? and bi-kam? are fixed · the answer uses a normal number.</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GM-INT-04 · How Many? The Kam Rule</dc:title>
  <dc:subject>PptxGenJS Presentation</dc:subject>
  <dc:creator>Al Madina Online School · Arabic Department</dc:creator>
  <cp:lastModifiedBy>Al Madina Online School · Arabic Department</cp:lastModifiedBy>
  <cp:revision>1</cp:revision>
  <dcterms:created xsi:type="dcterms:W3CDTF">2026-10-10T05:17:27Z</dcterms:created>
  <dcterms:modified xsi:type="dcterms:W3CDTF">2026-10-10T05:17:27Z</dcterms:modified>
</cp:coreProperties>
</file>