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Interrogatives › GM-INT-04 (“How Many? The كَمْ Rule”).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kam + singular indefinite accusative noun (kam waladan? kam sāʿatan? kam marratan?). Develop: tanwīn fatḥ spelling (kitāban with alif; sayyāratan and māʾan without), matching adjectives (kam kitāban jadīdan?), fixed questions kam ʿumruka? and kam thamanu hādhā? / bi-kam? Stretch: kam across tenses, survey questions, and answering with ordinary number grammar.
• Website memory phrase: the number is unknown, so the category noun appears ONCE — in the singular — after kam. Do not copy the kam form into the answer.
• Colour code: teal = kam, pink = counted noun. Final Grammar Mastery deck: recycles GM-NUM-01 to 04 (numbers, age, money), GM-CASE-02 (-an spelling) and GM-INT-01 to 03.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Starter — GM-CASE-02 -an spelling and GM-NUM-01 number phrases.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kam + ONE singular noun in -an (+ adjective in -an). The answer uses a normal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core formula”. Column 3 is the website’s own “not this” column. Choral: kam ṭāliban? kam bintan?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“Tanwīn fatḥ spelling”. Recycles GM-CASE-02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“Add adjectives and other modifiers” (rows 3–4 from the website game and teacher).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“High-frequency kam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“Answering kam questions” (rows 3–4 teacher-added from GM-NUM-01).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mini-checks: singular accusative and spelling.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class survey” questions with teacher answers. Point out: the answers use normal number grammar (tisʿu ṭālibātin, thalātha marrātin).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 then a partner answers each question with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repair card students say the correct form and which check failed (plural, extra alif,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repair card students say the correct form and which check failed (plural, extra alif,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spelling and Repair lab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class survey (teacher-written report). Read it aloud once while students follow; then they hunt for today’s grammar.
Task: Website: identify the category, tense and counted noun in each kam question. Then check the answers use normal number grammar.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report built on the website class-survey questions;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questionnaire. Sequence: ● 10s think → ↔ 45s rehearse aloud with mic muted → ◎ two named students on open mic (warned in advance) → + ? the class types one follow-up in chat → ↺ one student summarises.
Routes: Core uses the Core prompt and stem; Develop the Develop prompt; Stretch the last prompt.
Website: ask about books, siblings, school subjects, weekly activities, journeys and screen time. Extend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eight kam questions, collect or invent answers, then write a short report comparing the results.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survey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(P1-L01 · Diet and Nutrition) will spend class time USING this language, so students prepare it tonight — short, simple, easy to access (school guidance: “Simple, Short, Interesting, Relevant, Easy to access”). The five words prepare P1-L01 (Progression: Diet and Nutrition).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INTERROGATIVES  ·  GM-INT-04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GM-INT-04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How Many? The Kam Rule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كَمْ وَالْمُفْرَدُ الْمَنْصُوبُ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How many? = kam + ONE singular noun ending in -an: kam kitāban? (how many books?), kam sayyāratan? (how many cars?). Never a plural after kam. The answer then uses a normal number: qaraʾtu thalāthata kutubin.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GM-INT-04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Interrogatives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formula; spelling; adjectives; frequent questions; answers.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Meaning → question; correct or repair?;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many boys?”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أَوْلَادٌ؟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وَلَدًا؟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الْوَلَدَ؟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many cars?”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سَيَّارَةً؟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سَيَّارَاتٍ؟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السَّيَّارَةُ؟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spelled correctly with the supporting alif?</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feminine form is correct?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noun + adjective pair after kam.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كِتَابًا مُفِيدًا؟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كِتَابًا مُفِيدٌ؟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كُتُبٍ مُفِيدَةٍ؟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many boys?”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أَوْلَادٌ؟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وَلَدًا؟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الْوَلَدَ؟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-an: waladan.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many cars?”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سَيَّارَةً؟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سَيَّارَاتٍ؟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السَّيَّارَةُ؟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sayyāratan.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spelled correctly with the supporting alif?</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Kitāban: alif added.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feminine form is correct?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مَدْرَسَةًا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extra alif after tāʾ marbūṭa.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noun + adjective pair after kam.</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كِتَابًا مُفِيدًا؟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كِتَابًا مُفِيدٌ؟</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كُتُبٍ مُفِيدَةٍ؟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singular -an.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kam + ONE singular noun in -an (+ adjective in -an). The answer uses a normal number.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كَمْ</a:t>
            </a:r>
            <a:pPr rtl="1" algn="ctr" indent="0" marL="0">
              <a:lnSpc>
                <a:spcPct val="120000"/>
              </a:lnSpc>
              <a:buNone/>
            </a:pPr>
            <a:r>
              <a:rPr lang="ar-SA" altLang="en-US" sz="2000" b="1" dirty="0">
                <a:solidFill>
                  <a:srgbClr val="1B3B6F"/>
                </a:solidFill>
                <a:latin typeface="Amiri" pitchFamily="2" charset="-78"/>
                <a:cs typeface="Amiri" pitchFamily="2" charset="-78"/>
              </a:rPr>
              <a:t> </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كِتَابًا</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قَرَأْتَ؟ ‖ قَرَأْتُ ثَلَاثَةَ كُتُبٍ.</a:t>
            </a:r>
            <a:endParaRPr lang="ar-SA" sz="20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“how many?” with kam + singular -an.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Spell -an with and without alif.</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 a matching adjective.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with a normal number phrase.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kam kitāban? and kam marratan?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never put a plural after kam.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spell sayyāratan and māʾan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ask kam ʿumruka? and bi-kam?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answer with ordinary number grammar.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and report an eight-question survey.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many? / how much?</a:t>
            </a:r>
            <a:endParaRPr lang="en-US" sz="1350" dirty="0"/>
          </a:p>
          <a:p>
            <a:pPr indent="0" marL="0">
              <a:buNone/>
            </a:pPr>
            <a:r>
              <a:rPr lang="en-US" sz="1100" i="1" dirty="0">
                <a:solidFill>
                  <a:srgbClr val="5A6472"/>
                </a:solidFill>
                <a:latin typeface="Calibri" pitchFamily="34" charset="0"/>
                <a:cs typeface="Amiri" pitchFamily="2" charset="-78"/>
              </a:rPr>
              <a:t>kam</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كَمْ كِتَابًا؟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الْمَعْدُودُ</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counted noun</a:t>
            </a:r>
            <a:endParaRPr lang="en-US" sz="1350" dirty="0"/>
          </a:p>
          <a:p>
            <a:pPr indent="0" marL="0">
              <a:buNone/>
            </a:pPr>
            <a:r>
              <a:rPr lang="en-US" sz="1100" i="1" dirty="0">
                <a:solidFill>
                  <a:srgbClr val="5A6472"/>
                </a:solidFill>
                <a:latin typeface="Calibri" pitchFamily="34" charset="0"/>
                <a:cs typeface="Amiri" pitchFamily="2" charset="-78"/>
              </a:rPr>
              <a:t>al-maʿ-dū-du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كِتَابًا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مُفْرَدٌ مَنْصُوبٌ</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singular, accusative (-an)</a:t>
            </a:r>
            <a:endParaRPr lang="en-US" sz="1350" dirty="0"/>
          </a:p>
          <a:p>
            <a:pPr indent="0" marL="0">
              <a:buNone/>
            </a:pPr>
            <a:r>
              <a:rPr lang="en-US" sz="1100" i="1" dirty="0">
                <a:solidFill>
                  <a:srgbClr val="5A6472"/>
                </a:solidFill>
                <a:latin typeface="Calibri" pitchFamily="34" charset="0"/>
                <a:cs typeface="Amiri" pitchFamily="2" charset="-78"/>
              </a:rPr>
              <a:t>muf-ra-dun man-ṣū-bun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سَيَّارَةً</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تَنْوِينُ الْفَتْحِ</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ending (with or without alif)</a:t>
            </a:r>
            <a:endParaRPr lang="en-US" sz="1350" dirty="0"/>
          </a:p>
          <a:p>
            <a:pPr indent="0" marL="0">
              <a:buNone/>
            </a:pPr>
            <a:r>
              <a:rPr lang="en-US" sz="1100" i="1" dirty="0">
                <a:solidFill>
                  <a:srgbClr val="5A6472"/>
                </a:solidFill>
                <a:latin typeface="Calibri" pitchFamily="34" charset="0"/>
                <a:cs typeface="Amiri" pitchFamily="2" charset="-78"/>
              </a:rPr>
              <a:t>tan-wī-nu al-fat-ḥi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قَلَمًا · مَرَّةً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مَرَّةً؟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many times? (frequency)</a:t>
            </a:r>
            <a:endParaRPr lang="en-US" sz="1350" dirty="0"/>
          </a:p>
          <a:p>
            <a:pPr indent="0" marL="0">
              <a:buNone/>
            </a:pPr>
            <a:r>
              <a:rPr lang="en-US" sz="1100" i="1" dirty="0">
                <a:solidFill>
                  <a:srgbClr val="5A6472"/>
                </a:solidFill>
                <a:latin typeface="Calibri" pitchFamily="34" charset="0"/>
                <a:cs typeface="Amiri" pitchFamily="2" charset="-78"/>
              </a:rPr>
              <a:t>kam mar-ra-tan?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كَمْ مَرَّةً تَتَدَرَّبُ؟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بِكَمْ؟</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(price)</a:t>
            </a:r>
            <a:endParaRPr lang="en-US" sz="1350" dirty="0"/>
          </a:p>
          <a:p>
            <a:pPr indent="0" marL="0">
              <a:buNone/>
            </a:pPr>
            <a:r>
              <a:rPr lang="en-US" sz="1100" i="1" dirty="0">
                <a:solidFill>
                  <a:srgbClr val="5A6472"/>
                </a:solidFill>
                <a:latin typeface="Calibri" pitchFamily="34" charset="0"/>
                <a:cs typeface="Amiri" pitchFamily="2" charset="-78"/>
              </a:rPr>
              <a:t>bi-kam?</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بِكَمْ هَذَا؟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CORE FORMULA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kam + ONE singular noun in -an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 اسْمٌ مُفْرَدٌ نَكِرَةٌ 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 this</a:t>
            </a:r>
            <a:endParaRPr lang="en-US" sz="1100" dirty="0"/>
          </a:p>
        </p:txBody>
      </p:sp>
      <p:sp>
        <p:nvSpPr>
          <p:cNvPr id="17" name="Text 14"/>
          <p:cNvSpPr txBox="1"/>
          <p:nvPr/>
        </p:nvSpPr>
        <p:spPr>
          <a:xfrm>
            <a:off x="382219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80960" y="2267712"/>
            <a:ext cx="395935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طُلَّابٍ؟</a:t>
            </a:r>
            <a:endParaRPr lang="ar-SA" sz="2400" dirty="0"/>
          </a:p>
        </p:txBody>
      </p:sp>
      <p:sp>
        <p:nvSpPr>
          <p:cNvPr id="21" name="Text 18"/>
          <p:cNvSpPr txBox="1"/>
          <p:nvPr/>
        </p:nvSpPr>
        <p:spPr>
          <a:xfrm>
            <a:off x="3840480" y="226771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كَمْ طَالِبًا؟</a:t>
            </a:r>
            <a:endParaRPr lang="ar-SA" sz="26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students?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80960" y="2881884"/>
            <a:ext cx="395935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بَنَاتٍ؟</a:t>
            </a:r>
            <a:endParaRPr lang="ar-SA" sz="2400" dirty="0"/>
          </a:p>
        </p:txBody>
      </p:sp>
      <p:sp>
        <p:nvSpPr>
          <p:cNvPr id="27" name="Text 24"/>
          <p:cNvSpPr txBox="1"/>
          <p:nvPr/>
        </p:nvSpPr>
        <p:spPr>
          <a:xfrm>
            <a:off x="3840480" y="2881884"/>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كَمْ بِنْتًا؟</a:t>
            </a:r>
            <a:endParaRPr lang="ar-SA" sz="26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girls?</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80960" y="3496056"/>
            <a:ext cx="395935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مَدَارِسَ؟</a:t>
            </a:r>
            <a:endParaRPr lang="ar-SA" sz="2400" dirty="0"/>
          </a:p>
        </p:txBody>
      </p:sp>
      <p:sp>
        <p:nvSpPr>
          <p:cNvPr id="33" name="Text 30"/>
          <p:cNvSpPr txBox="1"/>
          <p:nvPr/>
        </p:nvSpPr>
        <p:spPr>
          <a:xfrm>
            <a:off x="3840480" y="3496056"/>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كَمْ مَدْرَسَةً؟</a:t>
            </a:r>
            <a:endParaRPr lang="ar-SA" sz="26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schools?</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680960" y="4110228"/>
            <a:ext cx="395935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أَيَّامٍ؟</a:t>
            </a:r>
            <a:endParaRPr lang="ar-SA" sz="2400" dirty="0"/>
          </a:p>
        </p:txBody>
      </p:sp>
      <p:sp>
        <p:nvSpPr>
          <p:cNvPr id="39" name="Text 36"/>
          <p:cNvSpPr txBox="1"/>
          <p:nvPr/>
        </p:nvSpPr>
        <p:spPr>
          <a:xfrm>
            <a:off x="3840480" y="4110228"/>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كَمْ يَوْمًا؟</a:t>
            </a:r>
            <a:endParaRPr lang="ar-SA" sz="2600" dirty="0"/>
          </a:p>
        </p:txBody>
      </p:sp>
      <p:sp>
        <p:nvSpPr>
          <p:cNvPr id="40" name="Text 37"/>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days?</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680960" y="4724400"/>
            <a:ext cx="395935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مَرَّاتٍ؟</a:t>
            </a:r>
            <a:endParaRPr lang="ar-SA" sz="2400" dirty="0"/>
          </a:p>
        </p:txBody>
      </p:sp>
      <p:sp>
        <p:nvSpPr>
          <p:cNvPr id="43" name="Text 40"/>
          <p:cNvSpPr txBox="1"/>
          <p:nvPr/>
        </p:nvSpPr>
        <p:spPr>
          <a:xfrm>
            <a:off x="3840480" y="4724400"/>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كَمْ مَرَّةً؟</a:t>
            </a:r>
            <a:endParaRPr lang="ar-SA" sz="2600" dirty="0"/>
          </a:p>
        </p:txBody>
      </p:sp>
      <p:sp>
        <p:nvSpPr>
          <p:cNvPr id="44" name="Text 41"/>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times?</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680960" y="5338572"/>
            <a:ext cx="395935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دُرُوسٍ؟</a:t>
            </a:r>
            <a:endParaRPr lang="ar-SA" sz="2400" dirty="0"/>
          </a:p>
        </p:txBody>
      </p:sp>
      <p:sp>
        <p:nvSpPr>
          <p:cNvPr id="47" name="Text 44"/>
          <p:cNvSpPr txBox="1"/>
          <p:nvPr/>
        </p:nvSpPr>
        <p:spPr>
          <a:xfrm>
            <a:off x="3840480" y="5338572"/>
            <a:ext cx="36576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كَمْ دَرْسًا؟</a:t>
            </a:r>
            <a:endParaRPr lang="ar-SA" sz="2600" dirty="0"/>
          </a:p>
        </p:txBody>
      </p:sp>
      <p:sp>
        <p:nvSpPr>
          <p:cNvPr id="48" name="Text 45"/>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lessons?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memory phrase: the number is unknown, so the category noun appears ONCE — singular, indefinite (no al-) and accusative (-an). English says “how many books”; Arabic says “how many book”.</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TANWĪN FATḤ SPELLING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Alif or no alif?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كِتَابًا · سَيَّارَةً · مَاءً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Spelling</a:t>
            </a:r>
            <a:endParaRPr lang="en-US" sz="1100" dirty="0"/>
          </a:p>
        </p:txBody>
      </p:sp>
      <p:sp>
        <p:nvSpPr>
          <p:cNvPr id="17" name="Text 14"/>
          <p:cNvSpPr txBox="1"/>
          <p:nvPr/>
        </p:nvSpPr>
        <p:spPr>
          <a:xfrm>
            <a:off x="30906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kam</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784848" y="2267712"/>
            <a:ext cx="4873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 ending: add the alif</a:t>
            </a:r>
            <a:endParaRPr lang="en-US" sz="1100" dirty="0"/>
          </a:p>
        </p:txBody>
      </p:sp>
      <p:sp>
        <p:nvSpPr>
          <p:cNvPr id="21" name="Text 18"/>
          <p:cNvSpPr txBox="1"/>
          <p:nvPr/>
        </p:nvSpPr>
        <p:spPr>
          <a:xfrm>
            <a:off x="3108960" y="2267712"/>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كِتَابًا؟</a:t>
            </a:r>
            <a:endParaRPr lang="ar-SA" sz="2400" dirty="0"/>
          </a:p>
        </p:txBody>
      </p:sp>
      <p:sp>
        <p:nvSpPr>
          <p:cNvPr id="22" name="Text 19"/>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784848" y="2881884"/>
            <a:ext cx="4873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 ending: add the alif</a:t>
            </a:r>
            <a:endParaRPr lang="en-US" sz="1100" dirty="0"/>
          </a:p>
        </p:txBody>
      </p:sp>
      <p:sp>
        <p:nvSpPr>
          <p:cNvPr id="27" name="Text 24"/>
          <p:cNvSpPr txBox="1"/>
          <p:nvPr/>
        </p:nvSpPr>
        <p:spPr>
          <a:xfrm>
            <a:off x="3108960" y="2881884"/>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قَلَمًا؟</a:t>
            </a:r>
            <a:endParaRPr lang="ar-SA" sz="2400" dirty="0"/>
          </a:p>
        </p:txBody>
      </p:sp>
      <p:sp>
        <p:nvSpPr>
          <p:cNvPr id="28" name="Text 25"/>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قَلَمٌ</a:t>
            </a:r>
            <a:endParaRPr lang="ar-SA" sz="24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784848" y="3496056"/>
            <a:ext cx="4873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 ending: add the alif</a:t>
            </a:r>
            <a:endParaRPr lang="en-US" sz="1100" dirty="0"/>
          </a:p>
        </p:txBody>
      </p:sp>
      <p:sp>
        <p:nvSpPr>
          <p:cNvPr id="33" name="Text 30"/>
          <p:cNvSpPr txBox="1"/>
          <p:nvPr/>
        </p:nvSpPr>
        <p:spPr>
          <a:xfrm>
            <a:off x="3108960" y="3496056"/>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يَوْمًا؟</a:t>
            </a:r>
            <a:endParaRPr lang="ar-SA" sz="2400" dirty="0"/>
          </a:p>
        </p:txBody>
      </p:sp>
      <p:sp>
        <p:nvSpPr>
          <p:cNvPr id="34" name="Text 31"/>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يَوْمٌ</a:t>
            </a:r>
            <a:endParaRPr lang="ar-SA" sz="24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784848" y="4110228"/>
            <a:ext cx="4873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tāʾ marbūṭa: NO extra alif</a:t>
            </a:r>
            <a:endParaRPr lang="en-US" sz="1100" dirty="0"/>
          </a:p>
        </p:txBody>
      </p:sp>
      <p:sp>
        <p:nvSpPr>
          <p:cNvPr id="37" name="Text 34"/>
          <p:cNvSpPr txBox="1"/>
          <p:nvPr/>
        </p:nvSpPr>
        <p:spPr>
          <a:xfrm>
            <a:off x="3108960" y="4110228"/>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سَيَّارَةً؟</a:t>
            </a:r>
            <a:endParaRPr lang="ar-SA" sz="2400" dirty="0"/>
          </a:p>
        </p:txBody>
      </p:sp>
      <p:sp>
        <p:nvSpPr>
          <p:cNvPr id="38" name="Text 35"/>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سَيَّارَةٌ</a:t>
            </a:r>
            <a:endParaRPr lang="ar-SA" sz="24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784848" y="4724400"/>
            <a:ext cx="4873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tāʾ marbūṭa: NO extra alif</a:t>
            </a:r>
            <a:endParaRPr lang="en-US" sz="1100" dirty="0"/>
          </a:p>
        </p:txBody>
      </p:sp>
      <p:sp>
        <p:nvSpPr>
          <p:cNvPr id="43" name="Text 40"/>
          <p:cNvSpPr txBox="1"/>
          <p:nvPr/>
        </p:nvSpPr>
        <p:spPr>
          <a:xfrm>
            <a:off x="3108960" y="4724400"/>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مَرَّةً؟</a:t>
            </a:r>
            <a:endParaRPr lang="ar-SA" sz="2400" dirty="0"/>
          </a:p>
        </p:txBody>
      </p:sp>
      <p:sp>
        <p:nvSpPr>
          <p:cNvPr id="44" name="Text 41"/>
          <p:cNvSpPr txBox="1"/>
          <p:nvPr/>
        </p:nvSpPr>
        <p:spPr>
          <a:xfrm>
            <a:off x="5486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مَرَّةٌ</a:t>
            </a:r>
            <a:endParaRPr lang="ar-SA" sz="24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784848" y="5338572"/>
            <a:ext cx="4873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 a unit; māʾan has no extra alif</a:t>
            </a:r>
            <a:endParaRPr lang="en-US" sz="1100" dirty="0"/>
          </a:p>
        </p:txBody>
      </p:sp>
      <p:sp>
        <p:nvSpPr>
          <p:cNvPr id="47" name="Text 44"/>
          <p:cNvSpPr txBox="1"/>
          <p:nvPr/>
        </p:nvSpPr>
        <p:spPr>
          <a:xfrm>
            <a:off x="3108960" y="5338572"/>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كُوبًا مِنَ الْمَاءِ؟</a:t>
            </a:r>
            <a:endParaRPr lang="ar-SA" sz="2400" dirty="0"/>
          </a:p>
        </p:txBody>
      </p:sp>
      <p:sp>
        <p:nvSpPr>
          <p:cNvPr id="48" name="Text 45"/>
          <p:cNvSpPr txBox="1"/>
          <p:nvPr/>
        </p:nvSpPr>
        <p:spPr>
          <a:xfrm>
            <a:off x="5486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مَاءٌ</a:t>
            </a:r>
            <a:endParaRPr lang="ar-SA" sz="24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common visual error: sayyāratan written with an extra alif is wrong — the tāʾ marbūṭa already carries the -an. Water is not counted directly: count cups (kam kūban mina l-māʾi?).</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ADD ADJECTIVES (WEBSITE MODELS)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adjective follows: singular -an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الصِّفَةُ بَعْدَ 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053328" y="2267712"/>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new books did you buy?</a:t>
            </a:r>
            <a:endParaRPr lang="en-US" sz="1100" dirty="0"/>
          </a:p>
        </p:txBody>
      </p:sp>
      <p:sp>
        <p:nvSpPr>
          <p:cNvPr id="20" name="Text 17"/>
          <p:cNvSpPr txBox="1"/>
          <p:nvPr/>
        </p:nvSpPr>
        <p:spPr>
          <a:xfrm>
            <a:off x="548640" y="2267712"/>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كِتَابًا جَدِيدًا اشْتَرَيْتَ؟</a:t>
            </a:r>
            <a:endParaRPr lang="ar-SA" sz="22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053328" y="3054096"/>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fast cars did you see? (to a girl)</a:t>
            </a:r>
            <a:endParaRPr lang="en-US" sz="1100" dirty="0"/>
          </a:p>
        </p:txBody>
      </p:sp>
      <p:sp>
        <p:nvSpPr>
          <p:cNvPr id="25" name="Text 22"/>
          <p:cNvSpPr txBox="1"/>
          <p:nvPr/>
        </p:nvSpPr>
        <p:spPr>
          <a:xfrm>
            <a:off x="548640" y="3054096"/>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سَيَّارَةً سَرِيعَةً رَأَيْتِ؟</a:t>
            </a:r>
            <a:endParaRPr lang="ar-SA" sz="22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053328" y="3840480"/>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big schools are in your city?</a:t>
            </a:r>
            <a:endParaRPr lang="en-US" sz="1100" dirty="0"/>
          </a:p>
        </p:txBody>
      </p:sp>
      <p:sp>
        <p:nvSpPr>
          <p:cNvPr id="30" name="Text 27"/>
          <p:cNvSpPr txBox="1"/>
          <p:nvPr/>
        </p:nvSpPr>
        <p:spPr>
          <a:xfrm>
            <a:off x="548640" y="3840480"/>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مَدْرَسَةً كَبِيرَةً فِي مَدِينَتِكَ؟</a:t>
            </a:r>
            <a:endParaRPr lang="ar-SA" sz="22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6053328" y="4626864"/>
            <a:ext cx="5605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new students are in the class?</a:t>
            </a:r>
            <a:endParaRPr lang="en-US" sz="1100" dirty="0"/>
          </a:p>
        </p:txBody>
      </p:sp>
      <p:sp>
        <p:nvSpPr>
          <p:cNvPr id="33" name="Text 30"/>
          <p:cNvSpPr txBox="1"/>
          <p:nvPr/>
        </p:nvSpPr>
        <p:spPr>
          <a:xfrm>
            <a:off x="548640" y="4626864"/>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طَالِبًا جَدِيدًا فِي الصَّفِّ؟</a:t>
            </a:r>
            <a:endParaRPr lang="ar-SA" sz="2200" dirty="0"/>
          </a:p>
        </p:txBody>
      </p:sp>
      <p:sp>
        <p:nvSpPr>
          <p:cNvPr id="34" name="Text 3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important note: the answer may use a normal number phrase with different noun rules. Do not copy the singular -an form mechanically into the answer.</a:t>
            </a:r>
            <a:endParaRPr lang="en-US" sz="11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 PART 4 · HIGH-FREQUENCY KAM QUESTIONS (WEBSITE TABLE) · DEVELOP</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Count it — or use a fixed question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شَائِعَةٌ بِكَمْ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32735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Purpose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 rule: singular -an</a:t>
            </a:r>
            <a:endParaRPr lang="en-US" sz="1100" dirty="0"/>
          </a:p>
        </p:txBody>
      </p:sp>
      <p:sp>
        <p:nvSpPr>
          <p:cNvPr id="21" name="Text 18"/>
          <p:cNvSpPr txBox="1"/>
          <p:nvPr/>
        </p:nvSpPr>
        <p:spPr>
          <a:xfrm>
            <a:off x="3291840"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طَالِبًا فِي الصَّفِّ؟</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people / items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marratan is counted</a:t>
            </a:r>
            <a:endParaRPr lang="en-US" sz="1100" dirty="0"/>
          </a:p>
        </p:txBody>
      </p:sp>
      <p:sp>
        <p:nvSpPr>
          <p:cNvPr id="27" name="Text 24"/>
          <p:cNvSpPr txBox="1"/>
          <p:nvPr/>
        </p:nvSpPr>
        <p:spPr>
          <a:xfrm>
            <a:off x="3291840"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مَرَّةً تَتَدَرَّبُ؟</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frequency</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yawman is counted</a:t>
            </a:r>
            <a:endParaRPr lang="en-US" sz="1100" dirty="0"/>
          </a:p>
        </p:txBody>
      </p:sp>
      <p:sp>
        <p:nvSpPr>
          <p:cNvPr id="33" name="Text 30"/>
          <p:cNvSpPr txBox="1"/>
          <p:nvPr/>
        </p:nvSpPr>
        <p:spPr>
          <a:xfrm>
            <a:off x="3291840"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يَوْمًا بَقِيتَ؟</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duration</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fixed question — no counted noun</a:t>
            </a:r>
            <a:endParaRPr lang="en-US" sz="1100" dirty="0"/>
          </a:p>
        </p:txBody>
      </p:sp>
      <p:sp>
        <p:nvSpPr>
          <p:cNvPr id="37" name="Text 34"/>
          <p:cNvSpPr txBox="1"/>
          <p:nvPr/>
        </p:nvSpPr>
        <p:spPr>
          <a:xfrm>
            <a:off x="3291840"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عُمْرُكَ؟</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fixed question — ask the price</a:t>
            </a:r>
            <a:endParaRPr lang="en-US" sz="1100" dirty="0"/>
          </a:p>
        </p:txBody>
      </p:sp>
      <p:sp>
        <p:nvSpPr>
          <p:cNvPr id="43" name="Text 40"/>
          <p:cNvSpPr txBox="1"/>
          <p:nvPr/>
        </p:nvSpPr>
        <p:spPr>
          <a:xfrm>
            <a:off x="3291840"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ثَمَنُ هَذَا؟ · بِكَمْ هَذَا؟</a:t>
            </a:r>
            <a:endParaRPr lang="ar-SA" sz="22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price</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do not over-apply one rule. The singular -an rule is for the COUNTED noun after kam. Kam ʿumruka? and kam thamanu hādhā? are fixed patterns (GM-NUM-03, GM-NUM-04).</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5 · ANSWERING KAM QUESTIONS (WEBSITE MODELS)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answer uses a normal number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الْجَوَابُ عَنْ 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47365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3–10: plural -in</a:t>
            </a:r>
            <a:endParaRPr lang="en-US" sz="1100" dirty="0"/>
          </a:p>
        </p:txBody>
      </p:sp>
      <p:sp>
        <p:nvSpPr>
          <p:cNvPr id="21" name="Text 18"/>
          <p:cNvSpPr txBox="1"/>
          <p:nvPr/>
        </p:nvSpPr>
        <p:spPr>
          <a:xfrm>
            <a:off x="4754880"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قَرَأْتُ ثَلَاثَةَ كُتُبٍ.</a:t>
            </a:r>
            <a:endParaRPr lang="ar-SA" sz="2200" dirty="0"/>
          </a:p>
        </p:txBody>
      </p:sp>
      <p:sp>
        <p:nvSpPr>
          <p:cNvPr id="22" name="Text 19"/>
          <p:cNvSpPr txBox="1"/>
          <p:nvPr/>
        </p:nvSpPr>
        <p:spPr>
          <a:xfrm>
            <a:off x="548640"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كِتَابًا قَرَأْتَ؟</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twice</a:t>
            </a:r>
            <a:endParaRPr lang="en-US" sz="1100" dirty="0"/>
          </a:p>
        </p:txBody>
      </p:sp>
      <p:sp>
        <p:nvSpPr>
          <p:cNvPr id="27" name="Text 24"/>
          <p:cNvSpPr txBox="1"/>
          <p:nvPr/>
        </p:nvSpPr>
        <p:spPr>
          <a:xfrm>
            <a:off x="4754880"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أَسْبَحُ مَرَّتَيْنِ فِي الْأُسْبُوعِ.</a:t>
            </a:r>
            <a:endParaRPr lang="ar-SA" sz="2200" dirty="0"/>
          </a:p>
        </p:txBody>
      </p:sp>
      <p:sp>
        <p:nvSpPr>
          <p:cNvPr id="28" name="Text 25"/>
          <p:cNvSpPr txBox="1"/>
          <p:nvPr/>
        </p:nvSpPr>
        <p:spPr>
          <a:xfrm>
            <a:off x="548640"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مَرَّةً تَسْبَحِينَ فِي الْأُسْبُوعِ؟</a:t>
            </a:r>
            <a:endParaRPr lang="ar-SA" sz="22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11–99: singular -an</a:t>
            </a:r>
            <a:endParaRPr lang="en-US" sz="1100" dirty="0"/>
          </a:p>
        </p:txBody>
      </p:sp>
      <p:sp>
        <p:nvSpPr>
          <p:cNvPr id="31" name="Text 28"/>
          <p:cNvSpPr txBox="1"/>
          <p:nvPr/>
        </p:nvSpPr>
        <p:spPr>
          <a:xfrm>
            <a:off x="4754880"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الصَّفِّ عِشْرُونَ طَالِبًا.</a:t>
            </a:r>
            <a:endParaRPr lang="ar-SA" sz="2200" dirty="0"/>
          </a:p>
        </p:txBody>
      </p:sp>
      <p:sp>
        <p:nvSpPr>
          <p:cNvPr id="32" name="Text 29"/>
          <p:cNvSpPr txBox="1"/>
          <p:nvPr/>
        </p:nvSpPr>
        <p:spPr>
          <a:xfrm>
            <a:off x="548640"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طَالِبًا فِي الصَّفِّ؟</a:t>
            </a:r>
            <a:endParaRPr lang="ar-SA" sz="22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3–10: plural -in</a:t>
            </a:r>
            <a:endParaRPr lang="en-US" sz="1100" dirty="0"/>
          </a:p>
        </p:txBody>
      </p:sp>
      <p:sp>
        <p:nvSpPr>
          <p:cNvPr id="35" name="Text 32"/>
          <p:cNvSpPr txBox="1"/>
          <p:nvPr/>
        </p:nvSpPr>
        <p:spPr>
          <a:xfrm>
            <a:off x="4754880"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بَقِيتُ عَشَرَةَ أَيَّامٍ.</a:t>
            </a:r>
            <a:endParaRPr lang="ar-SA" sz="2200" dirty="0"/>
          </a:p>
        </p:txBody>
      </p:sp>
      <p:sp>
        <p:nvSpPr>
          <p:cNvPr id="36" name="Text 33"/>
          <p:cNvSpPr txBox="1"/>
          <p:nvPr/>
        </p:nvSpPr>
        <p:spPr>
          <a:xfrm>
            <a:off x="548640"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يَوْمًا بَقِيتَ؟</a:t>
            </a:r>
            <a:endParaRPr lang="ar-SA" sz="22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question tests the kam structure; the answer uses ordinary number–noun rules (GM-NUM-01). Speaking strategy: give the number, then add a time, reason or comparison.</a:t>
            </a:r>
            <a:endParaRPr lang="en-US" sz="11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many lessons?”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دُرُوسٍ؟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دَرْسًا؟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many female teachers?”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مُعَلِّمَةً؟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مُعَلِّمَاتٍ؟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الْمُعَلِّمَةَ؟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many hours?”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سَاعَاتٍ؟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سَاعَةً؟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السَّاعَةُ؟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form after kam.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قَلَمًا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many lessons?”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دُرُوسٍ؟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الدَّرْسُ؟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دَرْسًا؟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darsan.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many female teachers?”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مُعَلِّمَةً؟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مُعَلِّمَاتٍ؟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الْمُعَلِّمَةَ؟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feminine: muʿallimatan.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many hours?”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سَاعَاتٍ؟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سَاعَةً؟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السَّاعَةُ؟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Singular: sāʿatan.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form after kam.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قَلَمًا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قَلَمً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قَلَمٌ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Regular qalam: qalaman with alif.</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survey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Category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طَالِبٌ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are we counting?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Singular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طَالِبًا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form — not ṭullāb.</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Feminine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طَالِبَةً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extra alif.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Frequency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مَرَّةً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How many times?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KAM</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SINGULAR -AN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كَمْ</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طَالِبًا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يَمْشِي إِلَى الْمَدْرَسَةِ؟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كَمْ</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طَالِبَةً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تَرْكَبُ الْحَافِلَةَ؟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كَمْ</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مَرَّةً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يُمَارِسُونَ الرِّيَاضَةَ فِي الْأُسْبُوعِ؟ — يَمْشِي اثْنَا عَشَرَ طَالِبًا، وَتَرْكَبُ تِسْعُ طَالِبَاتٍ الْحَافِلَةَ، وَيُمَارِسُونَ الرِّيَاضَةَ ثَلَاثَ مَرَّاتٍ.</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How many students walk to school? How many girls take the bus? How many times a week do they do sport? — Twelve students walk, nine girls take the bus, and they do sport three times.</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كَمْ وَلَدًا فِي الصَّفِّ؟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many boys are in the class?</a:t>
            </a:r>
            <a:endParaRPr lang="en-US" sz="1250" dirty="0"/>
          </a:p>
          <a:p>
            <a:pPr indent="0" marL="0">
              <a:buNone/>
            </a:pPr>
            <a:r>
              <a:rPr lang="en-US" sz="1050" i="1" dirty="0">
                <a:solidFill>
                  <a:srgbClr val="8A6D1E"/>
                </a:solidFill>
                <a:latin typeface="Calibri" pitchFamily="34" charset="0"/>
                <a:cs typeface="Amiri" pitchFamily="2" charset="-78"/>
              </a:rPr>
              <a:t>Singular -an.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كَمْ سَيَّارَةً رَأَيْتَ؟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many cars did you see?</a:t>
            </a:r>
            <a:endParaRPr lang="en-US" sz="1250" dirty="0"/>
          </a:p>
          <a:p>
            <a:pPr indent="0" marL="0">
              <a:buNone/>
            </a:pPr>
            <a:r>
              <a:rPr lang="en-US" sz="1050" i="1" dirty="0">
                <a:solidFill>
                  <a:srgbClr val="8A6D1E"/>
                </a:solidFill>
                <a:latin typeface="Calibri" pitchFamily="34" charset="0"/>
                <a:cs typeface="Amiri" pitchFamily="2" charset="-78"/>
              </a:rPr>
              <a:t>No extra alif.</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كَمْ كِتَابًا جَدِيدًا اشْتَرَيْتِ؟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many new books did you buy? (to a girl)</a:t>
            </a:r>
            <a:endParaRPr lang="en-US" sz="1250" dirty="0"/>
          </a:p>
          <a:p>
            <a:pPr indent="0" marL="0">
              <a:buNone/>
            </a:pPr>
            <a:r>
              <a:rPr lang="en-US" sz="1050" i="1" dirty="0">
                <a:solidFill>
                  <a:srgbClr val="8A6D1E"/>
                </a:solidFill>
                <a:latin typeface="Calibri" pitchFamily="34" charset="0"/>
                <a:cs typeface="Amiri" pitchFamily="2" charset="-78"/>
              </a:rPr>
              <a:t>Adjective -an too.</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كَمْ مَرَّةً تَتَدَرَّبُ فِي الْأُسْبُوعِ؟</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many times a week do you train?</a:t>
            </a:r>
            <a:endParaRPr lang="en-US" sz="1250" dirty="0"/>
          </a:p>
          <a:p>
            <a:pPr indent="0" marL="0">
              <a:buNone/>
            </a:pPr>
            <a:r>
              <a:rPr lang="en-US" sz="1050" i="1" dirty="0">
                <a:solidFill>
                  <a:srgbClr val="8A6D1E"/>
                </a:solidFill>
                <a:latin typeface="Calibri" pitchFamily="34" charset="0"/>
                <a:cs typeface="Amiri" pitchFamily="2" charset="-78"/>
              </a:rPr>
              <a:t>Frequency.</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MEANING → KAM QUESTION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noun, singular, -an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اِسْأَلْ بِكَمْ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40050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alif added</a:t>
            </a:r>
            <a:endParaRPr lang="en-US" sz="1100" dirty="0"/>
          </a:p>
        </p:txBody>
      </p:sp>
      <p:sp>
        <p:nvSpPr>
          <p:cNvPr id="21" name="Text 18"/>
          <p:cNvSpPr txBox="1"/>
          <p:nvPr/>
        </p:nvSpPr>
        <p:spPr>
          <a:xfrm>
            <a:off x="4023360" y="226771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كِتَابًا؟</a:t>
            </a:r>
            <a:endParaRPr lang="ar-SA" sz="2400" dirty="0"/>
          </a:p>
        </p:txBody>
      </p:sp>
      <p:sp>
        <p:nvSpPr>
          <p:cNvPr id="22" name="Text 19"/>
          <p:cNvSpPr txBox="1"/>
          <p:nvPr/>
        </p:nvSpPr>
        <p:spPr>
          <a:xfrm>
            <a:off x="566928" y="226771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books?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singular, not banāt</a:t>
            </a:r>
            <a:endParaRPr lang="en-US" sz="1100" dirty="0"/>
          </a:p>
        </p:txBody>
      </p:sp>
      <p:sp>
        <p:nvSpPr>
          <p:cNvPr id="27" name="Text 24"/>
          <p:cNvSpPr txBox="1"/>
          <p:nvPr/>
        </p:nvSpPr>
        <p:spPr>
          <a:xfrm>
            <a:off x="4023360" y="2881884"/>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بِنْتًا؟</a:t>
            </a:r>
            <a:endParaRPr lang="ar-SA" sz="2400" dirty="0"/>
          </a:p>
        </p:txBody>
      </p:sp>
      <p:sp>
        <p:nvSpPr>
          <p:cNvPr id="28" name="Text 25"/>
          <p:cNvSpPr txBox="1"/>
          <p:nvPr/>
        </p:nvSpPr>
        <p:spPr>
          <a:xfrm>
            <a:off x="566928" y="2881884"/>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girls?</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extra alif</a:t>
            </a:r>
            <a:endParaRPr lang="en-US" sz="1100" dirty="0"/>
          </a:p>
        </p:txBody>
      </p:sp>
      <p:sp>
        <p:nvSpPr>
          <p:cNvPr id="33" name="Text 30"/>
          <p:cNvSpPr txBox="1"/>
          <p:nvPr/>
        </p:nvSpPr>
        <p:spPr>
          <a:xfrm>
            <a:off x="4023360" y="3496056"/>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سَيَّارَةً؟</a:t>
            </a:r>
            <a:endParaRPr lang="ar-SA" sz="2400" dirty="0"/>
          </a:p>
        </p:txBody>
      </p:sp>
      <p:sp>
        <p:nvSpPr>
          <p:cNvPr id="34" name="Text 31"/>
          <p:cNvSpPr txBox="1"/>
          <p:nvPr/>
        </p:nvSpPr>
        <p:spPr>
          <a:xfrm>
            <a:off x="566928" y="3496056"/>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cars?</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singular, not ayyām</a:t>
            </a:r>
            <a:endParaRPr lang="en-US" sz="1100" dirty="0"/>
          </a:p>
        </p:txBody>
      </p:sp>
      <p:sp>
        <p:nvSpPr>
          <p:cNvPr id="39" name="Text 36"/>
          <p:cNvSpPr txBox="1"/>
          <p:nvPr/>
        </p:nvSpPr>
        <p:spPr>
          <a:xfrm>
            <a:off x="4023360" y="4110228"/>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يَوْمًا؟</a:t>
            </a:r>
            <a:endParaRPr lang="ar-SA" sz="2400" dirty="0"/>
          </a:p>
        </p:txBody>
      </p:sp>
      <p:sp>
        <p:nvSpPr>
          <p:cNvPr id="40" name="Text 37"/>
          <p:cNvSpPr txBox="1"/>
          <p:nvPr/>
        </p:nvSpPr>
        <p:spPr>
          <a:xfrm>
            <a:off x="566928" y="4110228"/>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days?</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-an</a:t>
            </a:r>
            <a:endParaRPr lang="en-US" sz="1100" dirty="0"/>
          </a:p>
        </p:txBody>
      </p:sp>
      <p:sp>
        <p:nvSpPr>
          <p:cNvPr id="43" name="Text 40"/>
          <p:cNvSpPr txBox="1"/>
          <p:nvPr/>
        </p:nvSpPr>
        <p:spPr>
          <a:xfrm>
            <a:off x="4023360" y="4724400"/>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كِتَابًا جَدِيدًا؟</a:t>
            </a:r>
            <a:endParaRPr lang="ar-SA" sz="2400" dirty="0"/>
          </a:p>
        </p:txBody>
      </p:sp>
      <p:sp>
        <p:nvSpPr>
          <p:cNvPr id="44" name="Text 41"/>
          <p:cNvSpPr txBox="1"/>
          <p:nvPr/>
        </p:nvSpPr>
        <p:spPr>
          <a:xfrm>
            <a:off x="566928" y="4724400"/>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new books?</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-atan</a:t>
            </a:r>
            <a:endParaRPr lang="en-US" sz="1100" dirty="0"/>
          </a:p>
        </p:txBody>
      </p:sp>
      <p:sp>
        <p:nvSpPr>
          <p:cNvPr id="47" name="Text 44"/>
          <p:cNvSpPr txBox="1"/>
          <p:nvPr/>
        </p:nvSpPr>
        <p:spPr>
          <a:xfrm>
            <a:off x="4023360" y="533857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مَدْرَسَةً كَبِيرَةً؟</a:t>
            </a:r>
            <a:endParaRPr lang="ar-SA" sz="2400" dirty="0"/>
          </a:p>
        </p:txBody>
      </p:sp>
      <p:sp>
        <p:nvSpPr>
          <p:cNvPr id="48" name="Text 45"/>
          <p:cNvSpPr txBox="1"/>
          <p:nvPr/>
        </p:nvSpPr>
        <p:spPr>
          <a:xfrm>
            <a:off x="566928" y="533857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large schools?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proofreading sequence: singular → indefinite → -an spelling → adjective agreement.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WEBSITE REPAIR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Correct, or needs repair?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صَحِيحٌ أَمْ يَحْتَاجُ إِلَى تَصْحِيحٍ؟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كِتَابًا؟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سَيَّارَةً؟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يَوْمًا؟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عُمْرُكَ؟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سَيَّارَةًا؟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أَيَّامٍ؟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الْوَلَدُ؟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Correct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Needs repair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Correct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كِتَابًا؟</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سَيَّارَةً؟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يَوْمًا؟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عُمْرُكَ؟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Needs repair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كُتُبٍ؟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سَيَّارَةًا؟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أَيَّامٍ؟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الْوَلَدُ؟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كَمْ طُلَّابٍ فِي الصَّفِّ؟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Plural after kam?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كَمْ مَدْرَسَةًا فِي الْمَدِينَةِ؟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Alif after tāʾ marbūṭa?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قَرَأْتُ كَمْ كِتَابًا.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the answer repeat kam?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كَمْ طُلَّابٍ فِي الصَّفِّ؟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كَمْ طَالِبًا فِي الصَّفِّ؟</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Singular -an after kam (website repair lab).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كَمْ مَدْرَسَةًا فِي الْمَدِينَةِ؟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كَمْ مَدْرَسَةً فِي الْمَدِينَةِ؟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extra alif after tāʾ marbūṭa (website repair lab).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قَرَأْتُ كَمْ كِتَابًا.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قَرَأْتُ ثَلَاثَةَ 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answer uses a normal number (website note).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MINI-CHECK: SPELLING AND REPAIR LAB</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form after kam.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حَقِيبَةًا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حَقَائِبٍ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spelling of “water” (-an).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مَاءًا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مَاءً</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مَاءٌ</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kam question is fully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يَوْمً بَقِيَ؟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يَوْمًا بَقِيَ؟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أَيَّامٍ بَقِيَ؟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كَمْ كِتَابًا مُفِيدٌ قَرَأْتَ؟</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كُتُبٍ مُفِيدَةٍ قَرَأْتَ؟</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كِتَابٌ مُفِيدٌ قَرَأْتَ؟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كِتَابًا مُفِيدًا قَرَأْتَ؟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form after kam.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حَقِيبَةًا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حَقَائِبٍ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حَقِيبَةً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Ḥaqībatan: no extra alif.</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spelling of “water” (-an).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مَاءًا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مَاءً</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مَاءٌ</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Māʾan: no extra alif.</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kam question is fully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يَوْمً بَقِيَ؟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يَوْمًا بَقِيَ؟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أَيَّامٍ بَقِيَ؟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Yawman: singular -an with alif.</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كَمْ كِتَابًا مُفِيدٌ قَرَأْتَ؟</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كُتُبٍ مُفِيدَةٍ قَرَأْتَ؟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كِتَابٌ مُفِيدٌ قَرَأْتَ؟</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كِتَابًا مُفِيدًا قَرَأْتَ؟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Adjective -an too: mufīdan.</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E6B52"/>
                </a:solidFill>
                <a:latin typeface="Calibri" pitchFamily="34" charset="0"/>
                <a:cs typeface="Amiri" pitchFamily="2" charset="-78"/>
              </a:rPr>
              <a:t>YOU DO · READ AND NOTICE · WEBSITE READING: CLASS SURVEY (TEACHER-WRITTEN REPORT)</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class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أَجْرَيْنَا اسْتِبْيَانًا فِي صَفِّنَا. سَأَلْنَا: كَمْ أَخًا وَأُخْتًا عِنْدَكَ؟ كَمْ كِتَابًا تَقْرَأُ فِي الشَّهْرِ؟ كَمْ سَاعَةً تَقْضِي أَمَامَ الشَّاشَةِ يَوْمِيًّا؟ وَجَدْنَا أَنَّ أَغْلَبَ الطُّلَّابِ عِنْدَهُمْ أَخَوَانِ أَوْ ثَلَاثَةُ إِخْوَةٍ. يَقْرَأُ الطَّالِبُ كِتَابَيْنِ فِي الشَّهْرِ تَقْرِيبًا، وَلَكِنَّهُ يَقْضِي أَرْبَعَ سَاعَاتٍ أَمَامَ الشَّاشَةِ كُلَّ يَوْمٍ! سَأَلْنَا أَيْضًا: كَمْ مَرَّةً تُمَارِسُ الرِّيَاضَةَ؟ فَكَانَ الْجَوَابُ: مَرَّتَيْنِ فِي الْأُسْبُوعِ فَقَطْ.</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اسْتِبْيَانًا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survey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الشَّاشَةِ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screen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يَوْمِيًّا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daily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أَغْلَبَ</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most</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تَقْرِيبًا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about / roughly</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books does a student read per month?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hours a day in front of a screen?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kam sāʿatan, not kam sāʿātin?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kam: singular -an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only one hour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 they do sport?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books does a student read per month?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Kitābayni fī sh-shahri taqrīban.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hours a day in front of a screen?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Arbaʿa sāʿātin.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kam sāʿatan, not kam sāʿātin?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kam: singular -an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only one hour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kam rule.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 they do sport?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times a week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Marratayni fī l-usbūʿi faqaṭ.</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the class questionnaire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أَخًا عِنْدَكَ؟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سَاعَةً تَدْرُسُ كُلَّ يَوْمٍ؟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مَرَّةً سَافَرْتَ هَذِهِ السَّنَةَ؟ وَإِلَى أَيْنَ؟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عِنْدِي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أَدْرُسُ ___ كُلَّ يَوْمٍ، لِأَنَّ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سَافَرْتُ ___ : إِلَى ___ وَ___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كَمْ عُمْرُكِ؟ وَكَمْ أُخْتًا عِنْدَكِ؟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old are you? And how many sisters do you have?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عُمْرِي أَرْبَعَةَ عَشَرَ عَامًا، وَعِنْدِي أُخْتَانِ وَأَخٌ وَاحِدٌ.</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am fourteen, and I have two sisters and one brother.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kam questions about your class and family.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kam ṭāliban? kam akhan?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questions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feminine nouns, an adjective, frequency and duration.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kam marratan? kam yawman?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questions + report</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survey with a results report.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Answers in normal number grammar.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سَاعَةً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many hours do you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مَرَّةً ______ فِي الْأُسْبُوعِ؟</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many times a week do you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______ جَدِيدًا اشْتَرَيْتَ؟</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many new … did you buy?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يَوْمًا بَقِيتَ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many days did you stay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______ فِي صَفِّكَ؟</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many … are in your class?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______ عِنْدَكَ؟</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many … do you have?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عُمْرُ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old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بِكَمْ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much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كَمْ  ·  طَالِبًا  ·  طَالِبَةً  ·  كِتَابًا  ·  سَاعَةً  ·  مَرَّةً  ·  يَوْمًا  ·  أَخًا  ·  أُخْتًا  ·  كُوبًا  ·  جَدِيدًا  ·  بِكَمْ  ·  عُمْرُكَ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class or family survey: eight kam questions, answers and a short comparison report.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Eight singular -an counted nouns.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feminine nouns and two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duration and one frequency question.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fixed age or price question.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Answers in normal number grammar.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أَجْرَيْنَا اسْتِبْيَانًا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carried out a survey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النَّتَائِجُ</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results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أَغْلَبُ</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تَقْرِيبًا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about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يَوْمِيًّا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daily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فَقَطْ</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أَسْئِلَةُ الِاسْتِبْيَانِ: كَمْ شَخْصًا فِي أُسْرَتِكَ؟ كَمْ غُرْفَةً فِي بَيْتِكُمْ؟ كَمْ كِتَابًا قَرَأْتَ هَذَا الشَّهْرَ؟ كَمْ سَاعَةً تَنَامُ كُلَّ لَيْلَةٍ؟ كَمْ مَرَّةً تَأْكُلُ الْخُضَارَ فِي الْأُسْبُوعِ؟ كَمْ كُوبًا مِنَ الْمَاءِ تَشْرَبُ يَوْمِيًّا؟ كَمْ عُمْرُ أَكْبَرِ شَخْصٍ فِي أُسْرَتِكَ؟ بِكَمِ اشْتَرَيْتَ آخِرَ كِتَابٍ؟ — النَّتَائِجُ: فِي أُسْرَةِ أَغْلَبِ الطُّلَّابِ خَمْسَةُ أَشْخَاصٍ، وَفِي بُيُوتِهِمْ أَرْبَعُ غُرَفٍ. قَرَأَ الطُّلَّابُ كِتَابًا وَاحِدًا هَذَا الشَّهْرَ، وَيَنَامُونَ ثَمَانِيَ سَاعَاتٍ تَقْرِيبًا. يَأْكُلُونَ الْخُضَارَ خَمْسَ مَرَّاتٍ فِي الْأُسْبُوعِ، وَيَشْرَبُونَ سِتَّةَ أَكْوَابٍ مِنَ الْمَاءِ. أَكْبَرُ شَخْصٍ فِي أَغْلَبِ الْأُسَرِ هُوَ الْجَدُّ أَوِ الْجَدَّةُ.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Survey questions: How many people are in your family? How many rooms are in your house? How many books did you read this month? How many hours do you sleep each night? How many times a week do you eat vegetables? How many glasses of water do you drink a day? How old is the oldest person in your family? How much did you pay for your last book? — Results: most students’ families have five people, and their houses have four rooms. The students read one book this month, and they sleep about eight hours. They eat vegetables five times a week and drink six glasses of water. The oldest person in most families is the grandfather or grandmother.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kam + singular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kam marratan (frequency)</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fixed question (kam ʿumru / bi-kam)</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answer in normal number grammar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kam I wrote ONE singular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ends in -an and has no al-.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extra alif after tāʾ marbūṭa or hamza.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adjectives after kam end in -an too.</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answers use normal number grammar, not the kam form.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many schools?”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مَدَارِسَ؟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مَدْرَسَةًا؟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frequency question.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مَرَّاتٍ تَذْهَبُ؟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مَرَّةً تَذْهَبُ؟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الْمَرَّةَ تَذْهَبُ؟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natural question about water.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كُوبًا مِنَ الْمَاءِ شَرِبْتَ؟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مِيَاهٍ شَرِبْتَ؟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الْمَاءَ شَرِبْتَ؟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many schools?”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كَمْ 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مَدَارِسَ؟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مَدْرَسَةًا؟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Madrasatan, no extra alif.</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frequency question.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مَرَّاتٍ تَذْهَبُ؟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كَمْ مَرَّةً تَذْهَبُ؟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الْمَرَّةَ تَذْهَبُ؟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Kam marratan?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natural question about water.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كَمْ كُوبًا مِنَ الْمَاءِ شَرِبْتَ؟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مِيَاهٍ شَرِبْتَ؟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الْمَاءَ شَرِبْتَ؟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Count cups: kam kūban.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GM-INT-04 · Interrogatives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P1-L01 · Diet and Nutrition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بُرُوتِينٌ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protein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كَرْبُوهِيدْرَاتٌ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carbohydrates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دُهُونٌ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fats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أَلْيَافٌ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fibre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يَحْتَوِي عَلَى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contains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Next we move on to Progression P1: Diet and Nutrition. What do you think eggs contain?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يَحْتَوِي الْبَيْضُ عَلَى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kam questions about your home and family.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kam questions with two adjectives and one frequency question.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survey with a results report.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GM-INT-04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P1-L01 · Diet and Nutrition</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الْغِذَاءُ وَالتَّغْذِيَةُ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kam + ONE singular noun in -an (kam kitāban? kam sayyāratan?) · no plural, no al- · alif on regular nouns, none after tāʾ marbūṭa or hamza · adjectives -an too · kam ʿumruka? and bi-kam? are fixed · the answer uses a normal number.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GM-INT-04 · How Many? The Kam Rule</dc:title>
  <dc:subject>PptxGenJS Presentation</dc:subject>
  <dc:creator>Al Madina Online School · Arabic Department</dc:creator>
  <cp:lastModifiedBy>Al Madina Online School · Arabic Department</cp:lastModifiedBy>
  <cp:revision>1</cp:revision>
  <dcterms:created xsi:type="dcterms:W3CDTF">2026-10-11T06:42:15Z</dcterms:created>
  <dcterms:modified xsi:type="dcterms:W3CDTF">2026-10-11T06:42:15Z</dcterms:modified>
</cp:coreProperties>
</file>