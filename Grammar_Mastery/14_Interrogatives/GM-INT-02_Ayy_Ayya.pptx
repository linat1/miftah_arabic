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Interrogatives › GM-INT-02 (“Which? Gender and Case Agreement”).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ayy with masculine nouns, ayya with feminine nouns, followed by a singular noun in -in (ayyu kitābin? ayyatu madīnatin?). Develop: the case of ayy / ayya follows the role of the phrase — ayyu (subject), ayya (object), ayyi (after a preposition); “which?” vs open mā / mādhā. Stretch: ayyuhumā (which of the two?) and editing complex questions.
• Website three-step decision: gender → role of the whole phrase → the noun after it stays genitive. Gender comes from the NOUN, not from the person speaking (ṭarīq is masculine; sāʿa is feminine).
• Colour code: teal = ayy / ayya, purple = genitive noun. Builds on GM-POS-02 (iḍāfa) and GM-CASE-01 to 03.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Starter — GM-POS-02 iḍāfa and GM-CASE-01 to 03 endings.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Gender from the noun → case from the job → the noun after ayy is always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(2 min) — website “ayy / ayya versus what?”. Hold up three books: mā hādhā? vs ayyu kitābin turīdu?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“Gender agreement”. Choral: masculine column, then feminine column. In everyday speech ayy is also heard with feminine nouns; ayya is the careful exam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(2 min) — website “The construct structure”. Link to GM-POS-02: first noun bare, second noun -i /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(3 min) — website “Case on ayy / ayya”. Ask: does the choice DO the action (-u), RECEIVE it (-a), or come after fī / min / ilā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5 (2 min) — website “Known choices, answers and follow-ups”.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mini-check: gender.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“Reading: course choices” questions with teacher answers. Website task: identify the gender and case evidence in each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2; students say gender and case BEFORE building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Then build a question for each card: ayyu ṭarīqin aqṣaru? ayyatu lughatin tuḥibbu?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Then build a question for each card: ayyu ṭarīqin aqṣaru? ayyatu lughatin tuḥibbu?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mini-check: case and Repair lab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course choices (extended notice). Read it aloud once while students follow; then they hunt for today’s grammar.
Task: Website: identify the gender and case evidence in each “which?” question.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course-choice questions in a teacher-written notice;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Sequence: ● 10s think → ↔ 45s rehearse aloud with mic muted → ◎ two named students on open mic (warned in advance) → + ? the class types one follow-up in chat → ↺ one student summarises.
Routes: Core uses the Core prompt and stem; Develop the Develop prompt; Stretch the last prompt.
Website: ask about a day, subject, city, sport, colour and book; give a full answer and one reason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a dialogue in which one person chooses a course, journey, item or activity from several options.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dialogue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(GM-INT-03 · Common Question Words) will spend class time USING this language, so students prepare it tonight — short, simple, easy to access (school guidance: “Simple, Short, Interesting, Relevant, Easy to access”). The five words prepare GM-INT-03 (website: common question words).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INTERROGATIVES  ·  GM-INT-02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GM-INT-02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100" b="1" dirty="0">
                <a:solidFill>
                  <a:srgbClr val="FFFFFF"/>
                </a:solidFill>
                <a:latin typeface="Cambria" pitchFamily="34" charset="0"/>
                <a:ea typeface="Cambria" pitchFamily="34" charset="-122"/>
                <a:cs typeface="Cambria" pitchFamily="34" charset="-120"/>
              </a:rPr>
              <a:t>Which? Gender and Case Agreement</a:t>
            </a:r>
            <a:endParaRPr lang="en-US" sz="31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أَيّ وَأَيَّة: التَّذْكِيرُ وَالتَّأْنِيثُ وَالْإِعْرَابُ</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Which? = ayyu with masculine nouns (ayyu yawmin?) and ayyatu with feminine nouns (ayyatu sāʿatin?). The noun after it ends in -in; ayy itself takes -u, -a or -i depending on its job in the sentence.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GM-INT-02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Interrogatives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GM-INT-02 · Interrogatives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GM-INT-02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Which or what?; gender; the construct; case; answers.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Meaning → question; masculine or feminine?;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GM-INT-03.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GM-INT-02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“which day”.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أَيَّةُ يَوْمٍ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 يَوْمٍ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يَوْمٍ</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“which car”.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أَيَّةُ سَيَّارَةٍ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 سَيَّارَةٍ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سَيَّارَةٍ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case is the noun after basic </a:t>
            </a:r>
            <a:pPr algn="l" indent="0" marL="0">
              <a:buNone/>
            </a:pPr>
            <a:r>
              <a:rPr lang="ar-SA" altLang="en-US" sz="1650" b="1" dirty="0">
                <a:solidFill>
                  <a:srgbClr val="1B3B6F"/>
                </a:solidFill>
                <a:latin typeface="Amiri" pitchFamily="34" charset="0"/>
                <a:ea typeface="Amiri" pitchFamily="34" charset="-122"/>
                <a:cs typeface="Amiri" pitchFamily="34" charset="-120"/>
              </a:rPr>
              <a:t>أَيّ / أَيَّة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Always accusative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Always nominative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Genitive as the second term of an iḍāfa</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“Which book did you read?”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 كِتَابٌ قَرَأْتَ؟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 كِتَابٍ قَرَأْتَ؟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 كِتَابٍ قَرَأْتَ؟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“In which class?”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أَيِّ فَصْلٍ؟</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أَيُّ فَصْلٌ؟</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أَيَّ فَصْلًا؟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GM-INT-02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“which day”.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أَيَّةُ يَوْمٍ</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أَيُّ يَوْمٍ</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يَوْمٍ</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Yawm is masculine: ayyu.</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“which car”.</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أَيَّةُ سَيَّارَةٍ</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 سَيَّارَةٍ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سَيَّارَةٍ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Sayyāra is feminine: ayyatu.</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case is the noun after basic </a:t>
            </a:r>
            <a:pPr algn="l" indent="0" marL="0">
              <a:buNone/>
            </a:pPr>
            <a:r>
              <a:rPr lang="ar-SA" altLang="en-US" sz="1650" b="1" dirty="0">
                <a:solidFill>
                  <a:srgbClr val="1B3B6F"/>
                </a:solidFill>
                <a:latin typeface="Amiri" pitchFamily="34" charset="0"/>
                <a:ea typeface="Amiri" pitchFamily="34" charset="-122"/>
                <a:cs typeface="Amiri" pitchFamily="34" charset="-120"/>
              </a:rPr>
              <a:t>أَيّ / أَيَّة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Always accusative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Always nominative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Genitive as the second term of an iḍāfa</a:t>
            </a:r>
            <a:endParaRPr lang="en-US" sz="12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noun completes an iḍāfa: genitive.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“Which book did you read?”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 كِتَابٌ قَرَأْتَ؟</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 كِتَابٍ قَرَأْتَ؟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أَيَّ كِتَابٍ قَرَأْتَ؟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Object: ayya; noun -in.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“In which class?”</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أَيِّ فَصْلٍ؟</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أَيُّ فَصْلٌ؟</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أَيَّ فَصْلًا؟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fī: ayyi.</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Gender from the noun → case from the job → the noun after ayy is always -in.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أَيُّ</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pPr rtl="1" algn="ctr" indent="0" marL="0">
              <a:buNone/>
            </a:pPr>
            <a:r>
              <a:rPr lang="ar-SA" altLang="en-US" sz="2400" b="1" dirty="0">
                <a:solidFill>
                  <a:srgbClr val="7B3FA0"/>
                </a:solidFill>
                <a:latin typeface="Amiri" pitchFamily="34" charset="0"/>
                <a:ea typeface="Amiri" pitchFamily="34" charset="-122"/>
                <a:cs typeface="Amiri" pitchFamily="34" charset="-120"/>
              </a:rPr>
              <a:t>يَوْمٍ</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0E7C86"/>
                </a:solidFill>
                <a:latin typeface="Amiri" pitchFamily="34" charset="0"/>
                <a:ea typeface="Amiri" pitchFamily="34" charset="-122"/>
                <a:cs typeface="Amiri" pitchFamily="34" charset="-120"/>
              </a:rPr>
              <a:t>أَيَّةُ</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pPr rtl="1" algn="ctr" indent="0" marL="0">
              <a:buNone/>
            </a:pPr>
            <a:r>
              <a:rPr lang="ar-SA" altLang="en-US" sz="2400" b="1" dirty="0">
                <a:solidFill>
                  <a:srgbClr val="7B3FA0"/>
                </a:solidFill>
                <a:latin typeface="Amiri" pitchFamily="34" charset="0"/>
                <a:ea typeface="Amiri" pitchFamily="34" charset="-122"/>
                <a:cs typeface="Amiri" pitchFamily="34" charset="-120"/>
              </a:rPr>
              <a:t>سَاعَةٍ</a:t>
            </a:r>
            <a:pPr rtl="1" algn="ctr" indent="0" marL="0">
              <a:buNone/>
            </a:pPr>
            <a:r>
              <a:rPr lang="ar-SA" altLang="en-US" sz="2400" b="1" dirty="0">
                <a:solidFill>
                  <a:srgbClr val="1B3B6F"/>
                </a:solidFill>
                <a:latin typeface="Amiri" pitchFamily="34" charset="0"/>
                <a:ea typeface="Amiri" pitchFamily="34" charset="-122"/>
                <a:cs typeface="Amiri" pitchFamily="34" charset="-120"/>
              </a:rPr>
              <a:t>؟</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GM-INT-02 · Interrogatives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ayy with masculine and ayya with feminine nouns.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Put the noun after it in the genitive.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Give ayy the case of its sentence role.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Tell “which?” from “what?”.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write ayyu yawmin? and ayyatu sāʿatin?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answer with a full sentence.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write ayya kitābin qaraʾta?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write fī ayyati madrasatin?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use ayyuhumā.</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write a choice dialogue with all three cases.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GM-INT-02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which? (masculine nouns)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ay-yun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أَيُّ يَوْمٍ؟</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أَيَّةٌ</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which? (feminine nouns)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ay-ya-tun</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أَيَّةُ سَاعَةٍ؟</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الِاخْتِيَارُ</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choice from a known set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al-ِkh-ti-yā-ru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أَيُّ كِتَابٍ؟</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الْمُضَافُ إِلَيْهِ</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noun after ayy (genitive)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al-mu-ḍā-fu i-lay-hi</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كِتَابٍ</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الْمَوْقِعُ</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role in the sentence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al-maw-qi-ʿu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أَيُّ · أَيَّ · أَيِّ</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أَيُّهُمَا</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which of the two?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ay-yu-hu-mā</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أَيُّهُمَا أَفْضَلُ؟</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GM-INT-02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1 · WHICH? VERSUS WHAT?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 choose one from a set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أَيٌّ أَمْ مَا؟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Expected answer</a:t>
            </a:r>
            <a:endParaRPr lang="en-US" sz="1100" dirty="0"/>
          </a:p>
        </p:txBody>
      </p:sp>
      <p:sp>
        <p:nvSpPr>
          <p:cNvPr id="17" name="Text 14"/>
          <p:cNvSpPr txBox="1"/>
          <p:nvPr/>
        </p:nvSpPr>
        <p:spPr>
          <a:xfrm>
            <a:off x="382219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 model</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 type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863840" y="2267712"/>
            <a:ext cx="37764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جِهَازٌ.</a:t>
            </a:r>
            <a:endParaRPr lang="ar-SA" sz="2200" dirty="0"/>
          </a:p>
        </p:txBody>
      </p:sp>
      <p:sp>
        <p:nvSpPr>
          <p:cNvPr id="21" name="Text 18"/>
          <p:cNvSpPr txBox="1"/>
          <p:nvPr/>
        </p:nvSpPr>
        <p:spPr>
          <a:xfrm>
            <a:off x="3840480" y="2267712"/>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مَا هَذَا؟</a:t>
            </a:r>
            <a:endParaRPr lang="ar-SA" sz="2200" dirty="0"/>
          </a:p>
        </p:txBody>
      </p:sp>
      <p:sp>
        <p:nvSpPr>
          <p:cNvPr id="22" name="Text 19"/>
          <p:cNvSpPr txBox="1"/>
          <p:nvPr/>
        </p:nvSpPr>
        <p:spPr>
          <a:xfrm>
            <a:off x="56692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open: What is this?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863840" y="3054096"/>
            <a:ext cx="37764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أُرِيدُ الْحَاسُوبَ.</a:t>
            </a:r>
            <a:endParaRPr lang="ar-SA" sz="2200" dirty="0"/>
          </a:p>
        </p:txBody>
      </p:sp>
      <p:sp>
        <p:nvSpPr>
          <p:cNvPr id="27" name="Text 24"/>
          <p:cNvSpPr txBox="1"/>
          <p:nvPr/>
        </p:nvSpPr>
        <p:spPr>
          <a:xfrm>
            <a:off x="3840480" y="3054096"/>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أَيُّ جِهَازٍ تُرِيدُ؟</a:t>
            </a:r>
            <a:endParaRPr lang="ar-SA" sz="2200" dirty="0"/>
          </a:p>
        </p:txBody>
      </p:sp>
      <p:sp>
        <p:nvSpPr>
          <p:cNvPr id="28" name="Text 25"/>
          <p:cNvSpPr txBox="1"/>
          <p:nvPr/>
        </p:nvSpPr>
        <p:spPr>
          <a:xfrm>
            <a:off x="56692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choice: Which device?</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863840" y="3840480"/>
            <a:ext cx="37764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أَقْرَأُ قِصَّةً.</a:t>
            </a:r>
            <a:endParaRPr lang="ar-SA" sz="2200" dirty="0"/>
          </a:p>
        </p:txBody>
      </p:sp>
      <p:sp>
        <p:nvSpPr>
          <p:cNvPr id="33" name="Text 30"/>
          <p:cNvSpPr txBox="1"/>
          <p:nvPr/>
        </p:nvSpPr>
        <p:spPr>
          <a:xfrm>
            <a:off x="3840480" y="3840480"/>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مَاذَا تَقْرَأُ؟</a:t>
            </a:r>
            <a:endParaRPr lang="ar-SA" sz="2200" dirty="0"/>
          </a:p>
        </p:txBody>
      </p:sp>
      <p:sp>
        <p:nvSpPr>
          <p:cNvPr id="34" name="Text 31"/>
          <p:cNvSpPr txBox="1"/>
          <p:nvPr/>
        </p:nvSpPr>
        <p:spPr>
          <a:xfrm>
            <a:off x="56692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open: What are you reading?</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863840" y="4626864"/>
            <a:ext cx="37764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أَقْرَأُ الْقِصَّةَ الْأُولَى.</a:t>
            </a:r>
            <a:endParaRPr lang="ar-SA" sz="2200" dirty="0"/>
          </a:p>
        </p:txBody>
      </p:sp>
      <p:sp>
        <p:nvSpPr>
          <p:cNvPr id="37" name="Text 34"/>
          <p:cNvSpPr txBox="1"/>
          <p:nvPr/>
        </p:nvSpPr>
        <p:spPr>
          <a:xfrm>
            <a:off x="3840480" y="4626864"/>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أَيَّةَ قِصَّةٍ تَقْرَأُ؟</a:t>
            </a:r>
            <a:endParaRPr lang="ar-SA" sz="2200" dirty="0"/>
          </a:p>
        </p:txBody>
      </p:sp>
      <p:sp>
        <p:nvSpPr>
          <p:cNvPr id="38" name="Text 35"/>
          <p:cNvSpPr txBox="1"/>
          <p:nvPr/>
        </p:nvSpPr>
        <p:spPr>
          <a:xfrm>
            <a:off x="56692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choice: Which story?</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meaning test: can the listener point to one option — a day, route, subject or item? If yes, “which?” (ayy / ayya) is the right question.</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GM-INT-02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2 · GENDER AGREEMENT: AYY OR AYYA (WEBSITE LISTS)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The noun decides — not the speaker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أَيٌّ أَمْ أَيَّةٌ؟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61996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Feminine noun</a:t>
            </a:r>
            <a:endParaRPr lang="en-US" sz="1100" dirty="0"/>
          </a:p>
        </p:txBody>
      </p:sp>
      <p:sp>
        <p:nvSpPr>
          <p:cNvPr id="18" name="Text 15"/>
          <p:cNvSpPr txBox="1"/>
          <p:nvPr/>
        </p:nvSpPr>
        <p:spPr>
          <a:xfrm>
            <a:off x="363931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Text 16"/>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Masculine noun</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which hour?</a:t>
            </a:r>
            <a:endParaRPr lang="en-US" sz="1100" dirty="0"/>
          </a:p>
        </p:txBody>
      </p:sp>
      <p:sp>
        <p:nvSpPr>
          <p:cNvPr id="22" name="Text 19"/>
          <p:cNvSpPr txBox="1"/>
          <p:nvPr/>
        </p:nvSpPr>
        <p:spPr>
          <a:xfrm>
            <a:off x="6217920" y="2267712"/>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أَيَّةُ سَاعَةٍ؟</a:t>
            </a:r>
            <a:endParaRPr lang="ar-SA" sz="2400" dirty="0"/>
          </a:p>
        </p:txBody>
      </p:sp>
      <p:sp>
        <p:nvSpPr>
          <p:cNvPr id="23" name="Text 20"/>
          <p:cNvSpPr txBox="1"/>
          <p:nvPr/>
        </p:nvSpPr>
        <p:spPr>
          <a:xfrm>
            <a:off x="3675888" y="2267712"/>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which day?</a:t>
            </a:r>
            <a:endParaRPr lang="en-US" sz="1100" dirty="0"/>
          </a:p>
        </p:txBody>
      </p:sp>
      <p:sp>
        <p:nvSpPr>
          <p:cNvPr id="24" name="Text 21"/>
          <p:cNvSpPr txBox="1"/>
          <p:nvPr/>
        </p:nvSpPr>
        <p:spPr>
          <a:xfrm>
            <a:off x="548640" y="2267712"/>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أَيُّ يَوْمٍ؟</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which school?</a:t>
            </a:r>
            <a:endParaRPr lang="en-US" sz="1100" dirty="0"/>
          </a:p>
        </p:txBody>
      </p:sp>
      <p:sp>
        <p:nvSpPr>
          <p:cNvPr id="29" name="Text 26"/>
          <p:cNvSpPr txBox="1"/>
          <p:nvPr/>
        </p:nvSpPr>
        <p:spPr>
          <a:xfrm>
            <a:off x="6217920" y="300471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أَيَّةُ مَدْرَسَةٍ؟</a:t>
            </a:r>
            <a:endParaRPr lang="ar-SA" sz="2400" dirty="0"/>
          </a:p>
        </p:txBody>
      </p:sp>
      <p:sp>
        <p:nvSpPr>
          <p:cNvPr id="30" name="Text 27"/>
          <p:cNvSpPr txBox="1"/>
          <p:nvPr/>
        </p:nvSpPr>
        <p:spPr>
          <a:xfrm>
            <a:off x="3675888" y="3004718"/>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which book?</a:t>
            </a:r>
            <a:endParaRPr lang="en-US" sz="1100" dirty="0"/>
          </a:p>
        </p:txBody>
      </p:sp>
      <p:sp>
        <p:nvSpPr>
          <p:cNvPr id="31" name="Text 28"/>
          <p:cNvSpPr txBox="1"/>
          <p:nvPr/>
        </p:nvSpPr>
        <p:spPr>
          <a:xfrm>
            <a:off x="548640" y="300471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أَيُّ كِتَابٍ؟</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which bag?</a:t>
            </a:r>
            <a:endParaRPr lang="en-US" sz="1100" dirty="0"/>
          </a:p>
        </p:txBody>
      </p:sp>
      <p:sp>
        <p:nvSpPr>
          <p:cNvPr id="36" name="Text 33"/>
          <p:cNvSpPr txBox="1"/>
          <p:nvPr/>
        </p:nvSpPr>
        <p:spPr>
          <a:xfrm>
            <a:off x="6217920" y="3741725"/>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أَيَّةُ حَقِيبَةٍ؟</a:t>
            </a:r>
            <a:endParaRPr lang="ar-SA" sz="2400" dirty="0"/>
          </a:p>
        </p:txBody>
      </p:sp>
      <p:sp>
        <p:nvSpPr>
          <p:cNvPr id="37" name="Text 34"/>
          <p:cNvSpPr txBox="1"/>
          <p:nvPr/>
        </p:nvSpPr>
        <p:spPr>
          <a:xfrm>
            <a:off x="3675888" y="3741725"/>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which film?</a:t>
            </a:r>
            <a:endParaRPr lang="en-US" sz="1100" dirty="0"/>
          </a:p>
        </p:txBody>
      </p:sp>
      <p:sp>
        <p:nvSpPr>
          <p:cNvPr id="38" name="Text 35"/>
          <p:cNvSpPr txBox="1"/>
          <p:nvPr/>
        </p:nvSpPr>
        <p:spPr>
          <a:xfrm>
            <a:off x="548640" y="3741725"/>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أَيُّ فِلْمٍ؟</a:t>
            </a:r>
            <a:endParaRPr lang="ar-SA" sz="24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which sport?</a:t>
            </a:r>
            <a:endParaRPr lang="en-US" sz="1100" dirty="0"/>
          </a:p>
        </p:txBody>
      </p:sp>
      <p:sp>
        <p:nvSpPr>
          <p:cNvPr id="41" name="Text 38"/>
          <p:cNvSpPr txBox="1"/>
          <p:nvPr/>
        </p:nvSpPr>
        <p:spPr>
          <a:xfrm>
            <a:off x="6217920" y="4478731"/>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أَيَّةُ رِيَاضَةٍ؟</a:t>
            </a:r>
            <a:endParaRPr lang="ar-SA" sz="2400" dirty="0"/>
          </a:p>
        </p:txBody>
      </p:sp>
      <p:sp>
        <p:nvSpPr>
          <p:cNvPr id="42" name="Text 39"/>
          <p:cNvSpPr txBox="1"/>
          <p:nvPr/>
        </p:nvSpPr>
        <p:spPr>
          <a:xfrm>
            <a:off x="3675888" y="4478731"/>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which road?</a:t>
            </a:r>
            <a:endParaRPr lang="en-US" sz="1100" dirty="0"/>
          </a:p>
        </p:txBody>
      </p:sp>
      <p:sp>
        <p:nvSpPr>
          <p:cNvPr id="43" name="Text 40"/>
          <p:cNvSpPr txBox="1"/>
          <p:nvPr/>
        </p:nvSpPr>
        <p:spPr>
          <a:xfrm>
            <a:off x="548640" y="4478731"/>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أَيُّ طَرِيقٍ؟</a:t>
            </a:r>
            <a:endParaRPr lang="ar-SA" sz="24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which language?</a:t>
            </a:r>
            <a:endParaRPr lang="en-US" sz="1100" dirty="0"/>
          </a:p>
        </p:txBody>
      </p:sp>
      <p:sp>
        <p:nvSpPr>
          <p:cNvPr id="46" name="Text 43"/>
          <p:cNvSpPr txBox="1"/>
          <p:nvPr/>
        </p:nvSpPr>
        <p:spPr>
          <a:xfrm>
            <a:off x="6217920" y="521573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أَيَّةُ لُغَةٍ؟</a:t>
            </a:r>
            <a:endParaRPr lang="ar-SA" sz="2400" dirty="0"/>
          </a:p>
        </p:txBody>
      </p:sp>
      <p:sp>
        <p:nvSpPr>
          <p:cNvPr id="47" name="Text 44"/>
          <p:cNvSpPr txBox="1"/>
          <p:nvPr/>
        </p:nvSpPr>
        <p:spPr>
          <a:xfrm>
            <a:off x="3675888" y="5215738"/>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which colour?</a:t>
            </a:r>
            <a:endParaRPr lang="en-US" sz="1100" dirty="0"/>
          </a:p>
        </p:txBody>
      </p:sp>
      <p:sp>
        <p:nvSpPr>
          <p:cNvPr id="48" name="Text 45"/>
          <p:cNvSpPr txBox="1"/>
          <p:nvPr/>
        </p:nvSpPr>
        <p:spPr>
          <a:xfrm>
            <a:off x="548640" y="521573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أَيُّ لَوْنٍ؟</a:t>
            </a:r>
            <a:endParaRPr lang="ar-SA" sz="2400" dirty="0"/>
          </a:p>
        </p:txBody>
      </p:sp>
      <p:sp>
        <p:nvSpPr>
          <p:cNvPr id="49" name="Shape 46"/>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warning: do not guess from meaning — learn the grammatical gender with the noun. Ṭarīq is masculine; sāʿa is feminine. Most nouns ending in tāʾ marbūṭa are feminine → ayya.</a:t>
            </a:r>
            <a:endParaRPr lang="en-US" sz="110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GM-INT-02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3 · THE CONSTRUCT STRUCTURE (WEBSITE TABLE)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Ayy + noun = an iḍāfa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أَيٌّ مُضَافٌ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016752" y="1810512"/>
            <a:ext cx="5641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30906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Second term</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First term</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6053328" y="2267712"/>
            <a:ext cx="56052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which day</a:t>
            </a:r>
            <a:endParaRPr lang="en-US" sz="1100" dirty="0"/>
          </a:p>
        </p:txBody>
      </p:sp>
      <p:sp>
        <p:nvSpPr>
          <p:cNvPr id="21" name="Text 18"/>
          <p:cNvSpPr txBox="1"/>
          <p:nvPr/>
        </p:nvSpPr>
        <p:spPr>
          <a:xfrm>
            <a:off x="3108960" y="2267712"/>
            <a:ext cx="27432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يَوْمٍ</a:t>
            </a:r>
            <a:endParaRPr lang="ar-SA" sz="2600" dirty="0"/>
          </a:p>
        </p:txBody>
      </p:sp>
      <p:sp>
        <p:nvSpPr>
          <p:cNvPr id="22" name="Text 19"/>
          <p:cNvSpPr txBox="1"/>
          <p:nvPr/>
        </p:nvSpPr>
        <p:spPr>
          <a:xfrm>
            <a:off x="548640" y="2267712"/>
            <a:ext cx="23774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أَيُّ</a:t>
            </a:r>
            <a:endParaRPr lang="ar-SA" sz="2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6053328" y="3054096"/>
            <a:ext cx="56052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which hour / time</a:t>
            </a:r>
            <a:endParaRPr lang="en-US" sz="1100" dirty="0"/>
          </a:p>
        </p:txBody>
      </p:sp>
      <p:sp>
        <p:nvSpPr>
          <p:cNvPr id="27" name="Text 24"/>
          <p:cNvSpPr txBox="1"/>
          <p:nvPr/>
        </p:nvSpPr>
        <p:spPr>
          <a:xfrm>
            <a:off x="3108960" y="3054096"/>
            <a:ext cx="27432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سَاعَةٍ</a:t>
            </a:r>
            <a:endParaRPr lang="ar-SA" sz="2600" dirty="0"/>
          </a:p>
        </p:txBody>
      </p:sp>
      <p:sp>
        <p:nvSpPr>
          <p:cNvPr id="28" name="Text 25"/>
          <p:cNvSpPr txBox="1"/>
          <p:nvPr/>
        </p:nvSpPr>
        <p:spPr>
          <a:xfrm>
            <a:off x="548640" y="3054096"/>
            <a:ext cx="23774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أَيَّةُ</a:t>
            </a:r>
            <a:endParaRPr lang="ar-SA" sz="26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6053328" y="3840480"/>
            <a:ext cx="56052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which book (as an object)</a:t>
            </a:r>
            <a:endParaRPr lang="en-US" sz="1100" dirty="0"/>
          </a:p>
        </p:txBody>
      </p:sp>
      <p:sp>
        <p:nvSpPr>
          <p:cNvPr id="33" name="Text 30"/>
          <p:cNvSpPr txBox="1"/>
          <p:nvPr/>
        </p:nvSpPr>
        <p:spPr>
          <a:xfrm>
            <a:off x="3108960" y="3840480"/>
            <a:ext cx="27432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كِتَابٍ</a:t>
            </a:r>
            <a:endParaRPr lang="ar-SA" sz="2600" dirty="0"/>
          </a:p>
        </p:txBody>
      </p:sp>
      <p:sp>
        <p:nvSpPr>
          <p:cNvPr id="34" name="Text 31"/>
          <p:cNvSpPr txBox="1"/>
          <p:nvPr/>
        </p:nvSpPr>
        <p:spPr>
          <a:xfrm>
            <a:off x="548640" y="3840480"/>
            <a:ext cx="23774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أَيَّ</a:t>
            </a:r>
            <a:endParaRPr lang="ar-SA" sz="26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6053328" y="4626864"/>
            <a:ext cx="56052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which school (after a preposition)</a:t>
            </a:r>
            <a:endParaRPr lang="en-US" sz="1100" dirty="0"/>
          </a:p>
        </p:txBody>
      </p:sp>
      <p:sp>
        <p:nvSpPr>
          <p:cNvPr id="37" name="Text 34"/>
          <p:cNvSpPr txBox="1"/>
          <p:nvPr/>
        </p:nvSpPr>
        <p:spPr>
          <a:xfrm>
            <a:off x="3108960" y="4626864"/>
            <a:ext cx="27432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مَدْرَسَةٍ</a:t>
            </a:r>
            <a:endParaRPr lang="ar-SA" sz="2600" dirty="0"/>
          </a:p>
        </p:txBody>
      </p:sp>
      <p:sp>
        <p:nvSpPr>
          <p:cNvPr id="38" name="Text 35"/>
          <p:cNvSpPr txBox="1"/>
          <p:nvPr/>
        </p:nvSpPr>
        <p:spPr>
          <a:xfrm>
            <a:off x="548640" y="4626864"/>
            <a:ext cx="23774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أَيَّةِ</a:t>
            </a:r>
            <a:endParaRPr lang="ar-SA" sz="26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two endings, two jobs. The ending on ayy / ayya follows the role of the whole phrase; the noun after it is ALWAYS genitive because it completes the iḍāfa.</a:t>
            </a:r>
            <a:endParaRPr lang="en-US"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GM-INT-02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4 · CASE ON AYY / AYYA (WEBSITE TABLE)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What job does the whole phrase do?</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إِعْرَابُ أَيٍّ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497312" y="1810512"/>
            <a:ext cx="1161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Ending</a:t>
            </a:r>
            <a:endParaRPr lang="en-US" sz="1100" dirty="0"/>
          </a:p>
        </p:txBody>
      </p:sp>
      <p:sp>
        <p:nvSpPr>
          <p:cNvPr id="17" name="Text 14"/>
          <p:cNvSpPr txBox="1"/>
          <p:nvPr/>
        </p:nvSpPr>
        <p:spPr>
          <a:xfrm>
            <a:off x="665683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Feminine</a:t>
            </a:r>
            <a:endParaRPr lang="en-US" sz="1100" dirty="0"/>
          </a:p>
        </p:txBody>
      </p:sp>
      <p:sp>
        <p:nvSpPr>
          <p:cNvPr id="18" name="Text 15"/>
          <p:cNvSpPr txBox="1"/>
          <p:nvPr/>
        </p:nvSpPr>
        <p:spPr>
          <a:xfrm>
            <a:off x="30906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Masculine</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Role</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10533888" y="2267712"/>
            <a:ext cx="1124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a:t>
            </a:r>
            <a:endParaRPr lang="en-US" sz="1100" dirty="0"/>
          </a:p>
        </p:txBody>
      </p:sp>
      <p:sp>
        <p:nvSpPr>
          <p:cNvPr id="22" name="Text 19"/>
          <p:cNvSpPr txBox="1"/>
          <p:nvPr/>
        </p:nvSpPr>
        <p:spPr>
          <a:xfrm>
            <a:off x="6675120" y="2267712"/>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أَيَّةُ سَاعَةٍ تُنَاسِبُكِ؟</a:t>
            </a:r>
            <a:endParaRPr lang="ar-SA" sz="2200" dirty="0"/>
          </a:p>
        </p:txBody>
      </p:sp>
      <p:sp>
        <p:nvSpPr>
          <p:cNvPr id="23" name="Text 20"/>
          <p:cNvSpPr txBox="1"/>
          <p:nvPr/>
        </p:nvSpPr>
        <p:spPr>
          <a:xfrm>
            <a:off x="3108960" y="2267712"/>
            <a:ext cx="33832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أَيُّ يَوْمٍ يُنَاسِبُكَ؟</a:t>
            </a:r>
            <a:endParaRPr lang="ar-SA" sz="2200" dirty="0"/>
          </a:p>
        </p:txBody>
      </p:sp>
      <p:sp>
        <p:nvSpPr>
          <p:cNvPr id="24" name="Text 21"/>
          <p:cNvSpPr txBox="1"/>
          <p:nvPr/>
        </p:nvSpPr>
        <p:spPr>
          <a:xfrm>
            <a:off x="566928" y="2267712"/>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subject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10533888" y="3054096"/>
            <a:ext cx="1124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a:t>
            </a:r>
            <a:endParaRPr lang="en-US" sz="1100" dirty="0"/>
          </a:p>
        </p:txBody>
      </p:sp>
      <p:sp>
        <p:nvSpPr>
          <p:cNvPr id="29" name="Text 26"/>
          <p:cNvSpPr txBox="1"/>
          <p:nvPr/>
        </p:nvSpPr>
        <p:spPr>
          <a:xfrm>
            <a:off x="6675120" y="3054096"/>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أَيَّةَ رِيَاضَةٍ تُفَضِّلِينَ؟</a:t>
            </a:r>
            <a:endParaRPr lang="ar-SA" sz="2200" dirty="0"/>
          </a:p>
        </p:txBody>
      </p:sp>
      <p:sp>
        <p:nvSpPr>
          <p:cNvPr id="30" name="Text 27"/>
          <p:cNvSpPr txBox="1"/>
          <p:nvPr/>
        </p:nvSpPr>
        <p:spPr>
          <a:xfrm>
            <a:off x="3108960" y="3054096"/>
            <a:ext cx="33832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أَيَّ كِتَابٍ قَرَأْتَ؟</a:t>
            </a:r>
            <a:endParaRPr lang="ar-SA" sz="2200" dirty="0"/>
          </a:p>
        </p:txBody>
      </p:sp>
      <p:sp>
        <p:nvSpPr>
          <p:cNvPr id="31" name="Text 28"/>
          <p:cNvSpPr txBox="1"/>
          <p:nvPr/>
        </p:nvSpPr>
        <p:spPr>
          <a:xfrm>
            <a:off x="566928" y="3054096"/>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object</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10533888" y="3840480"/>
            <a:ext cx="1124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a:t>
            </a:r>
            <a:endParaRPr lang="en-US" sz="1100" dirty="0"/>
          </a:p>
        </p:txBody>
      </p:sp>
      <p:sp>
        <p:nvSpPr>
          <p:cNvPr id="36" name="Text 33"/>
          <p:cNvSpPr txBox="1"/>
          <p:nvPr/>
        </p:nvSpPr>
        <p:spPr>
          <a:xfrm>
            <a:off x="6675120" y="3840480"/>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أَيَّةِ مَدْرَسَةٍ تَدْرُسِينَ؟</a:t>
            </a:r>
            <a:endParaRPr lang="ar-SA" sz="2200" dirty="0"/>
          </a:p>
        </p:txBody>
      </p:sp>
      <p:sp>
        <p:nvSpPr>
          <p:cNvPr id="37" name="Text 34"/>
          <p:cNvSpPr txBox="1"/>
          <p:nvPr/>
        </p:nvSpPr>
        <p:spPr>
          <a:xfrm>
            <a:off x="3108960" y="3840480"/>
            <a:ext cx="33832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أَيِّ فَصْلٍ تَدْرُسُ؟</a:t>
            </a:r>
            <a:endParaRPr lang="ar-SA" sz="2200" dirty="0"/>
          </a:p>
        </p:txBody>
      </p:sp>
      <p:sp>
        <p:nvSpPr>
          <p:cNvPr id="38" name="Text 35"/>
          <p:cNvSpPr txBox="1"/>
          <p:nvPr/>
        </p:nvSpPr>
        <p:spPr>
          <a:xfrm>
            <a:off x="566928" y="3840480"/>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after a preposition</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Text 3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three-step decision: (1) gender of the noun → ayy or ayya; (2) role of the whole phrase → -u, -a or -i; (3) the noun after it → -in.</a:t>
            </a:r>
            <a:endParaRPr lang="en-US" sz="11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GM-INT-02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20" b="1" spc="150" kern="0" dirty="0">
                <a:solidFill>
                  <a:srgbClr val="1B3B6F"/>
                </a:solidFill>
                <a:latin typeface="Calibri" pitchFamily="34" charset="0"/>
                <a:ea typeface="Calibri" pitchFamily="34" charset="-122"/>
                <a:cs typeface="Calibri" pitchFamily="34" charset="-120"/>
              </a:rPr>
              <a:t>GRAMMAR · PART 5 · KNOWN CHOICES, ANSWERS AND FOLLOW-UPS (WEBSITE MODELS) · STRETCH</a:t>
            </a:r>
            <a:endParaRPr lang="en-US" sz="82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Ask the category — answer with the choice</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السُّؤَالُ وَالْجَوَابُ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2571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Context</a:t>
            </a:r>
            <a:endParaRPr lang="en-US" sz="1100" dirty="0"/>
          </a:p>
        </p:txBody>
      </p:sp>
      <p:sp>
        <p:nvSpPr>
          <p:cNvPr id="17" name="Text 14"/>
          <p:cNvSpPr txBox="1"/>
          <p:nvPr/>
        </p:nvSpPr>
        <p:spPr>
          <a:xfrm>
            <a:off x="455371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Answer</a:t>
            </a:r>
            <a:endParaRPr lang="en-US" sz="1100" dirty="0"/>
          </a:p>
        </p:txBody>
      </p:sp>
      <p:sp>
        <p:nvSpPr>
          <p:cNvPr id="18" name="Text 15"/>
          <p:cNvSpPr txBox="1"/>
          <p:nvPr/>
        </p:nvSpPr>
        <p:spPr>
          <a:xfrm>
            <a:off x="5303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162288" y="2267712"/>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timetable</a:t>
            </a:r>
            <a:endParaRPr lang="en-US" sz="1100" dirty="0"/>
          </a:p>
        </p:txBody>
      </p:sp>
      <p:sp>
        <p:nvSpPr>
          <p:cNvPr id="21" name="Text 18"/>
          <p:cNvSpPr txBox="1"/>
          <p:nvPr/>
        </p:nvSpPr>
        <p:spPr>
          <a:xfrm>
            <a:off x="4572000" y="2267712"/>
            <a:ext cx="43891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أُفَضِّلُ يَوْمَ السَّبْتِ لِأَنَّنِي مُتَفَرِّغٌ.</a:t>
            </a:r>
            <a:endParaRPr lang="ar-SA" sz="2200" dirty="0"/>
          </a:p>
        </p:txBody>
      </p:sp>
      <p:sp>
        <p:nvSpPr>
          <p:cNvPr id="22" name="Text 19"/>
          <p:cNvSpPr txBox="1"/>
          <p:nvPr/>
        </p:nvSpPr>
        <p:spPr>
          <a:xfrm>
            <a:off x="548640" y="2267712"/>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أَيُّ يَوْمٍ تُفَضِّلُ؟</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9162288" y="3054096"/>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travel</a:t>
            </a:r>
            <a:endParaRPr lang="en-US" sz="1100" dirty="0"/>
          </a:p>
        </p:txBody>
      </p:sp>
      <p:sp>
        <p:nvSpPr>
          <p:cNvPr id="27" name="Text 24"/>
          <p:cNvSpPr txBox="1"/>
          <p:nvPr/>
        </p:nvSpPr>
        <p:spPr>
          <a:xfrm>
            <a:off x="4572000" y="3054096"/>
            <a:ext cx="43891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سَأُسَافِرُ إِلَى الْقَاهِرَةِ.</a:t>
            </a:r>
            <a:endParaRPr lang="ar-SA" sz="2200" dirty="0"/>
          </a:p>
        </p:txBody>
      </p:sp>
      <p:sp>
        <p:nvSpPr>
          <p:cNvPr id="28" name="Text 25"/>
          <p:cNvSpPr txBox="1"/>
          <p:nvPr/>
        </p:nvSpPr>
        <p:spPr>
          <a:xfrm>
            <a:off x="548640" y="3054096"/>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إِلَى أَيَّةِ مَدِينَةٍ سَتُسَافِرِينَ؟</a:t>
            </a:r>
            <a:endParaRPr lang="ar-SA" sz="22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9162288" y="3840480"/>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school</a:t>
            </a:r>
            <a:endParaRPr lang="en-US" sz="1100" dirty="0"/>
          </a:p>
        </p:txBody>
      </p:sp>
      <p:sp>
        <p:nvSpPr>
          <p:cNvPr id="31" name="Text 28"/>
          <p:cNvSpPr txBox="1"/>
          <p:nvPr/>
        </p:nvSpPr>
        <p:spPr>
          <a:xfrm>
            <a:off x="4572000" y="3840480"/>
            <a:ext cx="43891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أُحِبُّ عِلْمَ الْأَحْيَاءِ لِأَنَّهُ مُثِيرٌ.</a:t>
            </a:r>
            <a:endParaRPr lang="ar-SA" sz="2200" dirty="0"/>
          </a:p>
        </p:txBody>
      </p:sp>
      <p:sp>
        <p:nvSpPr>
          <p:cNvPr id="32" name="Text 29"/>
          <p:cNvSpPr txBox="1"/>
          <p:nvPr/>
        </p:nvSpPr>
        <p:spPr>
          <a:xfrm>
            <a:off x="548640" y="3840480"/>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أَيَّةَ مَادَّةٍ تُحِبُّ؟</a:t>
            </a:r>
            <a:endParaRPr lang="ar-SA" sz="2200" dirty="0"/>
          </a:p>
        </p:txBody>
      </p:sp>
      <p:sp>
        <p:nvSpPr>
          <p:cNvPr id="33" name="Shape 30"/>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9162288" y="4626864"/>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two options</a:t>
            </a:r>
            <a:endParaRPr lang="en-US" sz="1100" dirty="0"/>
          </a:p>
        </p:txBody>
      </p:sp>
      <p:sp>
        <p:nvSpPr>
          <p:cNvPr id="37" name="Text 34"/>
          <p:cNvSpPr txBox="1"/>
          <p:nvPr/>
        </p:nvSpPr>
        <p:spPr>
          <a:xfrm>
            <a:off x="4572000" y="4626864"/>
            <a:ext cx="43891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أَفْضَلُ لِي.</a:t>
            </a:r>
            <a:endParaRPr lang="ar-SA" sz="2200" dirty="0"/>
          </a:p>
        </p:txBody>
      </p:sp>
      <p:sp>
        <p:nvSpPr>
          <p:cNvPr id="38" name="Text 35"/>
          <p:cNvSpPr txBox="1"/>
          <p:nvPr/>
        </p:nvSpPr>
        <p:spPr>
          <a:xfrm>
            <a:off x="548640" y="4626864"/>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أَيُّهُمَا أَفْضَلُ لَكَ؟</a:t>
            </a:r>
            <a:endParaRPr lang="ar-SA" sz="22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a strong question names the category; a strong answer names the chosen item and gives a reason. Ayyuhumā = which of the two (ayy + the dual ending -humā).</a:t>
            </a:r>
            <a:endParaRPr lang="en-US"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GM-INT-02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“which language”.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 لُغَةٍ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 لُغَةً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أَيَّةُ لُغَةٍ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“which road”.</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 طَرِيقٍ</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أَيَّةُ طَرِيقٍ</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 طَرِيقًا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“Which sport do you prefer?”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 رِيَاضَةٍ تُفَضِّلُ؟</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أَيَّةَ رِيَاضَةٍ تُفَضِّلُ؟</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أَيَّةُ رِيَاضَةٌ تُفَضِّلُ؟</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“Which colour suits you?”</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 لَوْنٍ يُنَاسِبُكَ؟</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أَيَّةُ لَوْنٍ يُنَاسِبُكَ؟</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 لَوْنًا يُنَاسِبُكَ؟</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GM-INT-02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“which language”.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 لُغَةٍ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 لُغَةً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أَيَّةُ لُغَةٍ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Lugha is feminine.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“which road”.</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أَيُّ طَرِيقٍ</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أَيَّةُ طَرِيقٍ</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 طَرِيقًا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Ṭarīq is masculine.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“Which sport do you prefer?”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 رِيَاضَةٍ تُفَضِّلُ؟</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أَيَّةَ رِيَاضَةٍ تُفَضِّلُ؟</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أَيَّةُ رِيَاضَةٌ تُفَضِّلُ؟</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 object: ayyata.</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“Which colour suits you?”</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أَيُّ لَوْنٍ يُنَاسِبُكَ؟</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أَيَّةُ لَوْنٍ يُنَاسِبُكَ؟</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 لَوْنًا يُنَاسِبُكَ؟</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 subject: ayyu.</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GM-INT-02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Watch me build “which?” questions</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Noun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مَادَّةٍ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Feminine → ayya.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Role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سَتَخْتَارُ</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Object of the verb → -a.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Question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أَيَّةَ مَادَّةٍ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ayyata + noun -in.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After fī</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فِي أَيَّةِ قَاعَةٍ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Genitive -i.</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WHICH</a:t>
            </a:r>
            <a:endParaRPr lang="en-US" sz="800" dirty="0"/>
          </a:p>
        </p:txBody>
      </p:sp>
      <p:sp>
        <p:nvSpPr>
          <p:cNvPr id="47" name="Shape 43"/>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NOUN (-in)</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50" b="1" dirty="0">
                <a:solidFill>
                  <a:srgbClr val="0E7C86"/>
                </a:solidFill>
                <a:latin typeface="Amiri" pitchFamily="34" charset="0"/>
                <a:ea typeface="Amiri" pitchFamily="34" charset="-122"/>
                <a:cs typeface="Amiri" pitchFamily="34" charset="-120"/>
              </a:rPr>
              <a:t>أَيَّةَ</a:t>
            </a:r>
            <a:pPr rtl="1" algn="r" indent="0" marL="0">
              <a:buNone/>
            </a:pPr>
            <a:r>
              <a:rPr lang="ar-SA" altLang="en-US" sz="1750" b="1" dirty="0">
                <a:solidFill>
                  <a:srgbClr val="1B3B6F"/>
                </a:solidFill>
                <a:latin typeface="Amiri" pitchFamily="34" charset="0"/>
                <a:ea typeface="Amiri" pitchFamily="34" charset="-122"/>
                <a:cs typeface="Amiri" pitchFamily="34" charset="-120"/>
              </a:rPr>
              <a:t> </a:t>
            </a:r>
            <a:pPr rtl="1" algn="r" indent="0" marL="0">
              <a:buNone/>
            </a:pPr>
            <a:r>
              <a:rPr lang="ar-SA" altLang="en-US" sz="1750" b="1" dirty="0">
                <a:solidFill>
                  <a:srgbClr val="7B3FA0"/>
                </a:solidFill>
                <a:latin typeface="Amiri" pitchFamily="34" charset="0"/>
                <a:ea typeface="Amiri" pitchFamily="34" charset="-122"/>
                <a:cs typeface="Amiri" pitchFamily="34" charset="-120"/>
              </a:rPr>
              <a:t>مَادَّةٍ</a:t>
            </a:r>
            <a:pPr rtl="1" algn="r" indent="0" marL="0">
              <a:buNone/>
            </a:pPr>
            <a:r>
              <a:rPr lang="ar-SA" altLang="en-US" sz="1750" b="1" dirty="0">
                <a:solidFill>
                  <a:srgbClr val="1B3B6F"/>
                </a:solidFill>
                <a:latin typeface="Amiri" pitchFamily="34" charset="0"/>
                <a:ea typeface="Amiri" pitchFamily="34" charset="-122"/>
                <a:cs typeface="Amiri" pitchFamily="34" charset="-120"/>
              </a:rPr>
              <a:t> سَتَخْتَارُ؟ </a:t>
            </a:r>
            <a:pPr rtl="1" algn="r" indent="0" marL="0">
              <a:buNone/>
            </a:pPr>
            <a:r>
              <a:rPr lang="ar-SA" altLang="en-US" sz="1750" b="1" dirty="0">
                <a:solidFill>
                  <a:srgbClr val="0E7C86"/>
                </a:solidFill>
                <a:latin typeface="Amiri" pitchFamily="34" charset="0"/>
                <a:ea typeface="Amiri" pitchFamily="34" charset="-122"/>
                <a:cs typeface="Amiri" pitchFamily="34" charset="-120"/>
              </a:rPr>
              <a:t>أَيُّ</a:t>
            </a:r>
            <a:pPr rtl="1" algn="r" indent="0" marL="0">
              <a:buNone/>
            </a:pPr>
            <a:r>
              <a:rPr lang="ar-SA" altLang="en-US" sz="1750" b="1" dirty="0">
                <a:solidFill>
                  <a:srgbClr val="1B3B6F"/>
                </a:solidFill>
                <a:latin typeface="Amiri" pitchFamily="34" charset="0"/>
                <a:ea typeface="Amiri" pitchFamily="34" charset="-122"/>
                <a:cs typeface="Amiri" pitchFamily="34" charset="-120"/>
              </a:rPr>
              <a:t> </a:t>
            </a:r>
            <a:pPr rtl="1" algn="r" indent="0" marL="0">
              <a:buNone/>
            </a:pPr>
            <a:r>
              <a:rPr lang="ar-SA" altLang="en-US" sz="1750" b="1" dirty="0">
                <a:solidFill>
                  <a:srgbClr val="7B3FA0"/>
                </a:solidFill>
                <a:latin typeface="Amiri" pitchFamily="34" charset="0"/>
                <a:ea typeface="Amiri" pitchFamily="34" charset="-122"/>
                <a:cs typeface="Amiri" pitchFamily="34" charset="-120"/>
              </a:rPr>
              <a:t>يَوْمٍ</a:t>
            </a:r>
            <a:pPr rtl="1" algn="r" indent="0" marL="0">
              <a:buNone/>
            </a:pPr>
            <a:r>
              <a:rPr lang="ar-SA" altLang="en-US" sz="1750" b="1" dirty="0">
                <a:solidFill>
                  <a:srgbClr val="1B3B6F"/>
                </a:solidFill>
                <a:latin typeface="Amiri" pitchFamily="34" charset="0"/>
                <a:ea typeface="Amiri" pitchFamily="34" charset="-122"/>
                <a:cs typeface="Amiri" pitchFamily="34" charset="-120"/>
              </a:rPr>
              <a:t> يُنَاسِبُكَ؟ فِي </a:t>
            </a:r>
            <a:pPr rtl="1" algn="r" indent="0" marL="0">
              <a:buNone/>
            </a:pPr>
            <a:r>
              <a:rPr lang="ar-SA" altLang="en-US" sz="1750" b="1" dirty="0">
                <a:solidFill>
                  <a:srgbClr val="0E7C86"/>
                </a:solidFill>
                <a:latin typeface="Amiri" pitchFamily="34" charset="0"/>
                <a:ea typeface="Amiri" pitchFamily="34" charset="-122"/>
                <a:cs typeface="Amiri" pitchFamily="34" charset="-120"/>
              </a:rPr>
              <a:t>أَيَّةِ</a:t>
            </a:r>
            <a:pPr rtl="1" algn="r" indent="0" marL="0">
              <a:buNone/>
            </a:pPr>
            <a:r>
              <a:rPr lang="ar-SA" altLang="en-US" sz="1750" b="1" dirty="0">
                <a:solidFill>
                  <a:srgbClr val="1B3B6F"/>
                </a:solidFill>
                <a:latin typeface="Amiri" pitchFamily="34" charset="0"/>
                <a:ea typeface="Amiri" pitchFamily="34" charset="-122"/>
                <a:cs typeface="Amiri" pitchFamily="34" charset="-120"/>
              </a:rPr>
              <a:t> </a:t>
            </a:r>
            <a:pPr rtl="1" algn="r" indent="0" marL="0">
              <a:buNone/>
            </a:pPr>
            <a:r>
              <a:rPr lang="ar-SA" altLang="en-US" sz="1750" b="1" dirty="0">
                <a:solidFill>
                  <a:srgbClr val="7B3FA0"/>
                </a:solidFill>
                <a:latin typeface="Amiri" pitchFamily="34" charset="0"/>
                <a:ea typeface="Amiri" pitchFamily="34" charset="-122"/>
                <a:cs typeface="Amiri" pitchFamily="34" charset="-120"/>
              </a:rPr>
              <a:t>قَاعَةٍ</a:t>
            </a:r>
            <a:pPr rtl="1" algn="r" indent="0" marL="0">
              <a:buNone/>
            </a:pPr>
            <a:r>
              <a:rPr lang="ar-SA" altLang="en-US" sz="1750" b="1" dirty="0">
                <a:solidFill>
                  <a:srgbClr val="1B3B6F"/>
                </a:solidFill>
                <a:latin typeface="Amiri" pitchFamily="34" charset="0"/>
                <a:ea typeface="Amiri" pitchFamily="34" charset="-122"/>
                <a:cs typeface="Amiri" pitchFamily="34" charset="-120"/>
              </a:rPr>
              <a:t> سَتَكُونُ الْحِصَّةُ؟ — أَخْتَارُ الْكِيمْيَاءَ. يُنَاسِبُنِي يَوْمُ الثُّلَاثَاءِ. الْحِصَّةُ فِي الْقَاعَةِ الثَّالِثَةِ.</a:t>
            </a:r>
            <a:endParaRPr lang="ar-SA" sz="17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ea typeface="Calibri" pitchFamily="34" charset="-122"/>
                <a:cs typeface="Calibri" pitchFamily="34" charset="-120"/>
              </a:rPr>
              <a:t>Which subject will you choose? Which day suits you? In which hall will the lesson be? — I choose chemistry. Tuesday suits me. The lesson is in the third hall.</a:t>
            </a:r>
            <a:endParaRPr lang="en-US" sz="115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GM-INT-02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أَيُّ يَوْمٍ يُنَاسِبُكَ؟</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Which day suits you?</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Subject: ayyu.</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أَيَّ كِتَابٍ قَرَأْتَ؟</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Which book did you read?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Object: ayya.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فِي أَيَّةِ مَدْرَسَةٍ تَدْرُسِينَ؟</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Which school do you study at? (to a girl)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After fī: ayyati.</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أَيُّهُمَا أَفْضَلُ لَكَ؟</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Which of the two is better for you?</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Two options.</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GM-INT-02 · Interrogatives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MEANING → QUESTION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Gender first, then case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Gender · case</a:t>
            </a:r>
            <a:endParaRPr lang="en-US" sz="1100" dirty="0"/>
          </a:p>
        </p:txBody>
      </p:sp>
      <p:sp>
        <p:nvSpPr>
          <p:cNvPr id="17" name="Text 14"/>
          <p:cNvSpPr txBox="1"/>
          <p:nvPr/>
        </p:nvSpPr>
        <p:spPr>
          <a:xfrm>
            <a:off x="40050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8" name="Text 15"/>
          <p:cNvSpPr txBox="1"/>
          <p:nvPr/>
        </p:nvSpPr>
        <p:spPr>
          <a:xfrm>
            <a:off x="53035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613648" y="226771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 · subject -u</a:t>
            </a:r>
            <a:endParaRPr lang="en-US" sz="1100" dirty="0"/>
          </a:p>
        </p:txBody>
      </p:sp>
      <p:sp>
        <p:nvSpPr>
          <p:cNvPr id="21" name="Text 18"/>
          <p:cNvSpPr txBox="1"/>
          <p:nvPr/>
        </p:nvSpPr>
        <p:spPr>
          <a:xfrm>
            <a:off x="4023360" y="2267712"/>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أَيُّ يَوْمٍ يُنَاسِبُكَ؟</a:t>
            </a:r>
            <a:endParaRPr lang="ar-SA" sz="2200" dirty="0"/>
          </a:p>
        </p:txBody>
      </p:sp>
      <p:sp>
        <p:nvSpPr>
          <p:cNvPr id="22" name="Text 19"/>
          <p:cNvSpPr txBox="1"/>
          <p:nvPr/>
        </p:nvSpPr>
        <p:spPr>
          <a:xfrm>
            <a:off x="566928" y="2267712"/>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Which day suits you?</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613648" y="2881884"/>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 · object -a</a:t>
            </a:r>
            <a:endParaRPr lang="en-US" sz="1100" dirty="0"/>
          </a:p>
        </p:txBody>
      </p:sp>
      <p:sp>
        <p:nvSpPr>
          <p:cNvPr id="27" name="Text 24"/>
          <p:cNvSpPr txBox="1"/>
          <p:nvPr/>
        </p:nvSpPr>
        <p:spPr>
          <a:xfrm>
            <a:off x="4023360" y="2881884"/>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أَيَّ كِتَابٍ اشْتَرَيْتَ؟</a:t>
            </a:r>
            <a:endParaRPr lang="ar-SA" sz="2200" dirty="0"/>
          </a:p>
        </p:txBody>
      </p:sp>
      <p:sp>
        <p:nvSpPr>
          <p:cNvPr id="28" name="Text 25"/>
          <p:cNvSpPr txBox="1"/>
          <p:nvPr/>
        </p:nvSpPr>
        <p:spPr>
          <a:xfrm>
            <a:off x="566928" y="2881884"/>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Which book did you buy?</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613648" y="3496056"/>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 · object -a</a:t>
            </a:r>
            <a:endParaRPr lang="en-US" sz="1100" dirty="0"/>
          </a:p>
        </p:txBody>
      </p:sp>
      <p:sp>
        <p:nvSpPr>
          <p:cNvPr id="33" name="Text 30"/>
          <p:cNvSpPr txBox="1"/>
          <p:nvPr/>
        </p:nvSpPr>
        <p:spPr>
          <a:xfrm>
            <a:off x="4023360" y="3496056"/>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أَيَّةَ حَقِيبَةٍ اخْتَارَتْ؟</a:t>
            </a:r>
            <a:endParaRPr lang="ar-SA" sz="2200" dirty="0"/>
          </a:p>
        </p:txBody>
      </p:sp>
      <p:sp>
        <p:nvSpPr>
          <p:cNvPr id="34" name="Text 31"/>
          <p:cNvSpPr txBox="1"/>
          <p:nvPr/>
        </p:nvSpPr>
        <p:spPr>
          <a:xfrm>
            <a:off x="566928" y="3496056"/>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Which bag did she choose?</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613648" y="4110228"/>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 · after fī -i</a:t>
            </a:r>
            <a:endParaRPr lang="en-US" sz="1100" dirty="0"/>
          </a:p>
        </p:txBody>
      </p:sp>
      <p:sp>
        <p:nvSpPr>
          <p:cNvPr id="39" name="Text 36"/>
          <p:cNvSpPr txBox="1"/>
          <p:nvPr/>
        </p:nvSpPr>
        <p:spPr>
          <a:xfrm>
            <a:off x="4023360" y="4110228"/>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أَيِّ فَصْلٍ؟</a:t>
            </a:r>
            <a:endParaRPr lang="ar-SA" sz="2200" dirty="0"/>
          </a:p>
        </p:txBody>
      </p:sp>
      <p:sp>
        <p:nvSpPr>
          <p:cNvPr id="40" name="Text 37"/>
          <p:cNvSpPr txBox="1"/>
          <p:nvPr/>
        </p:nvSpPr>
        <p:spPr>
          <a:xfrm>
            <a:off x="566928" y="4110228"/>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 which class?</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613648" y="4724400"/>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 · after min -i</a:t>
            </a:r>
            <a:endParaRPr lang="en-US" sz="1100" dirty="0"/>
          </a:p>
        </p:txBody>
      </p:sp>
      <p:sp>
        <p:nvSpPr>
          <p:cNvPr id="43" name="Text 40"/>
          <p:cNvSpPr txBox="1"/>
          <p:nvPr/>
        </p:nvSpPr>
        <p:spPr>
          <a:xfrm>
            <a:off x="4023360" y="4724400"/>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مِنْ أَيَّةِ مَدِينَةٍ؟</a:t>
            </a:r>
            <a:endParaRPr lang="ar-SA" sz="2200" dirty="0"/>
          </a:p>
        </p:txBody>
      </p:sp>
      <p:sp>
        <p:nvSpPr>
          <p:cNvPr id="44" name="Text 41"/>
          <p:cNvSpPr txBox="1"/>
          <p:nvPr/>
        </p:nvSpPr>
        <p:spPr>
          <a:xfrm>
            <a:off x="566928" y="4724400"/>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From which city?</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613648" y="533857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 · subject -u</a:t>
            </a:r>
            <a:endParaRPr lang="en-US" sz="1100" dirty="0"/>
          </a:p>
        </p:txBody>
      </p:sp>
      <p:sp>
        <p:nvSpPr>
          <p:cNvPr id="47" name="Text 44"/>
          <p:cNvSpPr txBox="1"/>
          <p:nvPr/>
        </p:nvSpPr>
        <p:spPr>
          <a:xfrm>
            <a:off x="4023360" y="5338572"/>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أَيَّةُ لُغَةٍ أَسْهَلُ؟</a:t>
            </a:r>
            <a:endParaRPr lang="ar-SA" sz="2200" dirty="0"/>
          </a:p>
        </p:txBody>
      </p:sp>
      <p:sp>
        <p:nvSpPr>
          <p:cNvPr id="48" name="Text 45"/>
          <p:cNvSpPr txBox="1"/>
          <p:nvPr/>
        </p:nvSpPr>
        <p:spPr>
          <a:xfrm>
            <a:off x="566928" y="5338572"/>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Which language is easier?</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editing sequence: gender → sentence role → genitive noun after ayy.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GM-INT-02 · Interrogatives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LEARN THE GENDER WITH THE NOUN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Ayy or ayya?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أَيٌّ أَمْ أَيَّةٌ؟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يَوْمٌ</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كِتَابٌ</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طَرِيقٌ</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سَاعَةٌ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لُغَةٌ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رِيَاضَةٌ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مَدِينَةٌ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Masculine → ayy</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Feminine → ayya</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GM-INT-02 · Interrogatives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Masculine → ayy</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يَوْمٌ</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كِتَابٌ</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طَرِيقٌ</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لَوْنٌ</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Feminine → ayya</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سَاعَةٌ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لُغَةٌ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رِيَاضَةٌ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مَدِينَةٌ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GM-INT-02 · Interrogatives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أَيَّةُ يَوْمٍ يُنَاسِبُكِ؟</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yawm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مِنْ أَيَّةُ دَوْلَةٌ أَنْتَ؟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does min do?</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أَيُّ كِتَابٌ قَرَأْتَ؟</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Did the book do the action or receive it?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GM-INT-02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أَيَّةُ يَوْمٍ يُنَاسِبُكِ؟</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أَيُّ يَوْمٍ يُنَاسِبُكِ؟</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Yawm is masculine (website repair lab).</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مِنْ أَيَّةُ دَوْلَةٌ أَنْتَ؟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مِنْ أَيَّةِ دَوْلَةٍ أَنْتَ؟</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min: ayyati … dawlatin (website repair lab).</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أَيُّ كِتَابٌ قَرَأْتَ؟</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أَيَّ كِتَابٍ قَرَأْتَ؟</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Object: ayya; the noun after it is -in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GM-INT-02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GUIDED PRACTICE · WEBSITE MINI-CHECK: CASE AND REPAIR LAB</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“Which teacher arrived?”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 مُعَلِّمٍ وَصَلَ؟</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 مُعَلِّمٍ وَصَلَ؟</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 مُعَلِّمٍ وَصَلَ؟</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“Which film did you watch?”</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 فِلْمٍ شَاهَدْتَ؟</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 فِلْمٍ شَاهَدْتَ؟</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أَيِّ فِلْمٍ شَاهَدْتَ؟</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“From which city?”</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أَيَّةُ مَدِينَةٌ؟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أَيَّةِ مَدِينَةٍ؟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أَيَّةَ مَدِينَةً؟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أَيُّ حَقِيبَةٍ اشْتَرَيْتِ؟</a:t>
            </a:r>
            <a:endParaRPr lang="ar-SA" sz="15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أَيَّةُ حَقِيبَةٌ اشْتَرَيْتِ؟</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 حَقِيبَةً اشْتَرَيْتِ؟</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أَيَّةَ حَقِيبَةٍ اشْتَرَيْتِ؟</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GM-INT-02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“Which teacher arrived?”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 مُعَلِّمٍ وَصَلَ؟</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 مُعَلِّمٍ وَصَلَ؟</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أَيُّ مُعَلِّمٍ وَصَلَ؟</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Subject: ayyu.</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“Which film did you watch?”</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 فِلْمٍ شَاهَدْتَ؟</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أَيَّ فِلْمٍ شَاهَدْتَ؟</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أَيِّ فِلْمٍ شَاهَدْتَ؟</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Object: ayya.</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“From which city?”</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أَيَّةُ مَدِينَةٌ؟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أَيَّةِ مَدِينَةٍ؟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أَيَّةَ مَدِينَةً؟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min: ayyati madīnatin.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أَيُّ حَقِيبَةٍ اشْتَرَيْتِ؟</a:t>
            </a:r>
            <a:endParaRPr lang="ar-SA" sz="150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أَيَّةُ حَقِيبَةٌ اشْتَرَيْتِ؟</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 حَقِيبَةً اشْتَرَيْتِ؟</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أَيَّةَ حَقِيبَةٍ اشْتَرَيْتِ؟</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 object: ayyata.</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GM-INT-02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E6B52"/>
                </a:solidFill>
                <a:latin typeface="Calibri" pitchFamily="34" charset="0"/>
                <a:ea typeface="Calibri" pitchFamily="34" charset="-122"/>
                <a:cs typeface="Calibri" pitchFamily="34" charset="-120"/>
              </a:rPr>
              <a:t>YOU DO · READ AND NOTICE · WEBSITE READING: COURSE CHOICES (EXTENDED NOTICE)</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Choosing an extra subject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أَهْلًا بِكُمْ فِي الْأُسْبُوعِ الْأَوَّلِ! أَيَّةَ مَادَّةٍ إِضَافِيَّةٍ سَتَخْتَارُونَ هَذَا الْفَصْلَ؟ عِنْدَنَا ثَلَاثُ مَوَادَّ: الْفُنُونُ، وَالْبَرْمَجَةُ، وَالْخَطُّ الْعَرَبِيُّ. أَيُّ يَوْمٍ يُنَاسِبُكُمْ؟ الْحِصَصُ يَوْمَ الِاثْنَيْنِ أَوْ يَوْمَ الْأَرْبِعَاءِ. فِي أَيَّةِ قَاعَةٍ سَتَكُونُ الْحِصَّةُ؟ حِصَّةُ الْبَرْمَجَةِ فِي مُخْتَبَرِ الْحَاسُوبِ، وَحِصَّةُ الْخَطِّ فِي الْمَكْتَبَةِ. اُكْتُبُوا اسْمَ الْمَادَّةِ وَالْيَوْمِ عَلَى الْوَرَقَةِ، وَأَعْطُوهَا لِمُعَلِّمِ الْفَصْلِ قَبْلَ يَوْمِ الْخَمِيسِ.</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إِضَافِيَّةٍ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extra</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الْبَرْمَجَةُ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programming</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الْخَطُّ</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calligraphy</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مُخْتَبَرِ</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laboratory</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الْوَرَقَةِ</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sheet of paper</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GM-INT-02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extra subjects are offered?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programming lesson?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library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hall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computer lab</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ayyata in ayyata māddatin?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feminine noun, object of the verb</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masculine noun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a preposition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must they hand in the sheet?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Monday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before Thursday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Wednesday</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GM-INT-02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extra subjects are offered?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three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four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Thalāthu mawādda.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programming lesson?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library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hall</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the computer lab</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Fī mukhtabari l-ḥāsūbi.</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ayyata in ayyata māddatin?</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feminine noun, object of the verb</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masculine noun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a preposition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Mādda is feminine; it receives sa-takhtārūna.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must they hand in the sheet?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Monday</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before Thursday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Wednesday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Qabla yawmi l-khamīsi.</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GM-INT-02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the choice ladder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لَوْنٍ تُحِبُّ؟</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أَيَّةَ رِيَاضَةٍ تُفَضِّلُ؟ وَلِمَاذَا؟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إِلَى أَيَّةِ مَدِينَةٍ تُرِيدُ أَنْ تُسَافِرَ؟</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أُحِبُّ اللَّوْنَ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أُفَضِّلُ ___ لِأَنَّهَا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أُرِيدُ أَنْ أُسَافِرَ إِلَى ___ ، لِأَنَّ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أَيُّ يَوْمٍ يُنَاسِبُكِ لِلزِّيَارَةِ؟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Which day suits you for the visit?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يُنَاسِبُنِي يَوْمُ السَّبْتِ لِأَنَّنِي مُتَفَرِّغَةٌ. وَفِي أَيَّةِ سَاعَةٍ نَلْتَقِي؟</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ea typeface="Calibri" pitchFamily="34" charset="-122"/>
                <a:cs typeface="Calibri" pitchFamily="34" charset="-120"/>
              </a:rPr>
              <a:t>Saturday suits me because I am free. And at what time shall we meet?</a:t>
            </a:r>
            <a:endParaRPr lang="en-US" sz="9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GM-INT-02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lines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Three “which?” questions with answers.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ayyu yawmin …? · ayyatu sāʿatin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10 lines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all three cases and two prepositions.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ayya … · fī ayyati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14 lines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choice dialogue with the full checklist.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End with ayyuhumā.</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GM-INT-02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أَيِّ ______ تَدْرُسُ؟</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which … do you study?</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أَيَّةِ مَدِينَةٍ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From which city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إِلَى أَيَّةِ ______ سَتُسَافِرُ؟</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To which … will you travel?</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أَيُّهُمَا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Which of the two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______ يُنَاسِبُكَ؟</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Which … suits you?</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______ تُحِبُّ؟</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Which … do you like? (m. noun)</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أَيَّةَ ______ تُفَضِّلُ؟</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Which … do you prefer? (f. noun)</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أُفَضِّلُ ______ لِأَنَّ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prefer … because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أَيُّ  ·  أَيَّ  ·  أَيِّ  ·  أَيَّةُ  ·  أَيَّةَ  ·  أَيَّةِ  ·  يَوْمٍ  ·  كِتَابٍ  ·  لَوْنٍ  ·  سَاعَةٍ  ·  مَدِينَةٍ  ·  رِيَاضَةٍ  ·  أَيُّهُمَا</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GM-INT-02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choice-based conversation: one person chooses a course, journey, item or activity from several options.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Three masculine and three feminine “which?” questions.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All three cases (-u, -a, -i).</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prepositions before ayy / ayya.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ayyuhumā.</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Complete answers with reasons.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يُنَاسِبُنِي</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suits me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أَقْتَرِحُ</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suggest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أَفْضَلُ</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better / best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مُتَفَرِّغٌ</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free (not busy)</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إِذَنْ</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 then</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أَظُنُّ أَنَّ</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think that</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GM-INT-02 · Interrogatives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 أُرِيدُ أَنْ أَشْتَرِكَ فِي نَادٍ جَدِيدٍ هَذَا الْفَصْلَ. أَيَّ نَادٍ تَقْتَرِحِينَ؟ — عِنْدَنَا نَادِي الْقِرَاءَةِ وَنَادِي الرُّوبُوتَاتِ. أَيُّ نَشَاطٍ يُنَاسِبُكِ أَكْثَرَ؟ — أُحِبُّ التِّقْنِيَّةَ، لَكِنَّ وَقْتِي ضَيِّقٌ. فِي أَيِّ يَوْمٍ يَجْتَمِعُ نَادِي الرُّوبُوتَاتِ؟ — يَوْمَ الثُّلَاثَاءِ بَعْدَ الظُّهْرِ. — وَفِي أَيَّةِ قَاعَةٍ؟ — فِي مُخْتَبَرِ الْحَاسُوبِ، بِجَانِبِ الْمَكْتَبَةِ. — وَأَيَّةَ مَهَارَةٍ سَأَتَعَلَّمُ هُنَاكَ؟ — سَتَتَعَلَّمِينَ الْبَرْمَجَةَ وَتَصْمِيمَ الرُّوبُوتَاتِ. — إِذَنْ، أَيُّهُمَا أَفْضَلُ لِي: الْقِرَاءَةُ أَمِ الرُّوبُوتَاتُ؟ — أَظُنُّ أَنَّ الرُّوبُوتَاتِ أَفْضَلُ لَكِ، لِأَنَّكِ تُحِبِّينَ التِّقْنِيَّةَ.</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 I want to join a new club this term. Which club do you suggest? — We have the reading club and the robotics club. Which activity suits you more? — I love technology, but my time is tight. On which day does the robotics club meet? — On Tuesday afternoon. — And in which room? — In the computer lab, next to the library. — And which skill will I learn there? — You will learn programming and robot design. — So which of the two is better for me: reading or robotics? — I think robotics is better for you, because you love technology.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ayyu (subject)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ayya / ayyata (object)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fī ayyi / ayyati (after a preposition)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ayyuhumā</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GM-INT-02 · Interrogatives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Masculine nouns take ayy; feminine nouns take ayya.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noun after ayy ends in -in.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Subject → ayyu; object → ayya; after a preposition → ayyi.</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“which?” only for a choice from a known set.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ayyuhumā for two options.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GM-INT-02 · Interrogatives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“Which car did you buy?”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أَيَّةَ سَيَّارَةٍ اشْتَرَيْتَ؟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أَيَّةُ سَيَّارَةٌ اشْتَرَيْتَ؟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 سَيَّارَةٍ اشْتَرَيْتَ؟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“In which school?”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أَيَّةُ مَدْرَسَةٌ؟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أَيَّةِ مَدْرَسَةٍ؟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أَيَّ مَدْرَسَةٍ؟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question with ilā.</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أَيَّةِ مَدِينَةٍ سَتَذْهَبِينَ؟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أَيَّةَ مَدِينَةً سَتَذْهَبِينَ؟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أَيَّةُ مَدِينَةٍ إِلَى تَذْهَبِينَ؟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GM-INT-02 · Interrogatives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“Which car did you buy?”</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أَيَّةَ سَيَّارَةٍ اشْتَرَيْتَ؟</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أَيَّةُ سَيَّارَةٌ اشْتَرَيْتَ؟</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أَيَّ سَيَّارَةٍ اشْتَرَيْتَ؟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 object: ayyata.</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“In which school?”</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 أَيَّةُ مَدْرَسَةٌ؟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فِي أَيَّةِ مَدْرَسَةٍ؟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 أَيَّ مَدْرَسَةٍ؟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 after fī: ayyati.</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question with ilā.</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إِلَى أَيَّةِ مَدِينَةٍ سَتَذْهَبِينَ؟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 أَيَّةَ مَدِينَةً سَتَذْهَبِينَ؟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أَيَّةُ مَدِينَةٍ إِلَى تَذْهَبِينَ؟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Ilā governs the whole phrase.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GM-INT-02 · Interrogatives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Before GM-INT-03: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GM-INT-03 · Common Question Words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who?</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مَاذَا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what? (with a verb)</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أَيْنَ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where?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مَتَى</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when?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لِمَاذَا</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Each question word asks for a different piece of information. Which word would you use to ask about a time?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______ تَبْدَأُ الْحِصَّةُ؟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six “which?” questions: three masculine, three feminine nouns.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one question in each case for “which book?” and “which school?”.</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choice dialogue (14 lines).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GM-INT-02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ea typeface="Cambria" pitchFamily="34" charset="-122"/>
                <a:cs typeface="Cambria" pitchFamily="34" charset="-120"/>
              </a:rPr>
              <a:t>GM-INT-03 · Common Question Words</a:t>
            </a:r>
            <a:endParaRPr lang="en-US" sz="26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أَدَوَاتُ الِاسْتِفْهَامِ الشَّائِعَةُ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which? = ayy (masculine noun) / ayya (feminine noun) + noun in -in · subject → ayyu · object → ayya · after a preposition → ayyi · use “which?” for a choice from a known set; mā / mādhā for open questions · ayyuhumā = which of the two?</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GM-INT-02 · Which? Gender and Case Agreement</dc:title>
  <dc:subject>PptxGenJS Presentation</dc:subject>
  <dc:creator>Al Madina Online School · Arabic Department</dc:creator>
  <cp:lastModifiedBy>Al Madina Online School · Arabic Department</cp:lastModifiedBy>
  <cp:revision>1</cp:revision>
  <dcterms:created xsi:type="dcterms:W3CDTF">2026-10-10T05:12:06Z</dcterms:created>
  <dcterms:modified xsi:type="dcterms:W3CDTF">2026-10-10T05:12:06Z</dcterms:modified>
</cp:coreProperties>
</file>