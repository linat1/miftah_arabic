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GM-INT-01 (“Yes/No Questions”).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hal + a complete statement (hal tadrusīna l-ʿarabiyyata?) and full answers with naʿam / lā (naʿam, alʿabuhā kulla usbūʿin). Develop: the attached hamza (a-taskunu …?), a- … am for choices, questions in past, present and future with correct agreement. Stretch: negative questions (a-laysa …? a-lam …?) answered with balā; dialogue editing.
• Website house rule: hal is the dependable neutral form; use a- confidently with familiar models, especially a- … am. Never use both together (hal a-tadrusu ✗).
• Colour code: teal = question marker. Recycles GM-VS-04 (hal with VSO / SVO), GM-NVS-04 (laysa) and GM-POS-03 (hal ʿindaka …?).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GM-VS-04 hal questions and GM-POS-03 hal ʿindaka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hal + statement + question mark — keep the Arabic order. a- … am = this or that? Answer with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“hal: the reliable neutral question marker”. Read each pair aloud: flat statement, rising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interrogative hamza”. Am + al- → ami l- (helping kasra): ami l-qahwata.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“Word order, tense and agreement” (website vowelling corrected: zurtumu l-, taqraʾīna).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“Answer the meaning — not only the particle”. Past negative answers use lam + present form (GM-VS-04).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“Negative questions and balā” (row 3 from the website Repair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add hal; hamza or hal.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speaking-survey model. The choice question is answered by choosing, not with naʿam.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ask the question aloud with rising intonation, a partner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write the question for each answer: hal talʿabu kurata l-qadami? … a-laysa d-darsu sahlan?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write the question for each answer: hal talʿabu kurata l-qadami? … a-laysa d-darsu sahlan?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message check (extended). Read it aloud once while students follow; then they hunt for today’s grammar.
Task: Website: identify the pieces of information the sender wants confirmed. Underline every question marker.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message-check lines,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survey. Sequence: ● 10s think → ↔ 45s rehearse aloud with mic muted → ◎ two named students on open mic (warned in advance) → + ? the class types one follow-up in chat → ↺ one student summarises.
Routes: Core uses the Core prompt and stem; Develop the Develop prompt; Stretch the last prompt.
Website survey: six questions across school, hobbies, travel and future plans; hal at least four times and one a- … am. Then report back in the third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ten-question Arabic interview for a new student, visitor or classmate, then add model answers.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interview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(GM-INT-02 · Which? Gender and Case Agreement) will spend class time USING this language, so students prepare it tonight — short, simple, easy to access (school guidance: “Simple, Short, Interesting, Relevant, Easy to access”). The five words prepare GM-INT-02 (website: which? — ayy and ayya).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INTERROGATIVES  ·  GM-INT-01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GM-INT-01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Yes / No Questions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أَسْئِلَةُ نَعَمْ وَلَا بِـ«هَلْ» وَهَمْزَةِ الِاسْتِفْهَامِ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Put hal in front of any statement and add a question mark: anta mustaʿiddun → hal anta mustaʿiddun? No word swap, no “do”. The hamza a- does the same job attached to the next word, and a- … am asks “this or that?”.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GM-INT-01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hal; the hamza and am; tense and agreement; answers; balā.</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Statement → question; answer types;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GM-INT-02.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particle can turn a complete statement into a neutral yes/no question?</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hamza question.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أَتُحِبُّ الرِّيَاضَةَ؟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 تُحِبُّ الرِّيَاضَةَ؟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تُحِبُّ الرِّيَاضَةَ؟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bag?”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هَذَا حَقِيبَتُكَ؟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حَقِيبَتُكِ؟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هَذِهِ حَقِيبَتُكِ؟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normally answers an affirmative yes/no question positively?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asks an either / or question?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أَ...أَمْ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Which particle can turn a complete statement into a neutral yes/no question?</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 turns a statement into a yes / no question.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hamza question.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أَتُحِبُّ الرِّيَاضَةَ؟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 تُحِبُّ الرِّيَاضَةَ؟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 تُحِبُّ الرِّيَاضَةَ؟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hamza joins the next 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bag?”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هَذَا حَقِيبَتُكَ؟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حَقِيبَتُكِ؟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هَذِهِ حَقِيبَتُكِ؟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Hādhihi + ḥaqībatuki.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normally answers an affirmative yes/no question positively?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Naʿam = yes.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asks an either / or question?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أَ...أَمْ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am = this or that?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hal + statement + question mark — keep the Arabic order. a- … am = this or that? Answer with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هَلْ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أَنْتَ مُسْتَعِدٌّ؟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أَتُفَضِّلُ</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الشَّايَ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Turn a statement into a question with hal.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the question hamza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“this or that?” with a- … am.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in full sentences — and with balā.</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hal in front of a statement.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naʿam / lā with a full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a-tadhhabu? as one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ask a- … am questions in all tenses.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answer negative questions with balā.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ten-question interview with answers.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الِاسْتِفْهَامُ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asking questions</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al-ِs-tif-hā-mu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هَلْ · أَ</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 question word</a:t>
            </a:r>
            <a:endParaRPr lang="en-US" sz="1350" dirty="0"/>
          </a:p>
          <a:p>
            <a:pPr indent="0" marL="0">
              <a:buNone/>
            </a:pPr>
            <a:r>
              <a:rPr lang="en-US" sz="1100" i="1" dirty="0">
                <a:solidFill>
                  <a:srgbClr val="5A6472"/>
                </a:solidFill>
                <a:latin typeface="Calibri" pitchFamily="34" charset="0"/>
                <a:cs typeface="Amiri" pitchFamily="2" charset="-78"/>
              </a:rPr>
              <a:t>hal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هَلْ أَنْتَ جَاهِزٌ؟</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هَمْزَةُ الِاسْتِفْهَامِ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question hamza (attached)</a:t>
            </a:r>
            <a:endParaRPr lang="en-US" sz="1350" dirty="0"/>
          </a:p>
          <a:p>
            <a:pPr indent="0" marL="0">
              <a:buNone/>
            </a:pPr>
            <a:r>
              <a:rPr lang="ar-SA" sz="1100" i="1" dirty="0">
                <a:solidFill>
                  <a:srgbClr val="5A6472"/>
                </a:solidFill>
                <a:latin typeface="Calibri" pitchFamily="34" charset="0"/>
                <a:ea typeface="Amiri" pitchFamily="2" charset="-78"/>
                <a:cs typeface="Amiri" pitchFamily="2" charset="-78"/>
              </a:rPr>
              <a:t>ham-za-tu al-ِs-tif-hā-mi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أَتَذْهَبُ؟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 (in a question)</a:t>
            </a:r>
            <a:endParaRPr lang="en-US" sz="1350" dirty="0"/>
          </a:p>
          <a:p>
            <a:pPr indent="0" marL="0">
              <a:buNone/>
            </a:pPr>
            <a:r>
              <a:rPr lang="en-US" sz="1100" i="1" dirty="0">
                <a:solidFill>
                  <a:srgbClr val="5A6472"/>
                </a:solidFill>
                <a:latin typeface="Calibri" pitchFamily="34" charset="0"/>
                <a:cs typeface="Amiri" pitchFamily="2" charset="-78"/>
              </a:rPr>
              <a:t>am</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أَشَايٌ أَمْ قَهْوَةٌ؟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نَعَمْ · 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نَعَمْ، أَذْهَبُ.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(after a negative question)</a:t>
            </a:r>
            <a:endParaRPr lang="en-US" sz="1350" dirty="0"/>
          </a:p>
          <a:p>
            <a:pPr indent="0" marL="0">
              <a:buNone/>
            </a:pPr>
            <a:r>
              <a:rPr lang="en-US" sz="1100" i="1" dirty="0">
                <a:solidFill>
                  <a:srgbClr val="5A6472"/>
                </a:solidFill>
                <a:latin typeface="Calibri" pitchFamily="34" charset="0"/>
                <a:cs typeface="Amiri" pitchFamily="2" charset="-78"/>
              </a:rPr>
              <a:t>ba-lā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بَلَى، ذَهَبْتُ.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HAL: THE RELIABLE QUESTION MARKER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Add hal — change nothing else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stayed the same</a:t>
            </a:r>
            <a:endParaRPr lang="en-US" sz="1100" dirty="0"/>
          </a:p>
        </p:txBody>
      </p:sp>
      <p:sp>
        <p:nvSpPr>
          <p:cNvPr id="17" name="Text 14"/>
          <p:cNvSpPr txBox="1"/>
          <p:nvPr/>
        </p:nvSpPr>
        <p:spPr>
          <a:xfrm>
            <a:off x="40965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nominal order and agreement</a:t>
            </a:r>
            <a:endParaRPr lang="en-US" sz="1100" dirty="0"/>
          </a:p>
        </p:txBody>
      </p:sp>
      <p:sp>
        <p:nvSpPr>
          <p:cNvPr id="21" name="Text 18"/>
          <p:cNvSpPr txBox="1"/>
          <p:nvPr/>
        </p:nvSpPr>
        <p:spPr>
          <a:xfrm>
            <a:off x="411480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أَنْتَ مُسْتَعِدٌّ؟</a:t>
            </a:r>
            <a:endParaRPr lang="ar-SA" sz="22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 مُسْتَعِدٌّ.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verb, hidden “you”</a:t>
            </a:r>
            <a:endParaRPr lang="en-US" sz="1100" dirty="0"/>
          </a:p>
        </p:txBody>
      </p:sp>
      <p:sp>
        <p:nvSpPr>
          <p:cNvPr id="27" name="Text 24"/>
          <p:cNvSpPr txBox="1"/>
          <p:nvPr/>
        </p:nvSpPr>
        <p:spPr>
          <a:xfrm>
            <a:off x="411480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تَذْهَبُ إِلَى الْمَدْرَسَةِ؟</a:t>
            </a:r>
            <a:endParaRPr lang="ar-SA" sz="22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تَذْهَبُ إِلَى الْمَدْرَسَةِ.</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feminine verb</a:t>
            </a:r>
            <a:endParaRPr lang="en-US" sz="1100" dirty="0"/>
          </a:p>
        </p:txBody>
      </p:sp>
      <p:sp>
        <p:nvSpPr>
          <p:cNvPr id="33" name="Text 30"/>
          <p:cNvSpPr txBox="1"/>
          <p:nvPr/>
        </p:nvSpPr>
        <p:spPr>
          <a:xfrm>
            <a:off x="411480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زَارَتْ سَلْمَى جَدَّتَهَا؟</a:t>
            </a:r>
            <a:endParaRPr lang="ar-SA" sz="2200" dirty="0"/>
          </a:p>
        </p:txBody>
      </p:sp>
      <p:sp>
        <p:nvSpPr>
          <p:cNvPr id="34" name="Text 31"/>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زَارَتْ سَلْمَى جَدَّتَهَا.</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sa- and plural</a:t>
            </a:r>
            <a:endParaRPr lang="en-US" sz="1100" dirty="0"/>
          </a:p>
        </p:txBody>
      </p:sp>
      <p:sp>
        <p:nvSpPr>
          <p:cNvPr id="37" name="Text 34"/>
          <p:cNvSpPr txBox="1"/>
          <p:nvPr/>
        </p:nvSpPr>
        <p:spPr>
          <a:xfrm>
            <a:off x="411480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سَتُسَافِرُونَ غَدًا؟</a:t>
            </a:r>
            <a:endParaRPr lang="ar-SA" sz="2200" dirty="0"/>
          </a:p>
        </p:txBody>
      </p:sp>
      <p:sp>
        <p:nvSpPr>
          <p:cNvPr id="38" name="Text 35"/>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سَتُسَافِرُونَ غَدًا.</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place hal before the complete sentence — do not rebuild it in English order and never add a word for “do”. Use the Arabic question mark and a rising voice.</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INTERROGATIVE HAMZA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joins the next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هَمْزَةُ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7" name="Text 14"/>
          <p:cNvSpPr txBox="1"/>
          <p:nvPr/>
        </p:nvSpPr>
        <p:spPr>
          <a:xfrm>
            <a:off x="54681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a:t>
            </a:r>
            <a:endParaRPr lang="en-US" sz="1100" dirty="0"/>
          </a:p>
        </p:txBody>
      </p:sp>
      <p:sp>
        <p:nvSpPr>
          <p:cNvPr id="21" name="Text 18"/>
          <p:cNvSpPr txBox="1"/>
          <p:nvPr/>
        </p:nvSpPr>
        <p:spPr>
          <a:xfrm>
            <a:off x="55046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work in the hospital?</a:t>
            </a:r>
            <a:endParaRPr lang="en-US" sz="1100" dirty="0"/>
          </a:p>
        </p:txBody>
      </p:sp>
      <p:sp>
        <p:nvSpPr>
          <p:cNvPr id="22" name="Text 19"/>
          <p:cNvSpPr txBox="1"/>
          <p:nvPr/>
        </p:nvSpPr>
        <p:spPr>
          <a:xfrm>
            <a:off x="548640"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أَتَعْمَلُ فِي الْمُسْتَشْفَى؟</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a:t>
            </a:r>
            <a:endParaRPr lang="en-US" sz="1100" dirty="0"/>
          </a:p>
        </p:txBody>
      </p:sp>
      <p:sp>
        <p:nvSpPr>
          <p:cNvPr id="27" name="Text 24"/>
          <p:cNvSpPr txBox="1"/>
          <p:nvPr/>
        </p:nvSpPr>
        <p:spPr>
          <a:xfrm>
            <a:off x="55046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this your car? (to a girl)</a:t>
            </a:r>
            <a:endParaRPr lang="en-US" sz="1100" dirty="0"/>
          </a:p>
        </p:txBody>
      </p:sp>
      <p:sp>
        <p:nvSpPr>
          <p:cNvPr id="28" name="Text 25"/>
          <p:cNvSpPr txBox="1"/>
          <p:nvPr/>
        </p:nvSpPr>
        <p:spPr>
          <a:xfrm>
            <a:off x="548640"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أَهَذِهِ سَيَّارَتُكِ؟</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choice: a- … am</a:t>
            </a:r>
            <a:endParaRPr lang="en-US" sz="1100" dirty="0"/>
          </a:p>
        </p:txBody>
      </p:sp>
      <p:sp>
        <p:nvSpPr>
          <p:cNvPr id="31" name="Text 28"/>
          <p:cNvSpPr txBox="1"/>
          <p:nvPr/>
        </p:nvSpPr>
        <p:spPr>
          <a:xfrm>
            <a:off x="55046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prefer tea or coffee?</a:t>
            </a:r>
            <a:endParaRPr lang="en-US" sz="1100" dirty="0"/>
          </a:p>
        </p:txBody>
      </p:sp>
      <p:sp>
        <p:nvSpPr>
          <p:cNvPr id="32" name="Text 29"/>
          <p:cNvSpPr txBox="1"/>
          <p:nvPr/>
        </p:nvSpPr>
        <p:spPr>
          <a:xfrm>
            <a:off x="548640"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أَتُفَضِّلُ الشَّايَ أَمِ الْقَهْوَةَ؟</a:t>
            </a:r>
            <a:endParaRPr lang="ar-SA" sz="22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choice: a- … am</a:t>
            </a:r>
            <a:endParaRPr lang="en-US" sz="1100" dirty="0"/>
          </a:p>
        </p:txBody>
      </p:sp>
      <p:sp>
        <p:nvSpPr>
          <p:cNvPr id="37" name="Text 34"/>
          <p:cNvSpPr txBox="1"/>
          <p:nvPr/>
        </p:nvSpPr>
        <p:spPr>
          <a:xfrm>
            <a:off x="55046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you go today or tomorrow?</a:t>
            </a:r>
            <a:endParaRPr lang="en-US" sz="1100" dirty="0"/>
          </a:p>
        </p:txBody>
      </p:sp>
      <p:sp>
        <p:nvSpPr>
          <p:cNvPr id="38" name="Text 35"/>
          <p:cNvSpPr txBox="1"/>
          <p:nvPr/>
        </p:nvSpPr>
        <p:spPr>
          <a:xfrm>
            <a:off x="548640"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أَسَتَذْهَبُ الْيَوْمَ أَمْ غَدًا؟</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spelling: write a-tadhhabu as ONE word, never with a space. A- is especially useful with am to offer two real alternatives.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3 · WORD ORDER, TENSE AND AGREEMENT (WEBSITE TABLE)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particle asks — the verb still tells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الزَّمَنُ وَالْمُطَابَقَةُ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a:t>
            </a:r>
            <a:endParaRPr lang="en-US" sz="1100" dirty="0"/>
          </a:p>
        </p:txBody>
      </p:sp>
      <p:sp>
        <p:nvSpPr>
          <p:cNvPr id="17" name="Text 14"/>
          <p:cNvSpPr txBox="1"/>
          <p:nvPr/>
        </p:nvSpPr>
        <p:spPr>
          <a:xfrm>
            <a:off x="27249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zurtum + amsi</a:t>
            </a:r>
            <a:endParaRPr lang="en-US" sz="1100" dirty="0"/>
          </a:p>
        </p:txBody>
      </p:sp>
      <p:sp>
        <p:nvSpPr>
          <p:cNvPr id="21" name="Text 18"/>
          <p:cNvSpPr txBox="1"/>
          <p:nvPr/>
        </p:nvSpPr>
        <p:spPr>
          <a:xfrm>
            <a:off x="274320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زُرْتُمُ الْمَتْحَفَ أَمْسِ؟</a:t>
            </a:r>
            <a:endParaRPr lang="ar-SA" sz="22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taqraʾīna + kulla yawm</a:t>
            </a:r>
            <a:endParaRPr lang="en-US" sz="1100" dirty="0"/>
          </a:p>
        </p:txBody>
      </p:sp>
      <p:sp>
        <p:nvSpPr>
          <p:cNvPr id="27" name="Text 24"/>
          <p:cNvSpPr txBox="1"/>
          <p:nvPr/>
        </p:nvSpPr>
        <p:spPr>
          <a:xfrm>
            <a:off x="274320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تَقْرَئِينَ كُلَّ يَوْمٍ؟</a:t>
            </a:r>
            <a:endParaRPr lang="ar-SA" sz="220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habit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present</a:t>
            </a:r>
            <a:endParaRPr lang="en-US" sz="1100" dirty="0"/>
          </a:p>
        </p:txBody>
      </p:sp>
      <p:sp>
        <p:nvSpPr>
          <p:cNvPr id="33" name="Text 30"/>
          <p:cNvSpPr txBox="1"/>
          <p:nvPr/>
        </p:nvSpPr>
        <p:spPr>
          <a:xfrm>
            <a:off x="274320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سَيَصِلُ الْقِطَارُ قَرِيبًا؟</a:t>
            </a:r>
            <a:endParaRPr lang="ar-SA" sz="22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plural subject and predicate</a:t>
            </a:r>
            <a:endParaRPr lang="en-US" sz="1100" dirty="0"/>
          </a:p>
        </p:txBody>
      </p:sp>
      <p:sp>
        <p:nvSpPr>
          <p:cNvPr id="37" name="Text 34"/>
          <p:cNvSpPr txBox="1"/>
          <p:nvPr/>
        </p:nvSpPr>
        <p:spPr>
          <a:xfrm>
            <a:off x="274320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أَنْتُنَّ مُسْتَعِدَّاتٌ؟</a:t>
            </a:r>
            <a:endParaRPr lang="ar-SA" sz="22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(no verb)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editing routine: cover the question marker. If what is left is a correct statement, the question is correct too.</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4 · ANSWER THE MEANING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Yes or no — plus a full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أَجِبْ بِجُمْلَةٍ 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play it every week.</a:t>
            </a:r>
            <a:endParaRPr lang="en-US" sz="1100" dirty="0"/>
          </a:p>
        </p:txBody>
      </p:sp>
      <p:sp>
        <p:nvSpPr>
          <p:cNvPr id="21" name="Text 18"/>
          <p:cNvSpPr txBox="1"/>
          <p:nvPr/>
        </p:nvSpPr>
        <p:spPr>
          <a:xfrm>
            <a:off x="457200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نَعَمْ، أَلْعَبُهَا كُلَّ أُسْبُوعٍ.</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تَلْعَبُ كُرَةَ الْقَدَمِ؟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I did not go there.</a:t>
            </a:r>
            <a:endParaRPr lang="en-US" sz="1100" dirty="0"/>
          </a:p>
        </p:txBody>
      </p:sp>
      <p:sp>
        <p:nvSpPr>
          <p:cNvPr id="27" name="Text 24"/>
          <p:cNvSpPr txBox="1"/>
          <p:nvPr/>
        </p:nvSpPr>
        <p:spPr>
          <a:xfrm>
            <a:off x="457200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لَمْ أَذْهَبْ إِلَيْهِ.</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ذَهَبْتِ إِلَى السُّوقِ؟</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 it is calm.</a:t>
            </a:r>
            <a:endParaRPr lang="en-US" sz="1100" dirty="0"/>
          </a:p>
        </p:txBody>
      </p:sp>
      <p:sp>
        <p:nvSpPr>
          <p:cNvPr id="33" name="Text 30"/>
          <p:cNvSpPr txBox="1"/>
          <p:nvPr/>
        </p:nvSpPr>
        <p:spPr>
          <a:xfrm>
            <a:off x="457200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الْقِرَاءَةَ لِأَنَّهَا هَادِئَةٌ.</a:t>
            </a:r>
            <a:endParaRPr lang="ar-SA" sz="22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أَتُفَضِّلُ الْقِرَاءَةَ أَمِ السِّبَاحَةَ؟</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read it yesterday.</a:t>
            </a:r>
            <a:endParaRPr lang="en-US" sz="1100" dirty="0"/>
          </a:p>
        </p:txBody>
      </p:sp>
      <p:sp>
        <p:nvSpPr>
          <p:cNvPr id="37" name="Text 34"/>
          <p:cNvSpPr txBox="1"/>
          <p:nvPr/>
        </p:nvSpPr>
        <p:spPr>
          <a:xfrm>
            <a:off x="457200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نَعَمْ، قَرَأْتُهُ أَمْسِ.</a:t>
            </a:r>
            <a:endParaRPr lang="ar-SA" sz="22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قَرَأْتَ الْكِتَابَ؟</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 choice question (a- … am) is NOT answered with naʿam or lā — choose one option. Extend: add a reason, a time phrase or a contrast.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5 · NEGATIVE QUESTIONS AND BALĀ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“Isn’t it …?” — answer with balā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3708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 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it IS beautiful.</a:t>
            </a:r>
            <a:endParaRPr lang="en-US" sz="1100" dirty="0"/>
          </a:p>
        </p:txBody>
      </p:sp>
      <p:sp>
        <p:nvSpPr>
          <p:cNvPr id="21" name="Text 18"/>
          <p:cNvSpPr txBox="1"/>
          <p:nvPr/>
        </p:nvSpPr>
        <p:spPr>
          <a:xfrm>
            <a:off x="438912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بَلَى، هُوَ جَمِيلٌ.</a:t>
            </a:r>
            <a:endParaRPr lang="ar-SA" sz="2200" dirty="0"/>
          </a:p>
        </p:txBody>
      </p:sp>
      <p:sp>
        <p:nvSpPr>
          <p:cNvPr id="22" name="Text 19"/>
          <p:cNvSpPr txBox="1"/>
          <p:nvPr/>
        </p:nvSpPr>
        <p:spPr>
          <a:xfrm>
            <a:off x="54864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أَلَيْسَ الْجَوُّ جَمِيلًا؟</a:t>
            </a:r>
            <a:endParaRPr lang="ar-SA" sz="22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I DID visit it.</a:t>
            </a:r>
            <a:endParaRPr lang="en-US" sz="1100" dirty="0"/>
          </a:p>
        </p:txBody>
      </p:sp>
      <p:sp>
        <p:nvSpPr>
          <p:cNvPr id="25" name="Text 22"/>
          <p:cNvSpPr txBox="1"/>
          <p:nvPr/>
        </p:nvSpPr>
        <p:spPr>
          <a:xfrm>
            <a:off x="438912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بَلَى، زُرْتُهُ.</a:t>
            </a:r>
            <a:endParaRPr lang="ar-SA" sz="2200" dirty="0"/>
          </a:p>
        </p:txBody>
      </p:sp>
      <p:sp>
        <p:nvSpPr>
          <p:cNvPr id="26" name="Text 23"/>
          <p:cNvSpPr txBox="1"/>
          <p:nvPr/>
        </p:nvSpPr>
        <p:spPr>
          <a:xfrm>
            <a:off x="54864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أَلَمْ تَزُرِ الْمَتْحَفَ؟</a:t>
            </a:r>
            <a:endParaRPr lang="ar-SA" sz="22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 I DID go.</a:t>
            </a:r>
            <a:endParaRPr lang="en-US" sz="1100" dirty="0"/>
          </a:p>
        </p:txBody>
      </p:sp>
      <p:sp>
        <p:nvSpPr>
          <p:cNvPr id="29" name="Text 26"/>
          <p:cNvSpPr txBox="1"/>
          <p:nvPr/>
        </p:nvSpPr>
        <p:spPr>
          <a:xfrm>
            <a:off x="438912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بَلَى، ذَهَبْتُ.</a:t>
            </a:r>
            <a:endParaRPr lang="ar-SA" sz="2200" dirty="0"/>
          </a:p>
        </p:txBody>
      </p:sp>
      <p:sp>
        <p:nvSpPr>
          <p:cNvPr id="30" name="Text 27"/>
          <p:cNvSpPr txBox="1"/>
          <p:nvPr/>
        </p:nvSpPr>
        <p:spPr>
          <a:xfrm>
            <a:off x="54864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أَلَمْ تَذْهَبِي؟</a:t>
            </a:r>
            <a:endParaRPr lang="ar-SA" sz="22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Right — it is not short.</a:t>
            </a:r>
            <a:endParaRPr lang="en-US" sz="1100" dirty="0"/>
          </a:p>
        </p:txBody>
      </p:sp>
      <p:sp>
        <p:nvSpPr>
          <p:cNvPr id="33" name="Text 30"/>
          <p:cNvSpPr txBox="1"/>
          <p:nvPr/>
        </p:nvSpPr>
        <p:spPr>
          <a:xfrm>
            <a:off x="4389120" y="4626864"/>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نَعَمْ، لَيْسَ قَصِيرًا.</a:t>
            </a:r>
            <a:endParaRPr lang="ar-SA" sz="2200" dirty="0"/>
          </a:p>
        </p:txBody>
      </p:sp>
      <p:sp>
        <p:nvSpPr>
          <p:cNvPr id="34" name="Text 31"/>
          <p:cNvSpPr txBox="1"/>
          <p:nvPr/>
        </p:nvSpPr>
        <p:spPr>
          <a:xfrm>
            <a:off x="54864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أَلَيْسَ الطَّرِيقُ طَوِيلًا؟</a:t>
            </a:r>
            <a:endParaRPr lang="ar-SA" sz="22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Stretch: balā CANCELS the negative idea; naʿam CONFIRMS it. In everyday IGCSE answers, avoid confusion by giving a complete positive or negative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it a question: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 مُتْعَبَةٌ.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أَنْتَ مُتْعَبٌ؟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أَنْتِ مُتْعَبَةٌ؟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أَنْتِ مُتْعَبَةٌ؟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it a question:</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وَصَلَتِ الْحَافِلَةُ.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وَصَلَتِ الْحَافِلَةُ؟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وَصَلَ 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هَلْ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question.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كَتَبْتِ الرِّسَالَةَ؟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سَتَكْتُبِينَ الرِّسَالَةَ؟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تَكْتُبِينَ الرِّسَالَةَ أَمْسِ؟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spaced question.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أَتَذْهَبِينَ مَعَنَا؟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 تَذْهَبِينَ مَعَنَا؟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اَتَذْهَبِينَ مَعَنَا؟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it a question: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 مُتْعَبَةٌ.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أَنْتَ مُتْعَبٌ؟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أَنْتِ مُتْعَبَةٌ؟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أَنْتِ مُتْعَبَةٌ؟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hal; keep the feminine.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Make it a question: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وَصَلَتِ الْحَافِلَةُ.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وَصَلَتِ الْحَافِلَةُ؟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وَصَلَ 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هَلْ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verb, same order.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question.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كَتَبْتِ الرِّسَالَةَ؟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سَتَكْتُبِينَ الرِّسَالَةَ؟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تَكْتُبِينَ الرِّسَالَةَ أَمْسِ؟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present = future.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spaced question.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أَتَذْهَبِينَ مَعَنَا؟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 تَذْهَبِينَ مَعَنَا؟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اَتَذْهَبِينَ مَعَنَا؟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Attached: a-tadhhabīna.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interview a new student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أَنْتِ جَدِيدَةٌ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it is correct.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hal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هَلْ أَنْتِ جَدِيدَةٌ؟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order +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options: a- … am.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نَعَمْ، وَصَلْتُ أَمْسِ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full answer.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 MARKER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هَلْ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أَنْتِ جَدِيدَةٌ فِي الْمَدْرَسَةِ؟ — نَعَمْ، وَصَلْتُ يَوْمَ الْأَحَدِ.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هَلْ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تَسْكُنِينَ قَرِيبًا؟ — لَا، أَسْكُنُ بَعِيدًا قَلِيلًا.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أَتُفَضِّلِينَ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الرِّيَاضِيَّاتِ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الْعُلُومَ؟ — أُفَضِّلُ الْعُلُومَ لِأَنَّهَا مُمْتِعَةٌ.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هَلْ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سَتَنْضَمِّينَ إِلَى نَادِي الْقِرَاءَةِ؟ — نَعَمْ، إِنْ شَاءَ اللَّهُ.</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Are you new at the school? — Yes, I arrived on Sunday. Do you live nearby? — No, I live a little far away. Do you prefer maths or science? — I prefer science because it is interesting. Will you join the reading club? — Yes, in shāʾ Allāh.</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تَدْرُسِينَ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study Arabic? (to a girl)</a:t>
            </a:r>
            <a:endParaRPr lang="en-US" sz="1250" dirty="0"/>
          </a:p>
          <a:p>
            <a:pPr indent="0" marL="0">
              <a:buNone/>
            </a:pPr>
            <a:r>
              <a:rPr lang="en-US" sz="1050" i="1" dirty="0">
                <a:solidFill>
                  <a:srgbClr val="8A6D1E"/>
                </a:solidFill>
                <a:latin typeface="Calibri" pitchFamily="34" charset="0"/>
                <a:cs typeface="Amiri" pitchFamily="2" charset="-78"/>
              </a:rPr>
              <a:t>hal + statement.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أَتَسْكُنُ قَرِيبًا مِنَ الْمَدْرَسَةِ؟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live near the school?</a:t>
            </a:r>
            <a:endParaRPr lang="en-US" sz="1250" dirty="0"/>
          </a:p>
          <a:p>
            <a:pPr indent="0" marL="0">
              <a:buNone/>
            </a:pPr>
            <a:r>
              <a:rPr lang="en-US" sz="1050" i="1" dirty="0">
                <a:solidFill>
                  <a:srgbClr val="8A6D1E"/>
                </a:solidFill>
                <a:latin typeface="Calibri" pitchFamily="34" charset="0"/>
                <a:cs typeface="Amiri" pitchFamily="2" charset="-78"/>
              </a:rPr>
              <a:t>Hamza attached.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هَذَا كِتَابُكَ؟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Is this your book?</a:t>
            </a:r>
            <a:endParaRPr lang="en-US" sz="1250" dirty="0"/>
          </a:p>
          <a:p>
            <a:pPr indent="0" marL="0">
              <a:buNone/>
            </a:pPr>
            <a:r>
              <a:rPr lang="en-US" sz="1050" i="1" dirty="0">
                <a:solidFill>
                  <a:srgbClr val="8A6D1E"/>
                </a:solidFill>
                <a:latin typeface="Calibri" pitchFamily="34" charset="0"/>
                <a:cs typeface="Amiri" pitchFamily="2" charset="-78"/>
              </a:rPr>
              <a:t>No “is” needed.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أَذَهَبْتَ إِلَى الطَّبِيبِ أَمْ بَقِيتَ فِي الْبَيْتِ؟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you go to the doctor or stay at home?</a:t>
            </a:r>
            <a:endParaRPr lang="en-US" sz="1250" dirty="0"/>
          </a:p>
          <a:p>
            <a:pPr indent="0" marL="0">
              <a:buNone/>
            </a:pPr>
            <a:r>
              <a:rPr lang="en-US" sz="1050" i="1" dirty="0">
                <a:solidFill>
                  <a:srgbClr val="8A6D1E"/>
                </a:solidFill>
                <a:latin typeface="Calibri" pitchFamily="34" charset="0"/>
                <a:cs typeface="Amiri" pitchFamily="2" charset="-78"/>
              </a:rPr>
              <a:t>a- … am.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STATEMENT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it a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40965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 + question mark</a:t>
            </a:r>
            <a:endParaRPr lang="en-US" sz="1100" dirty="0"/>
          </a:p>
        </p:txBody>
      </p:sp>
      <p:sp>
        <p:nvSpPr>
          <p:cNvPr id="21" name="Text 18"/>
          <p:cNvSpPr txBox="1"/>
          <p:nvPr/>
        </p:nvSpPr>
        <p:spPr>
          <a:xfrm>
            <a:off x="41148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أَنْتِ مُعَلِّمَةٌ؟</a:t>
            </a:r>
            <a:endParaRPr lang="ar-SA" sz="2200" dirty="0"/>
          </a:p>
        </p:txBody>
      </p:sp>
      <p:sp>
        <p:nvSpPr>
          <p:cNvPr id="22" name="Text 19"/>
          <p:cNvSpPr txBox="1"/>
          <p:nvPr/>
        </p:nvSpPr>
        <p:spPr>
          <a:xfrm>
            <a:off x="548640" y="2267712"/>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 مُعَلِّمَةٌ.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attached</a:t>
            </a:r>
            <a:endParaRPr lang="en-US" sz="1100" dirty="0"/>
          </a:p>
        </p:txBody>
      </p:sp>
      <p:sp>
        <p:nvSpPr>
          <p:cNvPr id="27" name="Text 24"/>
          <p:cNvSpPr txBox="1"/>
          <p:nvPr/>
        </p:nvSpPr>
        <p:spPr>
          <a:xfrm>
            <a:off x="41148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أَتَذْهَبُ الْيَوْمَ؟</a:t>
            </a:r>
            <a:endParaRPr lang="ar-SA" sz="2200" dirty="0"/>
          </a:p>
        </p:txBody>
      </p:sp>
      <p:sp>
        <p:nvSpPr>
          <p:cNvPr id="28" name="Text 25"/>
          <p:cNvSpPr txBox="1"/>
          <p:nvPr/>
        </p:nvSpPr>
        <p:spPr>
          <a:xfrm>
            <a:off x="548640" y="2881884"/>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تَذْهَبُ الْيَوْمَ.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plural</a:t>
            </a:r>
            <a:endParaRPr lang="en-US" sz="1100" dirty="0"/>
          </a:p>
        </p:txBody>
      </p:sp>
      <p:sp>
        <p:nvSpPr>
          <p:cNvPr id="33" name="Text 30"/>
          <p:cNvSpPr txBox="1"/>
          <p:nvPr/>
        </p:nvSpPr>
        <p:spPr>
          <a:xfrm>
            <a:off x="41148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وَصَلُوا؟</a:t>
            </a:r>
            <a:endParaRPr lang="ar-SA" sz="2200" dirty="0"/>
          </a:p>
        </p:txBody>
      </p:sp>
      <p:sp>
        <p:nvSpPr>
          <p:cNvPr id="34" name="Text 31"/>
          <p:cNvSpPr txBox="1"/>
          <p:nvPr/>
        </p:nvSpPr>
        <p:spPr>
          <a:xfrm>
            <a:off x="548640" y="3496056"/>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وَصَلُوا.</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9" name="Text 36"/>
          <p:cNvSpPr txBox="1"/>
          <p:nvPr/>
        </p:nvSpPr>
        <p:spPr>
          <a:xfrm>
            <a:off x="41148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سَتُسَافِرُ غَدًا؟</a:t>
            </a:r>
            <a:endParaRPr lang="ar-SA" sz="2200" dirty="0"/>
          </a:p>
        </p:txBody>
      </p:sp>
      <p:sp>
        <p:nvSpPr>
          <p:cNvPr id="40" name="Text 37"/>
          <p:cNvSpPr txBox="1"/>
          <p:nvPr/>
        </p:nvSpPr>
        <p:spPr>
          <a:xfrm>
            <a:off x="548640" y="4110228"/>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سَتُسَافِرُ غَدًا.</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choice: a- … am</a:t>
            </a:r>
            <a:endParaRPr lang="en-US" sz="1100" dirty="0"/>
          </a:p>
        </p:txBody>
      </p:sp>
      <p:sp>
        <p:nvSpPr>
          <p:cNvPr id="43" name="Text 40"/>
          <p:cNvSpPr txBox="1"/>
          <p:nvPr/>
        </p:nvSpPr>
        <p:spPr>
          <a:xfrm>
            <a:off x="41148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أَتُفَضِّلُ الشَّايَ أَمِ الْقَهْوَةَ؟</a:t>
            </a:r>
            <a:endParaRPr lang="ar-SA" sz="2200" dirty="0"/>
          </a:p>
        </p:txBody>
      </p:sp>
      <p:sp>
        <p:nvSpPr>
          <p:cNvPr id="44" name="Text 41"/>
          <p:cNvSpPr txBox="1"/>
          <p:nvPr/>
        </p:nvSpPr>
        <p:spPr>
          <a:xfrm>
            <a:off x="548640" y="4724400"/>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تُفَضِّلُ الشَّايَ.</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mark at the end</a:t>
            </a:r>
            <a:endParaRPr lang="en-US" sz="1100" dirty="0"/>
          </a:p>
        </p:txBody>
      </p:sp>
      <p:sp>
        <p:nvSpPr>
          <p:cNvPr id="47" name="Text 44"/>
          <p:cNvSpPr txBox="1"/>
          <p:nvPr/>
        </p:nvSpPr>
        <p:spPr>
          <a:xfrm>
            <a:off x="41148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أَنْتُمْ مُسْتَعِدُّونَ؟</a:t>
            </a:r>
            <a:endParaRPr lang="ar-SA" sz="2200" dirty="0"/>
          </a:p>
        </p:txBody>
      </p:sp>
      <p:sp>
        <p:nvSpPr>
          <p:cNvPr id="48" name="Text 45"/>
          <p:cNvSpPr txBox="1"/>
          <p:nvPr/>
        </p:nvSpPr>
        <p:spPr>
          <a:xfrm>
            <a:off x="548640" y="5338572"/>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أَنْتُمْ مُسْتَعِدُّونَ.</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check: no “do”, no word swap, one question marker, and the Arabic question mark at the end.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WHAT KIND OF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Yes, no, or balā?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نَعَمْ أَمْ لَا أَمْ بَلَى؟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أَلْعَبُهَا كُلَّ أُسْبُوعٍ.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قَرَأْتُهُ أَمْسِ.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لَمْ أَذْهَبْ إِلَيْهِ.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لَمْ أَزُرْهُ.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بَلَى، هُوَ سَهْلٌ.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بَلَى، ذَهَبْتُ.</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Yes</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Balā (cancels a negative)</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أَلْعَبُهَا كُلَّ أُسْبُوعٍ.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قَرَأْتُهُ أَمْسِ.</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No</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لَمْ أَذْهَبْ إِلَيْهِ.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لَمْ أَزُرْهُ.</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Balā (cancels a negative)</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بَلَى، هُوَ سَهْلٌ.</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بَلَى، ذَهَبْتُ.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أَتَدْرُسُ الْعَرَبِيَّةَ؟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question markers?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 تَسْكُنِينَ هُنَا؟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Space after the hamza?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تَفْعَلُ تَعْمَلُ هُنَا؟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“do”?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أَتَدْرُسُ الْعَرَبِيَّةَ؟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تَدْرُسُ الْعَرَبِيَّةَ؟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question marker only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 تَسْكُنِينَ هُنَا؟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أَتَسْكُنِينَ هُنَا؟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hamza joins the verb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تَفْعَلُ تَعْمَلُ هُنَا؟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تَعْمَلُ هُنَا؟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Arabic has no “do” in questions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MINI-CHECK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“this or that?”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تَسْكُنُ فِي لَنْدَنَ لِأَنَّ بَرْمِنْغَامَ؟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لَنْدَنَ أَمْ بَرْمِنْغَامَ؟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أَتَسْكُنُ فِي لَنْدَنَ أَمْ بَرْمِنْغَامَ؟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teacher?” (to one male).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أَهَذِهِ مُعَلِّمَتُكِ؟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أَهَذَا مُعَلِّمُكَ؟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مُعَلِّمُكَ؟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أَتَدْرُسُ الْعَرَبِيَّةَ؟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 هَلْ تَدْرُسُ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تَدْرُسُ الْعَرَبِيَّةَ؟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تَدْرُسُ الْعَرَبِيَّةَ؟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 تَسْكُنِينَ هُنَا؟</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تَسْكُنِينَ هُنَا؟</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أَتَسْكُنِينَ هُنَا؟</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أَتَسْكُنِينَ هُنَا؟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“this or that?” question.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تَسْكُنُ فِي لَنْدَنَ لِأَنَّ بَرْمِنْغَامَ؟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لَنْدَنَ أَمْ بَرْمِنْغَامَ؟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أَتَسْكُنُ فِي لَنْدَنَ أَمْ بَرْمِنْغَامَ؟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am: two real options.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teacher?” (to one male).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أَهَذِهِ مُعَلِّمَتُكِ؟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أَهَذَا مُعَلِّمُكَ؟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مُعَلِّمُكَ؟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a-hādhā + muʿallimuka.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أَتَدْرُسُ الْعَرَبِيَّةَ؟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 هَلْ تَدْرُسُ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تَدْرُسُ الْعَرَبِيَّةَ؟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تَدْرُسُ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one marker.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 تَسْكُنِينَ هُنَا؟</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 تَسْكُنِينَ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أَتَسْكُنِينَ هُنَا؟</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أَتَسْكُنِينَ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 the hamza.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MESSAGE CHECK (EXTENDED)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Message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مَرْيَمُ، هَلْ وَصَلْتِ إِلَى الْمَحَطَّةِ؟ أَعِنْدَكِ التَّذْكِرَةُ؟ هَلْ سَيَصِلُ الْقِطَارُ فِي الْمَوْعِدِ؟ أَتُرِيدِينَ أَنْ آتِيَ إِلَيْكِ أَمْ تَأْخُذِينَ سَيَّارَةَ أُجْرَةٍ؟ هَلْ أَكَلْتِ شَيْئًا؟ أُمِّي طَبَخَتِ الْمَقْلُوبَةَ، وَهِيَ تَنْتَظِرُكِ. أَرْسِلِي لِي رِسَالَةً عِنْدَمَا تَرْكَبِينَ الْقِطَارَ!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الْمَحَطَّةِ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station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التَّذْكِرَةُ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ticket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الْمَوْعِدِ</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time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سَيَّارَةَ أُجْرَةٍ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taxi</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تَرْكَبِينَ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(f.) get on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Maryam be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a choice?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أَكَلْتِ شَيْئًا؟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أَعِنْدَكِ التَّذْكِرَةُ؟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أَتُرِيدِينَ أَنْ آتِيَ إِلَيْكِ أَمْ …</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cooked the maqlūba?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mother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Maryam do when she gets on the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 a taxi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send a message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a ticket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should Maryam be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Hal waṣalti ilā l-maḥaṭṭati?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offers a choice?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أَكَلْتِ شَيْئًا؟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أَعِنْدَكِ التَّذْكِرَةُ؟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أَتُرِيدِينَ أَنْ آتِيَ إِلَيْكِ أَمْ …</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am.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cooked the maqlūba?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mother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Ummī ṭabakhati l-maqlūbata.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Maryam do when she gets on the train?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call a taxi</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send a message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a ticket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Arsilī lī risālatan.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class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تُحِبُّ الرِّيَاضَةَ؟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زَمِيلَكَ سِتَّةَ أَسْئِلَةٍ بِـ«هَلْ».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سُؤَالَ اخْتِيَارٍ، ثُمَّ أَجِبْ مَعَ سَبَبٍ.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أُحِبُّ ___ ،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هَلْ ___ فِي الْعُطْلَةِ؟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أَتُفَضِّلُ ___ أَمْ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أَلَمْ تُشَاهِدِي الْمُبَارَاةَ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Didn’t you watch the match yesterday?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بَلَى، شَاهَدْتُهَا مَعَ أَبِي! هَلْ شَاهَدْتَهَا أَنْتَ؟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did — I watched it with my father! Did you watch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hal questions for a new student, with yes / no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hal anta …? · naʿam,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past, future and one a- … am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hal zurta …? · hal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questions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interview with extended model answers.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one negative question + balā.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زُرْتَ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سَتُسَافِرُ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Will you travel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أَتُفَضِّلُ ______ أَمْ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prefer … 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لَمْ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 I did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Are you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تَسْكُنُ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live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عِنْدَكَ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نَعَمْ،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هَلْ  ·  أَمْ  ·  نَعَمْ  ·  لَا  ·  بَلَى  ·  لَمْ  ·  لِأَنَّ  ·  أَمْسِ  ·  غَدًا  ·  كُلَّ يَوْمٍ  ·  أُفَضِّلُ  ·  أَسْكُنُ  ·  زُرْتُ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mini-interview: ten questions for a new student, visitor or classmate, with model answers.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hal questions and two hamza questions.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 … am alternative.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 questions.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agreement in every question.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Extended answers with reasons (and one balā).</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أَنْتَ جَدِيدٌ؟</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are you new?</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مَتَى</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since when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إِنْ شَاءَ اللَّهُ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God willing</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الْجَمِيعُ</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everyone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هَلْ أَنْتَ جَدِيدٌ فِي مَدْرَسَتِنَا؟ نَعَمْ، وَصَلْتُ هَذَا الشَّهْرَ مِنْ مِصْرَ. هَلْ تَتَكَلَّمُ الْإِنْجِلِيزِيَّةَ؟ نَعَمْ، وَلَكِنِّي أَتَعَلَّمُهَا بِجِدٍّ. أَتَسْكُنُ قَرِيبًا أَمْ بَعِيدًا؟ أَسْكُنُ قَرِيبًا، فِي الشَّارِعِ الثَّانِي. هَلْ زُرْتَ مَكْتَبَةَ الْمَدْرَسَةِ؟ لَا، لَمْ أَزُرْهَا بَعْدُ. هَلْ تُحِبُّ الرِّيَاضَةَ؟ نَعَمْ، أَلْعَبُ كُرَةَ السَّلَّةِ كُلَّ سَبْتٍ. أَتُفَضِّلُ الرِّيَاضِيَّاتِ أَمِ الْعُلُومَ؟ أُفَضِّلُ الْعُلُومَ لِأَنَّ تَجَارِبَهَا مُمْتِعَةٌ. هَلْ سَتَنْضَمُّ إِلَى نَادِي الشِّطْرَنْجِ؟ نَعَمْ، إِنْ شَاءَ اللَّهُ. أَلَيْسَ الْجَوُّ هُنَا بَارِدًا؟ بَلَى، هُوَ بَارِدٌ جِدًّا! هَلْ عِنْدَكَ إِخْوَةٌ؟ نَعَمْ، عِنْدِي أُخْتَانِ. هَلْ أَنْتَ سَعِيدٌ هُنَا؟ نَعَمْ، الْجَمِيعُ لُطَفَاءُ.</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Are you new at our school? Yes, I arrived this month from Egypt. Do you speak English? Yes, but I am working hard to learn it. Do you live near or far? I live near, in the second street. Have you visited the school library? No, I have not visited it yet. Do you like sport? Yes, I play basketball every Saturday. Do you prefer maths or science? I prefer science because its experiments are interesting. Will you join the chess club? Yes, in shāʾ Allāh. Isn’t the weather cold here? Yes, it is very cold! Do you have brothers and sisters? Yes, I have two sisters. Are you happy here? Yes, everyone is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hal question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hamza question with am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question + lam answer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 question + balā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question starts with hal or a- and ends with a question mark.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are full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hamza is joined to the next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never used hal and a- together.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a negative question with balā.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answer to </a:t>
            </a:r>
            <a:pPr algn="l" indent="0" marL="0">
              <a:buNone/>
            </a:pPr>
            <a:r>
              <a:rPr lang="ar-SA" altLang="en-US" sz="1650" b="1" dirty="0">
                <a:solidFill>
                  <a:srgbClr val="1B3B6F"/>
                </a:solidFill>
                <a:latin typeface="Amiri" pitchFamily="2" charset="-78"/>
                <a:ea typeface="Amiri" pitchFamily="2" charset="-78"/>
                <a:cs typeface="Amiri" pitchFamily="2" charset="-78"/>
              </a:rPr>
              <a:t>أَلَمْ تَذْهَبِي؟</a:t>
            </a:r>
            <a:pPr algn="l" indent="0" marL="0">
              <a:buNone/>
            </a:pPr>
            <a:r>
              <a:rPr lang="en-US" sz="1250" b="1" dirty="0">
                <a:solidFill>
                  <a:srgbClr val="1B3B6F"/>
                </a:solidFill>
                <a:latin typeface="Calibri" pitchFamily="34" charset="0"/>
                <a:cs typeface="Amiri" pitchFamily="2" charset="-78"/>
              </a:rPr>
              <a:t> if you DID go: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بَلَى، ذَهَبْتُ.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لَمْ 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question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زُرْتَ الْمَدِينَةَ؟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زُرْتِ الْمَدِينَةَ؟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تَزُورِينَ الْمَدِينَةَ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negative answer to </a:t>
            </a:r>
            <a:pPr algn="l" indent="0" marL="0">
              <a:buNone/>
            </a:pPr>
            <a:r>
              <a:rPr lang="ar-SA" altLang="en-US" sz="1650" b="1" dirty="0">
                <a:solidFill>
                  <a:srgbClr val="1B3B6F"/>
                </a:solidFill>
                <a:latin typeface="Amiri" pitchFamily="2" charset="-78"/>
                <a:ea typeface="Amiri" pitchFamily="2" charset="-78"/>
                <a:cs typeface="Amiri" pitchFamily="2" charset="-78"/>
              </a:rPr>
              <a:t>هَلْ ذَهَبْتَ؟</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لَمْ أَذْهَبْ.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لَنْ أَذْهَبَ أَمْسِ.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 مَا أَذْهَبُ.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answer to </a:t>
            </a:r>
            <a:pPr algn="l" indent="0" marL="0">
              <a:buNone/>
            </a:pPr>
            <a:r>
              <a:rPr lang="ar-SA" altLang="en-US" sz="1650" b="1" dirty="0">
                <a:solidFill>
                  <a:srgbClr val="1B3B6F"/>
                </a:solidFill>
                <a:latin typeface="Amiri" pitchFamily="2" charset="-78"/>
                <a:ea typeface="Amiri" pitchFamily="2" charset="-78"/>
                <a:cs typeface="Amiri" pitchFamily="2" charset="-78"/>
              </a:rPr>
              <a:t>أَلَمْ تَذْهَبِي؟</a:t>
            </a:r>
            <a:pPr algn="l" indent="0" marL="0">
              <a:buNone/>
            </a:pPr>
            <a:r>
              <a:rPr lang="en-US" sz="1250" b="1" dirty="0">
                <a:solidFill>
                  <a:srgbClr val="1B3B6F"/>
                </a:solidFill>
                <a:latin typeface="Calibri" pitchFamily="34" charset="0"/>
                <a:cs typeface="Amiri" pitchFamily="2" charset="-78"/>
              </a:rPr>
              <a:t> if you DID go: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بَلَى، ذَهَبْتُ.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نَعَمْ، لَمْ 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Balā cancels the negative.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past question to one female.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زُرْتَ الْمَدِينَةَ؟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هَلْ زُرْتِ الْمَدِينَةَ؟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تَزُورِينَ الْمَدِينَةَ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Zurti = you (f.) visited.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negative answer to </a:t>
            </a:r>
            <a:pPr algn="l" indent="0" marL="0">
              <a:buNone/>
            </a:pPr>
            <a:r>
              <a:rPr lang="ar-SA" altLang="en-US" sz="1650" b="1" dirty="0">
                <a:solidFill>
                  <a:srgbClr val="1B3B6F"/>
                </a:solidFill>
                <a:latin typeface="Amiri" pitchFamily="2" charset="-78"/>
                <a:ea typeface="Amiri" pitchFamily="2" charset="-78"/>
                <a:cs typeface="Amiri" pitchFamily="2" charset="-78"/>
              </a:rPr>
              <a:t>هَلْ ذَهَبْتَ؟</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 لَمْ أَذْهَبْ.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لَنْ أَذْهَبَ أَمْسِ.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نَعَمْ، مَا أَذْهَبُ.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Lam + present 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GM-INT-01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GM-INT-02: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Interrogatives · GM-INT-01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GM-INT-02 · Which? Gender and Case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(with masculine nouns)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(with feminine nouns)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 كِتَابٍ؟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book?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أَيَّةُ مَدِينَةٍ؟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city?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أَيِّ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which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Ayy (which) is followed by an indefinite noun ending in -in: ayyu kitābin? How would you ask “Which colour do you like?” (lawn = colour)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 ______ تُحِبُّ؟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hal questions about school and answer them in full.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two a- … am questions and four questions in different tenses.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ten-question interview with model answers.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GM-INT-01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GM-INT-02 · Which? Gender and Case Agreement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أَيّ وَأَيَّة: التَّذْكِيرُ وَالتَّأْنِيثُ وَالْإِعْرَابُ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hal + statement + question mark (no word swap, no “do”) · the hamza joins the next word: a-tadhhabu? · a- … am = this or that? (choose, don’t say naʿam) · answer with a full sentence · negative question → balā cancels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GM-INT-01 · Yes / No Questions</dc:title>
  <dc:subject>PptxGenJS Presentation</dc:subject>
  <dc:creator>Al Madina Online School · Arabic Department</dc:creator>
  <cp:lastModifiedBy>Al Madina Online School · Arabic Department</cp:lastModifiedBy>
  <cp:revision>1</cp:revision>
  <dcterms:created xsi:type="dcterms:W3CDTF">2026-10-11T06:42:14Z</dcterms:created>
  <dcterms:modified xsi:type="dcterms:W3CDTF">2026-10-11T06:42:14Z</dcterms:modified>
</cp:coreProperties>
</file>