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Interrogatives › GM-INT-01 (“Yes/No Questions”).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hal + a complete statement (hal tadrusīna l-ʿarabiyyata?) and full answers with naʿam / lā (naʿam, alʿabuhā kulla usbūʿin). Develop: the attached hamza (a-taskunu …?), a- … am for choices, questions in past, present and future with correct agreement. Stretch: negative questions (a-laysa …? a-lam …?) answered with balā; dialogue editing.
• Website house rule: hal is the dependable neutral form; use a- confidently with familiar models, especially a- … am. Never use both together (hal a-tadrusu ✗).
• Colour code: teal = question marker. Recycles GM-VS-04 (hal with VSO / SVO), GM-NVS-04 (laysa) and GM-POS-03 (hal ʿindaka …?).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Starter — GM-VS-04 hal questions and GM-POS-03 hal ʿindaka …?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hal + statement + question mark — keep the Arabic order. a- … am = this or that? Answer with a full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“hal: the reliable neutral question marker”. Read each pair aloud: flat statement, rising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“The interrogative hamza”. Am + al- → ami l- (helping kasra): ami l-qahwata.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(2 min) — website “Word order, tense and agreement” (website vowelling corrected: zurtumu l-, taqraʾīna).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(3 min) — website “Answer the meaning — not only the particle”. Past negative answers use lam + present form (GM-VS-04).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(2 min) — website “Negative questions and balā” (row 3 from the website Repair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mini-checks: add hal; hamza or hal.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speaking-survey model. The choice question is answered by choosing, not with naʿam.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game items. Cover column 2; students ask the question aloud with rising intonation, a partner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Then students write the question for each answer: hal talʿabu kurata l-qadami? … a-laysa d-darsu sahlan?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Then students write the question for each answer: hal talʿabu kurata l-qadami? … a-laysa d-darsu sahlan?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mini-check and Repair lab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message check (extended). Read it aloud once while students follow; then they hunt for today’s grammar.
Task: Website: identify the pieces of information the sender wants confirmed. Underline every question marker.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Website message-check lines, extended by the teacher;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survey. Sequence: ● 10s think → ↔ 45s rehearse aloud with mic muted → ◎ two named students on open mic (warned in advance) → + ? the class types one follow-up in chat → ↺ one student summarises.
Routes: Core uses the Core prompt and stem; Develop the Develop prompt; Stretch the last prompt.
Website survey: six questions across school, hobbies, travel and future plans; hal at least four times and one a- … am. Then report back in the third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a ten-question Arabic interview for a new student, visitor or classmate, then add model answers.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interview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(GM-INT-02 · Which? Gender and Case Agreement) will spend class time USING this language, so students prepare it tonight — short, simple, easy to access (school guidance: “Simple, Short, Interesting, Relevant, Easy to access”). The five words prepare GM-INT-02 (website: which? — ayy and ayya).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INTERROGATIVES  ·  GM-INT-01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GM-INT-01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Yes / No Questions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أَسْئِلَةُ نَعَمْ وَلَا بِـ«هَلْ» وَهَمْزَةِ الِاسْتِفْهَامِ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Put hal in front of any statement and add a question mark: anta mustaʿiddun → hal anta mustaʿiddun? No word swap, no “do”. The hamza a- does the same job attached to the next word, and a- … am asks “this or that?”.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GM-INT-01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Interrogatives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hal; the hamza and am; tense and agreement; answers; balā.</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Statement → question; answer types;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GM-INT-02.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Which particle can turn a complete statement into a neutral yes/no question?</a:t>
            </a:r>
            <a:endParaRPr lang="en-US" sz="11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correctly written hamza question.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أَتُحِبُّ الرِّيَاضَةَ؟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 تُحِبُّ الرِّيَاضَةَ؟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 تُحِبُّ الرِّيَاضَةَ؟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“Is this your bag?” (to one female).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هَذَا حَقِيبَتُكَ؟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حَقِيبَتُكِ؟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هَذِهِ حَقِيبَتُكِ؟</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normally answers an affirmative yes/no question positively?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نَعَمْ</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asks an either / or question?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أَ...أَمْ</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هَلْ...لِأَنَّ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مَنْ...ثُمَّ</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Which particle can turn a complete statement into a neutral yes/no question?</a:t>
            </a:r>
            <a:endParaRPr lang="en-US" sz="11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هَلْ</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مَتَى</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Hal turns a statement into a yes / no question.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correctly written hamza question.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أَتُحِبُّ الرِّيَاضَةَ؟</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 تُحِبُّ الرِّيَاضَةَ؟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 تُحِبُّ الرِّيَاضَةَ؟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hamza joins the next word.</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“Is this your bag?” (to one female).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هَلْ هَذَا حَقِيبَتُكَ؟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مَاذَا حَقِيبَتُكِ؟</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هَلْ هَذِهِ حَقِيبَتُكِ؟</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Hādhihi + ḥaqībatuki.</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normally answers an affirmative yes/no question positively?</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مَاذَا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نَعَمْ</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Naʿam = yes.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asks an either / or question?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أَ...أَمْ</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هَلْ...لِأَنَّ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مَنْ...ثُمَّ</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 am = this or that?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hal + statement + question mark — keep the Arabic order. a- … am = this or that? Answer with a full sentence.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cs typeface="Amiri" pitchFamily="2" charset="-78"/>
              </a:rPr>
              <a:t>هَلْ</a:t>
            </a:r>
            <a:pPr rtl="1" algn="ctr" indent="0" marL="0">
              <a:lnSpc>
                <a:spcPct val="120000"/>
              </a:lnSpc>
              <a:buNone/>
            </a:pPr>
            <a:r>
              <a:rPr lang="ar-SA" altLang="en-US" sz="1950" b="1" dirty="0">
                <a:solidFill>
                  <a:srgbClr val="1B3B6F"/>
                </a:solidFill>
                <a:latin typeface="Amiri" pitchFamily="2" charset="-78"/>
                <a:cs typeface="Amiri" pitchFamily="2" charset="-78"/>
              </a:rPr>
              <a:t> أَنْتَ مُسْتَعِدٌّ؟ ‖ </a:t>
            </a:r>
            <a:pPr rtl="1" algn="ctr" indent="0" marL="0">
              <a:lnSpc>
                <a:spcPct val="120000"/>
              </a:lnSpc>
              <a:buNone/>
            </a:pPr>
            <a:r>
              <a:rPr lang="ar-SA" altLang="en-US" sz="1950" b="1" dirty="0">
                <a:solidFill>
                  <a:srgbClr val="0E7C86"/>
                </a:solidFill>
                <a:latin typeface="Amiri" pitchFamily="2" charset="-78"/>
                <a:cs typeface="Amiri" pitchFamily="2" charset="-78"/>
              </a:rPr>
              <a:t>أَتُفَضِّلُ</a:t>
            </a:r>
            <a:pPr rtl="1" algn="ctr" indent="0" marL="0">
              <a:lnSpc>
                <a:spcPct val="120000"/>
              </a:lnSpc>
              <a:buNone/>
            </a:pPr>
            <a:r>
              <a:rPr lang="ar-SA" altLang="en-US" sz="1950" b="1" dirty="0">
                <a:solidFill>
                  <a:srgbClr val="1B3B6F"/>
                </a:solidFill>
                <a:latin typeface="Amiri" pitchFamily="2" charset="-78"/>
                <a:cs typeface="Amiri" pitchFamily="2" charset="-78"/>
              </a:rPr>
              <a:t> الشَّايَ </a:t>
            </a:r>
            <a:pPr rtl="1" algn="ctr" indent="0" marL="0">
              <a:lnSpc>
                <a:spcPct val="120000"/>
              </a:lnSpc>
              <a:buNone/>
            </a:pPr>
            <a:r>
              <a:rPr lang="ar-SA" altLang="en-US" sz="1950" b="1" dirty="0">
                <a:solidFill>
                  <a:srgbClr val="0E7C86"/>
                </a:solidFill>
                <a:latin typeface="Amiri" pitchFamily="2" charset="-78"/>
                <a:cs typeface="Amiri" pitchFamily="2" charset="-78"/>
              </a:rPr>
              <a:t>أَمِ</a:t>
            </a:r>
            <a:pPr rtl="1" algn="ctr" indent="0" marL="0">
              <a:lnSpc>
                <a:spcPct val="120000"/>
              </a:lnSpc>
              <a:buNone/>
            </a:pPr>
            <a:r>
              <a:rPr lang="ar-SA" altLang="en-US" sz="1950" b="1" dirty="0">
                <a:solidFill>
                  <a:srgbClr val="1B3B6F"/>
                </a:solidFill>
                <a:latin typeface="Amiri" pitchFamily="2" charset="-78"/>
                <a:cs typeface="Amiri" pitchFamily="2" charset="-78"/>
              </a:rPr>
              <a:t> الْقَهْوَةَ؟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Turn a statement into a question with hal.</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Attach the question hamza correctly.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“this or that?” with a- … am.</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Answer in full sentences — and with balā.</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put hal in front of a statement.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answer naʿam / lā with a full sentence.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write a-tadhhabu? as one word.</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ask a- … am questions in all tenses.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answer negative questions with balā.</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a ten-question interview with answers.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الِاسْتِفْهَامُ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asking questions</a:t>
            </a:r>
            <a:endParaRPr lang="en-US" sz="1350" dirty="0"/>
          </a:p>
          <a:p>
            <a:pPr indent="0" marL="0">
              <a:buNone/>
            </a:pPr>
            <a:r>
              <a:rPr lang="en-US" sz="1100" i="1" dirty="0">
                <a:solidFill>
                  <a:srgbClr val="5A6472"/>
                </a:solidFill>
                <a:latin typeface="Calibri" pitchFamily="34" charset="0"/>
                <a:cs typeface="Amiri" pitchFamily="2" charset="-78"/>
              </a:rPr>
              <a:t>al-ِs-tif-hā-mu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هَلْ · أَ</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هَلْ</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yes / no question word</a:t>
            </a:r>
            <a:endParaRPr lang="en-US" sz="1350" dirty="0"/>
          </a:p>
          <a:p>
            <a:pPr indent="0" marL="0">
              <a:buNone/>
            </a:pPr>
            <a:r>
              <a:rPr lang="en-US" sz="1100" i="1" dirty="0">
                <a:solidFill>
                  <a:srgbClr val="5A6472"/>
                </a:solidFill>
                <a:latin typeface="Calibri" pitchFamily="34" charset="0"/>
                <a:cs typeface="Amiri" pitchFamily="2" charset="-78"/>
              </a:rPr>
              <a:t>hal</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هَلْ أَنْتَ جَاهِزٌ؟</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هَمْزَةُ الِاسْتِفْهَامِ</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question hamza (attached)</a:t>
            </a:r>
            <a:endParaRPr lang="en-US" sz="1350" dirty="0"/>
          </a:p>
          <a:p>
            <a:pPr indent="0" marL="0">
              <a:buNone/>
            </a:pPr>
            <a:r>
              <a:rPr lang="en-US" sz="1100" i="1" dirty="0">
                <a:solidFill>
                  <a:srgbClr val="5A6472"/>
                </a:solidFill>
                <a:latin typeface="Calibri" pitchFamily="34" charset="0"/>
                <a:cs typeface="Amiri" pitchFamily="2" charset="-78"/>
              </a:rPr>
              <a:t>ham-za-tu al-ِs-tif-hā-mi</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أَتَذْهَبُ؟</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أَمْ</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 (in a question)</a:t>
            </a:r>
            <a:endParaRPr lang="en-US" sz="1350" dirty="0"/>
          </a:p>
          <a:p>
            <a:pPr indent="0" marL="0">
              <a:buNone/>
            </a:pPr>
            <a:r>
              <a:rPr lang="en-US" sz="1100" i="1" dirty="0">
                <a:solidFill>
                  <a:srgbClr val="5A6472"/>
                </a:solidFill>
                <a:latin typeface="Calibri" pitchFamily="34" charset="0"/>
                <a:cs typeface="Amiri" pitchFamily="2" charset="-78"/>
              </a:rPr>
              <a:t>am</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أَشَايٌ أَمْ قَهْوَةٌ؟</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نَعَمْ · لَا</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yes · no</a:t>
            </a:r>
            <a:endParaRPr lang="en-US" sz="1350" dirty="0"/>
          </a:p>
          <a:p>
            <a:pPr indent="0" marL="0">
              <a:buNone/>
            </a:pPr>
            <a:r>
              <a:rPr lang="en-US" sz="1100" i="1" dirty="0">
                <a:solidFill>
                  <a:srgbClr val="5A6472"/>
                </a:solidFill>
                <a:latin typeface="Calibri" pitchFamily="34" charset="0"/>
                <a:cs typeface="Amiri" pitchFamily="2" charset="-78"/>
              </a:rPr>
              <a:t>na-ʿam · lā</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نَعَمْ، أَذْهَبُ.</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بَلَى</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yes (after a negative question)</a:t>
            </a:r>
            <a:endParaRPr lang="en-US" sz="1350" dirty="0"/>
          </a:p>
          <a:p>
            <a:pPr indent="0" marL="0">
              <a:buNone/>
            </a:pPr>
            <a:r>
              <a:rPr lang="en-US" sz="1100" i="1" dirty="0">
                <a:solidFill>
                  <a:srgbClr val="5A6472"/>
                </a:solidFill>
                <a:latin typeface="Calibri" pitchFamily="34" charset="0"/>
                <a:cs typeface="Amiri" pitchFamily="2" charset="-78"/>
              </a:rPr>
              <a:t>ba-lā</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بَلَى، ذَهَبْتُ.</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HAL: THE RELIABLE QUESTION MARKER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Add hal — change nothing else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هَلْ +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19872" y="1810512"/>
            <a:ext cx="3538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stayed the same</a:t>
            </a:r>
            <a:endParaRPr lang="en-US" sz="1100" dirty="0"/>
          </a:p>
        </p:txBody>
      </p:sp>
      <p:sp>
        <p:nvSpPr>
          <p:cNvPr id="17" name="Text 14"/>
          <p:cNvSpPr txBox="1"/>
          <p:nvPr/>
        </p:nvSpPr>
        <p:spPr>
          <a:xfrm>
            <a:off x="409651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8" name="Text 15"/>
          <p:cNvSpPr txBox="1"/>
          <p:nvPr/>
        </p:nvSpPr>
        <p:spPr>
          <a:xfrm>
            <a:off x="53035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Statement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156448" y="2267712"/>
            <a:ext cx="3502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nominal order and agreement</a:t>
            </a:r>
            <a:endParaRPr lang="en-US" sz="1100" dirty="0"/>
          </a:p>
        </p:txBody>
      </p:sp>
      <p:sp>
        <p:nvSpPr>
          <p:cNvPr id="21" name="Text 18"/>
          <p:cNvSpPr txBox="1"/>
          <p:nvPr/>
        </p:nvSpPr>
        <p:spPr>
          <a:xfrm>
            <a:off x="4114800" y="2267712"/>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أَنْتَ مُسْتَعِدٌّ؟</a:t>
            </a:r>
            <a:endParaRPr lang="ar-SA" sz="2200" dirty="0"/>
          </a:p>
        </p:txBody>
      </p:sp>
      <p:sp>
        <p:nvSpPr>
          <p:cNvPr id="22" name="Text 19"/>
          <p:cNvSpPr txBox="1"/>
          <p:nvPr/>
        </p:nvSpPr>
        <p:spPr>
          <a:xfrm>
            <a:off x="548640" y="2267712"/>
            <a:ext cx="33832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أَنْتَ مُسْتَعِدٌّ.</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156448" y="3054096"/>
            <a:ext cx="3502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verb, hidden “you”</a:t>
            </a:r>
            <a:endParaRPr lang="en-US" sz="1100" dirty="0"/>
          </a:p>
        </p:txBody>
      </p:sp>
      <p:sp>
        <p:nvSpPr>
          <p:cNvPr id="27" name="Text 24"/>
          <p:cNvSpPr txBox="1"/>
          <p:nvPr/>
        </p:nvSpPr>
        <p:spPr>
          <a:xfrm>
            <a:off x="4114800" y="3054096"/>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تَذْهَبُ إِلَى الْمَدْرَسَةِ؟</a:t>
            </a:r>
            <a:endParaRPr lang="ar-SA" sz="2200" dirty="0"/>
          </a:p>
        </p:txBody>
      </p:sp>
      <p:sp>
        <p:nvSpPr>
          <p:cNvPr id="28" name="Text 25"/>
          <p:cNvSpPr txBox="1"/>
          <p:nvPr/>
        </p:nvSpPr>
        <p:spPr>
          <a:xfrm>
            <a:off x="548640" y="3054096"/>
            <a:ext cx="33832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تَذْهَبُ إِلَى الْمَدْرَسَةِ.</a:t>
            </a:r>
            <a:endParaRPr lang="ar-SA" sz="22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156448" y="3840480"/>
            <a:ext cx="3502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tense, feminine verb</a:t>
            </a:r>
            <a:endParaRPr lang="en-US" sz="1100" dirty="0"/>
          </a:p>
        </p:txBody>
      </p:sp>
      <p:sp>
        <p:nvSpPr>
          <p:cNvPr id="33" name="Text 30"/>
          <p:cNvSpPr txBox="1"/>
          <p:nvPr/>
        </p:nvSpPr>
        <p:spPr>
          <a:xfrm>
            <a:off x="4114800" y="3840480"/>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زَارَتْ سَلْمَى جَدَّتَهَا؟</a:t>
            </a:r>
            <a:endParaRPr lang="ar-SA" sz="2200" dirty="0"/>
          </a:p>
        </p:txBody>
      </p:sp>
      <p:sp>
        <p:nvSpPr>
          <p:cNvPr id="34" name="Text 31"/>
          <p:cNvSpPr txBox="1"/>
          <p:nvPr/>
        </p:nvSpPr>
        <p:spPr>
          <a:xfrm>
            <a:off x="548640" y="3840480"/>
            <a:ext cx="33832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زَارَتْ سَلْمَى جَدَّتَهَا.</a:t>
            </a:r>
            <a:endParaRPr lang="ar-SA" sz="22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8156448" y="4626864"/>
            <a:ext cx="3502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sa- and plural</a:t>
            </a:r>
            <a:endParaRPr lang="en-US" sz="1100" dirty="0"/>
          </a:p>
        </p:txBody>
      </p:sp>
      <p:sp>
        <p:nvSpPr>
          <p:cNvPr id="37" name="Text 34"/>
          <p:cNvSpPr txBox="1"/>
          <p:nvPr/>
        </p:nvSpPr>
        <p:spPr>
          <a:xfrm>
            <a:off x="4114800" y="4626864"/>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سَتُسَافِرُونَ غَدًا؟</a:t>
            </a:r>
            <a:endParaRPr lang="ar-SA" sz="2200" dirty="0"/>
          </a:p>
        </p:txBody>
      </p:sp>
      <p:sp>
        <p:nvSpPr>
          <p:cNvPr id="38" name="Text 35"/>
          <p:cNvSpPr txBox="1"/>
          <p:nvPr/>
        </p:nvSpPr>
        <p:spPr>
          <a:xfrm>
            <a:off x="548640" y="4626864"/>
            <a:ext cx="33832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سَتُسَافِرُونَ غَدًا.</a:t>
            </a:r>
            <a:endParaRPr lang="ar-SA" sz="22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place hal before the complete sentence — do not rebuild it in English order and never add a word for “do”. Use the Arabic question mark and a rising voice.</a:t>
            </a:r>
            <a:endParaRPr lang="en-US" sz="11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THE INTERROGATIVE HAMZA (WEBSITE MODELS)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joins the next word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هَمْزَةُ الِاسْتِفْهَامِ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Type</a:t>
            </a:r>
            <a:endParaRPr lang="en-US" sz="1100" dirty="0"/>
          </a:p>
        </p:txBody>
      </p:sp>
      <p:sp>
        <p:nvSpPr>
          <p:cNvPr id="17" name="Text 14"/>
          <p:cNvSpPr txBox="1"/>
          <p:nvPr/>
        </p:nvSpPr>
        <p:spPr>
          <a:xfrm>
            <a:off x="546811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4791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528048" y="2267712"/>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confirm</a:t>
            </a:r>
            <a:endParaRPr lang="en-US" sz="1100" dirty="0"/>
          </a:p>
        </p:txBody>
      </p:sp>
      <p:sp>
        <p:nvSpPr>
          <p:cNvPr id="21" name="Text 18"/>
          <p:cNvSpPr txBox="1"/>
          <p:nvPr/>
        </p:nvSpPr>
        <p:spPr>
          <a:xfrm>
            <a:off x="5504688" y="2267712"/>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work in the hospital?</a:t>
            </a:r>
            <a:endParaRPr lang="en-US" sz="1100" dirty="0"/>
          </a:p>
        </p:txBody>
      </p:sp>
      <p:sp>
        <p:nvSpPr>
          <p:cNvPr id="22" name="Text 19"/>
          <p:cNvSpPr txBox="1"/>
          <p:nvPr/>
        </p:nvSpPr>
        <p:spPr>
          <a:xfrm>
            <a:off x="548640" y="2267712"/>
            <a:ext cx="47548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أَتَعْمَلُ فِي الْمُسْتَشْفَى؟</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9528048" y="3054096"/>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confirm</a:t>
            </a:r>
            <a:endParaRPr lang="en-US" sz="1100" dirty="0"/>
          </a:p>
        </p:txBody>
      </p:sp>
      <p:sp>
        <p:nvSpPr>
          <p:cNvPr id="27" name="Text 24"/>
          <p:cNvSpPr txBox="1"/>
          <p:nvPr/>
        </p:nvSpPr>
        <p:spPr>
          <a:xfrm>
            <a:off x="5504688" y="3054096"/>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this your car? (to a girl)</a:t>
            </a:r>
            <a:endParaRPr lang="en-US" sz="1100" dirty="0"/>
          </a:p>
        </p:txBody>
      </p:sp>
      <p:sp>
        <p:nvSpPr>
          <p:cNvPr id="28" name="Text 25"/>
          <p:cNvSpPr txBox="1"/>
          <p:nvPr/>
        </p:nvSpPr>
        <p:spPr>
          <a:xfrm>
            <a:off x="548640" y="3054096"/>
            <a:ext cx="47548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أَهَذِهِ سَيَّارَتُكِ؟</a:t>
            </a:r>
            <a:endParaRPr lang="ar-SA" sz="22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9528048" y="3840480"/>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choice: a- … am</a:t>
            </a:r>
            <a:endParaRPr lang="en-US" sz="1100" dirty="0"/>
          </a:p>
        </p:txBody>
      </p:sp>
      <p:sp>
        <p:nvSpPr>
          <p:cNvPr id="31" name="Text 28"/>
          <p:cNvSpPr txBox="1"/>
          <p:nvPr/>
        </p:nvSpPr>
        <p:spPr>
          <a:xfrm>
            <a:off x="5504688" y="3840480"/>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prefer tea or coffee?</a:t>
            </a:r>
            <a:endParaRPr lang="en-US" sz="1100" dirty="0"/>
          </a:p>
        </p:txBody>
      </p:sp>
      <p:sp>
        <p:nvSpPr>
          <p:cNvPr id="32" name="Text 29"/>
          <p:cNvSpPr txBox="1"/>
          <p:nvPr/>
        </p:nvSpPr>
        <p:spPr>
          <a:xfrm>
            <a:off x="548640" y="3840480"/>
            <a:ext cx="47548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أَتُفَضِّلُ الشَّايَ أَمِ الْقَهْوَةَ؟</a:t>
            </a:r>
            <a:endParaRPr lang="ar-SA" sz="2200" dirty="0"/>
          </a:p>
        </p:txBody>
      </p:sp>
      <p:sp>
        <p:nvSpPr>
          <p:cNvPr id="33" name="Shape 3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9528048" y="4626864"/>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choice: a- … am</a:t>
            </a:r>
            <a:endParaRPr lang="en-US" sz="1100" dirty="0"/>
          </a:p>
        </p:txBody>
      </p:sp>
      <p:sp>
        <p:nvSpPr>
          <p:cNvPr id="37" name="Text 34"/>
          <p:cNvSpPr txBox="1"/>
          <p:nvPr/>
        </p:nvSpPr>
        <p:spPr>
          <a:xfrm>
            <a:off x="5504688" y="4626864"/>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Will you go today or tomorrow?</a:t>
            </a:r>
            <a:endParaRPr lang="en-US" sz="1100" dirty="0"/>
          </a:p>
        </p:txBody>
      </p:sp>
      <p:sp>
        <p:nvSpPr>
          <p:cNvPr id="38" name="Text 35"/>
          <p:cNvSpPr txBox="1"/>
          <p:nvPr/>
        </p:nvSpPr>
        <p:spPr>
          <a:xfrm>
            <a:off x="548640" y="4626864"/>
            <a:ext cx="47548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أَسَتَذْهَبُ الْيَوْمَ أَمْ غَدًا؟</a:t>
            </a:r>
            <a:endParaRPr lang="ar-SA" sz="22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spelling: write a-tadhhabu as ONE word, never with a space. A- is especially useful with am to offer two real alternatives.</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B3B6F"/>
                </a:solidFill>
                <a:latin typeface="Calibri" pitchFamily="34" charset="0"/>
                <a:cs typeface="Amiri" pitchFamily="2" charset="-78"/>
              </a:rPr>
              <a:t>GRAMMAR · PART 3 · WORD ORDER, TENSE AND AGREEMENT (WEBSITE TABLE) · DEVELOP</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The particle asks — the verb still tells</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الزَّمَنُ وَالْمُطَابَقَةُ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Evidence</a:t>
            </a:r>
            <a:endParaRPr lang="en-US" sz="1100" dirty="0"/>
          </a:p>
        </p:txBody>
      </p:sp>
      <p:sp>
        <p:nvSpPr>
          <p:cNvPr id="17" name="Text 14"/>
          <p:cNvSpPr txBox="1"/>
          <p:nvPr/>
        </p:nvSpPr>
        <p:spPr>
          <a:xfrm>
            <a:off x="272491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882128" y="2267712"/>
            <a:ext cx="37764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zurtum + amsi</a:t>
            </a:r>
            <a:endParaRPr lang="en-US" sz="1100" dirty="0"/>
          </a:p>
        </p:txBody>
      </p:sp>
      <p:sp>
        <p:nvSpPr>
          <p:cNvPr id="21" name="Text 18"/>
          <p:cNvSpPr txBox="1"/>
          <p:nvPr/>
        </p:nvSpPr>
        <p:spPr>
          <a:xfrm>
            <a:off x="2743200" y="2267712"/>
            <a:ext cx="49377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زُرْتُمُ الْمَتْحَفَ أَمْسِ؟</a:t>
            </a:r>
            <a:endParaRPr lang="ar-SA" sz="2200" dirty="0"/>
          </a:p>
        </p:txBody>
      </p:sp>
      <p:sp>
        <p:nvSpPr>
          <p:cNvPr id="22" name="Text 19"/>
          <p:cNvSpPr txBox="1"/>
          <p:nvPr/>
        </p:nvSpPr>
        <p:spPr>
          <a:xfrm>
            <a:off x="566928"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882128" y="3054096"/>
            <a:ext cx="37764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taqraʾīna + kulla yawm</a:t>
            </a:r>
            <a:endParaRPr lang="en-US" sz="1100" dirty="0"/>
          </a:p>
        </p:txBody>
      </p:sp>
      <p:sp>
        <p:nvSpPr>
          <p:cNvPr id="27" name="Text 24"/>
          <p:cNvSpPr txBox="1"/>
          <p:nvPr/>
        </p:nvSpPr>
        <p:spPr>
          <a:xfrm>
            <a:off x="2743200" y="3054096"/>
            <a:ext cx="49377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تَقْرَئِينَ كُلَّ يَوْمٍ؟</a:t>
            </a:r>
            <a:endParaRPr lang="ar-SA" sz="2200" dirty="0"/>
          </a:p>
        </p:txBody>
      </p:sp>
      <p:sp>
        <p:nvSpPr>
          <p:cNvPr id="28" name="Text 25"/>
          <p:cNvSpPr txBox="1"/>
          <p:nvPr/>
        </p:nvSpPr>
        <p:spPr>
          <a:xfrm>
            <a:off x="566928"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 habit</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882128" y="3840480"/>
            <a:ext cx="37764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 + present</a:t>
            </a:r>
            <a:endParaRPr lang="en-US" sz="1100" dirty="0"/>
          </a:p>
        </p:txBody>
      </p:sp>
      <p:sp>
        <p:nvSpPr>
          <p:cNvPr id="33" name="Text 30"/>
          <p:cNvSpPr txBox="1"/>
          <p:nvPr/>
        </p:nvSpPr>
        <p:spPr>
          <a:xfrm>
            <a:off x="2743200" y="3840480"/>
            <a:ext cx="49377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سَيَصِلُ الْقِطَارُ قَرِيبًا؟</a:t>
            </a:r>
            <a:endParaRPr lang="ar-SA" sz="2200" dirty="0"/>
          </a:p>
        </p:txBody>
      </p:sp>
      <p:sp>
        <p:nvSpPr>
          <p:cNvPr id="34" name="Text 31"/>
          <p:cNvSpPr txBox="1"/>
          <p:nvPr/>
        </p:nvSpPr>
        <p:spPr>
          <a:xfrm>
            <a:off x="566928"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7882128" y="4626864"/>
            <a:ext cx="37764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 plural subject and predicate</a:t>
            </a:r>
            <a:endParaRPr lang="en-US" sz="1100" dirty="0"/>
          </a:p>
        </p:txBody>
      </p:sp>
      <p:sp>
        <p:nvSpPr>
          <p:cNvPr id="37" name="Text 34"/>
          <p:cNvSpPr txBox="1"/>
          <p:nvPr/>
        </p:nvSpPr>
        <p:spPr>
          <a:xfrm>
            <a:off x="2743200" y="4626864"/>
            <a:ext cx="49377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أَنْتُنَّ مُسْتَعِدَّاتٌ؟</a:t>
            </a:r>
            <a:endParaRPr lang="ar-SA" sz="2200" dirty="0"/>
          </a:p>
        </p:txBody>
      </p:sp>
      <p:sp>
        <p:nvSpPr>
          <p:cNvPr id="38" name="Text 35"/>
          <p:cNvSpPr txBox="1"/>
          <p:nvPr/>
        </p:nvSpPr>
        <p:spPr>
          <a:xfrm>
            <a:off x="566928"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state (no verb)</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editing routine: cover the question marker. If what is left is a correct statement, the question is correct too.</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4 · ANSWER THE MEANING (WEBSITE MODELS)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Yes or no — plus a full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أَجِبْ بِجُمْلَةٍ كَامِلَةٍ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455371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Answer</a:t>
            </a:r>
            <a:endParaRPr lang="en-US" sz="1100" dirty="0"/>
          </a:p>
        </p:txBody>
      </p:sp>
      <p:sp>
        <p:nvSpPr>
          <p:cNvPr id="18" name="Text 15"/>
          <p:cNvSpPr txBox="1"/>
          <p:nvPr/>
        </p:nvSpPr>
        <p:spPr>
          <a:xfrm>
            <a:off x="53035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96528" y="2267712"/>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I play it every week.</a:t>
            </a:r>
            <a:endParaRPr lang="en-US" sz="1100" dirty="0"/>
          </a:p>
        </p:txBody>
      </p:sp>
      <p:sp>
        <p:nvSpPr>
          <p:cNvPr id="21" name="Text 18"/>
          <p:cNvSpPr txBox="1"/>
          <p:nvPr/>
        </p:nvSpPr>
        <p:spPr>
          <a:xfrm>
            <a:off x="4572000" y="2267712"/>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نَعَمْ، أَلْعَبُهَا كُلَّ أُسْبُوعٍ.</a:t>
            </a:r>
            <a:endParaRPr lang="ar-SA" sz="2200" dirty="0"/>
          </a:p>
        </p:txBody>
      </p:sp>
      <p:sp>
        <p:nvSpPr>
          <p:cNvPr id="22" name="Text 19"/>
          <p:cNvSpPr txBox="1"/>
          <p:nvPr/>
        </p:nvSpPr>
        <p:spPr>
          <a:xfrm>
            <a:off x="548640" y="2267712"/>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تَلْعَبُ كُرَةَ الْقَدَمِ؟</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796528" y="3054096"/>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I did not go there.</a:t>
            </a:r>
            <a:endParaRPr lang="en-US" sz="1100" dirty="0"/>
          </a:p>
        </p:txBody>
      </p:sp>
      <p:sp>
        <p:nvSpPr>
          <p:cNvPr id="27" name="Text 24"/>
          <p:cNvSpPr txBox="1"/>
          <p:nvPr/>
        </p:nvSpPr>
        <p:spPr>
          <a:xfrm>
            <a:off x="4572000" y="3054096"/>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لَا، لَمْ أَذْهَبْ إِلَيْهِ.</a:t>
            </a:r>
            <a:endParaRPr lang="ar-SA" sz="2200" dirty="0"/>
          </a:p>
        </p:txBody>
      </p:sp>
      <p:sp>
        <p:nvSpPr>
          <p:cNvPr id="28" name="Text 25"/>
          <p:cNvSpPr txBox="1"/>
          <p:nvPr/>
        </p:nvSpPr>
        <p:spPr>
          <a:xfrm>
            <a:off x="548640" y="3054096"/>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ذَهَبْتِ إِلَى السُّوقِ؟</a:t>
            </a:r>
            <a:endParaRPr lang="ar-SA" sz="22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796528" y="3840480"/>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Reading — it is calm.</a:t>
            </a:r>
            <a:endParaRPr lang="en-US" sz="1100" dirty="0"/>
          </a:p>
        </p:txBody>
      </p:sp>
      <p:sp>
        <p:nvSpPr>
          <p:cNvPr id="33" name="Text 30"/>
          <p:cNvSpPr txBox="1"/>
          <p:nvPr/>
        </p:nvSpPr>
        <p:spPr>
          <a:xfrm>
            <a:off x="4572000" y="3840480"/>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أُفَضِّلُ الْقِرَاءَةَ لِأَنَّهَا هَادِئَةٌ.</a:t>
            </a:r>
            <a:endParaRPr lang="ar-SA" sz="2200" dirty="0"/>
          </a:p>
        </p:txBody>
      </p:sp>
      <p:sp>
        <p:nvSpPr>
          <p:cNvPr id="34" name="Text 31"/>
          <p:cNvSpPr txBox="1"/>
          <p:nvPr/>
        </p:nvSpPr>
        <p:spPr>
          <a:xfrm>
            <a:off x="548640" y="3840480"/>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أَتُفَضِّلُ الْقِرَاءَةَ أَمِ السِّبَاحَةَ؟</a:t>
            </a:r>
            <a:endParaRPr lang="ar-SA" sz="22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8796528" y="4626864"/>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I read it yesterday.</a:t>
            </a:r>
            <a:endParaRPr lang="en-US" sz="1100" dirty="0"/>
          </a:p>
        </p:txBody>
      </p:sp>
      <p:sp>
        <p:nvSpPr>
          <p:cNvPr id="37" name="Text 34"/>
          <p:cNvSpPr txBox="1"/>
          <p:nvPr/>
        </p:nvSpPr>
        <p:spPr>
          <a:xfrm>
            <a:off x="4572000" y="4626864"/>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نَعَمْ، قَرَأْتُهُ أَمْسِ.</a:t>
            </a:r>
            <a:endParaRPr lang="ar-SA" sz="2200" dirty="0"/>
          </a:p>
        </p:txBody>
      </p:sp>
      <p:sp>
        <p:nvSpPr>
          <p:cNvPr id="38" name="Text 35"/>
          <p:cNvSpPr txBox="1"/>
          <p:nvPr/>
        </p:nvSpPr>
        <p:spPr>
          <a:xfrm>
            <a:off x="548640" y="4626864"/>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قَرَأْتَ الْكِتَابَ؟</a:t>
            </a:r>
            <a:endParaRPr lang="ar-SA" sz="22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a choice question (a- … am) is NOT answered with naʿam or lā — choose one option. Extend: add a reason, a time phrase or a contrast.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GRAMMAR · PART 5 · NEGATIVE QUESTIONS AND BALĀ (WEBSITE TABLE) · STRETCH</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“Isn’t it …?” — answer with balā</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بَلَى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437083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Answer</a:t>
            </a:r>
            <a:endParaRPr lang="en-US" sz="1100" dirty="0"/>
          </a:p>
        </p:txBody>
      </p:sp>
      <p:sp>
        <p:nvSpPr>
          <p:cNvPr id="18" name="Text 15"/>
          <p:cNvSpPr txBox="1"/>
          <p:nvPr/>
        </p:nvSpPr>
        <p:spPr>
          <a:xfrm>
            <a:off x="53035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Negative question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882128" y="2267712"/>
            <a:ext cx="37764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 it IS beautiful.</a:t>
            </a:r>
            <a:endParaRPr lang="en-US" sz="1100" dirty="0"/>
          </a:p>
        </p:txBody>
      </p:sp>
      <p:sp>
        <p:nvSpPr>
          <p:cNvPr id="21" name="Text 18"/>
          <p:cNvSpPr txBox="1"/>
          <p:nvPr/>
        </p:nvSpPr>
        <p:spPr>
          <a:xfrm>
            <a:off x="4389120" y="2267712"/>
            <a:ext cx="32918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بَلَى، هُوَ جَمِيلٌ.</a:t>
            </a:r>
            <a:endParaRPr lang="ar-SA" sz="2200" dirty="0"/>
          </a:p>
        </p:txBody>
      </p:sp>
      <p:sp>
        <p:nvSpPr>
          <p:cNvPr id="22" name="Text 19"/>
          <p:cNvSpPr txBox="1"/>
          <p:nvPr/>
        </p:nvSpPr>
        <p:spPr>
          <a:xfrm>
            <a:off x="548640" y="2267712"/>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أَلَيْسَ الْجَوُّ جَمِيلًا؟</a:t>
            </a:r>
            <a:endParaRPr lang="ar-SA" sz="22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882128" y="3054096"/>
            <a:ext cx="37764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 I DID visit it.</a:t>
            </a:r>
            <a:endParaRPr lang="en-US" sz="1100" dirty="0"/>
          </a:p>
        </p:txBody>
      </p:sp>
      <p:sp>
        <p:nvSpPr>
          <p:cNvPr id="25" name="Text 22"/>
          <p:cNvSpPr txBox="1"/>
          <p:nvPr/>
        </p:nvSpPr>
        <p:spPr>
          <a:xfrm>
            <a:off x="4389120" y="3054096"/>
            <a:ext cx="32918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بَلَى، زُرْتُهُ.</a:t>
            </a:r>
            <a:endParaRPr lang="ar-SA" sz="2200" dirty="0"/>
          </a:p>
        </p:txBody>
      </p:sp>
      <p:sp>
        <p:nvSpPr>
          <p:cNvPr id="26" name="Text 23"/>
          <p:cNvSpPr txBox="1"/>
          <p:nvPr/>
        </p:nvSpPr>
        <p:spPr>
          <a:xfrm>
            <a:off x="548640" y="3054096"/>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أَلَمْ تَزُرِ الْمَتْحَفَ؟</a:t>
            </a:r>
            <a:endParaRPr lang="ar-SA" sz="22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882128" y="3840480"/>
            <a:ext cx="37764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 I DID go.</a:t>
            </a:r>
            <a:endParaRPr lang="en-US" sz="1100" dirty="0"/>
          </a:p>
        </p:txBody>
      </p:sp>
      <p:sp>
        <p:nvSpPr>
          <p:cNvPr id="29" name="Text 26"/>
          <p:cNvSpPr txBox="1"/>
          <p:nvPr/>
        </p:nvSpPr>
        <p:spPr>
          <a:xfrm>
            <a:off x="4389120" y="3840480"/>
            <a:ext cx="32918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بَلَى، ذَهَبْتُ.</a:t>
            </a:r>
            <a:endParaRPr lang="ar-SA" sz="2200" dirty="0"/>
          </a:p>
        </p:txBody>
      </p:sp>
      <p:sp>
        <p:nvSpPr>
          <p:cNvPr id="30" name="Text 27"/>
          <p:cNvSpPr txBox="1"/>
          <p:nvPr/>
        </p:nvSpPr>
        <p:spPr>
          <a:xfrm>
            <a:off x="548640" y="3840480"/>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أَلَمْ تَذْهَبِي؟</a:t>
            </a:r>
            <a:endParaRPr lang="ar-SA" sz="22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882128" y="4626864"/>
            <a:ext cx="37764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Right — it is not short.</a:t>
            </a:r>
            <a:endParaRPr lang="en-US" sz="1100" dirty="0"/>
          </a:p>
        </p:txBody>
      </p:sp>
      <p:sp>
        <p:nvSpPr>
          <p:cNvPr id="33" name="Text 30"/>
          <p:cNvSpPr txBox="1"/>
          <p:nvPr/>
        </p:nvSpPr>
        <p:spPr>
          <a:xfrm>
            <a:off x="4389120" y="4626864"/>
            <a:ext cx="32918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نَعَمْ، لَيْسَ قَصِيرًا.</a:t>
            </a:r>
            <a:endParaRPr lang="ar-SA" sz="2200" dirty="0"/>
          </a:p>
        </p:txBody>
      </p:sp>
      <p:sp>
        <p:nvSpPr>
          <p:cNvPr id="34" name="Text 31"/>
          <p:cNvSpPr txBox="1"/>
          <p:nvPr/>
        </p:nvSpPr>
        <p:spPr>
          <a:xfrm>
            <a:off x="548640" y="4626864"/>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أَلَيْسَ الطَّرِيقُ طَوِيلًا؟</a:t>
            </a:r>
            <a:endParaRPr lang="ar-SA" sz="22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Stretch: balā CANCELS the negative idea; naʿam CONFIRMS it. In everyday IGCSE answers, avoid confusion by giving a complete positive or negative sentence.</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Make it a question:</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أَنْتِ مُتْعَبَةٌ.</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أَنْتَ مُتْعَبٌ؟</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أَنْتِ مُتْعَبَةٌ؟</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أَنْتِ مُتْعَبَةٌ؟</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Make it a question:</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وَصَلَتِ الْحَافِلَةُ.</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وَصَلَتِ الْحَافِلَةُ؟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وَصَلَ الْحَافِلَةَ؟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وَصَلَتْ هَلْ الْحَافِلَةُ؟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future question.</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كَتَبْتِ الرِّسَالَةَ؟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سَتَكْتُبِينَ الرِّسَالَةَ؟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تَكْتُبِينَ الرِّسَالَةَ أَمْسِ؟</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correctly spaced question.</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أَتَذْهَبِينَ مَعَنَا؟</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 تَذْهَبِينَ مَعَنَا؟</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اَتَذْهَبِينَ مَعَنَا؟</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Make it a question:</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أَنْتِ مُتْعَبَةٌ.</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هَلْ أَنْتَ مُتْعَبٌ؟</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أَيْنَ أَنْتِ مُتْعَبَةٌ؟</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هَلْ أَنْتِ مُتْعَبَةٌ؟</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Add hal; keep the feminine.</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Make it a question:</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وَصَلَتِ الْحَافِلَةُ.</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هَلْ وَصَلَتِ الْحَافِلَةُ؟</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هَلْ وَصَلَ الْحَافِلَةَ؟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وَصَلَتْ هَلْ الْحَافِلَةُ؟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Same verb, same order.</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future question.</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هَلْ كَتَبْتِ الرِّسَالَةَ؟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هَلْ سَتَكْتُبِينَ الرِّسَالَةَ؟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هَلْ تَكْتُبِينَ الرِّسَالَةَ أَمْسِ؟</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 + present = future.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correctly spaced question.</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أَتَذْهَبِينَ مَعَنَا؟</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 تَذْهَبِينَ مَعَنَا؟</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اَتَذْهَبِينَ مَعَنَا؟</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Attached: a-tadhhabīna.</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Watch me interview a new student</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Statement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أَنْتِ جَدِيدَةٌ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Check it is correct.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Add hal</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هَلْ أَنْتِ جَدِيدَةٌ؟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Same order + ?</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Choice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أَمْ</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options: a- … am.</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Answer</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نَعَمْ، وَصَلْتُ أَمْسِ</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full answer.</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QUESTION MARKER</a:t>
            </a:r>
            <a:endParaRPr lang="en-US" sz="800" dirty="0"/>
          </a:p>
        </p:txBody>
      </p:sp>
      <p:sp>
        <p:nvSpPr>
          <p:cNvPr id="47" name="Text 43"/>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0E7C86"/>
                </a:solidFill>
                <a:latin typeface="Amiri" pitchFamily="2" charset="-78"/>
                <a:cs typeface="Amiri" pitchFamily="2" charset="-78"/>
              </a:rPr>
              <a:t>هَلْ</a:t>
            </a:r>
            <a:pPr rtl="1" algn="r" indent="0" marL="0">
              <a:lnSpc>
                <a:spcPct val="120000"/>
              </a:lnSpc>
              <a:buNone/>
            </a:pPr>
            <a:r>
              <a:rPr lang="ar-SA" altLang="en-US" sz="1400" b="1" dirty="0">
                <a:solidFill>
                  <a:srgbClr val="1B3B6F"/>
                </a:solidFill>
                <a:latin typeface="Amiri" pitchFamily="2" charset="-78"/>
                <a:cs typeface="Amiri" pitchFamily="2" charset="-78"/>
              </a:rPr>
              <a:t> أَنْتِ جَدِيدَةٌ فِي الْمَدْرَسَةِ؟ — نَعَمْ، وَصَلْتُ يَوْمَ الْأَحَدِ. </a:t>
            </a:r>
            <a:pPr rtl="1" algn="r" indent="0" marL="0">
              <a:lnSpc>
                <a:spcPct val="120000"/>
              </a:lnSpc>
              <a:buNone/>
            </a:pPr>
            <a:r>
              <a:rPr lang="ar-SA" altLang="en-US" sz="1400" b="1" dirty="0">
                <a:solidFill>
                  <a:srgbClr val="0E7C86"/>
                </a:solidFill>
                <a:latin typeface="Amiri" pitchFamily="2" charset="-78"/>
                <a:cs typeface="Amiri" pitchFamily="2" charset="-78"/>
              </a:rPr>
              <a:t>هَلْ</a:t>
            </a:r>
            <a:pPr rtl="1" algn="r" indent="0" marL="0">
              <a:lnSpc>
                <a:spcPct val="120000"/>
              </a:lnSpc>
              <a:buNone/>
            </a:pPr>
            <a:r>
              <a:rPr lang="ar-SA" altLang="en-US" sz="1400" b="1" dirty="0">
                <a:solidFill>
                  <a:srgbClr val="1B3B6F"/>
                </a:solidFill>
                <a:latin typeface="Amiri" pitchFamily="2" charset="-78"/>
                <a:cs typeface="Amiri" pitchFamily="2" charset="-78"/>
              </a:rPr>
              <a:t> تَسْكُنِينَ قَرِيبًا؟ — لَا، أَسْكُنُ بَعِيدًا قَلِيلًا. </a:t>
            </a:r>
            <a:pPr rtl="1" algn="r" indent="0" marL="0">
              <a:lnSpc>
                <a:spcPct val="120000"/>
              </a:lnSpc>
              <a:buNone/>
            </a:pPr>
            <a:r>
              <a:rPr lang="ar-SA" altLang="en-US" sz="1400" b="1" dirty="0">
                <a:solidFill>
                  <a:srgbClr val="0E7C86"/>
                </a:solidFill>
                <a:latin typeface="Amiri" pitchFamily="2" charset="-78"/>
                <a:cs typeface="Amiri" pitchFamily="2" charset="-78"/>
              </a:rPr>
              <a:t>أَتُفَضِّلِينَ</a:t>
            </a:r>
            <a:pPr rtl="1" algn="r" indent="0" marL="0">
              <a:lnSpc>
                <a:spcPct val="120000"/>
              </a:lnSpc>
              <a:buNone/>
            </a:pPr>
            <a:r>
              <a:rPr lang="ar-SA" altLang="en-US" sz="1400" b="1" dirty="0">
                <a:solidFill>
                  <a:srgbClr val="1B3B6F"/>
                </a:solidFill>
                <a:latin typeface="Amiri" pitchFamily="2" charset="-78"/>
                <a:cs typeface="Amiri" pitchFamily="2" charset="-78"/>
              </a:rPr>
              <a:t> الرِّيَاضِيَّاتِ </a:t>
            </a:r>
            <a:pPr rtl="1" algn="r" indent="0" marL="0">
              <a:lnSpc>
                <a:spcPct val="120000"/>
              </a:lnSpc>
              <a:buNone/>
            </a:pPr>
            <a:r>
              <a:rPr lang="ar-SA" altLang="en-US" sz="1400" b="1" dirty="0">
                <a:solidFill>
                  <a:srgbClr val="0E7C86"/>
                </a:solidFill>
                <a:latin typeface="Amiri" pitchFamily="2" charset="-78"/>
                <a:cs typeface="Amiri" pitchFamily="2" charset="-78"/>
              </a:rPr>
              <a:t>أَمِ</a:t>
            </a:r>
            <a:pPr rtl="1" algn="r" indent="0" marL="0">
              <a:lnSpc>
                <a:spcPct val="120000"/>
              </a:lnSpc>
              <a:buNone/>
            </a:pPr>
            <a:r>
              <a:rPr lang="ar-SA" altLang="en-US" sz="1400" b="1" dirty="0">
                <a:solidFill>
                  <a:srgbClr val="1B3B6F"/>
                </a:solidFill>
                <a:latin typeface="Amiri" pitchFamily="2" charset="-78"/>
                <a:cs typeface="Amiri" pitchFamily="2" charset="-78"/>
              </a:rPr>
              <a:t> الْعُلُومَ؟ — أُفَضِّلُ الْعُلُومَ لِأَنَّهَا مُمْتِعَةٌ. </a:t>
            </a:r>
            <a:pPr rtl="1" algn="r" indent="0" marL="0">
              <a:lnSpc>
                <a:spcPct val="120000"/>
              </a:lnSpc>
              <a:buNone/>
            </a:pPr>
            <a:r>
              <a:rPr lang="ar-SA" altLang="en-US" sz="1400" b="1" dirty="0">
                <a:solidFill>
                  <a:srgbClr val="0E7C86"/>
                </a:solidFill>
                <a:latin typeface="Amiri" pitchFamily="2" charset="-78"/>
                <a:cs typeface="Amiri" pitchFamily="2" charset="-78"/>
              </a:rPr>
              <a:t>هَلْ</a:t>
            </a:r>
            <a:pPr rtl="1" algn="r" indent="0" marL="0">
              <a:lnSpc>
                <a:spcPct val="120000"/>
              </a:lnSpc>
              <a:buNone/>
            </a:pPr>
            <a:r>
              <a:rPr lang="ar-SA" altLang="en-US" sz="1400" b="1" dirty="0">
                <a:solidFill>
                  <a:srgbClr val="1B3B6F"/>
                </a:solidFill>
                <a:latin typeface="Amiri" pitchFamily="2" charset="-78"/>
                <a:cs typeface="Amiri" pitchFamily="2" charset="-78"/>
              </a:rPr>
              <a:t> سَتَنْضَمِّينَ إِلَى نَادِي الْقِرَاءَةِ؟ — نَعَمْ، إِنْ شَاءَ اللَّهُ.</a:t>
            </a:r>
            <a:endParaRPr lang="ar-SA" sz="1400" dirty="0"/>
          </a:p>
        </p:txBody>
      </p:sp>
      <p:sp>
        <p:nvSpPr>
          <p:cNvPr id="48" name="Text 44"/>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Are you new at the school? — Yes, I arrived on Sunday. Do you live nearby? — No, I live a little far away. Do you prefer maths or science? — I prefer science because it is interesting. Will you join the reading club? — Yes, in shāʾ Allāh.</a:t>
            </a:r>
            <a:endParaRPr lang="en-US" sz="1100" dirty="0"/>
          </a:p>
        </p:txBody>
      </p:sp>
      <p:sp>
        <p:nvSpPr>
          <p:cNvPr id="49"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هَلْ تَدْرُسِينَ الْعَرَبِيَّةَ؟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Do you study Arabic? (to a girl)</a:t>
            </a:r>
            <a:endParaRPr lang="en-US" sz="1250" dirty="0"/>
          </a:p>
          <a:p>
            <a:pPr indent="0" marL="0">
              <a:buNone/>
            </a:pPr>
            <a:r>
              <a:rPr lang="en-US" sz="1050" i="1" dirty="0">
                <a:solidFill>
                  <a:srgbClr val="8A6D1E"/>
                </a:solidFill>
                <a:latin typeface="Calibri" pitchFamily="34" charset="0"/>
                <a:cs typeface="Amiri" pitchFamily="2" charset="-78"/>
              </a:rPr>
              <a:t>hal + statement.</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أَتَسْكُنُ قَرِيبًا مِنَ الْمَدْرَسَةِ؟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Do you live near the school?</a:t>
            </a:r>
            <a:endParaRPr lang="en-US" sz="1250" dirty="0"/>
          </a:p>
          <a:p>
            <a:pPr indent="0" marL="0">
              <a:buNone/>
            </a:pPr>
            <a:r>
              <a:rPr lang="en-US" sz="1050" i="1" dirty="0">
                <a:solidFill>
                  <a:srgbClr val="8A6D1E"/>
                </a:solidFill>
                <a:latin typeface="Calibri" pitchFamily="34" charset="0"/>
                <a:cs typeface="Amiri" pitchFamily="2" charset="-78"/>
              </a:rPr>
              <a:t>Hamza attached.</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هَلْ هَذَا كِتَابُكَ؟</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Is this your book?</a:t>
            </a:r>
            <a:endParaRPr lang="en-US" sz="1250" dirty="0"/>
          </a:p>
          <a:p>
            <a:pPr indent="0" marL="0">
              <a:buNone/>
            </a:pPr>
            <a:r>
              <a:rPr lang="en-US" sz="1050" i="1" dirty="0">
                <a:solidFill>
                  <a:srgbClr val="8A6D1E"/>
                </a:solidFill>
                <a:latin typeface="Calibri" pitchFamily="34" charset="0"/>
                <a:cs typeface="Amiri" pitchFamily="2" charset="-78"/>
              </a:rPr>
              <a:t>No “is” needed.</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أَذَهَبْتَ إِلَى الطَّبِيبِ أَمْ بَقِيتَ فِي الْبَيْتِ؟</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Did you go to the doctor or stay at home?</a:t>
            </a:r>
            <a:endParaRPr lang="en-US" sz="1250" dirty="0"/>
          </a:p>
          <a:p>
            <a:pPr indent="0" marL="0">
              <a:buNone/>
            </a:pPr>
            <a:r>
              <a:rPr lang="en-US" sz="1050" i="1" dirty="0">
                <a:solidFill>
                  <a:srgbClr val="8A6D1E"/>
                </a:solidFill>
                <a:latin typeface="Calibri" pitchFamily="34" charset="0"/>
                <a:cs typeface="Amiri" pitchFamily="2" charset="-78"/>
              </a:rPr>
              <a:t>a- … am.</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STATEMENT → QUESTION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Make it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حَوِّلْ إِلَى 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68512" y="1810512"/>
            <a:ext cx="2990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Watch</a:t>
            </a:r>
            <a:endParaRPr lang="en-US" sz="1100" dirty="0"/>
          </a:p>
        </p:txBody>
      </p:sp>
      <p:sp>
        <p:nvSpPr>
          <p:cNvPr id="17" name="Text 14"/>
          <p:cNvSpPr txBox="1"/>
          <p:nvPr/>
        </p:nvSpPr>
        <p:spPr>
          <a:xfrm>
            <a:off x="409651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8" name="Text 15"/>
          <p:cNvSpPr txBox="1"/>
          <p:nvPr/>
        </p:nvSpPr>
        <p:spPr>
          <a:xfrm>
            <a:off x="53035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Statement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705088" y="2267712"/>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hal + question mark</a:t>
            </a:r>
            <a:endParaRPr lang="en-US" sz="1100" dirty="0"/>
          </a:p>
        </p:txBody>
      </p:sp>
      <p:sp>
        <p:nvSpPr>
          <p:cNvPr id="21" name="Text 18"/>
          <p:cNvSpPr txBox="1"/>
          <p:nvPr/>
        </p:nvSpPr>
        <p:spPr>
          <a:xfrm>
            <a:off x="4114800" y="2267712"/>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أَنْتِ مُعَلِّمَةٌ؟</a:t>
            </a:r>
            <a:endParaRPr lang="ar-SA" sz="2200" dirty="0"/>
          </a:p>
        </p:txBody>
      </p:sp>
      <p:sp>
        <p:nvSpPr>
          <p:cNvPr id="22" name="Text 19"/>
          <p:cNvSpPr txBox="1"/>
          <p:nvPr/>
        </p:nvSpPr>
        <p:spPr>
          <a:xfrm>
            <a:off x="548640" y="2267712"/>
            <a:ext cx="3383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أَنْتِ مُعَلِّمَةٌ.</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705088" y="2881884"/>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hamza attached</a:t>
            </a:r>
            <a:endParaRPr lang="en-US" sz="1100" dirty="0"/>
          </a:p>
        </p:txBody>
      </p:sp>
      <p:sp>
        <p:nvSpPr>
          <p:cNvPr id="27" name="Text 24"/>
          <p:cNvSpPr txBox="1"/>
          <p:nvPr/>
        </p:nvSpPr>
        <p:spPr>
          <a:xfrm>
            <a:off x="4114800" y="2881884"/>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أَتَذْهَبُ الْيَوْمَ؟</a:t>
            </a:r>
            <a:endParaRPr lang="ar-SA" sz="2200" dirty="0"/>
          </a:p>
        </p:txBody>
      </p:sp>
      <p:sp>
        <p:nvSpPr>
          <p:cNvPr id="28" name="Text 25"/>
          <p:cNvSpPr txBox="1"/>
          <p:nvPr/>
        </p:nvSpPr>
        <p:spPr>
          <a:xfrm>
            <a:off x="548640" y="2881884"/>
            <a:ext cx="3383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تَذْهَبُ الْيَوْمَ.</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705088" y="3496056"/>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plural</a:t>
            </a:r>
            <a:endParaRPr lang="en-US" sz="1100" dirty="0"/>
          </a:p>
        </p:txBody>
      </p:sp>
      <p:sp>
        <p:nvSpPr>
          <p:cNvPr id="33" name="Text 30"/>
          <p:cNvSpPr txBox="1"/>
          <p:nvPr/>
        </p:nvSpPr>
        <p:spPr>
          <a:xfrm>
            <a:off x="4114800" y="3496056"/>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وَصَلُوا؟</a:t>
            </a:r>
            <a:endParaRPr lang="ar-SA" sz="2200" dirty="0"/>
          </a:p>
        </p:txBody>
      </p:sp>
      <p:sp>
        <p:nvSpPr>
          <p:cNvPr id="34" name="Text 31"/>
          <p:cNvSpPr txBox="1"/>
          <p:nvPr/>
        </p:nvSpPr>
        <p:spPr>
          <a:xfrm>
            <a:off x="548640" y="3496056"/>
            <a:ext cx="3383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وَصَلُوا.</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705088" y="4110228"/>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a:t>
            </a:r>
            <a:endParaRPr lang="en-US" sz="1100" dirty="0"/>
          </a:p>
        </p:txBody>
      </p:sp>
      <p:sp>
        <p:nvSpPr>
          <p:cNvPr id="39" name="Text 36"/>
          <p:cNvSpPr txBox="1"/>
          <p:nvPr/>
        </p:nvSpPr>
        <p:spPr>
          <a:xfrm>
            <a:off x="4114800" y="4110228"/>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سَتُسَافِرُ غَدًا؟</a:t>
            </a:r>
            <a:endParaRPr lang="ar-SA" sz="2200" dirty="0"/>
          </a:p>
        </p:txBody>
      </p:sp>
      <p:sp>
        <p:nvSpPr>
          <p:cNvPr id="40" name="Text 37"/>
          <p:cNvSpPr txBox="1"/>
          <p:nvPr/>
        </p:nvSpPr>
        <p:spPr>
          <a:xfrm>
            <a:off x="548640" y="4110228"/>
            <a:ext cx="3383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سَتُسَافِرُ غَدًا.</a:t>
            </a:r>
            <a:endParaRPr lang="ar-SA" sz="22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705088" y="4724400"/>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choice: a- … am</a:t>
            </a:r>
            <a:endParaRPr lang="en-US" sz="1100" dirty="0"/>
          </a:p>
        </p:txBody>
      </p:sp>
      <p:sp>
        <p:nvSpPr>
          <p:cNvPr id="43" name="Text 40"/>
          <p:cNvSpPr txBox="1"/>
          <p:nvPr/>
        </p:nvSpPr>
        <p:spPr>
          <a:xfrm>
            <a:off x="4114800" y="4724400"/>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أَتُفَضِّلُ الشَّايَ أَمِ الْقَهْوَةَ؟</a:t>
            </a:r>
            <a:endParaRPr lang="ar-SA" sz="2200" dirty="0"/>
          </a:p>
        </p:txBody>
      </p:sp>
      <p:sp>
        <p:nvSpPr>
          <p:cNvPr id="44" name="Text 41"/>
          <p:cNvSpPr txBox="1"/>
          <p:nvPr/>
        </p:nvSpPr>
        <p:spPr>
          <a:xfrm>
            <a:off x="548640" y="4724400"/>
            <a:ext cx="3383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تُفَضِّلُ الشَّايَ.</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705088" y="5338572"/>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plural; mark at the end</a:t>
            </a:r>
            <a:endParaRPr lang="en-US" sz="1100" dirty="0"/>
          </a:p>
        </p:txBody>
      </p:sp>
      <p:sp>
        <p:nvSpPr>
          <p:cNvPr id="47" name="Text 44"/>
          <p:cNvSpPr txBox="1"/>
          <p:nvPr/>
        </p:nvSpPr>
        <p:spPr>
          <a:xfrm>
            <a:off x="4114800" y="5338572"/>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أَنْتُمْ مُسْتَعِدُّونَ؟</a:t>
            </a:r>
            <a:endParaRPr lang="ar-SA" sz="2200" dirty="0"/>
          </a:p>
        </p:txBody>
      </p:sp>
      <p:sp>
        <p:nvSpPr>
          <p:cNvPr id="48" name="Text 45"/>
          <p:cNvSpPr txBox="1"/>
          <p:nvPr/>
        </p:nvSpPr>
        <p:spPr>
          <a:xfrm>
            <a:off x="548640" y="5338572"/>
            <a:ext cx="3383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أَنْتُمْ مُسْتَعِدُّونَ.</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check: no “do”, no word swap, one question marker, and the Arabic question mark at the end.</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WHAT KIND OF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Yes, no, or balā?</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نَعَمْ أَمْ لَا أَمْ بَلَى؟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نَعَمْ، أَلْعَبُهَا كُلَّ أُسْبُوعٍ.</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نَعَمْ، قَرَأْتُهُ أَمْسِ.</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لَا، لَمْ أَذْهَبْ إِلَيْهِ.</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لَا، لَمْ أَزُرْهُ.</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بَلَى، هُوَ سَهْلٌ.</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بَلَى، ذَهَبْتُ.</a:t>
            </a:r>
            <a:endParaRPr lang="ar-SA" sz="1800" dirty="0"/>
          </a:p>
        </p:txBody>
      </p:sp>
      <p:sp>
        <p:nvSpPr>
          <p:cNvPr id="27" name="Shape 24"/>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28" name="Shape 25"/>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29" name="Text 26"/>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Yes</a:t>
            </a:r>
            <a:endParaRPr lang="en-US" sz="950" dirty="0"/>
          </a:p>
        </p:txBody>
      </p:sp>
      <p:sp>
        <p:nvSpPr>
          <p:cNvPr id="30" name="Shape 27"/>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1" name="Shape 28"/>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2" name="Text 29"/>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No</a:t>
            </a:r>
            <a:endParaRPr lang="en-US" sz="950" dirty="0"/>
          </a:p>
        </p:txBody>
      </p:sp>
      <p:sp>
        <p:nvSpPr>
          <p:cNvPr id="33" name="Shape 30"/>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4" name="Shape 31"/>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Balā (cancels a negative)</a:t>
            </a:r>
            <a:endParaRPr lang="en-US" sz="9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Yes</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نَعَمْ، أَلْعَبُهَا كُلَّ أُسْبُوعٍ.</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نَعَمْ، قَرَأْتُهُ أَمْسِ.</a:t>
            </a:r>
            <a:endParaRPr lang="ar-SA" sz="1800" dirty="0"/>
          </a:p>
        </p:txBody>
      </p:sp>
      <p:sp>
        <p:nvSpPr>
          <p:cNvPr id="22" name="Shape 19"/>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3" name="Shape 20"/>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No</a:t>
            </a:r>
            <a:endParaRPr lang="en-US" sz="950" dirty="0"/>
          </a:p>
        </p:txBody>
      </p:sp>
      <p:sp>
        <p:nvSpPr>
          <p:cNvPr id="25" name="Shape 22"/>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لَا، لَمْ أَذْهَبْ إِلَيْهِ.</a:t>
            </a:r>
            <a:endParaRPr lang="ar-SA" sz="1800" dirty="0"/>
          </a:p>
        </p:txBody>
      </p:sp>
      <p:sp>
        <p:nvSpPr>
          <p:cNvPr id="27" name="Shape 24"/>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لَا، لَمْ أَزُرْهُ.</a:t>
            </a:r>
            <a:endParaRPr lang="ar-SA" sz="1800" dirty="0"/>
          </a:p>
        </p:txBody>
      </p:sp>
      <p:sp>
        <p:nvSpPr>
          <p:cNvPr id="29" name="Shape 26"/>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0" name="Shape 27"/>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Balā (cancels a negative)</a:t>
            </a:r>
            <a:endParaRPr lang="en-US" sz="950" dirty="0"/>
          </a:p>
        </p:txBody>
      </p:sp>
      <p:sp>
        <p:nvSpPr>
          <p:cNvPr id="32" name="Shape 29"/>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بَلَى، هُوَ سَهْلٌ.</a:t>
            </a:r>
            <a:endParaRPr lang="ar-SA" sz="1800" dirty="0"/>
          </a:p>
        </p:txBody>
      </p:sp>
      <p:sp>
        <p:nvSpPr>
          <p:cNvPr id="34" name="Shape 31"/>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بَلَى، ذَهَبْتُ.</a:t>
            </a:r>
            <a:endParaRPr lang="ar-SA" sz="1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هَلْ أَتَدْرُسُ الْعَرَبِيَّةَ؟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How many question markers?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 تَسْكُنِينَ هُنَا؟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Space after the hamza?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هَلْ تَفْعَلُ تَعْمَلُ هُنَا؟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 we need “do”?</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هَلْ أَتَدْرُسُ الْعَرَبِيَّةَ؟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هَلْ تَدْرُسُ الْعَرَبِيَّةَ؟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question marker only (website repair lab).</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 تَسْكُنِينَ هُنَا؟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أَتَسْكُنِينَ هُنَا؟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hamza joins the verb (website repair lab).</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هَلْ تَفْعَلُ تَعْمَلُ هُنَا؟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هَلْ تَعْمَلُ هُنَا؟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Arabic has no “do” in questions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MINI-CHECK AND REPAIR LAB</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“this or that?” question.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تَسْكُنُ فِي لَنْدَنَ لِأَنَّ بَرْمِنْغَامَ؟</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 لَنْدَنَ أَمْ بَرْمِنْغَامَ؟</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أَتَسْكُنُ فِي لَنْدَنَ أَمْ بَرْمِنْغَامَ؟</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“Is this your teacher?” (to one male).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أَهَذِهِ مُعَلِّمَتُكِ؟</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أَهَذَا مُعَلِّمُكَ؟</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مُعَلِّمُكَ؟</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هَلْ أَتَدْرُسُ الْعَرَبِيَّةَ؟</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 هَلْ تَدْرُسُ الْعَرَبِيَّةَ؟</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تَدْرُسُ الْعَرَبِيَّةَ؟</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تَدْرُسُ الْعَرَبِيَّةَ؟</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61" name="Text 58"/>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 تَسْكُنِينَ هُنَا؟</a:t>
            </a:r>
            <a:endParaRPr lang="ar-SA" sz="150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 تَسْكُنِينَ هُنَا؟</a:t>
            </a:r>
            <a:endParaRPr lang="ar-SA" sz="20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أَتَسْكُنِينَ هُنَا؟</a:t>
            </a:r>
            <a:endParaRPr lang="ar-SA" sz="20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أَتَسْكُنِينَ هُنَا؟</a:t>
            </a:r>
            <a:endParaRPr lang="ar-SA" sz="20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“this or that?” question.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هَلْ تَسْكُنُ فِي لَنْدَنَ لِأَنَّ بَرْمِنْغَامَ؟</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مَتَى لَنْدَنَ أَمْ بَرْمِنْغَامَ؟</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أَتَسْكُنُ فِي لَنْدَنَ أَمْ بَرْمِنْغَامَ؟</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 am: two real options.</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“Is this your teacher?” (to one male).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أَهَذِهِ مُعَلِّمَتُكِ؟</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أَهَذَا مُعَلِّمُكَ؟</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أَيْنَ مُعَلِّمُكَ؟</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a-hādhā + muʿallimuka.</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هَلْ أَتَدْرُسُ الْعَرَبِيَّةَ؟</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 هَلْ تَدْرُسُ الْعَرَبِيَّةَ؟</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هَلْ تَدْرُسُ الْعَرَبِيَّةَ؟</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مَاذَا تَدْرُسُ الْعَرَبِيَّةَ؟</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Keep one marker.</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67" name="Text 64"/>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 تَسْكُنِينَ هُنَا؟</a:t>
            </a:r>
            <a:endParaRPr lang="ar-SA" sz="150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 تَسْكُنِينَ هُنَا؟</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هَلْ أَتَسْكُنِينَ هُنَا؟</a:t>
            </a:r>
            <a:endParaRPr lang="ar-SA" sz="170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أَتَسْكُنِينَ هُنَا؟</a:t>
            </a:r>
            <a:endParaRPr lang="ar-SA" sz="17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Attach the hamza.</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 AND NOTICE · WEBSITE READING: MESSAGE CHECK (EXTENDED)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Message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مَرْيَمُ، هَلْ وَصَلْتِ إِلَى الْمَحَطَّةِ؟ أَعِنْدَكِ التَّذْكِرَةُ؟ هَلْ سَيَصِلُ الْقِطَارُ فِي الْمَوْعِدِ؟ أَتُرِيدِينَ أَنْ آتِيَ إِلَيْكِ أَمْ تَأْخُذِينَ سَيَّارَةَ أُجْرَةٍ؟ هَلْ أَكَلْتِ شَيْئًا؟ أُمِّي طَبَخَتِ الْمَقْلُوبَةَ، وَهِيَ تَنْتَظِرُكِ. أَرْسِلِي لِي رِسَالَةً عِنْدَمَا تَرْكَبِينَ الْقِطَارَ!</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الْمَحَطَّةِ</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station</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التَّذْكِرَةُ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ticket</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فِي الْمَوْعِدِ</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 time</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سَيَّارَةَ أُجْرَةٍ</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taxi</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تَرْكَبِينَ</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you (f.) get on</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should Maryam be now?</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home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station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plane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offers a choice?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أَكَلْتِ شَيْئًا؟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أَعِنْدَكِ التَّذْكِرَةُ؟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أَتُرِيدِينَ أَنْ آتِيَ إِلَيْكِ أَمْ …</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cooked the maqlūba?</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writer’s mother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Maryam do when she gets on the train?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call a taxi</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send a message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buy a ticket</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should Maryam be now?</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home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 the station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the plane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Hal waṣalti ilā l-maḥaṭṭati?</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offers a choice?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هَلْ أَكَلْتِ شَيْئًا؟</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أَعِنْدَكِ التَّذْكِرَةُ؟</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أَتُرِيدِينَ أَنْ آتِيَ إِلَيْكِ أَمْ …</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 am.</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cooked the maqlūba?</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writer’s mother</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Maryam</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Ummī ṭabakhati l-maqlūbata.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Maryam do when she gets on the train?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call a taxi</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send a message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buy a ticket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Arsilī lī risālatan.</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class survey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تُحِبُّ الرِّيَاضَةَ؟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اِسْأَلْ زَمِيلَكَ سِتَّةَ أَسْئِلَةٍ بِـ«هَلْ».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اِسْأَلْ سُؤَالَ اخْتِيَارٍ، ثُمَّ أَجِبْ مَعَ سَبَبٍ.</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نَعَمْ، أُحِبُّ ___ ، لِأَنَّ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هَلْ ___ فِي الْعُطْلَةِ؟</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أَتُفَضِّلُ ___ أَمْ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أَلَمْ تُشَاهِدِي الْمُبَارَاةَ أَمْسِ؟</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Didn’t you watch the match yesterday?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بَلَى، شَاهَدْتُهَا مَعَ أَبِي! هَلْ شَاهَدْتَهَا أَنْتَ؟</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Yes, I did — I watched it with my father! Did you watch it?</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questions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hal questions for a new student, with yes / no answers.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hal anta …? · naʿam,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questions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past, future and one a- … am question.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hal zurta …? · hal sa-…?</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 questions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interview with extended model answers.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Include one negative question + balā.</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زُرْتَ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Did you visit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سَتُسَافِرُ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Will you travel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أَتُفَضِّلُ ______ أَمْ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Do you prefer … or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 لَمْ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 I did not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أَنْتَ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Are you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تَسْكُنُ فِي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Do you live in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عِنْدَكَ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Do you have a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نَعَمْ،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Yes, I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هَلْ  ·  أَمْ  ·  نَعَمْ  ·  لَا  ·  بَلَى  ·  لَمْ  ·  لِأَنَّ  ·  أَمْسِ  ·  غَدًا  ·  كُلَّ يَوْمٍ  ·  أُفَضِّلُ  ·  أَسْكُنُ  ·  زُرْتُ</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mini-interview: ten questions for a new student, visitor or classmate, with model answers.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Six hal questions and two hamza questions.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 … am alternative.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present and future questions.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Accurate agreement in every question.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Extended answers with reasons (and one balā).</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أَنْتَ جَدِيدٌ؟</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are you new?</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مُنْذُ مَتَى</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since when</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إِنْ شَاءَ اللَّهُ</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God willing</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بَعْدُ</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yet</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لِأَنَّ</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الْجَمِيعُ</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everyone</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هَلْ أَنْتَ جَدِيدٌ فِي مَدْرَسَتِنَا؟ نَعَمْ، وَصَلْتُ هَذَا الشَّهْرَ مِنْ مِصْرَ. هَلْ تَتَكَلَّمُ الْإِنْجِلِيزِيَّةَ؟ نَعَمْ، وَلَكِنِّي أَتَعَلَّمُهَا بِجِدٍّ. أَتَسْكُنُ قَرِيبًا أَمْ بَعِيدًا؟ أَسْكُنُ قَرِيبًا، فِي الشَّارِعِ الثَّانِي. هَلْ زُرْتَ مَكْتَبَةَ الْمَدْرَسَةِ؟ لَا، لَمْ أَزُرْهَا بَعْدُ. هَلْ تُحِبُّ الرِّيَاضَةَ؟ نَعَمْ، أَلْعَبُ كُرَةَ السَّلَّةِ كُلَّ سَبْتٍ. أَتُفَضِّلُ الرِّيَاضِيَّاتِ أَمِ الْعُلُومَ؟ أُفَضِّلُ الْعُلُومَ لِأَنَّ تَجَارِبَهَا مُمْتِعَةٌ. هَلْ سَتَنْضَمُّ إِلَى نَادِي الشِّطْرَنْجِ؟ نَعَمْ، إِنْ شَاءَ اللَّهُ. أَلَيْسَ الْجَوُّ هُنَا بَارِدًا؟ بَلَى، هُوَ بَارِدٌ جِدًّا! هَلْ عِنْدَكَ إِخْوَةٌ؟ نَعَمْ، عِنْدِي أُخْتَانِ. هَلْ أَنْتَ سَعِيدٌ هُنَا؟ نَعَمْ، الْجَمِيعُ لُطَفَاءُ.</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Are you new at our school? Yes, I arrived this month from Egypt. Do you speak English? Yes, but I am working hard to learn it. Do you live near or far? I live near, in the second street. Have you visited the school library? No, I have not visited it yet. Do you like sport? Yes, I play basketball every Saturday. Do you prefer maths or science? I prefer science because its experiments are interesting. Will you join the chess club? Yes, in shāʾ Allāh. Isn’t the weather cold here? Yes, it is very cold! Do you have brothers and sisters? Yes, I have two sisters. Are you happy here? Yes, everyone is kind.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hal question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hamza question with am</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past question + lam answer</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negative question + balā</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question starts with hal or a- and ends with a question mark.</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answers are full sentences.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hamza is joined to the next word.</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never used hal and a- together.</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a negative question with balā.</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answer to </a:t>
            </a:r>
            <a:pPr algn="l" indent="0" marL="0">
              <a:buNone/>
            </a:pPr>
            <a:r>
              <a:rPr lang="ar-SA" altLang="en-US" sz="1650" b="1" dirty="0">
                <a:solidFill>
                  <a:srgbClr val="1B3B6F"/>
                </a:solidFill>
                <a:latin typeface="Amiri" pitchFamily="2" charset="-78"/>
                <a:cs typeface="Amiri" pitchFamily="2" charset="-78"/>
              </a:rPr>
              <a:t>أَلَمْ تَذْهَبِي؟</a:t>
            </a:r>
            <a:pPr algn="l" indent="0" marL="0">
              <a:buNone/>
            </a:pPr>
            <a:r>
              <a:rPr lang="en-US" sz="1250" b="1" dirty="0">
                <a:solidFill>
                  <a:srgbClr val="1B3B6F"/>
                </a:solidFill>
                <a:latin typeface="Calibri" pitchFamily="34" charset="0"/>
                <a:cs typeface="Amiri" pitchFamily="2" charset="-78"/>
              </a:rPr>
              <a:t> if you DID go: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بَلَى، ذَهَبْتُ.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نَعَمْ، لَمْ أَذْهَبْ.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ذَهَبْتُ.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past question to one female.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زُرْتَ الْمَدِينَةَ؟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زُرْتِ الْمَدِينَةَ؟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تَزُورِينَ الْمَدِينَةَ أَمْسِ؟</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negative answer to </a:t>
            </a:r>
            <a:pPr algn="l" indent="0" marL="0">
              <a:buNone/>
            </a:pPr>
            <a:r>
              <a:rPr lang="ar-SA" altLang="en-US" sz="1650" b="1" dirty="0">
                <a:solidFill>
                  <a:srgbClr val="1B3B6F"/>
                </a:solidFill>
                <a:latin typeface="Amiri" pitchFamily="2" charset="-78"/>
                <a:cs typeface="Amiri" pitchFamily="2" charset="-78"/>
              </a:rPr>
              <a:t>هَلْ ذَهَبْتَ؟</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لَمْ أَذْهَبْ.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لَنْ أَذْهَبَ أَمْسِ.</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نَعَمْ، مَا أَذْهَبُ.</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answer to </a:t>
            </a:r>
            <a:pPr algn="l" indent="0" marL="0">
              <a:buNone/>
            </a:pPr>
            <a:r>
              <a:rPr lang="ar-SA" altLang="en-US" sz="1650" b="1" dirty="0">
                <a:solidFill>
                  <a:srgbClr val="1B3B6F"/>
                </a:solidFill>
                <a:latin typeface="Amiri" pitchFamily="2" charset="-78"/>
                <a:cs typeface="Amiri" pitchFamily="2" charset="-78"/>
              </a:rPr>
              <a:t>أَلَمْ تَذْهَبِي؟</a:t>
            </a:r>
            <a:pPr algn="l" indent="0" marL="0">
              <a:buNone/>
            </a:pPr>
            <a:r>
              <a:rPr lang="en-US" sz="1250" b="1" dirty="0">
                <a:solidFill>
                  <a:srgbClr val="1B3B6F"/>
                </a:solidFill>
                <a:latin typeface="Calibri" pitchFamily="34" charset="0"/>
                <a:cs typeface="Amiri" pitchFamily="2" charset="-78"/>
              </a:rPr>
              <a:t> if you DID go:</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بَلَى، ذَهَبْتُ.</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نَعَمْ، لَمْ أَذْهَبْ.</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لَا، ذَهَبْتُ.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Balā cancels the negative.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past question to one female.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هَلْ زُرْتَ الْمَدِينَةَ؟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هَلْ زُرْتِ الْمَدِينَةَ؟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هَلْ تَزُورِينَ الْمَدِينَةَ أَمْسِ؟</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Zurti = you (f.) visited.</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negative answer to </a:t>
            </a:r>
            <a:pPr algn="l" indent="0" marL="0">
              <a:buNone/>
            </a:pPr>
            <a:r>
              <a:rPr lang="ar-SA" altLang="en-US" sz="1650" b="1" dirty="0">
                <a:solidFill>
                  <a:srgbClr val="1B3B6F"/>
                </a:solidFill>
                <a:latin typeface="Amiri" pitchFamily="2" charset="-78"/>
                <a:cs typeface="Amiri" pitchFamily="2" charset="-78"/>
              </a:rPr>
              <a:t>هَلْ ذَهَبْتَ؟</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لَا، لَمْ أَذْهَبْ.</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لَا، لَنْ أَذْهَبَ أَمْسِ.</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نَعَمْ، مَا أَذْهَبُ.</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Lam + present form.</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GM-INT-01 · Interrogatives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GM-INT-02: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GM-INT-02 · Which? Gender and Case Agreement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which? (with masculine nouns)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which? (with feminine nouns)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أَيُّ كِتَابٍ؟</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which book?</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أَيَّةُ مَدِينَةٍ؟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which city?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أَيِّ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 which</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Ayy (which) is followed by an indefinite noun ending in -in: ayyu kitābin? How would you ask “Which colour do you like?” (lawn = colour)</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أَيُّ ______ تُحِبُّ؟</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six hal questions about school and answer them in full.</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two a- … am questions and four questions in different tenses.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ten-question interview with model answers.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GM-INT-01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GM-INT-02 · Which? Gender and Case Agreement</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أَيّ وَأَيَّة: التَّذْكِيرُ وَالتَّأْنِيثُ وَالْإِعْرَابُ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hal + statement + question mark (no word swap, no “do”) · the hamza joins the next word: a-tadhhabu? · a- … am = this or that? (choose, don’t say naʿam) · answer with a full sentence · negative question → balā cancels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GM-INT-01 · Yes / No Questions</dc:title>
  <dc:subject>PptxGenJS Presentation</dc:subject>
  <dc:creator>Al Madina Online School · Arabic Department</dc:creator>
  <cp:lastModifiedBy>Al Madina Online School · Arabic Department</cp:lastModifiedBy>
  <cp:revision>1</cp:revision>
  <dcterms:created xsi:type="dcterms:W3CDTF">2026-10-11T06:42:14Z</dcterms:created>
  <dcterms:modified xsi:type="dcterms:W3CDTF">2026-10-11T06:42:14Z</dcterms:modified>
</cp:coreProperties>
</file>