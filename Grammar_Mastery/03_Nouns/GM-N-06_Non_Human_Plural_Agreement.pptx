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GM-N-06 (“Non-Human Plural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adjective after a non-human plural is feminine singular (الْكُتُبُ مُفِيدَةٌ). Develop: the whole agreement package — هَذِهِ · هِيَ · a verb with ـَتْ. Stretch: explain why the shape of the plural (sound or broken) does not matter — only meaning.
• The most common error after GM-N-03/04/05: students “agree” by shape — سَيَّارَاتٌ looks feminine plural, so they write سَرِيعَاتٌ. Keep repeating: “Is it a PERSON?”
• Qur’an note: وَالسَّمَاوَاتُ مَطْوِيَّاتٌ shows that classical Arabic sometimes uses plural agreement with things — keep this for curious Stretch students only; the school rule is feminine singular.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retrieves the agreement rule first met in GM-N-05.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Is it a person? No → treat the plural like “she”: feminine singular adjective, “this (f)”, “she”, verb with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“The agreement switch”. Hold up two hands: left hand “the noun: plural”, right hand “everything else: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table “Human versus non-human”, with the schools row added from the website warning. Cover the last three columns and ask students to rebuild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“Verb” box, extended. The last row previews verbal-sentence agreement; do not dwell on it with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Narrate the question every time: “Is it a person? No — so she, this (f.), -at.” Then contrast orally: هَؤُلَاءِ الطُّلَّابُ مُجْتَهِدُونَ.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 pairs: الطَّالِبَاتُ and السَّيَّارَاتُ look alike (-āt) but go to different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 pairs: الطَّالِبَاتُ and السَّيَّارَاتُ look alike (-āt) but go to different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the engineers row, kibār is the broken plural of big (teacher-taught); Core may say kabīrūn — praise the agreement, then model kibār.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plural; circle the words that agree with it and say whether they are plural or feminine singular.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to practise the agreement package.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then use each in a sentence. Model answer contrasts things (لَكِنَّهَا جَمِيلَةٌ — “she”) with people (الْجِيرَانُ لُطَفَاءُ —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(GM-N-07 · The Iḍāfa Possessive Structure) will spend class time USING this language, so students prepare it tonight — short, simple, easy to access (school guidance: “Simple, Short, Interesting, Relevant, Easy to access”). The five words prepare GM-N-07 (website Nouns lesson 7: iḍāfa).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NOUNS  ·  GM-N-06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00" b="1" dirty="0">
                <a:solidFill>
                  <a:srgbClr val="FFFFFF"/>
                </a:solidFill>
                <a:latin typeface="Cambria" pitchFamily="34" charset="0"/>
                <a:ea typeface="Cambria" pitchFamily="34" charset="-122"/>
                <a:cs typeface="Cambria" pitchFamily="34" charset="-120"/>
              </a:rPr>
              <a:t>Non-Human Plural Agreement</a:t>
            </a:r>
            <a:endParaRPr lang="en-US" sz="3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جَمْعُ غَيْرِ الْعَاقِلِ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 plural of THINGS or animals is still plural in meaning, but every word that agrees with it — adjective, “these”, “they”, the verb — is feminine singular. Think in two layers: plural noun, feminine singular agreement.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agreement switch; the package; human vs non-human.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people / things, build the package,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الْكُتُبُ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مُفِيدُونَ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مُفِيدَاتٌ</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Demonstrative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for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السَّيَّارَاتُ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keeps plural agreement?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الْمَدَارِسُ</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correct.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الْبُيُوتُ كَبِيرَةٌ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الْبُيُوتُ كَبِيرُونَ</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الْبُيُوتُ كَبِيرَاتٌ</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الْكُتُبُ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مُفِيدُونَ</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مُفِيدَةٌ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مُفِيدَاتٌ</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takes feminine singular adjective.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Demonstrative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 reference.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for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السَّيَّارَاتُ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 pronoun.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keeps plural agreement?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الْمَدَارِسُ</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الطُّلَّابُ</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plural.</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correct.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الْبُيُوتُ كَبِيرَةٌ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الْبُيُوتُ كَبِيرُونَ</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الْبُيُوتُ كَبِيرَاتٌ</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Is it a person? No → treat the plural like “she”: feminine singular adjective, “this (f)”, “she”, verb with -at.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0E7C86"/>
                </a:solidFill>
                <a:latin typeface="Amiri" pitchFamily="34" charset="0"/>
                <a:ea typeface="Amiri" pitchFamily="34" charset="-122"/>
                <a:cs typeface="Amiri" pitchFamily="34" charset="-120"/>
              </a:rPr>
              <a:t>الْكُتُبُ</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2150" b="1" dirty="0">
                <a:solidFill>
                  <a:srgbClr val="D6336C"/>
                </a:solidFill>
                <a:latin typeface="Amiri" pitchFamily="34" charset="0"/>
                <a:ea typeface="Amiri" pitchFamily="34" charset="-122"/>
                <a:cs typeface="Amiri" pitchFamily="34" charset="-120"/>
              </a:rPr>
              <a:t>مُفِيدَةٌ</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150" b="1" dirty="0">
                <a:solidFill>
                  <a:srgbClr val="0E7C86"/>
                </a:solidFill>
                <a:latin typeface="Amiri" pitchFamily="34" charset="0"/>
                <a:ea typeface="Amiri" pitchFamily="34" charset="-122"/>
                <a:cs typeface="Amiri" pitchFamily="34" charset="-120"/>
              </a:rPr>
              <a:t>هَذِهِ</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الْبُيُوتُ </a:t>
            </a:r>
            <a:pPr rtl="1" algn="ctr" indent="0" marL="0">
              <a:lnSpc>
                <a:spcPct val="120000"/>
              </a:lnSpc>
              <a:buNone/>
            </a:pPr>
            <a:r>
              <a:rPr lang="ar-SA" altLang="en-US" sz="2150" b="1" dirty="0">
                <a:solidFill>
                  <a:srgbClr val="D6336C"/>
                </a:solidFill>
                <a:latin typeface="Amiri" pitchFamily="34" charset="0"/>
                <a:ea typeface="Amiri" pitchFamily="34" charset="-122"/>
                <a:cs typeface="Amiri" pitchFamily="34" charset="-120"/>
              </a:rPr>
              <a:t>جَدِيدَةٌ</a:t>
            </a:r>
            <a:endParaRPr lang="ar-SA" sz="21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the two-layer rule for non-human plurals.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feminine singular adjective after a non-human plural.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هَذِهِ</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هِيَ</a:t>
            </a:r>
            <a:pPr algn="l" indent="0" marL="0">
              <a:buNone/>
            </a:pPr>
            <a:r>
              <a:rPr lang="en-US" sz="1300" dirty="0">
                <a:solidFill>
                  <a:srgbClr val="1F2A37"/>
                </a:solidFill>
                <a:latin typeface="Calibri" pitchFamily="34" charset="0"/>
                <a:ea typeface="Calibri" pitchFamily="34" charset="-122"/>
                <a:cs typeface="Calibri" pitchFamily="34" charset="-120"/>
              </a:rPr>
              <a:t> and a feminine singular verb for things.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plural agreement for people.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give things a feminine singular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ask: is it a person?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“these books” with the feminine singular demonstrative.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“she” and a verb in -at for things.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shape does not decide agreement.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switch correctly between people and things.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الْعَاقِلِ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non-human (things, animals)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al-ʿā-qi-li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 سَيَّارَاتٌ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الْعَاقِلُ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 (people)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al-ʿā-qi-lu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طُلَّابٌ · مُعَلِّمَاتٌ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الْمُطَابَقَةُ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al-mu-ṭā-ba-qa-tu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matching words</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هَذِهِ</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(f.) / these (things)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hādhihi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هَذِهِ الْكُتُبُ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 it / they (things)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hiya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الْكُتُبُ … هِيَ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مُفْرَدٌ مُؤَنَّثٌ</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feminine singular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muf-ra-dun mu-ʾan-na-thun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مُفِيدَةٌ · سَرِيعَةٌ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AGREEMENT SWITCH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Plural noun, feminine singular agreement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التَّطَابُقُ 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non-human plural stays plural in MEANING — “books” is still many books.</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But the words that agree with it take the FEMININE SINGULAR form (website rule).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Adjective: feminine singular, like a word ending in tāʾ marbūṭa.</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Demonstrative and pronoun: “this (f.)” and “she” — not “these (people)” or “they”.</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Verb: the feminine singular form with -at, as if the subject were “she”.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الْكُتُبُ مُفِيدَةٌ.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books are useful.  ·  adjective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هَذِهِ الْبُيُوتُ جَدِيدَةٌ.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These houses are new.  ·  demonstrative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هِيَ جَمِيلَةٌ.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They (the houses) are beautiful.  ·  pronoun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وَصَلَتِ الْحَافِلَاتُ.</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buses arrived.  ·  verb</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 think in two layers — noun number = plural; agreement package = feminine singular.</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HUMAN VERSUS NON-HUMAN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full agreement package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a:t>
            </a:r>
            <a:endParaRPr lang="en-US" sz="1100" dirty="0"/>
          </a:p>
        </p:txBody>
      </p:sp>
      <p:sp>
        <p:nvSpPr>
          <p:cNvPr id="17" name="Text 14"/>
          <p:cNvSpPr txBox="1"/>
          <p:nvPr/>
        </p:nvSpPr>
        <p:spPr>
          <a:xfrm>
            <a:off x="7388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These</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a:t>
            </a:r>
            <a:endParaRPr lang="en-US" sz="1100" dirty="0"/>
          </a:p>
        </p:txBody>
      </p:sp>
      <p:sp>
        <p:nvSpPr>
          <p:cNvPr id="19" name="Text 16"/>
          <p:cNvSpPr txBox="1"/>
          <p:nvPr/>
        </p:nvSpPr>
        <p:spPr>
          <a:xfrm>
            <a:off x="2907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20" name="Text 17"/>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601200" y="2267712"/>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هُمْ</a:t>
            </a:r>
            <a:endParaRPr lang="ar-SA" sz="2200" dirty="0"/>
          </a:p>
        </p:txBody>
      </p:sp>
      <p:sp>
        <p:nvSpPr>
          <p:cNvPr id="23" name="Text 20"/>
          <p:cNvSpPr txBox="1"/>
          <p:nvPr/>
        </p:nvSpPr>
        <p:spPr>
          <a:xfrm>
            <a:off x="7406640" y="2267712"/>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هَؤُلَاءِ</a:t>
            </a:r>
            <a:endParaRPr lang="ar-SA" sz="2200" dirty="0"/>
          </a:p>
        </p:txBody>
      </p:sp>
      <p:sp>
        <p:nvSpPr>
          <p:cNvPr id="24" name="Text 21"/>
          <p:cNvSpPr txBox="1"/>
          <p:nvPr/>
        </p:nvSpPr>
        <p:spPr>
          <a:xfrm>
            <a:off x="5120640" y="2267712"/>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مُجْتَهِدُونَ</a:t>
            </a:r>
            <a:endParaRPr lang="ar-SA" sz="2200" dirty="0"/>
          </a:p>
        </p:txBody>
      </p:sp>
      <p:sp>
        <p:nvSpPr>
          <p:cNvPr id="25" name="Text 22"/>
          <p:cNvSpPr txBox="1"/>
          <p:nvPr/>
        </p:nvSpPr>
        <p:spPr>
          <a:xfrm>
            <a:off x="294436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(m.)</a:t>
            </a:r>
            <a:endParaRPr lang="en-US" sz="1100" dirty="0"/>
          </a:p>
        </p:txBody>
      </p:sp>
      <p:sp>
        <p:nvSpPr>
          <p:cNvPr id="26" name="Text 23"/>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601200" y="3004718"/>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هُنَّ</a:t>
            </a:r>
            <a:endParaRPr lang="ar-SA" sz="2200" dirty="0"/>
          </a:p>
        </p:txBody>
      </p:sp>
      <p:sp>
        <p:nvSpPr>
          <p:cNvPr id="31" name="Text 28"/>
          <p:cNvSpPr txBox="1"/>
          <p:nvPr/>
        </p:nvSpPr>
        <p:spPr>
          <a:xfrm>
            <a:off x="7406640" y="300471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هَؤُلَاءِ</a:t>
            </a:r>
            <a:endParaRPr lang="ar-SA" sz="2200" dirty="0"/>
          </a:p>
        </p:txBody>
      </p:sp>
      <p:sp>
        <p:nvSpPr>
          <p:cNvPr id="32" name="Text 29"/>
          <p:cNvSpPr txBox="1"/>
          <p:nvPr/>
        </p:nvSpPr>
        <p:spPr>
          <a:xfrm>
            <a:off x="5120640" y="300471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مُجْتَهِدَاتٌ</a:t>
            </a:r>
            <a:endParaRPr lang="ar-SA" sz="2200" dirty="0"/>
          </a:p>
        </p:txBody>
      </p:sp>
      <p:sp>
        <p:nvSpPr>
          <p:cNvPr id="33" name="Text 30"/>
          <p:cNvSpPr txBox="1"/>
          <p:nvPr/>
        </p:nvSpPr>
        <p:spPr>
          <a:xfrm>
            <a:off x="294436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(f.)</a:t>
            </a:r>
            <a:endParaRPr lang="en-US" sz="1100" dirty="0"/>
          </a:p>
        </p:txBody>
      </p:sp>
      <p:sp>
        <p:nvSpPr>
          <p:cNvPr id="34" name="Text 31"/>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a:t>
            </a:r>
            <a:endParaRPr lang="ar-SA" sz="24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01200" y="3741725"/>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a:t>
            </a:r>
            <a:endParaRPr lang="ar-SA" sz="2200" dirty="0"/>
          </a:p>
        </p:txBody>
      </p:sp>
      <p:sp>
        <p:nvSpPr>
          <p:cNvPr id="39" name="Text 36"/>
          <p:cNvSpPr txBox="1"/>
          <p:nvPr/>
        </p:nvSpPr>
        <p:spPr>
          <a:xfrm>
            <a:off x="7406640" y="3741725"/>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a:t>
            </a:r>
            <a:endParaRPr lang="ar-SA" sz="2200" dirty="0"/>
          </a:p>
        </p:txBody>
      </p:sp>
      <p:sp>
        <p:nvSpPr>
          <p:cNvPr id="40" name="Text 37"/>
          <p:cNvSpPr txBox="1"/>
          <p:nvPr/>
        </p:nvSpPr>
        <p:spPr>
          <a:xfrm>
            <a:off x="5120640" y="3741725"/>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مُفِيدَةٌ</a:t>
            </a:r>
            <a:endParaRPr lang="ar-SA" sz="2200" dirty="0"/>
          </a:p>
        </p:txBody>
      </p:sp>
      <p:sp>
        <p:nvSpPr>
          <p:cNvPr id="41" name="Text 38"/>
          <p:cNvSpPr txBox="1"/>
          <p:nvPr/>
        </p:nvSpPr>
        <p:spPr>
          <a:xfrm>
            <a:off x="294436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a:t>
            </a:r>
            <a:endParaRPr lang="en-US" sz="1100" dirty="0"/>
          </a:p>
        </p:txBody>
      </p:sp>
      <p:sp>
        <p:nvSpPr>
          <p:cNvPr id="42" name="Text 39"/>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الْكُتُبُ</a:t>
            </a:r>
            <a:endParaRPr lang="ar-SA" sz="24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601200" y="4478731"/>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a:t>
            </a:r>
            <a:endParaRPr lang="ar-SA" sz="2200" dirty="0"/>
          </a:p>
        </p:txBody>
      </p:sp>
      <p:sp>
        <p:nvSpPr>
          <p:cNvPr id="47" name="Text 44"/>
          <p:cNvSpPr txBox="1"/>
          <p:nvPr/>
        </p:nvSpPr>
        <p:spPr>
          <a:xfrm>
            <a:off x="7406640" y="4478731"/>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a:t>
            </a:r>
            <a:endParaRPr lang="ar-SA" sz="2200" dirty="0"/>
          </a:p>
        </p:txBody>
      </p:sp>
      <p:sp>
        <p:nvSpPr>
          <p:cNvPr id="48" name="Text 45"/>
          <p:cNvSpPr txBox="1"/>
          <p:nvPr/>
        </p:nvSpPr>
        <p:spPr>
          <a:xfrm>
            <a:off x="5120640" y="4478731"/>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سَرِيعَةٌ</a:t>
            </a:r>
            <a:endParaRPr lang="ar-SA" sz="2200" dirty="0"/>
          </a:p>
        </p:txBody>
      </p:sp>
      <p:sp>
        <p:nvSpPr>
          <p:cNvPr id="49" name="Text 46"/>
          <p:cNvSpPr txBox="1"/>
          <p:nvPr/>
        </p:nvSpPr>
        <p:spPr>
          <a:xfrm>
            <a:off x="294436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a:t>
            </a:r>
            <a:endParaRPr lang="en-US" sz="1100" dirty="0"/>
          </a:p>
        </p:txBody>
      </p:sp>
      <p:sp>
        <p:nvSpPr>
          <p:cNvPr id="50" name="Text 47"/>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السَّيَّارَاتُ</a:t>
            </a:r>
            <a:endParaRPr lang="ar-SA" sz="240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9601200" y="5215738"/>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a:t>
            </a:r>
            <a:endParaRPr lang="ar-SA" sz="2200" dirty="0"/>
          </a:p>
        </p:txBody>
      </p:sp>
      <p:sp>
        <p:nvSpPr>
          <p:cNvPr id="55" name="Text 52"/>
          <p:cNvSpPr txBox="1"/>
          <p:nvPr/>
        </p:nvSpPr>
        <p:spPr>
          <a:xfrm>
            <a:off x="7406640" y="521573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a:t>
            </a:r>
            <a:endParaRPr lang="ar-SA" sz="2200" dirty="0"/>
          </a:p>
        </p:txBody>
      </p:sp>
      <p:sp>
        <p:nvSpPr>
          <p:cNvPr id="56" name="Text 53"/>
          <p:cNvSpPr txBox="1"/>
          <p:nvPr/>
        </p:nvSpPr>
        <p:spPr>
          <a:xfrm>
            <a:off x="5120640" y="521573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كَبِيرَةٌ</a:t>
            </a:r>
            <a:endParaRPr lang="ar-SA" sz="2200" dirty="0"/>
          </a:p>
        </p:txBody>
      </p:sp>
      <p:sp>
        <p:nvSpPr>
          <p:cNvPr id="57" name="Text 54"/>
          <p:cNvSpPr txBox="1"/>
          <p:nvPr/>
        </p:nvSpPr>
        <p:spPr>
          <a:xfrm>
            <a:off x="294436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a:t>
            </a:r>
            <a:endParaRPr lang="en-US" sz="1100" dirty="0"/>
          </a:p>
        </p:txBody>
      </p:sp>
      <p:sp>
        <p:nvSpPr>
          <p:cNvPr id="58" name="Text 55"/>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الْمَدَارِسُ</a:t>
            </a:r>
            <a:endParaRPr lang="ar-SA" sz="24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do not decide from the plural SHAPE. Schools (broken) and cars (sound -āt) both take feminine singular because both are things.</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THE VERB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with non-human plurals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verb like “she arrived”</a:t>
            </a:r>
            <a:endParaRPr lang="en-US" sz="1100" dirty="0"/>
          </a:p>
        </p:txBody>
      </p:sp>
      <p:sp>
        <p:nvSpPr>
          <p:cNvPr id="21" name="Text 18"/>
          <p:cNvSpPr txBox="1"/>
          <p:nvPr/>
        </p:nvSpPr>
        <p:spPr>
          <a:xfrm>
            <a:off x="4023360" y="2267712"/>
            <a:ext cx="40233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وَصَلَتِ الْحَافِلَاتُ.</a:t>
            </a:r>
            <a:endParaRPr lang="ar-SA" sz="2400" dirty="0"/>
          </a:p>
        </p:txBody>
      </p:sp>
      <p:sp>
        <p:nvSpPr>
          <p:cNvPr id="22" name="Text 19"/>
          <p:cNvSpPr txBox="1"/>
          <p:nvPr/>
        </p:nvSpPr>
        <p:spPr>
          <a:xfrm>
            <a:off x="566928" y="2267712"/>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buses arrived.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 example</a:t>
            </a:r>
            <a:endParaRPr lang="en-US" sz="1100" dirty="0"/>
          </a:p>
        </p:txBody>
      </p:sp>
      <p:sp>
        <p:nvSpPr>
          <p:cNvPr id="27" name="Text 24"/>
          <p:cNvSpPr txBox="1"/>
          <p:nvPr/>
        </p:nvSpPr>
        <p:spPr>
          <a:xfrm>
            <a:off x="4023360" y="3054096"/>
            <a:ext cx="40233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فُتِحَتِ الْمَدَارِسُ.</a:t>
            </a:r>
            <a:endParaRPr lang="ar-SA" sz="2400" dirty="0"/>
          </a:p>
        </p:txBody>
      </p:sp>
      <p:sp>
        <p:nvSpPr>
          <p:cNvPr id="28" name="Text 25"/>
          <p:cNvSpPr txBox="1"/>
          <p:nvPr/>
        </p:nvSpPr>
        <p:spPr>
          <a:xfrm>
            <a:off x="566928" y="3054096"/>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schools were opened.</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the “she” form</a:t>
            </a:r>
            <a:endParaRPr lang="en-US" sz="1100" dirty="0"/>
          </a:p>
        </p:txBody>
      </p:sp>
      <p:sp>
        <p:nvSpPr>
          <p:cNvPr id="33" name="Text 30"/>
          <p:cNvSpPr txBox="1"/>
          <p:nvPr/>
        </p:nvSpPr>
        <p:spPr>
          <a:xfrm>
            <a:off x="4023360" y="3840480"/>
            <a:ext cx="40233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تَهْبِطُ الطَّائِرَاتُ هُنَا.</a:t>
            </a:r>
            <a:endParaRPr lang="ar-SA" sz="2400" dirty="0"/>
          </a:p>
        </p:txBody>
      </p:sp>
      <p:sp>
        <p:nvSpPr>
          <p:cNvPr id="34" name="Text 31"/>
          <p:cNvSpPr txBox="1"/>
          <p:nvPr/>
        </p:nvSpPr>
        <p:spPr>
          <a:xfrm>
            <a:off x="566928" y="3840480"/>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planes land here.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people: verb before subject stays singular (GM-VS)</a:t>
            </a:r>
            <a:endParaRPr lang="en-US" sz="1100" dirty="0"/>
          </a:p>
        </p:txBody>
      </p:sp>
      <p:sp>
        <p:nvSpPr>
          <p:cNvPr id="37" name="Text 34"/>
          <p:cNvSpPr txBox="1"/>
          <p:nvPr/>
        </p:nvSpPr>
        <p:spPr>
          <a:xfrm>
            <a:off x="4023360" y="4626864"/>
            <a:ext cx="40233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 الطُّلَّابُ.</a:t>
            </a:r>
            <a:endParaRPr lang="ar-SA" sz="2400" dirty="0"/>
          </a:p>
        </p:txBody>
      </p:sp>
      <p:sp>
        <p:nvSpPr>
          <p:cNvPr id="38" name="Text 35"/>
          <p:cNvSpPr txBox="1"/>
          <p:nvPr/>
        </p:nvSpPr>
        <p:spPr>
          <a:xfrm>
            <a:off x="566928" y="4626864"/>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arrived.</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 things, the verb is ALWAYS the feminine singular form — before or after the noun.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الْحَقَائِبُ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ثَقِيلَاتٌ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ثَقِيلُونَ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ثَقِيلَةٌ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books”.</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الْكُتُبُ</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الْكُتُبُ</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الْكُتُبُ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for </a:t>
            </a:r>
            <a:pPr algn="l" indent="0" marL="0">
              <a:buNone/>
            </a:pPr>
            <a:r>
              <a:rPr lang="ar-SA" altLang="en-US" sz="1650" b="1" dirty="0">
                <a:solidFill>
                  <a:srgbClr val="1B3B6F"/>
                </a:solidFill>
                <a:latin typeface="Amiri" pitchFamily="34" charset="0"/>
                <a:ea typeface="Amiri" pitchFamily="34" charset="-122"/>
                <a:cs typeface="Amiri" pitchFamily="34" charset="-120"/>
              </a:rPr>
              <a:t>الجِبَالُ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with </a:t>
            </a:r>
            <a:pPr algn="l" indent="0" marL="0">
              <a:buNone/>
            </a:pPr>
            <a:r>
              <a:rPr lang="ar-SA" altLang="en-US" sz="1650" b="1" dirty="0">
                <a:solidFill>
                  <a:srgbClr val="1B3B6F"/>
                </a:solidFill>
                <a:latin typeface="Amiri" pitchFamily="34" charset="0"/>
                <a:ea typeface="Amiri" pitchFamily="34" charset="-122"/>
                <a:cs typeface="Amiri" pitchFamily="34" charset="-120"/>
              </a:rPr>
              <a:t>الطَّائِرَاتُ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وَصَلُوا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الْحَقَائِبُ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ثَقِيلَاتٌ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ثَقِيلُونَ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ثَقِيلَةٌ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books”.</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الْكُتُبُ</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الْكُتُبُ</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الْكُتُبُ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demonstrative.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for </a:t>
            </a:r>
            <a:pPr algn="l" indent="0" marL="0">
              <a:buNone/>
            </a:pPr>
            <a:r>
              <a:rPr lang="ar-SA" altLang="en-US" sz="1650" b="1" dirty="0">
                <a:solidFill>
                  <a:srgbClr val="1B3B6F"/>
                </a:solidFill>
                <a:latin typeface="Amiri" pitchFamily="34" charset="0"/>
                <a:ea typeface="Amiri" pitchFamily="34" charset="-122"/>
                <a:cs typeface="Amiri" pitchFamily="34" charset="-120"/>
              </a:rPr>
              <a:t>الجِبَالُ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 reference.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with </a:t>
            </a:r>
            <a:pPr algn="l" indent="0" marL="0">
              <a:buNone/>
            </a:pPr>
            <a:r>
              <a:rPr lang="ar-SA" altLang="en-US" sz="1650" b="1" dirty="0">
                <a:solidFill>
                  <a:srgbClr val="1B3B6F"/>
                </a:solidFill>
                <a:latin typeface="Amiri" pitchFamily="34" charset="0"/>
                <a:ea typeface="Amiri" pitchFamily="34" charset="-122"/>
                <a:cs typeface="Amiri" pitchFamily="34" charset="-120"/>
              </a:rPr>
              <a:t>الطَّائِرَاتُ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وَصَلَتْ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وَصَلُوا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verb agreement.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build the agreement package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الْحَدَائِقُ</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Plural. A person? No.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Adjective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الْحَدَائِقُ جَمِيلَةٌ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singular.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هَذِهِ الْحَدَائِقُ</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Like “this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فُتِحَتِ الْحَدَائِقُ</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like “she”.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NON-HUMAN PLURAL</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SINGULAR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D6336C"/>
                </a:solidFill>
                <a:latin typeface="Amiri" pitchFamily="34" charset="0"/>
                <a:ea typeface="Amiri" pitchFamily="34" charset="-122"/>
                <a:cs typeface="Amiri" pitchFamily="34" charset="-120"/>
              </a:rPr>
              <a:t>هَذِهِ</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الْحَدَائِقُ</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جَمِيلَةٌ</a:t>
            </a:r>
            <a:pPr rtl="1" algn="r" indent="0" marL="0">
              <a:buNone/>
            </a:pPr>
            <a:r>
              <a:rPr lang="ar-SA" altLang="en-US" sz="2600" b="1" dirty="0">
                <a:solidFill>
                  <a:srgbClr val="1B3B6F"/>
                </a:solidFill>
                <a:latin typeface="Amiri" pitchFamily="34" charset="0"/>
                <a:ea typeface="Amiri" pitchFamily="34" charset="-122"/>
                <a:cs typeface="Amiri" pitchFamily="34" charset="-120"/>
              </a:rPr>
              <a:t>، وَ</a:t>
            </a:r>
            <a:pPr rtl="1" algn="r" indent="0" marL="0">
              <a:buNone/>
            </a:pPr>
            <a:r>
              <a:rPr lang="ar-SA" altLang="en-US" sz="2600" b="1" dirty="0">
                <a:solidFill>
                  <a:srgbClr val="D6336C"/>
                </a:solidFill>
                <a:latin typeface="Amiri" pitchFamily="34" charset="0"/>
                <a:ea typeface="Amiri" pitchFamily="34" charset="-122"/>
                <a:cs typeface="Amiri" pitchFamily="34" charset="-120"/>
              </a:rPr>
              <a:t>هِيَ</a:t>
            </a:r>
            <a:pPr rtl="1" algn="r" indent="0" marL="0">
              <a:buNone/>
            </a:pPr>
            <a:r>
              <a:rPr lang="ar-SA" altLang="en-US" sz="2600" b="1" dirty="0">
                <a:solidFill>
                  <a:srgbClr val="1B3B6F"/>
                </a:solidFill>
                <a:latin typeface="Amiri" pitchFamily="34" charset="0"/>
                <a:ea typeface="Amiri" pitchFamily="34" charset="-122"/>
                <a:cs typeface="Amiri" pitchFamily="34" charset="-120"/>
              </a:rPr>
              <a:t> قَرِيبَةٌ مِنْ بَيْتِي. </a:t>
            </a:r>
            <a:pPr rtl="1" algn="r" indent="0" marL="0">
              <a:buNone/>
            </a:pPr>
            <a:r>
              <a:rPr lang="ar-SA" altLang="en-US" sz="2600" b="1" dirty="0">
                <a:solidFill>
                  <a:srgbClr val="D6336C"/>
                </a:solidFill>
                <a:latin typeface="Amiri" pitchFamily="34" charset="0"/>
                <a:ea typeface="Amiri" pitchFamily="34" charset="-122"/>
                <a:cs typeface="Amiri" pitchFamily="34" charset="-120"/>
              </a:rPr>
              <a:t>فُتِحَتِ</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الْحَدَائِقُ</a:t>
            </a:r>
            <a:pPr rtl="1" algn="r" indent="0" marL="0">
              <a:buNone/>
            </a:pPr>
            <a:r>
              <a:rPr lang="ar-SA" altLang="en-US" sz="2600" b="1" dirty="0">
                <a:solidFill>
                  <a:srgbClr val="1B3B6F"/>
                </a:solidFill>
                <a:latin typeface="Amiri" pitchFamily="34" charset="0"/>
                <a:ea typeface="Amiri" pitchFamily="34" charset="-122"/>
                <a:cs typeface="Amiri" pitchFamily="34" charset="-120"/>
              </a:rPr>
              <a:t> صَبَاحًا.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These gardens are beautiful, and they are near my house. The gardens were opened in the morning.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السَّيَّارَاتُ فِي الشَّارِعِ سَرِيعَةٌ.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cars in the street are fast.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Sound -āt plural, still singular agreement.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الْكُتُبُ مُفِيدَةٌ جِدًّا.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These books are very useful.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Demonstrative + adjective.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وَصَلَتِ الْحَافِلَاتُ مُتَأَخِّرَةً.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buses arrived late.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Verb with -at.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قِطَطٌ، وَهِيَ صَغِيرَةٌ.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cats, and they are small.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Animals are non-human too.</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PERSON OR NOT?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agreement?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الْمُعَلِّمُونَ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الْأَقْلَامُ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الرِّجَالُ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الْأَطْفَالُ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الْقِطَطُ</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Plural agreement (people)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singular (things / animals)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Plural agreement (people)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الْمُعَلِّمُونَ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الرِّجَالُ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الْأَطْفَالُ</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singular (things / animals)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الْأَقْلَامُ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السَّيَّارَاتُ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الْغُرَفُ</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الْقِطَطُ</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COMPLETE THE PACKAGE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Fill in the agreement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أَكْمِلِ 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a:t>
            </a:r>
            <a:endParaRPr lang="en-US" sz="1100" dirty="0"/>
          </a:p>
        </p:txBody>
      </p:sp>
      <p:sp>
        <p:nvSpPr>
          <p:cNvPr id="17" name="Text 14"/>
          <p:cNvSpPr txBox="1"/>
          <p:nvPr/>
        </p:nvSpPr>
        <p:spPr>
          <a:xfrm>
            <a:off x="5833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are big</a:t>
            </a:r>
            <a:endParaRPr lang="en-US" sz="1100" dirty="0"/>
          </a:p>
        </p:txBody>
      </p:sp>
      <p:sp>
        <p:nvSpPr>
          <p:cNvPr id="18" name="Text 15"/>
          <p:cNvSpPr txBox="1"/>
          <p:nvPr/>
        </p:nvSpPr>
        <p:spPr>
          <a:xfrm>
            <a:off x="30906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These …</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595360" y="2267712"/>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a:t>
            </a:r>
            <a:endParaRPr lang="ar-SA" sz="2200" dirty="0"/>
          </a:p>
        </p:txBody>
      </p:sp>
      <p:sp>
        <p:nvSpPr>
          <p:cNvPr id="22" name="Text 19"/>
          <p:cNvSpPr txBox="1"/>
          <p:nvPr/>
        </p:nvSpPr>
        <p:spPr>
          <a:xfrm>
            <a:off x="585216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كَبِيرَةٌ</a:t>
            </a:r>
            <a:endParaRPr lang="ar-SA" sz="2200" dirty="0"/>
          </a:p>
        </p:txBody>
      </p:sp>
      <p:sp>
        <p:nvSpPr>
          <p:cNvPr id="23" name="Text 20"/>
          <p:cNvSpPr txBox="1"/>
          <p:nvPr/>
        </p:nvSpPr>
        <p:spPr>
          <a:xfrm>
            <a:off x="310896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الْبُيُوتُ</a:t>
            </a:r>
            <a:endParaRPr lang="ar-SA" sz="22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الْبُيُوتُ</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595360" y="3004718"/>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هُمْ</a:t>
            </a:r>
            <a:endParaRPr lang="ar-SA" sz="2200" dirty="0"/>
          </a:p>
        </p:txBody>
      </p:sp>
      <p:sp>
        <p:nvSpPr>
          <p:cNvPr id="29" name="Text 26"/>
          <p:cNvSpPr txBox="1"/>
          <p:nvPr/>
        </p:nvSpPr>
        <p:spPr>
          <a:xfrm>
            <a:off x="585216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كِبَارٌ</a:t>
            </a:r>
            <a:endParaRPr lang="ar-SA" sz="2200" dirty="0"/>
          </a:p>
        </p:txBody>
      </p:sp>
      <p:sp>
        <p:nvSpPr>
          <p:cNvPr id="30" name="Text 27"/>
          <p:cNvSpPr txBox="1"/>
          <p:nvPr/>
        </p:nvSpPr>
        <p:spPr>
          <a:xfrm>
            <a:off x="310896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هَؤُلَاءِ الْمُهَنْدِسُونَ</a:t>
            </a:r>
            <a:endParaRPr lang="ar-SA" sz="22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الْمُهَنْدِسُونَ</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595360" y="3741725"/>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a:t>
            </a:r>
            <a:endParaRPr lang="ar-SA" sz="2200" dirty="0"/>
          </a:p>
        </p:txBody>
      </p:sp>
      <p:sp>
        <p:nvSpPr>
          <p:cNvPr id="36" name="Text 33"/>
          <p:cNvSpPr txBox="1"/>
          <p:nvPr/>
        </p:nvSpPr>
        <p:spPr>
          <a:xfrm>
            <a:off x="585216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كَبِيرَةٌ</a:t>
            </a:r>
            <a:endParaRPr lang="ar-SA" sz="2200" dirty="0"/>
          </a:p>
        </p:txBody>
      </p:sp>
      <p:sp>
        <p:nvSpPr>
          <p:cNvPr id="37" name="Text 34"/>
          <p:cNvSpPr txBox="1"/>
          <p:nvPr/>
        </p:nvSpPr>
        <p:spPr>
          <a:xfrm>
            <a:off x="310896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الْمَسَاجِدُ</a:t>
            </a:r>
            <a:endParaRPr lang="ar-SA" sz="22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الْمَسَاجِدُ</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595360" y="4478731"/>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هُنَّ</a:t>
            </a:r>
            <a:endParaRPr lang="ar-SA" sz="2200" dirty="0"/>
          </a:p>
        </p:txBody>
      </p:sp>
      <p:sp>
        <p:nvSpPr>
          <p:cNvPr id="43" name="Text 40"/>
          <p:cNvSpPr txBox="1"/>
          <p:nvPr/>
        </p:nvSpPr>
        <p:spPr>
          <a:xfrm>
            <a:off x="585216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كَبِيرَاتٌ</a:t>
            </a:r>
            <a:endParaRPr lang="ar-SA" sz="2200" dirty="0"/>
          </a:p>
        </p:txBody>
      </p:sp>
      <p:sp>
        <p:nvSpPr>
          <p:cNvPr id="44" name="Text 41"/>
          <p:cNvSpPr txBox="1"/>
          <p:nvPr/>
        </p:nvSpPr>
        <p:spPr>
          <a:xfrm>
            <a:off x="310896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هَؤُلَاءِ الْمُعَلِّمَاتُ</a:t>
            </a:r>
            <a:endParaRPr lang="ar-SA" sz="22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الْمُعَلِّمَاتُ</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595360" y="5215738"/>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a:t>
            </a:r>
            <a:endParaRPr lang="ar-SA" sz="2200" dirty="0"/>
          </a:p>
        </p:txBody>
      </p:sp>
      <p:sp>
        <p:nvSpPr>
          <p:cNvPr id="48" name="Text 45"/>
          <p:cNvSpPr txBox="1"/>
          <p:nvPr/>
        </p:nvSpPr>
        <p:spPr>
          <a:xfrm>
            <a:off x="585216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كَبِيرَةٌ</a:t>
            </a:r>
            <a:endParaRPr lang="ar-SA" sz="2200" dirty="0"/>
          </a:p>
        </p:txBody>
      </p:sp>
      <p:sp>
        <p:nvSpPr>
          <p:cNvPr id="49" name="Text 46"/>
          <p:cNvSpPr txBox="1"/>
          <p:nvPr/>
        </p:nvSpPr>
        <p:spPr>
          <a:xfrm>
            <a:off x="310896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الطَّائِرَاتُ</a:t>
            </a:r>
            <a:endParaRPr lang="ar-SA" sz="22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الطَّائِرَاتُ</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Reveal one row at a time. People → these (people), plural adjective, they (m./f.). Things → this (f.), feminine singular, she.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السَّيَّارَاتُ سَرِيعَاتٌ.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Are cars people?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هَؤُلَاءِ الْكُتُبُ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“these” for things?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وَصَلُوا الْحَافِلَاتُ.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verb form for things?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السَّيَّارَاتُ سَرِيعَاتٌ.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السَّيَّارَاتُ سَرِيعَةٌ.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Cars are things → feminine singular.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هَؤُلَاءِ الْكُتُبُ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الْكُتُبُ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Things take the feminine singular demonstrative.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وَصَلُوا الْحَافِلَاتُ.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وَصَلَتِ الْحَافِلَاتُ.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Verb with things → feminine singular.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plural adjective?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الْأَقْلَامُ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الْمَدَارِسُ ...</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كَبِيرَاتٌ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كَبِيرُونَ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Rule applies to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السَّيَّارَاتُ</a:t>
            </a:r>
            <a:pPr algn="l" indent="0" marL="0">
              <a:buNone/>
            </a:pPr>
            <a:r>
              <a:rPr lang="en-US" sz="1250" b="1" dirty="0">
                <a:solidFill>
                  <a:srgbClr val="1B3B6F"/>
                </a:solidFill>
                <a:latin typeface="Calibri" pitchFamily="34" charset="0"/>
                <a:ea typeface="Calibri" pitchFamily="34" charset="-122"/>
                <a:cs typeface="Calibri" pitchFamily="34" charset="-120"/>
              </a:rPr>
              <a:t> because they are: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 plural</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non-human</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feminine nouns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mental model.</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Plural everywhere</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Singular noun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Plural noun + feminine singular agreement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plural adjective?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الْأَقْلَامُ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الْمُعَلِّمُونَ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الْمَدَارِسُ ...</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كَبِيرَاتٌ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كَبِيرَةٌ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كَبِيرُونَ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Rule applies to </a:t>
            </a:r>
            <a:pPr algn="l" indent="0" marL="0">
              <a:buNone/>
            </a:pPr>
            <a:r>
              <a:rPr lang="ar-SA" altLang="en-US" sz="1650" b="1" dirty="0">
                <a:solidFill>
                  <a:srgbClr val="1B3B6F"/>
                </a:solidFill>
                <a:latin typeface="Amiri" pitchFamily="34" charset="0"/>
                <a:ea typeface="Amiri" pitchFamily="34" charset="-122"/>
                <a:cs typeface="Amiri" pitchFamily="34" charset="-120"/>
              </a:rPr>
              <a:t>السَّيَّارَاتُ</a:t>
            </a:r>
            <a:pPr algn="l" indent="0" marL="0">
              <a:buNone/>
            </a:pPr>
            <a:r>
              <a:rPr lang="en-US" sz="1250" b="1" dirty="0">
                <a:solidFill>
                  <a:srgbClr val="1B3B6F"/>
                </a:solidFill>
                <a:latin typeface="Calibri" pitchFamily="34" charset="0"/>
                <a:ea typeface="Calibri" pitchFamily="34" charset="-122"/>
                <a:cs typeface="Calibri" pitchFamily="34" charset="-120"/>
              </a:rPr>
              <a:t> because they are: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sound plural</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non-human</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feminine nouns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Meaning controls agreement.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mental model.</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Plural everywhere</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Singular noun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Plural noun + feminine singular agreement</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Two-layer rule.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مَدْرَسَتِنَا طَالِبَانِ جَدِيدَانِ وَمُعَلِّمَاتٌ خَبِيرَاتٌ. الْفُصُولُ وَاسِعَةٌ، وَمَكْتَبُ مُدِيرِ الْمَدْرَسَةِ قَرِيبٌ مِنَ الْمَدْخَلِ. فِي السَّاحَةِ أَشْجَارٌ عَالِيَةٌ، وَهِيَ جَمِيلَةٌ فِي الرَّبِيعِ. تَصِلُ الْحَافِلَاتُ فِي السَّاعَةِ الثَّامِنَةِ، وَيَنْزِلُ الطُّلَّابُ مِنْهَا.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الْفُصُولُ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classrooms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spacious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playground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أَشْجَارٌ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trees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عَالِيَةٌ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tall</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arrive(s)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يَنْزِلُ</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get(s) off</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مِنْهَا</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from them (the buses)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in the third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trees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playground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تَصِلُ</a:t>
            </a:r>
            <a:pPr algn="l" indent="0" marL="0">
              <a:buNone/>
            </a:pPr>
            <a:r>
              <a:rPr lang="en-US" sz="1250" b="1" dirty="0">
                <a:solidFill>
                  <a:srgbClr val="1B3B6F"/>
                </a:solidFill>
                <a:latin typeface="Calibri" pitchFamily="34" charset="0"/>
                <a:ea typeface="Calibri" pitchFamily="34" charset="-122"/>
                <a:cs typeface="Calibri" pitchFamily="34" charset="-120"/>
              </a:rPr>
              <a:t> (the “she”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Buses are feminine people.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Buses are things.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خَبِيرَاتٌ</a:t>
            </a:r>
            <a:pPr algn="l" indent="0" marL="0">
              <a:buNone/>
            </a:pPr>
            <a:r>
              <a:rPr lang="en-US" sz="1250" b="1" dirty="0">
                <a:solidFill>
                  <a:srgbClr val="1B3B6F"/>
                </a:solidFill>
                <a:latin typeface="Calibri" pitchFamily="34" charset="0"/>
                <a:ea typeface="Calibri" pitchFamily="34" charset="-122"/>
                <a:cs typeface="Calibri" pitchFamily="34" charset="-120"/>
              </a:rPr>
              <a:t> (plural)?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women teachers.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classrooms.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trees.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الْفُصُولُ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خَبِيرَاتٌ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in the third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trees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playground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she.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تَصِلُ</a:t>
            </a:r>
            <a:pPr algn="l" indent="0" marL="0">
              <a:buNone/>
            </a:pPr>
            <a:r>
              <a:rPr lang="en-US" sz="1250" b="1" dirty="0">
                <a:solidFill>
                  <a:srgbClr val="1B3B6F"/>
                </a:solidFill>
                <a:latin typeface="Calibri" pitchFamily="34" charset="0"/>
                <a:ea typeface="Calibri" pitchFamily="34" charset="-122"/>
                <a:cs typeface="Calibri" pitchFamily="34" charset="-120"/>
              </a:rPr>
              <a:t> (the “she”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Buses are feminine people.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Buses are things.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with things →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خَبِيرَاتٌ</a:t>
            </a:r>
            <a:pPr algn="l" indent="0" marL="0">
              <a:buNone/>
            </a:pPr>
            <a:r>
              <a:rPr lang="en-US" sz="1250" b="1" dirty="0">
                <a:solidFill>
                  <a:srgbClr val="1B3B6F"/>
                </a:solidFill>
                <a:latin typeface="Calibri" pitchFamily="34" charset="0"/>
                <a:ea typeface="Calibri" pitchFamily="34" charset="-122"/>
                <a:cs typeface="Calibri" pitchFamily="34" charset="-120"/>
              </a:rPr>
              <a:t> (plural)?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describes women teachers.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describes classrooms.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describes trees.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الْفُصُولُ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خَبِيرَاتٌ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وَاسِعَةٌ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 after a non-human plural.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describe your street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الْبُيُوتُ فِي شَارِعِكَ؟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السَّيَّارَاتِ وَالْأَشْجَارَ فِي حَيِّكَ.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الطُّلَّابُ فِي مَدْرَسَتِكَ وَالْفُصُولُ.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الْبُيُوتُ فِي شَارِعِي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هَذِهِ السَّيَّارَاتُ ___ ، وَهِيَ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الطُّلَّابُ ___ ، لَكِنَّ الْفُصُولَ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الْبُيُوتُ فِي شَارِعِكَ؟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the houses like in your street?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الْبُيُوتُ قَدِيمَةٌ، لَكِنَّهَا جَمِيلَةٌ. وَالْجِيرَانُ لُطَفَاءُ.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The houses are old, but they are beautiful. And the neighbours are kind.</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a non-human plural + feminine singular adjective.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Ask “is it a person?” each time.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these (f.), she and a verb with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agreement-package table.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contrasting people and things in the same paragraph.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At least two people plurals and four thing plurals.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الْبُيُوتُ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These houses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أَقْلَامٌ، وَهِيَ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pens, and they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 الْحَافِلَاتُ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buses arrived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الطُّلَّابُ ______ ، لَكِنَّ الْغُرَفَ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students are …, but the rooms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books are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السَّيَّارَاتُ فِي شَارِعِي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cars in my street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الْفُصُولُ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classrooms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الْحَدَائِقُ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gardens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جَدِيدَةٌ  ·  قَدِيمَةٌ  ·  كَبِيرَةٌ  ·  صَغِيرَةٌ  ·  جَمِيلَةٌ  ·  سَرِيعَةٌ  ·  مُفِيدَةٌ  ·  وَاسِعَةٌ  ·  نَظِيفَةٌ  ·  هَذِهِ  ·  هِيَ  ·  مُجْتَهِدُونَ  ·  لُطَفَاءُ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non-human plurals with feminine singular adjectives.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“these (f.)” + non-human plural.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“she” referring to a non-human plural.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feminine singular verb with a non-human plural.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human plurals with plural agreement for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الْبُيُوتُ قَدِيمَةٌ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these houses are old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وَهِيَ جَمِيلَةٌ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they are beautiful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 الْحَافِلَاتُ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buses arrived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الْفُصُولُ وَاسِعَةٌ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classrooms are spacious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الطُّلَّابُ مُجْتَهِدُونَ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students are hard-working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الْجِيرَانُ لُطَفَاءُ</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neighbours are kind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حَيٍّ هَادِئٍ. الْبُيُوتُ فِي شَارِعِنَا قَدِيمَةٌ، لَكِنَّهَا جَمِيلَةٌ. أَمَامَ بَيْتِي أَشْجَارٌ عَالِيَةٌ، وَهِيَ خَضْرَاءُ فِي الصَّيْفِ. تَمُرُّ الْحَافِلَاتُ كُلَّ صَبَاحٍ، وَهِيَ مُزْدَحِمَةٌ. الْجِيرَانُ لُطَفَاءُ، وَهُمْ يُسَاعِدُونَنَا دَائِمًا.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quiet neighbourhood. The houses in our street are old, but they are beautiful. In front of my house there are tall trees, and they are green in summer. The buses pass every morning, and they are crowded. The neighbours are kind, and they always help 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non-human plurals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 sing.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هِيَ for things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people: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thing-plural has a feminine singular adjective.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“is it a person?” before choosing agreement.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“these (f.)” and “she” for things.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with things use the “she” form.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People in my text keep plural agreement.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الْغُرَفُ</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نَظِيفُونَ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نَظِيفَاتٌ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السَّيَّارَاتُ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الْمُهَنْدِسُونَ مَشْغُولُونَ.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الْمُهَنْدِسُونَ مَشْغُولَةٌ.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الْمُهَنْدِسُونَ مَشْغُولٌ.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الْغُرَفُ</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نَظِيفَةٌ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نَظِيفُونَ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نَظِيفَاتٌ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Rooms are things.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cars”.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هَؤُلَاءِ السَّيَّارَاتُ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السَّيَّارَاتُ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السَّيَّارَاتُ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Things → feminine singular demonstrative.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الْمُهَنْدِسُونَ مَشْغُولُونَ.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الْمُهَنْدِسُونَ مَشْغُولَةٌ.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الْمُهَنْدِسُونَ مَشْغُولٌ.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GM-N-06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GM-N-07: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GM-N-07 · The Iḍāfa Possessive Structure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الْإِضَافَةُ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iḍāfa (possessive structure)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مُضَافٌ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first noun (the thing owned)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مُضَافٌ إِلَيْهِ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second noun (the owner)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بَابُ الْبَيْتِ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door of the house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 الطَّالِبِ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student’s book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In “the door of the house”, the first noun has no “al-”. Why do you think it doesn’t need one?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بَابُ الْبَيْتِ · ______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noun + adjective pairs for things in your home.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sentences using these (f.), she and a verb with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contrasting people and things.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GM-N-07 · The Iḍāfa Possessive Structure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تَرْكِيبُ الْإِضَافَةِ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is it a person? No → feminine singular: adjective, these (f.), she, verb with -at · people keep plural agreement · the shape never decides.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GM-N-06 · Non-Human Plural Agreement</dc:title>
  <dc:subject>PptxGenJS Presentation</dc:subject>
  <dc:creator>Al Madina Online School · Arabic Department</dc:creator>
  <cp:lastModifiedBy>Al Madina Online School · Arabic Department</cp:lastModifiedBy>
  <cp:revision>1</cp:revision>
  <dcterms:created xsi:type="dcterms:W3CDTF">2026-10-03T16:01:32Z</dcterms:created>
  <dcterms:modified xsi:type="dcterms:W3CDTF">2026-10-03T16:01:32Z</dcterms:modified>
</cp:coreProperties>
</file>