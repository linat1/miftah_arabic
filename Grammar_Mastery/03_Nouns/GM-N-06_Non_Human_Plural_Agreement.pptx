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GM-N-06 (“Non-Human Plural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adjective after a non-human plural is feminine singular (الْكُتُبُ مُفِيدَةٌ). Develop: the whole agreement package — هَذِهِ · هِيَ · a verb with ـَتْ. Stretch: explain why the shape of the plural (sound or broken) does not matter — only meaning.
• The most common error after GM-N-03/04/05: students “agree” by shape — سَيَّارَاتٌ looks feminine plural, so they write سَرِيعَاتٌ. Keep repeating: “Is it a PERSON?”
• Qur’an note: وَالسَّمَاوَاتُ مَطْوِيَّاتٌ shows that classical Arabic sometimes uses plural agreement with things — keep this for curious Stretch students only; the school rule is feminine singular.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retrieves the agreement rule first met in GM-N-05.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Is it a person? No → treat the plural like “she”: feminine singular adjective, “this (f)”, “she”, verb with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“The agreement switch”. Hold up two hands: left hand “the noun: plural”, right hand “everything else: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table “Human versus non-human”, with the schools row added from the website warning. Cover the last three columns and ask students to rebuild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“Verb” box, extended. The last row previews verbal-sentence agreement; do not dwell on it with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Narrate the question every time: “Is it a person? No — so she, this (f.), -at.” Then contrast orally: هَؤُلَاءِ الطُّلَّابُ مُجْتَهِدُونَ.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P or T. Trap pairs: الطَّالِبَاتُ and السَّيَّارَاتُ look alike (-āt) but go to different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P or T. Trap pairs: الطَّالِبَاتُ and السَّيَّارَاتُ look alike (-āt) but go to different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the engineers row, kibār is the broken plural of big (teacher-taught); Core may say kabīrūn — praise the agreement, then model kibār.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plural; circle the words that agree with it and say whether they are plural or feminine singular.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to practise the agreement package.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then use each in a sentence. Model answer contrasts things (لَكِنَّهَا جَمِيلَةٌ — “she”) with people (الْجِيرَانُ لُطَفَاءُ —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(GM-N-07 · The Iḍāfa Possessive Structure) will spend class time USING this language, so students prepare it tonight — short, simple, easy to access (school guidance: “Simple, Short, Interesting, Relevant, Easy to access”). The five words prepare GM-N-07 (website Nouns lesson 7: iḍāfa).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00" b="1" dirty="0">
                <a:solidFill>
                  <a:srgbClr val="FFFFFF"/>
                </a:solidFill>
                <a:latin typeface="Cambria" pitchFamily="34" charset="0"/>
                <a:cs typeface="Amiri" pitchFamily="2" charset="-78"/>
              </a:rPr>
              <a:t>Non-Human Plural Agreement</a:t>
            </a:r>
            <a:endParaRPr lang="en-US" sz="3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جَمْعُ غَيْرِ الْعَاقِلِ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plural of THINGS or animals is still plural in meaning, but every word that agrees with it — adjective, “these”, “they”, the verb — is feminine singular. Think in two layers: plural noun, feminine singular agreement.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agreement switch; the package; human vs non-human.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people / things, build the package,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الْكُتُبُ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مُفِيدُونَ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مُفِيدَاتٌ</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الْمَدَارِسُ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السَّيَّارَاتُ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keeps plural agreement?</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الْمَدَارِسُ</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correct.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الْبُيُوتُ 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الْبُيُوتُ كَبِيرُونَ</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الْبُيُوتُ كَبِيرَاتٌ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الْكُتُبُ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مُفِيدُونَ</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مُفِيدَةٌ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مُفِيدَاتٌ</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takes feminine singular adjective.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Demonstrative for </a:t>
            </a:r>
            <a:pPr algn="l" indent="0" marL="0">
              <a:buNone/>
            </a:pPr>
            <a:r>
              <a:rPr lang="ar-SA" altLang="en-US" sz="1650" b="1" dirty="0">
                <a:solidFill>
                  <a:srgbClr val="1B3B6F"/>
                </a:solidFill>
                <a:latin typeface="Amiri" pitchFamily="2" charset="-78"/>
                <a:ea typeface="Amiri" pitchFamily="2" charset="-78"/>
                <a:cs typeface="Amiri" pitchFamily="2" charset="-78"/>
              </a:rPr>
              <a:t>الْمَدَارِسُ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reference.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السَّيَّارَاتُ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pronoun.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keeps plural agreement?</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الْمَدَارِسُ</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الطُّلَّابُ</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correct.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الْبُيُوتُ 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الْبُيُوتُ كَبِيرُونَ</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الْبُيُوتُ كَبِيرَاتٌ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Is it a person? No → treat the plural like “she”: feminine singular adjective, “this (f)”, “she”, verb with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0E7C86"/>
                </a:solidFill>
                <a:latin typeface="Amiri" pitchFamily="2" charset="-78"/>
                <a:ea typeface="Amiri" pitchFamily="2" charset="-78"/>
                <a:cs typeface="Amiri" pitchFamily="2" charset="-78"/>
              </a:rPr>
              <a:t>الْكُتُبُ</a:t>
            </a:r>
            <a:pPr rtl="1" algn="ctr" indent="0" marL="0">
              <a:lnSpc>
                <a:spcPct val="120000"/>
              </a:lnSpc>
              <a:buNone/>
            </a:pPr>
            <a:r>
              <a:rPr lang="ar-SA" altLang="en-US" sz="2150" b="1" dirty="0">
                <a:solidFill>
                  <a:srgbClr val="1B3B6F"/>
                </a:solidFill>
                <a:latin typeface="Amiri" pitchFamily="2" charset="-78"/>
                <a:cs typeface="Amiri" pitchFamily="2" charset="-78"/>
              </a:rPr>
              <a:t> </a:t>
            </a:r>
            <a:pPr rtl="1" algn="ctr" indent="0" marL="0">
              <a:lnSpc>
                <a:spcPct val="120000"/>
              </a:lnSpc>
              <a:buNone/>
            </a:pPr>
            <a:r>
              <a:rPr lang="ar-SA" altLang="en-US" sz="2150" b="1" dirty="0">
                <a:solidFill>
                  <a:srgbClr val="D6336C"/>
                </a:solidFill>
                <a:latin typeface="Amiri" pitchFamily="2" charset="-78"/>
                <a:ea typeface="Amiri" pitchFamily="2" charset="-78"/>
                <a:cs typeface="Amiri" pitchFamily="2" charset="-78"/>
              </a:rPr>
              <a:t>مُفِيدَةٌ</a:t>
            </a:r>
            <a:pPr rtl="1" algn="ctr" indent="0" marL="0">
              <a:lnSpc>
                <a:spcPct val="120000"/>
              </a:lnSpc>
              <a:buNone/>
            </a:pPr>
            <a:r>
              <a:rPr lang="ar-SA" altLang="en-US" sz="2150" b="1" dirty="0">
                <a:solidFill>
                  <a:srgbClr val="1B3B6F"/>
                </a:solidFill>
                <a:latin typeface="Amiri" pitchFamily="2" charset="-78"/>
                <a:cs typeface="Amiri" pitchFamily="2" charset="-78"/>
              </a:rPr>
              <a:t> ‖ </a:t>
            </a:r>
            <a:pPr rtl="1" algn="ctr" indent="0" marL="0">
              <a:lnSpc>
                <a:spcPct val="120000"/>
              </a:lnSpc>
              <a:buNone/>
            </a:pPr>
            <a:r>
              <a:rPr lang="ar-SA" altLang="en-US" sz="2150" b="1" dirty="0">
                <a:solidFill>
                  <a:srgbClr val="0E7C86"/>
                </a:solidFill>
                <a:latin typeface="Amiri" pitchFamily="2" charset="-78"/>
                <a:ea typeface="Amiri" pitchFamily="2" charset="-78"/>
                <a:cs typeface="Amiri" pitchFamily="2" charset="-78"/>
              </a:rPr>
              <a:t>هَذِهِ</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الْبُيُوتُ </a:t>
            </a:r>
            <a:pPr rtl="1" algn="ctr" indent="0" marL="0">
              <a:lnSpc>
                <a:spcPct val="120000"/>
              </a:lnSpc>
              <a:buNone/>
            </a:pPr>
            <a:r>
              <a:rPr lang="ar-SA" altLang="en-US" sz="2150" b="1" dirty="0">
                <a:solidFill>
                  <a:srgbClr val="D6336C"/>
                </a:solidFill>
                <a:latin typeface="Amiri" pitchFamily="2" charset="-78"/>
                <a:ea typeface="Amiri" pitchFamily="2" charset="-78"/>
                <a:cs typeface="Amiri" pitchFamily="2" charset="-78"/>
              </a:rPr>
              <a:t>جَدِيدَةٌ</a:t>
            </a:r>
            <a:endParaRPr lang="ar-SA" sz="21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two-layer rule for non-human plurals.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feminine singular adjective after a non-human plural.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هِيَ</a:t>
            </a:r>
            <a:pPr algn="l" indent="0" marL="0">
              <a:buNone/>
            </a:pPr>
            <a:r>
              <a:rPr lang="en-US" sz="1300" dirty="0">
                <a:solidFill>
                  <a:srgbClr val="1F2A37"/>
                </a:solidFill>
                <a:latin typeface="Calibri" pitchFamily="34" charset="0"/>
                <a:cs typeface="Amiri" pitchFamily="2" charset="-78"/>
              </a:rPr>
              <a:t> and a feminine singular verb for things.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plural agreement for people.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things a feminine singular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is it a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“these books” with the feminine singular demonstrative.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“she” and a verb in -at for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shape does not decide agreement.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switch correctly between people and things.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الْعَاقِلِ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(things, animals)</a:t>
            </a:r>
            <a:endParaRPr lang="en-US" sz="1350" dirty="0"/>
          </a:p>
          <a:p>
            <a:pPr indent="0" marL="0">
              <a:buNone/>
            </a:pPr>
            <a:r>
              <a:rPr lang="en-US" sz="1100" i="1" dirty="0">
                <a:solidFill>
                  <a:srgbClr val="5A6472"/>
                </a:solidFill>
                <a:latin typeface="Calibri" pitchFamily="34" charset="0"/>
                <a:cs typeface="Amiri" pitchFamily="2" charset="-78"/>
              </a:rPr>
              <a:t>ghay-ru al-ʿā-qi-li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سَيَّارَاتٌ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الْعَاقِلُ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(people)</a:t>
            </a:r>
            <a:endParaRPr lang="en-US" sz="1350" dirty="0"/>
          </a:p>
          <a:p>
            <a:pPr indent="0" marL="0">
              <a:buNone/>
            </a:pPr>
            <a:r>
              <a:rPr lang="en-US" sz="1100" i="1" dirty="0">
                <a:solidFill>
                  <a:srgbClr val="5A6472"/>
                </a:solidFill>
                <a:latin typeface="Calibri" pitchFamily="34" charset="0"/>
                <a:cs typeface="Amiri" pitchFamily="2" charset="-78"/>
              </a:rPr>
              <a:t>al-ʿā-qi-lu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طُلَّابٌ · مُعَلِّمَاتٌ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الْمُطَابَقَةُ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matching words</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(f.) / these (things)</a:t>
            </a:r>
            <a:endParaRPr lang="en-US" sz="1350" dirty="0"/>
          </a:p>
          <a:p>
            <a:pPr indent="0" marL="0">
              <a:buNone/>
            </a:pPr>
            <a:r>
              <a:rPr lang="en-US" sz="1100" i="1" dirty="0">
                <a:solidFill>
                  <a:srgbClr val="5A6472"/>
                </a:solidFill>
                <a:latin typeface="Calibri" pitchFamily="34" charset="0"/>
                <a:cs typeface="Amiri" pitchFamily="2" charset="-78"/>
              </a:rPr>
              <a:t>hādhihi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هَذِهِ الْكُتُبُ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 it / they (things)</a:t>
            </a:r>
            <a:endParaRPr lang="en-US" sz="1350" dirty="0"/>
          </a:p>
          <a:p>
            <a:pPr indent="0" marL="0">
              <a:buNone/>
            </a:pPr>
            <a:r>
              <a:rPr lang="en-US" sz="1100" i="1" dirty="0">
                <a:solidFill>
                  <a:srgbClr val="5A6472"/>
                </a:solidFill>
                <a:latin typeface="Calibri" pitchFamily="34" charset="0"/>
                <a:cs typeface="Amiri" pitchFamily="2" charset="-78"/>
              </a:rPr>
              <a:t>hiya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الْكُتُبُ … هِيَ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مُفْرَدٌ مُؤَنَّثٌ</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singular</a:t>
            </a:r>
            <a:endParaRPr lang="en-US" sz="1350" dirty="0"/>
          </a:p>
          <a:p>
            <a:pPr indent="0" marL="0">
              <a:buNone/>
            </a:pPr>
            <a:r>
              <a:rPr lang="en-US" sz="1100" i="1" dirty="0">
                <a:solidFill>
                  <a:srgbClr val="5A6472"/>
                </a:solidFill>
                <a:latin typeface="Calibri" pitchFamily="34" charset="0"/>
                <a:cs typeface="Amiri" pitchFamily="2" charset="-78"/>
              </a:rPr>
              <a:t>muf-ra-dun mu-ʾan-na-thun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مُفِيدَةٌ · سَرِيعَةٌ</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AGREEMENT SWITCH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Plural noun, feminine singular agreement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التَّطَابُقُ 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non-human plural stays plural in MEANING — “books” is still many books.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But the words that agree with it take the FEMININE SINGULAR form (website rule).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Adjective: feminine singular, like a word ending in tāʾ marbūṭa.</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Demonstrative and pronoun: “this (f.)” and “she” — not “these (people)” or “they”.</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Verb: the feminine singular form with -at, as if the subject were “she”.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الْكُتُبُ مُفِيدَةٌ.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books are useful.  ·  adjective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هَذِهِ الْبُيُوتُ جَدِيدَةٌ.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These houses are new.  ·  demonstrative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هِيَ جَمِيلَةٌ.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They (the houses) are beautiful.  ·  pronoun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وَصَلَتِ الْحَافِلَاتُ.</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buses arrived.  ·  verb</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think in two layers — noun number = plural; agreement package = feminine singular.</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HUMAN VERSUS NON-HUMAN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full agreement package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a:t>
            </a:r>
            <a:endParaRPr lang="en-US" sz="1100" dirty="0"/>
          </a:p>
        </p:txBody>
      </p:sp>
      <p:sp>
        <p:nvSpPr>
          <p:cNvPr id="17" name="Text 14"/>
          <p:cNvSpPr txBox="1"/>
          <p:nvPr/>
        </p:nvSpPr>
        <p:spPr>
          <a:xfrm>
            <a:off x="7388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These</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9" name="Text 16"/>
          <p:cNvSpPr txBox="1"/>
          <p:nvPr/>
        </p:nvSpPr>
        <p:spPr>
          <a:xfrm>
            <a:off x="2907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20" name="Text 17"/>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a:t>
            </a:r>
            <a:endParaRPr lang="ar-SA" sz="2200" dirty="0"/>
          </a:p>
        </p:txBody>
      </p:sp>
      <p:sp>
        <p:nvSpPr>
          <p:cNvPr id="23" name="Text 20"/>
          <p:cNvSpPr txBox="1"/>
          <p:nvPr/>
        </p:nvSpPr>
        <p:spPr>
          <a:xfrm>
            <a:off x="7406640" y="2267712"/>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هَؤُلَاءِ</a:t>
            </a:r>
            <a:endParaRPr lang="ar-SA" sz="2200" dirty="0"/>
          </a:p>
        </p:txBody>
      </p:sp>
      <p:sp>
        <p:nvSpPr>
          <p:cNvPr id="24" name="Text 21"/>
          <p:cNvSpPr txBox="1"/>
          <p:nvPr/>
        </p:nvSpPr>
        <p:spPr>
          <a:xfrm>
            <a:off x="5120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مُجْتَهِدُونَ</a:t>
            </a:r>
            <a:endParaRPr lang="ar-SA" sz="2200" dirty="0"/>
          </a:p>
        </p:txBody>
      </p:sp>
      <p:sp>
        <p:nvSpPr>
          <p:cNvPr id="25" name="Text 22"/>
          <p:cNvSpPr txBox="1"/>
          <p:nvPr/>
        </p:nvSpPr>
        <p:spPr>
          <a:xfrm>
            <a:off x="2944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(m.)</a:t>
            </a:r>
            <a:endParaRPr lang="en-US" sz="1100" dirty="0"/>
          </a:p>
        </p:txBody>
      </p:sp>
      <p:sp>
        <p:nvSpPr>
          <p:cNvPr id="26" name="Text 23"/>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a:t>
            </a:r>
            <a:endParaRPr lang="ar-SA" sz="24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هُنَّ</a:t>
            </a:r>
            <a:endParaRPr lang="ar-SA" sz="2200" dirty="0"/>
          </a:p>
        </p:txBody>
      </p:sp>
      <p:sp>
        <p:nvSpPr>
          <p:cNvPr id="31" name="Text 28"/>
          <p:cNvSpPr txBox="1"/>
          <p:nvPr/>
        </p:nvSpPr>
        <p:spPr>
          <a:xfrm>
            <a:off x="7406640" y="300471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هَؤُلَاءِ</a:t>
            </a:r>
            <a:endParaRPr lang="ar-SA" sz="2200" dirty="0"/>
          </a:p>
        </p:txBody>
      </p:sp>
      <p:sp>
        <p:nvSpPr>
          <p:cNvPr id="32" name="Text 29"/>
          <p:cNvSpPr txBox="1"/>
          <p:nvPr/>
        </p:nvSpPr>
        <p:spPr>
          <a:xfrm>
            <a:off x="5120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مُجْتَهِدَاتٌ</a:t>
            </a:r>
            <a:endParaRPr lang="ar-SA" sz="2200" dirty="0"/>
          </a:p>
        </p:txBody>
      </p:sp>
      <p:sp>
        <p:nvSpPr>
          <p:cNvPr id="33" name="Text 30"/>
          <p:cNvSpPr txBox="1"/>
          <p:nvPr/>
        </p:nvSpPr>
        <p:spPr>
          <a:xfrm>
            <a:off x="2944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(f.)</a:t>
            </a:r>
            <a:endParaRPr lang="en-US" sz="1100" dirty="0"/>
          </a:p>
        </p:txBody>
      </p:sp>
      <p:sp>
        <p:nvSpPr>
          <p:cNvPr id="34" name="Text 31"/>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a:t>
            </a:r>
            <a:endParaRPr lang="ar-SA" sz="24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39" name="Text 36"/>
          <p:cNvSpPr txBox="1"/>
          <p:nvPr/>
        </p:nvSpPr>
        <p:spPr>
          <a:xfrm>
            <a:off x="7406640" y="3741725"/>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a:t>
            </a:r>
            <a:endParaRPr lang="ar-SA" sz="2200" dirty="0"/>
          </a:p>
        </p:txBody>
      </p:sp>
      <p:sp>
        <p:nvSpPr>
          <p:cNvPr id="40" name="Text 37"/>
          <p:cNvSpPr txBox="1"/>
          <p:nvPr/>
        </p:nvSpPr>
        <p:spPr>
          <a:xfrm>
            <a:off x="5120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مُفِيدَةٌ</a:t>
            </a:r>
            <a:endParaRPr lang="ar-SA" sz="2200" dirty="0"/>
          </a:p>
        </p:txBody>
      </p:sp>
      <p:sp>
        <p:nvSpPr>
          <p:cNvPr id="41" name="Text 38"/>
          <p:cNvSpPr txBox="1"/>
          <p:nvPr/>
        </p:nvSpPr>
        <p:spPr>
          <a:xfrm>
            <a:off x="2944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a:t>
            </a:r>
            <a:endParaRPr lang="en-US" sz="1100" dirty="0"/>
          </a:p>
        </p:txBody>
      </p:sp>
      <p:sp>
        <p:nvSpPr>
          <p:cNvPr id="42" name="Text 39"/>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الْكُتُبُ</a:t>
            </a:r>
            <a:endParaRPr lang="ar-SA" sz="24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47" name="Text 44"/>
          <p:cNvSpPr txBox="1"/>
          <p:nvPr/>
        </p:nvSpPr>
        <p:spPr>
          <a:xfrm>
            <a:off x="7406640" y="4478731"/>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a:t>
            </a:r>
            <a:endParaRPr lang="ar-SA" sz="2200" dirty="0"/>
          </a:p>
        </p:txBody>
      </p:sp>
      <p:sp>
        <p:nvSpPr>
          <p:cNvPr id="48" name="Text 45"/>
          <p:cNvSpPr txBox="1"/>
          <p:nvPr/>
        </p:nvSpPr>
        <p:spPr>
          <a:xfrm>
            <a:off x="5120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سَرِيعَةٌ</a:t>
            </a:r>
            <a:endParaRPr lang="ar-SA" sz="2200" dirty="0"/>
          </a:p>
        </p:txBody>
      </p:sp>
      <p:sp>
        <p:nvSpPr>
          <p:cNvPr id="49" name="Text 46"/>
          <p:cNvSpPr txBox="1"/>
          <p:nvPr/>
        </p:nvSpPr>
        <p:spPr>
          <a:xfrm>
            <a:off x="2944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a:t>
            </a:r>
            <a:endParaRPr lang="en-US" sz="1100" dirty="0"/>
          </a:p>
        </p:txBody>
      </p:sp>
      <p:sp>
        <p:nvSpPr>
          <p:cNvPr id="50" name="Text 47"/>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السَّيَّارَاتُ</a:t>
            </a:r>
            <a:endParaRPr lang="ar-SA" sz="24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55" name="Text 52"/>
          <p:cNvSpPr txBox="1"/>
          <p:nvPr/>
        </p:nvSpPr>
        <p:spPr>
          <a:xfrm>
            <a:off x="7406640" y="5215738"/>
            <a:ext cx="20116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a:t>
            </a:r>
            <a:endParaRPr lang="ar-SA" sz="2200" dirty="0"/>
          </a:p>
        </p:txBody>
      </p:sp>
      <p:sp>
        <p:nvSpPr>
          <p:cNvPr id="56" name="Text 53"/>
          <p:cNvSpPr txBox="1"/>
          <p:nvPr/>
        </p:nvSpPr>
        <p:spPr>
          <a:xfrm>
            <a:off x="5120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كَبِيرَةٌ</a:t>
            </a:r>
            <a:endParaRPr lang="ar-SA" sz="2200" dirty="0"/>
          </a:p>
        </p:txBody>
      </p:sp>
      <p:sp>
        <p:nvSpPr>
          <p:cNvPr id="57" name="Text 54"/>
          <p:cNvSpPr txBox="1"/>
          <p:nvPr/>
        </p:nvSpPr>
        <p:spPr>
          <a:xfrm>
            <a:off x="2944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a:t>
            </a:r>
            <a:endParaRPr lang="en-US" sz="1100" dirty="0"/>
          </a:p>
        </p:txBody>
      </p:sp>
      <p:sp>
        <p:nvSpPr>
          <p:cNvPr id="58" name="Text 55"/>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الْمَدَارِسُ</a:t>
            </a:r>
            <a:endParaRPr lang="ar-SA" sz="24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decide from the plural SHAPE. Schools (broken) and cars (sound -āt) both take feminine singular because both are things.</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THE VERB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with non-human plurals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verb like “she arrived”</a:t>
            </a:r>
            <a:endParaRPr lang="en-US" sz="1100" dirty="0"/>
          </a:p>
        </p:txBody>
      </p:sp>
      <p:sp>
        <p:nvSpPr>
          <p:cNvPr id="21" name="Text 18"/>
          <p:cNvSpPr txBox="1"/>
          <p:nvPr/>
        </p:nvSpPr>
        <p:spPr>
          <a:xfrm>
            <a:off x="4023360" y="2267712"/>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وَصَلَتِ الْحَافِلَاتُ.</a:t>
            </a:r>
            <a:endParaRPr lang="ar-SA" sz="2400" dirty="0"/>
          </a:p>
        </p:txBody>
      </p:sp>
      <p:sp>
        <p:nvSpPr>
          <p:cNvPr id="22" name="Text 19"/>
          <p:cNvSpPr txBox="1"/>
          <p:nvPr/>
        </p:nvSpPr>
        <p:spPr>
          <a:xfrm>
            <a:off x="566928" y="2267712"/>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buses arrived.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example</a:t>
            </a:r>
            <a:endParaRPr lang="en-US" sz="1100" dirty="0"/>
          </a:p>
        </p:txBody>
      </p:sp>
      <p:sp>
        <p:nvSpPr>
          <p:cNvPr id="27" name="Text 24"/>
          <p:cNvSpPr txBox="1"/>
          <p:nvPr/>
        </p:nvSpPr>
        <p:spPr>
          <a:xfrm>
            <a:off x="4023360" y="3054096"/>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فُتِحَتِ الْمَدَارِسُ.</a:t>
            </a:r>
            <a:endParaRPr lang="ar-SA" sz="2400" dirty="0"/>
          </a:p>
        </p:txBody>
      </p:sp>
      <p:sp>
        <p:nvSpPr>
          <p:cNvPr id="28" name="Text 25"/>
          <p:cNvSpPr txBox="1"/>
          <p:nvPr/>
        </p:nvSpPr>
        <p:spPr>
          <a:xfrm>
            <a:off x="566928" y="3054096"/>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schools were opened.</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the “she” form</a:t>
            </a:r>
            <a:endParaRPr lang="en-US" sz="1100" dirty="0"/>
          </a:p>
        </p:txBody>
      </p:sp>
      <p:sp>
        <p:nvSpPr>
          <p:cNvPr id="33" name="Text 30"/>
          <p:cNvSpPr txBox="1"/>
          <p:nvPr/>
        </p:nvSpPr>
        <p:spPr>
          <a:xfrm>
            <a:off x="4023360" y="3840480"/>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تَهْبِطُ الطَّائِرَاتُ هُنَا.</a:t>
            </a:r>
            <a:endParaRPr lang="ar-SA" sz="2400" dirty="0"/>
          </a:p>
        </p:txBody>
      </p:sp>
      <p:sp>
        <p:nvSpPr>
          <p:cNvPr id="34" name="Text 31"/>
          <p:cNvSpPr txBox="1"/>
          <p:nvPr/>
        </p:nvSpPr>
        <p:spPr>
          <a:xfrm>
            <a:off x="566928" y="3840480"/>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planes land here.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verb before subject stays singular (GM-VS)</a:t>
            </a:r>
            <a:endParaRPr lang="en-US" sz="1100" dirty="0"/>
          </a:p>
        </p:txBody>
      </p:sp>
      <p:sp>
        <p:nvSpPr>
          <p:cNvPr id="37" name="Text 34"/>
          <p:cNvSpPr txBox="1"/>
          <p:nvPr/>
        </p:nvSpPr>
        <p:spPr>
          <a:xfrm>
            <a:off x="4023360" y="4626864"/>
            <a:ext cx="40233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وَصَلَ الطُّلَّابُ.</a:t>
            </a:r>
            <a:endParaRPr lang="ar-SA" sz="2400" dirty="0"/>
          </a:p>
        </p:txBody>
      </p:sp>
      <p:sp>
        <p:nvSpPr>
          <p:cNvPr id="38" name="Text 35"/>
          <p:cNvSpPr txBox="1"/>
          <p:nvPr/>
        </p:nvSpPr>
        <p:spPr>
          <a:xfrm>
            <a:off x="566928" y="4626864"/>
            <a:ext cx="32918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arrived.</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things, the verb is ALWAYS the feminine singular form — before or after the noun.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الْحَقَائِبُ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ثَقِيلَاتٌ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ثَقِيلُونَ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ثَقِيلَةٌ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الْكُتُبُ</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الْكُتُبُ</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الْكُتُبُ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الجِبَالُ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هُمْ</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with </a:t>
            </a:r>
            <a:pPr algn="l" indent="0" marL="0">
              <a:buNone/>
            </a:pPr>
            <a:r>
              <a:rPr lang="ar-SA" altLang="en-US" sz="1650" b="1" dirty="0">
                <a:solidFill>
                  <a:srgbClr val="1B3B6F"/>
                </a:solidFill>
                <a:latin typeface="Amiri" pitchFamily="2" charset="-78"/>
                <a:ea typeface="Amiri" pitchFamily="2" charset="-78"/>
                <a:cs typeface="Amiri" pitchFamily="2" charset="-78"/>
              </a:rPr>
              <a:t>الطَّائِرَاتُ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وَصَلُوا</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الْحَقَائِبُ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ثَقِيلَاتٌ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ثَقِيلُونَ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ثَقِيلَةٌ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books”.</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الْكُتُبُ</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الْكُتُبُ</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الْكُتُبُ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demonstrative.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for </a:t>
            </a:r>
            <a:pPr algn="l" indent="0" marL="0">
              <a:buNone/>
            </a:pPr>
            <a:r>
              <a:rPr lang="ar-SA" altLang="en-US" sz="1650" b="1" dirty="0">
                <a:solidFill>
                  <a:srgbClr val="1B3B6F"/>
                </a:solidFill>
                <a:latin typeface="Amiri" pitchFamily="2" charset="-78"/>
                <a:ea typeface="Amiri" pitchFamily="2" charset="-78"/>
                <a:cs typeface="Amiri" pitchFamily="2" charset="-78"/>
              </a:rPr>
              <a:t>الجِبَالُ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هُمْ</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reference.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with </a:t>
            </a:r>
            <a:pPr algn="l" indent="0" marL="0">
              <a:buNone/>
            </a:pPr>
            <a:r>
              <a:rPr lang="ar-SA" altLang="en-US" sz="1650" b="1" dirty="0">
                <a:solidFill>
                  <a:srgbClr val="1B3B6F"/>
                </a:solidFill>
                <a:latin typeface="Amiri" pitchFamily="2" charset="-78"/>
                <a:ea typeface="Amiri" pitchFamily="2" charset="-78"/>
                <a:cs typeface="Amiri" pitchFamily="2" charset="-78"/>
              </a:rPr>
              <a:t>الطَّائِرَاتُ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وَصَلُوا</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verb agreement.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build the agreement package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الْحَدَائِقُ</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Plural. A person? No.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الْحَدَائِقُ جَمِيلَةٌ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singular.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هَذِهِ الْحَدَائِقُ</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Like “this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فُتِحَتِ الْحَدَائِقُ</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like “she”.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NON-HUMAN PLURAL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SINGULAR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D6336C"/>
                </a:solidFill>
                <a:latin typeface="Amiri" pitchFamily="2" charset="-78"/>
                <a:ea typeface="Amiri" pitchFamily="2" charset="-78"/>
                <a:cs typeface="Amiri" pitchFamily="2" charset="-78"/>
              </a:rPr>
              <a:t>هَذِهِ</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الْحَدَائِقُ</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جَمِيلَةٌ</a:t>
            </a:r>
            <a:pPr rtl="1" algn="r" indent="0" marL="0">
              <a:buNone/>
            </a:pPr>
            <a:r>
              <a:rPr lang="ar-SA" altLang="en-US" sz="2600" b="1" dirty="0">
                <a:solidFill>
                  <a:srgbClr val="1B3B6F"/>
                </a:solidFill>
                <a:latin typeface="Amiri" pitchFamily="2" charset="-78"/>
                <a:ea typeface="Amiri" pitchFamily="2" charset="-78"/>
                <a:cs typeface="Amiri" pitchFamily="2" charset="-78"/>
              </a:rPr>
              <a:t>، وَ</a:t>
            </a:r>
            <a:pPr rtl="1" algn="r" indent="0" marL="0">
              <a:buNone/>
            </a:pPr>
            <a:r>
              <a:rPr lang="ar-SA" altLang="en-US" sz="2600" b="1" dirty="0">
                <a:solidFill>
                  <a:srgbClr val="D6336C"/>
                </a:solidFill>
                <a:latin typeface="Amiri" pitchFamily="2" charset="-78"/>
                <a:ea typeface="Amiri" pitchFamily="2" charset="-78"/>
                <a:cs typeface="Amiri" pitchFamily="2" charset="-78"/>
              </a:rPr>
              <a:t>هِيَ</a:t>
            </a:r>
            <a:pPr rtl="1" algn="r" indent="0" marL="0">
              <a:buNone/>
            </a:pPr>
            <a:r>
              <a:rPr lang="ar-SA" altLang="en-US" sz="2600" b="1" dirty="0">
                <a:solidFill>
                  <a:srgbClr val="1B3B6F"/>
                </a:solidFill>
                <a:latin typeface="Amiri" pitchFamily="2" charset="-78"/>
                <a:ea typeface="Amiri" pitchFamily="2" charset="-78"/>
                <a:cs typeface="Amiri" pitchFamily="2" charset="-78"/>
              </a:rPr>
              <a:t> قَرِيبَةٌ مِنْ بَيْتِي. </a:t>
            </a:r>
            <a:pPr rtl="1" algn="r" indent="0" marL="0">
              <a:buNone/>
            </a:pPr>
            <a:r>
              <a:rPr lang="ar-SA" altLang="en-US" sz="2600" b="1" dirty="0">
                <a:solidFill>
                  <a:srgbClr val="D6336C"/>
                </a:solidFill>
                <a:latin typeface="Amiri" pitchFamily="2" charset="-78"/>
                <a:ea typeface="Amiri" pitchFamily="2" charset="-78"/>
                <a:cs typeface="Amiri" pitchFamily="2" charset="-78"/>
              </a:rPr>
              <a:t>فُتِحَتِ</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الْحَدَائِقُ</a:t>
            </a:r>
            <a:pPr rtl="1" algn="r" indent="0" marL="0">
              <a:buNone/>
            </a:pPr>
            <a:r>
              <a:rPr lang="ar-SA" altLang="en-US" sz="2600" b="1" dirty="0">
                <a:solidFill>
                  <a:srgbClr val="1B3B6F"/>
                </a:solidFill>
                <a:latin typeface="Amiri" pitchFamily="2" charset="-78"/>
                <a:ea typeface="Amiri" pitchFamily="2" charset="-78"/>
                <a:cs typeface="Amiri" pitchFamily="2" charset="-78"/>
              </a:rPr>
              <a:t> صَبَاحًا.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These gardens are beautiful, and they are near my house. The gardens were opened in the morning.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السَّيَّارَاتُ فِي الشَّارِعِ سَرِيعَةٌ.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cars in the street are fast.</a:t>
            </a:r>
            <a:endParaRPr lang="en-US" sz="1250" dirty="0"/>
          </a:p>
          <a:p>
            <a:pPr indent="0" marL="0">
              <a:buNone/>
            </a:pPr>
            <a:r>
              <a:rPr lang="en-US" sz="1050" i="1" dirty="0">
                <a:solidFill>
                  <a:srgbClr val="8A6D1E"/>
                </a:solidFill>
                <a:latin typeface="Calibri" pitchFamily="34" charset="0"/>
                <a:cs typeface="Amiri" pitchFamily="2" charset="-78"/>
              </a:rPr>
              <a:t>Sound -āt plural, still singular agreement.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الْكُتُبُ مُفِيدَةٌ جِدًّا.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These books are very useful.</a:t>
            </a:r>
            <a:endParaRPr lang="en-US" sz="1250" dirty="0"/>
          </a:p>
          <a:p>
            <a:pPr indent="0" marL="0">
              <a:buNone/>
            </a:pPr>
            <a:r>
              <a:rPr lang="en-US" sz="1050" i="1" dirty="0">
                <a:solidFill>
                  <a:srgbClr val="8A6D1E"/>
                </a:solidFill>
                <a:latin typeface="Calibri" pitchFamily="34" charset="0"/>
                <a:cs typeface="Amiri" pitchFamily="2" charset="-78"/>
              </a:rPr>
              <a:t>Demonstrative + adjective.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وَصَلَتِ الْحَافِلَاتُ مُتَأَخِّرَةً.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buses arrived late.</a:t>
            </a:r>
            <a:endParaRPr lang="en-US" sz="1250" dirty="0"/>
          </a:p>
          <a:p>
            <a:pPr indent="0" marL="0">
              <a:buNone/>
            </a:pPr>
            <a:r>
              <a:rPr lang="en-US" sz="1050" i="1" dirty="0">
                <a:solidFill>
                  <a:srgbClr val="8A6D1E"/>
                </a:solidFill>
                <a:latin typeface="Calibri" pitchFamily="34" charset="0"/>
                <a:cs typeface="Amiri" pitchFamily="2" charset="-78"/>
              </a:rPr>
              <a:t>Verb with -at.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قِطَطٌ، وَهِيَ صَغِيرَةٌ.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cats, and they are small.</a:t>
            </a:r>
            <a:endParaRPr lang="en-US" sz="1250" dirty="0"/>
          </a:p>
          <a:p>
            <a:pPr indent="0" marL="0">
              <a:buNone/>
            </a:pPr>
            <a:r>
              <a:rPr lang="en-US" sz="1050" i="1" dirty="0">
                <a:solidFill>
                  <a:srgbClr val="8A6D1E"/>
                </a:solidFill>
                <a:latin typeface="Calibri" pitchFamily="34" charset="0"/>
                <a:cs typeface="Amiri" pitchFamily="2" charset="-78"/>
              </a:rPr>
              <a:t>Animals are non-human too.</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PERSON OR NOT?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الْمُعَلِّمُونَ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الْأَقْلَامُ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الرِّجَالُ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الْأَطْفَالُ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الْقِطَطُ</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Plural agreement (people)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singular (things / animals)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Plural agreement (people)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الْمُعَلِّمُونَ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الطَّالِبَاتُ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الرِّجَالُ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الْأَطْفَالُ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singular (things / animals)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الْأَقْلَامُ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السَّيَّارَاتُ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الْقِطَطُ</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COMPLETE THE PACKAGE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Fill in the agreement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أَكْمِلِ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a:t>
            </a:r>
            <a:endParaRPr lang="en-US" sz="1100" dirty="0"/>
          </a:p>
        </p:txBody>
      </p:sp>
      <p:sp>
        <p:nvSpPr>
          <p:cNvPr id="17" name="Text 14"/>
          <p:cNvSpPr txBox="1"/>
          <p:nvPr/>
        </p:nvSpPr>
        <p:spPr>
          <a:xfrm>
            <a:off x="5833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are big</a:t>
            </a:r>
            <a:endParaRPr lang="en-US" sz="1100" dirty="0"/>
          </a:p>
        </p:txBody>
      </p:sp>
      <p:sp>
        <p:nvSpPr>
          <p:cNvPr id="18" name="Text 15"/>
          <p:cNvSpPr txBox="1"/>
          <p:nvPr/>
        </p:nvSpPr>
        <p:spPr>
          <a:xfrm>
            <a:off x="30906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These …</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22" name="Text 19"/>
          <p:cNvSpPr txBox="1"/>
          <p:nvPr/>
        </p:nvSpPr>
        <p:spPr>
          <a:xfrm>
            <a:off x="585216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كَبِيرَةٌ</a:t>
            </a:r>
            <a:endParaRPr lang="ar-SA" sz="2200" dirty="0"/>
          </a:p>
        </p:txBody>
      </p:sp>
      <p:sp>
        <p:nvSpPr>
          <p:cNvPr id="23" name="Text 20"/>
          <p:cNvSpPr txBox="1"/>
          <p:nvPr/>
        </p:nvSpPr>
        <p:spPr>
          <a:xfrm>
            <a:off x="310896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الْبُيُوتُ</a:t>
            </a:r>
            <a:endParaRPr lang="ar-SA" sz="22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الْبُيُوتُ</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a:t>
            </a:r>
            <a:endParaRPr lang="ar-SA" sz="2200" dirty="0"/>
          </a:p>
        </p:txBody>
      </p:sp>
      <p:sp>
        <p:nvSpPr>
          <p:cNvPr id="29" name="Text 26"/>
          <p:cNvSpPr txBox="1"/>
          <p:nvPr/>
        </p:nvSpPr>
        <p:spPr>
          <a:xfrm>
            <a:off x="585216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كِبَارٌ</a:t>
            </a:r>
            <a:endParaRPr lang="ar-SA" sz="2200" dirty="0"/>
          </a:p>
        </p:txBody>
      </p:sp>
      <p:sp>
        <p:nvSpPr>
          <p:cNvPr id="30" name="Text 27"/>
          <p:cNvSpPr txBox="1"/>
          <p:nvPr/>
        </p:nvSpPr>
        <p:spPr>
          <a:xfrm>
            <a:off x="310896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هَؤُلَاءِ الْمُهَنْدِسُونَ</a:t>
            </a:r>
            <a:endParaRPr lang="ar-SA" sz="22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الْمُهَنْدِسُونَ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36" name="Text 33"/>
          <p:cNvSpPr txBox="1"/>
          <p:nvPr/>
        </p:nvSpPr>
        <p:spPr>
          <a:xfrm>
            <a:off x="585216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كَبِيرَةٌ</a:t>
            </a:r>
            <a:endParaRPr lang="ar-SA" sz="2200" dirty="0"/>
          </a:p>
        </p:txBody>
      </p:sp>
      <p:sp>
        <p:nvSpPr>
          <p:cNvPr id="37" name="Text 34"/>
          <p:cNvSpPr txBox="1"/>
          <p:nvPr/>
        </p:nvSpPr>
        <p:spPr>
          <a:xfrm>
            <a:off x="310896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الْمَسَاجِدُ</a:t>
            </a:r>
            <a:endParaRPr lang="ar-SA" sz="22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الْمَسَاجِدُ</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هُنَّ</a:t>
            </a:r>
            <a:endParaRPr lang="ar-SA" sz="2200" dirty="0"/>
          </a:p>
        </p:txBody>
      </p:sp>
      <p:sp>
        <p:nvSpPr>
          <p:cNvPr id="43" name="Text 40"/>
          <p:cNvSpPr txBox="1"/>
          <p:nvPr/>
        </p:nvSpPr>
        <p:spPr>
          <a:xfrm>
            <a:off x="585216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كَبِيرَاتٌ</a:t>
            </a:r>
            <a:endParaRPr lang="ar-SA" sz="2200" dirty="0"/>
          </a:p>
        </p:txBody>
      </p:sp>
      <p:sp>
        <p:nvSpPr>
          <p:cNvPr id="44" name="Text 41"/>
          <p:cNvSpPr txBox="1"/>
          <p:nvPr/>
        </p:nvSpPr>
        <p:spPr>
          <a:xfrm>
            <a:off x="310896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هَؤُلَاءِ الْمُعَلِّمَاتُ</a:t>
            </a:r>
            <a:endParaRPr lang="ar-SA" sz="22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الْمُعَلِّمَاتُ</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a:t>
            </a:r>
            <a:endParaRPr lang="ar-SA" sz="2200" dirty="0"/>
          </a:p>
        </p:txBody>
      </p:sp>
      <p:sp>
        <p:nvSpPr>
          <p:cNvPr id="48" name="Text 45"/>
          <p:cNvSpPr txBox="1"/>
          <p:nvPr/>
        </p:nvSpPr>
        <p:spPr>
          <a:xfrm>
            <a:off x="585216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كَبِيرَةٌ</a:t>
            </a:r>
            <a:endParaRPr lang="ar-SA" sz="2200" dirty="0"/>
          </a:p>
        </p:txBody>
      </p:sp>
      <p:sp>
        <p:nvSpPr>
          <p:cNvPr id="49" name="Text 46"/>
          <p:cNvSpPr txBox="1"/>
          <p:nvPr/>
        </p:nvSpPr>
        <p:spPr>
          <a:xfrm>
            <a:off x="310896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الطَّائِرَاتُ</a:t>
            </a:r>
            <a:endParaRPr lang="ar-SA" sz="22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الطَّائِرَاتُ</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Reveal one row at a time. People → these (people), plural adjective, they (m./f.). Things → this (f.), feminine singular, she.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السَّيَّارَاتُ سَرِيعَاتٌ.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Are cars people?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هَؤُلَاءِ الْكُتُبُ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“these” for things?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وَصَلُوا الْحَافِلَاتُ.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verb form for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السَّيَّارَاتُ سَرِيعَاتٌ.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السَّيَّارَاتُ سَرِيعَةٌ.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Cars are things → feminine singular.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هَؤُلَاءِ الْكُتُبُ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الْكُتُبُ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take the feminine singular demonstrative.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وَصَلُوا الْحَافِلَاتُ.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وَصَلَتِ الْحَافِلَاتُ.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with things → feminine singular.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plural adjective?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الْأَقْلَامُ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الْغُرَفُ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الْمَدَارِسُ ...</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كَبِيرُونَ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Rule applies to </a:t>
            </a:r>
            <a:pPr algn="l" indent="0" marL="0">
              <a:buNone/>
            </a:pPr>
            <a:r>
              <a:rPr lang="ar-SA" altLang="en-US" sz="1650" b="1" dirty="0">
                <a:solidFill>
                  <a:srgbClr val="1B3B6F"/>
                </a:solidFill>
                <a:latin typeface="Amiri" pitchFamily="2" charset="-78"/>
                <a:ea typeface="Amiri" pitchFamily="2" charset="-78"/>
                <a:cs typeface="Amiri" pitchFamily="2" charset="-78"/>
              </a:rPr>
              <a:t>السَّيَّارَاتُ</a:t>
            </a:r>
            <a:pPr algn="l" indent="0" marL="0">
              <a:buNone/>
            </a:pPr>
            <a:r>
              <a:rPr lang="en-US" sz="1250" b="1" dirty="0">
                <a:solidFill>
                  <a:srgbClr val="1B3B6F"/>
                </a:solidFill>
                <a:latin typeface="Calibri" pitchFamily="34" charset="0"/>
                <a:cs typeface="Amiri" pitchFamily="2" charset="-78"/>
              </a:rPr>
              <a:t> because they are: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sound plural</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non-human</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 nouns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mental model.</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Plural everywhere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Singular noun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Plural noun + feminine singular agreement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plural adjective?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الْأَقْلَامُ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الْغُرَفُ</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الْمُعَلِّمُونَ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الْمَدَارِسُ ...</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كَبِيرَةٌ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كَبِيرُونَ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Rule applies to </a:t>
            </a:r>
            <a:pPr algn="l" indent="0" marL="0">
              <a:buNone/>
            </a:pPr>
            <a:r>
              <a:rPr lang="ar-SA" altLang="en-US" sz="1650" b="1" dirty="0">
                <a:solidFill>
                  <a:srgbClr val="1B3B6F"/>
                </a:solidFill>
                <a:latin typeface="Amiri" pitchFamily="2" charset="-78"/>
                <a:ea typeface="Amiri" pitchFamily="2" charset="-78"/>
                <a:cs typeface="Amiri" pitchFamily="2" charset="-78"/>
              </a:rPr>
              <a:t>السَّيَّارَاتُ</a:t>
            </a:r>
            <a:pPr algn="l" indent="0" marL="0">
              <a:buNone/>
            </a:pPr>
            <a:r>
              <a:rPr lang="en-US" sz="1250" b="1" dirty="0">
                <a:solidFill>
                  <a:srgbClr val="1B3B6F"/>
                </a:solidFill>
                <a:latin typeface="Calibri" pitchFamily="34" charset="0"/>
                <a:cs typeface="Amiri" pitchFamily="2" charset="-78"/>
              </a:rPr>
              <a:t> because they are: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sound plural</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non-human</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feminine nouns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Meaning controls agreement.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mental model.</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Plural everywhere</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Singular noun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Plural noun + feminine singular agreement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Two-layer rule.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طَالِبَانِ جَدِيدَانِ وَمُعَلِّمَاتٌ خَبِيرَاتٌ. الْفُصُولُ وَاسِعَةٌ، وَمَكْتَبُ مُدِيرِ الْمَدْرَسَةِ قَرِيبٌ مِنَ الْمَدْخَلِ. فِي السَّاحَةِ أَشْجَارٌ عَالِيَةٌ، وَهِيَ جَمِيلَةٌ فِي الرَّبِيعِ. تَصِلُ الْحَافِلَاتُ فِي السَّاعَةِ الثَّامِنَةِ، وَيَنْزِلُ الطُّلَّابُ مِنْهَا.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الْفُصُولُ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classrooms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spacious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السَّاحَةِ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أَشْجَارٌ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trees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عَالِيَةٌ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tall</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arrive(s)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يَنْزِلُ</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get(s) off</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مِنْهَا</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them (the buses)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trees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playground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تَصِلُ</a:t>
            </a:r>
            <a:pPr algn="l" indent="0" marL="0">
              <a:buNone/>
            </a:pPr>
            <a:r>
              <a:rPr lang="en-US" sz="1250" b="1" dirty="0">
                <a:solidFill>
                  <a:srgbClr val="1B3B6F"/>
                </a:solidFill>
                <a:latin typeface="Calibri" pitchFamily="34" charset="0"/>
                <a:cs typeface="Amiri" pitchFamily="2" charset="-78"/>
              </a:rPr>
              <a:t> (the “she”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Buses are feminine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Buses are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خَبِيرَاتٌ</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women teachers.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classrooms.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trees.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الْفُصُولُ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خَبِيرَاتٌ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وَاسِعَةٌ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trees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playground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she.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تَصِلُ</a:t>
            </a:r>
            <a:pPr algn="l" indent="0" marL="0">
              <a:buNone/>
            </a:pPr>
            <a:r>
              <a:rPr lang="en-US" sz="1250" b="1" dirty="0">
                <a:solidFill>
                  <a:srgbClr val="1B3B6F"/>
                </a:solidFill>
                <a:latin typeface="Calibri" pitchFamily="34" charset="0"/>
                <a:cs typeface="Amiri" pitchFamily="2" charset="-78"/>
              </a:rPr>
              <a:t> (the “she”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Buses are feminine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Buses are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 with things →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خَبِيرَاتٌ</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women teachers.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classrooms.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trees.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agrees with </a:t>
            </a:r>
            <a:pPr algn="l" indent="0" marL="0">
              <a:buNone/>
            </a:pPr>
            <a:r>
              <a:rPr lang="ar-SA" altLang="en-US" sz="1650" b="1" dirty="0">
                <a:solidFill>
                  <a:srgbClr val="1B3B6F"/>
                </a:solidFill>
                <a:latin typeface="Amiri" pitchFamily="2" charset="-78"/>
                <a:ea typeface="Amiri" pitchFamily="2" charset="-78"/>
                <a:cs typeface="Amiri" pitchFamily="2" charset="-78"/>
              </a:rPr>
              <a:t>الْفُصُولُ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خَبِيرَاتٌ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وَاسِعَةٌ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singular after a non-human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describe your street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الْبُيُوتُ فِي شَارِعِكَ؟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السَّيَّارَاتِ وَالْأَشْجَارَ فِي حَيِّكَ.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الطُّلَّابُ فِي مَدْرَسَتِكَ وَالْفُصُولُ.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الْبُيُوتُ فِي شَارِعِي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هَذِهِ السَّيَّارَاتُ ___ ، وَهِيَ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الطُّلَّابُ ___ ، لَكِنَّ الْفُصُولَ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الْبُيُوتُ فِي شَارِعِكَ؟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houses like in your street?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الْبُيُوتُ قَدِيمَةٌ، لَكِنَّهَا جَمِيلَةٌ. وَالْجِيرَانُ لُطَفَاءُ.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The houses are old, but they are beautiful. And the neighbours are kind.</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a non-human plural + feminine singular adjective.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Ask “is it a person?” each time.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these (f.), she and a verb with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agreement-package table.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contrasting people and things in the same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At least two people plurals and four thing plurals.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الْبُيُوتُ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These houses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أَقْلَامٌ، وَهِيَ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pens, and they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الْحَافِلَاتُ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buses arrived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الطُّلَّابُ ______ ، لَكِنَّ الْغُرَفَ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students are …, but the rooms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السَّيَّارَاتُ فِي شَارِعِي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cars in my street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الْفُصُولُ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classrooms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الْحَدَائِقُ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gardens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جَدِيدَةٌ  ·  قَدِيمَةٌ  ·  كَبِيرَةٌ  ·  صَغِيرَةٌ  ·  جَمِيلَةٌ  ·  سَرِيعَةٌ  ·  مُفِيدَةٌ  ·  وَاسِعَةٌ  ·  نَظِيفَةٌ  ·  هَذِهِ  ·  هِيَ  ·  مُجْتَهِدُونَ  ·  لُطَفَاءُ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non-human plurals with feminine singular adjectives.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“these (f.)” + non-human plural.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“she” referring to a non-human plural.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singular verb with a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human plurals with plural agreement for contrast.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الْبُيُوتُ قَدِيمَةٌ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houses are old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وَهِيَ جَمِيلَةٌ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they are beautiful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وَصَلَتِ الْحَافِلَاتُ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buses arrived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الْفُصُولُ وَاسِعَةٌ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classrooms are spacious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الطُّلَّابُ مُجْتَهِدُونَ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students are hard-working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الْجِيرَانُ لُطَفَاءُ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neighbours are kind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حَيٍّ هَادِئٍ. الْبُيُوتُ فِي شَارِعِنَا قَدِيمَةٌ، لَكِنَّهَا جَمِيلَةٌ. أَمَامَ بَيْتِي أَشْجَارٌ عَالِيَةٌ، وَهِيَ خَضْرَاءُ فِي الصَّيْفِ. تَمُرُّ الْحَافِلَاتُ كُلَّ صَبَاحٍ، وَهِيَ مُزْدَحِمَةٌ. الْجِيرَانُ لُطَفَاءُ، وَهُمْ يُسَاعِدُونَنَا دَائِمًا.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quiet neighbourhood. The houses in our street are old, but they are beautiful. In front of my house there are tall trees, and they are green in summer. The buses pass every morning, and they are crowded. The neighbours are kind, and they always help us.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 sing.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هِيَ for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people: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thing-plural has a feminine singular adjective.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“is it a person?” before choosing agreement.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“these (f.)” and “she” for things.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with things use the “she” form.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People in my text keep plural agreement.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الْغُرَفُ</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السَّيَّارَاتُ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الْمُهَنْدِسُونَ مَشْغُولُونَ.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الْمُهَنْدِسُونَ مَشْغُولَةٌ.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الْمُهَنْدِسُونَ مَشْغُولٌ.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الْغُرَفُ</a:t>
            </a:r>
            <a:pPr algn="l" indent="0" marL="0">
              <a:buNone/>
            </a:pPr>
            <a:r>
              <a:rPr lang="en-US" sz="1250" b="1" dirty="0">
                <a:solidFill>
                  <a:srgbClr val="1B3B6F"/>
                </a:solidFill>
                <a:latin typeface="Calibri" pitchFamily="34" charset="0"/>
                <a:cs typeface="Amiri" pitchFamily="2" charset="-78"/>
              </a:rPr>
              <a:t> ______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نَظِيفَةٌ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نَظِيفُونَ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نَظِيفَاتٌ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Rooms are things.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هَؤُلَاءِ السَّيَّارَاتُ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السَّيَّارَاتُ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السَّيَّارَاتُ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 demonstrative.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الْمُهَنْدِسُونَ مَشْغُولُونَ.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الْمُهَنْدِسُونَ مَشْغُولَةٌ.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الْمُهَنْدِسُونَ مَشْغُولٌ.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GM-N-06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GM-N-07: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GM-N-07 · The Iḍāfa Possessive Structure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الْإِضَافَةُ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iḍāfa (possessive structure)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مُضَافٌ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noun (the thing owned)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مُضَافٌ إِلَيْهِ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second noun (the owner)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بَابُ الْبَيْتِ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door of the house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كِتَابُ الطَّالِبِ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student’s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“the door of the house”, the first noun has no “al-”. Why do you think it doesn’t need one?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بَابُ الْبَيْتِ · ______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noun + adjective pairs for things in your home.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using these (f.), she and a verb with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contrasting people and things.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GM-N-07 · The Iḍāfa Possessive Structure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تَرْكِيبُ الْإِضَافَةِ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is it a person? No → feminine singular: adjective, these (f.), she, verb with -at · people keep plural agreement · the shape never decides.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GM-N-06 · Non-Human Plural Agreement</dc:title>
  <dc:subject>PptxGenJS Presentation</dc:subject>
  <dc:creator>Al Madina Online School · Arabic Department</dc:creator>
  <cp:lastModifiedBy>Al Madina Online School · Arabic Department</cp:lastModifiedBy>
  <cp:revision>1</cp:revision>
  <dcterms:created xsi:type="dcterms:W3CDTF">2026-10-11T06:42:19Z</dcterms:created>
  <dcterms:modified xsi:type="dcterms:W3CDTF">2026-10-11T06:42:19Z</dcterms:modified>
</cp:coreProperties>
</file>