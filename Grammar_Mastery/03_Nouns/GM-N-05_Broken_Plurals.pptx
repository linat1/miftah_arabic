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GM-N-05 (“Broken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recognise 8–10 high-frequency families (كِتَابٌ كُتُبٌ · قَلَمٌ أَقْلَامٌ · وَلَدٌ أَوْلَادٌ · بَيْتٌ بُيُوتٌ · رَجُلٌ رِجَالٌ · طَالِبٌ طُلَّابٌ · مَدْرَسَةٌ مَدَارِسُ). Develop: agreement — people plural adjective, things feminine singular. Stretch: name the pattern (أَفْعَال · فُعُول · مَفَاعِل …) and notice that مَدَارِسُ / حَقَائِبُ take no tanwīn.
• “Broken” does NOT mean wrong — the singular is “broken open” and rebuilt. Students often think it is an error form; correct this early (website entry check question 6).
• Qur’an bridge: كُتُب (وَكُتُبِهِ وَرُسُلِهِ) · أَنْهَار · رِجَال · قُلُوب — all broken plurals students already recite.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prepared words from GM-N-04.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broken plural changes the inside of the word. There is no single ending — learn singular and plural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“What broken means”. Write كِتَابٌ / كُتُبٌ and colour k-t-b in both: “the root is still there — only the vowels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“Useful pattern clue” table, with a teacher-added column of words that share each pattern. Core: learn the first four rows. Stretch: مَدَارِسُ / حَقَائِبُ are diptotes — single ḍamma,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“Use broken plurals in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Model the vocabulary-family habit: say “qalam — aqlām — al-aqlāmu jadīda”. Then contrast: طُلَّابٌ مُجْتَهِدُونَ (people → plural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the plural column one row at a time. Point to the adjectives: boys → plural (happy, suʿadāʾ); houses, cities, mosques, mountains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plural and decide — broken or sound?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broken plurals.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feminine singular adjective after the non-human plural (الْكُتُبُ ثَقِيلَةٌ).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(GM-N-06 · Non-Human Plural Agreement) will spend class time USING this language, so students prepare it tonight — short, simple, easy to access (school guidance: “Simple, Short, Interesting, Relevant, Easy to access”). The five words prepare GM-N-06 (website Nouns lesson 6: non-human plural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Broken Plurals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جَمْعُ التَّكْسِيرِ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Most everyday Arabic nouns make their plural by reshaping the inside of the word (book → books, pen → pens, man → men), not by adding an ending. Learn each noun as a family: singular, plural and one example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“broken” means; six pattern families;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families, sort human / non-human,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حَقَائِبُ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method?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Memorise only the singular.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t>
            </a:r>
            <a:pPr algn="l" indent="0" marL="0">
              <a:buNone/>
            </a:pPr>
            <a:r>
              <a:rPr lang="ar-SA" altLang="en-US" sz="1650" dirty="0">
                <a:solidFill>
                  <a:srgbClr val="1F2A37"/>
                </a:solidFill>
                <a:latin typeface="Amiri" pitchFamily="2" charset="-78"/>
                <a:cs typeface="Amiri" pitchFamily="2" charset="-78"/>
              </a:rPr>
              <a:t>ات</a:t>
            </a:r>
            <a:pPr algn="l" indent="0" marL="0">
              <a:buNone/>
            </a:pPr>
            <a:r>
              <a:rPr lang="en-US" sz="1250" dirty="0">
                <a:solidFill>
                  <a:srgbClr val="1F2A37"/>
                </a:solidFill>
                <a:latin typeface="Calibri" pitchFamily="34" charset="0"/>
                <a:cs typeface="Amiri" pitchFamily="2" charset="-78"/>
              </a:rPr>
              <a:t> to every noun.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singular + plural + example sentence.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is correct?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رَجُلٌ / رِجَالٌ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رَجُلٌ / رَجُلُونَ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رَجُلٌ / رَجُلَاتٌ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Internal pattern changes.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مَدَارِسُ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حَقَائِبُ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broken pattern.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method?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Memorise only the singular.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 </a:t>
            </a:r>
            <a:pPr algn="l" indent="0" marL="0">
              <a:buNone/>
            </a:pPr>
            <a:r>
              <a:rPr lang="ar-SA" altLang="en-US" sz="1650" dirty="0">
                <a:solidFill>
                  <a:srgbClr val="9AA1AB"/>
                </a:solidFill>
                <a:latin typeface="Amiri" pitchFamily="2" charset="-78"/>
                <a:cs typeface="Amiri" pitchFamily="2" charset="-78"/>
              </a:rPr>
              <a:t>ات</a:t>
            </a:r>
            <a:pPr algn="l" indent="0" marL="0">
              <a:buNone/>
            </a:pPr>
            <a:r>
              <a:rPr lang="en-US" sz="1250" dirty="0">
                <a:solidFill>
                  <a:srgbClr val="9AA1AB"/>
                </a:solidFill>
                <a:latin typeface="Calibri" pitchFamily="34" charset="0"/>
                <a:cs typeface="Amiri" pitchFamily="2" charset="-78"/>
              </a:rPr>
              <a:t> to every noun.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singular + plural + example sentence.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is lexical.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is correct?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رَجُلٌ / رِجَالٌ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رَجُلٌ / رَجُلُونَ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رَجُلٌ / رَجُلَاتٌ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Frequent human broken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broken plural changes the inside of the word. There is no single ending — learn singular and plural together.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قَلَمٌ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أَقْلَامٌ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a broken plural 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six common broken plural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nouns as singular-plural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people a plural adjective and things a feminine singular adjective.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eight singular-plural families by heart.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“broken” means reshaped, not wrong.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students with a plural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books with a feminine singular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pattern of a plural.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some patterns take no tanwīn.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التَّكْسِيرِ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a:t>
            </a:r>
            <a:endParaRPr lang="en-US" sz="1350" dirty="0"/>
          </a:p>
          <a:p>
            <a:pPr indent="0" marL="0">
              <a:buNone/>
            </a:pPr>
            <a:r>
              <a:rPr lang="en-US" sz="1100" i="1" dirty="0">
                <a:solidFill>
                  <a:srgbClr val="5A6472"/>
                </a:solidFill>
                <a:latin typeface="Calibri" pitchFamily="34" charset="0"/>
                <a:cs typeface="Amiri" pitchFamily="2" charset="-78"/>
              </a:rPr>
              <a:t>jam-ʿu at-tak-sī-ri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inside of the word changes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a:t>
            </a:r>
            <a:endParaRPr lang="en-US" sz="1350" dirty="0"/>
          </a:p>
          <a:p>
            <a:pPr indent="0" marL="0">
              <a:buNone/>
            </a:pPr>
            <a:r>
              <a:rPr lang="en-US" sz="1100" i="1" dirty="0">
                <a:solidFill>
                  <a:srgbClr val="5A6472"/>
                </a:solidFill>
                <a:latin typeface="Calibri" pitchFamily="34" charset="0"/>
                <a:cs typeface="Amiri" pitchFamily="2" charset="-78"/>
              </a:rPr>
              <a:t>muf-ra-dun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a:t>
            </a:r>
            <a:endParaRPr lang="en-US" sz="1350" dirty="0"/>
          </a:p>
          <a:p>
            <a:pPr indent="0" marL="0">
              <a:buNone/>
            </a:pPr>
            <a:r>
              <a:rPr lang="en-US" sz="1100" i="1" dirty="0">
                <a:solidFill>
                  <a:srgbClr val="5A6472"/>
                </a:solidFill>
                <a:latin typeface="Calibri" pitchFamily="34" charset="0"/>
                <a:cs typeface="Amiri" pitchFamily="2" charset="-78"/>
              </a:rPr>
              <a:t>jam-ʿun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وَزْنٌ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pattern (shape)</a:t>
            </a:r>
            <a:endParaRPr lang="en-US" sz="1350" dirty="0"/>
          </a:p>
          <a:p>
            <a:pPr indent="0" marL="0">
              <a:buNone/>
            </a:pPr>
            <a:r>
              <a:rPr lang="en-US" sz="1100" i="1" dirty="0">
                <a:solidFill>
                  <a:srgbClr val="5A6472"/>
                </a:solidFill>
                <a:latin typeface="Calibri" pitchFamily="34" charset="0"/>
                <a:cs typeface="Amiri" pitchFamily="2" charset="-78"/>
              </a:rPr>
              <a:t>wazn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أَفْعَالٌ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a:t>
            </a:r>
            <a:endParaRPr lang="en-US" sz="1350" dirty="0"/>
          </a:p>
          <a:p>
            <a:pPr indent="0" marL="0">
              <a:buNone/>
            </a:pPr>
            <a:r>
              <a:rPr lang="en-US" sz="1100" i="1" dirty="0">
                <a:solidFill>
                  <a:srgbClr val="5A6472"/>
                </a:solidFill>
                <a:latin typeface="Calibri" pitchFamily="34" charset="0"/>
                <a:cs typeface="Amiri" pitchFamily="2" charset="-78"/>
              </a:rPr>
              <a:t>ʿā-qi-lun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طُلَّابٌ · رِجَالٌ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a:t>
            </a:r>
            <a:endParaRPr lang="en-US" sz="1350" dirty="0"/>
          </a:p>
          <a:p>
            <a:pPr indent="0" marL="0">
              <a:buNone/>
            </a:pPr>
            <a:r>
              <a:rPr lang="en-US" sz="1100" i="1" dirty="0">
                <a:solidFill>
                  <a:srgbClr val="5A6472"/>
                </a:solidFill>
                <a:latin typeface="Calibri" pitchFamily="34" charset="0"/>
                <a:cs typeface="Amiri" pitchFamily="2" charset="-78"/>
              </a:rPr>
              <a:t>ghay-ru ʿā-qi-lin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حَقَائِبُ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WHAT “BROKEN” MEANS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word is reshaped from the inside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 مَعْنَى «التَّكْسِيرِ»؟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plural is made by changing vowels, adding or removing letters, or reshaping the pattern (website definition).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There is no single fixed ending — compare the sound plurals of GM-N-03 and GM-N-04.</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“Broken” does NOT mean incorrect: the singular is broken open and rebuilt.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three root letters stay in the same order — only the shape around them changes.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the MOST common plural for everyday nouns, for people and for things.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books  ·  root k-t-b</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قَلَمٌ · أَقْلَامٌ</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pen · pens  ·  a hamza is added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وَلَدٌ · أَوْلَادٌ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boys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بَيْتٌ · بُيُوتٌ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house · houses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WARNING</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Patterns help recognition, not prediction in every case. Store each new noun as a family: singular, plural and an example sentence.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SIX PATTERN FAMILIES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broken plural patterns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أَوْزَانٌ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More like it</a:t>
            </a:r>
            <a:endParaRPr lang="en-US" sz="1100" dirty="0"/>
          </a:p>
        </p:txBody>
      </p:sp>
      <p:sp>
        <p:nvSpPr>
          <p:cNvPr id="17" name="Text 14"/>
          <p:cNvSpPr txBox="1"/>
          <p:nvPr/>
        </p:nvSpPr>
        <p:spPr>
          <a:xfrm>
            <a:off x="76626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8" name="Text 15"/>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9" name="Text 16"/>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09760" y="226771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 مُدُنٌ</a:t>
            </a:r>
            <a:endParaRPr lang="ar-SA" sz="1800" dirty="0"/>
          </a:p>
        </p:txBody>
      </p:sp>
      <p:sp>
        <p:nvSpPr>
          <p:cNvPr id="23" name="Text 20"/>
          <p:cNvSpPr txBox="1"/>
          <p:nvPr/>
        </p:nvSpPr>
        <p:spPr>
          <a:xfrm>
            <a:off x="76809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فُعُلٌ</a:t>
            </a:r>
            <a:endParaRPr lang="ar-SA" sz="2200" dirty="0"/>
          </a:p>
        </p:txBody>
      </p:sp>
      <p:sp>
        <p:nvSpPr>
          <p:cNvPr id="24" name="Text 21"/>
          <p:cNvSpPr txBox="1"/>
          <p:nvPr/>
        </p:nvSpPr>
        <p:spPr>
          <a:xfrm>
            <a:off x="53035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5" name="Text 22"/>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a:t>
            </a:r>
            <a:endParaRPr lang="ar-SA" sz="2400" dirty="0"/>
          </a:p>
        </p:txBody>
      </p:sp>
      <p:sp>
        <p:nvSpPr>
          <p:cNvPr id="26" name="Text 23"/>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book(s)</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09760" y="2881884"/>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وَلَدٌ أَوْلَادٌ</a:t>
            </a:r>
            <a:endParaRPr lang="ar-SA" sz="1800" dirty="0"/>
          </a:p>
        </p:txBody>
      </p:sp>
      <p:sp>
        <p:nvSpPr>
          <p:cNvPr id="31" name="Text 28"/>
          <p:cNvSpPr txBox="1"/>
          <p:nvPr/>
        </p:nvSpPr>
        <p:spPr>
          <a:xfrm>
            <a:off x="76809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أَفْعَالٌ</a:t>
            </a:r>
            <a:endParaRPr lang="ar-SA" sz="2200" dirty="0"/>
          </a:p>
        </p:txBody>
      </p:sp>
      <p:sp>
        <p:nvSpPr>
          <p:cNvPr id="32" name="Text 29"/>
          <p:cNvSpPr txBox="1"/>
          <p:nvPr/>
        </p:nvSpPr>
        <p:spPr>
          <a:xfrm>
            <a:off x="53035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أَقْلَامٌ</a:t>
            </a:r>
            <a:endParaRPr lang="ar-SA" sz="2400" dirty="0"/>
          </a:p>
        </p:txBody>
      </p:sp>
      <p:sp>
        <p:nvSpPr>
          <p:cNvPr id="33" name="Text 30"/>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قَلَمٌ</a:t>
            </a:r>
            <a:endParaRPr lang="ar-SA" sz="2400" dirty="0"/>
          </a:p>
        </p:txBody>
      </p:sp>
      <p:sp>
        <p:nvSpPr>
          <p:cNvPr id="34" name="Text 31"/>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09760" y="3496056"/>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جَبَلٌ جِبَالٌ</a:t>
            </a:r>
            <a:endParaRPr lang="ar-SA" sz="1800" dirty="0"/>
          </a:p>
        </p:txBody>
      </p:sp>
      <p:sp>
        <p:nvSpPr>
          <p:cNvPr id="39" name="Text 36"/>
          <p:cNvSpPr txBox="1"/>
          <p:nvPr/>
        </p:nvSpPr>
        <p:spPr>
          <a:xfrm>
            <a:off x="76809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فِعَالٌ</a:t>
            </a:r>
            <a:endParaRPr lang="ar-SA" sz="2200" dirty="0"/>
          </a:p>
        </p:txBody>
      </p:sp>
      <p:sp>
        <p:nvSpPr>
          <p:cNvPr id="40" name="Text 37"/>
          <p:cNvSpPr txBox="1"/>
          <p:nvPr/>
        </p:nvSpPr>
        <p:spPr>
          <a:xfrm>
            <a:off x="53035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رِجَالٌ</a:t>
            </a:r>
            <a:endParaRPr lang="ar-SA" sz="2400" dirty="0"/>
          </a:p>
        </p:txBody>
      </p:sp>
      <p:sp>
        <p:nvSpPr>
          <p:cNvPr id="41" name="Text 38"/>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رَجُلٌ</a:t>
            </a:r>
            <a:endParaRPr lang="ar-SA" sz="2400" dirty="0"/>
          </a:p>
        </p:txBody>
      </p:sp>
      <p:sp>
        <p:nvSpPr>
          <p:cNvPr id="42" name="Text 39"/>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 / men</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09760" y="4110228"/>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كَاتِبٌ كُتَّابٌ</a:t>
            </a:r>
            <a:endParaRPr lang="ar-SA" sz="1800" dirty="0"/>
          </a:p>
        </p:txBody>
      </p:sp>
      <p:sp>
        <p:nvSpPr>
          <p:cNvPr id="47" name="Text 44"/>
          <p:cNvSpPr txBox="1"/>
          <p:nvPr/>
        </p:nvSpPr>
        <p:spPr>
          <a:xfrm>
            <a:off x="76809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فُعَّالٌ</a:t>
            </a:r>
            <a:endParaRPr lang="ar-SA" sz="2200" dirty="0"/>
          </a:p>
        </p:txBody>
      </p:sp>
      <p:sp>
        <p:nvSpPr>
          <p:cNvPr id="48" name="Text 45"/>
          <p:cNvSpPr txBox="1"/>
          <p:nvPr/>
        </p:nvSpPr>
        <p:spPr>
          <a:xfrm>
            <a:off x="53035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طُلَّابٌ</a:t>
            </a:r>
            <a:endParaRPr lang="ar-SA" sz="2400" dirty="0"/>
          </a:p>
        </p:txBody>
      </p:sp>
      <p:sp>
        <p:nvSpPr>
          <p:cNvPr id="49" name="Text 46"/>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a:t>
            </a:r>
            <a:endParaRPr lang="ar-SA" sz="2400" dirty="0"/>
          </a:p>
        </p:txBody>
      </p:sp>
      <p:sp>
        <p:nvSpPr>
          <p:cNvPr id="50" name="Text 4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student(s)</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09760" y="4724400"/>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مَسْجِدٌ مَسَاجِدُ</a:t>
            </a:r>
            <a:endParaRPr lang="ar-SA" sz="1800" dirty="0"/>
          </a:p>
        </p:txBody>
      </p:sp>
      <p:sp>
        <p:nvSpPr>
          <p:cNvPr id="55" name="Text 52"/>
          <p:cNvSpPr txBox="1"/>
          <p:nvPr/>
        </p:nvSpPr>
        <p:spPr>
          <a:xfrm>
            <a:off x="76809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مَفَاعِلُ</a:t>
            </a:r>
            <a:endParaRPr lang="ar-SA" sz="2200" dirty="0"/>
          </a:p>
        </p:txBody>
      </p:sp>
      <p:sp>
        <p:nvSpPr>
          <p:cNvPr id="56" name="Text 53"/>
          <p:cNvSpPr txBox="1"/>
          <p:nvPr/>
        </p:nvSpPr>
        <p:spPr>
          <a:xfrm>
            <a:off x="53035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مَدَارِسُ</a:t>
            </a:r>
            <a:endParaRPr lang="ar-SA" sz="2400" dirty="0"/>
          </a:p>
        </p:txBody>
      </p:sp>
      <p:sp>
        <p:nvSpPr>
          <p:cNvPr id="57" name="Text 54"/>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مَدْرَسَةٌ</a:t>
            </a:r>
            <a:endParaRPr lang="ar-SA" sz="2400" dirty="0"/>
          </a:p>
        </p:txBody>
      </p:sp>
      <p:sp>
        <p:nvSpPr>
          <p:cNvPr id="58" name="Text 5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school(s)</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09760" y="533857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حَدِيقَةٌ حَدَائِقُ</a:t>
            </a:r>
            <a:endParaRPr lang="ar-SA" sz="1800" dirty="0"/>
          </a:p>
        </p:txBody>
      </p:sp>
      <p:sp>
        <p:nvSpPr>
          <p:cNvPr id="61" name="Text 58"/>
          <p:cNvSpPr txBox="1"/>
          <p:nvPr/>
        </p:nvSpPr>
        <p:spPr>
          <a:xfrm>
            <a:off x="76809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فَعَائِلُ</a:t>
            </a:r>
            <a:endParaRPr lang="ar-SA" sz="2200" dirty="0"/>
          </a:p>
        </p:txBody>
      </p:sp>
      <p:sp>
        <p:nvSpPr>
          <p:cNvPr id="62" name="Text 59"/>
          <p:cNvSpPr txBox="1"/>
          <p:nvPr/>
        </p:nvSpPr>
        <p:spPr>
          <a:xfrm>
            <a:off x="53035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حَقَائِبُ</a:t>
            </a:r>
            <a:endParaRPr lang="ar-SA" sz="2400" dirty="0"/>
          </a:p>
        </p:txBody>
      </p:sp>
      <p:sp>
        <p:nvSpPr>
          <p:cNvPr id="63" name="Text 60"/>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a:t>
            </a:r>
            <a:endParaRPr lang="ar-SA" sz="2400" dirty="0"/>
          </a:p>
        </p:txBody>
      </p:sp>
      <p:sp>
        <p:nvSpPr>
          <p:cNvPr id="64" name="Text 61"/>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bag(s)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Bonus pattern: house → houses and heart → hearts follow fuʿūl. Stretch: the last two patterns never take tanwīn (no -un).</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BROKEN PLURALS IN SENTENCES (WEBSITE SECTION)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People or things? The adjective tells you</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Agreement</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 PLURAL adjective</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مُجْتَهِدُونَ.</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are hard-working.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 plural adjective</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الرِّجَالُ حَاضِرُونَ.</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men are present.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الْكُتُبُ مُفِيدَةٌ.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books are useful.</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الْحَقَائِبُ ثَقِيلَةٌ.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bags are heavy.</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plural looks the same kind for both — the MEANING (people or things) decides the adjective. GM-N-06 develops the non-human rule fully.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بُيُوتٌ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بَائِتُونَ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وَلَدُونَ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وِلَادَاتٌ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human?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طُلَّابٌ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حَقَائِبُ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قَلَمَاتٌ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بُيُوتٌ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بَائِتُونَ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وَلَدُونَ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وِلَادَاتٌ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broken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human?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طُلَّابٌ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حَقَائِبُ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learn a word as a family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pen — root q-l-m.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أَقْلَامٌ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Pattern afʿāl.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 or thing?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أَقْلَامٌ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thing.</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الْأَقْلَامُ جَدِيدَةٌ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Thing → feminine singular.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SINGULAR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BROKEN PLURAL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عِنْدِي </a:t>
            </a:r>
            <a:pPr rtl="1" algn="r" indent="0" marL="0">
              <a:buNone/>
            </a:pPr>
            <a:r>
              <a:rPr lang="ar-SA" altLang="en-US" sz="2600" b="1" dirty="0">
                <a:solidFill>
                  <a:srgbClr val="0E7C86"/>
                </a:solidFill>
                <a:latin typeface="Amiri" pitchFamily="2" charset="-78"/>
                <a:cs typeface="Amiri" pitchFamily="2" charset="-78"/>
              </a:rPr>
              <a:t>قَلَمٌ</a:t>
            </a:r>
            <a:pPr rtl="1" algn="r" indent="0" marL="0">
              <a:buNone/>
            </a:pPr>
            <a:r>
              <a:rPr lang="ar-SA" altLang="en-US" sz="2600" b="1" dirty="0">
                <a:solidFill>
                  <a:srgbClr val="1B3B6F"/>
                </a:solidFill>
                <a:latin typeface="Amiri" pitchFamily="2" charset="-78"/>
                <a:cs typeface="Amiri" pitchFamily="2" charset="-78"/>
              </a:rPr>
              <a:t> وَاحِدٌ، وَعِنْدَ أَخِي </a:t>
            </a:r>
            <a:pPr rtl="1" algn="r" indent="0" marL="0">
              <a:buNone/>
            </a:pPr>
            <a:r>
              <a:rPr lang="ar-SA" altLang="en-US" sz="2600" b="1" dirty="0">
                <a:solidFill>
                  <a:srgbClr val="D6336C"/>
                </a:solidFill>
                <a:latin typeface="Amiri" pitchFamily="2" charset="-78"/>
                <a:cs typeface="Amiri" pitchFamily="2" charset="-78"/>
              </a:rPr>
              <a:t>أَقْلَامٌ</a:t>
            </a:r>
            <a:pPr rtl="1" algn="r" indent="0" marL="0">
              <a:buNone/>
            </a:pPr>
            <a:r>
              <a:rPr lang="ar-SA" altLang="en-US" sz="2600" b="1" dirty="0">
                <a:solidFill>
                  <a:srgbClr val="1B3B6F"/>
                </a:solidFill>
                <a:latin typeface="Amiri" pitchFamily="2" charset="-78"/>
                <a:cs typeface="Amiri" pitchFamily="2" charset="-78"/>
              </a:rPr>
              <a:t> كَثِيرَةٌ. فِي الصَّفِّ </a:t>
            </a:r>
            <a:pPr rtl="1" algn="r" indent="0" marL="0">
              <a:buNone/>
            </a:pPr>
            <a:r>
              <a:rPr lang="ar-SA" altLang="en-US" sz="2600" b="1" dirty="0">
                <a:solidFill>
                  <a:srgbClr val="D6336C"/>
                </a:solidFill>
                <a:latin typeface="Amiri" pitchFamily="2" charset="-78"/>
                <a:cs typeface="Amiri" pitchFamily="2" charset="-78"/>
              </a:rPr>
              <a:t>طُلَّابٌ</a:t>
            </a:r>
            <a:pPr rtl="1" algn="r" indent="0" marL="0">
              <a:buNone/>
            </a:pPr>
            <a:r>
              <a:rPr lang="ar-SA" altLang="en-US" sz="2600" b="1" dirty="0">
                <a:solidFill>
                  <a:srgbClr val="1B3B6F"/>
                </a:solidFill>
                <a:latin typeface="Amiri" pitchFamily="2" charset="-78"/>
                <a:cs typeface="Amiri" pitchFamily="2" charset="-78"/>
              </a:rPr>
              <a:t> مُجْتَهِدُونَ.</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have one pen, and my brother has many pens. In the class there are hard-working students.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الْكُتُبُ فِي الْمَكْتَبَةِ مُفِيدَةٌ.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books in the library are useful.</a:t>
            </a:r>
            <a:endParaRPr lang="en-US" sz="1250" dirty="0"/>
          </a:p>
          <a:p>
            <a:pPr indent="0" marL="0">
              <a:buNone/>
            </a:pPr>
            <a:r>
              <a:rPr lang="en-US" sz="1050" i="1" dirty="0">
                <a:solidFill>
                  <a:srgbClr val="8A6D1E"/>
                </a:solidFill>
                <a:latin typeface="Calibri" pitchFamily="34" charset="0"/>
                <a:cs typeface="Amiri" pitchFamily="2" charset="-78"/>
              </a:rPr>
              <a:t>Website sentence: things → feminine singular.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الطُّلَّابُ مُجْتَهِدُونَ.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sentence: people → plural.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مَدِينَتِنَا مَسَاجِدُ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city there are big mosques.</a:t>
            </a:r>
            <a:endParaRPr lang="en-US" sz="1250" dirty="0"/>
          </a:p>
          <a:p>
            <a:pPr indent="0" marL="0">
              <a:buNone/>
            </a:pPr>
            <a:r>
              <a:rPr lang="en-US" sz="1050" i="1" dirty="0">
                <a:solidFill>
                  <a:srgbClr val="8A6D1E"/>
                </a:solidFill>
                <a:latin typeface="Calibri" pitchFamily="34" charset="0"/>
                <a:cs typeface="Amiri" pitchFamily="2" charset="-78"/>
              </a:rPr>
              <a:t>No tanwīn on this plural.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لَعِبَ الْأَوْلَادُ فِي الْحَدَائِقِ.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boys played in the gardens.</a:t>
            </a:r>
            <a:endParaRPr lang="en-US" sz="1250" dirty="0"/>
          </a:p>
          <a:p>
            <a:pPr indent="0" marL="0">
              <a:buNone/>
            </a:pPr>
            <a:r>
              <a:rPr lang="en-US" sz="1050" i="1" dirty="0">
                <a:solidFill>
                  <a:srgbClr val="8A6D1E"/>
                </a:solidFill>
                <a:latin typeface="Calibri" pitchFamily="34" charset="0"/>
                <a:cs typeface="Amiri" pitchFamily="2" charset="-78"/>
              </a:rPr>
              <a:t>Two broken plurals in one sentence.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PEOPLE OR THINGS?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Human or non-human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رِجَالٌ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أَقْلَامٌ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حَقَائِبُ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(plural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(feminine singular adjective)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(plural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رِجَالٌ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(feminine singular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أَقْلَامٌ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بُيُوتٌ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حَقَائِبُ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COMPLETE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Singular, plural,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أَكْمِلِ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7" name="Text 14"/>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الْبُيُوتُ قَدِيمَةٌ.</a:t>
            </a:r>
            <a:endParaRPr lang="ar-SA" sz="2200" dirty="0"/>
          </a:p>
        </p:txBody>
      </p:sp>
      <p:sp>
        <p:nvSpPr>
          <p:cNvPr id="22" name="Text 19"/>
          <p:cNvSpPr txBox="1"/>
          <p:nvPr/>
        </p:nvSpPr>
        <p:spPr>
          <a:xfrm>
            <a:off x="53035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بُيُوتٌ</a:t>
            </a:r>
            <a:endParaRPr lang="ar-SA" sz="2400" dirty="0"/>
          </a:p>
        </p:txBody>
      </p:sp>
      <p:sp>
        <p:nvSpPr>
          <p:cNvPr id="23" name="Text 20"/>
          <p:cNvSpPr txBox="1"/>
          <p:nvPr/>
        </p:nvSpPr>
        <p:spPr>
          <a:xfrm>
            <a:off x="2926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الْأَوْلَادُ سُعَدَاءُ.</a:t>
            </a:r>
            <a:endParaRPr lang="ar-SA" sz="2200" dirty="0"/>
          </a:p>
        </p:txBody>
      </p:sp>
      <p:sp>
        <p:nvSpPr>
          <p:cNvPr id="29" name="Text 26"/>
          <p:cNvSpPr txBox="1"/>
          <p:nvPr/>
        </p:nvSpPr>
        <p:spPr>
          <a:xfrm>
            <a:off x="53035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أَوْلَادٌ</a:t>
            </a:r>
            <a:endParaRPr lang="ar-SA" sz="2400" dirty="0"/>
          </a:p>
        </p:txBody>
      </p:sp>
      <p:sp>
        <p:nvSpPr>
          <p:cNvPr id="30" name="Text 27"/>
          <p:cNvSpPr txBox="1"/>
          <p:nvPr/>
        </p:nvSpPr>
        <p:spPr>
          <a:xfrm>
            <a:off x="2926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وَلَدٌ</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الْمُدُنُ كَبِيرَةٌ.</a:t>
            </a:r>
            <a:endParaRPr lang="ar-SA" sz="2200" dirty="0"/>
          </a:p>
        </p:txBody>
      </p:sp>
      <p:sp>
        <p:nvSpPr>
          <p:cNvPr id="36" name="Text 33"/>
          <p:cNvSpPr txBox="1"/>
          <p:nvPr/>
        </p:nvSpPr>
        <p:spPr>
          <a:xfrm>
            <a:off x="53035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مُدُنٌ</a:t>
            </a:r>
            <a:endParaRPr lang="ar-SA" sz="2400" dirty="0"/>
          </a:p>
        </p:txBody>
      </p:sp>
      <p:sp>
        <p:nvSpPr>
          <p:cNvPr id="37" name="Text 34"/>
          <p:cNvSpPr txBox="1"/>
          <p:nvPr/>
        </p:nvSpPr>
        <p:spPr>
          <a:xfrm>
            <a:off x="2926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مَدِينَةٌ</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الْمَسَاجِدُ جَمِيلَةٌ.</a:t>
            </a:r>
            <a:endParaRPr lang="ar-SA" sz="2200" dirty="0"/>
          </a:p>
        </p:txBody>
      </p:sp>
      <p:sp>
        <p:nvSpPr>
          <p:cNvPr id="43" name="Text 40"/>
          <p:cNvSpPr txBox="1"/>
          <p:nvPr/>
        </p:nvSpPr>
        <p:spPr>
          <a:xfrm>
            <a:off x="53035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مَسَاجِدُ</a:t>
            </a:r>
            <a:endParaRPr lang="ar-SA" sz="2400" dirty="0"/>
          </a:p>
        </p:txBody>
      </p:sp>
      <p:sp>
        <p:nvSpPr>
          <p:cNvPr id="44" name="Text 41"/>
          <p:cNvSpPr txBox="1"/>
          <p:nvPr/>
        </p:nvSpPr>
        <p:spPr>
          <a:xfrm>
            <a:off x="2926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مَسْجِدٌ</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mosque</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الْجِبَالُ عَالِيَةٌ.</a:t>
            </a:r>
            <a:endParaRPr lang="ar-SA" sz="2200" dirty="0"/>
          </a:p>
        </p:txBody>
      </p:sp>
      <p:sp>
        <p:nvSpPr>
          <p:cNvPr id="48" name="Text 45"/>
          <p:cNvSpPr txBox="1"/>
          <p:nvPr/>
        </p:nvSpPr>
        <p:spPr>
          <a:xfrm>
            <a:off x="53035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جِبَالٌ</a:t>
            </a:r>
            <a:endParaRPr lang="ar-SA" sz="2400" dirty="0"/>
          </a:p>
        </p:txBody>
      </p:sp>
      <p:sp>
        <p:nvSpPr>
          <p:cNvPr id="49" name="Text 46"/>
          <p:cNvSpPr txBox="1"/>
          <p:nvPr/>
        </p:nvSpPr>
        <p:spPr>
          <a:xfrm>
            <a:off x="2926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جَبَلٌ</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mountain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plural column and test a partner: one says the singular, the other the plural, then the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plural regular?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الْكُتُبُ مُفِيدُونَ.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الطُّلَّابُ مُجْتَهِدٌ.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or plural adjective?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Book has a broken plural.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الْكُتُبُ مُفِيدُونَ.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الْكُتُبُ مُفِيدَةٌ.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 feminine singular.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الطُّلَّابُ مُجْتَهِدٌ.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الطُّلَّابُ مُجْتَهِدُونَ.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with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vocabulary entry.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مَدْرَسَةٌ</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مَدْرَسَةٌ / مَدَارِسُ</a:t>
            </a:r>
            <a:pPr algn="l" indent="0" marL="0">
              <a:buNone/>
            </a:pPr>
            <a:r>
              <a:rPr lang="en-US" sz="1250" dirty="0">
                <a:solidFill>
                  <a:srgbClr val="1F2A37"/>
                </a:solidFill>
                <a:latin typeface="Calibri" pitchFamily="34" charset="0"/>
                <a:cs typeface="Amiri" pitchFamily="2" charset="-78"/>
              </a:rPr>
              <a:t> + example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مَدْرَسَاتٌ</a:t>
            </a:r>
            <a:pPr algn="l" indent="0" marL="0">
              <a:buNone/>
            </a:pPr>
            <a:r>
              <a:rPr lang="en-US" sz="1250" dirty="0">
                <a:solidFill>
                  <a:srgbClr val="1F2A37"/>
                </a:solidFill>
                <a:latin typeface="Calibri" pitchFamily="34" charset="0"/>
                <a:cs typeface="Amiri" pitchFamily="2" charset="-78"/>
              </a:rPr>
              <a:t> always</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sound plural?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رِجَالٌ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broken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case endings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non-human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Internal pattern change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with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مُفِيدَةٌ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vocabulary entry.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مَدْرَسَةٌ</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مَدْرَسَةٌ / مَدَارِسُ</a:t>
            </a:r>
            <a:pPr algn="l" indent="0" marL="0">
              <a:buNone/>
            </a:pPr>
            <a:r>
              <a:rPr lang="en-US" sz="1250" b="1" dirty="0">
                <a:solidFill>
                  <a:srgbClr val="1F2A37"/>
                </a:solidFill>
                <a:latin typeface="Calibri" pitchFamily="34" charset="0"/>
                <a:cs typeface="Amiri" pitchFamily="2" charset="-78"/>
              </a:rPr>
              <a:t> + example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مَدْرَسَاتٌ</a:t>
            </a:r>
            <a:pPr algn="l" indent="0" marL="0">
              <a:buNone/>
            </a:pPr>
            <a:r>
              <a:rPr lang="en-US" sz="1250" dirty="0">
                <a:solidFill>
                  <a:srgbClr val="9AA1AB"/>
                </a:solidFill>
                <a:latin typeface="Calibri" pitchFamily="34" charset="0"/>
                <a:cs typeface="Amiri" pitchFamily="2" charset="-78"/>
              </a:rPr>
              <a:t> always</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family.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sound plural?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رِجَالٌ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suffix.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broken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case endings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non-human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Internal pattern change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مَدْرَسَتِنَا طَالِبَانِ جَدِيدَانِ وَمُعَلِّمَاتٌ خَبِيرَاتٌ. الْفُصُولُ وَاسِعَةٌ، وَمَكْتَبُ مُدِيرِ الْمَدْرَسَةِ قَرِيبٌ مِنَ الْمَدْخَلِ. فِي الْمَكْتَبَةِ كُتُبٌ كَثِيرَةٌ وَأَقْلَامٌ مُلَوَّنَةٌ. يَقْرَأُ الطُّلَّابُ هُنَاكَ، وَهُمْ هَادِئُونَ.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الْفُصُولُ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office of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الْمَدْخَلِ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entrance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مُلَوَّنَةٌ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coloured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هَادِئُونَ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 (m. pl.)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 masculine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 feminine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cs typeface="Amiri" pitchFamily="2" charset="-78"/>
              </a:rPr>
              <a:t>وَاسِعَةٌ</a:t>
            </a:r>
            <a:pPr algn="l" indent="0" marL="0">
              <a:buNone/>
            </a:pPr>
            <a:r>
              <a:rPr lang="en-US" sz="1250" b="1" dirty="0">
                <a:solidFill>
                  <a:srgbClr val="1B3B6F"/>
                </a:solidFill>
                <a:latin typeface="Calibri" pitchFamily="34" charset="0"/>
                <a:cs typeface="Amiri" pitchFamily="2" charset="-78"/>
              </a:rPr>
              <a:t> feminine singular?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Classrooms are women.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Classrooms are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هَادِئُونَ</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students —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books.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 masculine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broken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 feminine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a:t>
            </a:r>
            <a:pPr algn="l" indent="0" marL="0">
              <a:buNone/>
            </a:pPr>
            <a:r>
              <a:rPr lang="ar-SA" altLang="en-US" sz="1350" dirty="0">
                <a:solidFill>
                  <a:srgbClr val="8A6D1E"/>
                </a:solidFill>
                <a:latin typeface="Amiri" pitchFamily="2" charset="-78"/>
                <a:cs typeface="Amiri" pitchFamily="2" charset="-78"/>
              </a:rPr>
              <a:t>فَصْلٌ</a:t>
            </a:r>
            <a:pPr algn="l" indent="0" marL="0">
              <a:buNone/>
            </a:pPr>
            <a:r>
              <a:rPr lang="en-US" sz="1050" i="1" dirty="0">
                <a:solidFill>
                  <a:srgbClr val="8A6D1E"/>
                </a:solidFill>
                <a:latin typeface="Calibri" pitchFamily="34" charset="0"/>
                <a:cs typeface="Amiri" pitchFamily="2" charset="-78"/>
              </a:rPr>
              <a:t>, pattern fuʿūl.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cs typeface="Amiri" pitchFamily="2" charset="-78"/>
              </a:rPr>
              <a:t>وَاسِعَةٌ</a:t>
            </a:r>
            <a:pPr algn="l" indent="0" marL="0">
              <a:buNone/>
            </a:pPr>
            <a:r>
              <a:rPr lang="en-US" sz="1250" b="1" dirty="0">
                <a:solidFill>
                  <a:srgbClr val="1B3B6F"/>
                </a:solidFill>
                <a:latin typeface="Calibri" pitchFamily="34" charset="0"/>
                <a:cs typeface="Amiri" pitchFamily="2" charset="-78"/>
              </a:rPr>
              <a:t> feminine singular?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Classrooms are women.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Classrooms are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هَادِئُونَ</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students —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books.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 → plural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ends in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is in your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الطُّلَّابَ وَالْكُتُبَ فِي صَفِّكَ.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مَدِينَتِكَ؟ (مَسَاجِدُ، حَدَائِقُ، شَوَارِعُ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حَقِيبَتِي كُتُبٌ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الطُّلَّابُ ___ ، وَالْكُتُبُ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مَدِينَتِي ___ كَبِيرَةٌ.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فِي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حَقِيبَتِي كُتُبٌ وَدَفَاتِرُ وَأَقْلَامٌ. الْكُتُبُ ثَقِيلَةٌ!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bag there are books, exercise books and pens. The books are heavy!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each with one broken plural from the family table.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people and things; check every adjective.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 plural adjective · things →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at least two plurals that take no tanwīn.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Schools, mosques, gardens, bags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مَدِينَتِنَا ______ كَثِيرَةٌ.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city there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الرِّجَالُ فِي الْمَسْجِدِ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men in the mosque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أَقْرَأُ كُتُبًا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books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الْحَقَائِبُ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حَقِيبَتِي كُتُبٌ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are books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الطُّلَّابُ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الْبُيُوتُ فِي شَارِعِي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houses in my street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يَلْعَبُ الْأَوْلَادُ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are playing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كُتُبٌ  ·  أَقْلَامٌ  ·  دَفَاتِرُ  ·  بُيُوتٌ  ·  مَدَارِسُ  ·  مَسَاجِدُ  ·  حَدَائِقُ  ·  طُلَّابٌ  ·  أَوْلَادٌ  ·  رِجَالٌ  ·  كَبِيرَةٌ  ·  مُفِيدَةٌ  ·  جَمِيلَةٌ  ·  مُجْتَهِدُونَ  ·  حَاضِرُونَ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broken plurals.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people plurals with a plural adjective.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thing plurals with a feminine singular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plurals with no tanwīn (schools, mosques, gardens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sound plural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الطُّلَّابُ مُجْتَهِدُونَ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students are hard-working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الْكُتُبُ مُفِيدَةٌ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books are useful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مَسَاجِدُ جَمِيلَةٌ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beautiful mosques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حَدَائِقُ وَاسِعَةٌ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spacious gardens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بُيُوتٌ قَدِيمَةٌ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old houses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الرِّجَالُ حَاضِرُونَ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men are present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مَدِينَةٍ صَغِيرَةٍ. فِي مَدِينَتِي بُيُوتٌ قَدِيمَةٌ وَشَوَارِعُ هَادِئَةٌ وَمَسَاجِدُ جَمِيلَةٌ. فِي مَدْرَسَتِي طُلَّابٌ مُجْتَهِدُونَ وَمُعَلِّمُونَ لُطَفَاءُ. فِي الْمَكْتَبَةِ كُتُبٌ مُفِيدَةٌ، وَأَقْرَأُ كُتُبًا كَثِيرَةً كُلَّ أُسْبُوعٍ. يَلْعَبُ الْأَوْلَادُ فِي الْحَدَائِقِ.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small town. In my town there are old houses, quiet streets and beautiful mosques. In my school there are hard-working students and kind teachers. In the library there are useful books, and I read many books every week. The boys play in the gardens.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broken plurals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 adj.</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singular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 tanwīn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six broken plurals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add -āt or -ūna to a broken-plural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People have a plural adjective.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have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Schools, mosques and gardens have no tanwīn.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وَلَدَاتٌ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الْبُيُوتُ كَبِيرُونَ.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الْبُيُوتُ 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الْبُيُوتُ كَبِيرٌ.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الرِّجَالُ حَاضِرُونَ.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الرِّجَالُ حَاضِرَةٌ.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الرِّجَالُ حَاضِرٌ.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أَوْلَادٌ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وَلَدُونَ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وَلَدَاتٌ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afʿāl.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الْبُيُوتُ كَبِيرُونَ.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الْبُيُوتُ 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الْبُيُوتُ كَبِيرٌ.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الرِّجَالُ حَاضِرُونَ.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الرِّجَالُ حَاضِرَةٌ.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الرِّجَالُ حَاضِرٌ.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plural adjective.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GM-N-06 · Non-Human Plural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غَيْرُ عَاقِلٍ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non-human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cars</a:t>
            </a:r>
            <a:pPr indent="0" marL="0">
              <a:buNone/>
            </a:pPr>
            <a:r>
              <a:rPr lang="en-US" sz="1000" i="1" dirty="0">
                <a:solidFill>
                  <a:srgbClr val="5A6472"/>
                </a:solidFill>
                <a:latin typeface="Calibri" pitchFamily="34" charset="0"/>
                <a:cs typeface="Amiri" pitchFamily="2" charset="-78"/>
              </a:rPr>
              <a:t>  sing. سَيَّارَةٌ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أَشْجَارٌ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trees</a:t>
            </a:r>
            <a:pPr indent="0" marL="0">
              <a:buNone/>
            </a:pPr>
            <a:r>
              <a:rPr lang="en-US" sz="1000" i="1" dirty="0">
                <a:solidFill>
                  <a:srgbClr val="5A6472"/>
                </a:solidFill>
                <a:latin typeface="Calibri" pitchFamily="34" charset="0"/>
                <a:cs typeface="Amiri" pitchFamily="2" charset="-78"/>
              </a:rPr>
              <a:t>  sing. شَجَرَةٌ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شَوَارِعُ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streets</a:t>
            </a:r>
            <a:pPr indent="0" marL="0">
              <a:buNone/>
            </a:pPr>
            <a:r>
              <a:rPr lang="en-US" sz="1000" i="1" dirty="0">
                <a:solidFill>
                  <a:srgbClr val="5A6472"/>
                </a:solidFill>
                <a:latin typeface="Calibri" pitchFamily="34" charset="0"/>
                <a:cs typeface="Amiri" pitchFamily="2" charset="-78"/>
              </a:rPr>
              <a:t>  sing. شَارِعٌ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she / it (for things)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We say “the books are useful” with a FEMININE SINGULAR adjective. Which pronoun would you use for “they” (the books)?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الْكُتُبُ مُفِيدَةٌ · ______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a family card for ten nouns: singular, plural,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four about people, four about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and sort your ten nouns by pattern.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GM-N-06 · Non-Human Plural Agreement</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جَمْعُ غَيْرِ الْعَاقِلِ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broken = reshaped, not wrong · learn singular + plural + sentence · people → plural adjective, things → feminine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GM-N-05 · Broken Plurals</dc:title>
  <dc:subject>PptxGenJS Presentation</dc:subject>
  <dc:creator>Al Madina Online School · Arabic Department</dc:creator>
  <cp:lastModifiedBy>Al Madina Online School · Arabic Department</cp:lastModifiedBy>
  <cp:revision>1</cp:revision>
  <dcterms:created xsi:type="dcterms:W3CDTF">2026-10-11T06:42:18Z</dcterms:created>
  <dcterms:modified xsi:type="dcterms:W3CDTF">2026-10-11T06:42:18Z</dcterms:modified>
</cp:coreProperties>
</file>