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Nouns › GM-N-05 (“Broken Plurals”).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recognise 8–10 high-frequency families (كِتَابٌ كُتُبٌ · قَلَمٌ أَقْلَامٌ · وَلَدٌ أَوْلَادٌ · بَيْتٌ بُيُوتٌ · رَجُلٌ رِجَالٌ · طَالِبٌ طُلَّابٌ · مَدْرَسَةٌ مَدَارِسُ). Develop: agreement — people plural adjective, things feminine singular. Stretch: name the pattern (أَفْعَال · فُعُول · مَفَاعِل …) and notice that مَدَارِسُ / حَقَائِبُ take no tanwīn.
• “Broken” does NOT mean wrong — the singular is “broken open” and rebuilt. Students often think it is an error form; correct this early (website entry check question 6).
• Qur’an bridge: كُتُب (وَكُتُبِهِ وَرُسُلِهِ) · أَنْهَار · رِجَال · قُلُوب — all broken plurals students already recite.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uses the five prepared words from GM-N-04.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broken plural changes the inside of the word. There is no single ending — learn singular and plural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(3 min) — website section “What broken means”. Write كِتَابٌ / كُتُبٌ and colour k-t-b in both: “the root is still there — only the vowels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2 (4 min) — website “Useful pattern clue” table, with a teacher-added column of words that share each pattern. Core: learn the first four rows. Stretch: مَدَارِسُ / حَقَائِبُ are diptotes — single ḍamma, no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section “Use broken plurals in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guided mini-check,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at every step: name the rule in English and Arabic as you apply it.
Model the vocabulary-family habit: say “qalam — aqlām — al-aqlāmu jadīda”. Then contrast: طُلَّابٌ مُجْتَهِدُونَ (people → plural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Students type P or T. Trap: كُتُبٌ (books) vs كُتَّابٌ (writers) — same root, different pattern, different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Students type P or T. Trap: كُتُبٌ (books) vs كُتَّابٌ (writers) — same root, different pattern, different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reveal the plural column one row at a time. Point to the adjectives: boys → plural (happy, suʿadāʾ); houses, cities, mosques, mountains → feminine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mastery check questions 5–8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read-and-notice text, extended by the teacher. Read it aloud once while students follow; then they hunt for today’s grammar.
Task: Website: underline every plural and decide — broken or sound?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to practise broken plurals.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(3 min) — website task “speak and transform”. Sequence: ● 10s think → ↔ 45s rehearse aloud with mic muted → ◎ two named students on open mic (warned in advance) → + ? the class types one follow-up in chat → ↺ one student summarises.
Routes: Core uses the Core prompt and stem; Develop the Develop prompt; Stretch the last prompt.
Website: choose five nouns; say singular and plural, then use each in a sentence. Listen for the feminine singular adjective after the non-human plural (الْكُتُبُ ثَقِيلَةٌ).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8–12 connected sentences about your school, home or local area, using at least six target noun forms from this lesson.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(GM-N-06 · Non-Human Plural Agreement) will spend class time USING this language, so students prepare it tonight — short, simple, easy to access (school guidance: “Simple, Short, Interesting, Relevant, Easy to access”). The five words prepare GM-N-06 (website Nouns lesson 6: non-human plural agreement).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NOUNS  ·  GM-N-05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Broken Plurals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جَمْعُ التَّكْسِيرِ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Most everyday Arabic nouns make their plural by reshaping the inside of the word (book → books, pen → pens, man → men), not by adding an ending. Learn each noun as a family: singular, plural and one example sentence.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GM-N-05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“broken” means; six pattern families; agreement.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families, sort human / non-human,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كِتَابٌ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كَاتِبُونَ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مَدَارِسُ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مُدَرِّسُونَ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حَقِيبَةٌ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حَقِيبَاتٌ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حَقَائِبُ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learning method?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Memorise only the singular.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 </a:t>
            </a:r>
            <a:pPr algn="l" indent="0" marL="0">
              <a:buNone/>
            </a:pPr>
            <a:r>
              <a:rPr lang="ar-SA" altLang="en-US" sz="1650" dirty="0">
                <a:solidFill>
                  <a:srgbClr val="1F2A37"/>
                </a:solidFill>
                <a:latin typeface="Amiri" pitchFamily="2" charset="-78"/>
                <a:ea typeface="Amiri" pitchFamily="2" charset="-78"/>
                <a:cs typeface="Amiri" pitchFamily="2" charset="-78"/>
              </a:rPr>
              <a:t>ات</a:t>
            </a:r>
            <a:pPr algn="l" indent="0" marL="0">
              <a:buNone/>
            </a:pPr>
            <a:r>
              <a:rPr lang="en-US" sz="1250" dirty="0">
                <a:solidFill>
                  <a:srgbClr val="1F2A37"/>
                </a:solidFill>
                <a:latin typeface="Calibri" pitchFamily="34" charset="0"/>
                <a:cs typeface="Amiri" pitchFamily="2" charset="-78"/>
              </a:rPr>
              <a:t> to every noun.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 singular + plural + example sentence.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family is correct?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رَجُلٌ / رِجَالٌ</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رَجُلٌ / رَجُلُونَ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رَجُلٌ / رَجُلَاتٌ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كِتَابٌ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كِتَابَاتٌ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كَاتِبُونَ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Internal pattern changes.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مَدَارِسُ</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مَدْرَسَاتٌ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مُدَرِّسُونَ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Broken plural.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حَقِيبَةٌ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حَقِيبَاتٌ</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حَقَائِبُ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Common broken pattern.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learning method?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Memorise only the singular.</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Add </a:t>
            </a:r>
            <a:pPr algn="l" indent="0" marL="0">
              <a:buNone/>
            </a:pPr>
            <a:r>
              <a:rPr lang="ar-SA" altLang="en-US" sz="1650" dirty="0">
                <a:solidFill>
                  <a:srgbClr val="9AA1AB"/>
                </a:solidFill>
                <a:latin typeface="Amiri" pitchFamily="2" charset="-78"/>
                <a:ea typeface="Amiri" pitchFamily="2" charset="-78"/>
                <a:cs typeface="Amiri" pitchFamily="2" charset="-78"/>
              </a:rPr>
              <a:t>ات</a:t>
            </a:r>
            <a:pPr algn="l" indent="0" marL="0">
              <a:buNone/>
            </a:pPr>
            <a:r>
              <a:rPr lang="en-US" sz="1250" dirty="0">
                <a:solidFill>
                  <a:srgbClr val="9AA1AB"/>
                </a:solidFill>
                <a:latin typeface="Calibri" pitchFamily="34" charset="0"/>
                <a:cs typeface="Amiri" pitchFamily="2" charset="-78"/>
              </a:rPr>
              <a:t> to every noun.</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Learn singular + plural + example sentence.</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is lexical.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family is correct?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رَجُلٌ / رِجَالٌ</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رَجُلٌ / رَجُلُونَ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رَجُلٌ / رَجُلَاتٌ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Frequent human broken plural.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broken plural changes the inside of the word. There is no single ending — learn singular and plural together.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كِتَابٌ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كُتُبٌ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قَلَمٌ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أَقْلَامٌ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what a broken plural is.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six common broken plural patterns.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Learn nouns as singular-plural families.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people a plural adjective and things a feminine singular adjective.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eight singular-plural families by heart.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“broken” means reshaped, not wrong.</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describe students with a plural adjective.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describe books with a feminine singular adjective.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the pattern of a plural.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know some patterns take no tanwīn.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 التَّكْسِيرِ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broken plural</a:t>
            </a:r>
            <a:endParaRPr lang="en-US" sz="1350" dirty="0"/>
          </a:p>
          <a:p>
            <a:pPr indent="0" marL="0">
              <a:buNone/>
            </a:pPr>
            <a:r>
              <a:rPr lang="en-US" sz="1100" i="1" dirty="0">
                <a:solidFill>
                  <a:srgbClr val="5A6472"/>
                </a:solidFill>
                <a:latin typeface="Calibri" pitchFamily="34" charset="0"/>
                <a:cs typeface="Amiri" pitchFamily="2" charset="-78"/>
              </a:rPr>
              <a:t>jam-ʿu at-tak-sī-ri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inside of the word changes</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مُفْرَدٌ</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singular</a:t>
            </a:r>
            <a:endParaRPr lang="en-US" sz="1350" dirty="0"/>
          </a:p>
          <a:p>
            <a:pPr indent="0" marL="0">
              <a:buNone/>
            </a:pPr>
            <a:r>
              <a:rPr lang="en-US" sz="1100" i="1" dirty="0">
                <a:solidFill>
                  <a:srgbClr val="5A6472"/>
                </a:solidFill>
                <a:latin typeface="Calibri" pitchFamily="34" charset="0"/>
                <a:cs typeface="Amiri" pitchFamily="2" charset="-78"/>
              </a:rPr>
              <a:t>muf-ra-dun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كِتَابٌ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plural</a:t>
            </a:r>
            <a:endParaRPr lang="en-US" sz="1350" dirty="0"/>
          </a:p>
          <a:p>
            <a:pPr indent="0" marL="0">
              <a:buNone/>
            </a:pPr>
            <a:r>
              <a:rPr lang="en-US" sz="1100" i="1" dirty="0">
                <a:solidFill>
                  <a:srgbClr val="5A6472"/>
                </a:solidFill>
                <a:latin typeface="Calibri" pitchFamily="34" charset="0"/>
                <a:cs typeface="Amiri" pitchFamily="2" charset="-78"/>
              </a:rPr>
              <a:t>jam-ʿun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وَزْنٌ</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pattern (shape)</a:t>
            </a:r>
            <a:endParaRPr lang="en-US" sz="1350" dirty="0"/>
          </a:p>
          <a:p>
            <a:pPr indent="0" marL="0">
              <a:buNone/>
            </a:pPr>
            <a:r>
              <a:rPr lang="en-US" sz="1100" i="1" dirty="0">
                <a:solidFill>
                  <a:srgbClr val="5A6472"/>
                </a:solidFill>
                <a:latin typeface="Calibri" pitchFamily="34" charset="0"/>
                <a:cs typeface="Amiri" pitchFamily="2" charset="-78"/>
              </a:rPr>
              <a:t>wazn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أَفْعَالٌ</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عَاقِلٌ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a:t>
            </a:r>
            <a:endParaRPr lang="en-US" sz="1350" dirty="0"/>
          </a:p>
          <a:p>
            <a:pPr indent="0" marL="0">
              <a:buNone/>
            </a:pPr>
            <a:r>
              <a:rPr lang="en-US" sz="1100" i="1" dirty="0">
                <a:solidFill>
                  <a:srgbClr val="5A6472"/>
                </a:solidFill>
                <a:latin typeface="Calibri" pitchFamily="34" charset="0"/>
                <a:cs typeface="Amiri" pitchFamily="2" charset="-78"/>
              </a:rPr>
              <a:t>ʿā-qi-lun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طُلَّابٌ · رِجَالٌ</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عَاقِلٍ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non-human</a:t>
            </a:r>
            <a:endParaRPr lang="en-US" sz="1350" dirty="0"/>
          </a:p>
          <a:p>
            <a:pPr indent="0" marL="0">
              <a:buNone/>
            </a:pPr>
            <a:r>
              <a:rPr lang="en-US" sz="1100" i="1" dirty="0">
                <a:solidFill>
                  <a:srgbClr val="5A6472"/>
                </a:solidFill>
                <a:latin typeface="Calibri" pitchFamily="34" charset="0"/>
                <a:cs typeface="Amiri" pitchFamily="2" charset="-78"/>
              </a:rPr>
              <a:t>ghay-ru ʿā-qi-lin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 حَقَائِبُ</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WHAT “BROKEN” MEANS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The word is reshaped from the inside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مَعْنَى «التَّكْسِيرِ»؟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plural is made by changing vowels, adding or removing letters, or reshaping the pattern (website definition).</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There is no single fixed ending — compare the sound plurals of GM-N-03 and GM-N-04.</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“Broken” does NOT mean incorrect: the singular is broken open and rebuilt.</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three root letters stay in the same order — only the shape around them changes.</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It is the MOST common plural for everyday nouns, for people and for things.</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كِتَابٌ · كُتُبٌ</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book · books  ·  root k-t-b</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قَلَمٌ · أَقْلَامٌ</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pen · pens  ·  a hamza is added</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وَلَدٌ · أَوْلَادٌ</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boy · boys</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بَيْتٌ · بُيُوتٌ</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house · houses</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WEBSITE WARNING</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Patterns help recognition, not prediction in every case. Store each new noun as a family: singular, plural and an example sentence.</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SIX PATTERN FAMILIES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Common broken plural patterns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أَوْزَانٌ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More like it</a:t>
            </a:r>
            <a:endParaRPr lang="en-US" sz="1100" dirty="0"/>
          </a:p>
        </p:txBody>
      </p:sp>
      <p:sp>
        <p:nvSpPr>
          <p:cNvPr id="17" name="Text 14"/>
          <p:cNvSpPr txBox="1"/>
          <p:nvPr/>
        </p:nvSpPr>
        <p:spPr>
          <a:xfrm>
            <a:off x="766267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8" name="Text 15"/>
          <p:cNvSpPr txBox="1"/>
          <p:nvPr/>
        </p:nvSpPr>
        <p:spPr>
          <a:xfrm>
            <a:off x="52852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a:t>
            </a:r>
            <a:endParaRPr lang="en-US" sz="1100" dirty="0"/>
          </a:p>
        </p:txBody>
      </p:sp>
      <p:sp>
        <p:nvSpPr>
          <p:cNvPr id="19" name="Text 16"/>
          <p:cNvSpPr txBox="1"/>
          <p:nvPr/>
        </p:nvSpPr>
        <p:spPr>
          <a:xfrm>
            <a:off x="29077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Singular</a:t>
            </a:r>
            <a:endParaRPr lang="en-US" sz="1100" dirty="0"/>
          </a:p>
        </p:txBody>
      </p:sp>
      <p:sp>
        <p:nvSpPr>
          <p:cNvPr id="20" name="Text 17"/>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509760" y="2267712"/>
            <a:ext cx="21305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مَدِينَةٌ مُدُنٌ</a:t>
            </a:r>
            <a:endParaRPr lang="ar-SA" sz="1800" dirty="0"/>
          </a:p>
        </p:txBody>
      </p:sp>
      <p:sp>
        <p:nvSpPr>
          <p:cNvPr id="23" name="Text 20"/>
          <p:cNvSpPr txBox="1"/>
          <p:nvPr/>
        </p:nvSpPr>
        <p:spPr>
          <a:xfrm>
            <a:off x="7680960" y="2267712"/>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فُعُلٌ</a:t>
            </a:r>
            <a:endParaRPr lang="ar-SA" sz="2200" dirty="0"/>
          </a:p>
        </p:txBody>
      </p:sp>
      <p:sp>
        <p:nvSpPr>
          <p:cNvPr id="24" name="Text 21"/>
          <p:cNvSpPr txBox="1"/>
          <p:nvPr/>
        </p:nvSpPr>
        <p:spPr>
          <a:xfrm>
            <a:off x="530352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25" name="Text 22"/>
          <p:cNvSpPr txBox="1"/>
          <p:nvPr/>
        </p:nvSpPr>
        <p:spPr>
          <a:xfrm>
            <a:off x="292608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a:t>
            </a:r>
            <a:endParaRPr lang="ar-SA" sz="2400" dirty="0"/>
          </a:p>
        </p:txBody>
      </p:sp>
      <p:sp>
        <p:nvSpPr>
          <p:cNvPr id="26" name="Text 23"/>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book(s)</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509760" y="2881884"/>
            <a:ext cx="21305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وَلَدٌ أَوْلَادٌ</a:t>
            </a:r>
            <a:endParaRPr lang="ar-SA" sz="1800" dirty="0"/>
          </a:p>
        </p:txBody>
      </p:sp>
      <p:sp>
        <p:nvSpPr>
          <p:cNvPr id="31" name="Text 28"/>
          <p:cNvSpPr txBox="1"/>
          <p:nvPr/>
        </p:nvSpPr>
        <p:spPr>
          <a:xfrm>
            <a:off x="7680960" y="2881884"/>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أَفْعَالٌ</a:t>
            </a:r>
            <a:endParaRPr lang="ar-SA" sz="2200" dirty="0"/>
          </a:p>
        </p:txBody>
      </p:sp>
      <p:sp>
        <p:nvSpPr>
          <p:cNvPr id="32" name="Text 29"/>
          <p:cNvSpPr txBox="1"/>
          <p:nvPr/>
        </p:nvSpPr>
        <p:spPr>
          <a:xfrm>
            <a:off x="530352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أَقْلَامٌ</a:t>
            </a:r>
            <a:endParaRPr lang="ar-SA" sz="2400" dirty="0"/>
          </a:p>
        </p:txBody>
      </p:sp>
      <p:sp>
        <p:nvSpPr>
          <p:cNvPr id="33" name="Text 30"/>
          <p:cNvSpPr txBox="1"/>
          <p:nvPr/>
        </p:nvSpPr>
        <p:spPr>
          <a:xfrm>
            <a:off x="292608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قَلَمٌ</a:t>
            </a:r>
            <a:endParaRPr lang="ar-SA" sz="2400" dirty="0"/>
          </a:p>
        </p:txBody>
      </p:sp>
      <p:sp>
        <p:nvSpPr>
          <p:cNvPr id="34" name="Text 31"/>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pen(s)</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509760" y="3496056"/>
            <a:ext cx="21305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جَبَلٌ جِبَالٌ</a:t>
            </a:r>
            <a:endParaRPr lang="ar-SA" sz="1800" dirty="0"/>
          </a:p>
        </p:txBody>
      </p:sp>
      <p:sp>
        <p:nvSpPr>
          <p:cNvPr id="39" name="Text 36"/>
          <p:cNvSpPr txBox="1"/>
          <p:nvPr/>
        </p:nvSpPr>
        <p:spPr>
          <a:xfrm>
            <a:off x="7680960" y="3496056"/>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فِعَالٌ</a:t>
            </a:r>
            <a:endParaRPr lang="ar-SA" sz="2200" dirty="0"/>
          </a:p>
        </p:txBody>
      </p:sp>
      <p:sp>
        <p:nvSpPr>
          <p:cNvPr id="40" name="Text 37"/>
          <p:cNvSpPr txBox="1"/>
          <p:nvPr/>
        </p:nvSpPr>
        <p:spPr>
          <a:xfrm>
            <a:off x="530352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رِجَالٌ</a:t>
            </a:r>
            <a:endParaRPr lang="ar-SA" sz="2400" dirty="0"/>
          </a:p>
        </p:txBody>
      </p:sp>
      <p:sp>
        <p:nvSpPr>
          <p:cNvPr id="41" name="Text 38"/>
          <p:cNvSpPr txBox="1"/>
          <p:nvPr/>
        </p:nvSpPr>
        <p:spPr>
          <a:xfrm>
            <a:off x="292608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رَجُلٌ</a:t>
            </a:r>
            <a:endParaRPr lang="ar-SA" sz="2400" dirty="0"/>
          </a:p>
        </p:txBody>
      </p:sp>
      <p:sp>
        <p:nvSpPr>
          <p:cNvPr id="42" name="Text 39"/>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man / men</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509760" y="4110228"/>
            <a:ext cx="21305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كَاتِبٌ كُتَّابٌ</a:t>
            </a:r>
            <a:endParaRPr lang="ar-SA" sz="1800" dirty="0"/>
          </a:p>
        </p:txBody>
      </p:sp>
      <p:sp>
        <p:nvSpPr>
          <p:cNvPr id="47" name="Text 44"/>
          <p:cNvSpPr txBox="1"/>
          <p:nvPr/>
        </p:nvSpPr>
        <p:spPr>
          <a:xfrm>
            <a:off x="7680960" y="4110228"/>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فُعَّالٌ</a:t>
            </a:r>
            <a:endParaRPr lang="ar-SA" sz="2200" dirty="0"/>
          </a:p>
        </p:txBody>
      </p:sp>
      <p:sp>
        <p:nvSpPr>
          <p:cNvPr id="48" name="Text 45"/>
          <p:cNvSpPr txBox="1"/>
          <p:nvPr/>
        </p:nvSpPr>
        <p:spPr>
          <a:xfrm>
            <a:off x="530352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طُلَّابٌ</a:t>
            </a:r>
            <a:endParaRPr lang="ar-SA" sz="2400" dirty="0"/>
          </a:p>
        </p:txBody>
      </p:sp>
      <p:sp>
        <p:nvSpPr>
          <p:cNvPr id="49" name="Text 46"/>
          <p:cNvSpPr txBox="1"/>
          <p:nvPr/>
        </p:nvSpPr>
        <p:spPr>
          <a:xfrm>
            <a:off x="292608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a:t>
            </a:r>
            <a:endParaRPr lang="ar-SA" sz="2400" dirty="0"/>
          </a:p>
        </p:txBody>
      </p:sp>
      <p:sp>
        <p:nvSpPr>
          <p:cNvPr id="50" name="Text 47"/>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student(s)</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509760" y="4724400"/>
            <a:ext cx="21305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مَسْجِدٌ مَسَاجِدُ</a:t>
            </a:r>
            <a:endParaRPr lang="ar-SA" sz="1800" dirty="0"/>
          </a:p>
        </p:txBody>
      </p:sp>
      <p:sp>
        <p:nvSpPr>
          <p:cNvPr id="55" name="Text 52"/>
          <p:cNvSpPr txBox="1"/>
          <p:nvPr/>
        </p:nvSpPr>
        <p:spPr>
          <a:xfrm>
            <a:off x="7680960" y="4724400"/>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مَفَاعِلُ</a:t>
            </a:r>
            <a:endParaRPr lang="ar-SA" sz="2200" dirty="0"/>
          </a:p>
        </p:txBody>
      </p:sp>
      <p:sp>
        <p:nvSpPr>
          <p:cNvPr id="56" name="Text 53"/>
          <p:cNvSpPr txBox="1"/>
          <p:nvPr/>
        </p:nvSpPr>
        <p:spPr>
          <a:xfrm>
            <a:off x="530352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مَدَارِسُ</a:t>
            </a:r>
            <a:endParaRPr lang="ar-SA" sz="2400" dirty="0"/>
          </a:p>
        </p:txBody>
      </p:sp>
      <p:sp>
        <p:nvSpPr>
          <p:cNvPr id="57" name="Text 54"/>
          <p:cNvSpPr txBox="1"/>
          <p:nvPr/>
        </p:nvSpPr>
        <p:spPr>
          <a:xfrm>
            <a:off x="292608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مَدْرَسَةٌ</a:t>
            </a:r>
            <a:endParaRPr lang="ar-SA" sz="2400" dirty="0"/>
          </a:p>
        </p:txBody>
      </p:sp>
      <p:sp>
        <p:nvSpPr>
          <p:cNvPr id="58" name="Text 55"/>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school(s)</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509760" y="5338572"/>
            <a:ext cx="21305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حَدِيقَةٌ حَدَائِقُ</a:t>
            </a:r>
            <a:endParaRPr lang="ar-SA" sz="1800" dirty="0"/>
          </a:p>
        </p:txBody>
      </p:sp>
      <p:sp>
        <p:nvSpPr>
          <p:cNvPr id="61" name="Text 58"/>
          <p:cNvSpPr txBox="1"/>
          <p:nvPr/>
        </p:nvSpPr>
        <p:spPr>
          <a:xfrm>
            <a:off x="7680960" y="5338572"/>
            <a:ext cx="16459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فَعَائِلُ</a:t>
            </a:r>
            <a:endParaRPr lang="ar-SA" sz="2200" dirty="0"/>
          </a:p>
        </p:txBody>
      </p:sp>
      <p:sp>
        <p:nvSpPr>
          <p:cNvPr id="62" name="Text 59"/>
          <p:cNvSpPr txBox="1"/>
          <p:nvPr/>
        </p:nvSpPr>
        <p:spPr>
          <a:xfrm>
            <a:off x="530352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حَقَائِبُ</a:t>
            </a:r>
            <a:endParaRPr lang="ar-SA" sz="2400" dirty="0"/>
          </a:p>
        </p:txBody>
      </p:sp>
      <p:sp>
        <p:nvSpPr>
          <p:cNvPr id="63" name="Text 60"/>
          <p:cNvSpPr txBox="1"/>
          <p:nvPr/>
        </p:nvSpPr>
        <p:spPr>
          <a:xfrm>
            <a:off x="292608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حَقِيبَةٌ</a:t>
            </a:r>
            <a:endParaRPr lang="ar-SA" sz="2400" dirty="0"/>
          </a:p>
        </p:txBody>
      </p:sp>
      <p:sp>
        <p:nvSpPr>
          <p:cNvPr id="64" name="Text 61"/>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bag(s)</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Bonus pattern: house → houses and heart → hearts follow fuʿūl. Stretch: the last two patterns never take tanwīn (no -un).</a:t>
            </a:r>
            <a:endParaRPr lang="en-US" sz="11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3 · BROKEN PLURALS IN SENTENCES (WEBSITE SECTION) · DEVELOP</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People or things? The adjective tells you</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Agreement</a:t>
            </a:r>
            <a:endParaRPr lang="en-US" sz="1100" dirty="0"/>
          </a:p>
        </p:txBody>
      </p:sp>
      <p:sp>
        <p:nvSpPr>
          <p:cNvPr id="17" name="Text 14"/>
          <p:cNvSpPr txBox="1"/>
          <p:nvPr/>
        </p:nvSpPr>
        <p:spPr>
          <a:xfrm>
            <a:off x="382219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24788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 → PLURAL adjective</a:t>
            </a:r>
            <a:endParaRPr lang="en-US" sz="1100" dirty="0"/>
          </a:p>
        </p:txBody>
      </p:sp>
      <p:sp>
        <p:nvSpPr>
          <p:cNvPr id="21" name="Text 18"/>
          <p:cNvSpPr txBox="1"/>
          <p:nvPr/>
        </p:nvSpPr>
        <p:spPr>
          <a:xfrm>
            <a:off x="3840480" y="2267712"/>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الطُّلَّابُ مُجْتَهِدُونَ.</a:t>
            </a:r>
            <a:endParaRPr lang="ar-SA" sz="24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are hard-working.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24788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 → plural adjective</a:t>
            </a:r>
            <a:endParaRPr lang="en-US" sz="1100" dirty="0"/>
          </a:p>
        </p:txBody>
      </p:sp>
      <p:sp>
        <p:nvSpPr>
          <p:cNvPr id="27" name="Text 24"/>
          <p:cNvSpPr txBox="1"/>
          <p:nvPr/>
        </p:nvSpPr>
        <p:spPr>
          <a:xfrm>
            <a:off x="3840480" y="3054096"/>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الرِّجَالُ حَاضِرُونَ.</a:t>
            </a:r>
            <a:endParaRPr lang="ar-SA" sz="24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men are present.</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24788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feminine SINGULAR</a:t>
            </a:r>
            <a:endParaRPr lang="en-US" sz="1100" dirty="0"/>
          </a:p>
        </p:txBody>
      </p:sp>
      <p:sp>
        <p:nvSpPr>
          <p:cNvPr id="33" name="Text 30"/>
          <p:cNvSpPr txBox="1"/>
          <p:nvPr/>
        </p:nvSpPr>
        <p:spPr>
          <a:xfrm>
            <a:off x="3840480" y="3840480"/>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الْكُتُبُ مُفِيدَةٌ.</a:t>
            </a:r>
            <a:endParaRPr lang="ar-SA" sz="2400" dirty="0"/>
          </a:p>
        </p:txBody>
      </p:sp>
      <p:sp>
        <p:nvSpPr>
          <p:cNvPr id="34" name="Text 31"/>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books are useful.</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24788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feminine singular</a:t>
            </a:r>
            <a:endParaRPr lang="en-US" sz="1100" dirty="0"/>
          </a:p>
        </p:txBody>
      </p:sp>
      <p:sp>
        <p:nvSpPr>
          <p:cNvPr id="39" name="Text 36"/>
          <p:cNvSpPr txBox="1"/>
          <p:nvPr/>
        </p:nvSpPr>
        <p:spPr>
          <a:xfrm>
            <a:off x="3840480" y="4626864"/>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الْحَقَائِبُ ثَقِيلَةٌ.</a:t>
            </a:r>
            <a:endParaRPr lang="ar-SA" sz="2400" dirty="0"/>
          </a:p>
        </p:txBody>
      </p:sp>
      <p:sp>
        <p:nvSpPr>
          <p:cNvPr id="40" name="Text 37"/>
          <p:cNvSpPr txBox="1"/>
          <p:nvPr/>
        </p:nvSpPr>
        <p:spPr>
          <a:xfrm>
            <a:off x="56692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bags are heavy.</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plural looks the same kind for both — the MEANING (people or things) decides the adjective. GM-N-06 develops the non-human rule fully.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قَلَمٌ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قَلَمَاتٌ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قُلُمُونَ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أَقْلَامٌ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بُيُوتٌ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بَائِتُونَ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وَلَدُونَ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أَوْلَادٌ</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وِلَادَاتٌ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human?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طُلَّابٌ</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حَقَائِبُ</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قَلَمٌ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قَلَمَاتٌ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قُلُمُونَ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أَقْلَامٌ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Broken.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بُيُوتٌ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بَائِتُونَ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Common family.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وَلَدُونَ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أَوْلَادٌ</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وِلَادَاتٌ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Common broken plural.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human?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طُلَّابٌ</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حَقَائِبُ</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learn a word as a family</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Singular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قَلَمٌ</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pen — root q-l-m.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Plural</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أَقْلَامٌ</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Pattern afʿāl.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People or thing?</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أَقْلَامٌ</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thing.</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Sentence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الْأَقْلَامُ جَدِيدَةٌ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Thing → feminine singular.</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SINGULAR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BROKEN PLURAL</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a:t>
            </a:r>
            <a:pPr rtl="1" algn="r" indent="0" marL="0">
              <a:buNone/>
            </a:pPr>
            <a:r>
              <a:rPr lang="ar-SA" altLang="en-US" sz="2600" b="1" dirty="0">
                <a:solidFill>
                  <a:srgbClr val="0E7C86"/>
                </a:solidFill>
                <a:latin typeface="Amiri" pitchFamily="2" charset="-78"/>
                <a:ea typeface="Amiri" pitchFamily="2" charset="-78"/>
                <a:cs typeface="Amiri" pitchFamily="2" charset="-78"/>
              </a:rPr>
              <a:t>قَلَمٌ</a:t>
            </a:r>
            <a:pPr rtl="1" algn="r" indent="0" marL="0">
              <a:buNone/>
            </a:pPr>
            <a:r>
              <a:rPr lang="ar-SA" altLang="en-US" sz="2600" b="1" dirty="0">
                <a:solidFill>
                  <a:srgbClr val="1B3B6F"/>
                </a:solidFill>
                <a:latin typeface="Amiri" pitchFamily="2" charset="-78"/>
                <a:ea typeface="Amiri" pitchFamily="2" charset="-78"/>
                <a:cs typeface="Amiri" pitchFamily="2" charset="-78"/>
              </a:rPr>
              <a:t> وَاحِدٌ، وَعِنْدَ أَخِي </a:t>
            </a:r>
            <a:pPr rtl="1" algn="r" indent="0" marL="0">
              <a:buNone/>
            </a:pPr>
            <a:r>
              <a:rPr lang="ar-SA" altLang="en-US" sz="2600" b="1" dirty="0">
                <a:solidFill>
                  <a:srgbClr val="D6336C"/>
                </a:solidFill>
                <a:latin typeface="Amiri" pitchFamily="2" charset="-78"/>
                <a:ea typeface="Amiri" pitchFamily="2" charset="-78"/>
                <a:cs typeface="Amiri" pitchFamily="2" charset="-78"/>
              </a:rPr>
              <a:t>أَقْلَامٌ</a:t>
            </a:r>
            <a:pPr rtl="1" algn="r" indent="0" marL="0">
              <a:buNone/>
            </a:pPr>
            <a:r>
              <a:rPr lang="ar-SA" altLang="en-US" sz="2600" b="1" dirty="0">
                <a:solidFill>
                  <a:srgbClr val="1B3B6F"/>
                </a:solidFill>
                <a:latin typeface="Amiri" pitchFamily="2" charset="-78"/>
                <a:ea typeface="Amiri" pitchFamily="2" charset="-78"/>
                <a:cs typeface="Amiri" pitchFamily="2" charset="-78"/>
              </a:rPr>
              <a:t> كَثِيرَةٌ. فِي الصَّفِّ </a:t>
            </a:r>
            <a:pPr rtl="1" algn="r" indent="0" marL="0">
              <a:buNone/>
            </a:pPr>
            <a:r>
              <a:rPr lang="ar-SA" altLang="en-US" sz="2600" b="1" dirty="0">
                <a:solidFill>
                  <a:srgbClr val="D6336C"/>
                </a:solidFill>
                <a:latin typeface="Amiri" pitchFamily="2" charset="-78"/>
                <a:ea typeface="Amiri" pitchFamily="2" charset="-78"/>
                <a:cs typeface="Amiri" pitchFamily="2" charset="-78"/>
              </a:rPr>
              <a:t>طُلَّابٌ</a:t>
            </a:r>
            <a:pPr rtl="1" algn="r" indent="0" marL="0">
              <a:buNone/>
            </a:pPr>
            <a:r>
              <a:rPr lang="ar-SA" altLang="en-US" sz="2600" b="1" dirty="0">
                <a:solidFill>
                  <a:srgbClr val="1B3B6F"/>
                </a:solidFill>
                <a:latin typeface="Amiri" pitchFamily="2" charset="-78"/>
                <a:ea typeface="Amiri" pitchFamily="2" charset="-78"/>
                <a:cs typeface="Amiri" pitchFamily="2" charset="-78"/>
              </a:rPr>
              <a:t> مُجْتَهِدُونَ.</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have one pen, and my brother has many pens. In the class there are hard-working students.</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الْكُتُبُ فِي الْمَكْتَبَةِ مُفِيدَةٌ.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books in the library are useful.</a:t>
            </a:r>
            <a:endParaRPr lang="en-US" sz="1250" dirty="0"/>
          </a:p>
          <a:p>
            <a:pPr indent="0" marL="0">
              <a:buNone/>
            </a:pPr>
            <a:r>
              <a:rPr lang="en-US" sz="1050" i="1" dirty="0">
                <a:solidFill>
                  <a:srgbClr val="8A6D1E"/>
                </a:solidFill>
                <a:latin typeface="Calibri" pitchFamily="34" charset="0"/>
                <a:cs typeface="Amiri" pitchFamily="2" charset="-78"/>
              </a:rPr>
              <a:t>Website sentence: things → feminine singular.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الطُّلَّابُ مُجْتَهِدُونَ.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students are hard-working.</a:t>
            </a:r>
            <a:endParaRPr lang="en-US" sz="1250" dirty="0"/>
          </a:p>
          <a:p>
            <a:pPr indent="0" marL="0">
              <a:buNone/>
            </a:pPr>
            <a:r>
              <a:rPr lang="en-US" sz="1050" i="1" dirty="0">
                <a:solidFill>
                  <a:srgbClr val="8A6D1E"/>
                </a:solidFill>
                <a:latin typeface="Calibri" pitchFamily="34" charset="0"/>
                <a:cs typeface="Amiri" pitchFamily="2" charset="-78"/>
              </a:rPr>
              <a:t>Website sentence: people → plural.</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مَدِينَتِنَا مَسَاجِدُ كَبِيرَةٌ.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our city there are big mosques.</a:t>
            </a:r>
            <a:endParaRPr lang="en-US" sz="1250" dirty="0"/>
          </a:p>
          <a:p>
            <a:pPr indent="0" marL="0">
              <a:buNone/>
            </a:pPr>
            <a:r>
              <a:rPr lang="en-US" sz="1050" i="1" dirty="0">
                <a:solidFill>
                  <a:srgbClr val="8A6D1E"/>
                </a:solidFill>
                <a:latin typeface="Calibri" pitchFamily="34" charset="0"/>
                <a:cs typeface="Amiri" pitchFamily="2" charset="-78"/>
              </a:rPr>
              <a:t>No tanwīn on this plural.</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لَعِبَ الْأَوْلَادُ فِي الْحَدَائِقِ.</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boys played in the gardens.</a:t>
            </a:r>
            <a:endParaRPr lang="en-US" sz="1250" dirty="0"/>
          </a:p>
          <a:p>
            <a:pPr indent="0" marL="0">
              <a:buNone/>
            </a:pPr>
            <a:r>
              <a:rPr lang="en-US" sz="1050" i="1" dirty="0">
                <a:solidFill>
                  <a:srgbClr val="8A6D1E"/>
                </a:solidFill>
                <a:latin typeface="Calibri" pitchFamily="34" charset="0"/>
                <a:cs typeface="Amiri" pitchFamily="2" charset="-78"/>
              </a:rPr>
              <a:t>Two broken plurals in one sentence.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PEOPLE OR THINGS?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Human or non-human plural?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عَاقِلٌ أَمْ غَيْرُ 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طُلَّابٌ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رِجَالٌ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أَقْلَامٌ</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بُيُوتٌ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حَقَائِبُ</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People (plural adjective)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Things (feminine singular adjective)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People (plural adjective)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طُلَّابٌ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رِجَالٌ</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أَوْلَادٌ</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Things (feminine singular adjective)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أَقْلَامٌ</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بُيُوتٌ</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حَقَائِبُ</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COMPLETE THE FAMILY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Singular, plural,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أَكْمِلِ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7" name="Text 14"/>
          <p:cNvSpPr txBox="1"/>
          <p:nvPr/>
        </p:nvSpPr>
        <p:spPr>
          <a:xfrm>
            <a:off x="52852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a:t>
            </a:r>
            <a:endParaRPr lang="en-US" sz="1100" dirty="0"/>
          </a:p>
        </p:txBody>
      </p:sp>
      <p:sp>
        <p:nvSpPr>
          <p:cNvPr id="18" name="Text 15"/>
          <p:cNvSpPr txBox="1"/>
          <p:nvPr/>
        </p:nvSpPr>
        <p:spPr>
          <a:xfrm>
            <a:off x="29077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Singular</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7680960" y="2267712"/>
            <a:ext cx="3959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الْبُيُوتُ قَدِيمَةٌ.</a:t>
            </a:r>
            <a:endParaRPr lang="ar-SA" sz="2200" dirty="0"/>
          </a:p>
        </p:txBody>
      </p:sp>
      <p:sp>
        <p:nvSpPr>
          <p:cNvPr id="22" name="Text 19"/>
          <p:cNvSpPr txBox="1"/>
          <p:nvPr/>
        </p:nvSpPr>
        <p:spPr>
          <a:xfrm>
            <a:off x="530352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بُيُوتٌ</a:t>
            </a:r>
            <a:endParaRPr lang="ar-SA" sz="2400" dirty="0"/>
          </a:p>
        </p:txBody>
      </p:sp>
      <p:sp>
        <p:nvSpPr>
          <p:cNvPr id="23" name="Text 20"/>
          <p:cNvSpPr txBox="1"/>
          <p:nvPr/>
        </p:nvSpPr>
        <p:spPr>
          <a:xfrm>
            <a:off x="292608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a:t>
            </a:r>
            <a:endParaRPr lang="ar-SA" sz="2400" dirty="0"/>
          </a:p>
        </p:txBody>
      </p:sp>
      <p:sp>
        <p:nvSpPr>
          <p:cNvPr id="24" name="Text 21"/>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house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7680960" y="3004718"/>
            <a:ext cx="3959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الْأَوْلَادُ سُعَدَاءُ.</a:t>
            </a:r>
            <a:endParaRPr lang="ar-SA" sz="2200" dirty="0"/>
          </a:p>
        </p:txBody>
      </p:sp>
      <p:sp>
        <p:nvSpPr>
          <p:cNvPr id="29" name="Text 26"/>
          <p:cNvSpPr txBox="1"/>
          <p:nvPr/>
        </p:nvSpPr>
        <p:spPr>
          <a:xfrm>
            <a:off x="530352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أَوْلَادٌ</a:t>
            </a:r>
            <a:endParaRPr lang="ar-SA" sz="2400" dirty="0"/>
          </a:p>
        </p:txBody>
      </p:sp>
      <p:sp>
        <p:nvSpPr>
          <p:cNvPr id="30" name="Text 27"/>
          <p:cNvSpPr txBox="1"/>
          <p:nvPr/>
        </p:nvSpPr>
        <p:spPr>
          <a:xfrm>
            <a:off x="292608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وَلَدٌ</a:t>
            </a:r>
            <a:endParaRPr lang="ar-SA" sz="2400" dirty="0"/>
          </a:p>
        </p:txBody>
      </p:sp>
      <p:sp>
        <p:nvSpPr>
          <p:cNvPr id="31" name="Text 28"/>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7680960" y="3741725"/>
            <a:ext cx="3959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الْمُدُنُ كَبِيرَةٌ.</a:t>
            </a:r>
            <a:endParaRPr lang="ar-SA" sz="2200" dirty="0"/>
          </a:p>
        </p:txBody>
      </p:sp>
      <p:sp>
        <p:nvSpPr>
          <p:cNvPr id="36" name="Text 33"/>
          <p:cNvSpPr txBox="1"/>
          <p:nvPr/>
        </p:nvSpPr>
        <p:spPr>
          <a:xfrm>
            <a:off x="530352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مُدُنٌ</a:t>
            </a:r>
            <a:endParaRPr lang="ar-SA" sz="2400" dirty="0"/>
          </a:p>
        </p:txBody>
      </p:sp>
      <p:sp>
        <p:nvSpPr>
          <p:cNvPr id="37" name="Text 34"/>
          <p:cNvSpPr txBox="1"/>
          <p:nvPr/>
        </p:nvSpPr>
        <p:spPr>
          <a:xfrm>
            <a:off x="292608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مَدِينَةٌ</a:t>
            </a:r>
            <a:endParaRPr lang="ar-SA" sz="2400" dirty="0"/>
          </a:p>
        </p:txBody>
      </p:sp>
      <p:sp>
        <p:nvSpPr>
          <p:cNvPr id="38" name="Text 35"/>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city</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7680960" y="4478731"/>
            <a:ext cx="3959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الْمَسَاجِدُ جَمِيلَةٌ.</a:t>
            </a:r>
            <a:endParaRPr lang="ar-SA" sz="2200" dirty="0"/>
          </a:p>
        </p:txBody>
      </p:sp>
      <p:sp>
        <p:nvSpPr>
          <p:cNvPr id="43" name="Text 40"/>
          <p:cNvSpPr txBox="1"/>
          <p:nvPr/>
        </p:nvSpPr>
        <p:spPr>
          <a:xfrm>
            <a:off x="530352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مَسَاجِدُ</a:t>
            </a:r>
            <a:endParaRPr lang="ar-SA" sz="2400" dirty="0"/>
          </a:p>
        </p:txBody>
      </p:sp>
      <p:sp>
        <p:nvSpPr>
          <p:cNvPr id="44" name="Text 41"/>
          <p:cNvSpPr txBox="1"/>
          <p:nvPr/>
        </p:nvSpPr>
        <p:spPr>
          <a:xfrm>
            <a:off x="292608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مَسْجِدٌ</a:t>
            </a:r>
            <a:endParaRPr lang="ar-SA" sz="2400" dirty="0"/>
          </a:p>
        </p:txBody>
      </p:sp>
      <p:sp>
        <p:nvSpPr>
          <p:cNvPr id="45" name="Text 42"/>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mosque</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7680960" y="5215738"/>
            <a:ext cx="39593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الْجِبَالُ عَالِيَةٌ.</a:t>
            </a:r>
            <a:endParaRPr lang="ar-SA" sz="2200" dirty="0"/>
          </a:p>
        </p:txBody>
      </p:sp>
      <p:sp>
        <p:nvSpPr>
          <p:cNvPr id="48" name="Text 45"/>
          <p:cNvSpPr txBox="1"/>
          <p:nvPr/>
        </p:nvSpPr>
        <p:spPr>
          <a:xfrm>
            <a:off x="530352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جِبَالٌ</a:t>
            </a:r>
            <a:endParaRPr lang="ar-SA" sz="2400" dirty="0"/>
          </a:p>
        </p:txBody>
      </p:sp>
      <p:sp>
        <p:nvSpPr>
          <p:cNvPr id="49" name="Text 46"/>
          <p:cNvSpPr txBox="1"/>
          <p:nvPr/>
        </p:nvSpPr>
        <p:spPr>
          <a:xfrm>
            <a:off x="292608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جَبَلٌ</a:t>
            </a:r>
            <a:endParaRPr lang="ar-SA" sz="2400" dirty="0"/>
          </a:p>
        </p:txBody>
      </p:sp>
      <p:sp>
        <p:nvSpPr>
          <p:cNvPr id="50" name="Text 47"/>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mountain</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plural column and test a partner: one says the singular, the other the plural, then the sentence.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كِتَابَاتٌ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plural regular?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الْكُتُبُ مُفِيدُونَ.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People or things?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الطُّلَّابُ مُجْتَهِدٌ.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Singular or plural adjective?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كِتَابَاتٌ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Book has a broken plural.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الْكُتُبُ مُفِيدُونَ.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الْكُتُبُ مُفِيدَةٌ.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Things → feminine singular.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الطُّلَّابُ مُجْتَهِدٌ.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الطُّلَّابُ مُجْتَهِدُونَ.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People → plural adjective.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MASTERY CHECK QUESTIONS 5–8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with </a:t>
            </a:r>
            <a:pPr algn="l" indent="0" marL="0">
              <a:buNone/>
            </a:pPr>
            <a:r>
              <a:rPr lang="ar-SA" altLang="en-US" sz="1650" b="1" dirty="0">
                <a:solidFill>
                  <a:srgbClr val="1B3B6F"/>
                </a:solidFill>
                <a:latin typeface="Amiri" pitchFamily="2" charset="-78"/>
                <a:ea typeface="Amiri" pitchFamily="2" charset="-78"/>
                <a:cs typeface="Amiri" pitchFamily="2" charset="-78"/>
              </a:rPr>
              <a:t>الْكُتُبُ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مُفِيدُونَ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مُفِيدَاتٌ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مُفِيدَةٌ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vocabulary entry.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مَدْرَسَةٌ</a:t>
            </a:r>
            <a:pPr algn="l" indent="0" marL="0">
              <a:buNone/>
            </a:pPr>
            <a:r>
              <a:rPr lang="en-US" sz="1250" dirty="0">
                <a:solidFill>
                  <a:srgbClr val="1F2A37"/>
                </a:solidFill>
                <a:latin typeface="Calibri" pitchFamily="34" charset="0"/>
                <a:cs typeface="Amiri" pitchFamily="2" charset="-78"/>
              </a:rPr>
              <a:t> only</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مَدْرَسَةٌ / مَدَارِسُ</a:t>
            </a:r>
            <a:pPr algn="l" indent="0" marL="0">
              <a:buNone/>
            </a:pPr>
            <a:r>
              <a:rPr lang="en-US" sz="1250" dirty="0">
                <a:solidFill>
                  <a:srgbClr val="1F2A37"/>
                </a:solidFill>
                <a:latin typeface="Calibri" pitchFamily="34" charset="0"/>
                <a:cs typeface="Amiri" pitchFamily="2" charset="-78"/>
              </a:rPr>
              <a:t> + example</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مَدْرَسَاتٌ</a:t>
            </a:r>
            <a:pPr algn="l" indent="0" marL="0">
              <a:buNone/>
            </a:pPr>
            <a:r>
              <a:rPr lang="en-US" sz="1250" dirty="0">
                <a:solidFill>
                  <a:srgbClr val="1F2A37"/>
                </a:solidFill>
                <a:latin typeface="Calibri" pitchFamily="34" charset="0"/>
                <a:cs typeface="Amiri" pitchFamily="2" charset="-78"/>
              </a:rPr>
              <a:t> always</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sound plural?</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مُعَلِّمُونَ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رِجَالٌ</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Meaning of broken plural.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case endings</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non-human</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Internal pattern change</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with </a:t>
            </a:r>
            <a:pPr algn="l" indent="0" marL="0">
              <a:buNone/>
            </a:pPr>
            <a:r>
              <a:rPr lang="ar-SA" altLang="en-US" sz="1650" b="1" dirty="0">
                <a:solidFill>
                  <a:srgbClr val="1B3B6F"/>
                </a:solidFill>
                <a:latin typeface="Amiri" pitchFamily="2" charset="-78"/>
                <a:ea typeface="Amiri" pitchFamily="2" charset="-78"/>
                <a:cs typeface="Amiri" pitchFamily="2" charset="-78"/>
              </a:rPr>
              <a:t>الْكُتُبُ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مُفِيدُونَ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مُفِيدَاتٌ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مُفِيدَةٌ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vocabulary entry.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مَدْرَسَةٌ</a:t>
            </a:r>
            <a:pPr algn="l" indent="0" marL="0">
              <a:buNone/>
            </a:pPr>
            <a:r>
              <a:rPr lang="en-US" sz="1250" dirty="0">
                <a:solidFill>
                  <a:srgbClr val="9AA1AB"/>
                </a:solidFill>
                <a:latin typeface="Calibri" pitchFamily="34" charset="0"/>
                <a:cs typeface="Amiri" pitchFamily="2" charset="-78"/>
              </a:rPr>
              <a:t> only</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مَدْرَسَةٌ / مَدَارِسُ</a:t>
            </a:r>
            <a:pPr algn="l" indent="0" marL="0">
              <a:buNone/>
            </a:pPr>
            <a:r>
              <a:rPr lang="en-US" sz="1250" b="1" dirty="0">
                <a:solidFill>
                  <a:srgbClr val="1F2A37"/>
                </a:solidFill>
                <a:latin typeface="Calibri" pitchFamily="34" charset="0"/>
                <a:cs typeface="Amiri" pitchFamily="2" charset="-78"/>
              </a:rPr>
              <a:t> + example</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مَدْرَسَاتٌ</a:t>
            </a:r>
            <a:pPr algn="l" indent="0" marL="0">
              <a:buNone/>
            </a:pPr>
            <a:r>
              <a:rPr lang="en-US" sz="1250" dirty="0">
                <a:solidFill>
                  <a:srgbClr val="9AA1AB"/>
                </a:solidFill>
                <a:latin typeface="Calibri" pitchFamily="34" charset="0"/>
                <a:cs typeface="Amiri" pitchFamily="2" charset="-78"/>
              </a:rPr>
              <a:t> always</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Learn family.</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sound plural?</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مُعَلِّمُونَ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رِجَالٌ</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Regular suffix.</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Meaning of broken plural.</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case endings</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non-human</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Internal pattern change</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READ AND NOTICE · WEBSITE READ-AND-NOTICE TEXT, EXTENDED BY THE TEACHER</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school library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مَدْرَسَتِنَا طَالِبَانِ جَدِيدَانِ وَمُعَلِّمَاتٌ خَبِيرَاتٌ. الْفُصُولُ وَاسِعَةٌ، وَمَكْتَبُ مُدِيرِ الْمَدْرَسَةِ قَرِيبٌ مِنَ الْمَدْخَلِ. فِي الْمَكْتَبَةِ كُتُبٌ كَثِيرَةٌ وَأَقْلَامٌ مُلَوَّنَةٌ. يَقْرَأُ الطُّلَّابُ هُنَاكَ، وَهُمْ هَادِئُونَ.</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الْفُصُولُ</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classrooms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وَاسِعَةٌ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spacious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مَكْتَبُ</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office of</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الْمَدْخَلِ</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entrance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مُلَوَّنَةٌ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coloured</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هَادِئُونَ</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quiet (m. pl.)</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plural is </a:t>
            </a:r>
            <a:pPr algn="l" indent="0" marL="0">
              <a:buNone/>
            </a:pPr>
            <a:r>
              <a:rPr lang="ar-SA" altLang="en-US" sz="1650" b="1" dirty="0">
                <a:solidFill>
                  <a:srgbClr val="1B3B6F"/>
                </a:solidFill>
                <a:latin typeface="Amiri" pitchFamily="2" charset="-78"/>
                <a:ea typeface="Amiri" pitchFamily="2" charset="-78"/>
                <a:cs typeface="Amiri" pitchFamily="2" charset="-78"/>
              </a:rPr>
              <a:t>الْفُصُولُ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sound masculine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broken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sound feminine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adjective </a:t>
            </a:r>
            <a:pPr algn="l" indent="0" marL="0">
              <a:buNone/>
            </a:pPr>
            <a:r>
              <a:rPr lang="ar-SA" altLang="en-US" sz="1650" b="1" dirty="0">
                <a:solidFill>
                  <a:srgbClr val="1B3B6F"/>
                </a:solidFill>
                <a:latin typeface="Amiri" pitchFamily="2" charset="-78"/>
                <a:ea typeface="Amiri" pitchFamily="2" charset="-78"/>
                <a:cs typeface="Amiri" pitchFamily="2" charset="-78"/>
              </a:rPr>
              <a:t>وَاسِعَةٌ</a:t>
            </a:r>
            <a:pPr algn="l" indent="0" marL="0">
              <a:buNone/>
            </a:pPr>
            <a:r>
              <a:rPr lang="en-US" sz="1250" b="1" dirty="0">
                <a:solidFill>
                  <a:srgbClr val="1B3B6F"/>
                </a:solidFill>
                <a:latin typeface="Calibri" pitchFamily="34" charset="0"/>
                <a:cs typeface="Amiri" pitchFamily="2" charset="-78"/>
              </a:rPr>
              <a:t> feminine singular?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Classrooms are women.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Classrooms are things.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هَادِئُونَ</a:t>
            </a:r>
            <a:pPr algn="l" indent="0" marL="0">
              <a:buNone/>
            </a:pPr>
            <a:r>
              <a:rPr lang="en-US" sz="1250" b="1" dirty="0">
                <a:solidFill>
                  <a:srgbClr val="1B3B6F"/>
                </a:solidFill>
                <a:latin typeface="Calibri" pitchFamily="34" charset="0"/>
                <a:cs typeface="Amiri" pitchFamily="2" charset="-78"/>
              </a:rPr>
              <a:t> (plural)?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students — people.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books.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dual.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SOUND plural?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أَقْلَامٌ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plural is </a:t>
            </a:r>
            <a:pPr algn="l" indent="0" marL="0">
              <a:buNone/>
            </a:pPr>
            <a:r>
              <a:rPr lang="ar-SA" altLang="en-US" sz="1650" b="1" dirty="0">
                <a:solidFill>
                  <a:srgbClr val="1B3B6F"/>
                </a:solidFill>
                <a:latin typeface="Amiri" pitchFamily="2" charset="-78"/>
                <a:ea typeface="Amiri" pitchFamily="2" charset="-78"/>
                <a:cs typeface="Amiri" pitchFamily="2" charset="-78"/>
              </a:rPr>
              <a:t>الْفُصُولُ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sound masculine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broken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sound feminine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a:t>
            </a:r>
            <a:pPr algn="l" indent="0" marL="0">
              <a:buNone/>
            </a:pPr>
            <a:r>
              <a:rPr lang="ar-SA" altLang="en-US" sz="1350" dirty="0">
                <a:solidFill>
                  <a:srgbClr val="8A6D1E"/>
                </a:solidFill>
                <a:latin typeface="Amiri" pitchFamily="2" charset="-78"/>
                <a:ea typeface="Amiri" pitchFamily="2" charset="-78"/>
                <a:cs typeface="Amiri" pitchFamily="2" charset="-78"/>
              </a:rPr>
              <a:t>فَصْلٌ</a:t>
            </a:r>
            <a:pPr algn="l" indent="0" marL="0">
              <a:buNone/>
            </a:pPr>
            <a:r>
              <a:rPr lang="en-US" sz="1050" i="1" dirty="0">
                <a:solidFill>
                  <a:srgbClr val="8A6D1E"/>
                </a:solidFill>
                <a:latin typeface="Calibri" pitchFamily="34" charset="0"/>
                <a:cs typeface="Amiri" pitchFamily="2" charset="-78"/>
              </a:rPr>
              <a:t>, pattern fuʿūl.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adjective </a:t>
            </a:r>
            <a:pPr algn="l" indent="0" marL="0">
              <a:buNone/>
            </a:pPr>
            <a:r>
              <a:rPr lang="ar-SA" altLang="en-US" sz="1650" b="1" dirty="0">
                <a:solidFill>
                  <a:srgbClr val="1B3B6F"/>
                </a:solidFill>
                <a:latin typeface="Amiri" pitchFamily="2" charset="-78"/>
                <a:ea typeface="Amiri" pitchFamily="2" charset="-78"/>
                <a:cs typeface="Amiri" pitchFamily="2" charset="-78"/>
              </a:rPr>
              <a:t>وَاسِعَةٌ</a:t>
            </a:r>
            <a:pPr algn="l" indent="0" marL="0">
              <a:buNone/>
            </a:pPr>
            <a:r>
              <a:rPr lang="en-US" sz="1250" b="1" dirty="0">
                <a:solidFill>
                  <a:srgbClr val="1B3B6F"/>
                </a:solidFill>
                <a:latin typeface="Calibri" pitchFamily="34" charset="0"/>
                <a:cs typeface="Amiri" pitchFamily="2" charset="-78"/>
              </a:rPr>
              <a:t> feminine singular?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Classrooms are women.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Classrooms are things.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هَادِئُونَ</a:t>
            </a:r>
            <a:pPr algn="l" indent="0" marL="0">
              <a:buNone/>
            </a:pPr>
            <a:r>
              <a:rPr lang="en-US" sz="1250" b="1" dirty="0">
                <a:solidFill>
                  <a:srgbClr val="1B3B6F"/>
                </a:solidFill>
                <a:latin typeface="Calibri" pitchFamily="34" charset="0"/>
                <a:cs typeface="Amiri" pitchFamily="2" charset="-78"/>
              </a:rPr>
              <a:t> (plural)?</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describes students — people.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describes books.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dual.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plural → plural adjective.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SOUND plural?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مُعَلِّمَاتٌ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أَقْلَامٌ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ends in -āt.</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what is in your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فِي حَقِيبَتِكَ؟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الطُّلَّابَ وَالْكُتُبَ فِي صَفِّكَ.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فِي مَدِينَتِكَ؟ (مَسَاجِدُ، حَدَائِقُ، شَوَارِعُ …)</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حَقِيبَتِي كُتُبٌ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الطُّلَّابُ ___ ، وَالْكُتُبُ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مَدِينَتِي ___ كَبِيرَةٌ.</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فِي حَقِيبَتِكَ؟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in your bag?</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حَقِيبَتِي كُتُبٌ وَدَفَاتِرُ وَأَقْلَامٌ. الْكُتُبُ ثَقِيلَةٌ!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In my bag there are books, exercise books and pens. The books are heavy!</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each with one broken plural from the family table.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frames and word bank.</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Mix people and things; check every adjective.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People → plural adjective · things → feminine singular.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8–12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at least two plurals that take no tanwīn.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Schools, mosques, gardens, bags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مَدِينَتِنَا ______ كَثِيرَةٌ.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our city there are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الرِّجَالُ فِي الْمَسْجِدِ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men in the mosque are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أَقْرَأُ كُتُبًا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books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الْحَقَائِبُ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bags are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حَقِيبَتِي كُتُبٌ وَ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bag there are books and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الطُّلَّابُ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students are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الْبُيُوتُ فِي شَارِعِي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houses in my street are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يَلْعَبُ الْأَوْلَادُ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boys are playing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كُتُبٌ  ·  أَقْلَامٌ  ·  دَفَاتِرُ  ·  بُيُوتٌ  ·  مَدَارِسُ  ·  مَسَاجِدُ  ·  حَدَائِقُ  ·  طُلَّابٌ  ·  أَوْلَادٌ  ·  رِجَالٌ  ·  كَبِيرَةٌ  ·  مُفِيدَةٌ  ·  جَمِيلَةٌ  ·  مُجْتَهِدُونَ  ·  حَاضِرُونَ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8–12 connected sentences about your school, home or local area with at least six target noun forms.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different broken plurals.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people plurals with a plural adjective.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thing plurals with a feminine singular adjective.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plurals with no tanwīn (schools, mosques, gardens …).</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sound plural for contrast.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الطُّلَّابُ مُجْتَهِدُونَ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students are hard-working</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الْكُتُبُ مُفِيدَةٌ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books are useful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مَسَاجِدُ جَمِيلَةٌ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beautiful mosques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حَدَائِقُ وَاسِعَةٌ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spacious gardens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بُيُوتٌ قَدِيمَةٌ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old houses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الرِّجَالُ حَاضِرُونَ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men are present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مَدِينَةٍ صَغِيرَةٍ. فِي مَدِينَتِي بُيُوتٌ قَدِيمَةٌ وَشَوَارِعُ هَادِئَةٌ وَمَسَاجِدُ جَمِيلَةٌ. فِي مَدْرَسَتِي طُلَّابٌ مُجْتَهِدُونَ وَمُعَلِّمُونَ لُطَفَاءُ. فِي الْمَكْتَبَةِ كُتُبٌ مُفِيدَةٌ، وَأَقْرَأُ كُتُبًا كَثِيرَةً كُلَّ أُسْبُوعٍ. يَلْعَبُ الْأَوْلَادُ فِي الْحَدَائِقِ.</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small town. In my town there are old houses, quiet streets and beautiful mosques. In my school there are hard-working students and kind teachers. In the library there are useful books, and I read many books every week. The boys play in the gardens.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broken plurals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people: plural adj.</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things: singular adj.</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 tanwīn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least six broken plurals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add -āt or -ūna to a broken-plural noun.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People have a plural adjective.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Things have a feminine singular adjective.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Schools, mosques and gardens have no tanwīn.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وَلَدُونَ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وَلَدَاتٌ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الْبُيُوتُ كَبِيرُونَ.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الْبُيُوتُ كَبِيرَةٌ.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الْبُيُوتُ كَبِيرٌ.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الرِّجَالُ حَاضِرُونَ.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الرِّجَالُ حَاضِرَةٌ.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الرِّجَالُ حَاضِرٌ.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Plural of </a:t>
            </a:r>
            <a:pPr algn="l" indent="0" marL="0">
              <a:buNone/>
            </a:pPr>
            <a:r>
              <a:rPr lang="ar-SA" altLang="en-US" sz="1650" b="1" dirty="0">
                <a:solidFill>
                  <a:srgbClr val="1B3B6F"/>
                </a:solidFill>
                <a:latin typeface="Amiri" pitchFamily="2" charset="-78"/>
                <a:ea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أَوْلَادٌ</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وَلَدُونَ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وَلَدَاتٌ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Pattern afʿāl.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الْبُيُوتُ كَبِيرُونَ.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الْبُيُوتُ كَبِيرَةٌ.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الْبُيُوتُ كَبِيرٌ.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Things → feminine singular.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الرِّجَالُ حَاضِرُونَ.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الرِّجَالُ حَاضِرَةٌ.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الرِّجَالُ حَاضِرٌ.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 plural adjective.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GM-N-05 · 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GM-N-06: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GM-N-06 · Non-Human Plural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غَيْرُ عَاقِلٍ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non-human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سَيَّارَاتٌ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cars</a:t>
            </a:r>
            <a:pPr indent="0" marL="0">
              <a:buNone/>
            </a:pPr>
            <a:r>
              <a:rPr lang="ar-SA" sz="1000" i="1" dirty="0">
                <a:solidFill>
                  <a:srgbClr val="5A6472"/>
                </a:solidFill>
                <a:latin typeface="Calibri" pitchFamily="34" charset="0"/>
                <a:ea typeface="Amiri" pitchFamily="2" charset="-78"/>
                <a:cs typeface="Amiri" pitchFamily="2" charset="-78"/>
              </a:rPr>
              <a:t>  sing. سَيَّارَةٌ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أَشْجَارٌ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trees</a:t>
            </a:r>
            <a:pPr indent="0" marL="0">
              <a:buNone/>
            </a:pPr>
            <a:r>
              <a:rPr lang="ar-SA" sz="1000" i="1" dirty="0">
                <a:solidFill>
                  <a:srgbClr val="5A6472"/>
                </a:solidFill>
                <a:latin typeface="Calibri" pitchFamily="34" charset="0"/>
                <a:ea typeface="Amiri" pitchFamily="2" charset="-78"/>
                <a:cs typeface="Amiri" pitchFamily="2" charset="-78"/>
              </a:rPr>
              <a:t>  sing. شَجَرَةٌ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شَوَارِعُ</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streets</a:t>
            </a:r>
            <a:pPr indent="0" marL="0">
              <a:buNone/>
            </a:pPr>
            <a:r>
              <a:rPr lang="ar-SA" sz="1000" i="1" dirty="0">
                <a:solidFill>
                  <a:srgbClr val="5A6472"/>
                </a:solidFill>
                <a:latin typeface="Calibri" pitchFamily="34" charset="0"/>
                <a:ea typeface="Amiri" pitchFamily="2" charset="-78"/>
                <a:cs typeface="Amiri" pitchFamily="2" charset="-78"/>
              </a:rPr>
              <a:t>  sing. شَارِعٌ</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she / it (for things)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We say “the books are useful” with a FEMININE SINGULAR adjective. Which pronoun would you use for “they” (the books)?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الْكُتُبُ مُفِيدَةٌ · ______ عَلَى الطَّاوِلَةِ.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Make a family card for ten nouns: singular, plural, meaning.</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sentences: four about people, four about things.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and sort your ten nouns by pattern.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50" b="1" dirty="0">
                <a:solidFill>
                  <a:srgbClr val="FFFFFF"/>
                </a:solidFill>
                <a:latin typeface="Cambria" pitchFamily="34" charset="0"/>
                <a:cs typeface="Amiri" pitchFamily="2" charset="-78"/>
              </a:rPr>
              <a:t>GM-N-06 · Non-Human Plural Agreement</a:t>
            </a:r>
            <a:endParaRPr lang="en-US" sz="24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جَمْعُ غَيْرِ الْعَاقِلِ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broken = reshaped, not wrong · learn singular + plural + sentence · people → plural adjective, things → feminine singular.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GM-N-05 · Broken Plurals</dc:title>
  <dc:subject>PptxGenJS Presentation</dc:subject>
  <dc:creator>Al Madina Online School · Arabic Department</dc:creator>
  <cp:lastModifiedBy>Al Madina Online School · Arabic Department</cp:lastModifiedBy>
  <cp:revision>1</cp:revision>
  <dcterms:created xsi:type="dcterms:W3CDTF">2026-10-11T06:42:18Z</dcterms:created>
  <dcterms:modified xsi:type="dcterms:W3CDTF">2026-10-11T06:42:18Z</dcterms:modified>
</cp:coreProperties>
</file>