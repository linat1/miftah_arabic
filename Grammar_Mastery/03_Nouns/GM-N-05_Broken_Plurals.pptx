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Nouns › GM-N-05 (“Broken Plurals”).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recognise 8–10 high-frequency families (كِتَابٌ كُتُبٌ · قَلَمٌ أَقْلَامٌ · وَلَدٌ أَوْلَادٌ · بَيْتٌ بُيُوتٌ · رَجُلٌ رِجَالٌ · طَالِبٌ طُلَّابٌ · مَدْرَسَةٌ مَدَارِسُ). Develop: agreement — people plural adjective, things feminine singular. Stretch: name the pattern (أَفْعَال · فُعُول · مَفَاعِل …) and notice that مَدَارِسُ / حَقَائِبُ take no tanwīn.
• “Broken” does NOT mean wrong — the singular is “broken open” and rebuilt. Students often think it is an error form; correct this early (website entry check question 6).
• Qur’an bridge: كُتُب (وَكُتُبِهِ وَرُسُلِهِ) · أَنْهَار · رِجَال · قُلُوب — all broken plurals students already recite.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it uses the five prepared words from GM-N-04.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broken plural changes the inside of the word. There is no single ending — learn singular and plural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1 (3 min) — website section “What broken means”. Write كِتَابٌ / كُتُبٌ and colour k-t-b in both: “the root is still there — only the vowels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2 (4 min) — website “Useful pattern clue” table, with a teacher-added column of words that share each pattern. Core: learn the first four rows. Stretch: مَدَارِسُ / حَقَائِبُ are diptotes — single ḍamma, no tanwīn.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website section “Use broken plurals in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guided mini-check,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think aloud at every step: name the rule in English and Arabic as you apply it.
Model the vocabulary-family habit: say “qalam — aqlām — al-aqlāmu jadīda”. Then contrast: طُلَّابٌ مُجْتَهِدُونَ (people → plural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(2 min). Students type P or T. Trap: كُتُبٌ (books) vs كُتَّابٌ (writers) — same root, different pattern, different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(2 min). Students type P or T. Trap: كُتُبٌ (books) vs كُتَّابٌ (writers) — same root, different pattern, different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reveal the plural column one row at a time. Point to the adjectives: boys → plural (happy, suʿadāʾ); houses, cities, mosques, mountains → feminine singular.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mastery check questions 5–8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read-and-notice text, extended by the teacher. Read it aloud once while students follow; then they hunt for today’s grammar.
Task: Website: underline every plural and decide — broken or sound?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to practise broken plurals.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(3 min) — website task “speak and transform”. Sequence: ● 10s think → ↔ 45s rehearse aloud with mic muted → ◎ two named students on open mic (warned in advance) → + ? the class types one follow-up in chat → ↺ one student summarises.
Routes: Core uses the Core prompt and stem; Develop the Develop prompt; Stretch the last prompt.
Website: choose five nouns; say singular and plural, then use each in a sentence. Listen for the feminine singular adjective after the non-human plural (الْكُتُبُ ثَقِيلَةٌ).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8–12 connected sentences about your school, home or local area, using at least six target noun forms from this lesson.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(GM-N-06 · Non-Human Plural Agreement) will spend class time USING this language, so students prepare it tonight — short, simple, easy to access (school guidance: “Simple, Short, Interesting, Relevant, Easy to access”). The five words prepare GM-N-06 (website Nouns lesson 6: non-human plural agreement).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NOUNS  ·  GM-N-05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GM-N-05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Broken Plurals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جَمْعُ التَّكْسِيرِ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Most everyday Arabic nouns make their plural by reshaping the inside of the word (book → books, pen → pens, man → men), not by adding an ending. Learn each noun as a family: singular, plural and one example sentence.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GM-N-05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“broken” means; six pattern families; agreement.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families, sort human / non-human,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GM-N-06.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ea typeface="Amiri" pitchFamily="2" charset="-78"/>
                <a:cs typeface="Amiri" pitchFamily="2" charset="-78"/>
              </a:rPr>
              <a:t>كِتَابٌ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كَاتِبُونَ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ea typeface="Amiri" pitchFamily="2" charset="-78"/>
                <a:cs typeface="Amiri" pitchFamily="2" charset="-78"/>
              </a:rPr>
              <a:t>مَدْرَسَةٌ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مَدَارِسُ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مُدَرِّسُونَ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ea typeface="Amiri" pitchFamily="2" charset="-78"/>
                <a:cs typeface="Amiri" pitchFamily="2" charset="-78"/>
              </a:rPr>
              <a:t>حَقِيبَةٌ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حَقِيبَاتٌ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حُقُبٌ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حَقَائِبُ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learning method?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Memorise only the singular.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Add </a:t>
            </a:r>
            <a:pPr algn="l" indent="0" marL="0">
              <a:buNone/>
            </a:pPr>
            <a:r>
              <a:rPr lang="ar-SA" altLang="en-US" sz="1650" dirty="0">
                <a:solidFill>
                  <a:srgbClr val="1F2A37"/>
                </a:solidFill>
                <a:latin typeface="Amiri" pitchFamily="2" charset="-78"/>
                <a:ea typeface="Amiri" pitchFamily="2" charset="-78"/>
                <a:cs typeface="Amiri" pitchFamily="2" charset="-78"/>
              </a:rPr>
              <a:t>ات</a:t>
            </a:r>
            <a:pPr algn="l" indent="0" marL="0">
              <a:buNone/>
            </a:pPr>
            <a:r>
              <a:rPr lang="en-US" sz="1250" dirty="0">
                <a:solidFill>
                  <a:srgbClr val="1F2A37"/>
                </a:solidFill>
                <a:latin typeface="Calibri" pitchFamily="34" charset="0"/>
                <a:cs typeface="Amiri" pitchFamily="2" charset="-78"/>
              </a:rPr>
              <a:t> to every noun.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 singular + plural + example sentence.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family is correct?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رَجُلٌ / رِجَالٌ</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رَجُلٌ / رَجُلُونَ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رَجُلٌ / رَجُلَاتٌ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ea typeface="Amiri" pitchFamily="2" charset="-78"/>
                <a:cs typeface="Amiri" pitchFamily="2" charset="-78"/>
              </a:rPr>
              <a:t>كِتَابٌ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كِتَابَاتٌ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كُتُبٌ</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كَاتِبُونَ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Internal pattern changes.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ea typeface="Amiri" pitchFamily="2" charset="-78"/>
                <a:cs typeface="Amiri" pitchFamily="2" charset="-78"/>
              </a:rPr>
              <a:t>مَدْرَسَةٌ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مَدَارِسُ</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مَدْرَسَاتٌ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مُدَرِّسُونَ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Broken plural.</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ea typeface="Amiri" pitchFamily="2" charset="-78"/>
                <a:cs typeface="Amiri" pitchFamily="2" charset="-78"/>
              </a:rPr>
              <a:t>حَقِيبَةٌ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حَقِيبَاتٌ</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حُقُبٌ</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حَقَائِبُ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Common broken pattern.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learning method?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Memorise only the singular.</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Add </a:t>
            </a:r>
            <a:pPr algn="l" indent="0" marL="0">
              <a:buNone/>
            </a:pPr>
            <a:r>
              <a:rPr lang="ar-SA" altLang="en-US" sz="1650" dirty="0">
                <a:solidFill>
                  <a:srgbClr val="9AA1AB"/>
                </a:solidFill>
                <a:latin typeface="Amiri" pitchFamily="2" charset="-78"/>
                <a:ea typeface="Amiri" pitchFamily="2" charset="-78"/>
                <a:cs typeface="Amiri" pitchFamily="2" charset="-78"/>
              </a:rPr>
              <a:t>ات</a:t>
            </a:r>
            <a:pPr algn="l" indent="0" marL="0">
              <a:buNone/>
            </a:pPr>
            <a:r>
              <a:rPr lang="en-US" sz="1250" dirty="0">
                <a:solidFill>
                  <a:srgbClr val="9AA1AB"/>
                </a:solidFill>
                <a:latin typeface="Calibri" pitchFamily="34" charset="0"/>
                <a:cs typeface="Amiri" pitchFamily="2" charset="-78"/>
              </a:rPr>
              <a:t> to every noun.</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Learn singular + plural + example sentence.</a:t>
            </a:r>
            <a:endParaRPr lang="en-US"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Plural is lexical.</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family is correct?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رَجُلٌ / رِجَالٌ</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رَجُلٌ / رَجُلُونَ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رَجُلٌ / رَجُلَاتٌ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Frequent human broken plural.</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broken plural changes the inside of the word. There is no single ending — learn singular and plural together.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كِتَابٌ</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كُتُبٌ</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0E7C86"/>
                </a:solidFill>
                <a:latin typeface="Amiri" pitchFamily="2" charset="-78"/>
                <a:ea typeface="Amiri" pitchFamily="2" charset="-78"/>
                <a:cs typeface="Amiri" pitchFamily="2" charset="-78"/>
              </a:rPr>
              <a:t>قَلَمٌ</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أَقْلَامٌ</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what a broken plural is.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six common broken plural patterns.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Learn nouns as singular-plural families.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people a plural adjective and things a feminine singular adjective.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know eight singular-plural families by heart.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know “broken” means reshaped, not wrong.</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describe students with a plural adjective.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describe books with a feminine singular adjective.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name the pattern of a plural.</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know some patterns take no tanwīn.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جَمْعُ التَّكْسِيرِ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broken plural</a:t>
            </a:r>
            <a:endParaRPr lang="en-US" sz="1350" dirty="0"/>
          </a:p>
          <a:p>
            <a:pPr indent="0" marL="0">
              <a:buNone/>
            </a:pPr>
            <a:r>
              <a:rPr lang="en-US" sz="1100" i="1" dirty="0">
                <a:solidFill>
                  <a:srgbClr val="5A6472"/>
                </a:solidFill>
                <a:latin typeface="Calibri" pitchFamily="34" charset="0"/>
                <a:cs typeface="Amiri" pitchFamily="2" charset="-78"/>
              </a:rPr>
              <a:t>jam-ʿu at-tak-sī-ri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inside of the word changes</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مُفْرَدٌ</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singular</a:t>
            </a:r>
            <a:endParaRPr lang="en-US" sz="1350" dirty="0"/>
          </a:p>
          <a:p>
            <a:pPr indent="0" marL="0">
              <a:buNone/>
            </a:pPr>
            <a:r>
              <a:rPr lang="en-US" sz="1100" i="1" dirty="0">
                <a:solidFill>
                  <a:srgbClr val="5A6472"/>
                </a:solidFill>
                <a:latin typeface="Calibri" pitchFamily="34" charset="0"/>
                <a:cs typeface="Amiri" pitchFamily="2" charset="-78"/>
              </a:rPr>
              <a:t>muf-ra-dun</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كِتَابٌ</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جَمْعٌ</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plural</a:t>
            </a:r>
            <a:endParaRPr lang="en-US" sz="1350" dirty="0"/>
          </a:p>
          <a:p>
            <a:pPr indent="0" marL="0">
              <a:buNone/>
            </a:pPr>
            <a:r>
              <a:rPr lang="en-US" sz="1100" i="1" dirty="0">
                <a:solidFill>
                  <a:srgbClr val="5A6472"/>
                </a:solidFill>
                <a:latin typeface="Calibri" pitchFamily="34" charset="0"/>
                <a:cs typeface="Amiri" pitchFamily="2" charset="-78"/>
              </a:rPr>
              <a:t>jam-ʿun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كُتُبٌ</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وَزْنٌ</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pattern (shape)</a:t>
            </a:r>
            <a:endParaRPr lang="en-US" sz="1350" dirty="0"/>
          </a:p>
          <a:p>
            <a:pPr indent="0" marL="0">
              <a:buNone/>
            </a:pPr>
            <a:r>
              <a:rPr lang="en-US" sz="1100" i="1" dirty="0">
                <a:solidFill>
                  <a:srgbClr val="5A6472"/>
                </a:solidFill>
                <a:latin typeface="Calibri" pitchFamily="34" charset="0"/>
                <a:cs typeface="Amiri" pitchFamily="2" charset="-78"/>
              </a:rPr>
              <a:t>wazn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أَفْعَالٌ</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عَاقِلٌ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human</a:t>
            </a:r>
            <a:endParaRPr lang="en-US" sz="1350" dirty="0"/>
          </a:p>
          <a:p>
            <a:pPr indent="0" marL="0">
              <a:buNone/>
            </a:pPr>
            <a:r>
              <a:rPr lang="en-US" sz="1100" i="1" dirty="0">
                <a:solidFill>
                  <a:srgbClr val="5A6472"/>
                </a:solidFill>
                <a:latin typeface="Calibri" pitchFamily="34" charset="0"/>
                <a:cs typeface="Amiri" pitchFamily="2" charset="-78"/>
              </a:rPr>
              <a:t>ʿā-qi-lun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طُلَّابٌ · رِجَالٌ</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غَيْرُ عَاقِلٍ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non-human</a:t>
            </a:r>
            <a:endParaRPr lang="en-US" sz="1350" dirty="0"/>
          </a:p>
          <a:p>
            <a:pPr indent="0" marL="0">
              <a:buNone/>
            </a:pPr>
            <a:r>
              <a:rPr lang="en-US" sz="1100" i="1" dirty="0">
                <a:solidFill>
                  <a:srgbClr val="5A6472"/>
                </a:solidFill>
                <a:latin typeface="Calibri" pitchFamily="34" charset="0"/>
                <a:cs typeface="Amiri" pitchFamily="2" charset="-78"/>
              </a:rPr>
              <a:t>ghay-ru ʿā-qi-lin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كُتُبٌ · حَقَائِبُ</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WHAT “BROKEN” MEANS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The word is reshaped from the inside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 مَعْنَى «التَّكْسِيرِ»؟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plural is made by changing vowels, adding or removing letters, or reshaping the pattern (website definition).</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There is no single fixed ending — compare the sound plurals of GM-N-03 and GM-N-04.</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“Broken” does NOT mean incorrect: the singular is broken open and rebuilt.</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three root letters stay in the same order — only the shape around them changes.</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It is the MOST common plural for everyday nouns, for people and for things.</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كِتَابٌ · كُتُبٌ</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book · books  ·  root k-t-b</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قَلَمٌ · أَقْلَامٌ</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pen · pens  ·  a hamza is added</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وَلَدٌ · أَوْلَادٌ</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boy · boys</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بَيْتٌ · بُيُوتٌ</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house · houses</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cs typeface="Amiri" pitchFamily="2" charset="-78"/>
              </a:rPr>
              <a:t>WEBSITE WARNING</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Patterns help recognition, not prediction in every case. Store each new noun as a family: singular, plural and an example sentence.</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SIX PATTERN FAMILIES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Common broken plural patterns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أَوْزَانٌ 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More like it</a:t>
            </a:r>
            <a:endParaRPr lang="en-US" sz="1100" dirty="0"/>
          </a:p>
        </p:txBody>
      </p:sp>
      <p:sp>
        <p:nvSpPr>
          <p:cNvPr id="17" name="Text 14"/>
          <p:cNvSpPr txBox="1"/>
          <p:nvPr/>
        </p:nvSpPr>
        <p:spPr>
          <a:xfrm>
            <a:off x="766267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8" name="Text 15"/>
          <p:cNvSpPr txBox="1"/>
          <p:nvPr/>
        </p:nvSpPr>
        <p:spPr>
          <a:xfrm>
            <a:off x="52852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Plural</a:t>
            </a:r>
            <a:endParaRPr lang="en-US" sz="1100" dirty="0"/>
          </a:p>
        </p:txBody>
      </p:sp>
      <p:sp>
        <p:nvSpPr>
          <p:cNvPr id="19" name="Text 16"/>
          <p:cNvSpPr txBox="1"/>
          <p:nvPr/>
        </p:nvSpPr>
        <p:spPr>
          <a:xfrm>
            <a:off x="29077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Singular</a:t>
            </a:r>
            <a:endParaRPr lang="en-US" sz="1100" dirty="0"/>
          </a:p>
        </p:txBody>
      </p:sp>
      <p:sp>
        <p:nvSpPr>
          <p:cNvPr id="20" name="Text 17"/>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509760" y="2267712"/>
            <a:ext cx="213055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مَدِينَةٌ مُدُنٌ</a:t>
            </a:r>
            <a:endParaRPr lang="ar-SA" sz="1800" dirty="0"/>
          </a:p>
        </p:txBody>
      </p:sp>
      <p:sp>
        <p:nvSpPr>
          <p:cNvPr id="23" name="Text 20"/>
          <p:cNvSpPr txBox="1"/>
          <p:nvPr/>
        </p:nvSpPr>
        <p:spPr>
          <a:xfrm>
            <a:off x="7680960" y="2267712"/>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فُعُلٌ</a:t>
            </a:r>
            <a:endParaRPr lang="ar-SA" sz="2200" dirty="0"/>
          </a:p>
        </p:txBody>
      </p:sp>
      <p:sp>
        <p:nvSpPr>
          <p:cNvPr id="24" name="Text 21"/>
          <p:cNvSpPr txBox="1"/>
          <p:nvPr/>
        </p:nvSpPr>
        <p:spPr>
          <a:xfrm>
            <a:off x="530352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a:t>
            </a:r>
            <a:endParaRPr lang="ar-SA" sz="2400" dirty="0"/>
          </a:p>
        </p:txBody>
      </p:sp>
      <p:sp>
        <p:nvSpPr>
          <p:cNvPr id="25" name="Text 22"/>
          <p:cNvSpPr txBox="1"/>
          <p:nvPr/>
        </p:nvSpPr>
        <p:spPr>
          <a:xfrm>
            <a:off x="292608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a:t>
            </a:r>
            <a:endParaRPr lang="ar-SA" sz="2400" dirty="0"/>
          </a:p>
        </p:txBody>
      </p:sp>
      <p:sp>
        <p:nvSpPr>
          <p:cNvPr id="26" name="Text 23"/>
          <p:cNvSpPr txBox="1"/>
          <p:nvPr/>
        </p:nvSpPr>
        <p:spPr>
          <a:xfrm>
            <a:off x="56692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book(s)</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509760" y="2881884"/>
            <a:ext cx="213055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وَلَدٌ أَوْلَادٌ</a:t>
            </a:r>
            <a:endParaRPr lang="ar-SA" sz="1800" dirty="0"/>
          </a:p>
        </p:txBody>
      </p:sp>
      <p:sp>
        <p:nvSpPr>
          <p:cNvPr id="31" name="Text 28"/>
          <p:cNvSpPr txBox="1"/>
          <p:nvPr/>
        </p:nvSpPr>
        <p:spPr>
          <a:xfrm>
            <a:off x="7680960" y="2881884"/>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أَفْعَالٌ</a:t>
            </a:r>
            <a:endParaRPr lang="ar-SA" sz="2200" dirty="0"/>
          </a:p>
        </p:txBody>
      </p:sp>
      <p:sp>
        <p:nvSpPr>
          <p:cNvPr id="32" name="Text 29"/>
          <p:cNvSpPr txBox="1"/>
          <p:nvPr/>
        </p:nvSpPr>
        <p:spPr>
          <a:xfrm>
            <a:off x="530352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أَقْلَامٌ</a:t>
            </a:r>
            <a:endParaRPr lang="ar-SA" sz="2400" dirty="0"/>
          </a:p>
        </p:txBody>
      </p:sp>
      <p:sp>
        <p:nvSpPr>
          <p:cNvPr id="33" name="Text 30"/>
          <p:cNvSpPr txBox="1"/>
          <p:nvPr/>
        </p:nvSpPr>
        <p:spPr>
          <a:xfrm>
            <a:off x="292608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قَلَمٌ</a:t>
            </a:r>
            <a:endParaRPr lang="ar-SA" sz="2400" dirty="0"/>
          </a:p>
        </p:txBody>
      </p:sp>
      <p:sp>
        <p:nvSpPr>
          <p:cNvPr id="34" name="Text 31"/>
          <p:cNvSpPr txBox="1"/>
          <p:nvPr/>
        </p:nvSpPr>
        <p:spPr>
          <a:xfrm>
            <a:off x="56692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pen(s)</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509760" y="3496056"/>
            <a:ext cx="213055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جَبَلٌ جِبَالٌ</a:t>
            </a:r>
            <a:endParaRPr lang="ar-SA" sz="1800" dirty="0"/>
          </a:p>
        </p:txBody>
      </p:sp>
      <p:sp>
        <p:nvSpPr>
          <p:cNvPr id="39" name="Text 36"/>
          <p:cNvSpPr txBox="1"/>
          <p:nvPr/>
        </p:nvSpPr>
        <p:spPr>
          <a:xfrm>
            <a:off x="7680960" y="3496056"/>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فِعَالٌ</a:t>
            </a:r>
            <a:endParaRPr lang="ar-SA" sz="2200" dirty="0"/>
          </a:p>
        </p:txBody>
      </p:sp>
      <p:sp>
        <p:nvSpPr>
          <p:cNvPr id="40" name="Text 37"/>
          <p:cNvSpPr txBox="1"/>
          <p:nvPr/>
        </p:nvSpPr>
        <p:spPr>
          <a:xfrm>
            <a:off x="530352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رِجَالٌ</a:t>
            </a:r>
            <a:endParaRPr lang="ar-SA" sz="2400" dirty="0"/>
          </a:p>
        </p:txBody>
      </p:sp>
      <p:sp>
        <p:nvSpPr>
          <p:cNvPr id="41" name="Text 38"/>
          <p:cNvSpPr txBox="1"/>
          <p:nvPr/>
        </p:nvSpPr>
        <p:spPr>
          <a:xfrm>
            <a:off x="292608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رَجُلٌ</a:t>
            </a:r>
            <a:endParaRPr lang="ar-SA" sz="2400" dirty="0"/>
          </a:p>
        </p:txBody>
      </p:sp>
      <p:sp>
        <p:nvSpPr>
          <p:cNvPr id="42" name="Text 39"/>
          <p:cNvSpPr txBox="1"/>
          <p:nvPr/>
        </p:nvSpPr>
        <p:spPr>
          <a:xfrm>
            <a:off x="56692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man / men</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509760" y="4110228"/>
            <a:ext cx="213055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كَاتِبٌ كُتَّابٌ</a:t>
            </a:r>
            <a:endParaRPr lang="ar-SA" sz="1800" dirty="0"/>
          </a:p>
        </p:txBody>
      </p:sp>
      <p:sp>
        <p:nvSpPr>
          <p:cNvPr id="47" name="Text 44"/>
          <p:cNvSpPr txBox="1"/>
          <p:nvPr/>
        </p:nvSpPr>
        <p:spPr>
          <a:xfrm>
            <a:off x="7680960" y="4110228"/>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فُعَّالٌ</a:t>
            </a:r>
            <a:endParaRPr lang="ar-SA" sz="2200" dirty="0"/>
          </a:p>
        </p:txBody>
      </p:sp>
      <p:sp>
        <p:nvSpPr>
          <p:cNvPr id="48" name="Text 45"/>
          <p:cNvSpPr txBox="1"/>
          <p:nvPr/>
        </p:nvSpPr>
        <p:spPr>
          <a:xfrm>
            <a:off x="530352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طُلَّابٌ</a:t>
            </a:r>
            <a:endParaRPr lang="ar-SA" sz="2400" dirty="0"/>
          </a:p>
        </p:txBody>
      </p:sp>
      <p:sp>
        <p:nvSpPr>
          <p:cNvPr id="49" name="Text 46"/>
          <p:cNvSpPr txBox="1"/>
          <p:nvPr/>
        </p:nvSpPr>
        <p:spPr>
          <a:xfrm>
            <a:off x="292608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طَالِبٌ</a:t>
            </a:r>
            <a:endParaRPr lang="ar-SA" sz="2400" dirty="0"/>
          </a:p>
        </p:txBody>
      </p:sp>
      <p:sp>
        <p:nvSpPr>
          <p:cNvPr id="50" name="Text 47"/>
          <p:cNvSpPr txBox="1"/>
          <p:nvPr/>
        </p:nvSpPr>
        <p:spPr>
          <a:xfrm>
            <a:off x="56692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student(s)</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509760" y="4724400"/>
            <a:ext cx="213055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مَسْجِدٌ مَسَاجِدُ</a:t>
            </a:r>
            <a:endParaRPr lang="ar-SA" sz="1800" dirty="0"/>
          </a:p>
        </p:txBody>
      </p:sp>
      <p:sp>
        <p:nvSpPr>
          <p:cNvPr id="55" name="Text 52"/>
          <p:cNvSpPr txBox="1"/>
          <p:nvPr/>
        </p:nvSpPr>
        <p:spPr>
          <a:xfrm>
            <a:off x="7680960" y="4724400"/>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مَفَاعِلُ</a:t>
            </a:r>
            <a:endParaRPr lang="ar-SA" sz="2200" dirty="0"/>
          </a:p>
        </p:txBody>
      </p:sp>
      <p:sp>
        <p:nvSpPr>
          <p:cNvPr id="56" name="Text 53"/>
          <p:cNvSpPr txBox="1"/>
          <p:nvPr/>
        </p:nvSpPr>
        <p:spPr>
          <a:xfrm>
            <a:off x="530352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مَدَارِسُ</a:t>
            </a:r>
            <a:endParaRPr lang="ar-SA" sz="2400" dirty="0"/>
          </a:p>
        </p:txBody>
      </p:sp>
      <p:sp>
        <p:nvSpPr>
          <p:cNvPr id="57" name="Text 54"/>
          <p:cNvSpPr txBox="1"/>
          <p:nvPr/>
        </p:nvSpPr>
        <p:spPr>
          <a:xfrm>
            <a:off x="292608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مَدْرَسَةٌ</a:t>
            </a:r>
            <a:endParaRPr lang="ar-SA" sz="2400" dirty="0"/>
          </a:p>
        </p:txBody>
      </p:sp>
      <p:sp>
        <p:nvSpPr>
          <p:cNvPr id="58" name="Text 55"/>
          <p:cNvSpPr txBox="1"/>
          <p:nvPr/>
        </p:nvSpPr>
        <p:spPr>
          <a:xfrm>
            <a:off x="56692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school(s)</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509760" y="5338572"/>
            <a:ext cx="213055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حَدِيقَةٌ حَدَائِقُ</a:t>
            </a:r>
            <a:endParaRPr lang="ar-SA" sz="1800" dirty="0"/>
          </a:p>
        </p:txBody>
      </p:sp>
      <p:sp>
        <p:nvSpPr>
          <p:cNvPr id="61" name="Text 58"/>
          <p:cNvSpPr txBox="1"/>
          <p:nvPr/>
        </p:nvSpPr>
        <p:spPr>
          <a:xfrm>
            <a:off x="7680960" y="5338572"/>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فَعَائِلُ</a:t>
            </a:r>
            <a:endParaRPr lang="ar-SA" sz="2200" dirty="0"/>
          </a:p>
        </p:txBody>
      </p:sp>
      <p:sp>
        <p:nvSpPr>
          <p:cNvPr id="62" name="Text 59"/>
          <p:cNvSpPr txBox="1"/>
          <p:nvPr/>
        </p:nvSpPr>
        <p:spPr>
          <a:xfrm>
            <a:off x="530352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حَقَائِبُ</a:t>
            </a:r>
            <a:endParaRPr lang="ar-SA" sz="2400" dirty="0"/>
          </a:p>
        </p:txBody>
      </p:sp>
      <p:sp>
        <p:nvSpPr>
          <p:cNvPr id="63" name="Text 60"/>
          <p:cNvSpPr txBox="1"/>
          <p:nvPr/>
        </p:nvSpPr>
        <p:spPr>
          <a:xfrm>
            <a:off x="292608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حَقِيبَةٌ</a:t>
            </a:r>
            <a:endParaRPr lang="ar-SA" sz="2400" dirty="0"/>
          </a:p>
        </p:txBody>
      </p:sp>
      <p:sp>
        <p:nvSpPr>
          <p:cNvPr id="64" name="Text 61"/>
          <p:cNvSpPr txBox="1"/>
          <p:nvPr/>
        </p:nvSpPr>
        <p:spPr>
          <a:xfrm>
            <a:off x="56692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bag(s)</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Bonus pattern: house → houses and heart → hearts follow fuʿūl. Stretch: the last two patterns never take tanwīn (no -un).</a:t>
            </a:r>
            <a:endParaRPr lang="en-US" sz="11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 PART 3 · BROKEN PLURALS IN SENTENCES (WEBSITE SECTION) · DEVELOP</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People or things? The adjective tells you</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الْمُطَابَقَةُ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Agreement</a:t>
            </a:r>
            <a:endParaRPr lang="en-US" sz="1100" dirty="0"/>
          </a:p>
        </p:txBody>
      </p:sp>
      <p:sp>
        <p:nvSpPr>
          <p:cNvPr id="17" name="Text 14"/>
          <p:cNvSpPr txBox="1"/>
          <p:nvPr/>
        </p:nvSpPr>
        <p:spPr>
          <a:xfrm>
            <a:off x="3822192"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(website)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247888" y="2267712"/>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people → PLURAL adjective</a:t>
            </a:r>
            <a:endParaRPr lang="en-US" sz="1100" dirty="0"/>
          </a:p>
        </p:txBody>
      </p:sp>
      <p:sp>
        <p:nvSpPr>
          <p:cNvPr id="21" name="Text 18"/>
          <p:cNvSpPr txBox="1"/>
          <p:nvPr/>
        </p:nvSpPr>
        <p:spPr>
          <a:xfrm>
            <a:off x="3840480" y="2267712"/>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الطُّلَّابُ مُجْتَهِدُونَ.</a:t>
            </a:r>
            <a:endParaRPr lang="ar-SA" sz="2400" dirty="0"/>
          </a:p>
        </p:txBody>
      </p:sp>
      <p:sp>
        <p:nvSpPr>
          <p:cNvPr id="22" name="Text 19"/>
          <p:cNvSpPr txBox="1"/>
          <p:nvPr/>
        </p:nvSpPr>
        <p:spPr>
          <a:xfrm>
            <a:off x="56692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students are hard-working.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247888" y="3054096"/>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people → plural adjective</a:t>
            </a:r>
            <a:endParaRPr lang="en-US" sz="1100" dirty="0"/>
          </a:p>
        </p:txBody>
      </p:sp>
      <p:sp>
        <p:nvSpPr>
          <p:cNvPr id="27" name="Text 24"/>
          <p:cNvSpPr txBox="1"/>
          <p:nvPr/>
        </p:nvSpPr>
        <p:spPr>
          <a:xfrm>
            <a:off x="3840480" y="3054096"/>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الرِّجَالُ حَاضِرُونَ.</a:t>
            </a:r>
            <a:endParaRPr lang="ar-SA" sz="2400" dirty="0"/>
          </a:p>
        </p:txBody>
      </p:sp>
      <p:sp>
        <p:nvSpPr>
          <p:cNvPr id="28" name="Text 25"/>
          <p:cNvSpPr txBox="1"/>
          <p:nvPr/>
        </p:nvSpPr>
        <p:spPr>
          <a:xfrm>
            <a:off x="56692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men are present.</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247888" y="3840480"/>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things → feminine SINGULAR</a:t>
            </a:r>
            <a:endParaRPr lang="en-US" sz="1100" dirty="0"/>
          </a:p>
        </p:txBody>
      </p:sp>
      <p:sp>
        <p:nvSpPr>
          <p:cNvPr id="33" name="Text 30"/>
          <p:cNvSpPr txBox="1"/>
          <p:nvPr/>
        </p:nvSpPr>
        <p:spPr>
          <a:xfrm>
            <a:off x="3840480" y="3840480"/>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الْكُتُبُ مُفِيدَةٌ.</a:t>
            </a:r>
            <a:endParaRPr lang="ar-SA" sz="2400" dirty="0"/>
          </a:p>
        </p:txBody>
      </p:sp>
      <p:sp>
        <p:nvSpPr>
          <p:cNvPr id="34" name="Text 31"/>
          <p:cNvSpPr txBox="1"/>
          <p:nvPr/>
        </p:nvSpPr>
        <p:spPr>
          <a:xfrm>
            <a:off x="56692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books are useful.</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247888" y="4626864"/>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things → feminine singular</a:t>
            </a:r>
            <a:endParaRPr lang="en-US" sz="1100" dirty="0"/>
          </a:p>
        </p:txBody>
      </p:sp>
      <p:sp>
        <p:nvSpPr>
          <p:cNvPr id="39" name="Text 36"/>
          <p:cNvSpPr txBox="1"/>
          <p:nvPr/>
        </p:nvSpPr>
        <p:spPr>
          <a:xfrm>
            <a:off x="3840480" y="4626864"/>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الْحَقَائِبُ ثَقِيلَةٌ.</a:t>
            </a:r>
            <a:endParaRPr lang="ar-SA" sz="2400" dirty="0"/>
          </a:p>
        </p:txBody>
      </p:sp>
      <p:sp>
        <p:nvSpPr>
          <p:cNvPr id="40" name="Text 37"/>
          <p:cNvSpPr txBox="1"/>
          <p:nvPr/>
        </p:nvSpPr>
        <p:spPr>
          <a:xfrm>
            <a:off x="56692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bags are heavy.</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plural looks the same kind for both — the MEANING (people or things) decides the adjective. GM-N-06 develops the non-human rule fully.</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ea typeface="Amiri" pitchFamily="2" charset="-78"/>
                <a:cs typeface="Amiri" pitchFamily="2" charset="-78"/>
              </a:rPr>
              <a:t>قَلَمٌ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قَلَمَاتٌ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قُلُمُونَ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أَقْلَامٌ</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ea typeface="Amiri" pitchFamily="2" charset="-78"/>
                <a:cs typeface="Amiri" pitchFamily="2" charset="-78"/>
              </a:rPr>
              <a:t>بَيْتٌ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بُيُوتٌ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بَائِتُونَ</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ea typeface="Amiri" pitchFamily="2" charset="-78"/>
                <a:cs typeface="Amiri" pitchFamily="2" charset="-78"/>
              </a:rPr>
              <a:t>وَلَدٌ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وَلَدُونَ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أَوْلَادٌ</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وِلَادَاتٌ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human?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طُلَّابٌ</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حَقَائِبُ</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ea typeface="Amiri" pitchFamily="2" charset="-78"/>
                <a:cs typeface="Amiri" pitchFamily="2" charset="-78"/>
              </a:rPr>
              <a:t>قَلَمٌ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قَلَمَاتٌ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قُلُمُونَ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أَقْلَامٌ</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Broken.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ea typeface="Amiri" pitchFamily="2" charset="-78"/>
                <a:cs typeface="Amiri" pitchFamily="2" charset="-78"/>
              </a:rPr>
              <a:t>بَيْتٌ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بُيُوتٌ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بَيْتَاتٌ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بَائِتُونَ</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Common family.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ea typeface="Amiri" pitchFamily="2" charset="-78"/>
                <a:cs typeface="Amiri" pitchFamily="2" charset="-78"/>
              </a:rPr>
              <a:t>وَلَدٌ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وَلَدُونَ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أَوْلَادٌ</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وِلَادَاتٌ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Common broken plural.</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human?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طُلَّابٌ</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حَقَائِبُ</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People.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Watch me learn a word as a family</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Singular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قَلَمٌ</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pen — root q-l-m.</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Plural</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أَقْلَامٌ</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Pattern afʿāl.</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People or thing?</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أَقْلَامٌ</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thing.</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Sentence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الْأَقْلَامُ جَدِيدَةٌ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Thing → feminine singular.</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SINGULAR</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BROKEN PLURAL</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عِنْدِي </a:t>
            </a:r>
            <a:pPr rtl="1" algn="r" indent="0" marL="0">
              <a:buNone/>
            </a:pPr>
            <a:r>
              <a:rPr lang="ar-SA" altLang="en-US" sz="2600" b="1" dirty="0">
                <a:solidFill>
                  <a:srgbClr val="0E7C86"/>
                </a:solidFill>
                <a:latin typeface="Amiri" pitchFamily="2" charset="-78"/>
                <a:ea typeface="Amiri" pitchFamily="2" charset="-78"/>
                <a:cs typeface="Amiri" pitchFamily="2" charset="-78"/>
              </a:rPr>
              <a:t>قَلَمٌ</a:t>
            </a:r>
            <a:pPr rtl="1" algn="r" indent="0" marL="0">
              <a:buNone/>
            </a:pPr>
            <a:r>
              <a:rPr lang="ar-SA" altLang="en-US" sz="2600" b="1" dirty="0">
                <a:solidFill>
                  <a:srgbClr val="1B3B6F"/>
                </a:solidFill>
                <a:latin typeface="Amiri" pitchFamily="2" charset="-78"/>
                <a:ea typeface="Amiri" pitchFamily="2" charset="-78"/>
                <a:cs typeface="Amiri" pitchFamily="2" charset="-78"/>
              </a:rPr>
              <a:t> وَاحِدٌ، وَعِنْدَ أَخِي </a:t>
            </a:r>
            <a:pPr rtl="1" algn="r" indent="0" marL="0">
              <a:buNone/>
            </a:pPr>
            <a:r>
              <a:rPr lang="ar-SA" altLang="en-US" sz="2600" b="1" dirty="0">
                <a:solidFill>
                  <a:srgbClr val="D6336C"/>
                </a:solidFill>
                <a:latin typeface="Amiri" pitchFamily="2" charset="-78"/>
                <a:ea typeface="Amiri" pitchFamily="2" charset="-78"/>
                <a:cs typeface="Amiri" pitchFamily="2" charset="-78"/>
              </a:rPr>
              <a:t>أَقْلَامٌ</a:t>
            </a:r>
            <a:pPr rtl="1" algn="r" indent="0" marL="0">
              <a:buNone/>
            </a:pPr>
            <a:r>
              <a:rPr lang="ar-SA" altLang="en-US" sz="2600" b="1" dirty="0">
                <a:solidFill>
                  <a:srgbClr val="1B3B6F"/>
                </a:solidFill>
                <a:latin typeface="Amiri" pitchFamily="2" charset="-78"/>
                <a:ea typeface="Amiri" pitchFamily="2" charset="-78"/>
                <a:cs typeface="Amiri" pitchFamily="2" charset="-78"/>
              </a:rPr>
              <a:t> كَثِيرَةٌ. فِي الصَّفِّ </a:t>
            </a:r>
            <a:pPr rtl="1" algn="r" indent="0" marL="0">
              <a:buNone/>
            </a:pPr>
            <a:r>
              <a:rPr lang="ar-SA" altLang="en-US" sz="2600" b="1" dirty="0">
                <a:solidFill>
                  <a:srgbClr val="D6336C"/>
                </a:solidFill>
                <a:latin typeface="Amiri" pitchFamily="2" charset="-78"/>
                <a:ea typeface="Amiri" pitchFamily="2" charset="-78"/>
                <a:cs typeface="Amiri" pitchFamily="2" charset="-78"/>
              </a:rPr>
              <a:t>طُلَّابٌ</a:t>
            </a:r>
            <a:pPr rtl="1" algn="r" indent="0" marL="0">
              <a:buNone/>
            </a:pPr>
            <a:r>
              <a:rPr lang="ar-SA" altLang="en-US" sz="2600" b="1" dirty="0">
                <a:solidFill>
                  <a:srgbClr val="1B3B6F"/>
                </a:solidFill>
                <a:latin typeface="Amiri" pitchFamily="2" charset="-78"/>
                <a:ea typeface="Amiri" pitchFamily="2" charset="-78"/>
                <a:cs typeface="Amiri" pitchFamily="2" charset="-78"/>
              </a:rPr>
              <a:t> مُجْتَهِدُونَ.</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have one pen, and my brother has many pens. In the class there are hard-working students.</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الْكُتُبُ فِي الْمَكْتَبَةِ مُفِيدَةٌ.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books in the library are useful.</a:t>
            </a:r>
            <a:endParaRPr lang="en-US" sz="1250" dirty="0"/>
          </a:p>
          <a:p>
            <a:pPr indent="0" marL="0">
              <a:buNone/>
            </a:pPr>
            <a:r>
              <a:rPr lang="en-US" sz="1050" i="1" dirty="0">
                <a:solidFill>
                  <a:srgbClr val="8A6D1E"/>
                </a:solidFill>
                <a:latin typeface="Calibri" pitchFamily="34" charset="0"/>
                <a:cs typeface="Amiri" pitchFamily="2" charset="-78"/>
              </a:rPr>
              <a:t>Website sentence: things → feminine singular.</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الطُّلَّابُ مُجْتَهِدُونَ.</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students are hard-working.</a:t>
            </a:r>
            <a:endParaRPr lang="en-US" sz="1250" dirty="0"/>
          </a:p>
          <a:p>
            <a:pPr indent="0" marL="0">
              <a:buNone/>
            </a:pPr>
            <a:r>
              <a:rPr lang="en-US" sz="1050" i="1" dirty="0">
                <a:solidFill>
                  <a:srgbClr val="8A6D1E"/>
                </a:solidFill>
                <a:latin typeface="Calibri" pitchFamily="34" charset="0"/>
                <a:cs typeface="Amiri" pitchFamily="2" charset="-78"/>
              </a:rPr>
              <a:t>Website sentence: people → plural.</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مَدِينَتِنَا مَسَاجِدُ كَبِيرَةٌ.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our city there are big mosques.</a:t>
            </a:r>
            <a:endParaRPr lang="en-US" sz="1250" dirty="0"/>
          </a:p>
          <a:p>
            <a:pPr indent="0" marL="0">
              <a:buNone/>
            </a:pPr>
            <a:r>
              <a:rPr lang="en-US" sz="1050" i="1" dirty="0">
                <a:solidFill>
                  <a:srgbClr val="8A6D1E"/>
                </a:solidFill>
                <a:latin typeface="Calibri" pitchFamily="34" charset="0"/>
                <a:cs typeface="Amiri" pitchFamily="2" charset="-78"/>
              </a:rPr>
              <a:t>No tanwīn on this plural.</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لَعِبَ الْأَوْلَادُ فِي الْحَدَائِقِ.</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boys played in the gardens.</a:t>
            </a:r>
            <a:endParaRPr lang="en-US" sz="1250" dirty="0"/>
          </a:p>
          <a:p>
            <a:pPr indent="0" marL="0">
              <a:buNone/>
            </a:pPr>
            <a:r>
              <a:rPr lang="en-US" sz="1050" i="1" dirty="0">
                <a:solidFill>
                  <a:srgbClr val="8A6D1E"/>
                </a:solidFill>
                <a:latin typeface="Calibri" pitchFamily="34" charset="0"/>
                <a:cs typeface="Amiri" pitchFamily="2" charset="-78"/>
              </a:rPr>
              <a:t>Two broken plurals in one sentence.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PEOPLE OR THINGS?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Human or non-human plural?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عَاقِلٌ أَمْ غَيْرُ عَاقِلٍ؟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طُلَّابٌ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رِجَالٌ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أَقْلَامٌ</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أَوْلَادٌ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بُيُوتٌ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حَقَائِبُ</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People (plural adjective)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Things (feminine singular adjective)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People (plural adjective)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طُلَّابٌ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رِجَالٌ</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أَوْلَادٌ</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Things (feminine singular adjective)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أَقْلَامٌ</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بُيُوتٌ</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حَقَائِبُ</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COMPLETE THE FAMILY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Singular, plural,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أَكْمِلِ الْعَائِلَةَ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a:t>
            </a:r>
            <a:endParaRPr lang="en-US" sz="1100" dirty="0"/>
          </a:p>
        </p:txBody>
      </p:sp>
      <p:sp>
        <p:nvSpPr>
          <p:cNvPr id="17" name="Text 14"/>
          <p:cNvSpPr txBox="1"/>
          <p:nvPr/>
        </p:nvSpPr>
        <p:spPr>
          <a:xfrm>
            <a:off x="52852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Plural</a:t>
            </a:r>
            <a:endParaRPr lang="en-US" sz="1100" dirty="0"/>
          </a:p>
        </p:txBody>
      </p:sp>
      <p:sp>
        <p:nvSpPr>
          <p:cNvPr id="18" name="Text 15"/>
          <p:cNvSpPr txBox="1"/>
          <p:nvPr/>
        </p:nvSpPr>
        <p:spPr>
          <a:xfrm>
            <a:off x="29077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Singular</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7680960" y="2267712"/>
            <a:ext cx="39593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الْبُيُوتُ قَدِيمَةٌ.</a:t>
            </a:r>
            <a:endParaRPr lang="ar-SA" sz="2200" dirty="0"/>
          </a:p>
        </p:txBody>
      </p:sp>
      <p:sp>
        <p:nvSpPr>
          <p:cNvPr id="22" name="Text 19"/>
          <p:cNvSpPr txBox="1"/>
          <p:nvPr/>
        </p:nvSpPr>
        <p:spPr>
          <a:xfrm>
            <a:off x="530352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بُيُوتٌ</a:t>
            </a:r>
            <a:endParaRPr lang="ar-SA" sz="2400" dirty="0"/>
          </a:p>
        </p:txBody>
      </p:sp>
      <p:sp>
        <p:nvSpPr>
          <p:cNvPr id="23" name="Text 20"/>
          <p:cNvSpPr txBox="1"/>
          <p:nvPr/>
        </p:nvSpPr>
        <p:spPr>
          <a:xfrm>
            <a:off x="292608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بَيْتٌ</a:t>
            </a:r>
            <a:endParaRPr lang="ar-SA" sz="2400" dirty="0"/>
          </a:p>
        </p:txBody>
      </p:sp>
      <p:sp>
        <p:nvSpPr>
          <p:cNvPr id="24" name="Text 21"/>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house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7680960" y="3004718"/>
            <a:ext cx="39593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الْأَوْلَادُ سُعَدَاءُ.</a:t>
            </a:r>
            <a:endParaRPr lang="ar-SA" sz="2200" dirty="0"/>
          </a:p>
        </p:txBody>
      </p:sp>
      <p:sp>
        <p:nvSpPr>
          <p:cNvPr id="29" name="Text 26"/>
          <p:cNvSpPr txBox="1"/>
          <p:nvPr/>
        </p:nvSpPr>
        <p:spPr>
          <a:xfrm>
            <a:off x="530352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أَوْلَادٌ</a:t>
            </a:r>
            <a:endParaRPr lang="ar-SA" sz="2400" dirty="0"/>
          </a:p>
        </p:txBody>
      </p:sp>
      <p:sp>
        <p:nvSpPr>
          <p:cNvPr id="30" name="Text 27"/>
          <p:cNvSpPr txBox="1"/>
          <p:nvPr/>
        </p:nvSpPr>
        <p:spPr>
          <a:xfrm>
            <a:off x="292608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وَلَدٌ</a:t>
            </a:r>
            <a:endParaRPr lang="ar-SA" sz="2400" dirty="0"/>
          </a:p>
        </p:txBody>
      </p:sp>
      <p:sp>
        <p:nvSpPr>
          <p:cNvPr id="31" name="Text 28"/>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boy</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7680960" y="3741725"/>
            <a:ext cx="39593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الْمُدُنُ كَبِيرَةٌ.</a:t>
            </a:r>
            <a:endParaRPr lang="ar-SA" sz="2200" dirty="0"/>
          </a:p>
        </p:txBody>
      </p:sp>
      <p:sp>
        <p:nvSpPr>
          <p:cNvPr id="36" name="Text 33"/>
          <p:cNvSpPr txBox="1"/>
          <p:nvPr/>
        </p:nvSpPr>
        <p:spPr>
          <a:xfrm>
            <a:off x="530352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مُدُنٌ</a:t>
            </a:r>
            <a:endParaRPr lang="ar-SA" sz="2400" dirty="0"/>
          </a:p>
        </p:txBody>
      </p:sp>
      <p:sp>
        <p:nvSpPr>
          <p:cNvPr id="37" name="Text 34"/>
          <p:cNvSpPr txBox="1"/>
          <p:nvPr/>
        </p:nvSpPr>
        <p:spPr>
          <a:xfrm>
            <a:off x="292608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مَدِينَةٌ</a:t>
            </a:r>
            <a:endParaRPr lang="ar-SA" sz="2400" dirty="0"/>
          </a:p>
        </p:txBody>
      </p:sp>
      <p:sp>
        <p:nvSpPr>
          <p:cNvPr id="38" name="Text 35"/>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city</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7680960" y="4478731"/>
            <a:ext cx="39593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الْمَسَاجِدُ جَمِيلَةٌ.</a:t>
            </a:r>
            <a:endParaRPr lang="ar-SA" sz="2200" dirty="0"/>
          </a:p>
        </p:txBody>
      </p:sp>
      <p:sp>
        <p:nvSpPr>
          <p:cNvPr id="43" name="Text 40"/>
          <p:cNvSpPr txBox="1"/>
          <p:nvPr/>
        </p:nvSpPr>
        <p:spPr>
          <a:xfrm>
            <a:off x="530352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مَسَاجِدُ</a:t>
            </a:r>
            <a:endParaRPr lang="ar-SA" sz="2400" dirty="0"/>
          </a:p>
        </p:txBody>
      </p:sp>
      <p:sp>
        <p:nvSpPr>
          <p:cNvPr id="44" name="Text 41"/>
          <p:cNvSpPr txBox="1"/>
          <p:nvPr/>
        </p:nvSpPr>
        <p:spPr>
          <a:xfrm>
            <a:off x="292608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مَسْجِدٌ</a:t>
            </a:r>
            <a:endParaRPr lang="ar-SA" sz="2400" dirty="0"/>
          </a:p>
        </p:txBody>
      </p:sp>
      <p:sp>
        <p:nvSpPr>
          <p:cNvPr id="45" name="Text 42"/>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mosque</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7680960" y="5215738"/>
            <a:ext cx="39593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الْجِبَالُ عَالِيَةٌ.</a:t>
            </a:r>
            <a:endParaRPr lang="ar-SA" sz="2200" dirty="0"/>
          </a:p>
        </p:txBody>
      </p:sp>
      <p:sp>
        <p:nvSpPr>
          <p:cNvPr id="48" name="Text 45"/>
          <p:cNvSpPr txBox="1"/>
          <p:nvPr/>
        </p:nvSpPr>
        <p:spPr>
          <a:xfrm>
            <a:off x="530352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جِبَالٌ</a:t>
            </a:r>
            <a:endParaRPr lang="ar-SA" sz="2400" dirty="0"/>
          </a:p>
        </p:txBody>
      </p:sp>
      <p:sp>
        <p:nvSpPr>
          <p:cNvPr id="49" name="Text 46"/>
          <p:cNvSpPr txBox="1"/>
          <p:nvPr/>
        </p:nvSpPr>
        <p:spPr>
          <a:xfrm>
            <a:off x="292608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جَبَلٌ</a:t>
            </a:r>
            <a:endParaRPr lang="ar-SA" sz="2400" dirty="0"/>
          </a:p>
        </p:txBody>
      </p:sp>
      <p:sp>
        <p:nvSpPr>
          <p:cNvPr id="50" name="Text 47"/>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mountain</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the plural column and test a partner: one says the singular, the other the plural, then the sentence.</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كِتَابَاتٌ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this plural regular?</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الْكُتُبُ مُفِيدُونَ.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People or things?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الطُّلَّابُ مُجْتَهِدٌ.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Singular or plural adjective?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كِتَابَاتٌ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كُتُبٌ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Book has a broken plural.</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الْكُتُبُ مُفِيدُونَ.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الْكُتُبُ مُفِيدَةٌ.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Things → feminine singular.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الطُّلَّابُ مُجْتَهِدٌ.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الطُّلَّابُ مُجْتَهِدُونَ.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People → plural adjective.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MASTERY CHECK QUESTIONS 5–8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with </a:t>
            </a:r>
            <a:pPr algn="l" indent="0" marL="0">
              <a:buNone/>
            </a:pPr>
            <a:r>
              <a:rPr lang="ar-SA" altLang="en-US" sz="1650" b="1" dirty="0">
                <a:solidFill>
                  <a:srgbClr val="1B3B6F"/>
                </a:solidFill>
                <a:latin typeface="Amiri" pitchFamily="2" charset="-78"/>
                <a:ea typeface="Amiri" pitchFamily="2" charset="-78"/>
                <a:cs typeface="Amiri" pitchFamily="2" charset="-78"/>
              </a:rPr>
              <a:t>الْكُتُبُ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مُفِيدُونَ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مُفِيدَاتٌ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مُفِيدَةٌ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vocabulary entry.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مَدْرَسَةٌ</a:t>
            </a:r>
            <a:pPr algn="l" indent="0" marL="0">
              <a:buNone/>
            </a:pPr>
            <a:r>
              <a:rPr lang="en-US" sz="1250" dirty="0">
                <a:solidFill>
                  <a:srgbClr val="1F2A37"/>
                </a:solidFill>
                <a:latin typeface="Calibri" pitchFamily="34" charset="0"/>
                <a:cs typeface="Amiri" pitchFamily="2" charset="-78"/>
              </a:rPr>
              <a:t> only</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مَدْرَسَةٌ / مَدَارِسُ</a:t>
            </a:r>
            <a:pPr algn="l" indent="0" marL="0">
              <a:buNone/>
            </a:pPr>
            <a:r>
              <a:rPr lang="en-US" sz="1250" dirty="0">
                <a:solidFill>
                  <a:srgbClr val="1F2A37"/>
                </a:solidFill>
                <a:latin typeface="Calibri" pitchFamily="34" charset="0"/>
                <a:cs typeface="Amiri" pitchFamily="2" charset="-78"/>
              </a:rPr>
              <a:t> + example</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مَدْرَسَاتٌ</a:t>
            </a:r>
            <a:pPr algn="l" indent="0" marL="0">
              <a:buNone/>
            </a:pPr>
            <a:r>
              <a:rPr lang="en-US" sz="1250" dirty="0">
                <a:solidFill>
                  <a:srgbClr val="1F2A37"/>
                </a:solidFill>
                <a:latin typeface="Calibri" pitchFamily="34" charset="0"/>
                <a:cs typeface="Amiri" pitchFamily="2" charset="-78"/>
              </a:rPr>
              <a:t> always</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sound plural?</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مُعَلِّمُونَ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رِجَالٌ</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Meaning of broken plural.</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case endings</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Always non-human</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Internal pattern change</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with </a:t>
            </a:r>
            <a:pPr algn="l" indent="0" marL="0">
              <a:buNone/>
            </a:pPr>
            <a:r>
              <a:rPr lang="ar-SA" altLang="en-US" sz="1650" b="1" dirty="0">
                <a:solidFill>
                  <a:srgbClr val="1B3B6F"/>
                </a:solidFill>
                <a:latin typeface="Amiri" pitchFamily="2" charset="-78"/>
                <a:ea typeface="Amiri" pitchFamily="2" charset="-78"/>
                <a:cs typeface="Amiri" pitchFamily="2" charset="-78"/>
              </a:rPr>
              <a:t>الْكُتُبُ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مُفِيدُونَ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مُفِيدَاتٌ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مُفِيدَةٌ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vocabulary entry.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مَدْرَسَةٌ</a:t>
            </a:r>
            <a:pPr algn="l" indent="0" marL="0">
              <a:buNone/>
            </a:pPr>
            <a:r>
              <a:rPr lang="en-US" sz="1250" dirty="0">
                <a:solidFill>
                  <a:srgbClr val="9AA1AB"/>
                </a:solidFill>
                <a:latin typeface="Calibri" pitchFamily="34" charset="0"/>
                <a:cs typeface="Amiri" pitchFamily="2" charset="-78"/>
              </a:rPr>
              <a:t> only</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مَدْرَسَةٌ / مَدَارِسُ</a:t>
            </a:r>
            <a:pPr algn="l" indent="0" marL="0">
              <a:buNone/>
            </a:pPr>
            <a:r>
              <a:rPr lang="en-US" sz="1250" b="1" dirty="0">
                <a:solidFill>
                  <a:srgbClr val="1F2A37"/>
                </a:solidFill>
                <a:latin typeface="Calibri" pitchFamily="34" charset="0"/>
                <a:cs typeface="Amiri" pitchFamily="2" charset="-78"/>
              </a:rPr>
              <a:t> + example</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مَدْرَسَاتٌ</a:t>
            </a:r>
            <a:pPr algn="l" indent="0" marL="0">
              <a:buNone/>
            </a:pPr>
            <a:r>
              <a:rPr lang="en-US" sz="1250" dirty="0">
                <a:solidFill>
                  <a:srgbClr val="9AA1AB"/>
                </a:solidFill>
                <a:latin typeface="Calibri" pitchFamily="34" charset="0"/>
                <a:cs typeface="Amiri" pitchFamily="2" charset="-78"/>
              </a:rPr>
              <a:t> always</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Learn family.</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sound plural?</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مُعَلِّمُونَ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رِجَالٌ</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Regular suffix.</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Meaning of broken plural.</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case endings</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Always non-human</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Internal pattern change</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Definition.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E6B52"/>
                </a:solidFill>
                <a:latin typeface="Calibri" pitchFamily="34" charset="0"/>
                <a:cs typeface="Amiri" pitchFamily="2" charset="-78"/>
              </a:rPr>
              <a:t>YOU DO · READ AND NOTICE · WEBSITE READ-AND-NOTICE TEXT, EXTENDED BY THE TEACHER</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school library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مَدْرَسَتِنَا طَالِبَانِ جَدِيدَانِ وَمُعَلِّمَاتٌ خَبِيرَاتٌ. الْفُصُولُ وَاسِعَةٌ، وَمَكْتَبُ مُدِيرِ الْمَدْرَسَةِ قَرِيبٌ مِنَ الْمَدْخَلِ. فِي الْمَكْتَبَةِ كُتُبٌ كَثِيرَةٌ وَأَقْلَامٌ مُلَوَّنَةٌ. يَقْرَأُ الطُّلَّابُ هُنَاكَ، وَهُمْ هَادِئُونَ.</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الْفُصُولُ</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classrooms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وَاسِعَةٌ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spacious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مَكْتَبُ</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office of</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الْمَدْخَلِ</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entrance</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مُلَوَّنَةٌ</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coloured</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هَادِئُونَ</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quiet (m. pl.)</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plural is </a:t>
            </a:r>
            <a:pPr algn="l" indent="0" marL="0">
              <a:buNone/>
            </a:pPr>
            <a:r>
              <a:rPr lang="ar-SA" altLang="en-US" sz="1650" b="1" dirty="0">
                <a:solidFill>
                  <a:srgbClr val="1B3B6F"/>
                </a:solidFill>
                <a:latin typeface="Amiri" pitchFamily="2" charset="-78"/>
                <a:ea typeface="Amiri" pitchFamily="2" charset="-78"/>
                <a:cs typeface="Amiri" pitchFamily="2" charset="-78"/>
              </a:rPr>
              <a:t>الْفُصُولُ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sound masculine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broken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sound feminine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adjective </a:t>
            </a:r>
            <a:pPr algn="l" indent="0" marL="0">
              <a:buNone/>
            </a:pPr>
            <a:r>
              <a:rPr lang="ar-SA" altLang="en-US" sz="1650" b="1" dirty="0">
                <a:solidFill>
                  <a:srgbClr val="1B3B6F"/>
                </a:solidFill>
                <a:latin typeface="Amiri" pitchFamily="2" charset="-78"/>
                <a:ea typeface="Amiri" pitchFamily="2" charset="-78"/>
                <a:cs typeface="Amiri" pitchFamily="2" charset="-78"/>
              </a:rPr>
              <a:t>وَاسِعَةٌ</a:t>
            </a:r>
            <a:pPr algn="l" indent="0" marL="0">
              <a:buNone/>
            </a:pPr>
            <a:r>
              <a:rPr lang="en-US" sz="1250" b="1" dirty="0">
                <a:solidFill>
                  <a:srgbClr val="1B3B6F"/>
                </a:solidFill>
                <a:latin typeface="Calibri" pitchFamily="34" charset="0"/>
                <a:cs typeface="Amiri" pitchFamily="2" charset="-78"/>
              </a:rPr>
              <a:t> feminine singular?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Classrooms are women.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Classrooms are things.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هَادِئُونَ</a:t>
            </a:r>
            <a:pPr algn="l" indent="0" marL="0">
              <a:buNone/>
            </a:pPr>
            <a:r>
              <a:rPr lang="en-US" sz="1250" b="1" dirty="0">
                <a:solidFill>
                  <a:srgbClr val="1B3B6F"/>
                </a:solidFill>
                <a:latin typeface="Calibri" pitchFamily="34" charset="0"/>
                <a:cs typeface="Amiri" pitchFamily="2" charset="-78"/>
              </a:rPr>
              <a:t> (plural)?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describes students — people.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describes books.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dual.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SOUND plural?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مُعَلِّمَاتٌ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أَقْلَامٌ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plural is </a:t>
            </a:r>
            <a:pPr algn="l" indent="0" marL="0">
              <a:buNone/>
            </a:pPr>
            <a:r>
              <a:rPr lang="ar-SA" altLang="en-US" sz="1650" b="1" dirty="0">
                <a:solidFill>
                  <a:srgbClr val="1B3B6F"/>
                </a:solidFill>
                <a:latin typeface="Amiri" pitchFamily="2" charset="-78"/>
                <a:ea typeface="Amiri" pitchFamily="2" charset="-78"/>
                <a:cs typeface="Amiri" pitchFamily="2" charset="-78"/>
              </a:rPr>
              <a:t>الْفُصُولُ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sound masculine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broken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sound feminine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Singular </a:t>
            </a:r>
            <a:pPr algn="l" indent="0" marL="0">
              <a:buNone/>
            </a:pPr>
            <a:r>
              <a:rPr lang="ar-SA" altLang="en-US" sz="1350" dirty="0">
                <a:solidFill>
                  <a:srgbClr val="8A6D1E"/>
                </a:solidFill>
                <a:latin typeface="Amiri" pitchFamily="2" charset="-78"/>
                <a:ea typeface="Amiri" pitchFamily="2" charset="-78"/>
                <a:cs typeface="Amiri" pitchFamily="2" charset="-78"/>
              </a:rPr>
              <a:t>فَصْلٌ</a:t>
            </a:r>
            <a:pPr algn="l" indent="0" marL="0">
              <a:buNone/>
            </a:pPr>
            <a:r>
              <a:rPr lang="en-US" sz="1050" i="1" dirty="0">
                <a:solidFill>
                  <a:srgbClr val="8A6D1E"/>
                </a:solidFill>
                <a:latin typeface="Calibri" pitchFamily="34" charset="0"/>
                <a:cs typeface="Amiri" pitchFamily="2" charset="-78"/>
              </a:rPr>
              <a:t>, pattern fuʿūl.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adjective </a:t>
            </a:r>
            <a:pPr algn="l" indent="0" marL="0">
              <a:buNone/>
            </a:pPr>
            <a:r>
              <a:rPr lang="ar-SA" altLang="en-US" sz="1650" b="1" dirty="0">
                <a:solidFill>
                  <a:srgbClr val="1B3B6F"/>
                </a:solidFill>
                <a:latin typeface="Amiri" pitchFamily="2" charset="-78"/>
                <a:ea typeface="Amiri" pitchFamily="2" charset="-78"/>
                <a:cs typeface="Amiri" pitchFamily="2" charset="-78"/>
              </a:rPr>
              <a:t>وَاسِعَةٌ</a:t>
            </a:r>
            <a:pPr algn="l" indent="0" marL="0">
              <a:buNone/>
            </a:pPr>
            <a:r>
              <a:rPr lang="en-US" sz="1250" b="1" dirty="0">
                <a:solidFill>
                  <a:srgbClr val="1B3B6F"/>
                </a:solidFill>
                <a:latin typeface="Calibri" pitchFamily="34" charset="0"/>
                <a:cs typeface="Amiri" pitchFamily="2" charset="-78"/>
              </a:rPr>
              <a:t> feminine singular?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Classrooms are women.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Classrooms are things.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هَادِئُونَ</a:t>
            </a:r>
            <a:pPr algn="l" indent="0" marL="0">
              <a:buNone/>
            </a:pPr>
            <a:r>
              <a:rPr lang="en-US" sz="1250" b="1" dirty="0">
                <a:solidFill>
                  <a:srgbClr val="1B3B6F"/>
                </a:solidFill>
                <a:latin typeface="Calibri" pitchFamily="34" charset="0"/>
                <a:cs typeface="Amiri" pitchFamily="2" charset="-78"/>
              </a:rPr>
              <a:t> (plural)?</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describes students — people.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describes books.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dual.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Human plural → plural adjective.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SOUND plural?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مُعَلِّمَاتٌ</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أَقْلَامٌ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ends in -āt.</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what is in your 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فِي حَقِيبَتِكَ؟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الطُّلَّابَ وَالْكُتُبَ فِي صَفِّكَ.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فِي مَدِينَتِكَ؟ (مَسَاجِدُ، حَدَائِقُ، شَوَارِعُ …)</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فِي حَقِيبَتِي كُتُبٌ 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الطُّلَّابُ ___ ، وَالْكُتُبُ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مَدِينَتِي ___ كَبِيرَةٌ.</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فِي حَقِيبَتِكَ؟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in your bag?</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فِي حَقِيبَتِي كُتُبٌ وَدَفَاتِرُ وَأَقْلَامٌ. الْكُتُبُ ثَقِيلَةٌ!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In my bag there are books, exercise books and pens. The books are heavy!</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sentences, each with one broken plural from the family table.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frames and word bank.</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Mix people and things; check every adjective.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People → plural adjective · things → feminine singular.</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8–12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with at least two plurals that take no tanwīn.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Schools, mosques, gardens, bags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مَدِينَتِنَا ______ كَثِيرَةٌ.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our city there are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الرِّجَالُ فِي الْمَسْجِدِ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men in the mosque are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أَقْرَأُ كُتُبًا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read books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الْحَقَائِبُ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bags are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حَقِيبَتِي كُتُبٌ وَ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bag there are books and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الطُّلَّابُ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students are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الْبُيُوتُ فِي شَارِعِي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houses in my street are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يَلْعَبُ الْأَوْلَادُ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boys are playing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كُتُبٌ  ·  أَقْلَامٌ  ·  دَفَاتِرُ  ·  بُيُوتٌ  ·  مَدَارِسُ  ·  مَسَاجِدُ  ·  حَدَائِقُ  ·  طُلَّابٌ  ·  أَوْلَادٌ  ·  رِجَالٌ  ·  كَبِيرَةٌ  ·  مُفِيدَةٌ  ·  جَمِيلَةٌ  ·  مُجْتَهِدُونَ  ·  حَاضِرُونَ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writing workshop: 8–12 connected sentences about your school, home or local area with at least six target noun forms.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Six different broken plurals.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two people plurals with a plural adjective.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two thing plurals with a feminine singular adjective.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plurals with no tanwīn (schools, mosques, gardens …).</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sound plural for contrast.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الطُّلَّابُ مُجْتَهِدُونَ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students are hard-working</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الْكُتُبُ مُفِيدَةٌ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books are useful</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مَسَاجِدُ جَمِيلَةٌ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beautiful mosques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حَدَائِقُ وَاسِعَةٌ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spacious gardens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بُيُوتٌ قَدِيمَةٌ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old houses</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الرِّجَالُ حَاضِرُونَ</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men are present</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أَسْكُنُ فِي مَدِينَةٍ صَغِيرَةٍ. فِي مَدِينَتِي بُيُوتٌ قَدِيمَةٌ وَشَوَارِعُ هَادِئَةٌ وَمَسَاجِدُ جَمِيلَةٌ. فِي مَدْرَسَتِي طُلَّابٌ مُجْتَهِدُونَ وَمُعَلِّمُونَ لُطَفَاءُ. فِي الْمَكْتَبَةِ كُتُبٌ مُفِيدَةٌ، وَأَقْرَأُ كُتُبًا كَثِيرَةً كُلَّ أُسْبُوعٍ. يَلْعَبُ الْأَوْلَادُ فِي الْحَدَائِقِ.</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live in a small town. In my town there are old houses, quiet streets and beautiful mosques. In my school there are hard-working students and kind teachers. In the library there are useful books, and I read many books every week. The boys play in the gardens.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broken plurals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people: plural adj.</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things: singular adj.</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no tanwīn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least six broken plurals correctly.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did not add -āt or -ūna to a broken-plural noun.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People have a plural adjective.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Things have a feminine singular adjective.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Schools, mosques and gardens have no tanwīn.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ea typeface="Amiri" pitchFamily="2" charset="-78"/>
                <a:cs typeface="Amiri" pitchFamily="2" charset="-78"/>
              </a:rPr>
              <a:t>وَلَدٌ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أَوْلَادٌ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وَلَدُونَ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وَلَدَاتٌ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sentence.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الْبُيُوتُ كَبِيرُونَ.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الْبُيُوتُ كَبِيرَةٌ.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الْبُيُوتُ كَبِيرٌ.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الرِّجَالُ حَاضِرُونَ.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الرِّجَالُ حَاضِرَةٌ.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الرِّجَالُ حَاضِرٌ.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ea typeface="Amiri" pitchFamily="2" charset="-78"/>
                <a:cs typeface="Amiri" pitchFamily="2" charset="-78"/>
              </a:rPr>
              <a:t>وَلَدٌ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أَوْلَادٌ</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وَلَدُونَ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وَلَدَاتٌ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Pattern afʿāl.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sentence.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الْبُيُوتُ كَبِيرُونَ.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الْبُيُوتُ كَبِيرَةٌ.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الْبُيُوتُ كَبِيرٌ.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Things → feminine singular.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الرِّجَالُ حَاضِرُونَ.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الرِّجَالُ حَاضِرَةٌ.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الرِّجَالُ حَاضِرٌ.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People → plural adjective.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GM-N-05 · 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GM-N-06: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GM-N-06 · Non-Human Plural Agreement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غَيْرُ عَاقِلٍ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non-human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سَيَّارَاتٌ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cars</a:t>
            </a:r>
            <a:pPr indent="0" marL="0">
              <a:buNone/>
            </a:pPr>
            <a:r>
              <a:rPr lang="ar-SA" sz="1000" i="1" dirty="0">
                <a:solidFill>
                  <a:srgbClr val="5A6472"/>
                </a:solidFill>
                <a:latin typeface="Calibri" pitchFamily="34" charset="0"/>
                <a:ea typeface="Amiri" pitchFamily="2" charset="-78"/>
                <a:cs typeface="Amiri" pitchFamily="2" charset="-78"/>
              </a:rPr>
              <a:t>  sing. سَيَّارَةٌ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أَشْجَارٌ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trees</a:t>
            </a:r>
            <a:pPr indent="0" marL="0">
              <a:buNone/>
            </a:pPr>
            <a:r>
              <a:rPr lang="ar-SA" sz="1000" i="1" dirty="0">
                <a:solidFill>
                  <a:srgbClr val="5A6472"/>
                </a:solidFill>
                <a:latin typeface="Calibri" pitchFamily="34" charset="0"/>
                <a:ea typeface="Amiri" pitchFamily="2" charset="-78"/>
                <a:cs typeface="Amiri" pitchFamily="2" charset="-78"/>
              </a:rPr>
              <a:t>  sing. شَجَرَةٌ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شَوَارِعُ</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streets</a:t>
            </a:r>
            <a:pPr indent="0" marL="0">
              <a:buNone/>
            </a:pPr>
            <a:r>
              <a:rPr lang="ar-SA" sz="1000" i="1" dirty="0">
                <a:solidFill>
                  <a:srgbClr val="5A6472"/>
                </a:solidFill>
                <a:latin typeface="Calibri" pitchFamily="34" charset="0"/>
                <a:ea typeface="Amiri" pitchFamily="2" charset="-78"/>
                <a:cs typeface="Amiri" pitchFamily="2" charset="-78"/>
              </a:rPr>
              <a:t>  sing. شَارِعٌ</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she / it (for things)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We say “the books are useful” with a FEMININE SINGULAR adjective. Which pronoun would you use for “they” (the books)?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الْكُتُبُ مُفِيدَةٌ · ______ عَلَى الطَّاوِلَةِ.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Make a family card for ten nouns: singular, plural, meaning.</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eight sentences: four about people, four about things.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workshop and sort your ten nouns by pattern.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GM-N-05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50" b="1" dirty="0">
                <a:solidFill>
                  <a:srgbClr val="FFFFFF"/>
                </a:solidFill>
                <a:latin typeface="Cambria" pitchFamily="34" charset="0"/>
                <a:cs typeface="Amiri" pitchFamily="2" charset="-78"/>
              </a:rPr>
              <a:t>GM-N-06 · Non-Human Plural Agreement</a:t>
            </a:r>
            <a:endParaRPr lang="en-US" sz="24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جَمْعُ غَيْرِ الْعَاقِلِ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broken = reshaped, not wrong · learn singular + plural + sentence · people → plural adjective, things → feminine singular.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GM-N-05 · Broken Plurals</dc:title>
  <dc:subject>PptxGenJS Presentation</dc:subject>
  <dc:creator>Al Madina Online School · Arabic Department</dc:creator>
  <cp:lastModifiedBy>Al Madina Online School · Arabic Department</cp:lastModifiedBy>
  <cp:revision>1</cp:revision>
  <dcterms:created xsi:type="dcterms:W3CDTF">2026-10-11T06:42:18Z</dcterms:created>
  <dcterms:modified xsi:type="dcterms:W3CDTF">2026-10-11T06:42:18Z</dcterms:modified>
</cp:coreProperties>
</file>