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Lst>
  <p:notesMasterIdLst>
    <p:notesMasterId r:id="rId37"/>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notesMaster" Target="notesMasters/notesMaster1.xml"/><Relationship Id="rId38" Type="http://schemas.openxmlformats.org/officeDocument/2006/relationships/presProps" Target="presProps.xml"/><Relationship Id="rId39" Type="http://schemas.openxmlformats.org/officeDocument/2006/relationships/viewProps" Target="viewProps.xml"/><Relationship Id="rId40" Type="http://schemas.openxmlformats.org/officeDocument/2006/relationships/theme" Target="theme/theme1.xml"/><Relationship Id="rId41"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LESSON AT A GLANCE — planned for 56 minutes, leaving about 4 minutes for Teams delays.
0–1 Welcome · 1–2 Lesson map · 2–9 Do Now + answers · 9–10 Objectives · 10–13 Grammar words · 13–24 The grammar, step by step · 24–26 Quick check · 26–29 I Do · 29–38 We Do (sort, repair, practise) · 38–49 You Do (read, speak, write on your route) · 49–54 Feedback (model, self-check, exit ticket) · 54–56 Preparation.
FLEX slides are optional: use them if the class is moving quickly; otherwise the same activities are on the website for homework.
Content source: Miftah Arabic website, Mastery &amp; Revision › Grammar › Nouns › GM-N-02 (“Singular, Dual and Plural”). The Do Now, quick check, game practice, exit ticket and mastery check are the website’s own quizzes; the reading text, speaking and writing tasks are the website’s four-skills application. Explanation slides, worked examples, sorter, repair items, frames and model translations are teacher-made on the website rules and labelled in the notes.
SUPPORT FOR THIS CLASS (Arabic not yet secure; mixed levels):
• Core: singular, dual, plural; build the dual with ـَانِ. Develop: ـَانِ vs ـَيْنِ (after a preposition or as an object); ة → ت in the dual. Stretch: dual agreement with adjectives and verbs; dual in iḍāfa drops its nūn (preview of GM-N-07).
• English and Urdu have no dual: students say “two books” with a number. In Arabic the ENDING says “two” — a number word is not needed (كِتَابَانِ, not اِثْنَانِ كُتُبٌ).
• This lesson is the map; GM-N-03 to GM-N-06 then study each plural family in depth.
• Grammar words are always given in English AND Arabic: students should be able to name the rule, not just apply it.
• Colour code (same as all Miftah lessons): WHO = blue, MEANING = purple, ENDING = pink, PATTERN = orange, KEY WORD = teal.
• SEND “automatic doors”: lesson map, chunked tasks, worked examples before practice, cover-the-text reading and “pass” for reading aloud are built in for everyone.
ROUTES: Core (green) = students whose Arabic is not yet secure; Develop (amber) = on track; Stretch (red) = confident. Same objective for everyone — the task changes, not the goal.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MAP (30 seconds) — SEND training: “absolute predictability”. Show the whole journey so students know what is coming and when they will be asked to speak or write. Point to the green box: using the Core supports is normal and expected (“automatic doors”).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DO NOW (5 min independent + 2 min going through answers).
The website Entry Check (questions 1–5) — diagnostic; it also retrieves GM-N-01 (ة → ت).
• Students work silently. Answers go in the chat as five letters only when the timer ends.
• Core students may answer in English and use their book.
• While they work: register, note late joiners, note anyone not attempting (Self-Management).
• Go THROUGH the answers on the next slide — ask one student (after thinking time) to explain WHY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GO THROUGH THE ANSWERS (2 min). Reveal and ask “why?” for each (● 10s think → named student, warned in advance).
Key idea for today (bottom-right card): Exactly two? Add an ending: ـَانِ for the subject, ـَيْنِ after a preposition or as an object.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OBJECTIVES (1 min).
Left: the lesson objectives exactly as they appear on the website.
Right: the same objectives broken into three routes. Everyone starts with Core; most students reach Develop; confident students aim for Stretch. Students decide privately which route they are aiming for (● Think 10s) — revisit in Feedback.
Objectives are drawn from the website lesson purpose and its Core / Develop / Stretch routes.
EAL: read the Core statements aloud, pointing to the Arabic as you say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GRAMMAR WORDS (1 of 2) (3 min). These are the words we use to TALK ABOUT the grammar. Hear → Say → See → Use:
say each term twice, class repeats, point to the example on the card, then ask “Which word means …?” (chat the number).
Core students learn the English name and recognise the Arabic; Develop/Stretch use the Arabic term when explaining a rule.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GRAMMAR WORDS (2 of 2) (3 min). These are the words we use to TALK ABOUT the grammar. Hear → Say → See → Use:
say each term twice, class repeats, point to the example on the card, then ask “Which word means …?” (chat the number).
Core students learn the English name and recognise the Arabic; Develop/Stretch use the Arabic term when explaining a rule.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PART 1 (3 min) — website table “The Arabic number system”. Hold up one, two, three fingers: طَالِبٌ · طَالِبَانِ · طُلَّابٌ.</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PART 2 (3 min) — website section “Building and using the dual”. Website practical IGCSE rule: ـَانِ for a dual subject in the nominative; ـَيْنِ after a preposition and in object / genitive positions.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PART 3 (2 min). Quick drill: teacher says a frame (مَعَ … / فِي الْبَيْتِ …), students type -āni or -ayni.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4 (2 min) — preview only. Website: “Understand the three-number system before studying each plural family in depth.”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FOR UNDERSTANDING (2 min) — website guided mini-check, questions 1–4.
● Think 20s silently → everyone types four letters in chat together on “3-2-1-go”. “Show me” alternative: A/B/C fingers to camera (EAL: show, not tell).
Read the chat: if more than a quarter of the class misses a question, re-teach that rule with its grammar slide before moving on (Live feedback: correct misconceptions immediately).
Use the results to confirm routes for the You Do task.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each answer. Ask “Who can build on that?” (+) — a student explains why one wrong option is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DO (3 min) — think aloud at every step: name the rule in English and Arabic as you apply it.
Built on the website model sentence. Think aloud: “Exactly two? Subject or after a preposition?”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SENTENCES (1 min). Students copy TWO that are useful for them.
• Core: copy one and change one word. • Develop: copy two and change the noun. • Stretch: combine two into one longer sentence.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(2 min). Students type S, D or P for each card. Ask: “How did you know it was dual?” (-āni / -ayni).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(2 min). Students type S, D or P for each card. Ask: “How did you know it was dual?” (-āni / -ayni).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mastery check questions 5–8 (FLEX, 2 min). If time is short these are homework on the website.
“Show me” alternative: students hold up A/B/C fingers to camera.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link each to the grammar rule or vocabulary card it tests.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AND NOTICE (3 min) — website read-and-notice text, extended by the teacher. Read it aloud once while students follow; then they hunt for today’s grammar.
Task: Website: underline every noun relevant to this lesson and explain its form (singular, dual or plural).
SEND reading strategy: cover the text and uncover one sentence at a time. Core: use the green glossary.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READING QUESTIONS (3 min). The first two sentences are the website text; the last two are teacher-written to add more duals. Questions teacher-written.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each answer: a student reads the phrase aloud and names the rule (in English or Arabic).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SPEAKING (3 min) — website task “speak and transform”. Sequence: ● 10s think → ↔ 45s rehearse aloud with mic muted → ◎ two named students on open mic (warned in advance) → + ? the class types one follow-up in chat → ↺ one student summarises.
Routes: Core uses the Core prompt and stem; Develop the Develop prompt; Stretch the last prompt.
Website: choose five nouns; say the singular, dual and/or plural, then use each in a sentence. Use objects on camera (one pen, two pens …). To a girl: عِنْدَكِ · غُرْفَتِكِ · تَدْرُسِينَ.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DO (9 min writing). Steer routes using the Do Now and quick-check results.
Website writing task: Write 8–12 connected sentences about your school, home or local area. Use at least six target noun forms from this lesson and underline them.
LIVE FEEDBACK: students post their first two sentences in the chat after 3 minutes. Scan and correct the target rule immediately (private chat for individual corrections).
Work with the less able: stay with Core students for the first 3 minutes. SEND: chunk the Core task — “two sentences, then show me”.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on screen during writing — Core students complete the frames on the right; Develop students use the frames on the left.
Frames and word bank use only this lesson’s website language (EAL: sentence frame + word bank scaffold; same objective, adapted task).
EAL Band A–B students: complete three frames, then copy and adapt one model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Stretch students work from this slide. Checklist = website writing checklist; phrase bank = phrases built on today’s rule.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FEEDBACK (1 min) — teacher model built on the website model sentence, with an English translation for Core students.
Students find in the model (● 20s → ◎) the items on the chips. -āni: غُرْفَتَانِ · أَخَوَانِ · مَدْرَسَتَانِ كَبِيرَتَانِ · مُعَلِّمَانِ. -ayni: صَدِيقَيْنِ; أَخَوَيَّ (Stretch: “my two brothers” — the nūn drops before ـيَّ).
Then each student chooses ONE thing from the model to add to their own writing.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(2 min) — 3 of the website’s 3 end-of-lesson questions (“Final self-marking check”). The rest are on the website for homework.
Anyone scoring low → Core route next lesson and a check-in during the Do Now. Record Pastoral Tracker points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reveal. Students self-mark and type their score out of 3 in the chat.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PREPARATION — flipped learning (2 min to explain).
Next lesson (GM-N-03 · Sound Masculine Plural) will spend class time USING this language, so students prepare it tonight — short, simple, easy to access (school guidance: “Simple, Short, Interesting, Relevant, Easy to access”). The five words prepare GM-N-03 (website Nouns lesson 3: the sound masculine plural).
Follow-up: the next Do Now tests two of these words (Flipped Learning: keep it short AND follow up).
Homework by route (website tasks). No internet? Students copy the five words from this slide into their book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1.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1.xml"/><Relationship Id="rId3" Type="http://schemas.openxmlformats.org/officeDocument/2006/relationships/notesSlide" Target="../notesSlides/notesSlide3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ea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MIFTAH GRAMMAR MASTERY  ·  NOUNS  ·  GM-N-02</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GM-N-02</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4000" b="1" dirty="0">
                <a:solidFill>
                  <a:srgbClr val="FFFFFF"/>
                </a:solidFill>
                <a:latin typeface="Cambria" pitchFamily="34" charset="0"/>
                <a:cs typeface="Amiri" pitchFamily="2" charset="-78"/>
              </a:rPr>
              <a:t>Singular, Dual and Plural</a:t>
            </a:r>
            <a:endParaRPr lang="en-US" sz="400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ea typeface="Amiri" pitchFamily="2" charset="-78"/>
                <a:cs typeface="Amiri" pitchFamily="2" charset="-78"/>
              </a:rPr>
              <a:t>الْمُفْرَدُ وَالْمُثَنَّى وَالْجَمْعُ</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400" dirty="0">
                <a:solidFill>
                  <a:srgbClr val="C6D2E6"/>
                </a:solidFill>
                <a:latin typeface="Calibri" pitchFamily="34" charset="0"/>
                <a:cs typeface="Amiri" pitchFamily="2" charset="-78"/>
              </a:rPr>
              <a:t>Arabic counts one, exactly two and three-or-more. Build the dual with </a:t>
            </a:r>
            <a:pPr algn="l" indent="0" marL="0">
              <a:buNone/>
            </a:pPr>
            <a:r>
              <a:rPr lang="ar-SA" altLang="en-US" sz="1800" dirty="0">
                <a:solidFill>
                  <a:srgbClr val="C6D2E6"/>
                </a:solidFill>
                <a:latin typeface="Amiri" pitchFamily="2" charset="-78"/>
                <a:ea typeface="Amiri" pitchFamily="2" charset="-78"/>
                <a:cs typeface="Amiri" pitchFamily="2" charset="-78"/>
              </a:rPr>
              <a:t>ـَانِ</a:t>
            </a:r>
            <a:pPr algn="l" indent="0" marL="0">
              <a:buNone/>
            </a:pPr>
            <a:r>
              <a:rPr lang="en-US" sz="1400" dirty="0">
                <a:solidFill>
                  <a:srgbClr val="C6D2E6"/>
                </a:solidFill>
                <a:latin typeface="Calibri" pitchFamily="34" charset="0"/>
                <a:cs typeface="Amiri" pitchFamily="2" charset="-78"/>
              </a:rPr>
              <a:t> (subject) and </a:t>
            </a:r>
            <a:pPr algn="l" indent="0" marL="0">
              <a:buNone/>
            </a:pPr>
            <a:r>
              <a:rPr lang="ar-SA" altLang="en-US" sz="1800" dirty="0">
                <a:solidFill>
                  <a:srgbClr val="C6D2E6"/>
                </a:solidFill>
                <a:latin typeface="Amiri" pitchFamily="2" charset="-78"/>
                <a:ea typeface="Amiri" pitchFamily="2" charset="-78"/>
                <a:cs typeface="Amiri" pitchFamily="2" charset="-78"/>
              </a:rPr>
              <a:t>ـَيْنِ</a:t>
            </a:r>
            <a:pPr algn="l" indent="0" marL="0">
              <a:buNone/>
            </a:pPr>
            <a:r>
              <a:rPr lang="en-US" sz="1400" dirty="0">
                <a:solidFill>
                  <a:srgbClr val="C6D2E6"/>
                </a:solidFill>
                <a:latin typeface="Calibri" pitchFamily="34" charset="0"/>
                <a:cs typeface="Amiri" pitchFamily="2" charset="-78"/>
              </a:rPr>
              <a:t> (after a preposition or as an object) — </a:t>
            </a:r>
            <a:pPr algn="l" indent="0" marL="0">
              <a:buNone/>
            </a:pPr>
            <a:r>
              <a:rPr lang="ar-SA" altLang="en-US" sz="1800" dirty="0">
                <a:solidFill>
                  <a:srgbClr val="C6D2E6"/>
                </a:solidFill>
                <a:latin typeface="Amiri" pitchFamily="2" charset="-78"/>
                <a:ea typeface="Amiri" pitchFamily="2" charset="-78"/>
                <a:cs typeface="Amiri" pitchFamily="2" charset="-78"/>
              </a:rPr>
              <a:t>كِتَابَانِ</a:t>
            </a:r>
            <a:pPr algn="l" indent="0" marL="0">
              <a:buNone/>
            </a:pPr>
            <a:r>
              <a:rPr lang="en-US" sz="1400" dirty="0">
                <a:solidFill>
                  <a:srgbClr val="C6D2E6"/>
                </a:solidFill>
                <a:latin typeface="Calibri" pitchFamily="34" charset="0"/>
                <a:cs typeface="Amiri" pitchFamily="2" charset="-78"/>
              </a:rPr>
              <a:t> · </a:t>
            </a:r>
            <a:pPr algn="l" indent="0" marL="0">
              <a:buNone/>
            </a:pPr>
            <a:r>
              <a:rPr lang="ar-SA" altLang="en-US" sz="1800" dirty="0">
                <a:solidFill>
                  <a:srgbClr val="C6D2E6"/>
                </a:solidFill>
                <a:latin typeface="Amiri" pitchFamily="2" charset="-78"/>
                <a:ea typeface="Amiri" pitchFamily="2" charset="-78"/>
                <a:cs typeface="Amiri" pitchFamily="2" charset="-78"/>
              </a:rPr>
              <a:t>فِي كِتَابَيْنِ</a:t>
            </a:r>
            <a:pPr algn="l" indent="0" marL="0">
              <a:buNone/>
            </a:pPr>
            <a:r>
              <a:rPr lang="en-US" sz="1400" dirty="0">
                <a:solidFill>
                  <a:srgbClr val="C6D2E6"/>
                </a:solidFill>
                <a:latin typeface="Calibri" pitchFamily="34" charset="0"/>
                <a:cs typeface="Amiri" pitchFamily="2" charset="-78"/>
              </a:rPr>
              <a:t> · </a:t>
            </a:r>
            <a:pPr algn="l" indent="0" marL="0">
              <a:buNone/>
            </a:pPr>
            <a:r>
              <a:rPr lang="ar-SA" altLang="en-US" sz="1800" dirty="0">
                <a:solidFill>
                  <a:srgbClr val="C6D2E6"/>
                </a:solidFill>
                <a:latin typeface="Amiri" pitchFamily="2" charset="-78"/>
                <a:ea typeface="Amiri" pitchFamily="2" charset="-78"/>
                <a:cs typeface="Amiri" pitchFamily="2" charset="-78"/>
              </a:rPr>
              <a:t>مَدْرَسَتَانِ</a:t>
            </a:r>
            <a:pPr algn="l" indent="0" marL="0">
              <a:buNone/>
            </a:pPr>
            <a:r>
              <a:rPr lang="en-US" sz="1400" dirty="0">
                <a:solidFill>
                  <a:srgbClr val="C6D2E6"/>
                </a:solidFill>
                <a:latin typeface="Calibri" pitchFamily="34" charset="0"/>
                <a:cs typeface="Amiri" pitchFamily="2" charset="-78"/>
              </a:rPr>
              <a:t> — and know which plural family comes next.</a:t>
            </a:r>
            <a:endParaRPr lang="en-US" sz="14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GM-N-02 · Grammar Mastery</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All pathways · revision</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Grammar › Nouns</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GM-N-02 · Nouns</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Nouns · GM-N-02</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35</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GM-N-02 · Nouns</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LESSON MAP</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lesson today, step by step</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خَرِيطَةُ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Nouns · GM-N-02</a:t>
            </a:r>
            <a:endParaRPr lang="en-US" sz="850" dirty="0"/>
          </a:p>
        </p:txBody>
      </p:sp>
      <p:sp>
        <p:nvSpPr>
          <p:cNvPr id="15" name="Shape 12"/>
          <p:cNvSpPr/>
          <p:nvPr/>
        </p:nvSpPr>
        <p:spPr>
          <a:xfrm>
            <a:off x="45720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281466" cy="566928"/>
          </a:xfrm>
          <a:prstGeom prst="roundRect">
            <a:avLst>
              <a:gd name="adj" fmla="val 9677"/>
            </a:avLst>
          </a:prstGeom>
          <a:solidFill>
            <a:srgbClr val="0E7C86"/>
          </a:solidFill>
          <a:ln w="12700">
            <a:solidFill>
              <a:srgbClr val="0E7C86"/>
            </a:solidFill>
            <a:prstDash val="solid"/>
          </a:ln>
        </p:spPr>
      </p:sp>
      <p:sp>
        <p:nvSpPr>
          <p:cNvPr id="17" name="Text 14"/>
          <p:cNvSpPr txBox="1"/>
          <p:nvPr/>
        </p:nvSpPr>
        <p:spPr>
          <a:xfrm>
            <a:off x="60350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DO NOW</a:t>
            </a:r>
            <a:endParaRPr lang="en-US" sz="1000" dirty="0"/>
          </a:p>
        </p:txBody>
      </p:sp>
      <p:sp>
        <p:nvSpPr>
          <p:cNvPr id="18" name="Text 15"/>
          <p:cNvSpPr txBox="1"/>
          <p:nvPr/>
        </p:nvSpPr>
        <p:spPr>
          <a:xfrm>
            <a:off x="60350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7 min</a:t>
            </a:r>
            <a:endParaRPr lang="en-US" sz="1000" dirty="0"/>
          </a:p>
        </p:txBody>
      </p:sp>
      <p:sp>
        <p:nvSpPr>
          <p:cNvPr id="19" name="Shape 16"/>
          <p:cNvSpPr/>
          <p:nvPr/>
        </p:nvSpPr>
        <p:spPr>
          <a:xfrm>
            <a:off x="1006493"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00649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Retrieval quiz on your own, then we check together.</a:t>
            </a:r>
            <a:endParaRPr lang="en-US" sz="1200" dirty="0"/>
          </a:p>
        </p:txBody>
      </p:sp>
      <p:sp>
        <p:nvSpPr>
          <p:cNvPr id="22" name="Text 19"/>
          <p:cNvSpPr txBox="1"/>
          <p:nvPr/>
        </p:nvSpPr>
        <p:spPr>
          <a:xfrm>
            <a:off x="54864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0E7C86"/>
                </a:solidFill>
                <a:latin typeface="Amiri" pitchFamily="2" charset="-78"/>
                <a:ea typeface="Amiri" pitchFamily="2" charset="-78"/>
                <a:cs typeface="Amiri" pitchFamily="2" charset="-78"/>
              </a:rPr>
              <a:t>اِبْدَأِ الآنَ</a:t>
            </a:r>
            <a:endParaRPr lang="ar-SA" sz="1500" dirty="0"/>
          </a:p>
        </p:txBody>
      </p:sp>
      <p:sp>
        <p:nvSpPr>
          <p:cNvPr id="23" name="Shape 20"/>
          <p:cNvSpPr/>
          <p:nvPr/>
        </p:nvSpPr>
        <p:spPr>
          <a:xfrm>
            <a:off x="2086138"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195866" y="1938528"/>
            <a:ext cx="1281466" cy="566928"/>
          </a:xfrm>
          <a:prstGeom prst="roundRect">
            <a:avLst>
              <a:gd name="adj" fmla="val 9677"/>
            </a:avLst>
          </a:prstGeom>
          <a:solidFill>
            <a:srgbClr val="1B3B6F"/>
          </a:solidFill>
          <a:ln w="12700">
            <a:solidFill>
              <a:srgbClr val="1B3B6F"/>
            </a:solidFill>
            <a:prstDash val="solid"/>
          </a:ln>
        </p:spPr>
      </p:sp>
      <p:sp>
        <p:nvSpPr>
          <p:cNvPr id="25" name="Text 22"/>
          <p:cNvSpPr txBox="1"/>
          <p:nvPr/>
        </p:nvSpPr>
        <p:spPr>
          <a:xfrm>
            <a:off x="2232442"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TEACHER INSTRUCTION</a:t>
            </a:r>
            <a:endParaRPr lang="en-US" sz="1000" dirty="0"/>
          </a:p>
        </p:txBody>
      </p:sp>
      <p:sp>
        <p:nvSpPr>
          <p:cNvPr id="26" name="Text 23"/>
          <p:cNvSpPr txBox="1"/>
          <p:nvPr/>
        </p:nvSpPr>
        <p:spPr>
          <a:xfrm>
            <a:off x="2232442"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14 min</a:t>
            </a:r>
            <a:endParaRPr lang="en-US" sz="1000" dirty="0"/>
          </a:p>
        </p:txBody>
      </p:sp>
      <p:sp>
        <p:nvSpPr>
          <p:cNvPr id="27" name="Shape 24"/>
          <p:cNvSpPr/>
          <p:nvPr/>
        </p:nvSpPr>
        <p:spPr>
          <a:xfrm>
            <a:off x="2635431"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263543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214154"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One, two, three-or-more; building the dual; </a:t>
            </a:r>
            <a:pPr algn="ctr" indent="0" marL="0">
              <a:buNone/>
            </a:pPr>
            <a:r>
              <a:rPr lang="ar-SA" altLang="en-US" sz="1550" dirty="0">
                <a:solidFill>
                  <a:srgbClr val="1F2A37"/>
                </a:solidFill>
                <a:latin typeface="Amiri" pitchFamily="2" charset="-78"/>
                <a:ea typeface="Amiri" pitchFamily="2" charset="-78"/>
                <a:cs typeface="Amiri" pitchFamily="2" charset="-78"/>
              </a:rPr>
              <a:t>ـَانِ</a:t>
            </a:r>
            <a:pPr algn="ctr" indent="0" marL="0">
              <a:buNone/>
            </a:pPr>
            <a:r>
              <a:rPr lang="en-US" sz="1200" dirty="0">
                <a:solidFill>
                  <a:srgbClr val="1F2A37"/>
                </a:solidFill>
                <a:latin typeface="Calibri" pitchFamily="34" charset="0"/>
                <a:cs typeface="Amiri" pitchFamily="2" charset="-78"/>
              </a:rPr>
              <a:t> or </a:t>
            </a:r>
            <a:pPr algn="ctr" indent="0" marL="0">
              <a:buNone/>
            </a:pPr>
            <a:r>
              <a:rPr lang="ar-SA" altLang="en-US" sz="1550" dirty="0">
                <a:solidFill>
                  <a:srgbClr val="1F2A37"/>
                </a:solidFill>
                <a:latin typeface="Amiri" pitchFamily="2" charset="-78"/>
                <a:ea typeface="Amiri" pitchFamily="2" charset="-78"/>
                <a:cs typeface="Amiri" pitchFamily="2" charset="-78"/>
              </a:rPr>
              <a:t>ـَيْنِ</a:t>
            </a:r>
            <a:pPr algn="ctr" indent="0" marL="0">
              <a:buNone/>
            </a:pPr>
            <a:r>
              <a:rPr lang="en-US" sz="1200" dirty="0">
                <a:solidFill>
                  <a:srgbClr val="1F2A37"/>
                </a:solidFill>
                <a:latin typeface="Calibri" pitchFamily="34" charset="0"/>
                <a:cs typeface="Amiri" pitchFamily="2" charset="-78"/>
              </a:rPr>
              <a:t>.</a:t>
            </a:r>
            <a:endParaRPr lang="en-US" sz="1200" dirty="0"/>
          </a:p>
        </p:txBody>
      </p:sp>
      <p:sp>
        <p:nvSpPr>
          <p:cNvPr id="30" name="Text 27"/>
          <p:cNvSpPr txBox="1"/>
          <p:nvPr/>
        </p:nvSpPr>
        <p:spPr>
          <a:xfrm>
            <a:off x="2177578"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كَلِمَاتٌ وَقَوَاعِدُ</a:t>
            </a:r>
            <a:endParaRPr lang="ar-SA" sz="1500" dirty="0"/>
          </a:p>
        </p:txBody>
      </p:sp>
      <p:sp>
        <p:nvSpPr>
          <p:cNvPr id="31" name="Shape 28"/>
          <p:cNvSpPr/>
          <p:nvPr/>
        </p:nvSpPr>
        <p:spPr>
          <a:xfrm>
            <a:off x="3715077"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3824805" y="1938528"/>
            <a:ext cx="1281466" cy="566928"/>
          </a:xfrm>
          <a:prstGeom prst="roundRect">
            <a:avLst>
              <a:gd name="adj" fmla="val 9677"/>
            </a:avLst>
          </a:prstGeom>
          <a:solidFill>
            <a:srgbClr val="6B4C9A"/>
          </a:solidFill>
          <a:ln w="12700">
            <a:solidFill>
              <a:srgbClr val="6B4C9A"/>
            </a:solidFill>
            <a:prstDash val="solid"/>
          </a:ln>
        </p:spPr>
      </p:sp>
      <p:sp>
        <p:nvSpPr>
          <p:cNvPr id="33" name="Text 30"/>
          <p:cNvSpPr txBox="1"/>
          <p:nvPr/>
        </p:nvSpPr>
        <p:spPr>
          <a:xfrm>
            <a:off x="3861381"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I DO</a:t>
            </a:r>
            <a:endParaRPr lang="en-US" sz="1000" dirty="0"/>
          </a:p>
        </p:txBody>
      </p:sp>
      <p:sp>
        <p:nvSpPr>
          <p:cNvPr id="34" name="Text 31"/>
          <p:cNvSpPr txBox="1"/>
          <p:nvPr/>
        </p:nvSpPr>
        <p:spPr>
          <a:xfrm>
            <a:off x="3861381"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3 min</a:t>
            </a:r>
            <a:endParaRPr lang="en-US" sz="1000" dirty="0"/>
          </a:p>
        </p:txBody>
      </p:sp>
      <p:sp>
        <p:nvSpPr>
          <p:cNvPr id="35" name="Shape 32"/>
          <p:cNvSpPr/>
          <p:nvPr/>
        </p:nvSpPr>
        <p:spPr>
          <a:xfrm>
            <a:off x="4264370"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4264370"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3843093"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Watch me build one sentence. Copy it into your book.</a:t>
            </a:r>
            <a:endParaRPr lang="en-US" sz="1200" dirty="0"/>
          </a:p>
        </p:txBody>
      </p:sp>
      <p:sp>
        <p:nvSpPr>
          <p:cNvPr id="38" name="Text 35"/>
          <p:cNvSpPr txBox="1"/>
          <p:nvPr/>
        </p:nvSpPr>
        <p:spPr>
          <a:xfrm>
            <a:off x="3806517"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6B4C9A"/>
                </a:solidFill>
                <a:latin typeface="Amiri" pitchFamily="2" charset="-78"/>
                <a:ea typeface="Amiri" pitchFamily="2" charset="-78"/>
                <a:cs typeface="Amiri" pitchFamily="2" charset="-78"/>
              </a:rPr>
              <a:t>شَاهِدْ</a:t>
            </a:r>
            <a:endParaRPr lang="ar-SA" sz="1500" dirty="0"/>
          </a:p>
        </p:txBody>
      </p:sp>
      <p:sp>
        <p:nvSpPr>
          <p:cNvPr id="39" name="Shape 36"/>
          <p:cNvSpPr/>
          <p:nvPr/>
        </p:nvSpPr>
        <p:spPr>
          <a:xfrm>
            <a:off x="5344015"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5453743" y="1938528"/>
            <a:ext cx="1281466" cy="566928"/>
          </a:xfrm>
          <a:prstGeom prst="roundRect">
            <a:avLst>
              <a:gd name="adj" fmla="val 9677"/>
            </a:avLst>
          </a:prstGeom>
          <a:solidFill>
            <a:srgbClr val="2F6FB0"/>
          </a:solidFill>
          <a:ln w="12700">
            <a:solidFill>
              <a:srgbClr val="2F6FB0"/>
            </a:solidFill>
            <a:prstDash val="solid"/>
          </a:ln>
        </p:spPr>
      </p:sp>
      <p:sp>
        <p:nvSpPr>
          <p:cNvPr id="41" name="Text 38"/>
          <p:cNvSpPr txBox="1"/>
          <p:nvPr/>
        </p:nvSpPr>
        <p:spPr>
          <a:xfrm>
            <a:off x="5490319"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42" name="Text 39"/>
          <p:cNvSpPr txBox="1"/>
          <p:nvPr/>
        </p:nvSpPr>
        <p:spPr>
          <a:xfrm>
            <a:off x="5490319"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9 min</a:t>
            </a:r>
            <a:endParaRPr lang="en-US" sz="1000" dirty="0"/>
          </a:p>
        </p:txBody>
      </p:sp>
      <p:sp>
        <p:nvSpPr>
          <p:cNvPr id="43" name="Shape 40"/>
          <p:cNvSpPr/>
          <p:nvPr/>
        </p:nvSpPr>
        <p:spPr>
          <a:xfrm>
            <a:off x="5893308"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5472031"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Sort by number, repair dual slips, transform singular → dual → plural.</a:t>
            </a:r>
            <a:endParaRPr lang="en-US" sz="1200" dirty="0"/>
          </a:p>
        </p:txBody>
      </p:sp>
      <p:sp>
        <p:nvSpPr>
          <p:cNvPr id="46" name="Text 43"/>
          <p:cNvSpPr txBox="1"/>
          <p:nvPr/>
        </p:nvSpPr>
        <p:spPr>
          <a:xfrm>
            <a:off x="5435455"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مَعًا</a:t>
            </a:r>
            <a:endParaRPr lang="ar-SA" sz="1500" dirty="0"/>
          </a:p>
        </p:txBody>
      </p:sp>
      <p:sp>
        <p:nvSpPr>
          <p:cNvPr id="47" name="Shape 44"/>
          <p:cNvSpPr/>
          <p:nvPr/>
        </p:nvSpPr>
        <p:spPr>
          <a:xfrm>
            <a:off x="6972953"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7082681" y="1938528"/>
            <a:ext cx="1281466" cy="566928"/>
          </a:xfrm>
          <a:prstGeom prst="roundRect">
            <a:avLst>
              <a:gd name="adj" fmla="val 9677"/>
            </a:avLst>
          </a:prstGeom>
          <a:solidFill>
            <a:srgbClr val="1E6B52"/>
          </a:solidFill>
          <a:ln w="12700">
            <a:solidFill>
              <a:srgbClr val="1E6B52"/>
            </a:solidFill>
            <a:prstDash val="solid"/>
          </a:ln>
        </p:spPr>
      </p:sp>
      <p:sp>
        <p:nvSpPr>
          <p:cNvPr id="49" name="Text 46"/>
          <p:cNvSpPr txBox="1"/>
          <p:nvPr/>
        </p:nvSpPr>
        <p:spPr>
          <a:xfrm>
            <a:off x="7119257"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50" name="Text 47"/>
          <p:cNvSpPr txBox="1"/>
          <p:nvPr/>
        </p:nvSpPr>
        <p:spPr>
          <a:xfrm>
            <a:off x="7119257"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12 min</a:t>
            </a:r>
            <a:endParaRPr lang="en-US" sz="1000" dirty="0"/>
          </a:p>
        </p:txBody>
      </p:sp>
      <p:sp>
        <p:nvSpPr>
          <p:cNvPr id="51" name="Shape 48"/>
          <p:cNvSpPr/>
          <p:nvPr/>
        </p:nvSpPr>
        <p:spPr>
          <a:xfrm>
            <a:off x="7522246"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7522246"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7100969"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Speak first, then write on your route.</a:t>
            </a:r>
            <a:endParaRPr lang="en-US" sz="1200" dirty="0"/>
          </a:p>
        </p:txBody>
      </p:sp>
      <p:sp>
        <p:nvSpPr>
          <p:cNvPr id="54" name="Text 51"/>
          <p:cNvSpPr txBox="1"/>
          <p:nvPr/>
        </p:nvSpPr>
        <p:spPr>
          <a:xfrm>
            <a:off x="7064393"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وَحْدَكَ</a:t>
            </a:r>
            <a:endParaRPr lang="ar-SA" sz="1500" dirty="0"/>
          </a:p>
        </p:txBody>
      </p:sp>
      <p:sp>
        <p:nvSpPr>
          <p:cNvPr id="55" name="Shape 52"/>
          <p:cNvSpPr/>
          <p:nvPr/>
        </p:nvSpPr>
        <p:spPr>
          <a:xfrm>
            <a:off x="8601891"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8711619" y="1938528"/>
            <a:ext cx="1281466" cy="566928"/>
          </a:xfrm>
          <a:prstGeom prst="roundRect">
            <a:avLst>
              <a:gd name="adj" fmla="val 9677"/>
            </a:avLst>
          </a:prstGeom>
          <a:solidFill>
            <a:srgbClr val="8A6D1E"/>
          </a:solidFill>
          <a:ln w="12700">
            <a:solidFill>
              <a:srgbClr val="8A6D1E"/>
            </a:solidFill>
            <a:prstDash val="solid"/>
          </a:ln>
        </p:spPr>
      </p:sp>
      <p:sp>
        <p:nvSpPr>
          <p:cNvPr id="57" name="Text 54"/>
          <p:cNvSpPr txBox="1"/>
          <p:nvPr/>
        </p:nvSpPr>
        <p:spPr>
          <a:xfrm>
            <a:off x="8748195"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8" name="Text 55"/>
          <p:cNvSpPr txBox="1"/>
          <p:nvPr/>
        </p:nvSpPr>
        <p:spPr>
          <a:xfrm>
            <a:off x="8748195"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5 min</a:t>
            </a:r>
            <a:endParaRPr lang="en-US" sz="1000" dirty="0"/>
          </a:p>
        </p:txBody>
      </p:sp>
      <p:sp>
        <p:nvSpPr>
          <p:cNvPr id="59" name="Shape 56"/>
          <p:cNvSpPr/>
          <p:nvPr/>
        </p:nvSpPr>
        <p:spPr>
          <a:xfrm>
            <a:off x="9151185" y="2651760"/>
            <a:ext cx="402336" cy="402336"/>
          </a:xfrm>
          <a:prstGeom prst="ellipse">
            <a:avLst/>
          </a:prstGeom>
          <a:solidFill>
            <a:srgbClr val="F4F1EA"/>
          </a:solidFill>
          <a:ln w="12700">
            <a:solidFill>
              <a:srgbClr val="F4F1EA"/>
            </a:solidFill>
            <a:prstDash val="solid"/>
          </a:ln>
        </p:spPr>
      </p:sp>
      <p:sp>
        <p:nvSpPr>
          <p:cNvPr id="60" name="Text 57"/>
          <p:cNvSpPr txBox="1"/>
          <p:nvPr/>
        </p:nvSpPr>
        <p:spPr>
          <a:xfrm>
            <a:off x="915118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6</a:t>
            </a:r>
            <a:endParaRPr lang="en-US" sz="1300" dirty="0"/>
          </a:p>
        </p:txBody>
      </p:sp>
      <p:sp>
        <p:nvSpPr>
          <p:cNvPr id="61" name="Text 58"/>
          <p:cNvSpPr txBox="1"/>
          <p:nvPr/>
        </p:nvSpPr>
        <p:spPr>
          <a:xfrm>
            <a:off x="8729907"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Compare with a model and complete the exit ticket.</a:t>
            </a:r>
            <a:endParaRPr lang="en-US" sz="1200" dirty="0"/>
          </a:p>
        </p:txBody>
      </p:sp>
      <p:sp>
        <p:nvSpPr>
          <p:cNvPr id="62" name="Text 59"/>
          <p:cNvSpPr txBox="1"/>
          <p:nvPr/>
        </p:nvSpPr>
        <p:spPr>
          <a:xfrm>
            <a:off x="8693331"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ea typeface="Amiri" pitchFamily="2" charset="-78"/>
                <a:cs typeface="Amiri" pitchFamily="2" charset="-78"/>
              </a:rPr>
              <a:t>قَيِّمْ عَمَلَكَ</a:t>
            </a:r>
            <a:endParaRPr lang="ar-SA" sz="1500" dirty="0"/>
          </a:p>
        </p:txBody>
      </p:sp>
      <p:sp>
        <p:nvSpPr>
          <p:cNvPr id="63" name="Shape 60"/>
          <p:cNvSpPr/>
          <p:nvPr/>
        </p:nvSpPr>
        <p:spPr>
          <a:xfrm>
            <a:off x="1023083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10340558" y="1938528"/>
            <a:ext cx="1281466" cy="566928"/>
          </a:xfrm>
          <a:prstGeom prst="roundRect">
            <a:avLst>
              <a:gd name="adj" fmla="val 9677"/>
            </a:avLst>
          </a:prstGeom>
          <a:solidFill>
            <a:srgbClr val="C45A3C"/>
          </a:solidFill>
          <a:ln w="12700">
            <a:solidFill>
              <a:srgbClr val="C45A3C"/>
            </a:solidFill>
            <a:prstDash val="solid"/>
          </a:ln>
        </p:spPr>
      </p:sp>
      <p:sp>
        <p:nvSpPr>
          <p:cNvPr id="65" name="Text 62"/>
          <p:cNvSpPr txBox="1"/>
          <p:nvPr/>
        </p:nvSpPr>
        <p:spPr>
          <a:xfrm>
            <a:off x="1037713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PREPARATION</a:t>
            </a:r>
            <a:endParaRPr lang="en-US" sz="1000" dirty="0"/>
          </a:p>
        </p:txBody>
      </p:sp>
      <p:sp>
        <p:nvSpPr>
          <p:cNvPr id="66" name="Text 63"/>
          <p:cNvSpPr txBox="1"/>
          <p:nvPr/>
        </p:nvSpPr>
        <p:spPr>
          <a:xfrm>
            <a:off x="1037713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2 min</a:t>
            </a:r>
            <a:endParaRPr lang="en-US" sz="1000" dirty="0"/>
          </a:p>
        </p:txBody>
      </p:sp>
      <p:sp>
        <p:nvSpPr>
          <p:cNvPr id="67" name="Shape 64"/>
          <p:cNvSpPr/>
          <p:nvPr/>
        </p:nvSpPr>
        <p:spPr>
          <a:xfrm>
            <a:off x="10780123" y="2651760"/>
            <a:ext cx="402336" cy="402336"/>
          </a:xfrm>
          <a:prstGeom prst="ellipse">
            <a:avLst/>
          </a:prstGeom>
          <a:solidFill>
            <a:srgbClr val="F4F1EA"/>
          </a:solidFill>
          <a:ln w="12700">
            <a:solidFill>
              <a:srgbClr val="F4F1EA"/>
            </a:solidFill>
            <a:prstDash val="solid"/>
          </a:ln>
        </p:spPr>
      </p:sp>
      <p:sp>
        <p:nvSpPr>
          <p:cNvPr id="68" name="Text 65"/>
          <p:cNvSpPr txBox="1"/>
          <p:nvPr/>
        </p:nvSpPr>
        <p:spPr>
          <a:xfrm>
            <a:off x="1078012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7</a:t>
            </a:r>
            <a:endParaRPr lang="en-US" sz="1300" dirty="0"/>
          </a:p>
        </p:txBody>
      </p:sp>
      <p:sp>
        <p:nvSpPr>
          <p:cNvPr id="69" name="Text 66"/>
          <p:cNvSpPr txBox="1"/>
          <p:nvPr/>
        </p:nvSpPr>
        <p:spPr>
          <a:xfrm>
            <a:off x="1035884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Get ready at home for GM-N-03.</a:t>
            </a:r>
            <a:endParaRPr lang="en-US" sz="1200" dirty="0"/>
          </a:p>
        </p:txBody>
      </p:sp>
      <p:sp>
        <p:nvSpPr>
          <p:cNvPr id="70" name="Text 67"/>
          <p:cNvSpPr txBox="1"/>
          <p:nvPr/>
        </p:nvSpPr>
        <p:spPr>
          <a:xfrm>
            <a:off x="1032227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C45A3C"/>
                </a:solidFill>
                <a:latin typeface="Amiri" pitchFamily="2" charset="-78"/>
                <a:ea typeface="Amiri" pitchFamily="2" charset="-78"/>
                <a:cs typeface="Amiri" pitchFamily="2" charset="-78"/>
              </a:rPr>
              <a:t>اِسْتَعِدَّ</a:t>
            </a:r>
            <a:endParaRPr lang="ar-SA" sz="1500" dirty="0"/>
          </a:p>
        </p:txBody>
      </p:sp>
      <p:sp>
        <p:nvSpPr>
          <p:cNvPr id="71" name="Shape 68"/>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72" name="Text 69"/>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IF ARABIC FEELS HARD TODAY</a:t>
            </a:r>
            <a:endParaRPr lang="en-US" sz="1000" dirty="0"/>
          </a:p>
        </p:txBody>
      </p:sp>
      <p:sp>
        <p:nvSpPr>
          <p:cNvPr id="73" name="Text 70"/>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Look for the green CORE boxes: they give you transliteration, English meanings and sentence frames. You never need every word — find the key word first. You can answer in the chat, in English, or by holding up A / B / C to your camera.</a:t>
            </a:r>
            <a:endParaRPr lang="en-US" sz="1250" dirty="0"/>
          </a:p>
        </p:txBody>
      </p:sp>
      <p:sp>
        <p:nvSpPr>
          <p:cNvPr id="74" name="Text 7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35</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GM-N-02 · Nouns</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ON YOUR OWN · 5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Retrieval: what do you remember?</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اِبْدَأِ الآنَ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Nouns · GM-N-02</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means “two books”?</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كِتَابٌ</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كِتَابَانِ</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كُتُبٌ</a:t>
            </a:r>
            <a:endParaRPr lang="ar-SA" sz="20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After </a:t>
            </a:r>
            <a:pPr algn="l" indent="0" marL="0">
              <a:buNone/>
            </a:pPr>
            <a:r>
              <a:rPr lang="ar-SA" altLang="en-US" sz="1650" b="1" dirty="0">
                <a:solidFill>
                  <a:srgbClr val="1B3B6F"/>
                </a:solidFill>
                <a:latin typeface="Amiri" pitchFamily="2" charset="-78"/>
                <a:ea typeface="Amiri" pitchFamily="2" charset="-78"/>
                <a:cs typeface="Amiri" pitchFamily="2" charset="-78"/>
              </a:rPr>
              <a:t>فِي</a:t>
            </a:r>
            <a:pPr algn="l" indent="0" marL="0">
              <a:buNone/>
            </a:pPr>
            <a:r>
              <a:rPr lang="en-US" sz="1250" b="1" dirty="0">
                <a:solidFill>
                  <a:srgbClr val="1B3B6F"/>
                </a:solidFill>
                <a:latin typeface="Calibri" pitchFamily="34" charset="0"/>
                <a:cs typeface="Amiri" pitchFamily="2" charset="-78"/>
              </a:rPr>
              <a:t>, choose “two schools”.</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مَدْرَسَتَيْنِ</a:t>
            </a:r>
            <a:endParaRPr lang="ar-SA" sz="20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مَدْرَسَتَانِ</a:t>
            </a:r>
            <a:endParaRPr lang="ar-SA" sz="20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مَدَارِسُ</a:t>
            </a:r>
            <a:endParaRPr lang="ar-SA" sz="20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plural?</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طَالِبٌ</a:t>
            </a:r>
            <a:endParaRPr lang="ar-SA" sz="20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طَالِبَانِ</a:t>
            </a:r>
            <a:endParaRPr lang="ar-SA" sz="20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طُلَّابٌ</a:t>
            </a:r>
            <a:endParaRPr lang="ar-SA" sz="20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happens to </a:t>
            </a:r>
            <a:pPr algn="l" indent="0" marL="0">
              <a:buNone/>
            </a:pPr>
            <a:r>
              <a:rPr lang="ar-SA" altLang="en-US" sz="1650" b="1" dirty="0">
                <a:solidFill>
                  <a:srgbClr val="1B3B6F"/>
                </a:solidFill>
                <a:latin typeface="Amiri" pitchFamily="2" charset="-78"/>
                <a:ea typeface="Amiri" pitchFamily="2" charset="-78"/>
                <a:cs typeface="Amiri" pitchFamily="2" charset="-78"/>
              </a:rPr>
              <a:t>ة</a:t>
            </a:r>
            <a:pPr algn="l" indent="0" marL="0">
              <a:buNone/>
            </a:pPr>
            <a:r>
              <a:rPr lang="en-US" sz="1250" b="1" dirty="0">
                <a:solidFill>
                  <a:srgbClr val="1B3B6F"/>
                </a:solidFill>
                <a:latin typeface="Calibri" pitchFamily="34" charset="0"/>
                <a:cs typeface="Amiri" pitchFamily="2" charset="-78"/>
              </a:rPr>
              <a:t> in the dual?</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stays </a:t>
            </a:r>
            <a:pPr algn="l" indent="0" marL="0">
              <a:buNone/>
            </a:pPr>
            <a:r>
              <a:rPr lang="ar-SA" altLang="en-US" sz="1650" dirty="0">
                <a:solidFill>
                  <a:srgbClr val="1F2A37"/>
                </a:solidFill>
                <a:latin typeface="Amiri" pitchFamily="2" charset="-78"/>
                <a:ea typeface="Amiri" pitchFamily="2" charset="-78"/>
                <a:cs typeface="Amiri" pitchFamily="2" charset="-78"/>
              </a:rPr>
              <a:t>ة</a:t>
            </a:r>
            <a:pPr algn="l" indent="0" marL="0">
              <a:buNone/>
            </a:pPr>
            <a:r>
              <a:rPr lang="en-US" sz="1250" dirty="0">
                <a:solidFill>
                  <a:srgbClr val="1F2A37"/>
                </a:solidFill>
                <a:latin typeface="Calibri" pitchFamily="34" charset="0"/>
                <a:cs typeface="Amiri" pitchFamily="2" charset="-78"/>
              </a:rPr>
              <a:t>.</a:t>
            </a:r>
            <a:endParaRPr lang="en-US" sz="12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becomes </a:t>
            </a:r>
            <a:pPr algn="l" indent="0" marL="0">
              <a:buNone/>
            </a:pPr>
            <a:r>
              <a:rPr lang="ar-SA" altLang="en-US" sz="1650" dirty="0">
                <a:solidFill>
                  <a:srgbClr val="1F2A37"/>
                </a:solidFill>
                <a:latin typeface="Amiri" pitchFamily="2" charset="-78"/>
                <a:ea typeface="Amiri" pitchFamily="2" charset="-78"/>
                <a:cs typeface="Amiri" pitchFamily="2" charset="-78"/>
              </a:rPr>
              <a:t>ه</a:t>
            </a:r>
            <a:pPr algn="l" indent="0" marL="0">
              <a:buNone/>
            </a:pPr>
            <a:r>
              <a:rPr lang="en-US" sz="1250" dirty="0">
                <a:solidFill>
                  <a:srgbClr val="1F2A37"/>
                </a:solidFill>
                <a:latin typeface="Calibri" pitchFamily="34" charset="0"/>
                <a:cs typeface="Amiri" pitchFamily="2" charset="-78"/>
              </a:rPr>
              <a:t>.</a:t>
            </a:r>
            <a:endParaRPr lang="en-US" sz="12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becomes </a:t>
            </a:r>
            <a:pPr algn="l" indent="0" marL="0">
              <a:buNone/>
            </a:pPr>
            <a:r>
              <a:rPr lang="ar-SA" altLang="en-US" sz="1650" dirty="0">
                <a:solidFill>
                  <a:srgbClr val="1F2A37"/>
                </a:solidFill>
                <a:latin typeface="Amiri" pitchFamily="2" charset="-78"/>
                <a:ea typeface="Amiri" pitchFamily="2" charset="-78"/>
                <a:cs typeface="Amiri" pitchFamily="2" charset="-78"/>
              </a:rPr>
              <a:t>ت</a:t>
            </a:r>
            <a:pPr algn="l" indent="0" marL="0">
              <a:buNone/>
            </a:pPr>
            <a:r>
              <a:rPr lang="en-US" sz="1250" dirty="0">
                <a:solidFill>
                  <a:srgbClr val="1F2A37"/>
                </a:solidFill>
                <a:latin typeface="Calibri" pitchFamily="34" charset="0"/>
                <a:cs typeface="Amiri" pitchFamily="2" charset="-78"/>
              </a:rPr>
              <a:t> before </a:t>
            </a:r>
            <a:pPr algn="l" indent="0" marL="0">
              <a:buNone/>
            </a:pPr>
            <a:r>
              <a:rPr lang="ar-SA" altLang="en-US" sz="1650" dirty="0">
                <a:solidFill>
                  <a:srgbClr val="1F2A37"/>
                </a:solidFill>
                <a:latin typeface="Amiri" pitchFamily="2" charset="-78"/>
                <a:ea typeface="Amiri" pitchFamily="2" charset="-78"/>
                <a:cs typeface="Amiri" pitchFamily="2" charset="-78"/>
              </a:rPr>
              <a:t>ان/ين</a:t>
            </a:r>
            <a:pPr algn="l" indent="0" marL="0">
              <a:buNone/>
            </a:pPr>
            <a:r>
              <a:rPr lang="en-US" sz="1250" dirty="0">
                <a:solidFill>
                  <a:srgbClr val="1F2A37"/>
                </a:solidFill>
                <a:latin typeface="Calibri" pitchFamily="34" charset="0"/>
                <a:cs typeface="Amiri" pitchFamily="2" charset="-78"/>
              </a:rPr>
              <a:t>.</a:t>
            </a:r>
            <a:endParaRPr lang="en-US" sz="12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a complete three-way family?</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كِتَابٌ / كِتَابَانِ / كُتُبٌ</a:t>
            </a:r>
            <a:endParaRPr lang="ar-SA" sz="20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كِتَابٌ / كِتَابَيْنِ / كِتَابًا</a:t>
            </a:r>
            <a:endParaRPr lang="ar-SA" sz="20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كِتَابٌ / كَاتِبٌ / مَكْتَبٌ</a:t>
            </a:r>
            <a:endParaRPr lang="ar-SA" sz="2050" dirty="0"/>
          </a:p>
        </p:txBody>
      </p:sp>
      <p:sp>
        <p:nvSpPr>
          <p:cNvPr id="80" name="Shape 77"/>
          <p:cNvSpPr/>
          <p:nvPr/>
        </p:nvSpPr>
        <p:spPr>
          <a:xfrm>
            <a:off x="8095488" y="4151376"/>
            <a:ext cx="3636264" cy="2157984"/>
          </a:xfrm>
          <a:prstGeom prst="roundRect">
            <a:avLst>
              <a:gd name="adj" fmla="val 3390"/>
            </a:avLst>
          </a:prstGeom>
          <a:solidFill>
            <a:srgbClr val="E8F4F5"/>
          </a:solidFill>
          <a:ln w="9525">
            <a:solidFill>
              <a:srgbClr val="9CCFD4"/>
            </a:solidFill>
            <a:prstDash val="solid"/>
          </a:ln>
          <a:effectLst>
            <a:outerShdw sx="100000" sy="100000" kx="0" ky="0" algn="bl" rotWithShape="0" blurRad="50800" dist="19050" dir="5400000">
              <a:srgbClr val="000000">
                <a:alpha val="10000"/>
              </a:srgbClr>
            </a:outerShdw>
          </a:effectLst>
        </p:spPr>
      </p:sp>
      <p:sp>
        <p:nvSpPr>
          <p:cNvPr id="81" name="Text 78"/>
          <p:cNvSpPr txBox="1"/>
          <p:nvPr/>
        </p:nvSpPr>
        <p:spPr>
          <a:xfrm>
            <a:off x="8296656" y="4471416"/>
            <a:ext cx="3270504" cy="274320"/>
          </a:xfrm>
          <a:prstGeom prst="rect">
            <a:avLst/>
          </a:prstGeom>
          <a:noFill/>
          <a:ln/>
        </p:spPr>
        <p:txBody>
          <a:bodyPr wrap="square" lIns="0" tIns="0" rIns="0" bIns="0" rtlCol="0" anchor="ctr"/>
          <a:lstStyle/>
          <a:p>
            <a:pPr algn="l" indent="0" marL="0">
              <a:buNone/>
            </a:pPr>
            <a:r>
              <a:rPr lang="en-US" sz="1100" b="1" spc="200" kern="0" dirty="0">
                <a:solidFill>
                  <a:srgbClr val="0E7C86"/>
                </a:solidFill>
                <a:latin typeface="Calibri" pitchFamily="34" charset="0"/>
                <a:cs typeface="Amiri" pitchFamily="2" charset="-78"/>
              </a:rPr>
              <a:t>HOW TO ANSWER</a:t>
            </a:r>
            <a:endParaRPr lang="en-US" sz="1100" dirty="0"/>
          </a:p>
        </p:txBody>
      </p:sp>
      <p:sp>
        <p:nvSpPr>
          <p:cNvPr id="82" name="Text 79"/>
          <p:cNvSpPr txBox="1"/>
          <p:nvPr/>
        </p:nvSpPr>
        <p:spPr>
          <a:xfrm>
            <a:off x="8296656" y="4754880"/>
            <a:ext cx="3270504" cy="82296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Work on your own in silence.</a:t>
            </a:r>
            <a:endParaRPr lang="en-US" sz="1350" dirty="0"/>
          </a:p>
          <a:p>
            <a:pPr algn="l" indent="0" marL="0">
              <a:buNone/>
            </a:pPr>
            <a:r>
              <a:rPr lang="en-US" sz="1350" dirty="0">
                <a:solidFill>
                  <a:srgbClr val="1F2A37"/>
                </a:solidFill>
                <a:latin typeface="Calibri" pitchFamily="34" charset="0"/>
                <a:cs typeface="Amiri" pitchFamily="2" charset="-78"/>
              </a:rPr>
              <a:t>When the timer ends, type in the chat:</a:t>
            </a:r>
            <a:endParaRPr lang="en-US" sz="1350" dirty="0"/>
          </a:p>
        </p:txBody>
      </p:sp>
      <p:sp>
        <p:nvSpPr>
          <p:cNvPr id="83" name="Text 80"/>
          <p:cNvSpPr txBox="1"/>
          <p:nvPr/>
        </p:nvSpPr>
        <p:spPr>
          <a:xfrm>
            <a:off x="8296656" y="5522976"/>
            <a:ext cx="3270504" cy="310896"/>
          </a:xfrm>
          <a:prstGeom prst="rect">
            <a:avLst/>
          </a:prstGeom>
          <a:noFill/>
          <a:ln/>
        </p:spPr>
        <p:txBody>
          <a:bodyPr wrap="square" lIns="0" tIns="0" rIns="0" bIns="0" rtlCol="0" anchor="ctr"/>
          <a:lstStyle/>
          <a:p>
            <a:pPr algn="l" indent="0" marL="0">
              <a:buNone/>
            </a:pPr>
            <a:r>
              <a:rPr lang="en-US" sz="1400" b="1" dirty="0">
                <a:solidFill>
                  <a:srgbClr val="1B3B6F"/>
                </a:solidFill>
                <a:latin typeface="Consolas" pitchFamily="34" charset="0"/>
                <a:cs typeface="Amiri" pitchFamily="2" charset="-78"/>
              </a:rPr>
              <a:t>1_  2_  3_  4_  5_</a:t>
            </a:r>
            <a:endParaRPr lang="en-US" sz="1400" dirty="0"/>
          </a:p>
        </p:txBody>
      </p:sp>
      <p:sp>
        <p:nvSpPr>
          <p:cNvPr id="84" name="Text 81"/>
          <p:cNvSpPr txBox="1"/>
          <p:nvPr/>
        </p:nvSpPr>
        <p:spPr>
          <a:xfrm>
            <a:off x="8296656" y="5742432"/>
            <a:ext cx="3270504" cy="402336"/>
          </a:xfrm>
          <a:prstGeom prst="rect">
            <a:avLst/>
          </a:prstGeom>
          <a:noFill/>
          <a:ln/>
        </p:spPr>
        <p:txBody>
          <a:bodyPr wrap="square" lIns="0" tIns="0" rIns="0" bIns="0" rtlCol="0" anchor="ctr"/>
          <a:lstStyle/>
          <a:p>
            <a:pPr algn="l" indent="0" marL="0">
              <a:buNone/>
            </a:pPr>
            <a:r>
              <a:rPr lang="en-US" sz="1800" b="1" dirty="0">
                <a:solidFill>
                  <a:srgbClr val="0E7C86"/>
                </a:solidFill>
                <a:latin typeface="Calibri" pitchFamily="34" charset="0"/>
                <a:cs typeface="Amiri" pitchFamily="2" charset="-78"/>
              </a:rPr>
              <a:t>⏱  5 : 00</a:t>
            </a:r>
            <a:endParaRPr lang="en-US" sz="1800" dirty="0"/>
          </a:p>
        </p:txBody>
      </p:sp>
      <p:sp>
        <p:nvSpPr>
          <p:cNvPr id="85" name="Text 8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35</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GM-N-02 · Nouns</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ANSWERS AND REASONS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Let’s check — and explain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Nouns · GM-N-02</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means “two books”?</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كِتَابٌ</a:t>
            </a:r>
            <a:endParaRPr lang="ar-SA" sz="170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كِتَابَانِ</a:t>
            </a:r>
            <a:endParaRPr lang="ar-SA" sz="170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كُتُبٌ</a:t>
            </a:r>
            <a:endParaRPr lang="ar-SA" sz="170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Dual nominative.</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After </a:t>
            </a:r>
            <a:pPr algn="l" indent="0" marL="0">
              <a:buNone/>
            </a:pPr>
            <a:r>
              <a:rPr lang="ar-SA" altLang="en-US" sz="1650" b="1" dirty="0">
                <a:solidFill>
                  <a:srgbClr val="1B3B6F"/>
                </a:solidFill>
                <a:latin typeface="Amiri" pitchFamily="2" charset="-78"/>
                <a:ea typeface="Amiri" pitchFamily="2" charset="-78"/>
                <a:cs typeface="Amiri" pitchFamily="2" charset="-78"/>
              </a:rPr>
              <a:t>فِي</a:t>
            </a:r>
            <a:pPr algn="l" indent="0" marL="0">
              <a:buNone/>
            </a:pPr>
            <a:r>
              <a:rPr lang="en-US" sz="1250" b="1" dirty="0">
                <a:solidFill>
                  <a:srgbClr val="1B3B6F"/>
                </a:solidFill>
                <a:latin typeface="Calibri" pitchFamily="34" charset="0"/>
                <a:cs typeface="Amiri" pitchFamily="2" charset="-78"/>
              </a:rPr>
              <a:t>, choose “two schools”.</a:t>
            </a:r>
            <a:endParaRPr lang="en-US" sz="1250" dirty="0"/>
          </a:p>
        </p:txBody>
      </p:sp>
      <p:sp>
        <p:nvSpPr>
          <p:cNvPr id="34" name="Shape 31"/>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4459224"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4788408" y="243230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مَدْرَسَتَيْنِ</a:t>
            </a:r>
            <a:endParaRPr lang="ar-SA" sz="1700" dirty="0"/>
          </a:p>
        </p:txBody>
      </p:sp>
      <p:sp>
        <p:nvSpPr>
          <p:cNvPr id="38" name="Shape 35"/>
          <p:cNvSpPr/>
          <p:nvPr/>
        </p:nvSpPr>
        <p:spPr>
          <a:xfrm>
            <a:off x="4459224"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4788408"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مَدْرَسَتَانِ</a:t>
            </a:r>
            <a:endParaRPr lang="ar-SA" sz="1700" dirty="0"/>
          </a:p>
        </p:txBody>
      </p:sp>
      <p:sp>
        <p:nvSpPr>
          <p:cNvPr id="41" name="Shape 38"/>
          <p:cNvSpPr/>
          <p:nvPr/>
        </p:nvSpPr>
        <p:spPr>
          <a:xfrm>
            <a:off x="4459224"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مَدَارِسُ</a:t>
            </a:r>
            <a:endParaRPr lang="ar-SA" sz="170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After a preposition, dual uses -ayni.</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plural?</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طَالِبٌ</a:t>
            </a:r>
            <a:endParaRPr lang="ar-SA" sz="170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طَالِبَانِ</a:t>
            </a:r>
            <a:endParaRPr lang="ar-SA" sz="170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طُلَّابٌ</a:t>
            </a:r>
            <a:endParaRPr lang="ar-SA" sz="170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Broken plural.</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happens to </a:t>
            </a:r>
            <a:pPr algn="l" indent="0" marL="0">
              <a:buNone/>
            </a:pPr>
            <a:r>
              <a:rPr lang="ar-SA" altLang="en-US" sz="1650" b="1" dirty="0">
                <a:solidFill>
                  <a:srgbClr val="1B3B6F"/>
                </a:solidFill>
                <a:latin typeface="Amiri" pitchFamily="2" charset="-78"/>
                <a:ea typeface="Amiri" pitchFamily="2" charset="-78"/>
                <a:cs typeface="Amiri" pitchFamily="2" charset="-78"/>
              </a:rPr>
              <a:t>ة</a:t>
            </a:r>
            <a:pPr algn="l" indent="0" marL="0">
              <a:buNone/>
            </a:pPr>
            <a:r>
              <a:rPr lang="en-US" sz="1250" b="1" dirty="0">
                <a:solidFill>
                  <a:srgbClr val="1B3B6F"/>
                </a:solidFill>
                <a:latin typeface="Calibri" pitchFamily="34" charset="0"/>
                <a:cs typeface="Amiri" pitchFamily="2" charset="-78"/>
              </a:rPr>
              <a:t> in the dual?</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It stays </a:t>
            </a:r>
            <a:pPr algn="l" indent="0" marL="0">
              <a:buNone/>
            </a:pPr>
            <a:r>
              <a:rPr lang="ar-SA" altLang="en-US" sz="1650" dirty="0">
                <a:solidFill>
                  <a:srgbClr val="9AA1AB"/>
                </a:solidFill>
                <a:latin typeface="Amiri" pitchFamily="2" charset="-78"/>
                <a:ea typeface="Amiri" pitchFamily="2" charset="-78"/>
                <a:cs typeface="Amiri" pitchFamily="2" charset="-78"/>
              </a:rPr>
              <a:t>ة</a:t>
            </a:r>
            <a:pPr algn="l" indent="0" marL="0">
              <a:buNone/>
            </a:pPr>
            <a:r>
              <a:rPr lang="en-US" sz="1250" dirty="0">
                <a:solidFill>
                  <a:srgbClr val="9AA1AB"/>
                </a:solidFill>
                <a:latin typeface="Calibri" pitchFamily="34" charset="0"/>
                <a:cs typeface="Amiri" pitchFamily="2" charset="-78"/>
              </a:rPr>
              <a:t>.</a:t>
            </a:r>
            <a:endParaRPr lang="en-US" sz="1250" dirty="0"/>
          </a:p>
        </p:txBody>
      </p:sp>
      <p:sp>
        <p:nvSpPr>
          <p:cNvPr id="67" name="Shape 64"/>
          <p:cNvSpPr/>
          <p:nvPr/>
        </p:nvSpPr>
        <p:spPr>
          <a:xfrm>
            <a:off x="640080" y="5202936"/>
            <a:ext cx="256032" cy="256032"/>
          </a:xfrm>
          <a:prstGeom prst="ellipse">
            <a:avLst/>
          </a:prstGeom>
          <a:solidFill>
            <a:srgbClr val="C9CED6"/>
          </a:solidFill>
          <a:ln w="12700">
            <a:solidFill>
              <a:srgbClr val="C9CED6"/>
            </a:solidFill>
            <a:prstDash val="solid"/>
          </a:ln>
        </p:spPr>
      </p:sp>
      <p:sp>
        <p:nvSpPr>
          <p:cNvPr id="68" name="Text 65"/>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9" name="Text 66"/>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It becomes </a:t>
            </a:r>
            <a:pPr algn="l" indent="0" marL="0">
              <a:buNone/>
            </a:pPr>
            <a:r>
              <a:rPr lang="ar-SA" altLang="en-US" sz="1650" dirty="0">
                <a:solidFill>
                  <a:srgbClr val="9AA1AB"/>
                </a:solidFill>
                <a:latin typeface="Amiri" pitchFamily="2" charset="-78"/>
                <a:ea typeface="Amiri" pitchFamily="2" charset="-78"/>
                <a:cs typeface="Amiri" pitchFamily="2" charset="-78"/>
              </a:rPr>
              <a:t>ه</a:t>
            </a:r>
            <a:pPr algn="l" indent="0" marL="0">
              <a:buNone/>
            </a:pPr>
            <a:r>
              <a:rPr lang="en-US" sz="1250" dirty="0">
                <a:solidFill>
                  <a:srgbClr val="9AA1AB"/>
                </a:solidFill>
                <a:latin typeface="Calibri" pitchFamily="34" charset="0"/>
                <a:cs typeface="Amiri" pitchFamily="2" charset="-78"/>
              </a:rPr>
              <a:t>.</a:t>
            </a:r>
            <a:endParaRPr lang="en-US" sz="1250" dirty="0"/>
          </a:p>
        </p:txBody>
      </p:sp>
      <p:sp>
        <p:nvSpPr>
          <p:cNvPr id="70" name="Shape 67"/>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1" name="Shape 68"/>
          <p:cNvSpPr/>
          <p:nvPr/>
        </p:nvSpPr>
        <p:spPr>
          <a:xfrm>
            <a:off x="640080" y="5574792"/>
            <a:ext cx="256032" cy="256032"/>
          </a:xfrm>
          <a:prstGeom prst="ellipse">
            <a:avLst/>
          </a:prstGeom>
          <a:solidFill>
            <a:srgbClr val="2E8B57"/>
          </a:solidFill>
          <a:ln w="12700">
            <a:solidFill>
              <a:srgbClr val="2E8B57"/>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It becomes </a:t>
            </a:r>
            <a:pPr algn="l" indent="0" marL="0">
              <a:buNone/>
            </a:pPr>
            <a:r>
              <a:rPr lang="ar-SA" altLang="en-US" sz="1650" b="1" dirty="0">
                <a:solidFill>
                  <a:srgbClr val="1F2A37"/>
                </a:solidFill>
                <a:latin typeface="Amiri" pitchFamily="2" charset="-78"/>
                <a:ea typeface="Amiri" pitchFamily="2" charset="-78"/>
                <a:cs typeface="Amiri" pitchFamily="2" charset="-78"/>
              </a:rPr>
              <a:t>ت</a:t>
            </a:r>
            <a:pPr algn="l" indent="0" marL="0">
              <a:buNone/>
            </a:pPr>
            <a:r>
              <a:rPr lang="en-US" sz="1250" b="1" dirty="0">
                <a:solidFill>
                  <a:srgbClr val="1F2A37"/>
                </a:solidFill>
                <a:latin typeface="Calibri" pitchFamily="34" charset="0"/>
                <a:cs typeface="Amiri" pitchFamily="2" charset="-78"/>
              </a:rPr>
              <a:t> before </a:t>
            </a:r>
            <a:pPr algn="l" indent="0" marL="0">
              <a:buNone/>
            </a:pPr>
            <a:r>
              <a:rPr lang="ar-SA" altLang="en-US" sz="1650" b="1" dirty="0">
                <a:solidFill>
                  <a:srgbClr val="1F2A37"/>
                </a:solidFill>
                <a:latin typeface="Amiri" pitchFamily="2" charset="-78"/>
                <a:ea typeface="Amiri" pitchFamily="2" charset="-78"/>
                <a:cs typeface="Amiri" pitchFamily="2" charset="-78"/>
              </a:rPr>
              <a:t>ان/ين</a:t>
            </a:r>
            <a:pPr algn="l" indent="0" marL="0">
              <a:buNone/>
            </a:pPr>
            <a:r>
              <a:rPr lang="en-US" sz="1250" b="1" dirty="0">
                <a:solidFill>
                  <a:srgbClr val="1F2A37"/>
                </a:solidFill>
                <a:latin typeface="Calibri" pitchFamily="34" charset="0"/>
                <a:cs typeface="Amiri" pitchFamily="2" charset="-78"/>
              </a:rPr>
              <a:t>.</a:t>
            </a:r>
            <a:endParaRPr lang="en-US" sz="125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مَدْرَسَة → مَدْرَسَتَانِ.</a:t>
            </a:r>
            <a:endParaRPr lang="ar-SA" sz="13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a complete three-way family?</a:t>
            </a:r>
            <a:endParaRPr lang="en-US" sz="1250" dirty="0"/>
          </a:p>
        </p:txBody>
      </p:sp>
      <p:sp>
        <p:nvSpPr>
          <p:cNvPr id="79" name="Shape 76"/>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0" name="Shape 77"/>
          <p:cNvSpPr/>
          <p:nvPr/>
        </p:nvSpPr>
        <p:spPr>
          <a:xfrm>
            <a:off x="4459224" y="4831080"/>
            <a:ext cx="256032" cy="256032"/>
          </a:xfrm>
          <a:prstGeom prst="ellipse">
            <a:avLst/>
          </a:prstGeom>
          <a:solidFill>
            <a:srgbClr val="2E8B57"/>
          </a:solidFill>
          <a:ln w="12700">
            <a:solidFill>
              <a:srgbClr val="2E8B57"/>
            </a:solidFill>
            <a:prstDash val="solid"/>
          </a:ln>
        </p:spPr>
      </p:sp>
      <p:sp>
        <p:nvSpPr>
          <p:cNvPr id="81" name="Text 78"/>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2" name="Text 79"/>
          <p:cNvSpPr txBox="1"/>
          <p:nvPr/>
        </p:nvSpPr>
        <p:spPr>
          <a:xfrm>
            <a:off x="4788408" y="4773168"/>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كِتَابٌ / كِتَابَانِ / كُتُبٌ</a:t>
            </a:r>
            <a:endParaRPr lang="ar-SA" sz="1700" dirty="0"/>
          </a:p>
        </p:txBody>
      </p:sp>
      <p:sp>
        <p:nvSpPr>
          <p:cNvPr id="83" name="Shape 80"/>
          <p:cNvSpPr/>
          <p:nvPr/>
        </p:nvSpPr>
        <p:spPr>
          <a:xfrm>
            <a:off x="4459224" y="5202936"/>
            <a:ext cx="256032" cy="256032"/>
          </a:xfrm>
          <a:prstGeom prst="ellipse">
            <a:avLst/>
          </a:prstGeom>
          <a:solidFill>
            <a:srgbClr val="C9CED6"/>
          </a:solidFill>
          <a:ln w="12700">
            <a:solidFill>
              <a:srgbClr val="C9CED6"/>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كِتَابٌ / كِتَابَيْنِ / كِتَابًا</a:t>
            </a:r>
            <a:endParaRPr lang="ar-SA" sz="170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كِتَابٌ / كَاتِبٌ / مَكْتَبٌ</a:t>
            </a:r>
            <a:endParaRPr lang="ar-SA" sz="170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One, two, three or more.</a:t>
            </a:r>
            <a:endParaRPr lang="en-US" sz="1050" dirty="0"/>
          </a:p>
        </p:txBody>
      </p:sp>
      <p:sp>
        <p:nvSpPr>
          <p:cNvPr id="90" name="Shape 87"/>
          <p:cNvSpPr/>
          <p:nvPr/>
        </p:nvSpPr>
        <p:spPr>
          <a:xfrm>
            <a:off x="8095488" y="4151376"/>
            <a:ext cx="3636264" cy="2157984"/>
          </a:xfrm>
          <a:prstGeom prst="roundRect">
            <a:avLst>
              <a:gd name="adj" fmla="val 3390"/>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91" name="Text 88"/>
          <p:cNvSpPr txBox="1"/>
          <p:nvPr/>
        </p:nvSpPr>
        <p:spPr>
          <a:xfrm>
            <a:off x="8278368" y="4279392"/>
            <a:ext cx="3270504" cy="256032"/>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THE KEY IDEA FOR TODAY</a:t>
            </a:r>
            <a:endParaRPr lang="en-US" sz="1000" dirty="0"/>
          </a:p>
        </p:txBody>
      </p:sp>
      <p:sp>
        <p:nvSpPr>
          <p:cNvPr id="92" name="Text 89"/>
          <p:cNvSpPr txBox="1"/>
          <p:nvPr/>
        </p:nvSpPr>
        <p:spPr>
          <a:xfrm>
            <a:off x="8278368" y="4553712"/>
            <a:ext cx="3270504" cy="640080"/>
          </a:xfrm>
          <a:prstGeom prst="rect">
            <a:avLst/>
          </a:prstGeom>
          <a:noFill/>
          <a:ln/>
        </p:spPr>
        <p:txBody>
          <a:bodyPr wrap="square" lIns="0" tIns="0" rIns="0" bIns="0" rtlCol="0" anchor="t"/>
          <a:lstStyle/>
          <a:p>
            <a:pPr algn="l" indent="0" marL="0">
              <a:buNone/>
            </a:pPr>
            <a:r>
              <a:rPr lang="en-US" sz="1300" b="1" dirty="0">
                <a:solidFill>
                  <a:srgbClr val="1F2A37"/>
                </a:solidFill>
                <a:latin typeface="Calibri" pitchFamily="34" charset="0"/>
                <a:cs typeface="Amiri" pitchFamily="2" charset="-78"/>
              </a:rPr>
              <a:t>Exactly two? Add an ending: </a:t>
            </a:r>
            <a:pPr algn="l" indent="0" marL="0">
              <a:buNone/>
            </a:pPr>
            <a:r>
              <a:rPr lang="ar-SA" altLang="en-US" sz="1700" b="1" dirty="0">
                <a:solidFill>
                  <a:srgbClr val="1F2A37"/>
                </a:solidFill>
                <a:latin typeface="Amiri" pitchFamily="2" charset="-78"/>
                <a:ea typeface="Amiri" pitchFamily="2" charset="-78"/>
                <a:cs typeface="Amiri" pitchFamily="2" charset="-78"/>
              </a:rPr>
              <a:t>ـَانِ</a:t>
            </a:r>
            <a:pPr algn="l" indent="0" marL="0">
              <a:buNone/>
            </a:pPr>
            <a:r>
              <a:rPr lang="en-US" sz="1300" b="1" dirty="0">
                <a:solidFill>
                  <a:srgbClr val="1F2A37"/>
                </a:solidFill>
                <a:latin typeface="Calibri" pitchFamily="34" charset="0"/>
                <a:cs typeface="Amiri" pitchFamily="2" charset="-78"/>
              </a:rPr>
              <a:t> for the subject, </a:t>
            </a:r>
            <a:pPr algn="l" indent="0" marL="0">
              <a:buNone/>
            </a:pPr>
            <a:r>
              <a:rPr lang="ar-SA" altLang="en-US" sz="1700" b="1" dirty="0">
                <a:solidFill>
                  <a:srgbClr val="1F2A37"/>
                </a:solidFill>
                <a:latin typeface="Amiri" pitchFamily="2" charset="-78"/>
                <a:ea typeface="Amiri" pitchFamily="2" charset="-78"/>
                <a:cs typeface="Amiri" pitchFamily="2" charset="-78"/>
              </a:rPr>
              <a:t>ـَيْنِ</a:t>
            </a:r>
            <a:pPr algn="l" indent="0" marL="0">
              <a:buNone/>
            </a:pPr>
            <a:r>
              <a:rPr lang="en-US" sz="1300" b="1" dirty="0">
                <a:solidFill>
                  <a:srgbClr val="1F2A37"/>
                </a:solidFill>
                <a:latin typeface="Calibri" pitchFamily="34" charset="0"/>
                <a:cs typeface="Amiri" pitchFamily="2" charset="-78"/>
              </a:rPr>
              <a:t> after a preposition or as an object.</a:t>
            </a:r>
            <a:endParaRPr lang="en-US" sz="1300" dirty="0"/>
          </a:p>
        </p:txBody>
      </p:sp>
      <p:sp>
        <p:nvSpPr>
          <p:cNvPr id="93" name="Text 90"/>
          <p:cNvSpPr txBox="1"/>
          <p:nvPr/>
        </p:nvSpPr>
        <p:spPr>
          <a:xfrm>
            <a:off x="8278368" y="5202936"/>
            <a:ext cx="3270504" cy="1014984"/>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كِتَابٌ · </a:t>
            </a:r>
            <a:pPr rtl="1" algn="ctr" indent="0" marL="0">
              <a:buNone/>
            </a:pPr>
            <a:r>
              <a:rPr lang="ar-SA" altLang="en-US" sz="2400" b="1" dirty="0">
                <a:solidFill>
                  <a:srgbClr val="0E7C86"/>
                </a:solidFill>
                <a:latin typeface="Amiri" pitchFamily="2" charset="-78"/>
                <a:ea typeface="Amiri" pitchFamily="2" charset="-78"/>
                <a:cs typeface="Amiri" pitchFamily="2" charset="-78"/>
              </a:rPr>
              <a:t>كِتَابَانِ</a:t>
            </a:r>
            <a:pPr rtl="1" algn="ctr" indent="0" marL="0">
              <a:buNone/>
            </a:pPr>
            <a:r>
              <a:rPr lang="ar-SA" altLang="en-US" sz="2400" b="1" dirty="0">
                <a:solidFill>
                  <a:srgbClr val="1B3B6F"/>
                </a:solidFill>
                <a:latin typeface="Amiri" pitchFamily="2" charset="-78"/>
                <a:ea typeface="Amiri" pitchFamily="2" charset="-78"/>
                <a:cs typeface="Amiri" pitchFamily="2" charset="-78"/>
              </a:rPr>
              <a:t> · فِي </a:t>
            </a:r>
            <a:pPr rtl="1" algn="ctr" indent="0" marL="0">
              <a:buNone/>
            </a:pPr>
            <a:r>
              <a:rPr lang="ar-SA" altLang="en-US" sz="2400" b="1" dirty="0">
                <a:solidFill>
                  <a:srgbClr val="D6336C"/>
                </a:solidFill>
                <a:latin typeface="Amiri" pitchFamily="2" charset="-78"/>
                <a:ea typeface="Amiri" pitchFamily="2" charset="-78"/>
                <a:cs typeface="Amiri" pitchFamily="2" charset="-78"/>
              </a:rPr>
              <a:t>كِتَابَيْنِ</a:t>
            </a:r>
            <a:endParaRPr lang="ar-SA" sz="240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35</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GM-N-02 · Nouns</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LESSON OBJECTIVES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Objectives and success criteria</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الأَهْدَافُ وَمَعَايِيرُ النَّجَاحِ</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Nouns · GM-N-02</a:t>
            </a:r>
            <a:endParaRPr lang="en-US" sz="850" dirty="0"/>
          </a:p>
        </p:txBody>
      </p:sp>
      <p:sp>
        <p:nvSpPr>
          <p:cNvPr id="15" name="Shape 12"/>
          <p:cNvSpPr/>
          <p:nvPr/>
        </p:nvSpPr>
        <p:spPr>
          <a:xfrm>
            <a:off x="457200" y="1810512"/>
            <a:ext cx="4663440" cy="4315968"/>
          </a:xfrm>
          <a:prstGeom prst="roundRect">
            <a:avLst>
              <a:gd name="adj" fmla="val 1695"/>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20240"/>
            <a:ext cx="2743200" cy="292608"/>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TODAY YOU WILL</a:t>
            </a:r>
            <a:endParaRPr lang="en-US" sz="1100" dirty="0"/>
          </a:p>
        </p:txBody>
      </p:sp>
      <p:sp>
        <p:nvSpPr>
          <p:cNvPr id="17" name="Text 14"/>
          <p:cNvSpPr txBox="1"/>
          <p:nvPr/>
        </p:nvSpPr>
        <p:spPr>
          <a:xfrm>
            <a:off x="2834640" y="1874520"/>
            <a:ext cx="2103120" cy="365760"/>
          </a:xfrm>
          <a:prstGeom prst="rect">
            <a:avLst/>
          </a:prstGeom>
          <a:noFill/>
          <a:ln/>
        </p:spPr>
        <p:txBody>
          <a:bodyPr wrap="square" lIns="0" tIns="0" rIns="0" bIns="0" rtlCol="0" anchor="ctr"/>
          <a:lstStyle/>
          <a:p>
            <a:pPr rtl="1" algn="r" indent="0" marL="0">
              <a:buNone/>
            </a:pPr>
            <a:r>
              <a:rPr lang="ar-SA" altLang="en-US" sz="1600" dirty="0">
                <a:solidFill>
                  <a:srgbClr val="8A6D1E"/>
                </a:solidFill>
                <a:latin typeface="Amiri" pitchFamily="2" charset="-78"/>
                <a:ea typeface="Amiri" pitchFamily="2" charset="-78"/>
                <a:cs typeface="Amiri" pitchFamily="2" charset="-78"/>
              </a:rPr>
              <a:t>سَتَتَعَلَّمُ اليَوْمَ</a:t>
            </a:r>
            <a:endParaRPr lang="ar-SA" sz="1600" dirty="0"/>
          </a:p>
        </p:txBody>
      </p:sp>
      <p:sp>
        <p:nvSpPr>
          <p:cNvPr id="18" name="Shape 15"/>
          <p:cNvSpPr/>
          <p:nvPr/>
        </p:nvSpPr>
        <p:spPr>
          <a:xfrm>
            <a:off x="685800" y="2395728"/>
            <a:ext cx="365760" cy="365760"/>
          </a:xfrm>
          <a:prstGeom prst="ellipse">
            <a:avLst/>
          </a:prstGeom>
          <a:solidFill>
            <a:srgbClr val="1B3B6F"/>
          </a:solidFill>
          <a:ln w="12700">
            <a:solidFill>
              <a:srgbClr val="1B3B6F"/>
            </a:solidFill>
            <a:prstDash val="solid"/>
          </a:ln>
        </p:spPr>
      </p:sp>
      <p:sp>
        <p:nvSpPr>
          <p:cNvPr id="19" name="Text 16"/>
          <p:cNvSpPr txBox="1"/>
          <p:nvPr/>
        </p:nvSpPr>
        <p:spPr>
          <a:xfrm>
            <a:off x="685800" y="2395728"/>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1</a:t>
            </a:r>
            <a:endParaRPr lang="en-US" sz="1200" dirty="0"/>
          </a:p>
        </p:txBody>
      </p:sp>
      <p:sp>
        <p:nvSpPr>
          <p:cNvPr id="20" name="Text 17"/>
          <p:cNvSpPr txBox="1"/>
          <p:nvPr/>
        </p:nvSpPr>
        <p:spPr>
          <a:xfrm>
            <a:off x="1188720" y="2286000"/>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Distinguish singular, dual and plural.</a:t>
            </a:r>
            <a:endParaRPr lang="en-US" sz="1300" dirty="0"/>
          </a:p>
        </p:txBody>
      </p:sp>
      <p:sp>
        <p:nvSpPr>
          <p:cNvPr id="21" name="Shape 18"/>
          <p:cNvSpPr/>
          <p:nvPr/>
        </p:nvSpPr>
        <p:spPr>
          <a:xfrm>
            <a:off x="685800" y="3291840"/>
            <a:ext cx="365760" cy="365760"/>
          </a:xfrm>
          <a:prstGeom prst="ellipse">
            <a:avLst/>
          </a:prstGeom>
          <a:solidFill>
            <a:srgbClr val="1B3B6F"/>
          </a:solidFill>
          <a:ln w="12700">
            <a:solidFill>
              <a:srgbClr val="1B3B6F"/>
            </a:solidFill>
            <a:prstDash val="solid"/>
          </a:ln>
        </p:spPr>
      </p:sp>
      <p:sp>
        <p:nvSpPr>
          <p:cNvPr id="22" name="Text 19"/>
          <p:cNvSpPr txBox="1"/>
          <p:nvPr/>
        </p:nvSpPr>
        <p:spPr>
          <a:xfrm>
            <a:off x="685800" y="3291840"/>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2</a:t>
            </a:r>
            <a:endParaRPr lang="en-US" sz="1200" dirty="0"/>
          </a:p>
        </p:txBody>
      </p:sp>
      <p:sp>
        <p:nvSpPr>
          <p:cNvPr id="23" name="Text 20"/>
          <p:cNvSpPr txBox="1"/>
          <p:nvPr/>
        </p:nvSpPr>
        <p:spPr>
          <a:xfrm>
            <a:off x="1188720" y="3182112"/>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Build the dual with </a:t>
            </a:r>
            <a:pPr algn="l" indent="0" marL="0">
              <a:buNone/>
            </a:pPr>
            <a:r>
              <a:rPr lang="ar-SA" altLang="en-US" sz="1700" dirty="0">
                <a:solidFill>
                  <a:srgbClr val="1F2A37"/>
                </a:solidFill>
                <a:latin typeface="Amiri" pitchFamily="2" charset="-78"/>
                <a:ea typeface="Amiri" pitchFamily="2" charset="-78"/>
                <a:cs typeface="Amiri" pitchFamily="2" charset="-78"/>
              </a:rPr>
              <a:t>ـَانِ</a:t>
            </a:r>
            <a:pPr algn="l" indent="0" marL="0">
              <a:buNone/>
            </a:pPr>
            <a:r>
              <a:rPr lang="en-US" sz="1300" dirty="0">
                <a:solidFill>
                  <a:srgbClr val="1F2A37"/>
                </a:solidFill>
                <a:latin typeface="Calibri" pitchFamily="34" charset="0"/>
                <a:cs typeface="Amiri" pitchFamily="2" charset="-78"/>
              </a:rPr>
              <a:t> and </a:t>
            </a:r>
            <a:pPr algn="l" indent="0" marL="0">
              <a:buNone/>
            </a:pPr>
            <a:r>
              <a:rPr lang="ar-SA" altLang="en-US" sz="1700" dirty="0">
                <a:solidFill>
                  <a:srgbClr val="1F2A37"/>
                </a:solidFill>
                <a:latin typeface="Amiri" pitchFamily="2" charset="-78"/>
                <a:ea typeface="Amiri" pitchFamily="2" charset="-78"/>
                <a:cs typeface="Amiri" pitchFamily="2" charset="-78"/>
              </a:rPr>
              <a:t>ـَيْنِ</a:t>
            </a:r>
            <a:pPr algn="l" indent="0" marL="0">
              <a:buNone/>
            </a:pPr>
            <a:r>
              <a:rPr lang="en-US" sz="1300" dirty="0">
                <a:solidFill>
                  <a:srgbClr val="1F2A37"/>
                </a:solidFill>
                <a:latin typeface="Calibri" pitchFamily="34" charset="0"/>
                <a:cs typeface="Amiri" pitchFamily="2" charset="-78"/>
              </a:rPr>
              <a:t>.</a:t>
            </a:r>
            <a:endParaRPr lang="en-US" sz="1300" dirty="0"/>
          </a:p>
        </p:txBody>
      </p:sp>
      <p:sp>
        <p:nvSpPr>
          <p:cNvPr id="24" name="Shape 21"/>
          <p:cNvSpPr/>
          <p:nvPr/>
        </p:nvSpPr>
        <p:spPr>
          <a:xfrm>
            <a:off x="685800" y="4187952"/>
            <a:ext cx="365760" cy="365760"/>
          </a:xfrm>
          <a:prstGeom prst="ellipse">
            <a:avLst/>
          </a:prstGeom>
          <a:solidFill>
            <a:srgbClr val="1B3B6F"/>
          </a:solidFill>
          <a:ln w="12700">
            <a:solidFill>
              <a:srgbClr val="1B3B6F"/>
            </a:solidFill>
            <a:prstDash val="solid"/>
          </a:ln>
        </p:spPr>
      </p:sp>
      <p:sp>
        <p:nvSpPr>
          <p:cNvPr id="25" name="Text 22"/>
          <p:cNvSpPr txBox="1"/>
          <p:nvPr/>
        </p:nvSpPr>
        <p:spPr>
          <a:xfrm>
            <a:off x="685800" y="4187952"/>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3</a:t>
            </a:r>
            <a:endParaRPr lang="en-US" sz="1200" dirty="0"/>
          </a:p>
        </p:txBody>
      </p:sp>
      <p:sp>
        <p:nvSpPr>
          <p:cNvPr id="26" name="Text 23"/>
          <p:cNvSpPr txBox="1"/>
          <p:nvPr/>
        </p:nvSpPr>
        <p:spPr>
          <a:xfrm>
            <a:off x="1188720" y="4078224"/>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Change </a:t>
            </a:r>
            <a:pPr algn="l" indent="0" marL="0">
              <a:buNone/>
            </a:pPr>
            <a:r>
              <a:rPr lang="ar-SA" altLang="en-US" sz="1700" dirty="0">
                <a:solidFill>
                  <a:srgbClr val="1F2A37"/>
                </a:solidFill>
                <a:latin typeface="Amiri" pitchFamily="2" charset="-78"/>
                <a:ea typeface="Amiri" pitchFamily="2" charset="-78"/>
                <a:cs typeface="Amiri" pitchFamily="2" charset="-78"/>
              </a:rPr>
              <a:t>ة</a:t>
            </a:r>
            <a:pPr algn="l" indent="0" marL="0">
              <a:buNone/>
            </a:pPr>
            <a:r>
              <a:rPr lang="en-US" sz="1300" dirty="0">
                <a:solidFill>
                  <a:srgbClr val="1F2A37"/>
                </a:solidFill>
                <a:latin typeface="Calibri" pitchFamily="34" charset="0"/>
                <a:cs typeface="Amiri" pitchFamily="2" charset="-78"/>
              </a:rPr>
              <a:t> to </a:t>
            </a:r>
            <a:pPr algn="l" indent="0" marL="0">
              <a:buNone/>
            </a:pPr>
            <a:r>
              <a:rPr lang="ar-SA" altLang="en-US" sz="1700" dirty="0">
                <a:solidFill>
                  <a:srgbClr val="1F2A37"/>
                </a:solidFill>
                <a:latin typeface="Amiri" pitchFamily="2" charset="-78"/>
                <a:ea typeface="Amiri" pitchFamily="2" charset="-78"/>
                <a:cs typeface="Amiri" pitchFamily="2" charset="-78"/>
              </a:rPr>
              <a:t>ت</a:t>
            </a:r>
            <a:pPr algn="l" indent="0" marL="0">
              <a:buNone/>
            </a:pPr>
            <a:r>
              <a:rPr lang="en-US" sz="1300" dirty="0">
                <a:solidFill>
                  <a:srgbClr val="1F2A37"/>
                </a:solidFill>
                <a:latin typeface="Calibri" pitchFamily="34" charset="0"/>
                <a:cs typeface="Amiri" pitchFamily="2" charset="-78"/>
              </a:rPr>
              <a:t> before the dual ending.</a:t>
            </a:r>
            <a:endParaRPr lang="en-US" sz="1300" dirty="0"/>
          </a:p>
        </p:txBody>
      </p:sp>
      <p:sp>
        <p:nvSpPr>
          <p:cNvPr id="27" name="Shape 24"/>
          <p:cNvSpPr/>
          <p:nvPr/>
        </p:nvSpPr>
        <p:spPr>
          <a:xfrm>
            <a:off x="685800" y="5084064"/>
            <a:ext cx="365760" cy="365760"/>
          </a:xfrm>
          <a:prstGeom prst="ellipse">
            <a:avLst/>
          </a:prstGeom>
          <a:solidFill>
            <a:srgbClr val="1B3B6F"/>
          </a:solidFill>
          <a:ln w="12700">
            <a:solidFill>
              <a:srgbClr val="1B3B6F"/>
            </a:solidFill>
            <a:prstDash val="solid"/>
          </a:ln>
        </p:spPr>
      </p:sp>
      <p:sp>
        <p:nvSpPr>
          <p:cNvPr id="28" name="Text 25"/>
          <p:cNvSpPr txBox="1"/>
          <p:nvPr/>
        </p:nvSpPr>
        <p:spPr>
          <a:xfrm>
            <a:off x="685800" y="5084064"/>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4</a:t>
            </a:r>
            <a:endParaRPr lang="en-US" sz="1200" dirty="0"/>
          </a:p>
        </p:txBody>
      </p:sp>
      <p:sp>
        <p:nvSpPr>
          <p:cNvPr id="29" name="Text 26"/>
          <p:cNvSpPr txBox="1"/>
          <p:nvPr/>
        </p:nvSpPr>
        <p:spPr>
          <a:xfrm>
            <a:off x="1188720" y="4974336"/>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Choose </a:t>
            </a:r>
            <a:pPr algn="l" indent="0" marL="0">
              <a:buNone/>
            </a:pPr>
            <a:r>
              <a:rPr lang="ar-SA" altLang="en-US" sz="1700" dirty="0">
                <a:solidFill>
                  <a:srgbClr val="1F2A37"/>
                </a:solidFill>
                <a:latin typeface="Amiri" pitchFamily="2" charset="-78"/>
                <a:ea typeface="Amiri" pitchFamily="2" charset="-78"/>
                <a:cs typeface="Amiri" pitchFamily="2" charset="-78"/>
              </a:rPr>
              <a:t>ـَانِ</a:t>
            </a:r>
            <a:pPr algn="l" indent="0" marL="0">
              <a:buNone/>
            </a:pPr>
            <a:r>
              <a:rPr lang="en-US" sz="1300" dirty="0">
                <a:solidFill>
                  <a:srgbClr val="1F2A37"/>
                </a:solidFill>
                <a:latin typeface="Calibri" pitchFamily="34" charset="0"/>
                <a:cs typeface="Amiri" pitchFamily="2" charset="-78"/>
              </a:rPr>
              <a:t> or </a:t>
            </a:r>
            <a:pPr algn="l" indent="0" marL="0">
              <a:buNone/>
            </a:pPr>
            <a:r>
              <a:rPr lang="ar-SA" altLang="en-US" sz="1700" dirty="0">
                <a:solidFill>
                  <a:srgbClr val="1F2A37"/>
                </a:solidFill>
                <a:latin typeface="Amiri" pitchFamily="2" charset="-78"/>
                <a:ea typeface="Amiri" pitchFamily="2" charset="-78"/>
                <a:cs typeface="Amiri" pitchFamily="2" charset="-78"/>
              </a:rPr>
              <a:t>ـَيْنِ</a:t>
            </a:r>
            <a:pPr algn="l" indent="0" marL="0">
              <a:buNone/>
            </a:pPr>
            <a:r>
              <a:rPr lang="en-US" sz="1300" dirty="0">
                <a:solidFill>
                  <a:srgbClr val="1F2A37"/>
                </a:solidFill>
                <a:latin typeface="Calibri" pitchFamily="34" charset="0"/>
                <a:cs typeface="Amiri" pitchFamily="2" charset="-78"/>
              </a:rPr>
              <a:t> from the position in the sentence.</a:t>
            </a:r>
            <a:endParaRPr lang="en-US" sz="1300" dirty="0"/>
          </a:p>
        </p:txBody>
      </p:sp>
      <p:sp>
        <p:nvSpPr>
          <p:cNvPr id="30" name="Shape 27"/>
          <p:cNvSpPr/>
          <p:nvPr/>
        </p:nvSpPr>
        <p:spPr>
          <a:xfrm>
            <a:off x="5349240" y="1810512"/>
            <a:ext cx="6382512" cy="1353312"/>
          </a:xfrm>
          <a:prstGeom prst="roundRect">
            <a:avLst>
              <a:gd name="adj" fmla="val 5405"/>
            </a:avLst>
          </a:prstGeom>
          <a:solidFill>
            <a:srgbClr val="E9F5EE"/>
          </a:solidFill>
          <a:ln w="9525">
            <a:solidFill>
              <a:srgbClr val="2E8B57"/>
            </a:solidFill>
            <a:prstDash val="solid"/>
          </a:ln>
        </p:spPr>
      </p:sp>
      <p:sp>
        <p:nvSpPr>
          <p:cNvPr id="31" name="Shape 28"/>
          <p:cNvSpPr/>
          <p:nvPr/>
        </p:nvSpPr>
        <p:spPr>
          <a:xfrm>
            <a:off x="5532120" y="1947672"/>
            <a:ext cx="1143000" cy="292608"/>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5532120" y="194767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CORE</a:t>
            </a:r>
            <a:endParaRPr lang="en-US" sz="950" dirty="0"/>
          </a:p>
        </p:txBody>
      </p:sp>
      <p:sp>
        <p:nvSpPr>
          <p:cNvPr id="33" name="Text 30"/>
          <p:cNvSpPr txBox="1"/>
          <p:nvPr/>
        </p:nvSpPr>
        <p:spPr>
          <a:xfrm>
            <a:off x="6766560" y="1947672"/>
            <a:ext cx="1828800" cy="292608"/>
          </a:xfrm>
          <a:prstGeom prst="rect">
            <a:avLst/>
          </a:prstGeom>
          <a:noFill/>
          <a:ln/>
        </p:spPr>
        <p:txBody>
          <a:bodyPr wrap="square" lIns="0" tIns="0" rIns="0" bIns="0" rtlCol="0" anchor="ctr"/>
          <a:lstStyle/>
          <a:p>
            <a:pPr algn="l" indent="0" marL="0">
              <a:buNone/>
            </a:pPr>
            <a:r>
              <a:rPr lang="en-US" sz="1050" b="1" i="1" dirty="0">
                <a:solidFill>
                  <a:srgbClr val="2E8B57"/>
                </a:solidFill>
                <a:latin typeface="Calibri" pitchFamily="34" charset="0"/>
                <a:cs typeface="Amiri" pitchFamily="2" charset="-78"/>
              </a:rPr>
              <a:t>Everyone</a:t>
            </a:r>
            <a:endParaRPr lang="en-US" sz="1050" dirty="0"/>
          </a:p>
        </p:txBody>
      </p:sp>
      <p:sp>
        <p:nvSpPr>
          <p:cNvPr id="34" name="Text 31"/>
          <p:cNvSpPr txBox="1"/>
          <p:nvPr/>
        </p:nvSpPr>
        <p:spPr>
          <a:xfrm>
            <a:off x="5532120" y="228600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can say one, two or many: </a:t>
            </a:r>
            <a:pPr algn="l" indent="0" marL="0">
              <a:buNone/>
            </a:pPr>
            <a:r>
              <a:rPr lang="ar-SA" altLang="en-US" sz="1700" b="1" dirty="0">
                <a:solidFill>
                  <a:srgbClr val="2E8B57"/>
                </a:solidFill>
                <a:latin typeface="Amiri" pitchFamily="2" charset="-78"/>
                <a:ea typeface="Amiri" pitchFamily="2" charset="-78"/>
                <a:cs typeface="Amiri" pitchFamily="2" charset="-78"/>
              </a:rPr>
              <a:t>طَالِبٌ</a:t>
            </a:r>
            <a:pPr algn="l" indent="0" marL="0">
              <a:buNone/>
            </a:pPr>
            <a:r>
              <a:rPr lang="en-US" sz="1300" b="1" dirty="0">
                <a:solidFill>
                  <a:srgbClr val="2E8B57"/>
                </a:solidFill>
                <a:latin typeface="Calibri" pitchFamily="34" charset="0"/>
                <a:cs typeface="Amiri" pitchFamily="2" charset="-78"/>
              </a:rPr>
              <a:t> · </a:t>
            </a:r>
            <a:pPr algn="l" indent="0" marL="0">
              <a:buNone/>
            </a:pPr>
            <a:r>
              <a:rPr lang="ar-SA" altLang="en-US" sz="1700" b="1" dirty="0">
                <a:solidFill>
                  <a:srgbClr val="2E8B57"/>
                </a:solidFill>
                <a:latin typeface="Amiri" pitchFamily="2" charset="-78"/>
                <a:ea typeface="Amiri" pitchFamily="2" charset="-78"/>
                <a:cs typeface="Amiri" pitchFamily="2" charset="-78"/>
              </a:rPr>
              <a:t>طَالِبَانِ</a:t>
            </a:r>
            <a:pPr algn="l" indent="0" marL="0">
              <a:buNone/>
            </a:pPr>
            <a:r>
              <a:rPr lang="en-US" sz="1300" b="1" dirty="0">
                <a:solidFill>
                  <a:srgbClr val="2E8B57"/>
                </a:solidFill>
                <a:latin typeface="Calibri" pitchFamily="34" charset="0"/>
                <a:cs typeface="Amiri" pitchFamily="2" charset="-78"/>
              </a:rPr>
              <a:t> · </a:t>
            </a:r>
            <a:pPr algn="l" indent="0" marL="0">
              <a:buNone/>
            </a:pPr>
            <a:r>
              <a:rPr lang="ar-SA" altLang="en-US" sz="1700" b="1" dirty="0">
                <a:solidFill>
                  <a:srgbClr val="2E8B57"/>
                </a:solidFill>
                <a:latin typeface="Amiri" pitchFamily="2" charset="-78"/>
                <a:ea typeface="Amiri" pitchFamily="2" charset="-78"/>
                <a:cs typeface="Amiri" pitchFamily="2" charset="-78"/>
              </a:rPr>
              <a:t>طُلَّابٌ</a:t>
            </a:r>
            <a:pPr algn="l" indent="0" marL="0">
              <a:buNone/>
            </a:pPr>
            <a:r>
              <a:rPr lang="en-US" sz="1300" b="1" dirty="0">
                <a:solidFill>
                  <a:srgbClr val="2E8B57"/>
                </a:solidFill>
                <a:latin typeface="Calibri" pitchFamily="34" charset="0"/>
                <a:cs typeface="Amiri" pitchFamily="2" charset="-78"/>
              </a:rPr>
              <a:t>.</a:t>
            </a:r>
            <a:endParaRPr lang="en-US" sz="1300" dirty="0"/>
          </a:p>
        </p:txBody>
      </p:sp>
      <p:sp>
        <p:nvSpPr>
          <p:cNvPr id="35" name="Text 32"/>
          <p:cNvSpPr txBox="1"/>
          <p:nvPr/>
        </p:nvSpPr>
        <p:spPr>
          <a:xfrm>
            <a:off x="5532120" y="269748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can build the dual of a masculine noun.</a:t>
            </a:r>
            <a:endParaRPr lang="en-US" sz="1300" dirty="0"/>
          </a:p>
        </p:txBody>
      </p:sp>
      <p:sp>
        <p:nvSpPr>
          <p:cNvPr id="36" name="Shape 33"/>
          <p:cNvSpPr/>
          <p:nvPr/>
        </p:nvSpPr>
        <p:spPr>
          <a:xfrm>
            <a:off x="5349240" y="3273552"/>
            <a:ext cx="6382512" cy="1353312"/>
          </a:xfrm>
          <a:prstGeom prst="roundRect">
            <a:avLst>
              <a:gd name="adj" fmla="val 5405"/>
            </a:avLst>
          </a:prstGeom>
          <a:solidFill>
            <a:srgbClr val="FCF1E0"/>
          </a:solidFill>
          <a:ln w="9525">
            <a:solidFill>
              <a:srgbClr val="C9780A"/>
            </a:solidFill>
            <a:prstDash val="solid"/>
          </a:ln>
        </p:spPr>
      </p:sp>
      <p:sp>
        <p:nvSpPr>
          <p:cNvPr id="37" name="Shape 34"/>
          <p:cNvSpPr/>
          <p:nvPr/>
        </p:nvSpPr>
        <p:spPr>
          <a:xfrm>
            <a:off x="5532120" y="3410712"/>
            <a:ext cx="1143000" cy="292608"/>
          </a:xfrm>
          <a:prstGeom prst="roundRect">
            <a:avLst>
              <a:gd name="adj" fmla="val 50000"/>
            </a:avLst>
          </a:prstGeom>
          <a:solidFill>
            <a:srgbClr val="C9780A"/>
          </a:solidFill>
          <a:ln w="12700">
            <a:solidFill>
              <a:srgbClr val="C9780A"/>
            </a:solidFill>
            <a:prstDash val="solid"/>
          </a:ln>
        </p:spPr>
      </p:sp>
      <p:sp>
        <p:nvSpPr>
          <p:cNvPr id="38" name="Text 35"/>
          <p:cNvSpPr txBox="1"/>
          <p:nvPr/>
        </p:nvSpPr>
        <p:spPr>
          <a:xfrm>
            <a:off x="5532120" y="341071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DEVELOP</a:t>
            </a:r>
            <a:endParaRPr lang="en-US" sz="950" dirty="0"/>
          </a:p>
        </p:txBody>
      </p:sp>
      <p:sp>
        <p:nvSpPr>
          <p:cNvPr id="39" name="Text 36"/>
          <p:cNvSpPr txBox="1"/>
          <p:nvPr/>
        </p:nvSpPr>
        <p:spPr>
          <a:xfrm>
            <a:off x="6766560" y="3410712"/>
            <a:ext cx="1828800" cy="292608"/>
          </a:xfrm>
          <a:prstGeom prst="rect">
            <a:avLst/>
          </a:prstGeom>
          <a:noFill/>
          <a:ln/>
        </p:spPr>
        <p:txBody>
          <a:bodyPr wrap="square" lIns="0" tIns="0" rIns="0" bIns="0" rtlCol="0" anchor="ctr"/>
          <a:lstStyle/>
          <a:p>
            <a:pPr algn="l" indent="0" marL="0">
              <a:buNone/>
            </a:pPr>
            <a:r>
              <a:rPr lang="en-US" sz="1050" b="1" i="1" dirty="0">
                <a:solidFill>
                  <a:srgbClr val="C9780A"/>
                </a:solidFill>
                <a:latin typeface="Calibri" pitchFamily="34" charset="0"/>
                <a:cs typeface="Amiri" pitchFamily="2" charset="-78"/>
              </a:rPr>
              <a:t>Most of us</a:t>
            </a:r>
            <a:endParaRPr lang="en-US" sz="1050" dirty="0"/>
          </a:p>
        </p:txBody>
      </p:sp>
      <p:sp>
        <p:nvSpPr>
          <p:cNvPr id="40" name="Text 37"/>
          <p:cNvSpPr txBox="1"/>
          <p:nvPr/>
        </p:nvSpPr>
        <p:spPr>
          <a:xfrm>
            <a:off x="5532120" y="374904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can build the dual of a noun in </a:t>
            </a:r>
            <a:pPr algn="l" indent="0" marL="0">
              <a:buNone/>
            </a:pPr>
            <a:r>
              <a:rPr lang="ar-SA" altLang="en-US" sz="1700" b="1" dirty="0">
                <a:solidFill>
                  <a:srgbClr val="C9780A"/>
                </a:solidFill>
                <a:latin typeface="Amiri" pitchFamily="2" charset="-78"/>
                <a:ea typeface="Amiri" pitchFamily="2" charset="-78"/>
                <a:cs typeface="Amiri" pitchFamily="2" charset="-78"/>
              </a:rPr>
              <a:t>ة</a:t>
            </a:r>
            <a:pPr algn="l" indent="0" marL="0">
              <a:buNone/>
            </a:pPr>
            <a:r>
              <a:rPr lang="en-US" sz="1300" b="1" dirty="0">
                <a:solidFill>
                  <a:srgbClr val="C9780A"/>
                </a:solidFill>
                <a:latin typeface="Calibri" pitchFamily="34" charset="0"/>
                <a:cs typeface="Amiri" pitchFamily="2" charset="-78"/>
              </a:rPr>
              <a:t> (</a:t>
            </a:r>
            <a:pPr algn="l" indent="0" marL="0">
              <a:buNone/>
            </a:pPr>
            <a:r>
              <a:rPr lang="ar-SA" altLang="en-US" sz="1700" b="1" dirty="0">
                <a:solidFill>
                  <a:srgbClr val="C9780A"/>
                </a:solidFill>
                <a:latin typeface="Amiri" pitchFamily="2" charset="-78"/>
                <a:ea typeface="Amiri" pitchFamily="2" charset="-78"/>
                <a:cs typeface="Amiri" pitchFamily="2" charset="-78"/>
              </a:rPr>
              <a:t>مَدْرَسَتَانِ</a:t>
            </a:r>
            <a:pPr algn="l" indent="0" marL="0">
              <a:buNone/>
            </a:pPr>
            <a:r>
              <a:rPr lang="en-US" sz="1300" b="1" dirty="0">
                <a:solidFill>
                  <a:srgbClr val="C9780A"/>
                </a:solidFill>
                <a:latin typeface="Calibri" pitchFamily="34" charset="0"/>
                <a:cs typeface="Amiri" pitchFamily="2" charset="-78"/>
              </a:rPr>
              <a:t>).</a:t>
            </a:r>
            <a:endParaRPr lang="en-US" sz="1300" dirty="0"/>
          </a:p>
        </p:txBody>
      </p:sp>
      <p:sp>
        <p:nvSpPr>
          <p:cNvPr id="41" name="Text 38"/>
          <p:cNvSpPr txBox="1"/>
          <p:nvPr/>
        </p:nvSpPr>
        <p:spPr>
          <a:xfrm>
            <a:off x="5532120" y="416052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use </a:t>
            </a:r>
            <a:pPr algn="l" indent="0" marL="0">
              <a:buNone/>
            </a:pPr>
            <a:r>
              <a:rPr lang="ar-SA" altLang="en-US" sz="1700" b="1" dirty="0">
                <a:solidFill>
                  <a:srgbClr val="C9780A"/>
                </a:solidFill>
                <a:latin typeface="Amiri" pitchFamily="2" charset="-78"/>
                <a:ea typeface="Amiri" pitchFamily="2" charset="-78"/>
                <a:cs typeface="Amiri" pitchFamily="2" charset="-78"/>
              </a:rPr>
              <a:t>ـَيْنِ</a:t>
            </a:r>
            <a:pPr algn="l" indent="0" marL="0">
              <a:buNone/>
            </a:pPr>
            <a:r>
              <a:rPr lang="en-US" sz="1300" b="1" dirty="0">
                <a:solidFill>
                  <a:srgbClr val="C9780A"/>
                </a:solidFill>
                <a:latin typeface="Calibri" pitchFamily="34" charset="0"/>
                <a:cs typeface="Amiri" pitchFamily="2" charset="-78"/>
              </a:rPr>
              <a:t> after </a:t>
            </a:r>
            <a:pPr algn="l" indent="0" marL="0">
              <a:buNone/>
            </a:pPr>
            <a:r>
              <a:rPr lang="ar-SA" altLang="en-US" sz="1700" b="1" dirty="0">
                <a:solidFill>
                  <a:srgbClr val="C9780A"/>
                </a:solidFill>
                <a:latin typeface="Amiri" pitchFamily="2" charset="-78"/>
                <a:ea typeface="Amiri" pitchFamily="2" charset="-78"/>
                <a:cs typeface="Amiri" pitchFamily="2" charset="-78"/>
              </a:rPr>
              <a:t>فِي</a:t>
            </a:r>
            <a:pPr algn="l" indent="0" marL="0">
              <a:buNone/>
            </a:pPr>
            <a:r>
              <a:rPr lang="en-US" sz="1300" b="1" dirty="0">
                <a:solidFill>
                  <a:srgbClr val="C9780A"/>
                </a:solidFill>
                <a:latin typeface="Calibri" pitchFamily="34" charset="0"/>
                <a:cs typeface="Amiri" pitchFamily="2" charset="-78"/>
              </a:rPr>
              <a:t>, </a:t>
            </a:r>
            <a:pPr algn="l" indent="0" marL="0">
              <a:buNone/>
            </a:pPr>
            <a:r>
              <a:rPr lang="ar-SA" altLang="en-US" sz="1700" b="1" dirty="0">
                <a:solidFill>
                  <a:srgbClr val="C9780A"/>
                </a:solidFill>
                <a:latin typeface="Amiri" pitchFamily="2" charset="-78"/>
                <a:ea typeface="Amiri" pitchFamily="2" charset="-78"/>
                <a:cs typeface="Amiri" pitchFamily="2" charset="-78"/>
              </a:rPr>
              <a:t>مَعَ</a:t>
            </a:r>
            <a:pPr algn="l" indent="0" marL="0">
              <a:buNone/>
            </a:pPr>
            <a:r>
              <a:rPr lang="en-US" sz="1300" b="1" dirty="0">
                <a:solidFill>
                  <a:srgbClr val="C9780A"/>
                </a:solidFill>
                <a:latin typeface="Calibri" pitchFamily="34" charset="0"/>
                <a:cs typeface="Amiri" pitchFamily="2" charset="-78"/>
              </a:rPr>
              <a:t>, </a:t>
            </a:r>
            <a:pPr algn="l" indent="0" marL="0">
              <a:buNone/>
            </a:pPr>
            <a:r>
              <a:rPr lang="ar-SA" altLang="en-US" sz="1700" b="1" dirty="0">
                <a:solidFill>
                  <a:srgbClr val="C9780A"/>
                </a:solidFill>
                <a:latin typeface="Amiri" pitchFamily="2" charset="-78"/>
                <a:ea typeface="Amiri" pitchFamily="2" charset="-78"/>
                <a:cs typeface="Amiri" pitchFamily="2" charset="-78"/>
              </a:rPr>
              <a:t>مِنْ</a:t>
            </a:r>
            <a:pPr algn="l" indent="0" marL="0">
              <a:buNone/>
            </a:pPr>
            <a:r>
              <a:rPr lang="en-US" sz="1300" b="1" dirty="0">
                <a:solidFill>
                  <a:srgbClr val="C9780A"/>
                </a:solidFill>
                <a:latin typeface="Calibri" pitchFamily="34" charset="0"/>
                <a:cs typeface="Amiri" pitchFamily="2" charset="-78"/>
              </a:rPr>
              <a:t>.</a:t>
            </a:r>
            <a:endParaRPr lang="en-US" sz="1300" dirty="0"/>
          </a:p>
        </p:txBody>
      </p:sp>
      <p:sp>
        <p:nvSpPr>
          <p:cNvPr id="42" name="Shape 39"/>
          <p:cNvSpPr/>
          <p:nvPr/>
        </p:nvSpPr>
        <p:spPr>
          <a:xfrm>
            <a:off x="5349240" y="4736592"/>
            <a:ext cx="6382512" cy="1353312"/>
          </a:xfrm>
          <a:prstGeom prst="roundRect">
            <a:avLst>
              <a:gd name="adj" fmla="val 5405"/>
            </a:avLst>
          </a:prstGeom>
          <a:solidFill>
            <a:srgbClr val="FBEAEA"/>
          </a:solidFill>
          <a:ln w="9525">
            <a:solidFill>
              <a:srgbClr val="B83227"/>
            </a:solidFill>
            <a:prstDash val="solid"/>
          </a:ln>
        </p:spPr>
      </p:sp>
      <p:sp>
        <p:nvSpPr>
          <p:cNvPr id="43" name="Shape 40"/>
          <p:cNvSpPr/>
          <p:nvPr/>
        </p:nvSpPr>
        <p:spPr>
          <a:xfrm>
            <a:off x="5532120" y="4873752"/>
            <a:ext cx="1143000" cy="292608"/>
          </a:xfrm>
          <a:prstGeom prst="roundRect">
            <a:avLst>
              <a:gd name="adj" fmla="val 50000"/>
            </a:avLst>
          </a:prstGeom>
          <a:solidFill>
            <a:srgbClr val="B83227"/>
          </a:solidFill>
          <a:ln w="12700">
            <a:solidFill>
              <a:srgbClr val="B83227"/>
            </a:solidFill>
            <a:prstDash val="solid"/>
          </a:ln>
        </p:spPr>
      </p:sp>
      <p:sp>
        <p:nvSpPr>
          <p:cNvPr id="44" name="Text 41"/>
          <p:cNvSpPr txBox="1"/>
          <p:nvPr/>
        </p:nvSpPr>
        <p:spPr>
          <a:xfrm>
            <a:off x="5532120" y="487375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45" name="Text 42"/>
          <p:cNvSpPr txBox="1"/>
          <p:nvPr/>
        </p:nvSpPr>
        <p:spPr>
          <a:xfrm>
            <a:off x="6766560" y="4873752"/>
            <a:ext cx="1828800" cy="292608"/>
          </a:xfrm>
          <a:prstGeom prst="rect">
            <a:avLst/>
          </a:prstGeom>
          <a:noFill/>
          <a:ln/>
        </p:spPr>
        <p:txBody>
          <a:bodyPr wrap="square" lIns="0" tIns="0" rIns="0" bIns="0" rtlCol="0" anchor="ctr"/>
          <a:lstStyle/>
          <a:p>
            <a:pPr algn="l" indent="0" marL="0">
              <a:buNone/>
            </a:pPr>
            <a:r>
              <a:rPr lang="en-US" sz="1050" b="1" i="1" dirty="0">
                <a:solidFill>
                  <a:srgbClr val="B83227"/>
                </a:solidFill>
                <a:latin typeface="Calibri" pitchFamily="34" charset="0"/>
                <a:cs typeface="Amiri" pitchFamily="2" charset="-78"/>
              </a:rPr>
              <a:t>Aim high</a:t>
            </a:r>
            <a:endParaRPr lang="en-US" sz="1050" dirty="0"/>
          </a:p>
        </p:txBody>
      </p:sp>
      <p:sp>
        <p:nvSpPr>
          <p:cNvPr id="46" name="Text 43"/>
          <p:cNvSpPr txBox="1"/>
          <p:nvPr/>
        </p:nvSpPr>
        <p:spPr>
          <a:xfrm>
            <a:off x="5532120" y="521208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use </a:t>
            </a:r>
            <a:pPr algn="l" indent="0" marL="0">
              <a:buNone/>
            </a:pPr>
            <a:r>
              <a:rPr lang="ar-SA" altLang="en-US" sz="1700" b="1" dirty="0">
                <a:solidFill>
                  <a:srgbClr val="B83227"/>
                </a:solidFill>
                <a:latin typeface="Amiri" pitchFamily="2" charset="-78"/>
                <a:ea typeface="Amiri" pitchFamily="2" charset="-78"/>
                <a:cs typeface="Amiri" pitchFamily="2" charset="-78"/>
              </a:rPr>
              <a:t>ـَيْنِ</a:t>
            </a:r>
            <a:pPr algn="l" indent="0" marL="0">
              <a:buNone/>
            </a:pPr>
            <a:r>
              <a:rPr lang="en-US" sz="1300" b="1" dirty="0">
                <a:solidFill>
                  <a:srgbClr val="B83227"/>
                </a:solidFill>
                <a:latin typeface="Calibri" pitchFamily="34" charset="0"/>
                <a:cs typeface="Amiri" pitchFamily="2" charset="-78"/>
              </a:rPr>
              <a:t> for a dual object (</a:t>
            </a:r>
            <a:pPr algn="l" indent="0" marL="0">
              <a:buNone/>
            </a:pPr>
            <a:r>
              <a:rPr lang="ar-SA" altLang="en-US" sz="1700" b="1" dirty="0">
                <a:solidFill>
                  <a:srgbClr val="B83227"/>
                </a:solidFill>
                <a:latin typeface="Amiri" pitchFamily="2" charset="-78"/>
                <a:ea typeface="Amiri" pitchFamily="2" charset="-78"/>
                <a:cs typeface="Amiri" pitchFamily="2" charset="-78"/>
              </a:rPr>
              <a:t>رَأَيْتُ بِنْتَيْنِ</a:t>
            </a:r>
            <a:pPr algn="l" indent="0" marL="0">
              <a:buNone/>
            </a:pPr>
            <a:r>
              <a:rPr lang="en-US" sz="1300" b="1" dirty="0">
                <a:solidFill>
                  <a:srgbClr val="B83227"/>
                </a:solidFill>
                <a:latin typeface="Calibri" pitchFamily="34" charset="0"/>
                <a:cs typeface="Amiri" pitchFamily="2" charset="-78"/>
              </a:rPr>
              <a:t>).</a:t>
            </a:r>
            <a:endParaRPr lang="en-US" sz="1300" dirty="0"/>
          </a:p>
        </p:txBody>
      </p:sp>
      <p:sp>
        <p:nvSpPr>
          <p:cNvPr id="47" name="Text 44"/>
          <p:cNvSpPr txBox="1"/>
          <p:nvPr/>
        </p:nvSpPr>
        <p:spPr>
          <a:xfrm>
            <a:off x="5532120" y="562356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make the adjective dual too (</a:t>
            </a:r>
            <a:pPr algn="l" indent="0" marL="0">
              <a:buNone/>
            </a:pPr>
            <a:r>
              <a:rPr lang="ar-SA" altLang="en-US" sz="1700" b="1" dirty="0">
                <a:solidFill>
                  <a:srgbClr val="B83227"/>
                </a:solidFill>
                <a:latin typeface="Amiri" pitchFamily="2" charset="-78"/>
                <a:ea typeface="Amiri" pitchFamily="2" charset="-78"/>
                <a:cs typeface="Amiri" pitchFamily="2" charset="-78"/>
              </a:rPr>
              <a:t>طَالِبَانِ جَدِيدَانِ</a:t>
            </a:r>
            <a:pPr algn="l" indent="0" marL="0">
              <a:buNone/>
            </a:pPr>
            <a:r>
              <a:rPr lang="en-US" sz="1300" b="1" dirty="0">
                <a:solidFill>
                  <a:srgbClr val="B83227"/>
                </a:solidFill>
                <a:latin typeface="Calibri" pitchFamily="34" charset="0"/>
                <a:cs typeface="Amiri" pitchFamily="2" charset="-78"/>
              </a:rPr>
              <a:t>).</a:t>
            </a:r>
            <a:endParaRPr lang="en-US" sz="1300" dirty="0"/>
          </a:p>
        </p:txBody>
      </p:sp>
      <p:sp>
        <p:nvSpPr>
          <p:cNvPr id="48"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35</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GM-N-02 · Nouns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THE GRAMMAR WORDS WE WILL USE (1 OF 2)</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Grammar words (1 of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مُصْطَلَحَاتُ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Nouns · GM-N-02</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a:t>
            </a:r>
            <a:endParaRPr lang="en-US" sz="1000" dirty="0"/>
          </a:p>
        </p:txBody>
      </p:sp>
      <p:sp>
        <p:nvSpPr>
          <p:cNvPr id="18" name="Shape 15"/>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مُفْرَدٌ</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singular (one)</a:t>
            </a:r>
            <a:endParaRPr lang="en-US" sz="1350" dirty="0"/>
          </a:p>
          <a:p>
            <a:pPr indent="0" marL="0">
              <a:buNone/>
            </a:pPr>
            <a:r>
              <a:rPr lang="en-US" sz="1100" i="1" dirty="0">
                <a:solidFill>
                  <a:srgbClr val="5A6472"/>
                </a:solidFill>
                <a:latin typeface="Calibri" pitchFamily="34" charset="0"/>
                <a:cs typeface="Amiri" pitchFamily="2" charset="-78"/>
              </a:rPr>
              <a:t>muf-ra-dun</a:t>
            </a:r>
            <a:endParaRPr lang="en-US" sz="1350" dirty="0"/>
          </a:p>
        </p:txBody>
      </p:sp>
      <p:sp>
        <p:nvSpPr>
          <p:cNvPr id="22" name="Text 19"/>
          <p:cNvSpPr txBox="1"/>
          <p:nvPr/>
        </p:nvSpPr>
        <p:spPr>
          <a:xfrm>
            <a:off x="8238744" y="3621024"/>
            <a:ext cx="3364992" cy="292608"/>
          </a:xfrm>
          <a:prstGeom prst="rect">
            <a:avLst/>
          </a:prstGeom>
          <a:noFill/>
          <a:ln/>
        </p:spPr>
        <p:txBody>
          <a:bodyPr wrap="square" lIns="0" tIns="0" rIns="0" bIns="0" rtlCol="0" anchor="ctr"/>
          <a:lstStyle/>
          <a:p>
            <a:pPr rtl="1" algn="r" indent="0" marL="0">
              <a:buNone/>
            </a:pPr>
            <a:r>
              <a:rPr lang="ar-SA" altLang="en-US" sz="1300" dirty="0">
                <a:solidFill>
                  <a:srgbClr val="8A6D1E"/>
                </a:solidFill>
                <a:latin typeface="Amiri" pitchFamily="2" charset="-78"/>
                <a:ea typeface="Amiri" pitchFamily="2" charset="-78"/>
                <a:cs typeface="Amiri" pitchFamily="2" charset="-78"/>
              </a:rPr>
              <a:t>طَالِبٌ</a:t>
            </a:r>
            <a:endParaRPr lang="ar-SA" sz="1300" dirty="0"/>
          </a:p>
        </p:txBody>
      </p:sp>
      <p:sp>
        <p:nvSpPr>
          <p:cNvPr id="23" name="Shape 20"/>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389120" y="1920240"/>
            <a:ext cx="310896" cy="310896"/>
          </a:xfrm>
          <a:prstGeom prst="ellipse">
            <a:avLst/>
          </a:prstGeom>
          <a:solidFill>
            <a:srgbClr val="F4F1EA"/>
          </a:solidFill>
          <a:ln w="12700">
            <a:solidFill>
              <a:srgbClr val="F4F1EA"/>
            </a:solidFill>
            <a:prstDash val="solid"/>
          </a:ln>
        </p:spPr>
      </p:sp>
      <p:sp>
        <p:nvSpPr>
          <p:cNvPr id="25" name="Text 22"/>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a:t>
            </a:r>
            <a:endParaRPr lang="en-US" sz="1000" dirty="0"/>
          </a:p>
        </p:txBody>
      </p:sp>
      <p:sp>
        <p:nvSpPr>
          <p:cNvPr id="26" name="Shape 23"/>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7" name="Text 24"/>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8" name="Text 25"/>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مُثَنًّى</a:t>
            </a:r>
            <a:endParaRPr lang="ar-SA" sz="3000" dirty="0"/>
          </a:p>
        </p:txBody>
      </p:sp>
      <p:sp>
        <p:nvSpPr>
          <p:cNvPr id="29" name="Text 26"/>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dual (exactly two)</a:t>
            </a:r>
            <a:endParaRPr lang="en-US" sz="1350" dirty="0"/>
          </a:p>
          <a:p>
            <a:pPr indent="0" marL="0">
              <a:buNone/>
            </a:pPr>
            <a:r>
              <a:rPr lang="en-US" sz="1100" i="1" dirty="0">
                <a:solidFill>
                  <a:srgbClr val="5A6472"/>
                </a:solidFill>
                <a:latin typeface="Calibri" pitchFamily="34" charset="0"/>
                <a:cs typeface="Amiri" pitchFamily="2" charset="-78"/>
              </a:rPr>
              <a:t>mu-than-nan</a:t>
            </a:r>
            <a:endParaRPr lang="en-US" sz="1350" dirty="0"/>
          </a:p>
        </p:txBody>
      </p:sp>
      <p:sp>
        <p:nvSpPr>
          <p:cNvPr id="30" name="Text 27"/>
          <p:cNvSpPr txBox="1"/>
          <p:nvPr/>
        </p:nvSpPr>
        <p:spPr>
          <a:xfrm>
            <a:off x="4416552" y="3621024"/>
            <a:ext cx="3364992" cy="292608"/>
          </a:xfrm>
          <a:prstGeom prst="rect">
            <a:avLst/>
          </a:prstGeom>
          <a:noFill/>
          <a:ln/>
        </p:spPr>
        <p:txBody>
          <a:bodyPr wrap="square" lIns="0" tIns="0" rIns="0" bIns="0" rtlCol="0" anchor="ctr"/>
          <a:lstStyle/>
          <a:p>
            <a:pPr rtl="1" algn="r" indent="0" marL="0">
              <a:buNone/>
            </a:pPr>
            <a:r>
              <a:rPr lang="ar-SA" altLang="en-US" sz="1300" dirty="0">
                <a:solidFill>
                  <a:srgbClr val="8A6D1E"/>
                </a:solidFill>
                <a:latin typeface="Amiri" pitchFamily="2" charset="-78"/>
                <a:ea typeface="Amiri" pitchFamily="2" charset="-78"/>
                <a:cs typeface="Amiri" pitchFamily="2" charset="-78"/>
              </a:rPr>
              <a:t>طَالِبَانِ</a:t>
            </a:r>
            <a:endParaRPr lang="ar-SA" sz="1300" dirty="0"/>
          </a:p>
        </p:txBody>
      </p:sp>
      <p:sp>
        <p:nvSpPr>
          <p:cNvPr id="31" name="Shape 28"/>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66928" y="1920240"/>
            <a:ext cx="310896" cy="310896"/>
          </a:xfrm>
          <a:prstGeom prst="ellipse">
            <a:avLst/>
          </a:prstGeom>
          <a:solidFill>
            <a:srgbClr val="F4F1EA"/>
          </a:solidFill>
          <a:ln w="12700">
            <a:solidFill>
              <a:srgbClr val="F4F1EA"/>
            </a:solidFill>
            <a:prstDash val="solid"/>
          </a:ln>
        </p:spPr>
      </p:sp>
      <p:sp>
        <p:nvSpPr>
          <p:cNvPr id="33" name="Text 30"/>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a:t>
            </a:r>
            <a:endParaRPr lang="en-US" sz="1000" dirty="0"/>
          </a:p>
        </p:txBody>
      </p:sp>
      <p:sp>
        <p:nvSpPr>
          <p:cNvPr id="34" name="Shape 31"/>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6" name="Text 33"/>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جَمْعٌ</a:t>
            </a:r>
            <a:endParaRPr lang="ar-SA" sz="3000" dirty="0"/>
          </a:p>
        </p:txBody>
      </p:sp>
      <p:sp>
        <p:nvSpPr>
          <p:cNvPr id="37" name="Text 34"/>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plural (three or more)</a:t>
            </a:r>
            <a:endParaRPr lang="en-US" sz="1350" dirty="0"/>
          </a:p>
          <a:p>
            <a:pPr indent="0" marL="0">
              <a:buNone/>
            </a:pPr>
            <a:r>
              <a:rPr lang="en-US" sz="1100" i="1" dirty="0">
                <a:solidFill>
                  <a:srgbClr val="5A6472"/>
                </a:solidFill>
                <a:latin typeface="Calibri" pitchFamily="34" charset="0"/>
                <a:cs typeface="Amiri" pitchFamily="2" charset="-78"/>
              </a:rPr>
              <a:t>jam-ʿun</a:t>
            </a:r>
            <a:endParaRPr lang="en-US" sz="1350" dirty="0"/>
          </a:p>
        </p:txBody>
      </p:sp>
      <p:sp>
        <p:nvSpPr>
          <p:cNvPr id="38" name="Shape 35"/>
          <p:cNvSpPr/>
          <p:nvPr/>
        </p:nvSpPr>
        <p:spPr>
          <a:xfrm>
            <a:off x="594360" y="3438144"/>
            <a:ext cx="3364992" cy="438912"/>
          </a:xfrm>
          <a:prstGeom prst="roundRect">
            <a:avLst>
              <a:gd name="adj" fmla="val 10417"/>
            </a:avLst>
          </a:prstGeom>
          <a:solidFill>
            <a:srgbClr val="F4F1EA"/>
          </a:solidFill>
          <a:ln w="9525">
            <a:solidFill>
              <a:srgbClr val="F4F1EA"/>
            </a:solidFill>
            <a:prstDash val="solid"/>
          </a:ln>
        </p:spPr>
      </p:sp>
      <p:sp>
        <p:nvSpPr>
          <p:cNvPr id="39" name="Text 36"/>
          <p:cNvSpPr txBox="1"/>
          <p:nvPr/>
        </p:nvSpPr>
        <p:spPr>
          <a:xfrm>
            <a:off x="649224" y="3447288"/>
            <a:ext cx="3255264"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40" name="Text 37"/>
          <p:cNvSpPr txBox="1"/>
          <p:nvPr/>
        </p:nvSpPr>
        <p:spPr>
          <a:xfrm>
            <a:off x="640080" y="3483864"/>
            <a:ext cx="3273552"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جُمُوعٌ</a:t>
            </a:r>
            <a:endParaRPr lang="ar-SA" sz="1500" dirty="0"/>
          </a:p>
        </p:txBody>
      </p:sp>
      <p:sp>
        <p:nvSpPr>
          <p:cNvPr id="41" name="Shape 38"/>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11312" y="4261104"/>
            <a:ext cx="310896" cy="310896"/>
          </a:xfrm>
          <a:prstGeom prst="ellipse">
            <a:avLst/>
          </a:prstGeom>
          <a:solidFill>
            <a:srgbClr val="F4F1EA"/>
          </a:solidFill>
          <a:ln w="12700">
            <a:solidFill>
              <a:srgbClr val="F4F1EA"/>
            </a:solidFill>
            <a:prstDash val="solid"/>
          </a:ln>
        </p:spPr>
      </p:sp>
      <p:sp>
        <p:nvSpPr>
          <p:cNvPr id="43" name="Text 40"/>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4</a:t>
            </a:r>
            <a:endParaRPr lang="en-US" sz="1000" dirty="0"/>
          </a:p>
        </p:txBody>
      </p:sp>
      <p:sp>
        <p:nvSpPr>
          <p:cNvPr id="44" name="Shape 41"/>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45" name="Text 42"/>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6" name="Text 43"/>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حَالَةُ الرَّفْعِ</a:t>
            </a:r>
            <a:endParaRPr lang="ar-SA" sz="3000" dirty="0"/>
          </a:p>
        </p:txBody>
      </p:sp>
      <p:sp>
        <p:nvSpPr>
          <p:cNvPr id="47" name="Text 44"/>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nominative (subject)</a:t>
            </a:r>
            <a:endParaRPr lang="en-US" sz="1350" dirty="0"/>
          </a:p>
          <a:p>
            <a:pPr indent="0" marL="0">
              <a:buNone/>
            </a:pPr>
            <a:r>
              <a:rPr lang="en-US" sz="1100" i="1" dirty="0">
                <a:solidFill>
                  <a:srgbClr val="5A6472"/>
                </a:solidFill>
                <a:latin typeface="Calibri" pitchFamily="34" charset="0"/>
                <a:cs typeface="Amiri" pitchFamily="2" charset="-78"/>
              </a:rPr>
              <a:t>ḥā-la-tu ar-raf-ʿi</a:t>
            </a:r>
            <a:endParaRPr lang="en-US" sz="1350" dirty="0"/>
          </a:p>
        </p:txBody>
      </p:sp>
      <p:sp>
        <p:nvSpPr>
          <p:cNvPr id="48" name="Text 45"/>
          <p:cNvSpPr txBox="1"/>
          <p:nvPr/>
        </p:nvSpPr>
        <p:spPr>
          <a:xfrm>
            <a:off x="8238744" y="5961888"/>
            <a:ext cx="3364992" cy="292608"/>
          </a:xfrm>
          <a:prstGeom prst="rect">
            <a:avLst/>
          </a:prstGeom>
          <a:noFill/>
          <a:ln/>
        </p:spPr>
        <p:txBody>
          <a:bodyPr wrap="square" lIns="0" tIns="0" rIns="0" bIns="0" rtlCol="0" anchor="ctr"/>
          <a:lstStyle/>
          <a:p>
            <a:pPr rtl="1" algn="r" indent="0" marL="0">
              <a:buNone/>
            </a:pPr>
            <a:r>
              <a:rPr lang="ar-SA" altLang="en-US" sz="1300" dirty="0">
                <a:solidFill>
                  <a:srgbClr val="8A6D1E"/>
                </a:solidFill>
                <a:latin typeface="Amiri" pitchFamily="2" charset="-78"/>
                <a:ea typeface="Amiri" pitchFamily="2" charset="-78"/>
                <a:cs typeface="Amiri" pitchFamily="2" charset="-78"/>
              </a:rPr>
              <a:t>ـَانِ</a:t>
            </a:r>
            <a:endParaRPr lang="ar-SA" sz="1300" dirty="0"/>
          </a:p>
        </p:txBody>
      </p:sp>
      <p:sp>
        <p:nvSpPr>
          <p:cNvPr id="49" name="Shape 46"/>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0" name="Shape 47"/>
          <p:cNvSpPr/>
          <p:nvPr/>
        </p:nvSpPr>
        <p:spPr>
          <a:xfrm>
            <a:off x="4389120" y="4261104"/>
            <a:ext cx="310896" cy="310896"/>
          </a:xfrm>
          <a:prstGeom prst="ellipse">
            <a:avLst/>
          </a:prstGeom>
          <a:solidFill>
            <a:srgbClr val="F4F1EA"/>
          </a:solidFill>
          <a:ln w="12700">
            <a:solidFill>
              <a:srgbClr val="F4F1EA"/>
            </a:solidFill>
            <a:prstDash val="solid"/>
          </a:ln>
        </p:spPr>
      </p:sp>
      <p:sp>
        <p:nvSpPr>
          <p:cNvPr id="51" name="Text 48"/>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5</a:t>
            </a:r>
            <a:endParaRPr lang="en-US" sz="1000" dirty="0"/>
          </a:p>
        </p:txBody>
      </p:sp>
      <p:sp>
        <p:nvSpPr>
          <p:cNvPr id="52" name="Shape 49"/>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53" name="Text 50"/>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4" name="Text 51"/>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حَالَةُ النَّصْبِ وَالْجَرِّ</a:t>
            </a:r>
            <a:endParaRPr lang="ar-SA" sz="3000" dirty="0"/>
          </a:p>
        </p:txBody>
      </p:sp>
      <p:sp>
        <p:nvSpPr>
          <p:cNvPr id="55" name="Text 52"/>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accusative and genitive</a:t>
            </a:r>
            <a:endParaRPr lang="en-US" sz="1350" dirty="0"/>
          </a:p>
          <a:p>
            <a:pPr indent="0" marL="0">
              <a:buNone/>
            </a:pPr>
            <a:r>
              <a:rPr lang="en-US" sz="1100" i="1" dirty="0">
                <a:solidFill>
                  <a:srgbClr val="5A6472"/>
                </a:solidFill>
                <a:latin typeface="Calibri" pitchFamily="34" charset="0"/>
                <a:cs typeface="Amiri" pitchFamily="2" charset="-78"/>
              </a:rPr>
              <a:t>ḥā-la-tu an-naṣ-bi wāl-jar-ri</a:t>
            </a:r>
            <a:endParaRPr lang="en-US" sz="1350" dirty="0"/>
          </a:p>
        </p:txBody>
      </p:sp>
      <p:sp>
        <p:nvSpPr>
          <p:cNvPr id="56" name="Text 53"/>
          <p:cNvSpPr txBox="1"/>
          <p:nvPr/>
        </p:nvSpPr>
        <p:spPr>
          <a:xfrm>
            <a:off x="4416552" y="5961888"/>
            <a:ext cx="3364992" cy="292608"/>
          </a:xfrm>
          <a:prstGeom prst="rect">
            <a:avLst/>
          </a:prstGeom>
          <a:noFill/>
          <a:ln/>
        </p:spPr>
        <p:txBody>
          <a:bodyPr wrap="square" lIns="0" tIns="0" rIns="0" bIns="0" rtlCol="0" anchor="ctr"/>
          <a:lstStyle/>
          <a:p>
            <a:pPr rtl="1" algn="r" indent="0" marL="0">
              <a:buNone/>
            </a:pPr>
            <a:r>
              <a:rPr lang="ar-SA" altLang="en-US" sz="1300" dirty="0">
                <a:solidFill>
                  <a:srgbClr val="8A6D1E"/>
                </a:solidFill>
                <a:latin typeface="Amiri" pitchFamily="2" charset="-78"/>
                <a:ea typeface="Amiri" pitchFamily="2" charset="-78"/>
                <a:cs typeface="Amiri" pitchFamily="2" charset="-78"/>
              </a:rPr>
              <a:t>ـَيْنِ</a:t>
            </a:r>
            <a:endParaRPr lang="ar-SA" sz="1300" dirty="0"/>
          </a:p>
        </p:txBody>
      </p:sp>
      <p:sp>
        <p:nvSpPr>
          <p:cNvPr id="57" name="Shape 54"/>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8" name="Shape 55"/>
          <p:cNvSpPr/>
          <p:nvPr/>
        </p:nvSpPr>
        <p:spPr>
          <a:xfrm>
            <a:off x="566928" y="4261104"/>
            <a:ext cx="310896" cy="310896"/>
          </a:xfrm>
          <a:prstGeom prst="ellipse">
            <a:avLst/>
          </a:prstGeom>
          <a:solidFill>
            <a:srgbClr val="F4F1EA"/>
          </a:solidFill>
          <a:ln w="12700">
            <a:solidFill>
              <a:srgbClr val="F4F1EA"/>
            </a:solidFill>
            <a:prstDash val="solid"/>
          </a:ln>
        </p:spPr>
      </p:sp>
      <p:sp>
        <p:nvSpPr>
          <p:cNvPr id="59" name="Text 56"/>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6</a:t>
            </a:r>
            <a:endParaRPr lang="en-US" sz="1000" dirty="0"/>
          </a:p>
        </p:txBody>
      </p:sp>
      <p:sp>
        <p:nvSpPr>
          <p:cNvPr id="60" name="Shape 57"/>
          <p:cNvSpPr/>
          <p:nvPr/>
        </p:nvSpPr>
        <p:spPr>
          <a:xfrm>
            <a:off x="3227832" y="4279392"/>
            <a:ext cx="731520" cy="256032"/>
          </a:xfrm>
          <a:prstGeom prst="roundRect">
            <a:avLst>
              <a:gd name="adj" fmla="val 50000"/>
            </a:avLst>
          </a:prstGeom>
          <a:solidFill>
            <a:srgbClr val="2E8B57"/>
          </a:solidFill>
          <a:ln w="12700">
            <a:solidFill>
              <a:srgbClr val="2E8B57"/>
            </a:solidFill>
            <a:prstDash val="solid"/>
          </a:ln>
        </p:spPr>
      </p:sp>
      <p:sp>
        <p:nvSpPr>
          <p:cNvPr id="61" name="Text 58"/>
          <p:cNvSpPr txBox="1"/>
          <p:nvPr/>
        </p:nvSpPr>
        <p:spPr>
          <a:xfrm>
            <a:off x="3227832"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62" name="Text 59"/>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حَرْفُ جَرٍّ</a:t>
            </a:r>
            <a:endParaRPr lang="ar-SA" sz="3000" dirty="0"/>
          </a:p>
        </p:txBody>
      </p:sp>
      <p:sp>
        <p:nvSpPr>
          <p:cNvPr id="63" name="Text 60"/>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 preposition</a:t>
            </a:r>
            <a:endParaRPr lang="en-US" sz="1350" dirty="0"/>
          </a:p>
          <a:p>
            <a:pPr indent="0" marL="0">
              <a:buNone/>
            </a:pPr>
            <a:r>
              <a:rPr lang="en-US" sz="1100" i="1" dirty="0">
                <a:solidFill>
                  <a:srgbClr val="5A6472"/>
                </a:solidFill>
                <a:latin typeface="Calibri" pitchFamily="34" charset="0"/>
                <a:cs typeface="Amiri" pitchFamily="2" charset="-78"/>
              </a:rPr>
              <a:t>ḥar-fu jar-rin</a:t>
            </a:r>
            <a:endParaRPr lang="en-US" sz="1350" dirty="0"/>
          </a:p>
        </p:txBody>
      </p:sp>
      <p:sp>
        <p:nvSpPr>
          <p:cNvPr id="64" name="Text 61"/>
          <p:cNvSpPr txBox="1"/>
          <p:nvPr/>
        </p:nvSpPr>
        <p:spPr>
          <a:xfrm>
            <a:off x="594360" y="5961888"/>
            <a:ext cx="3364992" cy="292608"/>
          </a:xfrm>
          <a:prstGeom prst="rect">
            <a:avLst/>
          </a:prstGeom>
          <a:noFill/>
          <a:ln/>
        </p:spPr>
        <p:txBody>
          <a:bodyPr wrap="square" lIns="0" tIns="0" rIns="0" bIns="0" rtlCol="0" anchor="ctr"/>
          <a:lstStyle/>
          <a:p>
            <a:pPr rtl="1" algn="r" indent="0" marL="0">
              <a:buNone/>
            </a:pPr>
            <a:r>
              <a:rPr lang="ar-SA" altLang="en-US" sz="1300" dirty="0">
                <a:solidFill>
                  <a:srgbClr val="8A6D1E"/>
                </a:solidFill>
                <a:latin typeface="Amiri" pitchFamily="2" charset="-78"/>
                <a:ea typeface="Amiri" pitchFamily="2" charset="-78"/>
                <a:cs typeface="Amiri" pitchFamily="2" charset="-78"/>
              </a:rPr>
              <a:t>فِي · مِنْ · مَعَ · إِلَى</a:t>
            </a:r>
            <a:endParaRPr lang="ar-SA" sz="1300" dirty="0"/>
          </a:p>
        </p:txBody>
      </p:sp>
      <p:sp>
        <p:nvSpPr>
          <p:cNvPr id="65" name="Text 6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35</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GM-N-02 · Nouns</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THE GRAMMAR WORDS WE WILL USE (2 OF 2)</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Grammar words (2 of 2)</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مُصْطَلَحَاتُ الدَّرْسِ</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Nouns · GM-N-02</a:t>
            </a:r>
            <a:endParaRPr lang="en-US" sz="850" dirty="0"/>
          </a:p>
        </p:txBody>
      </p:sp>
      <p:sp>
        <p:nvSpPr>
          <p:cNvPr id="17" name="Shape 14"/>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8211312" y="1920240"/>
            <a:ext cx="310896" cy="310896"/>
          </a:xfrm>
          <a:prstGeom prst="ellipse">
            <a:avLst/>
          </a:prstGeom>
          <a:solidFill>
            <a:srgbClr val="F4F1EA"/>
          </a:solidFill>
          <a:ln w="12700">
            <a:solidFill>
              <a:srgbClr val="F4F1EA"/>
            </a:solidFill>
            <a:prstDash val="solid"/>
          </a:ln>
        </p:spPr>
      </p:sp>
      <p:sp>
        <p:nvSpPr>
          <p:cNvPr id="19" name="Text 16"/>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7</a:t>
            </a:r>
            <a:endParaRPr lang="en-US" sz="10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مَفْعُولٌ بِهِ</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object of a verb</a:t>
            </a:r>
            <a:endParaRPr lang="en-US" sz="1350" dirty="0"/>
          </a:p>
          <a:p>
            <a:pPr indent="0" marL="0">
              <a:buNone/>
            </a:pPr>
            <a:r>
              <a:rPr lang="en-US" sz="1100" i="1" dirty="0">
                <a:solidFill>
                  <a:srgbClr val="5A6472"/>
                </a:solidFill>
                <a:latin typeface="Calibri" pitchFamily="34" charset="0"/>
                <a:cs typeface="Amiri" pitchFamily="2" charset="-78"/>
              </a:rPr>
              <a:t>maf-ʿū-lun bi-hi</a:t>
            </a:r>
            <a:endParaRPr lang="en-US" sz="1350" dirty="0"/>
          </a:p>
        </p:txBody>
      </p:sp>
      <p:sp>
        <p:nvSpPr>
          <p:cNvPr id="22" name="Text 19"/>
          <p:cNvSpPr txBox="1"/>
          <p:nvPr/>
        </p:nvSpPr>
        <p:spPr>
          <a:xfrm>
            <a:off x="8238744" y="3621024"/>
            <a:ext cx="3364992" cy="292608"/>
          </a:xfrm>
          <a:prstGeom prst="rect">
            <a:avLst/>
          </a:prstGeom>
          <a:noFill/>
          <a:ln/>
        </p:spPr>
        <p:txBody>
          <a:bodyPr wrap="square" lIns="0" tIns="0" rIns="0" bIns="0" rtlCol="0" anchor="ctr"/>
          <a:lstStyle/>
          <a:p>
            <a:pPr rtl="1" algn="r" indent="0" marL="0">
              <a:buNone/>
            </a:pPr>
            <a:r>
              <a:rPr lang="ar-SA" altLang="en-US" sz="1300" dirty="0">
                <a:solidFill>
                  <a:srgbClr val="8A6D1E"/>
                </a:solidFill>
                <a:latin typeface="Amiri" pitchFamily="2" charset="-78"/>
                <a:ea typeface="Amiri" pitchFamily="2" charset="-78"/>
                <a:cs typeface="Amiri" pitchFamily="2" charset="-78"/>
              </a:rPr>
              <a:t>رَأَيْتُ بِنْتَيْنِ</a:t>
            </a:r>
            <a:endParaRPr lang="ar-SA" sz="1300" dirty="0"/>
          </a:p>
        </p:txBody>
      </p:sp>
      <p:sp>
        <p:nvSpPr>
          <p:cNvPr id="23" name="Shape 20"/>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389120" y="1920240"/>
            <a:ext cx="310896" cy="310896"/>
          </a:xfrm>
          <a:prstGeom prst="ellipse">
            <a:avLst/>
          </a:prstGeom>
          <a:solidFill>
            <a:srgbClr val="F4F1EA"/>
          </a:solidFill>
          <a:ln w="12700">
            <a:solidFill>
              <a:srgbClr val="F4F1EA"/>
            </a:solidFill>
            <a:prstDash val="solid"/>
          </a:ln>
        </p:spPr>
      </p:sp>
      <p:sp>
        <p:nvSpPr>
          <p:cNvPr id="25" name="Text 22"/>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8</a:t>
            </a:r>
            <a:endParaRPr lang="en-US" sz="1000" dirty="0"/>
          </a:p>
        </p:txBody>
      </p:sp>
      <p:sp>
        <p:nvSpPr>
          <p:cNvPr id="26" name="Text 23"/>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نُونُ الْمُثَنَّى</a:t>
            </a:r>
            <a:endParaRPr lang="ar-SA" sz="3000" dirty="0"/>
          </a:p>
        </p:txBody>
      </p:sp>
      <p:sp>
        <p:nvSpPr>
          <p:cNvPr id="27" name="Text 24"/>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the nūn of the dual</a:t>
            </a:r>
            <a:endParaRPr lang="en-US" sz="1350" dirty="0"/>
          </a:p>
          <a:p>
            <a:pPr indent="0" marL="0">
              <a:buNone/>
            </a:pPr>
            <a:r>
              <a:rPr lang="en-US" sz="1100" i="1" dirty="0">
                <a:solidFill>
                  <a:srgbClr val="5A6472"/>
                </a:solidFill>
                <a:latin typeface="Calibri" pitchFamily="34" charset="0"/>
                <a:cs typeface="Amiri" pitchFamily="2" charset="-78"/>
              </a:rPr>
              <a:t>nū-nu al-mu-than-nā</a:t>
            </a:r>
            <a:endParaRPr lang="en-US" sz="1350" dirty="0"/>
          </a:p>
        </p:txBody>
      </p:sp>
      <p:sp>
        <p:nvSpPr>
          <p:cNvPr id="28" name="Text 25"/>
          <p:cNvSpPr txBox="1"/>
          <p:nvPr/>
        </p:nvSpPr>
        <p:spPr>
          <a:xfrm>
            <a:off x="4416552" y="3621024"/>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cs typeface="Amiri" pitchFamily="2" charset="-78"/>
              </a:rPr>
              <a:t>dropped in iḍāfa</a:t>
            </a:r>
            <a:endParaRPr lang="en-US" sz="1000" dirty="0"/>
          </a:p>
        </p:txBody>
      </p:sp>
      <p:sp>
        <p:nvSpPr>
          <p:cNvPr id="29" name="Text 2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35</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GM-N-02 · Nouns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GRAMMAR · PART 1 · THE ARABIC NUMBER SYSTEM (WEBSITE TABLE)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One · exactly two · three or more</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نِظَامُ الْعَدَدِ</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Nouns · GM-N-02</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942832" y="1810512"/>
            <a:ext cx="27157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7" name="Text 14"/>
          <p:cNvSpPr txBox="1"/>
          <p:nvPr/>
        </p:nvSpPr>
        <p:spPr>
          <a:xfrm>
            <a:off x="6199632" y="1810512"/>
            <a:ext cx="25968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Feminine</a:t>
            </a:r>
            <a:endParaRPr lang="en-US" sz="1100" dirty="0"/>
          </a:p>
        </p:txBody>
      </p:sp>
      <p:sp>
        <p:nvSpPr>
          <p:cNvPr id="18" name="Text 15"/>
          <p:cNvSpPr txBox="1"/>
          <p:nvPr/>
        </p:nvSpPr>
        <p:spPr>
          <a:xfrm>
            <a:off x="3456432" y="1810512"/>
            <a:ext cx="25968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Masculine</a:t>
            </a:r>
            <a:endParaRPr lang="en-US" sz="1100" dirty="0"/>
          </a:p>
        </p:txBody>
      </p:sp>
      <p:sp>
        <p:nvSpPr>
          <p:cNvPr id="19" name="Text 16"/>
          <p:cNvSpPr txBox="1"/>
          <p:nvPr/>
        </p:nvSpPr>
        <p:spPr>
          <a:xfrm>
            <a:off x="530352" y="1810512"/>
            <a:ext cx="27797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Number</a:t>
            </a:r>
            <a:endParaRPr lang="en-US" sz="1100" dirty="0"/>
          </a:p>
        </p:txBody>
      </p:sp>
      <p:sp>
        <p:nvSpPr>
          <p:cNvPr id="20" name="Shape 17"/>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1" name="Text 18"/>
          <p:cNvSpPr txBox="1"/>
          <p:nvPr/>
        </p:nvSpPr>
        <p:spPr>
          <a:xfrm>
            <a:off x="8979408" y="2267712"/>
            <a:ext cx="26791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one student</a:t>
            </a:r>
            <a:endParaRPr lang="en-US" sz="1100" dirty="0"/>
          </a:p>
        </p:txBody>
      </p:sp>
      <p:sp>
        <p:nvSpPr>
          <p:cNvPr id="22" name="Text 19"/>
          <p:cNvSpPr txBox="1"/>
          <p:nvPr/>
        </p:nvSpPr>
        <p:spPr>
          <a:xfrm>
            <a:off x="6217920" y="2267712"/>
            <a:ext cx="2560320" cy="731520"/>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ea typeface="Amiri" pitchFamily="2" charset="-78"/>
                <a:cs typeface="Amiri" pitchFamily="2" charset="-78"/>
              </a:rPr>
              <a:t>طَالِبَةٌ</a:t>
            </a:r>
            <a:endParaRPr lang="ar-SA" sz="2600" dirty="0"/>
          </a:p>
        </p:txBody>
      </p:sp>
      <p:sp>
        <p:nvSpPr>
          <p:cNvPr id="23" name="Text 20"/>
          <p:cNvSpPr txBox="1"/>
          <p:nvPr/>
        </p:nvSpPr>
        <p:spPr>
          <a:xfrm>
            <a:off x="3474720" y="2267712"/>
            <a:ext cx="2560320" cy="731520"/>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ea typeface="Amiri" pitchFamily="2" charset="-78"/>
                <a:cs typeface="Amiri" pitchFamily="2" charset="-78"/>
              </a:rPr>
              <a:t>طَالِبٌ</a:t>
            </a:r>
            <a:endParaRPr lang="ar-SA" sz="2600" dirty="0"/>
          </a:p>
        </p:txBody>
      </p:sp>
      <p:sp>
        <p:nvSpPr>
          <p:cNvPr id="24" name="Text 21"/>
          <p:cNvSpPr txBox="1"/>
          <p:nvPr/>
        </p:nvSpPr>
        <p:spPr>
          <a:xfrm>
            <a:off x="566928" y="2267712"/>
            <a:ext cx="274320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singular</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8" name="Text 25"/>
          <p:cNvSpPr txBox="1"/>
          <p:nvPr/>
        </p:nvSpPr>
        <p:spPr>
          <a:xfrm>
            <a:off x="8979408" y="3054096"/>
            <a:ext cx="26791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two students</a:t>
            </a:r>
            <a:endParaRPr lang="en-US" sz="1100" dirty="0"/>
          </a:p>
        </p:txBody>
      </p:sp>
      <p:sp>
        <p:nvSpPr>
          <p:cNvPr id="29" name="Text 26"/>
          <p:cNvSpPr txBox="1"/>
          <p:nvPr/>
        </p:nvSpPr>
        <p:spPr>
          <a:xfrm>
            <a:off x="6217920" y="3054096"/>
            <a:ext cx="2560320" cy="731520"/>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ea typeface="Amiri" pitchFamily="2" charset="-78"/>
                <a:cs typeface="Amiri" pitchFamily="2" charset="-78"/>
              </a:rPr>
              <a:t>طَالِبَتَانِ</a:t>
            </a:r>
            <a:endParaRPr lang="ar-SA" sz="2600" dirty="0"/>
          </a:p>
        </p:txBody>
      </p:sp>
      <p:sp>
        <p:nvSpPr>
          <p:cNvPr id="30" name="Text 27"/>
          <p:cNvSpPr txBox="1"/>
          <p:nvPr/>
        </p:nvSpPr>
        <p:spPr>
          <a:xfrm>
            <a:off x="3474720" y="3054096"/>
            <a:ext cx="2560320" cy="731520"/>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ea typeface="Amiri" pitchFamily="2" charset="-78"/>
                <a:cs typeface="Amiri" pitchFamily="2" charset="-78"/>
              </a:rPr>
              <a:t>طَالِبَانِ</a:t>
            </a:r>
            <a:endParaRPr lang="ar-SA" sz="2600" dirty="0"/>
          </a:p>
        </p:txBody>
      </p:sp>
      <p:sp>
        <p:nvSpPr>
          <p:cNvPr id="31" name="Text 28"/>
          <p:cNvSpPr txBox="1"/>
          <p:nvPr/>
        </p:nvSpPr>
        <p:spPr>
          <a:xfrm>
            <a:off x="566928" y="3054096"/>
            <a:ext cx="274320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dual · subject (-āni)</a:t>
            </a:r>
            <a:endParaRPr lang="en-US" sz="1100" dirty="0"/>
          </a:p>
        </p:txBody>
      </p:sp>
      <p:sp>
        <p:nvSpPr>
          <p:cNvPr id="32" name="Shape 29"/>
          <p:cNvSpPr/>
          <p:nvPr/>
        </p:nvSpPr>
        <p:spPr>
          <a:xfrm>
            <a:off x="11091672" y="3099816"/>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9981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5" name="Text 32"/>
          <p:cNvSpPr txBox="1"/>
          <p:nvPr/>
        </p:nvSpPr>
        <p:spPr>
          <a:xfrm>
            <a:off x="8979408" y="3840480"/>
            <a:ext cx="26791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two students</a:t>
            </a:r>
            <a:endParaRPr lang="en-US" sz="1100" dirty="0"/>
          </a:p>
        </p:txBody>
      </p:sp>
      <p:sp>
        <p:nvSpPr>
          <p:cNvPr id="36" name="Text 33"/>
          <p:cNvSpPr txBox="1"/>
          <p:nvPr/>
        </p:nvSpPr>
        <p:spPr>
          <a:xfrm>
            <a:off x="6217920" y="3840480"/>
            <a:ext cx="2560320" cy="731520"/>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ea typeface="Amiri" pitchFamily="2" charset="-78"/>
                <a:cs typeface="Amiri" pitchFamily="2" charset="-78"/>
              </a:rPr>
              <a:t>طَالِبَتَيْنِ</a:t>
            </a:r>
            <a:endParaRPr lang="ar-SA" sz="2600" dirty="0"/>
          </a:p>
        </p:txBody>
      </p:sp>
      <p:sp>
        <p:nvSpPr>
          <p:cNvPr id="37" name="Text 34"/>
          <p:cNvSpPr txBox="1"/>
          <p:nvPr/>
        </p:nvSpPr>
        <p:spPr>
          <a:xfrm>
            <a:off x="3474720" y="3840480"/>
            <a:ext cx="2560320" cy="731520"/>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ea typeface="Amiri" pitchFamily="2" charset="-78"/>
                <a:cs typeface="Amiri" pitchFamily="2" charset="-78"/>
              </a:rPr>
              <a:t>طَالِبَيْنِ</a:t>
            </a:r>
            <a:endParaRPr lang="ar-SA" sz="2600" dirty="0"/>
          </a:p>
        </p:txBody>
      </p:sp>
      <p:sp>
        <p:nvSpPr>
          <p:cNvPr id="38" name="Text 35"/>
          <p:cNvSpPr txBox="1"/>
          <p:nvPr/>
        </p:nvSpPr>
        <p:spPr>
          <a:xfrm>
            <a:off x="566928" y="3840480"/>
            <a:ext cx="274320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dual · after a trigger (-ayni)</a:t>
            </a:r>
            <a:endParaRPr lang="en-US" sz="1100" dirty="0"/>
          </a:p>
        </p:txBody>
      </p:sp>
      <p:sp>
        <p:nvSpPr>
          <p:cNvPr id="39" name="Shape 36"/>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40" name="Text 37"/>
          <p:cNvSpPr txBox="1"/>
          <p:nvPr/>
        </p:nvSpPr>
        <p:spPr>
          <a:xfrm>
            <a:off x="8979408" y="4626864"/>
            <a:ext cx="26791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three or more</a:t>
            </a:r>
            <a:endParaRPr lang="en-US" sz="1100" dirty="0"/>
          </a:p>
        </p:txBody>
      </p:sp>
      <p:sp>
        <p:nvSpPr>
          <p:cNvPr id="41" name="Text 38"/>
          <p:cNvSpPr txBox="1"/>
          <p:nvPr/>
        </p:nvSpPr>
        <p:spPr>
          <a:xfrm>
            <a:off x="6217920" y="4626864"/>
            <a:ext cx="2560320" cy="731520"/>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ea typeface="Amiri" pitchFamily="2" charset="-78"/>
                <a:cs typeface="Amiri" pitchFamily="2" charset="-78"/>
              </a:rPr>
              <a:t>طَالِبَاتٌ</a:t>
            </a:r>
            <a:endParaRPr lang="ar-SA" sz="2600" dirty="0"/>
          </a:p>
        </p:txBody>
      </p:sp>
      <p:sp>
        <p:nvSpPr>
          <p:cNvPr id="42" name="Text 39"/>
          <p:cNvSpPr txBox="1"/>
          <p:nvPr/>
        </p:nvSpPr>
        <p:spPr>
          <a:xfrm>
            <a:off x="3474720" y="4626864"/>
            <a:ext cx="2560320" cy="731520"/>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ea typeface="Amiri" pitchFamily="2" charset="-78"/>
                <a:cs typeface="Amiri" pitchFamily="2" charset="-78"/>
              </a:rPr>
              <a:t>طُلَّابٌ</a:t>
            </a:r>
            <a:endParaRPr lang="ar-SA" sz="2600" dirty="0"/>
          </a:p>
        </p:txBody>
      </p:sp>
      <p:sp>
        <p:nvSpPr>
          <p:cNvPr id="43" name="Text 40"/>
          <p:cNvSpPr txBox="1"/>
          <p:nvPr/>
        </p:nvSpPr>
        <p:spPr>
          <a:xfrm>
            <a:off x="566928" y="4626864"/>
            <a:ext cx="274320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plural</a:t>
            </a:r>
            <a:endParaRPr lang="en-US" sz="1100" dirty="0"/>
          </a:p>
        </p:txBody>
      </p:sp>
      <p:sp>
        <p:nvSpPr>
          <p:cNvPr id="44" name="Shape 41"/>
          <p:cNvSpPr/>
          <p:nvPr/>
        </p:nvSpPr>
        <p:spPr>
          <a:xfrm>
            <a:off x="11091672" y="4672584"/>
            <a:ext cx="548640" cy="182880"/>
          </a:xfrm>
          <a:prstGeom prst="roundRect">
            <a:avLst>
              <a:gd name="adj" fmla="val 50000"/>
            </a:avLst>
          </a:prstGeom>
          <a:solidFill>
            <a:srgbClr val="2E8B57"/>
          </a:solidFill>
          <a:ln w="12700">
            <a:solidFill>
              <a:srgbClr val="2E8B57"/>
            </a:solidFill>
            <a:prstDash val="solid"/>
          </a:ln>
        </p:spPr>
      </p:sp>
      <p:sp>
        <p:nvSpPr>
          <p:cNvPr id="45" name="Text 42"/>
          <p:cNvSpPr txBox="1"/>
          <p:nvPr/>
        </p:nvSpPr>
        <p:spPr>
          <a:xfrm>
            <a:off x="11091672" y="467258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6" name="Text 43"/>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The dual is not optional in standard Arabic (website): when the meaning is exactly two, use the dual.</a:t>
            </a:r>
            <a:endParaRPr lang="en-US" sz="1150" dirty="0"/>
          </a:p>
        </p:txBody>
      </p:sp>
      <p:sp>
        <p:nvSpPr>
          <p:cNvPr id="47" name="Text 4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35</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GM-N-02 · Nouns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GRAMMAR · PART 2 · BUILDING THE DUAL (WEBSITE SECTION)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Two? Add an ending</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بِنَاءُ الْمُثَنَّى</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Nouns · GM-N-02</a:t>
            </a:r>
            <a:endParaRPr lang="en-US" sz="850" dirty="0"/>
          </a:p>
        </p:txBody>
      </p:sp>
      <p:sp>
        <p:nvSpPr>
          <p:cNvPr id="15" name="Shape 12"/>
          <p:cNvSpPr/>
          <p:nvPr/>
        </p:nvSpPr>
        <p:spPr>
          <a:xfrm>
            <a:off x="457200" y="1810512"/>
            <a:ext cx="6172200" cy="3456432"/>
          </a:xfrm>
          <a:prstGeom prst="roundRect">
            <a:avLst>
              <a:gd name="adj" fmla="val 211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58368" y="1883664"/>
            <a:ext cx="580644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THE RULE, STEP BY STEP</a:t>
            </a:r>
            <a:endParaRPr lang="en-US" sz="1000" dirty="0"/>
          </a:p>
        </p:txBody>
      </p:sp>
      <p:sp>
        <p:nvSpPr>
          <p:cNvPr id="17" name="Shape 14"/>
          <p:cNvSpPr/>
          <p:nvPr/>
        </p:nvSpPr>
        <p:spPr>
          <a:xfrm>
            <a:off x="658368" y="2286000"/>
            <a:ext cx="310896" cy="310896"/>
          </a:xfrm>
          <a:prstGeom prst="ellipse">
            <a:avLst/>
          </a:prstGeom>
          <a:solidFill>
            <a:srgbClr val="1B3B6F"/>
          </a:solidFill>
          <a:ln w="12700">
            <a:solidFill>
              <a:srgbClr val="1B3B6F"/>
            </a:solidFill>
            <a:prstDash val="solid"/>
          </a:ln>
        </p:spPr>
      </p:sp>
      <p:sp>
        <p:nvSpPr>
          <p:cNvPr id="18" name="Text 15"/>
          <p:cNvSpPr txBox="1"/>
          <p:nvPr/>
        </p:nvSpPr>
        <p:spPr>
          <a:xfrm>
            <a:off x="658368" y="2286000"/>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1</a:t>
            </a:r>
            <a:endParaRPr lang="en-US" sz="1100" dirty="0"/>
          </a:p>
        </p:txBody>
      </p:sp>
      <p:sp>
        <p:nvSpPr>
          <p:cNvPr id="19" name="Text 16"/>
          <p:cNvSpPr txBox="1"/>
          <p:nvPr/>
        </p:nvSpPr>
        <p:spPr>
          <a:xfrm>
            <a:off x="1078992" y="2176272"/>
            <a:ext cx="5394960" cy="563270"/>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Take the singular and remove the tanwīn.</a:t>
            </a:r>
            <a:endParaRPr lang="en-US" sz="1300" dirty="0"/>
          </a:p>
        </p:txBody>
      </p:sp>
      <p:sp>
        <p:nvSpPr>
          <p:cNvPr id="20" name="Shape 17"/>
          <p:cNvSpPr/>
          <p:nvPr/>
        </p:nvSpPr>
        <p:spPr>
          <a:xfrm>
            <a:off x="658368" y="2885846"/>
            <a:ext cx="310896" cy="310896"/>
          </a:xfrm>
          <a:prstGeom prst="ellipse">
            <a:avLst/>
          </a:prstGeom>
          <a:solidFill>
            <a:srgbClr val="1B3B6F"/>
          </a:solidFill>
          <a:ln w="12700">
            <a:solidFill>
              <a:srgbClr val="1B3B6F"/>
            </a:solidFill>
            <a:prstDash val="solid"/>
          </a:ln>
        </p:spPr>
      </p:sp>
      <p:sp>
        <p:nvSpPr>
          <p:cNvPr id="21" name="Text 18"/>
          <p:cNvSpPr txBox="1"/>
          <p:nvPr/>
        </p:nvSpPr>
        <p:spPr>
          <a:xfrm>
            <a:off x="658368" y="2885846"/>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2</a:t>
            </a:r>
            <a:endParaRPr lang="en-US" sz="1100" dirty="0"/>
          </a:p>
        </p:txBody>
      </p:sp>
      <p:sp>
        <p:nvSpPr>
          <p:cNvPr id="22" name="Text 19"/>
          <p:cNvSpPr txBox="1"/>
          <p:nvPr/>
        </p:nvSpPr>
        <p:spPr>
          <a:xfrm>
            <a:off x="1078992" y="2776118"/>
            <a:ext cx="5394960" cy="563270"/>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Subject (nominative): add </a:t>
            </a:r>
            <a:pPr algn="l" indent="0" marL="0">
              <a:buNone/>
            </a:pPr>
            <a:r>
              <a:rPr lang="ar-SA" altLang="en-US" sz="1700" dirty="0">
                <a:solidFill>
                  <a:srgbClr val="1F2A37"/>
                </a:solidFill>
                <a:latin typeface="Amiri" pitchFamily="2" charset="-78"/>
                <a:ea typeface="Amiri" pitchFamily="2" charset="-78"/>
                <a:cs typeface="Amiri" pitchFamily="2" charset="-78"/>
              </a:rPr>
              <a:t>ـَانِ</a:t>
            </a:r>
            <a:pPr algn="l" indent="0" marL="0">
              <a:buNone/>
            </a:pPr>
            <a:r>
              <a:rPr lang="en-US" sz="1300" dirty="0">
                <a:solidFill>
                  <a:srgbClr val="1F2A37"/>
                </a:solidFill>
                <a:latin typeface="Calibri" pitchFamily="34" charset="0"/>
                <a:cs typeface="Amiri" pitchFamily="2" charset="-78"/>
              </a:rPr>
              <a:t> — two books.</a:t>
            </a:r>
            <a:endParaRPr lang="en-US" sz="1300" dirty="0"/>
          </a:p>
        </p:txBody>
      </p:sp>
      <p:sp>
        <p:nvSpPr>
          <p:cNvPr id="23" name="Shape 20"/>
          <p:cNvSpPr/>
          <p:nvPr/>
        </p:nvSpPr>
        <p:spPr>
          <a:xfrm>
            <a:off x="658368" y="3485693"/>
            <a:ext cx="310896" cy="310896"/>
          </a:xfrm>
          <a:prstGeom prst="ellipse">
            <a:avLst/>
          </a:prstGeom>
          <a:solidFill>
            <a:srgbClr val="1B3B6F"/>
          </a:solidFill>
          <a:ln w="12700">
            <a:solidFill>
              <a:srgbClr val="1B3B6F"/>
            </a:solidFill>
            <a:prstDash val="solid"/>
          </a:ln>
        </p:spPr>
      </p:sp>
      <p:sp>
        <p:nvSpPr>
          <p:cNvPr id="24" name="Text 21"/>
          <p:cNvSpPr txBox="1"/>
          <p:nvPr/>
        </p:nvSpPr>
        <p:spPr>
          <a:xfrm>
            <a:off x="658368" y="3485693"/>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3</a:t>
            </a:r>
            <a:endParaRPr lang="en-US" sz="1100" dirty="0"/>
          </a:p>
        </p:txBody>
      </p:sp>
      <p:sp>
        <p:nvSpPr>
          <p:cNvPr id="25" name="Text 22"/>
          <p:cNvSpPr txBox="1"/>
          <p:nvPr/>
        </p:nvSpPr>
        <p:spPr>
          <a:xfrm>
            <a:off x="1078992" y="3375965"/>
            <a:ext cx="5394960" cy="563270"/>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After a preposition (</a:t>
            </a:r>
            <a:pPr algn="l" indent="0" marL="0">
              <a:buNone/>
            </a:pPr>
            <a:r>
              <a:rPr lang="ar-SA" altLang="en-US" sz="1700" dirty="0">
                <a:solidFill>
                  <a:srgbClr val="1F2A37"/>
                </a:solidFill>
                <a:latin typeface="Amiri" pitchFamily="2" charset="-78"/>
                <a:ea typeface="Amiri" pitchFamily="2" charset="-78"/>
                <a:cs typeface="Amiri" pitchFamily="2" charset="-78"/>
              </a:rPr>
              <a:t>فِي</a:t>
            </a:r>
            <a:pPr algn="l" indent="0" marL="0">
              <a:buNone/>
            </a:pPr>
            <a:r>
              <a:rPr lang="en-US" sz="1300" dirty="0">
                <a:solidFill>
                  <a:srgbClr val="1F2A37"/>
                </a:solidFill>
                <a:latin typeface="Calibri" pitchFamily="34" charset="0"/>
                <a:cs typeface="Amiri" pitchFamily="2" charset="-78"/>
              </a:rPr>
              <a:t> · </a:t>
            </a:r>
            <a:pPr algn="l" indent="0" marL="0">
              <a:buNone/>
            </a:pPr>
            <a:r>
              <a:rPr lang="ar-SA" altLang="en-US" sz="1700" dirty="0">
                <a:solidFill>
                  <a:srgbClr val="1F2A37"/>
                </a:solidFill>
                <a:latin typeface="Amiri" pitchFamily="2" charset="-78"/>
                <a:ea typeface="Amiri" pitchFamily="2" charset="-78"/>
                <a:cs typeface="Amiri" pitchFamily="2" charset="-78"/>
              </a:rPr>
              <a:t>مِنْ</a:t>
            </a:r>
            <a:pPr algn="l" indent="0" marL="0">
              <a:buNone/>
            </a:pPr>
            <a:r>
              <a:rPr lang="en-US" sz="1300" dirty="0">
                <a:solidFill>
                  <a:srgbClr val="1F2A37"/>
                </a:solidFill>
                <a:latin typeface="Calibri" pitchFamily="34" charset="0"/>
                <a:cs typeface="Amiri" pitchFamily="2" charset="-78"/>
              </a:rPr>
              <a:t> · </a:t>
            </a:r>
            <a:pPr algn="l" indent="0" marL="0">
              <a:buNone/>
            </a:pPr>
            <a:r>
              <a:rPr lang="ar-SA" altLang="en-US" sz="1700" dirty="0">
                <a:solidFill>
                  <a:srgbClr val="1F2A37"/>
                </a:solidFill>
                <a:latin typeface="Amiri" pitchFamily="2" charset="-78"/>
                <a:ea typeface="Amiri" pitchFamily="2" charset="-78"/>
                <a:cs typeface="Amiri" pitchFamily="2" charset="-78"/>
              </a:rPr>
              <a:t>مَعَ</a:t>
            </a:r>
            <a:pPr algn="l" indent="0" marL="0">
              <a:buNone/>
            </a:pPr>
            <a:r>
              <a:rPr lang="en-US" sz="1300" dirty="0">
                <a:solidFill>
                  <a:srgbClr val="1F2A37"/>
                </a:solidFill>
                <a:latin typeface="Calibri" pitchFamily="34" charset="0"/>
                <a:cs typeface="Amiri" pitchFamily="2" charset="-78"/>
              </a:rPr>
              <a:t> …) or as an object: add </a:t>
            </a:r>
            <a:pPr algn="l" indent="0" marL="0">
              <a:buNone/>
            </a:pPr>
            <a:r>
              <a:rPr lang="ar-SA" altLang="en-US" sz="1700" dirty="0">
                <a:solidFill>
                  <a:srgbClr val="1F2A37"/>
                </a:solidFill>
                <a:latin typeface="Amiri" pitchFamily="2" charset="-78"/>
                <a:ea typeface="Amiri" pitchFamily="2" charset="-78"/>
                <a:cs typeface="Amiri" pitchFamily="2" charset="-78"/>
              </a:rPr>
              <a:t>ـَيْنِ</a:t>
            </a:r>
            <a:pPr algn="l" indent="0" marL="0">
              <a:buNone/>
            </a:pPr>
            <a:r>
              <a:rPr lang="en-US" sz="1300" dirty="0">
                <a:solidFill>
                  <a:srgbClr val="1F2A37"/>
                </a:solidFill>
                <a:latin typeface="Calibri" pitchFamily="34" charset="0"/>
                <a:cs typeface="Amiri" pitchFamily="2" charset="-78"/>
              </a:rPr>
              <a:t> instead.</a:t>
            </a:r>
            <a:endParaRPr lang="en-US" sz="1300" dirty="0"/>
          </a:p>
        </p:txBody>
      </p:sp>
      <p:sp>
        <p:nvSpPr>
          <p:cNvPr id="26" name="Shape 23"/>
          <p:cNvSpPr/>
          <p:nvPr/>
        </p:nvSpPr>
        <p:spPr>
          <a:xfrm>
            <a:off x="658368" y="4085539"/>
            <a:ext cx="310896" cy="310896"/>
          </a:xfrm>
          <a:prstGeom prst="ellipse">
            <a:avLst/>
          </a:prstGeom>
          <a:solidFill>
            <a:srgbClr val="1B3B6F"/>
          </a:solidFill>
          <a:ln w="12700">
            <a:solidFill>
              <a:srgbClr val="1B3B6F"/>
            </a:solidFill>
            <a:prstDash val="solid"/>
          </a:ln>
        </p:spPr>
      </p:sp>
      <p:sp>
        <p:nvSpPr>
          <p:cNvPr id="27" name="Text 24"/>
          <p:cNvSpPr txBox="1"/>
          <p:nvPr/>
        </p:nvSpPr>
        <p:spPr>
          <a:xfrm>
            <a:off x="658368" y="4085539"/>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4</a:t>
            </a:r>
            <a:endParaRPr lang="en-US" sz="1100" dirty="0"/>
          </a:p>
        </p:txBody>
      </p:sp>
      <p:sp>
        <p:nvSpPr>
          <p:cNvPr id="28" name="Text 25"/>
          <p:cNvSpPr txBox="1"/>
          <p:nvPr/>
        </p:nvSpPr>
        <p:spPr>
          <a:xfrm>
            <a:off x="1078992" y="3975811"/>
            <a:ext cx="5394960" cy="563270"/>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A noun ending in </a:t>
            </a:r>
            <a:pPr algn="l" indent="0" marL="0">
              <a:buNone/>
            </a:pPr>
            <a:r>
              <a:rPr lang="ar-SA" altLang="en-US" sz="1700" dirty="0">
                <a:solidFill>
                  <a:srgbClr val="1F2A37"/>
                </a:solidFill>
                <a:latin typeface="Amiri" pitchFamily="2" charset="-78"/>
                <a:ea typeface="Amiri" pitchFamily="2" charset="-78"/>
                <a:cs typeface="Amiri" pitchFamily="2" charset="-78"/>
              </a:rPr>
              <a:t>ة</a:t>
            </a:r>
            <a:pPr algn="l" indent="0" marL="0">
              <a:buNone/>
            </a:pPr>
            <a:r>
              <a:rPr lang="en-US" sz="1300" dirty="0">
                <a:solidFill>
                  <a:srgbClr val="1F2A37"/>
                </a:solidFill>
                <a:latin typeface="Calibri" pitchFamily="34" charset="0"/>
                <a:cs typeface="Amiri" pitchFamily="2" charset="-78"/>
              </a:rPr>
              <a:t>: the </a:t>
            </a:r>
            <a:pPr algn="l" indent="0" marL="0">
              <a:buNone/>
            </a:pPr>
            <a:r>
              <a:rPr lang="ar-SA" altLang="en-US" sz="1700" dirty="0">
                <a:solidFill>
                  <a:srgbClr val="1F2A37"/>
                </a:solidFill>
                <a:latin typeface="Amiri" pitchFamily="2" charset="-78"/>
                <a:ea typeface="Amiri" pitchFamily="2" charset="-78"/>
                <a:cs typeface="Amiri" pitchFamily="2" charset="-78"/>
              </a:rPr>
              <a:t>ة</a:t>
            </a:r>
            <a:pPr algn="l" indent="0" marL="0">
              <a:buNone/>
            </a:pPr>
            <a:r>
              <a:rPr lang="en-US" sz="1300" dirty="0">
                <a:solidFill>
                  <a:srgbClr val="1F2A37"/>
                </a:solidFill>
                <a:latin typeface="Calibri" pitchFamily="34" charset="0"/>
                <a:cs typeface="Amiri" pitchFamily="2" charset="-78"/>
              </a:rPr>
              <a:t> opens to </a:t>
            </a:r>
            <a:pPr algn="l" indent="0" marL="0">
              <a:buNone/>
            </a:pPr>
            <a:r>
              <a:rPr lang="ar-SA" altLang="en-US" sz="1700" dirty="0">
                <a:solidFill>
                  <a:srgbClr val="1F2A37"/>
                </a:solidFill>
                <a:latin typeface="Amiri" pitchFamily="2" charset="-78"/>
                <a:ea typeface="Amiri" pitchFamily="2" charset="-78"/>
                <a:cs typeface="Amiri" pitchFamily="2" charset="-78"/>
              </a:rPr>
              <a:t>ت</a:t>
            </a:r>
            <a:pPr algn="l" indent="0" marL="0">
              <a:buNone/>
            </a:pPr>
            <a:r>
              <a:rPr lang="en-US" sz="1300" dirty="0">
                <a:solidFill>
                  <a:srgbClr val="1F2A37"/>
                </a:solidFill>
                <a:latin typeface="Calibri" pitchFamily="34" charset="0"/>
                <a:cs typeface="Amiri" pitchFamily="2" charset="-78"/>
              </a:rPr>
              <a:t> before the ending — two schools.</a:t>
            </a:r>
            <a:endParaRPr lang="en-US" sz="1300" dirty="0"/>
          </a:p>
        </p:txBody>
      </p:sp>
      <p:sp>
        <p:nvSpPr>
          <p:cNvPr id="29" name="Shape 26"/>
          <p:cNvSpPr/>
          <p:nvPr/>
        </p:nvSpPr>
        <p:spPr>
          <a:xfrm>
            <a:off x="658368" y="4685386"/>
            <a:ext cx="310896" cy="310896"/>
          </a:xfrm>
          <a:prstGeom prst="ellipse">
            <a:avLst/>
          </a:prstGeom>
          <a:solidFill>
            <a:srgbClr val="1B3B6F"/>
          </a:solidFill>
          <a:ln w="12700">
            <a:solidFill>
              <a:srgbClr val="1B3B6F"/>
            </a:solidFill>
            <a:prstDash val="solid"/>
          </a:ln>
        </p:spPr>
      </p:sp>
      <p:sp>
        <p:nvSpPr>
          <p:cNvPr id="30" name="Text 27"/>
          <p:cNvSpPr txBox="1"/>
          <p:nvPr/>
        </p:nvSpPr>
        <p:spPr>
          <a:xfrm>
            <a:off x="658368" y="4685386"/>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5</a:t>
            </a:r>
            <a:endParaRPr lang="en-US" sz="1100" dirty="0"/>
          </a:p>
        </p:txBody>
      </p:sp>
      <p:sp>
        <p:nvSpPr>
          <p:cNvPr id="31" name="Text 28"/>
          <p:cNvSpPr txBox="1"/>
          <p:nvPr/>
        </p:nvSpPr>
        <p:spPr>
          <a:xfrm>
            <a:off x="1078992" y="4575658"/>
            <a:ext cx="5394960" cy="563270"/>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Do NOT add a number word for two: the ending already says “two”.</a:t>
            </a:r>
            <a:endParaRPr lang="en-US" sz="1300" dirty="0"/>
          </a:p>
        </p:txBody>
      </p:sp>
      <p:sp>
        <p:nvSpPr>
          <p:cNvPr id="32" name="Shape 29"/>
          <p:cNvSpPr/>
          <p:nvPr/>
        </p:nvSpPr>
        <p:spPr>
          <a:xfrm>
            <a:off x="6812280" y="1810512"/>
            <a:ext cx="4919472" cy="3456432"/>
          </a:xfrm>
          <a:prstGeom prst="roundRect">
            <a:avLst>
              <a:gd name="adj" fmla="val 211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Text 30"/>
          <p:cNvSpPr txBox="1"/>
          <p:nvPr/>
        </p:nvSpPr>
        <p:spPr>
          <a:xfrm>
            <a:off x="6995160" y="1883664"/>
            <a:ext cx="4553712" cy="274320"/>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WORKED EXAMPLES</a:t>
            </a:r>
            <a:endParaRPr lang="en-US" sz="1000" dirty="0"/>
          </a:p>
        </p:txBody>
      </p:sp>
      <p:sp>
        <p:nvSpPr>
          <p:cNvPr id="34" name="Text 31"/>
          <p:cNvSpPr txBox="1"/>
          <p:nvPr/>
        </p:nvSpPr>
        <p:spPr>
          <a:xfrm>
            <a:off x="6949440" y="2194560"/>
            <a:ext cx="4645152" cy="425013"/>
          </a:xfrm>
          <a:prstGeom prst="rect">
            <a:avLst/>
          </a:prstGeom>
          <a:noFill/>
          <a:ln/>
        </p:spPr>
        <p:txBody>
          <a:bodyPr wrap="square" lIns="0" tIns="0" rIns="0" bIns="0" rtlCol="0" anchor="ctr"/>
          <a:lstStyle/>
          <a:p>
            <a:pPr rtl="1" algn="ctr" indent="0" marL="0">
              <a:buNone/>
            </a:pPr>
            <a:r>
              <a:rPr lang="ar-SA" altLang="en-US" sz="1950" b="1" dirty="0">
                <a:solidFill>
                  <a:srgbClr val="1B3B6F"/>
                </a:solidFill>
                <a:latin typeface="Amiri" pitchFamily="2" charset="-78"/>
                <a:ea typeface="Amiri" pitchFamily="2" charset="-78"/>
                <a:cs typeface="Amiri" pitchFamily="2" charset="-78"/>
              </a:rPr>
              <a:t>كِتَابٌ · كِتَابَانِ · كِتَابَيْنِ</a:t>
            </a:r>
            <a:endParaRPr lang="ar-SA" sz="1950" dirty="0"/>
          </a:p>
        </p:txBody>
      </p:sp>
      <p:sp>
        <p:nvSpPr>
          <p:cNvPr id="35" name="Text 32"/>
          <p:cNvSpPr txBox="1"/>
          <p:nvPr/>
        </p:nvSpPr>
        <p:spPr>
          <a:xfrm>
            <a:off x="6949440" y="2619573"/>
            <a:ext cx="4645152" cy="303581"/>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a book · two books (subject · after a trigger)</a:t>
            </a:r>
            <a:endParaRPr lang="en-US" sz="1100" dirty="0"/>
          </a:p>
        </p:txBody>
      </p:sp>
      <p:sp>
        <p:nvSpPr>
          <p:cNvPr id="36" name="Shape 33"/>
          <p:cNvSpPr/>
          <p:nvPr/>
        </p:nvSpPr>
        <p:spPr>
          <a:xfrm>
            <a:off x="6995160" y="2935224"/>
            <a:ext cx="4553712" cy="0"/>
          </a:xfrm>
          <a:prstGeom prst="line">
            <a:avLst/>
          </a:prstGeom>
          <a:noFill/>
          <a:ln w="9525">
            <a:solidFill>
              <a:srgbClr val="E4DCCB"/>
            </a:solidFill>
            <a:prstDash val="dash"/>
          </a:ln>
        </p:spPr>
      </p:sp>
      <p:sp>
        <p:nvSpPr>
          <p:cNvPr id="37" name="Text 34"/>
          <p:cNvSpPr txBox="1"/>
          <p:nvPr/>
        </p:nvSpPr>
        <p:spPr>
          <a:xfrm>
            <a:off x="6949440" y="2953512"/>
            <a:ext cx="4645152" cy="425013"/>
          </a:xfrm>
          <a:prstGeom prst="rect">
            <a:avLst/>
          </a:prstGeom>
          <a:noFill/>
          <a:ln/>
        </p:spPr>
        <p:txBody>
          <a:bodyPr wrap="square" lIns="0" tIns="0" rIns="0" bIns="0" rtlCol="0" anchor="ctr"/>
          <a:lstStyle/>
          <a:p>
            <a:pPr rtl="1" algn="ctr" indent="0" marL="0">
              <a:buNone/>
            </a:pPr>
            <a:r>
              <a:rPr lang="ar-SA" altLang="en-US" sz="1950" b="1" dirty="0">
                <a:solidFill>
                  <a:srgbClr val="1B3B6F"/>
                </a:solidFill>
                <a:latin typeface="Amiri" pitchFamily="2" charset="-78"/>
                <a:ea typeface="Amiri" pitchFamily="2" charset="-78"/>
                <a:cs typeface="Amiri" pitchFamily="2" charset="-78"/>
              </a:rPr>
              <a:t>مُعَلِّمٌ · مُعَلِّمَانِ · مُعَلِّمَيْنِ</a:t>
            </a:r>
            <a:endParaRPr lang="ar-SA" sz="1950" dirty="0"/>
          </a:p>
        </p:txBody>
      </p:sp>
      <p:sp>
        <p:nvSpPr>
          <p:cNvPr id="38" name="Text 35"/>
          <p:cNvSpPr txBox="1"/>
          <p:nvPr/>
        </p:nvSpPr>
        <p:spPr>
          <a:xfrm>
            <a:off x="6949440" y="3378525"/>
            <a:ext cx="4645152" cy="303581"/>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a teacher · two teachers</a:t>
            </a:r>
            <a:endParaRPr lang="en-US" sz="1100" dirty="0"/>
          </a:p>
        </p:txBody>
      </p:sp>
      <p:sp>
        <p:nvSpPr>
          <p:cNvPr id="39" name="Shape 36"/>
          <p:cNvSpPr/>
          <p:nvPr/>
        </p:nvSpPr>
        <p:spPr>
          <a:xfrm>
            <a:off x="6995160" y="3694176"/>
            <a:ext cx="4553712" cy="0"/>
          </a:xfrm>
          <a:prstGeom prst="line">
            <a:avLst/>
          </a:prstGeom>
          <a:noFill/>
          <a:ln w="9525">
            <a:solidFill>
              <a:srgbClr val="E4DCCB"/>
            </a:solidFill>
            <a:prstDash val="dash"/>
          </a:ln>
        </p:spPr>
      </p:sp>
      <p:sp>
        <p:nvSpPr>
          <p:cNvPr id="40" name="Text 37"/>
          <p:cNvSpPr txBox="1"/>
          <p:nvPr/>
        </p:nvSpPr>
        <p:spPr>
          <a:xfrm>
            <a:off x="6949440" y="3712464"/>
            <a:ext cx="4645152" cy="425013"/>
          </a:xfrm>
          <a:prstGeom prst="rect">
            <a:avLst/>
          </a:prstGeom>
          <a:noFill/>
          <a:ln/>
        </p:spPr>
        <p:txBody>
          <a:bodyPr wrap="square" lIns="0" tIns="0" rIns="0" bIns="0" rtlCol="0" anchor="ctr"/>
          <a:lstStyle/>
          <a:p>
            <a:pPr rtl="1" algn="ctr" indent="0" marL="0">
              <a:buNone/>
            </a:pPr>
            <a:r>
              <a:rPr lang="ar-SA" altLang="en-US" sz="1950" b="1" dirty="0">
                <a:solidFill>
                  <a:srgbClr val="1B3B6F"/>
                </a:solidFill>
                <a:latin typeface="Amiri" pitchFamily="2" charset="-78"/>
                <a:ea typeface="Amiri" pitchFamily="2" charset="-78"/>
                <a:cs typeface="Amiri" pitchFamily="2" charset="-78"/>
              </a:rPr>
              <a:t>مَدْرَسَةٌ · مَدْرَسَتَانِ · مَدْرَسَتَيْنِ</a:t>
            </a:r>
            <a:endParaRPr lang="ar-SA" sz="1950" dirty="0"/>
          </a:p>
        </p:txBody>
      </p:sp>
      <p:sp>
        <p:nvSpPr>
          <p:cNvPr id="41" name="Text 38"/>
          <p:cNvSpPr txBox="1"/>
          <p:nvPr/>
        </p:nvSpPr>
        <p:spPr>
          <a:xfrm>
            <a:off x="6949440" y="4137477"/>
            <a:ext cx="4645152" cy="303581"/>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a school · two schools  ·  </a:t>
            </a:r>
            <a:pPr algn="ctr" indent="0" marL="0">
              <a:buNone/>
            </a:pPr>
            <a:r>
              <a:rPr lang="ar-SA" altLang="en-US" sz="1450" dirty="0">
                <a:solidFill>
                  <a:srgbClr val="5A6472"/>
                </a:solidFill>
                <a:latin typeface="Amiri" pitchFamily="2" charset="-78"/>
                <a:ea typeface="Amiri" pitchFamily="2" charset="-78"/>
                <a:cs typeface="Amiri" pitchFamily="2" charset="-78"/>
              </a:rPr>
              <a:t>ة</a:t>
            </a:r>
            <a:pPr algn="ctr" indent="0" marL="0">
              <a:buNone/>
            </a:pPr>
            <a:r>
              <a:rPr lang="en-US" sz="1100" i="1" dirty="0">
                <a:solidFill>
                  <a:srgbClr val="5A6472"/>
                </a:solidFill>
                <a:latin typeface="Calibri" pitchFamily="34" charset="0"/>
                <a:cs typeface="Amiri" pitchFamily="2" charset="-78"/>
              </a:rPr>
              <a:t> → </a:t>
            </a:r>
            <a:pPr algn="ctr" indent="0" marL="0">
              <a:buNone/>
            </a:pPr>
            <a:r>
              <a:rPr lang="ar-SA" altLang="en-US" sz="1450" dirty="0">
                <a:solidFill>
                  <a:srgbClr val="5A6472"/>
                </a:solidFill>
                <a:latin typeface="Amiri" pitchFamily="2" charset="-78"/>
                <a:ea typeface="Amiri" pitchFamily="2" charset="-78"/>
                <a:cs typeface="Amiri" pitchFamily="2" charset="-78"/>
              </a:rPr>
              <a:t>ت</a:t>
            </a:r>
            <a:endParaRPr lang="en-US" sz="1100" dirty="0"/>
          </a:p>
        </p:txBody>
      </p:sp>
      <p:sp>
        <p:nvSpPr>
          <p:cNvPr id="42" name="Shape 39"/>
          <p:cNvSpPr/>
          <p:nvPr/>
        </p:nvSpPr>
        <p:spPr>
          <a:xfrm>
            <a:off x="6995160" y="4453128"/>
            <a:ext cx="4553712" cy="0"/>
          </a:xfrm>
          <a:prstGeom prst="line">
            <a:avLst/>
          </a:prstGeom>
          <a:noFill/>
          <a:ln w="9525">
            <a:solidFill>
              <a:srgbClr val="E4DCCB"/>
            </a:solidFill>
            <a:prstDash val="dash"/>
          </a:ln>
        </p:spPr>
      </p:sp>
      <p:sp>
        <p:nvSpPr>
          <p:cNvPr id="43" name="Text 40"/>
          <p:cNvSpPr txBox="1"/>
          <p:nvPr/>
        </p:nvSpPr>
        <p:spPr>
          <a:xfrm>
            <a:off x="6949440" y="4471416"/>
            <a:ext cx="4645152" cy="425013"/>
          </a:xfrm>
          <a:prstGeom prst="rect">
            <a:avLst/>
          </a:prstGeom>
          <a:noFill/>
          <a:ln/>
        </p:spPr>
        <p:txBody>
          <a:bodyPr wrap="square" lIns="0" tIns="0" rIns="0" bIns="0" rtlCol="0" anchor="ctr"/>
          <a:lstStyle/>
          <a:p>
            <a:pPr rtl="1" algn="ctr" indent="0" marL="0">
              <a:buNone/>
            </a:pPr>
            <a:r>
              <a:rPr lang="ar-SA" altLang="en-US" sz="1950" b="1" dirty="0">
                <a:solidFill>
                  <a:srgbClr val="1B3B6F"/>
                </a:solidFill>
                <a:latin typeface="Amiri" pitchFamily="2" charset="-78"/>
                <a:ea typeface="Amiri" pitchFamily="2" charset="-78"/>
                <a:cs typeface="Amiri" pitchFamily="2" charset="-78"/>
              </a:rPr>
              <a:t>فِي الْحَيِّ مَدْرَسَتَانِ.</a:t>
            </a:r>
            <a:endParaRPr lang="ar-SA" sz="1950" dirty="0"/>
          </a:p>
        </p:txBody>
      </p:sp>
      <p:sp>
        <p:nvSpPr>
          <p:cNvPr id="44" name="Text 41"/>
          <p:cNvSpPr txBox="1"/>
          <p:nvPr/>
        </p:nvSpPr>
        <p:spPr>
          <a:xfrm>
            <a:off x="6949440" y="4896429"/>
            <a:ext cx="4645152" cy="303581"/>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In the neighbourhood there are two schools.</a:t>
            </a:r>
            <a:endParaRPr lang="en-US" sz="1100" dirty="0"/>
          </a:p>
        </p:txBody>
      </p:sp>
      <p:sp>
        <p:nvSpPr>
          <p:cNvPr id="45" name="Shape 42"/>
          <p:cNvSpPr/>
          <p:nvPr/>
        </p:nvSpPr>
        <p:spPr>
          <a:xfrm>
            <a:off x="457200" y="5394960"/>
            <a:ext cx="11274552" cy="914400"/>
          </a:xfrm>
          <a:prstGeom prst="roundRect">
            <a:avLst>
              <a:gd name="adj" fmla="val 8000"/>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46" name="Text 43"/>
          <p:cNvSpPr txBox="1"/>
          <p:nvPr/>
        </p:nvSpPr>
        <p:spPr>
          <a:xfrm>
            <a:off x="658368" y="5468112"/>
            <a:ext cx="1920240" cy="768096"/>
          </a:xfrm>
          <a:prstGeom prst="rect">
            <a:avLst/>
          </a:prstGeom>
          <a:noFill/>
          <a:ln/>
        </p:spPr>
        <p:txBody>
          <a:bodyPr wrap="square" lIns="0" tIns="0" rIns="0" bIns="0" rtlCol="0" anchor="ctr"/>
          <a:lstStyle/>
          <a:p>
            <a:pPr algn="l" indent="0" marL="0">
              <a:buNone/>
            </a:pPr>
            <a:r>
              <a:rPr lang="en-US" sz="1100" b="1" spc="100" kern="0" dirty="0">
                <a:solidFill>
                  <a:srgbClr val="B83227"/>
                </a:solidFill>
                <a:latin typeface="Calibri" pitchFamily="34" charset="0"/>
                <a:cs typeface="Amiri" pitchFamily="2" charset="-78"/>
              </a:rPr>
              <a:t>WATCH OUT</a:t>
            </a:r>
            <a:endParaRPr lang="en-US" sz="1100" dirty="0"/>
          </a:p>
        </p:txBody>
      </p:sp>
      <p:sp>
        <p:nvSpPr>
          <p:cNvPr id="47" name="Text 44"/>
          <p:cNvSpPr txBox="1"/>
          <p:nvPr/>
        </p:nvSpPr>
        <p:spPr>
          <a:xfrm>
            <a:off x="2606040" y="5449824"/>
            <a:ext cx="89611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Website warning: do not use a numeral plus a plural for two. Prefer kitābāni, not ithnāni kutub.</a:t>
            </a:r>
            <a:endParaRPr lang="en-US" sz="1250" dirty="0"/>
          </a:p>
        </p:txBody>
      </p:sp>
      <p:sp>
        <p:nvSpPr>
          <p:cNvPr id="48"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35</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GM-N-02 · Nouns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GRAMMAR · PART 3 · -ĀNI OR -AYNI? · DEVELOP</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The position decides the ending</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ـَانِ أَمْ ـَيْنِ؟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Nouns · GM-N-02</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759952" y="1810512"/>
            <a:ext cx="28986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Ending</a:t>
            </a:r>
            <a:endParaRPr lang="en-US" sz="1100" dirty="0"/>
          </a:p>
        </p:txBody>
      </p:sp>
      <p:sp>
        <p:nvSpPr>
          <p:cNvPr id="17" name="Text 14"/>
          <p:cNvSpPr txBox="1"/>
          <p:nvPr/>
        </p:nvSpPr>
        <p:spPr>
          <a:xfrm>
            <a:off x="3639312" y="1810512"/>
            <a:ext cx="49743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Example</a:t>
            </a:r>
            <a:endParaRPr lang="en-US" sz="1100" dirty="0"/>
          </a:p>
        </p:txBody>
      </p:sp>
      <p:sp>
        <p:nvSpPr>
          <p:cNvPr id="18" name="Text 15"/>
          <p:cNvSpPr txBox="1"/>
          <p:nvPr/>
        </p:nvSpPr>
        <p:spPr>
          <a:xfrm>
            <a:off x="530352" y="1810512"/>
            <a:ext cx="29626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Position</a:t>
            </a:r>
            <a:endParaRPr lang="en-US" sz="1100" dirty="0"/>
          </a:p>
        </p:txBody>
      </p:sp>
      <p:sp>
        <p:nvSpPr>
          <p:cNvPr id="19" name="Shape 16"/>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0" name="Text 17"/>
          <p:cNvSpPr txBox="1"/>
          <p:nvPr/>
        </p:nvSpPr>
        <p:spPr>
          <a:xfrm>
            <a:off x="8796528" y="2267712"/>
            <a:ext cx="28620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-āni</a:t>
            </a:r>
            <a:endParaRPr lang="en-US" sz="1100" dirty="0"/>
          </a:p>
        </p:txBody>
      </p:sp>
      <p:sp>
        <p:nvSpPr>
          <p:cNvPr id="21" name="Text 18"/>
          <p:cNvSpPr txBox="1"/>
          <p:nvPr/>
        </p:nvSpPr>
        <p:spPr>
          <a:xfrm>
            <a:off x="3657600" y="2267712"/>
            <a:ext cx="493776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فِي الْفَصْلِ طَالِبَانِ جَدِيدَانِ.</a:t>
            </a:r>
            <a:endParaRPr lang="ar-SA" sz="2400" dirty="0"/>
          </a:p>
        </p:txBody>
      </p:sp>
      <p:sp>
        <p:nvSpPr>
          <p:cNvPr id="22" name="Text 19"/>
          <p:cNvSpPr txBox="1"/>
          <p:nvPr/>
        </p:nvSpPr>
        <p:spPr>
          <a:xfrm>
            <a:off x="566928" y="2267712"/>
            <a:ext cx="29260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subject</a:t>
            </a:r>
            <a:endParaRPr lang="en-US" sz="1100" dirty="0"/>
          </a:p>
        </p:txBody>
      </p:sp>
      <p:sp>
        <p:nvSpPr>
          <p:cNvPr id="23" name="Shape 20"/>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5" name="Shape 22"/>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6" name="Text 23"/>
          <p:cNvSpPr txBox="1"/>
          <p:nvPr/>
        </p:nvSpPr>
        <p:spPr>
          <a:xfrm>
            <a:off x="8796528" y="3004718"/>
            <a:ext cx="28620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-ayni</a:t>
            </a:r>
            <a:endParaRPr lang="en-US" sz="1100" dirty="0"/>
          </a:p>
        </p:txBody>
      </p:sp>
      <p:sp>
        <p:nvSpPr>
          <p:cNvPr id="27" name="Text 24"/>
          <p:cNvSpPr txBox="1"/>
          <p:nvPr/>
        </p:nvSpPr>
        <p:spPr>
          <a:xfrm>
            <a:off x="3657600" y="3004718"/>
            <a:ext cx="493776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ذَهَبْتُ مَعَ طَالِبَيْنِ.</a:t>
            </a:r>
            <a:endParaRPr lang="ar-SA" sz="2400" dirty="0"/>
          </a:p>
        </p:txBody>
      </p:sp>
      <p:sp>
        <p:nvSpPr>
          <p:cNvPr id="28" name="Text 25"/>
          <p:cNvSpPr txBox="1"/>
          <p:nvPr/>
        </p:nvSpPr>
        <p:spPr>
          <a:xfrm>
            <a:off x="566928" y="3004718"/>
            <a:ext cx="29260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after a preposition</a:t>
            </a:r>
            <a:endParaRPr lang="en-US" sz="1100" dirty="0"/>
          </a:p>
        </p:txBody>
      </p:sp>
      <p:sp>
        <p:nvSpPr>
          <p:cNvPr id="29" name="Shape 26"/>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1" name="Shape 28"/>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2" name="Text 29"/>
          <p:cNvSpPr txBox="1"/>
          <p:nvPr/>
        </p:nvSpPr>
        <p:spPr>
          <a:xfrm>
            <a:off x="8796528" y="3741725"/>
            <a:ext cx="28620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-ayni</a:t>
            </a:r>
            <a:endParaRPr lang="en-US" sz="1100" dirty="0"/>
          </a:p>
        </p:txBody>
      </p:sp>
      <p:sp>
        <p:nvSpPr>
          <p:cNvPr id="33" name="Text 30"/>
          <p:cNvSpPr txBox="1"/>
          <p:nvPr/>
        </p:nvSpPr>
        <p:spPr>
          <a:xfrm>
            <a:off x="3657600" y="3741725"/>
            <a:ext cx="493776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رَأَيْتُ بِنْتَيْنِ.</a:t>
            </a:r>
            <a:endParaRPr lang="ar-SA" sz="2400" dirty="0"/>
          </a:p>
        </p:txBody>
      </p:sp>
      <p:sp>
        <p:nvSpPr>
          <p:cNvPr id="34" name="Text 31"/>
          <p:cNvSpPr txBox="1"/>
          <p:nvPr/>
        </p:nvSpPr>
        <p:spPr>
          <a:xfrm>
            <a:off x="566928" y="3741725"/>
            <a:ext cx="29260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object of a verb</a:t>
            </a:r>
            <a:endParaRPr lang="en-US" sz="1100" dirty="0"/>
          </a:p>
        </p:txBody>
      </p:sp>
      <p:sp>
        <p:nvSpPr>
          <p:cNvPr id="35" name="Shape 32"/>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36" name="Text 33"/>
          <p:cNvSpPr txBox="1"/>
          <p:nvPr/>
        </p:nvSpPr>
        <p:spPr>
          <a:xfrm>
            <a:off x="8796528" y="4478731"/>
            <a:ext cx="28620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-ayni</a:t>
            </a:r>
            <a:endParaRPr lang="en-US" sz="1100" dirty="0"/>
          </a:p>
        </p:txBody>
      </p:sp>
      <p:sp>
        <p:nvSpPr>
          <p:cNvPr id="37" name="Text 34"/>
          <p:cNvSpPr txBox="1"/>
          <p:nvPr/>
        </p:nvSpPr>
        <p:spPr>
          <a:xfrm>
            <a:off x="3657600" y="4478731"/>
            <a:ext cx="493776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دَرَسْتُ فِي مَدْرَسَتَيْنِ.</a:t>
            </a:r>
            <a:endParaRPr lang="ar-SA" sz="2400" dirty="0"/>
          </a:p>
        </p:txBody>
      </p:sp>
      <p:sp>
        <p:nvSpPr>
          <p:cNvPr id="38" name="Text 35"/>
          <p:cNvSpPr txBox="1"/>
          <p:nvPr/>
        </p:nvSpPr>
        <p:spPr>
          <a:xfrm>
            <a:off x="566928" y="4478731"/>
            <a:ext cx="29260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after </a:t>
            </a:r>
            <a:pPr algn="l" indent="0" marL="0">
              <a:buNone/>
            </a:pPr>
            <a:r>
              <a:rPr lang="ar-SA" altLang="en-US" sz="1450" dirty="0">
                <a:solidFill>
                  <a:srgbClr val="5A6472"/>
                </a:solidFill>
                <a:latin typeface="Amiri" pitchFamily="2" charset="-78"/>
                <a:ea typeface="Amiri" pitchFamily="2" charset="-78"/>
                <a:cs typeface="Amiri" pitchFamily="2" charset="-78"/>
              </a:rPr>
              <a:t>فِي</a:t>
            </a:r>
            <a:pPr algn="l" indent="0" marL="0">
              <a:buNone/>
            </a:pPr>
            <a:r>
              <a:rPr lang="en-US" sz="1100" dirty="0">
                <a:solidFill>
                  <a:srgbClr val="5A6472"/>
                </a:solidFill>
                <a:latin typeface="Calibri" pitchFamily="34" charset="0"/>
                <a:cs typeface="Amiri" pitchFamily="2" charset="-78"/>
              </a:rPr>
              <a:t> (feminine)</a:t>
            </a:r>
            <a:endParaRPr lang="en-US" sz="1100" dirty="0"/>
          </a:p>
        </p:txBody>
      </p:sp>
      <p:sp>
        <p:nvSpPr>
          <p:cNvPr id="39" name="Shape 36"/>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0" name="Text 37"/>
          <p:cNvSpPr txBox="1"/>
          <p:nvPr/>
        </p:nvSpPr>
        <p:spPr>
          <a:xfrm>
            <a:off x="8796528" y="5215738"/>
            <a:ext cx="28620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both -āni</a:t>
            </a:r>
            <a:endParaRPr lang="en-US" sz="1100" dirty="0"/>
          </a:p>
        </p:txBody>
      </p:sp>
      <p:sp>
        <p:nvSpPr>
          <p:cNvPr id="41" name="Text 38"/>
          <p:cNvSpPr txBox="1"/>
          <p:nvPr/>
        </p:nvSpPr>
        <p:spPr>
          <a:xfrm>
            <a:off x="3657600" y="5215738"/>
            <a:ext cx="493776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طَالِبَتَانِ مُجْتَهِدَتَانِ</a:t>
            </a:r>
            <a:endParaRPr lang="ar-SA" sz="2400" dirty="0"/>
          </a:p>
        </p:txBody>
      </p:sp>
      <p:sp>
        <p:nvSpPr>
          <p:cNvPr id="42" name="Text 39"/>
          <p:cNvSpPr txBox="1"/>
          <p:nvPr/>
        </p:nvSpPr>
        <p:spPr>
          <a:xfrm>
            <a:off x="566928" y="5215738"/>
            <a:ext cx="29260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adjective agrees (Stretch)</a:t>
            </a:r>
            <a:endParaRPr lang="en-US" sz="1100" dirty="0"/>
          </a:p>
        </p:txBody>
      </p:sp>
      <p:sp>
        <p:nvSpPr>
          <p:cNvPr id="43" name="Text 40"/>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The adjective of a dual noun is dual too — with the same ending.</a:t>
            </a:r>
            <a:endParaRPr lang="en-US" sz="115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35</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GM-N-02 · Nouns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B3B6F"/>
                </a:solidFill>
                <a:latin typeface="Calibri" pitchFamily="34" charset="0"/>
                <a:cs typeface="Amiri" pitchFamily="2" charset="-78"/>
              </a:rPr>
              <a:t>GRAMMAR · PART 4 · A FIRST LOOK AT THE PLURAL FAMILIES · PREVIEW</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00" b="1" dirty="0">
                <a:solidFill>
                  <a:srgbClr val="1B3B6F"/>
                </a:solidFill>
                <a:latin typeface="Cambria" pitchFamily="34" charset="0"/>
                <a:cs typeface="Amiri" pitchFamily="2" charset="-78"/>
              </a:rPr>
              <a:t>Three or more: three plural families</a:t>
            </a:r>
            <a:endParaRPr lang="en-US" sz="26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أَنْوَاعُ الْجَمْعِ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Nouns · GM-N-02</a:t>
            </a:r>
            <a:endParaRPr lang="en-US" sz="850" dirty="0"/>
          </a:p>
        </p:txBody>
      </p:sp>
      <p:sp>
        <p:nvSpPr>
          <p:cNvPr id="15" name="Shape 12"/>
          <p:cNvSpPr/>
          <p:nvPr/>
        </p:nvSpPr>
        <p:spPr>
          <a:xfrm>
            <a:off x="8095488" y="1810512"/>
            <a:ext cx="3636264" cy="4315968"/>
          </a:xfrm>
          <a:prstGeom prst="roundRect">
            <a:avLst>
              <a:gd name="adj" fmla="val 2012"/>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32648" y="1920240"/>
            <a:ext cx="1714500" cy="274320"/>
          </a:xfrm>
          <a:prstGeom prst="roundRect">
            <a:avLst>
              <a:gd name="adj" fmla="val 50000"/>
            </a:avLst>
          </a:prstGeom>
          <a:solidFill>
            <a:srgbClr val="1E6B52"/>
          </a:solidFill>
          <a:ln w="12700">
            <a:solidFill>
              <a:srgbClr val="1E6B52"/>
            </a:solidFill>
            <a:prstDash val="solid"/>
          </a:ln>
        </p:spPr>
      </p:sp>
      <p:sp>
        <p:nvSpPr>
          <p:cNvPr id="17" name="Text 14"/>
          <p:cNvSpPr txBox="1"/>
          <p:nvPr/>
        </p:nvSpPr>
        <p:spPr>
          <a:xfrm>
            <a:off x="8232648" y="1920240"/>
            <a:ext cx="17145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SOUND MASC. · GM-N-03</a:t>
            </a:r>
            <a:endParaRPr lang="en-US" sz="850" dirty="0"/>
          </a:p>
        </p:txBody>
      </p:sp>
      <p:sp>
        <p:nvSpPr>
          <p:cNvPr id="18" name="Text 15"/>
          <p:cNvSpPr txBox="1"/>
          <p:nvPr/>
        </p:nvSpPr>
        <p:spPr>
          <a:xfrm>
            <a:off x="9992868" y="1874520"/>
            <a:ext cx="160172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ea typeface="Amiri" pitchFamily="2" charset="-78"/>
                <a:cs typeface="Amiri" pitchFamily="2" charset="-78"/>
              </a:rPr>
              <a:t>ـُونَ / ـِينَ</a:t>
            </a:r>
            <a:endParaRPr lang="ar-SA" sz="1600" dirty="0"/>
          </a:p>
        </p:txBody>
      </p:sp>
      <p:sp>
        <p:nvSpPr>
          <p:cNvPr id="19" name="Text 16"/>
          <p:cNvSpPr txBox="1"/>
          <p:nvPr/>
        </p:nvSpPr>
        <p:spPr>
          <a:xfrm>
            <a:off x="8232648" y="2286000"/>
            <a:ext cx="3361944" cy="1097280"/>
          </a:xfrm>
          <a:prstGeom prst="rect">
            <a:avLst/>
          </a:prstGeom>
          <a:noFill/>
          <a:ln/>
        </p:spPr>
        <p:txBody>
          <a:bodyPr wrap="square" lIns="0" tIns="0" rIns="0" bIns="0" rtlCol="0" anchor="ctr"/>
          <a:lstStyle/>
          <a:p>
            <a:pPr rtl="1" algn="ctr" indent="0" marL="0">
              <a:buNone/>
            </a:pPr>
            <a:r>
              <a:rPr lang="ar-SA" altLang="en-US" sz="3200" b="1" dirty="0">
                <a:solidFill>
                  <a:srgbClr val="1B3B6F"/>
                </a:solidFill>
                <a:latin typeface="Amiri" pitchFamily="2" charset="-78"/>
                <a:ea typeface="Amiri" pitchFamily="2" charset="-78"/>
                <a:cs typeface="Amiri" pitchFamily="2" charset="-78"/>
              </a:rPr>
              <a:t>مُعَلِّمُونَ</a:t>
            </a:r>
            <a:endParaRPr lang="ar-SA" sz="3200" dirty="0"/>
          </a:p>
        </p:txBody>
      </p:sp>
      <p:sp>
        <p:nvSpPr>
          <p:cNvPr id="20" name="Text 17"/>
          <p:cNvSpPr txBox="1"/>
          <p:nvPr/>
        </p:nvSpPr>
        <p:spPr>
          <a:xfrm>
            <a:off x="8232648"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teachers (male / mixed)</a:t>
            </a:r>
            <a:endParaRPr lang="en-US" sz="1200" dirty="0"/>
          </a:p>
        </p:txBody>
      </p:sp>
      <p:sp>
        <p:nvSpPr>
          <p:cNvPr id="21" name="Shape 18"/>
          <p:cNvSpPr/>
          <p:nvPr/>
        </p:nvSpPr>
        <p:spPr>
          <a:xfrm>
            <a:off x="8205216" y="5212080"/>
            <a:ext cx="3416808" cy="804672"/>
          </a:xfrm>
          <a:prstGeom prst="roundRect">
            <a:avLst>
              <a:gd name="adj" fmla="val 5682"/>
            </a:avLst>
          </a:prstGeom>
          <a:solidFill>
            <a:srgbClr val="FFF4E0"/>
          </a:solidFill>
          <a:ln w="9525">
            <a:solidFill>
              <a:srgbClr val="FFF4E0"/>
            </a:solidFill>
            <a:prstDash val="solid"/>
          </a:ln>
        </p:spPr>
      </p:sp>
      <p:sp>
        <p:nvSpPr>
          <p:cNvPr id="22" name="Text 19"/>
          <p:cNvSpPr txBox="1"/>
          <p:nvPr/>
        </p:nvSpPr>
        <p:spPr>
          <a:xfrm>
            <a:off x="8296656" y="5248656"/>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An ending is added; the word stays whole.</a:t>
            </a:r>
            <a:endParaRPr lang="en-US" sz="1100" dirty="0"/>
          </a:p>
        </p:txBody>
      </p:sp>
      <p:sp>
        <p:nvSpPr>
          <p:cNvPr id="23" name="Shape 20"/>
          <p:cNvSpPr/>
          <p:nvPr/>
        </p:nvSpPr>
        <p:spPr>
          <a:xfrm>
            <a:off x="4276344" y="1810512"/>
            <a:ext cx="3636264" cy="4315968"/>
          </a:xfrm>
          <a:prstGeom prst="roundRect">
            <a:avLst>
              <a:gd name="adj" fmla="val 2012"/>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13504" y="1920240"/>
            <a:ext cx="1645920" cy="274320"/>
          </a:xfrm>
          <a:prstGeom prst="roundRect">
            <a:avLst>
              <a:gd name="adj" fmla="val 50000"/>
            </a:avLst>
          </a:prstGeom>
          <a:solidFill>
            <a:srgbClr val="1D5FBF"/>
          </a:solidFill>
          <a:ln w="12700">
            <a:solidFill>
              <a:srgbClr val="1D5FBF"/>
            </a:solidFill>
            <a:prstDash val="solid"/>
          </a:ln>
        </p:spPr>
      </p:sp>
      <p:sp>
        <p:nvSpPr>
          <p:cNvPr id="25" name="Text 22"/>
          <p:cNvSpPr txBox="1"/>
          <p:nvPr/>
        </p:nvSpPr>
        <p:spPr>
          <a:xfrm>
            <a:off x="4413504" y="1920240"/>
            <a:ext cx="164592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SOUND FEM. · GM-N-04</a:t>
            </a:r>
            <a:endParaRPr lang="en-US" sz="850" dirty="0"/>
          </a:p>
        </p:txBody>
      </p:sp>
      <p:sp>
        <p:nvSpPr>
          <p:cNvPr id="26" name="Text 23"/>
          <p:cNvSpPr txBox="1"/>
          <p:nvPr/>
        </p:nvSpPr>
        <p:spPr>
          <a:xfrm>
            <a:off x="6105144" y="1874520"/>
            <a:ext cx="167030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ea typeface="Amiri" pitchFamily="2" charset="-78"/>
                <a:cs typeface="Amiri" pitchFamily="2" charset="-78"/>
              </a:rPr>
              <a:t>ـَاتٌ</a:t>
            </a:r>
            <a:endParaRPr lang="ar-SA" sz="1600" dirty="0"/>
          </a:p>
        </p:txBody>
      </p:sp>
      <p:sp>
        <p:nvSpPr>
          <p:cNvPr id="27" name="Text 24"/>
          <p:cNvSpPr txBox="1"/>
          <p:nvPr/>
        </p:nvSpPr>
        <p:spPr>
          <a:xfrm>
            <a:off x="4413504" y="2286000"/>
            <a:ext cx="3361944" cy="1097280"/>
          </a:xfrm>
          <a:prstGeom prst="rect">
            <a:avLst/>
          </a:prstGeom>
          <a:noFill/>
          <a:ln/>
        </p:spPr>
        <p:txBody>
          <a:bodyPr wrap="square" lIns="0" tIns="0" rIns="0" bIns="0" rtlCol="0" anchor="ctr"/>
          <a:lstStyle/>
          <a:p>
            <a:pPr rtl="1" algn="ctr" indent="0" marL="0">
              <a:buNone/>
            </a:pPr>
            <a:r>
              <a:rPr lang="ar-SA" altLang="en-US" sz="3200" b="1" dirty="0">
                <a:solidFill>
                  <a:srgbClr val="1B3B6F"/>
                </a:solidFill>
                <a:latin typeface="Amiri" pitchFamily="2" charset="-78"/>
                <a:ea typeface="Amiri" pitchFamily="2" charset="-78"/>
                <a:cs typeface="Amiri" pitchFamily="2" charset="-78"/>
              </a:rPr>
              <a:t>طَالِبَاتٌ</a:t>
            </a:r>
            <a:endParaRPr lang="ar-SA" sz="3200" dirty="0"/>
          </a:p>
        </p:txBody>
      </p:sp>
      <p:sp>
        <p:nvSpPr>
          <p:cNvPr id="28" name="Text 25"/>
          <p:cNvSpPr txBox="1"/>
          <p:nvPr/>
        </p:nvSpPr>
        <p:spPr>
          <a:xfrm>
            <a:off x="4413504"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female students</a:t>
            </a:r>
            <a:endParaRPr lang="en-US" sz="1200" dirty="0"/>
          </a:p>
        </p:txBody>
      </p:sp>
      <p:sp>
        <p:nvSpPr>
          <p:cNvPr id="29" name="Shape 26"/>
          <p:cNvSpPr/>
          <p:nvPr/>
        </p:nvSpPr>
        <p:spPr>
          <a:xfrm>
            <a:off x="4386072" y="5212080"/>
            <a:ext cx="3416808" cy="804672"/>
          </a:xfrm>
          <a:prstGeom prst="roundRect">
            <a:avLst>
              <a:gd name="adj" fmla="val 5682"/>
            </a:avLst>
          </a:prstGeom>
          <a:solidFill>
            <a:srgbClr val="FFF4E0"/>
          </a:solidFill>
          <a:ln w="9525">
            <a:solidFill>
              <a:srgbClr val="FFF4E0"/>
            </a:solidFill>
            <a:prstDash val="solid"/>
          </a:ln>
        </p:spPr>
      </p:sp>
      <p:sp>
        <p:nvSpPr>
          <p:cNvPr id="30" name="Text 27"/>
          <p:cNvSpPr txBox="1"/>
          <p:nvPr/>
        </p:nvSpPr>
        <p:spPr>
          <a:xfrm>
            <a:off x="4477512" y="5248656"/>
            <a:ext cx="3233928" cy="731520"/>
          </a:xfrm>
          <a:prstGeom prst="rect">
            <a:avLst/>
          </a:prstGeom>
          <a:noFill/>
          <a:ln/>
        </p:spPr>
        <p:txBody>
          <a:bodyPr wrap="square" lIns="0" tIns="0" rIns="0" bIns="0" rtlCol="0" anchor="ctr"/>
          <a:lstStyle/>
          <a:p>
            <a:pPr algn="l" indent="0" marL="0">
              <a:buNone/>
            </a:pPr>
            <a:r>
              <a:rPr lang="ar-SA" altLang="en-US" sz="1450" dirty="0">
                <a:solidFill>
                  <a:srgbClr val="1F2A37"/>
                </a:solidFill>
                <a:latin typeface="Amiri" pitchFamily="2" charset="-78"/>
                <a:ea typeface="Amiri" pitchFamily="2" charset="-78"/>
                <a:cs typeface="Amiri" pitchFamily="2" charset="-78"/>
              </a:rPr>
              <a:t>ة</a:t>
            </a:r>
            <a:pPr algn="l" indent="0" marL="0">
              <a:buNone/>
            </a:pPr>
            <a:r>
              <a:rPr lang="en-US" sz="1100" dirty="0">
                <a:solidFill>
                  <a:srgbClr val="1F2A37"/>
                </a:solidFill>
                <a:latin typeface="Calibri" pitchFamily="34" charset="0"/>
                <a:cs typeface="Amiri" pitchFamily="2" charset="-78"/>
              </a:rPr>
              <a:t> is replaced by </a:t>
            </a:r>
            <a:pPr algn="l" indent="0" marL="0">
              <a:buNone/>
            </a:pPr>
            <a:r>
              <a:rPr lang="ar-SA" altLang="en-US" sz="1450" dirty="0">
                <a:solidFill>
                  <a:srgbClr val="1F2A37"/>
                </a:solidFill>
                <a:latin typeface="Amiri" pitchFamily="2" charset="-78"/>
                <a:ea typeface="Amiri" pitchFamily="2" charset="-78"/>
                <a:cs typeface="Amiri" pitchFamily="2" charset="-78"/>
              </a:rPr>
              <a:t>ـَاتٌ</a:t>
            </a:r>
            <a:pPr algn="l" indent="0" marL="0">
              <a:buNone/>
            </a:pPr>
            <a:r>
              <a:rPr lang="en-US" sz="1100" dirty="0">
                <a:solidFill>
                  <a:srgbClr val="1F2A37"/>
                </a:solidFill>
                <a:latin typeface="Calibri" pitchFamily="34" charset="0"/>
                <a:cs typeface="Amiri" pitchFamily="2" charset="-78"/>
              </a:rPr>
              <a:t>.</a:t>
            </a:r>
            <a:endParaRPr lang="en-US" sz="1100" dirty="0"/>
          </a:p>
        </p:txBody>
      </p:sp>
      <p:sp>
        <p:nvSpPr>
          <p:cNvPr id="31" name="Shape 28"/>
          <p:cNvSpPr/>
          <p:nvPr/>
        </p:nvSpPr>
        <p:spPr>
          <a:xfrm>
            <a:off x="457200" y="1810512"/>
            <a:ext cx="3636264" cy="4315968"/>
          </a:xfrm>
          <a:prstGeom prst="roundRect">
            <a:avLst>
              <a:gd name="adj" fmla="val 2012"/>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94360" y="1920240"/>
            <a:ext cx="1371600" cy="274320"/>
          </a:xfrm>
          <a:prstGeom prst="roundRect">
            <a:avLst>
              <a:gd name="adj" fmla="val 50000"/>
            </a:avLst>
          </a:prstGeom>
          <a:solidFill>
            <a:srgbClr val="6B4C9A"/>
          </a:solidFill>
          <a:ln w="12700">
            <a:solidFill>
              <a:srgbClr val="6B4C9A"/>
            </a:solidFill>
            <a:prstDash val="solid"/>
          </a:ln>
        </p:spPr>
      </p:sp>
      <p:sp>
        <p:nvSpPr>
          <p:cNvPr id="33" name="Text 30"/>
          <p:cNvSpPr txBox="1"/>
          <p:nvPr/>
        </p:nvSpPr>
        <p:spPr>
          <a:xfrm>
            <a:off x="594360" y="1920240"/>
            <a:ext cx="13716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BROKEN · GM-N-05</a:t>
            </a:r>
            <a:endParaRPr lang="en-US" sz="850" dirty="0"/>
          </a:p>
        </p:txBody>
      </p:sp>
      <p:sp>
        <p:nvSpPr>
          <p:cNvPr id="34" name="Text 31"/>
          <p:cNvSpPr txBox="1"/>
          <p:nvPr/>
        </p:nvSpPr>
        <p:spPr>
          <a:xfrm>
            <a:off x="2011680" y="1874520"/>
            <a:ext cx="194462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ea typeface="Amiri" pitchFamily="2" charset="-78"/>
                <a:cs typeface="Amiri" pitchFamily="2" charset="-78"/>
              </a:rPr>
              <a:t>جَمْعُ التَّكْسِيرِ</a:t>
            </a:r>
            <a:endParaRPr lang="ar-SA" sz="1600" dirty="0"/>
          </a:p>
        </p:txBody>
      </p:sp>
      <p:sp>
        <p:nvSpPr>
          <p:cNvPr id="35" name="Text 32"/>
          <p:cNvSpPr txBox="1"/>
          <p:nvPr/>
        </p:nvSpPr>
        <p:spPr>
          <a:xfrm>
            <a:off x="594360" y="2286000"/>
            <a:ext cx="3361944" cy="1097280"/>
          </a:xfrm>
          <a:prstGeom prst="rect">
            <a:avLst/>
          </a:prstGeom>
          <a:noFill/>
          <a:ln/>
        </p:spPr>
        <p:txBody>
          <a:bodyPr wrap="square" lIns="0" tIns="0" rIns="0" bIns="0" rtlCol="0" anchor="ctr"/>
          <a:lstStyle/>
          <a:p>
            <a:pPr rtl="1" algn="ctr" indent="0" marL="0">
              <a:buNone/>
            </a:pPr>
            <a:r>
              <a:rPr lang="ar-SA" altLang="en-US" sz="3200" b="1" dirty="0">
                <a:solidFill>
                  <a:srgbClr val="1B3B6F"/>
                </a:solidFill>
                <a:latin typeface="Amiri" pitchFamily="2" charset="-78"/>
                <a:ea typeface="Amiri" pitchFamily="2" charset="-78"/>
                <a:cs typeface="Amiri" pitchFamily="2" charset="-78"/>
              </a:rPr>
              <a:t>كُتُبٌ · طُلَّابٌ</a:t>
            </a:r>
            <a:endParaRPr lang="ar-SA" sz="3200" dirty="0"/>
          </a:p>
        </p:txBody>
      </p:sp>
      <p:sp>
        <p:nvSpPr>
          <p:cNvPr id="36" name="Text 33"/>
          <p:cNvSpPr txBox="1"/>
          <p:nvPr/>
        </p:nvSpPr>
        <p:spPr>
          <a:xfrm>
            <a:off x="594360"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books · students</a:t>
            </a:r>
            <a:endParaRPr lang="en-US" sz="1200" dirty="0"/>
          </a:p>
        </p:txBody>
      </p:sp>
      <p:sp>
        <p:nvSpPr>
          <p:cNvPr id="37" name="Shape 34"/>
          <p:cNvSpPr/>
          <p:nvPr/>
        </p:nvSpPr>
        <p:spPr>
          <a:xfrm>
            <a:off x="566928" y="5212080"/>
            <a:ext cx="3416808" cy="804672"/>
          </a:xfrm>
          <a:prstGeom prst="roundRect">
            <a:avLst>
              <a:gd name="adj" fmla="val 5682"/>
            </a:avLst>
          </a:prstGeom>
          <a:solidFill>
            <a:srgbClr val="FFF4E0"/>
          </a:solidFill>
          <a:ln w="9525">
            <a:solidFill>
              <a:srgbClr val="FFF4E0"/>
            </a:solidFill>
            <a:prstDash val="solid"/>
          </a:ln>
        </p:spPr>
      </p:sp>
      <p:sp>
        <p:nvSpPr>
          <p:cNvPr id="38" name="Text 35"/>
          <p:cNvSpPr txBox="1"/>
          <p:nvPr/>
        </p:nvSpPr>
        <p:spPr>
          <a:xfrm>
            <a:off x="658368" y="5248656"/>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The inside of the word changes.</a:t>
            </a:r>
            <a:endParaRPr lang="en-US" sz="11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35</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GM-N-02 · Nouns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HINGE QUESTIONS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Quick check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فَحْصٌ سَرِيعٌ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Nouns · GM-N-02</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nominative “two teachers”.</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مُعَلِّمَيْنِ</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مُعَلِّمُونَ</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مُعَلِّمَانِ</a:t>
            </a:r>
            <a:endParaRPr lang="ar-SA" sz="2050" dirty="0"/>
          </a:p>
        </p:txBody>
      </p:sp>
      <p:sp>
        <p:nvSpPr>
          <p:cNvPr id="28" name="Shape 25"/>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6313932"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after </a:t>
            </a:r>
            <a:pPr algn="l" indent="0" marL="0">
              <a:buNone/>
            </a:pPr>
            <a:r>
              <a:rPr lang="ar-SA" altLang="en-US" sz="1650" b="1" dirty="0">
                <a:solidFill>
                  <a:srgbClr val="1B3B6F"/>
                </a:solidFill>
                <a:latin typeface="Amiri" pitchFamily="2" charset="-78"/>
                <a:ea typeface="Amiri" pitchFamily="2" charset="-78"/>
                <a:cs typeface="Amiri" pitchFamily="2" charset="-78"/>
              </a:rPr>
              <a:t>مَعَ</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32" name="Shape 29"/>
          <p:cNvSpPr/>
          <p:nvPr/>
        </p:nvSpPr>
        <p:spPr>
          <a:xfrm>
            <a:off x="6368796"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طَالِبَيْنِ</a:t>
            </a:r>
            <a:endParaRPr lang="ar-SA" sz="2050" dirty="0"/>
          </a:p>
        </p:txBody>
      </p:sp>
      <p:sp>
        <p:nvSpPr>
          <p:cNvPr id="35" name="Shape 32"/>
          <p:cNvSpPr/>
          <p:nvPr/>
        </p:nvSpPr>
        <p:spPr>
          <a:xfrm>
            <a:off x="6368796"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طَالِبَانِ</a:t>
            </a:r>
            <a:endParaRPr lang="ar-SA" sz="2050" dirty="0"/>
          </a:p>
        </p:txBody>
      </p:sp>
      <p:sp>
        <p:nvSpPr>
          <p:cNvPr id="38" name="Shape 35"/>
          <p:cNvSpPr/>
          <p:nvPr/>
        </p:nvSpPr>
        <p:spPr>
          <a:xfrm>
            <a:off x="6368796"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طُلَّابٌ</a:t>
            </a:r>
            <a:endParaRPr lang="ar-SA" sz="2050" dirty="0"/>
          </a:p>
        </p:txBody>
      </p:sp>
      <p:sp>
        <p:nvSpPr>
          <p:cNvPr id="41" name="Shape 38"/>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585216" y="4288536"/>
            <a:ext cx="310896" cy="310896"/>
          </a:xfrm>
          <a:prstGeom prst="ellipse">
            <a:avLst/>
          </a:prstGeom>
          <a:solidFill>
            <a:srgbClr val="1B3B6F"/>
          </a:solidFill>
          <a:ln w="12700">
            <a:solidFill>
              <a:srgbClr val="1B3B6F"/>
            </a:solidFill>
            <a:prstDash val="solid"/>
          </a:ln>
        </p:spPr>
      </p:sp>
      <p:sp>
        <p:nvSpPr>
          <p:cNvPr id="43" name="Text 40"/>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Dual of </a:t>
            </a:r>
            <a:pPr algn="l" indent="0" marL="0">
              <a:buNone/>
            </a:pPr>
            <a:r>
              <a:rPr lang="ar-SA" altLang="en-US" sz="1650" b="1" dirty="0">
                <a:solidFill>
                  <a:srgbClr val="1B3B6F"/>
                </a:solidFill>
                <a:latin typeface="Amiri" pitchFamily="2" charset="-78"/>
                <a:ea typeface="Amiri" pitchFamily="2" charset="-78"/>
                <a:cs typeface="Amiri" pitchFamily="2" charset="-78"/>
              </a:rPr>
              <a:t>سَيَّارَةٌ</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45" name="Shape 42"/>
          <p:cNvSpPr/>
          <p:nvPr/>
        </p:nvSpPr>
        <p:spPr>
          <a:xfrm>
            <a:off x="640080" y="4873752"/>
            <a:ext cx="256032" cy="256032"/>
          </a:xfrm>
          <a:prstGeom prst="ellipse">
            <a:avLst/>
          </a:prstGeom>
          <a:solidFill>
            <a:srgbClr val="F4F1EA"/>
          </a:solidFill>
          <a:ln w="12700">
            <a:solidFill>
              <a:srgbClr val="F4F1EA"/>
            </a:solidFill>
            <a:prstDash val="solid"/>
          </a:ln>
        </p:spPr>
      </p:sp>
      <p:sp>
        <p:nvSpPr>
          <p:cNvPr id="46" name="Text 43"/>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سَيَّارَانِ</a:t>
            </a:r>
            <a:endParaRPr lang="ar-SA" sz="2050" dirty="0"/>
          </a:p>
        </p:txBody>
      </p:sp>
      <p:sp>
        <p:nvSpPr>
          <p:cNvPr id="48" name="Shape 45"/>
          <p:cNvSpPr/>
          <p:nvPr/>
        </p:nvSpPr>
        <p:spPr>
          <a:xfrm>
            <a:off x="640080" y="5330952"/>
            <a:ext cx="256032" cy="256032"/>
          </a:xfrm>
          <a:prstGeom prst="ellipse">
            <a:avLst/>
          </a:prstGeom>
          <a:solidFill>
            <a:srgbClr val="F4F1EA"/>
          </a:solidFill>
          <a:ln w="12700">
            <a:solidFill>
              <a:srgbClr val="F4F1EA"/>
            </a:solidFill>
            <a:prstDash val="solid"/>
          </a:ln>
        </p:spPr>
      </p:sp>
      <p:sp>
        <p:nvSpPr>
          <p:cNvPr id="49" name="Text 46"/>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سَيَّارَتَانِ</a:t>
            </a:r>
            <a:endParaRPr lang="ar-SA" sz="2050" dirty="0"/>
          </a:p>
        </p:txBody>
      </p:sp>
      <p:sp>
        <p:nvSpPr>
          <p:cNvPr id="51" name="Shape 48"/>
          <p:cNvSpPr/>
          <p:nvPr/>
        </p:nvSpPr>
        <p:spPr>
          <a:xfrm>
            <a:off x="640080" y="5788152"/>
            <a:ext cx="256032" cy="256032"/>
          </a:xfrm>
          <a:prstGeom prst="ellipse">
            <a:avLst/>
          </a:prstGeom>
          <a:solidFill>
            <a:srgbClr val="F4F1EA"/>
          </a:solidFill>
          <a:ln w="12700">
            <a:solidFill>
              <a:srgbClr val="F4F1EA"/>
            </a:solidFill>
            <a:prstDash val="solid"/>
          </a:ln>
        </p:spPr>
      </p:sp>
      <p:sp>
        <p:nvSpPr>
          <p:cNvPr id="52" name="Text 49"/>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سَيَّارَاتٌ</a:t>
            </a:r>
            <a:endParaRPr lang="ar-SA" sz="2050" dirty="0"/>
          </a:p>
        </p:txBody>
      </p:sp>
      <p:sp>
        <p:nvSpPr>
          <p:cNvPr id="54" name="Shape 51"/>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6313932"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means three or more schools?</a:t>
            </a:r>
            <a:endParaRPr lang="en-US" sz="1250" dirty="0"/>
          </a:p>
        </p:txBody>
      </p:sp>
      <p:sp>
        <p:nvSpPr>
          <p:cNvPr id="58" name="Shape 55"/>
          <p:cNvSpPr/>
          <p:nvPr/>
        </p:nvSpPr>
        <p:spPr>
          <a:xfrm>
            <a:off x="6368796"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6697980"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مَدَارِسُ</a:t>
            </a:r>
            <a:endParaRPr lang="ar-SA" sz="2050" dirty="0"/>
          </a:p>
        </p:txBody>
      </p:sp>
      <p:sp>
        <p:nvSpPr>
          <p:cNvPr id="61" name="Shape 58"/>
          <p:cNvSpPr/>
          <p:nvPr/>
        </p:nvSpPr>
        <p:spPr>
          <a:xfrm>
            <a:off x="6368796"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6697980"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مَدْرَسَةٌ</a:t>
            </a:r>
            <a:endParaRPr lang="ar-SA" sz="2050" dirty="0"/>
          </a:p>
        </p:txBody>
      </p:sp>
      <p:sp>
        <p:nvSpPr>
          <p:cNvPr id="64" name="Shape 61"/>
          <p:cNvSpPr/>
          <p:nvPr/>
        </p:nvSpPr>
        <p:spPr>
          <a:xfrm>
            <a:off x="6368796"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6697980"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مَدْرَسَتَانِ</a:t>
            </a:r>
            <a:endParaRPr lang="ar-SA" sz="2050" dirty="0"/>
          </a:p>
        </p:txBody>
      </p:sp>
      <p:sp>
        <p:nvSpPr>
          <p:cNvPr id="67" name="Text 6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35</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GM-N-02 · Nouns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Nouns · GM-N-02</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nominative “two teachers”.</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مُعَلِّمَيْنِ</a:t>
            </a:r>
            <a:endParaRPr lang="ar-SA" sz="1700" dirty="0"/>
          </a:p>
        </p:txBody>
      </p:sp>
      <p:sp>
        <p:nvSpPr>
          <p:cNvPr id="22" name="Shape 19"/>
          <p:cNvSpPr/>
          <p:nvPr/>
        </p:nvSpPr>
        <p:spPr>
          <a:xfrm>
            <a:off x="640080" y="2862072"/>
            <a:ext cx="256032" cy="256032"/>
          </a:xfrm>
          <a:prstGeom prst="ellipse">
            <a:avLst/>
          </a:prstGeom>
          <a:solidFill>
            <a:srgbClr val="C9CED6"/>
          </a:solidFill>
          <a:ln w="12700">
            <a:solidFill>
              <a:srgbClr val="C9CED6"/>
            </a:solidFill>
            <a:prstDash val="solid"/>
          </a:ln>
        </p:spPr>
      </p:sp>
      <p:sp>
        <p:nvSpPr>
          <p:cNvPr id="23" name="Text 20"/>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مُعَلِّمُونَ</a:t>
            </a:r>
            <a:endParaRPr lang="ar-SA" sz="1700" dirty="0"/>
          </a:p>
        </p:txBody>
      </p:sp>
      <p:sp>
        <p:nvSpPr>
          <p:cNvPr id="25" name="Shape 22"/>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6" name="Shape 23"/>
          <p:cNvSpPr/>
          <p:nvPr/>
        </p:nvSpPr>
        <p:spPr>
          <a:xfrm>
            <a:off x="640080" y="3233928"/>
            <a:ext cx="256032" cy="256032"/>
          </a:xfrm>
          <a:prstGeom prst="ellipse">
            <a:avLst/>
          </a:prstGeom>
          <a:solidFill>
            <a:srgbClr val="2E8B57"/>
          </a:solidFill>
          <a:ln w="12700">
            <a:solidFill>
              <a:srgbClr val="2E8B57"/>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28" name="Text 25"/>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مُعَلِّمَانِ</a:t>
            </a:r>
            <a:endParaRPr lang="ar-SA" sz="1700" dirty="0"/>
          </a:p>
        </p:txBody>
      </p:sp>
      <p:sp>
        <p:nvSpPr>
          <p:cNvPr id="29" name="Text 26"/>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Dual subject.</a:t>
            </a:r>
            <a:endParaRPr lang="en-US" sz="1050" dirty="0"/>
          </a:p>
        </p:txBody>
      </p:sp>
      <p:sp>
        <p:nvSpPr>
          <p:cNvPr id="30" name="Shape 27"/>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313932"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after </a:t>
            </a:r>
            <a:pPr algn="l" indent="0" marL="0">
              <a:buNone/>
            </a:pPr>
            <a:r>
              <a:rPr lang="ar-SA" altLang="en-US" sz="1650" b="1" dirty="0">
                <a:solidFill>
                  <a:srgbClr val="1B3B6F"/>
                </a:solidFill>
                <a:latin typeface="Amiri" pitchFamily="2" charset="-78"/>
                <a:ea typeface="Amiri" pitchFamily="2" charset="-78"/>
                <a:cs typeface="Amiri" pitchFamily="2" charset="-78"/>
              </a:rPr>
              <a:t>مَعَ</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34" name="Shape 31"/>
          <p:cNvSpPr/>
          <p:nvPr/>
        </p:nvSpPr>
        <p:spPr>
          <a:xfrm>
            <a:off x="6277356" y="2453640"/>
            <a:ext cx="5362956"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6368796"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طَالِبَيْنِ</a:t>
            </a:r>
            <a:endParaRPr lang="ar-SA" sz="1700" dirty="0"/>
          </a:p>
        </p:txBody>
      </p:sp>
      <p:sp>
        <p:nvSpPr>
          <p:cNvPr id="38" name="Shape 35"/>
          <p:cNvSpPr/>
          <p:nvPr/>
        </p:nvSpPr>
        <p:spPr>
          <a:xfrm>
            <a:off x="6368796"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طَالِبَانِ</a:t>
            </a:r>
            <a:endParaRPr lang="ar-SA" sz="1700" dirty="0"/>
          </a:p>
        </p:txBody>
      </p:sp>
      <p:sp>
        <p:nvSpPr>
          <p:cNvPr id="41" name="Shape 38"/>
          <p:cNvSpPr/>
          <p:nvPr/>
        </p:nvSpPr>
        <p:spPr>
          <a:xfrm>
            <a:off x="6368796"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طُلَّابٌ</a:t>
            </a:r>
            <a:endParaRPr lang="ar-SA" sz="1700" dirty="0"/>
          </a:p>
        </p:txBody>
      </p:sp>
      <p:sp>
        <p:nvSpPr>
          <p:cNvPr id="44" name="Text 41"/>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Preposition triggers genitive.</a:t>
            </a:r>
            <a:endParaRPr lang="en-US" sz="1050" dirty="0"/>
          </a:p>
        </p:txBody>
      </p:sp>
      <p:sp>
        <p:nvSpPr>
          <p:cNvPr id="45" name="Shape 42"/>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585216" y="4288536"/>
            <a:ext cx="310896" cy="310896"/>
          </a:xfrm>
          <a:prstGeom prst="ellipse">
            <a:avLst/>
          </a:prstGeom>
          <a:solidFill>
            <a:srgbClr val="1B3B6F"/>
          </a:solidFill>
          <a:ln w="12700">
            <a:solidFill>
              <a:srgbClr val="1B3B6F"/>
            </a:solidFill>
            <a:prstDash val="solid"/>
          </a:ln>
        </p:spPr>
      </p:sp>
      <p:sp>
        <p:nvSpPr>
          <p:cNvPr id="47" name="Text 44"/>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Dual of </a:t>
            </a:r>
            <a:pPr algn="l" indent="0" marL="0">
              <a:buNone/>
            </a:pPr>
            <a:r>
              <a:rPr lang="ar-SA" altLang="en-US" sz="1650" b="1" dirty="0">
                <a:solidFill>
                  <a:srgbClr val="1B3B6F"/>
                </a:solidFill>
                <a:latin typeface="Amiri" pitchFamily="2" charset="-78"/>
                <a:ea typeface="Amiri" pitchFamily="2" charset="-78"/>
                <a:cs typeface="Amiri" pitchFamily="2" charset="-78"/>
              </a:rPr>
              <a:t>سَيَّارَةٌ</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49" name="Shape 46"/>
          <p:cNvSpPr/>
          <p:nvPr/>
        </p:nvSpPr>
        <p:spPr>
          <a:xfrm>
            <a:off x="640080" y="4831080"/>
            <a:ext cx="256032" cy="256032"/>
          </a:xfrm>
          <a:prstGeom prst="ellipse">
            <a:avLst/>
          </a:prstGeom>
          <a:solidFill>
            <a:srgbClr val="C9CED6"/>
          </a:solidFill>
          <a:ln w="12700">
            <a:solidFill>
              <a:srgbClr val="C9CED6"/>
            </a:solidFill>
            <a:prstDash val="solid"/>
          </a:ln>
        </p:spPr>
      </p:sp>
      <p:sp>
        <p:nvSpPr>
          <p:cNvPr id="50" name="Text 47"/>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سَيَّارَانِ</a:t>
            </a:r>
            <a:endParaRPr lang="ar-SA" sz="1700" dirty="0"/>
          </a:p>
        </p:txBody>
      </p:sp>
      <p:sp>
        <p:nvSpPr>
          <p:cNvPr id="52" name="Shape 49"/>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3" name="Shape 50"/>
          <p:cNvSpPr/>
          <p:nvPr/>
        </p:nvSpPr>
        <p:spPr>
          <a:xfrm>
            <a:off x="640080" y="5202936"/>
            <a:ext cx="256032" cy="256032"/>
          </a:xfrm>
          <a:prstGeom prst="ellipse">
            <a:avLst/>
          </a:prstGeom>
          <a:solidFill>
            <a:srgbClr val="2E8B57"/>
          </a:solidFill>
          <a:ln w="12700">
            <a:solidFill>
              <a:srgbClr val="2E8B57"/>
            </a:solidFill>
            <a:prstDash val="solid"/>
          </a:ln>
        </p:spPr>
      </p:sp>
      <p:sp>
        <p:nvSpPr>
          <p:cNvPr id="54" name="Text 51"/>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5" name="Text 52"/>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سَيَّارَتَانِ</a:t>
            </a:r>
            <a:endParaRPr lang="ar-SA" sz="1700" dirty="0"/>
          </a:p>
        </p:txBody>
      </p:sp>
      <p:sp>
        <p:nvSpPr>
          <p:cNvPr id="56" name="Shape 53"/>
          <p:cNvSpPr/>
          <p:nvPr/>
        </p:nvSpPr>
        <p:spPr>
          <a:xfrm>
            <a:off x="640080" y="5574792"/>
            <a:ext cx="256032" cy="256032"/>
          </a:xfrm>
          <a:prstGeom prst="ellipse">
            <a:avLst/>
          </a:prstGeom>
          <a:solidFill>
            <a:srgbClr val="C9CED6"/>
          </a:solidFill>
          <a:ln w="12700">
            <a:solidFill>
              <a:srgbClr val="C9CED6"/>
            </a:solidFill>
            <a:prstDash val="solid"/>
          </a:ln>
        </p:spPr>
      </p:sp>
      <p:sp>
        <p:nvSpPr>
          <p:cNvPr id="57" name="Text 54"/>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سَيَّارَاتٌ</a:t>
            </a:r>
            <a:endParaRPr lang="ar-SA" sz="1700" dirty="0"/>
          </a:p>
        </p:txBody>
      </p:sp>
      <p:sp>
        <p:nvSpPr>
          <p:cNvPr id="59" name="Text 56"/>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ة</a:t>
            </a:r>
            <a:pPr algn="l" indent="0" marL="0">
              <a:buNone/>
            </a:pPr>
            <a:r>
              <a:rPr lang="en-US" sz="1050" i="1" dirty="0">
                <a:solidFill>
                  <a:srgbClr val="8A6D1E"/>
                </a:solidFill>
                <a:latin typeface="Calibri" pitchFamily="34" charset="0"/>
                <a:cs typeface="Amiri" pitchFamily="2" charset="-78"/>
              </a:rPr>
              <a:t> becomes </a:t>
            </a:r>
            <a:pPr algn="l" indent="0" marL="0">
              <a:buNone/>
            </a:pPr>
            <a:r>
              <a:rPr lang="ar-SA" altLang="en-US" sz="1350" dirty="0">
                <a:solidFill>
                  <a:srgbClr val="8A6D1E"/>
                </a:solidFill>
                <a:latin typeface="Amiri" pitchFamily="2" charset="-78"/>
                <a:ea typeface="Amiri" pitchFamily="2" charset="-78"/>
                <a:cs typeface="Amiri" pitchFamily="2" charset="-78"/>
              </a:rPr>
              <a:t>ت</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60" name="Shape 57"/>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6313932"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means three or more schools?</a:t>
            </a:r>
            <a:endParaRPr lang="en-US" sz="1250" dirty="0"/>
          </a:p>
        </p:txBody>
      </p:sp>
      <p:sp>
        <p:nvSpPr>
          <p:cNvPr id="64" name="Shape 61"/>
          <p:cNvSpPr/>
          <p:nvPr/>
        </p:nvSpPr>
        <p:spPr>
          <a:xfrm>
            <a:off x="6277356" y="4794504"/>
            <a:ext cx="5362956" cy="347472"/>
          </a:xfrm>
          <a:prstGeom prst="roundRect">
            <a:avLst>
              <a:gd name="adj" fmla="val 15789"/>
            </a:avLst>
          </a:prstGeom>
          <a:solidFill>
            <a:srgbClr val="E6F4EC"/>
          </a:solidFill>
          <a:ln w="9525">
            <a:solidFill>
              <a:srgbClr val="2E8B57"/>
            </a:solidFill>
            <a:prstDash val="solid"/>
          </a:ln>
        </p:spPr>
      </p:sp>
      <p:sp>
        <p:nvSpPr>
          <p:cNvPr id="65" name="Shape 62"/>
          <p:cNvSpPr/>
          <p:nvPr/>
        </p:nvSpPr>
        <p:spPr>
          <a:xfrm>
            <a:off x="6368796" y="4831080"/>
            <a:ext cx="256032" cy="256032"/>
          </a:xfrm>
          <a:prstGeom prst="ellipse">
            <a:avLst/>
          </a:prstGeom>
          <a:solidFill>
            <a:srgbClr val="2E8B57"/>
          </a:solidFill>
          <a:ln w="12700">
            <a:solidFill>
              <a:srgbClr val="2E8B57"/>
            </a:solidFill>
            <a:prstDash val="solid"/>
          </a:ln>
        </p:spPr>
      </p:sp>
      <p:sp>
        <p:nvSpPr>
          <p:cNvPr id="66" name="Text 63"/>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7" name="Text 64"/>
          <p:cNvSpPr txBox="1"/>
          <p:nvPr/>
        </p:nvSpPr>
        <p:spPr>
          <a:xfrm>
            <a:off x="6697980" y="4773168"/>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مَدَارِسُ</a:t>
            </a:r>
            <a:endParaRPr lang="ar-SA" sz="1700" dirty="0"/>
          </a:p>
        </p:txBody>
      </p:sp>
      <p:sp>
        <p:nvSpPr>
          <p:cNvPr id="68" name="Shape 65"/>
          <p:cNvSpPr/>
          <p:nvPr/>
        </p:nvSpPr>
        <p:spPr>
          <a:xfrm>
            <a:off x="6368796" y="5202936"/>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7"/>
          <p:cNvSpPr txBox="1"/>
          <p:nvPr/>
        </p:nvSpPr>
        <p:spPr>
          <a:xfrm>
            <a:off x="6697980" y="514502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مَدْرَسَةٌ</a:t>
            </a:r>
            <a:endParaRPr lang="ar-SA" sz="1700" dirty="0"/>
          </a:p>
        </p:txBody>
      </p:sp>
      <p:sp>
        <p:nvSpPr>
          <p:cNvPr id="71" name="Shape 68"/>
          <p:cNvSpPr/>
          <p:nvPr/>
        </p:nvSpPr>
        <p:spPr>
          <a:xfrm>
            <a:off x="6368796"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6697980"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مَدْرَسَتَانِ</a:t>
            </a:r>
            <a:endParaRPr lang="ar-SA" sz="1700" dirty="0"/>
          </a:p>
        </p:txBody>
      </p:sp>
      <p:sp>
        <p:nvSpPr>
          <p:cNvPr id="74" name="Text 71"/>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Plural.</a:t>
            </a:r>
            <a:endParaRPr lang="en-US" sz="1050" dirty="0"/>
          </a:p>
        </p:txBody>
      </p:sp>
      <p:sp>
        <p:nvSpPr>
          <p:cNvPr id="75" name="Text 7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35</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GM-N-02 · Nouns</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WATCH, THEN COPY</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Watch me count: one, two, many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شَاهِدْ ثُمَّ 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Nouns · GM-N-02</a:t>
            </a:r>
            <a:endParaRPr lang="en-US" sz="850" dirty="0"/>
          </a:p>
        </p:txBody>
      </p:sp>
      <p:sp>
        <p:nvSpPr>
          <p:cNvPr id="15" name="Shape 12"/>
          <p:cNvSpPr/>
          <p:nvPr/>
        </p:nvSpPr>
        <p:spPr>
          <a:xfrm>
            <a:off x="9050274"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19688" y="1938528"/>
            <a:ext cx="384048" cy="384048"/>
          </a:xfrm>
          <a:prstGeom prst="ellipse">
            <a:avLst/>
          </a:prstGeom>
          <a:solidFill>
            <a:srgbClr val="6B4C9A"/>
          </a:solidFill>
          <a:ln w="12700">
            <a:solidFill>
              <a:srgbClr val="6B4C9A"/>
            </a:solidFill>
            <a:prstDash val="solid"/>
          </a:ln>
        </p:spPr>
      </p:sp>
      <p:sp>
        <p:nvSpPr>
          <p:cNvPr id="17" name="Text 14"/>
          <p:cNvSpPr txBox="1"/>
          <p:nvPr/>
        </p:nvSpPr>
        <p:spPr>
          <a:xfrm>
            <a:off x="11219688"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1</a:t>
            </a:r>
            <a:endParaRPr lang="en-US" sz="1400" dirty="0"/>
          </a:p>
        </p:txBody>
      </p:sp>
      <p:sp>
        <p:nvSpPr>
          <p:cNvPr id="18" name="Text 15"/>
          <p:cNvSpPr txBox="1"/>
          <p:nvPr/>
        </p:nvSpPr>
        <p:spPr>
          <a:xfrm>
            <a:off x="9187434"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One</a:t>
            </a:r>
            <a:endParaRPr lang="en-US" sz="1250" dirty="0"/>
          </a:p>
        </p:txBody>
      </p:sp>
      <p:sp>
        <p:nvSpPr>
          <p:cNvPr id="19" name="Text 16"/>
          <p:cNvSpPr txBox="1"/>
          <p:nvPr/>
        </p:nvSpPr>
        <p:spPr>
          <a:xfrm>
            <a:off x="9160002"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مَدْرَسَةٌ</a:t>
            </a:r>
            <a:endParaRPr lang="ar-SA" sz="2800" dirty="0"/>
          </a:p>
        </p:txBody>
      </p:sp>
      <p:sp>
        <p:nvSpPr>
          <p:cNvPr id="20" name="Text 17"/>
          <p:cNvSpPr txBox="1"/>
          <p:nvPr/>
        </p:nvSpPr>
        <p:spPr>
          <a:xfrm>
            <a:off x="9187434"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Singular, feminine.</a:t>
            </a:r>
            <a:endParaRPr lang="en-US" sz="1150" dirty="0"/>
          </a:p>
        </p:txBody>
      </p:sp>
      <p:sp>
        <p:nvSpPr>
          <p:cNvPr id="21" name="Text 18"/>
          <p:cNvSpPr txBox="1"/>
          <p:nvPr/>
        </p:nvSpPr>
        <p:spPr>
          <a:xfrm>
            <a:off x="8867394"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2" name="Shape 19"/>
          <p:cNvSpPr/>
          <p:nvPr/>
        </p:nvSpPr>
        <p:spPr>
          <a:xfrm>
            <a:off x="6185916"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8355330" y="1938528"/>
            <a:ext cx="384048" cy="384048"/>
          </a:xfrm>
          <a:prstGeom prst="ellipse">
            <a:avLst/>
          </a:prstGeom>
          <a:solidFill>
            <a:srgbClr val="6B4C9A"/>
          </a:solidFill>
          <a:ln w="12700">
            <a:solidFill>
              <a:srgbClr val="6B4C9A"/>
            </a:solidFill>
            <a:prstDash val="solid"/>
          </a:ln>
        </p:spPr>
      </p:sp>
      <p:sp>
        <p:nvSpPr>
          <p:cNvPr id="24" name="Text 21"/>
          <p:cNvSpPr txBox="1"/>
          <p:nvPr/>
        </p:nvSpPr>
        <p:spPr>
          <a:xfrm>
            <a:off x="8355330"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2</a:t>
            </a:r>
            <a:endParaRPr lang="en-US" sz="1400" dirty="0"/>
          </a:p>
        </p:txBody>
      </p:sp>
      <p:sp>
        <p:nvSpPr>
          <p:cNvPr id="25" name="Text 22"/>
          <p:cNvSpPr txBox="1"/>
          <p:nvPr/>
        </p:nvSpPr>
        <p:spPr>
          <a:xfrm>
            <a:off x="6323076"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Two (subject)</a:t>
            </a:r>
            <a:endParaRPr lang="en-US" sz="1250" dirty="0"/>
          </a:p>
        </p:txBody>
      </p:sp>
      <p:sp>
        <p:nvSpPr>
          <p:cNvPr id="26" name="Text 23"/>
          <p:cNvSpPr txBox="1"/>
          <p:nvPr/>
        </p:nvSpPr>
        <p:spPr>
          <a:xfrm>
            <a:off x="6295644"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مَدْرَسَتَانِ</a:t>
            </a:r>
            <a:endParaRPr lang="ar-SA" sz="2800" dirty="0"/>
          </a:p>
        </p:txBody>
      </p:sp>
      <p:sp>
        <p:nvSpPr>
          <p:cNvPr id="27" name="Text 24"/>
          <p:cNvSpPr txBox="1"/>
          <p:nvPr/>
        </p:nvSpPr>
        <p:spPr>
          <a:xfrm>
            <a:off x="6323076" y="3410712"/>
            <a:ext cx="2407158" cy="804672"/>
          </a:xfrm>
          <a:prstGeom prst="rect">
            <a:avLst/>
          </a:prstGeom>
          <a:noFill/>
          <a:ln/>
        </p:spPr>
        <p:txBody>
          <a:bodyPr wrap="square" lIns="0" tIns="0" rIns="0" bIns="0" rtlCol="0" anchor="ctr"/>
          <a:lstStyle/>
          <a:p>
            <a:pPr algn="l" indent="0" marL="0">
              <a:buNone/>
            </a:pPr>
            <a:r>
              <a:rPr lang="ar-SA" altLang="en-US" sz="1500" dirty="0">
                <a:solidFill>
                  <a:srgbClr val="1F2A37"/>
                </a:solidFill>
                <a:latin typeface="Amiri" pitchFamily="2" charset="-78"/>
                <a:ea typeface="Amiri" pitchFamily="2" charset="-78"/>
                <a:cs typeface="Amiri" pitchFamily="2" charset="-78"/>
              </a:rPr>
              <a:t>ة</a:t>
            </a:r>
            <a:pPr algn="l" indent="0" marL="0">
              <a:buNone/>
            </a:pPr>
            <a:r>
              <a:rPr lang="en-US" sz="1150" dirty="0">
                <a:solidFill>
                  <a:srgbClr val="1F2A37"/>
                </a:solidFill>
                <a:latin typeface="Calibri" pitchFamily="34" charset="0"/>
                <a:cs typeface="Amiri" pitchFamily="2" charset="-78"/>
              </a:rPr>
              <a:t> → </a:t>
            </a:r>
            <a:pPr algn="l" indent="0" marL="0">
              <a:buNone/>
            </a:pPr>
            <a:r>
              <a:rPr lang="ar-SA" altLang="en-US" sz="1500" dirty="0">
                <a:solidFill>
                  <a:srgbClr val="1F2A37"/>
                </a:solidFill>
                <a:latin typeface="Amiri" pitchFamily="2" charset="-78"/>
                <a:ea typeface="Amiri" pitchFamily="2" charset="-78"/>
                <a:cs typeface="Amiri" pitchFamily="2" charset="-78"/>
              </a:rPr>
              <a:t>ت</a:t>
            </a:r>
            <a:pPr algn="l" indent="0" marL="0">
              <a:buNone/>
            </a:pPr>
            <a:r>
              <a:rPr lang="en-US" sz="1150" dirty="0">
                <a:solidFill>
                  <a:srgbClr val="1F2A37"/>
                </a:solidFill>
                <a:latin typeface="Calibri" pitchFamily="34" charset="0"/>
                <a:cs typeface="Amiri" pitchFamily="2" charset="-78"/>
              </a:rPr>
              <a:t>, add -āni.</a:t>
            </a:r>
            <a:endParaRPr lang="en-US" sz="1150" dirty="0"/>
          </a:p>
        </p:txBody>
      </p:sp>
      <p:sp>
        <p:nvSpPr>
          <p:cNvPr id="28" name="Text 25"/>
          <p:cNvSpPr txBox="1"/>
          <p:nvPr/>
        </p:nvSpPr>
        <p:spPr>
          <a:xfrm>
            <a:off x="6003036"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9" name="Shape 26"/>
          <p:cNvSpPr/>
          <p:nvPr/>
        </p:nvSpPr>
        <p:spPr>
          <a:xfrm>
            <a:off x="3321558"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490972" y="1938528"/>
            <a:ext cx="384048" cy="384048"/>
          </a:xfrm>
          <a:prstGeom prst="ellipse">
            <a:avLst/>
          </a:prstGeom>
          <a:solidFill>
            <a:srgbClr val="6B4C9A"/>
          </a:solidFill>
          <a:ln w="12700">
            <a:solidFill>
              <a:srgbClr val="6B4C9A"/>
            </a:solidFill>
            <a:prstDash val="solid"/>
          </a:ln>
        </p:spPr>
      </p:sp>
      <p:sp>
        <p:nvSpPr>
          <p:cNvPr id="31" name="Text 28"/>
          <p:cNvSpPr txBox="1"/>
          <p:nvPr/>
        </p:nvSpPr>
        <p:spPr>
          <a:xfrm>
            <a:off x="5490972"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3</a:t>
            </a:r>
            <a:endParaRPr lang="en-US" sz="1400" dirty="0"/>
          </a:p>
        </p:txBody>
      </p:sp>
      <p:sp>
        <p:nvSpPr>
          <p:cNvPr id="32" name="Text 29"/>
          <p:cNvSpPr txBox="1"/>
          <p:nvPr/>
        </p:nvSpPr>
        <p:spPr>
          <a:xfrm>
            <a:off x="3458718"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Two (after </a:t>
            </a:r>
            <a:pPr algn="l" indent="0" marL="0">
              <a:buNone/>
            </a:pPr>
            <a:r>
              <a:rPr lang="ar-SA" altLang="en-US" sz="1650" b="1" dirty="0">
                <a:solidFill>
                  <a:srgbClr val="6B4C9A"/>
                </a:solidFill>
                <a:latin typeface="Amiri" pitchFamily="2" charset="-78"/>
                <a:ea typeface="Amiri" pitchFamily="2" charset="-78"/>
                <a:cs typeface="Amiri" pitchFamily="2" charset="-78"/>
              </a:rPr>
              <a:t>فِي</a:t>
            </a:r>
            <a:pPr algn="l" indent="0" marL="0">
              <a:buNone/>
            </a:pPr>
            <a:r>
              <a:rPr lang="en-US" sz="1250" b="1" dirty="0">
                <a:solidFill>
                  <a:srgbClr val="6B4C9A"/>
                </a:solidFill>
                <a:latin typeface="Calibri" pitchFamily="34" charset="0"/>
                <a:cs typeface="Amiri" pitchFamily="2" charset="-78"/>
              </a:rPr>
              <a:t>)</a:t>
            </a:r>
            <a:endParaRPr lang="en-US" sz="1250" dirty="0"/>
          </a:p>
        </p:txBody>
      </p:sp>
      <p:sp>
        <p:nvSpPr>
          <p:cNvPr id="33" name="Text 30"/>
          <p:cNvSpPr txBox="1"/>
          <p:nvPr/>
        </p:nvSpPr>
        <p:spPr>
          <a:xfrm>
            <a:off x="3431286"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فِي مَدْرَسَتَيْنِ</a:t>
            </a:r>
            <a:endParaRPr lang="ar-SA" sz="2800" dirty="0"/>
          </a:p>
        </p:txBody>
      </p:sp>
      <p:sp>
        <p:nvSpPr>
          <p:cNvPr id="34" name="Text 31"/>
          <p:cNvSpPr txBox="1"/>
          <p:nvPr/>
        </p:nvSpPr>
        <p:spPr>
          <a:xfrm>
            <a:off x="3458718"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Preposition → -ayni.</a:t>
            </a:r>
            <a:endParaRPr lang="en-US" sz="1150" dirty="0"/>
          </a:p>
        </p:txBody>
      </p:sp>
      <p:sp>
        <p:nvSpPr>
          <p:cNvPr id="35" name="Text 32"/>
          <p:cNvSpPr txBox="1"/>
          <p:nvPr/>
        </p:nvSpPr>
        <p:spPr>
          <a:xfrm>
            <a:off x="3138678"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36" name="Shape 33"/>
          <p:cNvSpPr/>
          <p:nvPr/>
        </p:nvSpPr>
        <p:spPr>
          <a:xfrm>
            <a:off x="457200"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2626614" y="1938528"/>
            <a:ext cx="384048" cy="384048"/>
          </a:xfrm>
          <a:prstGeom prst="ellipse">
            <a:avLst/>
          </a:prstGeom>
          <a:solidFill>
            <a:srgbClr val="6B4C9A"/>
          </a:solidFill>
          <a:ln w="12700">
            <a:solidFill>
              <a:srgbClr val="6B4C9A"/>
            </a:solidFill>
            <a:prstDash val="solid"/>
          </a:ln>
        </p:spPr>
      </p:sp>
      <p:sp>
        <p:nvSpPr>
          <p:cNvPr id="38" name="Text 35"/>
          <p:cNvSpPr txBox="1"/>
          <p:nvPr/>
        </p:nvSpPr>
        <p:spPr>
          <a:xfrm>
            <a:off x="2626614"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4</a:t>
            </a:r>
            <a:endParaRPr lang="en-US" sz="1400" dirty="0"/>
          </a:p>
        </p:txBody>
      </p:sp>
      <p:sp>
        <p:nvSpPr>
          <p:cNvPr id="39" name="Text 36"/>
          <p:cNvSpPr txBox="1"/>
          <p:nvPr/>
        </p:nvSpPr>
        <p:spPr>
          <a:xfrm>
            <a:off x="594360"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Many</a:t>
            </a:r>
            <a:endParaRPr lang="en-US" sz="1250" dirty="0"/>
          </a:p>
        </p:txBody>
      </p:sp>
      <p:sp>
        <p:nvSpPr>
          <p:cNvPr id="40" name="Text 37"/>
          <p:cNvSpPr txBox="1"/>
          <p:nvPr/>
        </p:nvSpPr>
        <p:spPr>
          <a:xfrm>
            <a:off x="566928"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مَدَارِسُ</a:t>
            </a:r>
            <a:endParaRPr lang="ar-SA" sz="2800" dirty="0"/>
          </a:p>
        </p:txBody>
      </p:sp>
      <p:sp>
        <p:nvSpPr>
          <p:cNvPr id="41" name="Text 38"/>
          <p:cNvSpPr txBox="1"/>
          <p:nvPr/>
        </p:nvSpPr>
        <p:spPr>
          <a:xfrm>
            <a:off x="594360"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A broken plural.</a:t>
            </a:r>
            <a:endParaRPr lang="en-US" sz="1150" dirty="0"/>
          </a:p>
        </p:txBody>
      </p:sp>
      <p:sp>
        <p:nvSpPr>
          <p:cNvPr id="42" name="Shape 39"/>
          <p:cNvSpPr/>
          <p:nvPr/>
        </p:nvSpPr>
        <p:spPr>
          <a:xfrm>
            <a:off x="457200" y="4480560"/>
            <a:ext cx="11274552" cy="1828800"/>
          </a:xfrm>
          <a:prstGeom prst="roundRect">
            <a:avLst>
              <a:gd name="adj" fmla="val 4000"/>
            </a:avLst>
          </a:prstGeom>
          <a:solidFill>
            <a:srgbClr val="F1ECF8"/>
          </a:solidFill>
          <a:ln w="9525">
            <a:solidFill>
              <a:srgbClr val="CFC2E3"/>
            </a:solidFill>
            <a:prstDash val="solid"/>
          </a:ln>
          <a:effectLst>
            <a:outerShdw sx="100000" sy="100000" kx="0" ky="0" algn="bl" rotWithShape="0" blurRad="50800" dist="19050" dir="5400000">
              <a:srgbClr val="000000">
                <a:alpha val="10000"/>
              </a:srgbClr>
            </a:outerShdw>
          </a:effectLst>
        </p:spPr>
      </p:sp>
      <p:pic>
        <p:nvPicPr>
          <p:cNvPr id="43" name="Image 0" descr="preencoded.png">    </p:cNvPr>
          <p:cNvPicPr>
            <a:picLocks noChangeAspect="1"/>
          </p:cNvPicPr>
          <p:nvPr/>
        </p:nvPicPr>
        <p:blipFill>
          <a:blip r:embed="rId1"/>
          <a:stretch>
            <a:fillRect/>
          </a:stretch>
        </p:blipFill>
        <p:spPr>
          <a:xfrm>
            <a:off x="685800" y="4663440"/>
            <a:ext cx="457200" cy="457200"/>
          </a:xfrm>
          <a:prstGeom prst="rect">
            <a:avLst/>
          </a:prstGeom>
        </p:spPr>
      </p:pic>
      <p:sp>
        <p:nvSpPr>
          <p:cNvPr id="44" name="Text 40"/>
          <p:cNvSpPr txBox="1"/>
          <p:nvPr/>
        </p:nvSpPr>
        <p:spPr>
          <a:xfrm>
            <a:off x="1280160" y="4736592"/>
            <a:ext cx="3657600" cy="310896"/>
          </a:xfrm>
          <a:prstGeom prst="rect">
            <a:avLst/>
          </a:prstGeom>
          <a:noFill/>
          <a:ln/>
        </p:spPr>
        <p:txBody>
          <a:bodyPr wrap="square" lIns="0" tIns="0" rIns="0" bIns="0" rtlCol="0" anchor="ctr"/>
          <a:lstStyle/>
          <a:p>
            <a:pPr algn="l" indent="0" marL="0">
              <a:buNone/>
            </a:pPr>
            <a:r>
              <a:rPr lang="en-US" sz="1200" b="1" spc="200" kern="0" dirty="0">
                <a:solidFill>
                  <a:srgbClr val="6B4C9A"/>
                </a:solidFill>
                <a:latin typeface="Calibri" pitchFamily="34" charset="0"/>
                <a:cs typeface="Amiri" pitchFamily="2" charset="-78"/>
              </a:rPr>
              <a:t>COPY THIS INTO YOUR BOOK</a:t>
            </a:r>
            <a:endParaRPr lang="en-US" sz="1200" dirty="0"/>
          </a:p>
        </p:txBody>
      </p:sp>
      <p:sp>
        <p:nvSpPr>
          <p:cNvPr id="45" name="Shape 41"/>
          <p:cNvSpPr/>
          <p:nvPr/>
        </p:nvSpPr>
        <p:spPr>
          <a:xfrm>
            <a:off x="9528048" y="4736592"/>
            <a:ext cx="914400" cy="237744"/>
          </a:xfrm>
          <a:prstGeom prst="roundRect">
            <a:avLst>
              <a:gd name="adj" fmla="val 50000"/>
            </a:avLst>
          </a:prstGeom>
          <a:solidFill>
            <a:srgbClr val="0E7C86"/>
          </a:solidFill>
          <a:ln w="12700">
            <a:solidFill>
              <a:srgbClr val="0E7C86"/>
            </a:solidFill>
            <a:prstDash val="solid"/>
          </a:ln>
        </p:spPr>
      </p:sp>
      <p:sp>
        <p:nvSpPr>
          <p:cNvPr id="46" name="Text 42"/>
          <p:cNvSpPr txBox="1"/>
          <p:nvPr/>
        </p:nvSpPr>
        <p:spPr>
          <a:xfrm>
            <a:off x="9528048"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DUAL -āni</a:t>
            </a:r>
            <a:endParaRPr lang="en-US" sz="800" dirty="0"/>
          </a:p>
        </p:txBody>
      </p:sp>
      <p:sp>
        <p:nvSpPr>
          <p:cNvPr id="47" name="Shape 43"/>
          <p:cNvSpPr/>
          <p:nvPr/>
        </p:nvSpPr>
        <p:spPr>
          <a:xfrm>
            <a:off x="10515600" y="4736592"/>
            <a:ext cx="914400" cy="237744"/>
          </a:xfrm>
          <a:prstGeom prst="roundRect">
            <a:avLst>
              <a:gd name="adj" fmla="val 50000"/>
            </a:avLst>
          </a:prstGeom>
          <a:solidFill>
            <a:srgbClr val="D6336C"/>
          </a:solidFill>
          <a:ln w="12700">
            <a:solidFill>
              <a:srgbClr val="D6336C"/>
            </a:solidFill>
            <a:prstDash val="solid"/>
          </a:ln>
        </p:spPr>
      </p:sp>
      <p:sp>
        <p:nvSpPr>
          <p:cNvPr id="48" name="Text 44"/>
          <p:cNvSpPr txBox="1"/>
          <p:nvPr/>
        </p:nvSpPr>
        <p:spPr>
          <a:xfrm>
            <a:off x="10515600"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DUAL -ayni</a:t>
            </a:r>
            <a:endParaRPr lang="en-US" sz="800" dirty="0"/>
          </a:p>
        </p:txBody>
      </p:sp>
      <p:sp>
        <p:nvSpPr>
          <p:cNvPr id="49" name="Text 45"/>
          <p:cNvSpPr txBox="1"/>
          <p:nvPr/>
        </p:nvSpPr>
        <p:spPr>
          <a:xfrm>
            <a:off x="685800" y="5029200"/>
            <a:ext cx="10817352" cy="731520"/>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فِي حَيِّي </a:t>
            </a:r>
            <a:pPr rtl="1" algn="r" indent="0" marL="0">
              <a:buNone/>
            </a:pPr>
            <a:r>
              <a:rPr lang="ar-SA" altLang="en-US" sz="2600" b="1" dirty="0">
                <a:solidFill>
                  <a:srgbClr val="0E7C86"/>
                </a:solidFill>
                <a:latin typeface="Amiri" pitchFamily="2" charset="-78"/>
                <a:ea typeface="Amiri" pitchFamily="2" charset="-78"/>
                <a:cs typeface="Amiri" pitchFamily="2" charset="-78"/>
              </a:rPr>
              <a:t>مَدْرَسَتَانِ</a:t>
            </a:r>
            <a:pPr rtl="1" algn="r" indent="0" marL="0">
              <a:buNone/>
            </a:pPr>
            <a:r>
              <a:rPr lang="ar-SA" altLang="en-US" sz="2600" b="1" dirty="0">
                <a:solidFill>
                  <a:srgbClr val="1B3B6F"/>
                </a:solidFill>
                <a:latin typeface="Amiri" pitchFamily="2" charset="-78"/>
                <a:cs typeface="Amiri" pitchFamily="2" charset="-78"/>
              </a:rPr>
              <a:t> </a:t>
            </a:r>
            <a:pPr rtl="1" algn="r" indent="0" marL="0">
              <a:buNone/>
            </a:pPr>
            <a:r>
              <a:rPr lang="ar-SA" altLang="en-US" sz="2600" b="1" dirty="0">
                <a:solidFill>
                  <a:srgbClr val="0E7C86"/>
                </a:solidFill>
                <a:latin typeface="Amiri" pitchFamily="2" charset="-78"/>
                <a:ea typeface="Amiri" pitchFamily="2" charset="-78"/>
                <a:cs typeface="Amiri" pitchFamily="2" charset="-78"/>
              </a:rPr>
              <a:t>كَبِيرَتَانِ</a:t>
            </a:r>
            <a:pPr rtl="1" algn="r" indent="0" marL="0">
              <a:buNone/>
            </a:pPr>
            <a:r>
              <a:rPr lang="ar-SA" altLang="en-US" sz="2600" b="1" dirty="0">
                <a:solidFill>
                  <a:srgbClr val="1B3B6F"/>
                </a:solidFill>
                <a:latin typeface="Amiri" pitchFamily="2" charset="-78"/>
                <a:ea typeface="Amiri" pitchFamily="2" charset="-78"/>
                <a:cs typeface="Amiri" pitchFamily="2" charset="-78"/>
              </a:rPr>
              <a:t>، وَدَرَسْتُ فِي </a:t>
            </a:r>
            <a:pPr rtl="1" algn="r" indent="0" marL="0">
              <a:buNone/>
            </a:pPr>
            <a:r>
              <a:rPr lang="ar-SA" altLang="en-US" sz="2600" b="1" dirty="0">
                <a:solidFill>
                  <a:srgbClr val="D6336C"/>
                </a:solidFill>
                <a:latin typeface="Amiri" pitchFamily="2" charset="-78"/>
                <a:ea typeface="Amiri" pitchFamily="2" charset="-78"/>
                <a:cs typeface="Amiri" pitchFamily="2" charset="-78"/>
              </a:rPr>
              <a:t>مَدْرَسَتَيْنِ</a:t>
            </a:r>
            <a:pPr rtl="1" algn="r" indent="0" marL="0">
              <a:buNone/>
            </a:pPr>
            <a:r>
              <a:rPr lang="ar-SA" altLang="en-US" sz="2600" b="1" dirty="0">
                <a:solidFill>
                  <a:srgbClr val="1B3B6F"/>
                </a:solidFill>
                <a:latin typeface="Amiri" pitchFamily="2" charset="-78"/>
                <a:ea typeface="Amiri" pitchFamily="2" charset="-78"/>
                <a:cs typeface="Amiri" pitchFamily="2" charset="-78"/>
              </a:rPr>
              <a:t>. وَفِي الْمَدِينَةِ مَدَارِسُ كَثِيرَةٌ.</a:t>
            </a:r>
            <a:endParaRPr lang="ar-SA" sz="2600" dirty="0"/>
          </a:p>
        </p:txBody>
      </p:sp>
      <p:sp>
        <p:nvSpPr>
          <p:cNvPr id="50" name="Text 46"/>
          <p:cNvSpPr txBox="1"/>
          <p:nvPr/>
        </p:nvSpPr>
        <p:spPr>
          <a:xfrm>
            <a:off x="685800" y="5760720"/>
            <a:ext cx="10817352" cy="365760"/>
          </a:xfrm>
          <a:prstGeom prst="rect">
            <a:avLst/>
          </a:prstGeom>
          <a:noFill/>
          <a:ln/>
        </p:spPr>
        <p:txBody>
          <a:bodyPr wrap="square" lIns="0" tIns="0" rIns="0" bIns="0" rtlCol="0" anchor="ctr"/>
          <a:lstStyle/>
          <a:p>
            <a:pPr algn="r" indent="0" marL="0">
              <a:buNone/>
            </a:pPr>
            <a:r>
              <a:rPr lang="en-US" sz="1300" i="1" dirty="0">
                <a:solidFill>
                  <a:srgbClr val="5A6472"/>
                </a:solidFill>
                <a:latin typeface="Calibri" pitchFamily="34" charset="0"/>
                <a:cs typeface="Amiri" pitchFamily="2" charset="-78"/>
              </a:rPr>
              <a:t>In my neighbourhood there are two big schools, and I have studied in two schools. In the city there are many schools.</a:t>
            </a:r>
            <a:endParaRPr lang="en-US" sz="1300" dirty="0"/>
          </a:p>
        </p:txBody>
      </p:sp>
      <p:sp>
        <p:nvSpPr>
          <p:cNvPr id="51"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35</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GM-N-02 · Nouns</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MODEL SENTENCES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Sentences to borrow</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جُمَلٌ نَمُوذَجِيَّةٌ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Nouns · GM-N-02</a:t>
            </a:r>
            <a:endParaRPr lang="en-US" sz="850" dirty="0"/>
          </a:p>
        </p:txBody>
      </p:sp>
      <p:sp>
        <p:nvSpPr>
          <p:cNvPr id="15" name="Shape 12"/>
          <p:cNvSpPr/>
          <p:nvPr/>
        </p:nvSpPr>
        <p:spPr>
          <a:xfrm>
            <a:off x="457200" y="1810512"/>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01400" y="2123694"/>
            <a:ext cx="402336" cy="402336"/>
          </a:xfrm>
          <a:prstGeom prst="ellipse">
            <a:avLst/>
          </a:prstGeom>
          <a:solidFill>
            <a:srgbClr val="1B3B6F"/>
          </a:solidFill>
          <a:ln w="12700">
            <a:solidFill>
              <a:srgbClr val="1B3B6F"/>
            </a:solidFill>
            <a:prstDash val="solid"/>
          </a:ln>
        </p:spPr>
      </p:sp>
      <p:sp>
        <p:nvSpPr>
          <p:cNvPr id="17" name="Text 14"/>
          <p:cNvSpPr txBox="1"/>
          <p:nvPr/>
        </p:nvSpPr>
        <p:spPr>
          <a:xfrm>
            <a:off x="11201400" y="212369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572000" y="1847088"/>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فِي مَدْرَسَتِنَا طَالِبَانِ جَدِيدَانِ.</a:t>
            </a:r>
            <a:endParaRPr lang="ar-SA" sz="2600" dirty="0"/>
          </a:p>
        </p:txBody>
      </p:sp>
      <p:sp>
        <p:nvSpPr>
          <p:cNvPr id="19" name="Text 16"/>
          <p:cNvSpPr txBox="1"/>
          <p:nvPr/>
        </p:nvSpPr>
        <p:spPr>
          <a:xfrm>
            <a:off x="685800" y="1856232"/>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In our school there are two new students.</a:t>
            </a:r>
            <a:endParaRPr lang="en-US" sz="1250" dirty="0"/>
          </a:p>
          <a:p>
            <a:pPr indent="0" marL="0">
              <a:buNone/>
            </a:pPr>
            <a:r>
              <a:rPr lang="en-US" sz="1050" i="1" dirty="0">
                <a:solidFill>
                  <a:srgbClr val="8A6D1E"/>
                </a:solidFill>
                <a:latin typeface="Calibri" pitchFamily="34" charset="0"/>
                <a:cs typeface="Amiri" pitchFamily="2" charset="-78"/>
              </a:rPr>
              <a:t>Website text: dual noun + dual adjective.</a:t>
            </a:r>
            <a:endParaRPr lang="en-US" sz="1250" dirty="0"/>
          </a:p>
        </p:txBody>
      </p:sp>
      <p:sp>
        <p:nvSpPr>
          <p:cNvPr id="20" name="Shape 17"/>
          <p:cNvSpPr/>
          <p:nvPr/>
        </p:nvSpPr>
        <p:spPr>
          <a:xfrm>
            <a:off x="457200" y="2967228"/>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201400" y="3280410"/>
            <a:ext cx="402336" cy="402336"/>
          </a:xfrm>
          <a:prstGeom prst="ellipse">
            <a:avLst/>
          </a:prstGeom>
          <a:solidFill>
            <a:srgbClr val="1B3B6F"/>
          </a:solidFill>
          <a:ln w="12700">
            <a:solidFill>
              <a:srgbClr val="1B3B6F"/>
            </a:solidFill>
            <a:prstDash val="solid"/>
          </a:ln>
        </p:spPr>
      </p:sp>
      <p:sp>
        <p:nvSpPr>
          <p:cNvPr id="22" name="Text 19"/>
          <p:cNvSpPr txBox="1"/>
          <p:nvPr/>
        </p:nvSpPr>
        <p:spPr>
          <a:xfrm>
            <a:off x="11201400" y="3280410"/>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572000" y="3003804"/>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أَسْكُنُ مَعَ أُخْتَيْنِ.</a:t>
            </a:r>
            <a:endParaRPr lang="ar-SA" sz="2600" dirty="0"/>
          </a:p>
        </p:txBody>
      </p:sp>
      <p:sp>
        <p:nvSpPr>
          <p:cNvPr id="24" name="Text 21"/>
          <p:cNvSpPr txBox="1"/>
          <p:nvPr/>
        </p:nvSpPr>
        <p:spPr>
          <a:xfrm>
            <a:off x="685800" y="3012948"/>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I live with two sisters.</a:t>
            </a:r>
            <a:endParaRPr lang="en-US" sz="1250" dirty="0"/>
          </a:p>
          <a:p>
            <a:pPr indent="0" marL="0">
              <a:buNone/>
            </a:pPr>
            <a:r>
              <a:rPr lang="ar-SA" sz="1050" i="1" dirty="0">
                <a:solidFill>
                  <a:srgbClr val="8A6D1E"/>
                </a:solidFill>
                <a:latin typeface="Calibri" pitchFamily="34" charset="0"/>
                <a:ea typeface="Amiri" pitchFamily="2" charset="-78"/>
                <a:cs typeface="Amiri" pitchFamily="2" charset="-78"/>
              </a:rPr>
              <a:t>After مَعَ → -ayni.</a:t>
            </a:r>
            <a:endParaRPr lang="en-US" sz="1250" dirty="0"/>
          </a:p>
        </p:txBody>
      </p:sp>
      <p:sp>
        <p:nvSpPr>
          <p:cNvPr id="25" name="Shape 22"/>
          <p:cNvSpPr/>
          <p:nvPr/>
        </p:nvSpPr>
        <p:spPr>
          <a:xfrm>
            <a:off x="457200" y="4123944"/>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201400" y="4437126"/>
            <a:ext cx="402336" cy="402336"/>
          </a:xfrm>
          <a:prstGeom prst="ellipse">
            <a:avLst/>
          </a:prstGeom>
          <a:solidFill>
            <a:srgbClr val="1B3B6F"/>
          </a:solidFill>
          <a:ln w="12700">
            <a:solidFill>
              <a:srgbClr val="1B3B6F"/>
            </a:solidFill>
            <a:prstDash val="solid"/>
          </a:ln>
        </p:spPr>
      </p:sp>
      <p:sp>
        <p:nvSpPr>
          <p:cNvPr id="27" name="Text 24"/>
          <p:cNvSpPr txBox="1"/>
          <p:nvPr/>
        </p:nvSpPr>
        <p:spPr>
          <a:xfrm>
            <a:off x="11201400" y="443712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572000" y="4160520"/>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عِنْدِي كِتَابَانِ.</a:t>
            </a:r>
            <a:endParaRPr lang="ar-SA" sz="2600" dirty="0"/>
          </a:p>
        </p:txBody>
      </p:sp>
      <p:sp>
        <p:nvSpPr>
          <p:cNvPr id="29" name="Text 26"/>
          <p:cNvSpPr txBox="1"/>
          <p:nvPr/>
        </p:nvSpPr>
        <p:spPr>
          <a:xfrm>
            <a:off x="685800" y="4169664"/>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I have two books.</a:t>
            </a:r>
            <a:endParaRPr lang="en-US" sz="1250" dirty="0"/>
          </a:p>
          <a:p>
            <a:pPr indent="0" marL="0">
              <a:buNone/>
            </a:pPr>
            <a:r>
              <a:rPr lang="en-US" sz="1050" i="1" dirty="0">
                <a:solidFill>
                  <a:srgbClr val="8A6D1E"/>
                </a:solidFill>
                <a:latin typeface="Calibri" pitchFamily="34" charset="0"/>
                <a:cs typeface="Amiri" pitchFamily="2" charset="-78"/>
              </a:rPr>
              <a:t>No number word needed.</a:t>
            </a:r>
            <a:endParaRPr lang="en-US" sz="1250" dirty="0"/>
          </a:p>
        </p:txBody>
      </p:sp>
      <p:sp>
        <p:nvSpPr>
          <p:cNvPr id="30" name="Shape 27"/>
          <p:cNvSpPr/>
          <p:nvPr/>
        </p:nvSpPr>
        <p:spPr>
          <a:xfrm>
            <a:off x="457200" y="5280660"/>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11201400" y="5593842"/>
            <a:ext cx="402336" cy="402336"/>
          </a:xfrm>
          <a:prstGeom prst="ellipse">
            <a:avLst/>
          </a:prstGeom>
          <a:solidFill>
            <a:srgbClr val="1B3B6F"/>
          </a:solidFill>
          <a:ln w="12700">
            <a:solidFill>
              <a:srgbClr val="1B3B6F"/>
            </a:solidFill>
            <a:prstDash val="solid"/>
          </a:ln>
        </p:spPr>
      </p:sp>
      <p:sp>
        <p:nvSpPr>
          <p:cNvPr id="32" name="Text 29"/>
          <p:cNvSpPr txBox="1"/>
          <p:nvPr/>
        </p:nvSpPr>
        <p:spPr>
          <a:xfrm>
            <a:off x="11201400" y="5593842"/>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4</a:t>
            </a:r>
            <a:endParaRPr lang="en-US" sz="1300" dirty="0"/>
          </a:p>
        </p:txBody>
      </p:sp>
      <p:sp>
        <p:nvSpPr>
          <p:cNvPr id="33" name="Text 30"/>
          <p:cNvSpPr txBox="1"/>
          <p:nvPr/>
        </p:nvSpPr>
        <p:spPr>
          <a:xfrm>
            <a:off x="4572000" y="5317236"/>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رَأَيْتُ بِنْتَيْنِ فِي الْمَكْتَبَةِ.</a:t>
            </a:r>
            <a:endParaRPr lang="ar-SA" sz="2600" dirty="0"/>
          </a:p>
        </p:txBody>
      </p:sp>
      <p:sp>
        <p:nvSpPr>
          <p:cNvPr id="34" name="Text 31"/>
          <p:cNvSpPr txBox="1"/>
          <p:nvPr/>
        </p:nvSpPr>
        <p:spPr>
          <a:xfrm>
            <a:off x="685800" y="5326380"/>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I saw two girls in the library.</a:t>
            </a:r>
            <a:endParaRPr lang="en-US" sz="1250" dirty="0"/>
          </a:p>
          <a:p>
            <a:pPr indent="0" marL="0">
              <a:buNone/>
            </a:pPr>
            <a:r>
              <a:rPr lang="en-US" sz="1050" i="1" dirty="0">
                <a:solidFill>
                  <a:srgbClr val="8A6D1E"/>
                </a:solidFill>
                <a:latin typeface="Calibri" pitchFamily="34" charset="0"/>
                <a:cs typeface="Amiri" pitchFamily="2" charset="-78"/>
              </a:rPr>
              <a:t>Object → -ayni.</a:t>
            </a:r>
            <a:endParaRPr lang="en-US" sz="1250" dirty="0"/>
          </a:p>
        </p:txBody>
      </p:sp>
      <p:sp>
        <p:nvSpPr>
          <p:cNvPr id="35" name="Text 3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35</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GM-N-02 · Nouns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SORT IT · ONE, TWO OR MANY?</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Singular, dual or plural?</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صَنِّفْ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Nouns · GM-N-02</a:t>
            </a:r>
            <a:endParaRPr lang="en-US" sz="850" dirty="0"/>
          </a:p>
        </p:txBody>
      </p:sp>
      <p:sp>
        <p:nvSpPr>
          <p:cNvPr id="15" name="Shape 12"/>
          <p:cNvSpPr/>
          <p:nvPr/>
        </p:nvSpPr>
        <p:spPr>
          <a:xfrm>
            <a:off x="9015984"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9107424"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طَالِبٌ</a:t>
            </a:r>
            <a:endParaRPr lang="ar-SA" sz="1800" dirty="0"/>
          </a:p>
        </p:txBody>
      </p:sp>
      <p:sp>
        <p:nvSpPr>
          <p:cNvPr id="17" name="Shape 14"/>
          <p:cNvSpPr/>
          <p:nvPr/>
        </p:nvSpPr>
        <p:spPr>
          <a:xfrm>
            <a:off x="6163056"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254496"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طَالِبَانِ</a:t>
            </a:r>
            <a:endParaRPr lang="ar-SA" sz="1800" dirty="0"/>
          </a:p>
        </p:txBody>
      </p:sp>
      <p:sp>
        <p:nvSpPr>
          <p:cNvPr id="19" name="Shape 16"/>
          <p:cNvSpPr/>
          <p:nvPr/>
        </p:nvSpPr>
        <p:spPr>
          <a:xfrm>
            <a:off x="3310128"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3401568"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طُلَّابٌ</a:t>
            </a:r>
            <a:endParaRPr lang="ar-SA" sz="1800" dirty="0"/>
          </a:p>
        </p:txBody>
      </p:sp>
      <p:sp>
        <p:nvSpPr>
          <p:cNvPr id="21" name="Shape 18"/>
          <p:cNvSpPr/>
          <p:nvPr/>
        </p:nvSpPr>
        <p:spPr>
          <a:xfrm>
            <a:off x="457200"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548640"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غُرْفَةٌ</a:t>
            </a:r>
            <a:endParaRPr lang="ar-SA" sz="1800" dirty="0"/>
          </a:p>
        </p:txBody>
      </p:sp>
      <p:sp>
        <p:nvSpPr>
          <p:cNvPr id="23" name="Shape 20"/>
          <p:cNvSpPr/>
          <p:nvPr/>
        </p:nvSpPr>
        <p:spPr>
          <a:xfrm>
            <a:off x="9015984"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9107424"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غُرْفَتَيْنِ</a:t>
            </a:r>
            <a:endParaRPr lang="ar-SA" sz="1800" dirty="0"/>
          </a:p>
        </p:txBody>
      </p:sp>
      <p:sp>
        <p:nvSpPr>
          <p:cNvPr id="25" name="Shape 22"/>
          <p:cNvSpPr/>
          <p:nvPr/>
        </p:nvSpPr>
        <p:spPr>
          <a:xfrm>
            <a:off x="6163056"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254496"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غُرَفٌ</a:t>
            </a:r>
            <a:endParaRPr lang="ar-SA" sz="1800" dirty="0"/>
          </a:p>
        </p:txBody>
      </p:sp>
      <p:sp>
        <p:nvSpPr>
          <p:cNvPr id="27" name="Shape 24"/>
          <p:cNvSpPr/>
          <p:nvPr/>
        </p:nvSpPr>
        <p:spPr>
          <a:xfrm>
            <a:off x="3310128"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3401568"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مُعَلِّمٌ</a:t>
            </a:r>
            <a:endParaRPr lang="ar-SA" sz="1800" dirty="0"/>
          </a:p>
        </p:txBody>
      </p:sp>
      <p:sp>
        <p:nvSpPr>
          <p:cNvPr id="29" name="Shape 26"/>
          <p:cNvSpPr/>
          <p:nvPr/>
        </p:nvSpPr>
        <p:spPr>
          <a:xfrm>
            <a:off x="457200"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548640"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مُعَلِّمَانِ</a:t>
            </a:r>
            <a:endParaRPr lang="ar-SA" sz="1800" dirty="0"/>
          </a:p>
        </p:txBody>
      </p:sp>
      <p:sp>
        <p:nvSpPr>
          <p:cNvPr id="31" name="Shape 28"/>
          <p:cNvSpPr/>
          <p:nvPr/>
        </p:nvSpPr>
        <p:spPr>
          <a:xfrm>
            <a:off x="9015984" y="2834640"/>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32" name="Text 29"/>
          <p:cNvSpPr txBox="1"/>
          <p:nvPr/>
        </p:nvSpPr>
        <p:spPr>
          <a:xfrm>
            <a:off x="9107424" y="2834640"/>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مُعَلِّمُونَ</a:t>
            </a:r>
            <a:endParaRPr lang="ar-SA" sz="1800" dirty="0"/>
          </a:p>
        </p:txBody>
      </p:sp>
      <p:sp>
        <p:nvSpPr>
          <p:cNvPr id="33" name="Shape 30"/>
          <p:cNvSpPr/>
          <p:nvPr/>
        </p:nvSpPr>
        <p:spPr>
          <a:xfrm>
            <a:off x="8095488" y="3529584"/>
            <a:ext cx="3636264" cy="2779776"/>
          </a:xfrm>
          <a:prstGeom prst="roundRect">
            <a:avLst>
              <a:gd name="adj" fmla="val 2632"/>
            </a:avLst>
          </a:prstGeom>
          <a:solidFill>
            <a:srgbClr val="EEF3FA"/>
          </a:solidFill>
          <a:ln w="9525">
            <a:solidFill>
              <a:srgbClr val="C9D6EA"/>
            </a:solidFill>
            <a:prstDash val="solid"/>
          </a:ln>
        </p:spPr>
      </p:sp>
      <p:sp>
        <p:nvSpPr>
          <p:cNvPr id="34" name="Shape 31"/>
          <p:cNvSpPr/>
          <p:nvPr/>
        </p:nvSpPr>
        <p:spPr>
          <a:xfrm>
            <a:off x="8232648" y="3639312"/>
            <a:ext cx="3361944" cy="310896"/>
          </a:xfrm>
          <a:prstGeom prst="roundRect">
            <a:avLst>
              <a:gd name="adj" fmla="val 50000"/>
            </a:avLst>
          </a:prstGeom>
          <a:solidFill>
            <a:srgbClr val="2F6FB0"/>
          </a:solidFill>
          <a:ln w="12700">
            <a:solidFill>
              <a:srgbClr val="2F6FB0"/>
            </a:solidFill>
            <a:prstDash val="solid"/>
          </a:ln>
        </p:spPr>
      </p:sp>
      <p:sp>
        <p:nvSpPr>
          <p:cNvPr id="35" name="Text 32"/>
          <p:cNvSpPr txBox="1"/>
          <p:nvPr/>
        </p:nvSpPr>
        <p:spPr>
          <a:xfrm>
            <a:off x="8232648" y="3639312"/>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Singular</a:t>
            </a:r>
            <a:endParaRPr lang="en-US" sz="950" dirty="0"/>
          </a:p>
        </p:txBody>
      </p:sp>
      <p:sp>
        <p:nvSpPr>
          <p:cNvPr id="36" name="Shape 33"/>
          <p:cNvSpPr/>
          <p:nvPr/>
        </p:nvSpPr>
        <p:spPr>
          <a:xfrm>
            <a:off x="4276344" y="3529584"/>
            <a:ext cx="3636264" cy="2779776"/>
          </a:xfrm>
          <a:prstGeom prst="roundRect">
            <a:avLst>
              <a:gd name="adj" fmla="val 2632"/>
            </a:avLst>
          </a:prstGeom>
          <a:solidFill>
            <a:srgbClr val="EEF3FA"/>
          </a:solidFill>
          <a:ln w="9525">
            <a:solidFill>
              <a:srgbClr val="C9D6EA"/>
            </a:solidFill>
            <a:prstDash val="solid"/>
          </a:ln>
        </p:spPr>
      </p:sp>
      <p:sp>
        <p:nvSpPr>
          <p:cNvPr id="37" name="Shape 34"/>
          <p:cNvSpPr/>
          <p:nvPr/>
        </p:nvSpPr>
        <p:spPr>
          <a:xfrm>
            <a:off x="4413504" y="3639312"/>
            <a:ext cx="3361944" cy="310896"/>
          </a:xfrm>
          <a:prstGeom prst="roundRect">
            <a:avLst>
              <a:gd name="adj" fmla="val 50000"/>
            </a:avLst>
          </a:prstGeom>
          <a:solidFill>
            <a:srgbClr val="2F6FB0"/>
          </a:solidFill>
          <a:ln w="12700">
            <a:solidFill>
              <a:srgbClr val="2F6FB0"/>
            </a:solidFill>
            <a:prstDash val="solid"/>
          </a:ln>
        </p:spPr>
      </p:sp>
      <p:sp>
        <p:nvSpPr>
          <p:cNvPr id="38" name="Text 35"/>
          <p:cNvSpPr txBox="1"/>
          <p:nvPr/>
        </p:nvSpPr>
        <p:spPr>
          <a:xfrm>
            <a:off x="4413504" y="3639312"/>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Dual</a:t>
            </a:r>
            <a:endParaRPr lang="en-US" sz="950" dirty="0"/>
          </a:p>
        </p:txBody>
      </p:sp>
      <p:sp>
        <p:nvSpPr>
          <p:cNvPr id="39" name="Shape 36"/>
          <p:cNvSpPr/>
          <p:nvPr/>
        </p:nvSpPr>
        <p:spPr>
          <a:xfrm>
            <a:off x="457200" y="3529584"/>
            <a:ext cx="3636264" cy="2779776"/>
          </a:xfrm>
          <a:prstGeom prst="roundRect">
            <a:avLst>
              <a:gd name="adj" fmla="val 2632"/>
            </a:avLst>
          </a:prstGeom>
          <a:solidFill>
            <a:srgbClr val="EEF3FA"/>
          </a:solidFill>
          <a:ln w="9525">
            <a:solidFill>
              <a:srgbClr val="C9D6EA"/>
            </a:solidFill>
            <a:prstDash val="solid"/>
          </a:ln>
        </p:spPr>
      </p:sp>
      <p:sp>
        <p:nvSpPr>
          <p:cNvPr id="40" name="Shape 37"/>
          <p:cNvSpPr/>
          <p:nvPr/>
        </p:nvSpPr>
        <p:spPr>
          <a:xfrm>
            <a:off x="594360" y="3639312"/>
            <a:ext cx="3361944" cy="310896"/>
          </a:xfrm>
          <a:prstGeom prst="roundRect">
            <a:avLst>
              <a:gd name="adj" fmla="val 50000"/>
            </a:avLst>
          </a:prstGeom>
          <a:solidFill>
            <a:srgbClr val="2F6FB0"/>
          </a:solidFill>
          <a:ln w="12700">
            <a:solidFill>
              <a:srgbClr val="2F6FB0"/>
            </a:solidFill>
            <a:prstDash val="solid"/>
          </a:ln>
        </p:spPr>
      </p:sp>
      <p:sp>
        <p:nvSpPr>
          <p:cNvPr id="41" name="Text 38"/>
          <p:cNvSpPr txBox="1"/>
          <p:nvPr/>
        </p:nvSpPr>
        <p:spPr>
          <a:xfrm>
            <a:off x="594360" y="3639312"/>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3 · Plural</a:t>
            </a:r>
            <a:endParaRPr lang="en-US" sz="950" dirty="0"/>
          </a:p>
        </p:txBody>
      </p:sp>
      <p:sp>
        <p:nvSpPr>
          <p:cNvPr id="42" name="Text 3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35</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GM-N-02 · Nouns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SORTER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Sorted</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Nouns · GM-N-02</a:t>
            </a:r>
            <a:endParaRPr lang="en-US" sz="850" dirty="0"/>
          </a:p>
        </p:txBody>
      </p:sp>
      <p:sp>
        <p:nvSpPr>
          <p:cNvPr id="15" name="Shape 12"/>
          <p:cNvSpPr/>
          <p:nvPr/>
        </p:nvSpPr>
        <p:spPr>
          <a:xfrm>
            <a:off x="8095488" y="1810512"/>
            <a:ext cx="3636264" cy="4498848"/>
          </a:xfrm>
          <a:prstGeom prst="roundRect">
            <a:avLst>
              <a:gd name="adj" fmla="val 2012"/>
            </a:avLst>
          </a:prstGeom>
          <a:solidFill>
            <a:srgbClr val="EEF3FA"/>
          </a:solidFill>
          <a:ln w="9525">
            <a:solidFill>
              <a:srgbClr val="C9D6EA"/>
            </a:solidFill>
            <a:prstDash val="solid"/>
          </a:ln>
        </p:spPr>
      </p:sp>
      <p:sp>
        <p:nvSpPr>
          <p:cNvPr id="16" name="Shape 13"/>
          <p:cNvSpPr/>
          <p:nvPr/>
        </p:nvSpPr>
        <p:spPr>
          <a:xfrm>
            <a:off x="8232648" y="1920240"/>
            <a:ext cx="3361944" cy="310896"/>
          </a:xfrm>
          <a:prstGeom prst="roundRect">
            <a:avLst>
              <a:gd name="adj" fmla="val 50000"/>
            </a:avLst>
          </a:prstGeom>
          <a:solidFill>
            <a:srgbClr val="2F6FB0"/>
          </a:solidFill>
          <a:ln w="12700">
            <a:solidFill>
              <a:srgbClr val="2F6FB0"/>
            </a:solidFill>
            <a:prstDash val="solid"/>
          </a:ln>
        </p:spPr>
      </p:sp>
      <p:sp>
        <p:nvSpPr>
          <p:cNvPr id="17" name="Text 14"/>
          <p:cNvSpPr txBox="1"/>
          <p:nvPr/>
        </p:nvSpPr>
        <p:spPr>
          <a:xfrm>
            <a:off x="8232648" y="1920240"/>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Singular</a:t>
            </a:r>
            <a:endParaRPr lang="en-US" sz="950" dirty="0"/>
          </a:p>
        </p:txBody>
      </p:sp>
      <p:sp>
        <p:nvSpPr>
          <p:cNvPr id="18" name="Shape 15"/>
          <p:cNvSpPr/>
          <p:nvPr/>
        </p:nvSpPr>
        <p:spPr>
          <a:xfrm>
            <a:off x="8232648" y="2377440"/>
            <a:ext cx="3361944" cy="438912"/>
          </a:xfrm>
          <a:prstGeom prst="roundRect">
            <a:avLst>
              <a:gd name="adj" fmla="val 12500"/>
            </a:avLst>
          </a:prstGeom>
          <a:solidFill>
            <a:srgbClr val="FFF4DC"/>
          </a:solidFill>
          <a:ln w="9525">
            <a:solidFill>
              <a:srgbClr val="E6C98A"/>
            </a:solidFill>
            <a:prstDash val="solid"/>
          </a:ln>
        </p:spPr>
      </p:sp>
      <p:sp>
        <p:nvSpPr>
          <p:cNvPr id="19" name="Text 16"/>
          <p:cNvSpPr txBox="1"/>
          <p:nvPr/>
        </p:nvSpPr>
        <p:spPr>
          <a:xfrm>
            <a:off x="8324088" y="2377440"/>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طَالِبٌ</a:t>
            </a:r>
            <a:endParaRPr lang="ar-SA" sz="1800" dirty="0"/>
          </a:p>
        </p:txBody>
      </p:sp>
      <p:sp>
        <p:nvSpPr>
          <p:cNvPr id="20" name="Shape 17"/>
          <p:cNvSpPr/>
          <p:nvPr/>
        </p:nvSpPr>
        <p:spPr>
          <a:xfrm>
            <a:off x="8232648" y="2889504"/>
            <a:ext cx="3361944" cy="438912"/>
          </a:xfrm>
          <a:prstGeom prst="roundRect">
            <a:avLst>
              <a:gd name="adj" fmla="val 12500"/>
            </a:avLst>
          </a:prstGeom>
          <a:solidFill>
            <a:srgbClr val="FFF4DC"/>
          </a:solidFill>
          <a:ln w="9525">
            <a:solidFill>
              <a:srgbClr val="E6C98A"/>
            </a:solidFill>
            <a:prstDash val="solid"/>
          </a:ln>
        </p:spPr>
      </p:sp>
      <p:sp>
        <p:nvSpPr>
          <p:cNvPr id="21" name="Text 18"/>
          <p:cNvSpPr txBox="1"/>
          <p:nvPr/>
        </p:nvSpPr>
        <p:spPr>
          <a:xfrm>
            <a:off x="8324088" y="2889504"/>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غُرْفَةٌ</a:t>
            </a:r>
            <a:endParaRPr lang="ar-SA" sz="1800" dirty="0"/>
          </a:p>
        </p:txBody>
      </p:sp>
      <p:sp>
        <p:nvSpPr>
          <p:cNvPr id="22" name="Shape 19"/>
          <p:cNvSpPr/>
          <p:nvPr/>
        </p:nvSpPr>
        <p:spPr>
          <a:xfrm>
            <a:off x="8232648" y="3401568"/>
            <a:ext cx="3361944" cy="438912"/>
          </a:xfrm>
          <a:prstGeom prst="roundRect">
            <a:avLst>
              <a:gd name="adj" fmla="val 12500"/>
            </a:avLst>
          </a:prstGeom>
          <a:solidFill>
            <a:srgbClr val="FFF4DC"/>
          </a:solidFill>
          <a:ln w="9525">
            <a:solidFill>
              <a:srgbClr val="E6C98A"/>
            </a:solidFill>
            <a:prstDash val="solid"/>
          </a:ln>
        </p:spPr>
      </p:sp>
      <p:sp>
        <p:nvSpPr>
          <p:cNvPr id="23" name="Text 20"/>
          <p:cNvSpPr txBox="1"/>
          <p:nvPr/>
        </p:nvSpPr>
        <p:spPr>
          <a:xfrm>
            <a:off x="8324088" y="3401568"/>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مُعَلِّمٌ</a:t>
            </a:r>
            <a:endParaRPr lang="ar-SA" sz="1800" dirty="0"/>
          </a:p>
        </p:txBody>
      </p:sp>
      <p:sp>
        <p:nvSpPr>
          <p:cNvPr id="24" name="Shape 21"/>
          <p:cNvSpPr/>
          <p:nvPr/>
        </p:nvSpPr>
        <p:spPr>
          <a:xfrm>
            <a:off x="4276344" y="1810512"/>
            <a:ext cx="3636264" cy="4498848"/>
          </a:xfrm>
          <a:prstGeom prst="roundRect">
            <a:avLst>
              <a:gd name="adj" fmla="val 2012"/>
            </a:avLst>
          </a:prstGeom>
          <a:solidFill>
            <a:srgbClr val="EEF3FA"/>
          </a:solidFill>
          <a:ln w="9525">
            <a:solidFill>
              <a:srgbClr val="C9D6EA"/>
            </a:solidFill>
            <a:prstDash val="solid"/>
          </a:ln>
        </p:spPr>
      </p:sp>
      <p:sp>
        <p:nvSpPr>
          <p:cNvPr id="25" name="Shape 22"/>
          <p:cNvSpPr/>
          <p:nvPr/>
        </p:nvSpPr>
        <p:spPr>
          <a:xfrm>
            <a:off x="4413504" y="1920240"/>
            <a:ext cx="3361944" cy="310896"/>
          </a:xfrm>
          <a:prstGeom prst="roundRect">
            <a:avLst>
              <a:gd name="adj" fmla="val 50000"/>
            </a:avLst>
          </a:prstGeom>
          <a:solidFill>
            <a:srgbClr val="2F6FB0"/>
          </a:solidFill>
          <a:ln w="12700">
            <a:solidFill>
              <a:srgbClr val="2F6FB0"/>
            </a:solidFill>
            <a:prstDash val="solid"/>
          </a:ln>
        </p:spPr>
      </p:sp>
      <p:sp>
        <p:nvSpPr>
          <p:cNvPr id="26" name="Text 23"/>
          <p:cNvSpPr txBox="1"/>
          <p:nvPr/>
        </p:nvSpPr>
        <p:spPr>
          <a:xfrm>
            <a:off x="4413504" y="1920240"/>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Dual</a:t>
            </a:r>
            <a:endParaRPr lang="en-US" sz="950" dirty="0"/>
          </a:p>
        </p:txBody>
      </p:sp>
      <p:sp>
        <p:nvSpPr>
          <p:cNvPr id="27" name="Shape 24"/>
          <p:cNvSpPr/>
          <p:nvPr/>
        </p:nvSpPr>
        <p:spPr>
          <a:xfrm>
            <a:off x="4413504" y="2377440"/>
            <a:ext cx="3361944" cy="438912"/>
          </a:xfrm>
          <a:prstGeom prst="roundRect">
            <a:avLst>
              <a:gd name="adj" fmla="val 12500"/>
            </a:avLst>
          </a:prstGeom>
          <a:solidFill>
            <a:srgbClr val="FFF4DC"/>
          </a:solidFill>
          <a:ln w="9525">
            <a:solidFill>
              <a:srgbClr val="E6C98A"/>
            </a:solidFill>
            <a:prstDash val="solid"/>
          </a:ln>
        </p:spPr>
      </p:sp>
      <p:sp>
        <p:nvSpPr>
          <p:cNvPr id="28" name="Text 25"/>
          <p:cNvSpPr txBox="1"/>
          <p:nvPr/>
        </p:nvSpPr>
        <p:spPr>
          <a:xfrm>
            <a:off x="4504944" y="2377440"/>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طَالِبَانِ</a:t>
            </a:r>
            <a:endParaRPr lang="ar-SA" sz="1800" dirty="0"/>
          </a:p>
        </p:txBody>
      </p:sp>
      <p:sp>
        <p:nvSpPr>
          <p:cNvPr id="29" name="Shape 26"/>
          <p:cNvSpPr/>
          <p:nvPr/>
        </p:nvSpPr>
        <p:spPr>
          <a:xfrm>
            <a:off x="4413504" y="2889504"/>
            <a:ext cx="3361944" cy="438912"/>
          </a:xfrm>
          <a:prstGeom prst="roundRect">
            <a:avLst>
              <a:gd name="adj" fmla="val 12500"/>
            </a:avLst>
          </a:prstGeom>
          <a:solidFill>
            <a:srgbClr val="FFF4DC"/>
          </a:solidFill>
          <a:ln w="9525">
            <a:solidFill>
              <a:srgbClr val="E6C98A"/>
            </a:solidFill>
            <a:prstDash val="solid"/>
          </a:ln>
        </p:spPr>
      </p:sp>
      <p:sp>
        <p:nvSpPr>
          <p:cNvPr id="30" name="Text 27"/>
          <p:cNvSpPr txBox="1"/>
          <p:nvPr/>
        </p:nvSpPr>
        <p:spPr>
          <a:xfrm>
            <a:off x="4504944" y="2889504"/>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غُرْفَتَيْنِ</a:t>
            </a:r>
            <a:endParaRPr lang="ar-SA" sz="1800" dirty="0"/>
          </a:p>
        </p:txBody>
      </p:sp>
      <p:sp>
        <p:nvSpPr>
          <p:cNvPr id="31" name="Shape 28"/>
          <p:cNvSpPr/>
          <p:nvPr/>
        </p:nvSpPr>
        <p:spPr>
          <a:xfrm>
            <a:off x="4413504" y="3401568"/>
            <a:ext cx="3361944" cy="438912"/>
          </a:xfrm>
          <a:prstGeom prst="roundRect">
            <a:avLst>
              <a:gd name="adj" fmla="val 12500"/>
            </a:avLst>
          </a:prstGeom>
          <a:solidFill>
            <a:srgbClr val="FFF4DC"/>
          </a:solidFill>
          <a:ln w="9525">
            <a:solidFill>
              <a:srgbClr val="E6C98A"/>
            </a:solidFill>
            <a:prstDash val="solid"/>
          </a:ln>
        </p:spPr>
      </p:sp>
      <p:sp>
        <p:nvSpPr>
          <p:cNvPr id="32" name="Text 29"/>
          <p:cNvSpPr txBox="1"/>
          <p:nvPr/>
        </p:nvSpPr>
        <p:spPr>
          <a:xfrm>
            <a:off x="4504944" y="3401568"/>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مُعَلِّمَانِ</a:t>
            </a:r>
            <a:endParaRPr lang="ar-SA" sz="1800" dirty="0"/>
          </a:p>
        </p:txBody>
      </p:sp>
      <p:sp>
        <p:nvSpPr>
          <p:cNvPr id="33" name="Shape 30"/>
          <p:cNvSpPr/>
          <p:nvPr/>
        </p:nvSpPr>
        <p:spPr>
          <a:xfrm>
            <a:off x="457200" y="1810512"/>
            <a:ext cx="3636264" cy="4498848"/>
          </a:xfrm>
          <a:prstGeom prst="roundRect">
            <a:avLst>
              <a:gd name="adj" fmla="val 2012"/>
            </a:avLst>
          </a:prstGeom>
          <a:solidFill>
            <a:srgbClr val="EEF3FA"/>
          </a:solidFill>
          <a:ln w="9525">
            <a:solidFill>
              <a:srgbClr val="C9D6EA"/>
            </a:solidFill>
            <a:prstDash val="solid"/>
          </a:ln>
        </p:spPr>
      </p:sp>
      <p:sp>
        <p:nvSpPr>
          <p:cNvPr id="34" name="Shape 31"/>
          <p:cNvSpPr/>
          <p:nvPr/>
        </p:nvSpPr>
        <p:spPr>
          <a:xfrm>
            <a:off x="594360" y="1920240"/>
            <a:ext cx="3361944" cy="310896"/>
          </a:xfrm>
          <a:prstGeom prst="roundRect">
            <a:avLst>
              <a:gd name="adj" fmla="val 50000"/>
            </a:avLst>
          </a:prstGeom>
          <a:solidFill>
            <a:srgbClr val="2F6FB0"/>
          </a:solidFill>
          <a:ln w="12700">
            <a:solidFill>
              <a:srgbClr val="2F6FB0"/>
            </a:solidFill>
            <a:prstDash val="solid"/>
          </a:ln>
        </p:spPr>
      </p:sp>
      <p:sp>
        <p:nvSpPr>
          <p:cNvPr id="35" name="Text 32"/>
          <p:cNvSpPr txBox="1"/>
          <p:nvPr/>
        </p:nvSpPr>
        <p:spPr>
          <a:xfrm>
            <a:off x="594360" y="1920240"/>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3 · Plural</a:t>
            </a:r>
            <a:endParaRPr lang="en-US" sz="950" dirty="0"/>
          </a:p>
        </p:txBody>
      </p:sp>
      <p:sp>
        <p:nvSpPr>
          <p:cNvPr id="36" name="Shape 33"/>
          <p:cNvSpPr/>
          <p:nvPr/>
        </p:nvSpPr>
        <p:spPr>
          <a:xfrm>
            <a:off x="594360" y="2377440"/>
            <a:ext cx="3361944" cy="438912"/>
          </a:xfrm>
          <a:prstGeom prst="roundRect">
            <a:avLst>
              <a:gd name="adj" fmla="val 12500"/>
            </a:avLst>
          </a:prstGeom>
          <a:solidFill>
            <a:srgbClr val="FFF4DC"/>
          </a:solidFill>
          <a:ln w="9525">
            <a:solidFill>
              <a:srgbClr val="E6C98A"/>
            </a:solidFill>
            <a:prstDash val="solid"/>
          </a:ln>
        </p:spPr>
      </p:sp>
      <p:sp>
        <p:nvSpPr>
          <p:cNvPr id="37" name="Text 34"/>
          <p:cNvSpPr txBox="1"/>
          <p:nvPr/>
        </p:nvSpPr>
        <p:spPr>
          <a:xfrm>
            <a:off x="685800" y="2377440"/>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طُلَّابٌ</a:t>
            </a:r>
            <a:endParaRPr lang="ar-SA" sz="1800" dirty="0"/>
          </a:p>
        </p:txBody>
      </p:sp>
      <p:sp>
        <p:nvSpPr>
          <p:cNvPr id="38" name="Shape 35"/>
          <p:cNvSpPr/>
          <p:nvPr/>
        </p:nvSpPr>
        <p:spPr>
          <a:xfrm>
            <a:off x="594360" y="2889504"/>
            <a:ext cx="3361944" cy="438912"/>
          </a:xfrm>
          <a:prstGeom prst="roundRect">
            <a:avLst>
              <a:gd name="adj" fmla="val 12500"/>
            </a:avLst>
          </a:prstGeom>
          <a:solidFill>
            <a:srgbClr val="FFF4DC"/>
          </a:solidFill>
          <a:ln w="9525">
            <a:solidFill>
              <a:srgbClr val="E6C98A"/>
            </a:solidFill>
            <a:prstDash val="solid"/>
          </a:ln>
        </p:spPr>
      </p:sp>
      <p:sp>
        <p:nvSpPr>
          <p:cNvPr id="39" name="Text 36"/>
          <p:cNvSpPr txBox="1"/>
          <p:nvPr/>
        </p:nvSpPr>
        <p:spPr>
          <a:xfrm>
            <a:off x="685800" y="2889504"/>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غُرَفٌ</a:t>
            </a:r>
            <a:endParaRPr lang="ar-SA" sz="1800" dirty="0"/>
          </a:p>
        </p:txBody>
      </p:sp>
      <p:sp>
        <p:nvSpPr>
          <p:cNvPr id="40" name="Shape 37"/>
          <p:cNvSpPr/>
          <p:nvPr/>
        </p:nvSpPr>
        <p:spPr>
          <a:xfrm>
            <a:off x="594360" y="3401568"/>
            <a:ext cx="3361944" cy="438912"/>
          </a:xfrm>
          <a:prstGeom prst="roundRect">
            <a:avLst>
              <a:gd name="adj" fmla="val 12500"/>
            </a:avLst>
          </a:prstGeom>
          <a:solidFill>
            <a:srgbClr val="FFF4DC"/>
          </a:solidFill>
          <a:ln w="9525">
            <a:solidFill>
              <a:srgbClr val="E6C98A"/>
            </a:solidFill>
            <a:prstDash val="solid"/>
          </a:ln>
        </p:spPr>
      </p:sp>
      <p:sp>
        <p:nvSpPr>
          <p:cNvPr id="41" name="Text 38"/>
          <p:cNvSpPr txBox="1"/>
          <p:nvPr/>
        </p:nvSpPr>
        <p:spPr>
          <a:xfrm>
            <a:off x="685800" y="3401568"/>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مُعَلِّمُونَ</a:t>
            </a:r>
            <a:endParaRPr lang="ar-SA" sz="1800" dirty="0"/>
          </a:p>
        </p:txBody>
      </p:sp>
      <p:sp>
        <p:nvSpPr>
          <p:cNvPr id="42" name="Text 3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35</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GM-N-02 · Nouns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SPOT AND FIX</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Repair the mistake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صَحِّحِ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Nouns · GM-N-02</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اِثْنَانِ كُتُبٌ</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Do we need a number word?</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سَيَّارَانِ</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Where did the </a:t>
            </a:r>
            <a:pPr algn="l" indent="0" marL="0">
              <a:buNone/>
            </a:pPr>
            <a:r>
              <a:rPr lang="ar-SA" altLang="en-US" sz="1700" dirty="0">
                <a:solidFill>
                  <a:srgbClr val="5A6472"/>
                </a:solidFill>
                <a:latin typeface="Amiri" pitchFamily="2" charset="-78"/>
                <a:ea typeface="Amiri" pitchFamily="2" charset="-78"/>
                <a:cs typeface="Amiri" pitchFamily="2" charset="-78"/>
              </a:rPr>
              <a:t>ة</a:t>
            </a:r>
            <a:pPr algn="l" indent="0" marL="0">
              <a:buNone/>
            </a:pPr>
            <a:r>
              <a:rPr lang="en-US" sz="1300" i="1" dirty="0">
                <a:solidFill>
                  <a:srgbClr val="5A6472"/>
                </a:solidFill>
                <a:latin typeface="Calibri" pitchFamily="34" charset="0"/>
                <a:cs typeface="Amiri" pitchFamily="2" charset="-78"/>
              </a:rPr>
              <a:t> go?</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ذَهَبْتُ مَعَ طَالِبَانِ.</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After </a:t>
            </a:r>
            <a:pPr algn="l" indent="0" marL="0">
              <a:buNone/>
            </a:pPr>
            <a:r>
              <a:rPr lang="ar-SA" altLang="en-US" sz="1700" dirty="0">
                <a:solidFill>
                  <a:srgbClr val="5A6472"/>
                </a:solidFill>
                <a:latin typeface="Amiri" pitchFamily="2" charset="-78"/>
                <a:ea typeface="Amiri" pitchFamily="2" charset="-78"/>
                <a:cs typeface="Amiri" pitchFamily="2" charset="-78"/>
              </a:rPr>
              <a:t>مَعَ</a:t>
            </a:r>
            <a:pPr algn="l" indent="0" marL="0">
              <a:buNone/>
            </a:pPr>
            <a:r>
              <a:rPr lang="en-US" sz="1300" i="1" dirty="0">
                <a:solidFill>
                  <a:srgbClr val="5A6472"/>
                </a:solidFill>
                <a:latin typeface="Calibri" pitchFamily="34" charset="0"/>
                <a:cs typeface="Amiri" pitchFamily="2" charset="-78"/>
              </a:rPr>
              <a:t>: which ending?</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35</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GM-N-02 · Nouns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Fixed — and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التَّصْحِيحُ وَالسَّبَبُ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Nouns · GM-N-02</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اِثْنَانِ كُتُبٌ</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كِتَابَانِ</a:t>
            </a:r>
            <a:endParaRPr lang="ar-SA" sz="24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The dual ending already means “two”.</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سَيَّارَانِ</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سَيَّارَتَانِ</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Keep the </a:t>
            </a:r>
            <a:pPr algn="l" indent="0" marL="0">
              <a:buNone/>
            </a:pPr>
            <a:r>
              <a:rPr lang="ar-SA" altLang="en-US" sz="1500" b="1" dirty="0">
                <a:solidFill>
                  <a:srgbClr val="1B3B6F"/>
                </a:solidFill>
                <a:latin typeface="Amiri" pitchFamily="2" charset="-78"/>
                <a:ea typeface="Amiri" pitchFamily="2" charset="-78"/>
                <a:cs typeface="Amiri" pitchFamily="2" charset="-78"/>
              </a:rPr>
              <a:t>ة</a:t>
            </a:r>
            <a:pPr algn="l" indent="0" marL="0">
              <a:buNone/>
            </a:pPr>
            <a:r>
              <a:rPr lang="en-US" sz="1150" b="1" dirty="0">
                <a:solidFill>
                  <a:srgbClr val="1B3B6F"/>
                </a:solidFill>
                <a:latin typeface="Calibri" pitchFamily="34" charset="0"/>
                <a:cs typeface="Amiri" pitchFamily="2" charset="-78"/>
              </a:rPr>
              <a:t> as </a:t>
            </a:r>
            <a:pPr algn="l" indent="0" marL="0">
              <a:buNone/>
            </a:pPr>
            <a:r>
              <a:rPr lang="ar-SA" altLang="en-US" sz="1500" b="1" dirty="0">
                <a:solidFill>
                  <a:srgbClr val="1B3B6F"/>
                </a:solidFill>
                <a:latin typeface="Amiri" pitchFamily="2" charset="-78"/>
                <a:ea typeface="Amiri" pitchFamily="2" charset="-78"/>
                <a:cs typeface="Amiri" pitchFamily="2" charset="-78"/>
              </a:rPr>
              <a:t>ت</a:t>
            </a:r>
            <a:pPr algn="l" indent="0" marL="0">
              <a:buNone/>
            </a:pPr>
            <a:r>
              <a:rPr lang="en-US" sz="1150" b="1" dirty="0">
                <a:solidFill>
                  <a:srgbClr val="1B3B6F"/>
                </a:solidFill>
                <a:latin typeface="Calibri" pitchFamily="34" charset="0"/>
                <a:cs typeface="Amiri" pitchFamily="2" charset="-78"/>
              </a:rPr>
              <a:t> before the dual ending.</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ذَهَبْتُ مَعَ طَالِبَانِ.</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ذَهَبْتُ مَعَ طَالِبَيْنِ.</a:t>
            </a:r>
            <a:endParaRPr lang="ar-SA" sz="24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After a preposition: -ayni.</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35</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GM-N-02 · Nouns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2F6FB0"/>
                </a:solidFill>
                <a:latin typeface="Calibri" pitchFamily="34" charset="0"/>
                <a:cs typeface="Amiri" pitchFamily="2" charset="-78"/>
              </a:rPr>
              <a:t>WE DO · GUIDED PRACTICE · WEBSITE MASTERY CHECK QUESTIONS 5–8</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More practice</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تَدْرِيبٌ إِضَافِيٌّ</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Nouns · GM-N-02</a:t>
            </a:r>
            <a:endParaRPr lang="en-US" sz="850" dirty="0"/>
          </a:p>
        </p:txBody>
      </p:sp>
      <p:sp>
        <p:nvSpPr>
          <p:cNvPr id="17" name="Shape 14"/>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“I saw two girls”.</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رَأَيْتُ بِنْتَانِ</a:t>
            </a:r>
            <a:endParaRPr lang="ar-SA" sz="20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رَأَيْتُ بَنَاتٌ</a:t>
            </a:r>
            <a:endParaRPr lang="ar-SA" sz="20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6"/>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رَأَيْتُ بِنْتَيْنِ</a:t>
            </a:r>
            <a:endParaRPr lang="ar-SA" sz="2050" dirty="0"/>
          </a:p>
        </p:txBody>
      </p:sp>
      <p:sp>
        <p:nvSpPr>
          <p:cNvPr id="30" name="Shape 27"/>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313932"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dual encode?</a:t>
            </a:r>
            <a:endParaRPr lang="en-US" sz="1250" dirty="0"/>
          </a:p>
        </p:txBody>
      </p:sp>
      <p:sp>
        <p:nvSpPr>
          <p:cNvPr id="34" name="Shape 31"/>
          <p:cNvSpPr/>
          <p:nvPr/>
        </p:nvSpPr>
        <p:spPr>
          <a:xfrm>
            <a:off x="6368796"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6697980" y="24323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approximately two</a:t>
            </a:r>
            <a:endParaRPr lang="en-US" sz="1250" dirty="0"/>
          </a:p>
        </p:txBody>
      </p:sp>
      <p:sp>
        <p:nvSpPr>
          <p:cNvPr id="37" name="Shape 34"/>
          <p:cNvSpPr/>
          <p:nvPr/>
        </p:nvSpPr>
        <p:spPr>
          <a:xfrm>
            <a:off x="6368796"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6697980" y="28895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exactly two</a:t>
            </a:r>
            <a:endParaRPr lang="en-US" sz="1250" dirty="0"/>
          </a:p>
        </p:txBody>
      </p:sp>
      <p:sp>
        <p:nvSpPr>
          <p:cNvPr id="40" name="Shape 37"/>
          <p:cNvSpPr/>
          <p:nvPr/>
        </p:nvSpPr>
        <p:spPr>
          <a:xfrm>
            <a:off x="6368796"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2" name="Text 39"/>
          <p:cNvSpPr txBox="1"/>
          <p:nvPr/>
        </p:nvSpPr>
        <p:spPr>
          <a:xfrm>
            <a:off x="6697980" y="33467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two or more</a:t>
            </a:r>
            <a:endParaRPr lang="en-US" sz="1250" dirty="0"/>
          </a:p>
        </p:txBody>
      </p:sp>
      <p:sp>
        <p:nvSpPr>
          <p:cNvPr id="43" name="Shape 40"/>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585216" y="4288536"/>
            <a:ext cx="310896" cy="310896"/>
          </a:xfrm>
          <a:prstGeom prst="ellipse">
            <a:avLst/>
          </a:prstGeom>
          <a:solidFill>
            <a:srgbClr val="1B3B6F"/>
          </a:solidFill>
          <a:ln w="12700">
            <a:solidFill>
              <a:srgbClr val="1B3B6F"/>
            </a:solidFill>
            <a:prstDash val="solid"/>
          </a:ln>
        </p:spPr>
      </p:sp>
      <p:sp>
        <p:nvSpPr>
          <p:cNvPr id="45" name="Text 42"/>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6" name="Text 43"/>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full family.</a:t>
            </a:r>
            <a:endParaRPr lang="en-US" sz="1250" dirty="0"/>
          </a:p>
        </p:txBody>
      </p:sp>
      <p:sp>
        <p:nvSpPr>
          <p:cNvPr id="47" name="Shape 44"/>
          <p:cNvSpPr/>
          <p:nvPr/>
        </p:nvSpPr>
        <p:spPr>
          <a:xfrm>
            <a:off x="640080" y="4873752"/>
            <a:ext cx="256032" cy="256032"/>
          </a:xfrm>
          <a:prstGeom prst="ellipse">
            <a:avLst/>
          </a:prstGeom>
          <a:solidFill>
            <a:srgbClr val="F4F1EA"/>
          </a:solidFill>
          <a:ln w="12700">
            <a:solidFill>
              <a:srgbClr val="F4F1EA"/>
            </a:solidFill>
            <a:prstDash val="solid"/>
          </a:ln>
        </p:spPr>
      </p:sp>
      <p:sp>
        <p:nvSpPr>
          <p:cNvPr id="48" name="Text 45"/>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9" name="Text 46"/>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غُرْفَةٌ / غُرْفَانِ / غُرْفَاتَانِ</a:t>
            </a:r>
            <a:endParaRPr lang="ar-SA" sz="2050" dirty="0"/>
          </a:p>
        </p:txBody>
      </p:sp>
      <p:sp>
        <p:nvSpPr>
          <p:cNvPr id="50" name="Shape 47"/>
          <p:cNvSpPr/>
          <p:nvPr/>
        </p:nvSpPr>
        <p:spPr>
          <a:xfrm>
            <a:off x="640080" y="5330952"/>
            <a:ext cx="256032" cy="256032"/>
          </a:xfrm>
          <a:prstGeom prst="ellipse">
            <a:avLst/>
          </a:prstGeom>
          <a:solidFill>
            <a:srgbClr val="F4F1EA"/>
          </a:solidFill>
          <a:ln w="12700">
            <a:solidFill>
              <a:srgbClr val="F4F1EA"/>
            </a:solidFill>
            <a:prstDash val="solid"/>
          </a:ln>
        </p:spPr>
      </p:sp>
      <p:sp>
        <p:nvSpPr>
          <p:cNvPr id="51" name="Text 48"/>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2" name="Text 49"/>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غُرْفَةٌ / غُرْفَتَانِ / غُرَفٌ</a:t>
            </a:r>
            <a:endParaRPr lang="ar-SA" sz="2050" dirty="0"/>
          </a:p>
        </p:txBody>
      </p:sp>
      <p:sp>
        <p:nvSpPr>
          <p:cNvPr id="53" name="Shape 50"/>
          <p:cNvSpPr/>
          <p:nvPr/>
        </p:nvSpPr>
        <p:spPr>
          <a:xfrm>
            <a:off x="640080" y="5788152"/>
            <a:ext cx="256032" cy="256032"/>
          </a:xfrm>
          <a:prstGeom prst="ellipse">
            <a:avLst/>
          </a:prstGeom>
          <a:solidFill>
            <a:srgbClr val="F4F1EA"/>
          </a:solidFill>
          <a:ln w="12700">
            <a:solidFill>
              <a:srgbClr val="F4F1EA"/>
            </a:solidFill>
            <a:prstDash val="solid"/>
          </a:ln>
        </p:spPr>
      </p:sp>
      <p:sp>
        <p:nvSpPr>
          <p:cNvPr id="54" name="Text 51"/>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5" name="Text 52"/>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غُرْفَةٌ / غُرْفَتَيْنِ / غُرْفَةٌ</a:t>
            </a:r>
            <a:endParaRPr lang="ar-SA" sz="2050" dirty="0"/>
          </a:p>
        </p:txBody>
      </p:sp>
      <p:sp>
        <p:nvSpPr>
          <p:cNvPr id="56" name="Shape 53"/>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6313932" y="4288536"/>
            <a:ext cx="310896" cy="310896"/>
          </a:xfrm>
          <a:prstGeom prst="ellipse">
            <a:avLst/>
          </a:prstGeom>
          <a:solidFill>
            <a:srgbClr val="1B3B6F"/>
          </a:solidFill>
          <a:ln w="12700">
            <a:solidFill>
              <a:srgbClr val="1B3B6F"/>
            </a:solidFill>
            <a:prstDash val="solid"/>
          </a:ln>
        </p:spPr>
      </p:sp>
      <p:sp>
        <p:nvSpPr>
          <p:cNvPr id="58" name="Text 55"/>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9" name="Text 56"/>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After </a:t>
            </a:r>
            <a:pPr algn="l" indent="0" marL="0">
              <a:buNone/>
            </a:pPr>
            <a:r>
              <a:rPr lang="ar-SA" altLang="en-US" sz="1650" b="1" dirty="0">
                <a:solidFill>
                  <a:srgbClr val="1B3B6F"/>
                </a:solidFill>
                <a:latin typeface="Amiri" pitchFamily="2" charset="-78"/>
                <a:ea typeface="Amiri" pitchFamily="2" charset="-78"/>
                <a:cs typeface="Amiri" pitchFamily="2" charset="-78"/>
              </a:rPr>
              <a:t>فِي</a:t>
            </a:r>
            <a:pPr algn="l" indent="0" marL="0">
              <a:buNone/>
            </a:pPr>
            <a:r>
              <a:rPr lang="en-US" sz="1250" b="1" dirty="0">
                <a:solidFill>
                  <a:srgbClr val="1B3B6F"/>
                </a:solidFill>
                <a:latin typeface="Calibri" pitchFamily="34" charset="0"/>
                <a:cs typeface="Amiri" pitchFamily="2" charset="-78"/>
              </a:rPr>
              <a:t> choose dual.</a:t>
            </a:r>
            <a:endParaRPr lang="en-US" sz="1250" dirty="0"/>
          </a:p>
        </p:txBody>
      </p:sp>
      <p:sp>
        <p:nvSpPr>
          <p:cNvPr id="60" name="Shape 57"/>
          <p:cNvSpPr/>
          <p:nvPr/>
        </p:nvSpPr>
        <p:spPr>
          <a:xfrm>
            <a:off x="6368796" y="4873752"/>
            <a:ext cx="256032" cy="256032"/>
          </a:xfrm>
          <a:prstGeom prst="ellipse">
            <a:avLst/>
          </a:prstGeom>
          <a:solidFill>
            <a:srgbClr val="F4F1EA"/>
          </a:solidFill>
          <a:ln w="12700">
            <a:solidFill>
              <a:srgbClr val="F4F1EA"/>
            </a:solidFill>
            <a:prstDash val="solid"/>
          </a:ln>
        </p:spPr>
      </p:sp>
      <p:sp>
        <p:nvSpPr>
          <p:cNvPr id="61" name="Text 58"/>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2" name="Text 59"/>
          <p:cNvSpPr txBox="1"/>
          <p:nvPr/>
        </p:nvSpPr>
        <p:spPr>
          <a:xfrm>
            <a:off x="6697980"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فِي بَيْتَانِ</a:t>
            </a:r>
            <a:endParaRPr lang="ar-SA" sz="2050" dirty="0"/>
          </a:p>
        </p:txBody>
      </p:sp>
      <p:sp>
        <p:nvSpPr>
          <p:cNvPr id="63" name="Shape 60"/>
          <p:cNvSpPr/>
          <p:nvPr/>
        </p:nvSpPr>
        <p:spPr>
          <a:xfrm>
            <a:off x="6368796" y="5330952"/>
            <a:ext cx="256032" cy="256032"/>
          </a:xfrm>
          <a:prstGeom prst="ellipse">
            <a:avLst/>
          </a:prstGeom>
          <a:solidFill>
            <a:srgbClr val="F4F1EA"/>
          </a:solidFill>
          <a:ln w="12700">
            <a:solidFill>
              <a:srgbClr val="F4F1EA"/>
            </a:solidFill>
            <a:prstDash val="solid"/>
          </a:ln>
        </p:spPr>
      </p:sp>
      <p:sp>
        <p:nvSpPr>
          <p:cNvPr id="64" name="Text 61"/>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5" name="Text 62"/>
          <p:cNvSpPr txBox="1"/>
          <p:nvPr/>
        </p:nvSpPr>
        <p:spPr>
          <a:xfrm>
            <a:off x="6697980"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فِي بُيُوتٌ</a:t>
            </a:r>
            <a:endParaRPr lang="ar-SA" sz="2050" dirty="0"/>
          </a:p>
        </p:txBody>
      </p:sp>
      <p:sp>
        <p:nvSpPr>
          <p:cNvPr id="66" name="Shape 63"/>
          <p:cNvSpPr/>
          <p:nvPr/>
        </p:nvSpPr>
        <p:spPr>
          <a:xfrm>
            <a:off x="6368796" y="5788152"/>
            <a:ext cx="256032" cy="256032"/>
          </a:xfrm>
          <a:prstGeom prst="ellipse">
            <a:avLst/>
          </a:prstGeom>
          <a:solidFill>
            <a:srgbClr val="F4F1EA"/>
          </a:solidFill>
          <a:ln w="12700">
            <a:solidFill>
              <a:srgbClr val="F4F1EA"/>
            </a:solidFill>
            <a:prstDash val="solid"/>
          </a:ln>
        </p:spPr>
      </p:sp>
      <p:sp>
        <p:nvSpPr>
          <p:cNvPr id="67" name="Text 64"/>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8" name="Text 65"/>
          <p:cNvSpPr txBox="1"/>
          <p:nvPr/>
        </p:nvSpPr>
        <p:spPr>
          <a:xfrm>
            <a:off x="6697980"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فِي بَيْتَيْنِ</a:t>
            </a:r>
            <a:endParaRPr lang="ar-SA" sz="2050" dirty="0"/>
          </a:p>
        </p:txBody>
      </p:sp>
      <p:sp>
        <p:nvSpPr>
          <p:cNvPr id="69" name="Text 6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35</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GM-N-02 · Nouns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Nouns · GM-N-02</a:t>
            </a:r>
            <a:endParaRPr lang="en-US" sz="850" dirty="0"/>
          </a:p>
        </p:txBody>
      </p:sp>
      <p:sp>
        <p:nvSpPr>
          <p:cNvPr id="17" name="Shape 14"/>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“I saw two girls”.</a:t>
            </a:r>
            <a:endParaRPr lang="en-US" sz="1250" dirty="0"/>
          </a:p>
        </p:txBody>
      </p:sp>
      <p:sp>
        <p:nvSpPr>
          <p:cNvPr id="21" name="Shape 18"/>
          <p:cNvSpPr/>
          <p:nvPr/>
        </p:nvSpPr>
        <p:spPr>
          <a:xfrm>
            <a:off x="640080" y="2490216"/>
            <a:ext cx="256032" cy="256032"/>
          </a:xfrm>
          <a:prstGeom prst="ellipse">
            <a:avLst/>
          </a:prstGeom>
          <a:solidFill>
            <a:srgbClr val="C9CED6"/>
          </a:solidFill>
          <a:ln w="12700">
            <a:solidFill>
              <a:srgbClr val="C9CED6"/>
            </a:solidFill>
            <a:prstDash val="solid"/>
          </a:ln>
        </p:spPr>
      </p:sp>
      <p:sp>
        <p:nvSpPr>
          <p:cNvPr id="22"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رَأَيْتُ بِنْتَانِ</a:t>
            </a:r>
            <a:endParaRPr lang="ar-SA" sz="1700" dirty="0"/>
          </a:p>
        </p:txBody>
      </p:sp>
      <p:sp>
        <p:nvSpPr>
          <p:cNvPr id="24" name="Shape 21"/>
          <p:cNvSpPr/>
          <p:nvPr/>
        </p:nvSpPr>
        <p:spPr>
          <a:xfrm>
            <a:off x="640080" y="2862072"/>
            <a:ext cx="256032" cy="256032"/>
          </a:xfrm>
          <a:prstGeom prst="ellipse">
            <a:avLst/>
          </a:prstGeom>
          <a:solidFill>
            <a:srgbClr val="C9CED6"/>
          </a:solidFill>
          <a:ln w="12700">
            <a:solidFill>
              <a:srgbClr val="C9CED6"/>
            </a:solidFill>
            <a:prstDash val="solid"/>
          </a:ln>
        </p:spPr>
      </p:sp>
      <p:sp>
        <p:nvSpPr>
          <p:cNvPr id="25" name="Text 22"/>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رَأَيْتُ بَنَاتٌ</a:t>
            </a:r>
            <a:endParaRPr lang="ar-SA" sz="1700" dirty="0"/>
          </a:p>
        </p:txBody>
      </p:sp>
      <p:sp>
        <p:nvSpPr>
          <p:cNvPr id="27" name="Shape 24"/>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8" name="Shape 25"/>
          <p:cNvSpPr/>
          <p:nvPr/>
        </p:nvSpPr>
        <p:spPr>
          <a:xfrm>
            <a:off x="640080" y="3233928"/>
            <a:ext cx="256032" cy="256032"/>
          </a:xfrm>
          <a:prstGeom prst="ellipse">
            <a:avLst/>
          </a:prstGeom>
          <a:solidFill>
            <a:srgbClr val="2E8B57"/>
          </a:solidFill>
          <a:ln w="12700">
            <a:solidFill>
              <a:srgbClr val="2E8B57"/>
            </a:solidFill>
            <a:prstDash val="solid"/>
          </a:ln>
        </p:spPr>
      </p:sp>
      <p:sp>
        <p:nvSpPr>
          <p:cNvPr id="29" name="Text 26"/>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30" name="Text 27"/>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رَأَيْتُ بِنْتَيْنِ</a:t>
            </a:r>
            <a:endParaRPr lang="ar-SA" sz="1700" dirty="0"/>
          </a:p>
        </p:txBody>
      </p:sp>
      <p:sp>
        <p:nvSpPr>
          <p:cNvPr id="31" name="Text 28"/>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Object dual uses -ayni.</a:t>
            </a:r>
            <a:endParaRPr lang="en-US" sz="1050" dirty="0"/>
          </a:p>
        </p:txBody>
      </p:sp>
      <p:sp>
        <p:nvSpPr>
          <p:cNvPr id="32" name="Shape 29"/>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6313932" y="1947672"/>
            <a:ext cx="310896" cy="310896"/>
          </a:xfrm>
          <a:prstGeom prst="ellipse">
            <a:avLst/>
          </a:prstGeom>
          <a:solidFill>
            <a:srgbClr val="1B3B6F"/>
          </a:solidFill>
          <a:ln w="12700">
            <a:solidFill>
              <a:srgbClr val="1B3B6F"/>
            </a:solidFill>
            <a:prstDash val="solid"/>
          </a:ln>
        </p:spPr>
      </p:sp>
      <p:sp>
        <p:nvSpPr>
          <p:cNvPr id="34" name="Text 31"/>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5" name="Text 32"/>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dual encode?</a:t>
            </a:r>
            <a:endParaRPr lang="en-US" sz="1250" dirty="0"/>
          </a:p>
        </p:txBody>
      </p:sp>
      <p:sp>
        <p:nvSpPr>
          <p:cNvPr id="36" name="Shape 33"/>
          <p:cNvSpPr/>
          <p:nvPr/>
        </p:nvSpPr>
        <p:spPr>
          <a:xfrm>
            <a:off x="6368796" y="2490216"/>
            <a:ext cx="256032" cy="256032"/>
          </a:xfrm>
          <a:prstGeom prst="ellipse">
            <a:avLst/>
          </a:prstGeom>
          <a:solidFill>
            <a:srgbClr val="C9CED6"/>
          </a:solidFill>
          <a:ln w="12700">
            <a:solidFill>
              <a:srgbClr val="C9CED6"/>
            </a:solidFill>
            <a:prstDash val="solid"/>
          </a:ln>
        </p:spPr>
      </p:sp>
      <p:sp>
        <p:nvSpPr>
          <p:cNvPr id="37" name="Text 34"/>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8" name="Text 35"/>
          <p:cNvSpPr txBox="1"/>
          <p:nvPr/>
        </p:nvSpPr>
        <p:spPr>
          <a:xfrm>
            <a:off x="6697980" y="2432304"/>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approximately two</a:t>
            </a:r>
            <a:endParaRPr lang="en-US" sz="1250" dirty="0"/>
          </a:p>
        </p:txBody>
      </p:sp>
      <p:sp>
        <p:nvSpPr>
          <p:cNvPr id="39" name="Shape 36"/>
          <p:cNvSpPr/>
          <p:nvPr/>
        </p:nvSpPr>
        <p:spPr>
          <a:xfrm>
            <a:off x="6277356" y="2825496"/>
            <a:ext cx="5362956" cy="347472"/>
          </a:xfrm>
          <a:prstGeom prst="roundRect">
            <a:avLst>
              <a:gd name="adj" fmla="val 15789"/>
            </a:avLst>
          </a:prstGeom>
          <a:solidFill>
            <a:srgbClr val="E6F4EC"/>
          </a:solidFill>
          <a:ln w="9525">
            <a:solidFill>
              <a:srgbClr val="2E8B57"/>
            </a:solidFill>
            <a:prstDash val="solid"/>
          </a:ln>
        </p:spPr>
      </p:sp>
      <p:sp>
        <p:nvSpPr>
          <p:cNvPr id="40" name="Shape 37"/>
          <p:cNvSpPr/>
          <p:nvPr/>
        </p:nvSpPr>
        <p:spPr>
          <a:xfrm>
            <a:off x="6368796" y="2862072"/>
            <a:ext cx="256032" cy="256032"/>
          </a:xfrm>
          <a:prstGeom prst="ellipse">
            <a:avLst/>
          </a:prstGeom>
          <a:solidFill>
            <a:srgbClr val="2E8B57"/>
          </a:solidFill>
          <a:ln w="12700">
            <a:solidFill>
              <a:srgbClr val="2E8B57"/>
            </a:solidFill>
            <a:prstDash val="solid"/>
          </a:ln>
        </p:spPr>
      </p:sp>
      <p:sp>
        <p:nvSpPr>
          <p:cNvPr id="41" name="Text 38"/>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2" name="Text 39"/>
          <p:cNvSpPr txBox="1"/>
          <p:nvPr/>
        </p:nvSpPr>
        <p:spPr>
          <a:xfrm>
            <a:off x="6697980" y="2804160"/>
            <a:ext cx="4887468"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exactly two</a:t>
            </a:r>
            <a:endParaRPr lang="en-US" sz="1250" dirty="0"/>
          </a:p>
        </p:txBody>
      </p:sp>
      <p:sp>
        <p:nvSpPr>
          <p:cNvPr id="43" name="Shape 40"/>
          <p:cNvSpPr/>
          <p:nvPr/>
        </p:nvSpPr>
        <p:spPr>
          <a:xfrm>
            <a:off x="6368796" y="3233928"/>
            <a:ext cx="256032" cy="256032"/>
          </a:xfrm>
          <a:prstGeom prst="ellipse">
            <a:avLst/>
          </a:prstGeom>
          <a:solidFill>
            <a:srgbClr val="C9CED6"/>
          </a:solidFill>
          <a:ln w="12700">
            <a:solidFill>
              <a:srgbClr val="C9CED6"/>
            </a:solidFill>
            <a:prstDash val="solid"/>
          </a:ln>
        </p:spPr>
      </p:sp>
      <p:sp>
        <p:nvSpPr>
          <p:cNvPr id="44" name="Text 41"/>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5" name="Text 42"/>
          <p:cNvSpPr txBox="1"/>
          <p:nvPr/>
        </p:nvSpPr>
        <p:spPr>
          <a:xfrm>
            <a:off x="6697980" y="3176016"/>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two or more</a:t>
            </a:r>
            <a:endParaRPr lang="en-US" sz="1250" dirty="0"/>
          </a:p>
        </p:txBody>
      </p:sp>
      <p:sp>
        <p:nvSpPr>
          <p:cNvPr id="46" name="Text 43"/>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Specific number category.</a:t>
            </a:r>
            <a:endParaRPr lang="en-US" sz="1050" dirty="0"/>
          </a:p>
        </p:txBody>
      </p:sp>
      <p:sp>
        <p:nvSpPr>
          <p:cNvPr id="47" name="Shape 44"/>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585216" y="4288536"/>
            <a:ext cx="310896" cy="310896"/>
          </a:xfrm>
          <a:prstGeom prst="ellipse">
            <a:avLst/>
          </a:prstGeom>
          <a:solidFill>
            <a:srgbClr val="1B3B6F"/>
          </a:solidFill>
          <a:ln w="12700">
            <a:solidFill>
              <a:srgbClr val="1B3B6F"/>
            </a:solidFill>
            <a:prstDash val="solid"/>
          </a:ln>
        </p:spPr>
      </p:sp>
      <p:sp>
        <p:nvSpPr>
          <p:cNvPr id="49" name="Text 46"/>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50" name="Text 47"/>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full family.</a:t>
            </a:r>
            <a:endParaRPr lang="en-US" sz="1250" dirty="0"/>
          </a:p>
        </p:txBody>
      </p:sp>
      <p:sp>
        <p:nvSpPr>
          <p:cNvPr id="51" name="Shape 48"/>
          <p:cNvSpPr/>
          <p:nvPr/>
        </p:nvSpPr>
        <p:spPr>
          <a:xfrm>
            <a:off x="640080" y="4831080"/>
            <a:ext cx="256032" cy="256032"/>
          </a:xfrm>
          <a:prstGeom prst="ellipse">
            <a:avLst/>
          </a:prstGeom>
          <a:solidFill>
            <a:srgbClr val="C9CED6"/>
          </a:solidFill>
          <a:ln w="12700">
            <a:solidFill>
              <a:srgbClr val="C9CED6"/>
            </a:solidFill>
            <a:prstDash val="solid"/>
          </a:ln>
        </p:spPr>
      </p:sp>
      <p:sp>
        <p:nvSpPr>
          <p:cNvPr id="52" name="Text 49"/>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3" name="Text 50"/>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غُرْفَةٌ / غُرْفَانِ / غُرْفَاتَانِ</a:t>
            </a:r>
            <a:endParaRPr lang="ar-SA" sz="1700" dirty="0"/>
          </a:p>
        </p:txBody>
      </p:sp>
      <p:sp>
        <p:nvSpPr>
          <p:cNvPr id="54" name="Shape 51"/>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5" name="Shape 52"/>
          <p:cNvSpPr/>
          <p:nvPr/>
        </p:nvSpPr>
        <p:spPr>
          <a:xfrm>
            <a:off x="640080" y="5202936"/>
            <a:ext cx="256032" cy="256032"/>
          </a:xfrm>
          <a:prstGeom prst="ellipse">
            <a:avLst/>
          </a:prstGeom>
          <a:solidFill>
            <a:srgbClr val="2E8B57"/>
          </a:solidFill>
          <a:ln w="12700">
            <a:solidFill>
              <a:srgbClr val="2E8B57"/>
            </a:solidFill>
            <a:prstDash val="solid"/>
          </a:ln>
        </p:spPr>
      </p:sp>
      <p:sp>
        <p:nvSpPr>
          <p:cNvPr id="56" name="Text 53"/>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7" name="Text 54"/>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غُرْفَةٌ / غُرْفَتَانِ / غُرَفٌ</a:t>
            </a:r>
            <a:endParaRPr lang="ar-SA" sz="1700" dirty="0"/>
          </a:p>
        </p:txBody>
      </p:sp>
      <p:sp>
        <p:nvSpPr>
          <p:cNvPr id="58" name="Shape 55"/>
          <p:cNvSpPr/>
          <p:nvPr/>
        </p:nvSpPr>
        <p:spPr>
          <a:xfrm>
            <a:off x="640080" y="5574792"/>
            <a:ext cx="256032" cy="256032"/>
          </a:xfrm>
          <a:prstGeom prst="ellipse">
            <a:avLst/>
          </a:prstGeom>
          <a:solidFill>
            <a:srgbClr val="C9CED6"/>
          </a:solidFill>
          <a:ln w="12700">
            <a:solidFill>
              <a:srgbClr val="C9CED6"/>
            </a:solidFill>
            <a:prstDash val="solid"/>
          </a:ln>
        </p:spPr>
      </p:sp>
      <p:sp>
        <p:nvSpPr>
          <p:cNvPr id="59" name="Text 56"/>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0" name="Text 57"/>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غُرْفَةٌ / غُرْفَتَيْنِ / غُرْفَةٌ</a:t>
            </a:r>
            <a:endParaRPr lang="ar-SA" sz="1700" dirty="0"/>
          </a:p>
        </p:txBody>
      </p:sp>
      <p:sp>
        <p:nvSpPr>
          <p:cNvPr id="61" name="Text 58"/>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Singular, dual, plural.</a:t>
            </a:r>
            <a:endParaRPr lang="en-US" sz="1050" dirty="0"/>
          </a:p>
        </p:txBody>
      </p:sp>
      <p:sp>
        <p:nvSpPr>
          <p:cNvPr id="62" name="Shape 59"/>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6313932" y="4288536"/>
            <a:ext cx="310896" cy="310896"/>
          </a:xfrm>
          <a:prstGeom prst="ellipse">
            <a:avLst/>
          </a:prstGeom>
          <a:solidFill>
            <a:srgbClr val="1B3B6F"/>
          </a:solidFill>
          <a:ln w="12700">
            <a:solidFill>
              <a:srgbClr val="1B3B6F"/>
            </a:solidFill>
            <a:prstDash val="solid"/>
          </a:ln>
        </p:spPr>
      </p:sp>
      <p:sp>
        <p:nvSpPr>
          <p:cNvPr id="64" name="Text 61"/>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5" name="Text 62"/>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After </a:t>
            </a:r>
            <a:pPr algn="l" indent="0" marL="0">
              <a:buNone/>
            </a:pPr>
            <a:r>
              <a:rPr lang="ar-SA" altLang="en-US" sz="1650" b="1" dirty="0">
                <a:solidFill>
                  <a:srgbClr val="1B3B6F"/>
                </a:solidFill>
                <a:latin typeface="Amiri" pitchFamily="2" charset="-78"/>
                <a:ea typeface="Amiri" pitchFamily="2" charset="-78"/>
                <a:cs typeface="Amiri" pitchFamily="2" charset="-78"/>
              </a:rPr>
              <a:t>فِي</a:t>
            </a:r>
            <a:pPr algn="l" indent="0" marL="0">
              <a:buNone/>
            </a:pPr>
            <a:r>
              <a:rPr lang="en-US" sz="1250" b="1" dirty="0">
                <a:solidFill>
                  <a:srgbClr val="1B3B6F"/>
                </a:solidFill>
                <a:latin typeface="Calibri" pitchFamily="34" charset="0"/>
                <a:cs typeface="Amiri" pitchFamily="2" charset="-78"/>
              </a:rPr>
              <a:t> choose dual.</a:t>
            </a:r>
            <a:endParaRPr lang="en-US" sz="1250" dirty="0"/>
          </a:p>
        </p:txBody>
      </p:sp>
      <p:sp>
        <p:nvSpPr>
          <p:cNvPr id="66" name="Shape 63"/>
          <p:cNvSpPr/>
          <p:nvPr/>
        </p:nvSpPr>
        <p:spPr>
          <a:xfrm>
            <a:off x="6368796" y="4831080"/>
            <a:ext cx="256032" cy="256032"/>
          </a:xfrm>
          <a:prstGeom prst="ellipse">
            <a:avLst/>
          </a:prstGeom>
          <a:solidFill>
            <a:srgbClr val="C9CED6"/>
          </a:solidFill>
          <a:ln w="12700">
            <a:solidFill>
              <a:srgbClr val="C9CED6"/>
            </a:solidFill>
            <a:prstDash val="solid"/>
          </a:ln>
        </p:spPr>
      </p:sp>
      <p:sp>
        <p:nvSpPr>
          <p:cNvPr id="67" name="Text 64"/>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8" name="Text 65"/>
          <p:cNvSpPr txBox="1"/>
          <p:nvPr/>
        </p:nvSpPr>
        <p:spPr>
          <a:xfrm>
            <a:off x="6697980"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فِي بَيْتَانِ</a:t>
            </a:r>
            <a:endParaRPr lang="ar-SA" sz="1700" dirty="0"/>
          </a:p>
        </p:txBody>
      </p:sp>
      <p:sp>
        <p:nvSpPr>
          <p:cNvPr id="69" name="Shape 66"/>
          <p:cNvSpPr/>
          <p:nvPr/>
        </p:nvSpPr>
        <p:spPr>
          <a:xfrm>
            <a:off x="6368796" y="5202936"/>
            <a:ext cx="256032" cy="256032"/>
          </a:xfrm>
          <a:prstGeom prst="ellipse">
            <a:avLst/>
          </a:prstGeom>
          <a:solidFill>
            <a:srgbClr val="C9CED6"/>
          </a:solidFill>
          <a:ln w="12700">
            <a:solidFill>
              <a:srgbClr val="C9CED6"/>
            </a:solidFill>
            <a:prstDash val="solid"/>
          </a:ln>
        </p:spPr>
      </p:sp>
      <p:sp>
        <p:nvSpPr>
          <p:cNvPr id="70" name="Text 67"/>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1" name="Text 68"/>
          <p:cNvSpPr txBox="1"/>
          <p:nvPr/>
        </p:nvSpPr>
        <p:spPr>
          <a:xfrm>
            <a:off x="6697980" y="514502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فِي بُيُوتٌ</a:t>
            </a:r>
            <a:endParaRPr lang="ar-SA" sz="1700" dirty="0"/>
          </a:p>
        </p:txBody>
      </p:sp>
      <p:sp>
        <p:nvSpPr>
          <p:cNvPr id="72" name="Shape 69"/>
          <p:cNvSpPr/>
          <p:nvPr/>
        </p:nvSpPr>
        <p:spPr>
          <a:xfrm>
            <a:off x="6277356" y="5538216"/>
            <a:ext cx="5362956" cy="347472"/>
          </a:xfrm>
          <a:prstGeom prst="roundRect">
            <a:avLst>
              <a:gd name="adj" fmla="val 15789"/>
            </a:avLst>
          </a:prstGeom>
          <a:solidFill>
            <a:srgbClr val="E6F4EC"/>
          </a:solidFill>
          <a:ln w="9525">
            <a:solidFill>
              <a:srgbClr val="2E8B57"/>
            </a:solidFill>
            <a:prstDash val="solid"/>
          </a:ln>
        </p:spPr>
      </p:sp>
      <p:sp>
        <p:nvSpPr>
          <p:cNvPr id="73" name="Shape 70"/>
          <p:cNvSpPr/>
          <p:nvPr/>
        </p:nvSpPr>
        <p:spPr>
          <a:xfrm>
            <a:off x="6368796" y="5574792"/>
            <a:ext cx="256032" cy="256032"/>
          </a:xfrm>
          <a:prstGeom prst="ellipse">
            <a:avLst/>
          </a:prstGeom>
          <a:solidFill>
            <a:srgbClr val="2E8B57"/>
          </a:solidFill>
          <a:ln w="12700">
            <a:solidFill>
              <a:srgbClr val="2E8B57"/>
            </a:solidFill>
            <a:prstDash val="solid"/>
          </a:ln>
        </p:spPr>
      </p:sp>
      <p:sp>
        <p:nvSpPr>
          <p:cNvPr id="74" name="Text 71"/>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5" name="Text 72"/>
          <p:cNvSpPr txBox="1"/>
          <p:nvPr/>
        </p:nvSpPr>
        <p:spPr>
          <a:xfrm>
            <a:off x="6697980" y="5516880"/>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فِي بَيْتَيْنِ</a:t>
            </a:r>
            <a:endParaRPr lang="ar-SA" sz="1700" dirty="0"/>
          </a:p>
        </p:txBody>
      </p:sp>
      <p:sp>
        <p:nvSpPr>
          <p:cNvPr id="76" name="Text 73"/>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Genitive dual.</a:t>
            </a:r>
            <a:endParaRPr lang="en-US" sz="1050" dirty="0"/>
          </a:p>
        </p:txBody>
      </p:sp>
      <p:sp>
        <p:nvSpPr>
          <p:cNvPr id="77" name="Text 7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22 / 35</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GM-N-02 · Nouns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860" b="1" spc="150" kern="0" dirty="0">
                <a:solidFill>
                  <a:srgbClr val="1E6B52"/>
                </a:solidFill>
                <a:latin typeface="Calibri" pitchFamily="34" charset="0"/>
                <a:cs typeface="Amiri" pitchFamily="2" charset="-78"/>
              </a:rPr>
              <a:t>YOU DO · READ AND NOTICE · WEBSITE READ-AND-NOTICE TEXT, EXTENDED BY THE TEACHER</a:t>
            </a:r>
            <a:endParaRPr lang="en-US" sz="86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school in numbers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اِقْرَأْ وَلَاحِظْ</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Nouns · GM-N-02</a:t>
            </a:r>
            <a:endParaRPr lang="en-US" sz="850" dirty="0"/>
          </a:p>
        </p:txBody>
      </p:sp>
      <p:sp>
        <p:nvSpPr>
          <p:cNvPr id="15" name="Shape 12"/>
          <p:cNvSpPr/>
          <p:nvPr/>
        </p:nvSpPr>
        <p:spPr>
          <a:xfrm>
            <a:off x="457200" y="1810512"/>
            <a:ext cx="807415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65960"/>
            <a:ext cx="7616952" cy="4206240"/>
          </a:xfrm>
          <a:prstGeom prst="rect">
            <a:avLst/>
          </a:prstGeom>
          <a:noFill/>
          <a:ln/>
        </p:spPr>
        <p:txBody>
          <a:bodyPr wrap="square" lIns="0" tIns="0" rIns="0" bIns="0" rtlCol="0" anchor="t"/>
          <a:lstStyle/>
          <a:p>
            <a:pPr rtl="1" algn="r" indent="0" marL="0">
              <a:lnSpc>
                <a:spcPct val="120000"/>
              </a:lnSpc>
              <a:buNone/>
            </a:pPr>
            <a:r>
              <a:rPr lang="ar-SA" altLang="en-US" sz="2600" dirty="0">
                <a:solidFill>
                  <a:srgbClr val="1F2A37"/>
                </a:solidFill>
                <a:latin typeface="Amiri" pitchFamily="2" charset="-78"/>
                <a:ea typeface="Amiri" pitchFamily="2" charset="-78"/>
                <a:cs typeface="Amiri" pitchFamily="2" charset="-78"/>
              </a:rPr>
              <a:t>فِي مَدْرَسَتِنَا طَالِبَانِ جَدِيدَانِ وَمُعَلِّمَاتٌ خَبِيرَاتٌ. الْفُصُولُ وَاسِعَةٌ، وَمَكْتَبُ مُدِيرِ الْمَدْرَسَةِ قَرِيبٌ مِنَ الْمَدْخَلِ. فِي الْمَدْرَسَةِ مَكْتَبَتَانِ وَمَلْعَبٌ كَبِيرٌ. أَدْرُسُ مَعَ طَالِبَيْنِ مِنْ سُورِيَا.</a:t>
            </a:r>
            <a:endParaRPr lang="ar-SA" sz="2600" dirty="0"/>
          </a:p>
        </p:txBody>
      </p:sp>
      <p:sp>
        <p:nvSpPr>
          <p:cNvPr id="17" name="Shape 14"/>
          <p:cNvSpPr/>
          <p:nvPr/>
        </p:nvSpPr>
        <p:spPr>
          <a:xfrm>
            <a:off x="8714232" y="1810512"/>
            <a:ext cx="3017520" cy="4498848"/>
          </a:xfrm>
          <a:prstGeom prst="roundRect">
            <a:avLst>
              <a:gd name="adj" fmla="val 2424"/>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8897112" y="1883664"/>
            <a:ext cx="2651760" cy="292608"/>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KEY WORDS</a:t>
            </a:r>
            <a:endParaRPr lang="en-US" sz="1000" dirty="0"/>
          </a:p>
        </p:txBody>
      </p:sp>
      <p:sp>
        <p:nvSpPr>
          <p:cNvPr id="19" name="Text 16"/>
          <p:cNvSpPr txBox="1"/>
          <p:nvPr/>
        </p:nvSpPr>
        <p:spPr>
          <a:xfrm>
            <a:off x="10102291" y="2212848"/>
            <a:ext cx="1508760" cy="50292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طَالِبَانِ جَدِيدَانِ</a:t>
            </a:r>
            <a:endParaRPr lang="ar-SA" sz="1600" dirty="0"/>
          </a:p>
        </p:txBody>
      </p:sp>
      <p:sp>
        <p:nvSpPr>
          <p:cNvPr id="20" name="Text 17"/>
          <p:cNvSpPr txBox="1"/>
          <p:nvPr/>
        </p:nvSpPr>
        <p:spPr>
          <a:xfrm>
            <a:off x="8851392" y="2212848"/>
            <a:ext cx="1388059" cy="50292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two new students</a:t>
            </a:r>
            <a:endParaRPr lang="en-US" sz="1050" dirty="0"/>
          </a:p>
        </p:txBody>
      </p:sp>
      <p:sp>
        <p:nvSpPr>
          <p:cNvPr id="21" name="Text 18"/>
          <p:cNvSpPr txBox="1"/>
          <p:nvPr/>
        </p:nvSpPr>
        <p:spPr>
          <a:xfrm>
            <a:off x="10102291" y="2715768"/>
            <a:ext cx="1508760" cy="50292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مُعَلِّمَاتٌ خَبِيرَاتٌ</a:t>
            </a:r>
            <a:endParaRPr lang="ar-SA" sz="1600" dirty="0"/>
          </a:p>
        </p:txBody>
      </p:sp>
      <p:sp>
        <p:nvSpPr>
          <p:cNvPr id="22" name="Text 19"/>
          <p:cNvSpPr txBox="1"/>
          <p:nvPr/>
        </p:nvSpPr>
        <p:spPr>
          <a:xfrm>
            <a:off x="8851392" y="2715768"/>
            <a:ext cx="1388059" cy="50292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expert teachers (f.)</a:t>
            </a:r>
            <a:endParaRPr lang="en-US" sz="1050" dirty="0"/>
          </a:p>
        </p:txBody>
      </p:sp>
      <p:sp>
        <p:nvSpPr>
          <p:cNvPr id="23" name="Text 20"/>
          <p:cNvSpPr txBox="1"/>
          <p:nvPr/>
        </p:nvSpPr>
        <p:spPr>
          <a:xfrm>
            <a:off x="10102291" y="3218688"/>
            <a:ext cx="1508760" cy="50292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الْفُصُولُ</a:t>
            </a:r>
            <a:endParaRPr lang="ar-SA" sz="1600" dirty="0"/>
          </a:p>
        </p:txBody>
      </p:sp>
      <p:sp>
        <p:nvSpPr>
          <p:cNvPr id="24" name="Text 21"/>
          <p:cNvSpPr txBox="1"/>
          <p:nvPr/>
        </p:nvSpPr>
        <p:spPr>
          <a:xfrm>
            <a:off x="8851392" y="3218688"/>
            <a:ext cx="1388059" cy="50292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the classrooms</a:t>
            </a:r>
            <a:endParaRPr lang="en-US" sz="1050" dirty="0"/>
          </a:p>
        </p:txBody>
      </p:sp>
      <p:sp>
        <p:nvSpPr>
          <p:cNvPr id="25" name="Text 22"/>
          <p:cNvSpPr txBox="1"/>
          <p:nvPr/>
        </p:nvSpPr>
        <p:spPr>
          <a:xfrm>
            <a:off x="10102291" y="3721608"/>
            <a:ext cx="1508760" cy="50292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مَكْتَبُ الْمُدِيرِ</a:t>
            </a:r>
            <a:endParaRPr lang="ar-SA" sz="1600" dirty="0"/>
          </a:p>
        </p:txBody>
      </p:sp>
      <p:sp>
        <p:nvSpPr>
          <p:cNvPr id="26" name="Text 23"/>
          <p:cNvSpPr txBox="1"/>
          <p:nvPr/>
        </p:nvSpPr>
        <p:spPr>
          <a:xfrm>
            <a:off x="8851392" y="3721608"/>
            <a:ext cx="1388059" cy="50292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the head’s office</a:t>
            </a:r>
            <a:endParaRPr lang="en-US" sz="1050" dirty="0"/>
          </a:p>
        </p:txBody>
      </p:sp>
      <p:sp>
        <p:nvSpPr>
          <p:cNvPr id="27" name="Text 24"/>
          <p:cNvSpPr txBox="1"/>
          <p:nvPr/>
        </p:nvSpPr>
        <p:spPr>
          <a:xfrm>
            <a:off x="10102291" y="4224528"/>
            <a:ext cx="1508760" cy="50292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الْمَدْخَلِ</a:t>
            </a:r>
            <a:endParaRPr lang="ar-SA" sz="1600" dirty="0"/>
          </a:p>
        </p:txBody>
      </p:sp>
      <p:sp>
        <p:nvSpPr>
          <p:cNvPr id="28" name="Text 25"/>
          <p:cNvSpPr txBox="1"/>
          <p:nvPr/>
        </p:nvSpPr>
        <p:spPr>
          <a:xfrm>
            <a:off x="8851392" y="4224528"/>
            <a:ext cx="1388059" cy="50292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the entrance</a:t>
            </a:r>
            <a:endParaRPr lang="en-US" sz="1050" dirty="0"/>
          </a:p>
        </p:txBody>
      </p:sp>
      <p:sp>
        <p:nvSpPr>
          <p:cNvPr id="29" name="Text 26"/>
          <p:cNvSpPr txBox="1"/>
          <p:nvPr/>
        </p:nvSpPr>
        <p:spPr>
          <a:xfrm>
            <a:off x="10102291" y="4727448"/>
            <a:ext cx="1508760" cy="50292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مَكْتَبَتَانِ</a:t>
            </a:r>
            <a:endParaRPr lang="ar-SA" sz="1600" dirty="0"/>
          </a:p>
        </p:txBody>
      </p:sp>
      <p:sp>
        <p:nvSpPr>
          <p:cNvPr id="30" name="Text 27"/>
          <p:cNvSpPr txBox="1"/>
          <p:nvPr/>
        </p:nvSpPr>
        <p:spPr>
          <a:xfrm>
            <a:off x="8851392" y="4727448"/>
            <a:ext cx="1388059" cy="50292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two libraries</a:t>
            </a:r>
            <a:endParaRPr lang="en-US" sz="1050" dirty="0"/>
          </a:p>
        </p:txBody>
      </p:sp>
      <p:sp>
        <p:nvSpPr>
          <p:cNvPr id="31" name="Text 28"/>
          <p:cNvSpPr txBox="1"/>
          <p:nvPr/>
        </p:nvSpPr>
        <p:spPr>
          <a:xfrm>
            <a:off x="10102291" y="5230368"/>
            <a:ext cx="1508760" cy="50292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مَلْعَبٌ</a:t>
            </a:r>
            <a:endParaRPr lang="ar-SA" sz="1600" dirty="0"/>
          </a:p>
        </p:txBody>
      </p:sp>
      <p:sp>
        <p:nvSpPr>
          <p:cNvPr id="32" name="Text 29"/>
          <p:cNvSpPr txBox="1"/>
          <p:nvPr/>
        </p:nvSpPr>
        <p:spPr>
          <a:xfrm>
            <a:off x="8851392" y="5230368"/>
            <a:ext cx="1388059" cy="50292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a playground</a:t>
            </a:r>
            <a:endParaRPr lang="en-US" sz="10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23 / 35</a:t>
            </a:r>
            <a:endParaRPr lang="en-US" sz="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GM-N-02 · Nouns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READING QUESTIONS · FIND THE GRAMMAR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notice the grammar</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أَسْئِلَةُ القِرَاءَةِ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Nouns · GM-N-02</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many new students are there?</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one</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two</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many</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word is a DUAL with -ayni?</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طَالِبَانِ</a:t>
            </a:r>
            <a:endParaRPr lang="ar-SA" sz="20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مَكْتَبَتَانِ</a:t>
            </a:r>
            <a:endParaRPr lang="ar-SA" sz="20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طَالِبَيْنِ</a:t>
            </a:r>
            <a:endParaRPr lang="ar-SA" sz="20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Why is it </a:t>
            </a:r>
            <a:pPr algn="l" indent="0" marL="0">
              <a:buNone/>
            </a:pPr>
            <a:r>
              <a:rPr lang="ar-SA" altLang="en-US" sz="1650" b="1" dirty="0">
                <a:solidFill>
                  <a:srgbClr val="1B3B6F"/>
                </a:solidFill>
                <a:latin typeface="Amiri" pitchFamily="2" charset="-78"/>
                <a:ea typeface="Amiri" pitchFamily="2" charset="-78"/>
                <a:cs typeface="Amiri" pitchFamily="2" charset="-78"/>
              </a:rPr>
              <a:t>مَكْتَبَتَانِ</a:t>
            </a:r>
            <a:pPr algn="l" indent="0" marL="0">
              <a:buNone/>
            </a:pPr>
            <a:r>
              <a:rPr lang="en-US" sz="1250" b="1" dirty="0">
                <a:solidFill>
                  <a:srgbClr val="1B3B6F"/>
                </a:solidFill>
                <a:latin typeface="Calibri" pitchFamily="34" charset="0"/>
                <a:cs typeface="Amiri" pitchFamily="2" charset="-78"/>
              </a:rPr>
              <a:t> (with </a:t>
            </a:r>
            <a:pPr algn="l" indent="0" marL="0">
              <a:buNone/>
            </a:pPr>
            <a:r>
              <a:rPr lang="ar-SA" altLang="en-US" sz="1650" b="1" dirty="0">
                <a:solidFill>
                  <a:srgbClr val="1B3B6F"/>
                </a:solidFill>
                <a:latin typeface="Amiri" pitchFamily="2" charset="-78"/>
                <a:ea typeface="Amiri" pitchFamily="2" charset="-78"/>
                <a:cs typeface="Amiri" pitchFamily="2" charset="-78"/>
              </a:rPr>
              <a:t>ت</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ar-SA" altLang="en-US" sz="1650" dirty="0">
                <a:solidFill>
                  <a:srgbClr val="1F2A37"/>
                </a:solidFill>
                <a:latin typeface="Amiri" pitchFamily="2" charset="-78"/>
                <a:ea typeface="Amiri" pitchFamily="2" charset="-78"/>
                <a:cs typeface="Amiri" pitchFamily="2" charset="-78"/>
              </a:rPr>
              <a:t>ة</a:t>
            </a:r>
            <a:pPr algn="l" indent="0" marL="0">
              <a:buNone/>
            </a:pPr>
            <a:r>
              <a:rPr lang="en-US" sz="1250" dirty="0">
                <a:solidFill>
                  <a:srgbClr val="1F2A37"/>
                </a:solidFill>
                <a:latin typeface="Calibri" pitchFamily="34" charset="0"/>
                <a:cs typeface="Amiri" pitchFamily="2" charset="-78"/>
              </a:rPr>
              <a:t> opens to </a:t>
            </a:r>
            <a:pPr algn="l" indent="0" marL="0">
              <a:buNone/>
            </a:pPr>
            <a:r>
              <a:rPr lang="ar-SA" altLang="en-US" sz="1650" dirty="0">
                <a:solidFill>
                  <a:srgbClr val="1F2A37"/>
                </a:solidFill>
                <a:latin typeface="Amiri" pitchFamily="2" charset="-78"/>
                <a:ea typeface="Amiri" pitchFamily="2" charset="-78"/>
                <a:cs typeface="Amiri" pitchFamily="2" charset="-78"/>
              </a:rPr>
              <a:t>ت</a:t>
            </a:r>
            <a:pPr algn="l" indent="0" marL="0">
              <a:buNone/>
            </a:pPr>
            <a:r>
              <a:rPr lang="en-US" sz="1250" dirty="0">
                <a:solidFill>
                  <a:srgbClr val="1F2A37"/>
                </a:solidFill>
                <a:latin typeface="Calibri" pitchFamily="34" charset="0"/>
                <a:cs typeface="Amiri" pitchFamily="2" charset="-78"/>
              </a:rPr>
              <a:t> before the dual ending</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is plural</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is a verb</a:t>
            </a:r>
            <a:endParaRPr lang="en-US" sz="12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word is a PLURAL?</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مَلْعَبٌ</a:t>
            </a:r>
            <a:endParaRPr lang="ar-SA" sz="20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الْفُصُولُ</a:t>
            </a:r>
            <a:endParaRPr lang="ar-SA" sz="20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الْمَدْخَلِ</a:t>
            </a:r>
            <a:endParaRPr lang="ar-SA" sz="2050" dirty="0"/>
          </a:p>
        </p:txBody>
      </p:sp>
      <p:sp>
        <p:nvSpPr>
          <p:cNvPr id="67" name="Shape 64"/>
          <p:cNvSpPr/>
          <p:nvPr/>
        </p:nvSpPr>
        <p:spPr>
          <a:xfrm>
            <a:off x="4276344"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68" name="Text 65"/>
          <p:cNvSpPr txBox="1"/>
          <p:nvPr/>
        </p:nvSpPr>
        <p:spPr>
          <a:xfrm>
            <a:off x="4459224"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GRAMMAR DETECTIVE</a:t>
            </a:r>
            <a:endParaRPr lang="en-US" sz="1000" dirty="0"/>
          </a:p>
        </p:txBody>
      </p:sp>
      <p:sp>
        <p:nvSpPr>
          <p:cNvPr id="69" name="Text 66"/>
          <p:cNvSpPr txBox="1"/>
          <p:nvPr/>
        </p:nvSpPr>
        <p:spPr>
          <a:xfrm>
            <a:off x="4459224"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1. Read the question first.</a:t>
            </a:r>
            <a:endParaRPr lang="en-US" sz="1250" dirty="0"/>
          </a:p>
          <a:p>
            <a:pPr algn="l" indent="0" marL="0">
              <a:buNone/>
            </a:pPr>
            <a:r>
              <a:rPr lang="en-US" sz="1250" dirty="0">
                <a:solidFill>
                  <a:srgbClr val="1F2A37"/>
                </a:solidFill>
                <a:latin typeface="Calibri" pitchFamily="34" charset="0"/>
                <a:cs typeface="Amiri" pitchFamily="2" charset="-78"/>
              </a:rPr>
              <a:t>2. Find the phrase in the text.</a:t>
            </a:r>
            <a:endParaRPr lang="en-US" sz="1250" dirty="0"/>
          </a:p>
          <a:p>
            <a:pPr algn="l" indent="0" marL="0">
              <a:buNone/>
            </a:pPr>
            <a:r>
              <a:rPr lang="en-US" sz="1250" dirty="0">
                <a:solidFill>
                  <a:srgbClr val="1F2A37"/>
                </a:solidFill>
                <a:latin typeface="Calibri" pitchFamily="34" charset="0"/>
                <a:cs typeface="Amiri" pitchFamily="2" charset="-78"/>
              </a:rPr>
              <a:t>3. Name the rule that explains it.</a:t>
            </a:r>
            <a:endParaRPr lang="en-US" sz="1250" dirty="0"/>
          </a:p>
        </p:txBody>
      </p:sp>
      <p:sp>
        <p:nvSpPr>
          <p:cNvPr id="70" name="Text 6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24 / 35</a:t>
            </a:r>
            <a:endParaRPr lang="en-US" sz="8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GM-N-02 · Nouns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READING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إِجَابَاتُ القِرَاءَةِ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Nouns · GM-N-02</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many new students are there?</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one</a:t>
            </a:r>
            <a:endParaRPr lang="en-US" sz="125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two</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many</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طَالِبَانِ</a:t>
            </a:r>
            <a:pPr algn="l" indent="0" marL="0">
              <a:buNone/>
            </a:pPr>
            <a:r>
              <a:rPr lang="en-US" sz="1050" i="1" dirty="0">
                <a:solidFill>
                  <a:srgbClr val="8A6D1E"/>
                </a:solidFill>
                <a:latin typeface="Calibri" pitchFamily="34" charset="0"/>
                <a:cs typeface="Amiri" pitchFamily="2" charset="-78"/>
              </a:rPr>
              <a:t>: dual.</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word is a DUAL with -ayni?</a:t>
            </a:r>
            <a:endParaRPr lang="en-US" sz="1250" dirty="0"/>
          </a:p>
        </p:txBody>
      </p:sp>
      <p:sp>
        <p:nvSpPr>
          <p:cNvPr id="34" name="Shape 31"/>
          <p:cNvSpPr/>
          <p:nvPr/>
        </p:nvSpPr>
        <p:spPr>
          <a:xfrm>
            <a:off x="4459224" y="2490216"/>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طَالِبَانِ</a:t>
            </a:r>
            <a:endParaRPr lang="ar-SA" sz="1700" dirty="0"/>
          </a:p>
        </p:txBody>
      </p:sp>
      <p:sp>
        <p:nvSpPr>
          <p:cNvPr id="37" name="Shape 34"/>
          <p:cNvSpPr/>
          <p:nvPr/>
        </p:nvSpPr>
        <p:spPr>
          <a:xfrm>
            <a:off x="4459224" y="2862072"/>
            <a:ext cx="256032" cy="256032"/>
          </a:xfrm>
          <a:prstGeom prst="ellipse">
            <a:avLst/>
          </a:prstGeom>
          <a:solidFill>
            <a:srgbClr val="C9CED6"/>
          </a:solidFill>
          <a:ln w="12700">
            <a:solidFill>
              <a:srgbClr val="C9CED6"/>
            </a:solidFill>
            <a:prstDash val="solid"/>
          </a:ln>
        </p:spPr>
      </p:sp>
      <p:sp>
        <p:nvSpPr>
          <p:cNvPr id="38" name="Text 35"/>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مَكْتَبَتَانِ</a:t>
            </a:r>
            <a:endParaRPr lang="ar-SA" sz="1700" dirty="0"/>
          </a:p>
        </p:txBody>
      </p:sp>
      <p:sp>
        <p:nvSpPr>
          <p:cNvPr id="40" name="Shape 37"/>
          <p:cNvSpPr/>
          <p:nvPr/>
        </p:nvSpPr>
        <p:spPr>
          <a:xfrm>
            <a:off x="4367784" y="3197352"/>
            <a:ext cx="3453384" cy="347472"/>
          </a:xfrm>
          <a:prstGeom prst="roundRect">
            <a:avLst>
              <a:gd name="adj" fmla="val 15789"/>
            </a:avLst>
          </a:prstGeom>
          <a:solidFill>
            <a:srgbClr val="E6F4EC"/>
          </a:solidFill>
          <a:ln w="9525">
            <a:solidFill>
              <a:srgbClr val="2E8B57"/>
            </a:solidFill>
            <a:prstDash val="solid"/>
          </a:ln>
        </p:spPr>
      </p:sp>
      <p:sp>
        <p:nvSpPr>
          <p:cNvPr id="41" name="Shape 38"/>
          <p:cNvSpPr/>
          <p:nvPr/>
        </p:nvSpPr>
        <p:spPr>
          <a:xfrm>
            <a:off x="4459224" y="3233928"/>
            <a:ext cx="256032" cy="256032"/>
          </a:xfrm>
          <a:prstGeom prst="ellipse">
            <a:avLst/>
          </a:prstGeom>
          <a:solidFill>
            <a:srgbClr val="2E8B57"/>
          </a:solidFill>
          <a:ln w="12700">
            <a:solidFill>
              <a:srgbClr val="2E8B57"/>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طَالِبَيْنِ</a:t>
            </a:r>
            <a:endParaRPr lang="ar-SA" sz="170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After </a:t>
            </a:r>
            <a:pPr algn="l" indent="0" marL="0">
              <a:buNone/>
            </a:pPr>
            <a:r>
              <a:rPr lang="ar-SA" altLang="en-US" sz="1350" dirty="0">
                <a:solidFill>
                  <a:srgbClr val="8A6D1E"/>
                </a:solidFill>
                <a:latin typeface="Amiri" pitchFamily="2" charset="-78"/>
                <a:ea typeface="Amiri" pitchFamily="2" charset="-78"/>
                <a:cs typeface="Amiri" pitchFamily="2" charset="-78"/>
              </a:rPr>
              <a:t>مَعَ</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Why is it </a:t>
            </a:r>
            <a:pPr algn="l" indent="0" marL="0">
              <a:buNone/>
            </a:pPr>
            <a:r>
              <a:rPr lang="ar-SA" altLang="en-US" sz="1650" b="1" dirty="0">
                <a:solidFill>
                  <a:srgbClr val="1B3B6F"/>
                </a:solidFill>
                <a:latin typeface="Amiri" pitchFamily="2" charset="-78"/>
                <a:ea typeface="Amiri" pitchFamily="2" charset="-78"/>
                <a:cs typeface="Amiri" pitchFamily="2" charset="-78"/>
              </a:rPr>
              <a:t>مَكْتَبَتَانِ</a:t>
            </a:r>
            <a:pPr algn="l" indent="0" marL="0">
              <a:buNone/>
            </a:pPr>
            <a:r>
              <a:rPr lang="en-US" sz="1250" b="1" dirty="0">
                <a:solidFill>
                  <a:srgbClr val="1B3B6F"/>
                </a:solidFill>
                <a:latin typeface="Calibri" pitchFamily="34" charset="0"/>
                <a:cs typeface="Amiri" pitchFamily="2" charset="-78"/>
              </a:rPr>
              <a:t> (with </a:t>
            </a:r>
            <a:pPr algn="l" indent="0" marL="0">
              <a:buNone/>
            </a:pPr>
            <a:r>
              <a:rPr lang="ar-SA" altLang="en-US" sz="1650" b="1" dirty="0">
                <a:solidFill>
                  <a:srgbClr val="1B3B6F"/>
                </a:solidFill>
                <a:latin typeface="Amiri" pitchFamily="2" charset="-78"/>
                <a:ea typeface="Amiri" pitchFamily="2" charset="-78"/>
                <a:cs typeface="Amiri" pitchFamily="2" charset="-78"/>
              </a:rPr>
              <a:t>ت</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49" name="Shape 46"/>
          <p:cNvSpPr/>
          <p:nvPr/>
        </p:nvSpPr>
        <p:spPr>
          <a:xfrm>
            <a:off x="8186928" y="2453640"/>
            <a:ext cx="3453384" cy="347472"/>
          </a:xfrm>
          <a:prstGeom prst="roundRect">
            <a:avLst>
              <a:gd name="adj" fmla="val 15789"/>
            </a:avLst>
          </a:prstGeom>
          <a:solidFill>
            <a:srgbClr val="E6F4EC"/>
          </a:solidFill>
          <a:ln w="9525">
            <a:solidFill>
              <a:srgbClr val="2E8B57"/>
            </a:solidFill>
            <a:prstDash val="solid"/>
          </a:ln>
        </p:spPr>
      </p:sp>
      <p:sp>
        <p:nvSpPr>
          <p:cNvPr id="50" name="Shape 47"/>
          <p:cNvSpPr/>
          <p:nvPr/>
        </p:nvSpPr>
        <p:spPr>
          <a:xfrm>
            <a:off x="8278368" y="2490216"/>
            <a:ext cx="256032" cy="256032"/>
          </a:xfrm>
          <a:prstGeom prst="ellipse">
            <a:avLst/>
          </a:prstGeom>
          <a:solidFill>
            <a:srgbClr val="2E8B57"/>
          </a:solidFill>
          <a:ln w="12700">
            <a:solidFill>
              <a:srgbClr val="2E8B57"/>
            </a:solidFill>
            <a:prstDash val="solid"/>
          </a:ln>
        </p:spPr>
      </p:sp>
      <p:sp>
        <p:nvSpPr>
          <p:cNvPr id="51" name="Text 48"/>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2" name="Text 49"/>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ar-SA" altLang="en-US" sz="1650" b="1" dirty="0">
                <a:solidFill>
                  <a:srgbClr val="1F2A37"/>
                </a:solidFill>
                <a:latin typeface="Amiri" pitchFamily="2" charset="-78"/>
                <a:ea typeface="Amiri" pitchFamily="2" charset="-78"/>
                <a:cs typeface="Amiri" pitchFamily="2" charset="-78"/>
              </a:rPr>
              <a:t>ة</a:t>
            </a:r>
            <a:pPr algn="l" indent="0" marL="0">
              <a:buNone/>
            </a:pPr>
            <a:r>
              <a:rPr lang="en-US" sz="1250" b="1" dirty="0">
                <a:solidFill>
                  <a:srgbClr val="1F2A37"/>
                </a:solidFill>
                <a:latin typeface="Calibri" pitchFamily="34" charset="0"/>
                <a:cs typeface="Amiri" pitchFamily="2" charset="-78"/>
              </a:rPr>
              <a:t> opens to </a:t>
            </a:r>
            <a:pPr algn="l" indent="0" marL="0">
              <a:buNone/>
            </a:pPr>
            <a:r>
              <a:rPr lang="ar-SA" altLang="en-US" sz="1650" b="1" dirty="0">
                <a:solidFill>
                  <a:srgbClr val="1F2A37"/>
                </a:solidFill>
                <a:latin typeface="Amiri" pitchFamily="2" charset="-78"/>
                <a:ea typeface="Amiri" pitchFamily="2" charset="-78"/>
                <a:cs typeface="Amiri" pitchFamily="2" charset="-78"/>
              </a:rPr>
              <a:t>ت</a:t>
            </a:r>
            <a:pPr algn="l" indent="0" marL="0">
              <a:buNone/>
            </a:pPr>
            <a:r>
              <a:rPr lang="en-US" sz="1250" b="1" dirty="0">
                <a:solidFill>
                  <a:srgbClr val="1F2A37"/>
                </a:solidFill>
                <a:latin typeface="Calibri" pitchFamily="34" charset="0"/>
                <a:cs typeface="Amiri" pitchFamily="2" charset="-78"/>
              </a:rPr>
              <a:t> before the dual ending</a:t>
            </a:r>
            <a:endParaRPr lang="en-US" sz="1250" dirty="0"/>
          </a:p>
        </p:txBody>
      </p:sp>
      <p:sp>
        <p:nvSpPr>
          <p:cNvPr id="53" name="Shape 50"/>
          <p:cNvSpPr/>
          <p:nvPr/>
        </p:nvSpPr>
        <p:spPr>
          <a:xfrm>
            <a:off x="8278368" y="2862072"/>
            <a:ext cx="256032" cy="256032"/>
          </a:xfrm>
          <a:prstGeom prst="ellipse">
            <a:avLst/>
          </a:prstGeom>
          <a:solidFill>
            <a:srgbClr val="C9CED6"/>
          </a:solidFill>
          <a:ln w="12700">
            <a:solidFill>
              <a:srgbClr val="C9CED6"/>
            </a:solidFill>
            <a:prstDash val="solid"/>
          </a:ln>
        </p:spPr>
      </p:sp>
      <p:sp>
        <p:nvSpPr>
          <p:cNvPr id="54" name="Text 51"/>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2"/>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it is plural</a:t>
            </a:r>
            <a:endParaRPr lang="en-US" sz="1250" dirty="0"/>
          </a:p>
        </p:txBody>
      </p:sp>
      <p:sp>
        <p:nvSpPr>
          <p:cNvPr id="56" name="Shape 53"/>
          <p:cNvSpPr/>
          <p:nvPr/>
        </p:nvSpPr>
        <p:spPr>
          <a:xfrm>
            <a:off x="8278368" y="323392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it is a verb</a:t>
            </a:r>
            <a:endParaRPr lang="en-US" sz="125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مَكْتَبَةٌ → مَكْتَبَتَانِ.</a:t>
            </a:r>
            <a:endParaRPr lang="ar-SA" sz="13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word is a PLURAL?</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مَلْعَبٌ</a:t>
            </a:r>
            <a:endParaRPr lang="ar-SA" sz="1700" dirty="0"/>
          </a:p>
        </p:txBody>
      </p:sp>
      <p:sp>
        <p:nvSpPr>
          <p:cNvPr id="67" name="Shape 64"/>
          <p:cNvSpPr/>
          <p:nvPr/>
        </p:nvSpPr>
        <p:spPr>
          <a:xfrm>
            <a:off x="548640" y="5166360"/>
            <a:ext cx="3453384" cy="347472"/>
          </a:xfrm>
          <a:prstGeom prst="roundRect">
            <a:avLst>
              <a:gd name="adj" fmla="val 15789"/>
            </a:avLst>
          </a:prstGeom>
          <a:solidFill>
            <a:srgbClr val="E6F4EC"/>
          </a:solidFill>
          <a:ln w="9525">
            <a:solidFill>
              <a:srgbClr val="2E8B57"/>
            </a:solidFill>
            <a:prstDash val="solid"/>
          </a:ln>
        </p:spPr>
      </p:sp>
      <p:sp>
        <p:nvSpPr>
          <p:cNvPr id="68" name="Shape 65"/>
          <p:cNvSpPr/>
          <p:nvPr/>
        </p:nvSpPr>
        <p:spPr>
          <a:xfrm>
            <a:off x="640080" y="5202936"/>
            <a:ext cx="256032" cy="256032"/>
          </a:xfrm>
          <a:prstGeom prst="ellipse">
            <a:avLst/>
          </a:prstGeom>
          <a:solidFill>
            <a:srgbClr val="2E8B57"/>
          </a:solidFill>
          <a:ln w="12700">
            <a:solidFill>
              <a:srgbClr val="2E8B57"/>
            </a:solidFill>
            <a:prstDash val="solid"/>
          </a:ln>
        </p:spPr>
      </p:sp>
      <p:sp>
        <p:nvSpPr>
          <p:cNvPr id="69" name="Text 66"/>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70" name="Text 67"/>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الْفُصُولُ</a:t>
            </a:r>
            <a:endParaRPr lang="ar-SA" sz="1700" dirty="0"/>
          </a:p>
        </p:txBody>
      </p:sp>
      <p:sp>
        <p:nvSpPr>
          <p:cNvPr id="71" name="Shape 68"/>
          <p:cNvSpPr/>
          <p:nvPr/>
        </p:nvSpPr>
        <p:spPr>
          <a:xfrm>
            <a:off x="640080"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الْمَدْخَلِ</a:t>
            </a:r>
            <a:endParaRPr lang="ar-SA" sz="170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فَصْلٌ → فُصُولٌ.</a:t>
            </a:r>
            <a:endParaRPr lang="ar-SA" sz="1350" dirty="0"/>
          </a:p>
        </p:txBody>
      </p:sp>
      <p:sp>
        <p:nvSpPr>
          <p:cNvPr id="75" name="Shape 72"/>
          <p:cNvSpPr/>
          <p:nvPr/>
        </p:nvSpPr>
        <p:spPr>
          <a:xfrm>
            <a:off x="4276344"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76" name="Text 73"/>
          <p:cNvSpPr txBox="1"/>
          <p:nvPr/>
        </p:nvSpPr>
        <p:spPr>
          <a:xfrm>
            <a:off x="4459224"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GRAMMAR DETECTIVE</a:t>
            </a:r>
            <a:endParaRPr lang="en-US" sz="1000" dirty="0"/>
          </a:p>
        </p:txBody>
      </p:sp>
      <p:sp>
        <p:nvSpPr>
          <p:cNvPr id="77" name="Text 74"/>
          <p:cNvSpPr txBox="1"/>
          <p:nvPr/>
        </p:nvSpPr>
        <p:spPr>
          <a:xfrm>
            <a:off x="4459224"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1. Read the question first.</a:t>
            </a:r>
            <a:endParaRPr lang="en-US" sz="1250" dirty="0"/>
          </a:p>
          <a:p>
            <a:pPr algn="l" indent="0" marL="0">
              <a:buNone/>
            </a:pPr>
            <a:r>
              <a:rPr lang="en-US" sz="1250" dirty="0">
                <a:solidFill>
                  <a:srgbClr val="1F2A37"/>
                </a:solidFill>
                <a:latin typeface="Calibri" pitchFamily="34" charset="0"/>
                <a:cs typeface="Amiri" pitchFamily="2" charset="-78"/>
              </a:rPr>
              <a:t>2. Find the phrase in the text.</a:t>
            </a:r>
            <a:endParaRPr lang="en-US" sz="1250" dirty="0"/>
          </a:p>
          <a:p>
            <a:pPr algn="l" indent="0" marL="0">
              <a:buNone/>
            </a:pPr>
            <a:r>
              <a:rPr lang="en-US" sz="1250" dirty="0">
                <a:solidFill>
                  <a:srgbClr val="1F2A37"/>
                </a:solidFill>
                <a:latin typeface="Calibri" pitchFamily="34" charset="0"/>
                <a:cs typeface="Amiri" pitchFamily="2" charset="-78"/>
              </a:rPr>
              <a:t>3. Name the rule that explains it.</a:t>
            </a:r>
            <a:endParaRPr lang="en-US" sz="1250" dirty="0"/>
          </a:p>
        </p:txBody>
      </p:sp>
      <p:sp>
        <p:nvSpPr>
          <p:cNvPr id="78" name="Text 7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25 / 35</a:t>
            </a:r>
            <a:endParaRPr lang="en-US" sz="8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GM-N-02 · Nouns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SAY IT BEFORE YOU WRITE IT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Speaking: one, two, many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التَّحَدُّثُ</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Nouns · GM-N-02</a:t>
            </a:r>
            <a:endParaRPr lang="en-US" sz="850" dirty="0"/>
          </a:p>
        </p:txBody>
      </p:sp>
      <p:sp>
        <p:nvSpPr>
          <p:cNvPr id="15" name="Shape 12"/>
          <p:cNvSpPr/>
          <p:nvPr/>
        </p:nvSpPr>
        <p:spPr>
          <a:xfrm>
            <a:off x="457200" y="1810512"/>
            <a:ext cx="2185416" cy="566928"/>
          </a:xfrm>
          <a:prstGeom prst="roundRect">
            <a:avLst>
              <a:gd name="adj" fmla="val 12903"/>
            </a:avLst>
          </a:prstGeom>
          <a:solidFill>
            <a:srgbClr val="EEF3FA"/>
          </a:solidFill>
          <a:ln w="9525">
            <a:solidFill>
              <a:srgbClr val="C9D6EA"/>
            </a:solidFill>
            <a:prstDash val="solid"/>
          </a:ln>
        </p:spPr>
      </p:sp>
      <p:sp>
        <p:nvSpPr>
          <p:cNvPr id="16" name="Text 13"/>
          <p:cNvSpPr txBox="1"/>
          <p:nvPr/>
        </p:nvSpPr>
        <p:spPr>
          <a:xfrm>
            <a:off x="512064"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17" name="Text 14"/>
          <p:cNvSpPr txBox="1"/>
          <p:nvPr/>
        </p:nvSpPr>
        <p:spPr>
          <a:xfrm>
            <a:off x="914400"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Think</a:t>
            </a:r>
            <a:endParaRPr lang="en-US" sz="1050" dirty="0"/>
          </a:p>
          <a:p>
            <a:pPr indent="0" marL="0">
              <a:buNone/>
            </a:pPr>
            <a:r>
              <a:rPr lang="en-US" sz="950" dirty="0">
                <a:solidFill>
                  <a:srgbClr val="5A6472"/>
                </a:solidFill>
                <a:latin typeface="Calibri" pitchFamily="34" charset="0"/>
                <a:cs typeface="Amiri" pitchFamily="2" charset="-78"/>
              </a:rPr>
              <a:t>10 seconds</a:t>
            </a:r>
            <a:endParaRPr lang="en-US" sz="1050" dirty="0"/>
          </a:p>
        </p:txBody>
      </p:sp>
      <p:sp>
        <p:nvSpPr>
          <p:cNvPr id="18" name="Shape 15"/>
          <p:cNvSpPr/>
          <p:nvPr/>
        </p:nvSpPr>
        <p:spPr>
          <a:xfrm>
            <a:off x="2729484" y="1810512"/>
            <a:ext cx="2185416" cy="566928"/>
          </a:xfrm>
          <a:prstGeom prst="roundRect">
            <a:avLst>
              <a:gd name="adj" fmla="val 12903"/>
            </a:avLst>
          </a:prstGeom>
          <a:solidFill>
            <a:srgbClr val="EEF3FA"/>
          </a:solidFill>
          <a:ln w="9525">
            <a:solidFill>
              <a:srgbClr val="C9D6EA"/>
            </a:solidFill>
            <a:prstDash val="solid"/>
          </a:ln>
        </p:spPr>
      </p:sp>
      <p:sp>
        <p:nvSpPr>
          <p:cNvPr id="19" name="Text 16"/>
          <p:cNvSpPr txBox="1"/>
          <p:nvPr/>
        </p:nvSpPr>
        <p:spPr>
          <a:xfrm>
            <a:off x="2784348"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0" name="Text 17"/>
          <p:cNvSpPr txBox="1"/>
          <p:nvPr/>
        </p:nvSpPr>
        <p:spPr>
          <a:xfrm>
            <a:off x="3186684"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Rehearse</a:t>
            </a:r>
            <a:endParaRPr lang="en-US" sz="1050" dirty="0"/>
          </a:p>
          <a:p>
            <a:pPr indent="0" marL="0">
              <a:buNone/>
            </a:pPr>
            <a:r>
              <a:rPr lang="en-US" sz="950" dirty="0">
                <a:solidFill>
                  <a:srgbClr val="5A6472"/>
                </a:solidFill>
                <a:latin typeface="Calibri" pitchFamily="34" charset="0"/>
                <a:cs typeface="Amiri" pitchFamily="2" charset="-78"/>
              </a:rPr>
              <a:t>muted · 45 s</a:t>
            </a:r>
            <a:endParaRPr lang="en-US" sz="1050" dirty="0"/>
          </a:p>
        </p:txBody>
      </p:sp>
      <p:sp>
        <p:nvSpPr>
          <p:cNvPr id="21" name="Shape 18"/>
          <p:cNvSpPr/>
          <p:nvPr/>
        </p:nvSpPr>
        <p:spPr>
          <a:xfrm>
            <a:off x="5001768" y="1810512"/>
            <a:ext cx="2185416" cy="566928"/>
          </a:xfrm>
          <a:prstGeom prst="roundRect">
            <a:avLst>
              <a:gd name="adj" fmla="val 12903"/>
            </a:avLst>
          </a:prstGeom>
          <a:solidFill>
            <a:srgbClr val="EEF3FA"/>
          </a:solidFill>
          <a:ln w="9525">
            <a:solidFill>
              <a:srgbClr val="C9D6EA"/>
            </a:solidFill>
            <a:prstDash val="solid"/>
          </a:ln>
        </p:spPr>
      </p:sp>
      <p:sp>
        <p:nvSpPr>
          <p:cNvPr id="22" name="Text 19"/>
          <p:cNvSpPr txBox="1"/>
          <p:nvPr/>
        </p:nvSpPr>
        <p:spPr>
          <a:xfrm>
            <a:off x="5056632"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3" name="Text 20"/>
          <p:cNvSpPr txBox="1"/>
          <p:nvPr/>
        </p:nvSpPr>
        <p:spPr>
          <a:xfrm>
            <a:off x="5458968"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Pairs share</a:t>
            </a:r>
            <a:endParaRPr lang="en-US" sz="1050" dirty="0"/>
          </a:p>
          <a:p>
            <a:pPr indent="0" marL="0">
              <a:buNone/>
            </a:pPr>
            <a:r>
              <a:rPr lang="en-US" sz="950" dirty="0">
                <a:solidFill>
                  <a:srgbClr val="5A6472"/>
                </a:solidFill>
                <a:latin typeface="Calibri" pitchFamily="34" charset="0"/>
                <a:cs typeface="Amiri" pitchFamily="2" charset="-78"/>
              </a:rPr>
              <a:t>open mic</a:t>
            </a:r>
            <a:endParaRPr lang="en-US" sz="1050" dirty="0"/>
          </a:p>
        </p:txBody>
      </p:sp>
      <p:sp>
        <p:nvSpPr>
          <p:cNvPr id="24" name="Shape 21"/>
          <p:cNvSpPr/>
          <p:nvPr/>
        </p:nvSpPr>
        <p:spPr>
          <a:xfrm>
            <a:off x="7274052" y="1810512"/>
            <a:ext cx="2185416" cy="566928"/>
          </a:xfrm>
          <a:prstGeom prst="roundRect">
            <a:avLst>
              <a:gd name="adj" fmla="val 12903"/>
            </a:avLst>
          </a:prstGeom>
          <a:solidFill>
            <a:srgbClr val="EEF3FA"/>
          </a:solidFill>
          <a:ln w="9525">
            <a:solidFill>
              <a:srgbClr val="C9D6EA"/>
            </a:solidFill>
            <a:prstDash val="solid"/>
          </a:ln>
        </p:spPr>
      </p:sp>
      <p:sp>
        <p:nvSpPr>
          <p:cNvPr id="25" name="Text 22"/>
          <p:cNvSpPr txBox="1"/>
          <p:nvPr/>
        </p:nvSpPr>
        <p:spPr>
          <a:xfrm>
            <a:off x="7328916"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 ?</a:t>
            </a:r>
            <a:endParaRPr lang="en-US" sz="1800" dirty="0"/>
          </a:p>
        </p:txBody>
      </p:sp>
      <p:sp>
        <p:nvSpPr>
          <p:cNvPr id="26" name="Text 23"/>
          <p:cNvSpPr txBox="1"/>
          <p:nvPr/>
        </p:nvSpPr>
        <p:spPr>
          <a:xfrm>
            <a:off x="7731252"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Build / ask</a:t>
            </a:r>
            <a:endParaRPr lang="en-US" sz="1050" dirty="0"/>
          </a:p>
          <a:p>
            <a:pPr indent="0" marL="0">
              <a:buNone/>
            </a:pPr>
            <a:r>
              <a:rPr lang="en-US" sz="950" dirty="0">
                <a:solidFill>
                  <a:srgbClr val="5A6472"/>
                </a:solidFill>
                <a:latin typeface="Calibri" pitchFamily="34" charset="0"/>
                <a:cs typeface="Amiri" pitchFamily="2" charset="-78"/>
              </a:rPr>
              <a:t>in the chat</a:t>
            </a:r>
            <a:endParaRPr lang="en-US" sz="1050" dirty="0"/>
          </a:p>
        </p:txBody>
      </p:sp>
      <p:sp>
        <p:nvSpPr>
          <p:cNvPr id="27" name="Shape 24"/>
          <p:cNvSpPr/>
          <p:nvPr/>
        </p:nvSpPr>
        <p:spPr>
          <a:xfrm>
            <a:off x="9546336" y="1810512"/>
            <a:ext cx="2185416" cy="566928"/>
          </a:xfrm>
          <a:prstGeom prst="roundRect">
            <a:avLst>
              <a:gd name="adj" fmla="val 12903"/>
            </a:avLst>
          </a:prstGeom>
          <a:solidFill>
            <a:srgbClr val="EEF3FA"/>
          </a:solidFill>
          <a:ln w="9525">
            <a:solidFill>
              <a:srgbClr val="C9D6EA"/>
            </a:solidFill>
            <a:prstDash val="solid"/>
          </a:ln>
        </p:spPr>
      </p:sp>
      <p:sp>
        <p:nvSpPr>
          <p:cNvPr id="28" name="Text 25"/>
          <p:cNvSpPr txBox="1"/>
          <p:nvPr/>
        </p:nvSpPr>
        <p:spPr>
          <a:xfrm>
            <a:off x="9601200"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9" name="Text 26"/>
          <p:cNvSpPr txBox="1"/>
          <p:nvPr/>
        </p:nvSpPr>
        <p:spPr>
          <a:xfrm>
            <a:off x="10003536"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Summarise</a:t>
            </a:r>
            <a:endParaRPr lang="en-US" sz="1050" dirty="0"/>
          </a:p>
          <a:p>
            <a:pPr indent="0" marL="0">
              <a:buNone/>
            </a:pPr>
            <a:r>
              <a:rPr lang="en-US" sz="950" dirty="0">
                <a:solidFill>
                  <a:srgbClr val="5A6472"/>
                </a:solidFill>
                <a:latin typeface="Calibri" pitchFamily="34" charset="0"/>
                <a:cs typeface="Amiri" pitchFamily="2" charset="-78"/>
              </a:rPr>
              <a:t>he / she …</a:t>
            </a:r>
            <a:endParaRPr lang="en-US" sz="1050" dirty="0"/>
          </a:p>
        </p:txBody>
      </p:sp>
      <p:sp>
        <p:nvSpPr>
          <p:cNvPr id="30" name="Shape 27"/>
          <p:cNvSpPr/>
          <p:nvPr/>
        </p:nvSpPr>
        <p:spPr>
          <a:xfrm>
            <a:off x="4754880" y="2487168"/>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846320" y="2642616"/>
            <a:ext cx="960120" cy="256032"/>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4846320" y="2642616"/>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3" name="Text 30"/>
          <p:cNvSpPr txBox="1"/>
          <p:nvPr/>
        </p:nvSpPr>
        <p:spPr>
          <a:xfrm>
            <a:off x="5897880" y="2487168"/>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كَمْ كِتَابًا عِنْدَكَ؟ قُلْ: كِتَابٌ / كِتَابَانِ / كُتُبٌ.</a:t>
            </a:r>
            <a:endParaRPr lang="ar-SA" sz="1800" dirty="0"/>
          </a:p>
        </p:txBody>
      </p:sp>
      <p:sp>
        <p:nvSpPr>
          <p:cNvPr id="34" name="Shape 31"/>
          <p:cNvSpPr/>
          <p:nvPr/>
        </p:nvSpPr>
        <p:spPr>
          <a:xfrm>
            <a:off x="4754880" y="3108960"/>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5" name="Shape 32"/>
          <p:cNvSpPr/>
          <p:nvPr/>
        </p:nvSpPr>
        <p:spPr>
          <a:xfrm>
            <a:off x="4846320" y="3264408"/>
            <a:ext cx="960120" cy="256032"/>
          </a:xfrm>
          <a:prstGeom prst="roundRect">
            <a:avLst>
              <a:gd name="adj" fmla="val 50000"/>
            </a:avLst>
          </a:prstGeom>
          <a:solidFill>
            <a:srgbClr val="C9780A"/>
          </a:solidFill>
          <a:ln w="12700">
            <a:solidFill>
              <a:srgbClr val="C9780A"/>
            </a:solidFill>
            <a:prstDash val="solid"/>
          </a:ln>
        </p:spPr>
      </p:sp>
      <p:sp>
        <p:nvSpPr>
          <p:cNvPr id="36" name="Text 33"/>
          <p:cNvSpPr txBox="1"/>
          <p:nvPr/>
        </p:nvSpPr>
        <p:spPr>
          <a:xfrm>
            <a:off x="4846320" y="3264408"/>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7" name="Text 34"/>
          <p:cNvSpPr txBox="1"/>
          <p:nvPr/>
        </p:nvSpPr>
        <p:spPr>
          <a:xfrm>
            <a:off x="5897880" y="3108960"/>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مَاذَا فِي غُرْفَتِكَ؟ اِسْتَعْمِلِ الْمُثَنَّى مَرَّتَيْنِ.</a:t>
            </a:r>
            <a:endParaRPr lang="ar-SA" sz="1800" dirty="0"/>
          </a:p>
        </p:txBody>
      </p:sp>
      <p:sp>
        <p:nvSpPr>
          <p:cNvPr id="38" name="Shape 35"/>
          <p:cNvSpPr/>
          <p:nvPr/>
        </p:nvSpPr>
        <p:spPr>
          <a:xfrm>
            <a:off x="4754880" y="3730752"/>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9" name="Shape 36"/>
          <p:cNvSpPr/>
          <p:nvPr/>
        </p:nvSpPr>
        <p:spPr>
          <a:xfrm>
            <a:off x="4846320" y="3886200"/>
            <a:ext cx="960120" cy="256032"/>
          </a:xfrm>
          <a:prstGeom prst="roundRect">
            <a:avLst>
              <a:gd name="adj" fmla="val 50000"/>
            </a:avLst>
          </a:prstGeom>
          <a:solidFill>
            <a:srgbClr val="B83227"/>
          </a:solidFill>
          <a:ln w="12700">
            <a:solidFill>
              <a:srgbClr val="B83227"/>
            </a:solidFill>
            <a:prstDash val="solid"/>
          </a:ln>
        </p:spPr>
      </p:sp>
      <p:sp>
        <p:nvSpPr>
          <p:cNvPr id="40" name="Text 37"/>
          <p:cNvSpPr txBox="1"/>
          <p:nvPr/>
        </p:nvSpPr>
        <p:spPr>
          <a:xfrm>
            <a:off x="4846320" y="3886200"/>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1" name="Text 38"/>
          <p:cNvSpPr txBox="1"/>
          <p:nvPr/>
        </p:nvSpPr>
        <p:spPr>
          <a:xfrm>
            <a:off x="5897880" y="3730752"/>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مَعَ مَنْ تَدْرُسُ؟ اِسْتَعْمِلْ «مَعَ» + الْمُثَنَّى.</a:t>
            </a:r>
            <a:endParaRPr lang="ar-SA" sz="1800" dirty="0"/>
          </a:p>
        </p:txBody>
      </p:sp>
      <p:sp>
        <p:nvSpPr>
          <p:cNvPr id="42" name="Shape 39"/>
          <p:cNvSpPr/>
          <p:nvPr/>
        </p:nvSpPr>
        <p:spPr>
          <a:xfrm>
            <a:off x="457200" y="2487168"/>
            <a:ext cx="4114800" cy="2651760"/>
          </a:xfrm>
          <a:prstGeom prst="roundRect">
            <a:avLst>
              <a:gd name="adj" fmla="val 2759"/>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640080" y="2542032"/>
            <a:ext cx="27432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SENTENCE STEMS</a:t>
            </a:r>
            <a:endParaRPr lang="en-US" sz="1000" dirty="0"/>
          </a:p>
        </p:txBody>
      </p:sp>
      <p:sp>
        <p:nvSpPr>
          <p:cNvPr id="44" name="Shape 41"/>
          <p:cNvSpPr/>
          <p:nvPr/>
        </p:nvSpPr>
        <p:spPr>
          <a:xfrm>
            <a:off x="640080" y="3008376"/>
            <a:ext cx="1051560" cy="256032"/>
          </a:xfrm>
          <a:prstGeom prst="roundRect">
            <a:avLst>
              <a:gd name="adj" fmla="val 50000"/>
            </a:avLst>
          </a:prstGeom>
          <a:solidFill>
            <a:srgbClr val="2E8B57"/>
          </a:solidFill>
          <a:ln w="12700">
            <a:solidFill>
              <a:srgbClr val="2E8B57"/>
            </a:solidFill>
            <a:prstDash val="solid"/>
          </a:ln>
        </p:spPr>
      </p:sp>
      <p:sp>
        <p:nvSpPr>
          <p:cNvPr id="45" name="Text 42"/>
          <p:cNvSpPr txBox="1"/>
          <p:nvPr/>
        </p:nvSpPr>
        <p:spPr>
          <a:xfrm>
            <a:off x="640080" y="3008376"/>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6" name="Text 43"/>
          <p:cNvSpPr txBox="1"/>
          <p:nvPr/>
        </p:nvSpPr>
        <p:spPr>
          <a:xfrm>
            <a:off x="1783080" y="2852928"/>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D5FBF"/>
                </a:solidFill>
                <a:latin typeface="Amiri" pitchFamily="2" charset="-78"/>
                <a:ea typeface="Amiri" pitchFamily="2" charset="-78"/>
                <a:cs typeface="Amiri" pitchFamily="2" charset="-78"/>
              </a:rPr>
              <a:t>عِنْدِي ___ .</a:t>
            </a:r>
            <a:endParaRPr lang="ar-SA" sz="1600" dirty="0"/>
          </a:p>
        </p:txBody>
      </p:sp>
      <p:sp>
        <p:nvSpPr>
          <p:cNvPr id="47" name="Shape 44"/>
          <p:cNvSpPr/>
          <p:nvPr/>
        </p:nvSpPr>
        <p:spPr>
          <a:xfrm>
            <a:off x="640080" y="3566160"/>
            <a:ext cx="1051560" cy="256032"/>
          </a:xfrm>
          <a:prstGeom prst="roundRect">
            <a:avLst>
              <a:gd name="adj" fmla="val 50000"/>
            </a:avLst>
          </a:prstGeom>
          <a:solidFill>
            <a:srgbClr val="C9780A"/>
          </a:solidFill>
          <a:ln w="12700">
            <a:solidFill>
              <a:srgbClr val="C9780A"/>
            </a:solidFill>
            <a:prstDash val="solid"/>
          </a:ln>
        </p:spPr>
      </p:sp>
      <p:sp>
        <p:nvSpPr>
          <p:cNvPr id="48" name="Text 45"/>
          <p:cNvSpPr txBox="1"/>
          <p:nvPr/>
        </p:nvSpPr>
        <p:spPr>
          <a:xfrm>
            <a:off x="640080" y="3566160"/>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49" name="Text 46"/>
          <p:cNvSpPr txBox="1"/>
          <p:nvPr/>
        </p:nvSpPr>
        <p:spPr>
          <a:xfrm>
            <a:off x="1783080" y="3410712"/>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ea typeface="Amiri" pitchFamily="2" charset="-78"/>
                <a:cs typeface="Amiri" pitchFamily="2" charset="-78"/>
              </a:rPr>
              <a:t>فِي غُرْفَتِي ___ وَ ___ .</a:t>
            </a:r>
            <a:endParaRPr lang="ar-SA" sz="1600" dirty="0"/>
          </a:p>
        </p:txBody>
      </p:sp>
      <p:sp>
        <p:nvSpPr>
          <p:cNvPr id="50" name="Shape 47"/>
          <p:cNvSpPr/>
          <p:nvPr/>
        </p:nvSpPr>
        <p:spPr>
          <a:xfrm>
            <a:off x="640080" y="4123944"/>
            <a:ext cx="1051560" cy="256032"/>
          </a:xfrm>
          <a:prstGeom prst="roundRect">
            <a:avLst>
              <a:gd name="adj" fmla="val 50000"/>
            </a:avLst>
          </a:prstGeom>
          <a:solidFill>
            <a:srgbClr val="B83227"/>
          </a:solidFill>
          <a:ln w="12700">
            <a:solidFill>
              <a:srgbClr val="B83227"/>
            </a:solidFill>
            <a:prstDash val="solid"/>
          </a:ln>
        </p:spPr>
      </p:sp>
      <p:sp>
        <p:nvSpPr>
          <p:cNvPr id="51" name="Text 48"/>
          <p:cNvSpPr txBox="1"/>
          <p:nvPr/>
        </p:nvSpPr>
        <p:spPr>
          <a:xfrm>
            <a:off x="640080" y="4123944"/>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52" name="Text 49"/>
          <p:cNvSpPr txBox="1"/>
          <p:nvPr/>
        </p:nvSpPr>
        <p:spPr>
          <a:xfrm>
            <a:off x="1783080" y="3968496"/>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ea typeface="Amiri" pitchFamily="2" charset="-78"/>
                <a:cs typeface="Amiri" pitchFamily="2" charset="-78"/>
              </a:rPr>
              <a:t>أَدْرُسُ مَعَ ___ .</a:t>
            </a:r>
            <a:endParaRPr lang="ar-SA" sz="1600" dirty="0"/>
          </a:p>
        </p:txBody>
      </p:sp>
      <p:sp>
        <p:nvSpPr>
          <p:cNvPr id="53" name="Shape 50"/>
          <p:cNvSpPr/>
          <p:nvPr/>
        </p:nvSpPr>
        <p:spPr>
          <a:xfrm>
            <a:off x="457200" y="5248656"/>
            <a:ext cx="11274552" cy="1060704"/>
          </a:xfrm>
          <a:prstGeom prst="roundRect">
            <a:avLst>
              <a:gd name="adj" fmla="val 6897"/>
            </a:avLst>
          </a:prstGeom>
          <a:solidFill>
            <a:srgbClr val="EAF3EF"/>
          </a:solidFill>
          <a:ln w="9525">
            <a:solidFill>
              <a:srgbClr val="A8CDB9"/>
            </a:solidFill>
            <a:prstDash val="solid"/>
          </a:ln>
          <a:effectLst>
            <a:outerShdw sx="100000" sy="100000" kx="0" ky="0" algn="bl" rotWithShape="0" blurRad="50800" dist="19050" dir="5400000">
              <a:srgbClr val="000000">
                <a:alpha val="10000"/>
              </a:srgbClr>
            </a:outerShdw>
          </a:effectLst>
        </p:spPr>
      </p:sp>
      <p:sp>
        <p:nvSpPr>
          <p:cNvPr id="54" name="Text 51"/>
          <p:cNvSpPr txBox="1"/>
          <p:nvPr/>
        </p:nvSpPr>
        <p:spPr>
          <a:xfrm>
            <a:off x="640080" y="5285232"/>
            <a:ext cx="2011680" cy="256032"/>
          </a:xfrm>
          <a:prstGeom prst="rect">
            <a:avLst/>
          </a:prstGeom>
          <a:noFill/>
          <a:ln/>
        </p:spPr>
        <p:txBody>
          <a:bodyPr wrap="square" lIns="0" tIns="0" rIns="0" bIns="0" rtlCol="0" anchor="ctr"/>
          <a:lstStyle/>
          <a:p>
            <a:pPr algn="l" indent="0" marL="0">
              <a:buNone/>
            </a:pPr>
            <a:r>
              <a:rPr lang="en-US" sz="950" b="1" spc="100" kern="0" dirty="0">
                <a:solidFill>
                  <a:srgbClr val="1E6B52"/>
                </a:solidFill>
                <a:latin typeface="Calibri" pitchFamily="34" charset="0"/>
                <a:cs typeface="Amiri" pitchFamily="2" charset="-78"/>
              </a:rPr>
              <a:t>MODEL (WEBSITE)</a:t>
            </a:r>
            <a:endParaRPr lang="en-US" sz="950" dirty="0"/>
          </a:p>
        </p:txBody>
      </p:sp>
      <p:sp>
        <p:nvSpPr>
          <p:cNvPr id="55" name="Shape 52"/>
          <p:cNvSpPr/>
          <p:nvPr/>
        </p:nvSpPr>
        <p:spPr>
          <a:xfrm>
            <a:off x="11274552" y="5559552"/>
            <a:ext cx="292608" cy="292608"/>
          </a:xfrm>
          <a:prstGeom prst="ellipse">
            <a:avLst/>
          </a:prstGeom>
          <a:solidFill>
            <a:srgbClr val="1E6B52"/>
          </a:solidFill>
          <a:ln w="12700">
            <a:solidFill>
              <a:srgbClr val="1E6B52"/>
            </a:solidFill>
            <a:prstDash val="solid"/>
          </a:ln>
        </p:spPr>
      </p:sp>
      <p:sp>
        <p:nvSpPr>
          <p:cNvPr id="56" name="Text 53"/>
          <p:cNvSpPr txBox="1"/>
          <p:nvPr/>
        </p:nvSpPr>
        <p:spPr>
          <a:xfrm>
            <a:off x="11274552" y="555955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A</a:t>
            </a:r>
            <a:endParaRPr lang="en-US" sz="1000" dirty="0"/>
          </a:p>
        </p:txBody>
      </p:sp>
      <p:sp>
        <p:nvSpPr>
          <p:cNvPr id="57" name="Text 54"/>
          <p:cNvSpPr txBox="1"/>
          <p:nvPr/>
        </p:nvSpPr>
        <p:spPr>
          <a:xfrm>
            <a:off x="2834640" y="552297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ea typeface="Amiri" pitchFamily="2" charset="-78"/>
                <a:cs typeface="Amiri" pitchFamily="2" charset="-78"/>
              </a:rPr>
              <a:t>مَاذَا فِي غُرْفَتِكَ؟</a:t>
            </a:r>
            <a:endParaRPr lang="ar-SA" sz="1550" dirty="0"/>
          </a:p>
        </p:txBody>
      </p:sp>
      <p:sp>
        <p:nvSpPr>
          <p:cNvPr id="58" name="Text 55"/>
          <p:cNvSpPr txBox="1"/>
          <p:nvPr/>
        </p:nvSpPr>
        <p:spPr>
          <a:xfrm>
            <a:off x="640080" y="552297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cs typeface="Amiri" pitchFamily="2" charset="-78"/>
              </a:rPr>
              <a:t>What is in your room?</a:t>
            </a:r>
            <a:endParaRPr lang="en-US" sz="950" dirty="0"/>
          </a:p>
        </p:txBody>
      </p:sp>
      <p:sp>
        <p:nvSpPr>
          <p:cNvPr id="59" name="Shape 56"/>
          <p:cNvSpPr/>
          <p:nvPr/>
        </p:nvSpPr>
        <p:spPr>
          <a:xfrm>
            <a:off x="11274552" y="5925312"/>
            <a:ext cx="292608" cy="292608"/>
          </a:xfrm>
          <a:prstGeom prst="ellipse">
            <a:avLst/>
          </a:prstGeom>
          <a:solidFill>
            <a:srgbClr val="1E6B52"/>
          </a:solidFill>
          <a:ln w="12700">
            <a:solidFill>
              <a:srgbClr val="1E6B52"/>
            </a:solidFill>
            <a:prstDash val="solid"/>
          </a:ln>
        </p:spPr>
      </p:sp>
      <p:sp>
        <p:nvSpPr>
          <p:cNvPr id="60" name="Text 57"/>
          <p:cNvSpPr txBox="1"/>
          <p:nvPr/>
        </p:nvSpPr>
        <p:spPr>
          <a:xfrm>
            <a:off x="11274552" y="592531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B</a:t>
            </a:r>
            <a:endParaRPr lang="en-US" sz="1000" dirty="0"/>
          </a:p>
        </p:txBody>
      </p:sp>
      <p:sp>
        <p:nvSpPr>
          <p:cNvPr id="61" name="Text 58"/>
          <p:cNvSpPr txBox="1"/>
          <p:nvPr/>
        </p:nvSpPr>
        <p:spPr>
          <a:xfrm>
            <a:off x="2834640" y="588873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ea typeface="Amiri" pitchFamily="2" charset="-78"/>
                <a:cs typeface="Amiri" pitchFamily="2" charset="-78"/>
              </a:rPr>
              <a:t>فِي غُرْفَتِي سَرِيرٌ وَنَافِذَتَانِ وَكُتُبٌ كَثِيرَةٌ.</a:t>
            </a:r>
            <a:endParaRPr lang="ar-SA" sz="1550" dirty="0"/>
          </a:p>
        </p:txBody>
      </p:sp>
      <p:sp>
        <p:nvSpPr>
          <p:cNvPr id="62" name="Text 59"/>
          <p:cNvSpPr txBox="1"/>
          <p:nvPr/>
        </p:nvSpPr>
        <p:spPr>
          <a:xfrm>
            <a:off x="640080" y="588873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cs typeface="Amiri" pitchFamily="2" charset="-78"/>
              </a:rPr>
              <a:t>In my room there is a bed, two windows and many books.</a:t>
            </a:r>
            <a:endParaRPr lang="en-US" sz="95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26 / 35</a:t>
            </a:r>
            <a:endParaRPr lang="en-US" sz="8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GM-N-02 · Nouns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9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INDEPENDENT PRACTICE · 9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Write: choose your route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Nouns · GM-N-02</a:t>
            </a:r>
            <a:endParaRPr lang="en-US" sz="850" dirty="0"/>
          </a:p>
        </p:txBody>
      </p:sp>
      <p:sp>
        <p:nvSpPr>
          <p:cNvPr id="15" name="Shape 12"/>
          <p:cNvSpPr/>
          <p:nvPr/>
        </p:nvSpPr>
        <p:spPr>
          <a:xfrm>
            <a:off x="457200" y="1810512"/>
            <a:ext cx="3639312" cy="4315968"/>
          </a:xfrm>
          <a:prstGeom prst="roundRect">
            <a:avLst>
              <a:gd name="adj" fmla="val 2010"/>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310896"/>
          </a:xfrm>
          <a:prstGeom prst="roundRect">
            <a:avLst>
              <a:gd name="adj" fmla="val 50000"/>
            </a:avLst>
          </a:prstGeom>
          <a:solidFill>
            <a:srgbClr val="2E8B57"/>
          </a:solidFill>
          <a:ln w="12700">
            <a:solidFill>
              <a:srgbClr val="2E8B57"/>
            </a:solidFill>
            <a:prstDash val="solid"/>
          </a:ln>
        </p:spPr>
      </p:sp>
      <p:sp>
        <p:nvSpPr>
          <p:cNvPr id="17" name="Text 14"/>
          <p:cNvSpPr txBox="1"/>
          <p:nvPr/>
        </p:nvSpPr>
        <p:spPr>
          <a:xfrm>
            <a:off x="640080"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CORE</a:t>
            </a:r>
            <a:endParaRPr lang="en-US" sz="1000" dirty="0"/>
          </a:p>
        </p:txBody>
      </p:sp>
      <p:sp>
        <p:nvSpPr>
          <p:cNvPr id="18" name="Text 15"/>
          <p:cNvSpPr txBox="1"/>
          <p:nvPr/>
        </p:nvSpPr>
        <p:spPr>
          <a:xfrm>
            <a:off x="2450592"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2E8B57"/>
                </a:solidFill>
                <a:latin typeface="Amiri" pitchFamily="2" charset="-78"/>
                <a:ea typeface="Amiri" pitchFamily="2" charset="-78"/>
                <a:cs typeface="Amiri" pitchFamily="2" charset="-78"/>
              </a:rPr>
              <a:t>الأَسَاسُ</a:t>
            </a:r>
            <a:endParaRPr lang="ar-SA" sz="1800" dirty="0"/>
          </a:p>
        </p:txBody>
      </p:sp>
      <p:sp>
        <p:nvSpPr>
          <p:cNvPr id="19" name="Text 16"/>
          <p:cNvSpPr txBox="1"/>
          <p:nvPr/>
        </p:nvSpPr>
        <p:spPr>
          <a:xfrm>
            <a:off x="640080" y="2377440"/>
            <a:ext cx="3273552" cy="457200"/>
          </a:xfrm>
          <a:prstGeom prst="rect">
            <a:avLst/>
          </a:prstGeom>
          <a:noFill/>
          <a:ln/>
        </p:spPr>
        <p:txBody>
          <a:bodyPr wrap="square" lIns="0" tIns="0" rIns="0" bIns="0" rtlCol="0" anchor="ctr"/>
          <a:lstStyle/>
          <a:p>
            <a:pPr algn="l" indent="0" marL="0">
              <a:buNone/>
            </a:pPr>
            <a:r>
              <a:rPr lang="en-US" sz="2200" b="1" dirty="0">
                <a:solidFill>
                  <a:srgbClr val="2E8B57"/>
                </a:solidFill>
                <a:latin typeface="Cambria" pitchFamily="34" charset="0"/>
                <a:cs typeface="Amiri" pitchFamily="2" charset="-78"/>
              </a:rPr>
              <a:t>6 sentences</a:t>
            </a:r>
            <a:endParaRPr lang="en-US" sz="2200" dirty="0"/>
          </a:p>
        </p:txBody>
      </p:sp>
      <p:sp>
        <p:nvSpPr>
          <p:cNvPr id="20" name="Text 17"/>
          <p:cNvSpPr txBox="1"/>
          <p:nvPr/>
        </p:nvSpPr>
        <p:spPr>
          <a:xfrm>
            <a:off x="640080"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Six sentences, each with a dual subject (</a:t>
            </a:r>
            <a:pPr algn="l" indent="0" marL="0">
              <a:buNone/>
            </a:pPr>
            <a:r>
              <a:rPr lang="ar-SA" altLang="en-US" sz="1800" b="1" dirty="0">
                <a:solidFill>
                  <a:srgbClr val="1F2A37"/>
                </a:solidFill>
                <a:latin typeface="Amiri" pitchFamily="2" charset="-78"/>
                <a:ea typeface="Amiri" pitchFamily="2" charset="-78"/>
                <a:cs typeface="Amiri" pitchFamily="2" charset="-78"/>
              </a:rPr>
              <a:t>ـَانِ</a:t>
            </a:r>
            <a:pPr algn="l" indent="0" marL="0">
              <a:buNone/>
            </a:pPr>
            <a:r>
              <a:rPr lang="en-US" sz="1400" b="1" dirty="0">
                <a:solidFill>
                  <a:srgbClr val="1F2A37"/>
                </a:solidFill>
                <a:latin typeface="Calibri" pitchFamily="34" charset="0"/>
                <a:cs typeface="Amiri" pitchFamily="2" charset="-78"/>
              </a:rPr>
              <a:t>).</a:t>
            </a:r>
            <a:endParaRPr lang="en-US" sz="1400" dirty="0"/>
          </a:p>
        </p:txBody>
      </p:sp>
      <p:sp>
        <p:nvSpPr>
          <p:cNvPr id="21" name="Shape 18"/>
          <p:cNvSpPr/>
          <p:nvPr/>
        </p:nvSpPr>
        <p:spPr>
          <a:xfrm>
            <a:off x="640080" y="4160520"/>
            <a:ext cx="3273552" cy="1783080"/>
          </a:xfrm>
          <a:prstGeom prst="roundRect">
            <a:avLst>
              <a:gd name="adj" fmla="val 4103"/>
            </a:avLst>
          </a:prstGeom>
          <a:solidFill>
            <a:srgbClr val="FFFFFF"/>
          </a:solidFill>
          <a:ln w="9525">
            <a:solidFill>
              <a:srgbClr val="FFFFFF"/>
            </a:solidFill>
            <a:prstDash val="solid"/>
          </a:ln>
        </p:spPr>
      </p:sp>
      <p:sp>
        <p:nvSpPr>
          <p:cNvPr id="22" name="Text 19"/>
          <p:cNvSpPr txBox="1"/>
          <p:nvPr/>
        </p:nvSpPr>
        <p:spPr>
          <a:xfrm>
            <a:off x="731520" y="4224528"/>
            <a:ext cx="3090672" cy="1645920"/>
          </a:xfrm>
          <a:prstGeom prst="rect">
            <a:avLst/>
          </a:prstGeom>
          <a:noFill/>
          <a:ln/>
        </p:spPr>
        <p:txBody>
          <a:bodyPr wrap="square" lIns="0" tIns="0" rIns="0" bIns="0" rtlCol="0" anchor="t"/>
          <a:lstStyle/>
          <a:p>
            <a:pPr indent="0" marL="0">
              <a:buNone/>
            </a:pPr>
            <a:r>
              <a:rPr lang="en-US" sz="900" b="1" spc="200" kern="0" dirty="0">
                <a:solidFill>
                  <a:srgbClr val="2E8B57"/>
                </a:solidFill>
                <a:latin typeface="Calibri" pitchFamily="34" charset="0"/>
                <a:cs typeface="Amiri" pitchFamily="2" charset="-78"/>
              </a:rPr>
              <a:t>HOW</a:t>
            </a:r>
            <a:endParaRPr lang="en-US" sz="900" dirty="0"/>
          </a:p>
          <a:p>
            <a:pPr indent="0" marL="0">
              <a:buNone/>
            </a:pPr>
            <a:r>
              <a:rPr lang="ar-SA" sz="1150" dirty="0">
                <a:solidFill>
                  <a:srgbClr val="1F2A37"/>
                </a:solidFill>
                <a:latin typeface="Calibri" pitchFamily="34" charset="0"/>
                <a:ea typeface="Amiri" pitchFamily="2" charset="-78"/>
                <a:cs typeface="Amiri" pitchFamily="2" charset="-78"/>
              </a:rPr>
              <a:t>فِي … + dual. Remember ة → ت.</a:t>
            </a:r>
            <a:endParaRPr lang="en-US" sz="900" dirty="0"/>
          </a:p>
        </p:txBody>
      </p:sp>
      <p:sp>
        <p:nvSpPr>
          <p:cNvPr id="23" name="Shape 20"/>
          <p:cNvSpPr/>
          <p:nvPr/>
        </p:nvSpPr>
        <p:spPr>
          <a:xfrm>
            <a:off x="4279392" y="1810512"/>
            <a:ext cx="3639312" cy="4315968"/>
          </a:xfrm>
          <a:prstGeom prst="roundRect">
            <a:avLst>
              <a:gd name="adj" fmla="val 2010"/>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62272" y="1938528"/>
            <a:ext cx="1188720" cy="310896"/>
          </a:xfrm>
          <a:prstGeom prst="roundRect">
            <a:avLst>
              <a:gd name="adj" fmla="val 50000"/>
            </a:avLst>
          </a:prstGeom>
          <a:solidFill>
            <a:srgbClr val="C9780A"/>
          </a:solidFill>
          <a:ln w="12700">
            <a:solidFill>
              <a:srgbClr val="C9780A"/>
            </a:solidFill>
            <a:prstDash val="solid"/>
          </a:ln>
        </p:spPr>
      </p:sp>
      <p:sp>
        <p:nvSpPr>
          <p:cNvPr id="25" name="Text 22"/>
          <p:cNvSpPr txBox="1"/>
          <p:nvPr/>
        </p:nvSpPr>
        <p:spPr>
          <a:xfrm>
            <a:off x="4462272"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DEVELOP</a:t>
            </a:r>
            <a:endParaRPr lang="en-US" sz="1000" dirty="0"/>
          </a:p>
        </p:txBody>
      </p:sp>
      <p:sp>
        <p:nvSpPr>
          <p:cNvPr id="26" name="Text 23"/>
          <p:cNvSpPr txBox="1"/>
          <p:nvPr/>
        </p:nvSpPr>
        <p:spPr>
          <a:xfrm>
            <a:off x="6272784"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C9780A"/>
                </a:solidFill>
                <a:latin typeface="Amiri" pitchFamily="2" charset="-78"/>
                <a:ea typeface="Amiri" pitchFamily="2" charset="-78"/>
                <a:cs typeface="Amiri" pitchFamily="2" charset="-78"/>
              </a:rPr>
              <a:t>التَّطْوِيرُ</a:t>
            </a:r>
            <a:endParaRPr lang="ar-SA" sz="1800" dirty="0"/>
          </a:p>
        </p:txBody>
      </p:sp>
      <p:sp>
        <p:nvSpPr>
          <p:cNvPr id="27" name="Text 24"/>
          <p:cNvSpPr txBox="1"/>
          <p:nvPr/>
        </p:nvSpPr>
        <p:spPr>
          <a:xfrm>
            <a:off x="4462272" y="2377440"/>
            <a:ext cx="3273552" cy="457200"/>
          </a:xfrm>
          <a:prstGeom prst="rect">
            <a:avLst/>
          </a:prstGeom>
          <a:noFill/>
          <a:ln/>
        </p:spPr>
        <p:txBody>
          <a:bodyPr wrap="square" lIns="0" tIns="0" rIns="0" bIns="0" rtlCol="0" anchor="ctr"/>
          <a:lstStyle/>
          <a:p>
            <a:pPr algn="l" indent="0" marL="0">
              <a:buNone/>
            </a:pPr>
            <a:r>
              <a:rPr lang="en-US" sz="2200" b="1" dirty="0">
                <a:solidFill>
                  <a:srgbClr val="C9780A"/>
                </a:solidFill>
                <a:latin typeface="Cambria" pitchFamily="34" charset="0"/>
                <a:cs typeface="Amiri" pitchFamily="2" charset="-78"/>
              </a:rPr>
              <a:t>8 sentences</a:t>
            </a:r>
            <a:endParaRPr lang="en-US" sz="2200" dirty="0"/>
          </a:p>
        </p:txBody>
      </p:sp>
      <p:sp>
        <p:nvSpPr>
          <p:cNvPr id="28" name="Text 25"/>
          <p:cNvSpPr txBox="1"/>
          <p:nvPr/>
        </p:nvSpPr>
        <p:spPr>
          <a:xfrm>
            <a:off x="4462272"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Mix </a:t>
            </a:r>
            <a:pPr algn="l" indent="0" marL="0">
              <a:buNone/>
            </a:pPr>
            <a:r>
              <a:rPr lang="ar-SA" altLang="en-US" sz="1800" b="1" dirty="0">
                <a:solidFill>
                  <a:srgbClr val="1F2A37"/>
                </a:solidFill>
                <a:latin typeface="Amiri" pitchFamily="2" charset="-78"/>
                <a:ea typeface="Amiri" pitchFamily="2" charset="-78"/>
                <a:cs typeface="Amiri" pitchFamily="2" charset="-78"/>
              </a:rPr>
              <a:t>ـَانِ</a:t>
            </a:r>
            <a:pPr algn="l" indent="0" marL="0">
              <a:buNone/>
            </a:pPr>
            <a:r>
              <a:rPr lang="en-US" sz="1400" b="1" dirty="0">
                <a:solidFill>
                  <a:srgbClr val="1F2A37"/>
                </a:solidFill>
                <a:latin typeface="Calibri" pitchFamily="34" charset="0"/>
                <a:cs typeface="Amiri" pitchFamily="2" charset="-78"/>
              </a:rPr>
              <a:t> and </a:t>
            </a:r>
            <a:pPr algn="l" indent="0" marL="0">
              <a:buNone/>
            </a:pPr>
            <a:r>
              <a:rPr lang="ar-SA" altLang="en-US" sz="1800" b="1" dirty="0">
                <a:solidFill>
                  <a:srgbClr val="1F2A37"/>
                </a:solidFill>
                <a:latin typeface="Amiri" pitchFamily="2" charset="-78"/>
                <a:ea typeface="Amiri" pitchFamily="2" charset="-78"/>
                <a:cs typeface="Amiri" pitchFamily="2" charset="-78"/>
              </a:rPr>
              <a:t>ـَيْنِ</a:t>
            </a:r>
            <a:pPr algn="l" indent="0" marL="0">
              <a:buNone/>
            </a:pPr>
            <a:r>
              <a:rPr lang="en-US" sz="1400" b="1" dirty="0">
                <a:solidFill>
                  <a:srgbClr val="1F2A37"/>
                </a:solidFill>
                <a:latin typeface="Calibri" pitchFamily="34" charset="0"/>
                <a:cs typeface="Amiri" pitchFamily="2" charset="-78"/>
              </a:rPr>
              <a:t>: three after a preposition.</a:t>
            </a:r>
            <a:endParaRPr lang="en-US" sz="1400" dirty="0"/>
          </a:p>
        </p:txBody>
      </p:sp>
      <p:sp>
        <p:nvSpPr>
          <p:cNvPr id="29" name="Shape 26"/>
          <p:cNvSpPr/>
          <p:nvPr/>
        </p:nvSpPr>
        <p:spPr>
          <a:xfrm>
            <a:off x="4462272" y="4160520"/>
            <a:ext cx="3273552" cy="1783080"/>
          </a:xfrm>
          <a:prstGeom prst="roundRect">
            <a:avLst>
              <a:gd name="adj" fmla="val 4103"/>
            </a:avLst>
          </a:prstGeom>
          <a:solidFill>
            <a:srgbClr val="FFFFFF"/>
          </a:solidFill>
          <a:ln w="9525">
            <a:solidFill>
              <a:srgbClr val="FFFFFF"/>
            </a:solidFill>
            <a:prstDash val="solid"/>
          </a:ln>
        </p:spPr>
      </p:sp>
      <p:sp>
        <p:nvSpPr>
          <p:cNvPr id="30" name="Text 27"/>
          <p:cNvSpPr txBox="1"/>
          <p:nvPr/>
        </p:nvSpPr>
        <p:spPr>
          <a:xfrm>
            <a:off x="4553712" y="4224528"/>
            <a:ext cx="3090672" cy="1645920"/>
          </a:xfrm>
          <a:prstGeom prst="rect">
            <a:avLst/>
          </a:prstGeom>
          <a:noFill/>
          <a:ln/>
        </p:spPr>
        <p:txBody>
          <a:bodyPr wrap="square" lIns="0" tIns="0" rIns="0" bIns="0" rtlCol="0" anchor="t"/>
          <a:lstStyle/>
          <a:p>
            <a:pPr indent="0" marL="0">
              <a:buNone/>
            </a:pPr>
            <a:r>
              <a:rPr lang="en-US" sz="900" b="1" spc="200" kern="0" dirty="0">
                <a:solidFill>
                  <a:srgbClr val="C9780A"/>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Underline every dual; label it -āni or -ayni.</a:t>
            </a:r>
            <a:endParaRPr lang="en-US" sz="900" dirty="0"/>
          </a:p>
        </p:txBody>
      </p:sp>
      <p:sp>
        <p:nvSpPr>
          <p:cNvPr id="31" name="Shape 28"/>
          <p:cNvSpPr/>
          <p:nvPr/>
        </p:nvSpPr>
        <p:spPr>
          <a:xfrm>
            <a:off x="8101584" y="1810512"/>
            <a:ext cx="3639312" cy="4315968"/>
          </a:xfrm>
          <a:prstGeom prst="roundRect">
            <a:avLst>
              <a:gd name="adj" fmla="val 2010"/>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8284464" y="1938528"/>
            <a:ext cx="1188720" cy="310896"/>
          </a:xfrm>
          <a:prstGeom prst="roundRect">
            <a:avLst>
              <a:gd name="adj" fmla="val 50000"/>
            </a:avLst>
          </a:prstGeom>
          <a:solidFill>
            <a:srgbClr val="B83227"/>
          </a:solidFill>
          <a:ln w="12700">
            <a:solidFill>
              <a:srgbClr val="B83227"/>
            </a:solidFill>
            <a:prstDash val="solid"/>
          </a:ln>
        </p:spPr>
      </p:sp>
      <p:sp>
        <p:nvSpPr>
          <p:cNvPr id="33" name="Text 30"/>
          <p:cNvSpPr txBox="1"/>
          <p:nvPr/>
        </p:nvSpPr>
        <p:spPr>
          <a:xfrm>
            <a:off x="8284464"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STRETCH</a:t>
            </a:r>
            <a:endParaRPr lang="en-US" sz="1000" dirty="0"/>
          </a:p>
        </p:txBody>
      </p:sp>
      <p:sp>
        <p:nvSpPr>
          <p:cNvPr id="34" name="Text 31"/>
          <p:cNvSpPr txBox="1"/>
          <p:nvPr/>
        </p:nvSpPr>
        <p:spPr>
          <a:xfrm>
            <a:off x="10094976"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التَّحَدِّي</a:t>
            </a:r>
            <a:endParaRPr lang="ar-SA" sz="1800" dirty="0"/>
          </a:p>
        </p:txBody>
      </p:sp>
      <p:sp>
        <p:nvSpPr>
          <p:cNvPr id="35" name="Text 32"/>
          <p:cNvSpPr txBox="1"/>
          <p:nvPr/>
        </p:nvSpPr>
        <p:spPr>
          <a:xfrm>
            <a:off x="8284464" y="2377440"/>
            <a:ext cx="3273552" cy="457200"/>
          </a:xfrm>
          <a:prstGeom prst="rect">
            <a:avLst/>
          </a:prstGeom>
          <a:noFill/>
          <a:ln/>
        </p:spPr>
        <p:txBody>
          <a:bodyPr wrap="square" lIns="0" tIns="0" rIns="0" bIns="0" rtlCol="0" anchor="ctr"/>
          <a:lstStyle/>
          <a:p>
            <a:pPr algn="l" indent="0" marL="0">
              <a:buNone/>
            </a:pPr>
            <a:r>
              <a:rPr lang="en-US" sz="2200" b="1" dirty="0">
                <a:solidFill>
                  <a:srgbClr val="B83227"/>
                </a:solidFill>
                <a:latin typeface="Cambria" pitchFamily="34" charset="0"/>
                <a:cs typeface="Amiri" pitchFamily="2" charset="-78"/>
              </a:rPr>
              <a:t>8–12 sentences</a:t>
            </a:r>
            <a:endParaRPr lang="en-US" sz="2200" dirty="0"/>
          </a:p>
        </p:txBody>
      </p:sp>
      <p:sp>
        <p:nvSpPr>
          <p:cNvPr id="36" name="Text 33"/>
          <p:cNvSpPr txBox="1"/>
          <p:nvPr/>
        </p:nvSpPr>
        <p:spPr>
          <a:xfrm>
            <a:off x="8284464"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Website task, with dual adjectives and one dual object.</a:t>
            </a:r>
            <a:endParaRPr lang="en-US" sz="1400" dirty="0"/>
          </a:p>
        </p:txBody>
      </p:sp>
      <p:sp>
        <p:nvSpPr>
          <p:cNvPr id="37" name="Shape 34"/>
          <p:cNvSpPr/>
          <p:nvPr/>
        </p:nvSpPr>
        <p:spPr>
          <a:xfrm>
            <a:off x="8284464" y="4160520"/>
            <a:ext cx="3273552" cy="1783080"/>
          </a:xfrm>
          <a:prstGeom prst="roundRect">
            <a:avLst>
              <a:gd name="adj" fmla="val 4103"/>
            </a:avLst>
          </a:prstGeom>
          <a:solidFill>
            <a:srgbClr val="FFFFFF"/>
          </a:solidFill>
          <a:ln w="9525">
            <a:solidFill>
              <a:srgbClr val="FFFFFF"/>
            </a:solidFill>
            <a:prstDash val="solid"/>
          </a:ln>
        </p:spPr>
      </p:sp>
      <p:sp>
        <p:nvSpPr>
          <p:cNvPr id="38" name="Text 35"/>
          <p:cNvSpPr txBox="1"/>
          <p:nvPr/>
        </p:nvSpPr>
        <p:spPr>
          <a:xfrm>
            <a:off x="8375904" y="4224528"/>
            <a:ext cx="3090672" cy="1645920"/>
          </a:xfrm>
          <a:prstGeom prst="rect">
            <a:avLst/>
          </a:prstGeom>
          <a:noFill/>
          <a:ln/>
        </p:spPr>
        <p:txBody>
          <a:bodyPr wrap="square" lIns="0" tIns="0" rIns="0" bIns="0" rtlCol="0" anchor="t"/>
          <a:lstStyle/>
          <a:p>
            <a:pPr indent="0" marL="0">
              <a:buNone/>
            </a:pPr>
            <a:r>
              <a:rPr lang="en-US" sz="900" b="1" spc="200" kern="0" dirty="0">
                <a:solidFill>
                  <a:srgbClr val="B83227"/>
                </a:solidFill>
                <a:latin typeface="Calibri" pitchFamily="34" charset="0"/>
                <a:cs typeface="Amiri" pitchFamily="2" charset="-78"/>
              </a:rPr>
              <a:t>HOW</a:t>
            </a:r>
            <a:endParaRPr lang="en-US" sz="900" dirty="0"/>
          </a:p>
          <a:p>
            <a:pPr indent="0" marL="0">
              <a:buNone/>
            </a:pPr>
            <a:r>
              <a:rPr lang="ar-SA" sz="1150" dirty="0">
                <a:solidFill>
                  <a:srgbClr val="1F2A37"/>
                </a:solidFill>
                <a:latin typeface="Calibri" pitchFamily="34" charset="0"/>
                <a:ea typeface="Amiri" pitchFamily="2" charset="-78"/>
                <a:cs typeface="Amiri" pitchFamily="2" charset="-78"/>
              </a:rPr>
              <a:t>طَالِبَتَانِ مُجْتَهِدَتَانِ · رَأَيْتُ … ـَيْنِ.</a:t>
            </a:r>
            <a:endParaRPr lang="en-US" sz="9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27 / 35</a:t>
            </a:r>
            <a:endParaRPr lang="en-US" sz="8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GM-N-02 · Nouns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SUPPORT · CORE AND DEVELOP FRAMES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 frames and word bank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قَوَالِبُ الجُمَلِ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Nouns · GM-N-02</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أَسْكُنُ مَعَ ______ .</a:t>
            </a:r>
            <a:endParaRPr lang="ar-SA" sz="180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live with two …</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دَرَسْتُ فِي ______ .</a:t>
            </a:r>
            <a:endParaRPr lang="ar-SA" sz="180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studied in two schools.</a:t>
            </a:r>
            <a:endParaRPr lang="en-US" sz="1050" dirty="0"/>
          </a:p>
        </p:txBody>
      </p:sp>
      <p:sp>
        <p:nvSpPr>
          <p:cNvPr id="22" name="Text 19"/>
          <p:cNvSpPr txBox="1"/>
          <p:nvPr/>
        </p:nvSpPr>
        <p:spPr>
          <a:xfrm>
            <a:off x="2468880"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رَأَيْتُ ______ .</a:t>
            </a:r>
            <a:endParaRPr lang="ar-SA" sz="1800" dirty="0"/>
          </a:p>
        </p:txBody>
      </p:sp>
      <p:sp>
        <p:nvSpPr>
          <p:cNvPr id="23" name="Text 20"/>
          <p:cNvSpPr txBox="1"/>
          <p:nvPr/>
        </p:nvSpPr>
        <p:spPr>
          <a:xfrm>
            <a:off x="594360"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saw two …</a:t>
            </a:r>
            <a:endParaRPr lang="en-US" sz="1050" dirty="0"/>
          </a:p>
        </p:txBody>
      </p:sp>
      <p:sp>
        <p:nvSpPr>
          <p:cNvPr id="24" name="Text 21"/>
          <p:cNvSpPr txBox="1"/>
          <p:nvPr/>
        </p:nvSpPr>
        <p:spPr>
          <a:xfrm>
            <a:off x="2468880"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طَالِبَانِ ______ .</a:t>
            </a:r>
            <a:endParaRPr lang="ar-SA" sz="1800" dirty="0"/>
          </a:p>
        </p:txBody>
      </p:sp>
      <p:sp>
        <p:nvSpPr>
          <p:cNvPr id="25" name="Text 22"/>
          <p:cNvSpPr txBox="1"/>
          <p:nvPr/>
        </p:nvSpPr>
        <p:spPr>
          <a:xfrm>
            <a:off x="594360"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two new students</a:t>
            </a:r>
            <a:endParaRPr lang="en-US" sz="1050" dirty="0"/>
          </a:p>
        </p:txBody>
      </p:sp>
      <p:sp>
        <p:nvSpPr>
          <p:cNvPr id="26" name="Shape 23"/>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7" name="Shape 24"/>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29" name="Text 26"/>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فِي بَيْتِي ______ .</a:t>
            </a:r>
            <a:endParaRPr lang="ar-SA" sz="1800" dirty="0"/>
          </a:p>
        </p:txBody>
      </p:sp>
      <p:sp>
        <p:nvSpPr>
          <p:cNvPr id="30" name="Text 27"/>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In my house there are two …</a:t>
            </a:r>
            <a:endParaRPr lang="en-US" sz="1050" dirty="0"/>
          </a:p>
        </p:txBody>
      </p:sp>
      <p:sp>
        <p:nvSpPr>
          <p:cNvPr id="31" name="Text 28"/>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عِنْدِي ______ .</a:t>
            </a:r>
            <a:endParaRPr lang="ar-SA" sz="1800" dirty="0"/>
          </a:p>
        </p:txBody>
      </p:sp>
      <p:sp>
        <p:nvSpPr>
          <p:cNvPr id="32" name="Text 29"/>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have two …</a:t>
            </a:r>
            <a:endParaRPr lang="en-US" sz="1050" dirty="0"/>
          </a:p>
        </p:txBody>
      </p:sp>
      <p:sp>
        <p:nvSpPr>
          <p:cNvPr id="33" name="Text 30"/>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فِي فَصْلِي ______ .</a:t>
            </a:r>
            <a:endParaRPr lang="ar-SA" sz="1800" dirty="0"/>
          </a:p>
        </p:txBody>
      </p:sp>
      <p:sp>
        <p:nvSpPr>
          <p:cNvPr id="34" name="Text 31"/>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In my class there are two teachers.</a:t>
            </a:r>
            <a:endParaRPr lang="en-US" sz="1050" dirty="0"/>
          </a:p>
        </p:txBody>
      </p:sp>
      <p:sp>
        <p:nvSpPr>
          <p:cNvPr id="35" name="Text 32"/>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فِي حَيِّي ______ .</a:t>
            </a:r>
            <a:endParaRPr lang="ar-SA" sz="1800" dirty="0"/>
          </a:p>
        </p:txBody>
      </p:sp>
      <p:sp>
        <p:nvSpPr>
          <p:cNvPr id="36" name="Text 33"/>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In my area there are two schools.</a:t>
            </a:r>
            <a:endParaRPr lang="en-US" sz="1050" dirty="0"/>
          </a:p>
        </p:txBody>
      </p:sp>
      <p:sp>
        <p:nvSpPr>
          <p:cNvPr id="37" name="Shape 34"/>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8" name="Text 35"/>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WORD BANK</a:t>
            </a:r>
            <a:endParaRPr lang="en-US" sz="950" dirty="0"/>
          </a:p>
        </p:txBody>
      </p:sp>
      <p:sp>
        <p:nvSpPr>
          <p:cNvPr id="39" name="Text 36"/>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400" b="1" dirty="0">
                <a:solidFill>
                  <a:srgbClr val="1B3B6F"/>
                </a:solidFill>
                <a:latin typeface="Amiri" pitchFamily="2" charset="-78"/>
                <a:ea typeface="Amiri" pitchFamily="2" charset="-78"/>
                <a:cs typeface="Amiri" pitchFamily="2" charset="-78"/>
              </a:rPr>
              <a:t>كِتَابَانِ / كِتَابَيْنِ  ·  قَلَمَانِ / قَلَمَيْنِ  ·  غُرْفَتَانِ / غُرْفَتَيْنِ  ·  مَدْرَسَتَانِ / مَدْرَسَتَيْنِ  ·  أَخَوَانِ / أَخَوَيْنِ  ·  أُخْتَانِ / أُخْتَيْنِ  ·  نَافِذَتَانِ  ·  مُعَلِّمَانِ  ·  جَدِيدَانِ  ·  كَبِيرَتَانِ  ·  مَعَ  ·  فِي</a:t>
            </a:r>
            <a:endParaRPr lang="ar-SA" sz="140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28 / 35</a:t>
            </a:r>
            <a:endParaRPr lang="en-US" sz="8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GM-N-02 · Nouns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STRETCH · THE WEBSITE WRITING TASK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Stretch: the full writing task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مُهِمَّةُ التَّحَدِّي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Nouns · GM-N-02</a:t>
            </a:r>
            <a:endParaRPr lang="en-US" sz="850" dirty="0"/>
          </a:p>
        </p:txBody>
      </p:sp>
      <p:sp>
        <p:nvSpPr>
          <p:cNvPr id="15" name="Shape 12"/>
          <p:cNvSpPr/>
          <p:nvPr/>
        </p:nvSpPr>
        <p:spPr>
          <a:xfrm>
            <a:off x="457200" y="1810512"/>
            <a:ext cx="5577840" cy="4498848"/>
          </a:xfrm>
          <a:prstGeom prst="roundRect">
            <a:avLst>
              <a:gd name="adj" fmla="val 1626"/>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292608"/>
          </a:xfrm>
          <a:prstGeom prst="roundRect">
            <a:avLst>
              <a:gd name="adj" fmla="val 50000"/>
            </a:avLst>
          </a:prstGeom>
          <a:solidFill>
            <a:srgbClr val="B83227"/>
          </a:solidFill>
          <a:ln w="12700">
            <a:solidFill>
              <a:srgbClr val="B83227"/>
            </a:solidFill>
            <a:prstDash val="solid"/>
          </a:ln>
        </p:spPr>
      </p:sp>
      <p:sp>
        <p:nvSpPr>
          <p:cNvPr id="17" name="Text 14"/>
          <p:cNvSpPr txBox="1"/>
          <p:nvPr/>
        </p:nvSpPr>
        <p:spPr>
          <a:xfrm>
            <a:off x="640080" y="1938528"/>
            <a:ext cx="118872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350" b="1" dirty="0">
                <a:solidFill>
                  <a:srgbClr val="1F2A37"/>
                </a:solidFill>
                <a:latin typeface="Calibri" pitchFamily="34" charset="0"/>
                <a:cs typeface="Amiri" pitchFamily="2" charset="-78"/>
              </a:rPr>
              <a:t>Website writing workshop: 8–12 connected sentences about your school, home or local area with at least six target noun forms.</a:t>
            </a:r>
            <a:endParaRPr lang="en-US" sz="135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Three dual subjects with </a:t>
            </a:r>
            <a:pPr algn="l" indent="0" marL="0">
              <a:buNone/>
            </a:pPr>
            <a:r>
              <a:rPr lang="ar-SA" altLang="en-US" sz="1550" dirty="0">
                <a:solidFill>
                  <a:srgbClr val="1F2A37"/>
                </a:solidFill>
                <a:latin typeface="Amiri" pitchFamily="2" charset="-78"/>
                <a:ea typeface="Amiri" pitchFamily="2" charset="-78"/>
                <a:cs typeface="Amiri" pitchFamily="2" charset="-78"/>
              </a:rPr>
              <a:t>ـَانِ</a:t>
            </a:r>
            <a:pPr algn="l" indent="0" marL="0">
              <a:buNone/>
            </a:pPr>
            <a:r>
              <a:rPr lang="en-US" sz="1200" dirty="0">
                <a:solidFill>
                  <a:srgbClr val="1F2A37"/>
                </a:solidFill>
                <a:latin typeface="Calibri" pitchFamily="34" charset="0"/>
                <a:cs typeface="Amiri" pitchFamily="2" charset="-78"/>
              </a:rPr>
              <a:t>.</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Three duals after a preposition with </a:t>
            </a:r>
            <a:pPr algn="l" indent="0" marL="0">
              <a:buNone/>
            </a:pPr>
            <a:r>
              <a:rPr lang="ar-SA" altLang="en-US" sz="1550" dirty="0">
                <a:solidFill>
                  <a:srgbClr val="1F2A37"/>
                </a:solidFill>
                <a:latin typeface="Amiri" pitchFamily="2" charset="-78"/>
                <a:ea typeface="Amiri" pitchFamily="2" charset="-78"/>
                <a:cs typeface="Amiri" pitchFamily="2" charset="-78"/>
              </a:rPr>
              <a:t>ـَيْنِ</a:t>
            </a:r>
            <a:pPr algn="l" indent="0" marL="0">
              <a:buNone/>
            </a:pPr>
            <a:r>
              <a:rPr lang="en-US" sz="1200" dirty="0">
                <a:solidFill>
                  <a:srgbClr val="1F2A37"/>
                </a:solidFill>
                <a:latin typeface="Calibri" pitchFamily="34" charset="0"/>
                <a:cs typeface="Amiri" pitchFamily="2" charset="-78"/>
              </a:rPr>
              <a:t>.</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One noun in </a:t>
            </a:r>
            <a:pPr algn="l" indent="0" marL="0">
              <a:buNone/>
            </a:pPr>
            <a:r>
              <a:rPr lang="ar-SA" altLang="en-US" sz="1550" dirty="0">
                <a:solidFill>
                  <a:srgbClr val="1F2A37"/>
                </a:solidFill>
                <a:latin typeface="Amiri" pitchFamily="2" charset="-78"/>
                <a:ea typeface="Amiri" pitchFamily="2" charset="-78"/>
                <a:cs typeface="Amiri" pitchFamily="2" charset="-78"/>
              </a:rPr>
              <a:t>ة</a:t>
            </a:r>
            <a:pPr algn="l" indent="0" marL="0">
              <a:buNone/>
            </a:pPr>
            <a:r>
              <a:rPr lang="en-US" sz="1200" dirty="0">
                <a:solidFill>
                  <a:srgbClr val="1F2A37"/>
                </a:solidFill>
                <a:latin typeface="Calibri" pitchFamily="34" charset="0"/>
                <a:cs typeface="Amiri" pitchFamily="2" charset="-78"/>
              </a:rPr>
              <a:t> in the dual (</a:t>
            </a:r>
            <a:pPr algn="l" indent="0" marL="0">
              <a:buNone/>
            </a:pPr>
            <a:r>
              <a:rPr lang="ar-SA" altLang="en-US" sz="1550" dirty="0">
                <a:solidFill>
                  <a:srgbClr val="1F2A37"/>
                </a:solidFill>
                <a:latin typeface="Amiri" pitchFamily="2" charset="-78"/>
                <a:ea typeface="Amiri" pitchFamily="2" charset="-78"/>
                <a:cs typeface="Amiri" pitchFamily="2" charset="-78"/>
              </a:rPr>
              <a:t>ة</a:t>
            </a:r>
            <a:pPr algn="l" indent="0" marL="0">
              <a:buNone/>
            </a:pPr>
            <a:r>
              <a:rPr lang="en-US" sz="1200" dirty="0">
                <a:solidFill>
                  <a:srgbClr val="1F2A37"/>
                </a:solidFill>
                <a:latin typeface="Calibri" pitchFamily="34" charset="0"/>
                <a:cs typeface="Amiri" pitchFamily="2" charset="-78"/>
              </a:rPr>
              <a:t> → </a:t>
            </a:r>
            <a:pPr algn="l" indent="0" marL="0">
              <a:buNone/>
            </a:pPr>
            <a:r>
              <a:rPr lang="ar-SA" altLang="en-US" sz="1550" dirty="0">
                <a:solidFill>
                  <a:srgbClr val="1F2A37"/>
                </a:solidFill>
                <a:latin typeface="Amiri" pitchFamily="2" charset="-78"/>
                <a:ea typeface="Amiri" pitchFamily="2" charset="-78"/>
                <a:cs typeface="Amiri" pitchFamily="2" charset="-78"/>
              </a:rPr>
              <a:t>ت</a:t>
            </a:r>
            <a:pPr algn="l" indent="0" marL="0">
              <a:buNone/>
            </a:pPr>
            <a:r>
              <a:rPr lang="en-US" sz="1200" dirty="0">
                <a:solidFill>
                  <a:srgbClr val="1F2A37"/>
                </a:solidFill>
                <a:latin typeface="Calibri" pitchFamily="34" charset="0"/>
                <a:cs typeface="Amiri" pitchFamily="2" charset="-78"/>
              </a:rPr>
              <a:t>).</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 dual adjective agreeing with its noun.</a:t>
            </a:r>
            <a:endParaRPr lang="en-US" sz="1200" dirty="0"/>
          </a:p>
        </p:txBody>
      </p:sp>
      <p:sp>
        <p:nvSpPr>
          <p:cNvPr id="23" name="Text 20"/>
          <p:cNvSpPr txBox="1"/>
          <p:nvPr/>
        </p:nvSpPr>
        <p:spPr>
          <a:xfrm>
            <a:off x="685800" y="5431536"/>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Some plurals for three or more.</a:t>
            </a:r>
            <a:endParaRPr lang="en-US" sz="1200" dirty="0"/>
          </a:p>
        </p:txBody>
      </p:sp>
      <p:sp>
        <p:nvSpPr>
          <p:cNvPr id="24" name="Shape 21"/>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Text 22"/>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PHRASE BANK — USEFUL FOR THIS TASK</a:t>
            </a:r>
            <a:endParaRPr lang="en-US" sz="950" dirty="0"/>
          </a:p>
        </p:txBody>
      </p:sp>
      <p:sp>
        <p:nvSpPr>
          <p:cNvPr id="26" name="Text 23"/>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طَالِبَانِ جَدِيدَانِ</a:t>
            </a:r>
            <a:endParaRPr lang="ar-SA" sz="1800" dirty="0"/>
          </a:p>
        </p:txBody>
      </p:sp>
      <p:sp>
        <p:nvSpPr>
          <p:cNvPr id="27" name="Text 24"/>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two new students</a:t>
            </a:r>
            <a:endParaRPr lang="en-US" sz="1050" dirty="0"/>
          </a:p>
        </p:txBody>
      </p:sp>
      <p:sp>
        <p:nvSpPr>
          <p:cNvPr id="28" name="Text 25"/>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مَدْرَسَتَانِ كَبِيرَتَانِ</a:t>
            </a:r>
            <a:endParaRPr lang="ar-SA" sz="1800" dirty="0"/>
          </a:p>
        </p:txBody>
      </p:sp>
      <p:sp>
        <p:nvSpPr>
          <p:cNvPr id="29" name="Text 26"/>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two big schools</a:t>
            </a:r>
            <a:endParaRPr lang="en-US" sz="1050" dirty="0"/>
          </a:p>
        </p:txBody>
      </p:sp>
      <p:sp>
        <p:nvSpPr>
          <p:cNvPr id="30" name="Text 27"/>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مَعَ أُخْتَيْنِ</a:t>
            </a:r>
            <a:endParaRPr lang="ar-SA" sz="1800" dirty="0"/>
          </a:p>
        </p:txBody>
      </p:sp>
      <p:sp>
        <p:nvSpPr>
          <p:cNvPr id="31" name="Text 28"/>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with two sisters</a:t>
            </a:r>
            <a:endParaRPr lang="en-US" sz="1050" dirty="0"/>
          </a:p>
        </p:txBody>
      </p:sp>
      <p:sp>
        <p:nvSpPr>
          <p:cNvPr id="32" name="Text 29"/>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فِي غُرْفَتَيْنِ</a:t>
            </a:r>
            <a:endParaRPr lang="ar-SA" sz="1800" dirty="0"/>
          </a:p>
        </p:txBody>
      </p:sp>
      <p:sp>
        <p:nvSpPr>
          <p:cNvPr id="33" name="Text 30"/>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in two rooms</a:t>
            </a:r>
            <a:endParaRPr lang="en-US" sz="1050" dirty="0"/>
          </a:p>
        </p:txBody>
      </p:sp>
      <p:sp>
        <p:nvSpPr>
          <p:cNvPr id="34" name="Text 31"/>
          <p:cNvSpPr txBox="1"/>
          <p:nvPr/>
        </p:nvSpPr>
        <p:spPr>
          <a:xfrm>
            <a:off x="8412480" y="4864608"/>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عِنْدِي أَخَوَانِ</a:t>
            </a:r>
            <a:endParaRPr lang="ar-SA" sz="1800" dirty="0"/>
          </a:p>
        </p:txBody>
      </p:sp>
      <p:sp>
        <p:nvSpPr>
          <p:cNvPr id="35" name="Text 32"/>
          <p:cNvSpPr txBox="1"/>
          <p:nvPr/>
        </p:nvSpPr>
        <p:spPr>
          <a:xfrm>
            <a:off x="6400800" y="5193792"/>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 have two brothers</a:t>
            </a:r>
            <a:endParaRPr lang="en-US" sz="1050" dirty="0"/>
          </a:p>
        </p:txBody>
      </p:sp>
      <p:sp>
        <p:nvSpPr>
          <p:cNvPr id="36" name="Text 33"/>
          <p:cNvSpPr txBox="1"/>
          <p:nvPr/>
        </p:nvSpPr>
        <p:spPr>
          <a:xfrm>
            <a:off x="8412480" y="552297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رَأَيْتُ بِنْتَيْنِ</a:t>
            </a:r>
            <a:endParaRPr lang="ar-SA" sz="1800" dirty="0"/>
          </a:p>
        </p:txBody>
      </p:sp>
      <p:sp>
        <p:nvSpPr>
          <p:cNvPr id="37" name="Text 34"/>
          <p:cNvSpPr txBox="1"/>
          <p:nvPr/>
        </p:nvSpPr>
        <p:spPr>
          <a:xfrm>
            <a:off x="6400800" y="585216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 saw two girls</a:t>
            </a:r>
            <a:endParaRPr lang="en-US" sz="1050" dirty="0"/>
          </a:p>
        </p:txBody>
      </p:sp>
      <p:sp>
        <p:nvSpPr>
          <p:cNvPr id="38" name="Text 3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29 / 35</a:t>
            </a:r>
            <a:endParaRPr lang="en-US" sz="8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GM-N-02 · Nouns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COMPARE WITH THE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What a strong answer looks like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Nouns · GM-N-02</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600" dirty="0">
                <a:solidFill>
                  <a:srgbClr val="1F2A37"/>
                </a:solidFill>
                <a:latin typeface="Amiri" pitchFamily="2" charset="-78"/>
                <a:ea typeface="Amiri" pitchFamily="2" charset="-78"/>
                <a:cs typeface="Amiri" pitchFamily="2" charset="-78"/>
              </a:rPr>
              <a:t>أَسْكُنُ فِي بَيْتٍ صَغِيرٍ فِيهِ غُرْفَتَانِ وَحَدِيقَةٌ جَمِيلَةٌ. عِنْدِي أَخَوَانِ وَأُخْتٌ وَاحِدَةٌ، وَأَنَامُ مَعَ أَخَوَيَّ فِي غُرْفَةٍ وَاحِدَةٍ. فِي حَيِّي مَدْرَسَتَانِ كَبِيرَتَانِ وَمَسْجِدٌ قَدِيمٌ. أَدْرُسُ فِي الْمَدْرَسَةِ الْأُولَى مَعَ صَدِيقَيْنِ، وَعِنْدَنَا مُعَلِّمَانِ لِلْعَرَبِيَّةِ.</a:t>
            </a:r>
            <a:endParaRPr lang="ar-SA" sz="26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I live in a small house with two rooms and a beautiful garden. I have two brothers and one sister, and I sleep with my two brothers in one room. In my area there are two big schools and an old mosque. I study at the first school with two friends, and we have two Arabic teachers.</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duals in -āni</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duals in -ayni</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ة → ت</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a dual adjective</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30 / 35</a:t>
            </a:r>
            <a:endParaRPr lang="en-US" sz="8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GM-N-02 · Nouns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Nouns · GM-N-02</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used the dual (not a number word) for two.</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duals in </a:t>
            </a:r>
            <a:pPr algn="l" indent="0" marL="0">
              <a:buNone/>
            </a:pPr>
            <a:r>
              <a:rPr lang="ar-SA" altLang="en-US" sz="1700" dirty="0">
                <a:solidFill>
                  <a:srgbClr val="1F2A37"/>
                </a:solidFill>
                <a:latin typeface="Amiri" pitchFamily="2" charset="-78"/>
                <a:ea typeface="Amiri" pitchFamily="2" charset="-78"/>
                <a:cs typeface="Amiri" pitchFamily="2" charset="-78"/>
              </a:rPr>
              <a:t>ة</a:t>
            </a:r>
            <a:pPr algn="l" indent="0" marL="0">
              <a:buNone/>
            </a:pPr>
            <a:r>
              <a:rPr lang="en-US" sz="1300" dirty="0">
                <a:solidFill>
                  <a:srgbClr val="1F2A37"/>
                </a:solidFill>
                <a:latin typeface="Calibri" pitchFamily="34" charset="0"/>
                <a:cs typeface="Amiri" pitchFamily="2" charset="-78"/>
              </a:rPr>
              <a:t> have </a:t>
            </a:r>
            <a:pPr algn="l" indent="0" marL="0">
              <a:buNone/>
            </a:pPr>
            <a:r>
              <a:rPr lang="ar-SA" altLang="en-US" sz="1700" dirty="0">
                <a:solidFill>
                  <a:srgbClr val="1F2A37"/>
                </a:solidFill>
                <a:latin typeface="Amiri" pitchFamily="2" charset="-78"/>
                <a:ea typeface="Amiri" pitchFamily="2" charset="-78"/>
                <a:cs typeface="Amiri" pitchFamily="2" charset="-78"/>
              </a:rPr>
              <a:t>ت</a:t>
            </a:r>
            <a:pPr algn="l" indent="0" marL="0">
              <a:buNone/>
            </a:pPr>
            <a:r>
              <a:rPr lang="en-US" sz="1300" dirty="0">
                <a:solidFill>
                  <a:srgbClr val="1F2A37"/>
                </a:solidFill>
                <a:latin typeface="Calibri" pitchFamily="34" charset="0"/>
                <a:cs typeface="Amiri" pitchFamily="2" charset="-78"/>
              </a:rPr>
              <a:t>: </a:t>
            </a:r>
            <a:pPr algn="l" indent="0" marL="0">
              <a:buNone/>
            </a:pPr>
            <a:r>
              <a:rPr lang="ar-SA" altLang="en-US" sz="1700" dirty="0">
                <a:solidFill>
                  <a:srgbClr val="1F2A37"/>
                </a:solidFill>
                <a:latin typeface="Amiri" pitchFamily="2" charset="-78"/>
                <a:ea typeface="Amiri" pitchFamily="2" charset="-78"/>
                <a:cs typeface="Amiri" pitchFamily="2" charset="-78"/>
              </a:rPr>
              <a:t>مَدْرَسَتَانِ</a:t>
            </a:r>
            <a:pPr algn="l" indent="0" marL="0">
              <a:buNone/>
            </a:pPr>
            <a:r>
              <a:rPr lang="en-US" sz="1300" dirty="0">
                <a:solidFill>
                  <a:srgbClr val="1F2A37"/>
                </a:solidFill>
                <a:latin typeface="Calibri" pitchFamily="34" charset="0"/>
                <a:cs typeface="Amiri" pitchFamily="2" charset="-78"/>
              </a:rPr>
              <a:t>.</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used </a:t>
            </a:r>
            <a:pPr algn="l" indent="0" marL="0">
              <a:buNone/>
            </a:pPr>
            <a:r>
              <a:rPr lang="ar-SA" altLang="en-US" sz="1700" dirty="0">
                <a:solidFill>
                  <a:srgbClr val="1F2A37"/>
                </a:solidFill>
                <a:latin typeface="Amiri" pitchFamily="2" charset="-78"/>
                <a:ea typeface="Amiri" pitchFamily="2" charset="-78"/>
                <a:cs typeface="Amiri" pitchFamily="2" charset="-78"/>
              </a:rPr>
              <a:t>ـَيْنِ</a:t>
            </a:r>
            <a:pPr algn="l" indent="0" marL="0">
              <a:buNone/>
            </a:pPr>
            <a:r>
              <a:rPr lang="en-US" sz="1300" dirty="0">
                <a:solidFill>
                  <a:srgbClr val="1F2A37"/>
                </a:solidFill>
                <a:latin typeface="Calibri" pitchFamily="34" charset="0"/>
                <a:cs typeface="Amiri" pitchFamily="2" charset="-78"/>
              </a:rPr>
              <a:t> after every preposition.</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can tell singular, dual and plural apart.</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adjectives are dual too.</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31 / 35</a:t>
            </a:r>
            <a:endParaRPr lang="en-US" sz="8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GM-N-02 · Nouns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ON YOUR OWN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three questions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Nouns · GM-N-02</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“two pens” as a subject.</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قَلَمَانِ</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قَلَمَيْنِ</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أَقْلَامٌ</a:t>
            </a:r>
            <a:endParaRPr lang="ar-SA" sz="2050" dirty="0"/>
          </a:p>
        </p:txBody>
      </p:sp>
      <p:sp>
        <p:nvSpPr>
          <p:cNvPr id="28" name="Shape 25"/>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After </a:t>
            </a:r>
            <a:pPr algn="l" indent="0" marL="0">
              <a:buNone/>
            </a:pPr>
            <a:r>
              <a:rPr lang="ar-SA" altLang="en-US" sz="1650" b="1" dirty="0">
                <a:solidFill>
                  <a:srgbClr val="1B3B6F"/>
                </a:solidFill>
                <a:latin typeface="Amiri" pitchFamily="2" charset="-78"/>
                <a:ea typeface="Amiri" pitchFamily="2" charset="-78"/>
                <a:cs typeface="Amiri" pitchFamily="2" charset="-78"/>
              </a:rPr>
              <a:t>مِنْ</a:t>
            </a:r>
            <a:pPr algn="l" indent="0" marL="0">
              <a:buNone/>
            </a:pPr>
            <a:r>
              <a:rPr lang="en-US" sz="1250" b="1" dirty="0">
                <a:solidFill>
                  <a:srgbClr val="1B3B6F"/>
                </a:solidFill>
                <a:latin typeface="Calibri" pitchFamily="34" charset="0"/>
                <a:cs typeface="Amiri" pitchFamily="2" charset="-78"/>
              </a:rPr>
              <a:t>, choose “two cities”.</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مَدِينَتَانِ</a:t>
            </a:r>
            <a:endParaRPr lang="ar-SA" sz="20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مَدِينَتَيْنِ</a:t>
            </a:r>
            <a:endParaRPr lang="ar-SA" sz="20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مُدُنٌ</a:t>
            </a:r>
            <a:endParaRPr lang="ar-SA" sz="2050" dirty="0"/>
          </a:p>
        </p:txBody>
      </p:sp>
      <p:sp>
        <p:nvSpPr>
          <p:cNvPr id="41" name="Shape 38"/>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means “three or more rooms”?</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غُرَفٌ</a:t>
            </a:r>
            <a:endParaRPr lang="ar-SA" sz="20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غُرْفَتَانِ</a:t>
            </a:r>
            <a:endParaRPr lang="ar-SA" sz="20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غُرْفَةٌ</a:t>
            </a:r>
            <a:endParaRPr lang="ar-SA" sz="2050" dirty="0"/>
          </a:p>
        </p:txBody>
      </p:sp>
      <p:sp>
        <p:nvSpPr>
          <p:cNvPr id="54" name="Shape 51"/>
          <p:cNvSpPr/>
          <p:nvPr/>
        </p:nvSpPr>
        <p:spPr>
          <a:xfrm>
            <a:off x="457200" y="5532120"/>
            <a:ext cx="11274552" cy="777240"/>
          </a:xfrm>
          <a:prstGeom prst="roundRect">
            <a:avLst>
              <a:gd name="adj" fmla="val 9412"/>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55" name="Text 52"/>
          <p:cNvSpPr txBox="1"/>
          <p:nvPr/>
        </p:nvSpPr>
        <p:spPr>
          <a:xfrm>
            <a:off x="685800" y="5577840"/>
            <a:ext cx="2830068" cy="685800"/>
          </a:xfrm>
          <a:prstGeom prst="rect">
            <a:avLst/>
          </a:prstGeom>
          <a:noFill/>
          <a:ln/>
        </p:spPr>
        <p:txBody>
          <a:bodyPr wrap="square" lIns="0" tIns="0" rIns="0" bIns="0" rtlCol="0" anchor="ctr"/>
          <a:lstStyle/>
          <a:p>
            <a:pPr algn="l" indent="0" marL="0">
              <a:buNone/>
            </a:pPr>
            <a:r>
              <a:rPr lang="en-US" sz="1200" b="1" spc="100" kern="0" dirty="0">
                <a:solidFill>
                  <a:srgbClr val="8A6D1E"/>
                </a:solidFill>
                <a:latin typeface="Calibri" pitchFamily="34" charset="0"/>
                <a:cs typeface="Amiri" pitchFamily="2" charset="-78"/>
              </a:rPr>
              <a:t>ON YOUR OWN · 2 MINUTES</a:t>
            </a:r>
            <a:endParaRPr lang="en-US" sz="1200" dirty="0"/>
          </a:p>
        </p:txBody>
      </p:sp>
      <p:sp>
        <p:nvSpPr>
          <p:cNvPr id="56" name="Text 53"/>
          <p:cNvSpPr txBox="1"/>
          <p:nvPr/>
        </p:nvSpPr>
        <p:spPr>
          <a:xfrm>
            <a:off x="3515868" y="5577840"/>
            <a:ext cx="8051292"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Answer silently. When the timer ends, type your three letters in the chat: 1_ 2_ 3_. The other end-of-lesson questions are on the website.</a:t>
            </a:r>
            <a:endParaRPr lang="en-US" sz="1250" dirty="0"/>
          </a:p>
        </p:txBody>
      </p:sp>
      <p:sp>
        <p:nvSpPr>
          <p:cNvPr id="57" name="Text 5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32 / 35</a:t>
            </a:r>
            <a:endParaRPr lang="en-US" sz="8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GM-N-02 · Nouns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إِجَابَاتُ 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Nouns · GM-N-02</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“two pens” as a subject.</a:t>
            </a:r>
            <a:endParaRPr lang="en-US" sz="1250" dirty="0"/>
          </a:p>
        </p:txBody>
      </p:sp>
      <p:sp>
        <p:nvSpPr>
          <p:cNvPr id="19" name="Shape 16"/>
          <p:cNvSpPr/>
          <p:nvPr/>
        </p:nvSpPr>
        <p:spPr>
          <a:xfrm>
            <a:off x="548640" y="2496312"/>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532888"/>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ea typeface="Amiri" pitchFamily="2" charset="-78"/>
                <a:cs typeface="Amiri" pitchFamily="2" charset="-78"/>
              </a:rPr>
              <a:t>قَلَمَانِ</a:t>
            </a:r>
            <a:endParaRPr lang="ar-SA" sz="2050" dirty="0"/>
          </a:p>
        </p:txBody>
      </p:sp>
      <p:sp>
        <p:nvSpPr>
          <p:cNvPr id="23" name="Shape 20"/>
          <p:cNvSpPr/>
          <p:nvPr/>
        </p:nvSpPr>
        <p:spPr>
          <a:xfrm>
            <a:off x="640080" y="2990088"/>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قَلَمَيْنِ</a:t>
            </a:r>
            <a:endParaRPr lang="ar-SA" sz="2050" dirty="0"/>
          </a:p>
        </p:txBody>
      </p:sp>
      <p:sp>
        <p:nvSpPr>
          <p:cNvPr id="26" name="Shape 23"/>
          <p:cNvSpPr/>
          <p:nvPr/>
        </p:nvSpPr>
        <p:spPr>
          <a:xfrm>
            <a:off x="640080" y="344728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أَقْلَامٌ</a:t>
            </a:r>
            <a:endParaRPr lang="ar-SA" sz="2050" dirty="0"/>
          </a:p>
        </p:txBody>
      </p:sp>
      <p:sp>
        <p:nvSpPr>
          <p:cNvPr id="29" name="Text 26"/>
          <p:cNvSpPr txBox="1"/>
          <p:nvPr/>
        </p:nvSpPr>
        <p:spPr>
          <a:xfrm>
            <a:off x="585216"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Subject → -āni.</a:t>
            </a:r>
            <a:endParaRPr lang="en-US" sz="1050" dirty="0"/>
          </a:p>
        </p:txBody>
      </p:sp>
      <p:sp>
        <p:nvSpPr>
          <p:cNvPr id="30" name="Shape 27"/>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After </a:t>
            </a:r>
            <a:pPr algn="l" indent="0" marL="0">
              <a:buNone/>
            </a:pPr>
            <a:r>
              <a:rPr lang="ar-SA" altLang="en-US" sz="1650" b="1" dirty="0">
                <a:solidFill>
                  <a:srgbClr val="1B3B6F"/>
                </a:solidFill>
                <a:latin typeface="Amiri" pitchFamily="2" charset="-78"/>
                <a:ea typeface="Amiri" pitchFamily="2" charset="-78"/>
                <a:cs typeface="Amiri" pitchFamily="2" charset="-78"/>
              </a:rPr>
              <a:t>مِنْ</a:t>
            </a:r>
            <a:pPr algn="l" indent="0" marL="0">
              <a:buNone/>
            </a:pPr>
            <a:r>
              <a:rPr lang="en-US" sz="1250" b="1" dirty="0">
                <a:solidFill>
                  <a:srgbClr val="1B3B6F"/>
                </a:solidFill>
                <a:latin typeface="Calibri" pitchFamily="34" charset="0"/>
                <a:cs typeface="Amiri" pitchFamily="2" charset="-78"/>
              </a:rPr>
              <a:t>, choose “two cities”.</a:t>
            </a:r>
            <a:endParaRPr lang="en-US" sz="1250" dirty="0"/>
          </a:p>
        </p:txBody>
      </p:sp>
      <p:sp>
        <p:nvSpPr>
          <p:cNvPr id="34" name="Shape 31"/>
          <p:cNvSpPr/>
          <p:nvPr/>
        </p:nvSpPr>
        <p:spPr>
          <a:xfrm>
            <a:off x="4459224" y="2532888"/>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مَدِينَتَانِ</a:t>
            </a:r>
            <a:endParaRPr lang="ar-SA" sz="2050" dirty="0"/>
          </a:p>
        </p:txBody>
      </p:sp>
      <p:sp>
        <p:nvSpPr>
          <p:cNvPr id="37" name="Shape 34"/>
          <p:cNvSpPr/>
          <p:nvPr/>
        </p:nvSpPr>
        <p:spPr>
          <a:xfrm>
            <a:off x="4367784" y="2953512"/>
            <a:ext cx="3453384" cy="347472"/>
          </a:xfrm>
          <a:prstGeom prst="roundRect">
            <a:avLst>
              <a:gd name="adj" fmla="val 15789"/>
            </a:avLst>
          </a:prstGeom>
          <a:solidFill>
            <a:srgbClr val="E6F4EC"/>
          </a:solidFill>
          <a:ln w="9525">
            <a:solidFill>
              <a:srgbClr val="2E8B57"/>
            </a:solidFill>
            <a:prstDash val="solid"/>
          </a:ln>
        </p:spPr>
      </p:sp>
      <p:sp>
        <p:nvSpPr>
          <p:cNvPr id="38" name="Shape 35"/>
          <p:cNvSpPr/>
          <p:nvPr/>
        </p:nvSpPr>
        <p:spPr>
          <a:xfrm>
            <a:off x="4459224" y="2990088"/>
            <a:ext cx="256032" cy="256032"/>
          </a:xfrm>
          <a:prstGeom prst="ellipse">
            <a:avLst/>
          </a:prstGeom>
          <a:solidFill>
            <a:srgbClr val="2E8B57"/>
          </a:solidFill>
          <a:ln w="12700">
            <a:solidFill>
              <a:srgbClr val="2E8B57"/>
            </a:solidFill>
            <a:prstDash val="solid"/>
          </a:ln>
        </p:spPr>
      </p:sp>
      <p:sp>
        <p:nvSpPr>
          <p:cNvPr id="39" name="Text 36"/>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0" name="Text 37"/>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ea typeface="Amiri" pitchFamily="2" charset="-78"/>
                <a:cs typeface="Amiri" pitchFamily="2" charset="-78"/>
              </a:rPr>
              <a:t>مَدِينَتَيْنِ</a:t>
            </a:r>
            <a:endParaRPr lang="ar-SA" sz="2050" dirty="0"/>
          </a:p>
        </p:txBody>
      </p:sp>
      <p:sp>
        <p:nvSpPr>
          <p:cNvPr id="41" name="Shape 38"/>
          <p:cNvSpPr/>
          <p:nvPr/>
        </p:nvSpPr>
        <p:spPr>
          <a:xfrm>
            <a:off x="4459224" y="344728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مُدُنٌ</a:t>
            </a:r>
            <a:endParaRPr lang="ar-SA" sz="2050" dirty="0"/>
          </a:p>
        </p:txBody>
      </p:sp>
      <p:sp>
        <p:nvSpPr>
          <p:cNvPr id="44" name="Text 41"/>
          <p:cNvSpPr txBox="1"/>
          <p:nvPr/>
        </p:nvSpPr>
        <p:spPr>
          <a:xfrm>
            <a:off x="4404360"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Preposition → -ayni; </a:t>
            </a:r>
            <a:pPr algn="l" indent="0" marL="0">
              <a:buNone/>
            </a:pPr>
            <a:r>
              <a:rPr lang="ar-SA" altLang="en-US" sz="1350" dirty="0">
                <a:solidFill>
                  <a:srgbClr val="8A6D1E"/>
                </a:solidFill>
                <a:latin typeface="Amiri" pitchFamily="2" charset="-78"/>
                <a:ea typeface="Amiri" pitchFamily="2" charset="-78"/>
                <a:cs typeface="Amiri" pitchFamily="2" charset="-78"/>
              </a:rPr>
              <a:t>ة</a:t>
            </a:r>
            <a:pPr algn="l" indent="0" marL="0">
              <a:buNone/>
            </a:pPr>
            <a:r>
              <a:rPr lang="en-US" sz="1050" i="1" dirty="0">
                <a:solidFill>
                  <a:srgbClr val="8A6D1E"/>
                </a:solidFill>
                <a:latin typeface="Calibri" pitchFamily="34" charset="0"/>
                <a:cs typeface="Amiri" pitchFamily="2" charset="-78"/>
              </a:rPr>
              <a:t> → </a:t>
            </a:r>
            <a:pPr algn="l" indent="0" marL="0">
              <a:buNone/>
            </a:pPr>
            <a:r>
              <a:rPr lang="ar-SA" altLang="en-US" sz="1350" dirty="0">
                <a:solidFill>
                  <a:srgbClr val="8A6D1E"/>
                </a:solidFill>
                <a:latin typeface="Amiri" pitchFamily="2" charset="-78"/>
                <a:ea typeface="Amiri" pitchFamily="2" charset="-78"/>
                <a:cs typeface="Amiri" pitchFamily="2" charset="-78"/>
              </a:rPr>
              <a:t>ت</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45" name="Shape 42"/>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means “three or more rooms”?</a:t>
            </a:r>
            <a:endParaRPr lang="en-US" sz="1250" dirty="0"/>
          </a:p>
        </p:txBody>
      </p:sp>
      <p:sp>
        <p:nvSpPr>
          <p:cNvPr id="49" name="Shape 46"/>
          <p:cNvSpPr/>
          <p:nvPr/>
        </p:nvSpPr>
        <p:spPr>
          <a:xfrm>
            <a:off x="8186928" y="2496312"/>
            <a:ext cx="3453384" cy="347472"/>
          </a:xfrm>
          <a:prstGeom prst="roundRect">
            <a:avLst>
              <a:gd name="adj" fmla="val 15789"/>
            </a:avLst>
          </a:prstGeom>
          <a:solidFill>
            <a:srgbClr val="E6F4EC"/>
          </a:solidFill>
          <a:ln w="9525">
            <a:solidFill>
              <a:srgbClr val="2E8B57"/>
            </a:solidFill>
            <a:prstDash val="solid"/>
          </a:ln>
        </p:spPr>
      </p:sp>
      <p:sp>
        <p:nvSpPr>
          <p:cNvPr id="50" name="Shape 47"/>
          <p:cNvSpPr/>
          <p:nvPr/>
        </p:nvSpPr>
        <p:spPr>
          <a:xfrm>
            <a:off x="8278368" y="2532888"/>
            <a:ext cx="256032" cy="256032"/>
          </a:xfrm>
          <a:prstGeom prst="ellipse">
            <a:avLst/>
          </a:prstGeom>
          <a:solidFill>
            <a:srgbClr val="2E8B57"/>
          </a:solidFill>
          <a:ln w="12700">
            <a:solidFill>
              <a:srgbClr val="2E8B57"/>
            </a:solidFill>
            <a:prstDash val="solid"/>
          </a:ln>
        </p:spPr>
      </p:sp>
      <p:sp>
        <p:nvSpPr>
          <p:cNvPr id="51" name="Text 48"/>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2" name="Text 49"/>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ea typeface="Amiri" pitchFamily="2" charset="-78"/>
                <a:cs typeface="Amiri" pitchFamily="2" charset="-78"/>
              </a:rPr>
              <a:t>غُرَفٌ</a:t>
            </a:r>
            <a:endParaRPr lang="ar-SA" sz="2050" dirty="0"/>
          </a:p>
        </p:txBody>
      </p:sp>
      <p:sp>
        <p:nvSpPr>
          <p:cNvPr id="53" name="Shape 50"/>
          <p:cNvSpPr/>
          <p:nvPr/>
        </p:nvSpPr>
        <p:spPr>
          <a:xfrm>
            <a:off x="8278368" y="2990088"/>
            <a:ext cx="256032" cy="256032"/>
          </a:xfrm>
          <a:prstGeom prst="ellipse">
            <a:avLst/>
          </a:prstGeom>
          <a:solidFill>
            <a:srgbClr val="C9CED6"/>
          </a:solidFill>
          <a:ln w="12700">
            <a:solidFill>
              <a:srgbClr val="C9CED6"/>
            </a:solidFill>
            <a:prstDash val="solid"/>
          </a:ln>
        </p:spPr>
      </p:sp>
      <p:sp>
        <p:nvSpPr>
          <p:cNvPr id="54" name="Text 51"/>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2"/>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غُرْفَتَانِ</a:t>
            </a:r>
            <a:endParaRPr lang="ar-SA" sz="2050" dirty="0"/>
          </a:p>
        </p:txBody>
      </p:sp>
      <p:sp>
        <p:nvSpPr>
          <p:cNvPr id="56" name="Shape 53"/>
          <p:cNvSpPr/>
          <p:nvPr/>
        </p:nvSpPr>
        <p:spPr>
          <a:xfrm>
            <a:off x="8278368" y="344728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غُرْفَةٌ</a:t>
            </a:r>
            <a:endParaRPr lang="ar-SA" sz="2050" dirty="0"/>
          </a:p>
        </p:txBody>
      </p:sp>
      <p:sp>
        <p:nvSpPr>
          <p:cNvPr id="59" name="Text 56"/>
          <p:cNvSpPr txBox="1"/>
          <p:nvPr/>
        </p:nvSpPr>
        <p:spPr>
          <a:xfrm>
            <a:off x="8223504"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Plural.</a:t>
            </a:r>
            <a:endParaRPr lang="en-US" sz="1050" dirty="0"/>
          </a:p>
        </p:txBody>
      </p:sp>
      <p:sp>
        <p:nvSpPr>
          <p:cNvPr id="60" name="Shape 57"/>
          <p:cNvSpPr/>
          <p:nvPr/>
        </p:nvSpPr>
        <p:spPr>
          <a:xfrm>
            <a:off x="457200" y="5532120"/>
            <a:ext cx="11274552" cy="777240"/>
          </a:xfrm>
          <a:prstGeom prst="roundRect">
            <a:avLst>
              <a:gd name="adj" fmla="val 9412"/>
            </a:avLst>
          </a:prstGeom>
          <a:solidFill>
            <a:srgbClr val="EEF3FA"/>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61" name="Text 58"/>
          <p:cNvSpPr txBox="1"/>
          <p:nvPr/>
        </p:nvSpPr>
        <p:spPr>
          <a:xfrm>
            <a:off x="685800" y="5577840"/>
            <a:ext cx="937260" cy="685800"/>
          </a:xfrm>
          <a:prstGeom prst="rect">
            <a:avLst/>
          </a:prstGeom>
          <a:noFill/>
          <a:ln/>
        </p:spPr>
        <p:txBody>
          <a:bodyPr wrap="square" lIns="0" tIns="0" rIns="0" bIns="0" rtlCol="0" anchor="ctr"/>
          <a:lstStyle/>
          <a:p>
            <a:pPr algn="l" indent="0" marL="0">
              <a:buNone/>
            </a:pPr>
            <a:r>
              <a:rPr lang="en-US" sz="1200" b="1" spc="100" kern="0" dirty="0">
                <a:solidFill>
                  <a:srgbClr val="1B3B6F"/>
                </a:solidFill>
                <a:latin typeface="Calibri" pitchFamily="34" charset="0"/>
                <a:cs typeface="Amiri" pitchFamily="2" charset="-78"/>
              </a:rPr>
              <a:t>SCORE</a:t>
            </a:r>
            <a:endParaRPr lang="en-US" sz="1200" dirty="0"/>
          </a:p>
        </p:txBody>
      </p:sp>
      <p:sp>
        <p:nvSpPr>
          <p:cNvPr id="62" name="Text 59"/>
          <p:cNvSpPr txBox="1"/>
          <p:nvPr/>
        </p:nvSpPr>
        <p:spPr>
          <a:xfrm>
            <a:off x="1623060" y="5577840"/>
            <a:ext cx="9944100"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3/3 → aim for Stretch next lesson  ·  2/3 → Develop  ·  0–1 → Core route and a quick check-in during the next Do Now.</a:t>
            </a:r>
            <a:endParaRPr lang="en-US" sz="125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33 / 35</a:t>
            </a:r>
            <a:endParaRPr lang="en-US" sz="8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GM-N-02 · Nouns</a:t>
            </a:r>
            <a:endParaRPr lang="en-US" sz="950" dirty="0"/>
          </a:p>
        </p:txBody>
      </p:sp>
      <p:sp>
        <p:nvSpPr>
          <p:cNvPr id="8" name="Shape 6"/>
          <p:cNvSpPr/>
          <p:nvPr/>
        </p:nvSpPr>
        <p:spPr>
          <a:xfrm>
            <a:off x="6915607" y="274320"/>
            <a:ext cx="1844345" cy="329184"/>
          </a:xfrm>
          <a:prstGeom prst="roundRect">
            <a:avLst>
              <a:gd name="adj" fmla="val 50000"/>
            </a:avLst>
          </a:prstGeom>
          <a:solidFill>
            <a:srgbClr val="C45A3C"/>
          </a:solidFill>
          <a:ln w="12700">
            <a:solidFill>
              <a:srgbClr val="C45A3C"/>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PREPARATION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C45A3C"/>
                </a:solidFill>
                <a:latin typeface="Calibri" pitchFamily="34" charset="0"/>
                <a:cs typeface="Amiri" pitchFamily="2" charset="-78"/>
              </a:rPr>
              <a:t>PREPARATION FOR NEXT LESSON · ABOUT 10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00" b="1" dirty="0">
                <a:solidFill>
                  <a:srgbClr val="1B3B6F"/>
                </a:solidFill>
                <a:latin typeface="Cambria" pitchFamily="34" charset="0"/>
                <a:cs typeface="Amiri" pitchFamily="2" charset="-78"/>
              </a:rPr>
              <a:t>Before GM-N-03: get ready at home</a:t>
            </a:r>
            <a:endParaRPr lang="en-US" sz="26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التَّحْضِيرُ لِلدَّرْسِ القَادِمِ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Nouns · GM-N-02</a:t>
            </a:r>
            <a:endParaRPr lang="en-US" sz="850" dirty="0"/>
          </a:p>
        </p:txBody>
      </p:sp>
      <p:sp>
        <p:nvSpPr>
          <p:cNvPr id="15" name="Shape 12"/>
          <p:cNvSpPr/>
          <p:nvPr/>
        </p:nvSpPr>
        <p:spPr>
          <a:xfrm>
            <a:off x="457200" y="1810512"/>
            <a:ext cx="5394960" cy="4498848"/>
          </a:xfrm>
          <a:prstGeom prst="roundRect">
            <a:avLst>
              <a:gd name="adj" fmla="val 1626"/>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475488" cy="475488"/>
          </a:xfrm>
          <a:prstGeom prst="ellipse">
            <a:avLst/>
          </a:prstGeom>
          <a:solidFill>
            <a:srgbClr val="C45A3C"/>
          </a:solidFill>
          <a:ln w="12700">
            <a:solidFill>
              <a:srgbClr val="C45A3C"/>
            </a:solidFill>
            <a:prstDash val="solid"/>
          </a:ln>
        </p:spPr>
      </p:sp>
      <p:pic>
        <p:nvPicPr>
          <p:cNvPr id="17" name="Image 0" descr="preencoded.png">    </p:cNvPr>
          <p:cNvPicPr>
            <a:picLocks noChangeAspect="1"/>
          </p:cNvPicPr>
          <p:nvPr/>
        </p:nvPicPr>
        <p:blipFill>
          <a:blip r:embed="rId1"/>
          <a:stretch>
            <a:fillRect/>
          </a:stretch>
        </p:blipFill>
        <p:spPr>
          <a:xfrm>
            <a:off x="731520" y="2029968"/>
            <a:ext cx="292608" cy="292608"/>
          </a:xfrm>
          <a:prstGeom prst="rect">
            <a:avLst/>
          </a:prstGeom>
        </p:spPr>
      </p:pic>
      <p:sp>
        <p:nvSpPr>
          <p:cNvPr id="18" name="Text 14"/>
          <p:cNvSpPr txBox="1"/>
          <p:nvPr/>
        </p:nvSpPr>
        <p:spPr>
          <a:xfrm>
            <a:off x="1207008" y="1920240"/>
            <a:ext cx="4480560" cy="512064"/>
          </a:xfrm>
          <a:prstGeom prst="rect">
            <a:avLst/>
          </a:prstGeom>
          <a:noFill/>
          <a:ln/>
        </p:spPr>
        <p:txBody>
          <a:bodyPr wrap="square" lIns="0" tIns="0" rIns="0" bIns="0" rtlCol="0" anchor="ctr"/>
          <a:lstStyle/>
          <a:p>
            <a:pPr indent="0" marL="0">
              <a:buNone/>
            </a:pPr>
            <a:r>
              <a:rPr lang="en-US" sz="1100" b="1" spc="200" kern="0" dirty="0">
                <a:solidFill>
                  <a:srgbClr val="C45A3C"/>
                </a:solidFill>
                <a:latin typeface="Calibri" pitchFamily="34" charset="0"/>
                <a:cs typeface="Amiri" pitchFamily="2" charset="-78"/>
              </a:rPr>
              <a:t>LEARN THESE 5 WORDS</a:t>
            </a:r>
            <a:endParaRPr lang="en-US" sz="1100" dirty="0"/>
          </a:p>
          <a:p>
            <a:pPr indent="0" marL="0">
              <a:buNone/>
            </a:pPr>
            <a:r>
              <a:rPr lang="en-US" sz="1000" dirty="0">
                <a:solidFill>
                  <a:srgbClr val="5A6472"/>
                </a:solidFill>
                <a:latin typeface="Calibri" pitchFamily="34" charset="0"/>
                <a:cs typeface="Amiri" pitchFamily="2" charset="-78"/>
              </a:rPr>
              <a:t>for GM-N-03 · Sound Masculine Plural</a:t>
            </a:r>
            <a:endParaRPr lang="en-US" sz="1100" dirty="0"/>
          </a:p>
        </p:txBody>
      </p:sp>
      <p:sp>
        <p:nvSpPr>
          <p:cNvPr id="19" name="Text 15"/>
          <p:cNvSpPr txBox="1"/>
          <p:nvPr/>
        </p:nvSpPr>
        <p:spPr>
          <a:xfrm>
            <a:off x="3017520" y="25603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جَمْعُ الْمُذَكَّرِ السَّالِمِ</a:t>
            </a:r>
            <a:endParaRPr lang="ar-SA" sz="2000" dirty="0"/>
          </a:p>
        </p:txBody>
      </p:sp>
      <p:sp>
        <p:nvSpPr>
          <p:cNvPr id="20" name="Text 16"/>
          <p:cNvSpPr txBox="1"/>
          <p:nvPr/>
        </p:nvSpPr>
        <p:spPr>
          <a:xfrm>
            <a:off x="685800" y="25603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sound masculine plural</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1" name="Text 17"/>
          <p:cNvSpPr txBox="1"/>
          <p:nvPr/>
        </p:nvSpPr>
        <p:spPr>
          <a:xfrm>
            <a:off x="3017520" y="30175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مُعَلِّمُونَ</a:t>
            </a:r>
            <a:endParaRPr lang="ar-SA" sz="2000" dirty="0"/>
          </a:p>
        </p:txBody>
      </p:sp>
      <p:sp>
        <p:nvSpPr>
          <p:cNvPr id="22" name="Text 18"/>
          <p:cNvSpPr txBox="1"/>
          <p:nvPr/>
        </p:nvSpPr>
        <p:spPr>
          <a:xfrm>
            <a:off x="685800" y="30175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teachers (subject)</a:t>
            </a:r>
            <a:pPr indent="0" marL="0">
              <a:buNone/>
            </a:pPr>
            <a:r>
              <a:rPr lang="ar-SA" sz="1000" i="1" dirty="0">
                <a:solidFill>
                  <a:srgbClr val="5A6472"/>
                </a:solidFill>
                <a:latin typeface="Calibri" pitchFamily="34" charset="0"/>
                <a:ea typeface="Amiri" pitchFamily="2" charset="-78"/>
                <a:cs typeface="Amiri" pitchFamily="2" charset="-78"/>
              </a:rPr>
              <a:t>  مُعَلِّمِينَ after فِي</a:t>
            </a:r>
            <a:endParaRPr lang="en-US" sz="1200" dirty="0"/>
          </a:p>
        </p:txBody>
      </p:sp>
      <p:sp>
        <p:nvSpPr>
          <p:cNvPr id="23" name="Text 19"/>
          <p:cNvSpPr txBox="1"/>
          <p:nvPr/>
        </p:nvSpPr>
        <p:spPr>
          <a:xfrm>
            <a:off x="3017520" y="34747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مُهَنْدِسُونَ</a:t>
            </a:r>
            <a:endParaRPr lang="ar-SA" sz="2000" dirty="0"/>
          </a:p>
        </p:txBody>
      </p:sp>
      <p:sp>
        <p:nvSpPr>
          <p:cNvPr id="24" name="Text 20"/>
          <p:cNvSpPr txBox="1"/>
          <p:nvPr/>
        </p:nvSpPr>
        <p:spPr>
          <a:xfrm>
            <a:off x="685800" y="34747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engineers</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5" name="Text 21"/>
          <p:cNvSpPr txBox="1"/>
          <p:nvPr/>
        </p:nvSpPr>
        <p:spPr>
          <a:xfrm>
            <a:off x="3017520" y="39319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لَاعِبُونَ</a:t>
            </a:r>
            <a:endParaRPr lang="ar-SA" sz="2000" dirty="0"/>
          </a:p>
        </p:txBody>
      </p:sp>
      <p:sp>
        <p:nvSpPr>
          <p:cNvPr id="26" name="Text 22"/>
          <p:cNvSpPr txBox="1"/>
          <p:nvPr/>
        </p:nvSpPr>
        <p:spPr>
          <a:xfrm>
            <a:off x="685800" y="39319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players</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7" name="Text 23"/>
          <p:cNvSpPr txBox="1"/>
          <p:nvPr/>
        </p:nvSpPr>
        <p:spPr>
          <a:xfrm>
            <a:off x="3017520" y="43891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مُسْلِمُونَ</a:t>
            </a:r>
            <a:endParaRPr lang="ar-SA" sz="2000" dirty="0"/>
          </a:p>
        </p:txBody>
      </p:sp>
      <p:sp>
        <p:nvSpPr>
          <p:cNvPr id="28" name="Text 24"/>
          <p:cNvSpPr txBox="1"/>
          <p:nvPr/>
        </p:nvSpPr>
        <p:spPr>
          <a:xfrm>
            <a:off x="685800" y="43891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Muslims</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9" name="Text 25"/>
          <p:cNvSpPr txBox="1"/>
          <p:nvPr/>
        </p:nvSpPr>
        <p:spPr>
          <a:xfrm>
            <a:off x="685800" y="4892040"/>
            <a:ext cx="2743200" cy="237744"/>
          </a:xfrm>
          <a:prstGeom prst="rect">
            <a:avLst/>
          </a:prstGeom>
          <a:noFill/>
          <a:ln/>
        </p:spPr>
        <p:txBody>
          <a:bodyPr wrap="square" lIns="0" tIns="0" rIns="0" bIns="0" rtlCol="0" anchor="ctr"/>
          <a:lstStyle/>
          <a:p>
            <a:pPr algn="l" indent="0" marL="0">
              <a:buNone/>
            </a:pPr>
            <a:r>
              <a:rPr lang="en-US" sz="900" b="1" spc="200" kern="0" dirty="0">
                <a:solidFill>
                  <a:srgbClr val="C45A3C"/>
                </a:solidFill>
                <a:latin typeface="Calibri" pitchFamily="34" charset="0"/>
                <a:cs typeface="Amiri" pitchFamily="2" charset="-78"/>
              </a:rPr>
              <a:t>AND ANSWER ONE QUESTION</a:t>
            </a:r>
            <a:endParaRPr lang="en-US" sz="900" dirty="0"/>
          </a:p>
        </p:txBody>
      </p:sp>
      <p:sp>
        <p:nvSpPr>
          <p:cNvPr id="30" name="Text 26"/>
          <p:cNvSpPr txBox="1"/>
          <p:nvPr/>
        </p:nvSpPr>
        <p:spPr>
          <a:xfrm>
            <a:off x="685800" y="5129784"/>
            <a:ext cx="2194560" cy="1005840"/>
          </a:xfrm>
          <a:prstGeom prst="rect">
            <a:avLst/>
          </a:prstGeom>
          <a:noFill/>
          <a:ln/>
        </p:spPr>
        <p:txBody>
          <a:bodyPr wrap="square" lIns="0" tIns="0" rIns="0" bIns="0" rtlCol="0" anchor="t"/>
          <a:lstStyle/>
          <a:p>
            <a:pPr algn="l" indent="0" marL="0">
              <a:buNone/>
            </a:pPr>
            <a:r>
              <a:rPr lang="en-US" sz="1050" dirty="0">
                <a:solidFill>
                  <a:srgbClr val="1F2A37"/>
                </a:solidFill>
                <a:latin typeface="Calibri" pitchFamily="34" charset="0"/>
                <a:cs typeface="Amiri" pitchFamily="2" charset="-78"/>
              </a:rPr>
              <a:t>You know </a:t>
            </a:r>
            <a:pPr algn="l" indent="0" marL="0">
              <a:buNone/>
            </a:pPr>
            <a:r>
              <a:rPr lang="ar-SA" altLang="en-US" sz="1350" dirty="0">
                <a:solidFill>
                  <a:srgbClr val="1F2A37"/>
                </a:solidFill>
                <a:latin typeface="Amiri" pitchFamily="2" charset="-78"/>
                <a:ea typeface="Amiri" pitchFamily="2" charset="-78"/>
                <a:cs typeface="Amiri" pitchFamily="2" charset="-78"/>
              </a:rPr>
              <a:t>مُسْلِمُونَ</a:t>
            </a:r>
            <a:pPr algn="l" indent="0" marL="0">
              <a:buNone/>
            </a:pPr>
            <a:r>
              <a:rPr lang="en-US" sz="1050" dirty="0">
                <a:solidFill>
                  <a:srgbClr val="1F2A37"/>
                </a:solidFill>
                <a:latin typeface="Calibri" pitchFamily="34" charset="0"/>
                <a:cs typeface="Amiri" pitchFamily="2" charset="-78"/>
              </a:rPr>
              <a:t> and </a:t>
            </a:r>
            <a:pPr algn="l" indent="0" marL="0">
              <a:buNone/>
            </a:pPr>
            <a:r>
              <a:rPr lang="ar-SA" altLang="en-US" sz="1350" dirty="0">
                <a:solidFill>
                  <a:srgbClr val="1F2A37"/>
                </a:solidFill>
                <a:latin typeface="Amiri" pitchFamily="2" charset="-78"/>
                <a:ea typeface="Amiri" pitchFamily="2" charset="-78"/>
                <a:cs typeface="Amiri" pitchFamily="2" charset="-78"/>
              </a:rPr>
              <a:t>مُؤْمِنُونَ</a:t>
            </a:r>
            <a:pPr algn="l" indent="0" marL="0">
              <a:buNone/>
            </a:pPr>
            <a:r>
              <a:rPr lang="en-US" sz="1050" dirty="0">
                <a:solidFill>
                  <a:srgbClr val="1F2A37"/>
                </a:solidFill>
                <a:latin typeface="Calibri" pitchFamily="34" charset="0"/>
                <a:cs typeface="Amiri" pitchFamily="2" charset="-78"/>
              </a:rPr>
              <a:t> from the Qur’an. What do these words have in common?</a:t>
            </a:r>
            <a:endParaRPr lang="en-US" sz="1050" dirty="0"/>
          </a:p>
        </p:txBody>
      </p:sp>
      <p:sp>
        <p:nvSpPr>
          <p:cNvPr id="31" name="Text 27"/>
          <p:cNvSpPr txBox="1"/>
          <p:nvPr/>
        </p:nvSpPr>
        <p:spPr>
          <a:xfrm>
            <a:off x="2926080" y="5074920"/>
            <a:ext cx="2743200" cy="1051560"/>
          </a:xfrm>
          <a:prstGeom prst="rect">
            <a:avLst/>
          </a:prstGeom>
          <a:noFill/>
          <a:ln/>
        </p:spPr>
        <p:txBody>
          <a:bodyPr wrap="square" lIns="0" tIns="0" rIns="0" bIns="0" rtlCol="0" anchor="ctr"/>
          <a:lstStyle/>
          <a:p>
            <a:pPr rtl="1" algn="r" indent="0" marL="0">
              <a:buNone/>
            </a:pPr>
            <a:r>
              <a:rPr lang="ar-SA" altLang="en-US" sz="1700" b="1" dirty="0">
                <a:solidFill>
                  <a:srgbClr val="1B3B6F"/>
                </a:solidFill>
                <a:latin typeface="Amiri" pitchFamily="2" charset="-78"/>
                <a:ea typeface="Amiri" pitchFamily="2" charset="-78"/>
                <a:cs typeface="Amiri" pitchFamily="2" charset="-78"/>
              </a:rPr>
              <a:t>مُسْلِمُونَ · مُؤْمِنُونَ · ______</a:t>
            </a:r>
            <a:endParaRPr lang="ar-SA" sz="1700" dirty="0"/>
          </a:p>
        </p:txBody>
      </p:sp>
      <p:sp>
        <p:nvSpPr>
          <p:cNvPr id="32" name="Text 28"/>
          <p:cNvSpPr txBox="1"/>
          <p:nvPr/>
        </p:nvSpPr>
        <p:spPr>
          <a:xfrm>
            <a:off x="6126480" y="1828800"/>
            <a:ext cx="54864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HOMEWORK — CHOOSE YOUR ROUTE</a:t>
            </a:r>
            <a:endParaRPr lang="en-US" sz="1000" dirty="0"/>
          </a:p>
        </p:txBody>
      </p:sp>
      <p:sp>
        <p:nvSpPr>
          <p:cNvPr id="33" name="Shape 29"/>
          <p:cNvSpPr/>
          <p:nvPr/>
        </p:nvSpPr>
        <p:spPr>
          <a:xfrm>
            <a:off x="6126480" y="2194560"/>
            <a:ext cx="5605272" cy="1243584"/>
          </a:xfrm>
          <a:prstGeom prst="roundRect">
            <a:avLst>
              <a:gd name="adj" fmla="val 5882"/>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0"/>
          <p:cNvSpPr/>
          <p:nvPr/>
        </p:nvSpPr>
        <p:spPr>
          <a:xfrm>
            <a:off x="6309360" y="2322576"/>
            <a:ext cx="1051560" cy="274320"/>
          </a:xfrm>
          <a:prstGeom prst="roundRect">
            <a:avLst>
              <a:gd name="adj" fmla="val 50000"/>
            </a:avLst>
          </a:prstGeom>
          <a:solidFill>
            <a:srgbClr val="2E8B57"/>
          </a:solidFill>
          <a:ln w="12700">
            <a:solidFill>
              <a:srgbClr val="2E8B57"/>
            </a:solidFill>
            <a:prstDash val="solid"/>
          </a:ln>
        </p:spPr>
      </p:sp>
      <p:sp>
        <p:nvSpPr>
          <p:cNvPr id="35" name="Text 31"/>
          <p:cNvSpPr txBox="1"/>
          <p:nvPr/>
        </p:nvSpPr>
        <p:spPr>
          <a:xfrm>
            <a:off x="6309360" y="23225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2"/>
          <p:cNvSpPr txBox="1"/>
          <p:nvPr/>
        </p:nvSpPr>
        <p:spPr>
          <a:xfrm>
            <a:off x="6309360" y="26517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Write ten singular → dual pairs (five masculine, five in </a:t>
            </a:r>
            <a:pPr algn="l" indent="0" marL="0">
              <a:buNone/>
            </a:pPr>
            <a:r>
              <a:rPr lang="ar-SA" altLang="en-US" sz="1550" dirty="0">
                <a:solidFill>
                  <a:srgbClr val="1F2A37"/>
                </a:solidFill>
                <a:latin typeface="Amiri" pitchFamily="2" charset="-78"/>
                <a:ea typeface="Amiri" pitchFamily="2" charset="-78"/>
                <a:cs typeface="Amiri" pitchFamily="2" charset="-78"/>
              </a:rPr>
              <a:t>ة</a:t>
            </a:r>
            <a:pPr algn="l" indent="0" marL="0">
              <a:buNone/>
            </a:pPr>
            <a:r>
              <a:rPr lang="en-US" sz="1200" dirty="0">
                <a:solidFill>
                  <a:srgbClr val="1F2A37"/>
                </a:solidFill>
                <a:latin typeface="Calibri" pitchFamily="34" charset="0"/>
                <a:cs typeface="Amiri" pitchFamily="2" charset="-78"/>
              </a:rPr>
              <a:t>).</a:t>
            </a:r>
            <a:endParaRPr lang="en-US" sz="1200" dirty="0"/>
          </a:p>
        </p:txBody>
      </p:sp>
      <p:sp>
        <p:nvSpPr>
          <p:cNvPr id="37" name="Shape 33"/>
          <p:cNvSpPr/>
          <p:nvPr/>
        </p:nvSpPr>
        <p:spPr>
          <a:xfrm>
            <a:off x="6126480" y="3566160"/>
            <a:ext cx="5605272" cy="1243584"/>
          </a:xfrm>
          <a:prstGeom prst="roundRect">
            <a:avLst>
              <a:gd name="adj" fmla="val 5882"/>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4"/>
          <p:cNvSpPr/>
          <p:nvPr/>
        </p:nvSpPr>
        <p:spPr>
          <a:xfrm>
            <a:off x="6309360" y="3694176"/>
            <a:ext cx="1051560" cy="274320"/>
          </a:xfrm>
          <a:prstGeom prst="roundRect">
            <a:avLst>
              <a:gd name="adj" fmla="val 50000"/>
            </a:avLst>
          </a:prstGeom>
          <a:solidFill>
            <a:srgbClr val="C9780A"/>
          </a:solidFill>
          <a:ln w="12700">
            <a:solidFill>
              <a:srgbClr val="C9780A"/>
            </a:solidFill>
            <a:prstDash val="solid"/>
          </a:ln>
        </p:spPr>
      </p:sp>
      <p:sp>
        <p:nvSpPr>
          <p:cNvPr id="39" name="Text 35"/>
          <p:cNvSpPr txBox="1"/>
          <p:nvPr/>
        </p:nvSpPr>
        <p:spPr>
          <a:xfrm>
            <a:off x="6309360" y="36941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6"/>
          <p:cNvSpPr txBox="1"/>
          <p:nvPr/>
        </p:nvSpPr>
        <p:spPr>
          <a:xfrm>
            <a:off x="6309360" y="40233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Write five sentences with </a:t>
            </a:r>
            <a:pPr algn="l" indent="0" marL="0">
              <a:buNone/>
            </a:pPr>
            <a:r>
              <a:rPr lang="ar-SA" altLang="en-US" sz="1550" dirty="0">
                <a:solidFill>
                  <a:srgbClr val="1F2A37"/>
                </a:solidFill>
                <a:latin typeface="Amiri" pitchFamily="2" charset="-78"/>
                <a:ea typeface="Amiri" pitchFamily="2" charset="-78"/>
                <a:cs typeface="Amiri" pitchFamily="2" charset="-78"/>
              </a:rPr>
              <a:t>ـَيْنِ</a:t>
            </a:r>
            <a:pPr algn="l" indent="0" marL="0">
              <a:buNone/>
            </a:pPr>
            <a:r>
              <a:rPr lang="en-US" sz="1200" dirty="0">
                <a:solidFill>
                  <a:srgbClr val="1F2A37"/>
                </a:solidFill>
                <a:latin typeface="Calibri" pitchFamily="34" charset="0"/>
                <a:cs typeface="Amiri" pitchFamily="2" charset="-78"/>
              </a:rPr>
              <a:t> after a preposition.</a:t>
            </a:r>
            <a:endParaRPr lang="en-US" sz="1200" dirty="0"/>
          </a:p>
        </p:txBody>
      </p:sp>
      <p:sp>
        <p:nvSpPr>
          <p:cNvPr id="41" name="Shape 37"/>
          <p:cNvSpPr/>
          <p:nvPr/>
        </p:nvSpPr>
        <p:spPr>
          <a:xfrm>
            <a:off x="6126480" y="4937760"/>
            <a:ext cx="5605272" cy="1243584"/>
          </a:xfrm>
          <a:prstGeom prst="roundRect">
            <a:avLst>
              <a:gd name="adj" fmla="val 5882"/>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8"/>
          <p:cNvSpPr/>
          <p:nvPr/>
        </p:nvSpPr>
        <p:spPr>
          <a:xfrm>
            <a:off x="6309360" y="5065776"/>
            <a:ext cx="1051560" cy="274320"/>
          </a:xfrm>
          <a:prstGeom prst="roundRect">
            <a:avLst>
              <a:gd name="adj" fmla="val 50000"/>
            </a:avLst>
          </a:prstGeom>
          <a:solidFill>
            <a:srgbClr val="B83227"/>
          </a:solidFill>
          <a:ln w="12700">
            <a:solidFill>
              <a:srgbClr val="B83227"/>
            </a:solidFill>
            <a:prstDash val="solid"/>
          </a:ln>
        </p:spPr>
      </p:sp>
      <p:sp>
        <p:nvSpPr>
          <p:cNvPr id="43" name="Text 39"/>
          <p:cNvSpPr txBox="1"/>
          <p:nvPr/>
        </p:nvSpPr>
        <p:spPr>
          <a:xfrm>
            <a:off x="6309360" y="50657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0"/>
          <p:cNvSpPr txBox="1"/>
          <p:nvPr/>
        </p:nvSpPr>
        <p:spPr>
          <a:xfrm>
            <a:off x="6309360" y="53949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Website writing workshop (8–12 sentences) and the website mastery check.</a:t>
            </a:r>
            <a:endParaRPr lang="en-US" sz="1200" dirty="0"/>
          </a:p>
        </p:txBody>
      </p:sp>
      <p:sp>
        <p:nvSpPr>
          <p:cNvPr id="45"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34 / 35</a:t>
            </a:r>
            <a:endParaRPr lang="en-US" sz="8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GM-N-02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ea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see you next lesson.</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 LESSON</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2800" b="1" dirty="0">
                <a:solidFill>
                  <a:srgbClr val="FFFFFF"/>
                </a:solidFill>
                <a:latin typeface="Cambria" pitchFamily="34" charset="0"/>
                <a:cs typeface="Amiri" pitchFamily="2" charset="-78"/>
              </a:rPr>
              <a:t>GM-N-03 · Sound Masculine Plural</a:t>
            </a:r>
            <a:endParaRPr lang="en-US" sz="280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ea typeface="Amiri" pitchFamily="2" charset="-78"/>
                <a:cs typeface="Amiri" pitchFamily="2" charset="-78"/>
              </a:rPr>
              <a:t>جَمْعُ الْمُذَكَّرِ السَّالِمُ</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one · two · three-or-more · two = </a:t>
            </a:r>
            <a:pPr algn="l" indent="0" marL="0">
              <a:buNone/>
            </a:pPr>
            <a:r>
              <a:rPr lang="ar-SA" altLang="en-US" sz="1700" b="1" dirty="0">
                <a:solidFill>
                  <a:srgbClr val="FFFFFF"/>
                </a:solidFill>
                <a:latin typeface="Amiri" pitchFamily="2" charset="-78"/>
                <a:ea typeface="Amiri" pitchFamily="2" charset="-78"/>
                <a:cs typeface="Amiri" pitchFamily="2" charset="-78"/>
              </a:rPr>
              <a:t>ـَانِ</a:t>
            </a:r>
            <a:pPr algn="l" indent="0" marL="0">
              <a:buNone/>
            </a:pPr>
            <a:r>
              <a:rPr lang="en-US" sz="1300" b="1" dirty="0">
                <a:solidFill>
                  <a:srgbClr val="FFFFFF"/>
                </a:solidFill>
                <a:latin typeface="Calibri" pitchFamily="34" charset="0"/>
                <a:cs typeface="Amiri" pitchFamily="2" charset="-78"/>
              </a:rPr>
              <a:t> (subject) or </a:t>
            </a:r>
            <a:pPr algn="l" indent="0" marL="0">
              <a:buNone/>
            </a:pPr>
            <a:r>
              <a:rPr lang="ar-SA" altLang="en-US" sz="1700" b="1" dirty="0">
                <a:solidFill>
                  <a:srgbClr val="FFFFFF"/>
                </a:solidFill>
                <a:latin typeface="Amiri" pitchFamily="2" charset="-78"/>
                <a:ea typeface="Amiri" pitchFamily="2" charset="-78"/>
                <a:cs typeface="Amiri" pitchFamily="2" charset="-78"/>
              </a:rPr>
              <a:t>ـَيْنِ</a:t>
            </a:r>
            <a:pPr algn="l" indent="0" marL="0">
              <a:buNone/>
            </a:pPr>
            <a:r>
              <a:rPr lang="en-US" sz="1300" b="1" dirty="0">
                <a:solidFill>
                  <a:srgbClr val="FFFFFF"/>
                </a:solidFill>
                <a:latin typeface="Calibri" pitchFamily="34" charset="0"/>
                <a:cs typeface="Amiri" pitchFamily="2" charset="-78"/>
              </a:rPr>
              <a:t> (after a preposition / object) · </a:t>
            </a:r>
            <a:pPr algn="l" indent="0" marL="0">
              <a:buNone/>
            </a:pPr>
            <a:r>
              <a:rPr lang="ar-SA" altLang="en-US" sz="1700" b="1" dirty="0">
                <a:solidFill>
                  <a:srgbClr val="FFFFFF"/>
                </a:solidFill>
                <a:latin typeface="Amiri" pitchFamily="2" charset="-78"/>
                <a:ea typeface="Amiri" pitchFamily="2" charset="-78"/>
                <a:cs typeface="Amiri" pitchFamily="2" charset="-78"/>
              </a:rPr>
              <a:t>ة</a:t>
            </a:r>
            <a:pPr algn="l" indent="0" marL="0">
              <a:buNone/>
            </a:pPr>
            <a:r>
              <a:rPr lang="en-US" sz="1300" b="1" dirty="0">
                <a:solidFill>
                  <a:srgbClr val="FFFFFF"/>
                </a:solidFill>
                <a:latin typeface="Calibri" pitchFamily="34" charset="0"/>
                <a:cs typeface="Amiri" pitchFamily="2" charset="-78"/>
              </a:rPr>
              <a:t> → </a:t>
            </a:r>
            <a:pPr algn="l" indent="0" marL="0">
              <a:buNone/>
            </a:pPr>
            <a:r>
              <a:rPr lang="ar-SA" altLang="en-US" sz="1700" b="1" dirty="0">
                <a:solidFill>
                  <a:srgbClr val="FFFFFF"/>
                </a:solidFill>
                <a:latin typeface="Amiri" pitchFamily="2" charset="-78"/>
                <a:ea typeface="Amiri" pitchFamily="2" charset="-78"/>
                <a:cs typeface="Amiri" pitchFamily="2" charset="-78"/>
              </a:rPr>
              <a:t>ت</a:t>
            </a:r>
            <a:pPr algn="l" indent="0" marL="0">
              <a:buNone/>
            </a:pPr>
            <a:r>
              <a:rPr lang="en-US" sz="1300" b="1" dirty="0">
                <a:solidFill>
                  <a:srgbClr val="FFFFFF"/>
                </a:solidFill>
                <a:latin typeface="Calibri" pitchFamily="34" charset="0"/>
                <a:cs typeface="Amiri" pitchFamily="2" charset="-78"/>
              </a:rPr>
              <a:t> · no number word for two.</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Amiri" pitchFamily="2" charset="-78"/>
        <a:cs typeface="Amiri" pitchFamily="2" charset="-78"/>
        <a:font script="Arab" typeface="Amiri"/>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Amiri" pitchFamily="2" charset="-78"/>
        <a:cs typeface="Amiri" pitchFamily="2" charset="-78"/>
        <a:font script="Arab" typeface="Amir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35</Slides>
  <Notes>35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35</vt:i4>
      </vt:variant>
    </vt:vector>
  </HeadingPairs>
  <TitlesOfParts>
    <vt:vector size="3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GM-N-02 · Singular, Dual and Plural</dc:title>
  <dc:subject>PptxGenJS Presentation</dc:subject>
  <dc:creator>Al Madina Online School · Arabic Department</dc:creator>
  <cp:lastModifiedBy>Al Madina Online School · Arabic Department</cp:lastModifiedBy>
  <cp:revision>1</cp:revision>
  <dcterms:created xsi:type="dcterms:W3CDTF">2026-10-11T06:42:16Z</dcterms:created>
  <dcterms:modified xsi:type="dcterms:W3CDTF">2026-10-11T06:42:16Z</dcterms:modified>
</cp:coreProperties>
</file>