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GM-N-02 (“Singular, Dual and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singular, dual, plural; build the dual with ـَانِ. Develop: ـَانِ vs ـَيْنِ (after a preposition or as an object); ة → ت in the dual. Stretch: dual agreement with adjectives and verbs; dual in iḍāfa drops its nūn (preview of GM-N-07).
• English and Urdu have no dual: students say “two books” with a number. In Arabic the ENDING says “two” — a number word is not needed (كِتَابَانِ, not اِثْنَانِ كُتُبٌ).
• This lesson is the map; GM-N-03 to GM-N-06 then study each plural family in depth.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diagnostic; it also retrieves GM-N-01 (ة → 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Exactly two? Add an ending: ـَانِ for the subject, ـَيْنِ after a preposition or as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 “The Arabic number system”. Hold up one, two, three fingers: طَالِبٌ · طَالِبَانِ · طُلَّابٌ.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“Building and using the dual”. Website practical IGCSE rule: ـَانِ for a dual subject in the nominative; ـَيْنِ after a preposition and in object / genitive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Quick drill: teacher says a frame (مَعَ … / فِي الْبَيْتِ …), students type -āni or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preview only. Website: “Understand the three-number system before studying each plural family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on the website model sentence. Think aloud: “Exactly two? Subject or after a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D or P for each card. Ask: “How did you know it was dual?”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S, D or P for each card. Ask: “How did you know it was dual?” (-āni / -ayni).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noun relevant to this lesson and explain its form (singular, dual or plural).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last two are teacher-written to add more duals.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the singular, dual and/or plural, then use each in a sentence. Use objects on camera (one pen, two pens …). To a girl: عِنْدَكِ · غُرْفَتِكِ · تَدْرُسِينَ.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Use at least six target noun forms from this lesson and underline them.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sentence, with an English translation for Core students.
Students find in the model (● 20s → ◎) the items on the chips. -āni: غُرْفَتَانِ · أَخَوَانِ · مَدْرَسَتَانِ كَبِيرَتَانِ · مُعَلِّمَانِ. -ayni: صَدِيقَيْنِ; أَخَوَيَّ (Stretch: “my two brothers” — the nūn drops before ـيَّ).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(GM-N-03 · Sound Masculine Plural) will spend class time USING this language, so students prepare it tonight — short, simple, easy to access (school guidance: “Simple, Short, Interesting, Relevant, Easy to access”). The five words prepare GM-N-03 (website Nouns lesson 3: the sound masculine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NOUNS  ·  GM-N-02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Singular, Dual and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الْمُفْرَدُ وَالْمُثَنَّى وَالْجَمْعُ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counts one, exactly two and three-or-more. Build the dual with </a:t>
            </a:r>
            <a:pPr algn="l" indent="0" marL="0">
              <a:buNone/>
            </a:pPr>
            <a:r>
              <a:rPr lang="ar-SA" altLang="en-US" sz="1800" dirty="0">
                <a:solidFill>
                  <a:srgbClr val="C6D2E6"/>
                </a:solidFill>
                <a:latin typeface="Amiri" pitchFamily="34" charset="0"/>
                <a:ea typeface="Amiri" pitchFamily="34" charset="-122"/>
                <a:cs typeface="Amiri" pitchFamily="34" charset="-120"/>
              </a:rPr>
              <a:t>ـَانِ</a:t>
            </a:r>
            <a:pPr algn="l" indent="0" marL="0">
              <a:buNone/>
            </a:pPr>
            <a:r>
              <a:rPr lang="en-US" sz="1400" dirty="0">
                <a:solidFill>
                  <a:srgbClr val="C6D2E6"/>
                </a:solidFill>
                <a:latin typeface="Calibri" pitchFamily="34" charset="0"/>
                <a:ea typeface="Calibri" pitchFamily="34" charset="-122"/>
                <a:cs typeface="Calibri" pitchFamily="34" charset="-120"/>
              </a:rPr>
              <a:t> (subject) and </a:t>
            </a:r>
            <a:pPr algn="l" indent="0" marL="0">
              <a:buNone/>
            </a:pPr>
            <a:r>
              <a:rPr lang="ar-SA" altLang="en-US" sz="1800" dirty="0">
                <a:solidFill>
                  <a:srgbClr val="C6D2E6"/>
                </a:solidFill>
                <a:latin typeface="Amiri" pitchFamily="34" charset="0"/>
                <a:ea typeface="Amiri" pitchFamily="34" charset="-122"/>
                <a:cs typeface="Amiri" pitchFamily="34" charset="-120"/>
              </a:rPr>
              <a:t>ـَيْنِ</a:t>
            </a:r>
            <a:pPr algn="l" indent="0" marL="0">
              <a:buNone/>
            </a:pPr>
            <a:r>
              <a:rPr lang="en-US" sz="1400" dirty="0">
                <a:solidFill>
                  <a:srgbClr val="C6D2E6"/>
                </a:solidFill>
                <a:latin typeface="Calibri" pitchFamily="34" charset="0"/>
                <a:ea typeface="Calibri" pitchFamily="34" charset="-122"/>
                <a:cs typeface="Calibri" pitchFamily="34" charset="-120"/>
              </a:rPr>
              <a:t> (after a preposition or as an object) — </a:t>
            </a:r>
            <a:pPr algn="l" indent="0" marL="0">
              <a:buNone/>
            </a:pPr>
            <a:r>
              <a:rPr lang="ar-SA" altLang="en-US" sz="1800" dirty="0">
                <a:solidFill>
                  <a:srgbClr val="C6D2E6"/>
                </a:solidFill>
                <a:latin typeface="Amiri" pitchFamily="34" charset="0"/>
                <a:ea typeface="Amiri" pitchFamily="34" charset="-122"/>
                <a:cs typeface="Amiri" pitchFamily="34" charset="-120"/>
              </a:rPr>
              <a:t>كِتَابَانِ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فِي كِتَابَيْنِ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مَدْرَسَتَانِ</a:t>
            </a:r>
            <a:pPr algn="l" indent="0" marL="0">
              <a:buNone/>
            </a:pPr>
            <a:r>
              <a:rPr lang="en-US" sz="1400" dirty="0">
                <a:solidFill>
                  <a:srgbClr val="C6D2E6"/>
                </a:solidFill>
                <a:latin typeface="Calibri" pitchFamily="34" charset="0"/>
                <a:ea typeface="Calibri" pitchFamily="34" charset="-122"/>
                <a:cs typeface="Calibri" pitchFamily="34" charset="-120"/>
              </a:rPr>
              <a:t> — and know which plural family comes next.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One, two, three-or-more; building the dual; </a:t>
            </a:r>
            <a:pPr algn="ctr" indent="0" marL="0">
              <a:buNone/>
            </a:pPr>
            <a:r>
              <a:rPr lang="ar-SA" altLang="en-US" sz="1550" dirty="0">
                <a:solidFill>
                  <a:srgbClr val="1F2A37"/>
                </a:solidFill>
                <a:latin typeface="Amiri" pitchFamily="34" charset="0"/>
                <a:ea typeface="Amiri" pitchFamily="34" charset="-122"/>
                <a:cs typeface="Amiri" pitchFamily="34" charset="-120"/>
              </a:rPr>
              <a:t>ـَانِ</a:t>
            </a:r>
            <a:pPr algn="ctr" indent="0" marL="0">
              <a:buNone/>
            </a:pPr>
            <a:r>
              <a:rPr lang="en-US" sz="1200" dirty="0">
                <a:solidFill>
                  <a:srgbClr val="1F2A37"/>
                </a:solidFill>
                <a:latin typeface="Calibri" pitchFamily="34" charset="0"/>
                <a:ea typeface="Calibri" pitchFamily="34" charset="-122"/>
                <a:cs typeface="Calibri" pitchFamily="34" charset="-120"/>
              </a:rPr>
              <a:t> or </a:t>
            </a:r>
            <a:pPr algn="ctr" indent="0" marL="0">
              <a:buNone/>
            </a:pPr>
            <a:r>
              <a:rPr lang="ar-SA" altLang="en-US" sz="1550" dirty="0">
                <a:solidFill>
                  <a:srgbClr val="1F2A37"/>
                </a:solidFill>
                <a:latin typeface="Amiri" pitchFamily="34" charset="0"/>
                <a:ea typeface="Amiri" pitchFamily="34" charset="-122"/>
                <a:cs typeface="Amiri" pitchFamily="34" charset="-120"/>
              </a:rPr>
              <a:t>ـَيْنِ</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by number, repair dual slips, transform singular → dual → plural.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“two books”?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choose “two schools”.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plural?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طُلَّابٌ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in the dual?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stays </a:t>
            </a:r>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becomes </a:t>
            </a:r>
            <a:pPr algn="l" indent="0" marL="0">
              <a:buNone/>
            </a:pPr>
            <a:r>
              <a:rPr lang="ar-SA" altLang="en-US" sz="1650" dirty="0">
                <a:solidFill>
                  <a:srgbClr val="1F2A37"/>
                </a:solidFill>
                <a:latin typeface="Amiri" pitchFamily="34" charset="0"/>
                <a:ea typeface="Amiri" pitchFamily="34" charset="-122"/>
                <a:cs typeface="Amiri" pitchFamily="34" charset="-120"/>
              </a:rPr>
              <a:t>ه</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becomes </a:t>
            </a:r>
            <a:pPr algn="l" indent="0" marL="0">
              <a:buNone/>
            </a:pPr>
            <a:r>
              <a:rPr lang="ar-SA" altLang="en-US" sz="1650" dirty="0">
                <a:solidFill>
                  <a:srgbClr val="1F2A37"/>
                </a:solidFill>
                <a:latin typeface="Amiri" pitchFamily="34" charset="0"/>
                <a:ea typeface="Amiri" pitchFamily="34" charset="-122"/>
                <a:cs typeface="Amiri" pitchFamily="34" charset="-120"/>
              </a:rPr>
              <a:t>ت</a:t>
            </a:r>
            <a:pPr algn="l" indent="0" marL="0">
              <a:buNone/>
            </a:pPr>
            <a:r>
              <a:rPr lang="en-US" sz="1250" dirty="0">
                <a:solidFill>
                  <a:srgbClr val="1F2A37"/>
                </a:solidFill>
                <a:latin typeface="Calibri" pitchFamily="34" charset="0"/>
                <a:ea typeface="Calibri" pitchFamily="34" charset="-122"/>
                <a:cs typeface="Calibri" pitchFamily="34" charset="-120"/>
              </a:rPr>
              <a:t> before </a:t>
            </a:r>
            <a:pPr algn="l" indent="0" marL="0">
              <a:buNone/>
            </a:pPr>
            <a:r>
              <a:rPr lang="ar-SA" altLang="en-US" sz="1650" dirty="0">
                <a:solidFill>
                  <a:srgbClr val="1F2A37"/>
                </a:solidFill>
                <a:latin typeface="Amiri" pitchFamily="34" charset="0"/>
                <a:ea typeface="Amiri" pitchFamily="34" charset="-122"/>
                <a:cs typeface="Amiri" pitchFamily="34" charset="-120"/>
              </a:rPr>
              <a:t>ان/ين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three-way family?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 كِتَابَانِ / كُتُبٌ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 كِتَابَيْنِ / كِتَابًا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 / كَاتِبٌ / مَكْتَبٌ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“two books”?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كِتَابَانِ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nominative.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choose “two schools”.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مَدْرَسَتَانِ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مَدَارِسُ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 preposition, dual uses -ayni.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plural?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طُلَّابٌ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Broken plural.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in the dual?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stays </a:t>
            </a:r>
            <a:pPr algn="l" indent="0" marL="0">
              <a:buNone/>
            </a:pPr>
            <a:r>
              <a:rPr lang="ar-SA" altLang="en-US" sz="1650" dirty="0">
                <a:solidFill>
                  <a:srgbClr val="9AA1AB"/>
                </a:solidFill>
                <a:latin typeface="Amiri" pitchFamily="34" charset="0"/>
                <a:ea typeface="Amiri" pitchFamily="34" charset="-122"/>
                <a:cs typeface="Amiri" pitchFamily="34" charset="-120"/>
              </a:rPr>
              <a:t>ة</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becomes </a:t>
            </a:r>
            <a:pPr algn="l" indent="0" marL="0">
              <a:buNone/>
            </a:pPr>
            <a:r>
              <a:rPr lang="ar-SA" altLang="en-US" sz="1650" dirty="0">
                <a:solidFill>
                  <a:srgbClr val="9AA1AB"/>
                </a:solidFill>
                <a:latin typeface="Amiri" pitchFamily="34" charset="0"/>
                <a:ea typeface="Amiri" pitchFamily="34" charset="-122"/>
                <a:cs typeface="Amiri" pitchFamily="34" charset="-120"/>
              </a:rPr>
              <a:t>ه</a:t>
            </a:r>
            <a:pPr algn="l" indent="0" marL="0">
              <a:buNone/>
            </a:pPr>
            <a:r>
              <a:rPr lang="en-US" sz="1250" dirty="0">
                <a:solidFill>
                  <a:srgbClr val="9AA1AB"/>
                </a:solidFill>
                <a:latin typeface="Calibri" pitchFamily="34" charset="0"/>
                <a:ea typeface="Calibri" pitchFamily="34" charset="-122"/>
                <a:cs typeface="Calibri" pitchFamily="34" charset="-120"/>
              </a:rPr>
              <a: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becomes </a:t>
            </a:r>
            <a:pPr algn="l" indent="0" marL="0">
              <a:buNone/>
            </a:pPr>
            <a:r>
              <a:rPr lang="ar-SA" altLang="en-US" sz="1650" b="1" dirty="0">
                <a:solidFill>
                  <a:srgbClr val="1F2A37"/>
                </a:solidFill>
                <a:latin typeface="Amiri" pitchFamily="34" charset="0"/>
                <a:ea typeface="Amiri" pitchFamily="34" charset="-122"/>
                <a:cs typeface="Amiri" pitchFamily="34" charset="-120"/>
              </a:rPr>
              <a:t>ت</a:t>
            </a:r>
            <a:pPr algn="l" indent="0" marL="0">
              <a:buNone/>
            </a:pPr>
            <a:r>
              <a:rPr lang="en-US" sz="1250" b="1" dirty="0">
                <a:solidFill>
                  <a:srgbClr val="1F2A37"/>
                </a:solidFill>
                <a:latin typeface="Calibri" pitchFamily="34" charset="0"/>
                <a:ea typeface="Calibri" pitchFamily="34" charset="-122"/>
                <a:cs typeface="Calibri" pitchFamily="34" charset="-120"/>
              </a:rPr>
              <a:t> before </a:t>
            </a:r>
            <a:pPr algn="l" indent="0" marL="0">
              <a:buNone/>
            </a:pPr>
            <a:r>
              <a:rPr lang="ar-SA" altLang="en-US" sz="1650" b="1" dirty="0">
                <a:solidFill>
                  <a:srgbClr val="1F2A37"/>
                </a:solidFill>
                <a:latin typeface="Amiri" pitchFamily="34" charset="0"/>
                <a:ea typeface="Amiri" pitchFamily="34" charset="-122"/>
                <a:cs typeface="Amiri" pitchFamily="34" charset="-120"/>
              </a:rPr>
              <a:t>ان/ين</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مَدْرَسَة → مَدْرَسَتَانِ.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three-way family?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 / كِتَابَانِ / كُتُبٌ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 / كِتَابَيْنِ / كِتَابًا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 / كَاتِبٌ / مَكْتَبٌ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two, three or more.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Exactly two? Add an ending: </a:t>
            </a:r>
            <a:pPr algn="l" indent="0" marL="0">
              <a:buNone/>
            </a:pPr>
            <a:r>
              <a:rPr lang="ar-SA" altLang="en-US" sz="1700" b="1" dirty="0">
                <a:solidFill>
                  <a:srgbClr val="1F2A37"/>
                </a:solidFill>
                <a:latin typeface="Amiri" pitchFamily="34" charset="0"/>
                <a:ea typeface="Amiri" pitchFamily="34" charset="-122"/>
                <a:cs typeface="Amiri" pitchFamily="34" charset="-120"/>
              </a:rPr>
              <a:t>ـَانِ</a:t>
            </a:r>
            <a:pPr algn="l" indent="0" marL="0">
              <a:buNone/>
            </a:pPr>
            <a:r>
              <a:rPr lang="en-US" sz="1300" b="1" dirty="0">
                <a:solidFill>
                  <a:srgbClr val="1F2A37"/>
                </a:solidFill>
                <a:latin typeface="Calibri" pitchFamily="34" charset="0"/>
                <a:ea typeface="Calibri" pitchFamily="34" charset="-122"/>
                <a:cs typeface="Calibri" pitchFamily="34" charset="-120"/>
              </a:rPr>
              <a:t> for the subject, </a:t>
            </a:r>
            <a:pPr algn="l" indent="0" marL="0">
              <a:buNone/>
            </a:pPr>
            <a:r>
              <a:rPr lang="ar-SA" altLang="en-US" sz="1700" b="1" dirty="0">
                <a:solidFill>
                  <a:srgbClr val="1F2A37"/>
                </a:solidFill>
                <a:latin typeface="Amiri" pitchFamily="34" charset="0"/>
                <a:ea typeface="Amiri" pitchFamily="34" charset="-122"/>
                <a:cs typeface="Amiri" pitchFamily="34" charset="-120"/>
              </a:rPr>
              <a:t>ـَيْنِ</a:t>
            </a:r>
            <a:pPr algn="l" indent="0" marL="0">
              <a:buNone/>
            </a:pPr>
            <a:r>
              <a:rPr lang="en-US" sz="1300" b="1" dirty="0">
                <a:solidFill>
                  <a:srgbClr val="1F2A37"/>
                </a:solidFill>
                <a:latin typeface="Calibri" pitchFamily="34" charset="0"/>
                <a:ea typeface="Calibri" pitchFamily="34" charset="-122"/>
                <a:cs typeface="Calibri" pitchFamily="34" charset="-120"/>
              </a:rPr>
              <a:t> after a preposition or as an object.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 </a:t>
            </a:r>
            <a:pPr rtl="1" algn="ctr" indent="0" marL="0">
              <a:buNone/>
            </a:pPr>
            <a:r>
              <a:rPr lang="ar-SA" altLang="en-US" sz="2400" b="1" dirty="0">
                <a:solidFill>
                  <a:srgbClr val="0E7C86"/>
                </a:solidFill>
                <a:latin typeface="Amiri" pitchFamily="34" charset="0"/>
                <a:ea typeface="Amiri" pitchFamily="34" charset="-122"/>
                <a:cs typeface="Amiri" pitchFamily="34" charset="-120"/>
              </a:rPr>
              <a:t>كِتَابَانِ</a:t>
            </a:r>
            <a:pPr rtl="1" algn="ctr" indent="0" marL="0">
              <a:buNone/>
            </a:pPr>
            <a:r>
              <a:rPr lang="ar-SA" altLang="en-US" sz="2400" b="1" dirty="0">
                <a:solidFill>
                  <a:srgbClr val="1B3B6F"/>
                </a:solidFill>
                <a:latin typeface="Amiri" pitchFamily="34" charset="0"/>
                <a:ea typeface="Amiri" pitchFamily="34" charset="-122"/>
                <a:cs typeface="Amiri" pitchFamily="34" charset="-120"/>
              </a:rPr>
              <a:t> · فِي </a:t>
            </a:r>
            <a:pPr rtl="1" algn="ctr" indent="0" marL="0">
              <a:buNone/>
            </a:pPr>
            <a:r>
              <a:rPr lang="ar-SA" altLang="en-US" sz="2400" b="1" dirty="0">
                <a:solidFill>
                  <a:srgbClr val="D6336C"/>
                </a:solidFill>
                <a:latin typeface="Amiri" pitchFamily="34" charset="0"/>
                <a:ea typeface="Amiri" pitchFamily="34" charset="-122"/>
                <a:cs typeface="Amiri" pitchFamily="34" charset="-120"/>
              </a:rPr>
              <a:t>كِتَابَيْنِ</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singular, dual and plural.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the dual with </a:t>
            </a:r>
            <a:pPr algn="l" indent="0" marL="0">
              <a:buNone/>
            </a:pPr>
            <a:r>
              <a:rPr lang="ar-SA" altLang="en-US" sz="1700" dirty="0">
                <a:solidFill>
                  <a:srgbClr val="1F2A37"/>
                </a:solidFill>
                <a:latin typeface="Amiri" pitchFamily="34" charset="0"/>
                <a:ea typeface="Amiri" pitchFamily="34" charset="-122"/>
                <a:cs typeface="Amiri" pitchFamily="34" charset="-120"/>
              </a:rPr>
              <a:t>ـَانِ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ـَيْنِ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to </a:t>
            </a:r>
            <a:pPr algn="l" indent="0" marL="0">
              <a:buNone/>
            </a:pPr>
            <a:r>
              <a:rPr lang="ar-SA" altLang="en-US" sz="1700" dirty="0">
                <a:solidFill>
                  <a:srgbClr val="1F2A37"/>
                </a:solidFill>
                <a:latin typeface="Amiri" pitchFamily="34" charset="0"/>
                <a:ea typeface="Amiri" pitchFamily="34" charset="-122"/>
                <a:cs typeface="Amiri" pitchFamily="34" charset="-120"/>
              </a:rPr>
              <a:t>ت</a:t>
            </a:r>
            <a:pPr algn="l" indent="0" marL="0">
              <a:buNone/>
            </a:pPr>
            <a:r>
              <a:rPr lang="en-US" sz="1300" dirty="0">
                <a:solidFill>
                  <a:srgbClr val="1F2A37"/>
                </a:solidFill>
                <a:latin typeface="Calibri" pitchFamily="34" charset="0"/>
                <a:ea typeface="Calibri" pitchFamily="34" charset="-122"/>
                <a:cs typeface="Calibri" pitchFamily="34" charset="-120"/>
              </a:rPr>
              <a:t> before the dual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a:t>
            </a:r>
            <a:pPr algn="l" indent="0" marL="0">
              <a:buNone/>
            </a:pPr>
            <a:r>
              <a:rPr lang="ar-SA" altLang="en-US" sz="1700" dirty="0">
                <a:solidFill>
                  <a:srgbClr val="1F2A37"/>
                </a:solidFill>
                <a:latin typeface="Amiri" pitchFamily="34" charset="0"/>
                <a:ea typeface="Amiri" pitchFamily="34" charset="-122"/>
                <a:cs typeface="Amiri" pitchFamily="34" charset="-120"/>
              </a:rPr>
              <a:t>ـَانِ</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ـَيْنِ</a:t>
            </a:r>
            <a:pPr algn="l" indent="0" marL="0">
              <a:buNone/>
            </a:pPr>
            <a:r>
              <a:rPr lang="en-US" sz="1300" dirty="0">
                <a:solidFill>
                  <a:srgbClr val="1F2A37"/>
                </a:solidFill>
                <a:latin typeface="Calibri" pitchFamily="34" charset="0"/>
                <a:ea typeface="Calibri" pitchFamily="34" charset="-122"/>
                <a:cs typeface="Calibri" pitchFamily="34" charset="-120"/>
              </a:rPr>
              <a:t> from the position in the sentence.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one, two or many: </a:t>
            </a:r>
            <a:pPr algn="l" indent="0" marL="0">
              <a:buNone/>
            </a:pPr>
            <a:r>
              <a:rPr lang="ar-SA" altLang="en-US" sz="1700" b="1" dirty="0">
                <a:solidFill>
                  <a:srgbClr val="2E8B57"/>
                </a:solidFill>
                <a:latin typeface="Amiri" pitchFamily="34" charset="0"/>
                <a:ea typeface="Amiri" pitchFamily="34" charset="-122"/>
                <a:cs typeface="Amiri" pitchFamily="34" charset="-120"/>
              </a:rPr>
              <a:t>طَالِبٌ</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طَالِبَانِ</a:t>
            </a:r>
            <a:pPr algn="l" indent="0" marL="0">
              <a:buNone/>
            </a:pPr>
            <a:r>
              <a:rPr lang="en-US" sz="1300" b="1" dirty="0">
                <a:solidFill>
                  <a:srgbClr val="2E8B57"/>
                </a:solidFill>
                <a:latin typeface="Calibri" pitchFamily="34" charset="0"/>
                <a:ea typeface="Calibri" pitchFamily="34" charset="-122"/>
                <a:cs typeface="Calibri" pitchFamily="34" charset="-120"/>
              </a:rPr>
              <a:t> · </a:t>
            </a:r>
            <a:pPr algn="l" indent="0" marL="0">
              <a:buNone/>
            </a:pPr>
            <a:r>
              <a:rPr lang="ar-SA" altLang="en-US" sz="1700" b="1" dirty="0">
                <a:solidFill>
                  <a:srgbClr val="2E8B57"/>
                </a:solidFill>
                <a:latin typeface="Amiri" pitchFamily="34" charset="0"/>
                <a:ea typeface="Amiri" pitchFamily="34" charset="-122"/>
                <a:cs typeface="Amiri" pitchFamily="34" charset="-120"/>
              </a:rPr>
              <a:t>طُلَّابٌ</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build the dual of a masculine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build the dual of a noun in </a:t>
            </a:r>
            <a:pPr algn="l" indent="0" marL="0">
              <a:buNone/>
            </a:pPr>
            <a:r>
              <a:rPr lang="ar-SA" altLang="en-US" sz="1700" b="1" dirty="0">
                <a:solidFill>
                  <a:srgbClr val="C9780A"/>
                </a:solidFill>
                <a:latin typeface="Amiri" pitchFamily="34" charset="0"/>
                <a:ea typeface="Amiri" pitchFamily="34" charset="-122"/>
                <a:cs typeface="Amiri" pitchFamily="34" charset="-120"/>
              </a:rPr>
              <a:t>ة</a:t>
            </a:r>
            <a:pPr algn="l" indent="0" marL="0">
              <a:buNone/>
            </a:pPr>
            <a:r>
              <a:rPr lang="en-US" sz="1300" b="1" dirty="0">
                <a:solidFill>
                  <a:srgbClr val="C9780A"/>
                </a:solidFill>
                <a:latin typeface="Calibri" pitchFamily="34" charset="0"/>
                <a:ea typeface="Calibri" pitchFamily="34" charset="-122"/>
                <a:cs typeface="Calibri" pitchFamily="34" charset="-120"/>
              </a:rPr>
              <a:t> (</a:t>
            </a:r>
            <a:pPr algn="l" indent="0" marL="0">
              <a:buNone/>
            </a:pPr>
            <a:r>
              <a:rPr lang="ar-SA" altLang="en-US" sz="1700" b="1" dirty="0">
                <a:solidFill>
                  <a:srgbClr val="C9780A"/>
                </a:solidFill>
                <a:latin typeface="Amiri" pitchFamily="34" charset="0"/>
                <a:ea typeface="Amiri" pitchFamily="34" charset="-122"/>
                <a:cs typeface="Amiri" pitchFamily="34" charset="-120"/>
              </a:rPr>
              <a:t>مَدْرَسَتَانِ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t>
            </a:r>
            <a:pPr algn="l" indent="0" marL="0">
              <a:buNone/>
            </a:pPr>
            <a:r>
              <a:rPr lang="ar-SA" altLang="en-US" sz="1700" b="1" dirty="0">
                <a:solidFill>
                  <a:srgbClr val="C9780A"/>
                </a:solidFill>
                <a:latin typeface="Amiri" pitchFamily="34" charset="0"/>
                <a:ea typeface="Amiri" pitchFamily="34" charset="-122"/>
                <a:cs typeface="Amiri" pitchFamily="34" charset="-120"/>
              </a:rPr>
              <a:t>ـَيْنِ</a:t>
            </a:r>
            <a:pPr algn="l" indent="0" marL="0">
              <a:buNone/>
            </a:pPr>
            <a:r>
              <a:rPr lang="en-US" sz="1300" b="1" dirty="0">
                <a:solidFill>
                  <a:srgbClr val="C9780A"/>
                </a:solidFill>
                <a:latin typeface="Calibri" pitchFamily="34" charset="0"/>
                <a:ea typeface="Calibri" pitchFamily="34" charset="-122"/>
                <a:cs typeface="Calibri" pitchFamily="34" charset="-120"/>
              </a:rPr>
              <a:t> after </a:t>
            </a:r>
            <a:pPr algn="l" indent="0" marL="0">
              <a:buNone/>
            </a:pPr>
            <a:r>
              <a:rPr lang="ar-SA" altLang="en-US" sz="1700" b="1" dirty="0">
                <a:solidFill>
                  <a:srgbClr val="C9780A"/>
                </a:solidFill>
                <a:latin typeface="Amiri" pitchFamily="34" charset="0"/>
                <a:ea typeface="Amiri" pitchFamily="34" charset="-122"/>
                <a:cs typeface="Amiri" pitchFamily="34" charset="-120"/>
              </a:rPr>
              <a:t>فِي</a:t>
            </a:r>
            <a:pPr algn="l" indent="0" marL="0">
              <a:buNone/>
            </a:pPr>
            <a:r>
              <a:rPr lang="en-US" sz="1300" b="1" dirty="0">
                <a:solidFill>
                  <a:srgbClr val="C9780A"/>
                </a:solidFill>
                <a:latin typeface="Calibri" pitchFamily="34" charset="0"/>
                <a:ea typeface="Calibri" pitchFamily="34" charset="-122"/>
                <a:cs typeface="Calibri" pitchFamily="34" charset="-120"/>
              </a:rPr>
              <a:t>, </a:t>
            </a:r>
            <a:pPr algn="l" indent="0" marL="0">
              <a:buNone/>
            </a:pPr>
            <a:r>
              <a:rPr lang="ar-SA" altLang="en-US" sz="1700" b="1" dirty="0">
                <a:solidFill>
                  <a:srgbClr val="C9780A"/>
                </a:solidFill>
                <a:latin typeface="Amiri" pitchFamily="34" charset="0"/>
                <a:ea typeface="Amiri" pitchFamily="34" charset="-122"/>
                <a:cs typeface="Amiri" pitchFamily="34" charset="-120"/>
              </a:rPr>
              <a:t>مَعَ</a:t>
            </a:r>
            <a:pPr algn="l" indent="0" marL="0">
              <a:buNone/>
            </a:pPr>
            <a:r>
              <a:rPr lang="en-US" sz="1300" b="1" dirty="0">
                <a:solidFill>
                  <a:srgbClr val="C9780A"/>
                </a:solidFill>
                <a:latin typeface="Calibri" pitchFamily="34" charset="0"/>
                <a:ea typeface="Calibri" pitchFamily="34" charset="-122"/>
                <a:cs typeface="Calibri" pitchFamily="34" charset="-120"/>
              </a:rPr>
              <a:t>, </a:t>
            </a:r>
            <a:pPr algn="l" indent="0" marL="0">
              <a:buNone/>
            </a:pPr>
            <a:r>
              <a:rPr lang="ar-SA" altLang="en-US" sz="1700" b="1" dirty="0">
                <a:solidFill>
                  <a:srgbClr val="C9780A"/>
                </a:solidFill>
                <a:latin typeface="Amiri" pitchFamily="34" charset="0"/>
                <a:ea typeface="Amiri" pitchFamily="34" charset="-122"/>
                <a:cs typeface="Amiri" pitchFamily="34" charset="-120"/>
              </a:rPr>
              <a:t>مِنْ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a:t>
            </a:r>
            <a:pPr algn="l" indent="0" marL="0">
              <a:buNone/>
            </a:pPr>
            <a:r>
              <a:rPr lang="ar-SA" altLang="en-US" sz="1700" b="1" dirty="0">
                <a:solidFill>
                  <a:srgbClr val="B83227"/>
                </a:solidFill>
                <a:latin typeface="Amiri" pitchFamily="34" charset="0"/>
                <a:ea typeface="Amiri" pitchFamily="34" charset="-122"/>
                <a:cs typeface="Amiri" pitchFamily="34" charset="-120"/>
              </a:rPr>
              <a:t>ـَيْنِ</a:t>
            </a:r>
            <a:pPr algn="l" indent="0" marL="0">
              <a:buNone/>
            </a:pPr>
            <a:r>
              <a:rPr lang="en-US" sz="1300" b="1" dirty="0">
                <a:solidFill>
                  <a:srgbClr val="B83227"/>
                </a:solidFill>
                <a:latin typeface="Calibri" pitchFamily="34" charset="0"/>
                <a:ea typeface="Calibri" pitchFamily="34" charset="-122"/>
                <a:cs typeface="Calibri" pitchFamily="34" charset="-120"/>
              </a:rPr>
              <a:t> for a dual object (</a:t>
            </a:r>
            <a:pPr algn="l" indent="0" marL="0">
              <a:buNone/>
            </a:pPr>
            <a:r>
              <a:rPr lang="ar-SA" altLang="en-US" sz="1700" b="1" dirty="0">
                <a:solidFill>
                  <a:srgbClr val="B83227"/>
                </a:solidFill>
                <a:latin typeface="Amiri" pitchFamily="34" charset="0"/>
                <a:ea typeface="Amiri" pitchFamily="34" charset="-122"/>
                <a:cs typeface="Amiri" pitchFamily="34" charset="-120"/>
              </a:rPr>
              <a:t>رَأَيْتُ بِنْتَيْنِ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make the adjective dual too (</a:t>
            </a:r>
            <a:pPr algn="l" indent="0" marL="0">
              <a:buNone/>
            </a:pPr>
            <a:r>
              <a:rPr lang="ar-SA" altLang="en-US" sz="1700" b="1" dirty="0">
                <a:solidFill>
                  <a:srgbClr val="B83227"/>
                </a:solidFill>
                <a:latin typeface="Amiri" pitchFamily="34" charset="0"/>
                <a:ea typeface="Amiri" pitchFamily="34" charset="-122"/>
                <a:cs typeface="Amiri" pitchFamily="34" charset="-120"/>
              </a:rPr>
              <a:t>طَالِبَانِ جَدِيدَانِ</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singular (one)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muf-ra-dun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مُثَنًّى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dual (exactly two)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mu-than-nan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طَالِبَانِ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جَمْعٌ</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plural (three or more)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jam-ʿun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جُمُوعٌ</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حَالَةُ الرَّفْعِ</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nominative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ḥā-la-tu ar-raf-ʿi</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ـَانِ</a:t>
            </a:r>
            <a:endParaRPr lang="ar-SA" sz="13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حَالَةُ النَّصْبِ وَالْجَرِّ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accusative and genitive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ḥā-la-tu an-naṣ-bi wāl-jar-ri</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ـَيْنِ</a:t>
            </a:r>
            <a:endParaRPr lang="ar-SA" sz="13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جَرٍّ</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jar-rin</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 مِنْ · مَعَ · إِلَى</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مَفْعُولٌ بِهِ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 of a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maf-ʿū-lun bi-hi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رَأَيْتُ بِنْتَيْنِ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نُونُ الْمُثَنَّى</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nūn of the dual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nū-nu al-mu-than-nā</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dropped in iḍāfa</a:t>
            </a:r>
            <a:endParaRPr lang="en-US" sz="10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ARABIC NUMBER SYSTEM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One · exactly two · three or more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الْعَدَدِ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61996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8" name="Text 15"/>
          <p:cNvSpPr txBox="1"/>
          <p:nvPr/>
        </p:nvSpPr>
        <p:spPr>
          <a:xfrm>
            <a:off x="34564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student</a:t>
            </a:r>
            <a:endParaRPr lang="en-US" sz="1100" dirty="0"/>
          </a:p>
        </p:txBody>
      </p:sp>
      <p:sp>
        <p:nvSpPr>
          <p:cNvPr id="22" name="Text 19"/>
          <p:cNvSpPr txBox="1"/>
          <p:nvPr/>
        </p:nvSpPr>
        <p:spPr>
          <a:xfrm>
            <a:off x="621792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طَالِبَةٌ</a:t>
            </a:r>
            <a:endParaRPr lang="ar-SA" sz="2600" dirty="0"/>
          </a:p>
        </p:txBody>
      </p:sp>
      <p:sp>
        <p:nvSpPr>
          <p:cNvPr id="23" name="Text 20"/>
          <p:cNvSpPr txBox="1"/>
          <p:nvPr/>
        </p:nvSpPr>
        <p:spPr>
          <a:xfrm>
            <a:off x="3474720" y="2267712"/>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a:t>
            </a:r>
            <a:endParaRPr lang="ar-SA" sz="260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singular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students</a:t>
            </a:r>
            <a:endParaRPr lang="en-US" sz="1100" dirty="0"/>
          </a:p>
        </p:txBody>
      </p:sp>
      <p:sp>
        <p:nvSpPr>
          <p:cNvPr id="29" name="Text 26"/>
          <p:cNvSpPr txBox="1"/>
          <p:nvPr/>
        </p:nvSpPr>
        <p:spPr>
          <a:xfrm>
            <a:off x="621792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طَالِبَتَانِ</a:t>
            </a:r>
            <a:endParaRPr lang="ar-SA" sz="2600" dirty="0"/>
          </a:p>
        </p:txBody>
      </p:sp>
      <p:sp>
        <p:nvSpPr>
          <p:cNvPr id="30" name="Text 27"/>
          <p:cNvSpPr txBox="1"/>
          <p:nvPr/>
        </p:nvSpPr>
        <p:spPr>
          <a:xfrm>
            <a:off x="3474720" y="3054096"/>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طَالِبَانِ</a:t>
            </a:r>
            <a:endParaRPr lang="ar-SA" sz="2600" dirty="0"/>
          </a:p>
        </p:txBody>
      </p:sp>
      <p:sp>
        <p:nvSpPr>
          <p:cNvPr id="31" name="Text 28"/>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 subject (-āni)</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students</a:t>
            </a:r>
            <a:endParaRPr lang="en-US" sz="1100" dirty="0"/>
          </a:p>
        </p:txBody>
      </p:sp>
      <p:sp>
        <p:nvSpPr>
          <p:cNvPr id="36" name="Text 33"/>
          <p:cNvSpPr txBox="1"/>
          <p:nvPr/>
        </p:nvSpPr>
        <p:spPr>
          <a:xfrm>
            <a:off x="621792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طَالِبَتَيْنِ</a:t>
            </a:r>
            <a:endParaRPr lang="ar-SA" sz="2600" dirty="0"/>
          </a:p>
        </p:txBody>
      </p:sp>
      <p:sp>
        <p:nvSpPr>
          <p:cNvPr id="37" name="Text 34"/>
          <p:cNvSpPr txBox="1"/>
          <p:nvPr/>
        </p:nvSpPr>
        <p:spPr>
          <a:xfrm>
            <a:off x="3474720" y="3840480"/>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طَالِبَيْنِ</a:t>
            </a:r>
            <a:endParaRPr lang="ar-SA" sz="2600" dirty="0"/>
          </a:p>
        </p:txBody>
      </p:sp>
      <p:sp>
        <p:nvSpPr>
          <p:cNvPr id="38" name="Text 35"/>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 after a trigger (-ayni)</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or more</a:t>
            </a:r>
            <a:endParaRPr lang="en-US" sz="1100" dirty="0"/>
          </a:p>
        </p:txBody>
      </p:sp>
      <p:sp>
        <p:nvSpPr>
          <p:cNvPr id="41" name="Text 38"/>
          <p:cNvSpPr txBox="1"/>
          <p:nvPr/>
        </p:nvSpPr>
        <p:spPr>
          <a:xfrm>
            <a:off x="621792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طَالِبَاتٌ</a:t>
            </a:r>
            <a:endParaRPr lang="ar-SA" sz="2600" dirty="0"/>
          </a:p>
        </p:txBody>
      </p:sp>
      <p:sp>
        <p:nvSpPr>
          <p:cNvPr id="42" name="Text 39"/>
          <p:cNvSpPr txBox="1"/>
          <p:nvPr/>
        </p:nvSpPr>
        <p:spPr>
          <a:xfrm>
            <a:off x="3474720" y="4626864"/>
            <a:ext cx="256032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طُلَّابٌ</a:t>
            </a:r>
            <a:endParaRPr lang="ar-SA" sz="2600" dirty="0"/>
          </a:p>
        </p:txBody>
      </p:sp>
      <p:sp>
        <p:nvSpPr>
          <p:cNvPr id="43" name="Text 40"/>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dual is not optional in standard Arabic (website): when the meaning is exactly two, use the dual.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BUILDING THE DUAL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Add an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الْمُثَنَّى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Take the singular and remove the tanwīn.</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Subject (nominative): add </a:t>
            </a:r>
            <a:pPr algn="l" indent="0" marL="0">
              <a:buNone/>
            </a:pPr>
            <a:r>
              <a:rPr lang="ar-SA" altLang="en-US" sz="1700" dirty="0">
                <a:solidFill>
                  <a:srgbClr val="1F2A37"/>
                </a:solidFill>
                <a:latin typeface="Amiri" pitchFamily="34" charset="0"/>
                <a:ea typeface="Amiri" pitchFamily="34" charset="-122"/>
                <a:cs typeface="Amiri" pitchFamily="34" charset="-120"/>
              </a:rPr>
              <a:t>ـَانِ</a:t>
            </a:r>
            <a:pPr algn="l" indent="0" marL="0">
              <a:buNone/>
            </a:pPr>
            <a:r>
              <a:rPr lang="en-US" sz="1300" dirty="0">
                <a:solidFill>
                  <a:srgbClr val="1F2A37"/>
                </a:solidFill>
                <a:latin typeface="Calibri" pitchFamily="34" charset="0"/>
                <a:ea typeface="Calibri" pitchFamily="34" charset="-122"/>
                <a:cs typeface="Calibri" pitchFamily="34" charset="-120"/>
              </a:rPr>
              <a:t> — two books.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After a preposition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مَعَ</a:t>
            </a:r>
            <a:pPr algn="l" indent="0" marL="0">
              <a:buNone/>
            </a:pPr>
            <a:r>
              <a:rPr lang="en-US" sz="1300" dirty="0">
                <a:solidFill>
                  <a:srgbClr val="1F2A37"/>
                </a:solidFill>
                <a:latin typeface="Calibri" pitchFamily="34" charset="0"/>
                <a:ea typeface="Calibri" pitchFamily="34" charset="-122"/>
                <a:cs typeface="Calibri" pitchFamily="34" charset="-120"/>
              </a:rPr>
              <a:t> …) or as an object: add </a:t>
            </a:r>
            <a:pPr algn="l" indent="0" marL="0">
              <a:buNone/>
            </a:pPr>
            <a:r>
              <a:rPr lang="ar-SA" altLang="en-US" sz="1700" dirty="0">
                <a:solidFill>
                  <a:srgbClr val="1F2A37"/>
                </a:solidFill>
                <a:latin typeface="Amiri" pitchFamily="34" charset="0"/>
                <a:ea typeface="Amiri" pitchFamily="34" charset="-122"/>
                <a:cs typeface="Amiri" pitchFamily="34" charset="-120"/>
              </a:rPr>
              <a:t>ـَيْنِ</a:t>
            </a:r>
            <a:pPr algn="l" indent="0" marL="0">
              <a:buNone/>
            </a:pPr>
            <a:r>
              <a:rPr lang="en-US" sz="1300" dirty="0">
                <a:solidFill>
                  <a:srgbClr val="1F2A37"/>
                </a:solidFill>
                <a:latin typeface="Calibri" pitchFamily="34" charset="0"/>
                <a:ea typeface="Calibri" pitchFamily="34" charset="-122"/>
                <a:cs typeface="Calibri" pitchFamily="34" charset="-120"/>
              </a:rPr>
              <a:t> instead.</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 noun ending in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the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opens to </a:t>
            </a:r>
            <a:pPr algn="l" indent="0" marL="0">
              <a:buNone/>
            </a:pPr>
            <a:r>
              <a:rPr lang="ar-SA" altLang="en-US" sz="1700" dirty="0">
                <a:solidFill>
                  <a:srgbClr val="1F2A37"/>
                </a:solidFill>
                <a:latin typeface="Amiri" pitchFamily="34" charset="0"/>
                <a:ea typeface="Amiri" pitchFamily="34" charset="-122"/>
                <a:cs typeface="Amiri" pitchFamily="34" charset="-120"/>
              </a:rPr>
              <a:t>ت</a:t>
            </a:r>
            <a:pPr algn="l" indent="0" marL="0">
              <a:buNone/>
            </a:pPr>
            <a:r>
              <a:rPr lang="en-US" sz="1300" dirty="0">
                <a:solidFill>
                  <a:srgbClr val="1F2A37"/>
                </a:solidFill>
                <a:latin typeface="Calibri" pitchFamily="34" charset="0"/>
                <a:ea typeface="Calibri" pitchFamily="34" charset="-122"/>
                <a:cs typeface="Calibri" pitchFamily="34" charset="-120"/>
              </a:rPr>
              <a:t> before the ending — two schools.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Do NOT add a number word for two: the ending already says “two”.</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 · كِتَابَانِ · كِتَابَيْنِ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 · two books (subject · after a trigger)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مُعَلِّمٌ · مُعَلِّمَانِ · مُعَلِّمَيْنِ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teacher · two teachers</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مَدْرَسَةٌ · مَدْرَسَتَانِ · مَدْرَسَتَيْنِ</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 two schools  ·  </a:t>
            </a:r>
            <a:pPr algn="ctr" indent="0" marL="0">
              <a:buNone/>
            </a:pPr>
            <a:r>
              <a:rPr lang="ar-SA" altLang="en-US" sz="1450" dirty="0">
                <a:solidFill>
                  <a:srgbClr val="5A6472"/>
                </a:solidFill>
                <a:latin typeface="Amiri" pitchFamily="34" charset="0"/>
                <a:ea typeface="Amiri" pitchFamily="34" charset="-122"/>
                <a:cs typeface="Amiri" pitchFamily="34" charset="-120"/>
              </a:rPr>
              <a:t>ة</a:t>
            </a:r>
            <a:pPr algn="ctr" indent="0" marL="0">
              <a:buNone/>
            </a:pPr>
            <a:r>
              <a:rPr lang="en-US" sz="1100" i="1" dirty="0">
                <a:solidFill>
                  <a:srgbClr val="5A6472"/>
                </a:solidFill>
                <a:latin typeface="Calibri" pitchFamily="34" charset="0"/>
                <a:ea typeface="Calibri" pitchFamily="34" charset="-122"/>
                <a:cs typeface="Calibri" pitchFamily="34" charset="-120"/>
              </a:rPr>
              <a:t> → </a:t>
            </a:r>
            <a:pPr algn="ctr" indent="0" marL="0">
              <a:buNone/>
            </a:pPr>
            <a:r>
              <a:rPr lang="ar-SA" altLang="en-US" sz="1450" dirty="0">
                <a:solidFill>
                  <a:srgbClr val="5A6472"/>
                </a:solidFill>
                <a:latin typeface="Amiri" pitchFamily="34" charset="0"/>
                <a:ea typeface="Amiri" pitchFamily="34" charset="-122"/>
                <a:cs typeface="Amiri" pitchFamily="34" charset="-120"/>
              </a:rPr>
              <a:t>ت</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الْحَيِّ مَدْرَسَتَانِ.</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In the neighbourhood there are two schools.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Website warning: do not use a numeral plus a plural for two. Prefer kitābāni, not ithnāni kutub.</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-ĀNI OR -AYNI?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position decides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ـَانِ أَمْ ـَيْنِ؟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-āni</a:t>
            </a:r>
            <a:endParaRPr lang="en-US" sz="1100" dirty="0"/>
          </a:p>
        </p:txBody>
      </p:sp>
      <p:sp>
        <p:nvSpPr>
          <p:cNvPr id="21" name="Text 18"/>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الْفَصْلِ طَالِبَانِ جَدِيدَانِ.</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-ayni</a:t>
            </a:r>
            <a:endParaRPr lang="en-US" sz="1100" dirty="0"/>
          </a:p>
        </p:txBody>
      </p:sp>
      <p:sp>
        <p:nvSpPr>
          <p:cNvPr id="27" name="Text 24"/>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ذَهَبْتُ مَعَ طَالِبَيْنِ.</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-ayni</a:t>
            </a:r>
            <a:endParaRPr lang="en-US" sz="1100" dirty="0"/>
          </a:p>
        </p:txBody>
      </p:sp>
      <p:sp>
        <p:nvSpPr>
          <p:cNvPr id="33" name="Text 30"/>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بِنْتَيْنِ.</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of a verb</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-ayni</a:t>
            </a:r>
            <a:endParaRPr lang="en-US" sz="1100" dirty="0"/>
          </a:p>
        </p:txBody>
      </p:sp>
      <p:sp>
        <p:nvSpPr>
          <p:cNvPr id="37" name="Text 34"/>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دَرَسْتُ فِي مَدْرَسَتَيْنِ.</a:t>
            </a:r>
            <a:endParaRPr lang="ar-SA" sz="2400" dirty="0"/>
          </a:p>
        </p:txBody>
      </p:sp>
      <p:sp>
        <p:nvSpPr>
          <p:cNvPr id="38" name="Text 35"/>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a:t>
            </a:r>
            <a:pPr algn="l" indent="0" marL="0">
              <a:buNone/>
            </a:pPr>
            <a:r>
              <a:rPr lang="ar-SA" altLang="en-US" sz="1450" dirty="0">
                <a:solidFill>
                  <a:srgbClr val="5A6472"/>
                </a:solidFill>
                <a:latin typeface="Amiri" pitchFamily="34" charset="0"/>
                <a:ea typeface="Amiri" pitchFamily="34" charset="-122"/>
                <a:cs typeface="Amiri" pitchFamily="34" charset="-120"/>
              </a:rPr>
              <a:t>فِي</a:t>
            </a:r>
            <a:pPr algn="l" indent="0" marL="0">
              <a:buNone/>
            </a:pPr>
            <a:r>
              <a:rPr lang="en-US" sz="1100" dirty="0">
                <a:solidFill>
                  <a:srgbClr val="5A6472"/>
                </a:solidFill>
                <a:latin typeface="Calibri" pitchFamily="34" charset="0"/>
                <a:ea typeface="Calibri" pitchFamily="34" charset="-122"/>
                <a:cs typeface="Calibri" pitchFamily="34" charset="-120"/>
              </a:rPr>
              <a:t> (feminine)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-āni</a:t>
            </a:r>
            <a:endParaRPr lang="en-US" sz="1100" dirty="0"/>
          </a:p>
        </p:txBody>
      </p:sp>
      <p:sp>
        <p:nvSpPr>
          <p:cNvPr id="41" name="Text 38"/>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طَالِبَتَانِ مُجْتَهِدَتَانِ</a:t>
            </a:r>
            <a:endParaRPr lang="ar-SA" sz="2400" dirty="0"/>
          </a:p>
        </p:txBody>
      </p:sp>
      <p:sp>
        <p:nvSpPr>
          <p:cNvPr id="42" name="Text 39"/>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agrees (Stretch)</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of a dual noun is dual too — with the same ending.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A FIRST LOOK AT THE PLURAL FAMILIES · PREVIEW</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Three or more: three plural families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أَنْوَاعُ 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SOUND MASC. · GM-N-03</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ـُونَ / ـِينَ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مُعَلِّمُونَ</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teachers (male / mixed)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ending is added; the word stays whole.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SOUND FEM. · GM-N-04</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ـَاتٌ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طَالِبَاتٌ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female students</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ة</a:t>
            </a:r>
            <a:pPr algn="l" indent="0" marL="0">
              <a:buNone/>
            </a:pPr>
            <a:r>
              <a:rPr lang="en-US" sz="1100" dirty="0">
                <a:solidFill>
                  <a:srgbClr val="1F2A37"/>
                </a:solidFill>
                <a:latin typeface="Calibri" pitchFamily="34" charset="0"/>
                <a:ea typeface="Calibri" pitchFamily="34" charset="-122"/>
                <a:cs typeface="Calibri" pitchFamily="34" charset="-120"/>
              </a:rPr>
              <a:t> is replaced by </a:t>
            </a:r>
            <a:pPr algn="l" indent="0" marL="0">
              <a:buNone/>
            </a:pPr>
            <a:r>
              <a:rPr lang="ar-SA" altLang="en-US" sz="1450" dirty="0">
                <a:solidFill>
                  <a:srgbClr val="1F2A37"/>
                </a:solidFill>
                <a:latin typeface="Amiri" pitchFamily="34" charset="0"/>
                <a:ea typeface="Amiri" pitchFamily="34" charset="-122"/>
                <a:cs typeface="Amiri" pitchFamily="34" charset="-120"/>
              </a:rPr>
              <a:t>ـَاتٌ</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BROKEN · GM-N-05</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جَمْعُ التَّكْسِيرِ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كُتُبٌ · طُلَّابٌ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books · students</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inside of the word changes.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nominative “two teachers”.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طُلَّابٌ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Dual of </a:t>
            </a:r>
            <a:pPr algn="l" indent="0" marL="0">
              <a:buNone/>
            </a:pPr>
            <a:r>
              <a:rPr lang="ar-SA" altLang="en-US" sz="1650" b="1" dirty="0">
                <a:solidFill>
                  <a:srgbClr val="1B3B6F"/>
                </a:solidFill>
                <a:latin typeface="Amiri" pitchFamily="34" charset="0"/>
                <a:ea typeface="Amiri" pitchFamily="34" charset="-122"/>
                <a:cs typeface="Amiri" pitchFamily="34" charset="-120"/>
              </a:rPr>
              <a:t>سَيَّارَةٌ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سَيَّارَتَانِ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three or more schools?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مَدْرَسَتَانِ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nominative “two teachers”.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subject.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after </a:t>
            </a:r>
            <a:pPr algn="l" indent="0" marL="0">
              <a:buNone/>
            </a:pPr>
            <a:r>
              <a:rPr lang="ar-SA" altLang="en-US" sz="1650" b="1" dirty="0">
                <a:solidFill>
                  <a:srgbClr val="1B3B6F"/>
                </a:solidFill>
                <a:latin typeface="Amiri" pitchFamily="34" charset="0"/>
                <a:ea typeface="Amiri" pitchFamily="34" charset="-122"/>
                <a:cs typeface="Amiri" pitchFamily="34" charset="-120"/>
              </a:rPr>
              <a:t>مَعَ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طُلَّابٌ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Preposition triggers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Dual of </a:t>
            </a:r>
            <a:pPr algn="l" indent="0" marL="0">
              <a:buNone/>
            </a:pPr>
            <a:r>
              <a:rPr lang="ar-SA" altLang="en-US" sz="1650" b="1" dirty="0">
                <a:solidFill>
                  <a:srgbClr val="1B3B6F"/>
                </a:solidFill>
                <a:latin typeface="Amiri" pitchFamily="34" charset="0"/>
                <a:ea typeface="Amiri" pitchFamily="34" charset="-122"/>
                <a:cs typeface="Amiri" pitchFamily="34" charset="-120"/>
              </a:rPr>
              <a:t>سَيَّارَةٌ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سَيَّارَتَانِ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three or more schools?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مَدَارِسُ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مَدْرَسَتَانِ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count: one, two,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Singular,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Two (subject)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مَدْرَسَتَانِ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 → </a:t>
            </a:r>
            <a:pPr algn="l" indent="0" marL="0">
              <a:buNone/>
            </a:pPr>
            <a:r>
              <a:rPr lang="ar-SA" altLang="en-US" sz="1500" dirty="0">
                <a:solidFill>
                  <a:srgbClr val="1F2A37"/>
                </a:solidFill>
                <a:latin typeface="Amiri" pitchFamily="34" charset="0"/>
                <a:ea typeface="Amiri" pitchFamily="34" charset="-122"/>
                <a:cs typeface="Amiri" pitchFamily="34" charset="-120"/>
              </a:rPr>
              <a:t>ت</a:t>
            </a:r>
            <a:pPr algn="l" indent="0" marL="0">
              <a:buNone/>
            </a:pPr>
            <a:r>
              <a:rPr lang="en-US" sz="1150" dirty="0">
                <a:solidFill>
                  <a:srgbClr val="1F2A37"/>
                </a:solidFill>
                <a:latin typeface="Calibri" pitchFamily="34" charset="0"/>
                <a:ea typeface="Calibri" pitchFamily="34" charset="-122"/>
                <a:cs typeface="Calibri" pitchFamily="34" charset="-120"/>
              </a:rPr>
              <a:t>, add -āni.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Two (after </a:t>
            </a:r>
            <a:pPr algn="l" indent="0" marL="0">
              <a:buNone/>
            </a:pPr>
            <a:r>
              <a:rPr lang="ar-SA" altLang="en-US" sz="1650" b="1" dirty="0">
                <a:solidFill>
                  <a:srgbClr val="6B4C9A"/>
                </a:solidFill>
                <a:latin typeface="Amiri" pitchFamily="34" charset="0"/>
                <a:ea typeface="Amiri" pitchFamily="34" charset="-122"/>
                <a:cs typeface="Amiri" pitchFamily="34" charset="-120"/>
              </a:rPr>
              <a:t>فِي</a:t>
            </a:r>
            <a:pPr algn="l" indent="0" marL="0">
              <a:buNone/>
            </a:pPr>
            <a:r>
              <a:rPr lang="en-US" sz="1250" b="1" dirty="0">
                <a:solidFill>
                  <a:srgbClr val="6B4C9A"/>
                </a:solidFill>
                <a:latin typeface="Calibri" pitchFamily="34" charset="0"/>
                <a:ea typeface="Calibri" pitchFamily="34" charset="-122"/>
                <a:cs typeface="Calibri" pitchFamily="34" charset="-120"/>
              </a:rPr>
              <a: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فِي مَدْرَسَتَيْنِ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Preposition → -ayni.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Many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مَدَارِسُ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broken plural.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DUAL -āni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DUAL -ayni</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حَيِّي </a:t>
            </a:r>
            <a:pPr rtl="1" algn="r" indent="0" marL="0">
              <a:buNone/>
            </a:pPr>
            <a:r>
              <a:rPr lang="ar-SA" altLang="en-US" sz="2600" b="1" dirty="0">
                <a:solidFill>
                  <a:srgbClr val="0E7C86"/>
                </a:solidFill>
                <a:latin typeface="Amiri" pitchFamily="34" charset="0"/>
                <a:ea typeface="Amiri" pitchFamily="34" charset="-122"/>
                <a:cs typeface="Amiri" pitchFamily="34" charset="-120"/>
              </a:rPr>
              <a:t>مَدْرَسَتَانِ</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كَبِيرَتَانِ</a:t>
            </a:r>
            <a:pPr rtl="1" algn="r" indent="0" marL="0">
              <a:buNone/>
            </a:pPr>
            <a:r>
              <a:rPr lang="ar-SA" altLang="en-US" sz="2600" b="1" dirty="0">
                <a:solidFill>
                  <a:srgbClr val="1B3B6F"/>
                </a:solidFill>
                <a:latin typeface="Amiri" pitchFamily="34" charset="0"/>
                <a:ea typeface="Amiri" pitchFamily="34" charset="-122"/>
                <a:cs typeface="Amiri" pitchFamily="34" charset="-120"/>
              </a:rPr>
              <a:t>، وَدَرَسْتُ فِي </a:t>
            </a:r>
            <a:pPr rtl="1" algn="r" indent="0" marL="0">
              <a:buNone/>
            </a:pPr>
            <a:r>
              <a:rPr lang="ar-SA" altLang="en-US" sz="2600" b="1" dirty="0">
                <a:solidFill>
                  <a:srgbClr val="D6336C"/>
                </a:solidFill>
                <a:latin typeface="Amiri" pitchFamily="34" charset="0"/>
                <a:ea typeface="Amiri" pitchFamily="34" charset="-122"/>
                <a:cs typeface="Amiri" pitchFamily="34" charset="-120"/>
              </a:rPr>
              <a:t>مَدْرَسَتَيْنِ</a:t>
            </a:r>
            <a:pPr rtl="1" algn="r" indent="0" marL="0">
              <a:buNone/>
            </a:pPr>
            <a:r>
              <a:rPr lang="ar-SA" altLang="en-US" sz="2600" b="1" dirty="0">
                <a:solidFill>
                  <a:srgbClr val="1B3B6F"/>
                </a:solidFill>
                <a:latin typeface="Amiri" pitchFamily="34" charset="0"/>
                <a:ea typeface="Amiri" pitchFamily="34" charset="-122"/>
                <a:cs typeface="Amiri" pitchFamily="34" charset="-120"/>
              </a:rPr>
              <a:t>. وَفِي الْمَدِينَةِ مَدَارِسُ كَثِيرَةٌ.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my neighbourhood there are two big schools, and I have studied in two schools. In the city there are many schools.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مَدْرَسَتِنَا طَالِبَانِ جَدِيدَانِ.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our school there are two new students.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text: dual noun + dual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أَسْكُنُ مَعَ أُخْتَيْنِ.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live with two sisters.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مَعَ → -ayni.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كِتَابَانِ.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two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number word needed.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رَأَيْتُ بِنْتَيْنِ فِي الْمَكْتَبَةِ.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saw two girls in the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 -ayni.</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ONE, TWO OR MANY?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Singular, dual or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غُرْفَتَيْنِ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مُعَلِّمَانِ</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مُعَلِّمُونَ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Singular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Dual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Plural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Singular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Dual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طَالِبَانِ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غُرْفَتَيْنِ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مُعَلِّمَانِ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Plural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طُلَّابٌ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غُرَفٌ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مُعَلِّمُونَ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اِثْنَانِ 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we need a number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سَيَّارَانِ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did the </a:t>
            </a:r>
            <a:pPr algn="l" indent="0" marL="0">
              <a:buNone/>
            </a:pPr>
            <a:r>
              <a:rPr lang="ar-SA" altLang="en-US" sz="1700" dirty="0">
                <a:solidFill>
                  <a:srgbClr val="5A6472"/>
                </a:solidFill>
                <a:latin typeface="Amiri" pitchFamily="34" charset="0"/>
                <a:ea typeface="Amiri" pitchFamily="34" charset="-122"/>
                <a:cs typeface="Amiri" pitchFamily="34" charset="-120"/>
              </a:rPr>
              <a:t>ة</a:t>
            </a:r>
            <a:pPr algn="l" indent="0" marL="0">
              <a:buNone/>
            </a:pPr>
            <a:r>
              <a:rPr lang="en-US" sz="1300" i="1" dirty="0">
                <a:solidFill>
                  <a:srgbClr val="5A6472"/>
                </a:solidFill>
                <a:latin typeface="Calibri" pitchFamily="34" charset="0"/>
                <a:ea typeface="Calibri" pitchFamily="34" charset="-122"/>
                <a:cs typeface="Calibri" pitchFamily="34" charset="-120"/>
              </a:rPr>
              <a: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ذَهَبْتُ مَعَ 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مَعَ</a:t>
            </a:r>
            <a:pPr algn="l" indent="0" marL="0">
              <a:buNone/>
            </a:pPr>
            <a:r>
              <a:rPr lang="en-US" sz="1300" i="1" dirty="0">
                <a:solidFill>
                  <a:srgbClr val="5A6472"/>
                </a:solidFill>
                <a:latin typeface="Calibri" pitchFamily="34" charset="0"/>
                <a:ea typeface="Calibri" pitchFamily="34" charset="-122"/>
                <a:cs typeface="Calibri" pitchFamily="34" charset="-120"/>
              </a:rPr>
              <a: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اِثْنَانِ 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كِتَابَانِ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dual ending already means “two”.</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سَيَّارَانِ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سَيَّارَتَانِ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a:t>
            </a:r>
            <a:pPr algn="l" indent="0" marL="0">
              <a:buNone/>
            </a:pPr>
            <a:r>
              <a:rPr lang="ar-SA" altLang="en-US" sz="1500" b="1" dirty="0">
                <a:solidFill>
                  <a:srgbClr val="1B3B6F"/>
                </a:solidFill>
                <a:latin typeface="Amiri" pitchFamily="34" charset="0"/>
                <a:ea typeface="Amiri" pitchFamily="34" charset="-122"/>
                <a:cs typeface="Amiri" pitchFamily="34" charset="-120"/>
              </a:rPr>
              <a:t>ة</a:t>
            </a:r>
            <a:pPr algn="l" indent="0" marL="0">
              <a:buNone/>
            </a:pPr>
            <a:r>
              <a:rPr lang="en-US" sz="1150" b="1" dirty="0">
                <a:solidFill>
                  <a:srgbClr val="1B3B6F"/>
                </a:solidFill>
                <a:latin typeface="Calibri" pitchFamily="34" charset="0"/>
                <a:ea typeface="Calibri" pitchFamily="34" charset="-122"/>
                <a:cs typeface="Calibri" pitchFamily="34" charset="-120"/>
              </a:rPr>
              <a:t> as </a:t>
            </a:r>
            <a:pPr algn="l" indent="0" marL="0">
              <a:buNone/>
            </a:pPr>
            <a:r>
              <a:rPr lang="ar-SA" altLang="en-US" sz="1500" b="1" dirty="0">
                <a:solidFill>
                  <a:srgbClr val="1B3B6F"/>
                </a:solidFill>
                <a:latin typeface="Amiri" pitchFamily="34" charset="0"/>
                <a:ea typeface="Amiri" pitchFamily="34" charset="-122"/>
                <a:cs typeface="Amiri" pitchFamily="34" charset="-120"/>
              </a:rPr>
              <a:t>ت</a:t>
            </a:r>
            <a:pPr algn="l" indent="0" marL="0">
              <a:buNone/>
            </a:pPr>
            <a:r>
              <a:rPr lang="en-US" sz="1150" b="1" dirty="0">
                <a:solidFill>
                  <a:srgbClr val="1B3B6F"/>
                </a:solidFill>
                <a:latin typeface="Calibri" pitchFamily="34" charset="0"/>
                <a:ea typeface="Calibri" pitchFamily="34" charset="-122"/>
                <a:cs typeface="Calibri" pitchFamily="34" charset="-120"/>
              </a:rPr>
              <a:t> before the dual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ذَهَبْتُ مَعَ 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ذَهَبْتُ مَعَ 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preposition: -ayni.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two girls”.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بِنْتَانِ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بَنَاتٌ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بِنْتَيْنِ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dual encode?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approximately two</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two</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or more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full family.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 غُرْفَانِ / غُرْفَاتَانِ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 غُرْفَتَانِ / غُرَفٌ</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 غُرْفَتَيْنِ / غُرْفَةٌ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choose dual.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بُيُوتٌ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two girls”.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بِنْتَانِ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بَنَاتٌ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 بِنْتَيْنِ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dual uses -ayni.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dual encode?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approximately two</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exactly two</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or more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Specific number category.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full family.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 غُرْفَانِ / غُرْفَاتَانِ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 غُرْفَتَانِ / غُرَفٌ</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 غُرْفَتَيْنِ / غُرْفَةٌ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Singular, dual, plural.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choose dual.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بَيْتَانِ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بُيُوتٌ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 dual.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school in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مَدْرَسَتِنَا طَالِبَانِ جَدِيدَانِ وَمُعَلِّمَاتٌ خَبِيرَاتٌ. الْفُصُولُ وَاسِعَةٌ، وَمَكْتَبُ مُدِيرِ الْمَدْرَسَةِ قَرِيبٌ مِنَ الْمَدْخَلِ. فِي الْمَدْرَسَةِ مَكْتَبَتَانِ وَمَلْعَبٌ كَبِيرٌ. أَدْرُسُ مَعَ طَالِبَيْنِ مِنْ سُورِيَا.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طَالِبَانِ جَدِيدَانِ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new students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مُعَلِّمَاتٌ خَبِيرَاتٌ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expert teachers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الْفُصُولُ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classrooms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 الْمُدِيرِ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head’s office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الْمَدْخَلِ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entrance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مَكْتَبَتَانِ</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libraries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مَلْعَبٌ</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playground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new students are there?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DUAL with -ayni?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مَكْتَبَتَانِ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مَكْتَبَتَانِ</a:t>
            </a:r>
            <a:pPr algn="l" indent="0" marL="0">
              <a:buNone/>
            </a:pPr>
            <a:r>
              <a:rPr lang="en-US" sz="1250" b="1" dirty="0">
                <a:solidFill>
                  <a:srgbClr val="1B3B6F"/>
                </a:solidFill>
                <a:latin typeface="Calibri" pitchFamily="34" charset="0"/>
                <a:ea typeface="Calibri" pitchFamily="34" charset="-122"/>
                <a:cs typeface="Calibri" pitchFamily="34" charset="-120"/>
              </a:rPr>
              <a:t> (with </a:t>
            </a:r>
            <a:pPr algn="l" indent="0" marL="0">
              <a:buNone/>
            </a:pPr>
            <a:r>
              <a:rPr lang="ar-SA" altLang="en-US" sz="1650" b="1" dirty="0">
                <a:solidFill>
                  <a:srgbClr val="1B3B6F"/>
                </a:solidFill>
                <a:latin typeface="Amiri" pitchFamily="34" charset="0"/>
                <a:ea typeface="Amiri" pitchFamily="34" charset="-122"/>
                <a:cs typeface="Amiri" pitchFamily="34" charset="-120"/>
              </a:rPr>
              <a:t>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ة</a:t>
            </a:r>
            <a:pPr algn="l" indent="0" marL="0">
              <a:buNone/>
            </a:pPr>
            <a:r>
              <a:rPr lang="en-US" sz="1250" dirty="0">
                <a:solidFill>
                  <a:srgbClr val="1F2A37"/>
                </a:solidFill>
                <a:latin typeface="Calibri" pitchFamily="34" charset="0"/>
                <a:ea typeface="Calibri" pitchFamily="34" charset="-122"/>
                <a:cs typeface="Calibri" pitchFamily="34" charset="-120"/>
              </a:rPr>
              <a:t> opens to </a:t>
            </a:r>
            <a:pPr algn="l" indent="0" marL="0">
              <a:buNone/>
            </a:pPr>
            <a:r>
              <a:rPr lang="ar-SA" altLang="en-US" sz="1650" dirty="0">
                <a:solidFill>
                  <a:srgbClr val="1F2A37"/>
                </a:solidFill>
                <a:latin typeface="Amiri" pitchFamily="34" charset="0"/>
                <a:ea typeface="Amiri" pitchFamily="34" charset="-122"/>
                <a:cs typeface="Amiri" pitchFamily="34" charset="-120"/>
              </a:rPr>
              <a:t>ت</a:t>
            </a:r>
            <a:pPr algn="l" indent="0" marL="0">
              <a:buNone/>
            </a:pPr>
            <a:r>
              <a:rPr lang="en-US" sz="1250" dirty="0">
                <a:solidFill>
                  <a:srgbClr val="1F2A37"/>
                </a:solidFill>
                <a:latin typeface="Calibri" pitchFamily="34" charset="0"/>
                <a:ea typeface="Calibri" pitchFamily="34" charset="-122"/>
                <a:cs typeface="Calibri" pitchFamily="34" charset="-120"/>
              </a:rPr>
              <a:t> before the dual ending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verb</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PLURAL?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مَلْعَبٌ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الْفُصُولُ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الْمَدْخَلِ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new students are there?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طَالِبَانِ</a:t>
            </a:r>
            <a:pPr algn="l" indent="0" marL="0">
              <a:buNone/>
            </a:pPr>
            <a:r>
              <a:rPr lang="en-US" sz="1050" i="1" dirty="0">
                <a:solidFill>
                  <a:srgbClr val="8A6D1E"/>
                </a:solidFill>
                <a:latin typeface="Calibri" pitchFamily="34" charset="0"/>
                <a:ea typeface="Calibri" pitchFamily="34" charset="-122"/>
                <a:cs typeface="Calibri" pitchFamily="34" charset="-120"/>
              </a:rPr>
              <a:t>: dual.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DUAL with -ayni?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مَكْتَبَتَانِ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مَكْتَبَتَانِ</a:t>
            </a:r>
            <a:pPr algn="l" indent="0" marL="0">
              <a:buNone/>
            </a:pPr>
            <a:r>
              <a:rPr lang="en-US" sz="1250" b="1" dirty="0">
                <a:solidFill>
                  <a:srgbClr val="1B3B6F"/>
                </a:solidFill>
                <a:latin typeface="Calibri" pitchFamily="34" charset="0"/>
                <a:ea typeface="Calibri" pitchFamily="34" charset="-122"/>
                <a:cs typeface="Calibri" pitchFamily="34" charset="-120"/>
              </a:rPr>
              <a:t> (with </a:t>
            </a:r>
            <a:pPr algn="l" indent="0" marL="0">
              <a:buNone/>
            </a:pPr>
            <a:r>
              <a:rPr lang="ar-SA" altLang="en-US" sz="1650" b="1" dirty="0">
                <a:solidFill>
                  <a:srgbClr val="1B3B6F"/>
                </a:solidFill>
                <a:latin typeface="Amiri" pitchFamily="34" charset="0"/>
                <a:ea typeface="Amiri" pitchFamily="34" charset="-122"/>
                <a:cs typeface="Amiri" pitchFamily="34" charset="-120"/>
              </a:rPr>
              <a:t>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ة</a:t>
            </a:r>
            <a:pPr algn="l" indent="0" marL="0">
              <a:buNone/>
            </a:pPr>
            <a:r>
              <a:rPr lang="en-US" sz="1250" b="1" dirty="0">
                <a:solidFill>
                  <a:srgbClr val="1F2A37"/>
                </a:solidFill>
                <a:latin typeface="Calibri" pitchFamily="34" charset="0"/>
                <a:ea typeface="Calibri" pitchFamily="34" charset="-122"/>
                <a:cs typeface="Calibri" pitchFamily="34" charset="-120"/>
              </a:rPr>
              <a:t> opens to </a:t>
            </a:r>
            <a:pPr algn="l" indent="0" marL="0">
              <a:buNone/>
            </a:pPr>
            <a:r>
              <a:rPr lang="ar-SA" altLang="en-US" sz="1650" b="1" dirty="0">
                <a:solidFill>
                  <a:srgbClr val="1F2A37"/>
                </a:solidFill>
                <a:latin typeface="Amiri" pitchFamily="34" charset="0"/>
                <a:ea typeface="Amiri" pitchFamily="34" charset="-122"/>
                <a:cs typeface="Amiri" pitchFamily="34" charset="-120"/>
              </a:rPr>
              <a:t>ت</a:t>
            </a:r>
            <a:pPr algn="l" indent="0" marL="0">
              <a:buNone/>
            </a:pPr>
            <a:r>
              <a:rPr lang="en-US" sz="1250" b="1" dirty="0">
                <a:solidFill>
                  <a:srgbClr val="1F2A37"/>
                </a:solidFill>
                <a:latin typeface="Calibri" pitchFamily="34" charset="0"/>
                <a:ea typeface="Calibri" pitchFamily="34" charset="-122"/>
                <a:cs typeface="Calibri" pitchFamily="34" charset="-120"/>
              </a:rPr>
              <a:t> before the dual ending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verb</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مَكْتَبَةٌ → مَكْتَبَتَانِ.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PLURAL?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مَلْعَبٌ</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الْفُصُولُ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الْمَدْخَلِ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فَصْلٌ → فُصُولٌ.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one, two, many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كِتَابًا عِنْدَكَ؟ قُلْ: كِتَابٌ / كِتَابَانِ / كُتُبٌ.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غُرْفَتِكَ؟ اِسْتَعْمِلِ الْمُثَنَّى مَرَّتَيْنِ.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تَدْرُسُ؟ اِسْتَعْمِلْ «مَعَ» + الْمُثَنَّى.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غُرْفَتِي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أَدْرُسُ مَعَ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فِي غُرْفَتِكَ؟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in your room?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غُرْفَتِي سَرِيرٌ وَنَافِذَتَانِ وَكُتُبٌ كَثِيرَةٌ.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In my room there is a bed, two windows and many books.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sentences, each with a dual subject (</a:t>
            </a:r>
            <a:pPr algn="l" indent="0" marL="0">
              <a:buNone/>
            </a:pPr>
            <a:r>
              <a:rPr lang="ar-SA" altLang="en-US" sz="1800" b="1" dirty="0">
                <a:solidFill>
                  <a:srgbClr val="1F2A37"/>
                </a:solidFill>
                <a:latin typeface="Amiri" pitchFamily="34" charset="0"/>
                <a:ea typeface="Amiri" pitchFamily="34" charset="-122"/>
                <a:cs typeface="Amiri" pitchFamily="34" charset="-120"/>
              </a:rPr>
              <a:t>ـَانِ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فِي … + dual. Remember ة → ت.</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Mix </a:t>
            </a:r>
            <a:pPr algn="l" indent="0" marL="0">
              <a:buNone/>
            </a:pPr>
            <a:r>
              <a:rPr lang="ar-SA" altLang="en-US" sz="1800" b="1" dirty="0">
                <a:solidFill>
                  <a:srgbClr val="1F2A37"/>
                </a:solidFill>
                <a:latin typeface="Amiri" pitchFamily="34" charset="0"/>
                <a:ea typeface="Amiri" pitchFamily="34" charset="-122"/>
                <a:cs typeface="Amiri" pitchFamily="34" charset="-120"/>
              </a:rPr>
              <a:t>ـَانِ</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ـَيْنِ</a:t>
            </a:r>
            <a:pPr algn="l" indent="0" marL="0">
              <a:buNone/>
            </a:pPr>
            <a:r>
              <a:rPr lang="en-US" sz="1400" b="1" dirty="0">
                <a:solidFill>
                  <a:srgbClr val="1F2A37"/>
                </a:solidFill>
                <a:latin typeface="Calibri" pitchFamily="34" charset="0"/>
                <a:ea typeface="Calibri" pitchFamily="34" charset="-122"/>
                <a:cs typeface="Calibri" pitchFamily="34" charset="-120"/>
              </a:rPr>
              <a:t>: three after a preposition.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Underline every dual; label it -āni or -ayni.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with dual adjectives and one dual object.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طَالِبَتَانِ مُجْتَهِدَتَانِ · رَأَيْتُ … ـَيْنِ.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مَعَ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with two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دَرَسْتُ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studied in two schools.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saw two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طَالِبَانِ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two new students</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بَيْتِي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house there are two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فَصْلِي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class there are two teachers.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حَيِّي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area there are two schools.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كِتَابَانِ / كِتَابَيْنِ  ·  قَلَمَانِ / قَلَمَيْنِ  ·  غُرْفَتَانِ / غُرْفَتَيْنِ  ·  مَدْرَسَتَانِ / مَدْرَسَتَيْنِ  ·  أَخَوَانِ / أَخَوَيْنِ  ·  أُخْتَانِ / أُخْتَيْنِ  ·  نَافِذَتَانِ  ·  مُعَلِّمَانِ  ·  جَدِيدَانِ  ·  كَبِيرَتَانِ  ·  مَعَ  ·  فِي</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dual subjects with </a:t>
            </a:r>
            <a:pPr algn="l" indent="0" marL="0">
              <a:buNone/>
            </a:pPr>
            <a:r>
              <a:rPr lang="ar-SA" altLang="en-US" sz="1550" dirty="0">
                <a:solidFill>
                  <a:srgbClr val="1F2A37"/>
                </a:solidFill>
                <a:latin typeface="Amiri" pitchFamily="34" charset="0"/>
                <a:ea typeface="Amiri" pitchFamily="34" charset="-122"/>
                <a:cs typeface="Amiri" pitchFamily="34" charset="-120"/>
              </a:rPr>
              <a:t>ـَانِ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duals after a preposition with </a:t>
            </a:r>
            <a:pPr algn="l" indent="0" marL="0">
              <a:buNone/>
            </a:pPr>
            <a:r>
              <a:rPr lang="ar-SA" altLang="en-US" sz="1550" dirty="0">
                <a:solidFill>
                  <a:srgbClr val="1F2A37"/>
                </a:solidFill>
                <a:latin typeface="Amiri" pitchFamily="34" charset="0"/>
                <a:ea typeface="Amiri" pitchFamily="34" charset="-122"/>
                <a:cs typeface="Amiri" pitchFamily="34" charset="-120"/>
              </a:rPr>
              <a:t>ـَيْنِ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noun in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in the dual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dual adjective agreeing with its 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Some plurals for three or more.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طَالِبَانِ جَدِيدَانِ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two new students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مَدْرَسَتَانِ كَبِيرَتَانِ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two big schools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أُخْتَيْنِ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two sisters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غُرْفَتَيْنِ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two rooms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أَخَوَانِ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have two brothers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رَأَيْتُ بِنْتَيْنِ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saw two girls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بَيْتٍ صَغِيرٍ فِيهِ غُرْفَتَانِ وَحَدِيقَةٌ جَمِيلَةٌ. عِنْدِي أَخَوَانِ وَأُخْتٌ وَاحِدَةٌ، وَأَنَامُ مَعَ أَخَوَيَّ فِي غُرْفَةٍ وَاحِدَةٍ. فِي حَيِّي مَدْرَسَتَانِ كَبِيرَتَانِ وَمَسْجِدٌ قَدِيمٌ. أَدْرُسُ فِي الْمَدْرَسَةِ الْأُولَى مَعَ صَدِيقَيْنِ، وَعِنْدَنَا مُعَلِّمَانِ لِلْعَرَبِيَّةِ.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small house with two rooms and a beautiful garden. I have two brothers and one sister, and I sleep with my two brothers in one room. In my area there are two big schools and an old mosque. I study at the first school with two friends, and we have two Arabic teachers.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duals in -āni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duals in -ayni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ة → 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dual adjective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dual (not a number word) for two.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duals in </a:t>
            </a:r>
            <a:pPr algn="l" indent="0" marL="0">
              <a:buNone/>
            </a:pPr>
            <a:r>
              <a:rPr lang="ar-SA" altLang="en-US" sz="1700" dirty="0">
                <a:solidFill>
                  <a:srgbClr val="1F2A37"/>
                </a:solidFill>
                <a:latin typeface="Amiri" pitchFamily="34" charset="0"/>
                <a:ea typeface="Amiri" pitchFamily="34" charset="-122"/>
                <a:cs typeface="Amiri" pitchFamily="34" charset="-120"/>
              </a:rPr>
              <a:t>ة</a:t>
            </a:r>
            <a:pPr algn="l" indent="0" marL="0">
              <a:buNone/>
            </a:pPr>
            <a:r>
              <a:rPr lang="en-US" sz="1300" dirty="0">
                <a:solidFill>
                  <a:srgbClr val="1F2A37"/>
                </a:solidFill>
                <a:latin typeface="Calibri" pitchFamily="34" charset="0"/>
                <a:ea typeface="Calibri" pitchFamily="34" charset="-122"/>
                <a:cs typeface="Calibri" pitchFamily="34" charset="-120"/>
              </a:rPr>
              <a:t> have </a:t>
            </a:r>
            <a:pPr algn="l" indent="0" marL="0">
              <a:buNone/>
            </a:pPr>
            <a:r>
              <a:rPr lang="ar-SA" altLang="en-US" sz="1700" dirty="0">
                <a:solidFill>
                  <a:srgbClr val="1F2A37"/>
                </a:solidFill>
                <a:latin typeface="Amiri" pitchFamily="34" charset="0"/>
                <a:ea typeface="Amiri" pitchFamily="34" charset="-122"/>
                <a:cs typeface="Amiri" pitchFamily="34" charset="-120"/>
              </a:rPr>
              <a:t>ت</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مَدْرَسَتَانِ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ـَيْنِ</a:t>
            </a:r>
            <a:pPr algn="l" indent="0" marL="0">
              <a:buNone/>
            </a:pPr>
            <a:r>
              <a:rPr lang="en-US" sz="1300" dirty="0">
                <a:solidFill>
                  <a:srgbClr val="1F2A37"/>
                </a:solidFill>
                <a:latin typeface="Calibri" pitchFamily="34" charset="0"/>
                <a:ea typeface="Calibri" pitchFamily="34" charset="-122"/>
                <a:cs typeface="Calibri" pitchFamily="34" charset="-120"/>
              </a:rPr>
              <a:t> after every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tell singular, dual and plural apart.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are dual too.</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pens” as a subject.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أَقْلَامٌ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مِنْ</a:t>
            </a:r>
            <a:pPr algn="l" indent="0" marL="0">
              <a:buNone/>
            </a:pPr>
            <a:r>
              <a:rPr lang="en-US" sz="1250" b="1" dirty="0">
                <a:solidFill>
                  <a:srgbClr val="1B3B6F"/>
                </a:solidFill>
                <a:latin typeface="Calibri" pitchFamily="34" charset="0"/>
                <a:ea typeface="Calibri" pitchFamily="34" charset="-122"/>
                <a:cs typeface="Calibri" pitchFamily="34" charset="-120"/>
              </a:rPr>
              <a:t>, choose “two cities”.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مَدِينَتَيْنِ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“three or more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غُرْفَتَانِ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“two pens” as a subject.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قَلَمَانِ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قَلَمَيْنِ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أَقْلَامٌ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Subject → -āni.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مِنْ</a:t>
            </a:r>
            <a:pPr algn="l" indent="0" marL="0">
              <a:buNone/>
            </a:pPr>
            <a:r>
              <a:rPr lang="en-US" sz="1250" b="1" dirty="0">
                <a:solidFill>
                  <a:srgbClr val="1B3B6F"/>
                </a:solidFill>
                <a:latin typeface="Calibri" pitchFamily="34" charset="0"/>
                <a:ea typeface="Calibri" pitchFamily="34" charset="-122"/>
                <a:cs typeface="Calibri" pitchFamily="34" charset="-120"/>
              </a:rPr>
              <a:t>, choose “two cities”.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مَدِينَتَانِ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مَدِينَتَيْنِ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Preposition → -ayni;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“three or more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غُرْفَتَانِ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GM-N-02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GM-N-03: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Nouns · GM-N-02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GM-N-03 · Sound Masculine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جَمْعُ الْمُذَكَّرِ السَّالِمِ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sound masculine plural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teachers (subject)</a:t>
            </a:r>
            <a:pPr indent="0" marL="0">
              <a:buNone/>
            </a:pPr>
            <a:r>
              <a:rPr lang="en-US" sz="1000" i="1" dirty="0">
                <a:solidFill>
                  <a:srgbClr val="5A6472"/>
                </a:solidFill>
                <a:latin typeface="Calibri" pitchFamily="34" charset="0"/>
                <a:ea typeface="Calibri" pitchFamily="34" charset="-122"/>
                <a:cs typeface="Calibri" pitchFamily="34" charset="-120"/>
              </a:rPr>
              <a:t>  مُعَلِّمِينَ after فِي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مُهَنْدِسُونَ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engineers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لَاعِبُونَ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players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مُسْلِمُونَ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Muslims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a:t>
            </a:r>
            <a:pPr algn="l" indent="0" marL="0">
              <a:buNone/>
            </a:pPr>
            <a:r>
              <a:rPr lang="ar-SA" altLang="en-US" sz="1350" dirty="0">
                <a:solidFill>
                  <a:srgbClr val="1F2A37"/>
                </a:solidFill>
                <a:latin typeface="Amiri" pitchFamily="34" charset="0"/>
                <a:ea typeface="Amiri" pitchFamily="34" charset="-122"/>
                <a:cs typeface="Amiri" pitchFamily="34" charset="-120"/>
              </a:rPr>
              <a:t>مُسْلِمُونَ</a:t>
            </a:r>
            <a:pPr algn="l" indent="0" marL="0">
              <a:buNone/>
            </a:pPr>
            <a:r>
              <a:rPr lang="en-US" sz="1050" dirty="0">
                <a:solidFill>
                  <a:srgbClr val="1F2A37"/>
                </a:solidFill>
                <a:latin typeface="Calibri" pitchFamily="34" charset="0"/>
                <a:ea typeface="Calibri" pitchFamily="34" charset="-122"/>
                <a:cs typeface="Calibri" pitchFamily="34" charset="-120"/>
              </a:rPr>
              <a:t> and </a:t>
            </a:r>
            <a:pPr algn="l" indent="0" marL="0">
              <a:buNone/>
            </a:pPr>
            <a:r>
              <a:rPr lang="ar-SA" altLang="en-US" sz="1350" dirty="0">
                <a:solidFill>
                  <a:srgbClr val="1F2A37"/>
                </a:solidFill>
                <a:latin typeface="Amiri" pitchFamily="34" charset="0"/>
                <a:ea typeface="Amiri" pitchFamily="34" charset="-122"/>
                <a:cs typeface="Amiri" pitchFamily="34" charset="-120"/>
              </a:rPr>
              <a:t>مُؤْمِنُونَ</a:t>
            </a:r>
            <a:pPr algn="l" indent="0" marL="0">
              <a:buNone/>
            </a:pPr>
            <a:r>
              <a:rPr lang="en-US" sz="1050" dirty="0">
                <a:solidFill>
                  <a:srgbClr val="1F2A37"/>
                </a:solidFill>
                <a:latin typeface="Calibri" pitchFamily="34" charset="0"/>
                <a:ea typeface="Calibri" pitchFamily="34" charset="-122"/>
                <a:cs typeface="Calibri" pitchFamily="34" charset="-120"/>
              </a:rPr>
              <a:t> from the Qur’an. What do these words have in common?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مُسْلِمُونَ · مُؤْمِنُونَ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ten singular → dual pairs (five masculine, five in </a:t>
            </a:r>
            <a:pPr algn="l" indent="0" marL="0">
              <a:buNone/>
            </a:pPr>
            <a:r>
              <a:rPr lang="ar-SA" altLang="en-US" sz="1550" dirty="0">
                <a:solidFill>
                  <a:srgbClr val="1F2A37"/>
                </a:solidFill>
                <a:latin typeface="Amiri" pitchFamily="34" charset="0"/>
                <a:ea typeface="Amiri" pitchFamily="34" charset="-122"/>
                <a:cs typeface="Amiri" pitchFamily="34" charset="-120"/>
              </a:rPr>
              <a:t>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ـَيْنِ</a:t>
            </a:r>
            <a:pPr algn="l" indent="0" marL="0">
              <a:buNone/>
            </a:pPr>
            <a:r>
              <a:rPr lang="en-US" sz="1200" dirty="0">
                <a:solidFill>
                  <a:srgbClr val="1F2A37"/>
                </a:solidFill>
                <a:latin typeface="Calibri" pitchFamily="34" charset="0"/>
                <a:ea typeface="Calibri" pitchFamily="34" charset="-122"/>
                <a:cs typeface="Calibri" pitchFamily="34" charset="-120"/>
              </a:rPr>
              <a:t> after a preposition.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(8–12 sentences) and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GM-N-03 · Sound Masculine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جَمْعُ الْمُذَكَّرِ السَّالِمُ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one · two · three-or-more · two = </a:t>
            </a:r>
            <a:pPr algn="l" indent="0" marL="0">
              <a:buNone/>
            </a:pPr>
            <a:r>
              <a:rPr lang="ar-SA" altLang="en-US" sz="1700" b="1" dirty="0">
                <a:solidFill>
                  <a:srgbClr val="FFFFFF"/>
                </a:solidFill>
                <a:latin typeface="Amiri" pitchFamily="34" charset="0"/>
                <a:ea typeface="Amiri" pitchFamily="34" charset="-122"/>
                <a:cs typeface="Amiri" pitchFamily="34" charset="-120"/>
              </a:rPr>
              <a:t>ـَانِ</a:t>
            </a:r>
            <a:pPr algn="l" indent="0" marL="0">
              <a:buNone/>
            </a:pPr>
            <a:r>
              <a:rPr lang="en-US" sz="1300" b="1" dirty="0">
                <a:solidFill>
                  <a:srgbClr val="FFFFFF"/>
                </a:solidFill>
                <a:latin typeface="Calibri" pitchFamily="34" charset="0"/>
                <a:ea typeface="Calibri" pitchFamily="34" charset="-122"/>
                <a:cs typeface="Calibri" pitchFamily="34" charset="-120"/>
              </a:rPr>
              <a:t> (subject) or </a:t>
            </a:r>
            <a:pPr algn="l" indent="0" marL="0">
              <a:buNone/>
            </a:pPr>
            <a:r>
              <a:rPr lang="ar-SA" altLang="en-US" sz="1700" b="1" dirty="0">
                <a:solidFill>
                  <a:srgbClr val="FFFFFF"/>
                </a:solidFill>
                <a:latin typeface="Amiri" pitchFamily="34" charset="0"/>
                <a:ea typeface="Amiri" pitchFamily="34" charset="-122"/>
                <a:cs typeface="Amiri" pitchFamily="34" charset="-120"/>
              </a:rPr>
              <a:t>ـَيْنِ</a:t>
            </a:r>
            <a:pPr algn="l" indent="0" marL="0">
              <a:buNone/>
            </a:pPr>
            <a:r>
              <a:rPr lang="en-US" sz="1300" b="1" dirty="0">
                <a:solidFill>
                  <a:srgbClr val="FFFFFF"/>
                </a:solidFill>
                <a:latin typeface="Calibri" pitchFamily="34" charset="0"/>
                <a:ea typeface="Calibri" pitchFamily="34" charset="-122"/>
                <a:cs typeface="Calibri" pitchFamily="34" charset="-120"/>
              </a:rPr>
              <a:t> (after a preposition / object) ·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ت</a:t>
            </a:r>
            <a:pPr algn="l" indent="0" marL="0">
              <a:buNone/>
            </a:pPr>
            <a:r>
              <a:rPr lang="en-US" sz="1300" b="1" dirty="0">
                <a:solidFill>
                  <a:srgbClr val="FFFFFF"/>
                </a:solidFill>
                <a:latin typeface="Calibri" pitchFamily="34" charset="0"/>
                <a:ea typeface="Calibri" pitchFamily="34" charset="-122"/>
                <a:cs typeface="Calibri" pitchFamily="34" charset="-120"/>
              </a:rPr>
              <a:t> · no number word for two.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GM-N-02 · Singular, Dual and Plural</dc:title>
  <dc:subject>PptxGenJS Presentation</dc:subject>
  <dc:creator>Al Madina Online School · Arabic Department</dc:creator>
  <cp:lastModifiedBy>Al Madina Online School · Arabic Department</cp:lastModifiedBy>
  <cp:revision>1</cp:revision>
  <dcterms:created xsi:type="dcterms:W3CDTF">2026-10-03T15:51:59Z</dcterms:created>
  <dcterms:modified xsi:type="dcterms:W3CDTF">2026-10-03T15:51:59Z</dcterms:modified>
</cp:coreProperties>
</file>