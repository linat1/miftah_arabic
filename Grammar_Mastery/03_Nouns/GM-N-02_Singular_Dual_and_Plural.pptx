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GM-N-02 (“Singular, Dual and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singular, dual, plural; build the dual with ـَانِ. Develop: ـَانِ vs ـَيْنِ (after a preposition or as an object); ة → ت in the dual. Stretch: dual agreement with adjectives and verbs; dual in iḍāfa drops its nūn (preview of GM-N-07).
• English and Urdu have no dual: students say “two books” with a number. In Arabic the ENDING says “two” — a number word is not needed (كِتَابَانِ, not اِثْنَانِ كُتُبٌ).
• This lesson is the map; GM-N-03 to GM-N-06 then study each plural family in depth.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The website Entry Check (questions 1–5) — diagnostic; it also retrieves GM-N-01 (ة → 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Exactly two? Add an ending: ـَانِ for the subject, ـَيْنِ after a preposition or as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table “The Arabic number system”. Hold up one, two, three fingers: طَالِبٌ · طَالِبَانِ · طُلَّابٌ.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website section “Building and using the dual”. Website practical IGCSE rule: ـَانِ for a dual subject in the nominative; ـَيْنِ after a preposition and in object / genitive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(2 min). Quick drill: teacher says a frame (مَعَ … / فِي الْبَيْتِ …), students type -āni or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preview only. Website: “Understand the three-number system before studying each plural family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on the website model sentence. Think aloud: “Exactly two? Subject or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noun relevant to this lesson and explain its form (singular, dual or plural).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last two are teacher-written to add more duals.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the singular, dual and/or plural, then use each in a sentence. Use objects on camera (one pen, two pens …). To a girl: عِنْدَكِ · غُرْفَتِكِ · تَدْرُسِينَ.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Use at least six target noun forms from this lesson and underline them.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built on the website model sentence, with an English translation for Core students.
Students find in the model (● 20s → ◎) the items on the chips. -āni: غُرْفَتَانِ · أَخَوَانِ · مَدْرَسَتَانِ كَبِيرَتَانِ · مُعَلِّمَانِ. -ayni: صَدِيقَيْنِ; أَخَوَيَّ (Stretch: “my two brothers” — the nūn drops before ـيَّ).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(GM-N-03 · Sound Masculine Plural) will spend class time USING this language, so students prepare it tonight — short, simple, easy to access (school guidance: “Simple, Short, Interesting, Relevant, Easy to access”). The five words prepare GM-N-03 (website Nouns lesson 3: the sound masculine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Singular, Dual and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الْمُفْرَدُ وَالْمُثَنَّى وَالْجَمْعُ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counts one, exactly two and three-or-more. Build the dual with </a:t>
            </a:r>
            <a:pPr algn="l" indent="0" marL="0">
              <a:buNone/>
            </a:pPr>
            <a:r>
              <a:rPr lang="ar-SA" altLang="en-US" sz="1800" dirty="0">
                <a:solidFill>
                  <a:srgbClr val="C6D2E6"/>
                </a:solidFill>
                <a:latin typeface="Amiri" pitchFamily="2" charset="-78"/>
                <a:ea typeface="Amiri" pitchFamily="2" charset="-78"/>
                <a:cs typeface="Amiri" pitchFamily="2" charset="-78"/>
              </a:rPr>
              <a:t>ـَانِ</a:t>
            </a:r>
            <a:pPr algn="l" indent="0" marL="0">
              <a:buNone/>
            </a:pPr>
            <a:r>
              <a:rPr lang="en-US" sz="1400" dirty="0">
                <a:solidFill>
                  <a:srgbClr val="C6D2E6"/>
                </a:solidFill>
                <a:latin typeface="Calibri" pitchFamily="34" charset="0"/>
                <a:cs typeface="Amiri" pitchFamily="2" charset="-78"/>
              </a:rPr>
              <a:t> (subject) and </a:t>
            </a:r>
            <a:pPr algn="l" indent="0" marL="0">
              <a:buNone/>
            </a:pPr>
            <a:r>
              <a:rPr lang="ar-SA" altLang="en-US" sz="1800" dirty="0">
                <a:solidFill>
                  <a:srgbClr val="C6D2E6"/>
                </a:solidFill>
                <a:latin typeface="Amiri" pitchFamily="2" charset="-78"/>
                <a:ea typeface="Amiri" pitchFamily="2" charset="-78"/>
                <a:cs typeface="Amiri" pitchFamily="2" charset="-78"/>
              </a:rPr>
              <a:t>ـَيْنِ</a:t>
            </a:r>
            <a:pPr algn="l" indent="0" marL="0">
              <a:buNone/>
            </a:pPr>
            <a:r>
              <a:rPr lang="en-US" sz="1400" dirty="0">
                <a:solidFill>
                  <a:srgbClr val="C6D2E6"/>
                </a:solidFill>
                <a:latin typeface="Calibri" pitchFamily="34" charset="0"/>
                <a:cs typeface="Amiri" pitchFamily="2" charset="-78"/>
              </a:rPr>
              <a:t> (after a preposition or as an object) — </a:t>
            </a:r>
            <a:pPr algn="l" indent="0" marL="0">
              <a:buNone/>
            </a:pPr>
            <a:r>
              <a:rPr lang="ar-SA" altLang="en-US" sz="1800" dirty="0">
                <a:solidFill>
                  <a:srgbClr val="C6D2E6"/>
                </a:solidFill>
                <a:latin typeface="Amiri" pitchFamily="2" charset="-78"/>
                <a:ea typeface="Amiri" pitchFamily="2" charset="-78"/>
                <a:cs typeface="Amiri" pitchFamily="2" charset="-78"/>
              </a:rPr>
              <a:t>كِتَابَانِ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فِي كِتَابَيْنِ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مَدْرَسَتَانِ</a:t>
            </a:r>
            <a:pPr algn="l" indent="0" marL="0">
              <a:buNone/>
            </a:pPr>
            <a:r>
              <a:rPr lang="en-US" sz="1400" dirty="0">
                <a:solidFill>
                  <a:srgbClr val="C6D2E6"/>
                </a:solidFill>
                <a:latin typeface="Calibri" pitchFamily="34" charset="0"/>
                <a:cs typeface="Amiri" pitchFamily="2" charset="-78"/>
              </a:rPr>
              <a:t> — and know which plural family comes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two, three-or-more; building the dual; </a:t>
            </a:r>
            <a:pPr algn="ctr" indent="0" marL="0">
              <a:buNone/>
            </a:pPr>
            <a:r>
              <a:rPr lang="ar-SA" altLang="en-US" sz="1550" dirty="0">
                <a:solidFill>
                  <a:srgbClr val="1F2A37"/>
                </a:solidFill>
                <a:latin typeface="Amiri" pitchFamily="2" charset="-78"/>
                <a:ea typeface="Amiri" pitchFamily="2" charset="-78"/>
                <a:cs typeface="Amiri" pitchFamily="2" charset="-78"/>
              </a:rPr>
              <a:t>ـَانِ</a:t>
            </a:r>
            <a:pPr algn="ctr" indent="0" marL="0">
              <a:buNone/>
            </a:pPr>
            <a:r>
              <a:rPr lang="en-US" sz="1200" dirty="0">
                <a:solidFill>
                  <a:srgbClr val="1F2A37"/>
                </a:solidFill>
                <a:latin typeface="Calibri" pitchFamily="34" charset="0"/>
                <a:cs typeface="Amiri" pitchFamily="2" charset="-78"/>
              </a:rPr>
              <a:t> or </a:t>
            </a:r>
            <a:pPr algn="ctr" indent="0" marL="0">
              <a:buNone/>
            </a:pPr>
            <a:r>
              <a:rPr lang="ar-SA" altLang="en-US" sz="1550" dirty="0">
                <a:solidFill>
                  <a:srgbClr val="1F2A37"/>
                </a:solidFill>
                <a:latin typeface="Amiri" pitchFamily="2" charset="-78"/>
                <a:ea typeface="Amiri" pitchFamily="2" charset="-78"/>
                <a:cs typeface="Amiri" pitchFamily="2" charset="-78"/>
              </a:rPr>
              <a:t>ـَيْنِ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number, repair dual slips, transform singular → dual → plural.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“two books”?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“two schools”.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in the dual?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stays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a:t>
            </a:r>
            <a:pPr algn="l" indent="0" marL="0">
              <a:buNone/>
            </a:pPr>
            <a:r>
              <a:rPr lang="ar-SA" altLang="en-US" sz="1650" dirty="0">
                <a:solidFill>
                  <a:srgbClr val="1F2A37"/>
                </a:solidFill>
                <a:latin typeface="Amiri" pitchFamily="2" charset="-78"/>
                <a:ea typeface="Amiri" pitchFamily="2" charset="-78"/>
                <a:cs typeface="Amiri" pitchFamily="2" charset="-78"/>
              </a:rPr>
              <a:t>ه</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becomes </a:t>
            </a:r>
            <a:pPr algn="l" indent="0" marL="0">
              <a:buNone/>
            </a:pPr>
            <a:r>
              <a:rPr lang="ar-SA" altLang="en-US" sz="1650" dirty="0">
                <a:solidFill>
                  <a:srgbClr val="1F2A37"/>
                </a:solidFill>
                <a:latin typeface="Amiri" pitchFamily="2" charset="-78"/>
                <a:ea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before </a:t>
            </a:r>
            <a:pPr algn="l" indent="0" marL="0">
              <a:buNone/>
            </a:pPr>
            <a:r>
              <a:rPr lang="ar-SA" altLang="en-US" sz="1650" dirty="0">
                <a:solidFill>
                  <a:srgbClr val="1F2A37"/>
                </a:solidFill>
                <a:latin typeface="Amiri" pitchFamily="2" charset="-78"/>
                <a:ea typeface="Amiri" pitchFamily="2" charset="-78"/>
                <a:cs typeface="Amiri" pitchFamily="2" charset="-78"/>
              </a:rPr>
              <a:t>ان/ين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three-way family?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 كِتَابَانِ / كُتُبٌ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 كِتَابَيْنِ / كِتَابًا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 كَاتِبٌ / مَكْتَبٌ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“two books”?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كِتَابَانِ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nominative.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“two schools”.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مَدْرَسَتَانِ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مَدَارِسُ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preposition, dual uses -ayni.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plural?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طُلَّابٌ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in the dual?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stays </a:t>
            </a:r>
            <a:pPr algn="l" indent="0" marL="0">
              <a:buNone/>
            </a:pPr>
            <a:r>
              <a:rPr lang="ar-SA" altLang="en-US" sz="1650" dirty="0">
                <a:solidFill>
                  <a:srgbClr val="9AA1AB"/>
                </a:solidFill>
                <a:latin typeface="Amiri" pitchFamily="2" charset="-78"/>
                <a:ea typeface="Amiri" pitchFamily="2" charset="-78"/>
                <a:cs typeface="Amiri" pitchFamily="2" charset="-78"/>
              </a:rPr>
              <a:t>ة</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becomes </a:t>
            </a:r>
            <a:pPr algn="l" indent="0" marL="0">
              <a:buNone/>
            </a:pPr>
            <a:r>
              <a:rPr lang="ar-SA" altLang="en-US" sz="1650" dirty="0">
                <a:solidFill>
                  <a:srgbClr val="9AA1AB"/>
                </a:solidFill>
                <a:latin typeface="Amiri" pitchFamily="2" charset="-78"/>
                <a:ea typeface="Amiri" pitchFamily="2" charset="-78"/>
                <a:cs typeface="Amiri" pitchFamily="2" charset="-78"/>
              </a:rPr>
              <a:t>ه</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becomes </a:t>
            </a:r>
            <a:pPr algn="l" indent="0" marL="0">
              <a:buNone/>
            </a:pPr>
            <a:r>
              <a:rPr lang="ar-SA" altLang="en-US" sz="1650" b="1" dirty="0">
                <a:solidFill>
                  <a:srgbClr val="1F2A37"/>
                </a:solidFill>
                <a:latin typeface="Amiri" pitchFamily="2" charset="-78"/>
                <a:ea typeface="Amiri" pitchFamily="2" charset="-78"/>
                <a:cs typeface="Amiri" pitchFamily="2" charset="-78"/>
              </a:rPr>
              <a:t>ت</a:t>
            </a:r>
            <a:pPr algn="l" indent="0" marL="0">
              <a:buNone/>
            </a:pPr>
            <a:r>
              <a:rPr lang="en-US" sz="1250" b="1" dirty="0">
                <a:solidFill>
                  <a:srgbClr val="1F2A37"/>
                </a:solidFill>
                <a:latin typeface="Calibri" pitchFamily="34" charset="0"/>
                <a:cs typeface="Amiri" pitchFamily="2" charset="-78"/>
              </a:rPr>
              <a:t> before </a:t>
            </a:r>
            <a:pPr algn="l" indent="0" marL="0">
              <a:buNone/>
            </a:pPr>
            <a:r>
              <a:rPr lang="ar-SA" altLang="en-US" sz="1650" b="1" dirty="0">
                <a:solidFill>
                  <a:srgbClr val="1F2A37"/>
                </a:solidFill>
                <a:latin typeface="Amiri" pitchFamily="2" charset="-78"/>
                <a:ea typeface="Amiri" pitchFamily="2" charset="-78"/>
                <a:cs typeface="Amiri" pitchFamily="2" charset="-78"/>
              </a:rPr>
              <a:t>ان/ين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مَدْرَسَة → مَدْرَسَتَانِ.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three-way family?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 / كِتَابَانِ / كُتُبٌ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 كِتَابَيْنِ / كِتَابًا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 / كَاتِبٌ / مَكْتَبٌ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two, three or more.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Exactly two? Add an ending: </a:t>
            </a:r>
            <a:pPr algn="l" indent="0" marL="0">
              <a:buNone/>
            </a:pPr>
            <a:r>
              <a:rPr lang="ar-SA" altLang="en-US" sz="1700" b="1" dirty="0">
                <a:solidFill>
                  <a:srgbClr val="1F2A37"/>
                </a:solidFill>
                <a:latin typeface="Amiri" pitchFamily="2" charset="-78"/>
                <a:ea typeface="Amiri" pitchFamily="2" charset="-78"/>
                <a:cs typeface="Amiri" pitchFamily="2" charset="-78"/>
              </a:rPr>
              <a:t>ـَانِ</a:t>
            </a:r>
            <a:pPr algn="l" indent="0" marL="0">
              <a:buNone/>
            </a:pPr>
            <a:r>
              <a:rPr lang="en-US" sz="1300" b="1" dirty="0">
                <a:solidFill>
                  <a:srgbClr val="1F2A37"/>
                </a:solidFill>
                <a:latin typeface="Calibri" pitchFamily="34" charset="0"/>
                <a:cs typeface="Amiri" pitchFamily="2" charset="-78"/>
              </a:rPr>
              <a:t> for the subject, </a:t>
            </a:r>
            <a:pPr algn="l" indent="0" marL="0">
              <a:buNone/>
            </a:pPr>
            <a:r>
              <a:rPr lang="ar-SA" altLang="en-US" sz="1700" b="1" dirty="0">
                <a:solidFill>
                  <a:srgbClr val="1F2A37"/>
                </a:solidFill>
                <a:latin typeface="Amiri" pitchFamily="2" charset="-78"/>
                <a:ea typeface="Amiri" pitchFamily="2" charset="-78"/>
                <a:cs typeface="Amiri" pitchFamily="2" charset="-78"/>
              </a:rPr>
              <a:t>ـَيْنِ</a:t>
            </a:r>
            <a:pPr algn="l" indent="0" marL="0">
              <a:buNone/>
            </a:pPr>
            <a:r>
              <a:rPr lang="en-US" sz="1300" b="1" dirty="0">
                <a:solidFill>
                  <a:srgbClr val="1F2A37"/>
                </a:solidFill>
                <a:latin typeface="Calibri" pitchFamily="34" charset="0"/>
                <a:cs typeface="Amiri" pitchFamily="2" charset="-78"/>
              </a:rPr>
              <a:t> after a preposition or as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 </a:t>
            </a:r>
            <a:pPr rtl="1" algn="ctr" indent="0" marL="0">
              <a:buNone/>
            </a:pPr>
            <a:r>
              <a:rPr lang="ar-SA" altLang="en-US" sz="2400" b="1" dirty="0">
                <a:solidFill>
                  <a:srgbClr val="0E7C86"/>
                </a:solidFill>
                <a:latin typeface="Amiri" pitchFamily="2" charset="-78"/>
                <a:ea typeface="Amiri" pitchFamily="2" charset="-78"/>
                <a:cs typeface="Amiri" pitchFamily="2" charset="-78"/>
              </a:rPr>
              <a:t>كِتَابَانِ</a:t>
            </a:r>
            <a:pPr rtl="1" algn="ctr" indent="0" marL="0">
              <a:buNone/>
            </a:pPr>
            <a:r>
              <a:rPr lang="ar-SA" altLang="en-US" sz="2400" b="1" dirty="0">
                <a:solidFill>
                  <a:srgbClr val="1B3B6F"/>
                </a:solidFill>
                <a:latin typeface="Amiri" pitchFamily="2" charset="-78"/>
                <a:ea typeface="Amiri" pitchFamily="2" charset="-78"/>
                <a:cs typeface="Amiri" pitchFamily="2" charset="-78"/>
              </a:rPr>
              <a:t> · فِي </a:t>
            </a:r>
            <a:pPr rtl="1" algn="ctr" indent="0" marL="0">
              <a:buNone/>
            </a:pPr>
            <a:r>
              <a:rPr lang="ar-SA" altLang="en-US" sz="2400" b="1" dirty="0">
                <a:solidFill>
                  <a:srgbClr val="D6336C"/>
                </a:solidFill>
                <a:latin typeface="Amiri" pitchFamily="2" charset="-78"/>
                <a:ea typeface="Amiri" pitchFamily="2" charset="-78"/>
                <a:cs typeface="Amiri" pitchFamily="2" charset="-78"/>
              </a:rPr>
              <a:t>كِتَابَيْنِ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singular, dual and plural.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the dual with </a:t>
            </a:r>
            <a:pPr algn="l" indent="0" marL="0">
              <a:buNone/>
            </a:pPr>
            <a:r>
              <a:rPr lang="ar-SA" altLang="en-US" sz="1700" dirty="0">
                <a:solidFill>
                  <a:srgbClr val="1F2A37"/>
                </a:solidFill>
                <a:latin typeface="Amiri" pitchFamily="2" charset="-78"/>
                <a:ea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the dual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t>
            </a:r>
            <a:pPr algn="l" indent="0" marL="0">
              <a:buNone/>
            </a:pPr>
            <a:r>
              <a:rPr lang="ar-SA" altLang="en-US" sz="1700" dirty="0">
                <a:solidFill>
                  <a:srgbClr val="1F2A37"/>
                </a:solidFill>
                <a:latin typeface="Amiri" pitchFamily="2" charset="-78"/>
                <a:ea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from the position in the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two or many: </a:t>
            </a:r>
            <a:pPr algn="l" indent="0" marL="0">
              <a:buNone/>
            </a:pPr>
            <a:r>
              <a:rPr lang="ar-SA" altLang="en-US" sz="1700" b="1" dirty="0">
                <a:solidFill>
                  <a:srgbClr val="2E8B57"/>
                </a:solidFill>
                <a:latin typeface="Amiri" pitchFamily="2" charset="-78"/>
                <a:ea typeface="Amiri" pitchFamily="2" charset="-78"/>
                <a:cs typeface="Amiri" pitchFamily="2" charset="-78"/>
              </a:rPr>
              <a:t>طَالِبٌ</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طَالِبَانِ</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طُلَّابٌ</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the dual of a masculine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the dual of a noun in </a:t>
            </a:r>
            <a:pPr algn="l" indent="0" marL="0">
              <a:buNone/>
            </a:pPr>
            <a:r>
              <a:rPr lang="ar-SA" altLang="en-US" sz="1700" b="1" dirty="0">
                <a:solidFill>
                  <a:srgbClr val="C9780A"/>
                </a:solidFill>
                <a:latin typeface="Amiri" pitchFamily="2" charset="-78"/>
                <a:ea typeface="Amiri" pitchFamily="2" charset="-78"/>
                <a:cs typeface="Amiri" pitchFamily="2" charset="-78"/>
              </a:rPr>
              <a:t>ة</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ea typeface="Amiri" pitchFamily="2" charset="-78"/>
                <a:cs typeface="Amiri" pitchFamily="2" charset="-78"/>
              </a:rPr>
              <a:t>مَدْرَسَتَانِ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t>
            </a:r>
            <a:pPr algn="l" indent="0" marL="0">
              <a:buNone/>
            </a:pPr>
            <a:r>
              <a:rPr lang="ar-SA" altLang="en-US" sz="1700" b="1" dirty="0">
                <a:solidFill>
                  <a:srgbClr val="C9780A"/>
                </a:solidFill>
                <a:latin typeface="Amiri" pitchFamily="2" charset="-78"/>
                <a:ea typeface="Amiri" pitchFamily="2" charset="-78"/>
                <a:cs typeface="Amiri" pitchFamily="2" charset="-78"/>
              </a:rPr>
              <a:t>ـَيْنِ</a:t>
            </a:r>
            <a:pPr algn="l" indent="0" marL="0">
              <a:buNone/>
            </a:pPr>
            <a:r>
              <a:rPr lang="en-US" sz="1300" b="1" dirty="0">
                <a:solidFill>
                  <a:srgbClr val="C9780A"/>
                </a:solidFill>
                <a:latin typeface="Calibri" pitchFamily="34" charset="0"/>
                <a:cs typeface="Amiri" pitchFamily="2" charset="-78"/>
              </a:rPr>
              <a:t> after </a:t>
            </a:r>
            <a:pPr algn="l" indent="0" marL="0">
              <a:buNone/>
            </a:pPr>
            <a:r>
              <a:rPr lang="ar-SA" altLang="en-US" sz="1700" b="1" dirty="0">
                <a:solidFill>
                  <a:srgbClr val="C9780A"/>
                </a:solidFill>
                <a:latin typeface="Amiri" pitchFamily="2" charset="-78"/>
                <a:ea typeface="Amiri" pitchFamily="2" charset="-78"/>
                <a:cs typeface="Amiri" pitchFamily="2" charset="-78"/>
              </a:rPr>
              <a:t>فِي</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ea typeface="Amiri" pitchFamily="2" charset="-78"/>
                <a:cs typeface="Amiri" pitchFamily="2" charset="-78"/>
              </a:rPr>
              <a:t>مَعَ</a:t>
            </a:r>
            <a:pPr algn="l" indent="0" marL="0">
              <a:buNone/>
            </a:pPr>
            <a:r>
              <a:rPr lang="en-US" sz="1300" b="1" dirty="0">
                <a:solidFill>
                  <a:srgbClr val="C9780A"/>
                </a:solidFill>
                <a:latin typeface="Calibri" pitchFamily="34" charset="0"/>
                <a:cs typeface="Amiri" pitchFamily="2" charset="-78"/>
              </a:rPr>
              <a:t>, </a:t>
            </a:r>
            <a:pPr algn="l" indent="0" marL="0">
              <a:buNone/>
            </a:pPr>
            <a:r>
              <a:rPr lang="ar-SA" altLang="en-US" sz="1700" b="1" dirty="0">
                <a:solidFill>
                  <a:srgbClr val="C9780A"/>
                </a:solidFill>
                <a:latin typeface="Amiri" pitchFamily="2" charset="-78"/>
                <a:ea typeface="Amiri" pitchFamily="2" charset="-78"/>
                <a:cs typeface="Amiri" pitchFamily="2" charset="-78"/>
              </a:rPr>
              <a:t>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a:t>
            </a:r>
            <a:pPr algn="l" indent="0" marL="0">
              <a:buNone/>
            </a:pPr>
            <a:r>
              <a:rPr lang="ar-SA" altLang="en-US" sz="1700" b="1" dirty="0">
                <a:solidFill>
                  <a:srgbClr val="B83227"/>
                </a:solidFill>
                <a:latin typeface="Amiri" pitchFamily="2" charset="-78"/>
                <a:ea typeface="Amiri" pitchFamily="2" charset="-78"/>
                <a:cs typeface="Amiri" pitchFamily="2" charset="-78"/>
              </a:rPr>
              <a:t>ـَيْنِ</a:t>
            </a:r>
            <a:pPr algn="l" indent="0" marL="0">
              <a:buNone/>
            </a:pPr>
            <a:r>
              <a:rPr lang="en-US" sz="1300" b="1" dirty="0">
                <a:solidFill>
                  <a:srgbClr val="B83227"/>
                </a:solidFill>
                <a:latin typeface="Calibri" pitchFamily="34" charset="0"/>
                <a:cs typeface="Amiri" pitchFamily="2" charset="-78"/>
              </a:rPr>
              <a:t> for a dual object (</a:t>
            </a:r>
            <a:pPr algn="l" indent="0" marL="0">
              <a:buNone/>
            </a:pPr>
            <a:r>
              <a:rPr lang="ar-SA" altLang="en-US" sz="1700" b="1" dirty="0">
                <a:solidFill>
                  <a:srgbClr val="B83227"/>
                </a:solidFill>
                <a:latin typeface="Amiri" pitchFamily="2" charset="-78"/>
                <a:ea typeface="Amiri" pitchFamily="2" charset="-78"/>
                <a:cs typeface="Amiri" pitchFamily="2" charset="-78"/>
              </a:rPr>
              <a:t>رَأَيْتُ بِنْتَيْنِ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make the adjective dual too (</a:t>
            </a:r>
            <a:pPr algn="l" indent="0" marL="0">
              <a:buNone/>
            </a:pPr>
            <a:r>
              <a:rPr lang="ar-SA" altLang="en-US" sz="1700" b="1" dirty="0">
                <a:solidFill>
                  <a:srgbClr val="B83227"/>
                </a:solidFill>
                <a:latin typeface="Amiri" pitchFamily="2" charset="-78"/>
                <a:ea typeface="Amiri" pitchFamily="2" charset="-78"/>
                <a:cs typeface="Amiri" pitchFamily="2" charset="-78"/>
              </a:rPr>
              <a:t>طَالِبَانِ جَدِيدَانِ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(one)</a:t>
            </a:r>
            <a:endParaRPr lang="en-US" sz="1350" dirty="0"/>
          </a:p>
          <a:p>
            <a:pPr indent="0" marL="0">
              <a:buNone/>
            </a:pPr>
            <a:r>
              <a:rPr lang="en-US" sz="1100" i="1" dirty="0">
                <a:solidFill>
                  <a:srgbClr val="5A6472"/>
                </a:solidFill>
                <a:latin typeface="Calibri" pitchFamily="34" charset="0"/>
                <a:cs typeface="Amiri" pitchFamily="2" charset="-78"/>
              </a:rPr>
              <a:t>muf-ra-dun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مُثَنًّى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(exactly two)</a:t>
            </a:r>
            <a:endParaRPr lang="en-US" sz="1350" dirty="0"/>
          </a:p>
          <a:p>
            <a:pPr indent="0" marL="0">
              <a:buNone/>
            </a:pPr>
            <a:r>
              <a:rPr lang="en-US" sz="1100" i="1" dirty="0">
                <a:solidFill>
                  <a:srgbClr val="5A6472"/>
                </a:solidFill>
                <a:latin typeface="Calibri" pitchFamily="34" charset="0"/>
                <a:cs typeface="Amiri" pitchFamily="2" charset="-78"/>
              </a:rPr>
              <a:t>mu-than-nan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طَالِبَانِ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 (three or more)</a:t>
            </a:r>
            <a:endParaRPr lang="en-US" sz="1350" dirty="0"/>
          </a:p>
          <a:p>
            <a:pPr indent="0" marL="0">
              <a:buNone/>
            </a:pPr>
            <a:r>
              <a:rPr lang="en-US" sz="1100" i="1" dirty="0">
                <a:solidFill>
                  <a:srgbClr val="5A6472"/>
                </a:solidFill>
                <a:latin typeface="Calibri" pitchFamily="34" charset="0"/>
                <a:cs typeface="Amiri" pitchFamily="2" charset="-78"/>
              </a:rPr>
              <a:t>jam-ʿun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جُمُوعٌ</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حَالَةُ الرَّفْعِ</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nominative (subject)</a:t>
            </a:r>
            <a:endParaRPr lang="en-US" sz="1350" dirty="0"/>
          </a:p>
          <a:p>
            <a:pPr indent="0" marL="0">
              <a:buNone/>
            </a:pPr>
            <a:r>
              <a:rPr lang="en-US" sz="1100" i="1" dirty="0">
                <a:solidFill>
                  <a:srgbClr val="5A6472"/>
                </a:solidFill>
                <a:latin typeface="Calibri" pitchFamily="34" charset="0"/>
                <a:cs typeface="Amiri" pitchFamily="2" charset="-78"/>
              </a:rPr>
              <a:t>ḥā-la-tu ar-raf-ʿi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ـَانِ</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حَالَةُ النَّصْبِ وَالْجَرِّ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accusative and genitive</a:t>
            </a:r>
            <a:endParaRPr lang="en-US" sz="1350" dirty="0"/>
          </a:p>
          <a:p>
            <a:pPr indent="0" marL="0">
              <a:buNone/>
            </a:pPr>
            <a:r>
              <a:rPr lang="en-US" sz="1100" i="1" dirty="0">
                <a:solidFill>
                  <a:srgbClr val="5A6472"/>
                </a:solidFill>
                <a:latin typeface="Calibri" pitchFamily="34" charset="0"/>
                <a:cs typeface="Amiri" pitchFamily="2" charset="-78"/>
              </a:rPr>
              <a:t>ḥā-la-tu an-naṣ-bi wāl-jar-ri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ـَيْنِ</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جَرٍّ</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preposition</a:t>
            </a:r>
            <a:endParaRPr lang="en-US" sz="1350" dirty="0"/>
          </a:p>
          <a:p>
            <a:pPr indent="0" marL="0">
              <a:buNone/>
            </a:pPr>
            <a:r>
              <a:rPr lang="en-US" sz="1100" i="1" dirty="0">
                <a:solidFill>
                  <a:srgbClr val="5A6472"/>
                </a:solidFill>
                <a:latin typeface="Calibri" pitchFamily="34" charset="0"/>
                <a:cs typeface="Amiri" pitchFamily="2" charset="-78"/>
              </a:rPr>
              <a:t>ḥar-fu jar-rin</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 مِنْ · مَعَ · إِلَى</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مَفْعُولٌ بِهِ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of a verb</a:t>
            </a:r>
            <a:endParaRPr lang="en-US" sz="1350" dirty="0"/>
          </a:p>
          <a:p>
            <a:pPr indent="0" marL="0">
              <a:buNone/>
            </a:pPr>
            <a:r>
              <a:rPr lang="en-US" sz="1100" i="1" dirty="0">
                <a:solidFill>
                  <a:srgbClr val="5A6472"/>
                </a:solidFill>
                <a:latin typeface="Calibri" pitchFamily="34" charset="0"/>
                <a:cs typeface="Amiri" pitchFamily="2" charset="-78"/>
              </a:rPr>
              <a:t>maf-ʿū-lun bi-hi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رَأَيْتُ بِنْتَيْنِ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نُونُ الْمُثَنَّى</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nūn of the dual</a:t>
            </a:r>
            <a:endParaRPr lang="en-US" sz="1350" dirty="0"/>
          </a:p>
          <a:p>
            <a:pPr indent="0" marL="0">
              <a:buNone/>
            </a:pPr>
            <a:r>
              <a:rPr lang="en-US" sz="1100" i="1" dirty="0">
                <a:solidFill>
                  <a:srgbClr val="5A6472"/>
                </a:solidFill>
                <a:latin typeface="Calibri" pitchFamily="34" charset="0"/>
                <a:cs typeface="Amiri" pitchFamily="2" charset="-78"/>
              </a:rPr>
              <a:t>nū-nu al-mu-than-nā</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dropped in iḍāfa</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ARABIC NUMBER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One · exactly two · three or more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الْعَدَدِ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4564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student</a:t>
            </a:r>
            <a:endParaRPr lang="en-US" sz="1100" dirty="0"/>
          </a:p>
        </p:txBody>
      </p:sp>
      <p:sp>
        <p:nvSpPr>
          <p:cNvPr id="22" name="Text 19"/>
          <p:cNvSpPr txBox="1"/>
          <p:nvPr/>
        </p:nvSpPr>
        <p:spPr>
          <a:xfrm>
            <a:off x="62179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طَالِبَةٌ</a:t>
            </a:r>
            <a:endParaRPr lang="ar-SA" sz="2600" dirty="0"/>
          </a:p>
        </p:txBody>
      </p:sp>
      <p:sp>
        <p:nvSpPr>
          <p:cNvPr id="23" name="Text 20"/>
          <p:cNvSpPr txBox="1"/>
          <p:nvPr/>
        </p:nvSpPr>
        <p:spPr>
          <a:xfrm>
            <a:off x="34747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a:t>
            </a:r>
            <a:endParaRPr lang="ar-SA" sz="26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students</a:t>
            </a:r>
            <a:endParaRPr lang="en-US" sz="1100" dirty="0"/>
          </a:p>
        </p:txBody>
      </p:sp>
      <p:sp>
        <p:nvSpPr>
          <p:cNvPr id="29" name="Text 26"/>
          <p:cNvSpPr txBox="1"/>
          <p:nvPr/>
        </p:nvSpPr>
        <p:spPr>
          <a:xfrm>
            <a:off x="62179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طَالِبَتَانِ</a:t>
            </a:r>
            <a:endParaRPr lang="ar-SA" sz="2600" dirty="0"/>
          </a:p>
        </p:txBody>
      </p:sp>
      <p:sp>
        <p:nvSpPr>
          <p:cNvPr id="30" name="Text 27"/>
          <p:cNvSpPr txBox="1"/>
          <p:nvPr/>
        </p:nvSpPr>
        <p:spPr>
          <a:xfrm>
            <a:off x="34747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طَالِبَانِ</a:t>
            </a:r>
            <a:endParaRPr lang="ar-SA" sz="2600" dirty="0"/>
          </a:p>
        </p:txBody>
      </p:sp>
      <p:sp>
        <p:nvSpPr>
          <p:cNvPr id="31" name="Text 28"/>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subject (-āni)</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students</a:t>
            </a:r>
            <a:endParaRPr lang="en-US" sz="1100" dirty="0"/>
          </a:p>
        </p:txBody>
      </p:sp>
      <p:sp>
        <p:nvSpPr>
          <p:cNvPr id="36" name="Text 33"/>
          <p:cNvSpPr txBox="1"/>
          <p:nvPr/>
        </p:nvSpPr>
        <p:spPr>
          <a:xfrm>
            <a:off x="62179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طَالِبَتَيْنِ</a:t>
            </a:r>
            <a:endParaRPr lang="ar-SA" sz="2600" dirty="0"/>
          </a:p>
        </p:txBody>
      </p:sp>
      <p:sp>
        <p:nvSpPr>
          <p:cNvPr id="37" name="Text 34"/>
          <p:cNvSpPr txBox="1"/>
          <p:nvPr/>
        </p:nvSpPr>
        <p:spPr>
          <a:xfrm>
            <a:off x="34747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طَالِبَيْنِ</a:t>
            </a:r>
            <a:endParaRPr lang="ar-SA" sz="2600" dirty="0"/>
          </a:p>
        </p:txBody>
      </p:sp>
      <p:sp>
        <p:nvSpPr>
          <p:cNvPr id="38" name="Text 35"/>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after a trigger (-ayni)</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or more</a:t>
            </a:r>
            <a:endParaRPr lang="en-US" sz="1100" dirty="0"/>
          </a:p>
        </p:txBody>
      </p:sp>
      <p:sp>
        <p:nvSpPr>
          <p:cNvPr id="41" name="Text 38"/>
          <p:cNvSpPr txBox="1"/>
          <p:nvPr/>
        </p:nvSpPr>
        <p:spPr>
          <a:xfrm>
            <a:off x="62179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طَالِبَاتٌ</a:t>
            </a:r>
            <a:endParaRPr lang="ar-SA" sz="2600" dirty="0"/>
          </a:p>
        </p:txBody>
      </p:sp>
      <p:sp>
        <p:nvSpPr>
          <p:cNvPr id="42" name="Text 39"/>
          <p:cNvSpPr txBox="1"/>
          <p:nvPr/>
        </p:nvSpPr>
        <p:spPr>
          <a:xfrm>
            <a:off x="34747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طُلَّابٌ</a:t>
            </a:r>
            <a:endParaRPr lang="ar-SA" sz="2600" dirty="0"/>
          </a:p>
        </p:txBody>
      </p:sp>
      <p:sp>
        <p:nvSpPr>
          <p:cNvPr id="43" name="Text 40"/>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is not optional in standard Arabic (website): when the meaning is exactly two, use the dual.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BUILDING THE DUAL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Add an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الْمُثَنَّى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Take the singular and remove the tanwīn.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Subject (nominative): add </a:t>
            </a:r>
            <a:pPr algn="l" indent="0" marL="0">
              <a:buNone/>
            </a:pPr>
            <a:r>
              <a:rPr lang="ar-SA" altLang="en-US" sz="1700" dirty="0">
                <a:solidFill>
                  <a:srgbClr val="1F2A37"/>
                </a:solidFill>
                <a:latin typeface="Amiri" pitchFamily="2" charset="-78"/>
                <a:ea typeface="Amiri" pitchFamily="2" charset="-78"/>
                <a:cs typeface="Amiri" pitchFamily="2" charset="-78"/>
              </a:rPr>
              <a:t>ـَانِ</a:t>
            </a:r>
            <a:pPr algn="l" indent="0" marL="0">
              <a:buNone/>
            </a:pPr>
            <a:r>
              <a:rPr lang="en-US" sz="1300" dirty="0">
                <a:solidFill>
                  <a:srgbClr val="1F2A37"/>
                </a:solidFill>
                <a:latin typeface="Calibri" pitchFamily="34" charset="0"/>
                <a:cs typeface="Amiri" pitchFamily="2" charset="-78"/>
              </a:rPr>
              <a:t> — two books.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After a preposition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مَعَ</a:t>
            </a:r>
            <a:pPr algn="l" indent="0" marL="0">
              <a:buNone/>
            </a:pPr>
            <a:r>
              <a:rPr lang="en-US" sz="1300" dirty="0">
                <a:solidFill>
                  <a:srgbClr val="1F2A37"/>
                </a:solidFill>
                <a:latin typeface="Calibri" pitchFamily="34" charset="0"/>
                <a:cs typeface="Amiri" pitchFamily="2" charset="-78"/>
              </a:rPr>
              <a:t> …) or as an object: add </a:t>
            </a:r>
            <a:pPr algn="l" indent="0" marL="0">
              <a:buNone/>
            </a:pPr>
            <a:r>
              <a:rPr lang="ar-SA" altLang="en-US" sz="1700" dirty="0">
                <a:solidFill>
                  <a:srgbClr val="1F2A37"/>
                </a:solidFill>
                <a:latin typeface="Amiri" pitchFamily="2" charset="-78"/>
                <a:ea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instead.</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noun ending in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the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opens to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before the ending — two schools.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add a number word for two: the ending already says “two”.</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 كِتَابَانِ · كِتَابَيْنِ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 · two books (subject · after a trigger)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مُعَلِّمٌ · مُعَلِّمَانِ · مُعَلِّمَيْنِ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 two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مَدْرَسَةٌ · مَدْرَسَتَانِ · مَدْرَسَتَيْنِ</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 two schools  ·  </a:t>
            </a:r>
            <a:pPr algn="ctr" indent="0" marL="0">
              <a:buNone/>
            </a:pPr>
            <a:r>
              <a:rPr lang="ar-SA" altLang="en-US" sz="1450" dirty="0">
                <a:solidFill>
                  <a:srgbClr val="5A6472"/>
                </a:solidFill>
                <a:latin typeface="Amiri" pitchFamily="2" charset="-78"/>
                <a:ea typeface="Amiri" pitchFamily="2" charset="-78"/>
                <a:cs typeface="Amiri" pitchFamily="2" charset="-78"/>
              </a:rPr>
              <a:t>ة</a:t>
            </a:r>
            <a:pPr algn="ctr" indent="0" marL="0">
              <a:buNone/>
            </a:pPr>
            <a:r>
              <a:rPr lang="en-US" sz="1100" i="1" dirty="0">
                <a:solidFill>
                  <a:srgbClr val="5A6472"/>
                </a:solidFill>
                <a:latin typeface="Calibri" pitchFamily="34" charset="0"/>
                <a:cs typeface="Amiri" pitchFamily="2" charset="-78"/>
              </a:rPr>
              <a:t> → </a:t>
            </a:r>
            <a:pPr algn="ctr" indent="0" marL="0">
              <a:buNone/>
            </a:pPr>
            <a:r>
              <a:rPr lang="ar-SA" altLang="en-US" sz="1450" dirty="0">
                <a:solidFill>
                  <a:srgbClr val="5A6472"/>
                </a:solidFill>
                <a:latin typeface="Amiri" pitchFamily="2" charset="-78"/>
                <a:ea typeface="Amiri" pitchFamily="2" charset="-78"/>
                <a:cs typeface="Amiri" pitchFamily="2" charset="-78"/>
              </a:rPr>
              <a:t>ت</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الْحَيِّ مَدْرَسَتَانِ.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neighbourhood there are two schools.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warning: do not use a numeral plus a plural for two. Prefer kitābāni, not ithnāni kutub.</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-ĀNI OR -AYNI?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position decides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ـَانِ أَمْ ـَيْنِ؟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-āni</a:t>
            </a:r>
            <a:endParaRPr lang="en-US" sz="1100" dirty="0"/>
          </a:p>
        </p:txBody>
      </p:sp>
      <p:sp>
        <p:nvSpPr>
          <p:cNvPr id="21" name="Text 18"/>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الْفَصْلِ طَالِبَانِ جَدِيدَانِ.</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27" name="Text 24"/>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ذَهَبْتُ مَعَ طَالِبَيْنِ.</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3" name="Text 30"/>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بِنْتَيْنِ.</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of a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-ayni</a:t>
            </a:r>
            <a:endParaRPr lang="en-US" sz="1100" dirty="0"/>
          </a:p>
        </p:txBody>
      </p:sp>
      <p:sp>
        <p:nvSpPr>
          <p:cNvPr id="37" name="Text 34"/>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دَرَسْتُ فِي مَدْرَسَتَيْنِ.</a:t>
            </a:r>
            <a:endParaRPr lang="ar-SA" sz="24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dirty="0">
                <a:solidFill>
                  <a:srgbClr val="5A6472"/>
                </a:solidFill>
                <a:latin typeface="Calibri" pitchFamily="34" charset="0"/>
                <a:cs typeface="Amiri" pitchFamily="2" charset="-78"/>
              </a:rPr>
              <a:t> (feminine)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-āni</a:t>
            </a:r>
            <a:endParaRPr lang="en-US" sz="1100" dirty="0"/>
          </a:p>
        </p:txBody>
      </p:sp>
      <p:sp>
        <p:nvSpPr>
          <p:cNvPr id="41" name="Text 38"/>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طَالِبَتَانِ مُجْتَهِدَتَانِ</a:t>
            </a:r>
            <a:endParaRPr lang="ar-SA" sz="24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of a dual noun is dual too — with the same ending.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A FIRST LOOK AT THE PLURAL FAMILIES · PREVIEW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Three or more: three plural families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SOUND MASC. · GM-N-03</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ـُونَ / ـِينَ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مُعَلِّمُونَ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teachers (male / mixed)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ending is added; the word stays whole.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SOUND FEM. · GM-N-04</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طَالِبَاتٌ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female students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is replaced by </a:t>
            </a:r>
            <a:pPr algn="l" indent="0" marL="0">
              <a:buNone/>
            </a:pPr>
            <a:r>
              <a:rPr lang="ar-SA" altLang="en-US" sz="1450" dirty="0">
                <a:solidFill>
                  <a:srgbClr val="1F2A37"/>
                </a:solidFill>
                <a:latin typeface="Amiri" pitchFamily="2" charset="-78"/>
                <a:ea typeface="Amiri" pitchFamily="2" charset="-78"/>
                <a:cs typeface="Amiri" pitchFamily="2" charset="-78"/>
              </a:rPr>
              <a:t>ـَاتٌ</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BROKEN · GM-N-05</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جَمْعُ التَّكْسِيرِ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كُتُبٌ · طُلَّابٌ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books · students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inside of the word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“two teachers”.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Dual of </a:t>
            </a:r>
            <a:pPr algn="l" indent="0" marL="0">
              <a:buNone/>
            </a:pPr>
            <a:r>
              <a:rPr lang="ar-SA" altLang="en-US" sz="1650" b="1" dirty="0">
                <a:solidFill>
                  <a:srgbClr val="1B3B6F"/>
                </a:solidFill>
                <a:latin typeface="Amiri" pitchFamily="2" charset="-78"/>
                <a:ea typeface="Amiri" pitchFamily="2" charset="-78"/>
                <a:cs typeface="Amiri" pitchFamily="2" charset="-78"/>
              </a:rPr>
              <a:t>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schools?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“two teachers”.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subject.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طُلَّابٌ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Preposition triggers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Dual of </a:t>
            </a:r>
            <a:pPr algn="l" indent="0" marL="0">
              <a:buNone/>
            </a:pPr>
            <a:r>
              <a:rPr lang="ar-SA" altLang="en-US" sz="1650" b="1" dirty="0">
                <a:solidFill>
                  <a:srgbClr val="1B3B6F"/>
                </a:solidFill>
                <a:latin typeface="Amiri" pitchFamily="2" charset="-78"/>
                <a:ea typeface="Amiri" pitchFamily="2" charset="-78"/>
                <a:cs typeface="Amiri" pitchFamily="2" charset="-78"/>
              </a:rPr>
              <a:t>سَيَّارَةٌ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سَيَّارَتَانِ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schools?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مَدَارِسُ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count: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Singular,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Two (subject)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a:t>
            </a:r>
            <a:pPr algn="l" indent="0" marL="0">
              <a:buNone/>
            </a:pPr>
            <a:r>
              <a:rPr lang="en-US" sz="1150" dirty="0">
                <a:solidFill>
                  <a:srgbClr val="1F2A37"/>
                </a:solidFill>
                <a:latin typeface="Calibri" pitchFamily="34" charset="0"/>
                <a:cs typeface="Amiri" pitchFamily="2" charset="-78"/>
              </a:rPr>
              <a:t>, add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Two (after </a:t>
            </a:r>
            <a:pPr algn="l" indent="0" marL="0">
              <a:buNone/>
            </a:pPr>
            <a:r>
              <a:rPr lang="ar-SA" altLang="en-US" sz="1650" b="1" dirty="0">
                <a:solidFill>
                  <a:srgbClr val="6B4C9A"/>
                </a:solidFill>
                <a:latin typeface="Amiri" pitchFamily="2" charset="-78"/>
                <a:ea typeface="Amiri" pitchFamily="2" charset="-78"/>
                <a:cs typeface="Amiri" pitchFamily="2" charset="-78"/>
              </a:rPr>
              <a:t>فِي</a:t>
            </a:r>
            <a:pPr algn="l" indent="0" marL="0">
              <a:buNone/>
            </a:pPr>
            <a:r>
              <a:rPr lang="en-US" sz="1250" b="1" dirty="0">
                <a:solidFill>
                  <a:srgbClr val="6B4C9A"/>
                </a:solidFill>
                <a:latin typeface="Calibri" pitchFamily="34" charset="0"/>
                <a:cs typeface="Amiri" pitchFamily="2" charset="-78"/>
              </a:rPr>
              <a: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مَدْرَسَتَيْنِ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Preposition → -ayni.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Many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مَدَارِسُ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broken plural.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 -āni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 -ayni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حَيِّي </a:t>
            </a:r>
            <a:pPr rtl="1" algn="r" indent="0" marL="0">
              <a:buNone/>
            </a:pPr>
            <a:r>
              <a:rPr lang="ar-SA" altLang="en-US" sz="2600" b="1" dirty="0">
                <a:solidFill>
                  <a:srgbClr val="0E7C86"/>
                </a:solidFill>
                <a:latin typeface="Amiri" pitchFamily="2" charset="-78"/>
                <a:ea typeface="Amiri" pitchFamily="2" charset="-78"/>
                <a:cs typeface="Amiri" pitchFamily="2" charset="-78"/>
              </a:rPr>
              <a:t>مَدْرَسَتَانِ</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كَبِيرَتَانِ</a:t>
            </a:r>
            <a:pPr rtl="1" algn="r" indent="0" marL="0">
              <a:buNone/>
            </a:pPr>
            <a:r>
              <a:rPr lang="ar-SA" altLang="en-US" sz="2600" b="1" dirty="0">
                <a:solidFill>
                  <a:srgbClr val="1B3B6F"/>
                </a:solidFill>
                <a:latin typeface="Amiri" pitchFamily="2" charset="-78"/>
                <a:ea typeface="Amiri" pitchFamily="2" charset="-78"/>
                <a:cs typeface="Amiri" pitchFamily="2" charset="-78"/>
              </a:rPr>
              <a:t>، وَدَرَسْتُ فِي </a:t>
            </a:r>
            <a:pPr rtl="1" algn="r" indent="0" marL="0">
              <a:buNone/>
            </a:pPr>
            <a:r>
              <a:rPr lang="ar-SA" altLang="en-US" sz="2600" b="1" dirty="0">
                <a:solidFill>
                  <a:srgbClr val="D6336C"/>
                </a:solidFill>
                <a:latin typeface="Amiri" pitchFamily="2" charset="-78"/>
                <a:ea typeface="Amiri" pitchFamily="2" charset="-78"/>
                <a:cs typeface="Amiri" pitchFamily="2" charset="-78"/>
              </a:rPr>
              <a:t>مَدْرَسَتَيْنِ</a:t>
            </a:r>
            <a:pPr rtl="1" algn="r" indent="0" marL="0">
              <a:buNone/>
            </a:pPr>
            <a:r>
              <a:rPr lang="ar-SA" altLang="en-US" sz="2600" b="1" dirty="0">
                <a:solidFill>
                  <a:srgbClr val="1B3B6F"/>
                </a:solidFill>
                <a:latin typeface="Amiri" pitchFamily="2" charset="-78"/>
                <a:ea typeface="Amiri" pitchFamily="2" charset="-78"/>
                <a:cs typeface="Amiri" pitchFamily="2" charset="-78"/>
              </a:rPr>
              <a:t>. وَفِي الْمَدِينَةِ مَدَارِسُ كَثِيرَةٌ.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my neighbourhood there are two big schools, and I have studied in two schools. In the city there are many schools.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مَدْرَسَتِنَا طَالِبَانِ جَدِيدَانِ.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school there are two new students.</a:t>
            </a:r>
            <a:endParaRPr lang="en-US" sz="1250" dirty="0"/>
          </a:p>
          <a:p>
            <a:pPr indent="0" marL="0">
              <a:buNone/>
            </a:pPr>
            <a:r>
              <a:rPr lang="en-US" sz="1050" i="1" dirty="0">
                <a:solidFill>
                  <a:srgbClr val="8A6D1E"/>
                </a:solidFill>
                <a:latin typeface="Calibri" pitchFamily="34" charset="0"/>
                <a:cs typeface="Amiri" pitchFamily="2" charset="-78"/>
              </a:rPr>
              <a:t>Website text: dual noun + dual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أَسْكُنُ مَعَ أُخْتَيْنِ.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live with two sisters.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مَعَ → -ayni.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كِتَابَانِ.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two books.</a:t>
            </a:r>
            <a:endParaRPr lang="en-US" sz="1250" dirty="0"/>
          </a:p>
          <a:p>
            <a:pPr indent="0" marL="0">
              <a:buNone/>
            </a:pPr>
            <a:r>
              <a:rPr lang="en-US" sz="1050" i="1" dirty="0">
                <a:solidFill>
                  <a:srgbClr val="8A6D1E"/>
                </a:solidFill>
                <a:latin typeface="Calibri" pitchFamily="34" charset="0"/>
                <a:cs typeface="Amiri" pitchFamily="2" charset="-78"/>
              </a:rPr>
              <a:t>No number word needed.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رَأَيْتُ بِنْتَيْنِ فِي الْمَكْتَبَةِ.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saw two girls in the library.</a:t>
            </a:r>
            <a:endParaRPr lang="en-US" sz="1250" dirty="0"/>
          </a:p>
          <a:p>
            <a:pPr indent="0" marL="0">
              <a:buNone/>
            </a:pPr>
            <a:r>
              <a:rPr lang="en-US" sz="1050" i="1" dirty="0">
                <a:solidFill>
                  <a:srgbClr val="8A6D1E"/>
                </a:solidFill>
                <a:latin typeface="Calibri" pitchFamily="34" charset="0"/>
                <a:cs typeface="Amiri" pitchFamily="2" charset="-78"/>
              </a:rPr>
              <a:t>Object → -ayni.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ONE, TWO OR MANY?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Singular, dual or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مُعَلِّمَانِ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مُعَلِّمُونَ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Singular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Dual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Plural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Singular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Dual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مُعَلِّمَانِ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Plural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طُلَّابٌ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مُعَلِّمُونَ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اِثْنَانِ 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a number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سَيَّارَانِ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did the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ذَهَبْتُ مَعَ 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مَعَ</a:t>
            </a:r>
            <a:pPr algn="l" indent="0" marL="0">
              <a:buNone/>
            </a:pPr>
            <a:r>
              <a:rPr lang="en-US" sz="1300" i="1" dirty="0">
                <a:solidFill>
                  <a:srgbClr val="5A6472"/>
                </a:solidFill>
                <a:latin typeface="Calibri" pitchFamily="34" charset="0"/>
                <a:cs typeface="Amiri" pitchFamily="2" charset="-78"/>
              </a:rPr>
              <a: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اِثْنَانِ 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dual ending already means “two”.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سَيَّارَانِ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سَيَّارَتَانِ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as </a:t>
            </a:r>
            <a:pPr algn="l" indent="0" marL="0">
              <a:buNone/>
            </a:pPr>
            <a:r>
              <a:rPr lang="ar-SA" altLang="en-US" sz="1500" b="1" dirty="0">
                <a:solidFill>
                  <a:srgbClr val="1B3B6F"/>
                </a:solidFill>
                <a:latin typeface="Amiri" pitchFamily="2" charset="-78"/>
                <a:ea typeface="Amiri" pitchFamily="2" charset="-78"/>
                <a:cs typeface="Amiri" pitchFamily="2" charset="-78"/>
              </a:rPr>
              <a:t>ت</a:t>
            </a:r>
            <a:pPr algn="l" indent="0" marL="0">
              <a:buNone/>
            </a:pPr>
            <a:r>
              <a:rPr lang="en-US" sz="1150" b="1" dirty="0">
                <a:solidFill>
                  <a:srgbClr val="1B3B6F"/>
                </a:solidFill>
                <a:latin typeface="Calibri" pitchFamily="34" charset="0"/>
                <a:cs typeface="Amiri" pitchFamily="2" charset="-78"/>
              </a:rPr>
              <a:t> before the dual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ذَهَبْتُ مَعَ 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ذَهَبْتُ مَعَ 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preposition: -ayni.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two girls”.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بِنْتَانِ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بَنَاتٌ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بِنْتَيْنِ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dual encode?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approximately two</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two</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or more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full family.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 غُرْفَانِ / غُرْفَاتَانِ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 غُرْفَتَانِ / غُرَفٌ</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 غُرْفَتَيْنِ / غُرْفَةٌ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dual.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بُيُوتٌ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two girls”.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بِنْتَانِ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بَنَاتٌ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 بِنْتَيْنِ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dual uses -ayni.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dual encode?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approximately two</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exactly two</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or more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Specific number category.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full family.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 غُرْفَانِ / غُرْفَاتَانِ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 غُرْفَتَانِ / غُرَفٌ</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 غُرْفَتَيْنِ / غُرْفَةٌ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dual,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dual.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بَيْتَانِ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بُيُوتٌ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dual.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in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طَالِبَانِ جَدِيدَانِ وَمُعَلِّمَاتٌ خَبِيرَاتٌ. الْفُصُولُ وَاسِعَةٌ، وَمَكْتَبُ مُدِيرِ الْمَدْرَسَةِ قَرِيبٌ مِنَ الْمَدْخَلِ. فِي الْمَدْرَسَةِ مَكْتَبَتَانِ وَمَلْعَبٌ كَبِيرٌ. أَدْرُسُ مَعَ طَالِبَيْنِ مِنْ سُورِيَا.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طَالِبَانِ جَدِيدَانِ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new students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مُعَلِّمَاتٌ خَبِيرَاتٌ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teachers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الْفُصُولُ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 الْمُدِيرِ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head’s office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الْمَدْخَلِ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entrance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مَكْتَبَتَانِ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libraries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مَلْعَبٌ</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playground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new students are there?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DUAL with -ayni?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مَكْتَبَتَانِ</a:t>
            </a:r>
            <a:pPr algn="l" indent="0" marL="0">
              <a:buNone/>
            </a:pPr>
            <a:r>
              <a:rPr lang="en-US" sz="1250" b="1" dirty="0">
                <a:solidFill>
                  <a:srgbClr val="1B3B6F"/>
                </a:solidFill>
                <a:latin typeface="Calibri" pitchFamily="34" charset="0"/>
                <a:cs typeface="Amiri" pitchFamily="2" charset="-78"/>
              </a:rPr>
              <a:t> (with </a:t>
            </a:r>
            <a:pPr algn="l" indent="0" marL="0">
              <a:buNone/>
            </a:pPr>
            <a:r>
              <a:rPr lang="ar-SA" altLang="en-US" sz="1650" b="1" dirty="0">
                <a:solidFill>
                  <a:srgbClr val="1B3B6F"/>
                </a:solidFill>
                <a:latin typeface="Amiri" pitchFamily="2" charset="-78"/>
                <a:ea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 opens to </a:t>
            </a:r>
            <a:pPr algn="l" indent="0" marL="0">
              <a:buNone/>
            </a:pPr>
            <a:r>
              <a:rPr lang="ar-SA" altLang="en-US" sz="1650" dirty="0">
                <a:solidFill>
                  <a:srgbClr val="1F2A37"/>
                </a:solidFill>
                <a:latin typeface="Amiri" pitchFamily="2" charset="-78"/>
                <a:ea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before the dual ending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verb</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مَلْعَبٌ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الْفُصُولُ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الْمَدْخَلِ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new students are there?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طَالِبَانِ</a:t>
            </a:r>
            <a:pPr algn="l" indent="0" marL="0">
              <a:buNone/>
            </a:pPr>
            <a:r>
              <a:rPr lang="en-US" sz="1050" i="1" dirty="0">
                <a:solidFill>
                  <a:srgbClr val="8A6D1E"/>
                </a:solidFill>
                <a:latin typeface="Calibri" pitchFamily="34" charset="0"/>
                <a:cs typeface="Amiri" pitchFamily="2" charset="-78"/>
              </a:rPr>
              <a:t>: dual.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DUAL with -ayni?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مَكْتَبَتَانِ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مَكْتَبَتَانِ</a:t>
            </a:r>
            <a:pPr algn="l" indent="0" marL="0">
              <a:buNone/>
            </a:pPr>
            <a:r>
              <a:rPr lang="en-US" sz="1250" b="1" dirty="0">
                <a:solidFill>
                  <a:srgbClr val="1B3B6F"/>
                </a:solidFill>
                <a:latin typeface="Calibri" pitchFamily="34" charset="0"/>
                <a:cs typeface="Amiri" pitchFamily="2" charset="-78"/>
              </a:rPr>
              <a:t> (with </a:t>
            </a:r>
            <a:pPr algn="l" indent="0" marL="0">
              <a:buNone/>
            </a:pPr>
            <a:r>
              <a:rPr lang="ar-SA" altLang="en-US" sz="1650" b="1" dirty="0">
                <a:solidFill>
                  <a:srgbClr val="1B3B6F"/>
                </a:solidFill>
                <a:latin typeface="Amiri" pitchFamily="2" charset="-78"/>
                <a:ea typeface="Amiri" pitchFamily="2" charset="-78"/>
                <a:cs typeface="Amiri" pitchFamily="2" charset="-78"/>
              </a:rPr>
              <a:t>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ة</a:t>
            </a:r>
            <a:pPr algn="l" indent="0" marL="0">
              <a:buNone/>
            </a:pPr>
            <a:r>
              <a:rPr lang="en-US" sz="1250" b="1" dirty="0">
                <a:solidFill>
                  <a:srgbClr val="1F2A37"/>
                </a:solidFill>
                <a:latin typeface="Calibri" pitchFamily="34" charset="0"/>
                <a:cs typeface="Amiri" pitchFamily="2" charset="-78"/>
              </a:rPr>
              <a:t> opens to </a:t>
            </a:r>
            <a:pPr algn="l" indent="0" marL="0">
              <a:buNone/>
            </a:pPr>
            <a:r>
              <a:rPr lang="ar-SA" altLang="en-US" sz="1650" b="1" dirty="0">
                <a:solidFill>
                  <a:srgbClr val="1F2A37"/>
                </a:solidFill>
                <a:latin typeface="Amiri" pitchFamily="2" charset="-78"/>
                <a:ea typeface="Amiri" pitchFamily="2" charset="-78"/>
                <a:cs typeface="Amiri" pitchFamily="2" charset="-78"/>
              </a:rPr>
              <a:t>ت</a:t>
            </a:r>
            <a:pPr algn="l" indent="0" marL="0">
              <a:buNone/>
            </a:pPr>
            <a:r>
              <a:rPr lang="en-US" sz="1250" b="1" dirty="0">
                <a:solidFill>
                  <a:srgbClr val="1F2A37"/>
                </a:solidFill>
                <a:latin typeface="Calibri" pitchFamily="34" charset="0"/>
                <a:cs typeface="Amiri" pitchFamily="2" charset="-78"/>
              </a:rPr>
              <a:t> before the dual ending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verb</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مَكْتَبَةٌ → مَكْتَبَتَانِ.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مَلْعَبٌ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الْفُصُولُ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الْمَدْخَلِ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فَصْلٌ → فُصُولٌ.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كِتَابًا عِنْدَكَ؟ قُلْ: كِتَابٌ / كِتَابَانِ /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غُرْفَتِكَ؟ اِسْتَعْمِلِ الْمُثَنَّى مَرَّتَيْنِ.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تَدْرُسُ؟ اِسْتَعْمِلْ «مَعَ» + الْمُثَنَّى.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غُرْفَتِي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أَدْرُسُ مَعَ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غُرْفَتِكَ؟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room?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غُرْفَتِي سَرِيرٌ وَنَافِذَتَانِ وَكُتُبٌ كَثِيرَةٌ.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room there is a bed, two windows and many books.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each with a dual subject (</a:t>
            </a:r>
            <a:pPr algn="l" indent="0" marL="0">
              <a:buNone/>
            </a:pPr>
            <a:r>
              <a:rPr lang="ar-SA" altLang="en-US" sz="1800" b="1" dirty="0">
                <a:solidFill>
                  <a:srgbClr val="1F2A37"/>
                </a:solidFill>
                <a:latin typeface="Amiri" pitchFamily="2" charset="-78"/>
                <a:ea typeface="Amiri" pitchFamily="2" charset="-78"/>
                <a:cs typeface="Amiri" pitchFamily="2" charset="-78"/>
              </a:rPr>
              <a:t>ـَانِ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فِي … + dual. Remember ة → ت.</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a:t>
            </a:r>
            <a:pPr algn="l" indent="0" marL="0">
              <a:buNone/>
            </a:pPr>
            <a:r>
              <a:rPr lang="ar-SA" altLang="en-US" sz="1800" b="1" dirty="0">
                <a:solidFill>
                  <a:srgbClr val="1F2A37"/>
                </a:solidFill>
                <a:latin typeface="Amiri" pitchFamily="2" charset="-78"/>
                <a:ea typeface="Amiri" pitchFamily="2" charset="-78"/>
                <a:cs typeface="Amiri" pitchFamily="2" charset="-78"/>
              </a:rPr>
              <a:t>ـَانِ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ـَيْنِ</a:t>
            </a:r>
            <a:pPr algn="l" indent="0" marL="0">
              <a:buNone/>
            </a:pPr>
            <a:r>
              <a:rPr lang="en-US" sz="1400" b="1" dirty="0">
                <a:solidFill>
                  <a:srgbClr val="1F2A37"/>
                </a:solidFill>
                <a:latin typeface="Calibri" pitchFamily="34" charset="0"/>
                <a:cs typeface="Amiri" pitchFamily="2" charset="-78"/>
              </a:rPr>
              <a:t>: three after a preposition.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every dual; label it -āni or -ayni.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dual adjectives and one dual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Amiri" pitchFamily="2" charset="-78"/>
                <a:ea typeface="Amiri" pitchFamily="2" charset="-78"/>
                <a:cs typeface="Amiri" pitchFamily="2" charset="-78"/>
              </a:rPr>
              <a:t>طَالِبَتَانِ مُجْتَهِدَتَانِ · رَأَيْتُ … ـَيْنِ.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with two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دَرَسْتُ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studied in two schools.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two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طَالِبَانِ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two new students</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are two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فَصْلِي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class there are two teachers.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area there are two schools.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كِتَابَانِ / كِتَابَيْنِ  ·  قَلَمَانِ / قَلَمَيْنِ  ·  غُرْفَتَانِ / غُرْفَتَيْنِ  ·  مَدْرَسَتَانِ / مَدْرَسَتَيْنِ  ·  أَخَوَانِ / أَخَوَيْنِ  ·  أُخْتَانِ / أُخْتَيْنِ  ·  نَافِذَتَانِ  ·  مُعَلِّمَانِ  ·  جَدِيدَانِ  ·  كَبِيرَتَانِ  ·  مَعَ  ·  فِي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dual subjects with </a:t>
            </a:r>
            <a:pPr algn="l" indent="0" marL="0">
              <a:buNone/>
            </a:pPr>
            <a:r>
              <a:rPr lang="ar-SA" altLang="en-US" sz="1550" dirty="0">
                <a:solidFill>
                  <a:srgbClr val="1F2A37"/>
                </a:solidFill>
                <a:latin typeface="Amiri" pitchFamily="2" charset="-78"/>
                <a:ea typeface="Amiri" pitchFamily="2" charset="-78"/>
                <a:cs typeface="Amiri" pitchFamily="2" charset="-78"/>
              </a:rPr>
              <a:t>ـَانِ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duals after a preposition with </a:t>
            </a:r>
            <a:pPr algn="l" indent="0" marL="0">
              <a:buNone/>
            </a:pPr>
            <a:r>
              <a:rPr lang="ar-SA" altLang="en-US" sz="1550" dirty="0">
                <a:solidFill>
                  <a:srgbClr val="1F2A37"/>
                </a:solidFill>
                <a:latin typeface="Amiri" pitchFamily="2" charset="-78"/>
                <a:ea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noun in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in the dual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dual adjective agreeing with its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Some plurals for three or more.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طَالِبَانِ جَدِيدَانِ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new students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مَدْرَسَتَانِ كَبِيرَتَانِ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big schools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أُخْتَيْنِ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two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غُرْفَتَيْنِ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two rooms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أَخَوَانِ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two brothers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بِنْتَيْنِ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two girls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بَيْتٍ صَغِيرٍ فِيهِ غُرْفَتَانِ وَحَدِيقَةٌ جَمِيلَةٌ. عِنْدِي أَخَوَانِ وَأُخْتٌ وَاحِدَةٌ، وَأَنَامُ مَعَ أَخَوَيَّ فِي غُرْفَةٍ وَاحِدَةٍ. فِي حَيِّي مَدْرَسَتَانِ كَبِيرَتَانِ وَمَسْجِدٌ قَدِيمٌ. أَدْرُسُ فِي الْمَدْرَسَةِ الْأُولَى مَعَ صَدِيقَيْنِ، وَعِنْدَنَا مُعَلِّمَانِ لِلْعَرَبِيَّةِ.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small house with two rooms and a beautiful garden. I have two brothers and one sister, and I sleep with my two brothers in one room. In my area there are two big schools and an old mosque. I study at the first school with two friends, and we have two Arabic teachers.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duals in -āni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duals in -ayni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dual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dual (not a number word) for two.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duals in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have </a:t>
            </a:r>
            <a:pPr algn="l" indent="0" marL="0">
              <a:buNone/>
            </a:pPr>
            <a:r>
              <a:rPr lang="ar-SA" altLang="en-US" sz="1700" dirty="0">
                <a:solidFill>
                  <a:srgbClr val="1F2A37"/>
                </a:solidFill>
                <a:latin typeface="Amiri" pitchFamily="2" charset="-78"/>
                <a:ea typeface="Amiri" pitchFamily="2" charset="-78"/>
                <a:cs typeface="Amiri" pitchFamily="2" charset="-78"/>
              </a:rPr>
              <a:t>ت</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مَدْرَسَتَانِ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 after every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singular, dual and plural apart.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are dual too.</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pens” as a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 “two cities”.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مَدِينَتَيْنِ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pens” as a subject.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قَلَمَيْنِ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أَقْلَامٌ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 → -āni.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 “two cities”.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مَدِينَتَانِ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مَدِينَتَيْنِ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Preposition → -ayni;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“three or more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GM-N-03 · Sound Masculine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 الْمُذَكَّرِ السَّالِمِ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sound masculine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teachers (subject)</a:t>
            </a:r>
            <a:pPr indent="0" marL="0">
              <a:buNone/>
            </a:pPr>
            <a:r>
              <a:rPr lang="ar-SA" sz="1000" i="1" dirty="0">
                <a:solidFill>
                  <a:srgbClr val="5A6472"/>
                </a:solidFill>
                <a:latin typeface="Calibri" pitchFamily="34" charset="0"/>
                <a:ea typeface="Amiri" pitchFamily="2" charset="-78"/>
                <a:cs typeface="Amiri" pitchFamily="2" charset="-78"/>
              </a:rPr>
              <a:t>  مُعَلِّمِينَ after فِي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مُهَنْدِسُونَ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engineers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لَاعِبُونَ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players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مُسْلِمُونَ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Muslims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t>
            </a:r>
            <a:pPr algn="l" indent="0" marL="0">
              <a:buNone/>
            </a:pPr>
            <a:r>
              <a:rPr lang="ar-SA" altLang="en-US" sz="1350" dirty="0">
                <a:solidFill>
                  <a:srgbClr val="1F2A37"/>
                </a:solidFill>
                <a:latin typeface="Amiri" pitchFamily="2" charset="-78"/>
                <a:ea typeface="Amiri" pitchFamily="2" charset="-78"/>
                <a:cs typeface="Amiri" pitchFamily="2" charset="-78"/>
              </a:rPr>
              <a:t>مُسْلِمُونَ</a:t>
            </a:r>
            <a:pPr algn="l" indent="0" marL="0">
              <a:buNone/>
            </a:pPr>
            <a:r>
              <a:rPr lang="en-US" sz="1050" dirty="0">
                <a:solidFill>
                  <a:srgbClr val="1F2A37"/>
                </a:solidFill>
                <a:latin typeface="Calibri" pitchFamily="34" charset="0"/>
                <a:cs typeface="Amiri" pitchFamily="2" charset="-78"/>
              </a:rPr>
              <a:t> and </a:t>
            </a:r>
            <a:pPr algn="l" indent="0" marL="0">
              <a:buNone/>
            </a:pPr>
            <a:r>
              <a:rPr lang="ar-SA" altLang="en-US" sz="1350" dirty="0">
                <a:solidFill>
                  <a:srgbClr val="1F2A37"/>
                </a:solidFill>
                <a:latin typeface="Amiri" pitchFamily="2" charset="-78"/>
                <a:ea typeface="Amiri" pitchFamily="2" charset="-78"/>
                <a:cs typeface="Amiri" pitchFamily="2" charset="-78"/>
              </a:rPr>
              <a:t>مُؤْمِنُونَ</a:t>
            </a:r>
            <a:pPr algn="l" indent="0" marL="0">
              <a:buNone/>
            </a:pPr>
            <a:r>
              <a:rPr lang="en-US" sz="1050" dirty="0">
                <a:solidFill>
                  <a:srgbClr val="1F2A37"/>
                </a:solidFill>
                <a:latin typeface="Calibri" pitchFamily="34" charset="0"/>
                <a:cs typeface="Amiri" pitchFamily="2" charset="-78"/>
              </a:rPr>
              <a:t> from the Qur’an. What do these words have in common?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مُسْلِمُونَ · مُؤْمِنُونَ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singular → dual pairs (five masculine, five in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a:t>
            </a:r>
            <a:pPr algn="l" indent="0" marL="0">
              <a:buNone/>
            </a:pPr>
            <a:r>
              <a:rPr lang="ar-SA" altLang="en-US" sz="1550" dirty="0">
                <a:solidFill>
                  <a:srgbClr val="1F2A37"/>
                </a:solidFill>
                <a:latin typeface="Amiri" pitchFamily="2" charset="-78"/>
                <a:ea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 after a preposition.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(8–12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GM-N-03 · Sound Masculine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جَمْعُ الْمُذَكَّرِ السَّالِمُ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 two · three-or-more · two = </a:t>
            </a:r>
            <a:pPr algn="l" indent="0" marL="0">
              <a:buNone/>
            </a:pPr>
            <a:r>
              <a:rPr lang="ar-SA" altLang="en-US" sz="1700" b="1" dirty="0">
                <a:solidFill>
                  <a:srgbClr val="FFFFFF"/>
                </a:solidFill>
                <a:latin typeface="Amiri" pitchFamily="2" charset="-78"/>
                <a:ea typeface="Amiri" pitchFamily="2" charset="-78"/>
                <a:cs typeface="Amiri" pitchFamily="2" charset="-78"/>
              </a:rPr>
              <a:t>ـَانِ</a:t>
            </a:r>
            <a:pPr algn="l" indent="0" marL="0">
              <a:buNone/>
            </a:pPr>
            <a:r>
              <a:rPr lang="en-US" sz="1300" b="1" dirty="0">
                <a:solidFill>
                  <a:srgbClr val="FFFFFF"/>
                </a:solidFill>
                <a:latin typeface="Calibri" pitchFamily="34" charset="0"/>
                <a:cs typeface="Amiri" pitchFamily="2" charset="-78"/>
              </a:rPr>
              <a:t> (subject) or </a:t>
            </a:r>
            <a:pPr algn="l" indent="0" marL="0">
              <a:buNone/>
            </a:pPr>
            <a:r>
              <a:rPr lang="ar-SA" altLang="en-US" sz="1700" b="1" dirty="0">
                <a:solidFill>
                  <a:srgbClr val="FFFFFF"/>
                </a:solidFill>
                <a:latin typeface="Amiri" pitchFamily="2" charset="-78"/>
                <a:ea typeface="Amiri" pitchFamily="2" charset="-78"/>
                <a:cs typeface="Amiri" pitchFamily="2" charset="-78"/>
              </a:rPr>
              <a:t>ـَيْنِ</a:t>
            </a:r>
            <a:pPr algn="l" indent="0" marL="0">
              <a:buNone/>
            </a:pPr>
            <a:r>
              <a:rPr lang="en-US" sz="1300" b="1" dirty="0">
                <a:solidFill>
                  <a:srgbClr val="FFFFFF"/>
                </a:solidFill>
                <a:latin typeface="Calibri" pitchFamily="34" charset="0"/>
                <a:cs typeface="Amiri" pitchFamily="2" charset="-78"/>
              </a:rPr>
              <a:t> (after a preposition / object)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ت</a:t>
            </a:r>
            <a:pPr algn="l" indent="0" marL="0">
              <a:buNone/>
            </a:pPr>
            <a:r>
              <a:rPr lang="en-US" sz="1300" b="1" dirty="0">
                <a:solidFill>
                  <a:srgbClr val="FFFFFF"/>
                </a:solidFill>
                <a:latin typeface="Calibri" pitchFamily="34" charset="0"/>
                <a:cs typeface="Amiri" pitchFamily="2" charset="-78"/>
              </a:rPr>
              <a:t> · no number word for two.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GM-N-02 · Singular, Dual and Plural</dc:title>
  <dc:subject>PptxGenJS Presentation</dc:subject>
  <dc:creator>Al Madina Online School · Arabic Department</dc:creator>
  <cp:lastModifiedBy>Al Madina Online School · Arabic Department</cp:lastModifiedBy>
  <cp:revision>1</cp:revision>
  <dcterms:created xsi:type="dcterms:W3CDTF">2026-10-11T06:42:16Z</dcterms:created>
  <dcterms:modified xsi:type="dcterms:W3CDTF">2026-10-11T06:42:16Z</dcterms:modified>
</cp:coreProperties>
</file>