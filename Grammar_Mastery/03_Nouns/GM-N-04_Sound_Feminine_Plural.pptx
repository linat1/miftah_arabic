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GM-N-04 (“Sound Feminine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ة → ـَاتٌ for female people and common things (طَالِبَاتٌ · سَيَّارَاتٌ). Develop: ـَاتُ (subject) vs ـَاتِ (object / after a preposition); feminine plural adjectives for women. Stretch: the accusative with kasra; nouns in ة that take a BROKEN plural instead.
• QUR’AN BRIDGE: الْمُؤْمِنَاتُ · الصَّالِحَاتِ (وَعَمِلُوا الصَّالِحَاتِ — an object, with kasra!) · السَّمَاوَاتِ. Students hear the kasra on objects every time they recite.
• Agreement reminder from GM-ART-02: women → feminine plural adjective (الطَّالِبَاتُ مُجْتَهِدَاتٌ); things → feminine singular (السَّيَّارَاتُ سَرِيعَةٌ).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The website Entry Check (questions 1–5) — compare with GM-N-03 (ـُونَ / ـِينَ).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Tāʾ marbūṭa out, -āt in. Subject -ātu; everything else -āti (yes, even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section “From ة to 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(3 min) — website table “Case pattern”. Qur’an: وَعَمِلُوا الصَّالِحَاتِ (object with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links GM-ART-02 (human vs non-human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Stop at شَكَرْتُ: “Object — so for a SINGULAR I would say fatḥa (شَكَرْتُ الْمُعَلِّمَةَ). For THIS plural: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S or B. Point out: all eight singulars end in ة — the ة does not decide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(2 min). Students type S or B. Point out: all eight singulars end in ة — the ة does not decide the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sound feminine plural and say whether it ends in -ātu, -āti or -ātun.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sentence is the website text; the rest is teacher-written to practise the plural.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and plural, then use each in a sentence. Listen for the object kasra in أُحِبُّ الْمُعَلِّمَاتِ.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(GM-N-05 · Broken Plurals) will spend class time USING this language, so students prepare it tonight — short, simple, easy to access (school guidance: “Simple, Short, Interesting, Relevant, Easy to access”). The five words prepare GM-N-05 (website Nouns lesson 5: broken plurals).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Sound Feminine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جَمْعُ الْمُؤَنَّثِ السَّالِمُ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Take off the tāʾ marbūṭa and add -āt (female student → female students; car → cars). It has only two case endings: -ātu for the subject and -āti everywhere else, even for an object.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-āt plural; exceptions; two case endings;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-āt and broken plurals, repair the accusative.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طَالِبَةٌ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طُلَّابٌ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Nominative definite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الْمُعَلِّمَاتُ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الْمُعَلِّمَاتِ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Accusative sound feminine plural usually takes: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fatḥa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sukūn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kasra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human plural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مُجْتَهِدَاتٌ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مُجْتَهِدَةٌ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 مُجْتَهِدُونَ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طَالِبَةٌ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طَالِبُونَ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طُلَّابٌ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Remove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and add </a:t>
            </a:r>
            <a:pPr algn="l" indent="0" marL="0">
              <a:buNone/>
            </a:pPr>
            <a:r>
              <a:rPr lang="ar-SA" altLang="en-US" sz="1350" dirty="0">
                <a:solidFill>
                  <a:srgbClr val="8A6D1E"/>
                </a:solidFill>
                <a:latin typeface="Amiri" pitchFamily="2" charset="-78"/>
                <a:ea typeface="Amiri" pitchFamily="2" charset="-78"/>
                <a:cs typeface="Amiri" pitchFamily="2" charset="-78"/>
              </a:rPr>
              <a:t>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Nominative definite plural.</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الطَّالِبَاتُ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ḍamma in nominative.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الْمُعَلِّمَاتُ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الْمُعَلِّمَاتَ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الْمُعَلِّمَاتِ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in genitive.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Accusative sound feminine plural usually takes: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fatḥa</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sukūn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kasra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plural is accusative with kasra.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human plural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الطَّالِبَاتُ مُجْتَهِدَاتٌ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 مُجْتَهِدَةٌ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 مُجْتَهِدُونَ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persons take feminine plural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Tāʾ marbūṭa out, -āt in. Subject -ātu; everything else -āti (yes, even an object).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حَضَرَتِ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الطَّالِبَاتُ</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رَأَيْتُ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الطَّالِبَاتِ</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sound feminine plural with -āt.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feminine nouns that take a broken plural instead.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-ātu or -āti from the noun’s job.</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feminine plural adjectives for women and feminine singular for things.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female students, teachers and cars.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the tāʾ marbūṭa disappears before -āt.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-āti as an object and after a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give women a feminine plural adjective.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never write -āta with fatḥa.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school and city take broken plurals.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الْمُؤَنَّثِ السَّالِمُ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sound feminine plural</a:t>
            </a:r>
            <a:endParaRPr lang="en-US" sz="1350" dirty="0"/>
          </a:p>
          <a:p>
            <a:pPr indent="0" marL="0">
              <a:buNone/>
            </a:pPr>
            <a:r>
              <a:rPr lang="en-US" sz="1100" i="1" dirty="0">
                <a:solidFill>
                  <a:srgbClr val="5A6472"/>
                </a:solidFill>
                <a:latin typeface="Calibri" pitchFamily="34" charset="0"/>
                <a:cs typeface="Amiri" pitchFamily="2" charset="-78"/>
              </a:rPr>
              <a:t>jam-ʿu al-mu-ʾan-na-thi as-sā-li-mu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طَالِبَةٌ · طَالِبَاتٌ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ـَاتٌ</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plural ending</a:t>
            </a:r>
            <a:endParaRPr lang="en-US" sz="1350" dirty="0"/>
          </a:p>
          <a:p>
            <a:pPr indent="0" marL="0">
              <a:buNone/>
            </a:pPr>
            <a:r>
              <a:rPr lang="en-US" sz="1100" i="1" dirty="0">
                <a:solidFill>
                  <a:srgbClr val="5A6472"/>
                </a:solidFill>
                <a:latin typeface="Calibri" pitchFamily="34" charset="0"/>
                <a:cs typeface="Amiri" pitchFamily="2" charset="-78"/>
              </a:rPr>
              <a:t>-ātun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طَالِبَاتٌ</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ending (definite)</a:t>
            </a:r>
            <a:endParaRPr lang="en-US" sz="1350" dirty="0"/>
          </a:p>
          <a:p>
            <a:pPr indent="0" marL="0">
              <a:buNone/>
            </a:pPr>
            <a:r>
              <a:rPr lang="en-US" sz="1100" i="1" dirty="0">
                <a:solidFill>
                  <a:srgbClr val="5A6472"/>
                </a:solidFill>
                <a:latin typeface="Calibri" pitchFamily="34" charset="0"/>
                <a:cs typeface="Amiri" pitchFamily="2" charset="-78"/>
              </a:rPr>
              <a:t>-ātu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حَضَرَتِ الطَّالِبَاتُ</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ـَاتِ</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 after a preposition</a:t>
            </a:r>
            <a:endParaRPr lang="en-US" sz="1350" dirty="0"/>
          </a:p>
          <a:p>
            <a:pPr indent="0" marL="0">
              <a:buNone/>
            </a:pPr>
            <a:r>
              <a:rPr lang="en-US" sz="1100" i="1" dirty="0">
                <a:solidFill>
                  <a:srgbClr val="5A6472"/>
                </a:solidFill>
                <a:latin typeface="Calibri" pitchFamily="34" charset="0"/>
                <a:cs typeface="Amiri" pitchFamily="2" charset="-78"/>
              </a:rPr>
              <a:t>-āti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رَأَيْتُ الطَّالِبَاتِ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التَّكْسِيرِ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broken plural</a:t>
            </a:r>
            <a:endParaRPr lang="en-US" sz="1350" dirty="0"/>
          </a:p>
          <a:p>
            <a:pPr indent="0" marL="0">
              <a:buNone/>
            </a:pPr>
            <a:r>
              <a:rPr lang="en-US" sz="1100" i="1" dirty="0">
                <a:solidFill>
                  <a:srgbClr val="5A6472"/>
                </a:solidFill>
                <a:latin typeface="Calibri" pitchFamily="34" charset="0"/>
                <a:cs typeface="Amiri" pitchFamily="2" charset="-78"/>
              </a:rPr>
              <a:t>jam-ʿu at-tak-sī-ri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مَدْرَسَةٌ · مَدَارِسُ</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كَسْرَةٌ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kasra (-i)</a:t>
            </a:r>
            <a:endParaRPr lang="en-US" sz="1350" dirty="0"/>
          </a:p>
          <a:p>
            <a:pPr indent="0" marL="0">
              <a:buNone/>
            </a:pPr>
            <a:r>
              <a:rPr lang="en-US" sz="1100" i="1" dirty="0">
                <a:solidFill>
                  <a:srgbClr val="5A6472"/>
                </a:solidFill>
                <a:latin typeface="Calibri" pitchFamily="34" charset="0"/>
                <a:cs typeface="Amiri" pitchFamily="2" charset="-78"/>
              </a:rPr>
              <a:t>kas-ra-tun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object ending of this plural</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FROM TĀʾ MARBŪṬA TO -ĀT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Take off the tāʾ marbūṭa, add -āt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التَّاءِ الْمَرْبُوطَةِ إِلَى «ات»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Remove the tāʾ marbūṭa and attach -ātun (website regular process).</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Used for groups of women and girls: female students, female teachers.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Also for many THINGS ending in tāʾ marbūṭa: cars, universities, stories — and a few masculine words, such as airports.</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Not every feminine noun follows it: school → schools and city → cities are BROKEN plurals.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Learn the plural together with the singular, as a vocabulary family.</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طَالِبَةٌ · طَالِبَاتٌ</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female student(s)</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مُعَلِّمَةٌ · مُعَلِّمَاتٌ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female teacher(s)</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سَيَّارَةٌ · سَيَّارَاتٌ</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car(s)  ·  a thing</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مَدْرَسَةٌ · مَدَارِسُ</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school(s)  ·  broken plural</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some feminine nouns have broken plurals and must be learned as vocabulary families — school and city (fourth example) are the classic ones.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CASE PATTERN -ĀTU / -ĀTI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Only two endings — and the object takes kasra</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ـَاتُ وَـَاتِ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7" name="Text 14"/>
          <p:cNvSpPr txBox="1"/>
          <p:nvPr/>
        </p:nvSpPr>
        <p:spPr>
          <a:xfrm>
            <a:off x="32735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Role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-ātu (ḍamma)</a:t>
            </a:r>
            <a:endParaRPr lang="en-US" sz="1100" dirty="0"/>
          </a:p>
        </p:txBody>
      </p:sp>
      <p:sp>
        <p:nvSpPr>
          <p:cNvPr id="21" name="Text 18"/>
          <p:cNvSpPr txBox="1"/>
          <p:nvPr/>
        </p:nvSpPr>
        <p:spPr>
          <a:xfrm>
            <a:off x="3291840" y="2267712"/>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حَضَرَتِ الطَّالِبَاتُ.</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 (KASRA, not fatḥa)</a:t>
            </a:r>
            <a:endParaRPr lang="en-US" sz="1100" dirty="0"/>
          </a:p>
        </p:txBody>
      </p:sp>
      <p:sp>
        <p:nvSpPr>
          <p:cNvPr id="27" name="Text 24"/>
          <p:cNvSpPr txBox="1"/>
          <p:nvPr/>
        </p:nvSpPr>
        <p:spPr>
          <a:xfrm>
            <a:off x="3291840" y="300471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الطَّالِبَاتِ.</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 (kasra)</a:t>
            </a:r>
            <a:endParaRPr lang="en-US" sz="1100" dirty="0"/>
          </a:p>
        </p:txBody>
      </p:sp>
      <p:sp>
        <p:nvSpPr>
          <p:cNvPr id="33" name="Text 30"/>
          <p:cNvSpPr txBox="1"/>
          <p:nvPr/>
        </p:nvSpPr>
        <p:spPr>
          <a:xfrm>
            <a:off x="3291840" y="3741725"/>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تَحَدَّثْتُ مَعَ الطَّالِبَاتِ.</a:t>
            </a:r>
            <a:endParaRPr lang="ar-SA" sz="24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 preposition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-ātun</a:t>
            </a:r>
            <a:endParaRPr lang="en-US" sz="1100" dirty="0"/>
          </a:p>
        </p:txBody>
      </p:sp>
      <p:sp>
        <p:nvSpPr>
          <p:cNvPr id="39" name="Text 36"/>
          <p:cNvSpPr txBox="1"/>
          <p:nvPr/>
        </p:nvSpPr>
        <p:spPr>
          <a:xfrm>
            <a:off x="3291840" y="4478731"/>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الصَّفِّ طَالِبَاتٌ.</a:t>
            </a:r>
            <a:endParaRPr lang="ar-SA" sz="24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subject</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-ātin</a:t>
            </a:r>
            <a:endParaRPr lang="en-US" sz="1100" dirty="0"/>
          </a:p>
        </p:txBody>
      </p:sp>
      <p:sp>
        <p:nvSpPr>
          <p:cNvPr id="43" name="Text 40"/>
          <p:cNvSpPr txBox="1"/>
          <p:nvPr/>
        </p:nvSpPr>
        <p:spPr>
          <a:xfrm>
            <a:off x="3291840" y="5215738"/>
            <a:ext cx="47548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رَأَيْتُ طَالِبَاتٍ.</a:t>
            </a:r>
            <a:endParaRPr lang="ar-SA" sz="24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indefinite object</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Important contrast (website): singular nouns usually take fatḥa in the accusative, but this plural takes KASRA (see the object row).</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AGREEMENT: WOMEN OR THINGS?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Feminine plural — or feminine singular?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7" name="Text 14"/>
          <p:cNvSpPr txBox="1"/>
          <p:nvPr/>
        </p:nvSpPr>
        <p:spPr>
          <a:xfrm>
            <a:off x="382219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women → feminine PLURAL</a:t>
            </a:r>
            <a:endParaRPr lang="en-US" sz="1100" dirty="0"/>
          </a:p>
        </p:txBody>
      </p:sp>
      <p:sp>
        <p:nvSpPr>
          <p:cNvPr id="21" name="Text 18"/>
          <p:cNvSpPr txBox="1"/>
          <p:nvPr/>
        </p:nvSpPr>
        <p:spPr>
          <a:xfrm>
            <a:off x="3840480" y="2267712"/>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 نَشِيطَاتٌ.</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female students are active.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women → feminine plural</a:t>
            </a:r>
            <a:endParaRPr lang="en-US" sz="1100" dirty="0"/>
          </a:p>
        </p:txBody>
      </p:sp>
      <p:sp>
        <p:nvSpPr>
          <p:cNvPr id="27" name="Text 24"/>
          <p:cNvSpPr txBox="1"/>
          <p:nvPr/>
        </p:nvSpPr>
        <p:spPr>
          <a:xfrm>
            <a:off x="3840480" y="3054096"/>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الْمُعَلِّمَاتُ الْخَبِيرَاتُ</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expert female teachers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3" name="Text 30"/>
          <p:cNvSpPr txBox="1"/>
          <p:nvPr/>
        </p:nvSpPr>
        <p:spPr>
          <a:xfrm>
            <a:off x="3840480" y="3840480"/>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السَّيَّارَاتُ سَرِيعَةٌ.</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cars are fast.</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feminine singular</a:t>
            </a:r>
            <a:endParaRPr lang="en-US" sz="1100" dirty="0"/>
          </a:p>
        </p:txBody>
      </p:sp>
      <p:sp>
        <p:nvSpPr>
          <p:cNvPr id="39" name="Text 36"/>
          <p:cNvSpPr txBox="1"/>
          <p:nvPr/>
        </p:nvSpPr>
        <p:spPr>
          <a:xfrm>
            <a:off x="3840480" y="4626864"/>
            <a:ext cx="42062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الْجَامِعَاتُ الْكَبِيرَةُ</a:t>
            </a:r>
            <a:endParaRPr lang="ar-SA" sz="2400" dirty="0"/>
          </a:p>
        </p:txBody>
      </p:sp>
      <p:sp>
        <p:nvSpPr>
          <p:cNvPr id="40" name="Text 37"/>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 universities</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Same ending -āt, two agreement rules: people → plural adjective · things → feminine singular adjective.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مَدَارِسُ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Subject ending.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ending.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ـاتِ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الْجَامِعَاتِ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الْجَامِعَاتُ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الْجَامِعَاتَ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مَدَارِسُ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Subject ending.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Nominative.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ending.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ـاتِ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Accusative with kasra.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الْجَامِعَاتِ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الْجَامِعَاتُ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الْجَامِعَاتَ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build and place the plural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مُعَلِّمَةٌ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 person.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Plural</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مُعَلِّمَاتٌ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tāʾ marbūṭa out, -āt in.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حَضَرَتِ الْمُعَلِّمَاتُ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Subject → -ātu.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شَكَرْتُ الْمُعَلِّمَاتِ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 → -āti (kasra!).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-ĀTU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-ĀTI (other)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حَضَرَتِ </a:t>
            </a:r>
            <a:pPr rtl="1" algn="r" indent="0" marL="0">
              <a:buNone/>
            </a:pPr>
            <a:r>
              <a:rPr lang="ar-SA" altLang="en-US" sz="2600" b="1" dirty="0">
                <a:solidFill>
                  <a:srgbClr val="0E7C86"/>
                </a:solidFill>
                <a:latin typeface="Amiri" pitchFamily="2" charset="-78"/>
                <a:ea typeface="Amiri" pitchFamily="2" charset="-78"/>
                <a:cs typeface="Amiri" pitchFamily="2" charset="-78"/>
              </a:rPr>
              <a:t>الْمُعَلِّمَاتُ</a:t>
            </a:r>
            <a:pPr rtl="1" algn="r" indent="0" marL="0">
              <a:buNone/>
            </a:pPr>
            <a:r>
              <a:rPr lang="ar-SA" altLang="en-US" sz="2600" b="1" dirty="0">
                <a:solidFill>
                  <a:srgbClr val="1B3B6F"/>
                </a:solidFill>
                <a:latin typeface="Amiri" pitchFamily="2" charset="-78"/>
                <a:ea typeface="Amiri" pitchFamily="2" charset="-78"/>
                <a:cs typeface="Amiri" pitchFamily="2" charset="-78"/>
              </a:rPr>
              <a:t> مُبَكِّرًا، وَشَكَرْتُ </a:t>
            </a:r>
            <a:pPr rtl="1" algn="r" indent="0" marL="0">
              <a:buNone/>
            </a:pPr>
            <a:r>
              <a:rPr lang="ar-SA" altLang="en-US" sz="2600" b="1" dirty="0">
                <a:solidFill>
                  <a:srgbClr val="D6336C"/>
                </a:solidFill>
                <a:latin typeface="Amiri" pitchFamily="2" charset="-78"/>
                <a:ea typeface="Amiri" pitchFamily="2" charset="-78"/>
                <a:cs typeface="Amiri" pitchFamily="2" charset="-78"/>
              </a:rPr>
              <a:t>الْمُعَلِّمَاتِ</a:t>
            </a:r>
            <a:pPr rtl="1" algn="r" indent="0" marL="0">
              <a:buNone/>
            </a:pPr>
            <a:r>
              <a:rPr lang="ar-SA" altLang="en-US" sz="2600" b="1" dirty="0">
                <a:solidFill>
                  <a:srgbClr val="1B3B6F"/>
                </a:solidFill>
                <a:latin typeface="Amiri" pitchFamily="2" charset="-78"/>
                <a:ea typeface="Amiri" pitchFamily="2" charset="-78"/>
                <a:cs typeface="Amiri" pitchFamily="2" charset="-78"/>
              </a:rPr>
              <a:t> بَعْدَ الدَّرْسِ. الْمُعَلِّمَاتُ خَبِيرَاتٌ.</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(female) teachers came early, and I thanked the teachers after the lesson. The teachers are experts.</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مَدْرَسَتِنَا مُعَلِّمَاتٌ خَبِيرَاتٌ.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our school there are expert female teachers.</a:t>
            </a:r>
            <a:endParaRPr lang="en-US" sz="1250" dirty="0"/>
          </a:p>
          <a:p>
            <a:pPr indent="0" marL="0">
              <a:buNone/>
            </a:pPr>
            <a:r>
              <a:rPr lang="en-US" sz="1050" i="1" dirty="0">
                <a:solidFill>
                  <a:srgbClr val="8A6D1E"/>
                </a:solidFill>
                <a:latin typeface="Calibri" pitchFamily="34" charset="0"/>
                <a:cs typeface="Amiri" pitchFamily="2" charset="-78"/>
              </a:rPr>
              <a:t>Website text: plural + plural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رَأَيْتُ الطَّالِبَاتِ فِي الْمَكْتَبَةِ.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saw the female students in the library.</a:t>
            </a:r>
            <a:endParaRPr lang="en-US" sz="1250" dirty="0"/>
          </a:p>
          <a:p>
            <a:pPr indent="0" marL="0">
              <a:buNone/>
            </a:pPr>
            <a:r>
              <a:rPr lang="en-US" sz="1050" i="1" dirty="0">
                <a:solidFill>
                  <a:srgbClr val="8A6D1E"/>
                </a:solidFill>
                <a:latin typeface="Calibri" pitchFamily="34" charset="0"/>
                <a:cs typeface="Amiri" pitchFamily="2" charset="-78"/>
              </a:rPr>
              <a:t>Object → kasra.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السَّيَّارَاتُ فِي الشَّارِعِ كَثِيرَةٌ.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cars in the street are many.</a:t>
            </a:r>
            <a:endParaRPr lang="en-US" sz="1250" dirty="0"/>
          </a:p>
          <a:p>
            <a:pPr indent="0" marL="0">
              <a:buNone/>
            </a:pPr>
            <a:r>
              <a:rPr lang="en-US" sz="1050" i="1" dirty="0">
                <a:solidFill>
                  <a:srgbClr val="8A6D1E"/>
                </a:solidFill>
                <a:latin typeface="Calibri" pitchFamily="34" charset="0"/>
                <a:cs typeface="Amiri" pitchFamily="2" charset="-78"/>
              </a:rPr>
              <a:t>Things → feminine singular.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دَرَسَ أَخِي فِي جَامِعَاتٍ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studied at different universities.</a:t>
            </a:r>
            <a:endParaRPr lang="en-US" sz="1250" dirty="0"/>
          </a:p>
          <a:p>
            <a:pPr indent="0" marL="0">
              <a:buNone/>
            </a:pPr>
            <a:r>
              <a:rPr lang="en-US" sz="1050" i="1" dirty="0">
                <a:solidFill>
                  <a:srgbClr val="8A6D1E"/>
                </a:solidFill>
                <a:latin typeface="Calibri" pitchFamily="34" charset="0"/>
                <a:cs typeface="Amiri" pitchFamily="2" charset="-78"/>
              </a:rPr>
              <a:t>After a preposition → -ātin.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-ĀT OR BROKEN PLURAL?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طَالِبَةٌ · طَالِبَاتٌ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 مَدَارِسُ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 سَيَّارَاتٌ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 · مُدُنٌ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جَامِعَةٌ · جَامِعَاتٌ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 غُرَفٌ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مُعَلِّمَةٌ · مُعَلِّمَاتٌ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حَدِيقَةٌ · حَدَائِقُ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 feminine plural (-āt)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Broken plural</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Sound feminine plural (-āt)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طَالِبَةٌ · طَالِبَاتٌ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سَيَّارَةٌ · سَيَّارَاتٌ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جَامِعَةٌ · جَامِعَاتٌ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مُعَلِّمَةٌ · مُعَلِّمَاتٌ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Broken plural</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 مَدَارِسُ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 · مُدُنٌ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غُرْفَةٌ · غُرَفٌ</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حَدِيقَةٌ · حَدَائِقُ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رَأَيْتُ الطَّالِبَاتَ.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Fatḥa or kasra?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مَدْرَسَاتٌ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plural regular?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الطَّالِبَاتُ مُجْتَهِدَةٌ.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رَأَيْتُ الطَّالِبَاتَ.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رَأَيْتُ الطَّالِبَاتِ.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This plural takes kasra as an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مَدْرَسَاتٌ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مَدَارِسُ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School has a broken plural.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الطَّالِبَاتُ مُجْتَهِدَةٌ.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الطَّالِبَاتُ مُجْتَهِدَاتٌ.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Women → feminine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for female students.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نَشِيطَةٌ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نَشِيطُونَ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نَشِيطَاتٌ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has a broken plural?</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correct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الْمُعَلِّمَاتُ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الْمُعَلِّمَاتِ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رَأَيْتُ الْمُعَلِّمَاتَ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Indefinite nominative plural.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الطَّالِبَاتُ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for female students.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نَشِيطَةٌ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نَشِيطُونَ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نَشِيطَاتٌ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feminine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has a broken plural?</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مدارس.</a:t>
            </a:r>
            <a:endParaRPr lang="ar-SA" sz="13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correct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الْمُعَلِّمَاتُ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رَأَيْتُ الْمُعَلِّمَاتِ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رَأَيْتُ الْمُعَلِّمَاتَ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Accusative with kasra.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Indefinite nominative plural.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الطَّالِبَاتُ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Tanwīn ḍamm.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female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طَالِبَانِ جَدِيدَانِ وَمُعَلِّمَاتٌ خَبِيرَاتٌ. الْمُعَلِّمَاتُ لَطِيفَاتٌ، وَالطَّالِبَاتُ يُحْبِبْنَهُنَّ. فِي الْمَسَاءِ أَرَى الطَّالِبَاتِ فِي الْمَكْتَبَةِ، وَأَسْمَعُ الْحِكَايَاتِ الْجَمِيلَةَ. أَمَامَ الْمَدْرَسَةِ سَيَّارَاتٌ كَثِيرَةٌ.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خَبِيرَاتٌ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 (f. pl.)</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لَطِيفَاتٌ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kind (f. pl.)</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يُحْبِبْنَهُنَّ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(f.) love them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أَرَى</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see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الْحِكَايَاتِ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stories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أَمَامَ</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front of</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كَثِيرَةٌ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many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(kasra) in the third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object of </a:t>
            </a:r>
            <a:pPr algn="l" indent="0" marL="0">
              <a:buNone/>
            </a:pPr>
            <a:r>
              <a:rPr lang="ar-SA" altLang="en-US" sz="1650" dirty="0">
                <a:solidFill>
                  <a:srgbClr val="1F2A37"/>
                </a:solidFill>
                <a:latin typeface="Amiri" pitchFamily="2" charset="-78"/>
                <a:ea typeface="Amiri" pitchFamily="2" charset="-78"/>
                <a:cs typeface="Amiri" pitchFamily="2" charset="-78"/>
              </a:rPr>
              <a:t>أَرَى</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after a number.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ea typeface="Amiri" pitchFamily="2" charset="-78"/>
                <a:cs typeface="Amiri" pitchFamily="2" charset="-78"/>
              </a:rPr>
              <a:t>لَطِيفَاتٌ</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things.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dual.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describes women.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سَيَّارَاتٌ كَثِيرَةٌ</a:t>
            </a:r>
            <a:pPr algn="l" indent="0" marL="0">
              <a:buNone/>
            </a:pPr>
            <a:r>
              <a:rPr lang="en-US" sz="1250" b="1" dirty="0">
                <a:solidFill>
                  <a:srgbClr val="1B3B6F"/>
                </a:solidFill>
                <a:latin typeface="Calibri" pitchFamily="34" charset="0"/>
                <a:cs typeface="Amiri" pitchFamily="2" charset="-78"/>
              </a:rPr>
              <a:t> (singular adjective)?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are things.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Cars are people.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ea typeface="Amiri" pitchFamily="2" charset="-78"/>
                <a:cs typeface="Amiri" pitchFamily="2" charset="-78"/>
              </a:rPr>
              <a:t>الْحِكَايَاتِ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حِكَايٌ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حِكَايَةٌ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حَكَى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الطَّالِبَاتِ</a:t>
            </a:r>
            <a:pPr algn="l" indent="0" marL="0">
              <a:buNone/>
            </a:pPr>
            <a:r>
              <a:rPr lang="en-US" sz="1250" b="1" dirty="0">
                <a:solidFill>
                  <a:srgbClr val="1B3B6F"/>
                </a:solidFill>
                <a:latin typeface="Calibri" pitchFamily="34" charset="0"/>
                <a:cs typeface="Amiri" pitchFamily="2" charset="-78"/>
              </a:rPr>
              <a:t> (kasra) in the third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object of </a:t>
            </a:r>
            <a:pPr algn="l" indent="0" marL="0">
              <a:buNone/>
            </a:pPr>
            <a:r>
              <a:rPr lang="ar-SA" altLang="en-US" sz="1650" b="1" dirty="0">
                <a:solidFill>
                  <a:srgbClr val="1F2A37"/>
                </a:solidFill>
                <a:latin typeface="Amiri" pitchFamily="2" charset="-78"/>
                <a:ea typeface="Amiri" pitchFamily="2" charset="-78"/>
                <a:cs typeface="Amiri" pitchFamily="2" charset="-78"/>
              </a:rPr>
              <a:t>أَرَى</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after a number.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 kasra.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adjective </a:t>
            </a:r>
            <a:pPr algn="l" indent="0" marL="0">
              <a:buNone/>
            </a:pPr>
            <a:r>
              <a:rPr lang="ar-SA" altLang="en-US" sz="1650" b="1" dirty="0">
                <a:solidFill>
                  <a:srgbClr val="1B3B6F"/>
                </a:solidFill>
                <a:latin typeface="Amiri" pitchFamily="2" charset="-78"/>
                <a:ea typeface="Amiri" pitchFamily="2" charset="-78"/>
                <a:cs typeface="Amiri" pitchFamily="2" charset="-78"/>
              </a:rPr>
              <a:t>لَطِيفَاتٌ</a:t>
            </a:r>
            <a:pPr algn="l" indent="0" marL="0">
              <a:buNone/>
            </a:pPr>
            <a:r>
              <a:rPr lang="en-US" sz="1250" b="1" dirty="0">
                <a:solidFill>
                  <a:srgbClr val="1B3B6F"/>
                </a:solidFill>
                <a:latin typeface="Calibri" pitchFamily="34" charset="0"/>
                <a:cs typeface="Amiri" pitchFamily="2" charset="-78"/>
              </a:rPr>
              <a:t> (plural)?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describes things.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dual.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describes women.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People → plural adjective.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سَيَّارَاتٌ كَثِيرَةٌ</a:t>
            </a:r>
            <a:pPr algn="l" indent="0" marL="0">
              <a:buNone/>
            </a:pPr>
            <a:r>
              <a:rPr lang="en-US" sz="1250" b="1" dirty="0">
                <a:solidFill>
                  <a:srgbClr val="1B3B6F"/>
                </a:solidFill>
                <a:latin typeface="Calibri" pitchFamily="34" charset="0"/>
                <a:cs typeface="Amiri" pitchFamily="2" charset="-78"/>
              </a:rPr>
              <a:t> (singular adjective)?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Cars are things.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Cars are people.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ea typeface="Amiri" pitchFamily="2" charset="-78"/>
                <a:cs typeface="Amiri" pitchFamily="2" charset="-78"/>
              </a:rPr>
              <a:t>الْحِكَايَاتِ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حِكَايٌ</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حِكَايَةٌ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حَكَى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Put the tāʾ marbūṭa back.</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women in my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الْمُعَلِّمَاتُ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الطَّالِبَاتِ فِي صَفِّكَ أَوْ صَفِّ 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شَارِعِكَ؟ (سَيَّارَاتٌ، حَافِلَاتٌ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مَدْرَسَتِي مُعَلِّمَاتٌ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الطَّالِبَاتُ ___ وَ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شَارِعِي سَيَّارَاتٌ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الْمُعَلِّمَاتُ فِي مَدْرَسَتِكِ؟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teachers like in your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الْمُعَلِّمَاتُ لَطِيفَاتٌ وَخَبِيرَاتٌ، وَأُحِبُّ الْمُعَلِّمَاتِ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teachers are kind and expert, and I like the teachers a lot.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a sound feminine plural subject.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Female students, teachers, cars — each with an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three plurals as objects or after a preposition (-āti).</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kasra, never fatḥa, on this plural.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mixing people and things, plus one feminine noun with a broken plural.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People → plural adjective · things → feminine singular.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الطَّالِبَاتِ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saw the female students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أَتَحَدَّثُ مَعَ الْمُعَلِّمَاتِ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talk with the teachers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الْحِكَايَاتِ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the … (stories)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الْجَامِعَاتِ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universities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مَدْرَسَتِي مُعَلِّمَاتٌ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school there are … female teachers.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الطَّالِبَاتُ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female students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الشَّارِعِ سَيَّارَاتٌ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street there are cars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أَخَوَاتِي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طَالِبَاتٌ  ·  مُعَلِّمَاتٌ  ·  أَخَوَاتٌ  ·  سَيَّارَاتٌ  ·  جَامِعَاتٌ  ·  حَافِلَاتٌ  ·  حِكَايَاتٌ  ·  نَشِيطَاتٌ  ·  لَطِيفَاتٌ  ·  خَبِيرَاتٌ  ·  كَثِيرَةٌ  ·  سَرِيعَةٌ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home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sound feminine plural subjects (-ātu / -ātun).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as objects or after a preposition (-āti / -ātin).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Women with a feminine plural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Things with a feminine singular adjective.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noun with a broken plural.</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مُعَلِّمَاتٌ خَبِيرَاتٌ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expert female teachers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رَأَيْتُ الطَّالِبَاتِ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the female students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أَخَوَاتِي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sisters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السَّيَّارَاتُ سَرِيعَةٌ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cars are fast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الْجَامِعَاتِ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universities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الْمَدَارِسُ كَبِيرَةٌ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schools are big</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عِنْدِي ثَلَاثُ أَخَوَاتٍ، وَهُنَّ طَالِبَاتٌ مُجْتَهِدَاتٌ. تَدْرُسُ أُخْتِي الْكَبِيرَةُ فِي الْجَامِعَةِ، وَتُحِبُّ الْمُعَلِّمَاتِ هُنَاكَ. فِي الْمَسَاءِ أُسَاعِدُ أَخَوَاتِي فِي الْوَاجِبَاتِ. فِي شَارِعِنَا سَيَّارَاتٌ كَثِيرَةٌ وَحَافِلَاتٌ كَبِيرَةٌ، وَفِي مَدِينَتِنَا مَدَارِسُ حَدِيثَةٌ.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have three sisters, and they are hard-working students. My older sister studies at university and loves the (female) teachers there. In the evening I help my sisters with the homework. In our street there are many cars and big buses, and in our city there are modern schools.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-āt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-āti objects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women: plural adj.</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things: singular adj.</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removed the tāʾ marbūṭa before adding -āt.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subjects end in -ātu or -ātun.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objects end in -āti — kasra, not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Women: plural adjective · things: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broken plural where needed (schools, cities).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جَامِعَاتٌ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جَامِعُونَ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جَوَامِعُ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object: “I visited the universities.”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الْجَامِعَاتَ.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الْجَامِعَاتِ.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 الْجَامِعَاتُ.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for cars.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السَّيَّارَاتُ جَدِيدَةٌ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السَّيَّارَاتُ جَدِيدَاتٌ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السَّيَّارَاتُ جُدُدٌ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Plural of </a:t>
            </a:r>
            <a:pPr algn="l" indent="0" marL="0">
              <a:buNone/>
            </a:pPr>
            <a:r>
              <a:rPr lang="ar-SA" altLang="en-US" sz="1650" b="1" dirty="0">
                <a:solidFill>
                  <a:srgbClr val="1B3B6F"/>
                </a:solidFill>
                <a:latin typeface="Amiri" pitchFamily="2" charset="-78"/>
                <a:ea typeface="Amiri" pitchFamily="2" charset="-78"/>
                <a:cs typeface="Amiri" pitchFamily="2" charset="-78"/>
              </a:rPr>
              <a:t>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جَامِعَاتٌ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جَامِعُونَ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جَوَامِعُ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 -āt.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object: “I visited the universities.”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زُرْتُ الْجَامِعَاتَ.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زُرْتُ الْجَامِعَاتِ.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زُرْتُ الْجَامِعَاتُ.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 kasra.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for cars.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السَّيَّارَاتُ جَدِيدَةٌ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السَّيَّارَاتُ جَدِيدَاتٌ</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السَّيَّارَاتُ جُدُدٌ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Things → feminine singular.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GM-N-04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GM-N-05: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GM-N-05 · Broken Plurals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جَمْعُ التَّكْسِيرِ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broken 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books</a:t>
            </a:r>
            <a:pPr indent="0" marL="0">
              <a:buNone/>
            </a:pPr>
            <a:r>
              <a:rPr lang="ar-SA" sz="1000" i="1" dirty="0">
                <a:solidFill>
                  <a:srgbClr val="5A6472"/>
                </a:solidFill>
                <a:latin typeface="Calibri" pitchFamily="34" charset="0"/>
                <a:ea typeface="Amiri" pitchFamily="2" charset="-78"/>
                <a:cs typeface="Amiri" pitchFamily="2" charset="-78"/>
              </a:rPr>
              <a:t>  sing. كِتَابٌ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boys, children</a:t>
            </a:r>
            <a:pPr indent="0" marL="0">
              <a:buNone/>
            </a:pPr>
            <a:r>
              <a:rPr lang="ar-SA" sz="1000" i="1" dirty="0">
                <a:solidFill>
                  <a:srgbClr val="5A6472"/>
                </a:solidFill>
                <a:latin typeface="Calibri" pitchFamily="34" charset="0"/>
                <a:ea typeface="Amiri" pitchFamily="2" charset="-78"/>
                <a:cs typeface="Amiri" pitchFamily="2" charset="-78"/>
              </a:rPr>
              <a:t>  sing. وَلَدٌ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بُيُوتٌ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houses</a:t>
            </a:r>
            <a:pPr indent="0" marL="0">
              <a:buNone/>
            </a:pPr>
            <a:r>
              <a:rPr lang="ar-SA" sz="1000" i="1" dirty="0">
                <a:solidFill>
                  <a:srgbClr val="5A6472"/>
                </a:solidFill>
                <a:latin typeface="Calibri" pitchFamily="34" charset="0"/>
                <a:ea typeface="Amiri" pitchFamily="2" charset="-78"/>
                <a:cs typeface="Amiri" pitchFamily="2" charset="-78"/>
              </a:rPr>
              <a:t>  sing. بَيْتٌ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مَدَارِسُ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schools</a:t>
            </a:r>
            <a:pPr indent="0" marL="0">
              <a:buNone/>
            </a:pPr>
            <a:r>
              <a:rPr lang="ar-SA" sz="1000" i="1" dirty="0">
                <a:solidFill>
                  <a:srgbClr val="5A6472"/>
                </a:solidFill>
                <a:latin typeface="Calibri" pitchFamily="34" charset="0"/>
                <a:ea typeface="Amiri" pitchFamily="2" charset="-78"/>
                <a:cs typeface="Amiri" pitchFamily="2" charset="-78"/>
              </a:rPr>
              <a:t>  sing. مَدْرَسَةٌ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Compare the singulars and plurals of book and house. What changed inside the word?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كِتَابٌ · كُتُبٌ — بَيْتٌ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ten sound feminine plurals from words you know.</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three with -ātu, three with -āti.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and list five feminine nouns with broken plurals.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GM-N-05 · Broken Plurals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جَمْعُ التَّكْسِيرِ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tāʾ marbūṭa out, -āt in · subject -ātu · object and after a preposition -āti (kasra!) · women → plural adjective, things → singular.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GM-N-04 · Sound Feminine Plural</dc:title>
  <dc:subject>PptxGenJS Presentation</dc:subject>
  <dc:creator>Al Madina Online School · Arabic Department</dc:creator>
  <cp:lastModifiedBy>Al Madina Online School · Arabic Department</cp:lastModifiedBy>
  <cp:revision>1</cp:revision>
  <dcterms:created xsi:type="dcterms:W3CDTF">2026-10-11T06:42:18Z</dcterms:created>
  <dcterms:modified xsi:type="dcterms:W3CDTF">2026-10-11T06:42:18Z</dcterms:modified>
</cp:coreProperties>
</file>