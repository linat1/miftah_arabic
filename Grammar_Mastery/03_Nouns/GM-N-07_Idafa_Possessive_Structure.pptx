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Nouns › GM-N-07 (“The Iḍāfa Possessive Structure”).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build two-noun iḍāfa — first noun no الـ, no tanwīn; second noun genitive (بَيْتُ الْمُعَلِّمِ). Develop: definite vs indefinite chains; the case of the first noun changes with its job; ة read as t. Stretch: three-noun chains; dual / plural nūn drops; adjective placement after the chain.
• This is the capstone of the Nouns unit: it reuses gender (N-01, ة → t), dual (N-02, ـَا), sound masculine plural (N-03, ـُو), and every case ending.
• Qur’an bridge: بِسْمِ اللَّهِ · رَبِّ الْعَالَمِينَ · يَوْمِ الدِّينِ · مَالِكِ يَوْمِ الدِّينِ (a three-noun chain!). Students recite iḍāfa many times daily.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The website Entry Check (questions 1–5) — it uses the five prepared words from GM-N-06 and the nūn rule from GM-N-02 / N-03.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First noun: no al-, no tanwīn. Second noun: always genitive — and it makes the whole chain “the …” or “a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(3 min) — website section “The architecture of iḍāfa”. Draw two linked boxes: box 1 “no al-, no tanwīn, case from the sentence”; box 2 “always -i /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(2 min) — website callout, plus a teacher-added proper-name row for Stretch (names are definite even with tanwīn).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(3 min) — website table “Longer chains and special forms” (the ة note completed). The last two rows come from the website warning: compare the two adjectives letter by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guided mini-check, questions 1–4.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Build from the END backwards — it makes definiteness obvious. Then point to مُعَلِّمُو: “Where has the nūn gone? Iḍāfa ate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Students type D or I. Trap: the name Muḥammad has tanwīn but is definite — the chain means “Muhammad’s 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Students type D or I. Trap: the name Muḥammad has tanwīn but is definite — the chain means “Muhammad’s 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 reveal row by row; students say the answer before you reveal it. Rows 4–5 are Develop /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mastery check questions 5–8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read-and-notice text, extended by the teacher. Read it aloud once while students follow; then they hunt for today’s grammar.
Task: Website: underline every iḍāfa and mark the first noun and the genitive noun(s).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The first two sentences are the website text; the rest is teacher-written to practise iḍāfa.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task “speak and transform”. Sequence: ● 10s think → ↔ 45s rehearse aloud with mic muted → ◎ two named students on open mic (warned in advance) → + ? the class types one follow-up in chat → ↺ one student summarises.
Routes: Core uses the Core prompt and stem; Develop the Develop prompt; Stretch the last prompt.
Website: choose five nouns and use each in a sentence. The model answer has a three-noun chain and an adjective placed after the chain (بَابُ السَّيَّارَةِ الْأَمَامِيُّ — masculine, so it describes the door).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8–12 connected sentences about your school, home or local area, using at least six target noun forms from this lesson.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writing workshop,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(GM-ADJ-01 · Masculine and Feminine Singular) will spend class time USING this language, so students prepare it tonight — short, simple, easy to access (school guidance: “Simple, Short, Interesting, Relevant, Easy to access”). The five words prepare GM-ADJ-01 (website Adjectives lesson 1: masculine and feminine singular).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NOUNS  ·  GM-N-07</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GM-N-07</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450" b="1" dirty="0">
                <a:solidFill>
                  <a:srgbClr val="FFFFFF"/>
                </a:solidFill>
                <a:latin typeface="Cambria" pitchFamily="34" charset="0"/>
                <a:cs typeface="Amiri" pitchFamily="2" charset="-78"/>
              </a:rPr>
              <a:t>The Iḍāfa Possessive Structure</a:t>
            </a:r>
            <a:endParaRPr lang="en-US" sz="34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تَرْكِيبُ الْإِضَافَةِ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Join two nouns to say “the teacher’s house” or “the door of the school”. The first noun loses al- and tanwīn; the second is always genitive and decides whether the whole phrase is “the …” or “a …”.</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GM-N-07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Nouns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GM-N-07 · Nouns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GM-N-07</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GM-N-07 · Nouns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GM-N-07</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Muḍāf and muḍāf ilayh; definiteness; chains; nūn drop; adjectives.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Build chains, sort definite / indefinite,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GM-ADJ-01.</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GM-N-07 · Nouns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teacher’s house”.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الْبَيْتُ الْمُعَلِّمِ</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بَيْتُ الْمُعَلِّمِ</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بَيْتٌ الْمُعَلِّمُ</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“a teacher’s house”?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بَيْتُ مُعَلِّمٍ</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بَيْتُ الْمُعَلِّمِ</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الْبَيْتُ مُعَلِّمٍ</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case is muḍāf ilayh?</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nominative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accusative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genitive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to dual/plural nūn in idāfa?</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doubles.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becomes tanwīn.</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drops.</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“my school’s door”.</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بَابُ مَدْرَسَتِي</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الْبَابُ مَدْرَسَتِي</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بَابٌ مَدْرَسَتِي</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GM-N-07 · Nouns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teacher’s house”.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الْبَيْتُ الْمُعَلِّمِ</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بَيْتُ الْمُعَلِّمِ</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بَيْتٌ الْمُعَلِّمُ</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First noun has no article/tanwīn; second is genitive.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“a teacher’s house”?</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بَيْتُ مُعَلِّمٍ</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بَيْتُ الْمُعَلِّمِ</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الْبَيْتُ مُعَلِّمٍ</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Final indefinite noun makes chain indefinite.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case is muḍāf ilayh?</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nominative</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accusative</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genitive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Always majrūr.</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to dual/plural nūn in idāfa?</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doubles.</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becomes tanwīn.</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drops.</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nūn drops in iḍāfa (GM-N-02 / N-03).</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“my school’s door”.</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بَابُ مَدْرَسَتِي</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الْبَابُ مَدْرَسَتِي</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بَابٌ مَدْرَسَتِي</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Suffix can be final definite term.</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First noun: no al-, no tanwīn. Second noun: always genitive — and it makes the whole chain “the …” or “a …”.</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بَيْتُ</a:t>
            </a:r>
            <a:pPr rtl="1" algn="ctr" indent="0" marL="0">
              <a:buNone/>
            </a:pPr>
            <a:r>
              <a:rPr lang="ar-SA" altLang="en-US" sz="2400" b="1" dirty="0">
                <a:solidFill>
                  <a:srgbClr val="1B3B6F"/>
                </a:solidFill>
                <a:latin typeface="Amiri" pitchFamily="2" charset="-78"/>
                <a:cs typeface="Amiri" pitchFamily="2" charset="-78"/>
              </a:rPr>
              <a:t> </a:t>
            </a:r>
            <a:pPr rtl="1" algn="ctr" indent="0" marL="0">
              <a:buNone/>
            </a:pPr>
            <a:r>
              <a:rPr lang="ar-SA" altLang="en-US" sz="2400" b="1" dirty="0">
                <a:solidFill>
                  <a:srgbClr val="D6336C"/>
                </a:solidFill>
                <a:latin typeface="Amiri" pitchFamily="2" charset="-78"/>
                <a:cs typeface="Amiri" pitchFamily="2" charset="-78"/>
              </a:rPr>
              <a:t>الْمُعَلِّمِ</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0E7C86"/>
                </a:solidFill>
                <a:latin typeface="Amiri" pitchFamily="2" charset="-78"/>
                <a:cs typeface="Amiri" pitchFamily="2" charset="-78"/>
              </a:rPr>
              <a:t>بَابُ</a:t>
            </a:r>
            <a:pPr rtl="1" algn="ctr" indent="0" marL="0">
              <a:buNone/>
            </a:pPr>
            <a:r>
              <a:rPr lang="ar-SA" altLang="en-US" sz="2400" b="1" dirty="0">
                <a:solidFill>
                  <a:srgbClr val="1B3B6F"/>
                </a:solidFill>
                <a:latin typeface="Amiri" pitchFamily="2" charset="-78"/>
                <a:cs typeface="Amiri" pitchFamily="2" charset="-78"/>
              </a:rPr>
              <a:t> </a:t>
            </a:r>
            <a:pPr rtl="1" algn="ctr" indent="0" marL="0">
              <a:buNone/>
            </a:pPr>
            <a:r>
              <a:rPr lang="ar-SA" altLang="en-US" sz="2400" b="1" dirty="0">
                <a:solidFill>
                  <a:srgbClr val="D6336C"/>
                </a:solidFill>
                <a:latin typeface="Amiri" pitchFamily="2" charset="-78"/>
                <a:cs typeface="Amiri" pitchFamily="2" charset="-78"/>
              </a:rPr>
              <a:t>مَدْرَسَةٍ</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GM-N-07 · Nouns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GM-N-07</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Build an iḍāfa with the correct form of each noun.</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Make the chain definite or indefinite through the last noun.</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Drop the nūn of duals and sound masculine plurals in iḍāfa.</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Place an adjective after the chain and match it to the right noun.</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write the first noun with no al- and no tanwīn.</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put the second noun in the genitive.</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make the chain definite or indefinite.</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read tāʾ marbūṭa as t in the first noun.</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build three-noun chains and drop the nūn.</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place the adjective after the whole chain.</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GM-N-07 · 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الْإِضَافَةُ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iḍāfa (possessive structure)</a:t>
            </a:r>
            <a:endParaRPr lang="en-US" sz="1350" dirty="0"/>
          </a:p>
          <a:p>
            <a:pPr indent="0" marL="0">
              <a:buNone/>
            </a:pPr>
            <a:r>
              <a:rPr lang="en-US" sz="1100" i="1" dirty="0">
                <a:solidFill>
                  <a:srgbClr val="5A6472"/>
                </a:solidFill>
                <a:latin typeface="Calibri" pitchFamily="34" charset="0"/>
                <a:cs typeface="Amiri" pitchFamily="2" charset="-78"/>
              </a:rPr>
              <a:t>al-i-ḍā-fa-tu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بَيْتُ الْمُعَلِّمِ</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الْمُضَافُ</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first noun (the thing owned)</a:t>
            </a:r>
            <a:endParaRPr lang="en-US" sz="1350" dirty="0"/>
          </a:p>
          <a:p>
            <a:pPr indent="0" marL="0">
              <a:buNone/>
            </a:pPr>
            <a:r>
              <a:rPr lang="en-US" sz="1100" i="1" dirty="0">
                <a:solidFill>
                  <a:srgbClr val="5A6472"/>
                </a:solidFill>
                <a:latin typeface="Calibri" pitchFamily="34" charset="0"/>
                <a:cs typeface="Amiri" pitchFamily="2" charset="-78"/>
              </a:rPr>
              <a:t>al-muḍāf</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بَيْتُ</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الْمُضَافُ إِلَيْهِ</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second noun (the owner)</a:t>
            </a:r>
            <a:endParaRPr lang="en-US" sz="1350" dirty="0"/>
          </a:p>
          <a:p>
            <a:pPr indent="0" marL="0">
              <a:buNone/>
            </a:pPr>
            <a:r>
              <a:rPr lang="en-US" sz="1100" i="1" dirty="0">
                <a:solidFill>
                  <a:srgbClr val="5A6472"/>
                </a:solidFill>
                <a:latin typeface="Calibri" pitchFamily="34" charset="0"/>
                <a:cs typeface="Amiri" pitchFamily="2" charset="-78"/>
              </a:rPr>
              <a:t>al-muḍāf ilayh</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الْمُعَلِّمِ</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مَجْرُورٌ</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genitive (-i / -in)</a:t>
            </a:r>
            <a:endParaRPr lang="en-US" sz="1350" dirty="0"/>
          </a:p>
          <a:p>
            <a:pPr indent="0" marL="0">
              <a:buNone/>
            </a:pPr>
            <a:r>
              <a:rPr lang="en-US" sz="1100" i="1" dirty="0">
                <a:solidFill>
                  <a:srgbClr val="5A6472"/>
                </a:solidFill>
                <a:latin typeface="Calibri" pitchFamily="34" charset="0"/>
                <a:cs typeface="Amiri" pitchFamily="2" charset="-78"/>
              </a:rPr>
              <a:t>maj-rū-run</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second noun</a:t>
            </a:r>
            <a:endParaRPr lang="en-US" sz="10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مَعْرِفَةٌ</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definite (“the”)</a:t>
            </a:r>
            <a:endParaRPr lang="en-US" sz="1350" dirty="0"/>
          </a:p>
          <a:p>
            <a:pPr indent="0" marL="0">
              <a:buNone/>
            </a:pPr>
            <a:r>
              <a:rPr lang="en-US" sz="1100" i="1" dirty="0">
                <a:solidFill>
                  <a:srgbClr val="5A6472"/>
                </a:solidFill>
                <a:latin typeface="Calibri" pitchFamily="34" charset="0"/>
                <a:cs typeface="Amiri" pitchFamily="2" charset="-78"/>
              </a:rPr>
              <a:t>maʿ-ri-fa-tun</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بَابُ الْمَدْرَسَةِ</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نَكِرَةٌ</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indefinite (“a”)</a:t>
            </a:r>
            <a:endParaRPr lang="en-US" sz="1350" dirty="0"/>
          </a:p>
          <a:p>
            <a:pPr indent="0" marL="0">
              <a:buNone/>
            </a:pPr>
            <a:r>
              <a:rPr lang="en-US" sz="1100" i="1" dirty="0">
                <a:solidFill>
                  <a:srgbClr val="5A6472"/>
                </a:solidFill>
                <a:latin typeface="Calibri" pitchFamily="34" charset="0"/>
                <a:cs typeface="Amiri" pitchFamily="2" charset="-78"/>
              </a:rPr>
              <a:t>na-ki-ra-tun</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بَابُ مَدْرَسَةٍ</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GM-N-07 · 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1 · THE ARCHITECTURE OF IḌĀFA (WEBSITE SECTION)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Two nouns, one unit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الْمُضَافُ وَالْمُضَافُ إِلَيْهِ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GM-N-07</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THE RULE, STEP BY STEP</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Iḍāfa joins nouns into one possessive unit; English uses “of” or apostrophe-s (website).</a:t>
            </a:r>
            <a:endParaRPr lang="en-US" sz="1300" dirty="0"/>
          </a:p>
        </p:txBody>
      </p:sp>
      <p:sp>
        <p:nvSpPr>
          <p:cNvPr id="20" name="Shape 17"/>
          <p:cNvSpPr/>
          <p:nvPr/>
        </p:nvSpPr>
        <p:spPr>
          <a:xfrm>
            <a:off x="658368" y="2885846"/>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288584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776118"/>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FIRST noun (muḍāf): comes first, has NO al- and NO tanwīn.</a:t>
            </a:r>
            <a:endParaRPr lang="en-US" sz="1300" dirty="0"/>
          </a:p>
        </p:txBody>
      </p:sp>
      <p:sp>
        <p:nvSpPr>
          <p:cNvPr id="23" name="Shape 20"/>
          <p:cNvSpPr/>
          <p:nvPr/>
        </p:nvSpPr>
        <p:spPr>
          <a:xfrm>
            <a:off x="658368" y="3485693"/>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485693"/>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375965"/>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Its case comes from its job in the sentence: -u as subject, -a as object, -i after a preposition.</a:t>
            </a:r>
            <a:endParaRPr lang="en-US" sz="1300" dirty="0"/>
          </a:p>
        </p:txBody>
      </p:sp>
      <p:sp>
        <p:nvSpPr>
          <p:cNvPr id="26" name="Shape 23"/>
          <p:cNvSpPr/>
          <p:nvPr/>
        </p:nvSpPr>
        <p:spPr>
          <a:xfrm>
            <a:off x="658368" y="4085539"/>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085539"/>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3975811"/>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SECOND noun (muḍāf ilayh): comes immediately after and is ALWAYS genitive.</a:t>
            </a:r>
            <a:endParaRPr lang="en-US" sz="1300" dirty="0"/>
          </a:p>
        </p:txBody>
      </p:sp>
      <p:sp>
        <p:nvSpPr>
          <p:cNvPr id="29" name="Shape 26"/>
          <p:cNvSpPr/>
          <p:nvPr/>
        </p:nvSpPr>
        <p:spPr>
          <a:xfrm>
            <a:off x="658368" y="4685386"/>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58368" y="468538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5</a:t>
            </a:r>
            <a:endParaRPr lang="en-US" sz="1100" dirty="0"/>
          </a:p>
        </p:txBody>
      </p:sp>
      <p:sp>
        <p:nvSpPr>
          <p:cNvPr id="31" name="Text 28"/>
          <p:cNvSpPr txBox="1"/>
          <p:nvPr/>
        </p:nvSpPr>
        <p:spPr>
          <a:xfrm>
            <a:off x="1078992" y="4575658"/>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Nothing may come between the two nouns — not even an adjective.</a:t>
            </a:r>
            <a:endParaRPr lang="en-US" sz="1300" dirty="0"/>
          </a:p>
        </p:txBody>
      </p:sp>
      <p:sp>
        <p:nvSpPr>
          <p:cNvPr id="32" name="Shape 29"/>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Text 30"/>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WORKED EXAMPLES</a:t>
            </a:r>
            <a:endParaRPr lang="en-US" sz="1000" dirty="0"/>
          </a:p>
        </p:txBody>
      </p:sp>
      <p:sp>
        <p:nvSpPr>
          <p:cNvPr id="34" name="Text 31"/>
          <p:cNvSpPr txBox="1"/>
          <p:nvPr/>
        </p:nvSpPr>
        <p:spPr>
          <a:xfrm>
            <a:off x="6949440" y="2194560"/>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بَيْتُ الْمُعَلِّمِ</a:t>
            </a:r>
            <a:endParaRPr lang="ar-SA" sz="1950" dirty="0"/>
          </a:p>
        </p:txBody>
      </p:sp>
      <p:sp>
        <p:nvSpPr>
          <p:cNvPr id="35" name="Text 32"/>
          <p:cNvSpPr txBox="1"/>
          <p:nvPr/>
        </p:nvSpPr>
        <p:spPr>
          <a:xfrm>
            <a:off x="6949440" y="2619573"/>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 teacher’s house  ·  website example</a:t>
            </a:r>
            <a:endParaRPr lang="en-US" sz="1100" dirty="0"/>
          </a:p>
        </p:txBody>
      </p:sp>
      <p:sp>
        <p:nvSpPr>
          <p:cNvPr id="36" name="Shape 33"/>
          <p:cNvSpPr/>
          <p:nvPr/>
        </p:nvSpPr>
        <p:spPr>
          <a:xfrm>
            <a:off x="6995160" y="2935224"/>
            <a:ext cx="4553712" cy="0"/>
          </a:xfrm>
          <a:prstGeom prst="line">
            <a:avLst/>
          </a:prstGeom>
          <a:noFill/>
          <a:ln w="9525">
            <a:solidFill>
              <a:srgbClr val="E4DCCB"/>
            </a:solidFill>
            <a:prstDash val="dash"/>
          </a:ln>
        </p:spPr>
      </p:sp>
      <p:sp>
        <p:nvSpPr>
          <p:cNvPr id="37" name="Text 34"/>
          <p:cNvSpPr txBox="1"/>
          <p:nvPr/>
        </p:nvSpPr>
        <p:spPr>
          <a:xfrm>
            <a:off x="6949440" y="2953512"/>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كِتَابُ الطَّالِبِ</a:t>
            </a:r>
            <a:endParaRPr lang="ar-SA" sz="1950" dirty="0"/>
          </a:p>
        </p:txBody>
      </p:sp>
      <p:sp>
        <p:nvSpPr>
          <p:cNvPr id="38" name="Text 35"/>
          <p:cNvSpPr txBox="1"/>
          <p:nvPr/>
        </p:nvSpPr>
        <p:spPr>
          <a:xfrm>
            <a:off x="6949440" y="3378525"/>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 student’s book</a:t>
            </a:r>
            <a:endParaRPr lang="en-US" sz="1100" dirty="0"/>
          </a:p>
        </p:txBody>
      </p:sp>
      <p:sp>
        <p:nvSpPr>
          <p:cNvPr id="39" name="Shape 36"/>
          <p:cNvSpPr/>
          <p:nvPr/>
        </p:nvSpPr>
        <p:spPr>
          <a:xfrm>
            <a:off x="6995160" y="3694176"/>
            <a:ext cx="4553712" cy="0"/>
          </a:xfrm>
          <a:prstGeom prst="line">
            <a:avLst/>
          </a:prstGeom>
          <a:noFill/>
          <a:ln w="9525">
            <a:solidFill>
              <a:srgbClr val="E4DCCB"/>
            </a:solidFill>
            <a:prstDash val="dash"/>
          </a:ln>
        </p:spPr>
      </p:sp>
      <p:sp>
        <p:nvSpPr>
          <p:cNvPr id="40" name="Text 37"/>
          <p:cNvSpPr txBox="1"/>
          <p:nvPr/>
        </p:nvSpPr>
        <p:spPr>
          <a:xfrm>
            <a:off x="6949440" y="3712464"/>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رَأَيْتُ بَيْتَ الْمُعَلِّمِ.</a:t>
            </a:r>
            <a:endParaRPr lang="ar-SA" sz="1950" dirty="0"/>
          </a:p>
        </p:txBody>
      </p:sp>
      <p:sp>
        <p:nvSpPr>
          <p:cNvPr id="41" name="Text 38"/>
          <p:cNvSpPr txBox="1"/>
          <p:nvPr/>
        </p:nvSpPr>
        <p:spPr>
          <a:xfrm>
            <a:off x="6949440" y="4137477"/>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saw the teacher’s house.  ·  first noun as object</a:t>
            </a:r>
            <a:endParaRPr lang="en-US" sz="1100" dirty="0"/>
          </a:p>
        </p:txBody>
      </p:sp>
      <p:sp>
        <p:nvSpPr>
          <p:cNvPr id="42" name="Shape 39"/>
          <p:cNvSpPr/>
          <p:nvPr/>
        </p:nvSpPr>
        <p:spPr>
          <a:xfrm>
            <a:off x="6995160" y="4453128"/>
            <a:ext cx="4553712" cy="0"/>
          </a:xfrm>
          <a:prstGeom prst="line">
            <a:avLst/>
          </a:prstGeom>
          <a:noFill/>
          <a:ln w="9525">
            <a:solidFill>
              <a:srgbClr val="E4DCCB"/>
            </a:solidFill>
            <a:prstDash val="dash"/>
          </a:ln>
        </p:spPr>
      </p:sp>
      <p:sp>
        <p:nvSpPr>
          <p:cNvPr id="43" name="Text 40"/>
          <p:cNvSpPr txBox="1"/>
          <p:nvPr/>
        </p:nvSpPr>
        <p:spPr>
          <a:xfrm>
            <a:off x="6949440" y="4471416"/>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فِي بَيْتِ الْمُعَلِّمِ</a:t>
            </a:r>
            <a:endParaRPr lang="ar-SA" sz="1950" dirty="0"/>
          </a:p>
        </p:txBody>
      </p:sp>
      <p:sp>
        <p:nvSpPr>
          <p:cNvPr id="44" name="Text 41"/>
          <p:cNvSpPr txBox="1"/>
          <p:nvPr/>
        </p:nvSpPr>
        <p:spPr>
          <a:xfrm>
            <a:off x="6949440" y="4896429"/>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in the teacher’s house  ·  first noun after a preposition</a:t>
            </a:r>
            <a:endParaRPr lang="en-US" sz="1100" dirty="0"/>
          </a:p>
        </p:txBody>
      </p:sp>
      <p:sp>
        <p:nvSpPr>
          <p:cNvPr id="45" name="Shape 42"/>
          <p:cNvSpPr/>
          <p:nvPr/>
        </p:nvSpPr>
        <p:spPr>
          <a:xfrm>
            <a:off x="457200" y="5394960"/>
            <a:ext cx="11274552" cy="914400"/>
          </a:xfrm>
          <a:prstGeom prst="roundRect">
            <a:avLst>
              <a:gd name="adj" fmla="val 8000"/>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B83227"/>
                </a:solidFill>
                <a:latin typeface="Calibri" pitchFamily="34" charset="0"/>
                <a:cs typeface="Amiri" pitchFamily="2" charset="-78"/>
              </a:rPr>
              <a:t>COMMON SLIP</a:t>
            </a:r>
            <a:endParaRPr lang="en-US" sz="1100" dirty="0"/>
          </a:p>
        </p:txBody>
      </p:sp>
      <p:sp>
        <p:nvSpPr>
          <p:cNvPr id="47" name="Text 44"/>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Never put al- on the first noun. “The house the teacher” is not Arabic — the second noun already makes the whole phrase definite.</a:t>
            </a:r>
            <a:endParaRPr lang="en-US" sz="12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GM-N-07 · 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2 · DEFINITENESS TRAVELS FROM THE END (WEBSITE CALLOUT)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The last noun decides “the” or “a”</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التَّعْرِيفُ وَالتَّنْكِيرُ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11312" y="1810512"/>
            <a:ext cx="3447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Why</a:t>
            </a:r>
            <a:endParaRPr lang="en-US" sz="1100" dirty="0"/>
          </a:p>
        </p:txBody>
      </p:sp>
      <p:sp>
        <p:nvSpPr>
          <p:cNvPr id="17" name="Text 14"/>
          <p:cNvSpPr txBox="1"/>
          <p:nvPr/>
        </p:nvSpPr>
        <p:spPr>
          <a:xfrm>
            <a:off x="4553712"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53035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247888" y="2267712"/>
            <a:ext cx="34107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last noun indefinite → whole chain “a”</a:t>
            </a:r>
            <a:endParaRPr lang="en-US" sz="1100" dirty="0"/>
          </a:p>
        </p:txBody>
      </p:sp>
      <p:sp>
        <p:nvSpPr>
          <p:cNvPr id="21" name="Text 18"/>
          <p:cNvSpPr txBox="1"/>
          <p:nvPr/>
        </p:nvSpPr>
        <p:spPr>
          <a:xfrm>
            <a:off x="4590288" y="2267712"/>
            <a:ext cx="34747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school door</a:t>
            </a:r>
            <a:endParaRPr lang="en-US" sz="1100" dirty="0"/>
          </a:p>
        </p:txBody>
      </p:sp>
      <p:sp>
        <p:nvSpPr>
          <p:cNvPr id="22" name="Text 19"/>
          <p:cNvSpPr txBox="1"/>
          <p:nvPr/>
        </p:nvSpPr>
        <p:spPr>
          <a:xfrm>
            <a:off x="548640" y="2267712"/>
            <a:ext cx="384048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بَابُ مَدْرَسَةٍ</a:t>
            </a:r>
            <a:endParaRPr lang="ar-SA" sz="26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247888" y="3054096"/>
            <a:ext cx="34107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last noun has al- → “the”</a:t>
            </a:r>
            <a:endParaRPr lang="en-US" sz="1100" dirty="0"/>
          </a:p>
        </p:txBody>
      </p:sp>
      <p:sp>
        <p:nvSpPr>
          <p:cNvPr id="27" name="Text 24"/>
          <p:cNvSpPr txBox="1"/>
          <p:nvPr/>
        </p:nvSpPr>
        <p:spPr>
          <a:xfrm>
            <a:off x="4590288" y="3054096"/>
            <a:ext cx="34747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school door</a:t>
            </a:r>
            <a:endParaRPr lang="en-US" sz="1100" dirty="0"/>
          </a:p>
        </p:txBody>
      </p:sp>
      <p:sp>
        <p:nvSpPr>
          <p:cNvPr id="28" name="Text 25"/>
          <p:cNvSpPr txBox="1"/>
          <p:nvPr/>
        </p:nvSpPr>
        <p:spPr>
          <a:xfrm>
            <a:off x="548640" y="3054096"/>
            <a:ext cx="384048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بَابُ الْمَدْرَسَةِ</a:t>
            </a:r>
            <a:endParaRPr lang="ar-SA" sz="26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247888" y="3840480"/>
            <a:ext cx="34107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possessive ending is definite too</a:t>
            </a:r>
            <a:endParaRPr lang="en-US" sz="1100" dirty="0"/>
          </a:p>
        </p:txBody>
      </p:sp>
      <p:sp>
        <p:nvSpPr>
          <p:cNvPr id="33" name="Text 30"/>
          <p:cNvSpPr txBox="1"/>
          <p:nvPr/>
        </p:nvSpPr>
        <p:spPr>
          <a:xfrm>
            <a:off x="4590288" y="3840480"/>
            <a:ext cx="34747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school’s door</a:t>
            </a:r>
            <a:endParaRPr lang="en-US" sz="1100" dirty="0"/>
          </a:p>
        </p:txBody>
      </p:sp>
      <p:sp>
        <p:nvSpPr>
          <p:cNvPr id="34" name="Text 31"/>
          <p:cNvSpPr txBox="1"/>
          <p:nvPr/>
        </p:nvSpPr>
        <p:spPr>
          <a:xfrm>
            <a:off x="548640" y="3840480"/>
            <a:ext cx="384048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بَابُ مَدْرَسَتِي</a:t>
            </a:r>
            <a:endParaRPr lang="ar-SA" sz="26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8247888" y="4626864"/>
            <a:ext cx="34107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name is definite (despite tanwīn)</a:t>
            </a:r>
            <a:endParaRPr lang="en-US" sz="1100" dirty="0"/>
          </a:p>
        </p:txBody>
      </p:sp>
      <p:sp>
        <p:nvSpPr>
          <p:cNvPr id="39" name="Text 36"/>
          <p:cNvSpPr txBox="1"/>
          <p:nvPr/>
        </p:nvSpPr>
        <p:spPr>
          <a:xfrm>
            <a:off x="4590288" y="4626864"/>
            <a:ext cx="34747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Khalid’s door</a:t>
            </a:r>
            <a:endParaRPr lang="en-US" sz="1100" dirty="0"/>
          </a:p>
        </p:txBody>
      </p:sp>
      <p:sp>
        <p:nvSpPr>
          <p:cNvPr id="40" name="Text 37"/>
          <p:cNvSpPr txBox="1"/>
          <p:nvPr/>
        </p:nvSpPr>
        <p:spPr>
          <a:xfrm>
            <a:off x="548640" y="4626864"/>
            <a:ext cx="384048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بَابُ خَالِدٍ</a:t>
            </a:r>
            <a:endParaRPr lang="ar-SA" sz="2600" dirty="0"/>
          </a:p>
        </p:txBody>
      </p:sp>
      <p:sp>
        <p:nvSpPr>
          <p:cNvPr id="41" name="Text 3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definiteness travels from the final term. The first noun never shows it.</a:t>
            </a:r>
            <a:endParaRPr lang="en-US" sz="11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GM-N-07 · 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18" b="1" spc="150" kern="0" dirty="0">
                <a:solidFill>
                  <a:srgbClr val="1B3B6F"/>
                </a:solidFill>
                <a:latin typeface="Calibri" pitchFamily="34" charset="0"/>
                <a:cs typeface="Amiri" pitchFamily="2" charset="-78"/>
              </a:rPr>
              <a:t>GRAMMAR · PART 3 · LONGER CHAINS AND SPECIAL FORMS (WEBSITE TABLE) · STRETCH</a:t>
            </a:r>
            <a:endParaRPr lang="en-US" sz="918"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Chains, dropped nūn and tāʾ marbūṭa</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سَلَاسِلُ وَأَشْكَالٌ خَاصَّةٌ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11312" y="1810512"/>
            <a:ext cx="3447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Notice</a:t>
            </a:r>
            <a:endParaRPr lang="en-US" sz="1100" dirty="0"/>
          </a:p>
        </p:txBody>
      </p:sp>
      <p:sp>
        <p:nvSpPr>
          <p:cNvPr id="17" name="Text 14"/>
          <p:cNvSpPr txBox="1"/>
          <p:nvPr/>
        </p:nvSpPr>
        <p:spPr>
          <a:xfrm>
            <a:off x="4005072"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a:t>
            </a:r>
            <a:endParaRPr lang="en-US" sz="1100" dirty="0"/>
          </a:p>
        </p:txBody>
      </p:sp>
      <p:sp>
        <p:nvSpPr>
          <p:cNvPr id="18" name="Text 15"/>
          <p:cNvSpPr txBox="1"/>
          <p:nvPr/>
        </p:nvSpPr>
        <p:spPr>
          <a:xfrm>
            <a:off x="530352" y="1810512"/>
            <a:ext cx="33284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247888" y="2267712"/>
            <a:ext cx="34107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tāʾ marbūṭa is pronounced t: ḥaqībatu</a:t>
            </a:r>
            <a:endParaRPr lang="en-US" sz="1100" dirty="0"/>
          </a:p>
        </p:txBody>
      </p:sp>
      <p:sp>
        <p:nvSpPr>
          <p:cNvPr id="21" name="Text 18"/>
          <p:cNvSpPr txBox="1"/>
          <p:nvPr/>
        </p:nvSpPr>
        <p:spPr>
          <a:xfrm>
            <a:off x="4023360" y="2267712"/>
            <a:ext cx="40233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حَقِيبَةُ الطَّالِبِ</a:t>
            </a:r>
            <a:endParaRPr lang="ar-SA" sz="2400" dirty="0"/>
          </a:p>
        </p:txBody>
      </p:sp>
      <p:sp>
        <p:nvSpPr>
          <p:cNvPr id="22" name="Text 19"/>
          <p:cNvSpPr txBox="1"/>
          <p:nvPr/>
        </p:nvSpPr>
        <p:spPr>
          <a:xfrm>
            <a:off x="566928" y="2267712"/>
            <a:ext cx="32918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student’s bag</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247888" y="2881884"/>
            <a:ext cx="34107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only the LAST noun takes al-</a:t>
            </a:r>
            <a:endParaRPr lang="en-US" sz="1100" dirty="0"/>
          </a:p>
        </p:txBody>
      </p:sp>
      <p:sp>
        <p:nvSpPr>
          <p:cNvPr id="27" name="Text 24"/>
          <p:cNvSpPr txBox="1"/>
          <p:nvPr/>
        </p:nvSpPr>
        <p:spPr>
          <a:xfrm>
            <a:off x="4023360" y="2881884"/>
            <a:ext cx="40233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مَكْتَبُ مُدِيرِ الْمَدْرَسَةِ</a:t>
            </a:r>
            <a:endParaRPr lang="ar-SA" sz="2400" dirty="0"/>
          </a:p>
        </p:txBody>
      </p:sp>
      <p:sp>
        <p:nvSpPr>
          <p:cNvPr id="28" name="Text 25"/>
          <p:cNvSpPr txBox="1"/>
          <p:nvPr/>
        </p:nvSpPr>
        <p:spPr>
          <a:xfrm>
            <a:off x="566928" y="2881884"/>
            <a:ext cx="32918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school headteacher’s office</a:t>
            </a:r>
            <a:endParaRPr lang="en-US" sz="1100" dirty="0"/>
          </a:p>
        </p:txBody>
      </p:sp>
      <p:sp>
        <p:nvSpPr>
          <p:cNvPr id="29" name="Shape 26"/>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0" name="Text 27"/>
          <p:cNvSpPr txBox="1"/>
          <p:nvPr/>
        </p:nvSpPr>
        <p:spPr>
          <a:xfrm>
            <a:off x="8247888" y="3496056"/>
            <a:ext cx="34107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dual nūn drops (GM-N-02)</a:t>
            </a:r>
            <a:endParaRPr lang="en-US" sz="1100" dirty="0"/>
          </a:p>
        </p:txBody>
      </p:sp>
      <p:sp>
        <p:nvSpPr>
          <p:cNvPr id="31" name="Text 28"/>
          <p:cNvSpPr txBox="1"/>
          <p:nvPr/>
        </p:nvSpPr>
        <p:spPr>
          <a:xfrm>
            <a:off x="4023360" y="3496056"/>
            <a:ext cx="40233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مُعَلِّمَا الصَّفِّ</a:t>
            </a:r>
            <a:endParaRPr lang="ar-SA" sz="2400" dirty="0"/>
          </a:p>
        </p:txBody>
      </p:sp>
      <p:sp>
        <p:nvSpPr>
          <p:cNvPr id="32" name="Text 29"/>
          <p:cNvSpPr txBox="1"/>
          <p:nvPr/>
        </p:nvSpPr>
        <p:spPr>
          <a:xfrm>
            <a:off x="566928" y="3496056"/>
            <a:ext cx="32918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two class teachers</a:t>
            </a:r>
            <a:endParaRPr lang="en-US" sz="1100" dirty="0"/>
          </a:p>
        </p:txBody>
      </p:sp>
      <p:sp>
        <p:nvSpPr>
          <p:cNvPr id="33" name="Shape 30"/>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4" name="Text 31"/>
          <p:cNvSpPr txBox="1"/>
          <p:nvPr/>
        </p:nvSpPr>
        <p:spPr>
          <a:xfrm>
            <a:off x="8247888" y="4110228"/>
            <a:ext cx="34107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sound plural nūn drops (GM-N-03)</a:t>
            </a:r>
            <a:endParaRPr lang="en-US" sz="1100" dirty="0"/>
          </a:p>
        </p:txBody>
      </p:sp>
      <p:sp>
        <p:nvSpPr>
          <p:cNvPr id="35" name="Text 32"/>
          <p:cNvSpPr txBox="1"/>
          <p:nvPr/>
        </p:nvSpPr>
        <p:spPr>
          <a:xfrm>
            <a:off x="4023360" y="4110228"/>
            <a:ext cx="40233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مُعَلِّمُو الْمَدْرَسَةِ</a:t>
            </a:r>
            <a:endParaRPr lang="ar-SA" sz="2400" dirty="0"/>
          </a:p>
        </p:txBody>
      </p:sp>
      <p:sp>
        <p:nvSpPr>
          <p:cNvPr id="36" name="Text 33"/>
          <p:cNvSpPr txBox="1"/>
          <p:nvPr/>
        </p:nvSpPr>
        <p:spPr>
          <a:xfrm>
            <a:off x="566928" y="4110228"/>
            <a:ext cx="32918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school teachers</a:t>
            </a:r>
            <a:endParaRPr lang="en-US" sz="1100" dirty="0"/>
          </a:p>
        </p:txBody>
      </p:sp>
      <p:sp>
        <p:nvSpPr>
          <p:cNvPr id="37" name="Shape 34"/>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8" name="Text 35"/>
          <p:cNvSpPr txBox="1"/>
          <p:nvPr/>
        </p:nvSpPr>
        <p:spPr>
          <a:xfrm>
            <a:off x="8247888" y="4724400"/>
            <a:ext cx="34107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adjective after the chain; masculine → the door</a:t>
            </a:r>
            <a:endParaRPr lang="en-US" sz="1100" dirty="0"/>
          </a:p>
        </p:txBody>
      </p:sp>
      <p:sp>
        <p:nvSpPr>
          <p:cNvPr id="39" name="Text 36"/>
          <p:cNvSpPr txBox="1"/>
          <p:nvPr/>
        </p:nvSpPr>
        <p:spPr>
          <a:xfrm>
            <a:off x="4023360" y="4724400"/>
            <a:ext cx="40233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بَابُ الْمَدْرَسَةِ الْجَدِيدُ</a:t>
            </a:r>
            <a:endParaRPr lang="ar-SA" sz="2400" dirty="0"/>
          </a:p>
        </p:txBody>
      </p:sp>
      <p:sp>
        <p:nvSpPr>
          <p:cNvPr id="40" name="Text 37"/>
          <p:cNvSpPr txBox="1"/>
          <p:nvPr/>
        </p:nvSpPr>
        <p:spPr>
          <a:xfrm>
            <a:off x="566928" y="4724400"/>
            <a:ext cx="32918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new door of the school</a:t>
            </a:r>
            <a:endParaRPr lang="en-US" sz="1100" dirty="0"/>
          </a:p>
        </p:txBody>
      </p:sp>
      <p:sp>
        <p:nvSpPr>
          <p:cNvPr id="41" name="Shape 38"/>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8247888" y="5338572"/>
            <a:ext cx="34107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feminine genitive → the school</a:t>
            </a:r>
            <a:endParaRPr lang="en-US" sz="1100" dirty="0"/>
          </a:p>
        </p:txBody>
      </p:sp>
      <p:sp>
        <p:nvSpPr>
          <p:cNvPr id="43" name="Text 40"/>
          <p:cNvSpPr txBox="1"/>
          <p:nvPr/>
        </p:nvSpPr>
        <p:spPr>
          <a:xfrm>
            <a:off x="4023360" y="5338572"/>
            <a:ext cx="40233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بَابُ الْمَدْرَسَةِ الْجَدِيدَةِ</a:t>
            </a:r>
            <a:endParaRPr lang="ar-SA" sz="2400" dirty="0"/>
          </a:p>
        </p:txBody>
      </p:sp>
      <p:sp>
        <p:nvSpPr>
          <p:cNvPr id="44" name="Text 41"/>
          <p:cNvSpPr txBox="1"/>
          <p:nvPr/>
        </p:nvSpPr>
        <p:spPr>
          <a:xfrm>
            <a:off x="566928" y="5338572"/>
            <a:ext cx="32918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door of the new school</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warning: do not insert an adjective inside the chain. Put it after, and let its gender and case show which noun it describes.</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GM-N-07 · 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GM-N-07</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definite iḍāfa.</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الْغُرْفَةُ الْفُنْدُقِ</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غُرْفَةٌ الْفُنْدُقُ</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غُرْفَةُ الْفُنْدُقِ</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indefinite iḍāfa.</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غُرْفَةُ فُنْدُقٍ</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غُرْفَةٌ فُنْدُقٍ</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الْغُرْفَةُ فُنْدُقٍ</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Muḍāf may take:</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cs typeface="Amiri" pitchFamily="2" charset="-78"/>
              </a:rPr>
              <a:t>ال</a:t>
            </a:r>
            <a:pPr algn="l" indent="0" marL="0">
              <a:buNone/>
            </a:pPr>
            <a:r>
              <a:rPr lang="en-US" sz="1250" dirty="0">
                <a:solidFill>
                  <a:srgbClr val="1F2A37"/>
                </a:solidFill>
                <a:latin typeface="Calibri" pitchFamily="34" charset="0"/>
                <a:cs typeface="Amiri" pitchFamily="2" charset="-78"/>
              </a:rPr>
              <a:t> and tanwīn</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neither </a:t>
            </a:r>
            <a:pPr algn="l" indent="0" marL="0">
              <a:buNone/>
            </a:pPr>
            <a:r>
              <a:rPr lang="ar-SA" altLang="en-US" sz="1650" dirty="0">
                <a:solidFill>
                  <a:srgbClr val="1F2A37"/>
                </a:solidFill>
                <a:latin typeface="Amiri" pitchFamily="2" charset="-78"/>
                <a:cs typeface="Amiri" pitchFamily="2" charset="-78"/>
              </a:rPr>
              <a:t>ال</a:t>
            </a:r>
            <a:pPr algn="l" indent="0" marL="0">
              <a:buNone/>
            </a:pPr>
            <a:r>
              <a:rPr lang="en-US" sz="1250" dirty="0">
                <a:solidFill>
                  <a:srgbClr val="1F2A37"/>
                </a:solidFill>
                <a:latin typeface="Calibri" pitchFamily="34" charset="0"/>
                <a:cs typeface="Amiri" pitchFamily="2" charset="-78"/>
              </a:rPr>
              <a:t> nor tanwīn</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tanwīn only</a:t>
            </a:r>
            <a:endParaRPr lang="en-US" sz="12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Muḍāf ilayh is:</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always genitive</a:t>
            </a:r>
            <a:endParaRPr lang="en-US" sz="12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always nominative</a:t>
            </a:r>
            <a:endParaRPr lang="en-US" sz="12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always accusative</a:t>
            </a:r>
            <a:endParaRPr lang="en-US" sz="12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GM-N-07 · 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GM-N-07</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definite iḍāfa.</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الْغُرْفَةُ الْفُنْدُقِ</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غُرْفَةٌ الْفُنْدُقُ</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غُرْفَةُ الْفُنْدُقِ</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Correct structure.</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indefinite iḍāfa.</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غُرْفَةُ فُنْدُقٍ</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غُرْفَةٌ فُنْدُقٍ</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الْغُرْفَةُ فُنْدُقٍ</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Final indefinite term.</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Muḍāf may take:</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cs typeface="Amiri" pitchFamily="2" charset="-78"/>
              </a:rPr>
              <a:t>ال</a:t>
            </a:r>
            <a:pPr algn="l" indent="0" marL="0">
              <a:buNone/>
            </a:pPr>
            <a:r>
              <a:rPr lang="en-US" sz="1250" dirty="0">
                <a:solidFill>
                  <a:srgbClr val="9AA1AB"/>
                </a:solidFill>
                <a:latin typeface="Calibri" pitchFamily="34" charset="0"/>
                <a:cs typeface="Amiri" pitchFamily="2" charset="-78"/>
              </a:rPr>
              <a:t> and tanwīn</a:t>
            </a:r>
            <a:endParaRPr lang="en-US" sz="125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neither </a:t>
            </a:r>
            <a:pPr algn="l" indent="0" marL="0">
              <a:buNone/>
            </a:pPr>
            <a:r>
              <a:rPr lang="ar-SA" altLang="en-US" sz="1650" b="1" dirty="0">
                <a:solidFill>
                  <a:srgbClr val="1F2A37"/>
                </a:solidFill>
                <a:latin typeface="Amiri" pitchFamily="2" charset="-78"/>
                <a:cs typeface="Amiri" pitchFamily="2" charset="-78"/>
              </a:rPr>
              <a:t>ال</a:t>
            </a:r>
            <a:pPr algn="l" indent="0" marL="0">
              <a:buNone/>
            </a:pPr>
            <a:r>
              <a:rPr lang="en-US" sz="1250" b="1" dirty="0">
                <a:solidFill>
                  <a:srgbClr val="1F2A37"/>
                </a:solidFill>
                <a:latin typeface="Calibri" pitchFamily="34" charset="0"/>
                <a:cs typeface="Amiri" pitchFamily="2" charset="-78"/>
              </a:rPr>
              <a:t> nor tanwīn</a:t>
            </a:r>
            <a:endParaRPr lang="en-US" sz="125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tanwīn only</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Core rule.</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Muḍāf ilayh is:</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always genitive</a:t>
            </a:r>
            <a:endParaRPr lang="en-US" sz="125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always nominative</a:t>
            </a:r>
            <a:endParaRPr lang="en-US" sz="125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always accusative</a:t>
            </a:r>
            <a:endParaRPr lang="en-US" sz="125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Majrūr.</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GM-N-07 · Nouns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build a chain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GM-N-07</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Owner</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الْمَدْرَسَةِ</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noun: al- + genitive.</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Add a noun</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مُدِيرِ الْمَدْرَسَةِ</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Middle: no al-, genitive.</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Add the first</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مَكْتَبُ مُدِيرِ الْمَدْرَسَةِ</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First: no al-, no tanwīn.</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In a sentence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دَخَلْتُ مَكْتَبَ مُدِيرِ الْمَدْرَسَةِ</a:t>
            </a:r>
            <a:endParaRPr lang="ar-SA" sz="22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Object → first noun -a.</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FIRST NOUN</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GENITIVE NOUNS</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600" b="1" dirty="0">
                <a:solidFill>
                  <a:srgbClr val="0E7C86"/>
                </a:solidFill>
                <a:latin typeface="Amiri" pitchFamily="2" charset="-78"/>
                <a:cs typeface="Amiri" pitchFamily="2" charset="-78"/>
              </a:rPr>
              <a:t>مَكْتَبُ</a:t>
            </a:r>
            <a:pPr rtl="1" algn="r" indent="0" marL="0">
              <a:buNone/>
            </a:pPr>
            <a:r>
              <a:rPr lang="ar-SA" altLang="en-US" sz="2600" b="1" dirty="0">
                <a:solidFill>
                  <a:srgbClr val="1B3B6F"/>
                </a:solidFill>
                <a:latin typeface="Amiri" pitchFamily="2" charset="-78"/>
                <a:cs typeface="Amiri" pitchFamily="2" charset="-78"/>
              </a:rPr>
              <a:t> </a:t>
            </a:r>
            <a:pPr rtl="1" algn="r" indent="0" marL="0">
              <a:buNone/>
            </a:pPr>
            <a:r>
              <a:rPr lang="ar-SA" altLang="en-US" sz="2600" b="1" dirty="0">
                <a:solidFill>
                  <a:srgbClr val="D6336C"/>
                </a:solidFill>
                <a:latin typeface="Amiri" pitchFamily="2" charset="-78"/>
                <a:cs typeface="Amiri" pitchFamily="2" charset="-78"/>
              </a:rPr>
              <a:t>مُدِيرِ الْمَدْرَسَةِ</a:t>
            </a:r>
            <a:pPr rtl="1" algn="r" indent="0" marL="0">
              <a:buNone/>
            </a:pPr>
            <a:r>
              <a:rPr lang="ar-SA" altLang="en-US" sz="2600" b="1" dirty="0">
                <a:solidFill>
                  <a:srgbClr val="1B3B6F"/>
                </a:solidFill>
                <a:latin typeface="Amiri" pitchFamily="2" charset="-78"/>
                <a:cs typeface="Amiri" pitchFamily="2" charset="-78"/>
              </a:rPr>
              <a:t> قَرِيبٌ مِنَ الْمَدْخَلِ، وَ</a:t>
            </a:r>
            <a:pPr rtl="1" algn="r" indent="0" marL="0">
              <a:buNone/>
            </a:pPr>
            <a:r>
              <a:rPr lang="ar-SA" altLang="en-US" sz="2600" b="1" dirty="0">
                <a:solidFill>
                  <a:srgbClr val="0E7C86"/>
                </a:solidFill>
                <a:latin typeface="Amiri" pitchFamily="2" charset="-78"/>
                <a:cs typeface="Amiri" pitchFamily="2" charset="-78"/>
              </a:rPr>
              <a:t>مُعَلِّمُو</a:t>
            </a:r>
            <a:pPr rtl="1" algn="r" indent="0" marL="0">
              <a:buNone/>
            </a:pPr>
            <a:r>
              <a:rPr lang="ar-SA" altLang="en-US" sz="2600" b="1" dirty="0">
                <a:solidFill>
                  <a:srgbClr val="1B3B6F"/>
                </a:solidFill>
                <a:latin typeface="Amiri" pitchFamily="2" charset="-78"/>
                <a:cs typeface="Amiri" pitchFamily="2" charset="-78"/>
              </a:rPr>
              <a:t> </a:t>
            </a:r>
            <a:pPr rtl="1" algn="r" indent="0" marL="0">
              <a:buNone/>
            </a:pPr>
            <a:r>
              <a:rPr lang="ar-SA" altLang="en-US" sz="2600" b="1" dirty="0">
                <a:solidFill>
                  <a:srgbClr val="D6336C"/>
                </a:solidFill>
                <a:latin typeface="Amiri" pitchFamily="2" charset="-78"/>
                <a:cs typeface="Amiri" pitchFamily="2" charset="-78"/>
              </a:rPr>
              <a:t>الصَّفِّ</a:t>
            </a:r>
            <a:pPr rtl="1" algn="r" indent="0" marL="0">
              <a:buNone/>
            </a:pPr>
            <a:r>
              <a:rPr lang="ar-SA" altLang="en-US" sz="2600" b="1" dirty="0">
                <a:solidFill>
                  <a:srgbClr val="1B3B6F"/>
                </a:solidFill>
                <a:latin typeface="Amiri" pitchFamily="2" charset="-78"/>
                <a:cs typeface="Amiri" pitchFamily="2" charset="-78"/>
              </a:rPr>
              <a:t> فِي الْغُرْفَةِ الْمُجَاوِرَةِ.</a:t>
            </a:r>
            <a:endParaRPr lang="ar-SA" sz="26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The headteacher’s office is near the entrance, and the class teachers are in the next room.</a:t>
            </a:r>
            <a:endParaRPr lang="en-US" sz="13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GM-N-07 · Nouns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GM-N-07</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هَذَا بَيْتُ الْمُعَلِّمِ.</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This is the teacher’s house.</a:t>
            </a:r>
            <a:endParaRPr lang="en-US" sz="1250" dirty="0"/>
          </a:p>
          <a:p>
            <a:pPr indent="0" marL="0">
              <a:buNone/>
            </a:pPr>
            <a:r>
              <a:rPr lang="en-US" sz="1050" i="1" dirty="0">
                <a:solidFill>
                  <a:srgbClr val="8A6D1E"/>
                </a:solidFill>
                <a:latin typeface="Calibri" pitchFamily="34" charset="0"/>
                <a:cs typeface="Amiri" pitchFamily="2" charset="-78"/>
              </a:rPr>
              <a:t>Simple two-noun iḍāfa.</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حَقِيبَةُ أُخْتِي ثَقِيلَةٌ.</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My sister’s bag is heavy.</a:t>
            </a:r>
            <a:endParaRPr lang="en-US" sz="1250" dirty="0"/>
          </a:p>
          <a:p>
            <a:pPr indent="0" marL="0">
              <a:buNone/>
            </a:pPr>
            <a:r>
              <a:rPr lang="en-US" sz="1050" i="1" dirty="0">
                <a:solidFill>
                  <a:srgbClr val="8A6D1E"/>
                </a:solidFill>
                <a:latin typeface="Calibri" pitchFamily="34" charset="0"/>
                <a:cs typeface="Amiri" pitchFamily="2" charset="-78"/>
              </a:rPr>
              <a:t>Tāʾ marbūṭa read as t.</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زُرْتُ مُعَلِّمِي الْمَدْرَسَةِ.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visited the school teachers.</a:t>
            </a:r>
            <a:endParaRPr lang="en-US" sz="1250" dirty="0"/>
          </a:p>
          <a:p>
            <a:pPr indent="0" marL="0">
              <a:buNone/>
            </a:pPr>
            <a:r>
              <a:rPr lang="en-US" sz="1050" i="1" dirty="0">
                <a:solidFill>
                  <a:srgbClr val="8A6D1E"/>
                </a:solidFill>
                <a:latin typeface="Calibri" pitchFamily="34" charset="0"/>
                <a:cs typeface="Amiri" pitchFamily="2" charset="-78"/>
              </a:rPr>
              <a:t>Object plural: -ī, nūn dropped.</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أَدْرُسُ فِي مَكْتَبَةِ الْمَدِينَةِ.</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study in the city library.</a:t>
            </a:r>
            <a:endParaRPr lang="en-US" sz="1250" dirty="0"/>
          </a:p>
          <a:p>
            <a:pPr indent="0" marL="0">
              <a:buNone/>
            </a:pPr>
            <a:r>
              <a:rPr lang="en-US" sz="1050" i="1" dirty="0">
                <a:solidFill>
                  <a:srgbClr val="8A6D1E"/>
                </a:solidFill>
                <a:latin typeface="Calibri" pitchFamily="34" charset="0"/>
                <a:cs typeface="Amiri" pitchFamily="2" charset="-78"/>
              </a:rPr>
              <a:t>First noun after a preposition → -i.</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GM-N-07 · Nouns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IT · “THE …” OR “A …”?</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Definite or indefinite chain?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مَعْرِفَةٌ أَمْ نَكِرَةٌ؟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GM-N-07</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بَابُ الْبَيْتِ</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بَابُ بَيْتٍ</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كِتَابُ أَخِي</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كِتَابُ طَالِبٍ</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غُرْفَةُ الْفُنْدُقِ</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غُرْفَةُ فُنْدُقٍ</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سَيَّارَةُ مُحَمَّدٍ</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مُعَلِّمُ لُغَةٍ</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Definite (“the …”)</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Indefinite (“a …”)</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GM-N-07 · Nouns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GM-N-07</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Definite (“the …”)</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بَابُ الْبَيْتِ</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كِتَابُ أَخِي</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غُرْفَةُ الْفُنْدُقِ</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سَيَّارَةُ مُحَمَّدٍ</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Indefinite (“a …”)</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بَابُ بَيْتٍ</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كِتَابُ طَالِبٍ</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غُرْفَةُ فُنْدُقٍ</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مُعَلِّمُ لُغَةٍ</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GM-N-07 · Nouns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BUILD THE IḌĀFA · SAY IT ALOUD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Join the two nouns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كَوِّنِ الْإِضَافَةَ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114032" y="1810512"/>
            <a:ext cx="4544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Iḍāfa</a:t>
            </a:r>
            <a:endParaRPr lang="en-US" sz="1100" dirty="0"/>
          </a:p>
        </p:txBody>
      </p:sp>
      <p:sp>
        <p:nvSpPr>
          <p:cNvPr id="17" name="Text 14"/>
          <p:cNvSpPr txBox="1"/>
          <p:nvPr/>
        </p:nvSpPr>
        <p:spPr>
          <a:xfrm>
            <a:off x="3822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Nouns</a:t>
            </a:r>
            <a:endParaRPr lang="en-US" sz="1100" dirty="0"/>
          </a:p>
        </p:txBody>
      </p:sp>
      <p:sp>
        <p:nvSpPr>
          <p:cNvPr id="18" name="Text 15"/>
          <p:cNvSpPr txBox="1"/>
          <p:nvPr/>
        </p:nvSpPr>
        <p:spPr>
          <a:xfrm>
            <a:off x="53035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132320" y="2267712"/>
            <a:ext cx="450799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قَلَمُ الْوَلَدِ</a:t>
            </a:r>
            <a:endParaRPr lang="ar-SA" sz="2400" dirty="0"/>
          </a:p>
        </p:txBody>
      </p:sp>
      <p:sp>
        <p:nvSpPr>
          <p:cNvPr id="21" name="Text 18"/>
          <p:cNvSpPr txBox="1"/>
          <p:nvPr/>
        </p:nvSpPr>
        <p:spPr>
          <a:xfrm>
            <a:off x="3840480" y="2267712"/>
            <a:ext cx="31089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قَلَمٌ · الْوَلَدُ</a:t>
            </a:r>
            <a:endParaRPr lang="ar-SA" sz="2200" dirty="0"/>
          </a:p>
        </p:txBody>
      </p:sp>
      <p:sp>
        <p:nvSpPr>
          <p:cNvPr id="22" name="Text 19"/>
          <p:cNvSpPr txBox="1"/>
          <p:nvPr/>
        </p:nvSpPr>
        <p:spPr>
          <a:xfrm>
            <a:off x="56692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boy’s pen</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7132320" y="3004718"/>
            <a:ext cx="450799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غُرْفَةُ الْبِنْتِ</a:t>
            </a:r>
            <a:endParaRPr lang="ar-SA" sz="2400" dirty="0"/>
          </a:p>
        </p:txBody>
      </p:sp>
      <p:sp>
        <p:nvSpPr>
          <p:cNvPr id="27" name="Text 24"/>
          <p:cNvSpPr txBox="1"/>
          <p:nvPr/>
        </p:nvSpPr>
        <p:spPr>
          <a:xfrm>
            <a:off x="3840480" y="3004718"/>
            <a:ext cx="31089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غُرْفَةٌ · الْبِنْتُ</a:t>
            </a:r>
            <a:endParaRPr lang="ar-SA" sz="2200" dirty="0"/>
          </a:p>
        </p:txBody>
      </p:sp>
      <p:sp>
        <p:nvSpPr>
          <p:cNvPr id="28" name="Text 25"/>
          <p:cNvSpPr txBox="1"/>
          <p:nvPr/>
        </p:nvSpPr>
        <p:spPr>
          <a:xfrm>
            <a:off x="56692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girl’s room</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7132320" y="3741725"/>
            <a:ext cx="450799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بَابُ سَيَّارَةٍ</a:t>
            </a:r>
            <a:endParaRPr lang="ar-SA" sz="2400" dirty="0"/>
          </a:p>
        </p:txBody>
      </p:sp>
      <p:sp>
        <p:nvSpPr>
          <p:cNvPr id="33" name="Text 30"/>
          <p:cNvSpPr txBox="1"/>
          <p:nvPr/>
        </p:nvSpPr>
        <p:spPr>
          <a:xfrm>
            <a:off x="3840480" y="3741725"/>
            <a:ext cx="31089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بَابٌ · سَيَّارَةٌ</a:t>
            </a:r>
            <a:endParaRPr lang="ar-SA" sz="2200" dirty="0"/>
          </a:p>
        </p:txBody>
      </p:sp>
      <p:sp>
        <p:nvSpPr>
          <p:cNvPr id="34" name="Text 31"/>
          <p:cNvSpPr txBox="1"/>
          <p:nvPr/>
        </p:nvSpPr>
        <p:spPr>
          <a:xfrm>
            <a:off x="56692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car door</a:t>
            </a:r>
            <a:endParaRPr lang="en-US" sz="1100" dirty="0"/>
          </a:p>
        </p:txBody>
      </p:sp>
      <p:sp>
        <p:nvSpPr>
          <p:cNvPr id="35" name="Shape 32"/>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8" name="Text 35"/>
          <p:cNvSpPr txBox="1"/>
          <p:nvPr/>
        </p:nvSpPr>
        <p:spPr>
          <a:xfrm>
            <a:off x="7132320" y="4478731"/>
            <a:ext cx="450799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بَابَا الْمَدْرَسَةِ</a:t>
            </a:r>
            <a:endParaRPr lang="ar-SA" sz="2400" dirty="0"/>
          </a:p>
        </p:txBody>
      </p:sp>
      <p:sp>
        <p:nvSpPr>
          <p:cNvPr id="39" name="Text 36"/>
          <p:cNvSpPr txBox="1"/>
          <p:nvPr/>
        </p:nvSpPr>
        <p:spPr>
          <a:xfrm>
            <a:off x="3840480" y="4478731"/>
            <a:ext cx="31089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بَابَانِ · الْمَدْرَسَةُ</a:t>
            </a:r>
            <a:endParaRPr lang="ar-SA" sz="2200" dirty="0"/>
          </a:p>
        </p:txBody>
      </p:sp>
      <p:sp>
        <p:nvSpPr>
          <p:cNvPr id="40" name="Text 37"/>
          <p:cNvSpPr txBox="1"/>
          <p:nvPr/>
        </p:nvSpPr>
        <p:spPr>
          <a:xfrm>
            <a:off x="56692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two school gates</a:t>
            </a:r>
            <a:endParaRPr lang="en-US" sz="1100" dirty="0"/>
          </a:p>
        </p:txBody>
      </p:sp>
      <p:sp>
        <p:nvSpPr>
          <p:cNvPr id="41" name="Shape 3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2" name="Text 39"/>
          <p:cNvSpPr txBox="1"/>
          <p:nvPr/>
        </p:nvSpPr>
        <p:spPr>
          <a:xfrm>
            <a:off x="7132320" y="5215738"/>
            <a:ext cx="450799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مُهَنْدِسُو الْمَدِينَةِ</a:t>
            </a:r>
            <a:endParaRPr lang="ar-SA" sz="2400" dirty="0"/>
          </a:p>
        </p:txBody>
      </p:sp>
      <p:sp>
        <p:nvSpPr>
          <p:cNvPr id="43" name="Text 40"/>
          <p:cNvSpPr txBox="1"/>
          <p:nvPr/>
        </p:nvSpPr>
        <p:spPr>
          <a:xfrm>
            <a:off x="3840480" y="5215738"/>
            <a:ext cx="31089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مُهَنْدِسُونَ · الْمَدِينَةُ</a:t>
            </a:r>
            <a:endParaRPr lang="ar-SA" sz="2200" dirty="0"/>
          </a:p>
        </p:txBody>
      </p:sp>
      <p:sp>
        <p:nvSpPr>
          <p:cNvPr id="44" name="Text 41"/>
          <p:cNvSpPr txBox="1"/>
          <p:nvPr/>
        </p:nvSpPr>
        <p:spPr>
          <a:xfrm>
            <a:off x="56692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city engineers</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the last column. Step 1: remove al- / tanwīn from the first noun. Step 2: make the second genitive. Step 3: drop any nūn.</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GM-N-07 · Nouns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GM-N-07</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الْبَيْتُ الْمُعَلِّمِ</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Does the first noun take al-?</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مُعَلِّمُونَ الْمَدْرَسَةِ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happens to the nūn?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بَابُ الْجَدِيدُ الْمَدْرَسَةِ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Where does the adjective go?</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GM-N-07 · Nouns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GM-N-07</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الْبَيْتُ الْمُعَلِّمِ</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بَيْتُ الْمُعَلِّمِ</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first noun has no al-.</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مُعَلِّمُونَ الْمَدْرَسَةِ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مُعَلِّمُو الْمَدْرَسَةِ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plural nūn drops in iḍāfa.</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بَابُ الْجَدِيدُ الْمَدْرَسَةِ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بَابُ الْمَدْرَسَةِ الْجَدِيدُ</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adjective goes after the chain.</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GM-N-07 · Nouns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GUIDED PRACTICE · WEBSITE MASTERY CHECK QUESTIONS 5–8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GM-N-07</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“school teachers”.</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مُعَلِّمُونَ الْمَدْرَسَةِ</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الْمُعَلِّمُونَ الْمَدْرَسَةِ</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مُعَلِّمُو الْمَدْرَسَةِ</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“two class books”.</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كِتَابَانِ الصَّفِّ</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كِتَابَا الصَّفِّ</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الْكِتَابَانِ الصَّفِّ</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Adjective for “new door of the school”.</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بَابُ الْمَدْرَسَةِ الْجَدِيدَةِ</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بَابُ الْمَدْرَسَةِ الْجَدِيدُ</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الْبَابُ الْمَدْرَسَةِ الْجَدِيدُ</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multi-chain.</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الْمَكْتَبُ الْمُدِيرِ الْمَدْرَسَةِ</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مَكْتَبٌ مُدِيرٌ الْمَدْرَسَةُ</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مَكْتَبُ مُدِيرِ الْمَدْرَسَةِ</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GM-N-07 · Nouns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GM-N-07</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“school teachers”.</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مُعَلِّمُونَ الْمَدْرَسَةِ</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الْمُعَلِّمُونَ الْمَدْرَسَةِ</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مُعَلِّمُو الْمَدْرَسَةِ</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Drop nūn.</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“two class books”.</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كِتَابَانِ الصَّفِّ</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كِتَابَا الصَّفِّ</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الْكِتَابَانِ الصَّفِّ</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Dual nūn drops.</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Adjective for “new door of the school”.</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بَابُ الْمَدْرَسَةِ الْجَدِيدَةِ</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بَابُ الْمَدْرَسَةِ الْجَدِيدُ</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الْبَابُ الْمَدْرَسَةِ الْجَدِيدُ</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Modifies masculine </a:t>
            </a:r>
            <a:pPr algn="l" indent="0" marL="0">
              <a:buNone/>
            </a:pPr>
            <a:r>
              <a:rPr lang="ar-SA" altLang="en-US" sz="1350" dirty="0">
                <a:solidFill>
                  <a:srgbClr val="8A6D1E"/>
                </a:solidFill>
                <a:latin typeface="Amiri" pitchFamily="2" charset="-78"/>
                <a:cs typeface="Amiri" pitchFamily="2" charset="-78"/>
              </a:rPr>
              <a:t>باب</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multi-chain.</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الْمَكْتَبُ الْمُدِيرِ الْمَدْرَسَةِ</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مَكْتَبٌ مُدِيرٌ الْمَدْرَسَةُ</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مَكْتَبُ مُدِيرِ الْمَدْرَسَةِ</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Correct chain.</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GM-N-07 · 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60" b="1" spc="150" kern="0" dirty="0">
                <a:solidFill>
                  <a:srgbClr val="1E6B52"/>
                </a:solidFill>
                <a:latin typeface="Calibri" pitchFamily="34" charset="0"/>
                <a:cs typeface="Amiri" pitchFamily="2" charset="-78"/>
              </a:rPr>
              <a:t>YOU DO · READ AND NOTICE · WEBSITE READ-AND-NOTICE TEXT, EXTENDED BY THE TEACHER</a:t>
            </a:r>
            <a:endParaRPr lang="en-US" sz="86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headteacher’s office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GM-N-07</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فِي مَدْرَسَتِنَا طَالِبَانِ جَدِيدَانِ وَمُعَلِّمَاتٌ خَبِيرَاتٌ. الْفُصُولُ وَاسِعَةٌ، وَمَكْتَبُ مُدِيرِ الْمَدْرَسَةِ قَرِيبٌ مِنَ الْمَدْخَلِ. مُعَلِّمُو الصَّفِّ الثَّالِثِ لُطَفَاءُ، وَمَكْتَبَةُ الْمَدْرَسَةِ كَبِيرَةٌ. أَقْرَأُ كُتُبَ التَّارِيخِ فِي غُرْفَةِ الْمُطَالَعَةِ.</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مَكْتَبُ</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office</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مُدِيرِ</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headteacher</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الْمَدْخَلِ</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entrance</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الثَّالِثِ</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third</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لُطَفَاءُ</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kind (pl.)</a:t>
            </a:r>
            <a:endParaRPr lang="en-US" sz="1050" dirty="0"/>
          </a:p>
        </p:txBody>
      </p:sp>
      <p:sp>
        <p:nvSpPr>
          <p:cNvPr id="29" name="Text 26"/>
          <p:cNvSpPr txBox="1"/>
          <p:nvPr/>
        </p:nvSpPr>
        <p:spPr>
          <a:xfrm>
            <a:off x="10102291" y="47274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التَّارِيخِ</a:t>
            </a:r>
            <a:endParaRPr lang="ar-SA" sz="1600" dirty="0"/>
          </a:p>
        </p:txBody>
      </p:sp>
      <p:sp>
        <p:nvSpPr>
          <p:cNvPr id="30" name="Text 27"/>
          <p:cNvSpPr txBox="1"/>
          <p:nvPr/>
        </p:nvSpPr>
        <p:spPr>
          <a:xfrm>
            <a:off x="8851392" y="47274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history</a:t>
            </a:r>
            <a:endParaRPr lang="en-US" sz="1050" dirty="0"/>
          </a:p>
        </p:txBody>
      </p:sp>
      <p:sp>
        <p:nvSpPr>
          <p:cNvPr id="31" name="Text 28"/>
          <p:cNvSpPr txBox="1"/>
          <p:nvPr/>
        </p:nvSpPr>
        <p:spPr>
          <a:xfrm>
            <a:off x="10102291" y="52303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الْمُطَالَعَةِ</a:t>
            </a:r>
            <a:endParaRPr lang="ar-SA" sz="1600" dirty="0"/>
          </a:p>
        </p:txBody>
      </p:sp>
      <p:sp>
        <p:nvSpPr>
          <p:cNvPr id="32" name="Text 29"/>
          <p:cNvSpPr txBox="1"/>
          <p:nvPr/>
        </p:nvSpPr>
        <p:spPr>
          <a:xfrm>
            <a:off x="8851392" y="52303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reading (study)</a:t>
            </a:r>
            <a:endParaRPr lang="en-US" sz="10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GM-N-07 · 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nouns are in the chain about the office?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four</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a:t>
            </a:r>
            <a:pPr algn="l" indent="0" marL="0">
              <a:buNone/>
            </a:pPr>
            <a:r>
              <a:rPr lang="ar-SA" altLang="en-US" sz="1650" b="1" dirty="0">
                <a:solidFill>
                  <a:srgbClr val="1B3B6F"/>
                </a:solidFill>
                <a:latin typeface="Amiri" pitchFamily="2" charset="-78"/>
                <a:cs typeface="Amiri" pitchFamily="2" charset="-78"/>
              </a:rPr>
              <a:t>مُعَلِّمُو</a:t>
            </a:r>
            <a:pPr algn="l" indent="0" marL="0">
              <a:buNone/>
            </a:pPr>
            <a:r>
              <a:rPr lang="en-US" sz="1250" b="1" dirty="0">
                <a:solidFill>
                  <a:srgbClr val="1B3B6F"/>
                </a:solidFill>
                <a:latin typeface="Calibri" pitchFamily="34" charset="0"/>
                <a:cs typeface="Amiri" pitchFamily="2" charset="-78"/>
              </a:rPr>
              <a:t> without a final nūn?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dual.</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 mistake.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the first noun of an iḍāfa.</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a:t>
            </a:r>
            <a:pPr algn="l" indent="0" marL="0">
              <a:buNone/>
            </a:pPr>
            <a:r>
              <a:rPr lang="ar-SA" altLang="en-US" sz="1650" b="1" dirty="0">
                <a:solidFill>
                  <a:srgbClr val="1B3B6F"/>
                </a:solidFill>
                <a:latin typeface="Amiri" pitchFamily="2" charset="-78"/>
                <a:cs typeface="Amiri" pitchFamily="2" charset="-78"/>
              </a:rPr>
              <a:t>كُتُبَ</a:t>
            </a:r>
            <a:pPr algn="l" indent="0" marL="0">
              <a:buNone/>
            </a:pPr>
            <a:r>
              <a:rPr lang="en-US" sz="1250" b="1" dirty="0">
                <a:solidFill>
                  <a:srgbClr val="1B3B6F"/>
                </a:solidFill>
                <a:latin typeface="Calibri" pitchFamily="34" charset="0"/>
                <a:cs typeface="Amiri" pitchFamily="2" charset="-78"/>
              </a:rPr>
              <a:t> (with fatḥa)?</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the object of </a:t>
            </a:r>
            <a:pPr algn="l" indent="0" marL="0">
              <a:buNone/>
            </a:pPr>
            <a:r>
              <a:rPr lang="ar-SA" altLang="en-US" sz="1650" dirty="0">
                <a:solidFill>
                  <a:srgbClr val="1F2A37"/>
                </a:solidFill>
                <a:latin typeface="Amiri" pitchFamily="2" charset="-78"/>
                <a:cs typeface="Amiri" pitchFamily="2" charset="-78"/>
              </a:rPr>
              <a:t>أَقْرَأُ</a:t>
            </a:r>
            <a:pPr algn="l" indent="0" marL="0">
              <a:buNone/>
            </a:pPr>
            <a:r>
              <a:rPr lang="en-US" sz="1250" dirty="0">
                <a:solidFill>
                  <a:srgbClr val="1F2A37"/>
                </a:solidFill>
                <a:latin typeface="Calibri" pitchFamily="34" charset="0"/>
                <a:cs typeface="Amiri" pitchFamily="2" charset="-78"/>
              </a:rPr>
              <a:t>.</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genitive.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the subject.</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a:t>
            </a:r>
            <a:pPr algn="l" indent="0" marL="0">
              <a:buNone/>
            </a:pPr>
            <a:r>
              <a:rPr lang="ar-SA" altLang="en-US" sz="1650" b="1" dirty="0">
                <a:solidFill>
                  <a:srgbClr val="1B3B6F"/>
                </a:solidFill>
                <a:latin typeface="Amiri" pitchFamily="2" charset="-78"/>
                <a:cs typeface="Amiri" pitchFamily="2" charset="-78"/>
              </a:rPr>
              <a:t>غُرْفَةِ</a:t>
            </a:r>
            <a:pPr algn="l" indent="0" marL="0">
              <a:buNone/>
            </a:pPr>
            <a:r>
              <a:rPr lang="en-US" sz="1250" b="1" dirty="0">
                <a:solidFill>
                  <a:srgbClr val="1B3B6F"/>
                </a:solidFill>
                <a:latin typeface="Calibri" pitchFamily="34" charset="0"/>
                <a:cs typeface="Amiri" pitchFamily="2" charset="-78"/>
              </a:rPr>
              <a:t> (with kasra)?</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the owner.</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comes after the preposition </a:t>
            </a:r>
            <a:pPr algn="l" indent="0" marL="0">
              <a:buNone/>
            </a:pPr>
            <a:r>
              <a:rPr lang="ar-SA" altLang="en-US" sz="1650" dirty="0">
                <a:solidFill>
                  <a:srgbClr val="1F2A37"/>
                </a:solidFill>
                <a:latin typeface="Amiri" pitchFamily="2" charset="-78"/>
                <a:cs typeface="Amiri" pitchFamily="2" charset="-78"/>
              </a:rPr>
              <a:t>فِي</a:t>
            </a:r>
            <a:pPr algn="l" indent="0" marL="0">
              <a:buNone/>
            </a:pPr>
            <a:r>
              <a:rPr lang="en-US" sz="1250" dirty="0">
                <a:solidFill>
                  <a:srgbClr val="1F2A37"/>
                </a:solidFill>
                <a:latin typeface="Calibri" pitchFamily="34" charset="0"/>
                <a:cs typeface="Amiri" pitchFamily="2" charset="-78"/>
              </a:rPr>
              <a:t>.</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the subject.</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GM-N-07 · 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nouns are in the chain about the office?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two</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three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four</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Office · headteacher · the school.</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a:t>
            </a:r>
            <a:pPr algn="l" indent="0" marL="0">
              <a:buNone/>
            </a:pPr>
            <a:r>
              <a:rPr lang="ar-SA" altLang="en-US" sz="1650" b="1" dirty="0">
                <a:solidFill>
                  <a:srgbClr val="1B3B6F"/>
                </a:solidFill>
                <a:latin typeface="Amiri" pitchFamily="2" charset="-78"/>
                <a:cs typeface="Amiri" pitchFamily="2" charset="-78"/>
              </a:rPr>
              <a:t>مُعَلِّمُو</a:t>
            </a:r>
            <a:pPr algn="l" indent="0" marL="0">
              <a:buNone/>
            </a:pPr>
            <a:r>
              <a:rPr lang="en-US" sz="1250" b="1" dirty="0">
                <a:solidFill>
                  <a:srgbClr val="1B3B6F"/>
                </a:solidFill>
                <a:latin typeface="Calibri" pitchFamily="34" charset="0"/>
                <a:cs typeface="Amiri" pitchFamily="2" charset="-78"/>
              </a:rPr>
              <a:t> without a final nūn?</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dual.</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a mistake.</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is the first noun of an iḍāfa.</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Plural nūn drops.</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a:t>
            </a:r>
            <a:pPr algn="l" indent="0" marL="0">
              <a:buNone/>
            </a:pPr>
            <a:r>
              <a:rPr lang="ar-SA" altLang="en-US" sz="1650" b="1" dirty="0">
                <a:solidFill>
                  <a:srgbClr val="1B3B6F"/>
                </a:solidFill>
                <a:latin typeface="Amiri" pitchFamily="2" charset="-78"/>
                <a:cs typeface="Amiri" pitchFamily="2" charset="-78"/>
              </a:rPr>
              <a:t>كُتُبَ</a:t>
            </a:r>
            <a:pPr algn="l" indent="0" marL="0">
              <a:buNone/>
            </a:pPr>
            <a:r>
              <a:rPr lang="en-US" sz="1250" b="1" dirty="0">
                <a:solidFill>
                  <a:srgbClr val="1B3B6F"/>
                </a:solidFill>
                <a:latin typeface="Calibri" pitchFamily="34" charset="0"/>
                <a:cs typeface="Amiri" pitchFamily="2" charset="-78"/>
              </a:rPr>
              <a:t> (with fatḥa)?</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is the object of </a:t>
            </a:r>
            <a:pPr algn="l" indent="0" marL="0">
              <a:buNone/>
            </a:pPr>
            <a:r>
              <a:rPr lang="ar-SA" altLang="en-US" sz="1650" b="1" dirty="0">
                <a:solidFill>
                  <a:srgbClr val="1F2A37"/>
                </a:solidFill>
                <a:latin typeface="Amiri" pitchFamily="2" charset="-78"/>
                <a:cs typeface="Amiri" pitchFamily="2" charset="-78"/>
              </a:rPr>
              <a:t>أَقْرَأُ</a:t>
            </a:r>
            <a:pPr algn="l" indent="0" marL="0">
              <a:buNone/>
            </a:pPr>
            <a:r>
              <a:rPr lang="en-US" sz="1250" b="1" dirty="0">
                <a:solidFill>
                  <a:srgbClr val="1F2A37"/>
                </a:solidFill>
                <a:latin typeface="Calibri" pitchFamily="34" charset="0"/>
                <a:cs typeface="Amiri" pitchFamily="2" charset="-78"/>
              </a:rPr>
              <a:t>.</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genitive.</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the subject.</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first noun takes its case from the sentence.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a:t>
            </a:r>
            <a:pPr algn="l" indent="0" marL="0">
              <a:buNone/>
            </a:pPr>
            <a:r>
              <a:rPr lang="ar-SA" altLang="en-US" sz="1650" b="1" dirty="0">
                <a:solidFill>
                  <a:srgbClr val="1B3B6F"/>
                </a:solidFill>
                <a:latin typeface="Amiri" pitchFamily="2" charset="-78"/>
                <a:cs typeface="Amiri" pitchFamily="2" charset="-78"/>
              </a:rPr>
              <a:t>غُرْفَةِ</a:t>
            </a:r>
            <a:pPr algn="l" indent="0" marL="0">
              <a:buNone/>
            </a:pPr>
            <a:r>
              <a:rPr lang="en-US" sz="1250" b="1" dirty="0">
                <a:solidFill>
                  <a:srgbClr val="1B3B6F"/>
                </a:solidFill>
                <a:latin typeface="Calibri" pitchFamily="34" charset="0"/>
                <a:cs typeface="Amiri" pitchFamily="2" charset="-78"/>
              </a:rPr>
              <a:t> (with kasra)?</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the owner.</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comes after the preposition </a:t>
            </a:r>
            <a:pPr algn="l" indent="0" marL="0">
              <a:buNone/>
            </a:pPr>
            <a:r>
              <a:rPr lang="ar-SA" altLang="en-US" sz="1650" b="1" dirty="0">
                <a:solidFill>
                  <a:srgbClr val="1F2A37"/>
                </a:solidFill>
                <a:latin typeface="Amiri" pitchFamily="2" charset="-78"/>
                <a:cs typeface="Amiri" pitchFamily="2" charset="-78"/>
              </a:rPr>
              <a:t>فِي</a:t>
            </a:r>
            <a:pPr algn="l" indent="0" marL="0">
              <a:buNone/>
            </a:pPr>
            <a:r>
              <a:rPr lang="en-US" sz="1250" b="1" dirty="0">
                <a:solidFill>
                  <a:srgbClr val="1F2A37"/>
                </a:solidFill>
                <a:latin typeface="Calibri" pitchFamily="34" charset="0"/>
                <a:cs typeface="Amiri" pitchFamily="2" charset="-78"/>
              </a:rPr>
              <a:t>.</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the subject.</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First noun after a preposition → -i.</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GM-N-07 · 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whose is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GM-N-07</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اسْمُ صَدِيقِ أَخِيكَ؟ مَا لَوْنُ سَيَّارَةِ أَبِيكَ؟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صِفْ غُرْفَةَ أُخْتِكَ أَوْ مَكْتَبَ مُعَلِّمِكَ.</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صِفْ مَكْتَبَ مُدِيرِ مَدْرَسَتِكَ.</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لَوْنُ سَيَّارَةِ أَبِي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غُرْفَةُ أُخْتِي ___ وَ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مَكْتَبُ مُدِيرِ الْمَدْرَسَةِ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مَا لَوْنُ سَيَّارَةِ أَبِيكَ؟</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colour is your father’s car?</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لَوْنُ سَيَّارَةِ أَبِي أَبْيَضُ، وَبَابُ السَّيَّارَةِ الْأَمَامِيُّ مَكْسُورٌ!</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00" i="1" dirty="0">
                <a:solidFill>
                  <a:srgbClr val="5A6472"/>
                </a:solidFill>
                <a:latin typeface="Calibri" pitchFamily="34" charset="0"/>
                <a:cs typeface="Amiri" pitchFamily="2" charset="-78"/>
              </a:rPr>
              <a:t>The colour of my father’s car is white, and the car’s front door is broken!</a:t>
            </a:r>
            <a:endParaRPr lang="en-US" sz="9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GM-N-07 · 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GM-N-07</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Six sentences, each with a two-noun iḍāfa.</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First noun: no al-, no tanwīn. Second: -i.</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Use iḍāfa as subject, object and after a preposition.</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Change only the first noun’s ending.</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8–12 sentences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task with a three-noun chain, a dropped nūn and an adjective after a chain.</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Check the adjective’s gender points to the right noun.</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GM-N-07 · Nouns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GM-N-07</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زُرْتُ ______ الْمَدِينَةِ.</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visited the city library.</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أَدْرُسُ فِي غُرْفَةِ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study in my sister’s room.</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مُعَلِّمُو الْمَدْرَسَةِ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school teachers are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مَكْتَبُ مُدِيرِ الْمَدْرَسَةِ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headteacher’s office is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هَذِهِ غُرْفَةُ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is my brother’s room.</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بَابُ الْمَدْرَسَةِ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school door is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سَيَّارَةُ أَبِي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father’s car is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كِتَابُ الْمُعَلِّمِ عَلَى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teacher’s book is on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بَيْتُ  ·  غُرْفَةُ  ·  بَابُ  ·  كِتَابُ  ·  سَيَّارَةُ  ·  مَكْتَبَةُ  ·  مُعَلِّمُو  ·  مُدِيرِ  ·  الْمَدْرَسَةِ  ·  الْمَدِينَةِ  ·  أَبِي  ·  أُخْتِي  ·  كَبِيرٌ  ·  جَمِيلَةٌ  ·  قَرِيبٌ</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GM-N-07 · Nouns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GM-N-07</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writing workshop: 8–12 connected sentences about your school, home or local area with at least six target noun forms.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Four two-noun iḍāfas with no al- on the first noun.</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iḍāfa as an object (first noun -a) and one after a preposition (-i).</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indefinite chain (“a … of a …”).</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three-noun chain.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dual or plural with the nūn dropped, and one adjective after a chain.</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مَكْتَبُ مُدِيرِ الْمَدْرَسَةِ</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headteacher’s office</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مُعَلِّمُو الصَّفِّ</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class teachers</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بَابَا الْبَيْتِ</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two doors of the house</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مَكْتَبَةِ الْمَدِينَةِ</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the city library</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غُرْفَةُ أُخْتِي الصَّغِيرَةُ</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sister’s small room</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حَدِيقَةُ بَيْتٍ</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 house garden</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GM-N-07 · Nouns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GM-N-07</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أَسْكُنُ فِي بَيْتٍ قَرِيبٍ مِنْ مَدْرَسَتِي. غُرْفَةُ أُخْتِي الصَّغِيرَةُ جَمِيلَةٌ، وَبَابَا الْبَيْتِ أَبْيَضَانِ. فِي الصَّبَاحِ أَمْشِي إِلَى الْمَدْرَسَةِ مَعَ ابْنِ عَمِّي. مُعَلِّمُو الْمَدْرَسَةِ لُطَفَاءُ، وَمَكْتَبُ مُدِيرِ الْمَدْرَسَةِ قَرِيبٌ مِنَ الْبَابِ. بَعْدَ الدَّرْسِ أَقْرَأُ فِي مَكْتَبَةِ الْمَدِينَةِ.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live in a house near my school. My sister’s small room is beautiful, and the two doors of the house are white. In the morning I walk to school with my cousin. The school teachers are kind, and the headteacher’s office is near the door. After the lesson I read in the city library.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two-noun iḍāfa</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three-noun chain</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dropped nūn</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adjective after chain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GM-N-07 · Nouns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GM-N-07</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No first noun has al- or tanwīn.</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Every second noun is genitive.</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The first noun’s ending matches its job.</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made at least one chain indefinite.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dropped the nūn and placed adjectives after the chain.</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GM-N-07 · Nouns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GM-N-07</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girl’s bag”.</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حَقِيبَةُ الْبِنْتِ</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الْحَقِيبَةُ الْبِنْتِ</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حَقِيبَةٌ الْبِنْتُ</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hotel room”.</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غُرْفَةُ الْفُنْدُقِ</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غُرْفَةُ فُنْدُقٍ</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الْغُرْفَةُ فُنْدُقٍ</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city engineers”.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مُهَنْدِسُو الْمَدِينَةِ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مُهَنْدِسُونَ الْمَدِينَةِ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الْمُهَنْدِسُونَ الْمَدِينَةِ</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GM-N-07 · Nouns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GM-N-07</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girl’s bag”.</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حَقِيبَةُ الْبِنْتِ</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الْحَقِيبَةُ الْبِنْتِ</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حَقِيبَةٌ الْبِنْتُ</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First noun: no al-, no tanwīn.</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hotel room”.</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غُرْفَةُ الْفُنْدُقِ</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غُرْفَةُ فُنْدُقٍ</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الْغُرْفَةُ فُنْدُقٍ</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Indefinite last noun.</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city engineers”.</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مُهَنْدِسُو الْمَدِينَةِ</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مُهَنْدِسُونَ الْمَدِينَةِ</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الْمُهَنْدِسُونَ الْمَدِينَةِ</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nūn drops.</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GM-N-07 · Nouns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Before GM-ADJ-01: get ready at home</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GM-N-07</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GM-ADJ-01 · Masculine and Feminine Singular</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صِفَةٌ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adjective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طَوِيلٌ</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tall (m.)</a:t>
            </a:r>
            <a:pPr indent="0" marL="0">
              <a:buNone/>
            </a:pPr>
            <a:r>
              <a:rPr lang="en-US" sz="1000" i="1" dirty="0">
                <a:solidFill>
                  <a:srgbClr val="5A6472"/>
                </a:solidFill>
                <a:latin typeface="Calibri" pitchFamily="34" charset="0"/>
                <a:cs typeface="Amiri" pitchFamily="2" charset="-78"/>
              </a:rPr>
              <a:t>  f. طَوِيلَةٌ</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قَصِيرٌ</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short (m.)</a:t>
            </a:r>
            <a:pPr indent="0" marL="0">
              <a:buNone/>
            </a:pPr>
            <a:r>
              <a:rPr lang="en-US" sz="1000" i="1" dirty="0">
                <a:solidFill>
                  <a:srgbClr val="5A6472"/>
                </a:solidFill>
                <a:latin typeface="Calibri" pitchFamily="34" charset="0"/>
                <a:cs typeface="Amiri" pitchFamily="2" charset="-78"/>
              </a:rPr>
              <a:t>  f. قَصِيرَةٌ</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نَشِيطٌ</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active (m.)</a:t>
            </a:r>
            <a:pPr indent="0" marL="0">
              <a:buNone/>
            </a:pPr>
            <a:r>
              <a:rPr lang="en-US" sz="1000" i="1" dirty="0">
                <a:solidFill>
                  <a:srgbClr val="5A6472"/>
                </a:solidFill>
                <a:latin typeface="Calibri" pitchFamily="34" charset="0"/>
                <a:cs typeface="Amiri" pitchFamily="2" charset="-78"/>
              </a:rPr>
              <a:t>  f. نَشِيطَةٌ</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مُرِيحٌ</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comfortable (m.)</a:t>
            </a:r>
            <a:pPr indent="0" marL="0">
              <a:buNone/>
            </a:pPr>
            <a:r>
              <a:rPr lang="en-US" sz="1000" i="1" dirty="0">
                <a:solidFill>
                  <a:srgbClr val="5A6472"/>
                </a:solidFill>
                <a:latin typeface="Calibri" pitchFamily="34" charset="0"/>
                <a:cs typeface="Amiri" pitchFamily="2" charset="-78"/>
              </a:rPr>
              <a:t>  f. مُرِيحَةٌ</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How would you say “a tall girl”? What do you add to the adjective?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وَلَدٌ طَوِيلٌ · بِنْتٌ ______</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ten two-noun iḍāfas about your home.</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eight sentences using iḍāfa as subject, object and after a preposition.</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workshop with a three-noun chain and a dropped nūn.</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GM-N-07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150" b="1" dirty="0">
                <a:solidFill>
                  <a:srgbClr val="FFFFFF"/>
                </a:solidFill>
                <a:latin typeface="Cambria" pitchFamily="34" charset="0"/>
                <a:cs typeface="Amiri" pitchFamily="2" charset="-78"/>
              </a:rPr>
              <a:t>GM-ADJ-01 · Masculine and Feminine Singular</a:t>
            </a:r>
            <a:endParaRPr lang="en-US" sz="21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مُطَابَقَةُ الصِّفَةِ فِي الْمُذَكَّرِ وَالْمُؤَنَّثِ</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first noun — no al-, no tanwīn, case from its job · second noun — always genitive and decides “the” or “a” · nūn drops · adjective after the chain.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GM-N-07 · The Iḍāfa Possessive Structure</dc:title>
  <dc:subject>PptxGenJS Presentation</dc:subject>
  <dc:creator>Al Madina Online School · Arabic Department</dc:creator>
  <cp:lastModifiedBy>Al Madina Online School · Arabic Department</cp:lastModifiedBy>
  <cp:revision>1</cp:revision>
  <dcterms:created xsi:type="dcterms:W3CDTF">2026-10-11T06:42:19Z</dcterms:created>
  <dcterms:modified xsi:type="dcterms:W3CDTF">2026-10-11T06:42:19Z</dcterms:modified>
</cp:coreProperties>
</file>