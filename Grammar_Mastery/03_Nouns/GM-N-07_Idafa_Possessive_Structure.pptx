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GM-N-07 (“The Iḍāfa Possessive Structure”).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two-noun iḍāfa — first noun no الـ, no tanwīn; second noun genitive (بَيْتُ الْمُعَلِّمِ). Develop: definite vs indefinite chains; the case of the first noun changes with its job; ة read as t. Stretch: three-noun chains; dual / plural nūn drops; adjective placement after the chain.
• This is the capstone of the Nouns unit: it reuses gender (N-01, ة → t), dual (N-02, ـَا), sound masculine plural (N-03, ـُو), and every case ending.
• Qur’an bridge: بِسْمِ اللَّهِ · رَبِّ الْعَالَمِينَ · يَوْمِ الدِّينِ · مَالِكِ يَوْمِ الدِّينِ (a three-noun chain!). Students recite iḍāfa many times daily.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prepared words from GM-N-06 and the nūn rule from GM-N-02 / N-03.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First noun: no al-, no tanwīn. Second noun: always genitive — and it makes the whole chain “the …” or “a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architecture of iḍāfa”. Draw two linked boxes: box 1 “no al-, no tanwīn, case from the sentence”; box 2 “always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callout, plus a teacher-added proper-name row for Stretch (names are definite even with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 website table “Longer chains and special forms” (the ة note completed). The last two rows come from the website warning: compare the two adjectives letter by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Build from the END backwards — it makes definiteness obvious. Then point to مُعَلِّمُو: “Where has the nūn gone? Iḍāfa 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D or I. Trap: the name Muḥammad has tanwīn but is definite — the chain means “Muhammad’s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D or I. Trap: the name Muḥammad has tanwīn but is definite — the chain means “Muhammad’s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row by row; students say the answer before you reveal it. Rows 4–5 are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iḍāfa and mark the first noun and the genitive noun(s).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iḍāfa.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and use each in a sentence. The model answer has a three-noun chain and an adjective placed after the chain (بَابُ السَّيَّارَةِ الْأَمَامِيُّ — masculine, so it describes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(GM-ADJ-01 · Masculine and Feminine Singular) will spend class time USING this language, so students prepare it tonight — short, simple, easy to access (school guidance: “Simple, Short, Interesting, Relevant, Easy to access”). The five words prepare GM-ADJ-01 (website Adjectives lesson 1: masculine and feminine singular).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The Iḍāfa Possessive Structure</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تَرْكِيبُ الْإِضَافَةِ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Join two nouns to say “the teacher’s house” or “the door of the school”. The first noun loses al- and tanwīn; the second is always genitive and decides whether the whole phrase is “the …” or “a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Muḍāf and muḍāf ilayh; definiteness; chains; nūn drop; adjectives.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chains, sort definite / indefinite,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الْمُعَلِّمُ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teacher’s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الْمُعَلِّمِ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مُعَلِّمٍ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muḍāf ilayh?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nominative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accusative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genitive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dual/plural nūn in idāfa?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doubles.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tanwīn.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drops.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school’s door”.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مَدْرَسَتِي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الْمُعَلِّمِ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الْمُعَلِّمِ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الْمُعَلِّمُ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noun has no article/tanwīn; second is genitive.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teacher’s house”?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مُعَلِّمٍ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الْمُعَلِّمِ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مُعَلِّمٍ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indefinite noun makes chain indefinite.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muḍāf ilayh?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nominative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accusative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genitive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Always majrūr.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dual/plural nūn in idāfa?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doubles.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becomes tanwīn.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drops.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in iḍāfa (GM-N-02 / N-03).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school’s door”.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مَدْرَسَتِي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مَدْرَسَتِي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مَدْرَسَتِي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Suffix can be final definite term.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First noun: no al-, no tanwīn. Second noun: always genitive — and it makes the whole chain “the …” or “a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بَيْتُ</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الْمُعَلِّمِ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بَابُ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مَدْرَسَةٍ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 iḍāfa with the correct form of each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chain definite or indefinite through the last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of duals and sound masculine plurals in iḍāfa.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an adjective after the chain and match it to the right 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the first noun with no al- and no tanwīn.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the second noun in the genitive.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chain definite or indefinite.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read tāʾ marbūṭa as t in the first noun.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build three-noun chains and drop the nūn.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place the adjective after the whole chain.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الْإِضَافَةُ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iḍāfa (possessive structure)</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بَيْتُ الْمُعَلِّمِ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noun (the thing owned)</a:t>
            </a:r>
            <a:endParaRPr lang="en-US" sz="1350" dirty="0"/>
          </a:p>
          <a:p>
            <a:pPr indent="0" marL="0">
              <a:buNone/>
            </a:pPr>
            <a:r>
              <a:rPr lang="en-US" sz="1100" i="1" dirty="0">
                <a:solidFill>
                  <a:srgbClr val="5A6472"/>
                </a:solidFill>
                <a:latin typeface="Calibri" pitchFamily="34" charset="0"/>
                <a:cs typeface="Amiri" pitchFamily="2" charset="-78"/>
              </a:rPr>
              <a:t>al-muḍāf</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noun (the owner)</a:t>
            </a:r>
            <a:endParaRPr lang="en-US" sz="1350" dirty="0"/>
          </a:p>
          <a:p>
            <a:pPr indent="0" marL="0">
              <a:buNone/>
            </a:pPr>
            <a:r>
              <a:rPr lang="en-US" sz="1100" i="1" dirty="0">
                <a:solidFill>
                  <a:srgbClr val="5A6472"/>
                </a:solidFill>
                <a:latin typeface="Calibri" pitchFamily="34" charset="0"/>
                <a:cs typeface="Amiri" pitchFamily="2" charset="-78"/>
              </a:rPr>
              <a:t>al-muḍāf ilayh</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الْمُعَلِّمِ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مَجْرُورٌ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genitive (-i / -in)</a:t>
            </a:r>
            <a:endParaRPr lang="en-US" sz="1350" dirty="0"/>
          </a:p>
          <a:p>
            <a:pPr indent="0" marL="0">
              <a:buNone/>
            </a:pPr>
            <a:r>
              <a:rPr lang="en-US" sz="1100" i="1" dirty="0">
                <a:solidFill>
                  <a:srgbClr val="5A6472"/>
                </a:solidFill>
                <a:latin typeface="Calibri" pitchFamily="34" charset="0"/>
                <a:cs typeface="Amiri" pitchFamily="2" charset="-78"/>
              </a:rPr>
              <a:t>maj-rū-run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second noun</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مَعْرِفَةٌ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(“the”)</a:t>
            </a:r>
            <a:endParaRPr lang="en-US" sz="1350" dirty="0"/>
          </a:p>
          <a:p>
            <a:pPr indent="0" marL="0">
              <a:buNone/>
            </a:pPr>
            <a:r>
              <a:rPr lang="en-US" sz="1100" i="1" dirty="0">
                <a:solidFill>
                  <a:srgbClr val="5A6472"/>
                </a:solidFill>
                <a:latin typeface="Calibri" pitchFamily="34" charset="0"/>
                <a:cs typeface="Amiri" pitchFamily="2" charset="-78"/>
              </a:rPr>
              <a:t>maʿ-ri-fa-tun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بَابُ الْمَدْرَسَةِ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نَكِرَةٌ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indefinite (“a”)</a:t>
            </a:r>
            <a:endParaRPr lang="en-US" sz="1350" dirty="0"/>
          </a:p>
          <a:p>
            <a:pPr indent="0" marL="0">
              <a:buNone/>
            </a:pPr>
            <a:r>
              <a:rPr lang="en-US" sz="1100" i="1" dirty="0">
                <a:solidFill>
                  <a:srgbClr val="5A6472"/>
                </a:solidFill>
                <a:latin typeface="Calibri" pitchFamily="34" charset="0"/>
                <a:cs typeface="Amiri" pitchFamily="2" charset="-78"/>
              </a:rPr>
              <a:t>na-ki-ra-tun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بَابُ مَدْرَسَةٍ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ARCHITECTURE OF IḌĀFA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nouns,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Iḍāfa joins nouns into one possessive unit; English uses “of” or apostrophe-s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FIRST noun (muḍāf): comes first, has NO al- and NO tanwīn.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Its case comes from its job in the sentence: -u as subject, -a as object, -i after a preposition.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SECOND noun (muḍāf ilayh): comes immediately after and is ALWAYS genitive.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Nothing may come between the two nouns — not even an adjective.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بَيْتُ الْمُعَلِّمِ</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teacher’s house  ·  website example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الطَّالِبِ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student’s book</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رَأَيْتُ بَيْتَ الْمُعَلِّمِ.</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the teacher’s house.  ·  first noun as object</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بَيْتِ الْمُعَلِّمِ</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teacher’s house  ·  first noun after a preposition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COMMON SLIP</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put al- on the first noun. “The house the teacher” is not Arabic — the second noun already makes the whole phrase definite.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DEFINITENESS TRAVELS FROM THE END (WEBSITE CALLOUT)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last noun decides “the” or “a”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التَّعْرِيفُ وَالتَّنْكِيرُ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5537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noun indefinite → whole chain “a”</a:t>
            </a:r>
            <a:endParaRPr lang="en-US" sz="1100" dirty="0"/>
          </a:p>
        </p:txBody>
      </p:sp>
      <p:sp>
        <p:nvSpPr>
          <p:cNvPr id="21" name="Text 18"/>
          <p:cNvSpPr txBox="1"/>
          <p:nvPr/>
        </p:nvSpPr>
        <p:spPr>
          <a:xfrm>
            <a:off x="459028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school door</a:t>
            </a:r>
            <a:endParaRPr lang="en-US" sz="11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مَدْرَسَةٍ</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noun has al- → “the”</a:t>
            </a:r>
            <a:endParaRPr lang="en-US" sz="1100" dirty="0"/>
          </a:p>
        </p:txBody>
      </p:sp>
      <p:sp>
        <p:nvSpPr>
          <p:cNvPr id="27" name="Text 24"/>
          <p:cNvSpPr txBox="1"/>
          <p:nvPr/>
        </p:nvSpPr>
        <p:spPr>
          <a:xfrm>
            <a:off x="459028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door</a:t>
            </a:r>
            <a:endParaRPr lang="en-US" sz="11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الْمَدْرَسَةِ</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possessive ending is definite too</a:t>
            </a:r>
            <a:endParaRPr lang="en-US" sz="1100" dirty="0"/>
          </a:p>
        </p:txBody>
      </p:sp>
      <p:sp>
        <p:nvSpPr>
          <p:cNvPr id="33" name="Text 30"/>
          <p:cNvSpPr txBox="1"/>
          <p:nvPr/>
        </p:nvSpPr>
        <p:spPr>
          <a:xfrm>
            <a:off x="459028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school’s door</a:t>
            </a:r>
            <a:endParaRPr lang="en-US" sz="11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مَدْرَسَتِي</a:t>
            </a:r>
            <a:endParaRPr lang="ar-SA" sz="2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name is definite (despite tanwīn)</a:t>
            </a:r>
            <a:endParaRPr lang="en-US" sz="1100" dirty="0"/>
          </a:p>
        </p:txBody>
      </p:sp>
      <p:sp>
        <p:nvSpPr>
          <p:cNvPr id="39" name="Text 36"/>
          <p:cNvSpPr txBox="1"/>
          <p:nvPr/>
        </p:nvSpPr>
        <p:spPr>
          <a:xfrm>
            <a:off x="459028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Khalid’s door</a:t>
            </a:r>
            <a:endParaRPr lang="en-US" sz="1100" dirty="0"/>
          </a:p>
        </p:txBody>
      </p:sp>
      <p:sp>
        <p:nvSpPr>
          <p:cNvPr id="40" name="Text 37"/>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خَالِدٍ</a:t>
            </a:r>
            <a:endParaRPr lang="ar-SA" sz="26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definiteness travels from the final term. The first noun never shows it.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3 · LONGER CHAINS AND SPECIAL FORMS (WEBSITE TABLE)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Chains, dropped nūn and tāʾ marbūṭa</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سَلَاسِلُ وَأَشْكَالٌ خَاصَّةٌ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 marbūṭa is pronounced t: ḥaqībatu</a:t>
            </a:r>
            <a:endParaRPr lang="en-US" sz="1100" dirty="0"/>
          </a:p>
        </p:txBody>
      </p:sp>
      <p:sp>
        <p:nvSpPr>
          <p:cNvPr id="21" name="Text 18"/>
          <p:cNvSpPr txBox="1"/>
          <p:nvPr/>
        </p:nvSpPr>
        <p:spPr>
          <a:xfrm>
            <a:off x="402336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الطَّالِبِ</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bag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only the LAST noun takes al-</a:t>
            </a:r>
            <a:endParaRPr lang="en-US" sz="1100" dirty="0"/>
          </a:p>
        </p:txBody>
      </p:sp>
      <p:sp>
        <p:nvSpPr>
          <p:cNvPr id="27" name="Text 24"/>
          <p:cNvSpPr txBox="1"/>
          <p:nvPr/>
        </p:nvSpPr>
        <p:spPr>
          <a:xfrm>
            <a:off x="402336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مَكْتَبُ مُدِيرِ الْمَدْرَسَةِ</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headteacher’s office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nūn drops (GM-N-02)</a:t>
            </a:r>
            <a:endParaRPr lang="en-US" sz="1100" dirty="0"/>
          </a:p>
        </p:txBody>
      </p:sp>
      <p:sp>
        <p:nvSpPr>
          <p:cNvPr id="31" name="Text 28"/>
          <p:cNvSpPr txBox="1"/>
          <p:nvPr/>
        </p:nvSpPr>
        <p:spPr>
          <a:xfrm>
            <a:off x="402336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مُعَلِّمَا الصَّفِّ</a:t>
            </a:r>
            <a:endParaRPr lang="ar-SA" sz="2400" dirty="0"/>
          </a:p>
        </p:txBody>
      </p:sp>
      <p:sp>
        <p:nvSpPr>
          <p:cNvPr id="32" name="Text 29"/>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class teachers</a:t>
            </a:r>
            <a:endParaRPr lang="en-US" sz="110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plural nūn drops (GM-N-03)</a:t>
            </a:r>
            <a:endParaRPr lang="en-US" sz="1100" dirty="0"/>
          </a:p>
        </p:txBody>
      </p:sp>
      <p:sp>
        <p:nvSpPr>
          <p:cNvPr id="35" name="Text 32"/>
          <p:cNvSpPr txBox="1"/>
          <p:nvPr/>
        </p:nvSpPr>
        <p:spPr>
          <a:xfrm>
            <a:off x="402336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 الْمَدْرَسَةِ</a:t>
            </a:r>
            <a:endParaRPr lang="ar-SA" sz="2400" dirty="0"/>
          </a:p>
        </p:txBody>
      </p:sp>
      <p:sp>
        <p:nvSpPr>
          <p:cNvPr id="36" name="Text 33"/>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teachers</a:t>
            </a:r>
            <a:endParaRPr lang="en-US" sz="1100" dirty="0"/>
          </a:p>
        </p:txBody>
      </p:sp>
      <p:sp>
        <p:nvSpPr>
          <p:cNvPr id="37" name="Shape 34"/>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after the chain; masculine → the door</a:t>
            </a:r>
            <a:endParaRPr lang="en-US" sz="1100" dirty="0"/>
          </a:p>
        </p:txBody>
      </p:sp>
      <p:sp>
        <p:nvSpPr>
          <p:cNvPr id="39" name="Text 36"/>
          <p:cNvSpPr txBox="1"/>
          <p:nvPr/>
        </p:nvSpPr>
        <p:spPr>
          <a:xfrm>
            <a:off x="402336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الْجَدِيدُ</a:t>
            </a:r>
            <a:endParaRPr lang="ar-SA" sz="2400" dirty="0"/>
          </a:p>
        </p:txBody>
      </p:sp>
      <p:sp>
        <p:nvSpPr>
          <p:cNvPr id="40" name="Text 37"/>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door of the school</a:t>
            </a:r>
            <a:endParaRPr lang="en-US" sz="1100" dirty="0"/>
          </a:p>
        </p:txBody>
      </p:sp>
      <p:sp>
        <p:nvSpPr>
          <p:cNvPr id="41" name="Shape 3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genitive → the school</a:t>
            </a:r>
            <a:endParaRPr lang="en-US" sz="1100" dirty="0"/>
          </a:p>
        </p:txBody>
      </p:sp>
      <p:sp>
        <p:nvSpPr>
          <p:cNvPr id="43" name="Text 40"/>
          <p:cNvSpPr txBox="1"/>
          <p:nvPr/>
        </p:nvSpPr>
        <p:spPr>
          <a:xfrm>
            <a:off x="402336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الْجَدِيدَةِ</a:t>
            </a:r>
            <a:endParaRPr lang="ar-SA" sz="2400" dirty="0"/>
          </a:p>
        </p:txBody>
      </p:sp>
      <p:sp>
        <p:nvSpPr>
          <p:cNvPr id="44" name="Text 41"/>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new school</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insert an adjective inside the chain. Put it after, and let its gender and case show which noun it describes.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definite iḍāfa.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الْفُنْدُقِ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الْفُنْدُقُ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الْفُنْدُقِ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indefinite iḍāfa.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فُنْدُقٍ</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فُنْدُقٍ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فُنْدُقٍ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Muḍāf may take: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 and tanwīn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a:t>
            </a:r>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 nor tanwīn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 only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Muḍāf ilayh is: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genitive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nominative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accusative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definite iḍāfa.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الْفُنْدُقِ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الْفُنْدُقُ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الْفُنْدُقِ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structure.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indefinite iḍāfa.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فُنْدُقٍ</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فُنْدُقٍ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فُنْدُقٍ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indefinite term.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Muḍāf may take: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a:t>
            </a:r>
            <a:pPr algn="l" indent="0" marL="0">
              <a:buNone/>
            </a:pPr>
            <a:r>
              <a:rPr lang="en-US" sz="1250" dirty="0">
                <a:solidFill>
                  <a:srgbClr val="9AA1AB"/>
                </a:solidFill>
                <a:latin typeface="Calibri" pitchFamily="34" charset="0"/>
                <a:cs typeface="Amiri" pitchFamily="2" charset="-78"/>
              </a:rPr>
              <a:t> and tanwīn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neither </a:t>
            </a:r>
            <a:pPr algn="l" indent="0" marL="0">
              <a:buNone/>
            </a:pPr>
            <a:r>
              <a:rPr lang="ar-SA" altLang="en-US" sz="1650" b="1" dirty="0">
                <a:solidFill>
                  <a:srgbClr val="1F2A37"/>
                </a:solidFill>
                <a:latin typeface="Amiri" pitchFamily="2" charset="-78"/>
                <a:ea typeface="Amiri" pitchFamily="2" charset="-78"/>
                <a:cs typeface="Amiri" pitchFamily="2" charset="-78"/>
              </a:rPr>
              <a:t>ال</a:t>
            </a:r>
            <a:pPr algn="l" indent="0" marL="0">
              <a:buNone/>
            </a:pPr>
            <a:r>
              <a:rPr lang="en-US" sz="1250" b="1" dirty="0">
                <a:solidFill>
                  <a:srgbClr val="1F2A37"/>
                </a:solidFill>
                <a:latin typeface="Calibri" pitchFamily="34" charset="0"/>
                <a:cs typeface="Amiri" pitchFamily="2" charset="-78"/>
              </a:rPr>
              <a:t> nor tanwīn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tanwīn only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Core rule.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Muḍāf ilayh is: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always genitive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nominative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accusative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Majrūr.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Owner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noun: al- + genitive.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a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مُدِيرِ 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Middle: no al-, genitive.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the first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مَكْتَبُ مُدِيرِ الْمَدْرَسَةِ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no al-, no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 a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دَخَلْتُ مَكْتَبَ مُدِيرِ الْمَدْرَسَةِ</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 first noun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FIRST 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 NOUNS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مَكْتَبُ</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مُدِيرِ الْمَدْرَسَةِ</a:t>
            </a:r>
            <a:pPr rtl="1" algn="r" indent="0" marL="0">
              <a:buNone/>
            </a:pPr>
            <a:r>
              <a:rPr lang="ar-SA" altLang="en-US" sz="2600" b="1" dirty="0">
                <a:solidFill>
                  <a:srgbClr val="1B3B6F"/>
                </a:solidFill>
                <a:latin typeface="Amiri" pitchFamily="2" charset="-78"/>
                <a:ea typeface="Amiri" pitchFamily="2" charset="-78"/>
                <a:cs typeface="Amiri" pitchFamily="2" charset="-78"/>
              </a:rPr>
              <a:t> قَرِيبٌ مِنَ الْمَدْخَلِ، وَ</a:t>
            </a:r>
            <a:pPr rtl="1" algn="r" indent="0" marL="0">
              <a:buNone/>
            </a:pPr>
            <a:r>
              <a:rPr lang="ar-SA" altLang="en-US" sz="2600" b="1" dirty="0">
                <a:solidFill>
                  <a:srgbClr val="0E7C86"/>
                </a:solidFill>
                <a:latin typeface="Amiri" pitchFamily="2" charset="-78"/>
                <a:ea typeface="Amiri" pitchFamily="2" charset="-78"/>
                <a:cs typeface="Amiri" pitchFamily="2" charset="-78"/>
              </a:rPr>
              <a:t>مُعَلِّمُو</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الصَّفِّ</a:t>
            </a:r>
            <a:pPr rtl="1" algn="r" indent="0" marL="0">
              <a:buNone/>
            </a:pPr>
            <a:r>
              <a:rPr lang="ar-SA" altLang="en-US" sz="2600" b="1" dirty="0">
                <a:solidFill>
                  <a:srgbClr val="1B3B6F"/>
                </a:solidFill>
                <a:latin typeface="Amiri" pitchFamily="2" charset="-78"/>
                <a:ea typeface="Amiri" pitchFamily="2" charset="-78"/>
                <a:cs typeface="Amiri" pitchFamily="2" charset="-78"/>
              </a:rPr>
              <a:t> فِي الْغُرْفَةِ الْمُجَاوِرَةِ.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headteacher’s office is near the entrance, and the class teachers are in the next room.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بَيْتُ الْمُعَلِّمِ.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teacher’s house.</a:t>
            </a:r>
            <a:endParaRPr lang="en-US" sz="1250" dirty="0"/>
          </a:p>
          <a:p>
            <a:pPr indent="0" marL="0">
              <a:buNone/>
            </a:pPr>
            <a:r>
              <a:rPr lang="en-US" sz="1050" i="1" dirty="0">
                <a:solidFill>
                  <a:srgbClr val="8A6D1E"/>
                </a:solidFill>
                <a:latin typeface="Calibri" pitchFamily="34" charset="0"/>
                <a:cs typeface="Amiri" pitchFamily="2" charset="-78"/>
              </a:rPr>
              <a:t>Simple two-noun iḍāfa.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حَقِيبَةُ أُخْتِي ثَقِيلَةٌ.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sister’s bag is heavy.</a:t>
            </a:r>
            <a:endParaRPr lang="en-US" sz="1250" dirty="0"/>
          </a:p>
          <a:p>
            <a:pPr indent="0" marL="0">
              <a:buNone/>
            </a:pPr>
            <a:r>
              <a:rPr lang="en-US" sz="1050" i="1" dirty="0">
                <a:solidFill>
                  <a:srgbClr val="8A6D1E"/>
                </a:solidFill>
                <a:latin typeface="Calibri" pitchFamily="34" charset="0"/>
                <a:cs typeface="Amiri" pitchFamily="2" charset="-78"/>
              </a:rPr>
              <a:t>Tāʾ marbūṭa read as 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زُرْتُ مُعَلِّمِي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visited the school teachers.</a:t>
            </a:r>
            <a:endParaRPr lang="en-US" sz="1250" dirty="0"/>
          </a:p>
          <a:p>
            <a:pPr indent="0" marL="0">
              <a:buNone/>
            </a:pPr>
            <a:r>
              <a:rPr lang="en-US" sz="1050" i="1" dirty="0">
                <a:solidFill>
                  <a:srgbClr val="8A6D1E"/>
                </a:solidFill>
                <a:latin typeface="Calibri" pitchFamily="34" charset="0"/>
                <a:cs typeface="Amiri" pitchFamily="2" charset="-78"/>
              </a:rPr>
              <a:t>Object plural: -ī, nūn dropped.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أَدْرُسُ فِي مَكْتَبَةِ الْمَدِينَةِ.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study in the city library.</a:t>
            </a:r>
            <a:endParaRPr lang="en-US" sz="1250" dirty="0"/>
          </a:p>
          <a:p>
            <a:pPr indent="0" marL="0">
              <a:buNone/>
            </a:pPr>
            <a:r>
              <a:rPr lang="en-US" sz="1050" i="1" dirty="0">
                <a:solidFill>
                  <a:srgbClr val="8A6D1E"/>
                </a:solidFill>
                <a:latin typeface="Calibri" pitchFamily="34" charset="0"/>
                <a:cs typeface="Amiri" pitchFamily="2" charset="-78"/>
              </a:rPr>
              <a:t>First noun after a preposition → -i.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“THE …” OR “A …”?</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Definite or indefinite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أَخِي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طَالِبٍ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الْفُنْدُقِ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فُنْدُقٍ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مُحَمَّدٍ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 لُغَةٍ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أَخِي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الْفُنْدُقِ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مُحَمَّدٍ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بَيْتٍ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طَالِبٍ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فُنْدُقٍ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 لُغَةٍ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IḌĀFA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Join the two nouns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كَوِّنِ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Iḍāfa</a:t>
            </a:r>
            <a:endParaRPr lang="en-US" sz="1100" dirty="0"/>
          </a:p>
        </p:txBody>
      </p:sp>
      <p:sp>
        <p:nvSpPr>
          <p:cNvPr id="17" name="Text 14"/>
          <p:cNvSpPr txBox="1"/>
          <p:nvPr/>
        </p:nvSpPr>
        <p:spPr>
          <a:xfrm>
            <a:off x="3822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Nouns</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الْوَلَدِ</a:t>
            </a:r>
            <a:endParaRPr lang="ar-SA" sz="2400" dirty="0"/>
          </a:p>
        </p:txBody>
      </p:sp>
      <p:sp>
        <p:nvSpPr>
          <p:cNvPr id="21" name="Text 18"/>
          <p:cNvSpPr txBox="1"/>
          <p:nvPr/>
        </p:nvSpPr>
        <p:spPr>
          <a:xfrm>
            <a:off x="384048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قَلَمٌ · الْوَلَدُ</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boy’s 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غُرْفَةُ الْبِنْتِ</a:t>
            </a:r>
            <a:endParaRPr lang="ar-SA" sz="2400" dirty="0"/>
          </a:p>
        </p:txBody>
      </p:sp>
      <p:sp>
        <p:nvSpPr>
          <p:cNvPr id="27" name="Text 24"/>
          <p:cNvSpPr txBox="1"/>
          <p:nvPr/>
        </p:nvSpPr>
        <p:spPr>
          <a:xfrm>
            <a:off x="384048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غُرْفَةٌ · الْبِنْتُ</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girl’s room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سَيَّارَةٍ</a:t>
            </a:r>
            <a:endParaRPr lang="ar-SA" sz="2400" dirty="0"/>
          </a:p>
        </p:txBody>
      </p:sp>
      <p:sp>
        <p:nvSpPr>
          <p:cNvPr id="33" name="Text 30"/>
          <p:cNvSpPr txBox="1"/>
          <p:nvPr/>
        </p:nvSpPr>
        <p:spPr>
          <a:xfrm>
            <a:off x="384048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بَابٌ · سَيَّارَةٌ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car door</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بَابَا الْمَدْرَسَةِ</a:t>
            </a:r>
            <a:endParaRPr lang="ar-SA" sz="2400" dirty="0"/>
          </a:p>
        </p:txBody>
      </p:sp>
      <p:sp>
        <p:nvSpPr>
          <p:cNvPr id="39" name="Text 36"/>
          <p:cNvSpPr txBox="1"/>
          <p:nvPr/>
        </p:nvSpPr>
        <p:spPr>
          <a:xfrm>
            <a:off x="384048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بَابَانِ · الْمَدْرَسَةُ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school gates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مُهَنْدِسُو الْمَدِينَةِ</a:t>
            </a:r>
            <a:endParaRPr lang="ar-SA" sz="2400" dirty="0"/>
          </a:p>
        </p:txBody>
      </p:sp>
      <p:sp>
        <p:nvSpPr>
          <p:cNvPr id="43" name="Text 40"/>
          <p:cNvSpPr txBox="1"/>
          <p:nvPr/>
        </p:nvSpPr>
        <p:spPr>
          <a:xfrm>
            <a:off x="384048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مُهَنْدِسُونَ · الْمَدِينَةُ</a:t>
            </a:r>
            <a:endParaRPr lang="ar-SA" sz="2200" dirty="0"/>
          </a:p>
        </p:txBody>
      </p:sp>
      <p:sp>
        <p:nvSpPr>
          <p:cNvPr id="44" name="Text 41"/>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engineers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last column. Step 1: remove al- / tanwīn from the first noun. Step 2: make the second genitive. Step 3: drop any nūn.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الْبَيْتُ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first noun take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مُعَلِّمُونَ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بَابُ الْجَدِيدُ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the adjective go?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الْبَيْتُ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بَيْتُ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has no 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مُعَلِّمُونَ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مُعَلِّمُو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plural nūn drops in iḍāfa.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بَابُ الْجَدِيدُ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بَابُ الْمَدْرَسَةِ الْجَدِيدُ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goes after the chain.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“school teachers”.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class books”.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كِتَابَانِ الصَّفِّ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 الصَّفِّ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الْكِتَابَانِ الصَّفِّ</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Adjective for “new door of the school”.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الْجَدِيدَةِ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الْجَدِيدُ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الْمَدْرَسَةِ الْجَدِيدُ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multi-chain.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 الْمُدِيرِ الْمَدْرَسَةِ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مُدِيرٌ الْمَدْرَسَةُ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مُدِيرِ الْمَدْرَسَةِ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“school teachers”.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Drop nūn.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class books”.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كِتَابَانِ الصَّفِّ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كِتَابَا الصَّفِّ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الْكِتَابَانِ الصَّفِّ</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nūn drops.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Adjective for “new door of the school”.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الْجَدِيدَةِ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الْمَدْرَسَةِ الْجَدِيدُ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الْمَدْرَسَةِ الْجَدِيدُ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Modifies masculine </a:t>
            </a:r>
            <a:pPr algn="l" indent="0" marL="0">
              <a:buNone/>
            </a:pPr>
            <a:r>
              <a:rPr lang="ar-SA" altLang="en-US" sz="1350" dirty="0">
                <a:solidFill>
                  <a:srgbClr val="8A6D1E"/>
                </a:solidFill>
                <a:latin typeface="Amiri" pitchFamily="2" charset="-78"/>
                <a:ea typeface="Amiri" pitchFamily="2" charset="-78"/>
                <a:cs typeface="Amiri" pitchFamily="2" charset="-78"/>
              </a:rPr>
              <a:t>باب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multi-chain.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 الْمُدِيرِ الْمَدْرَسَةِ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 مُدِيرٌ الْمَدْرَسَةُ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 مُدِيرِ الْمَدْرَسَةِ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chain.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headteacher’s office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طَالِبَانِ جَدِيدَانِ وَمُعَلِّمَاتٌ خَبِيرَاتٌ. الْفُصُولُ وَاسِعَةٌ، وَمَكْتَبُ مُدِيرِ الْمَدْرَسَةِ قَرِيبٌ مِنَ الْمَدْخَلِ. مُعَلِّمُو الصَّفِّ الثَّالِثِ لُطَفَاءُ، وَمَكْتَبَةُ الْمَدْرَسَةِ كَبِيرَةٌ. أَقْرَأُ كُتُبَ التَّارِيخِ فِي غُرْفَةِ الْمُطَالَعَةِ.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headteacher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الْمَدْخَلِ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entrance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الثَّالِثِ</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third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لُطَفَاءُ</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 (pl.)</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history</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الْمُطَالَعَةِ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(study)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nouns are in the chain about the office?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مُعَلِّمُو</a:t>
            </a:r>
            <a:pPr algn="l" indent="0" marL="0">
              <a:buNone/>
            </a:pPr>
            <a:r>
              <a:rPr lang="en-US" sz="1250" b="1" dirty="0">
                <a:solidFill>
                  <a:srgbClr val="1B3B6F"/>
                </a:solidFill>
                <a:latin typeface="Calibri" pitchFamily="34" charset="0"/>
                <a:cs typeface="Amiri" pitchFamily="2" charset="-78"/>
              </a:rPr>
              <a:t> without a final nūn?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 noun of an iḍāfa.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(with fatḥa)?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object of </a:t>
            </a:r>
            <a:pPr algn="l" indent="0" marL="0">
              <a:buNone/>
            </a:pPr>
            <a:r>
              <a:rPr lang="ar-SA" altLang="en-US" sz="1650" dirty="0">
                <a:solidFill>
                  <a:srgbClr val="1F2A37"/>
                </a:solidFill>
                <a:latin typeface="Amiri" pitchFamily="2" charset="-78"/>
                <a:ea typeface="Amiri" pitchFamily="2" charset="-78"/>
                <a:cs typeface="Amiri" pitchFamily="2" charset="-78"/>
              </a:rPr>
              <a:t>أَقْرَأُ</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genitive.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(with kasra)?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owner.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comes after the preposition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nouns are in the chain about the office?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Office · headteacher ·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مُعَلِّمُو</a:t>
            </a:r>
            <a:pPr algn="l" indent="0" marL="0">
              <a:buNone/>
            </a:pPr>
            <a:r>
              <a:rPr lang="en-US" sz="1250" b="1" dirty="0">
                <a:solidFill>
                  <a:srgbClr val="1B3B6F"/>
                </a:solidFill>
                <a:latin typeface="Calibri" pitchFamily="34" charset="0"/>
                <a:cs typeface="Amiri" pitchFamily="2" charset="-78"/>
              </a:rPr>
              <a:t> without a final nūn?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first noun of an iḍāfa.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nūn drops.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(with fatḥa)?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object of </a:t>
            </a:r>
            <a:pPr algn="l" indent="0" marL="0">
              <a:buNone/>
            </a:pPr>
            <a:r>
              <a:rPr lang="ar-SA" altLang="en-US" sz="1650" b="1" dirty="0">
                <a:solidFill>
                  <a:srgbClr val="1F2A37"/>
                </a:solidFill>
                <a:latin typeface="Amiri" pitchFamily="2" charset="-78"/>
                <a:ea typeface="Amiri" pitchFamily="2" charset="-78"/>
                <a:cs typeface="Amiri" pitchFamily="2" charset="-78"/>
              </a:rPr>
              <a:t>أَقْرَأُ</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genitive.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takes its case from the sentence.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(with kasra)?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owner.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comes after the preposition </a:t>
            </a:r>
            <a:pPr algn="l" indent="0" marL="0">
              <a:buNone/>
            </a:pPr>
            <a:r>
              <a:rPr lang="ar-SA" altLang="en-US" sz="1650" b="1" dirty="0">
                <a:solidFill>
                  <a:srgbClr val="1F2A37"/>
                </a:solidFill>
                <a:latin typeface="Amiri" pitchFamily="2" charset="-78"/>
                <a:ea typeface="Amiri" pitchFamily="2" charset="-78"/>
                <a:cs typeface="Amiri" pitchFamily="2" charset="-78"/>
              </a:rPr>
              <a:t>فِي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noun after a preposition → -i.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 صَدِيقِ أَخِيكَ؟ مَا لَوْنُ سَيَّارَةِ 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غُرْفَةَ أُخْتِكَ أَوْ مَكْتَبَ مُعَلِّمِكَ.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مَكْتَبَ مُدِيرِ مَدْرَسَتِكَ.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لَوْنُ سَيَّارَةِ أَبِي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غُرْفَةُ أُخْتِي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مَكْتَبُ مُدِيرِ الْمَدْرَسَةِ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لَوْنُ سَيَّارَةِ أَبِيكَ؟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colour is your father’s car?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لَوْنُ سَيَّارَةِ أَبِي أَبْيَضُ، وَبَابُ السَّيَّارَةِ الْأَمَامِيُّ مَكْسُورٌ!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colour of my father’s car is white, and the car’s front door is broken!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each with a two-noun iḍāfa.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First noun: no al-, no tanwīn. Second: -i.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iḍāfa as subject, object and after a preposition.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Change only the first noun’s ending.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three-noun chain, a dropped nūn and an adjective after a chain.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the adjective’s gender points to the right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الْمَدِينَةِ.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the city library.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غُرْفَةِ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my sister’s room.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مُعَلِّمُو الْمَدْرَسَةِ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teachers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 مُدِيرِ الْمَدْرَسَةِ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headteacher’s office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غُرْفَةُ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brother’s room.</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بَابُ الْمَدْرَسَةِ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door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سَيَّارَةُ 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car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 الْمُعَلِّمِ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book is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  غُرْفَةُ  ·  بَابُ  ·  كِتَابُ  ·  سَيَّارَةُ  ·  مَكْتَبَةُ  ·  مُعَلِّمُو  ·  مُدِيرِ  ·  الْمَدْرَسَةِ  ·  الْمَدِينَةِ  ·  أَبِي  ·  أُخْتِي  ·  كَبِيرٌ  ·  جَمِيلَةٌ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two-noun iḍāfas with no al- on the first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iḍāfa as an object (first noun -a) and one after a preposition (-i).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indefinite chain (“a … of a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three-noun chain.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plural with the nūn dropped, and one adjective after a chain.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 مُدِيرِ الْمَدْرَسَةِ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headteacher’s office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مُعَلِّمُو الصَّفِّ</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class teachers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بَابَا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two doors of the house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مَكْتَبَةِ الْمَدِينَةِ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city library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غُرْفَةُ أُخْتِي الصَّغِيرَةُ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sister’s small room</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حَدِيقَةُ بَيْتٍ</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house garden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بَيْتٍ قَرِيبٍ مِنْ مَدْرَسَتِي. غُرْفَةُ أُخْتِي الصَّغِيرَةُ جَمِيلَةٌ، وَبَابَا الْبَيْتِ أَبْيَضَانِ. فِي الصَّبَاحِ أَمْشِي إِلَى الْمَدْرَسَةِ مَعَ ابْنِ عَمِّي. مُعَلِّمُو الْمَدْرَسَةِ لُطَفَاءُ، وَمَكْتَبُ مُدِيرِ الْمَدْرَسَةِ قَرِيبٌ مِنَ الْبَابِ. بَعْدَ الدَّرْسِ أَقْرَأُ فِي مَكْتَبَةِ الْمَدِينَةِ.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house near my school. My sister’s small room is beautiful, and the two doors of the house are white. In the morning I walk to school with my cousin. The school teachers are kind, and the headteacher’s office is near the door. After the lesson I read in the city library.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two-noun iḍāfa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three-noun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dropped nūn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adjective after chain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first noun has al- or tanwīn.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second noun is genitive.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noun’s ending matches its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made at least one chain indefinite.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nūn and placed adjectives after the chain.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bag”.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الْبِنْتِ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الْبِنْتُ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hotel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الْفُنْدُقِ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فُنْدُقٍ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فُنْدُقٍ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engineers”.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مُهَنْدِسُو الْمَدِينَةِ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مُهَنْدِسُونَ الْمَدِينَةِ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الْمُهَنْدِسُونَ الْمَدِينَةِ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bag”.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حَقِيبَةُ الْبِنْتِ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الْحَقِيبَةُ الْبِنْتِ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حَقِيبَةٌ الْبِنْتُ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noun: no al-, no tanwīn.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hotel room”.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الْفُنْدُقِ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فُنْدُقٍ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الْغُرْفَةُ فُنْدُقٍ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last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engineers”.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مُهَنْدِسُو الْمَدِينَةِ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مُهَنْدِسُونَ الْمَدِينَةِ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الْمُهَنْدِسُونَ الْمَدِينَةِ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GM-N-07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GM-ADJ-01 · Masculine and Feminine Singular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adjective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طَوِيلٌ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 (m.)</a:t>
            </a:r>
            <a:pPr indent="0" marL="0">
              <a:buNone/>
            </a:pPr>
            <a:r>
              <a:rPr lang="ar-SA" sz="1000" i="1" dirty="0">
                <a:solidFill>
                  <a:srgbClr val="5A6472"/>
                </a:solidFill>
                <a:latin typeface="Calibri" pitchFamily="34" charset="0"/>
                <a:ea typeface="Amiri" pitchFamily="2" charset="-78"/>
                <a:cs typeface="Amiri" pitchFamily="2" charset="-78"/>
              </a:rPr>
              <a:t>  f. طَوِيلَةٌ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قَصِيرٌ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short (m.)</a:t>
            </a:r>
            <a:pPr indent="0" marL="0">
              <a:buNone/>
            </a:pPr>
            <a:r>
              <a:rPr lang="ar-SA" sz="1000" i="1" dirty="0">
                <a:solidFill>
                  <a:srgbClr val="5A6472"/>
                </a:solidFill>
                <a:latin typeface="Calibri" pitchFamily="34" charset="0"/>
                <a:ea typeface="Amiri" pitchFamily="2" charset="-78"/>
                <a:cs typeface="Amiri" pitchFamily="2" charset="-78"/>
              </a:rPr>
              <a:t>  f. قَصِيرَةٌ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نَشِيطٌ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active (m.)</a:t>
            </a:r>
            <a:pPr indent="0" marL="0">
              <a:buNone/>
            </a:pPr>
            <a:r>
              <a:rPr lang="ar-SA" sz="1000" i="1" dirty="0">
                <a:solidFill>
                  <a:srgbClr val="5A6472"/>
                </a:solidFill>
                <a:latin typeface="Calibri" pitchFamily="34" charset="0"/>
                <a:ea typeface="Amiri" pitchFamily="2" charset="-78"/>
                <a:cs typeface="Amiri" pitchFamily="2" charset="-78"/>
              </a:rPr>
              <a:t>  f. نَشِيطَةٌ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comfortable (m.)</a:t>
            </a:r>
            <a:pPr indent="0" marL="0">
              <a:buNone/>
            </a:pPr>
            <a:r>
              <a:rPr lang="ar-SA" sz="1000" i="1" dirty="0">
                <a:solidFill>
                  <a:srgbClr val="5A6472"/>
                </a:solidFill>
                <a:latin typeface="Calibri" pitchFamily="34" charset="0"/>
                <a:ea typeface="Amiri" pitchFamily="2" charset="-78"/>
                <a:cs typeface="Amiri" pitchFamily="2" charset="-78"/>
              </a:rPr>
              <a:t>  f. مُرِيحَةٌ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say “a tall girl”? What do you add to the adjective?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وَلَدٌ طَوِيلٌ · بِنْتٌ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two-noun iḍāfas about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using iḍāfa as subject, object and after a preposition.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with a three-noun chain and a dropped nūn.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GM-ADJ-01 · Masculine and Feminine Singular</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مُطَابَقَةُ الصِّفَةِ فِي 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first noun — no al-, no tanwīn, case from its job · second noun — always genitive and decides “the” or “a” · nūn drops · adjective after the chain.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GM-N-07 · The Iḍāfa Possessive Structure</dc:title>
  <dc:subject>PptxGenJS Presentation</dc:subject>
  <dc:creator>Al Madina Online School · Arabic Department</dc:creator>
  <cp:lastModifiedBy>Al Madina Online School · Arabic Department</cp:lastModifiedBy>
  <cp:revision>1</cp:revision>
  <dcterms:created xsi:type="dcterms:W3CDTF">2026-10-11T06:42:19Z</dcterms:created>
  <dcterms:modified xsi:type="dcterms:W3CDTF">2026-10-11T06:42:19Z</dcterms:modified>
</cp:coreProperties>
</file>