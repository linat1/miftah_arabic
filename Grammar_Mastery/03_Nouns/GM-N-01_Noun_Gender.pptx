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Nouns › GM-N-01 (“Noun Gender”).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ة clue and natural gender (مُعَلِّمٌ / مُعَلِّمَةٌ); adjective agreement. Develop: demonstratives, pronouns and verbs agree too; professions. Stretch: lexical feminines without ة, masculine names in ة, tāʾ marbūṭa → ت before a suffix.
• URDU BRIDGE: Urdu also has grammatical gender (کتاب is feminine in Urdu!). Warn students: Urdu gender does NOT transfer — Arabic كِتَابٌ is masculine. Also, Urdu words like ساعت / ساعة keep the Arabic ة as ت.
• The habit to build (website “meaning-first strategy”): find the head noun → decide its gender → check EVERY word that refers back to it.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Note which students choose “every noun ending ة is feminine” — that misconception is today’s Stretch focus.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ة is a strong feminine clue — but learn the exceptions: شَمْسٌ, أَرْضٌ are feminine; حَمْزَةُ is a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(1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(2 of 2)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section “Recognising gender”. Website: “This is a useful starting clue, not an infallible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(2 min) — website table, plus a Stretch row (paired body parts are feminine: عَيْنٌ جَمِيلَةٌ).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section “Gender agreement across the sentence”. Verbs are previewed only: past ـَتْ, present تَـ for a feminine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Tāʾ marbūṭa “opens” (becomes an ordinary ت) whenever something is attached after it, and is pronounced t when the word is joined to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gender 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 text. Draw arrows from each coloured word back to its noun (website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M or F for each card. Traps: شَمْسٌ · أَرْضٌ · أُمٌّ (feminine, no ة) and حَمْزَةُ (masculine, with 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M or F for each card. Traps: شَمْسٌ · أَرْضٌ · أُمٌّ (feminine, no ة) and حَمْزَةُ (masculine, with 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mastery check questions 3, 5, 6 and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underline every word that signals gender and draw an arrow to the noun it describes.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three sentences are the website reading text; the last three are teacher-written to add pronouns, verbs and a lexical feminine.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Sequence: ● 10s think → ↔ 45s rehearse aloud with mic muted → ◎ two named students on open mic (warned in advance) → + ? the class types one follow-up in chat → ↺ one student summarises.
Routes: Core uses the Core prompt and stem; Develop the Develop prompt; Stretch the last prompt.
Website: describe one masculine and one feminine person or place with a demonstrative, a pronoun and two adjectives each. To a girl: صِفِي · بَيْتَكِ · مَدْرَسَتَكِ.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8–10 sentences describing your home, school or family. Include at least four masculine nouns and four feminine nouns.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built on the website model sentence, with an English translation for Core students.
Students find in the model (● 20s → ◎) the items on the chips. Website model start: هٰذَا بَيْتِي. هُوَ كَبِيرٌ، وَهٰذِهِ غُرْفَتِي. هِيَ صَغِيرَةٌ وَلٰكِنَّهَا مُرَتَّبَةٌ. ة → ت: غُرْفَتِي · حَدِيقَتِنَا. Lexical feminine: الشَّمْسُ حَارَّةٌ.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MASTERY CHECK (FLEX) — the rest of the website final check, for fast finishers or homework. Website guidance: below 70% repeat the mini-check; 70–89% replay the game; 90%+ move on and revisit in 3–7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(GM-N-02 · Singular, Dual and Plural) will spend class time USING this language, so students prepare it tonight — short, simple, easy to access (school guidance: “Simple, Short, Interesting, Relevant, Easy to access”). The five words prepare GM-N-02 (website Nouns lesson 2: singular, dual and plural).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NOUNS  ·  GM-N-01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GM-N-01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Noun Gender</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جِنْسُ الِاسْمِ: الْمُذَكَّرُ وَالْمُؤَنَّثُ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Every Arabic noun is masculine or feminine. Recognise the feminine markers (</a:t>
            </a:r>
            <a:pPr algn="l" indent="0" marL="0">
              <a:buNone/>
            </a:pPr>
            <a:r>
              <a:rPr lang="ar-SA" altLang="en-US" sz="1800" dirty="0">
                <a:solidFill>
                  <a:srgbClr val="C6D2E6"/>
                </a:solidFill>
                <a:latin typeface="Amiri" pitchFamily="2" charset="-78"/>
                <a:cs typeface="Amiri" pitchFamily="2" charset="-78"/>
              </a:rPr>
              <a:t>ة</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اء</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ى</a:t>
            </a:r>
            <a:pPr algn="l" indent="0" marL="0">
              <a:buNone/>
            </a:pPr>
            <a:r>
              <a:rPr lang="en-US" sz="1400" dirty="0">
                <a:solidFill>
                  <a:srgbClr val="C6D2E6"/>
                </a:solidFill>
                <a:latin typeface="Calibri" pitchFamily="34" charset="0"/>
                <a:cs typeface="Amiri" pitchFamily="2" charset="-78"/>
              </a:rPr>
              <a:t>), learn the important exceptions (</a:t>
            </a:r>
            <a:pPr algn="l" indent="0" marL="0">
              <a:buNone/>
            </a:pPr>
            <a:r>
              <a:rPr lang="ar-SA" altLang="en-US" sz="1800" dirty="0">
                <a:solidFill>
                  <a:srgbClr val="C6D2E6"/>
                </a:solidFill>
                <a:latin typeface="Amiri" pitchFamily="2" charset="-78"/>
                <a:cs typeface="Amiri" pitchFamily="2" charset="-78"/>
              </a:rPr>
              <a:t>شَمْسٌ</a:t>
            </a:r>
            <a:pPr algn="l" indent="0" marL="0">
              <a:buNone/>
            </a:pPr>
            <a:r>
              <a:rPr lang="en-US" sz="1400" dirty="0">
                <a:solidFill>
                  <a:srgbClr val="C6D2E6"/>
                </a:solidFill>
                <a:latin typeface="Calibri" pitchFamily="34" charset="0"/>
                <a:cs typeface="Amiri" pitchFamily="2" charset="-78"/>
              </a:rPr>
              <a:t> is feminine; </a:t>
            </a:r>
            <a:pPr algn="l" indent="0" marL="0">
              <a:buNone/>
            </a:pPr>
            <a:r>
              <a:rPr lang="ar-SA" altLang="en-US" sz="1800" dirty="0">
                <a:solidFill>
                  <a:srgbClr val="C6D2E6"/>
                </a:solidFill>
                <a:latin typeface="Amiri" pitchFamily="2" charset="-78"/>
                <a:cs typeface="Amiri" pitchFamily="2" charset="-78"/>
              </a:rPr>
              <a:t>حَمْزَةُ</a:t>
            </a:r>
            <a:pPr algn="l" indent="0" marL="0">
              <a:buNone/>
            </a:pPr>
            <a:r>
              <a:rPr lang="en-US" sz="1400" dirty="0">
                <a:solidFill>
                  <a:srgbClr val="C6D2E6"/>
                </a:solidFill>
                <a:latin typeface="Calibri" pitchFamily="34" charset="0"/>
                <a:cs typeface="Amiri" pitchFamily="2" charset="-78"/>
              </a:rPr>
              <a:t> is masculine) — and make every word that refers back agree (</a:t>
            </a:r>
            <a:pPr algn="l" indent="0" marL="0">
              <a:buNone/>
            </a:pPr>
            <a:r>
              <a:rPr lang="ar-SA" altLang="en-US" sz="1800" dirty="0">
                <a:solidFill>
                  <a:srgbClr val="C6D2E6"/>
                </a:solidFill>
                <a:latin typeface="Amiri" pitchFamily="2" charset="-78"/>
                <a:cs typeface="Amiri" pitchFamily="2" charset="-78"/>
              </a:rPr>
              <a:t>هٰذِهِ الْمَدْرَسَةُ … هِيَ كَبِيرَةٌ</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GM-N-01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Masculine by default; feminine markers; exceptions; agreement across the sentence.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masculine and feminine, repair agreement slips, practise </a:t>
            </a:r>
            <a:pPr algn="ctr" indent="0" marL="0">
              <a:buNone/>
            </a:pPr>
            <a:r>
              <a:rPr lang="ar-SA" altLang="en-US" sz="1550" dirty="0">
                <a:solidFill>
                  <a:srgbClr val="1F2A37"/>
                </a:solidFill>
                <a:latin typeface="Amiri" pitchFamily="2" charset="-78"/>
                <a:cs typeface="Amiri" pitchFamily="2" charset="-78"/>
              </a:rPr>
              <a:t>ة</a:t>
            </a:r>
            <a:pPr algn="ctr" indent="0" marL="0">
              <a:buNone/>
            </a:pPr>
            <a:r>
              <a:rPr lang="en-US" sz="1200" dirty="0">
                <a:solidFill>
                  <a:srgbClr val="1F2A37"/>
                </a:solidFill>
                <a:latin typeface="Calibri" pitchFamily="34" charset="0"/>
                <a:cs typeface="Amiri" pitchFamily="2" charset="-78"/>
              </a:rPr>
              <a:t> → </a:t>
            </a:r>
            <a:pPr algn="ctr" indent="0" marL="0">
              <a:buNone/>
            </a:pPr>
            <a:r>
              <a:rPr lang="ar-SA" altLang="en-US" sz="1550" dirty="0">
                <a:solidFill>
                  <a:srgbClr val="1F2A37"/>
                </a:solidFill>
                <a:latin typeface="Amiri" pitchFamily="2" charset="-78"/>
                <a:cs typeface="Amiri" pitchFamily="2" charset="-78"/>
              </a:rPr>
              <a:t>ت</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GM-N-02.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typically feminine?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مَدْرَسَةٌ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feminine despite having no </a:t>
            </a:r>
            <a:pPr algn="l" indent="0" marL="0">
              <a:buNone/>
            </a:pPr>
            <a:r>
              <a:rPr lang="ar-SA" altLang="en-US" sz="1650" b="1" dirty="0">
                <a:solidFill>
                  <a:srgbClr val="1B3B6F"/>
                </a:solidFill>
                <a:latin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شَمْسٌ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كُرْسِيٌّ</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female teacher”.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agrees with </a:t>
            </a:r>
            <a:pPr algn="l" indent="0" marL="0">
              <a:buNone/>
            </a:pPr>
            <a:r>
              <a:rPr lang="ar-SA" altLang="en-US" sz="1650" b="1" dirty="0">
                <a:solidFill>
                  <a:srgbClr val="1B3B6F"/>
                </a:solidFill>
                <a:latin typeface="Amiri" pitchFamily="2" charset="-78"/>
                <a:cs typeface="Amiri" pitchFamily="2" charset="-78"/>
              </a:rPr>
              <a:t>السَّيَّارَةُ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جَدِيدُونَ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safest?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Gender must be learned from form, meaning and usage.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noun ending </a:t>
            </a:r>
            <a:pPr algn="l" indent="0" marL="0">
              <a:buNone/>
            </a:pPr>
            <a:r>
              <a:rPr lang="ar-SA" altLang="en-US" sz="1650" dirty="0">
                <a:solidFill>
                  <a:srgbClr val="1F2A37"/>
                </a:solidFill>
                <a:latin typeface="Amiri" pitchFamily="2" charset="-78"/>
                <a:cs typeface="Amiri" pitchFamily="2" charset="-78"/>
              </a:rPr>
              <a:t>ة</a:t>
            </a:r>
            <a:pPr algn="l" indent="0" marL="0">
              <a:buNone/>
            </a:pPr>
            <a:r>
              <a:rPr lang="en-US" sz="1250" dirty="0">
                <a:solidFill>
                  <a:srgbClr val="1F2A37"/>
                </a:solidFill>
                <a:latin typeface="Calibri" pitchFamily="34" charset="0"/>
                <a:cs typeface="Amiri" pitchFamily="2" charset="-78"/>
              </a:rPr>
              <a:t> is feminine with no exceptions.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objects are masculine.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typically feminine?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كِتَابٌ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مَدْرَسَةٌ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قَلَمٌ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tāʾ marbūṭa is a common feminine marker.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feminine despite having no </a:t>
            </a:r>
            <a:pPr algn="l" indent="0" marL="0">
              <a:buNone/>
            </a:pPr>
            <a:r>
              <a:rPr lang="ar-SA" altLang="en-US" sz="1650" b="1" dirty="0">
                <a:solidFill>
                  <a:srgbClr val="1B3B6F"/>
                </a:solidFill>
                <a:latin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شَمْسٌ</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بَابٌ</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كُرْسِيٌّ</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Some high-frequency nouns have lexical gender that must be learned.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female teacher”.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مُعَلِّمٌ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مُعَلِّمُونَ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مُعَلِّمَةٌ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profession changes to the feminine form.</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agrees with </a:t>
            </a:r>
            <a:pPr algn="l" indent="0" marL="0">
              <a:buNone/>
            </a:pPr>
            <a:r>
              <a:rPr lang="ar-SA" altLang="en-US" sz="1650" b="1" dirty="0">
                <a:solidFill>
                  <a:srgbClr val="1B3B6F"/>
                </a:solidFill>
                <a:latin typeface="Amiri" pitchFamily="2" charset="-78"/>
                <a:cs typeface="Amiri" pitchFamily="2" charset="-78"/>
              </a:rPr>
              <a:t>السَّيَّارَةُ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جَدِيدٌ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جَدِيدُونَ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جَدِيدَةٌ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adjective follows the feminine noun.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safest?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Gender must be learned from form, meaning and usage.</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Every noun ending </a:t>
            </a:r>
            <a:pPr algn="l" indent="0" marL="0">
              <a:buNone/>
            </a:pPr>
            <a:r>
              <a:rPr lang="ar-SA" altLang="en-US" sz="1500" dirty="0">
                <a:solidFill>
                  <a:srgbClr val="9AA1AB"/>
                </a:solidFill>
                <a:latin typeface="Amiri" pitchFamily="2" charset="-78"/>
                <a:cs typeface="Amiri" pitchFamily="2" charset="-78"/>
              </a:rPr>
              <a:t>ة</a:t>
            </a:r>
            <a:pPr algn="l" indent="0" marL="0">
              <a:buNone/>
            </a:pPr>
            <a:r>
              <a:rPr lang="en-US" sz="1150" dirty="0">
                <a:solidFill>
                  <a:srgbClr val="9AA1AB"/>
                </a:solidFill>
                <a:latin typeface="Calibri" pitchFamily="34" charset="0"/>
                <a:cs typeface="Amiri" pitchFamily="2" charset="-78"/>
              </a:rPr>
              <a:t> is feminine with no exceptions.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objects are masculine.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Markers help, but lexical exceptions exist.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ar-SA" altLang="en-US" sz="1700" b="1" dirty="0">
                <a:solidFill>
                  <a:srgbClr val="1F2A37"/>
                </a:solidFill>
                <a:latin typeface="Amiri" pitchFamily="2" charset="-78"/>
                <a:cs typeface="Amiri" pitchFamily="2" charset="-78"/>
              </a:rPr>
              <a:t>ة</a:t>
            </a:r>
            <a:pPr algn="l" indent="0" marL="0">
              <a:buNone/>
            </a:pPr>
            <a:r>
              <a:rPr lang="en-US" sz="1300" b="1" dirty="0">
                <a:solidFill>
                  <a:srgbClr val="1F2A37"/>
                </a:solidFill>
                <a:latin typeface="Calibri" pitchFamily="34" charset="0"/>
                <a:cs typeface="Amiri" pitchFamily="2" charset="-78"/>
              </a:rPr>
              <a:t> is a strong feminine clue — but learn the exceptions: </a:t>
            </a:r>
            <a:pPr algn="l" indent="0" marL="0">
              <a:buNone/>
            </a:pPr>
            <a:r>
              <a:rPr lang="ar-SA" altLang="en-US" sz="1700" b="1" dirty="0">
                <a:solidFill>
                  <a:srgbClr val="1F2A37"/>
                </a:solidFill>
                <a:latin typeface="Amiri" pitchFamily="2" charset="-78"/>
                <a:cs typeface="Amiri" pitchFamily="2" charset="-78"/>
              </a:rPr>
              <a:t>شَمْسٌ</a:t>
            </a:r>
            <a:pPr algn="l" indent="0" marL="0">
              <a:buNone/>
            </a:pPr>
            <a:r>
              <a:rPr lang="en-US" sz="1300" b="1" dirty="0">
                <a:solidFill>
                  <a:srgbClr val="1F2A37"/>
                </a:solidFill>
                <a:latin typeface="Calibri" pitchFamily="34" charset="0"/>
                <a:cs typeface="Amiri" pitchFamily="2" charset="-78"/>
              </a:rPr>
              <a:t>, </a:t>
            </a:r>
            <a:pPr algn="l" indent="0" marL="0">
              <a:buNone/>
            </a:pPr>
            <a:r>
              <a:rPr lang="ar-SA" altLang="en-US" sz="1700" b="1" dirty="0">
                <a:solidFill>
                  <a:srgbClr val="1F2A37"/>
                </a:solidFill>
                <a:latin typeface="Amiri" pitchFamily="2" charset="-78"/>
                <a:cs typeface="Amiri" pitchFamily="2" charset="-78"/>
              </a:rPr>
              <a:t>أَرْضٌ</a:t>
            </a:r>
            <a:pPr algn="l" indent="0" marL="0">
              <a:buNone/>
            </a:pPr>
            <a:r>
              <a:rPr lang="en-US" sz="1300" b="1" dirty="0">
                <a:solidFill>
                  <a:srgbClr val="1F2A37"/>
                </a:solidFill>
                <a:latin typeface="Calibri" pitchFamily="34" charset="0"/>
                <a:cs typeface="Amiri" pitchFamily="2" charset="-78"/>
              </a:rPr>
              <a:t> are feminine; </a:t>
            </a:r>
            <a:pPr algn="l" indent="0" marL="0">
              <a:buNone/>
            </a:pPr>
            <a:r>
              <a:rPr lang="ar-SA" altLang="en-US" sz="1700" b="1" dirty="0">
                <a:solidFill>
                  <a:srgbClr val="1F2A37"/>
                </a:solidFill>
                <a:latin typeface="Amiri" pitchFamily="2" charset="-78"/>
                <a:cs typeface="Amiri" pitchFamily="2" charset="-78"/>
              </a:rPr>
              <a:t>حَمْزَةُ</a:t>
            </a:r>
            <a:pPr algn="l" indent="0" marL="0">
              <a:buNone/>
            </a:pPr>
            <a:r>
              <a:rPr lang="en-US" sz="1300" b="1" dirty="0">
                <a:solidFill>
                  <a:srgbClr val="1F2A37"/>
                </a:solidFill>
                <a:latin typeface="Calibri" pitchFamily="34" charset="0"/>
                <a:cs typeface="Amiri" pitchFamily="2" charset="-78"/>
              </a:rPr>
              <a:t> is a man.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مَدْرَسَةٌ · </a:t>
            </a:r>
            <a:pPr rtl="1" algn="ctr" indent="0" marL="0">
              <a:buNone/>
            </a:pPr>
            <a:r>
              <a:rPr lang="ar-SA" altLang="en-US" sz="2400" b="1" dirty="0">
                <a:solidFill>
                  <a:srgbClr val="0E7C86"/>
                </a:solidFill>
                <a:latin typeface="Amiri" pitchFamily="2" charset="-78"/>
                <a:cs typeface="Amiri" pitchFamily="2" charset="-78"/>
              </a:rPr>
              <a:t>شَمْسٌ</a:t>
            </a:r>
            <a:pPr rtl="1" algn="ctr" indent="0" marL="0">
              <a:buNone/>
            </a:pPr>
            <a:r>
              <a:rPr lang="ar-SA" altLang="en-US" sz="2400" b="1" dirty="0">
                <a:solidFill>
                  <a:srgbClr val="1B3B6F"/>
                </a:solidFill>
                <a:latin typeface="Amiri" pitchFamily="2" charset="-78"/>
                <a:cs typeface="Amiri" pitchFamily="2" charset="-78"/>
              </a:rPr>
              <a:t> ‖ كِتَابٌ · </a:t>
            </a:r>
            <a:pPr rtl="1" algn="ctr" indent="0" marL="0">
              <a:buNone/>
            </a:pPr>
            <a:r>
              <a:rPr lang="ar-SA" altLang="en-US" sz="2400" b="1" dirty="0">
                <a:solidFill>
                  <a:srgbClr val="1D5FBF"/>
                </a:solidFill>
                <a:latin typeface="Amiri" pitchFamily="2" charset="-78"/>
                <a:cs typeface="Amiri" pitchFamily="2" charset="-78"/>
              </a:rPr>
              <a:t>حَمْزَةُ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masculine nouns and the feminine markers </a:t>
            </a:r>
            <a:pPr algn="l" indent="0" marL="0">
              <a:buNone/>
            </a:pPr>
            <a:r>
              <a:rPr lang="ar-SA" altLang="en-US" sz="1700" dirty="0">
                <a:solidFill>
                  <a:srgbClr val="1F2A37"/>
                </a:solidFill>
                <a:latin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اء</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Learn common exceptions: feminines without </a:t>
            </a:r>
            <a:pPr algn="l" indent="0" marL="0">
              <a:buNone/>
            </a:pPr>
            <a:r>
              <a:rPr lang="ar-SA" altLang="en-US" sz="1700" dirty="0">
                <a:solidFill>
                  <a:srgbClr val="1F2A37"/>
                </a:solidFill>
                <a:latin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and masculine names with </a:t>
            </a:r>
            <a:pPr algn="l" indent="0" marL="0">
              <a:buNone/>
            </a:pPr>
            <a:r>
              <a:rPr lang="ar-SA" altLang="en-US" sz="1700" dirty="0">
                <a:solidFill>
                  <a:srgbClr val="1F2A37"/>
                </a:solidFill>
                <a:latin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adjectives, demonstratives, pronouns and verbs agree in gender.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Change </a:t>
            </a:r>
            <a:pPr algn="l" indent="0" marL="0">
              <a:buNone/>
            </a:pPr>
            <a:r>
              <a:rPr lang="ar-SA" altLang="en-US" sz="1700" dirty="0">
                <a:solidFill>
                  <a:srgbClr val="1F2A37"/>
                </a:solidFill>
                <a:latin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to </a:t>
            </a:r>
            <a:pPr algn="l" indent="0" marL="0">
              <a:buNone/>
            </a:pPr>
            <a:r>
              <a:rPr lang="ar-SA" altLang="en-US" sz="1700" dirty="0">
                <a:solidFill>
                  <a:srgbClr val="1F2A37"/>
                </a:solidFill>
                <a:latin typeface="Amiri" pitchFamily="2" charset="-78"/>
                <a:cs typeface="Amiri" pitchFamily="2" charset="-78"/>
              </a:rPr>
              <a:t>ت</a:t>
            </a:r>
            <a:pPr algn="l" indent="0" marL="0">
              <a:buNone/>
            </a:pPr>
            <a:r>
              <a:rPr lang="en-US" sz="1300" dirty="0">
                <a:solidFill>
                  <a:srgbClr val="1F2A37"/>
                </a:solidFill>
                <a:latin typeface="Calibri" pitchFamily="34" charset="0"/>
                <a:cs typeface="Amiri" pitchFamily="2" charset="-78"/>
              </a:rPr>
              <a:t> before a possessive suffix.</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sort nouns by the </a:t>
            </a:r>
            <a:pPr algn="l" indent="0" marL="0">
              <a:buNone/>
            </a:pPr>
            <a:r>
              <a:rPr lang="ar-SA" altLang="en-US" sz="1700" b="1" dirty="0">
                <a:solidFill>
                  <a:srgbClr val="2E8B57"/>
                </a:solidFill>
                <a:latin typeface="Amiri" pitchFamily="2" charset="-78"/>
                <a:cs typeface="Amiri" pitchFamily="2" charset="-78"/>
              </a:rPr>
              <a:t>ة</a:t>
            </a:r>
            <a:pPr algn="l" indent="0" marL="0">
              <a:buNone/>
            </a:pPr>
            <a:r>
              <a:rPr lang="en-US" sz="1300" b="1" dirty="0">
                <a:solidFill>
                  <a:srgbClr val="2E8B57"/>
                </a:solidFill>
                <a:latin typeface="Calibri" pitchFamily="34" charset="0"/>
                <a:cs typeface="Amiri" pitchFamily="2" charset="-78"/>
              </a:rPr>
              <a:t> clue.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make an adjective agree: </a:t>
            </a:r>
            <a:pPr algn="l" indent="0" marL="0">
              <a:buNone/>
            </a:pPr>
            <a:r>
              <a:rPr lang="ar-SA" altLang="en-US" sz="1700" b="1" dirty="0">
                <a:solidFill>
                  <a:srgbClr val="2E8B57"/>
                </a:solidFill>
                <a:latin typeface="Amiri" pitchFamily="2" charset="-78"/>
                <a:cs typeface="Amiri" pitchFamily="2" charset="-78"/>
              </a:rPr>
              <a:t>سَيَّارَةٌ سَرِيعَةٌ</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a:t>
            </a:r>
            <a:pPr algn="l" indent="0" marL="0">
              <a:buNone/>
            </a:pPr>
            <a:r>
              <a:rPr lang="ar-SA" altLang="en-US" sz="1700" b="1" dirty="0">
                <a:solidFill>
                  <a:srgbClr val="C9780A"/>
                </a:solidFill>
                <a:latin typeface="Amiri" pitchFamily="2" charset="-78"/>
                <a:cs typeface="Amiri" pitchFamily="2" charset="-78"/>
              </a:rPr>
              <a:t>هٰذَا / هٰذِهِ</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cs typeface="Amiri" pitchFamily="2" charset="-78"/>
              </a:rPr>
              <a:t>هُوَ / هِيَ</a:t>
            </a:r>
            <a:pPr algn="l" indent="0" marL="0">
              <a:buNone/>
            </a:pPr>
            <a:r>
              <a:rPr lang="en-US" sz="1300" b="1" dirty="0">
                <a:solidFill>
                  <a:srgbClr val="C9780A"/>
                </a:solidFill>
                <a:latin typeface="Calibri" pitchFamily="34" charset="0"/>
                <a:cs typeface="Amiri" pitchFamily="2" charset="-78"/>
              </a:rPr>
              <a:t> correctly.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masculine and feminine professions.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know shams, arḍ, nafs, ḥarb are feminine.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t>
            </a:r>
            <a:pPr algn="l" indent="0" marL="0">
              <a:buNone/>
            </a:pPr>
            <a:r>
              <a:rPr lang="ar-SA" altLang="en-US" sz="1700" b="1" dirty="0">
                <a:solidFill>
                  <a:srgbClr val="B83227"/>
                </a:solidFill>
                <a:latin typeface="Amiri" pitchFamily="2" charset="-78"/>
                <a:cs typeface="Amiri" pitchFamily="2" charset="-78"/>
              </a:rPr>
              <a:t>مَدْرَسَتِي</a:t>
            </a:r>
            <a:pPr algn="l" indent="0" marL="0">
              <a:buNone/>
            </a:pPr>
            <a:r>
              <a:rPr lang="en-US" sz="1300" b="1" dirty="0">
                <a:solidFill>
                  <a:srgbClr val="B83227"/>
                </a:solidFill>
                <a:latin typeface="Calibri" pitchFamily="34" charset="0"/>
                <a:cs typeface="Amiri" pitchFamily="2" charset="-78"/>
              </a:rPr>
              <a:t>, not </a:t>
            </a:r>
            <a:pPr algn="l" indent="0" marL="0">
              <a:buNone/>
            </a:pPr>
            <a:r>
              <a:rPr lang="ar-SA" altLang="en-US" sz="1700" b="1" dirty="0">
                <a:solidFill>
                  <a:srgbClr val="B83227"/>
                </a:solidFill>
                <a:latin typeface="Amiri" pitchFamily="2" charset="-78"/>
                <a:cs typeface="Amiri" pitchFamily="2" charset="-78"/>
              </a:rPr>
              <a:t>مَدْرَسَةِي</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مُذَكَّرٌ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masculine</a:t>
            </a:r>
            <a:endParaRPr lang="en-US" sz="1350" dirty="0"/>
          </a:p>
          <a:p>
            <a:pPr indent="0" marL="0">
              <a:buNone/>
            </a:pPr>
            <a:r>
              <a:rPr lang="en-US" sz="1100" i="1" dirty="0">
                <a:solidFill>
                  <a:srgbClr val="5A6472"/>
                </a:solidFill>
                <a:latin typeface="Calibri" pitchFamily="34" charset="0"/>
                <a:cs typeface="Amiri" pitchFamily="2" charset="-78"/>
              </a:rPr>
              <a:t>mu-dhak-ka-run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كِتَابٌ · بَيْتٌ · قَلَمٌ</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مُؤَنَّثٌ</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feminine</a:t>
            </a:r>
            <a:endParaRPr lang="en-US" sz="1350" dirty="0"/>
          </a:p>
          <a:p>
            <a:pPr indent="0" marL="0">
              <a:buNone/>
            </a:pPr>
            <a:r>
              <a:rPr lang="en-US" sz="1100" i="1" dirty="0">
                <a:solidFill>
                  <a:srgbClr val="5A6472"/>
                </a:solidFill>
                <a:latin typeface="Calibri" pitchFamily="34" charset="0"/>
                <a:cs typeface="Amiri" pitchFamily="2" charset="-78"/>
              </a:rPr>
              <a:t>mu-ʾan-na-thun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مَدْرَسَةٌ · سَيَّارَةٌ</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تَاءٌ مَرْبُوطَةٌ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tāʾ marbūṭa (ة)</a:t>
            </a:r>
            <a:endParaRPr lang="en-US" sz="1350" dirty="0"/>
          </a:p>
          <a:p>
            <a:pPr indent="0" marL="0">
              <a:buNone/>
            </a:pPr>
            <a:r>
              <a:rPr lang="en-US" sz="1100" i="1" dirty="0">
                <a:solidFill>
                  <a:srgbClr val="5A6472"/>
                </a:solidFill>
                <a:latin typeface="Calibri" pitchFamily="34" charset="0"/>
                <a:cs typeface="Amiri" pitchFamily="2" charset="-78"/>
              </a:rPr>
              <a:t>tā-ʾun mar-bū-ṭa-tun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commonest feminine marker</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مُؤَنَّثٌ مَعْنَوِيٌّ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feminine by meaning / usage</a:t>
            </a:r>
            <a:endParaRPr lang="en-US" sz="1350" dirty="0"/>
          </a:p>
          <a:p>
            <a:pPr indent="0" marL="0">
              <a:buNone/>
            </a:pPr>
            <a:r>
              <a:rPr lang="en-US" sz="1100" i="1" dirty="0">
                <a:solidFill>
                  <a:srgbClr val="5A6472"/>
                </a:solidFill>
                <a:latin typeface="Calibri" pitchFamily="34" charset="0"/>
                <a:cs typeface="Amiri" pitchFamily="2" charset="-78"/>
              </a:rPr>
              <a:t>mu-ʾan-na-thun maʿ-na-wiy-yun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شَمْسٌ · أَرْضٌ · أُمٌّ</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جِنْسٌ</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gender</a:t>
            </a:r>
            <a:endParaRPr lang="en-US" sz="1350" dirty="0"/>
          </a:p>
          <a:p>
            <a:pPr indent="0" marL="0">
              <a:buNone/>
            </a:pPr>
            <a:r>
              <a:rPr lang="en-US" sz="1100" i="1" dirty="0">
                <a:solidFill>
                  <a:srgbClr val="5A6472"/>
                </a:solidFill>
                <a:latin typeface="Calibri" pitchFamily="34" charset="0"/>
                <a:cs typeface="Amiri" pitchFamily="2" charset="-78"/>
              </a:rPr>
              <a:t>jin-sun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جِنْسُ الِاسْمِ</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مُطَابَقَةٌ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agreement</a:t>
            </a:r>
            <a:endParaRPr lang="en-US" sz="1350" dirty="0"/>
          </a:p>
          <a:p>
            <a:pPr indent="0" marL="0">
              <a:buNone/>
            </a:pPr>
            <a:r>
              <a:rPr lang="en-US" sz="1100" i="1" dirty="0">
                <a:solidFill>
                  <a:srgbClr val="5A6472"/>
                </a:solidFill>
                <a:latin typeface="Calibri" pitchFamily="34" charset="0"/>
                <a:cs typeface="Amiri" pitchFamily="2" charset="-78"/>
              </a:rPr>
              <a:t>mu-ṭā-ba-qa-tun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adjective · demonstrative · pronoun · verb</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 (2 OF 2)</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أَلِفٌ مَقْصُورَةٌ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 alif ى</a:t>
            </a:r>
            <a:endParaRPr lang="en-US" sz="1350" dirty="0"/>
          </a:p>
          <a:p>
            <a:pPr indent="0" marL="0">
              <a:buNone/>
            </a:pPr>
            <a:r>
              <a:rPr lang="en-US" sz="1100" i="1" dirty="0">
                <a:solidFill>
                  <a:srgbClr val="5A6472"/>
                </a:solidFill>
                <a:latin typeface="Calibri" pitchFamily="34" charset="0"/>
                <a:cs typeface="Amiri" pitchFamily="2" charset="-78"/>
              </a:rPr>
              <a:t>a-li-fun maq-ṣū-ra-tun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ذِكْرَى · كُبْرَى</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أَلِفٌ مَمْدُودَةٌ</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 ـاء</a:t>
            </a:r>
            <a:endParaRPr lang="en-US" sz="1350" dirty="0"/>
          </a:p>
          <a:p>
            <a:pPr indent="0" marL="0">
              <a:buNone/>
            </a:pPr>
            <a:r>
              <a:rPr lang="en-US" sz="1100" i="1" dirty="0">
                <a:solidFill>
                  <a:srgbClr val="5A6472"/>
                </a:solidFill>
                <a:latin typeface="Calibri" pitchFamily="34" charset="0"/>
                <a:cs typeface="Amiri" pitchFamily="2" charset="-78"/>
              </a:rPr>
              <a:t>a-li-fun mam-dū-da-tun</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صَحْرَاءُ · حَمْرَاءُ</a:t>
            </a:r>
            <a:endParaRPr lang="ar-SA" sz="13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RECOGNISING GENDER (WEBSITE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Masculine or feminine?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الْمُذَكَّرُ وَالْمُؤَنَّثُ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Every Arabic noun is grammatically masculine or feminine — even objects, places and ideas.</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Many nouns with no feminine marker are masculine: book, house, pen, restaurant (first example).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commonest feminine marker is </a:t>
            </a:r>
            <a:pPr algn="l" indent="0" marL="0">
              <a:buNone/>
            </a:pPr>
            <a:r>
              <a:rPr lang="ar-SA" altLang="en-US" sz="1700" dirty="0">
                <a:solidFill>
                  <a:srgbClr val="1F2A37"/>
                </a:solidFill>
                <a:latin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(tāʾ marbūṭa): school, car.</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Two more feminine endings: </a:t>
            </a:r>
            <a:pPr algn="l" indent="0" marL="0">
              <a:buNone/>
            </a:pPr>
            <a:r>
              <a:rPr lang="ar-SA" altLang="en-US" sz="1700" dirty="0">
                <a:solidFill>
                  <a:srgbClr val="1F2A37"/>
                </a:solidFill>
                <a:latin typeface="Amiri" pitchFamily="2" charset="-78"/>
                <a:cs typeface="Amiri" pitchFamily="2" charset="-78"/>
              </a:rPr>
              <a:t>ـاء</a:t>
            </a:r>
            <a:pPr algn="l" indent="0" marL="0">
              <a:buNone/>
            </a:pPr>
            <a:r>
              <a:rPr lang="en-US" sz="1300" dirty="0">
                <a:solidFill>
                  <a:srgbClr val="1F2A37"/>
                </a:solidFill>
                <a:latin typeface="Calibri" pitchFamily="34" charset="0"/>
                <a:cs typeface="Amiri" pitchFamily="2" charset="-78"/>
              </a:rPr>
              <a:t> (desert) and </a:t>
            </a:r>
            <a:pPr algn="l" indent="0" marL="0">
              <a:buNone/>
            </a:pPr>
            <a:r>
              <a:rPr lang="ar-SA" altLang="en-US" sz="1700" dirty="0">
                <a:solidFill>
                  <a:srgbClr val="1F2A37"/>
                </a:solidFill>
                <a:latin typeface="Amiri" pitchFamily="2" charset="-78"/>
                <a:cs typeface="Amiri" pitchFamily="2" charset="-78"/>
              </a:rPr>
              <a:t>ى</a:t>
            </a:r>
            <a:pPr algn="l" indent="0" marL="0">
              <a:buNone/>
            </a:pPr>
            <a:r>
              <a:rPr lang="en-US" sz="1300" dirty="0">
                <a:solidFill>
                  <a:srgbClr val="1F2A37"/>
                </a:solidFill>
                <a:latin typeface="Calibri" pitchFamily="34" charset="0"/>
                <a:cs typeface="Amiri" pitchFamily="2" charset="-78"/>
              </a:rPr>
              <a:t> (memory, the greatest — f.).</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Shape is a clue, not a rule: some feminines have no </a:t>
            </a:r>
            <a:pPr algn="l" indent="0" marL="0">
              <a:buNone/>
            </a:pPr>
            <a:r>
              <a:rPr lang="ar-SA" altLang="en-US" sz="1700" dirty="0">
                <a:solidFill>
                  <a:srgbClr val="1F2A37"/>
                </a:solidFill>
                <a:latin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and some male names end in </a:t>
            </a:r>
            <a:pPr algn="l" indent="0" marL="0">
              <a:buNone/>
            </a:pPr>
            <a:r>
              <a:rPr lang="ar-SA" altLang="en-US" sz="1700" dirty="0">
                <a:solidFill>
                  <a:srgbClr val="1F2A37"/>
                </a:solidFill>
                <a:latin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كِتَابٌ · بَيْتٌ · قَلَمٌ · مَطْعَمٌ</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masculine — no marker</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مَدْرَسَةٌ · سَيَّارَةٌ</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feminine — </a:t>
            </a:r>
            <a:pPr algn="ctr" indent="0" marL="0">
              <a:buNone/>
            </a:pPr>
            <a:r>
              <a:rPr lang="ar-SA" altLang="en-US" sz="1450" dirty="0">
                <a:solidFill>
                  <a:srgbClr val="5A6472"/>
                </a:solidFill>
                <a:latin typeface="Amiri" pitchFamily="2" charset="-78"/>
                <a:cs typeface="Amiri" pitchFamily="2" charset="-78"/>
              </a:rPr>
              <a:t>ة</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صَحْرَاءُ · حَمْرَاءُ</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feminine — </a:t>
            </a:r>
            <a:pPr algn="ctr" indent="0" marL="0">
              <a:buNone/>
            </a:pPr>
            <a:r>
              <a:rPr lang="ar-SA" altLang="en-US" sz="1450" dirty="0">
                <a:solidFill>
                  <a:srgbClr val="5A6472"/>
                </a:solidFill>
                <a:latin typeface="Amiri" pitchFamily="2" charset="-78"/>
                <a:cs typeface="Amiri" pitchFamily="2" charset="-78"/>
              </a:rPr>
              <a:t>ـاء</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ذِكْرَى · كُبْرَى</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feminine — </a:t>
            </a:r>
            <a:pPr algn="ctr" indent="0" marL="0">
              <a:buNone/>
            </a:pPr>
            <a:r>
              <a:rPr lang="ar-SA" altLang="en-US" sz="1450" dirty="0">
                <a:solidFill>
                  <a:srgbClr val="5A6472"/>
                </a:solidFill>
                <a:latin typeface="Amiri" pitchFamily="2" charset="-78"/>
                <a:cs typeface="Amiri" pitchFamily="2" charset="-78"/>
              </a:rPr>
              <a:t>ى</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WATCH OUT</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 not classify by shape alone (website): Ḥamza is a man’s name ending in </a:t>
            </a:r>
            <a:pPr algn="l" indent="0" marL="0">
              <a:buNone/>
            </a:pPr>
            <a:r>
              <a:rPr lang="ar-SA" altLang="en-US" sz="1650" dirty="0">
                <a:solidFill>
                  <a:srgbClr val="1F2A37"/>
                </a:solidFill>
                <a:latin typeface="Amiri" pitchFamily="2" charset="-78"/>
                <a:cs typeface="Amiri" pitchFamily="2" charset="-78"/>
              </a:rPr>
              <a:t>ة</a:t>
            </a:r>
            <a:pPr algn="l" indent="0" marL="0">
              <a:buNone/>
            </a:pPr>
            <a:r>
              <a:rPr lang="en-US" sz="1250" dirty="0">
                <a:solidFill>
                  <a:srgbClr val="1F2A37"/>
                </a:solidFill>
                <a:latin typeface="Calibri" pitchFamily="34" charset="0"/>
                <a:cs typeface="Amiri" pitchFamily="2" charset="-78"/>
              </a:rPr>
              <a:t>, while shams, arḍ, nafs and ḥarb are feminine without it.</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FOUR KINDS OF GENDER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do we know a noun’s gender?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أَنْوَاعُ الْمُؤَنَّثِ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to learn it (website)</a:t>
            </a:r>
            <a:endParaRPr lang="en-US" sz="1100" dirty="0"/>
          </a:p>
        </p:txBody>
      </p:sp>
      <p:sp>
        <p:nvSpPr>
          <p:cNvPr id="17" name="Text 14"/>
          <p:cNvSpPr txBox="1"/>
          <p:nvPr/>
        </p:nvSpPr>
        <p:spPr>
          <a:xfrm>
            <a:off x="327355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Examples</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99248" y="2267712"/>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meaning and form</a:t>
            </a:r>
            <a:endParaRPr lang="en-US" sz="1100" dirty="0"/>
          </a:p>
        </p:txBody>
      </p:sp>
      <p:sp>
        <p:nvSpPr>
          <p:cNvPr id="21" name="Text 18"/>
          <p:cNvSpPr txBox="1"/>
          <p:nvPr/>
        </p:nvSpPr>
        <p:spPr>
          <a:xfrm>
            <a:off x="3291840" y="2267712"/>
            <a:ext cx="4206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أَبٌ / أُمٌّ · مُعَلِّمٌ / مُعَلِّمَةٌ</a:t>
            </a:r>
            <a:endParaRPr lang="ar-SA" sz="24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natural gender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699248" y="300471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notice the ending </a:t>
            </a:r>
            <a:pPr algn="l" indent="0" marL="0">
              <a:buNone/>
            </a:pPr>
            <a:r>
              <a:rPr lang="ar-SA" altLang="en-US" sz="1450" dirty="0">
                <a:solidFill>
                  <a:srgbClr val="5A6472"/>
                </a:solidFill>
                <a:latin typeface="Amiri" pitchFamily="2" charset="-78"/>
                <a:cs typeface="Amiri" pitchFamily="2" charset="-78"/>
              </a:rPr>
              <a:t>ة</a:t>
            </a:r>
            <a:endParaRPr lang="en-US" sz="1100" dirty="0"/>
          </a:p>
        </p:txBody>
      </p:sp>
      <p:sp>
        <p:nvSpPr>
          <p:cNvPr id="27" name="Text 24"/>
          <p:cNvSpPr txBox="1"/>
          <p:nvPr/>
        </p:nvSpPr>
        <p:spPr>
          <a:xfrm>
            <a:off x="3291840" y="3004718"/>
            <a:ext cx="4206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غُرْفَةٌ · جَامِعَةٌ</a:t>
            </a:r>
            <a:endParaRPr lang="ar-SA" sz="24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marked feminine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699248" y="3741725"/>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memorise WITH its agreement</a:t>
            </a:r>
            <a:endParaRPr lang="en-US" sz="1100" dirty="0"/>
          </a:p>
        </p:txBody>
      </p:sp>
      <p:sp>
        <p:nvSpPr>
          <p:cNvPr id="33" name="Text 30"/>
          <p:cNvSpPr txBox="1"/>
          <p:nvPr/>
        </p:nvSpPr>
        <p:spPr>
          <a:xfrm>
            <a:off x="3291840" y="3741725"/>
            <a:ext cx="4206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شَمْسٌ · دَارٌ · رِيحٌ · أَرْضٌ</a:t>
            </a:r>
            <a:endParaRPr lang="ar-SA" sz="24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lexical feminine (no </a:t>
            </a:r>
            <a:pPr algn="l" indent="0" marL="0">
              <a:buNone/>
            </a:pPr>
            <a:r>
              <a:rPr lang="ar-SA" altLang="en-US" sz="1450" dirty="0">
                <a:solidFill>
                  <a:srgbClr val="5A6472"/>
                </a:solidFill>
                <a:latin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699248" y="4478731"/>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recognise the names</a:t>
            </a:r>
            <a:endParaRPr lang="en-US" sz="1100" dirty="0"/>
          </a:p>
        </p:txBody>
      </p:sp>
      <p:sp>
        <p:nvSpPr>
          <p:cNvPr id="37" name="Text 34"/>
          <p:cNvSpPr txBox="1"/>
          <p:nvPr/>
        </p:nvSpPr>
        <p:spPr>
          <a:xfrm>
            <a:off x="3291840" y="4478731"/>
            <a:ext cx="4206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حَمْزَةُ · أُسَامَةُ</a:t>
            </a:r>
            <a:endParaRPr lang="ar-SA" sz="2400" dirty="0"/>
          </a:p>
        </p:txBody>
      </p:sp>
      <p:sp>
        <p:nvSpPr>
          <p:cNvPr id="38" name="Text 35"/>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name in </a:t>
            </a:r>
            <a:pPr algn="l" indent="0" marL="0">
              <a:buNone/>
            </a:pPr>
            <a:r>
              <a:rPr lang="ar-SA" altLang="en-US" sz="1450" dirty="0">
                <a:solidFill>
                  <a:srgbClr val="5A6472"/>
                </a:solidFill>
                <a:latin typeface="Amiri" pitchFamily="2" charset="-78"/>
                <a:cs typeface="Amiri" pitchFamily="2" charset="-78"/>
              </a:rPr>
              <a:t>ة</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699248" y="521573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without </a:t>
            </a:r>
            <a:pPr algn="l" indent="0" marL="0">
              <a:buNone/>
            </a:pPr>
            <a:r>
              <a:rPr lang="ar-SA" altLang="en-US" sz="1450" dirty="0">
                <a:solidFill>
                  <a:srgbClr val="5A6472"/>
                </a:solidFill>
                <a:latin typeface="Amiri" pitchFamily="2" charset="-78"/>
                <a:cs typeface="Amiri" pitchFamily="2" charset="-78"/>
              </a:rPr>
              <a:t>ة</a:t>
            </a:r>
            <a:endParaRPr lang="en-US" sz="1100" dirty="0"/>
          </a:p>
        </p:txBody>
      </p:sp>
      <p:sp>
        <p:nvSpPr>
          <p:cNvPr id="41" name="Text 38"/>
          <p:cNvSpPr txBox="1"/>
          <p:nvPr/>
        </p:nvSpPr>
        <p:spPr>
          <a:xfrm>
            <a:off x="3291840" y="5215738"/>
            <a:ext cx="42062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عَيْنٌ · يَدٌ · رِجْلٌ · أُذُنٌ</a:t>
            </a:r>
            <a:endParaRPr lang="ar-SA" sz="2400" dirty="0"/>
          </a:p>
        </p:txBody>
      </p:sp>
      <p:sp>
        <p:nvSpPr>
          <p:cNvPr id="42" name="Text 39"/>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body parts in pairs (Stretch)</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Learn lexical feminines in a phrase, never alone: </a:t>
            </a:r>
            <a:pPr algn="l" indent="0" marL="0">
              <a:buNone/>
            </a:pPr>
            <a:r>
              <a:rPr lang="ar-SA" altLang="en-US" sz="1500" b="1" dirty="0">
                <a:solidFill>
                  <a:srgbClr val="1B3B6F"/>
                </a:solidFill>
                <a:latin typeface="Amiri" pitchFamily="2" charset="-78"/>
                <a:cs typeface="Amiri" pitchFamily="2" charset="-78"/>
              </a:rPr>
              <a:t>الشَّمْسُ حَارَّةٌ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cs typeface="Amiri" pitchFamily="2" charset="-78"/>
              </a:rPr>
              <a:t>الْأَرْضُ وَاسِعَةٌ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 PART 3 · GENDER AGREEMENT ACROSS THE SENTENCE (WEBSITE SECTION)</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Everything that refers back agrees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الْمُطَابَقَةُ فِي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9691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noun</a:t>
            </a:r>
            <a:endParaRPr lang="en-US" sz="1100" dirty="0"/>
          </a:p>
        </p:txBody>
      </p:sp>
      <p:sp>
        <p:nvSpPr>
          <p:cNvPr id="17" name="Text 14"/>
          <p:cNvSpPr txBox="1"/>
          <p:nvPr/>
        </p:nvSpPr>
        <p:spPr>
          <a:xfrm>
            <a:off x="30906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noun</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 that agrees</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315200" y="2267712"/>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مَدْرَسَةٌ كَبِيرَةٌ</a:t>
            </a:r>
            <a:endParaRPr lang="ar-SA" sz="2400" dirty="0"/>
          </a:p>
        </p:txBody>
      </p:sp>
      <p:sp>
        <p:nvSpPr>
          <p:cNvPr id="21" name="Text 18"/>
          <p:cNvSpPr txBox="1"/>
          <p:nvPr/>
        </p:nvSpPr>
        <p:spPr>
          <a:xfrm>
            <a:off x="3108960"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بَيْتٌ كَبِيرٌ</a:t>
            </a:r>
            <a:endParaRPr lang="ar-SA" sz="2400" dirty="0"/>
          </a:p>
        </p:txBody>
      </p:sp>
      <p:sp>
        <p:nvSpPr>
          <p:cNvPr id="22" name="Text 19"/>
          <p:cNvSpPr txBox="1"/>
          <p:nvPr/>
        </p:nvSpPr>
        <p:spPr>
          <a:xfrm>
            <a:off x="566928" y="2267712"/>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315200" y="3004718"/>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هٰذِهِ الْمَدْرَسَةُ</a:t>
            </a:r>
            <a:endParaRPr lang="ar-SA" sz="2400" dirty="0"/>
          </a:p>
        </p:txBody>
      </p:sp>
      <p:sp>
        <p:nvSpPr>
          <p:cNvPr id="27" name="Text 24"/>
          <p:cNvSpPr txBox="1"/>
          <p:nvPr/>
        </p:nvSpPr>
        <p:spPr>
          <a:xfrm>
            <a:off x="3108960"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هٰذَا الْبَيْتُ</a:t>
            </a:r>
            <a:endParaRPr lang="ar-SA" sz="2400" dirty="0"/>
          </a:p>
        </p:txBody>
      </p:sp>
      <p:sp>
        <p:nvSpPr>
          <p:cNvPr id="28" name="Text 25"/>
          <p:cNvSpPr txBox="1"/>
          <p:nvPr/>
        </p:nvSpPr>
        <p:spPr>
          <a:xfrm>
            <a:off x="566928" y="300471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demonstrative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315200" y="3741725"/>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هِيَ قَرِيبَةٌ.</a:t>
            </a:r>
            <a:endParaRPr lang="ar-SA" sz="2400" dirty="0"/>
          </a:p>
        </p:txBody>
      </p:sp>
      <p:sp>
        <p:nvSpPr>
          <p:cNvPr id="33" name="Text 30"/>
          <p:cNvSpPr txBox="1"/>
          <p:nvPr/>
        </p:nvSpPr>
        <p:spPr>
          <a:xfrm>
            <a:off x="3108960"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هُوَ قَرِيبٌ.</a:t>
            </a:r>
            <a:endParaRPr lang="ar-SA" sz="2400" dirty="0"/>
          </a:p>
        </p:txBody>
      </p:sp>
      <p:sp>
        <p:nvSpPr>
          <p:cNvPr id="34" name="Text 31"/>
          <p:cNvSpPr txBox="1"/>
          <p:nvPr/>
        </p:nvSpPr>
        <p:spPr>
          <a:xfrm>
            <a:off x="566928" y="3741725"/>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pronoun</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315200" y="4478731"/>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وَصَلَتِ الْحَافِلَةُ.</a:t>
            </a:r>
            <a:endParaRPr lang="ar-SA" sz="2400" dirty="0"/>
          </a:p>
        </p:txBody>
      </p:sp>
      <p:sp>
        <p:nvSpPr>
          <p:cNvPr id="39" name="Text 36"/>
          <p:cNvSpPr txBox="1"/>
          <p:nvPr/>
        </p:nvSpPr>
        <p:spPr>
          <a:xfrm>
            <a:off x="3108960"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وَصَلَ الْقِطَارُ.</a:t>
            </a:r>
            <a:endParaRPr lang="ar-SA" sz="2400" dirty="0"/>
          </a:p>
        </p:txBody>
      </p:sp>
      <p:sp>
        <p:nvSpPr>
          <p:cNvPr id="40" name="Text 37"/>
          <p:cNvSpPr txBox="1"/>
          <p:nvPr/>
        </p:nvSpPr>
        <p:spPr>
          <a:xfrm>
            <a:off x="566928" y="4478731"/>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verb</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315200" y="5215738"/>
            <a:ext cx="432511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تَبْدَأُ الْمُبَارَاةُ.</a:t>
            </a:r>
            <a:endParaRPr lang="ar-SA" sz="2400" dirty="0"/>
          </a:p>
        </p:txBody>
      </p:sp>
      <p:sp>
        <p:nvSpPr>
          <p:cNvPr id="43" name="Text 40"/>
          <p:cNvSpPr txBox="1"/>
          <p:nvPr/>
        </p:nvSpPr>
        <p:spPr>
          <a:xfrm>
            <a:off x="3108960"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يَبْدَأُ الدَّرْسُ.</a:t>
            </a:r>
            <a:endParaRPr lang="ar-SA" sz="2400" dirty="0"/>
          </a:p>
        </p:txBody>
      </p:sp>
      <p:sp>
        <p:nvSpPr>
          <p:cNvPr id="44" name="Text 41"/>
          <p:cNvSpPr txBox="1"/>
          <p:nvPr/>
        </p:nvSpPr>
        <p:spPr>
          <a:xfrm>
            <a:off x="566928" y="521573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verb</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Meaning-first strategy (website): identify the head noun → decide its gender → check every word that refers back to it.</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4 · PROFESSIONS AND TĀʾ MARBŪṬA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Add </a:t>
            </a:r>
            <a:pPr algn="l" indent="0" marL="0">
              <a:buNone/>
            </a:pPr>
            <a:r>
              <a:rPr lang="ar-SA" altLang="en-US" sz="3650" b="1" dirty="0">
                <a:solidFill>
                  <a:srgbClr val="1B3B6F"/>
                </a:solidFill>
                <a:latin typeface="Amiri" pitchFamily="2" charset="-78"/>
                <a:cs typeface="Amiri" pitchFamily="2" charset="-78"/>
              </a:rPr>
              <a:t>ة</a:t>
            </a:r>
            <a:pPr algn="l" indent="0" marL="0">
              <a:buNone/>
            </a:pPr>
            <a:r>
              <a:rPr lang="en-US" sz="2800" b="1" dirty="0">
                <a:solidFill>
                  <a:srgbClr val="1B3B6F"/>
                </a:solidFill>
                <a:latin typeface="Cambria" pitchFamily="34" charset="0"/>
                <a:cs typeface="Amiri" pitchFamily="2" charset="-78"/>
              </a:rPr>
              <a:t> — and open it to </a:t>
            </a:r>
            <a:pPr algn="l" indent="0" marL="0">
              <a:buNone/>
            </a:pPr>
            <a:r>
              <a:rPr lang="ar-SA" altLang="en-US" sz="3650" b="1" dirty="0">
                <a:solidFill>
                  <a:srgbClr val="1B3B6F"/>
                </a:solidFill>
                <a:latin typeface="Amiri" pitchFamily="2" charset="-78"/>
                <a:cs typeface="Amiri" pitchFamily="2" charset="-78"/>
              </a:rPr>
              <a:t>ت</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التَّاءُ الْمَرْبُوطَةُ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PROFESSIONS</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مُعَلِّمٌ ← مُعَلِّمَةٌ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طَبِيبٌ · طَبِيبَةٌ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doctor (m.) · doctor (f.)</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a:t>
            </a:r>
            <a:pPr algn="l" indent="0" marL="0">
              <a:buNone/>
            </a:pPr>
            <a:r>
              <a:rPr lang="ar-SA" altLang="en-US" sz="1450" dirty="0">
                <a:solidFill>
                  <a:srgbClr val="1F2A37"/>
                </a:solidFill>
                <a:latin typeface="Amiri" pitchFamily="2" charset="-78"/>
                <a:cs typeface="Amiri" pitchFamily="2" charset="-78"/>
              </a:rPr>
              <a:t>مُهَنْدِسٌ / مُهَنْدِسَةٌ</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cs typeface="Amiri" pitchFamily="2" charset="-78"/>
              </a:rPr>
              <a:t>طَالِبٌ / طَالِبَةٌ</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ة BEFORE A SUFFIX</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مَدْرَسَةٌ + 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مَدْرَسَتِي</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school — </a:t>
            </a:r>
            <a:pPr algn="ctr" indent="0" marL="0">
              <a:buNone/>
            </a:pPr>
            <a:r>
              <a:rPr lang="ar-SA" altLang="en-US" sz="1550" dirty="0">
                <a:solidFill>
                  <a:srgbClr val="5A6472"/>
                </a:solidFill>
                <a:latin typeface="Amiri" pitchFamily="2" charset="-78"/>
                <a:cs typeface="Amiri" pitchFamily="2" charset="-78"/>
              </a:rPr>
              <a:t>ة</a:t>
            </a:r>
            <a:pPr algn="ctr" indent="0" marL="0">
              <a:buNone/>
            </a:pPr>
            <a:r>
              <a:rPr lang="en-US" sz="1200" i="1" dirty="0">
                <a:solidFill>
                  <a:srgbClr val="5A6472"/>
                </a:solidFill>
                <a:latin typeface="Calibri" pitchFamily="34" charset="0"/>
                <a:cs typeface="Amiri" pitchFamily="2" charset="-78"/>
              </a:rPr>
              <a:t> becomes </a:t>
            </a:r>
            <a:pPr algn="ctr" indent="0" marL="0">
              <a:buNone/>
            </a:pPr>
            <a:r>
              <a:rPr lang="ar-SA" altLang="en-US" sz="1550" dirty="0">
                <a:solidFill>
                  <a:srgbClr val="5A6472"/>
                </a:solidFill>
                <a:latin typeface="Amiri" pitchFamily="2" charset="-78"/>
                <a:cs typeface="Amiri" pitchFamily="2" charset="-78"/>
              </a:rPr>
              <a:t>ت</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غُرْفَتِي · سَيَّارَتُنَا · جَامِعَتُهَا.</a:t>
            </a:r>
            <a:endParaRPr lang="ar-SA" sz="14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9601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ة IN IḌĀFA</a:t>
            </a:r>
            <a:endParaRPr lang="en-US" sz="850" dirty="0"/>
          </a:p>
        </p:txBody>
      </p:sp>
      <p:sp>
        <p:nvSpPr>
          <p:cNvPr id="34" name="Text 31"/>
          <p:cNvSpPr txBox="1"/>
          <p:nvPr/>
        </p:nvSpPr>
        <p:spPr>
          <a:xfrm>
            <a:off x="1600200"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مَدْرَسَةُ الْبَنَاتِ</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حَقِيبَةُ الطَّالِبِ</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student’s bag — </a:t>
            </a:r>
            <a:pPr algn="ctr" indent="0" marL="0">
              <a:buNone/>
            </a:pPr>
            <a:r>
              <a:rPr lang="ar-SA" altLang="en-US" sz="1550" dirty="0">
                <a:solidFill>
                  <a:srgbClr val="5A6472"/>
                </a:solidFill>
                <a:latin typeface="Amiri" pitchFamily="2" charset="-78"/>
                <a:cs typeface="Amiri" pitchFamily="2" charset="-78"/>
              </a:rPr>
              <a:t>ة</a:t>
            </a:r>
            <a:pPr algn="ctr" indent="0" marL="0">
              <a:buNone/>
            </a:pPr>
            <a:r>
              <a:rPr lang="en-US" sz="1200" i="1" dirty="0">
                <a:solidFill>
                  <a:srgbClr val="5A6472"/>
                </a:solidFill>
                <a:latin typeface="Calibri" pitchFamily="34" charset="0"/>
                <a:cs typeface="Amiri" pitchFamily="2" charset="-78"/>
              </a:rPr>
              <a:t> is said as 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ḥaqībatu ṭ-ṭālib.</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mini-check: </a:t>
            </a:r>
            <a:pPr algn="l" indent="0" marL="0">
              <a:buNone/>
            </a:pPr>
            <a:r>
              <a:rPr lang="ar-SA" altLang="en-US" sz="1500" dirty="0">
                <a:solidFill>
                  <a:srgbClr val="1F2A37"/>
                </a:solidFill>
                <a:latin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opens to </a:t>
            </a:r>
            <a:pPr algn="l" indent="0" marL="0">
              <a:buNone/>
            </a:pPr>
            <a:r>
              <a:rPr lang="ar-SA" altLang="en-US" sz="1500" dirty="0">
                <a:solidFill>
                  <a:srgbClr val="1F2A37"/>
                </a:solidFill>
                <a:latin typeface="Amiri" pitchFamily="2" charset="-78"/>
                <a:cs typeface="Amiri" pitchFamily="2" charset="-78"/>
              </a:rPr>
              <a:t>ت</a:t>
            </a:r>
            <a:pPr algn="l" indent="0" marL="0">
              <a:buNone/>
            </a:pPr>
            <a:r>
              <a:rPr lang="en-US" sz="1150" dirty="0">
                <a:solidFill>
                  <a:srgbClr val="1F2A37"/>
                </a:solidFill>
                <a:latin typeface="Calibri" pitchFamily="34" charset="0"/>
                <a:cs typeface="Amiri" pitchFamily="2" charset="-78"/>
              </a:rPr>
              <a:t> before a suffix.</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غُرْفَتِي</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غُرْفَةِي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noun.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مَكْتَبٌ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شَارِعٌ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حَدِيقَةٌ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lexical feminine noun.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شَمْسٌ</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قَمَرٌ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بَحْرٌ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masculine name.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فَاطِمَةُ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حَمْزَةُ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مَرْيَمُ</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correct?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سَيَّارَةٌ سَرِيعَةٌ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سَيَّارَةٌ سَرِيعٌ</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سَيَّارَةٌ سَرِيعُونَ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noun.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مَكْتَبٌ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شَارِعٌ</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حَدِيقَةٌ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is a strong clue.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lexical feminine noun.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شَمْسٌ</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قَمَرٌ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بَحْرٌ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Learn </a:t>
            </a:r>
            <a:pPr algn="l" indent="0" marL="0">
              <a:buNone/>
            </a:pPr>
            <a:r>
              <a:rPr lang="ar-SA" altLang="en-US" sz="1350" dirty="0">
                <a:solidFill>
                  <a:srgbClr val="8A6D1E"/>
                </a:solidFill>
                <a:latin typeface="Amiri" pitchFamily="2" charset="-78"/>
                <a:cs typeface="Amiri" pitchFamily="2" charset="-78"/>
              </a:rPr>
              <a:t>شمس</a:t>
            </a:r>
            <a:pPr algn="l" indent="0" marL="0">
              <a:buNone/>
            </a:pPr>
            <a:r>
              <a:rPr lang="en-US" sz="1050" i="1" dirty="0">
                <a:solidFill>
                  <a:srgbClr val="8A6D1E"/>
                </a:solidFill>
                <a:latin typeface="Calibri" pitchFamily="34" charset="0"/>
                <a:cs typeface="Amiri" pitchFamily="2" charset="-78"/>
              </a:rPr>
              <a:t> with feminine agreement.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masculine name.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فَاطِمَةُ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حَمْزَةُ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مَرْيَمُ</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does not make this male name feminine.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correct?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سَيَّارَةٌ سَرِيعَةٌ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سَيَّارَةٌ سَرِيعٌ</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سَيَّارَةٌ سَرِيعُونَ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Adjective agrees in gender.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Watch me check every word that agrees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Head 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الْمَدْرَسَةُ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 feminine.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Demonstrative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هٰذِهِ الْمَدْرَسَةُ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a:t>
            </a:r>
            <a:pPr algn="l" indent="0" marL="0">
              <a:buNone/>
            </a:pPr>
            <a:r>
              <a:rPr lang="ar-SA" altLang="en-US" sz="1500" dirty="0">
                <a:solidFill>
                  <a:srgbClr val="1F2A37"/>
                </a:solidFill>
                <a:latin typeface="Amiri" pitchFamily="2" charset="-78"/>
                <a:cs typeface="Amiri" pitchFamily="2" charset="-78"/>
              </a:rPr>
              <a:t>هٰذِهِ</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Pronoun + adj.</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هِيَ كَبِيرَةٌ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cs typeface="Amiri" pitchFamily="2" charset="-78"/>
              </a:rPr>
              <a:t>هِيَ</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on the adjective.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Exception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الشَّمْسُ حَارَّةٌ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a:t>
            </a:r>
            <a:pPr algn="l" indent="0" marL="0">
              <a:buNone/>
            </a:pPr>
            <a:r>
              <a:rPr lang="ar-SA" altLang="en-US" sz="1500" dirty="0">
                <a:solidFill>
                  <a:srgbClr val="1F2A37"/>
                </a:solidFill>
                <a:latin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 but feminine!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D6336C"/>
                </a:solidFill>
                <a:latin typeface="Amiri" pitchFamily="2" charset="-78"/>
                <a:cs typeface="Amiri" pitchFamily="2" charset="-78"/>
              </a:rPr>
              <a:t>هٰذِهِ</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مَدْرَسَتِي</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هِيَ</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كَبِيرَةٌ</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وَجَمِيلَةٌ</a:t>
            </a:r>
            <a:pPr rtl="1" algn="r" indent="0" marL="0">
              <a:buNone/>
            </a:pPr>
            <a:r>
              <a:rPr lang="ar-SA" altLang="en-US" sz="2600" b="1" dirty="0">
                <a:solidFill>
                  <a:srgbClr val="1B3B6F"/>
                </a:solidFill>
                <a:latin typeface="Amiri" pitchFamily="2" charset="-78"/>
                <a:cs typeface="Amiri" pitchFamily="2" charset="-78"/>
              </a:rPr>
              <a:t>. فِيهَا </a:t>
            </a:r>
            <a:pPr rtl="1" algn="r" indent="0" marL="0">
              <a:buNone/>
            </a:pPr>
            <a:r>
              <a:rPr lang="ar-SA" altLang="en-US" sz="2600" b="1" dirty="0">
                <a:solidFill>
                  <a:srgbClr val="1D5FBF"/>
                </a:solidFill>
                <a:latin typeface="Amiri" pitchFamily="2" charset="-78"/>
                <a:cs typeface="Amiri" pitchFamily="2" charset="-78"/>
              </a:rPr>
              <a:t>مُعَلِّمٌ</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1D5FBF"/>
                </a:solidFill>
                <a:latin typeface="Amiri" pitchFamily="2" charset="-78"/>
                <a:cs typeface="Amiri" pitchFamily="2" charset="-78"/>
              </a:rPr>
              <a:t>جَدِيدٌ</a:t>
            </a:r>
            <a:pPr rtl="1" algn="r" indent="0" marL="0">
              <a:buNone/>
            </a:pPr>
            <a:r>
              <a:rPr lang="ar-SA" altLang="en-US" sz="2600" b="1" dirty="0">
                <a:solidFill>
                  <a:srgbClr val="1B3B6F"/>
                </a:solidFill>
                <a:latin typeface="Amiri" pitchFamily="2" charset="-78"/>
                <a:cs typeface="Amiri" pitchFamily="2" charset="-78"/>
              </a:rPr>
              <a:t> وَمُعَلِّمَةٌ خَبِيرَةٌ.</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This is my school. It is big and beautiful. In it there is a new (male) teacher and an expert (female) teacher.</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هٰذَا بَيْتِي. هُوَ كَبِيرٌ.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my house. It is big.</a:t>
            </a:r>
            <a:endParaRPr lang="en-US" sz="1250" dirty="0"/>
          </a:p>
          <a:p>
            <a:pPr indent="0" marL="0">
              <a:buNone/>
            </a:pPr>
            <a:r>
              <a:rPr lang="en-US" sz="1050" i="1" dirty="0">
                <a:solidFill>
                  <a:srgbClr val="8A6D1E"/>
                </a:solidFill>
                <a:latin typeface="Calibri" pitchFamily="34" charset="0"/>
                <a:cs typeface="Amiri" pitchFamily="2" charset="-78"/>
              </a:rPr>
              <a:t>Masculine: hādhā · huwa · no tāʾ marbūṭa.</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هٰذِهِ غُرْفَتِي. هِيَ صَغِيرَةٌ.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my room. It is small.</a:t>
            </a:r>
            <a:endParaRPr lang="en-US" sz="1250" dirty="0"/>
          </a:p>
          <a:p>
            <a:pPr indent="0" marL="0">
              <a:buNone/>
            </a:pPr>
            <a:r>
              <a:rPr lang="en-US" sz="1050" i="1" dirty="0">
                <a:solidFill>
                  <a:srgbClr val="8A6D1E"/>
                </a:solidFill>
                <a:latin typeface="Calibri" pitchFamily="34" charset="0"/>
                <a:cs typeface="Amiri" pitchFamily="2" charset="-78"/>
              </a:rPr>
              <a:t>Feminine: hādhihi · hiya · tāʾ marbūṭa.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الشَّمْسُ حَارَّةٌ الْيَوْمَ.</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sun is hot today.</a:t>
            </a:r>
            <a:endParaRPr lang="en-US" sz="1250" dirty="0"/>
          </a:p>
          <a:p>
            <a:pPr indent="0" marL="0">
              <a:buNone/>
            </a:pPr>
            <a:r>
              <a:rPr lang="en-US" sz="1050" i="1" dirty="0">
                <a:solidFill>
                  <a:srgbClr val="8A6D1E"/>
                </a:solidFill>
                <a:latin typeface="Calibri" pitchFamily="34" charset="0"/>
                <a:cs typeface="Amiri" pitchFamily="2" charset="-78"/>
              </a:rPr>
              <a:t>Lexical feminine.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وَصَلَتِ الْحَافِلَةُ.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bus arrived.</a:t>
            </a:r>
            <a:endParaRPr lang="en-US" sz="1250" dirty="0"/>
          </a:p>
          <a:p>
            <a:pPr indent="0" marL="0">
              <a:buNone/>
            </a:pPr>
            <a:r>
              <a:rPr lang="en-US" sz="1050" i="1" dirty="0">
                <a:solidFill>
                  <a:srgbClr val="8A6D1E"/>
                </a:solidFill>
                <a:latin typeface="Calibri" pitchFamily="34" charset="0"/>
                <a:cs typeface="Amiri" pitchFamily="2" charset="-78"/>
              </a:rPr>
              <a:t>Feminine subject → ـَتْ on the verb.</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MASCULINE OR FEMININE?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Masculine or feminine?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مَدْرَسَةٌ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شَمْسٌ</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قَمَرٌ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حَمْزَةُ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أَرْضٌ</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بَابٌ</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صَحْرَاءُ</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a:t>
            </a:r>
            <a:endParaRPr lang="ar-SA" sz="1800" dirty="0"/>
          </a:p>
        </p:txBody>
      </p:sp>
      <p:sp>
        <p:nvSpPr>
          <p:cNvPr id="33" name="Shape 30"/>
          <p:cNvSpPr/>
          <p:nvPr/>
        </p:nvSpPr>
        <p:spPr>
          <a:xfrm>
            <a:off x="6163056"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254496"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a:t>
            </a:r>
            <a:endParaRPr lang="ar-SA" sz="1800" dirty="0"/>
          </a:p>
        </p:txBody>
      </p:sp>
      <p:sp>
        <p:nvSpPr>
          <p:cNvPr id="35" name="Shape 32"/>
          <p:cNvSpPr/>
          <p:nvPr/>
        </p:nvSpPr>
        <p:spPr>
          <a:xfrm>
            <a:off x="6185916" y="3529584"/>
            <a:ext cx="5545836"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6323076" y="3639312"/>
            <a:ext cx="5271516"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6323076"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Masculine</a:t>
            </a:r>
            <a:endParaRPr lang="en-US" sz="950" dirty="0"/>
          </a:p>
        </p:txBody>
      </p:sp>
      <p:sp>
        <p:nvSpPr>
          <p:cNvPr id="38" name="Shape 35"/>
          <p:cNvSpPr/>
          <p:nvPr/>
        </p:nvSpPr>
        <p:spPr>
          <a:xfrm>
            <a:off x="457200" y="3529584"/>
            <a:ext cx="5545836"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594360" y="3639312"/>
            <a:ext cx="5271516"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594360" y="3639312"/>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a:t>
            </a:r>
            <a:endParaRPr lang="en-US" sz="9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Masculine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كِتَابٌ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قَمَرٌ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حَمْزَةُ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بَابٌ</a:t>
            </a:r>
            <a:endParaRPr lang="ar-SA" sz="1800" dirty="0"/>
          </a:p>
        </p:txBody>
      </p:sp>
      <p:sp>
        <p:nvSpPr>
          <p:cNvPr id="26" name="Shape 23"/>
          <p:cNvSpPr/>
          <p:nvPr/>
        </p:nvSpPr>
        <p:spPr>
          <a:xfrm>
            <a:off x="6323076" y="4425696"/>
            <a:ext cx="5271516" cy="438912"/>
          </a:xfrm>
          <a:prstGeom prst="roundRect">
            <a:avLst>
              <a:gd name="adj" fmla="val 12500"/>
            </a:avLst>
          </a:prstGeom>
          <a:solidFill>
            <a:srgbClr val="FFF4DC"/>
          </a:solidFill>
          <a:ln w="9525">
            <a:solidFill>
              <a:srgbClr val="E6C98A"/>
            </a:solidFill>
            <a:prstDash val="solid"/>
          </a:ln>
        </p:spPr>
      </p:sp>
      <p:sp>
        <p:nvSpPr>
          <p:cNvPr id="27" name="Text 24"/>
          <p:cNvSpPr txBox="1"/>
          <p:nvPr/>
        </p:nvSpPr>
        <p:spPr>
          <a:xfrm>
            <a:off x="6414516"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مُعَلِّمٌ</a:t>
            </a:r>
            <a:endParaRPr lang="ar-SA" sz="1800" dirty="0"/>
          </a:p>
        </p:txBody>
      </p:sp>
      <p:sp>
        <p:nvSpPr>
          <p:cNvPr id="28" name="Shape 25"/>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9" name="Shape 26"/>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30" name="Text 27"/>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a:t>
            </a:r>
            <a:endParaRPr lang="en-US" sz="950" dirty="0"/>
          </a:p>
        </p:txBody>
      </p:sp>
      <p:sp>
        <p:nvSpPr>
          <p:cNvPr id="31" name="Shape 28"/>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مَدْرَسَةٌ</a:t>
            </a:r>
            <a:endParaRPr lang="ar-SA" sz="1800" dirty="0"/>
          </a:p>
        </p:txBody>
      </p:sp>
      <p:sp>
        <p:nvSpPr>
          <p:cNvPr id="33" name="Shape 30"/>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شَمْسٌ</a:t>
            </a:r>
            <a:endParaRPr lang="ar-SA" sz="1800" dirty="0"/>
          </a:p>
        </p:txBody>
      </p:sp>
      <p:sp>
        <p:nvSpPr>
          <p:cNvPr id="35" name="Shape 32"/>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أَرْضٌ</a:t>
            </a:r>
            <a:endParaRPr lang="ar-SA" sz="1800" dirty="0"/>
          </a:p>
        </p:txBody>
      </p:sp>
      <p:sp>
        <p:nvSpPr>
          <p:cNvPr id="37" name="Shape 34"/>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8" name="Text 35"/>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صَحْرَاءُ</a:t>
            </a:r>
            <a:endParaRPr lang="ar-SA" sz="1800" dirty="0"/>
          </a:p>
        </p:txBody>
      </p:sp>
      <p:sp>
        <p:nvSpPr>
          <p:cNvPr id="39" name="Shape 36"/>
          <p:cNvSpPr/>
          <p:nvPr/>
        </p:nvSpPr>
        <p:spPr>
          <a:xfrm>
            <a:off x="594360" y="4425696"/>
            <a:ext cx="5271516" cy="438912"/>
          </a:xfrm>
          <a:prstGeom prst="roundRect">
            <a:avLst>
              <a:gd name="adj" fmla="val 12500"/>
            </a:avLst>
          </a:prstGeom>
          <a:solidFill>
            <a:srgbClr val="FFF4DC"/>
          </a:solidFill>
          <a:ln w="9525">
            <a:solidFill>
              <a:srgbClr val="E6C98A"/>
            </a:solidFill>
            <a:prstDash val="solid"/>
          </a:ln>
        </p:spPr>
      </p:sp>
      <p:sp>
        <p:nvSpPr>
          <p:cNvPr id="40" name="Text 37"/>
          <p:cNvSpPr txBox="1"/>
          <p:nvPr/>
        </p:nvSpPr>
        <p:spPr>
          <a:xfrm>
            <a:off x="685800" y="4425696"/>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a:t>
            </a:r>
            <a:endParaRPr lang="ar-SA" sz="180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سَيَّارَةٌ سَرِيعٌ</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noun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هٰذَا الْمَدْرَسَةُ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demonstrative?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الشَّمْسُ حَارٌّ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 or not — what is its gender?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سَيَّارَةٌ سَرِيعٌ</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سَيَّارَةٌ سَرِيعَةٌ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feminine noun takes a feminine adjective.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هٰذَا الْمَدْرَسَةُ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هٰذِهِ الْمَدْرَسَةُ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الشَّمْسُ حَارٌّ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الشَّمْسُ حَارَّةٌ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shams is feminine, even without </a:t>
            </a:r>
            <a:pPr algn="l" indent="0" marL="0">
              <a:buNone/>
            </a:pPr>
            <a:r>
              <a:rPr lang="ar-SA" altLang="en-US" sz="1500" b="1" dirty="0">
                <a:solidFill>
                  <a:srgbClr val="1B3B6F"/>
                </a:solidFill>
                <a:latin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WEBSITE MASTERY CHECK QUESTIONS 3, 5, 6 AND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school”.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الْمَدْرَسَةُ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هَؤُلَاءِ الْمَدْرَسَةُ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هَذِهِ الْمَدْرَسَةُ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room”.</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غُرْفَتِي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الْغُرْفَتِي</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pronoun for </a:t>
            </a:r>
            <a:pPr algn="l" indent="0" marL="0">
              <a:buNone/>
            </a:pPr>
            <a:r>
              <a:rPr lang="ar-SA" altLang="en-US" sz="1650" b="1" dirty="0">
                <a:solidFill>
                  <a:srgbClr val="1B3B6F"/>
                </a:solidFill>
                <a:latin typeface="Amiri" pitchFamily="2" charset="-78"/>
                <a:cs typeface="Amiri" pitchFamily="2" charset="-78"/>
              </a:rPr>
              <a:t>الأَرْضُ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shows natural gender?</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بَيْتٌ / مَدْرَسَةٌ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شَمْسٌ / قَمَرٌ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مُعَلِّمٌ / مُعَلِّمَةٌ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school”.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الْمَدْرَسَةُ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هَؤُلَاءِ الْمَدْرَسَةُ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هَذِهِ الْمَدْرَسَةُ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singular.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“my room”.</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غُرْفَةِي</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غُرْفَتِي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الْغُرْفَتِي</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cs typeface="Amiri" pitchFamily="2" charset="-78"/>
              </a:rPr>
              <a:t>ت</a:t>
            </a:r>
            <a:pPr algn="l" indent="0" marL="0">
              <a:buNone/>
            </a:pPr>
            <a:r>
              <a:rPr lang="en-US" sz="1050" i="1" dirty="0">
                <a:solidFill>
                  <a:srgbClr val="8A6D1E"/>
                </a:solidFill>
                <a:latin typeface="Calibri" pitchFamily="34" charset="0"/>
                <a:cs typeface="Amiri" pitchFamily="2" charset="-78"/>
              </a:rPr>
              <a:t> before suffix.</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pronoun for </a:t>
            </a:r>
            <a:pPr algn="l" indent="0" marL="0">
              <a:buNone/>
            </a:pPr>
            <a:r>
              <a:rPr lang="ar-SA" altLang="en-US" sz="1650" b="1" dirty="0">
                <a:solidFill>
                  <a:srgbClr val="1B3B6F"/>
                </a:solidFill>
                <a:latin typeface="Amiri" pitchFamily="2" charset="-78"/>
                <a:cs typeface="Amiri" pitchFamily="2" charset="-78"/>
              </a:rPr>
              <a:t>الأَرْضُ</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أرض</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shows natural gender?</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بَيْتٌ / مَدْرَسَةٌ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شَمْسٌ / قَمَرٌ</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مُعَلِّمٌ / مُعَلِّمَةٌ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Male/female profession.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school and my teachers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هٰذِهِ مَدْرَسَتِي. هِيَ كَبِيرَةٌ وَجَمِيلَةٌ. فِيهَا مُعَلِّمٌ جَدِيدٌ وَمُعَلِّمَةٌ خَبِيرَةٌ. الْمُعَلِّمُ مِصْرِيٌّ، وَهُوَ لَطِيفٌ. الْمُعَلِّمَةُ مِنَ الْمَغْرِبِ، وَهِيَ نَشِيطَةٌ. فِي الصَّبَاحِ تَصِلُ الْحَافِلَةُ، وَالشَّمْسُ حَارَّةٌ.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كَبِيرَةٌ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big (f.)</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خَبِيرَةٌ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expert (f.)</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مِصْرِيٌّ</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Egyptian (m.)</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لَطِيفٌ</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kind (m.)</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نَشِيطَةٌ</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active (f.)</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تَصِلُ</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arrives (f.)</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حَارَّةٌ</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hot (f.)</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in the second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sentence starts with </a:t>
            </a:r>
            <a:pPr algn="l" indent="0" marL="0">
              <a:buNone/>
            </a:pPr>
            <a:r>
              <a:rPr lang="ar-SA" altLang="en-US" sz="1650" dirty="0">
                <a:solidFill>
                  <a:srgbClr val="1F2A37"/>
                </a:solidFill>
                <a:latin typeface="Amiri" pitchFamily="2" charset="-78"/>
                <a:cs typeface="Amiri" pitchFamily="2" charset="-78"/>
              </a:rPr>
              <a:t>هِيَ</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refers back to </a:t>
            </a:r>
            <a:pPr algn="l" indent="0" marL="0">
              <a:buNone/>
            </a:pPr>
            <a:r>
              <a:rPr lang="ar-SA" altLang="en-US" sz="1650" dirty="0">
                <a:solidFill>
                  <a:srgbClr val="1F2A37"/>
                </a:solidFill>
                <a:latin typeface="Amiri" pitchFamily="2" charset="-78"/>
                <a:cs typeface="Amiri" pitchFamily="2" charset="-78"/>
              </a:rPr>
              <a:t>مَدْرَسَتِي</a:t>
            </a:r>
            <a:pPr algn="l" indent="0" marL="0">
              <a:buNone/>
            </a:pPr>
            <a:r>
              <a:rPr lang="en-US" sz="1250" dirty="0">
                <a:solidFill>
                  <a:srgbClr val="1F2A37"/>
                </a:solidFill>
                <a:latin typeface="Calibri" pitchFamily="34" charset="0"/>
                <a:cs typeface="Amiri" pitchFamily="2" charset="-78"/>
              </a:rPr>
              <a:t> (feminine).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refers to the teacher.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describes the MALE teacher?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خَبِيرَةٌ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نَشِيطَةٌ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verb </a:t>
            </a:r>
            <a:pPr algn="l" indent="0" marL="0">
              <a:buNone/>
            </a:pPr>
            <a:r>
              <a:rPr lang="ar-SA" altLang="en-US" sz="1650" b="1" dirty="0">
                <a:solidFill>
                  <a:srgbClr val="1B3B6F"/>
                </a:solidFill>
                <a:latin typeface="Amiri" pitchFamily="2" charset="-78"/>
                <a:cs typeface="Amiri" pitchFamily="2" charset="-78"/>
              </a:rPr>
              <a:t>تَصِلُ</a:t>
            </a:r>
            <a:pPr algn="l" indent="0" marL="0">
              <a:buNone/>
            </a:pPr>
            <a:r>
              <a:rPr lang="en-US" sz="1250" b="1" dirty="0">
                <a:solidFill>
                  <a:srgbClr val="1B3B6F"/>
                </a:solidFill>
                <a:latin typeface="Calibri" pitchFamily="34" charset="0"/>
                <a:cs typeface="Amiri" pitchFamily="2" charset="-78"/>
              </a:rPr>
              <a:t> (not </a:t>
            </a:r>
            <a:pPr algn="l" indent="0" marL="0">
              <a:buNone/>
            </a:pPr>
            <a:r>
              <a:rPr lang="ar-SA" altLang="en-US" sz="1650" b="1" dirty="0">
                <a:solidFill>
                  <a:srgbClr val="1B3B6F"/>
                </a:solidFill>
                <a:latin typeface="Amiri" pitchFamily="2" charset="-78"/>
                <a:cs typeface="Amiri" pitchFamily="2" charset="-78"/>
              </a:rPr>
              <a:t>يَصِلُ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الْحَافِلَةُ</a:t>
            </a:r>
            <a:pPr algn="l" indent="0" marL="0">
              <a:buNone/>
            </a:pPr>
            <a:r>
              <a:rPr lang="en-US" sz="1250" dirty="0">
                <a:solidFill>
                  <a:srgbClr val="1F2A37"/>
                </a:solidFill>
                <a:latin typeface="Calibri" pitchFamily="34" charset="0"/>
                <a:cs typeface="Amiri" pitchFamily="2" charset="-78"/>
              </a:rPr>
              <a:t> is feminine.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in the past.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plural.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حَارَّةٌ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adjectives end in </a:t>
            </a:r>
            <a:pPr algn="l" indent="0" marL="0">
              <a:buNone/>
            </a:pPr>
            <a:r>
              <a:rPr lang="ar-SA" altLang="en-US" sz="1650" dirty="0">
                <a:solidFill>
                  <a:srgbClr val="1F2A37"/>
                </a:solidFill>
                <a:latin typeface="Amiri" pitchFamily="2" charset="-78"/>
                <a:cs typeface="Amiri" pitchFamily="2" charset="-78"/>
              </a:rPr>
              <a:t>ة</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شَمْسٌ</a:t>
            </a:r>
            <a:pPr algn="l" indent="0" marL="0">
              <a:buNone/>
            </a:pPr>
            <a:r>
              <a:rPr lang="en-US" sz="1250" dirty="0">
                <a:solidFill>
                  <a:srgbClr val="1F2A37"/>
                </a:solidFill>
                <a:latin typeface="Calibri" pitchFamily="34" charset="0"/>
                <a:cs typeface="Amiri" pitchFamily="2" charset="-78"/>
              </a:rPr>
              <a:t> is feminine.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plural.</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هِيَ</a:t>
            </a:r>
            <a:pPr algn="l" indent="0" marL="0">
              <a:buNone/>
            </a:pPr>
            <a:r>
              <a:rPr lang="en-US" sz="1250" b="1" dirty="0">
                <a:solidFill>
                  <a:srgbClr val="1B3B6F"/>
                </a:solidFill>
                <a:latin typeface="Calibri" pitchFamily="34" charset="0"/>
                <a:cs typeface="Amiri" pitchFamily="2" charset="-78"/>
              </a:rPr>
              <a:t> in the second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sentence starts with </a:t>
            </a:r>
            <a:pPr algn="l" indent="0" marL="0">
              <a:buNone/>
            </a:pPr>
            <a:r>
              <a:rPr lang="ar-SA" altLang="en-US" sz="1650" dirty="0">
                <a:solidFill>
                  <a:srgbClr val="9AA1AB"/>
                </a:solidFill>
                <a:latin typeface="Amiri" pitchFamily="2" charset="-78"/>
                <a:cs typeface="Amiri" pitchFamily="2" charset="-78"/>
              </a:rPr>
              <a:t>هِيَ</a:t>
            </a:r>
            <a:pPr algn="l" indent="0" marL="0">
              <a:buNone/>
            </a:pPr>
            <a:r>
              <a:rPr lang="en-US" sz="1250" dirty="0">
                <a:solidFill>
                  <a:srgbClr val="9AA1AB"/>
                </a:solidFill>
                <a:latin typeface="Calibri" pitchFamily="34" charset="0"/>
                <a:cs typeface="Amiri" pitchFamily="2" charset="-78"/>
              </a:rPr>
              <a: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refers back to </a:t>
            </a:r>
            <a:pPr algn="l" indent="0" marL="0">
              <a:buNone/>
            </a:pPr>
            <a:r>
              <a:rPr lang="ar-SA" altLang="en-US" sz="1650" b="1" dirty="0">
                <a:solidFill>
                  <a:srgbClr val="1F2A37"/>
                </a:solidFill>
                <a:latin typeface="Amiri" pitchFamily="2" charset="-78"/>
                <a:cs typeface="Amiri" pitchFamily="2" charset="-78"/>
              </a:rPr>
              <a:t>مَدْرَسَتِي</a:t>
            </a:r>
            <a:pPr algn="l" indent="0" marL="0">
              <a:buNone/>
            </a:pPr>
            <a:r>
              <a:rPr lang="en-US" sz="1250" b="1" dirty="0">
                <a:solidFill>
                  <a:srgbClr val="1F2A37"/>
                </a:solidFill>
                <a:latin typeface="Calibri" pitchFamily="34" charset="0"/>
                <a:cs typeface="Amiri" pitchFamily="2" charset="-78"/>
              </a:rPr>
              <a:t> (feminine).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refers to the teacher.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Pronoun agrees with the head noun.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adjective describes the MALE teacher?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خَبِيرَةٌ</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نَشِيطَةٌ</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جَدِيدٌ</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masculine.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verb </a:t>
            </a:r>
            <a:pPr algn="l" indent="0" marL="0">
              <a:buNone/>
            </a:pPr>
            <a:r>
              <a:rPr lang="ar-SA" altLang="en-US" sz="1650" b="1" dirty="0">
                <a:solidFill>
                  <a:srgbClr val="1B3B6F"/>
                </a:solidFill>
                <a:latin typeface="Amiri" pitchFamily="2" charset="-78"/>
                <a:cs typeface="Amiri" pitchFamily="2" charset="-78"/>
              </a:rPr>
              <a:t>تَصِلُ</a:t>
            </a:r>
            <a:pPr algn="l" indent="0" marL="0">
              <a:buNone/>
            </a:pPr>
            <a:r>
              <a:rPr lang="en-US" sz="1250" b="1" dirty="0">
                <a:solidFill>
                  <a:srgbClr val="1B3B6F"/>
                </a:solidFill>
                <a:latin typeface="Calibri" pitchFamily="34" charset="0"/>
                <a:cs typeface="Amiri" pitchFamily="2" charset="-78"/>
              </a:rPr>
              <a:t> (not </a:t>
            </a:r>
            <a:pPr algn="l" indent="0" marL="0">
              <a:buNone/>
            </a:pPr>
            <a:r>
              <a:rPr lang="ar-SA" altLang="en-US" sz="1650" b="1" dirty="0">
                <a:solidFill>
                  <a:srgbClr val="1B3B6F"/>
                </a:solidFill>
                <a:latin typeface="Amiri" pitchFamily="2" charset="-78"/>
                <a:cs typeface="Amiri" pitchFamily="2" charset="-78"/>
              </a:rPr>
              <a:t>يَصِلُ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الْحَافِلَةُ</a:t>
            </a:r>
            <a:pPr algn="l" indent="0" marL="0">
              <a:buNone/>
            </a:pPr>
            <a:r>
              <a:rPr lang="en-US" sz="1250" b="1" dirty="0">
                <a:solidFill>
                  <a:srgbClr val="1F2A37"/>
                </a:solidFill>
                <a:latin typeface="Calibri" pitchFamily="34" charset="0"/>
                <a:cs typeface="Amiri" pitchFamily="2" charset="-78"/>
              </a:rPr>
              <a:t> is feminine.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in the past.</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plural.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subject →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حَارَّةٌ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adjectives end in </a:t>
            </a:r>
            <a:pPr algn="l" indent="0" marL="0">
              <a:buNone/>
            </a:pPr>
            <a:r>
              <a:rPr lang="ar-SA" altLang="en-US" sz="1650" dirty="0">
                <a:solidFill>
                  <a:srgbClr val="9AA1AB"/>
                </a:solidFill>
                <a:latin typeface="Amiri" pitchFamily="2" charset="-78"/>
                <a:cs typeface="Amiri" pitchFamily="2" charset="-78"/>
              </a:rPr>
              <a:t>ة</a:t>
            </a:r>
            <a:pPr algn="l" indent="0" marL="0">
              <a:buNone/>
            </a:pPr>
            <a:r>
              <a:rPr lang="en-US" sz="1250" dirty="0">
                <a:solidFill>
                  <a:srgbClr val="9AA1AB"/>
                </a:solidFill>
                <a:latin typeface="Calibri" pitchFamily="34" charset="0"/>
                <a:cs typeface="Amiri" pitchFamily="2" charset="-78"/>
              </a:rPr>
              <a:t>.</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شَمْسٌ</a:t>
            </a:r>
            <a:pPr algn="l" indent="0" marL="0">
              <a:buNone/>
            </a:pPr>
            <a:r>
              <a:rPr lang="en-US" sz="1250" b="1" dirty="0">
                <a:solidFill>
                  <a:srgbClr val="1F2A37"/>
                </a:solidFill>
                <a:latin typeface="Calibri" pitchFamily="34" charset="0"/>
                <a:cs typeface="Amiri" pitchFamily="2" charset="-78"/>
              </a:rPr>
              <a:t> is feminine.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plural.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lexical feminine.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Speaking: one masculine, one feminine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بَيْتَكَ وَمَدْرَسَتَكَ.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شَخْصًا (رَجُلًا) وَشَخْصًا (امْرَأَةً) تَعْرِفُهُمَا.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الشَّمْسَ وَالْأَرْضَ وَالْقَمَرَ.</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D5FBF"/>
                </a:solidFill>
                <a:latin typeface="Amiri" pitchFamily="2" charset="-78"/>
                <a:cs typeface="Amiri" pitchFamily="2" charset="-78"/>
              </a:rPr>
              <a:t>هٰذَا بَيْتِي، هُوَ ___ . هٰذِهِ مَدْرَسَتِي، هِيَ ___ .</a:t>
            </a:r>
            <a:endParaRPr lang="ar-SA" sz="13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هٰذَا ___ ، هُوَ ___ . هٰذِهِ ___ ، هِيَ ___ .</a:t>
            </a:r>
            <a:endParaRPr lang="ar-SA" sz="14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الشَّمْسُ ___ ، وَالْقَمَرُ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مُعَلِّمَكَ وَمُعَلِّمَتَكَ.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male and female teacher.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هٰذَا مُعَلِّمِي، هُوَ لَطِيفٌ وَذَكِيٌّ. وَهٰذِهِ مُعَلِّمَتِي، هِيَ نَشِيطَةٌ وَصَبُورَةٌ.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This is my teacher; he is kind and clever. This is my (female) teacher; she is active and patient.</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masculine and three feminine nouns, each with an adjective.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Masculine: no ة on the adjective. Feminine: add ة.</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t>
            </a:r>
            <a:pPr algn="l" indent="0" marL="0">
              <a:buNone/>
            </a:pPr>
            <a:r>
              <a:rPr lang="ar-SA" altLang="en-US" sz="1800" b="1" dirty="0">
                <a:solidFill>
                  <a:srgbClr val="1F2A37"/>
                </a:solidFill>
                <a:latin typeface="Amiri" pitchFamily="2" charset="-78"/>
                <a:cs typeface="Amiri" pitchFamily="2" charset="-78"/>
              </a:rPr>
              <a:t>هٰذَا / هٰذِهِ</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cs typeface="Amiri" pitchFamily="2" charset="-78"/>
              </a:rPr>
              <a:t>هُوَ / هِيَ</a:t>
            </a:r>
            <a:pPr algn="l" indent="0" marL="0">
              <a:buNone/>
            </a:pPr>
            <a:r>
              <a:rPr lang="en-US" sz="1400" b="1" dirty="0">
                <a:solidFill>
                  <a:srgbClr val="1F2A37"/>
                </a:solidFill>
                <a:latin typeface="Calibri" pitchFamily="34" charset="0"/>
                <a:cs typeface="Amiri" pitchFamily="2" charset="-78"/>
              </a:rPr>
              <a:t> for each noun.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Check every word that refers back.</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four masculine + four feminine nouns, including one lexical feminine and one </a:t>
            </a:r>
            <a:pPr algn="l" indent="0" marL="0">
              <a:buNone/>
            </a:pPr>
            <a:r>
              <a:rPr lang="ar-SA" altLang="en-US" sz="1800" b="1" dirty="0">
                <a:solidFill>
                  <a:srgbClr val="1F2A37"/>
                </a:solidFill>
                <a:latin typeface="Amiri" pitchFamily="2" charset="-78"/>
                <a:cs typeface="Amiri" pitchFamily="2" charset="-78"/>
              </a:rPr>
              <a:t>ة</a:t>
            </a:r>
            <a:pPr algn="l" indent="0" marL="0">
              <a:buNone/>
            </a:pPr>
            <a:r>
              <a:rPr lang="en-US" sz="1400" b="1" dirty="0">
                <a:solidFill>
                  <a:srgbClr val="1F2A37"/>
                </a:solidFill>
                <a:latin typeface="Calibri" pitchFamily="34" charset="0"/>
                <a:cs typeface="Amiri" pitchFamily="2" charset="-78"/>
              </a:rPr>
              <a:t> → </a:t>
            </a:r>
            <a:pPr algn="l" indent="0" marL="0">
              <a:buNone/>
            </a:pPr>
            <a:r>
              <a:rPr lang="ar-SA" altLang="en-US" sz="1800" b="1" dirty="0">
                <a:solidFill>
                  <a:srgbClr val="1F2A37"/>
                </a:solidFill>
                <a:latin typeface="Amiri" pitchFamily="2" charset="-78"/>
                <a:cs typeface="Amiri" pitchFamily="2" charset="-78"/>
              </a:rPr>
              <a:t>ت</a:t>
            </a:r>
            <a:pPr algn="l" indent="0" marL="0">
              <a:buNone/>
            </a:pPr>
            <a:r>
              <a:rPr lang="en-US" sz="1400" b="1" dirty="0">
                <a:solidFill>
                  <a:srgbClr val="1F2A37"/>
                </a:solidFill>
                <a:latin typeface="Calibri" pitchFamily="34" charset="0"/>
                <a:cs typeface="Amiri" pitchFamily="2" charset="-78"/>
              </a:rPr>
              <a:t> (</a:t>
            </a:r>
            <a:pPr algn="l" indent="0" marL="0">
              <a:buNone/>
            </a:pPr>
            <a:r>
              <a:rPr lang="ar-SA" altLang="en-US" sz="1800" b="1" dirty="0">
                <a:solidFill>
                  <a:srgbClr val="1F2A37"/>
                </a:solidFill>
                <a:latin typeface="Amiri" pitchFamily="2" charset="-78"/>
                <a:cs typeface="Amiri" pitchFamily="2" charset="-78"/>
              </a:rPr>
              <a:t>غُرْفَتِي</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Draw arrows from each agreeing word to its noun.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مُعَلِّمِي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(male) teacher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مُعَلِّمَتِي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(female) teacher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الشَّمْسُ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sun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وَصَلَتِ الْحَافِلَةُ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bus arrived 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بَيْتِي. هُوَ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house. It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غُرْفَتِي. هِيَ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room. It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سَيَّارَتُنَا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car is … (fast)</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كِتَابِي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book is … (new)</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كَبِيرٌ / كَبِيرَةٌ  ·  صَغِيرٌ / صَغِيرَةٌ  ·  جَمِيلٌ / جَمِيلَةٌ  ·  نَظِيفٌ / نَظِيفَةٌ  ·  سَرِيعٌ / سَرِيعَةٌ  ·  لَطِيفٌ / لَطِيفَةٌ  ·  حَارٌّ / حَارَّةٌ  ·  هٰذَا  ·  هٰذِهِ  ·  هُوَ  ·  هِيَ  ·  مُرَتَّبٌ / مُرَتَّبَةٌ</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workshop: 8–10 sentences about your home, school or family with at least four masculine and four feminine nouns.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masculine nouns, each with an agreeing word.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feminine nouns, each with an agreeing word.</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lexical feminine (</a:t>
            </a:r>
            <a:pPr algn="l" indent="0" marL="0">
              <a:buNone/>
            </a:pPr>
            <a:r>
              <a:rPr lang="ar-SA" altLang="en-US" sz="1550" dirty="0">
                <a:solidFill>
                  <a:srgbClr val="1F2A37"/>
                </a:solidFill>
                <a:latin typeface="Amiri" pitchFamily="2" charset="-78"/>
                <a:cs typeface="Amiri" pitchFamily="2" charset="-78"/>
              </a:rPr>
              <a:t>شَمْسٌ</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cs typeface="Amiri" pitchFamily="2" charset="-78"/>
              </a:rPr>
              <a:t>أَرْضٌ</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cs typeface="Amiri" pitchFamily="2" charset="-78"/>
              </a:rPr>
              <a:t>دَارٌ</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cs typeface="Amiri" pitchFamily="2" charset="-78"/>
              </a:rPr>
              <a:t>ت</a:t>
            </a:r>
            <a:pPr algn="l" indent="0" marL="0">
              <a:buNone/>
            </a:pPr>
            <a:r>
              <a:rPr lang="en-US" sz="1200" dirty="0">
                <a:solidFill>
                  <a:srgbClr val="1F2A37"/>
                </a:solidFill>
                <a:latin typeface="Calibri" pitchFamily="34" charset="0"/>
                <a:cs typeface="Amiri" pitchFamily="2" charset="-78"/>
              </a:rPr>
              <a:t> before a suffix (</a:t>
            </a:r>
            <a:pPr algn="l" indent="0" marL="0">
              <a:buNone/>
            </a:pPr>
            <a:r>
              <a:rPr lang="ar-SA" altLang="en-US" sz="1550" dirty="0">
                <a:solidFill>
                  <a:srgbClr val="1F2A37"/>
                </a:solidFill>
                <a:latin typeface="Amiri" pitchFamily="2" charset="-78"/>
                <a:cs typeface="Amiri" pitchFamily="2" charset="-78"/>
              </a:rPr>
              <a:t>غُرْفَتِي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verb that agrees with a feminine subject.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بَيْتِي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my house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غُرْفَتِي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is my room</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هِيَ مُرَتَّبَةٌ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tidy (f.)</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وَلٰكِنَّهَا صَغِيرَةٌ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it is small</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الشَّمْسُ حَارَّةٌ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sun is hot</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تَعْمَلُ أُمِّي طَبِيبَةً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mother works as a doctor</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هٰذَا بَيْتِي. هُوَ كَبِيرٌ وَقَرِيبٌ مِنَ الْمَدْرَسَةِ. وَهٰذِهِ غُرْفَتِي. هِيَ صَغِيرَةٌ وَلٰكِنَّهَا مُرَتَّبَةٌ. أَبِي مُهَنْدِسٌ، وَهُوَ مَشْغُولٌ دَائِمًا. أُمِّي طَبِيبَةٌ، وَهِيَ تَعْمَلُ فِي مُسْتَشْفًى كَبِيرٍ. فِي حَدِيقَتِنَا شَجَرَةٌ عَالِيَةٌ، وَالشَّمْسُ حَارَّةٌ فِي الصَّيْفِ.</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my house. It is big and near the school. And this is my room. It is small but tidy. My father is an engineer, and he is always busy. My mother is a doctor; she works in a big hospital. In our garden there is a tall tree, and the sun is hot in summer.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هٰذَا / هٰذِهِ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هُوَ / هِيَ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ة → 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feminine without 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adjective matches its noun’s gender.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هٰذَا</a:t>
            </a:r>
            <a:pPr algn="l" indent="0" marL="0">
              <a:buNone/>
            </a:pPr>
            <a:r>
              <a:rPr lang="en-US" sz="1300" dirty="0">
                <a:solidFill>
                  <a:srgbClr val="1F2A37"/>
                </a:solidFill>
                <a:latin typeface="Calibri" pitchFamily="34" charset="0"/>
                <a:cs typeface="Amiri" pitchFamily="2" charset="-78"/>
              </a:rPr>
              <a:t> for masculine and </a:t>
            </a:r>
            <a:pPr algn="l" indent="0" marL="0">
              <a:buNone/>
            </a:pPr>
            <a:r>
              <a:rPr lang="ar-SA" altLang="en-US" sz="1700" dirty="0">
                <a:solidFill>
                  <a:srgbClr val="1F2A37"/>
                </a:solidFill>
                <a:latin typeface="Amiri" pitchFamily="2" charset="-78"/>
                <a:cs typeface="Amiri" pitchFamily="2" charset="-78"/>
              </a:rPr>
              <a:t>هٰذِهِ</a:t>
            </a:r>
            <a:pPr algn="l" indent="0" marL="0">
              <a:buNone/>
            </a:pPr>
            <a:r>
              <a:rPr lang="en-US" sz="1300" dirty="0">
                <a:solidFill>
                  <a:srgbClr val="1F2A37"/>
                </a:solidFill>
                <a:latin typeface="Calibri" pitchFamily="34" charset="0"/>
                <a:cs typeface="Amiri" pitchFamily="2" charset="-78"/>
              </a:rPr>
              <a:t> for feminine.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pronouns (</a:t>
            </a:r>
            <a:pPr algn="l" indent="0" marL="0">
              <a:buNone/>
            </a:pPr>
            <a:r>
              <a:rPr lang="ar-SA" altLang="en-US" sz="1700" dirty="0">
                <a:solidFill>
                  <a:srgbClr val="1F2A37"/>
                </a:solidFill>
                <a:latin typeface="Amiri" pitchFamily="2" charset="-78"/>
                <a:cs typeface="Amiri" pitchFamily="2" charset="-78"/>
              </a:rPr>
              <a:t>هُوَ / هِيَ</a:t>
            </a:r>
            <a:pPr algn="l" indent="0" marL="0">
              <a:buNone/>
            </a:pPr>
            <a:r>
              <a:rPr lang="en-US" sz="1300" dirty="0">
                <a:solidFill>
                  <a:srgbClr val="1F2A37"/>
                </a:solidFill>
                <a:latin typeface="Calibri" pitchFamily="34" charset="0"/>
                <a:cs typeface="Amiri" pitchFamily="2" charset="-78"/>
              </a:rPr>
              <a:t>) refer back correctly.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verbs agree with feminine subjects (</a:t>
            </a:r>
            <a:pPr algn="l" indent="0" marL="0">
              <a:buNone/>
            </a:pPr>
            <a:r>
              <a:rPr lang="ar-SA" altLang="en-US" sz="1700" dirty="0">
                <a:solidFill>
                  <a:srgbClr val="1F2A37"/>
                </a:solidFill>
                <a:latin typeface="Amiri" pitchFamily="2" charset="-78"/>
                <a:cs typeface="Amiri" pitchFamily="2" charset="-78"/>
              </a:rPr>
              <a:t>ـَتْ</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تَـ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t>
            </a:r>
            <a:pPr algn="l" indent="0" marL="0">
              <a:buNone/>
            </a:pPr>
            <a:r>
              <a:rPr lang="ar-SA" altLang="en-US" sz="1700" dirty="0">
                <a:solidFill>
                  <a:srgbClr val="1F2A37"/>
                </a:solidFill>
                <a:latin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as </a:t>
            </a:r>
            <a:pPr algn="l" indent="0" marL="0">
              <a:buNone/>
            </a:pPr>
            <a:r>
              <a:rPr lang="ar-SA" altLang="en-US" sz="1700" dirty="0">
                <a:solidFill>
                  <a:srgbClr val="1F2A37"/>
                </a:solidFill>
                <a:latin typeface="Amiri" pitchFamily="2" charset="-78"/>
                <a:cs typeface="Amiri" pitchFamily="2" charset="-78"/>
              </a:rPr>
              <a:t>ت</a:t>
            </a:r>
            <a:pPr algn="l" indent="0" marL="0">
              <a:buNone/>
            </a:pPr>
            <a:r>
              <a:rPr lang="en-US" sz="1300" dirty="0">
                <a:solidFill>
                  <a:srgbClr val="1F2A37"/>
                </a:solidFill>
                <a:latin typeface="Calibri" pitchFamily="34" charset="0"/>
                <a:cs typeface="Amiri" pitchFamily="2" charset="-78"/>
              </a:rPr>
              <a:t> before every suffix.</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 without </a:t>
            </a:r>
            <a:pPr algn="l" indent="0" marL="0">
              <a:buNone/>
            </a:pPr>
            <a:r>
              <a:rPr lang="ar-SA" altLang="en-US" sz="1650" b="1" dirty="0">
                <a:solidFill>
                  <a:srgbClr val="1B3B6F"/>
                </a:solidFill>
                <a:latin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شَمْسٌ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كِتَابٌ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جَبَلٌ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masculine name?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خَدِيجَةُ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حَمْزَةُ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سَلْمَى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السَّيَّارَةُ ...</a:t>
            </a:r>
            <a:endParaRPr lang="ar-SA" sz="15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سَرِيعَةٌ</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سَرِيعٌ</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سَرِيعُونَ</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 without </a:t>
            </a:r>
            <a:pPr algn="l" indent="0" marL="0">
              <a:buNone/>
            </a:pPr>
            <a:r>
              <a:rPr lang="ar-SA" altLang="en-US" sz="1650" b="1" dirty="0">
                <a:solidFill>
                  <a:srgbClr val="1B3B6F"/>
                </a:solidFill>
                <a:latin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شَمْسٌ</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كِتَابٌ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جَبَلٌ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Lexical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masculine name?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خَدِيجَةُ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حَمْزَةُ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سَلْمَى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Name exception.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السَّيَّارَةُ ...</a:t>
            </a:r>
            <a:endParaRPr lang="ar-SA" sz="150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سَرِيعَةٌ</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سَرِيعٌ</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سَرِيعُونَ</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Agreement.</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WEBSITE MASTERY CHECK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اِخْتِبَارُ الإِتْقَانِ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7" name="Shape 14"/>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strategy?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Guess from English.</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Identify noun gender, then check all agreeing words.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 </a:t>
            </a:r>
            <a:pPr algn="l" indent="0" marL="0">
              <a:buNone/>
            </a:pPr>
            <a:r>
              <a:rPr lang="ar-SA" altLang="en-US" sz="1650" dirty="0">
                <a:solidFill>
                  <a:srgbClr val="1F2A37"/>
                </a:solidFill>
                <a:latin typeface="Amiri" pitchFamily="2" charset="-78"/>
                <a:cs typeface="Amiri" pitchFamily="2" charset="-78"/>
              </a:rPr>
              <a:t>ة</a:t>
            </a:r>
            <a:pPr algn="l" indent="0" marL="0">
              <a:buNone/>
            </a:pPr>
            <a:r>
              <a:rPr lang="en-US" sz="1250" dirty="0">
                <a:solidFill>
                  <a:srgbClr val="1F2A37"/>
                </a:solidFill>
                <a:latin typeface="Calibri" pitchFamily="34" charset="0"/>
                <a:cs typeface="Amiri" pitchFamily="2" charset="-78"/>
              </a:rPr>
              <a:t> to every adjective.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7388352" y="274320"/>
            <a:ext cx="1371600"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EXTENSION · MASTERY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Mastery check: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6" name="Shape 14"/>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strategy?</a:t>
            </a:r>
            <a:endParaRPr lang="en-US" sz="1250" dirty="0"/>
          </a:p>
        </p:txBody>
      </p:sp>
      <p:sp>
        <p:nvSpPr>
          <p:cNvPr id="20"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Guess from English.</a:t>
            </a:r>
            <a:endParaRPr lang="en-US" sz="1250" dirty="0"/>
          </a:p>
        </p:txBody>
      </p:sp>
      <p:sp>
        <p:nvSpPr>
          <p:cNvPr id="23" name="Shape 21"/>
          <p:cNvSpPr/>
          <p:nvPr/>
        </p:nvSpPr>
        <p:spPr>
          <a:xfrm>
            <a:off x="548640" y="2953512"/>
            <a:ext cx="5362956"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990088"/>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Identify noun gender, then check all agreeing words.</a:t>
            </a:r>
            <a:endParaRPr lang="en-US" sz="1250" dirty="0"/>
          </a:p>
        </p:txBody>
      </p:sp>
      <p:sp>
        <p:nvSpPr>
          <p:cNvPr id="27" name="Shape 25"/>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Add </a:t>
            </a:r>
            <a:pPr algn="l" indent="0" marL="0">
              <a:buNone/>
            </a:pPr>
            <a:r>
              <a:rPr lang="ar-SA" altLang="en-US" sz="1650" dirty="0">
                <a:solidFill>
                  <a:srgbClr val="9AA1AB"/>
                </a:solidFill>
                <a:latin typeface="Amiri" pitchFamily="2" charset="-78"/>
                <a:cs typeface="Amiri" pitchFamily="2" charset="-78"/>
              </a:rPr>
              <a:t>ة</a:t>
            </a:r>
            <a:pPr algn="l" indent="0" marL="0">
              <a:buNone/>
            </a:pPr>
            <a:r>
              <a:rPr lang="en-US" sz="1250" dirty="0">
                <a:solidFill>
                  <a:srgbClr val="9AA1AB"/>
                </a:solidFill>
                <a:latin typeface="Calibri" pitchFamily="34" charset="0"/>
                <a:cs typeface="Amiri" pitchFamily="2" charset="-78"/>
              </a:rPr>
              <a:t> to every adjective.</a:t>
            </a:r>
            <a:endParaRPr lang="en-US" sz="1250" dirty="0"/>
          </a:p>
        </p:txBody>
      </p:sp>
      <p:sp>
        <p:nvSpPr>
          <p:cNvPr id="30" name="Text 2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Systematic agreement check.</a:t>
            </a:r>
            <a:endParaRPr lang="en-US" sz="1050" dirty="0"/>
          </a:p>
        </p:txBody>
      </p:sp>
      <p:sp>
        <p:nvSpPr>
          <p:cNvPr id="31"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GM-N-01 · 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GM-N-02: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Nouns · GM-N-01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GM-N-02 · Singular, Dual and Plural</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مُفْرَدٌ</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singular (one)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مُثَنًّى</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dual (exactly two)</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جَمْعٌ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plural (three or more)</a:t>
            </a:r>
            <a:pPr indent="0" marL="0">
              <a:buNone/>
            </a:pPr>
            <a:r>
              <a:rPr lang="en-US" sz="1000" i="1" dirty="0">
                <a:solidFill>
                  <a:srgbClr val="5A6472"/>
                </a:solidFill>
                <a:latin typeface="Calibri" pitchFamily="34" charset="0"/>
                <a:cs typeface="Amiri" pitchFamily="2" charset="-78"/>
              </a:rPr>
              <a:t>  pl. جُمُوعٌ</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كِتَابَانِ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two books</a:t>
            </a:r>
            <a:pPr indent="0" marL="0">
              <a:buNone/>
            </a:pPr>
            <a:r>
              <a:rPr lang="en-US" sz="1000" i="1" dirty="0">
                <a:solidFill>
                  <a:srgbClr val="5A6472"/>
                </a:solidFill>
                <a:latin typeface="Calibri" pitchFamily="34" charset="0"/>
                <a:cs typeface="Amiri" pitchFamily="2" charset="-78"/>
              </a:rPr>
              <a:t>  كِتَابَيْنِ after فِي</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طَالِبَتَانِ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two female students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do you say “two books” and “two schools” in Arabic? Guess before next lesson!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كِتَابٌ ← ______ · مَدْرَسَةٌ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ten nouns with their gender; write each with an adjective.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pairs: </a:t>
            </a:r>
            <a:pPr algn="l" indent="0" marL="0">
              <a:buNone/>
            </a:pPr>
            <a:r>
              <a:rPr lang="ar-SA" altLang="en-US" sz="1550" dirty="0">
                <a:solidFill>
                  <a:srgbClr val="1F2A37"/>
                </a:solidFill>
                <a:latin typeface="Amiri" pitchFamily="2" charset="-78"/>
                <a:cs typeface="Amiri" pitchFamily="2" charset="-78"/>
              </a:rPr>
              <a:t>هٰذَا … هُوَ … / هٰذِهِ … هِيَ</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(8–10 sentences) and the website mastery check.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GM-N-01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GM-N-02 · Singular, Dual and Plural</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الْمُفْرَدُ وَالْمُثَنَّى وَالْجَمْعُ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 is a clue, not a rule · shams and arḍ are feminine · check EVERY word that refers back · </a:t>
            </a:r>
            <a:pPr algn="l" indent="0" marL="0">
              <a:buNone/>
            </a:pPr>
            <a:r>
              <a:rPr lang="ar-SA" altLang="en-US" sz="1700" b="1" dirty="0">
                <a:solidFill>
                  <a:srgbClr val="FFFFFF"/>
                </a:solidFill>
                <a:latin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 becomes </a:t>
            </a:r>
            <a:pPr algn="l" indent="0" marL="0">
              <a:buNone/>
            </a:pPr>
            <a:r>
              <a:rPr lang="ar-SA" altLang="en-US" sz="1700" b="1" dirty="0">
                <a:solidFill>
                  <a:srgbClr val="FFFFFF"/>
                </a:solidFill>
                <a:latin typeface="Amiri" pitchFamily="2" charset="-78"/>
                <a:cs typeface="Amiri" pitchFamily="2" charset="-78"/>
              </a:rPr>
              <a:t>ت</a:t>
            </a:r>
            <a:pPr algn="l" indent="0" marL="0">
              <a:buNone/>
            </a:pPr>
            <a:r>
              <a:rPr lang="en-US" sz="1300" b="1" dirty="0">
                <a:solidFill>
                  <a:srgbClr val="FFFFFF"/>
                </a:solidFill>
                <a:latin typeface="Calibri" pitchFamily="34" charset="0"/>
                <a:cs typeface="Amiri" pitchFamily="2" charset="-78"/>
              </a:rPr>
              <a:t> before a suffix.</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GM-N-01 · Noun Gender</dc:title>
  <dc:subject>PptxGenJS Presentation</dc:subject>
  <dc:creator>Al Madina Online School · Arabic Department</dc:creator>
  <cp:lastModifiedBy>Al Madina Online School · Arabic Department</cp:lastModifiedBy>
  <cp:revision>1</cp:revision>
  <dcterms:created xsi:type="dcterms:W3CDTF">2026-10-11T06:42:16Z</dcterms:created>
  <dcterms:modified xsi:type="dcterms:W3CDTF">2026-10-11T06:42:16Z</dcterms:modified>
</cp:coreProperties>
</file>