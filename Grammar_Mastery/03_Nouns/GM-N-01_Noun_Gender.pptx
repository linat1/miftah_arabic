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Nouns › GM-N-01 (“Noun Gender”).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the ة clue and natural gender (مُعَلِّمٌ / مُعَلِّمَةٌ); adjective agreement. Develop: demonstratives, pronouns and verbs agree too; professions. Stretch: lexical feminines without ة, masculine names in ة, tāʾ marbūṭa → ت before a suffix.
• URDU BRIDGE: Urdu also has grammatical gender (کتاب is feminine in Urdu!). Warn students: Urdu gender does NOT transfer — Arabic كِتَابٌ is masculine. Also, Urdu words like ساعت / ساعة keep the Arabic ة as ت.
• The habit to build (website “meaning-first strategy”): find the head noun → decide its gender → check EVERY word that refers back to it.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DO NOW (5 min independent + 2 min going through answers).
The website Entry Check (questions 1–5). Note which students choose “every noun ending ة is feminine” — that misconception is today’s Stretch focus.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GO THROUGH THE ANSWERS (2 min). Reveal and ask “why?” for each (● 10s think → named student, warned in advance).
Key idea for today (bottom-right card): ة is a strong feminine clue — but learn the exceptions: شَمْسٌ, أَرْضٌ are feminine; حَمْزَةُ is a 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(1 of 2)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(2 of 2)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section “Recognising gender”. Website: “This is a useful starting clue, not an infallible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PART 2 (2 min) — website table, plus a Stretch row (paired body parts are feminine: عَيْنٌ جَمِيلَةٌ).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PART 3 (3 min) — website section “Gender agreement across the sentence”. Verbs are previewed only: past ـَتْ, present تَـ for a feminine subject.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PART 4 (2 min). Tāʾ marbūṭa “opens” (becomes an ordinary ت) whenever something is attached after it, and is pronounced t when the word is joined to the next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gender check, questions 1–4.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reading text. Draw arrows from each coloured word back to its noun (website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(2 min). Students type M or F for each card. Traps: شَمْسٌ · أَرْضٌ · أُمٌّ (feminine, no ة) and حَمْزَةُ (masculine, with 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(2 min). Students type M or F for each card. Traps: شَمْسٌ · أَرْضٌ · أُمٌّ (feminine, no ة) and حَمْزَةُ (masculine, with 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mastery check questions 3, 5, 6 and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text, extended by the teacher. Read it aloud once while students follow; then they hunt for today’s grammar.
Task: Website: underline every word that signals gender and draw an arrow to the noun it describes.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The first three sentences are the website reading text; the last three are teacher-written to add pronouns, verbs and a lexical feminine.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(3 min) — website speaking task. Sequence: ● 10s think → ↔ 45s rehearse aloud with mic muted → ◎ two named students on open mic (warned in advance) → + ? the class types one follow-up in chat → ↺ one student summarises.
Routes: Core uses the Core prompt and stem; Develop the Develop prompt; Stretch the last prompt.
Website: describe one masculine and one feminine person or place with a demonstrative, a pronoun and two adjectives each. To a girl: صِفِي · بَيْتَكِ · مَدْرَسَتَكِ.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8–10 sentences describing your home, school or family. Include at least four masculine nouns and four feminine nouns.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teacher model built on the website model sentence, with an English translation for Core students.
Students find in the model (● 20s → ◎) the items on the chips. Website model start: هٰذَا بَيْتِي. هُوَ كَبِيرٌ، وَهٰذِهِ غُرْفَتِي. هِيَ صَغِيرَةٌ وَلٰكِنَّهَا مُرَتَّبَةٌ. ة → ت: غُرْفَتِي · حَدِيقَتِنَا. Lexical feminine: الشَّمْسُ حَارَّةٌ.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8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MASTERY CHECK (FLEX) — the rest of the website final check, for fast finishers or homework. Website guidance: below 70% repeat the mini-check; 70–89% replay the game; 90%+ move on and revisit in 3–7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(GM-N-02 · Singular, Dual and Plural) will spend class time USING this language, so students prepare it tonight — short, simple, easy to access (school guidance: “Simple, Short, Interesting, Relevant, Easy to access”). The five words prepare GM-N-02 (website Nouns lesson 2: singular, dual and plural).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NOUNS  ·  GM-N-01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GM-N-01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Noun Gender</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جِنْسُ الِاسْمِ: الْمُذَكَّرُ وَالْمُؤَنَّثُ</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Every Arabic noun is masculine or feminine. Recognise the feminine markers (</a:t>
            </a:r>
            <a:pPr algn="l" indent="0" marL="0">
              <a:buNone/>
            </a:pPr>
            <a:r>
              <a:rPr lang="ar-SA" altLang="en-US" sz="1800" dirty="0">
                <a:solidFill>
                  <a:srgbClr val="C6D2E6"/>
                </a:solidFill>
                <a:latin typeface="Amiri" pitchFamily="2" charset="-78"/>
                <a:ea typeface="Amiri" pitchFamily="2" charset="-78"/>
                <a:cs typeface="Amiri" pitchFamily="2" charset="-78"/>
              </a:rPr>
              <a:t>ة</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اء</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ى</a:t>
            </a:r>
            <a:pPr algn="l" indent="0" marL="0">
              <a:buNone/>
            </a:pPr>
            <a:r>
              <a:rPr lang="en-US" sz="1400" dirty="0">
                <a:solidFill>
                  <a:srgbClr val="C6D2E6"/>
                </a:solidFill>
                <a:latin typeface="Calibri" pitchFamily="34" charset="0"/>
                <a:cs typeface="Amiri" pitchFamily="2" charset="-78"/>
              </a:rPr>
              <a:t>), learn the important exceptions (</a:t>
            </a:r>
            <a:pPr algn="l" indent="0" marL="0">
              <a:buNone/>
            </a:pPr>
            <a:r>
              <a:rPr lang="ar-SA" altLang="en-US" sz="1800" dirty="0">
                <a:solidFill>
                  <a:srgbClr val="C6D2E6"/>
                </a:solidFill>
                <a:latin typeface="Amiri" pitchFamily="2" charset="-78"/>
                <a:ea typeface="Amiri" pitchFamily="2" charset="-78"/>
                <a:cs typeface="Amiri" pitchFamily="2" charset="-78"/>
              </a:rPr>
              <a:t>شَمْسٌ</a:t>
            </a:r>
            <a:pPr algn="l" indent="0" marL="0">
              <a:buNone/>
            </a:pPr>
            <a:r>
              <a:rPr lang="en-US" sz="1400" dirty="0">
                <a:solidFill>
                  <a:srgbClr val="C6D2E6"/>
                </a:solidFill>
                <a:latin typeface="Calibri" pitchFamily="34" charset="0"/>
                <a:cs typeface="Amiri" pitchFamily="2" charset="-78"/>
              </a:rPr>
              <a:t> is feminine; </a:t>
            </a:r>
            <a:pPr algn="l" indent="0" marL="0">
              <a:buNone/>
            </a:pPr>
            <a:r>
              <a:rPr lang="ar-SA" altLang="en-US" sz="1800" dirty="0">
                <a:solidFill>
                  <a:srgbClr val="C6D2E6"/>
                </a:solidFill>
                <a:latin typeface="Amiri" pitchFamily="2" charset="-78"/>
                <a:ea typeface="Amiri" pitchFamily="2" charset="-78"/>
                <a:cs typeface="Amiri" pitchFamily="2" charset="-78"/>
              </a:rPr>
              <a:t>حَمْزَةُ</a:t>
            </a:r>
            <a:pPr algn="l" indent="0" marL="0">
              <a:buNone/>
            </a:pPr>
            <a:r>
              <a:rPr lang="en-US" sz="1400" dirty="0">
                <a:solidFill>
                  <a:srgbClr val="C6D2E6"/>
                </a:solidFill>
                <a:latin typeface="Calibri" pitchFamily="34" charset="0"/>
                <a:cs typeface="Amiri" pitchFamily="2" charset="-78"/>
              </a:rPr>
              <a:t> is masculine) — and make every word that refers back agree (</a:t>
            </a:r>
            <a:pPr algn="l" indent="0" marL="0">
              <a:buNone/>
            </a:pPr>
            <a:r>
              <a:rPr lang="ar-SA" altLang="en-US" sz="1800" dirty="0">
                <a:solidFill>
                  <a:srgbClr val="C6D2E6"/>
                </a:solidFill>
                <a:latin typeface="Amiri" pitchFamily="2" charset="-78"/>
                <a:ea typeface="Amiri" pitchFamily="2" charset="-78"/>
                <a:cs typeface="Amiri" pitchFamily="2" charset="-78"/>
              </a:rPr>
              <a:t>هٰذِهِ الْمَدْرَسَةُ … هِيَ كَبِيرَةٌ</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GM-N-01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Nouns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GM-N-01 · Nouns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GM-N-01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Masculine by default; feminine markers; exceptions; agreement across the sentence.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masculine and feminine, repair agreement slips, practise </a:t>
            </a:r>
            <a:pPr algn="ctr" indent="0" marL="0">
              <a:buNone/>
            </a:pPr>
            <a:r>
              <a:rPr lang="ar-SA" altLang="en-US" sz="1550" dirty="0">
                <a:solidFill>
                  <a:srgbClr val="1F2A37"/>
                </a:solidFill>
                <a:latin typeface="Amiri" pitchFamily="2" charset="-78"/>
                <a:ea typeface="Amiri" pitchFamily="2" charset="-78"/>
                <a:cs typeface="Amiri" pitchFamily="2" charset="-78"/>
              </a:rPr>
              <a:t>ة</a:t>
            </a:r>
            <a:pPr algn="ctr" indent="0" marL="0">
              <a:buNone/>
            </a:pPr>
            <a:r>
              <a:rPr lang="en-US" sz="1200" dirty="0">
                <a:solidFill>
                  <a:srgbClr val="1F2A37"/>
                </a:solidFill>
                <a:latin typeface="Calibri" pitchFamily="34" charset="0"/>
                <a:cs typeface="Amiri" pitchFamily="2" charset="-78"/>
              </a:rPr>
              <a:t> → </a:t>
            </a:r>
            <a:pPr algn="ctr" indent="0" marL="0">
              <a:buNone/>
            </a:pPr>
            <a:r>
              <a:rPr lang="ar-SA" altLang="en-US" sz="1550" dirty="0">
                <a:solidFill>
                  <a:srgbClr val="1F2A37"/>
                </a:solidFill>
                <a:latin typeface="Amiri" pitchFamily="2" charset="-78"/>
                <a:ea typeface="Amiri" pitchFamily="2" charset="-78"/>
                <a:cs typeface="Amiri" pitchFamily="2" charset="-78"/>
              </a:rPr>
              <a:t>ت</a:t>
            </a:r>
            <a:pPr algn="ctr" indent="0" marL="0">
              <a:buNone/>
            </a:pPr>
            <a:r>
              <a:rPr lang="en-US" sz="1200" dirty="0">
                <a:solidFill>
                  <a:srgbClr val="1F2A37"/>
                </a:solidFill>
                <a:latin typeface="Calibri" pitchFamily="34" charset="0"/>
                <a:cs typeface="Amiri" pitchFamily="2" charset="-78"/>
              </a:rPr>
              <a:t>.</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GM-N-02.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GM-N-01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noun is typically feminine?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مَدْرَسَةٌ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قَلَمٌ</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feminine despite having no </a:t>
            </a:r>
            <a:pPr algn="l" indent="0" marL="0">
              <a:buNone/>
            </a:pPr>
            <a:r>
              <a:rPr lang="ar-SA" altLang="en-US" sz="1650" b="1" dirty="0">
                <a:solidFill>
                  <a:srgbClr val="1B3B6F"/>
                </a:solidFill>
                <a:latin typeface="Amiri" pitchFamily="2" charset="-78"/>
                <a:ea typeface="Amiri" pitchFamily="2" charset="-78"/>
                <a:cs typeface="Amiri" pitchFamily="2" charset="-78"/>
              </a:rPr>
              <a:t>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شَمْسٌ</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بَابٌ</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كُرْسِيٌّ</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female teacher”.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مُعَلِّمٌ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مُعَلِّمُونَ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مُعَلِّمَةٌ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adjective agrees with </a:t>
            </a:r>
            <a:pPr algn="l" indent="0" marL="0">
              <a:buNone/>
            </a:pPr>
            <a:r>
              <a:rPr lang="ar-SA" altLang="en-US" sz="1650" b="1" dirty="0">
                <a:solidFill>
                  <a:srgbClr val="1B3B6F"/>
                </a:solidFill>
                <a:latin typeface="Amiri" pitchFamily="2" charset="-78"/>
                <a:ea typeface="Amiri" pitchFamily="2" charset="-78"/>
                <a:cs typeface="Amiri" pitchFamily="2" charset="-78"/>
              </a:rPr>
              <a:t>السَّيَّارَةُ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جَدِيدٌ</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جَدِيدُونَ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جَدِيدَةٌ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safest?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Gender must be learned from form, meaning and usage.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noun ending </a:t>
            </a:r>
            <a:pPr algn="l" indent="0" marL="0">
              <a:buNone/>
            </a:pPr>
            <a:r>
              <a:rPr lang="ar-SA" altLang="en-US" sz="1650" dirty="0">
                <a:solidFill>
                  <a:srgbClr val="1F2A37"/>
                </a:solidFill>
                <a:latin typeface="Amiri" pitchFamily="2" charset="-78"/>
                <a:ea typeface="Amiri" pitchFamily="2" charset="-78"/>
                <a:cs typeface="Amiri" pitchFamily="2" charset="-78"/>
              </a:rPr>
              <a:t>ة</a:t>
            </a:r>
            <a:pPr algn="l" indent="0" marL="0">
              <a:buNone/>
            </a:pPr>
            <a:r>
              <a:rPr lang="en-US" sz="1250" dirty="0">
                <a:solidFill>
                  <a:srgbClr val="1F2A37"/>
                </a:solidFill>
                <a:latin typeface="Calibri" pitchFamily="34" charset="0"/>
                <a:cs typeface="Amiri" pitchFamily="2" charset="-78"/>
              </a:rPr>
              <a:t> is feminine with no exceptions.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All objects are masculine.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GM-N-01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noun is typically feminine?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كِتَابٌ</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مَدْرَسَةٌ</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قَلَمٌ</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tāʾ marbūṭa is a common feminine marker.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feminine despite having no </a:t>
            </a:r>
            <a:pPr algn="l" indent="0" marL="0">
              <a:buNone/>
            </a:pPr>
            <a:r>
              <a:rPr lang="ar-SA" altLang="en-US" sz="1650" b="1" dirty="0">
                <a:solidFill>
                  <a:srgbClr val="1B3B6F"/>
                </a:solidFill>
                <a:latin typeface="Amiri" pitchFamily="2" charset="-78"/>
                <a:ea typeface="Amiri" pitchFamily="2" charset="-78"/>
                <a:cs typeface="Amiri" pitchFamily="2" charset="-78"/>
              </a:rPr>
              <a:t>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شَمْسٌ</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بَابٌ</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كُرْسِيٌّ</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Some high-frequency nouns have lexical gender that must be learned.</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female teacher”.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مُعَلِّمٌ</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مُعَلِّمُونَ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مُعَلِّمَةٌ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profession changes to the feminine form.</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adjective agrees with </a:t>
            </a:r>
            <a:pPr algn="l" indent="0" marL="0">
              <a:buNone/>
            </a:pPr>
            <a:r>
              <a:rPr lang="ar-SA" altLang="en-US" sz="1650" b="1" dirty="0">
                <a:solidFill>
                  <a:srgbClr val="1B3B6F"/>
                </a:solidFill>
                <a:latin typeface="Amiri" pitchFamily="2" charset="-78"/>
                <a:ea typeface="Amiri" pitchFamily="2" charset="-78"/>
                <a:cs typeface="Amiri" pitchFamily="2" charset="-78"/>
              </a:rPr>
              <a:t>السَّيَّارَةُ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جَدِيدٌ</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جَدِيدُونَ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جَدِيدَةٌ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adjective follows the feminine noun.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safest?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Gender must be learned from form, meaning and usage.</a:t>
            </a:r>
            <a:endParaRPr lang="en-US" sz="11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Every noun ending </a:t>
            </a:r>
            <a:pPr algn="l" indent="0" marL="0">
              <a:buNone/>
            </a:pPr>
            <a:r>
              <a:rPr lang="ar-SA" altLang="en-US" sz="1500" dirty="0">
                <a:solidFill>
                  <a:srgbClr val="9AA1AB"/>
                </a:solidFill>
                <a:latin typeface="Amiri" pitchFamily="2" charset="-78"/>
                <a:ea typeface="Amiri" pitchFamily="2" charset="-78"/>
                <a:cs typeface="Amiri" pitchFamily="2" charset="-78"/>
              </a:rPr>
              <a:t>ة</a:t>
            </a:r>
            <a:pPr algn="l" indent="0" marL="0">
              <a:buNone/>
            </a:pPr>
            <a:r>
              <a:rPr lang="en-US" sz="1150" dirty="0">
                <a:solidFill>
                  <a:srgbClr val="9AA1AB"/>
                </a:solidFill>
                <a:latin typeface="Calibri" pitchFamily="34" charset="0"/>
                <a:cs typeface="Amiri" pitchFamily="2" charset="-78"/>
              </a:rPr>
              <a:t> is feminine with no exceptions.</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All objects are masculine.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Markers help, but lexical exceptions exist.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ar-SA" altLang="en-US" sz="1700" b="1" dirty="0">
                <a:solidFill>
                  <a:srgbClr val="1F2A37"/>
                </a:solidFill>
                <a:latin typeface="Amiri" pitchFamily="2" charset="-78"/>
                <a:ea typeface="Amiri" pitchFamily="2" charset="-78"/>
                <a:cs typeface="Amiri" pitchFamily="2" charset="-78"/>
              </a:rPr>
              <a:t>ة</a:t>
            </a:r>
            <a:pPr algn="l" indent="0" marL="0">
              <a:buNone/>
            </a:pPr>
            <a:r>
              <a:rPr lang="en-US" sz="1300" b="1" dirty="0">
                <a:solidFill>
                  <a:srgbClr val="1F2A37"/>
                </a:solidFill>
                <a:latin typeface="Calibri" pitchFamily="34" charset="0"/>
                <a:cs typeface="Amiri" pitchFamily="2" charset="-78"/>
              </a:rPr>
              <a:t> is a strong feminine clue — but learn the exceptions: </a:t>
            </a:r>
            <a:pPr algn="l" indent="0" marL="0">
              <a:buNone/>
            </a:pPr>
            <a:r>
              <a:rPr lang="ar-SA" altLang="en-US" sz="1700" b="1" dirty="0">
                <a:solidFill>
                  <a:srgbClr val="1F2A37"/>
                </a:solidFill>
                <a:latin typeface="Amiri" pitchFamily="2" charset="-78"/>
                <a:ea typeface="Amiri" pitchFamily="2" charset="-78"/>
                <a:cs typeface="Amiri" pitchFamily="2" charset="-78"/>
              </a:rPr>
              <a:t>شَمْسٌ</a:t>
            </a:r>
            <a:pPr algn="l" indent="0" marL="0">
              <a:buNone/>
            </a:pPr>
            <a:r>
              <a:rPr lang="en-US" sz="1300" b="1" dirty="0">
                <a:solidFill>
                  <a:srgbClr val="1F2A37"/>
                </a:solidFill>
                <a:latin typeface="Calibri" pitchFamily="34" charset="0"/>
                <a:cs typeface="Amiri" pitchFamily="2" charset="-78"/>
              </a:rPr>
              <a:t>, </a:t>
            </a:r>
            <a:pPr algn="l" indent="0" marL="0">
              <a:buNone/>
            </a:pPr>
            <a:r>
              <a:rPr lang="ar-SA" altLang="en-US" sz="1700" b="1" dirty="0">
                <a:solidFill>
                  <a:srgbClr val="1F2A37"/>
                </a:solidFill>
                <a:latin typeface="Amiri" pitchFamily="2" charset="-78"/>
                <a:ea typeface="Amiri" pitchFamily="2" charset="-78"/>
                <a:cs typeface="Amiri" pitchFamily="2" charset="-78"/>
              </a:rPr>
              <a:t>أَرْضٌ</a:t>
            </a:r>
            <a:pPr algn="l" indent="0" marL="0">
              <a:buNone/>
            </a:pPr>
            <a:r>
              <a:rPr lang="en-US" sz="1300" b="1" dirty="0">
                <a:solidFill>
                  <a:srgbClr val="1F2A37"/>
                </a:solidFill>
                <a:latin typeface="Calibri" pitchFamily="34" charset="0"/>
                <a:cs typeface="Amiri" pitchFamily="2" charset="-78"/>
              </a:rPr>
              <a:t> are feminine; </a:t>
            </a:r>
            <a:pPr algn="l" indent="0" marL="0">
              <a:buNone/>
            </a:pPr>
            <a:r>
              <a:rPr lang="ar-SA" altLang="en-US" sz="1700" b="1" dirty="0">
                <a:solidFill>
                  <a:srgbClr val="1F2A37"/>
                </a:solidFill>
                <a:latin typeface="Amiri" pitchFamily="2" charset="-78"/>
                <a:ea typeface="Amiri" pitchFamily="2" charset="-78"/>
                <a:cs typeface="Amiri" pitchFamily="2" charset="-78"/>
              </a:rPr>
              <a:t>حَمْزَةُ</a:t>
            </a:r>
            <a:pPr algn="l" indent="0" marL="0">
              <a:buNone/>
            </a:pPr>
            <a:r>
              <a:rPr lang="en-US" sz="1300" b="1" dirty="0">
                <a:solidFill>
                  <a:srgbClr val="1F2A37"/>
                </a:solidFill>
                <a:latin typeface="Calibri" pitchFamily="34" charset="0"/>
                <a:cs typeface="Amiri" pitchFamily="2" charset="-78"/>
              </a:rPr>
              <a:t> is a man.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مَدْرَسَةٌ · </a:t>
            </a:r>
            <a:pPr rtl="1" algn="ctr" indent="0" marL="0">
              <a:buNone/>
            </a:pPr>
            <a:r>
              <a:rPr lang="ar-SA" altLang="en-US" sz="2400" b="1" dirty="0">
                <a:solidFill>
                  <a:srgbClr val="0E7C86"/>
                </a:solidFill>
                <a:latin typeface="Amiri" pitchFamily="2" charset="-78"/>
                <a:ea typeface="Amiri" pitchFamily="2" charset="-78"/>
                <a:cs typeface="Amiri" pitchFamily="2" charset="-78"/>
              </a:rPr>
              <a:t>شَمْسٌ</a:t>
            </a:r>
            <a:pPr rtl="1" algn="ctr" indent="0" marL="0">
              <a:buNone/>
            </a:pPr>
            <a:r>
              <a:rPr lang="ar-SA" altLang="en-US" sz="2400" b="1" dirty="0">
                <a:solidFill>
                  <a:srgbClr val="1B3B6F"/>
                </a:solidFill>
                <a:latin typeface="Amiri" pitchFamily="2" charset="-78"/>
                <a:ea typeface="Amiri" pitchFamily="2" charset="-78"/>
                <a:cs typeface="Amiri" pitchFamily="2" charset="-78"/>
              </a:rPr>
              <a:t> ‖ كِتَابٌ · </a:t>
            </a:r>
            <a:pPr rtl="1" algn="ctr" indent="0" marL="0">
              <a:buNone/>
            </a:pPr>
            <a:r>
              <a:rPr lang="ar-SA" altLang="en-US" sz="2400" b="1" dirty="0">
                <a:solidFill>
                  <a:srgbClr val="1D5FBF"/>
                </a:solidFill>
                <a:latin typeface="Amiri" pitchFamily="2" charset="-78"/>
                <a:ea typeface="Amiri" pitchFamily="2" charset="-78"/>
                <a:cs typeface="Amiri" pitchFamily="2" charset="-78"/>
              </a:rPr>
              <a:t>حَمْزَةُ</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GM-N-01 · Nouns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masculine nouns and the feminine markers </a:t>
            </a:r>
            <a:pPr algn="l" indent="0" marL="0">
              <a:buNone/>
            </a:pPr>
            <a:r>
              <a:rPr lang="ar-SA" altLang="en-US" sz="1700" dirty="0">
                <a:solidFill>
                  <a:srgbClr val="1F2A37"/>
                </a:solidFill>
                <a:latin typeface="Amiri" pitchFamily="2" charset="-78"/>
                <a:ea typeface="Amiri" pitchFamily="2" charset="-78"/>
                <a:cs typeface="Amiri" pitchFamily="2" charset="-78"/>
              </a:rPr>
              <a:t>ة</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اء</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ى</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Learn common exceptions: feminines without </a:t>
            </a:r>
            <a:pPr algn="l" indent="0" marL="0">
              <a:buNone/>
            </a:pPr>
            <a:r>
              <a:rPr lang="ar-SA" altLang="en-US" sz="1700" dirty="0">
                <a:solidFill>
                  <a:srgbClr val="1F2A37"/>
                </a:solidFill>
                <a:latin typeface="Amiri" pitchFamily="2" charset="-78"/>
                <a:ea typeface="Amiri" pitchFamily="2" charset="-78"/>
                <a:cs typeface="Amiri" pitchFamily="2" charset="-78"/>
              </a:rPr>
              <a:t>ة</a:t>
            </a:r>
            <a:pPr algn="l" indent="0" marL="0">
              <a:buNone/>
            </a:pPr>
            <a:r>
              <a:rPr lang="en-US" sz="1300" dirty="0">
                <a:solidFill>
                  <a:srgbClr val="1F2A37"/>
                </a:solidFill>
                <a:latin typeface="Calibri" pitchFamily="34" charset="0"/>
                <a:cs typeface="Amiri" pitchFamily="2" charset="-78"/>
              </a:rPr>
              <a:t> and masculine names with </a:t>
            </a:r>
            <a:pPr algn="l" indent="0" marL="0">
              <a:buNone/>
            </a:pPr>
            <a:r>
              <a:rPr lang="ar-SA" altLang="en-US" sz="1700" dirty="0">
                <a:solidFill>
                  <a:srgbClr val="1F2A37"/>
                </a:solidFill>
                <a:latin typeface="Amiri" pitchFamily="2" charset="-78"/>
                <a:ea typeface="Amiri" pitchFamily="2" charset="-78"/>
                <a:cs typeface="Amiri" pitchFamily="2" charset="-78"/>
              </a:rPr>
              <a:t>ة</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Make adjectives, demonstratives, pronouns and verbs agree in gender.</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Change </a:t>
            </a:r>
            <a:pPr algn="l" indent="0" marL="0">
              <a:buNone/>
            </a:pPr>
            <a:r>
              <a:rPr lang="ar-SA" altLang="en-US" sz="1700" dirty="0">
                <a:solidFill>
                  <a:srgbClr val="1F2A37"/>
                </a:solidFill>
                <a:latin typeface="Amiri" pitchFamily="2" charset="-78"/>
                <a:ea typeface="Amiri" pitchFamily="2" charset="-78"/>
                <a:cs typeface="Amiri" pitchFamily="2" charset="-78"/>
              </a:rPr>
              <a:t>ة</a:t>
            </a:r>
            <a:pPr algn="l" indent="0" marL="0">
              <a:buNone/>
            </a:pPr>
            <a:r>
              <a:rPr lang="en-US" sz="1300" dirty="0">
                <a:solidFill>
                  <a:srgbClr val="1F2A37"/>
                </a:solidFill>
                <a:latin typeface="Calibri" pitchFamily="34" charset="0"/>
                <a:cs typeface="Amiri" pitchFamily="2" charset="-78"/>
              </a:rPr>
              <a:t> to </a:t>
            </a:r>
            <a:pPr algn="l" indent="0" marL="0">
              <a:buNone/>
            </a:pPr>
            <a:r>
              <a:rPr lang="ar-SA" altLang="en-US" sz="1700" dirty="0">
                <a:solidFill>
                  <a:srgbClr val="1F2A37"/>
                </a:solidFill>
                <a:latin typeface="Amiri" pitchFamily="2" charset="-78"/>
                <a:ea typeface="Amiri" pitchFamily="2" charset="-78"/>
                <a:cs typeface="Amiri" pitchFamily="2" charset="-78"/>
              </a:rPr>
              <a:t>ت</a:t>
            </a:r>
            <a:pPr algn="l" indent="0" marL="0">
              <a:buNone/>
            </a:pPr>
            <a:r>
              <a:rPr lang="en-US" sz="1300" dirty="0">
                <a:solidFill>
                  <a:srgbClr val="1F2A37"/>
                </a:solidFill>
                <a:latin typeface="Calibri" pitchFamily="34" charset="0"/>
                <a:cs typeface="Amiri" pitchFamily="2" charset="-78"/>
              </a:rPr>
              <a:t> before a possessive suffix.</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sort nouns by the </a:t>
            </a:r>
            <a:pPr algn="l" indent="0" marL="0">
              <a:buNone/>
            </a:pPr>
            <a:r>
              <a:rPr lang="ar-SA" altLang="en-US" sz="1700" b="1" dirty="0">
                <a:solidFill>
                  <a:srgbClr val="2E8B57"/>
                </a:solidFill>
                <a:latin typeface="Amiri" pitchFamily="2" charset="-78"/>
                <a:ea typeface="Amiri" pitchFamily="2" charset="-78"/>
                <a:cs typeface="Amiri" pitchFamily="2" charset="-78"/>
              </a:rPr>
              <a:t>ة</a:t>
            </a:r>
            <a:pPr algn="l" indent="0" marL="0">
              <a:buNone/>
            </a:pPr>
            <a:r>
              <a:rPr lang="en-US" sz="1300" b="1" dirty="0">
                <a:solidFill>
                  <a:srgbClr val="2E8B57"/>
                </a:solidFill>
                <a:latin typeface="Calibri" pitchFamily="34" charset="0"/>
                <a:cs typeface="Amiri" pitchFamily="2" charset="-78"/>
              </a:rPr>
              <a:t> clue.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make an adjective agree: </a:t>
            </a:r>
            <a:pPr algn="l" indent="0" marL="0">
              <a:buNone/>
            </a:pPr>
            <a:r>
              <a:rPr lang="ar-SA" altLang="en-US" sz="1700" b="1" dirty="0">
                <a:solidFill>
                  <a:srgbClr val="2E8B57"/>
                </a:solidFill>
                <a:latin typeface="Amiri" pitchFamily="2" charset="-78"/>
                <a:ea typeface="Amiri" pitchFamily="2" charset="-78"/>
                <a:cs typeface="Amiri" pitchFamily="2" charset="-78"/>
              </a:rPr>
              <a:t>سَيَّارَةٌ سَرِيعَةٌ</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choose </a:t>
            </a:r>
            <a:pPr algn="l" indent="0" marL="0">
              <a:buNone/>
            </a:pPr>
            <a:r>
              <a:rPr lang="ar-SA" altLang="en-US" sz="1700" b="1" dirty="0">
                <a:solidFill>
                  <a:srgbClr val="C9780A"/>
                </a:solidFill>
                <a:latin typeface="Amiri" pitchFamily="2" charset="-78"/>
                <a:ea typeface="Amiri" pitchFamily="2" charset="-78"/>
                <a:cs typeface="Amiri" pitchFamily="2" charset="-78"/>
              </a:rPr>
              <a:t>هٰذَا / هٰذِهِ</a:t>
            </a:r>
            <a:pPr algn="l" indent="0" marL="0">
              <a:buNone/>
            </a:pPr>
            <a:r>
              <a:rPr lang="en-US" sz="1300" b="1" dirty="0">
                <a:solidFill>
                  <a:srgbClr val="C9780A"/>
                </a:solidFill>
                <a:latin typeface="Calibri" pitchFamily="34" charset="0"/>
                <a:cs typeface="Amiri" pitchFamily="2" charset="-78"/>
              </a:rPr>
              <a:t> and </a:t>
            </a:r>
            <a:pPr algn="l" indent="0" marL="0">
              <a:buNone/>
            </a:pPr>
            <a:r>
              <a:rPr lang="ar-SA" altLang="en-US" sz="1700" b="1" dirty="0">
                <a:solidFill>
                  <a:srgbClr val="C9780A"/>
                </a:solidFill>
                <a:latin typeface="Amiri" pitchFamily="2" charset="-78"/>
                <a:ea typeface="Amiri" pitchFamily="2" charset="-78"/>
                <a:cs typeface="Amiri" pitchFamily="2" charset="-78"/>
              </a:rPr>
              <a:t>هُوَ / هِيَ</a:t>
            </a:r>
            <a:pPr algn="l" indent="0" marL="0">
              <a:buNone/>
            </a:pPr>
            <a:r>
              <a:rPr lang="en-US" sz="1300" b="1" dirty="0">
                <a:solidFill>
                  <a:srgbClr val="C9780A"/>
                </a:solidFill>
                <a:latin typeface="Calibri" pitchFamily="34" charset="0"/>
                <a:cs typeface="Amiri" pitchFamily="2" charset="-78"/>
              </a:rPr>
              <a:t> correctly.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make masculine and feminine professions.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know shams, arḍ, nafs, ḥarb are feminine.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write </a:t>
            </a:r>
            <a:pPr algn="l" indent="0" marL="0">
              <a:buNone/>
            </a:pPr>
            <a:r>
              <a:rPr lang="ar-SA" altLang="en-US" sz="1700" b="1" dirty="0">
                <a:solidFill>
                  <a:srgbClr val="B83227"/>
                </a:solidFill>
                <a:latin typeface="Amiri" pitchFamily="2" charset="-78"/>
                <a:ea typeface="Amiri" pitchFamily="2" charset="-78"/>
                <a:cs typeface="Amiri" pitchFamily="2" charset="-78"/>
              </a:rPr>
              <a:t>مَدْرَسَتِي</a:t>
            </a:r>
            <a:pPr algn="l" indent="0" marL="0">
              <a:buNone/>
            </a:pPr>
            <a:r>
              <a:rPr lang="en-US" sz="1300" b="1" dirty="0">
                <a:solidFill>
                  <a:srgbClr val="B83227"/>
                </a:solidFill>
                <a:latin typeface="Calibri" pitchFamily="34" charset="0"/>
                <a:cs typeface="Amiri" pitchFamily="2" charset="-78"/>
              </a:rPr>
              <a:t>, not </a:t>
            </a:r>
            <a:pPr algn="l" indent="0" marL="0">
              <a:buNone/>
            </a:pPr>
            <a:r>
              <a:rPr lang="ar-SA" altLang="en-US" sz="1700" b="1" dirty="0">
                <a:solidFill>
                  <a:srgbClr val="B83227"/>
                </a:solidFill>
                <a:latin typeface="Amiri" pitchFamily="2" charset="-78"/>
                <a:ea typeface="Amiri" pitchFamily="2" charset="-78"/>
                <a:cs typeface="Amiri" pitchFamily="2" charset="-78"/>
              </a:rPr>
              <a:t>مَدْرَسَةِي</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GM-N-01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مُذَكَّرٌ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masculine</a:t>
            </a:r>
            <a:endParaRPr lang="en-US" sz="1350" dirty="0"/>
          </a:p>
          <a:p>
            <a:pPr indent="0" marL="0">
              <a:buNone/>
            </a:pPr>
            <a:r>
              <a:rPr lang="en-US" sz="1100" i="1" dirty="0">
                <a:solidFill>
                  <a:srgbClr val="5A6472"/>
                </a:solidFill>
                <a:latin typeface="Calibri" pitchFamily="34" charset="0"/>
                <a:cs typeface="Amiri" pitchFamily="2" charset="-78"/>
              </a:rPr>
              <a:t>mu-dhak-ka-run</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كِتَابٌ · بَيْتٌ · قَلَمٌ</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مُؤَنَّثٌ</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feminine</a:t>
            </a:r>
            <a:endParaRPr lang="en-US" sz="1350" dirty="0"/>
          </a:p>
          <a:p>
            <a:pPr indent="0" marL="0">
              <a:buNone/>
            </a:pPr>
            <a:r>
              <a:rPr lang="en-US" sz="1100" i="1" dirty="0">
                <a:solidFill>
                  <a:srgbClr val="5A6472"/>
                </a:solidFill>
                <a:latin typeface="Calibri" pitchFamily="34" charset="0"/>
                <a:cs typeface="Amiri" pitchFamily="2" charset="-78"/>
              </a:rPr>
              <a:t>mu-ʾan-na-thun</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مَدْرَسَةٌ · سَيَّارَةٌ</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تَاءٌ مَرْبُوطَةٌ</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ar-SA" sz="1350" b="1" dirty="0">
                <a:solidFill>
                  <a:srgbClr val="1F2A37"/>
                </a:solidFill>
                <a:latin typeface="Calibri" pitchFamily="34" charset="0"/>
                <a:ea typeface="Amiri" pitchFamily="2" charset="-78"/>
                <a:cs typeface="Amiri" pitchFamily="2" charset="-78"/>
              </a:rPr>
              <a:t>tāʾ marbūṭa (ة)</a:t>
            </a:r>
            <a:endParaRPr lang="en-US" sz="1350" dirty="0"/>
          </a:p>
          <a:p>
            <a:pPr indent="0" marL="0">
              <a:buNone/>
            </a:pPr>
            <a:r>
              <a:rPr lang="en-US" sz="1100" i="1" dirty="0">
                <a:solidFill>
                  <a:srgbClr val="5A6472"/>
                </a:solidFill>
                <a:latin typeface="Calibri" pitchFamily="34" charset="0"/>
                <a:cs typeface="Amiri" pitchFamily="2" charset="-78"/>
              </a:rPr>
              <a:t>tā-ʾun mar-bū-ṭa-tun</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commonest feminine marker</a:t>
            </a:r>
            <a:endParaRPr lang="en-US" sz="10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مُؤَنَّثٌ مَعْنَوِيٌّ</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feminine by meaning / usage</a:t>
            </a:r>
            <a:endParaRPr lang="en-US" sz="1350" dirty="0"/>
          </a:p>
          <a:p>
            <a:pPr indent="0" marL="0">
              <a:buNone/>
            </a:pPr>
            <a:r>
              <a:rPr lang="en-US" sz="1100" i="1" dirty="0">
                <a:solidFill>
                  <a:srgbClr val="5A6472"/>
                </a:solidFill>
                <a:latin typeface="Calibri" pitchFamily="34" charset="0"/>
                <a:cs typeface="Amiri" pitchFamily="2" charset="-78"/>
              </a:rPr>
              <a:t>mu-ʾan-na-thun maʿ-na-wiy-yun</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شَمْسٌ · أَرْضٌ · أُمٌّ</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جِنْسٌ</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gender</a:t>
            </a:r>
            <a:endParaRPr lang="en-US" sz="1350" dirty="0"/>
          </a:p>
          <a:p>
            <a:pPr indent="0" marL="0">
              <a:buNone/>
            </a:pPr>
            <a:r>
              <a:rPr lang="en-US" sz="1100" i="1" dirty="0">
                <a:solidFill>
                  <a:srgbClr val="5A6472"/>
                </a:solidFill>
                <a:latin typeface="Calibri" pitchFamily="34" charset="0"/>
                <a:cs typeface="Amiri" pitchFamily="2" charset="-78"/>
              </a:rPr>
              <a:t>jin-sun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جِنْسُ الِاسْمِ</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مُطَابَقَةٌ</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agreement</a:t>
            </a:r>
            <a:endParaRPr lang="en-US" sz="1350" dirty="0"/>
          </a:p>
          <a:p>
            <a:pPr indent="0" marL="0">
              <a:buNone/>
            </a:pPr>
            <a:r>
              <a:rPr lang="en-US" sz="1100" i="1" dirty="0">
                <a:solidFill>
                  <a:srgbClr val="5A6472"/>
                </a:solidFill>
                <a:latin typeface="Calibri" pitchFamily="34" charset="0"/>
                <a:cs typeface="Amiri" pitchFamily="2" charset="-78"/>
              </a:rPr>
              <a:t>mu-ṭā-ba-qa-tun</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adjective · demonstrative · pronoun · verb</a:t>
            </a:r>
            <a:endParaRPr lang="en-US" sz="10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GM-N-01 · Nouns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 (2 OF 2)</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أَلِفٌ مَقْصُورَةٌ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ar-SA" sz="1350" b="1" dirty="0">
                <a:solidFill>
                  <a:srgbClr val="1F2A37"/>
                </a:solidFill>
                <a:latin typeface="Calibri" pitchFamily="34" charset="0"/>
                <a:ea typeface="Amiri" pitchFamily="2" charset="-78"/>
                <a:cs typeface="Amiri" pitchFamily="2" charset="-78"/>
              </a:rPr>
              <a:t>final alif ى</a:t>
            </a:r>
            <a:endParaRPr lang="en-US" sz="1350" dirty="0"/>
          </a:p>
          <a:p>
            <a:pPr indent="0" marL="0">
              <a:buNone/>
            </a:pPr>
            <a:r>
              <a:rPr lang="en-US" sz="1100" i="1" dirty="0">
                <a:solidFill>
                  <a:srgbClr val="5A6472"/>
                </a:solidFill>
                <a:latin typeface="Calibri" pitchFamily="34" charset="0"/>
                <a:cs typeface="Amiri" pitchFamily="2" charset="-78"/>
              </a:rPr>
              <a:t>a-li-fun maq-ṣū-ra-tun</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ذِكْرَى · كُبْرَى</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أَلِفٌ مَمْدُودَةٌ</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ar-SA" sz="1350" b="1" dirty="0">
                <a:solidFill>
                  <a:srgbClr val="1F2A37"/>
                </a:solidFill>
                <a:latin typeface="Calibri" pitchFamily="34" charset="0"/>
                <a:ea typeface="Amiri" pitchFamily="2" charset="-78"/>
                <a:cs typeface="Amiri" pitchFamily="2" charset="-78"/>
              </a:rPr>
              <a:t>final ـاء</a:t>
            </a:r>
            <a:endParaRPr lang="en-US" sz="1350" dirty="0"/>
          </a:p>
          <a:p>
            <a:pPr indent="0" marL="0">
              <a:buNone/>
            </a:pPr>
            <a:r>
              <a:rPr lang="en-US" sz="1100" i="1" dirty="0">
                <a:solidFill>
                  <a:srgbClr val="5A6472"/>
                </a:solidFill>
                <a:latin typeface="Calibri" pitchFamily="34" charset="0"/>
                <a:cs typeface="Amiri" pitchFamily="2" charset="-78"/>
              </a:rPr>
              <a:t>a-li-fun mam-dū-da-tun</a:t>
            </a:r>
            <a:endParaRPr lang="en-US" sz="1350" dirty="0"/>
          </a:p>
        </p:txBody>
      </p:sp>
      <p:sp>
        <p:nvSpPr>
          <p:cNvPr id="28" name="Text 25"/>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صَحْرَاءُ · حَمْرَاءُ</a:t>
            </a:r>
            <a:endParaRPr lang="ar-SA" sz="13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GM-N-01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1 · RECOGNISING GENDER (WEBSITE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Masculine or feminine?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الْمُذَكَّرُ وَالْمُؤَنَّثُ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GM-N-01</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Every Arabic noun is grammatically masculine or feminine — even objects, places and ideas.</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Many nouns with no feminine marker are masculine: book, house, pen, restaurant (first example).</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commonest feminine marker is </a:t>
            </a:r>
            <a:pPr algn="l" indent="0" marL="0">
              <a:buNone/>
            </a:pPr>
            <a:r>
              <a:rPr lang="ar-SA" altLang="en-US" sz="1700" dirty="0">
                <a:solidFill>
                  <a:srgbClr val="1F2A37"/>
                </a:solidFill>
                <a:latin typeface="Amiri" pitchFamily="2" charset="-78"/>
                <a:ea typeface="Amiri" pitchFamily="2" charset="-78"/>
                <a:cs typeface="Amiri" pitchFamily="2" charset="-78"/>
              </a:rPr>
              <a:t>ة</a:t>
            </a:r>
            <a:pPr algn="l" indent="0" marL="0">
              <a:buNone/>
            </a:pPr>
            <a:r>
              <a:rPr lang="en-US" sz="1300" dirty="0">
                <a:solidFill>
                  <a:srgbClr val="1F2A37"/>
                </a:solidFill>
                <a:latin typeface="Calibri" pitchFamily="34" charset="0"/>
                <a:cs typeface="Amiri" pitchFamily="2" charset="-78"/>
              </a:rPr>
              <a:t> (tāʾ marbūṭa): school, car.</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Two more feminine endings: </a:t>
            </a:r>
            <a:pPr algn="l" indent="0" marL="0">
              <a:buNone/>
            </a:pPr>
            <a:r>
              <a:rPr lang="ar-SA" altLang="en-US" sz="1700" dirty="0">
                <a:solidFill>
                  <a:srgbClr val="1F2A37"/>
                </a:solidFill>
                <a:latin typeface="Amiri" pitchFamily="2" charset="-78"/>
                <a:ea typeface="Amiri" pitchFamily="2" charset="-78"/>
                <a:cs typeface="Amiri" pitchFamily="2" charset="-78"/>
              </a:rPr>
              <a:t>ـاء</a:t>
            </a:r>
            <a:pPr algn="l" indent="0" marL="0">
              <a:buNone/>
            </a:pPr>
            <a:r>
              <a:rPr lang="en-US" sz="1300" dirty="0">
                <a:solidFill>
                  <a:srgbClr val="1F2A37"/>
                </a:solidFill>
                <a:latin typeface="Calibri" pitchFamily="34" charset="0"/>
                <a:cs typeface="Amiri" pitchFamily="2" charset="-78"/>
              </a:rPr>
              <a:t> (desert) and </a:t>
            </a:r>
            <a:pPr algn="l" indent="0" marL="0">
              <a:buNone/>
            </a:pPr>
            <a:r>
              <a:rPr lang="ar-SA" altLang="en-US" sz="1700" dirty="0">
                <a:solidFill>
                  <a:srgbClr val="1F2A37"/>
                </a:solidFill>
                <a:latin typeface="Amiri" pitchFamily="2" charset="-78"/>
                <a:ea typeface="Amiri" pitchFamily="2" charset="-78"/>
                <a:cs typeface="Amiri" pitchFamily="2" charset="-78"/>
              </a:rPr>
              <a:t>ى</a:t>
            </a:r>
            <a:pPr algn="l" indent="0" marL="0">
              <a:buNone/>
            </a:pPr>
            <a:r>
              <a:rPr lang="en-US" sz="1300" dirty="0">
                <a:solidFill>
                  <a:srgbClr val="1F2A37"/>
                </a:solidFill>
                <a:latin typeface="Calibri" pitchFamily="34" charset="0"/>
                <a:cs typeface="Amiri" pitchFamily="2" charset="-78"/>
              </a:rPr>
              <a:t> (memory, the greatest — f.).</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Shape is a clue, not a rule: some feminines have no </a:t>
            </a:r>
            <a:pPr algn="l" indent="0" marL="0">
              <a:buNone/>
            </a:pPr>
            <a:r>
              <a:rPr lang="ar-SA" altLang="en-US" sz="1700" dirty="0">
                <a:solidFill>
                  <a:srgbClr val="1F2A37"/>
                </a:solidFill>
                <a:latin typeface="Amiri" pitchFamily="2" charset="-78"/>
                <a:ea typeface="Amiri" pitchFamily="2" charset="-78"/>
                <a:cs typeface="Amiri" pitchFamily="2" charset="-78"/>
              </a:rPr>
              <a:t>ة</a:t>
            </a:r>
            <a:pPr algn="l" indent="0" marL="0">
              <a:buNone/>
            </a:pPr>
            <a:r>
              <a:rPr lang="en-US" sz="1300" dirty="0">
                <a:solidFill>
                  <a:srgbClr val="1F2A37"/>
                </a:solidFill>
                <a:latin typeface="Calibri" pitchFamily="34" charset="0"/>
                <a:cs typeface="Amiri" pitchFamily="2" charset="-78"/>
              </a:rPr>
              <a:t>, and some male names end in </a:t>
            </a:r>
            <a:pPr algn="l" indent="0" marL="0">
              <a:buNone/>
            </a:pPr>
            <a:r>
              <a:rPr lang="ar-SA" altLang="en-US" sz="1700" dirty="0">
                <a:solidFill>
                  <a:srgbClr val="1F2A37"/>
                </a:solidFill>
                <a:latin typeface="Amiri" pitchFamily="2" charset="-78"/>
                <a:ea typeface="Amiri" pitchFamily="2" charset="-78"/>
                <a:cs typeface="Amiri" pitchFamily="2" charset="-78"/>
              </a:rPr>
              <a:t>ة</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كِتَابٌ · بَيْتٌ · قَلَمٌ · مَطْعَمٌ</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masculine — no marker</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مَدْرَسَةٌ · سَيَّارَةٌ</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feminine — </a:t>
            </a:r>
            <a:pPr algn="ctr" indent="0" marL="0">
              <a:buNone/>
            </a:pPr>
            <a:r>
              <a:rPr lang="ar-SA" altLang="en-US" sz="1450" dirty="0">
                <a:solidFill>
                  <a:srgbClr val="5A6472"/>
                </a:solidFill>
                <a:latin typeface="Amiri" pitchFamily="2" charset="-78"/>
                <a:ea typeface="Amiri" pitchFamily="2" charset="-78"/>
                <a:cs typeface="Amiri" pitchFamily="2" charset="-78"/>
              </a:rPr>
              <a:t>ة</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صَحْرَاءُ · حَمْرَاءُ</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feminine — </a:t>
            </a:r>
            <a:pPr algn="ctr" indent="0" marL="0">
              <a:buNone/>
            </a:pPr>
            <a:r>
              <a:rPr lang="ar-SA" altLang="en-US" sz="1450" dirty="0">
                <a:solidFill>
                  <a:srgbClr val="5A6472"/>
                </a:solidFill>
                <a:latin typeface="Amiri" pitchFamily="2" charset="-78"/>
                <a:ea typeface="Amiri" pitchFamily="2" charset="-78"/>
                <a:cs typeface="Amiri" pitchFamily="2" charset="-78"/>
              </a:rPr>
              <a:t>ـاء</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ذِكْرَى · كُبْرَى</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feminine — </a:t>
            </a:r>
            <a:pPr algn="ctr" indent="0" marL="0">
              <a:buNone/>
            </a:pPr>
            <a:r>
              <a:rPr lang="ar-SA" altLang="en-US" sz="1450" dirty="0">
                <a:solidFill>
                  <a:srgbClr val="5A6472"/>
                </a:solidFill>
                <a:latin typeface="Amiri" pitchFamily="2" charset="-78"/>
                <a:ea typeface="Amiri" pitchFamily="2" charset="-78"/>
                <a:cs typeface="Amiri" pitchFamily="2" charset="-78"/>
              </a:rPr>
              <a:t>ى</a:t>
            </a:r>
            <a:endParaRPr lang="en-US" sz="1100" dirty="0"/>
          </a:p>
        </p:txBody>
      </p:sp>
      <p:sp>
        <p:nvSpPr>
          <p:cNvPr id="45" name="Shape 42"/>
          <p:cNvSpPr/>
          <p:nvPr/>
        </p:nvSpPr>
        <p:spPr>
          <a:xfrm>
            <a:off x="457200" y="5394960"/>
            <a:ext cx="11274552" cy="914400"/>
          </a:xfrm>
          <a:prstGeom prst="roundRect">
            <a:avLst>
              <a:gd name="adj" fmla="val 8000"/>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B83227"/>
                </a:solidFill>
                <a:latin typeface="Calibri" pitchFamily="34" charset="0"/>
                <a:cs typeface="Amiri" pitchFamily="2" charset="-78"/>
              </a:rPr>
              <a:t>WATCH OUT</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Do not classify by shape alone (website): Ḥamza is a man’s name ending in </a:t>
            </a:r>
            <a:pPr algn="l" indent="0" marL="0">
              <a:buNone/>
            </a:pPr>
            <a:r>
              <a:rPr lang="ar-SA" altLang="en-US" sz="1650" dirty="0">
                <a:solidFill>
                  <a:srgbClr val="1F2A37"/>
                </a:solidFill>
                <a:latin typeface="Amiri" pitchFamily="2" charset="-78"/>
                <a:ea typeface="Amiri" pitchFamily="2" charset="-78"/>
                <a:cs typeface="Amiri" pitchFamily="2" charset="-78"/>
              </a:rPr>
              <a:t>ة</a:t>
            </a:r>
            <a:pPr algn="l" indent="0" marL="0">
              <a:buNone/>
            </a:pPr>
            <a:r>
              <a:rPr lang="en-US" sz="1250" dirty="0">
                <a:solidFill>
                  <a:srgbClr val="1F2A37"/>
                </a:solidFill>
                <a:latin typeface="Calibri" pitchFamily="34" charset="0"/>
                <a:cs typeface="Amiri" pitchFamily="2" charset="-78"/>
              </a:rPr>
              <a:t>, while shams, arḍ, nafs and ḥarb are feminine without it.</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GM-N-01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2 · FOUR KINDS OF GENDER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do we know a noun’s gender?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أَنْوَاعُ الْمُؤَنَّثِ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How to learn it (website)</a:t>
            </a:r>
            <a:endParaRPr lang="en-US" sz="1100" dirty="0"/>
          </a:p>
        </p:txBody>
      </p:sp>
      <p:sp>
        <p:nvSpPr>
          <p:cNvPr id="17" name="Text 14"/>
          <p:cNvSpPr txBox="1"/>
          <p:nvPr/>
        </p:nvSpPr>
        <p:spPr>
          <a:xfrm>
            <a:off x="3273552" y="1810512"/>
            <a:ext cx="4242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Examples</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Type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699248" y="2267712"/>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meaning and form</a:t>
            </a:r>
            <a:endParaRPr lang="en-US" sz="1100" dirty="0"/>
          </a:p>
        </p:txBody>
      </p:sp>
      <p:sp>
        <p:nvSpPr>
          <p:cNvPr id="21" name="Text 18"/>
          <p:cNvSpPr txBox="1"/>
          <p:nvPr/>
        </p:nvSpPr>
        <p:spPr>
          <a:xfrm>
            <a:off x="3291840" y="2267712"/>
            <a:ext cx="42062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أَبٌ / أُمٌّ · مُعَلِّمٌ / مُعَلِّمَةٌ</a:t>
            </a:r>
            <a:endParaRPr lang="ar-SA" sz="2400" dirty="0"/>
          </a:p>
        </p:txBody>
      </p:sp>
      <p:sp>
        <p:nvSpPr>
          <p:cNvPr id="22" name="Text 19"/>
          <p:cNvSpPr txBox="1"/>
          <p:nvPr/>
        </p:nvSpPr>
        <p:spPr>
          <a:xfrm>
            <a:off x="5669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natural gender</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699248" y="3004718"/>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notice the ending </a:t>
            </a:r>
            <a:pPr algn="l" indent="0" marL="0">
              <a:buNone/>
            </a:pPr>
            <a:r>
              <a:rPr lang="ar-SA" altLang="en-US" sz="1450" dirty="0">
                <a:solidFill>
                  <a:srgbClr val="5A6472"/>
                </a:solidFill>
                <a:latin typeface="Amiri" pitchFamily="2" charset="-78"/>
                <a:ea typeface="Amiri" pitchFamily="2" charset="-78"/>
                <a:cs typeface="Amiri" pitchFamily="2" charset="-78"/>
              </a:rPr>
              <a:t>ة</a:t>
            </a:r>
            <a:endParaRPr lang="en-US" sz="1100" dirty="0"/>
          </a:p>
        </p:txBody>
      </p:sp>
      <p:sp>
        <p:nvSpPr>
          <p:cNvPr id="27" name="Text 24"/>
          <p:cNvSpPr txBox="1"/>
          <p:nvPr/>
        </p:nvSpPr>
        <p:spPr>
          <a:xfrm>
            <a:off x="3291840" y="3004718"/>
            <a:ext cx="42062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غُرْفَةٌ · جَامِعَةٌ</a:t>
            </a:r>
            <a:endParaRPr lang="ar-SA" sz="2400" dirty="0"/>
          </a:p>
        </p:txBody>
      </p:sp>
      <p:sp>
        <p:nvSpPr>
          <p:cNvPr id="28" name="Text 25"/>
          <p:cNvSpPr txBox="1"/>
          <p:nvPr/>
        </p:nvSpPr>
        <p:spPr>
          <a:xfrm>
            <a:off x="5669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marked feminine</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699248" y="3741725"/>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memorise WITH its agreement</a:t>
            </a:r>
            <a:endParaRPr lang="en-US" sz="1100" dirty="0"/>
          </a:p>
        </p:txBody>
      </p:sp>
      <p:sp>
        <p:nvSpPr>
          <p:cNvPr id="33" name="Text 30"/>
          <p:cNvSpPr txBox="1"/>
          <p:nvPr/>
        </p:nvSpPr>
        <p:spPr>
          <a:xfrm>
            <a:off x="3291840" y="3741725"/>
            <a:ext cx="42062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شَمْسٌ · دَارٌ · رِيحٌ · أَرْضٌ</a:t>
            </a:r>
            <a:endParaRPr lang="ar-SA" sz="2400" dirty="0"/>
          </a:p>
        </p:txBody>
      </p:sp>
      <p:sp>
        <p:nvSpPr>
          <p:cNvPr id="34" name="Text 31"/>
          <p:cNvSpPr txBox="1"/>
          <p:nvPr/>
        </p:nvSpPr>
        <p:spPr>
          <a:xfrm>
            <a:off x="5669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lexical feminine (no </a:t>
            </a:r>
            <a:pPr algn="l" indent="0" marL="0">
              <a:buNone/>
            </a:pPr>
            <a:r>
              <a:rPr lang="ar-SA" altLang="en-US" sz="1450" dirty="0">
                <a:solidFill>
                  <a:srgbClr val="5A6472"/>
                </a:solidFill>
                <a:latin typeface="Amiri" pitchFamily="2" charset="-78"/>
                <a:ea typeface="Amiri" pitchFamily="2" charset="-78"/>
                <a:cs typeface="Amiri" pitchFamily="2" charset="-78"/>
              </a:rPr>
              <a:t>ة</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7699248" y="4478731"/>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recognise the names</a:t>
            </a:r>
            <a:endParaRPr lang="en-US" sz="1100" dirty="0"/>
          </a:p>
        </p:txBody>
      </p:sp>
      <p:sp>
        <p:nvSpPr>
          <p:cNvPr id="37" name="Text 34"/>
          <p:cNvSpPr txBox="1"/>
          <p:nvPr/>
        </p:nvSpPr>
        <p:spPr>
          <a:xfrm>
            <a:off x="3291840" y="4478731"/>
            <a:ext cx="42062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حَمْزَةُ · أُسَامَةُ</a:t>
            </a:r>
            <a:endParaRPr lang="ar-SA" sz="2400" dirty="0"/>
          </a:p>
        </p:txBody>
      </p:sp>
      <p:sp>
        <p:nvSpPr>
          <p:cNvPr id="38" name="Text 35"/>
          <p:cNvSpPr txBox="1"/>
          <p:nvPr/>
        </p:nvSpPr>
        <p:spPr>
          <a:xfrm>
            <a:off x="5669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masculine name in </a:t>
            </a:r>
            <a:pPr algn="l" indent="0" marL="0">
              <a:buNone/>
            </a:pPr>
            <a:r>
              <a:rPr lang="ar-SA" altLang="en-US" sz="1450" dirty="0">
                <a:solidFill>
                  <a:srgbClr val="5A6472"/>
                </a:solidFill>
                <a:latin typeface="Amiri" pitchFamily="2" charset="-78"/>
                <a:ea typeface="Amiri" pitchFamily="2" charset="-78"/>
                <a:cs typeface="Amiri" pitchFamily="2" charset="-78"/>
              </a:rPr>
              <a:t>ة</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7699248" y="5215738"/>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feminine without </a:t>
            </a:r>
            <a:pPr algn="l" indent="0" marL="0">
              <a:buNone/>
            </a:pPr>
            <a:r>
              <a:rPr lang="ar-SA" altLang="en-US" sz="1450" dirty="0">
                <a:solidFill>
                  <a:srgbClr val="5A6472"/>
                </a:solidFill>
                <a:latin typeface="Amiri" pitchFamily="2" charset="-78"/>
                <a:ea typeface="Amiri" pitchFamily="2" charset="-78"/>
                <a:cs typeface="Amiri" pitchFamily="2" charset="-78"/>
              </a:rPr>
              <a:t>ة</a:t>
            </a:r>
            <a:endParaRPr lang="en-US" sz="1100" dirty="0"/>
          </a:p>
        </p:txBody>
      </p:sp>
      <p:sp>
        <p:nvSpPr>
          <p:cNvPr id="41" name="Text 38"/>
          <p:cNvSpPr txBox="1"/>
          <p:nvPr/>
        </p:nvSpPr>
        <p:spPr>
          <a:xfrm>
            <a:off x="3291840" y="5215738"/>
            <a:ext cx="42062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عَيْنٌ · يَدٌ · رِجْلٌ · أُذُنٌ</a:t>
            </a:r>
            <a:endParaRPr lang="ar-SA" sz="2400" dirty="0"/>
          </a:p>
        </p:txBody>
      </p:sp>
      <p:sp>
        <p:nvSpPr>
          <p:cNvPr id="42" name="Text 39"/>
          <p:cNvSpPr txBox="1"/>
          <p:nvPr/>
        </p:nvSpPr>
        <p:spPr>
          <a:xfrm>
            <a:off x="56692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body parts in pairs (Stretch)</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Learn lexical feminines in a phrase, never alone: </a:t>
            </a:r>
            <a:pPr algn="l" indent="0" marL="0">
              <a:buNone/>
            </a:pPr>
            <a:r>
              <a:rPr lang="ar-SA" altLang="en-US" sz="1500" b="1" dirty="0">
                <a:solidFill>
                  <a:srgbClr val="1B3B6F"/>
                </a:solidFill>
                <a:latin typeface="Amiri" pitchFamily="2" charset="-78"/>
                <a:ea typeface="Amiri" pitchFamily="2" charset="-78"/>
                <a:cs typeface="Amiri" pitchFamily="2" charset="-78"/>
              </a:rPr>
              <a:t>الشَّمْسُ حَارَّةٌ</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الْأَرْضُ وَاسِعَةٌ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GM-N-01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1B3B6F"/>
                </a:solidFill>
                <a:latin typeface="Calibri" pitchFamily="34" charset="0"/>
                <a:cs typeface="Amiri" pitchFamily="2" charset="-78"/>
              </a:rPr>
              <a:t>GRAMMAR · PART 3 · GENDER AGREEMENT ACROSS THE SENTENCE (WEBSITE SECTION)</a:t>
            </a:r>
            <a:endParaRPr lang="en-US" sz="96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Everything that refers back agrees</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الْمُطَابَقَةُ فِي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296912" y="1810512"/>
            <a:ext cx="4361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Feminine noun</a:t>
            </a:r>
            <a:endParaRPr lang="en-US" sz="1100" dirty="0"/>
          </a:p>
        </p:txBody>
      </p:sp>
      <p:sp>
        <p:nvSpPr>
          <p:cNvPr id="17" name="Text 14"/>
          <p:cNvSpPr txBox="1"/>
          <p:nvPr/>
        </p:nvSpPr>
        <p:spPr>
          <a:xfrm>
            <a:off x="309067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Masculine noun</a:t>
            </a:r>
            <a:endParaRPr lang="en-US" sz="1100" dirty="0"/>
          </a:p>
        </p:txBody>
      </p:sp>
      <p:sp>
        <p:nvSpPr>
          <p:cNvPr id="18" name="Text 15"/>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Word that agrees</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315200" y="2267712"/>
            <a:ext cx="43251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مَدْرَسَةٌ كَبِيرَةٌ</a:t>
            </a:r>
            <a:endParaRPr lang="ar-SA" sz="2400" dirty="0"/>
          </a:p>
        </p:txBody>
      </p:sp>
      <p:sp>
        <p:nvSpPr>
          <p:cNvPr id="21" name="Text 18"/>
          <p:cNvSpPr txBox="1"/>
          <p:nvPr/>
        </p:nvSpPr>
        <p:spPr>
          <a:xfrm>
            <a:off x="3108960" y="2267712"/>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بَيْتٌ كَبِيرٌ</a:t>
            </a:r>
            <a:endParaRPr lang="ar-SA" sz="2400" dirty="0"/>
          </a:p>
        </p:txBody>
      </p:sp>
      <p:sp>
        <p:nvSpPr>
          <p:cNvPr id="22" name="Text 19"/>
          <p:cNvSpPr txBox="1"/>
          <p:nvPr/>
        </p:nvSpPr>
        <p:spPr>
          <a:xfrm>
            <a:off x="566928" y="2267712"/>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adjective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315200" y="3004718"/>
            <a:ext cx="43251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هٰذِهِ الْمَدْرَسَةُ</a:t>
            </a:r>
            <a:endParaRPr lang="ar-SA" sz="2400" dirty="0"/>
          </a:p>
        </p:txBody>
      </p:sp>
      <p:sp>
        <p:nvSpPr>
          <p:cNvPr id="27" name="Text 24"/>
          <p:cNvSpPr txBox="1"/>
          <p:nvPr/>
        </p:nvSpPr>
        <p:spPr>
          <a:xfrm>
            <a:off x="3108960" y="300471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هٰذَا الْبَيْتُ</a:t>
            </a:r>
            <a:endParaRPr lang="ar-SA" sz="2400" dirty="0"/>
          </a:p>
        </p:txBody>
      </p:sp>
      <p:sp>
        <p:nvSpPr>
          <p:cNvPr id="28" name="Text 25"/>
          <p:cNvSpPr txBox="1"/>
          <p:nvPr/>
        </p:nvSpPr>
        <p:spPr>
          <a:xfrm>
            <a:off x="566928" y="3004718"/>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demonstrative</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315200" y="3741725"/>
            <a:ext cx="43251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هِيَ قَرِيبَةٌ.</a:t>
            </a:r>
            <a:endParaRPr lang="ar-SA" sz="2400" dirty="0"/>
          </a:p>
        </p:txBody>
      </p:sp>
      <p:sp>
        <p:nvSpPr>
          <p:cNvPr id="33" name="Text 30"/>
          <p:cNvSpPr txBox="1"/>
          <p:nvPr/>
        </p:nvSpPr>
        <p:spPr>
          <a:xfrm>
            <a:off x="3108960" y="3741725"/>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هُوَ قَرِيبٌ.</a:t>
            </a:r>
            <a:endParaRPr lang="ar-SA" sz="2400" dirty="0"/>
          </a:p>
        </p:txBody>
      </p:sp>
      <p:sp>
        <p:nvSpPr>
          <p:cNvPr id="34" name="Text 31"/>
          <p:cNvSpPr txBox="1"/>
          <p:nvPr/>
        </p:nvSpPr>
        <p:spPr>
          <a:xfrm>
            <a:off x="566928" y="3741725"/>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pronoun</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315200" y="4478731"/>
            <a:ext cx="43251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وَصَلَتِ الْحَافِلَةُ.</a:t>
            </a:r>
            <a:endParaRPr lang="ar-SA" sz="2400" dirty="0"/>
          </a:p>
        </p:txBody>
      </p:sp>
      <p:sp>
        <p:nvSpPr>
          <p:cNvPr id="39" name="Text 36"/>
          <p:cNvSpPr txBox="1"/>
          <p:nvPr/>
        </p:nvSpPr>
        <p:spPr>
          <a:xfrm>
            <a:off x="3108960" y="4478731"/>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وَصَلَ الْقِطَارُ.</a:t>
            </a:r>
            <a:endParaRPr lang="ar-SA" sz="2400" dirty="0"/>
          </a:p>
        </p:txBody>
      </p:sp>
      <p:sp>
        <p:nvSpPr>
          <p:cNvPr id="40" name="Text 37"/>
          <p:cNvSpPr txBox="1"/>
          <p:nvPr/>
        </p:nvSpPr>
        <p:spPr>
          <a:xfrm>
            <a:off x="566928" y="4478731"/>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verb</a:t>
            </a:r>
            <a:endParaRPr lang="en-US" sz="11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7315200" y="5215738"/>
            <a:ext cx="43251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تَبْدَأُ الْمُبَارَاةُ.</a:t>
            </a:r>
            <a:endParaRPr lang="ar-SA" sz="2400" dirty="0"/>
          </a:p>
        </p:txBody>
      </p:sp>
      <p:sp>
        <p:nvSpPr>
          <p:cNvPr id="43" name="Text 40"/>
          <p:cNvSpPr txBox="1"/>
          <p:nvPr/>
        </p:nvSpPr>
        <p:spPr>
          <a:xfrm>
            <a:off x="3108960" y="521573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يَبْدَأُ الدَّرْسُ.</a:t>
            </a:r>
            <a:endParaRPr lang="ar-SA" sz="2400" dirty="0"/>
          </a:p>
        </p:txBody>
      </p:sp>
      <p:sp>
        <p:nvSpPr>
          <p:cNvPr id="44" name="Text 41"/>
          <p:cNvSpPr txBox="1"/>
          <p:nvPr/>
        </p:nvSpPr>
        <p:spPr>
          <a:xfrm>
            <a:off x="566928" y="5215738"/>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present verb</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Meaning-first strategy (website): identify the head noun → decide its gender → check every word that refers back to it.</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GM-N-01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4 · PROFESSIONS AND TĀʾ MARBŪṬA · DEVELOP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Add </a:t>
            </a:r>
            <a:pPr algn="l" indent="0" marL="0">
              <a:buNone/>
            </a:pPr>
            <a:r>
              <a:rPr lang="ar-SA" altLang="en-US" sz="3650" b="1" dirty="0">
                <a:solidFill>
                  <a:srgbClr val="1B3B6F"/>
                </a:solidFill>
                <a:latin typeface="Amiri" pitchFamily="2" charset="-78"/>
                <a:ea typeface="Amiri" pitchFamily="2" charset="-78"/>
                <a:cs typeface="Amiri" pitchFamily="2" charset="-78"/>
              </a:rPr>
              <a:t>ة</a:t>
            </a:r>
            <a:pPr algn="l" indent="0" marL="0">
              <a:buNone/>
            </a:pPr>
            <a:r>
              <a:rPr lang="en-US" sz="2800" b="1" dirty="0">
                <a:solidFill>
                  <a:srgbClr val="1B3B6F"/>
                </a:solidFill>
                <a:latin typeface="Cambria" pitchFamily="34" charset="0"/>
                <a:cs typeface="Amiri" pitchFamily="2" charset="-78"/>
              </a:rPr>
              <a:t> — and open it to </a:t>
            </a:r>
            <a:pPr algn="l" indent="0" marL="0">
              <a:buNone/>
            </a:pPr>
            <a:r>
              <a:rPr lang="ar-SA" altLang="en-US" sz="3650" b="1" dirty="0">
                <a:solidFill>
                  <a:srgbClr val="1B3B6F"/>
                </a:solidFill>
                <a:latin typeface="Amiri" pitchFamily="2" charset="-78"/>
                <a:ea typeface="Amiri" pitchFamily="2" charset="-78"/>
                <a:cs typeface="Amiri" pitchFamily="2" charset="-78"/>
              </a:rPr>
              <a:t>ت</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التَّاءُ الْمَرْبُوطَةُ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2870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PROFESSIONS</a:t>
            </a:r>
            <a:endParaRPr lang="en-US" sz="850" dirty="0"/>
          </a:p>
        </p:txBody>
      </p:sp>
      <p:sp>
        <p:nvSpPr>
          <p:cNvPr id="18" name="Text 15"/>
          <p:cNvSpPr txBox="1"/>
          <p:nvPr/>
        </p:nvSpPr>
        <p:spPr>
          <a:xfrm>
            <a:off x="9307068"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مُعَلِّمٌ ← مُعَلِّمَةٌ</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طَبِيبٌ · طَبِيبَةٌ</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doctor (m.) · doctor (f.)</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Also: </a:t>
            </a:r>
            <a:pPr algn="l" indent="0" marL="0">
              <a:buNone/>
            </a:pPr>
            <a:r>
              <a:rPr lang="ar-SA" altLang="en-US" sz="1450" dirty="0">
                <a:solidFill>
                  <a:srgbClr val="1F2A37"/>
                </a:solidFill>
                <a:latin typeface="Amiri" pitchFamily="2" charset="-78"/>
                <a:ea typeface="Amiri" pitchFamily="2" charset="-78"/>
                <a:cs typeface="Amiri" pitchFamily="2" charset="-78"/>
              </a:rPr>
              <a:t>مُهَنْدِسٌ / مُهَنْدِسَةٌ</a:t>
            </a:r>
            <a:pPr algn="l" indent="0" marL="0">
              <a:buNone/>
            </a:pPr>
            <a:r>
              <a:rPr lang="en-US" sz="1100" dirty="0">
                <a:solidFill>
                  <a:srgbClr val="1F2A37"/>
                </a:solidFill>
                <a:latin typeface="Calibri" pitchFamily="34" charset="0"/>
                <a:cs typeface="Amiri" pitchFamily="2" charset="-78"/>
              </a:rPr>
              <a:t> · </a:t>
            </a:r>
            <a:pPr algn="l" indent="0" marL="0">
              <a:buNone/>
            </a:pPr>
            <a:r>
              <a:rPr lang="ar-SA" altLang="en-US" sz="1450" dirty="0">
                <a:solidFill>
                  <a:srgbClr val="1F2A37"/>
                </a:solidFill>
                <a:latin typeface="Amiri" pitchFamily="2" charset="-78"/>
                <a:ea typeface="Amiri" pitchFamily="2" charset="-78"/>
                <a:cs typeface="Amiri" pitchFamily="2" charset="-78"/>
              </a:rPr>
              <a:t>طَالِبٌ / طَالِبَةٌ</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ar-SA" sz="850" b="1" spc="100" kern="0" dirty="0">
                <a:solidFill>
                  <a:srgbClr val="FFFFFF"/>
                </a:solidFill>
                <a:latin typeface="Calibri" pitchFamily="34" charset="0"/>
                <a:ea typeface="Amiri" pitchFamily="2" charset="-78"/>
                <a:cs typeface="Amiri" pitchFamily="2" charset="-78"/>
              </a:rPr>
              <a:t>ة BEFORE A SUFFIX</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مَدْرَسَةٌ + ي</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مَدْرَسَتِي</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my school — </a:t>
            </a:r>
            <a:pPr algn="ctr" indent="0" marL="0">
              <a:buNone/>
            </a:pPr>
            <a:r>
              <a:rPr lang="ar-SA" altLang="en-US" sz="1550" dirty="0">
                <a:solidFill>
                  <a:srgbClr val="5A6472"/>
                </a:solidFill>
                <a:latin typeface="Amiri" pitchFamily="2" charset="-78"/>
                <a:ea typeface="Amiri" pitchFamily="2" charset="-78"/>
                <a:cs typeface="Amiri" pitchFamily="2" charset="-78"/>
              </a:rPr>
              <a:t>ة</a:t>
            </a:r>
            <a:pPr algn="ctr" indent="0" marL="0">
              <a:buNone/>
            </a:pPr>
            <a:r>
              <a:rPr lang="en-US" sz="1200" i="1" dirty="0">
                <a:solidFill>
                  <a:srgbClr val="5A6472"/>
                </a:solidFill>
                <a:latin typeface="Calibri" pitchFamily="34" charset="0"/>
                <a:cs typeface="Amiri" pitchFamily="2" charset="-78"/>
              </a:rPr>
              <a:t> becomes </a:t>
            </a:r>
            <a:pPr algn="ctr" indent="0" marL="0">
              <a:buNone/>
            </a:pPr>
            <a:r>
              <a:rPr lang="ar-SA" altLang="en-US" sz="1550" dirty="0">
                <a:solidFill>
                  <a:srgbClr val="5A6472"/>
                </a:solidFill>
                <a:latin typeface="Amiri" pitchFamily="2" charset="-78"/>
                <a:ea typeface="Amiri" pitchFamily="2" charset="-78"/>
                <a:cs typeface="Amiri" pitchFamily="2" charset="-78"/>
              </a:rPr>
              <a:t>ت</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ea typeface="Amiri" pitchFamily="2" charset="-78"/>
                <a:cs typeface="Amiri" pitchFamily="2" charset="-78"/>
              </a:rPr>
              <a:t>غُرْفَتِي · سَيَّارَتُنَا · جَامِعَتُهَا.</a:t>
            </a:r>
            <a:endParaRPr lang="ar-SA" sz="14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96012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960120" cy="274320"/>
          </a:xfrm>
          <a:prstGeom prst="rect">
            <a:avLst/>
          </a:prstGeom>
          <a:noFill/>
          <a:ln/>
        </p:spPr>
        <p:txBody>
          <a:bodyPr wrap="square" lIns="0" tIns="0" rIns="0" bIns="0" rtlCol="0" anchor="ctr"/>
          <a:lstStyle/>
          <a:p>
            <a:pPr algn="ctr" indent="0" marL="0">
              <a:buNone/>
            </a:pPr>
            <a:r>
              <a:rPr lang="ar-SA" sz="850" b="1" spc="100" kern="0" dirty="0">
                <a:solidFill>
                  <a:srgbClr val="FFFFFF"/>
                </a:solidFill>
                <a:latin typeface="Calibri" pitchFamily="34" charset="0"/>
                <a:ea typeface="Amiri" pitchFamily="2" charset="-78"/>
                <a:cs typeface="Amiri" pitchFamily="2" charset="-78"/>
              </a:rPr>
              <a:t>ة IN IḌĀFA</a:t>
            </a:r>
            <a:endParaRPr lang="en-US" sz="850" dirty="0"/>
          </a:p>
        </p:txBody>
      </p:sp>
      <p:sp>
        <p:nvSpPr>
          <p:cNvPr id="34" name="Text 31"/>
          <p:cNvSpPr txBox="1"/>
          <p:nvPr/>
        </p:nvSpPr>
        <p:spPr>
          <a:xfrm>
            <a:off x="1600200" y="1874520"/>
            <a:ext cx="23561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مَدْرَسَةُ الْبَنَاتِ</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حَقِيبَةُ الطَّالِبِ</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student’s bag — </a:t>
            </a:r>
            <a:pPr algn="ctr" indent="0" marL="0">
              <a:buNone/>
            </a:pPr>
            <a:r>
              <a:rPr lang="ar-SA" altLang="en-US" sz="1550" dirty="0">
                <a:solidFill>
                  <a:srgbClr val="5A6472"/>
                </a:solidFill>
                <a:latin typeface="Amiri" pitchFamily="2" charset="-78"/>
                <a:ea typeface="Amiri" pitchFamily="2" charset="-78"/>
                <a:cs typeface="Amiri" pitchFamily="2" charset="-78"/>
              </a:rPr>
              <a:t>ة</a:t>
            </a:r>
            <a:pPr algn="ctr" indent="0" marL="0">
              <a:buNone/>
            </a:pPr>
            <a:r>
              <a:rPr lang="en-US" sz="1200" i="1" dirty="0">
                <a:solidFill>
                  <a:srgbClr val="5A6472"/>
                </a:solidFill>
                <a:latin typeface="Calibri" pitchFamily="34" charset="0"/>
                <a:cs typeface="Amiri" pitchFamily="2" charset="-78"/>
              </a:rPr>
              <a:t> is said as 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ḥaqībatu ṭ-ṭālib.</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mini-check: </a:t>
            </a:r>
            <a:pPr algn="l" indent="0" marL="0">
              <a:buNone/>
            </a:pPr>
            <a:r>
              <a:rPr lang="ar-SA" altLang="en-US" sz="1500" dirty="0">
                <a:solidFill>
                  <a:srgbClr val="1F2A37"/>
                </a:solidFill>
                <a:latin typeface="Amiri" pitchFamily="2" charset="-78"/>
                <a:ea typeface="Amiri" pitchFamily="2" charset="-78"/>
                <a:cs typeface="Amiri" pitchFamily="2" charset="-78"/>
              </a:rPr>
              <a:t>ة</a:t>
            </a:r>
            <a:pPr algn="l" indent="0" marL="0">
              <a:buNone/>
            </a:pPr>
            <a:r>
              <a:rPr lang="en-US" sz="1150" dirty="0">
                <a:solidFill>
                  <a:srgbClr val="1F2A37"/>
                </a:solidFill>
                <a:latin typeface="Calibri" pitchFamily="34" charset="0"/>
                <a:cs typeface="Amiri" pitchFamily="2" charset="-78"/>
              </a:rPr>
              <a:t> opens to </a:t>
            </a:r>
            <a:pPr algn="l" indent="0" marL="0">
              <a:buNone/>
            </a:pPr>
            <a:r>
              <a:rPr lang="ar-SA" altLang="en-US" sz="1500" dirty="0">
                <a:solidFill>
                  <a:srgbClr val="1F2A37"/>
                </a:solidFill>
                <a:latin typeface="Amiri" pitchFamily="2" charset="-78"/>
                <a:ea typeface="Amiri" pitchFamily="2" charset="-78"/>
                <a:cs typeface="Amiri" pitchFamily="2" charset="-78"/>
              </a:rPr>
              <a:t>ت</a:t>
            </a:r>
            <a:pPr algn="l" indent="0" marL="0">
              <a:buNone/>
            </a:pPr>
            <a:r>
              <a:rPr lang="en-US" sz="1150" dirty="0">
                <a:solidFill>
                  <a:srgbClr val="1F2A37"/>
                </a:solidFill>
                <a:latin typeface="Calibri" pitchFamily="34" charset="0"/>
                <a:cs typeface="Amiri" pitchFamily="2" charset="-78"/>
              </a:rPr>
              <a:t> before a suffix.</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غُرْفَتِي</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غُرْفَةِي</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GM-N-01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noun.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مَكْتَبٌ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شَارِعٌ</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حَدِيقَةٌ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lexical feminine noun.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شَمْسٌ</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قَمَرٌ</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بَحْرٌ</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masculine name.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فَاطِمَةُ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حَمْزَةُ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مَرْيَمُ</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is correct?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سَيَّارَةٌ سَرِيعَةٌ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سَيَّارَةٌ سَرِيعٌ</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سَيَّارَةٌ سَرِيعُونَ</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GM-N-01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noun.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مَكْتَبٌ</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شَارِعٌ</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حَدِيقَةٌ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t>
            </a:r>
            <a:pPr algn="l" indent="0" marL="0">
              <a:buNone/>
            </a:pPr>
            <a:r>
              <a:rPr lang="ar-SA" altLang="en-US" sz="1350" dirty="0">
                <a:solidFill>
                  <a:srgbClr val="8A6D1E"/>
                </a:solidFill>
                <a:latin typeface="Amiri" pitchFamily="2" charset="-78"/>
                <a:ea typeface="Amiri" pitchFamily="2" charset="-78"/>
                <a:cs typeface="Amiri" pitchFamily="2" charset="-78"/>
              </a:rPr>
              <a:t>ة</a:t>
            </a:r>
            <a:pPr algn="l" indent="0" marL="0">
              <a:buNone/>
            </a:pPr>
            <a:r>
              <a:rPr lang="en-US" sz="1050" i="1" dirty="0">
                <a:solidFill>
                  <a:srgbClr val="8A6D1E"/>
                </a:solidFill>
                <a:latin typeface="Calibri" pitchFamily="34" charset="0"/>
                <a:cs typeface="Amiri" pitchFamily="2" charset="-78"/>
              </a:rPr>
              <a:t> is a strong clue.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lexical feminine noun.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شَمْسٌ</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قَمَرٌ</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بَحْرٌ</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Learn </a:t>
            </a:r>
            <a:pPr algn="l" indent="0" marL="0">
              <a:buNone/>
            </a:pPr>
            <a:r>
              <a:rPr lang="ar-SA" altLang="en-US" sz="1350" dirty="0">
                <a:solidFill>
                  <a:srgbClr val="8A6D1E"/>
                </a:solidFill>
                <a:latin typeface="Amiri" pitchFamily="2" charset="-78"/>
                <a:ea typeface="Amiri" pitchFamily="2" charset="-78"/>
                <a:cs typeface="Amiri" pitchFamily="2" charset="-78"/>
              </a:rPr>
              <a:t>شمس</a:t>
            </a:r>
            <a:pPr algn="l" indent="0" marL="0">
              <a:buNone/>
            </a:pPr>
            <a:r>
              <a:rPr lang="en-US" sz="1050" i="1" dirty="0">
                <a:solidFill>
                  <a:srgbClr val="8A6D1E"/>
                </a:solidFill>
                <a:latin typeface="Calibri" pitchFamily="34" charset="0"/>
                <a:cs typeface="Amiri" pitchFamily="2" charset="-78"/>
              </a:rPr>
              <a:t> with feminine agreement.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masculine name.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فَاطِمَةُ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حَمْزَةُ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مَرْيَمُ</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final </a:t>
            </a:r>
            <a:pPr algn="l" indent="0" marL="0">
              <a:buNone/>
            </a:pPr>
            <a:r>
              <a:rPr lang="ar-SA" altLang="en-US" sz="1350" dirty="0">
                <a:solidFill>
                  <a:srgbClr val="8A6D1E"/>
                </a:solidFill>
                <a:latin typeface="Amiri" pitchFamily="2" charset="-78"/>
                <a:ea typeface="Amiri" pitchFamily="2" charset="-78"/>
                <a:cs typeface="Amiri" pitchFamily="2" charset="-78"/>
              </a:rPr>
              <a:t>ة</a:t>
            </a:r>
            <a:pPr algn="l" indent="0" marL="0">
              <a:buNone/>
            </a:pPr>
            <a:r>
              <a:rPr lang="en-US" sz="1050" i="1" dirty="0">
                <a:solidFill>
                  <a:srgbClr val="8A6D1E"/>
                </a:solidFill>
                <a:latin typeface="Calibri" pitchFamily="34" charset="0"/>
                <a:cs typeface="Amiri" pitchFamily="2" charset="-78"/>
              </a:rPr>
              <a:t> does not make this male name feminine.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is correct?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سَيَّارَةٌ سَرِيعَةٌ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سَيَّارَةٌ سَرِيعٌ</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سَيَّارَةٌ سَرِيعُونَ</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Adjective agrees in gender.</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GM-N-01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Watch me check every word that agrees</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Head noun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الْمَدْرَسَةُ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ea typeface="Amiri" pitchFamily="2" charset="-78"/>
                <a:cs typeface="Amiri" pitchFamily="2" charset="-78"/>
              </a:rPr>
              <a:t>ة</a:t>
            </a:r>
            <a:pPr algn="l" indent="0" marL="0">
              <a:buNone/>
            </a:pPr>
            <a:r>
              <a:rPr lang="en-US" sz="1150" dirty="0">
                <a:solidFill>
                  <a:srgbClr val="1F2A37"/>
                </a:solidFill>
                <a:latin typeface="Calibri" pitchFamily="34" charset="0"/>
                <a:cs typeface="Amiri" pitchFamily="2" charset="-78"/>
              </a:rPr>
              <a:t> → feminine.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Demonstrative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هٰذِهِ الْمَدْرَسَةُ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Feminine: </a:t>
            </a:r>
            <a:pPr algn="l" indent="0" marL="0">
              <a:buNone/>
            </a:pPr>
            <a:r>
              <a:rPr lang="ar-SA" altLang="en-US" sz="1500" dirty="0">
                <a:solidFill>
                  <a:srgbClr val="1F2A37"/>
                </a:solidFill>
                <a:latin typeface="Amiri" pitchFamily="2" charset="-78"/>
                <a:ea typeface="Amiri" pitchFamily="2" charset="-78"/>
                <a:cs typeface="Amiri" pitchFamily="2" charset="-78"/>
              </a:rPr>
              <a:t>هٰذِهِ</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Pronoun + adj.</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هِيَ كَبِيرَةٌ</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ea typeface="Amiri" pitchFamily="2" charset="-78"/>
                <a:cs typeface="Amiri" pitchFamily="2" charset="-78"/>
              </a:rPr>
              <a:t>هِيَ</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ة</a:t>
            </a:r>
            <a:pPr algn="l" indent="0" marL="0">
              <a:buNone/>
            </a:pPr>
            <a:r>
              <a:rPr lang="en-US" sz="1150" dirty="0">
                <a:solidFill>
                  <a:srgbClr val="1F2A37"/>
                </a:solidFill>
                <a:latin typeface="Calibri" pitchFamily="34" charset="0"/>
                <a:cs typeface="Amiri" pitchFamily="2" charset="-78"/>
              </a:rPr>
              <a:t> on the adjective.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Exception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الشَّمْسُ حَارَّةٌ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No </a:t>
            </a:r>
            <a:pPr algn="l" indent="0" marL="0">
              <a:buNone/>
            </a:pPr>
            <a:r>
              <a:rPr lang="ar-SA" altLang="en-US" sz="1500" dirty="0">
                <a:solidFill>
                  <a:srgbClr val="1F2A37"/>
                </a:solidFill>
                <a:latin typeface="Amiri" pitchFamily="2" charset="-78"/>
                <a:ea typeface="Amiri" pitchFamily="2" charset="-78"/>
                <a:cs typeface="Amiri" pitchFamily="2" charset="-78"/>
              </a:rPr>
              <a:t>ة</a:t>
            </a:r>
            <a:pPr algn="l" indent="0" marL="0">
              <a:buNone/>
            </a:pPr>
            <a:r>
              <a:rPr lang="en-US" sz="1150" dirty="0">
                <a:solidFill>
                  <a:srgbClr val="1F2A37"/>
                </a:solidFill>
                <a:latin typeface="Calibri" pitchFamily="34" charset="0"/>
                <a:cs typeface="Amiri" pitchFamily="2" charset="-78"/>
              </a:rPr>
              <a:t> — but feminine!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MASCULINE</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FEMININE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D6336C"/>
                </a:solidFill>
                <a:latin typeface="Amiri" pitchFamily="2" charset="-78"/>
                <a:ea typeface="Amiri" pitchFamily="2" charset="-78"/>
                <a:cs typeface="Amiri" pitchFamily="2" charset="-78"/>
              </a:rPr>
              <a:t>هٰذِهِ</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D6336C"/>
                </a:solidFill>
                <a:latin typeface="Amiri" pitchFamily="2" charset="-78"/>
                <a:ea typeface="Amiri" pitchFamily="2" charset="-78"/>
                <a:cs typeface="Amiri" pitchFamily="2" charset="-78"/>
              </a:rPr>
              <a:t>مَدْرَسَتِي</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D6336C"/>
                </a:solidFill>
                <a:latin typeface="Amiri" pitchFamily="2" charset="-78"/>
                <a:ea typeface="Amiri" pitchFamily="2" charset="-78"/>
                <a:cs typeface="Amiri" pitchFamily="2" charset="-78"/>
              </a:rPr>
              <a:t>هِيَ</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D6336C"/>
                </a:solidFill>
                <a:latin typeface="Amiri" pitchFamily="2" charset="-78"/>
                <a:ea typeface="Amiri" pitchFamily="2" charset="-78"/>
                <a:cs typeface="Amiri" pitchFamily="2" charset="-78"/>
              </a:rPr>
              <a:t>كَبِيرَةٌ</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D6336C"/>
                </a:solidFill>
                <a:latin typeface="Amiri" pitchFamily="2" charset="-78"/>
                <a:ea typeface="Amiri" pitchFamily="2" charset="-78"/>
                <a:cs typeface="Amiri" pitchFamily="2" charset="-78"/>
              </a:rPr>
              <a:t>وَجَمِيلَةٌ</a:t>
            </a:r>
            <a:pPr rtl="1" algn="r" indent="0" marL="0">
              <a:buNone/>
            </a:pPr>
            <a:r>
              <a:rPr lang="ar-SA" altLang="en-US" sz="2600" b="1" dirty="0">
                <a:solidFill>
                  <a:srgbClr val="1B3B6F"/>
                </a:solidFill>
                <a:latin typeface="Amiri" pitchFamily="2" charset="-78"/>
                <a:ea typeface="Amiri" pitchFamily="2" charset="-78"/>
                <a:cs typeface="Amiri" pitchFamily="2" charset="-78"/>
              </a:rPr>
              <a:t>. فِيهَا </a:t>
            </a:r>
            <a:pPr rtl="1" algn="r" indent="0" marL="0">
              <a:buNone/>
            </a:pPr>
            <a:r>
              <a:rPr lang="ar-SA" altLang="en-US" sz="2600" b="1" dirty="0">
                <a:solidFill>
                  <a:srgbClr val="1D5FBF"/>
                </a:solidFill>
                <a:latin typeface="Amiri" pitchFamily="2" charset="-78"/>
                <a:ea typeface="Amiri" pitchFamily="2" charset="-78"/>
                <a:cs typeface="Amiri" pitchFamily="2" charset="-78"/>
              </a:rPr>
              <a:t>مُعَلِّمٌ</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1D5FBF"/>
                </a:solidFill>
                <a:latin typeface="Amiri" pitchFamily="2" charset="-78"/>
                <a:ea typeface="Amiri" pitchFamily="2" charset="-78"/>
                <a:cs typeface="Amiri" pitchFamily="2" charset="-78"/>
              </a:rPr>
              <a:t>جَدِيدٌ</a:t>
            </a:r>
            <a:pPr rtl="1" algn="r" indent="0" marL="0">
              <a:buNone/>
            </a:pPr>
            <a:r>
              <a:rPr lang="ar-SA" altLang="en-US" sz="2600" b="1" dirty="0">
                <a:solidFill>
                  <a:srgbClr val="1B3B6F"/>
                </a:solidFill>
                <a:latin typeface="Amiri" pitchFamily="2" charset="-78"/>
                <a:ea typeface="Amiri" pitchFamily="2" charset="-78"/>
                <a:cs typeface="Amiri" pitchFamily="2" charset="-78"/>
              </a:rPr>
              <a:t> وَمُعَلِّمَةٌ خَبِيرَةٌ.</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This is my school. It is big and beautiful. In it there is a new (male) teacher and an expert (female) teacher.</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GM-N-01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هٰذَا بَيْتِي. هُوَ كَبِيرٌ.</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This is my house. It is big.</a:t>
            </a:r>
            <a:endParaRPr lang="en-US" sz="1250" dirty="0"/>
          </a:p>
          <a:p>
            <a:pPr indent="0" marL="0">
              <a:buNone/>
            </a:pPr>
            <a:r>
              <a:rPr lang="en-US" sz="1050" i="1" dirty="0">
                <a:solidFill>
                  <a:srgbClr val="8A6D1E"/>
                </a:solidFill>
                <a:latin typeface="Calibri" pitchFamily="34" charset="0"/>
                <a:cs typeface="Amiri" pitchFamily="2" charset="-78"/>
              </a:rPr>
              <a:t>Masculine: hādhā · huwa · no tāʾ marbūṭa.</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هٰذِهِ غُرْفَتِي. هِيَ صَغِيرَةٌ.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This is my room. It is small.</a:t>
            </a:r>
            <a:endParaRPr lang="en-US" sz="1250" dirty="0"/>
          </a:p>
          <a:p>
            <a:pPr indent="0" marL="0">
              <a:buNone/>
            </a:pPr>
            <a:r>
              <a:rPr lang="en-US" sz="1050" i="1" dirty="0">
                <a:solidFill>
                  <a:srgbClr val="8A6D1E"/>
                </a:solidFill>
                <a:latin typeface="Calibri" pitchFamily="34" charset="0"/>
                <a:cs typeface="Amiri" pitchFamily="2" charset="-78"/>
              </a:rPr>
              <a:t>Feminine: hādhihi · hiya · tāʾ marbūṭa.</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الشَّمْسُ حَارَّةٌ الْيَوْمَ.</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sun is hot today.</a:t>
            </a:r>
            <a:endParaRPr lang="en-US" sz="1250" dirty="0"/>
          </a:p>
          <a:p>
            <a:pPr indent="0" marL="0">
              <a:buNone/>
            </a:pPr>
            <a:r>
              <a:rPr lang="en-US" sz="1050" i="1" dirty="0">
                <a:solidFill>
                  <a:srgbClr val="8A6D1E"/>
                </a:solidFill>
                <a:latin typeface="Calibri" pitchFamily="34" charset="0"/>
                <a:cs typeface="Amiri" pitchFamily="2" charset="-78"/>
              </a:rPr>
              <a:t>Lexical feminine.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وَصَلَتِ الْحَافِلَةُ.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bus arrived.</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Feminine subject → ـَتْ on the verb.</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GM-N-01 · 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MASCULINE OR FEMININE?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Masculine or feminine?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كِتَابٌ</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مَدْرَسَةٌ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شَمْسٌ</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قَمَرٌ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حَمْزَةُ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أَرْضٌ</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بَابٌ</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صَحْرَاءُ</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مُعَلِّمٌ</a:t>
            </a:r>
            <a:endParaRPr lang="ar-SA" sz="1800" dirty="0"/>
          </a:p>
        </p:txBody>
      </p:sp>
      <p:sp>
        <p:nvSpPr>
          <p:cNvPr id="33" name="Shape 30"/>
          <p:cNvSpPr/>
          <p:nvPr/>
        </p:nvSpPr>
        <p:spPr>
          <a:xfrm>
            <a:off x="6163056"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6254496"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a:t>
            </a:r>
            <a:endParaRPr lang="ar-SA" sz="1800" dirty="0"/>
          </a:p>
        </p:txBody>
      </p:sp>
      <p:sp>
        <p:nvSpPr>
          <p:cNvPr id="35" name="Shape 32"/>
          <p:cNvSpPr/>
          <p:nvPr/>
        </p:nvSpPr>
        <p:spPr>
          <a:xfrm>
            <a:off x="6185916" y="3529584"/>
            <a:ext cx="5545836" cy="2779776"/>
          </a:xfrm>
          <a:prstGeom prst="roundRect">
            <a:avLst>
              <a:gd name="adj" fmla="val 2632"/>
            </a:avLst>
          </a:prstGeom>
          <a:solidFill>
            <a:srgbClr val="EEF3FA"/>
          </a:solidFill>
          <a:ln w="9525">
            <a:solidFill>
              <a:srgbClr val="C9D6EA"/>
            </a:solidFill>
            <a:prstDash val="solid"/>
          </a:ln>
        </p:spPr>
      </p:sp>
      <p:sp>
        <p:nvSpPr>
          <p:cNvPr id="36" name="Shape 33"/>
          <p:cNvSpPr/>
          <p:nvPr/>
        </p:nvSpPr>
        <p:spPr>
          <a:xfrm>
            <a:off x="6323076" y="3639312"/>
            <a:ext cx="5271516"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6323076" y="3639312"/>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Masculine</a:t>
            </a:r>
            <a:endParaRPr lang="en-US" sz="950" dirty="0"/>
          </a:p>
        </p:txBody>
      </p:sp>
      <p:sp>
        <p:nvSpPr>
          <p:cNvPr id="38" name="Shape 35"/>
          <p:cNvSpPr/>
          <p:nvPr/>
        </p:nvSpPr>
        <p:spPr>
          <a:xfrm>
            <a:off x="457200" y="3529584"/>
            <a:ext cx="5545836" cy="2779776"/>
          </a:xfrm>
          <a:prstGeom prst="roundRect">
            <a:avLst>
              <a:gd name="adj" fmla="val 2632"/>
            </a:avLst>
          </a:prstGeom>
          <a:solidFill>
            <a:srgbClr val="EEF3FA"/>
          </a:solidFill>
          <a:ln w="9525">
            <a:solidFill>
              <a:srgbClr val="C9D6EA"/>
            </a:solidFill>
            <a:prstDash val="solid"/>
          </a:ln>
        </p:spPr>
      </p:sp>
      <p:sp>
        <p:nvSpPr>
          <p:cNvPr id="39" name="Shape 36"/>
          <p:cNvSpPr/>
          <p:nvPr/>
        </p:nvSpPr>
        <p:spPr>
          <a:xfrm>
            <a:off x="594360" y="3639312"/>
            <a:ext cx="5271516" cy="310896"/>
          </a:xfrm>
          <a:prstGeom prst="roundRect">
            <a:avLst>
              <a:gd name="adj" fmla="val 50000"/>
            </a:avLst>
          </a:prstGeom>
          <a:solidFill>
            <a:srgbClr val="2F6FB0"/>
          </a:solidFill>
          <a:ln w="12700">
            <a:solidFill>
              <a:srgbClr val="2F6FB0"/>
            </a:solidFill>
            <a:prstDash val="solid"/>
          </a:ln>
        </p:spPr>
      </p:sp>
      <p:sp>
        <p:nvSpPr>
          <p:cNvPr id="40" name="Text 37"/>
          <p:cNvSpPr txBox="1"/>
          <p:nvPr/>
        </p:nvSpPr>
        <p:spPr>
          <a:xfrm>
            <a:off x="594360" y="3639312"/>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Feminine</a:t>
            </a:r>
            <a:endParaRPr lang="en-US" sz="9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GM-N-01 · 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GM-N-01</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Masculine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كِتَابٌ</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قَمَرٌ</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حَمْزَةُ</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بَابٌ</a:t>
            </a:r>
            <a:endParaRPr lang="ar-SA" sz="1800" dirty="0"/>
          </a:p>
        </p:txBody>
      </p:sp>
      <p:sp>
        <p:nvSpPr>
          <p:cNvPr id="26" name="Shape 23"/>
          <p:cNvSpPr/>
          <p:nvPr/>
        </p:nvSpPr>
        <p:spPr>
          <a:xfrm>
            <a:off x="6323076" y="4425696"/>
            <a:ext cx="5271516" cy="438912"/>
          </a:xfrm>
          <a:prstGeom prst="roundRect">
            <a:avLst>
              <a:gd name="adj" fmla="val 12500"/>
            </a:avLst>
          </a:prstGeom>
          <a:solidFill>
            <a:srgbClr val="FFF4DC"/>
          </a:solidFill>
          <a:ln w="9525">
            <a:solidFill>
              <a:srgbClr val="E6C98A"/>
            </a:solidFill>
            <a:prstDash val="solid"/>
          </a:ln>
        </p:spPr>
      </p:sp>
      <p:sp>
        <p:nvSpPr>
          <p:cNvPr id="27" name="Text 24"/>
          <p:cNvSpPr txBox="1"/>
          <p:nvPr/>
        </p:nvSpPr>
        <p:spPr>
          <a:xfrm>
            <a:off x="6414516" y="4425696"/>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مُعَلِّمٌ</a:t>
            </a:r>
            <a:endParaRPr lang="ar-SA" sz="1800" dirty="0"/>
          </a:p>
        </p:txBody>
      </p:sp>
      <p:sp>
        <p:nvSpPr>
          <p:cNvPr id="28" name="Shape 25"/>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9" name="Shape 26"/>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30" name="Text 27"/>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Feminine</a:t>
            </a:r>
            <a:endParaRPr lang="en-US" sz="950" dirty="0"/>
          </a:p>
        </p:txBody>
      </p:sp>
      <p:sp>
        <p:nvSpPr>
          <p:cNvPr id="31" name="Shape 28"/>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مَدْرَسَةٌ</a:t>
            </a:r>
            <a:endParaRPr lang="ar-SA" sz="1800" dirty="0"/>
          </a:p>
        </p:txBody>
      </p:sp>
      <p:sp>
        <p:nvSpPr>
          <p:cNvPr id="33" name="Shape 30"/>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شَمْسٌ</a:t>
            </a:r>
            <a:endParaRPr lang="ar-SA" sz="1800" dirty="0"/>
          </a:p>
        </p:txBody>
      </p:sp>
      <p:sp>
        <p:nvSpPr>
          <p:cNvPr id="35" name="Shape 32"/>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أَرْضٌ</a:t>
            </a:r>
            <a:endParaRPr lang="ar-SA" sz="1800" dirty="0"/>
          </a:p>
        </p:txBody>
      </p:sp>
      <p:sp>
        <p:nvSpPr>
          <p:cNvPr id="37" name="Shape 34"/>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8" name="Text 35"/>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صَحْرَاءُ</a:t>
            </a:r>
            <a:endParaRPr lang="ar-SA" sz="1800" dirty="0"/>
          </a:p>
        </p:txBody>
      </p:sp>
      <p:sp>
        <p:nvSpPr>
          <p:cNvPr id="39" name="Shape 36"/>
          <p:cNvSpPr/>
          <p:nvPr/>
        </p:nvSpPr>
        <p:spPr>
          <a:xfrm>
            <a:off x="594360" y="4425696"/>
            <a:ext cx="5271516" cy="438912"/>
          </a:xfrm>
          <a:prstGeom prst="roundRect">
            <a:avLst>
              <a:gd name="adj" fmla="val 12500"/>
            </a:avLst>
          </a:prstGeom>
          <a:solidFill>
            <a:srgbClr val="FFF4DC"/>
          </a:solidFill>
          <a:ln w="9525">
            <a:solidFill>
              <a:srgbClr val="E6C98A"/>
            </a:solidFill>
            <a:prstDash val="solid"/>
          </a:ln>
        </p:spPr>
      </p:sp>
      <p:sp>
        <p:nvSpPr>
          <p:cNvPr id="40" name="Text 37"/>
          <p:cNvSpPr txBox="1"/>
          <p:nvPr/>
        </p:nvSpPr>
        <p:spPr>
          <a:xfrm>
            <a:off x="685800" y="4425696"/>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a:t>
            </a:r>
            <a:endParaRPr lang="ar-SA" sz="180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GM-N-01 · 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سَيَّارَةٌ سَرِيعٌ</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the noun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هٰذَا الْمَدْرَسَةُ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demonstrative?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الشَّمْسُ حَارٌّ</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ea typeface="Amiri" pitchFamily="2" charset="-78"/>
                <a:cs typeface="Amiri" pitchFamily="2" charset="-78"/>
              </a:rPr>
              <a:t>ة</a:t>
            </a:r>
            <a:pPr algn="l" indent="0" marL="0">
              <a:buNone/>
            </a:pPr>
            <a:r>
              <a:rPr lang="en-US" sz="1300" i="1" dirty="0">
                <a:solidFill>
                  <a:srgbClr val="5A6472"/>
                </a:solidFill>
                <a:latin typeface="Calibri" pitchFamily="34" charset="0"/>
                <a:cs typeface="Amiri" pitchFamily="2" charset="-78"/>
              </a:rPr>
              <a:t> or not — what is its gender?</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GM-N-01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سَيَّارَةٌ سَرِيعٌ</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سَيَّارَةٌ سَرِيعَةٌ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feminine noun takes a feminine adjective.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هٰذَا الْمَدْرَسَةُ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هٰذِهِ الْمَدْرَسَةُ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Feminine noun → </a:t>
            </a:r>
            <a:pPr algn="l" indent="0" marL="0">
              <a:buNone/>
            </a:pPr>
            <a:r>
              <a:rPr lang="ar-SA" altLang="en-US" sz="1500" b="1" dirty="0">
                <a:solidFill>
                  <a:srgbClr val="1B3B6F"/>
                </a:solidFill>
                <a:latin typeface="Amiri" pitchFamily="2" charset="-78"/>
                <a:ea typeface="Amiri" pitchFamily="2" charset="-78"/>
                <a:cs typeface="Amiri" pitchFamily="2" charset="-78"/>
              </a:rPr>
              <a:t>هٰذِهِ</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الشَّمْسُ حَارٌّ</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الشَّمْسُ حَارَّةٌ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shams is feminine, even without </a:t>
            </a:r>
            <a:pPr algn="l" indent="0" marL="0">
              <a:buNone/>
            </a:pPr>
            <a:r>
              <a:rPr lang="ar-SA" altLang="en-US" sz="1500" b="1" dirty="0">
                <a:solidFill>
                  <a:srgbClr val="1B3B6F"/>
                </a:solidFill>
                <a:latin typeface="Amiri" pitchFamily="2" charset="-78"/>
                <a:ea typeface="Amiri" pitchFamily="2" charset="-78"/>
                <a:cs typeface="Amiri" pitchFamily="2" charset="-78"/>
              </a:rPr>
              <a:t>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GM-N-01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GUIDED PRACTICE · WEBSITE MASTERY CHECK QUESTIONS 3, 5, 6 AND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school”.</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الْمَدْرَسَةُ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هَؤُلَاءِ الْمَدْرَسَةُ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الْمَدْرَسَةُ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room”.</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غُرْفَةِي</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غُرْفَتِي</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الْغُرْفَتِي</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pronoun for </a:t>
            </a:r>
            <a:pPr algn="l" indent="0" marL="0">
              <a:buNone/>
            </a:pPr>
            <a:r>
              <a:rPr lang="ar-SA" altLang="en-US" sz="1650" b="1" dirty="0">
                <a:solidFill>
                  <a:srgbClr val="1B3B6F"/>
                </a:solidFill>
                <a:latin typeface="Amiri" pitchFamily="2" charset="-78"/>
                <a:ea typeface="Amiri" pitchFamily="2" charset="-78"/>
                <a:cs typeface="Amiri" pitchFamily="2" charset="-78"/>
              </a:rPr>
              <a:t>الأَرْضُ</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هُمْ</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shows natural gender?</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بَيْتٌ / مَدْرَسَةٌ</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شَمْسٌ / قَمَرٌ</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مُعَلِّمٌ / مُعَلِّمَةٌ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GM-N-01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school”.</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الْمَدْرَسَةُ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هَؤُلَاءِ الْمَدْرَسَةُ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هَذِهِ الْمَدْرَسَةُ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singular.</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room”.</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غُرْفَةِي</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غُرْفَتِي</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الْغُرْفَتِي</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ة</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ea typeface="Amiri" pitchFamily="2" charset="-78"/>
                <a:cs typeface="Amiri" pitchFamily="2" charset="-78"/>
              </a:rPr>
              <a:t>ت</a:t>
            </a:r>
            <a:pPr algn="l" indent="0" marL="0">
              <a:buNone/>
            </a:pPr>
            <a:r>
              <a:rPr lang="en-US" sz="1050" i="1" dirty="0">
                <a:solidFill>
                  <a:srgbClr val="8A6D1E"/>
                </a:solidFill>
                <a:latin typeface="Calibri" pitchFamily="34" charset="0"/>
                <a:cs typeface="Amiri" pitchFamily="2" charset="-78"/>
              </a:rPr>
              <a:t> before suffix.</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pronoun for </a:t>
            </a:r>
            <a:pPr algn="l" indent="0" marL="0">
              <a:buNone/>
            </a:pPr>
            <a:r>
              <a:rPr lang="ar-SA" altLang="en-US" sz="1650" b="1" dirty="0">
                <a:solidFill>
                  <a:srgbClr val="1B3B6F"/>
                </a:solidFill>
                <a:latin typeface="Amiri" pitchFamily="2" charset="-78"/>
                <a:ea typeface="Amiri" pitchFamily="2" charset="-78"/>
                <a:cs typeface="Amiri" pitchFamily="2" charset="-78"/>
              </a:rPr>
              <a:t>الأَرْضُ</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هِيَ</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هُمْ</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أرض</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shows natural gender?</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بَيْتٌ / مَدْرَسَةٌ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شَمْسٌ / قَمَرٌ</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مُعَلِّمٌ / مُعَلِّمَةٌ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Male/female profession.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GM-N-01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E6B52"/>
                </a:solidFill>
                <a:latin typeface="Calibri" pitchFamily="34" charset="0"/>
                <a:cs typeface="Amiri" pitchFamily="2" charset="-78"/>
              </a:rPr>
              <a:t>YOU DO · READ AND NOTICE · WEBSITE READING TEXT, EXTENDED BY THE TEACHER</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school and my teachers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GM-N-01</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هٰذِهِ مَدْرَسَتِي. هِيَ كَبِيرَةٌ وَجَمِيلَةٌ. فِيهَا مُعَلِّمٌ جَدِيدٌ وَمُعَلِّمَةٌ خَبِيرَةٌ. الْمُعَلِّمُ مِصْرِيٌّ، وَهُوَ لَطِيفٌ. الْمُعَلِّمَةُ مِنَ الْمَغْرِبِ، وَهِيَ نَشِيطَةٌ. فِي الصَّبَاحِ تَصِلُ الْحَافِلَةُ، وَالشَّمْسُ حَارَّةٌ.</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كَبِيرَةٌ</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big (f.)</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خَبِيرَةٌ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expert (f.)</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مِصْرِيٌّ</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Egyptian (m.)</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لَطِيفٌ</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kind (m.)</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نَشِيطَةٌ</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active (f.)</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تَصِلُ</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arrives (f.)</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حَارَّةٌ</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hot (f.)</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GM-N-01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ea typeface="Amiri" pitchFamily="2" charset="-78"/>
                <a:cs typeface="Amiri" pitchFamily="2" charset="-78"/>
              </a:rPr>
              <a:t>هِيَ</a:t>
            </a:r>
            <a:pPr algn="l" indent="0" marL="0">
              <a:buNone/>
            </a:pPr>
            <a:r>
              <a:rPr lang="en-US" sz="1250" b="1" dirty="0">
                <a:solidFill>
                  <a:srgbClr val="1B3B6F"/>
                </a:solidFill>
                <a:latin typeface="Calibri" pitchFamily="34" charset="0"/>
                <a:cs typeface="Amiri" pitchFamily="2" charset="-78"/>
              </a:rPr>
              <a:t> in the second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sentence starts with </a:t>
            </a:r>
            <a:pPr algn="l" indent="0" marL="0">
              <a:buNone/>
            </a:pPr>
            <a:r>
              <a:rPr lang="ar-SA" altLang="en-US" sz="1650" dirty="0">
                <a:solidFill>
                  <a:srgbClr val="1F2A37"/>
                </a:solidFill>
                <a:latin typeface="Amiri" pitchFamily="2" charset="-78"/>
                <a:ea typeface="Amiri" pitchFamily="2" charset="-78"/>
                <a:cs typeface="Amiri" pitchFamily="2" charset="-78"/>
              </a:rPr>
              <a:t>هِيَ</a:t>
            </a:r>
            <a:pPr algn="l" indent="0" marL="0">
              <a:buNone/>
            </a:pPr>
            <a:r>
              <a:rPr lang="en-US" sz="1250" dirty="0">
                <a:solidFill>
                  <a:srgbClr val="1F2A37"/>
                </a:solidFill>
                <a:latin typeface="Calibri" pitchFamily="34" charset="0"/>
                <a:cs typeface="Amiri" pitchFamily="2" charset="-78"/>
              </a:rPr>
              <a: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refers back to </a:t>
            </a:r>
            <a:pPr algn="l" indent="0" marL="0">
              <a:buNone/>
            </a:pPr>
            <a:r>
              <a:rPr lang="ar-SA" altLang="en-US" sz="1650" dirty="0">
                <a:solidFill>
                  <a:srgbClr val="1F2A37"/>
                </a:solidFill>
                <a:latin typeface="Amiri" pitchFamily="2" charset="-78"/>
                <a:ea typeface="Amiri" pitchFamily="2" charset="-78"/>
                <a:cs typeface="Amiri" pitchFamily="2" charset="-78"/>
              </a:rPr>
              <a:t>مَدْرَسَتِي</a:t>
            </a:r>
            <a:pPr algn="l" indent="0" marL="0">
              <a:buNone/>
            </a:pPr>
            <a:r>
              <a:rPr lang="en-US" sz="1250" dirty="0">
                <a:solidFill>
                  <a:srgbClr val="1F2A37"/>
                </a:solidFill>
                <a:latin typeface="Calibri" pitchFamily="34" charset="0"/>
                <a:cs typeface="Amiri" pitchFamily="2" charset="-78"/>
              </a:rPr>
              <a:t> (feminine).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refers to the teacher.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adjective describes the MALE teacher?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خَبِيرَةٌ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نَشِيطَةٌ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جَدِيدٌ</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verb </a:t>
            </a:r>
            <a:pPr algn="l" indent="0" marL="0">
              <a:buNone/>
            </a:pPr>
            <a:r>
              <a:rPr lang="ar-SA" altLang="en-US" sz="1650" b="1" dirty="0">
                <a:solidFill>
                  <a:srgbClr val="1B3B6F"/>
                </a:solidFill>
                <a:latin typeface="Amiri" pitchFamily="2" charset="-78"/>
                <a:ea typeface="Amiri" pitchFamily="2" charset="-78"/>
                <a:cs typeface="Amiri" pitchFamily="2" charset="-78"/>
              </a:rPr>
              <a:t>تَصِلُ</a:t>
            </a:r>
            <a:pPr algn="l" indent="0" marL="0">
              <a:buNone/>
            </a:pPr>
            <a:r>
              <a:rPr lang="en-US" sz="1250" b="1" dirty="0">
                <a:solidFill>
                  <a:srgbClr val="1B3B6F"/>
                </a:solidFill>
                <a:latin typeface="Calibri" pitchFamily="34" charset="0"/>
                <a:cs typeface="Amiri" pitchFamily="2" charset="-78"/>
              </a:rPr>
              <a:t> (not </a:t>
            </a:r>
            <a:pPr algn="l" indent="0" marL="0">
              <a:buNone/>
            </a:pPr>
            <a:r>
              <a:rPr lang="ar-SA" altLang="en-US" sz="1650" b="1" dirty="0">
                <a:solidFill>
                  <a:srgbClr val="1B3B6F"/>
                </a:solidFill>
                <a:latin typeface="Amiri" pitchFamily="2" charset="-78"/>
                <a:ea typeface="Amiri" pitchFamily="2" charset="-78"/>
                <a:cs typeface="Amiri" pitchFamily="2" charset="-78"/>
              </a:rPr>
              <a:t>يَصِلُ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الْحَافِلَةُ</a:t>
            </a:r>
            <a:pPr algn="l" indent="0" marL="0">
              <a:buNone/>
            </a:pPr>
            <a:r>
              <a:rPr lang="en-US" sz="1250" dirty="0">
                <a:solidFill>
                  <a:srgbClr val="1F2A37"/>
                </a:solidFill>
                <a:latin typeface="Calibri" pitchFamily="34" charset="0"/>
                <a:cs typeface="Amiri" pitchFamily="2" charset="-78"/>
              </a:rPr>
              <a:t> is feminine.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in the past.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plural.</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ea typeface="Amiri" pitchFamily="2" charset="-78"/>
                <a:cs typeface="Amiri" pitchFamily="2" charset="-78"/>
              </a:rPr>
              <a:t>حَارَّةٌ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All adjectives end in </a:t>
            </a:r>
            <a:pPr algn="l" indent="0" marL="0">
              <a:buNone/>
            </a:pPr>
            <a:r>
              <a:rPr lang="ar-SA" altLang="en-US" sz="1650" dirty="0">
                <a:solidFill>
                  <a:srgbClr val="1F2A37"/>
                </a:solidFill>
                <a:latin typeface="Amiri" pitchFamily="2" charset="-78"/>
                <a:ea typeface="Amiri" pitchFamily="2" charset="-78"/>
                <a:cs typeface="Amiri" pitchFamily="2" charset="-78"/>
              </a:rPr>
              <a:t>ة</a:t>
            </a:r>
            <a:pPr algn="l" indent="0" marL="0">
              <a:buNone/>
            </a:pPr>
            <a:r>
              <a:rPr lang="en-US" sz="1250" dirty="0">
                <a:solidFill>
                  <a:srgbClr val="1F2A37"/>
                </a:solidFill>
                <a:latin typeface="Calibri" pitchFamily="34" charset="0"/>
                <a:cs typeface="Amiri" pitchFamily="2" charset="-78"/>
              </a:rPr>
              <a: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شَمْسٌ</a:t>
            </a:r>
            <a:pPr algn="l" indent="0" marL="0">
              <a:buNone/>
            </a:pPr>
            <a:r>
              <a:rPr lang="en-US" sz="1250" dirty="0">
                <a:solidFill>
                  <a:srgbClr val="1F2A37"/>
                </a:solidFill>
                <a:latin typeface="Calibri" pitchFamily="34" charset="0"/>
                <a:cs typeface="Amiri" pitchFamily="2" charset="-78"/>
              </a:rPr>
              <a:t> is feminine.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plural.</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GM-N-01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ea typeface="Amiri" pitchFamily="2" charset="-78"/>
                <a:cs typeface="Amiri" pitchFamily="2" charset="-78"/>
              </a:rPr>
              <a:t>هِيَ</a:t>
            </a:r>
            <a:pPr algn="l" indent="0" marL="0">
              <a:buNone/>
            </a:pPr>
            <a:r>
              <a:rPr lang="en-US" sz="1250" b="1" dirty="0">
                <a:solidFill>
                  <a:srgbClr val="1B3B6F"/>
                </a:solidFill>
                <a:latin typeface="Calibri" pitchFamily="34" charset="0"/>
                <a:cs typeface="Amiri" pitchFamily="2" charset="-78"/>
              </a:rPr>
              <a:t> in the second sentence?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sentence starts with </a:t>
            </a:r>
            <a:pPr algn="l" indent="0" marL="0">
              <a:buNone/>
            </a:pPr>
            <a:r>
              <a:rPr lang="ar-SA" altLang="en-US" sz="1650" dirty="0">
                <a:solidFill>
                  <a:srgbClr val="9AA1AB"/>
                </a:solidFill>
                <a:latin typeface="Amiri" pitchFamily="2" charset="-78"/>
                <a:ea typeface="Amiri" pitchFamily="2" charset="-78"/>
                <a:cs typeface="Amiri" pitchFamily="2" charset="-78"/>
              </a:rPr>
              <a:t>هِيَ</a:t>
            </a:r>
            <a:pPr algn="l" indent="0" marL="0">
              <a:buNone/>
            </a:pPr>
            <a:r>
              <a:rPr lang="en-US" sz="1250" dirty="0">
                <a:solidFill>
                  <a:srgbClr val="9AA1AB"/>
                </a:solidFill>
                <a:latin typeface="Calibri" pitchFamily="34" charset="0"/>
                <a:cs typeface="Amiri" pitchFamily="2" charset="-78"/>
              </a:rPr>
              <a: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refers back to </a:t>
            </a:r>
            <a:pPr algn="l" indent="0" marL="0">
              <a:buNone/>
            </a:pPr>
            <a:r>
              <a:rPr lang="ar-SA" altLang="en-US" sz="1650" b="1" dirty="0">
                <a:solidFill>
                  <a:srgbClr val="1F2A37"/>
                </a:solidFill>
                <a:latin typeface="Amiri" pitchFamily="2" charset="-78"/>
                <a:ea typeface="Amiri" pitchFamily="2" charset="-78"/>
                <a:cs typeface="Amiri" pitchFamily="2" charset="-78"/>
              </a:rPr>
              <a:t>مَدْرَسَتِي</a:t>
            </a:r>
            <a:pPr algn="l" indent="0" marL="0">
              <a:buNone/>
            </a:pPr>
            <a:r>
              <a:rPr lang="en-US" sz="1250" b="1" dirty="0">
                <a:solidFill>
                  <a:srgbClr val="1F2A37"/>
                </a:solidFill>
                <a:latin typeface="Calibri" pitchFamily="34" charset="0"/>
                <a:cs typeface="Amiri" pitchFamily="2" charset="-78"/>
              </a:rPr>
              <a:t> (feminine).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refers to the teacher.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Pronoun agrees with the head noun.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adjective describes the MALE teacher?</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خَبِيرَةٌ</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نَشِيطَةٌ</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جَدِيدٌ</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 </a:t>
            </a:r>
            <a:pPr algn="l" indent="0" marL="0">
              <a:buNone/>
            </a:pPr>
            <a:r>
              <a:rPr lang="ar-SA" altLang="en-US" sz="1350" dirty="0">
                <a:solidFill>
                  <a:srgbClr val="8A6D1E"/>
                </a:solidFill>
                <a:latin typeface="Amiri" pitchFamily="2" charset="-78"/>
                <a:ea typeface="Amiri" pitchFamily="2" charset="-78"/>
                <a:cs typeface="Amiri" pitchFamily="2" charset="-78"/>
              </a:rPr>
              <a:t>ة</a:t>
            </a:r>
            <a:pPr algn="l" indent="0" marL="0">
              <a:buNone/>
            </a:pPr>
            <a:r>
              <a:rPr lang="en-US" sz="1050" i="1" dirty="0">
                <a:solidFill>
                  <a:srgbClr val="8A6D1E"/>
                </a:solidFill>
                <a:latin typeface="Calibri" pitchFamily="34" charset="0"/>
                <a:cs typeface="Amiri" pitchFamily="2" charset="-78"/>
              </a:rPr>
              <a:t>: masculine.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verb </a:t>
            </a:r>
            <a:pPr algn="l" indent="0" marL="0">
              <a:buNone/>
            </a:pPr>
            <a:r>
              <a:rPr lang="ar-SA" altLang="en-US" sz="1650" b="1" dirty="0">
                <a:solidFill>
                  <a:srgbClr val="1B3B6F"/>
                </a:solidFill>
                <a:latin typeface="Amiri" pitchFamily="2" charset="-78"/>
                <a:ea typeface="Amiri" pitchFamily="2" charset="-78"/>
                <a:cs typeface="Amiri" pitchFamily="2" charset="-78"/>
              </a:rPr>
              <a:t>تَصِلُ</a:t>
            </a:r>
            <a:pPr algn="l" indent="0" marL="0">
              <a:buNone/>
            </a:pPr>
            <a:r>
              <a:rPr lang="en-US" sz="1250" b="1" dirty="0">
                <a:solidFill>
                  <a:srgbClr val="1B3B6F"/>
                </a:solidFill>
                <a:latin typeface="Calibri" pitchFamily="34" charset="0"/>
                <a:cs typeface="Amiri" pitchFamily="2" charset="-78"/>
              </a:rPr>
              <a:t> (not </a:t>
            </a:r>
            <a:pPr algn="l" indent="0" marL="0">
              <a:buNone/>
            </a:pPr>
            <a:r>
              <a:rPr lang="ar-SA" altLang="en-US" sz="1650" b="1" dirty="0">
                <a:solidFill>
                  <a:srgbClr val="1B3B6F"/>
                </a:solidFill>
                <a:latin typeface="Amiri" pitchFamily="2" charset="-78"/>
                <a:ea typeface="Amiri" pitchFamily="2" charset="-78"/>
                <a:cs typeface="Amiri" pitchFamily="2" charset="-78"/>
              </a:rPr>
              <a:t>يَصِلُ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2" charset="-78"/>
                <a:ea typeface="Amiri" pitchFamily="2" charset="-78"/>
                <a:cs typeface="Amiri" pitchFamily="2" charset="-78"/>
              </a:rPr>
              <a:t>الْحَافِلَةُ</a:t>
            </a:r>
            <a:pPr algn="l" indent="0" marL="0">
              <a:buNone/>
            </a:pPr>
            <a:r>
              <a:rPr lang="en-US" sz="1250" b="1" dirty="0">
                <a:solidFill>
                  <a:srgbClr val="1F2A37"/>
                </a:solidFill>
                <a:latin typeface="Calibri" pitchFamily="34" charset="0"/>
                <a:cs typeface="Amiri" pitchFamily="2" charset="-78"/>
              </a:rPr>
              <a:t> is feminine.</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in the past.</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plural.</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subject → </a:t>
            </a:r>
            <a:pPr algn="l" indent="0" marL="0">
              <a:buNone/>
            </a:pPr>
            <a:r>
              <a:rPr lang="ar-SA" altLang="en-US" sz="1350" dirty="0">
                <a:solidFill>
                  <a:srgbClr val="8A6D1E"/>
                </a:solidFill>
                <a:latin typeface="Amiri" pitchFamily="2" charset="-78"/>
                <a:ea typeface="Amiri" pitchFamily="2" charset="-78"/>
                <a:cs typeface="Amiri" pitchFamily="2" charset="-78"/>
              </a:rPr>
              <a:t>تَـ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ea typeface="Amiri" pitchFamily="2" charset="-78"/>
                <a:cs typeface="Amiri" pitchFamily="2" charset="-78"/>
              </a:rPr>
              <a:t>حَارَّةٌ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All adjectives end in </a:t>
            </a:r>
            <a:pPr algn="l" indent="0" marL="0">
              <a:buNone/>
            </a:pPr>
            <a:r>
              <a:rPr lang="ar-SA" altLang="en-US" sz="1650" dirty="0">
                <a:solidFill>
                  <a:srgbClr val="9AA1AB"/>
                </a:solidFill>
                <a:latin typeface="Amiri" pitchFamily="2" charset="-78"/>
                <a:ea typeface="Amiri" pitchFamily="2" charset="-78"/>
                <a:cs typeface="Amiri" pitchFamily="2" charset="-78"/>
              </a:rPr>
              <a:t>ة</a:t>
            </a:r>
            <a:pPr algn="l" indent="0" marL="0">
              <a:buNone/>
            </a:pPr>
            <a:r>
              <a:rPr lang="en-US" sz="1250" dirty="0">
                <a:solidFill>
                  <a:srgbClr val="9AA1AB"/>
                </a:solidFill>
                <a:latin typeface="Calibri" pitchFamily="34" charset="0"/>
                <a:cs typeface="Amiri" pitchFamily="2" charset="-78"/>
              </a:rPr>
              <a:t>.</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2" charset="-78"/>
                <a:ea typeface="Amiri" pitchFamily="2" charset="-78"/>
                <a:cs typeface="Amiri" pitchFamily="2" charset="-78"/>
              </a:rPr>
              <a:t>شَمْسٌ</a:t>
            </a:r>
            <a:pPr algn="l" indent="0" marL="0">
              <a:buNone/>
            </a:pPr>
            <a:r>
              <a:rPr lang="en-US" sz="1250" b="1" dirty="0">
                <a:solidFill>
                  <a:srgbClr val="1F2A37"/>
                </a:solidFill>
                <a:latin typeface="Calibri" pitchFamily="34" charset="0"/>
                <a:cs typeface="Amiri" pitchFamily="2" charset="-78"/>
              </a:rPr>
              <a:t> is feminine.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plural.</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lexical feminine.</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GM-N-01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Speaking: one masculine, one feminine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بَيْتَكَ وَمَدْرَسَتَكَ.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شَخْصًا (رَجُلًا) وَشَخْصًا (امْرَأَةً) تَعْرِفُهُمَا.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الشَّمْسَ وَالْأَرْضَ وَالْقَمَرَ.</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D5FBF"/>
                </a:solidFill>
                <a:latin typeface="Amiri" pitchFamily="2" charset="-78"/>
                <a:ea typeface="Amiri" pitchFamily="2" charset="-78"/>
                <a:cs typeface="Amiri" pitchFamily="2" charset="-78"/>
              </a:rPr>
              <a:t>هٰذَا بَيْتِي، هُوَ ___ . هٰذِهِ مَدْرَسَتِي، هِيَ ___ .</a:t>
            </a:r>
            <a:endParaRPr lang="ar-SA" sz="135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هٰذَا ___ ، هُوَ ___ . هٰذِهِ ___ ، هِيَ ___ .</a:t>
            </a:r>
            <a:endParaRPr lang="ar-SA" sz="14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الشَّمْسُ ___ ، وَالْقَمَرُ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صِفْ مُعَلِّمَكَ وَمُعَلِّمَتَكَ.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Describe your male and female teacher.</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هٰذَا مُعَلِّمِي، هُوَ لَطِيفٌ وَذَكِيٌّ. وَهٰذِهِ مُعَلِّمَتِي، هِيَ نَشِيطَةٌ وَصَبُورَةٌ.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This is my teacher; he is kind and clever. This is my (female) teacher; she is active and patient.</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GM-N-01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Three masculine and three feminine nouns, each with an adjective.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Masculine: no ة on the adjective. Feminine: add ة.</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t>
            </a:r>
            <a:pPr algn="l" indent="0" marL="0">
              <a:buNone/>
            </a:pPr>
            <a:r>
              <a:rPr lang="ar-SA" altLang="en-US" sz="1800" b="1" dirty="0">
                <a:solidFill>
                  <a:srgbClr val="1F2A37"/>
                </a:solidFill>
                <a:latin typeface="Amiri" pitchFamily="2" charset="-78"/>
                <a:ea typeface="Amiri" pitchFamily="2" charset="-78"/>
                <a:cs typeface="Amiri" pitchFamily="2" charset="-78"/>
              </a:rPr>
              <a:t>هٰذَا / هٰذِهِ</a:t>
            </a:r>
            <a:pPr algn="l" indent="0" marL="0">
              <a:buNone/>
            </a:pPr>
            <a:r>
              <a:rPr lang="en-US" sz="1400" b="1" dirty="0">
                <a:solidFill>
                  <a:srgbClr val="1F2A37"/>
                </a:solidFill>
                <a:latin typeface="Calibri" pitchFamily="34" charset="0"/>
                <a:cs typeface="Amiri" pitchFamily="2" charset="-78"/>
              </a:rPr>
              <a:t> and </a:t>
            </a:r>
            <a:pPr algn="l" indent="0" marL="0">
              <a:buNone/>
            </a:pPr>
            <a:r>
              <a:rPr lang="ar-SA" altLang="en-US" sz="1800" b="1" dirty="0">
                <a:solidFill>
                  <a:srgbClr val="1F2A37"/>
                </a:solidFill>
                <a:latin typeface="Amiri" pitchFamily="2" charset="-78"/>
                <a:ea typeface="Amiri" pitchFamily="2" charset="-78"/>
                <a:cs typeface="Amiri" pitchFamily="2" charset="-78"/>
              </a:rPr>
              <a:t>هُوَ / هِيَ</a:t>
            </a:r>
            <a:pPr algn="l" indent="0" marL="0">
              <a:buNone/>
            </a:pPr>
            <a:r>
              <a:rPr lang="en-US" sz="1400" b="1" dirty="0">
                <a:solidFill>
                  <a:srgbClr val="1F2A37"/>
                </a:solidFill>
                <a:latin typeface="Calibri" pitchFamily="34" charset="0"/>
                <a:cs typeface="Amiri" pitchFamily="2" charset="-78"/>
              </a:rPr>
              <a:t> for each noun.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Check every word that refers back.</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8–10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 four masculine + four feminine nouns, including one lexical feminine and one </a:t>
            </a:r>
            <a:pPr algn="l" indent="0" marL="0">
              <a:buNone/>
            </a:pPr>
            <a:r>
              <a:rPr lang="ar-SA" altLang="en-US" sz="1800" b="1" dirty="0">
                <a:solidFill>
                  <a:srgbClr val="1F2A37"/>
                </a:solidFill>
                <a:latin typeface="Amiri" pitchFamily="2" charset="-78"/>
                <a:ea typeface="Amiri" pitchFamily="2" charset="-78"/>
                <a:cs typeface="Amiri" pitchFamily="2" charset="-78"/>
              </a:rPr>
              <a:t>ة</a:t>
            </a:r>
            <a:pPr algn="l" indent="0" marL="0">
              <a:buNone/>
            </a:pPr>
            <a:r>
              <a:rPr lang="en-US" sz="1400" b="1" dirty="0">
                <a:solidFill>
                  <a:srgbClr val="1F2A37"/>
                </a:solidFill>
                <a:latin typeface="Calibri" pitchFamily="34" charset="0"/>
                <a:cs typeface="Amiri" pitchFamily="2" charset="-78"/>
              </a:rPr>
              <a:t> → </a:t>
            </a:r>
            <a:pPr algn="l" indent="0" marL="0">
              <a:buNone/>
            </a:pPr>
            <a:r>
              <a:rPr lang="ar-SA" altLang="en-US" sz="1800" b="1" dirty="0">
                <a:solidFill>
                  <a:srgbClr val="1F2A37"/>
                </a:solidFill>
                <a:latin typeface="Amiri" pitchFamily="2" charset="-78"/>
                <a:ea typeface="Amiri" pitchFamily="2" charset="-78"/>
                <a:cs typeface="Amiri" pitchFamily="2" charset="-78"/>
              </a:rPr>
              <a:t>ت</a:t>
            </a:r>
            <a:pPr algn="l" indent="0" marL="0">
              <a:buNone/>
            </a:pPr>
            <a:r>
              <a:rPr lang="en-US" sz="1400" b="1" dirty="0">
                <a:solidFill>
                  <a:srgbClr val="1F2A37"/>
                </a:solidFill>
                <a:latin typeface="Calibri" pitchFamily="34" charset="0"/>
                <a:cs typeface="Amiri" pitchFamily="2" charset="-78"/>
              </a:rPr>
              <a:t> (</a:t>
            </a:r>
            <a:pPr algn="l" indent="0" marL="0">
              <a:buNone/>
            </a:pPr>
            <a:r>
              <a:rPr lang="ar-SA" altLang="en-US" sz="1800" b="1" dirty="0">
                <a:solidFill>
                  <a:srgbClr val="1F2A37"/>
                </a:solidFill>
                <a:latin typeface="Amiri" pitchFamily="2" charset="-78"/>
                <a:ea typeface="Amiri" pitchFamily="2" charset="-78"/>
                <a:cs typeface="Amiri" pitchFamily="2" charset="-78"/>
              </a:rPr>
              <a:t>غُرْفَتِي</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Draw arrows from each agreeing word to its noun.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GM-N-01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مُعَلِّمِي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(male) teacher is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مُعَلِّمَتِي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(female) teacher is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الشَّمْسُ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sun is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وَصَلَتِ الْحَافِلَةُ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bus arrived at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هٰذَا بَيْتِي. هُوَ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my house. It is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هٰذِهِ غُرْفَتِي. هِيَ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my room. It is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سَيَّارَتُنَا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car is … (fast)</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كِتَابِي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book is … (new)</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كَبِيرٌ / كَبِيرَةٌ  ·  صَغِيرٌ / صَغِيرَةٌ  ·  جَمِيلٌ / جَمِيلَةٌ  ·  نَظِيفٌ / نَظِيفَةٌ  ·  سَرِيعٌ / سَرِيعَةٌ  ·  لَطِيفٌ / لَطِيفَةٌ  ·  حَارٌّ / حَارَّةٌ  ·  هٰذَا  ·  هٰذِهِ  ·  هُوَ  ·  هِيَ  ·  مُرَتَّبٌ / مُرَتَّبَةٌ</a:t>
            </a:r>
            <a:endParaRPr lang="ar-SA" sz="15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GM-N-01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writing workshop: 8–10 sentences about your home, school or family with at least four masculine and four feminine nouns.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Four masculine nouns, each with an agreeing word.</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Four feminine nouns, each with an agreeing word.</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lexical feminine (</a:t>
            </a:r>
            <a:pPr algn="l" indent="0" marL="0">
              <a:buNone/>
            </a:pPr>
            <a:r>
              <a:rPr lang="ar-SA" altLang="en-US" sz="1550" dirty="0">
                <a:solidFill>
                  <a:srgbClr val="1F2A37"/>
                </a:solidFill>
                <a:latin typeface="Amiri" pitchFamily="2" charset="-78"/>
                <a:ea typeface="Amiri" pitchFamily="2" charset="-78"/>
                <a:cs typeface="Amiri" pitchFamily="2" charset="-78"/>
              </a:rPr>
              <a:t>شَمْسٌ</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أَرْضٌ</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دَارٌ</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a:t>
            </a:r>
            <a:pPr algn="l" indent="0" marL="0">
              <a:buNone/>
            </a:pPr>
            <a:r>
              <a:rPr lang="ar-SA" altLang="en-US" sz="1550" dirty="0">
                <a:solidFill>
                  <a:srgbClr val="1F2A37"/>
                </a:solidFill>
                <a:latin typeface="Amiri" pitchFamily="2" charset="-78"/>
                <a:ea typeface="Amiri" pitchFamily="2" charset="-78"/>
                <a:cs typeface="Amiri" pitchFamily="2" charset="-78"/>
              </a:rPr>
              <a:t>ة</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ت</a:t>
            </a:r>
            <a:pPr algn="l" indent="0" marL="0">
              <a:buNone/>
            </a:pPr>
            <a:r>
              <a:rPr lang="en-US" sz="1200" dirty="0">
                <a:solidFill>
                  <a:srgbClr val="1F2A37"/>
                </a:solidFill>
                <a:latin typeface="Calibri" pitchFamily="34" charset="0"/>
                <a:cs typeface="Amiri" pitchFamily="2" charset="-78"/>
              </a:rPr>
              <a:t> before a suffix (</a:t>
            </a:r>
            <a:pPr algn="l" indent="0" marL="0">
              <a:buNone/>
            </a:pPr>
            <a:r>
              <a:rPr lang="ar-SA" altLang="en-US" sz="1550" dirty="0">
                <a:solidFill>
                  <a:srgbClr val="1F2A37"/>
                </a:solidFill>
                <a:latin typeface="Amiri" pitchFamily="2" charset="-78"/>
                <a:ea typeface="Amiri" pitchFamily="2" charset="-78"/>
                <a:cs typeface="Amiri" pitchFamily="2" charset="-78"/>
              </a:rPr>
              <a:t>غُرْفَتِي</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verb that agrees with a feminine subject.</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هٰذَا بَيْتِي</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this is my house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هٰذِهِ غُرْفَتِي</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this is my room</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هِيَ مُرَتَّبَةٌ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is tidy (f.)</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وَلٰكِنَّهَا صَغِيرَةٌ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but it is small</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الشَّمْسُ حَارَّةٌ</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sun is hot</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تَعْمَلُ أُمِّي طَبِيبَةً</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mother works as a doctor</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GM-N-01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هٰذَا بَيْتِي. هُوَ كَبِيرٌ وَقَرِيبٌ مِنَ الْمَدْرَسَةِ. وَهٰذِهِ غُرْفَتِي. هِيَ صَغِيرَةٌ وَلٰكِنَّهَا مُرَتَّبَةٌ. أَبِي مُهَنْدِسٌ، وَهُوَ مَشْغُولٌ دَائِمًا. أُمِّي طَبِيبَةٌ، وَهِيَ تَعْمَلُ فِي مُسْتَشْفًى كَبِيرٍ. فِي حَدِيقَتِنَا شَجَرَةٌ عَالِيَةٌ، وَالشَّمْسُ حَارَّةٌ فِي الصَّيْفِ.</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This is my house. It is big and near the school. And this is my room. It is small but tidy. My father is an engineer, and he is always busy. My mother is a doctor; she works in a big hospital. In our garden there is a tall tree, and the sun is hot in summer.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هٰذَا / هٰذِهِ</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هُوَ / هِيَ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ة → ت</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a feminine without ة</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GM-N-01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Each adjective matches its noun’s gender.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a:r>
            <a:pPr algn="l" indent="0" marL="0">
              <a:buNone/>
            </a:pPr>
            <a:r>
              <a:rPr lang="ar-SA" altLang="en-US" sz="1700" dirty="0">
                <a:solidFill>
                  <a:srgbClr val="1F2A37"/>
                </a:solidFill>
                <a:latin typeface="Amiri" pitchFamily="2" charset="-78"/>
                <a:ea typeface="Amiri" pitchFamily="2" charset="-78"/>
                <a:cs typeface="Amiri" pitchFamily="2" charset="-78"/>
              </a:rPr>
              <a:t>هٰذَا</a:t>
            </a:r>
            <a:pPr algn="l" indent="0" marL="0">
              <a:buNone/>
            </a:pPr>
            <a:r>
              <a:rPr lang="en-US" sz="1300" dirty="0">
                <a:solidFill>
                  <a:srgbClr val="1F2A37"/>
                </a:solidFill>
                <a:latin typeface="Calibri" pitchFamily="34" charset="0"/>
                <a:cs typeface="Amiri" pitchFamily="2" charset="-78"/>
              </a:rPr>
              <a:t> for masculine and </a:t>
            </a:r>
            <a:pPr algn="l" indent="0" marL="0">
              <a:buNone/>
            </a:pPr>
            <a:r>
              <a:rPr lang="ar-SA" altLang="en-US" sz="1700" dirty="0">
                <a:solidFill>
                  <a:srgbClr val="1F2A37"/>
                </a:solidFill>
                <a:latin typeface="Amiri" pitchFamily="2" charset="-78"/>
                <a:ea typeface="Amiri" pitchFamily="2" charset="-78"/>
                <a:cs typeface="Amiri" pitchFamily="2" charset="-78"/>
              </a:rPr>
              <a:t>هٰذِهِ</a:t>
            </a:r>
            <a:pPr algn="l" indent="0" marL="0">
              <a:buNone/>
            </a:pPr>
            <a:r>
              <a:rPr lang="en-US" sz="1300" dirty="0">
                <a:solidFill>
                  <a:srgbClr val="1F2A37"/>
                </a:solidFill>
                <a:latin typeface="Calibri" pitchFamily="34" charset="0"/>
                <a:cs typeface="Amiri" pitchFamily="2" charset="-78"/>
              </a:rPr>
              <a:t> for feminine.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pronouns (</a:t>
            </a:r>
            <a:pPr algn="l" indent="0" marL="0">
              <a:buNone/>
            </a:pPr>
            <a:r>
              <a:rPr lang="ar-SA" altLang="en-US" sz="1700" dirty="0">
                <a:solidFill>
                  <a:srgbClr val="1F2A37"/>
                </a:solidFill>
                <a:latin typeface="Amiri" pitchFamily="2" charset="-78"/>
                <a:ea typeface="Amiri" pitchFamily="2" charset="-78"/>
                <a:cs typeface="Amiri" pitchFamily="2" charset="-78"/>
              </a:rPr>
              <a:t>هُوَ / هِيَ</a:t>
            </a:r>
            <a:pPr algn="l" indent="0" marL="0">
              <a:buNone/>
            </a:pPr>
            <a:r>
              <a:rPr lang="en-US" sz="1300" dirty="0">
                <a:solidFill>
                  <a:srgbClr val="1F2A37"/>
                </a:solidFill>
                <a:latin typeface="Calibri" pitchFamily="34" charset="0"/>
                <a:cs typeface="Amiri" pitchFamily="2" charset="-78"/>
              </a:rPr>
              <a:t>) refer back correctly.</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verbs agree with feminine subjects (</a:t>
            </a:r>
            <a:pPr algn="l" indent="0" marL="0">
              <a:buNone/>
            </a:pPr>
            <a:r>
              <a:rPr lang="ar-SA" altLang="en-US" sz="1700" dirty="0">
                <a:solidFill>
                  <a:srgbClr val="1F2A37"/>
                </a:solidFill>
                <a:latin typeface="Amiri" pitchFamily="2" charset="-78"/>
                <a:ea typeface="Amiri" pitchFamily="2" charset="-78"/>
                <a:cs typeface="Amiri" pitchFamily="2" charset="-78"/>
              </a:rPr>
              <a:t>ـَتْ</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تَـ</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t>
            </a:r>
            <a:pPr algn="l" indent="0" marL="0">
              <a:buNone/>
            </a:pPr>
            <a:r>
              <a:rPr lang="ar-SA" altLang="en-US" sz="1700" dirty="0">
                <a:solidFill>
                  <a:srgbClr val="1F2A37"/>
                </a:solidFill>
                <a:latin typeface="Amiri" pitchFamily="2" charset="-78"/>
                <a:ea typeface="Amiri" pitchFamily="2" charset="-78"/>
                <a:cs typeface="Amiri" pitchFamily="2" charset="-78"/>
              </a:rPr>
              <a:t>ة</a:t>
            </a:r>
            <a:pPr algn="l" indent="0" marL="0">
              <a:buNone/>
            </a:pPr>
            <a:r>
              <a:rPr lang="en-US" sz="1300" dirty="0">
                <a:solidFill>
                  <a:srgbClr val="1F2A37"/>
                </a:solidFill>
                <a:latin typeface="Calibri" pitchFamily="34" charset="0"/>
                <a:cs typeface="Amiri" pitchFamily="2" charset="-78"/>
              </a:rPr>
              <a:t> as </a:t>
            </a:r>
            <a:pPr algn="l" indent="0" marL="0">
              <a:buNone/>
            </a:pPr>
            <a:r>
              <a:rPr lang="ar-SA" altLang="en-US" sz="1700" dirty="0">
                <a:solidFill>
                  <a:srgbClr val="1F2A37"/>
                </a:solidFill>
                <a:latin typeface="Amiri" pitchFamily="2" charset="-78"/>
                <a:ea typeface="Amiri" pitchFamily="2" charset="-78"/>
                <a:cs typeface="Amiri" pitchFamily="2" charset="-78"/>
              </a:rPr>
              <a:t>ت</a:t>
            </a:r>
            <a:pPr algn="l" indent="0" marL="0">
              <a:buNone/>
            </a:pPr>
            <a:r>
              <a:rPr lang="en-US" sz="1300" dirty="0">
                <a:solidFill>
                  <a:srgbClr val="1F2A37"/>
                </a:solidFill>
                <a:latin typeface="Calibri" pitchFamily="34" charset="0"/>
                <a:cs typeface="Amiri" pitchFamily="2" charset="-78"/>
              </a:rPr>
              <a:t> before every suffix.</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GM-N-01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noun is feminine without </a:t>
            </a:r>
            <a:pPr algn="l" indent="0" marL="0">
              <a:buNone/>
            </a:pPr>
            <a:r>
              <a:rPr lang="ar-SA" altLang="en-US" sz="1650" b="1" dirty="0">
                <a:solidFill>
                  <a:srgbClr val="1B3B6F"/>
                </a:solidFill>
                <a:latin typeface="Amiri" pitchFamily="2" charset="-78"/>
                <a:ea typeface="Amiri" pitchFamily="2" charset="-78"/>
                <a:cs typeface="Amiri" pitchFamily="2" charset="-78"/>
              </a:rPr>
              <a:t>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شَمْسٌ</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جَبَلٌ</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masculine name?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خَدِيجَةُ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حَمْزَةُ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سَلْمَى</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5" name="Text 42"/>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السَّيَّارَةُ ...</a:t>
            </a:r>
            <a:endParaRPr lang="ar-SA" sz="150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سَرِيعَةٌ</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سَرِيعٌ</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سَرِيعُونَ</a:t>
            </a:r>
            <a:endParaRPr lang="ar-SA" sz="2050" dirty="0"/>
          </a:p>
        </p:txBody>
      </p:sp>
      <p:sp>
        <p:nvSpPr>
          <p:cNvPr id="55" name="Shape 52"/>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7" name="Text 54"/>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GM-N-01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noun is feminine without </a:t>
            </a:r>
            <a:pPr algn="l" indent="0" marL="0">
              <a:buNone/>
            </a:pPr>
            <a:r>
              <a:rPr lang="ar-SA" altLang="en-US" sz="1650" b="1" dirty="0">
                <a:solidFill>
                  <a:srgbClr val="1B3B6F"/>
                </a:solidFill>
                <a:latin typeface="Amiri" pitchFamily="2" charset="-78"/>
                <a:ea typeface="Amiri" pitchFamily="2" charset="-78"/>
                <a:cs typeface="Amiri" pitchFamily="2" charset="-78"/>
              </a:rPr>
              <a:t>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شَمْسٌ</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كِتَابٌ</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جَبَلٌ</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Lexical feminine.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masculine name?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خَدِيجَةُ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حَمْزَةُ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سَلْمَى</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Name exception.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السَّيَّارَةُ ...</a:t>
            </a:r>
            <a:endParaRPr lang="ar-SA" sz="1500" dirty="0"/>
          </a:p>
        </p:txBody>
      </p:sp>
      <p:sp>
        <p:nvSpPr>
          <p:cNvPr id="50" name="Shape 47"/>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532888"/>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سَرِيعَةٌ</a:t>
            </a:r>
            <a:endParaRPr lang="ar-SA" sz="2050" dirty="0"/>
          </a:p>
        </p:txBody>
      </p:sp>
      <p:sp>
        <p:nvSpPr>
          <p:cNvPr id="54" name="Shape 51"/>
          <p:cNvSpPr/>
          <p:nvPr/>
        </p:nvSpPr>
        <p:spPr>
          <a:xfrm>
            <a:off x="8278368" y="2990088"/>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3"/>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سَرِيعٌ</a:t>
            </a:r>
            <a:endParaRPr lang="ar-SA" sz="2050" dirty="0"/>
          </a:p>
        </p:txBody>
      </p:sp>
      <p:sp>
        <p:nvSpPr>
          <p:cNvPr id="57" name="Shape 54"/>
          <p:cNvSpPr/>
          <p:nvPr/>
        </p:nvSpPr>
        <p:spPr>
          <a:xfrm>
            <a:off x="8278368" y="344728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سَرِيعُونَ</a:t>
            </a:r>
            <a:endParaRPr lang="ar-SA" sz="2050" dirty="0"/>
          </a:p>
        </p:txBody>
      </p:sp>
      <p:sp>
        <p:nvSpPr>
          <p:cNvPr id="60" name="Text 57"/>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Agreement.</a:t>
            </a:r>
            <a:endParaRPr lang="en-US" sz="1050" dirty="0"/>
          </a:p>
        </p:txBody>
      </p:sp>
      <p:sp>
        <p:nvSpPr>
          <p:cNvPr id="61" name="Shape 58"/>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2" name="Text 59"/>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3" name="Text 60"/>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GM-N-01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EXTENSION · WEBSITE MASTERY CHECK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Mastery check</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اِخْتِبَارُ الإِتْقَانِ</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GM-N-01</a:t>
            </a:r>
            <a:endParaRPr lang="en-US" sz="850" dirty="0"/>
          </a:p>
        </p:txBody>
      </p:sp>
      <p:sp>
        <p:nvSpPr>
          <p:cNvPr id="17" name="Shape 14"/>
          <p:cNvSpPr/>
          <p:nvPr/>
        </p:nvSpPr>
        <p:spPr>
          <a:xfrm>
            <a:off x="457200" y="1810512"/>
            <a:ext cx="5545836"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Best strategy?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Guess from English.</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Identify noun gender, then check all agreeing words.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Add </a:t>
            </a:r>
            <a:pPr algn="l" indent="0" marL="0">
              <a:buNone/>
            </a:pPr>
            <a:r>
              <a:rPr lang="ar-SA" altLang="en-US" sz="1650" dirty="0">
                <a:solidFill>
                  <a:srgbClr val="1F2A37"/>
                </a:solidFill>
                <a:latin typeface="Amiri" pitchFamily="2" charset="-78"/>
                <a:ea typeface="Amiri" pitchFamily="2" charset="-78"/>
                <a:cs typeface="Amiri" pitchFamily="2" charset="-78"/>
              </a:rPr>
              <a:t>ة</a:t>
            </a:r>
            <a:pPr algn="l" indent="0" marL="0">
              <a:buNone/>
            </a:pPr>
            <a:r>
              <a:rPr lang="en-US" sz="1250" dirty="0">
                <a:solidFill>
                  <a:srgbClr val="1F2A37"/>
                </a:solidFill>
                <a:latin typeface="Calibri" pitchFamily="34" charset="0"/>
                <a:cs typeface="Amiri" pitchFamily="2" charset="-78"/>
              </a:rPr>
              <a:t> to every adjective.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GM-N-01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EXTENSION · MASTERY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Mastery check: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GM-N-01</a:t>
            </a:r>
            <a:endParaRPr lang="en-US" sz="850" dirty="0"/>
          </a:p>
        </p:txBody>
      </p:sp>
      <p:sp>
        <p:nvSpPr>
          <p:cNvPr id="16" name="Shape 14"/>
          <p:cNvSpPr/>
          <p:nvPr/>
        </p:nvSpPr>
        <p:spPr>
          <a:xfrm>
            <a:off x="457200" y="1810512"/>
            <a:ext cx="5545836"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Best strategy?</a:t>
            </a:r>
            <a:endParaRPr lang="en-US" sz="1250" dirty="0"/>
          </a:p>
        </p:txBody>
      </p:sp>
      <p:sp>
        <p:nvSpPr>
          <p:cNvPr id="20"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Guess from English.</a:t>
            </a:r>
            <a:endParaRPr lang="en-US" sz="1250" dirty="0"/>
          </a:p>
        </p:txBody>
      </p:sp>
      <p:sp>
        <p:nvSpPr>
          <p:cNvPr id="23" name="Shape 21"/>
          <p:cNvSpPr/>
          <p:nvPr/>
        </p:nvSpPr>
        <p:spPr>
          <a:xfrm>
            <a:off x="548640" y="2953512"/>
            <a:ext cx="5362956"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990088"/>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Identify noun gender, then check all agreeing words.</a:t>
            </a:r>
            <a:endParaRPr lang="en-US" sz="1250" dirty="0"/>
          </a:p>
        </p:txBody>
      </p:sp>
      <p:sp>
        <p:nvSpPr>
          <p:cNvPr id="27" name="Shape 25"/>
          <p:cNvSpPr/>
          <p:nvPr/>
        </p:nvSpPr>
        <p:spPr>
          <a:xfrm>
            <a:off x="640080" y="344728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Add </a:t>
            </a:r>
            <a:pPr algn="l" indent="0" marL="0">
              <a:buNone/>
            </a:pPr>
            <a:r>
              <a:rPr lang="ar-SA" altLang="en-US" sz="1650" dirty="0">
                <a:solidFill>
                  <a:srgbClr val="9AA1AB"/>
                </a:solidFill>
                <a:latin typeface="Amiri" pitchFamily="2" charset="-78"/>
                <a:ea typeface="Amiri" pitchFamily="2" charset="-78"/>
                <a:cs typeface="Amiri" pitchFamily="2" charset="-78"/>
              </a:rPr>
              <a:t>ة</a:t>
            </a:r>
            <a:pPr algn="l" indent="0" marL="0">
              <a:buNone/>
            </a:pPr>
            <a:r>
              <a:rPr lang="en-US" sz="1250" dirty="0">
                <a:solidFill>
                  <a:srgbClr val="9AA1AB"/>
                </a:solidFill>
                <a:latin typeface="Calibri" pitchFamily="34" charset="0"/>
                <a:cs typeface="Amiri" pitchFamily="2" charset="-78"/>
              </a:rPr>
              <a:t> to every adjective.</a:t>
            </a:r>
            <a:endParaRPr lang="en-US" sz="1250" dirty="0"/>
          </a:p>
        </p:txBody>
      </p:sp>
      <p:sp>
        <p:nvSpPr>
          <p:cNvPr id="30" name="Text 2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Systematic agreement check.</a:t>
            </a:r>
            <a:endParaRPr lang="en-US" sz="1050" dirty="0"/>
          </a:p>
        </p:txBody>
      </p:sp>
      <p:sp>
        <p:nvSpPr>
          <p:cNvPr id="31"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GM-N-01 · Nouns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Before GM-N-02: get ready at home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GM-N-02 · Singular, Dual and Plural</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مُفْرَدٌ</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singular (one)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مُثَنًّى</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dual (exactly two)</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جَمْعٌ</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plural (three or more)</a:t>
            </a:r>
            <a:pPr indent="0" marL="0">
              <a:buNone/>
            </a:pPr>
            <a:r>
              <a:rPr lang="ar-SA" sz="1000" i="1" dirty="0">
                <a:solidFill>
                  <a:srgbClr val="5A6472"/>
                </a:solidFill>
                <a:latin typeface="Calibri" pitchFamily="34" charset="0"/>
                <a:ea typeface="Amiri" pitchFamily="2" charset="-78"/>
                <a:cs typeface="Amiri" pitchFamily="2" charset="-78"/>
              </a:rPr>
              <a:t>  pl. جُمُوعٌ</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كِتَابَانِ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two books</a:t>
            </a:r>
            <a:pPr indent="0" marL="0">
              <a:buNone/>
            </a:pPr>
            <a:r>
              <a:rPr lang="ar-SA" sz="1000" i="1" dirty="0">
                <a:solidFill>
                  <a:srgbClr val="5A6472"/>
                </a:solidFill>
                <a:latin typeface="Calibri" pitchFamily="34" charset="0"/>
                <a:ea typeface="Amiri" pitchFamily="2" charset="-78"/>
                <a:cs typeface="Amiri" pitchFamily="2" charset="-78"/>
              </a:rPr>
              <a:t>  كِتَابَيْنِ after فِي</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طَالِبَتَانِ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two female students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How do you say “two books” and “two schools” in Arabic? Guess before next lesson!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كِتَابٌ ← ______ · مَدْرَسَةٌ ←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ten nouns with their gender; write each with an adjective.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five pairs: </a:t>
            </a:r>
            <a:pPr algn="l" indent="0" marL="0">
              <a:buNone/>
            </a:pPr>
            <a:r>
              <a:rPr lang="ar-SA" altLang="en-US" sz="1550" dirty="0">
                <a:solidFill>
                  <a:srgbClr val="1F2A37"/>
                </a:solidFill>
                <a:latin typeface="Amiri" pitchFamily="2" charset="-78"/>
                <a:ea typeface="Amiri" pitchFamily="2" charset="-78"/>
                <a:cs typeface="Amiri" pitchFamily="2" charset="-78"/>
              </a:rPr>
              <a:t>هٰذَا … هُوَ … / هٰذِهِ … هِيَ</a:t>
            </a:r>
            <a:pPr algn="l" indent="0" marL="0">
              <a:buNone/>
            </a:pPr>
            <a:r>
              <a:rPr lang="en-US" sz="1200" dirty="0">
                <a:solidFill>
                  <a:srgbClr val="1F2A37"/>
                </a:solidFill>
                <a:latin typeface="Calibri" pitchFamily="34" charset="0"/>
                <a:cs typeface="Amiri" pitchFamily="2" charset="-78"/>
              </a:rPr>
              <a:t> …</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workshop (8–10 sentences) and the website mastery check.</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37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GM-N-01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GM-N-02 · Singular, Dual and Plural</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الْمُفْرَدُ وَالْمُثَنَّى وَالْجَمْعُ</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t>
            </a:r>
            <a:pPr algn="l" indent="0" marL="0">
              <a:buNone/>
            </a:pPr>
            <a:r>
              <a:rPr lang="ar-SA" altLang="en-US" sz="1700" b="1" dirty="0">
                <a:solidFill>
                  <a:srgbClr val="FFFFFF"/>
                </a:solidFill>
                <a:latin typeface="Amiri" pitchFamily="2" charset="-78"/>
                <a:ea typeface="Amiri" pitchFamily="2" charset="-78"/>
                <a:cs typeface="Amiri" pitchFamily="2" charset="-78"/>
              </a:rPr>
              <a:t>ة</a:t>
            </a:r>
            <a:pPr algn="l" indent="0" marL="0">
              <a:buNone/>
            </a:pPr>
            <a:r>
              <a:rPr lang="en-US" sz="1300" b="1" dirty="0">
                <a:solidFill>
                  <a:srgbClr val="FFFFFF"/>
                </a:solidFill>
                <a:latin typeface="Calibri" pitchFamily="34" charset="0"/>
                <a:cs typeface="Amiri" pitchFamily="2" charset="-78"/>
              </a:rPr>
              <a:t> is a clue, not a rule · shams and arḍ are feminine · check EVERY word that refers back · </a:t>
            </a:r>
            <a:pPr algn="l" indent="0" marL="0">
              <a:buNone/>
            </a:pPr>
            <a:r>
              <a:rPr lang="ar-SA" altLang="en-US" sz="1700" b="1" dirty="0">
                <a:solidFill>
                  <a:srgbClr val="FFFFFF"/>
                </a:solidFill>
                <a:latin typeface="Amiri" pitchFamily="2" charset="-78"/>
                <a:ea typeface="Amiri" pitchFamily="2" charset="-78"/>
                <a:cs typeface="Amiri" pitchFamily="2" charset="-78"/>
              </a:rPr>
              <a:t>ة</a:t>
            </a:r>
            <a:pPr algn="l" indent="0" marL="0">
              <a:buNone/>
            </a:pPr>
            <a:r>
              <a:rPr lang="en-US" sz="1300" b="1" dirty="0">
                <a:solidFill>
                  <a:srgbClr val="FFFFFF"/>
                </a:solidFill>
                <a:latin typeface="Calibri" pitchFamily="34" charset="0"/>
                <a:cs typeface="Amiri" pitchFamily="2" charset="-78"/>
              </a:rPr>
              <a:t> becomes </a:t>
            </a:r>
            <a:pPr algn="l" indent="0" marL="0">
              <a:buNone/>
            </a:pPr>
            <a:r>
              <a:rPr lang="ar-SA" altLang="en-US" sz="1700" b="1" dirty="0">
                <a:solidFill>
                  <a:srgbClr val="FFFFFF"/>
                </a:solidFill>
                <a:latin typeface="Amiri" pitchFamily="2" charset="-78"/>
                <a:ea typeface="Amiri" pitchFamily="2" charset="-78"/>
                <a:cs typeface="Amiri" pitchFamily="2" charset="-78"/>
              </a:rPr>
              <a:t>ت</a:t>
            </a:r>
            <a:pPr algn="l" indent="0" marL="0">
              <a:buNone/>
            </a:pPr>
            <a:r>
              <a:rPr lang="en-US" sz="1300" b="1" dirty="0">
                <a:solidFill>
                  <a:srgbClr val="FFFFFF"/>
                </a:solidFill>
                <a:latin typeface="Calibri" pitchFamily="34" charset="0"/>
                <a:cs typeface="Amiri" pitchFamily="2" charset="-78"/>
              </a:rPr>
              <a:t> before a suffix.</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GM-N-01 · Noun Gender</dc:title>
  <dc:subject>PptxGenJS Presentation</dc:subject>
  <dc:creator>Al Madina Online School · Arabic Department</dc:creator>
  <cp:lastModifiedBy>Al Madina Online School · Arabic Department</cp:lastModifiedBy>
  <cp:revision>1</cp:revision>
  <dcterms:created xsi:type="dcterms:W3CDTF">2026-10-11T06:42:16Z</dcterms:created>
  <dcterms:modified xsi:type="dcterms:W3CDTF">2026-10-11T06:42:16Z</dcterms:modified>
</cp:coreProperties>
</file>