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Nouns › GM-N-03 (“Sound Masculine Plural”).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build the plural with ـُونَ from professions and describing words (مُعَلِّمٌ → مُعَلِّمُونَ). Develop: ـُونَ vs ـِينَ from the noun’s job; plural adjective agreement. Stretch: the nūn drops in iḍāfa.
• QUR’AN BRIDGE: students know الْمُسْلِمُونَ / الْمُسْلِمِينَ, الْمُؤْمِنُونَ / الْمُؤْمِنِينَ, الْعَالَمِينَ, الصَّالِحِينَ — the SAME two endings, chosen by position. Use Sūrat al-Fātiḥa (رَبِّ الْعَالَمِينَ · الضَّالِّينَ) as the example of ـِينَ.
• Website reminder: “sound” means the stem stays whole — it does NOT mean every masculine noun takes this plural (كِتَابٌ → كُتُبٌ).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it retrieves GM-N-02 (cases after a preposition) and tests prepared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Same plural, two endings: the job in the sentence decides — subject ـُونَ, everything else ـِينَ.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table “Formation and meaning”. Cover the plural columns: students build them from the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section “Choose ـونَ or ـينَ from the noun’s job”. Qur’an link: رَبِّ الْعَالَمِينَ (after rabb, genitive) · وَلَا الضَّالِّينَ.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Contrast with GM-ART-02: things (الْكُتُبُ) take a feminine SINGULAR adjective; people take a plural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guided mini-check,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Ask at each plural: “What is its job — subject, object, after a preposition, or the first noun of an iḍāfa?”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U or I for each card and say WHY (subject / object /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U or I for each card and say WHY (subject / object /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mastery check questions 5–8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read-and-notice text, extended by the teacher. Read it aloud once while students follow; then they hunt for today’s grammar.
Task: Website: underline every noun relevant to this lesson and explain its form (-ūna, -īna or no nūn).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text on the website pattern (the website read-and-notice text has no masculine sound plural), with teacher-written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task “speak and transform”. Sequence: ● 10s think → ↔ 45s rehearse aloud with mic muted → ◎ two named students on open mic (warned in advance) → + ? the class types one follow-up in chat → ↺ one student summarises.
Routes: Core uses the Core prompt and stem; Develop the Develop prompt; Stretch the last prompt.
Website: choose five nouns; say singular, dual and plural, then use each in a sentence. To a girl: مَدْرَسَتِكِ · تَتَحَدَّثِينَ · فَرِيقِكِ.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8–12 connected sentences about your school, home or local area, using at least six target noun forms from this lesson.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(GM-N-04 · Sound Feminine Plural) will spend class time USING this language, so students prepare it tonight — short, simple, easy to access (school guidance: “Simple, Short, Interesting, Relevant, Easy to access”). The five words prepare GM-N-04 (website Nouns lesson 4: the sound feminine plural).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NOUNS  ·  GM-N-03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Sound Masculine Plural</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جَمْعُ الْمُذَكَّرِ السَّالِمُ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Keep the word whole and add an ending for male or mixed groups of people: </a:t>
            </a:r>
            <a:pPr algn="l" indent="0" marL="0">
              <a:buNone/>
            </a:pPr>
            <a:r>
              <a:rPr lang="ar-SA" altLang="en-US" sz="1800" dirty="0">
                <a:solidFill>
                  <a:srgbClr val="C6D2E6"/>
                </a:solidFill>
                <a:latin typeface="Amiri" pitchFamily="2" charset="-78"/>
                <a:cs typeface="Amiri" pitchFamily="2" charset="-78"/>
              </a:rPr>
              <a:t>ـُونَ</a:t>
            </a:r>
            <a:pPr algn="l" indent="0" marL="0">
              <a:buNone/>
            </a:pPr>
            <a:r>
              <a:rPr lang="en-US" sz="1400" dirty="0">
                <a:solidFill>
                  <a:srgbClr val="C6D2E6"/>
                </a:solidFill>
                <a:latin typeface="Calibri" pitchFamily="34" charset="0"/>
                <a:cs typeface="Amiri" pitchFamily="2" charset="-78"/>
              </a:rPr>
              <a:t> for the subject (</a:t>
            </a:r>
            <a:pPr algn="l" indent="0" marL="0">
              <a:buNone/>
            </a:pPr>
            <a:r>
              <a:rPr lang="ar-SA" altLang="en-US" sz="1800" dirty="0">
                <a:solidFill>
                  <a:srgbClr val="C6D2E6"/>
                </a:solidFill>
                <a:latin typeface="Amiri" pitchFamily="2" charset="-78"/>
                <a:cs typeface="Amiri" pitchFamily="2" charset="-78"/>
              </a:rPr>
              <a:t>حَضَرَ الْمُعَلِّمُونَ</a:t>
            </a:r>
            <a:pPr algn="l" indent="0" marL="0">
              <a:buNone/>
            </a:pPr>
            <a:r>
              <a:rPr lang="en-US" sz="1400" dirty="0">
                <a:solidFill>
                  <a:srgbClr val="C6D2E6"/>
                </a:solidFill>
                <a:latin typeface="Calibri" pitchFamily="34" charset="0"/>
                <a:cs typeface="Amiri" pitchFamily="2" charset="-78"/>
              </a:rPr>
              <a:t>), </a:t>
            </a:r>
            <a:pPr algn="l" indent="0" marL="0">
              <a:buNone/>
            </a:pPr>
            <a:r>
              <a:rPr lang="ar-SA" altLang="en-US" sz="1800" dirty="0">
                <a:solidFill>
                  <a:srgbClr val="C6D2E6"/>
                </a:solidFill>
                <a:latin typeface="Amiri" pitchFamily="2" charset="-78"/>
                <a:cs typeface="Amiri" pitchFamily="2" charset="-78"/>
              </a:rPr>
              <a:t>ـِينَ</a:t>
            </a:r>
            <a:pPr algn="l" indent="0" marL="0">
              <a:buNone/>
            </a:pPr>
            <a:r>
              <a:rPr lang="en-US" sz="1400" dirty="0">
                <a:solidFill>
                  <a:srgbClr val="C6D2E6"/>
                </a:solidFill>
                <a:latin typeface="Calibri" pitchFamily="34" charset="0"/>
                <a:cs typeface="Amiri" pitchFamily="2" charset="-78"/>
              </a:rPr>
              <a:t> as an object or after a preposition (</a:t>
            </a:r>
            <a:pPr algn="l" indent="0" marL="0">
              <a:buNone/>
            </a:pPr>
            <a:r>
              <a:rPr lang="ar-SA" altLang="en-US" sz="1800" dirty="0">
                <a:solidFill>
                  <a:srgbClr val="C6D2E6"/>
                </a:solidFill>
                <a:latin typeface="Amiri" pitchFamily="2" charset="-78"/>
                <a:cs typeface="Amiri" pitchFamily="2" charset="-78"/>
              </a:rPr>
              <a:t>مَعَ الْمُعَلِّمِينَ</a:t>
            </a:r>
            <a:pPr algn="l" indent="0" marL="0">
              <a:buNone/>
            </a:pPr>
            <a:r>
              <a:rPr lang="en-US" sz="1400" dirty="0">
                <a:solidFill>
                  <a:srgbClr val="C6D2E6"/>
                </a:solidFill>
                <a:latin typeface="Calibri" pitchFamily="34" charset="0"/>
                <a:cs typeface="Amiri" pitchFamily="2" charset="-78"/>
              </a:rPr>
              <a:t>) — and drop the nūn in an iḍāfa (</a:t>
            </a:r>
            <a:pPr algn="l" indent="0" marL="0">
              <a:buNone/>
            </a:pPr>
            <a:r>
              <a:rPr lang="ar-SA" altLang="en-US" sz="1800" dirty="0">
                <a:solidFill>
                  <a:srgbClr val="C6D2E6"/>
                </a:solidFill>
                <a:latin typeface="Amiri" pitchFamily="2" charset="-78"/>
                <a:cs typeface="Amiri" pitchFamily="2" charset="-78"/>
              </a:rPr>
              <a:t>مُعَلِّمُو الْمَدْرَسَةِ</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Whole stem + </a:t>
            </a:r>
            <a:pPr algn="ctr" indent="0" marL="0">
              <a:buNone/>
            </a:pPr>
            <a:r>
              <a:rPr lang="ar-SA" altLang="en-US" sz="1550" dirty="0">
                <a:solidFill>
                  <a:srgbClr val="1F2A37"/>
                </a:solidFill>
                <a:latin typeface="Amiri" pitchFamily="2" charset="-78"/>
                <a:cs typeface="Amiri" pitchFamily="2" charset="-78"/>
              </a:rPr>
              <a:t>ـُونَ / ـِينَ</a:t>
            </a:r>
            <a:pPr algn="ctr" indent="0" marL="0">
              <a:buNone/>
            </a:pPr>
            <a:r>
              <a:rPr lang="en-US" sz="1200" dirty="0">
                <a:solidFill>
                  <a:srgbClr val="1F2A37"/>
                </a:solidFill>
                <a:latin typeface="Calibri" pitchFamily="34" charset="0"/>
                <a:cs typeface="Amiri" pitchFamily="2" charset="-78"/>
              </a:rPr>
              <a:t>; the ending follows the job; agreement; iḍāfa.</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a:t>
            </a:r>
            <a:pPr algn="ctr" indent="0" marL="0">
              <a:buNone/>
            </a:pPr>
            <a:r>
              <a:rPr lang="ar-SA" altLang="en-US" sz="1550" dirty="0">
                <a:solidFill>
                  <a:srgbClr val="1F2A37"/>
                </a:solidFill>
                <a:latin typeface="Amiri" pitchFamily="2" charset="-78"/>
                <a:cs typeface="Amiri" pitchFamily="2" charset="-78"/>
              </a:rPr>
              <a:t>ـُونَ / ـِينَ</a:t>
            </a:r>
            <a:pPr algn="ctr" indent="0" marL="0">
              <a:buNone/>
            </a:pPr>
            <a:r>
              <a:rPr lang="en-US" sz="1200" dirty="0">
                <a:solidFill>
                  <a:srgbClr val="1F2A37"/>
                </a:solidFill>
                <a:latin typeface="Calibri" pitchFamily="34" charset="0"/>
                <a:cs typeface="Amiri" pitchFamily="2" charset="-78"/>
              </a:rPr>
              <a:t>, repair case and iḍāfa slips, build plurals.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nominative “teachers”.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مُعَلِّمَاتٌ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cs typeface="Amiri" pitchFamily="2" charset="-78"/>
              </a:rPr>
              <a:t>مَعَ</a:t>
            </a:r>
            <a:pPr algn="l" indent="0" marL="0">
              <a:buNone/>
            </a:pPr>
            <a:r>
              <a:rPr lang="en-US" sz="1250" b="1" dirty="0">
                <a:solidFill>
                  <a:srgbClr val="1B3B6F"/>
                </a:solidFill>
                <a:latin typeface="Calibri" pitchFamily="34" charset="0"/>
                <a:cs typeface="Amiri" pitchFamily="2" charset="-78"/>
              </a:rPr>
              <a:t> choose.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مُهَنْدِسِينَ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مُهَنْدِسُونَ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مُهَنْدِسَاتٍ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This plural mainly refers to: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objects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feminine nouns only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human masculine groups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agreement.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الْمُعَلِّمُونَ مُجْتَهِدٌ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الْمُعَلِّمُونَ مُجْتَهِدَةٌ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الْمُعَلِّمُونَ مُجْتَهِدُونَ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singular forms </a:t>
            </a:r>
            <a:pPr algn="l" indent="0" marL="0">
              <a:buNone/>
            </a:pPr>
            <a:r>
              <a:rPr lang="ar-SA" altLang="en-US" sz="1650" b="1" dirty="0">
                <a:solidFill>
                  <a:srgbClr val="1B3B6F"/>
                </a:solidFill>
                <a:latin typeface="Amiri" pitchFamily="2" charset="-78"/>
                <a:cs typeface="Amiri" pitchFamily="2" charset="-78"/>
              </a:rPr>
              <a:t>مُسْلِمُونَ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مُسْلِمٌ</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مُسْلِمَةٌ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إِسْلَامٌ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nominative “teachers”.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مُعَلِّمِينَ</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مُعَلِّمُونَ</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مُعَلِّمَاتٌ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-ūna nominative.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cs typeface="Amiri" pitchFamily="2" charset="-78"/>
              </a:rPr>
              <a:t>مَعَ</a:t>
            </a:r>
            <a:pPr algn="l" indent="0" marL="0">
              <a:buNone/>
            </a:pPr>
            <a:r>
              <a:rPr lang="en-US" sz="1250" b="1" dirty="0">
                <a:solidFill>
                  <a:srgbClr val="1B3B6F"/>
                </a:solidFill>
                <a:latin typeface="Calibri" pitchFamily="34" charset="0"/>
                <a:cs typeface="Amiri" pitchFamily="2" charset="-78"/>
              </a:rPr>
              <a:t> choose.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مُهَنْدِسِينَ</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مُهَنْدِسُونَ</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مُهَنْدِسَاتٍ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Genitive after preposition.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This plural mainly refers to:</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objects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feminine nouns only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human masculine groups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Productive with male persons/professions/adjectival nouns.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agreement.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الْمُعَلِّمُونَ مُجْتَهِدٌ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الْمُعَلِّمُونَ مُجْتَهِدَةٌ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الْمُعَلِّمُونَ مُجْتَهِدُونَ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plural agreement.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singular forms </a:t>
            </a:r>
            <a:pPr algn="l" indent="0" marL="0">
              <a:buNone/>
            </a:pPr>
            <a:r>
              <a:rPr lang="ar-SA" altLang="en-US" sz="1650" b="1" dirty="0">
                <a:solidFill>
                  <a:srgbClr val="1B3B6F"/>
                </a:solidFill>
                <a:latin typeface="Amiri" pitchFamily="2" charset="-78"/>
                <a:cs typeface="Amiri" pitchFamily="2" charset="-78"/>
              </a:rPr>
              <a:t>مُسْلِمُونَ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مُسْلِمٌ</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مُسْلِمَةٌ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إِسْلَامٌ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 sound masculine ending.</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Same plural, two endings: the job in the sentence decides — subject </a:t>
            </a:r>
            <a:pPr algn="l" indent="0" marL="0">
              <a:buNone/>
            </a:pPr>
            <a:r>
              <a:rPr lang="ar-SA" altLang="en-US" sz="1700" b="1" dirty="0">
                <a:solidFill>
                  <a:srgbClr val="1F2A37"/>
                </a:solidFill>
                <a:latin typeface="Amiri" pitchFamily="2" charset="-78"/>
                <a:cs typeface="Amiri" pitchFamily="2" charset="-78"/>
              </a:rPr>
              <a:t>ـُونَ</a:t>
            </a:r>
            <a:pPr algn="l" indent="0" marL="0">
              <a:buNone/>
            </a:pPr>
            <a:r>
              <a:rPr lang="en-US" sz="1300" b="1" dirty="0">
                <a:solidFill>
                  <a:srgbClr val="1F2A37"/>
                </a:solidFill>
                <a:latin typeface="Calibri" pitchFamily="34" charset="0"/>
                <a:cs typeface="Amiri" pitchFamily="2" charset="-78"/>
              </a:rPr>
              <a:t>, everything else </a:t>
            </a:r>
            <a:pPr algn="l" indent="0" marL="0">
              <a:buNone/>
            </a:pPr>
            <a:r>
              <a:rPr lang="ar-SA" altLang="en-US" sz="1700" b="1" dirty="0">
                <a:solidFill>
                  <a:srgbClr val="1F2A37"/>
                </a:solidFill>
                <a:latin typeface="Amiri" pitchFamily="2" charset="-78"/>
                <a:cs typeface="Amiri" pitchFamily="2" charset="-78"/>
              </a:rPr>
              <a:t>ـِينَ</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300" b="1" dirty="0">
                <a:solidFill>
                  <a:srgbClr val="1B3B6F"/>
                </a:solidFill>
                <a:latin typeface="Amiri" pitchFamily="2" charset="-78"/>
                <a:cs typeface="Amiri" pitchFamily="2" charset="-78"/>
              </a:rPr>
              <a:t>حَضَرَ </a:t>
            </a:r>
            <a:pPr rtl="1" algn="ctr" indent="0" marL="0">
              <a:lnSpc>
                <a:spcPct val="120000"/>
              </a:lnSpc>
              <a:buNone/>
            </a:pPr>
            <a:r>
              <a:rPr lang="ar-SA" altLang="en-US" sz="2300" b="1" dirty="0">
                <a:solidFill>
                  <a:srgbClr val="0E7C86"/>
                </a:solidFill>
                <a:latin typeface="Amiri" pitchFamily="2" charset="-78"/>
                <a:cs typeface="Amiri" pitchFamily="2" charset="-78"/>
              </a:rPr>
              <a:t>الْمُعَلِّمُونَ</a:t>
            </a:r>
            <a:pPr rtl="1" algn="ctr" indent="0" marL="0">
              <a:lnSpc>
                <a:spcPct val="120000"/>
              </a:lnSpc>
              <a:buNone/>
            </a:pPr>
            <a:r>
              <a:rPr lang="ar-SA" altLang="en-US" sz="2300" b="1" dirty="0">
                <a:solidFill>
                  <a:srgbClr val="1B3B6F"/>
                </a:solidFill>
                <a:latin typeface="Amiri" pitchFamily="2" charset="-78"/>
                <a:cs typeface="Amiri" pitchFamily="2" charset="-78"/>
              </a:rPr>
              <a:t> ‖ رَأَيْتُ </a:t>
            </a:r>
            <a:pPr rtl="1" algn="ctr" indent="0" marL="0">
              <a:lnSpc>
                <a:spcPct val="120000"/>
              </a:lnSpc>
              <a:buNone/>
            </a:pPr>
            <a:r>
              <a:rPr lang="ar-SA" altLang="en-US" sz="2300" b="1" dirty="0">
                <a:solidFill>
                  <a:srgbClr val="D6336C"/>
                </a:solidFill>
                <a:latin typeface="Amiri" pitchFamily="2" charset="-78"/>
                <a:cs typeface="Amiri" pitchFamily="2" charset="-78"/>
              </a:rPr>
              <a:t>الْمُعَلِّمِينَ</a:t>
            </a:r>
            <a:endParaRPr lang="ar-SA" sz="23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sound masculine plural with </a:t>
            </a:r>
            <a:pPr algn="l" indent="0" marL="0">
              <a:buNone/>
            </a:pPr>
            <a:r>
              <a:rPr lang="ar-SA" altLang="en-US" sz="1700" dirty="0">
                <a:solidFill>
                  <a:srgbClr val="1F2A37"/>
                </a:solidFill>
                <a:latin typeface="Amiri" pitchFamily="2" charset="-78"/>
                <a:cs typeface="Amiri" pitchFamily="2" charset="-78"/>
              </a:rPr>
              <a:t>ـُونَ / ـِينَ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the ending from the noun’s job in the sentence.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plural adjectives for male or mixed human groups.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Drop the nūn when the plural is the first noun of an iḍāfa.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build </a:t>
            </a:r>
            <a:pPr algn="l" indent="0" marL="0">
              <a:buNone/>
            </a:pPr>
            <a:r>
              <a:rPr lang="ar-SA" altLang="en-US" sz="1700" b="1" dirty="0">
                <a:solidFill>
                  <a:srgbClr val="2E8B57"/>
                </a:solidFill>
                <a:latin typeface="Amiri" pitchFamily="2" charset="-78"/>
                <a:cs typeface="Amiri" pitchFamily="2" charset="-78"/>
              </a:rPr>
              <a:t>مُعَلِّمُونَ</a:t>
            </a:r>
            <a:pPr algn="l" indent="0" marL="0">
              <a:buNone/>
            </a:pPr>
            <a:r>
              <a:rPr lang="en-US" sz="1300" b="1" dirty="0">
                <a:solidFill>
                  <a:srgbClr val="2E8B57"/>
                </a:solidFill>
                <a:latin typeface="Calibri" pitchFamily="34" charset="0"/>
                <a:cs typeface="Amiri" pitchFamily="2" charset="-78"/>
              </a:rPr>
              <a:t> · </a:t>
            </a:r>
            <a:pPr algn="l" indent="0" marL="0">
              <a:buNone/>
            </a:pPr>
            <a:r>
              <a:rPr lang="ar-SA" altLang="en-US" sz="1700" b="1" dirty="0">
                <a:solidFill>
                  <a:srgbClr val="2E8B57"/>
                </a:solidFill>
                <a:latin typeface="Amiri" pitchFamily="2" charset="-78"/>
                <a:cs typeface="Amiri" pitchFamily="2" charset="-78"/>
              </a:rPr>
              <a:t>مُهَنْدِسُونَ</a:t>
            </a:r>
            <a:pPr algn="l" indent="0" marL="0">
              <a:buNone/>
            </a:pPr>
            <a:r>
              <a:rPr lang="en-US" sz="1300" b="1" dirty="0">
                <a:solidFill>
                  <a:srgbClr val="2E8B57"/>
                </a:solidFill>
                <a:latin typeface="Calibri" pitchFamily="34" charset="0"/>
                <a:cs typeface="Amiri" pitchFamily="2" charset="-78"/>
              </a:rPr>
              <a:t> · </a:t>
            </a:r>
            <a:pPr algn="l" indent="0" marL="0">
              <a:buNone/>
            </a:pPr>
            <a:r>
              <a:rPr lang="ar-SA" altLang="en-US" sz="1700" b="1" dirty="0">
                <a:solidFill>
                  <a:srgbClr val="2E8B57"/>
                </a:solidFill>
                <a:latin typeface="Amiri" pitchFamily="2" charset="-78"/>
                <a:cs typeface="Amiri" pitchFamily="2" charset="-78"/>
              </a:rPr>
              <a:t>لَاعِبُونَ</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know this plural is for male / mixed people.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a:t>
            </a:r>
            <a:pPr algn="l" indent="0" marL="0">
              <a:buNone/>
            </a:pPr>
            <a:r>
              <a:rPr lang="ar-SA" altLang="en-US" sz="1700" b="1" dirty="0">
                <a:solidFill>
                  <a:srgbClr val="C9780A"/>
                </a:solidFill>
                <a:latin typeface="Amiri" pitchFamily="2" charset="-78"/>
                <a:cs typeface="Amiri" pitchFamily="2" charset="-78"/>
              </a:rPr>
              <a:t>ـِينَ</a:t>
            </a:r>
            <a:pPr algn="l" indent="0" marL="0">
              <a:buNone/>
            </a:pPr>
            <a:r>
              <a:rPr lang="en-US" sz="1300" b="1" dirty="0">
                <a:solidFill>
                  <a:srgbClr val="C9780A"/>
                </a:solidFill>
                <a:latin typeface="Calibri" pitchFamily="34" charset="0"/>
                <a:cs typeface="Amiri" pitchFamily="2" charset="-78"/>
              </a:rPr>
              <a:t> after a preposition and as an object.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make the adjective plural: </a:t>
            </a:r>
            <a:pPr algn="l" indent="0" marL="0">
              <a:buNone/>
            </a:pPr>
            <a:r>
              <a:rPr lang="ar-SA" altLang="en-US" sz="1700" b="1" dirty="0">
                <a:solidFill>
                  <a:srgbClr val="C9780A"/>
                </a:solidFill>
                <a:latin typeface="Amiri" pitchFamily="2" charset="-78"/>
                <a:cs typeface="Amiri" pitchFamily="2" charset="-78"/>
              </a:rPr>
              <a:t>الطُّلَّابُ نَشِيطُونَ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drop the nūn in iḍāfa: </a:t>
            </a:r>
            <a:pPr algn="l" indent="0" marL="0">
              <a:buNone/>
            </a:pPr>
            <a:r>
              <a:rPr lang="ar-SA" altLang="en-US" sz="1700" b="1" dirty="0">
                <a:solidFill>
                  <a:srgbClr val="B83227"/>
                </a:solidFill>
                <a:latin typeface="Amiri" pitchFamily="2" charset="-78"/>
                <a:cs typeface="Amiri" pitchFamily="2" charset="-78"/>
              </a:rPr>
              <a:t>مُعَلِّمُو الْمَدْرَسَةِ</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know which nouns do NOT take this plural.</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جَمْعُ الْمُذَكَّرِ السَّالِمُ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sound masculine plural</a:t>
            </a:r>
            <a:endParaRPr lang="en-US" sz="1350" dirty="0"/>
          </a:p>
          <a:p>
            <a:pPr indent="0" marL="0">
              <a:buNone/>
            </a:pPr>
            <a:r>
              <a:rPr lang="en-US" sz="1100" i="1" dirty="0">
                <a:solidFill>
                  <a:srgbClr val="5A6472"/>
                </a:solidFill>
                <a:latin typeface="Calibri" pitchFamily="34" charset="0"/>
                <a:cs typeface="Amiri" pitchFamily="2" charset="-78"/>
              </a:rPr>
              <a:t>jam-ʿu al-mu-dhak-ka-ri as-sā-li-mu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stem stays whole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ـُونَ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nominative ending (subject)</a:t>
            </a:r>
            <a:endParaRPr lang="en-US" sz="1350" dirty="0"/>
          </a:p>
          <a:p>
            <a:pPr indent="0" marL="0">
              <a:buNone/>
            </a:pPr>
            <a:r>
              <a:rPr lang="en-US" sz="1100" i="1" dirty="0">
                <a:solidFill>
                  <a:srgbClr val="5A6472"/>
                </a:solidFill>
                <a:latin typeface="Calibri" pitchFamily="34" charset="0"/>
                <a:cs typeface="Amiri" pitchFamily="2" charset="-78"/>
              </a:rPr>
              <a:t>-ūna</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الْمُعَلِّمُونَ</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ـِينَ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accusative / genitive ending</a:t>
            </a:r>
            <a:endParaRPr lang="en-US" sz="1350" dirty="0"/>
          </a:p>
          <a:p>
            <a:pPr indent="0" marL="0">
              <a:buNone/>
            </a:pPr>
            <a:r>
              <a:rPr lang="en-US" sz="1100" i="1" dirty="0">
                <a:solidFill>
                  <a:srgbClr val="5A6472"/>
                </a:solidFill>
                <a:latin typeface="Calibri" pitchFamily="34" charset="0"/>
                <a:cs typeface="Amiri" pitchFamily="2" charset="-78"/>
              </a:rPr>
              <a:t>-īna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الْمُعَلِّمِينَ</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فَاعِلٌ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subject of a verb</a:t>
            </a:r>
            <a:endParaRPr lang="en-US" sz="1350" dirty="0"/>
          </a:p>
          <a:p>
            <a:pPr indent="0" marL="0">
              <a:buNone/>
            </a:pPr>
            <a:r>
              <a:rPr lang="en-US" sz="1100" i="1" dirty="0">
                <a:solidFill>
                  <a:srgbClr val="5A6472"/>
                </a:solidFill>
                <a:latin typeface="Calibri" pitchFamily="34" charset="0"/>
                <a:cs typeface="Amiri" pitchFamily="2" charset="-78"/>
              </a:rPr>
              <a:t>fā-ʿi-lun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حَضَرَ الْمُعَلِّمُونَ</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مَفْعُولٌ بِهِ</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object of a verb</a:t>
            </a:r>
            <a:endParaRPr lang="en-US" sz="1350" dirty="0"/>
          </a:p>
          <a:p>
            <a:pPr indent="0" marL="0">
              <a:buNone/>
            </a:pPr>
            <a:r>
              <a:rPr lang="en-US" sz="1100" i="1" dirty="0">
                <a:solidFill>
                  <a:srgbClr val="5A6472"/>
                </a:solidFill>
                <a:latin typeface="Calibri" pitchFamily="34" charset="0"/>
                <a:cs typeface="Amiri" pitchFamily="2" charset="-78"/>
              </a:rPr>
              <a:t>maf-ʿū-lun bi-hi</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رَأَيْتُ الْمُعَلِّمِينَ</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عَاقِلٌ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human (rational)</a:t>
            </a:r>
            <a:endParaRPr lang="en-US" sz="1350" dirty="0"/>
          </a:p>
          <a:p>
            <a:pPr indent="0" marL="0">
              <a:buNone/>
            </a:pPr>
            <a:r>
              <a:rPr lang="en-US" sz="1100" i="1" dirty="0">
                <a:solidFill>
                  <a:srgbClr val="5A6472"/>
                </a:solidFill>
                <a:latin typeface="Calibri" pitchFamily="34" charset="0"/>
                <a:cs typeface="Amiri" pitchFamily="2" charset="-78"/>
              </a:rPr>
              <a:t>ʿā-qi-lun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people, not things</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FORMATION AND MEANING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Keep the word whole, add an ending</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الصِّيغَةُ وَالْمَعْنَى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5139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Object / after prep. (-īna)</a:t>
            </a:r>
            <a:endParaRPr lang="en-US" sz="1100" dirty="0"/>
          </a:p>
        </p:txBody>
      </p:sp>
      <p:sp>
        <p:nvSpPr>
          <p:cNvPr id="17" name="Text 14"/>
          <p:cNvSpPr txBox="1"/>
          <p:nvPr/>
        </p:nvSpPr>
        <p:spPr>
          <a:xfrm>
            <a:off x="6016752" y="1810512"/>
            <a:ext cx="2688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 (-ūna)</a:t>
            </a:r>
            <a:endParaRPr lang="en-US" sz="1100" dirty="0"/>
          </a:p>
        </p:txBody>
      </p:sp>
      <p:sp>
        <p:nvSpPr>
          <p:cNvPr id="18" name="Text 15"/>
          <p:cNvSpPr txBox="1"/>
          <p:nvPr/>
        </p:nvSpPr>
        <p:spPr>
          <a:xfrm>
            <a:off x="345643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Singular</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869680" y="2267712"/>
            <a:ext cx="27706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مُعَلِّمِينَ</a:t>
            </a:r>
            <a:endParaRPr lang="ar-SA" sz="2400" dirty="0"/>
          </a:p>
        </p:txBody>
      </p:sp>
      <p:sp>
        <p:nvSpPr>
          <p:cNvPr id="22" name="Text 19"/>
          <p:cNvSpPr txBox="1"/>
          <p:nvPr/>
        </p:nvSpPr>
        <p:spPr>
          <a:xfrm>
            <a:off x="6035040" y="2267712"/>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مُعَلِّمُونَ</a:t>
            </a:r>
            <a:endParaRPr lang="ar-SA" sz="2400" dirty="0"/>
          </a:p>
        </p:txBody>
      </p:sp>
      <p:sp>
        <p:nvSpPr>
          <p:cNvPr id="23" name="Text 20"/>
          <p:cNvSpPr txBox="1"/>
          <p:nvPr/>
        </p:nvSpPr>
        <p:spPr>
          <a:xfrm>
            <a:off x="347472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مُعَلِّمٌ</a:t>
            </a:r>
            <a:endParaRPr lang="ar-SA" sz="2400" dirty="0"/>
          </a:p>
        </p:txBody>
      </p:sp>
      <p:sp>
        <p:nvSpPr>
          <p:cNvPr id="24" name="Text 21"/>
          <p:cNvSpPr txBox="1"/>
          <p:nvPr/>
        </p:nvSpPr>
        <p:spPr>
          <a:xfrm>
            <a:off x="56692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male / mixed teachers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869680" y="3004718"/>
            <a:ext cx="27706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مُهَنْدِسِينَ</a:t>
            </a:r>
            <a:endParaRPr lang="ar-SA" sz="2400" dirty="0"/>
          </a:p>
        </p:txBody>
      </p:sp>
      <p:sp>
        <p:nvSpPr>
          <p:cNvPr id="29" name="Text 26"/>
          <p:cNvSpPr txBox="1"/>
          <p:nvPr/>
        </p:nvSpPr>
        <p:spPr>
          <a:xfrm>
            <a:off x="6035040" y="3004718"/>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مُهَنْدِسُونَ</a:t>
            </a:r>
            <a:endParaRPr lang="ar-SA" sz="2400" dirty="0"/>
          </a:p>
        </p:txBody>
      </p:sp>
      <p:sp>
        <p:nvSpPr>
          <p:cNvPr id="30" name="Text 27"/>
          <p:cNvSpPr txBox="1"/>
          <p:nvPr/>
        </p:nvSpPr>
        <p:spPr>
          <a:xfrm>
            <a:off x="347472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مُهَنْدِسٌ</a:t>
            </a:r>
            <a:endParaRPr lang="ar-SA" sz="2400" dirty="0"/>
          </a:p>
        </p:txBody>
      </p:sp>
      <p:sp>
        <p:nvSpPr>
          <p:cNvPr id="31" name="Text 28"/>
          <p:cNvSpPr txBox="1"/>
          <p:nvPr/>
        </p:nvSpPr>
        <p:spPr>
          <a:xfrm>
            <a:off x="56692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engineers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869680" y="3741725"/>
            <a:ext cx="27706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مُجْتَهِدِينَ</a:t>
            </a:r>
            <a:endParaRPr lang="ar-SA" sz="2400" dirty="0"/>
          </a:p>
        </p:txBody>
      </p:sp>
      <p:sp>
        <p:nvSpPr>
          <p:cNvPr id="36" name="Text 33"/>
          <p:cNvSpPr txBox="1"/>
          <p:nvPr/>
        </p:nvSpPr>
        <p:spPr>
          <a:xfrm>
            <a:off x="6035040" y="3741725"/>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مُجْتَهِدُونَ</a:t>
            </a:r>
            <a:endParaRPr lang="ar-SA" sz="2400" dirty="0"/>
          </a:p>
        </p:txBody>
      </p:sp>
      <p:sp>
        <p:nvSpPr>
          <p:cNvPr id="37" name="Text 34"/>
          <p:cNvSpPr txBox="1"/>
          <p:nvPr/>
        </p:nvSpPr>
        <p:spPr>
          <a:xfrm>
            <a:off x="347472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مُجْتَهِدٌ</a:t>
            </a:r>
            <a:endParaRPr lang="ar-SA" sz="2400" dirty="0"/>
          </a:p>
        </p:txBody>
      </p:sp>
      <p:sp>
        <p:nvSpPr>
          <p:cNvPr id="38" name="Text 35"/>
          <p:cNvSpPr txBox="1"/>
          <p:nvPr/>
        </p:nvSpPr>
        <p:spPr>
          <a:xfrm>
            <a:off x="56692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hard-working people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869680" y="4478731"/>
            <a:ext cx="27706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لَاعِبِينَ</a:t>
            </a:r>
            <a:endParaRPr lang="ar-SA" sz="2400" dirty="0"/>
          </a:p>
        </p:txBody>
      </p:sp>
      <p:sp>
        <p:nvSpPr>
          <p:cNvPr id="41" name="Text 38"/>
          <p:cNvSpPr txBox="1"/>
          <p:nvPr/>
        </p:nvSpPr>
        <p:spPr>
          <a:xfrm>
            <a:off x="6035040" y="4478731"/>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لَاعِبُونَ</a:t>
            </a:r>
            <a:endParaRPr lang="ar-SA" sz="2400" dirty="0"/>
          </a:p>
        </p:txBody>
      </p:sp>
      <p:sp>
        <p:nvSpPr>
          <p:cNvPr id="42" name="Text 39"/>
          <p:cNvSpPr txBox="1"/>
          <p:nvPr/>
        </p:nvSpPr>
        <p:spPr>
          <a:xfrm>
            <a:off x="347472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لَاعِبٌ</a:t>
            </a:r>
            <a:endParaRPr lang="ar-SA" sz="2400" dirty="0"/>
          </a:p>
        </p:txBody>
      </p:sp>
      <p:sp>
        <p:nvSpPr>
          <p:cNvPr id="43" name="Text 40"/>
          <p:cNvSpPr txBox="1"/>
          <p:nvPr/>
        </p:nvSpPr>
        <p:spPr>
          <a:xfrm>
            <a:off x="56692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players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869680" y="5215738"/>
            <a:ext cx="27706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مُوَظَّفِينَ</a:t>
            </a:r>
            <a:endParaRPr lang="ar-SA" sz="2400" dirty="0"/>
          </a:p>
        </p:txBody>
      </p:sp>
      <p:sp>
        <p:nvSpPr>
          <p:cNvPr id="46" name="Text 43"/>
          <p:cNvSpPr txBox="1"/>
          <p:nvPr/>
        </p:nvSpPr>
        <p:spPr>
          <a:xfrm>
            <a:off x="6035040" y="5215738"/>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مُوَظَّفُونَ</a:t>
            </a:r>
            <a:endParaRPr lang="ar-SA" sz="2400" dirty="0"/>
          </a:p>
        </p:txBody>
      </p:sp>
      <p:sp>
        <p:nvSpPr>
          <p:cNvPr id="47" name="Text 44"/>
          <p:cNvSpPr txBox="1"/>
          <p:nvPr/>
        </p:nvSpPr>
        <p:spPr>
          <a:xfrm>
            <a:off x="347472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مُوَظَّفٌ</a:t>
            </a:r>
            <a:endParaRPr lang="ar-SA" sz="2400" dirty="0"/>
          </a:p>
        </p:txBody>
      </p:sp>
      <p:sp>
        <p:nvSpPr>
          <p:cNvPr id="48" name="Text 45"/>
          <p:cNvSpPr txBox="1"/>
          <p:nvPr/>
        </p:nvSpPr>
        <p:spPr>
          <a:xfrm>
            <a:off x="56692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employees</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“Sound” means the stem stays substantially intact (website) — it does not mean every masculine noun uses this plural.</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 PART 2 · CHOOSE -ŪNA OR -ĪNA FROM THE NOUN’S JOB (WEBSITE SECTION)</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The job in the sentence chooses the ending</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ـُونَ أَمْ ـِينَ؟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Subject (who does the action) → -ūna: the teachers attended (first example).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Object (who receives the action) → -īna: I saw the teachers.</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After a preposition such as maʿa, min, ilā, fī → -īna: I spoke with the teachers.</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nūn stays in ordinary use — but drops when the plural is the FIRST noun of an iḍāfa.</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This plural is used mainly for male or mixed groups of PEOPLE: professions, nationalities, describing words.</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حَضَرَ الْمُعَلِّمُونَ.</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teachers attended.  ·  subject</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رَأَيْتُ الْمُعَلِّمِينَ.</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saw the teachers.  ·  object</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تَحَدَّثْتُ مَعَ الْمُعَلِّمِينَ.</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spoke with the teachers.  ·  after a preposition</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مُعَلِّمُو الْمَدْرَسَةِ</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school’s teachers  ·  iḍāfa: nūn drops</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WATCH OUT</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Spelling alert (website): the nūn remains in ordinary use, but drops when the sound plural is the first term of an iḍāfa.</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AGREEMENT WITH PEOPLE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Plural people, plural adjective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مُطَابَقَةُ الصِّفَةِ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382219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adjective</a:t>
            </a:r>
            <a:endParaRPr lang="en-US" sz="1100" dirty="0"/>
          </a:p>
        </p:txBody>
      </p:sp>
      <p:sp>
        <p:nvSpPr>
          <p:cNvPr id="21" name="Text 18"/>
          <p:cNvSpPr txBox="1"/>
          <p:nvPr/>
        </p:nvSpPr>
        <p:spPr>
          <a:xfrm>
            <a:off x="3840480" y="2267712"/>
            <a:ext cx="43891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الطُّلَّابُ نَشِيطُونَ.</a:t>
            </a:r>
            <a:endParaRPr lang="ar-SA" sz="240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are active.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a:t>
            </a:r>
            <a:pPr algn="l" indent="0" marL="0">
              <a:buNone/>
            </a:pPr>
            <a:r>
              <a:rPr lang="ar-SA" altLang="en-US" sz="1450" dirty="0">
                <a:solidFill>
                  <a:srgbClr val="5A6472"/>
                </a:solidFill>
                <a:latin typeface="Amiri" pitchFamily="2" charset="-78"/>
                <a:cs typeface="Amiri" pitchFamily="2" charset="-78"/>
              </a:rPr>
              <a:t>ـُونَ</a:t>
            </a:r>
            <a:endParaRPr lang="en-US" sz="1100" dirty="0"/>
          </a:p>
        </p:txBody>
      </p:sp>
      <p:sp>
        <p:nvSpPr>
          <p:cNvPr id="27" name="Text 24"/>
          <p:cNvSpPr txBox="1"/>
          <p:nvPr/>
        </p:nvSpPr>
        <p:spPr>
          <a:xfrm>
            <a:off x="3840480" y="3054096"/>
            <a:ext cx="43891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الْمُعَلِّمُونَ الْمُجْتَهِدُونَ</a:t>
            </a:r>
            <a:endParaRPr lang="ar-SA" sz="24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hard-working teachers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broken plural</a:t>
            </a:r>
            <a:endParaRPr lang="en-US" sz="1100" dirty="0"/>
          </a:p>
        </p:txBody>
      </p:sp>
      <p:sp>
        <p:nvSpPr>
          <p:cNvPr id="33" name="Text 30"/>
          <p:cNvSpPr txBox="1"/>
          <p:nvPr/>
        </p:nvSpPr>
        <p:spPr>
          <a:xfrm>
            <a:off x="3840480" y="3840480"/>
            <a:ext cx="43891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 اللَّاعِبِينَ الْجُدُدِ</a:t>
            </a:r>
            <a:endParaRPr lang="ar-SA" sz="2400" dirty="0"/>
          </a:p>
        </p:txBody>
      </p:sp>
      <p:sp>
        <p:nvSpPr>
          <p:cNvPr id="34" name="Text 31"/>
          <p:cNvSpPr txBox="1"/>
          <p:nvPr/>
        </p:nvSpPr>
        <p:spPr>
          <a:xfrm>
            <a:off x="566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the new players</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a:t>
            </a:r>
            <a:pPr algn="l" indent="0" marL="0">
              <a:buNone/>
            </a:pPr>
            <a:r>
              <a:rPr lang="ar-SA" altLang="en-US" sz="1450" dirty="0">
                <a:solidFill>
                  <a:srgbClr val="5A6472"/>
                </a:solidFill>
                <a:latin typeface="Amiri" pitchFamily="2" charset="-78"/>
                <a:cs typeface="Amiri" pitchFamily="2" charset="-78"/>
              </a:rPr>
              <a:t>ـِينَ</a:t>
            </a:r>
            <a:pPr algn="l" indent="0" marL="0">
              <a:buNone/>
            </a:pPr>
            <a:r>
              <a:rPr lang="en-US" sz="1100" dirty="0">
                <a:solidFill>
                  <a:srgbClr val="5A6472"/>
                </a:solidFill>
                <a:latin typeface="Calibri" pitchFamily="34" charset="0"/>
                <a:cs typeface="Amiri" pitchFamily="2" charset="-78"/>
              </a:rPr>
              <a:t> (object)</a:t>
            </a:r>
            <a:endParaRPr lang="en-US" sz="1100" dirty="0"/>
          </a:p>
        </p:txBody>
      </p:sp>
      <p:sp>
        <p:nvSpPr>
          <p:cNvPr id="37" name="Text 34"/>
          <p:cNvSpPr txBox="1"/>
          <p:nvPr/>
        </p:nvSpPr>
        <p:spPr>
          <a:xfrm>
            <a:off x="3840480" y="4626864"/>
            <a:ext cx="43891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قَابَلْتُ مُهَنْدِسِينَ مِصْرِيِّينَ.</a:t>
            </a:r>
            <a:endParaRPr lang="ar-SA" sz="2400" dirty="0"/>
          </a:p>
        </p:txBody>
      </p:sp>
      <p:sp>
        <p:nvSpPr>
          <p:cNvPr id="38" name="Text 35"/>
          <p:cNvSpPr txBox="1"/>
          <p:nvPr/>
        </p:nvSpPr>
        <p:spPr>
          <a:xfrm>
            <a:off x="56692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met Egyptian engineers.</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adjective of a human masculine plural is plural too — and shares the same case.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Subject: “The engineers arrived.”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 الْمُهَنْدِسِينَ.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وَصَلَتِ الْمُهَنْدِسَاتُ.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 الْمُهَنْدِسُونَ.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 choose.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الْمُوَظَّفِينَ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الْمُوَظَّفُونَ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الْمُوَظَّفَاتُ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“I thanked the teachers.”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شَكَرْتُ الْمُعَلِّمُونَ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شَكَرْتُ الْمُعَلِّمِينَ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شَكَرْتُ الْمُعَلِّمَاتِ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agreement.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الطُّلَّابُ نَشِيطُونَ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الطُّلَّابُ نَشِيطَةٌ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الطُّلَّابُ نَشِيطٌ</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Subject: “The engineers arrived.”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 الْمُهَنْدِسِينَ.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وَصَلَتِ الْمُهَنْدِسَاتُ.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وَصَلَ الْمُهَنْدِسُونَ.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Nominative subject.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 choose.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الْمُوَظَّفِينَ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الْمُوَظَّفُونَ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الْمُوَظَّفَاتُ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Genitive.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“I thanked the teachers.”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شَكَرْتُ الْمُعَلِّمُونَ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شَكَرْتُ الْمُعَلِّمِينَ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شَكَرْتُ الْمُعَلِّمَاتِ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Accusative.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agreement.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الطُّلَّابُ نَشِيطُونَ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الطُّلَّابُ نَشِيطَةٌ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الطُّلَّابُ نَشِيطٌ</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masculine plural.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choose the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Singular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مُهَنْدِسٌ</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male profession.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Subject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وَصَلَ الْمُهَنْدِسُونَ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They arrived → -ūna.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After </a:t>
            </a:r>
            <a:pPr algn="l" indent="0" marL="0">
              <a:buNone/>
            </a:pPr>
            <a:r>
              <a:rPr lang="ar-SA" altLang="en-US" sz="1650" b="1" dirty="0">
                <a:solidFill>
                  <a:srgbClr val="6B4C9A"/>
                </a:solidFill>
                <a:latin typeface="Amiri" pitchFamily="2" charset="-78"/>
                <a:cs typeface="Amiri" pitchFamily="2" charset="-78"/>
              </a:rPr>
              <a:t>مَعَ</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مَعَ الْمُهَنْدِسِينَ</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Preposition → -īna.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Iḍāfa</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مُهَنْدِسُو الشَّرِكَةِ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First noun → no nūn.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-ŪNA (subject)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-ĪNA (other)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وَصَلَ </a:t>
            </a:r>
            <a:pPr rtl="1" algn="r" indent="0" marL="0">
              <a:buNone/>
            </a:pPr>
            <a:r>
              <a:rPr lang="ar-SA" altLang="en-US" sz="2600" b="1" dirty="0">
                <a:solidFill>
                  <a:srgbClr val="0E7C86"/>
                </a:solidFill>
                <a:latin typeface="Amiri" pitchFamily="2" charset="-78"/>
                <a:cs typeface="Amiri" pitchFamily="2" charset="-78"/>
              </a:rPr>
              <a:t>الْمُهَنْدِسُونَ</a:t>
            </a:r>
            <a:pPr rtl="1" algn="r" indent="0" marL="0">
              <a:buNone/>
            </a:pPr>
            <a:r>
              <a:rPr lang="ar-SA" altLang="en-US" sz="2600" b="1" dirty="0">
                <a:solidFill>
                  <a:srgbClr val="1B3B6F"/>
                </a:solidFill>
                <a:latin typeface="Amiri" pitchFamily="2" charset="-78"/>
                <a:cs typeface="Amiri" pitchFamily="2" charset="-78"/>
              </a:rPr>
              <a:t> صَبَاحًا، وَعَمِلْتُ مَعَ </a:t>
            </a:r>
            <a:pPr rtl="1" algn="r" indent="0" marL="0">
              <a:buNone/>
            </a:pPr>
            <a:r>
              <a:rPr lang="ar-SA" altLang="en-US" sz="2600" b="1" dirty="0">
                <a:solidFill>
                  <a:srgbClr val="D6336C"/>
                </a:solidFill>
                <a:latin typeface="Amiri" pitchFamily="2" charset="-78"/>
                <a:cs typeface="Amiri" pitchFamily="2" charset="-78"/>
              </a:rPr>
              <a:t>الْمُهَنْدِسِينَ</a:t>
            </a:r>
            <a:pPr rtl="1" algn="r" indent="0" marL="0">
              <a:buNone/>
            </a:pPr>
            <a:r>
              <a:rPr lang="ar-SA" altLang="en-US" sz="2600" b="1" dirty="0">
                <a:solidFill>
                  <a:srgbClr val="1B3B6F"/>
                </a:solidFill>
                <a:latin typeface="Amiri" pitchFamily="2" charset="-78"/>
                <a:cs typeface="Amiri" pitchFamily="2" charset="-78"/>
              </a:rPr>
              <a:t> طُولَ الْيَوْمِ. مُهَنْدِسُو الشَّرِكَةِ </a:t>
            </a:r>
            <a:pPr rtl="1" algn="r" indent="0" marL="0">
              <a:buNone/>
            </a:pPr>
            <a:r>
              <a:rPr lang="ar-SA" altLang="en-US" sz="2600" b="1" dirty="0">
                <a:solidFill>
                  <a:srgbClr val="0E7C86"/>
                </a:solidFill>
                <a:latin typeface="Amiri" pitchFamily="2" charset="-78"/>
                <a:cs typeface="Amiri" pitchFamily="2" charset="-78"/>
              </a:rPr>
              <a:t>مُجْتَهِدُونَ</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engineers arrived in the morning, and I worked with the engineers all day. The company’s engineers are hard-working.</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الْمُعَلِّمُونَ فِي الْفَصْلِ.</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teachers are in the class.</a:t>
            </a:r>
            <a:endParaRPr lang="en-US" sz="1250" dirty="0"/>
          </a:p>
          <a:p>
            <a:pPr indent="0" marL="0">
              <a:buNone/>
            </a:pPr>
            <a:r>
              <a:rPr lang="en-US" sz="1050" i="1" dirty="0">
                <a:solidFill>
                  <a:srgbClr val="8A6D1E"/>
                </a:solidFill>
                <a:latin typeface="Calibri" pitchFamily="34" charset="0"/>
                <a:cs typeface="Amiri" pitchFamily="2" charset="-78"/>
              </a:rPr>
              <a:t>Subject → -ūna.</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شَكَرْتُ الْمُعَلِّمِينَ.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thanked the teachers.</a:t>
            </a:r>
            <a:endParaRPr lang="en-US" sz="1250" dirty="0"/>
          </a:p>
          <a:p>
            <a:pPr indent="0" marL="0">
              <a:buNone/>
            </a:pPr>
            <a:r>
              <a:rPr lang="en-US" sz="1050" i="1" dirty="0">
                <a:solidFill>
                  <a:srgbClr val="8A6D1E"/>
                </a:solidFill>
                <a:latin typeface="Calibri" pitchFamily="34" charset="0"/>
                <a:cs typeface="Amiri" pitchFamily="2" charset="-78"/>
              </a:rPr>
              <a:t>Object → -īna.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ذَهَبْتُ إِلَى الْمُوَظَّفِينَ.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went to the employees.</a:t>
            </a:r>
            <a:endParaRPr lang="en-US" sz="1250" dirty="0"/>
          </a:p>
          <a:p>
            <a:pPr indent="0" marL="0">
              <a:buNone/>
            </a:pPr>
            <a:r>
              <a:rPr lang="en-US" sz="1050" i="1" dirty="0">
                <a:solidFill>
                  <a:srgbClr val="8A6D1E"/>
                </a:solidFill>
                <a:latin typeface="Calibri" pitchFamily="34" charset="0"/>
                <a:cs typeface="Amiri" pitchFamily="2" charset="-78"/>
              </a:rPr>
              <a:t>After إِلَى → -īna.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لَاعِبُو الْفَرِيقِ مَشْهُورُونَ.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team’s players are famous.</a:t>
            </a:r>
            <a:endParaRPr lang="en-US" sz="1250" dirty="0"/>
          </a:p>
          <a:p>
            <a:pPr indent="0" marL="0">
              <a:buNone/>
            </a:pPr>
            <a:r>
              <a:rPr lang="en-US" sz="1050" i="1" dirty="0">
                <a:solidFill>
                  <a:srgbClr val="8A6D1E"/>
                </a:solidFill>
                <a:latin typeface="Calibri" pitchFamily="34" charset="0"/>
                <a:cs typeface="Amiri" pitchFamily="2" charset="-78"/>
              </a:rPr>
              <a:t>Iḍāfa: nūn drops.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-ŪNA OR -ĪNA?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حَضَرَ الْمُعَلِّمُونَ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رَأَيْتُ اللَّاعِبِينَ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الْمُوَظَّفِينَ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الْمُهَنْدِسُونَ مَشْغُولُونَ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شَكَرْتُ الْمُعَلِّمِينَ</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وَصَلَ الْمُسَافِرُونَ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الْمُسْلِمِينَ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الْفَلَّاحُونَ نَشِيطُونَ</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-ūna (subject)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-īna (object / after a preposition)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-ūna (subject)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حَضَرَ الْمُعَلِّمُونَ</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الْمُهَنْدِسُونَ مَشْغُولُونَ</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وَصَلَ الْمُسَافِرُونَ</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الْفَلَّاحُونَ نَشِيطُونَ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-īna (object / after a preposition)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رَأَيْتُ اللَّاعِبِينَ</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الْمُوَظَّفِينَ</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شَكَرْتُ الْمُعَلِّمِينَ</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الْمُسْلِمِينَ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شَكَرْتُ الْمُعَلِّمُونَ.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Subject or object?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مُعَلِّمُونَ الْمَدْرَسَةِ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First noun of an iḍāfa?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الْمُعَلِّمُونَ مُجْتَهِدٌ.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adjective agree?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شَكَرْتُ الْمُعَلِّمُونَ.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شَكَرْتُ الْمُعَلِّمِينَ.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Object → -īna.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مُعَلِّمُونَ الْمَدْرَسَةِ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مُعَلِّمُو الْمَدْرَسَةِ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first noun of an iḍāfa drops its nūn.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الْمُعَلِّمُونَ مُجْتَهِدٌ.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الْمُعَلِّمُونَ مُجْتَهِدُونَ.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People in the plural take a plural adjective.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MASTERY CHECK QUESTIONS 5–8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Idāfa form “school teachers”.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مُعَلِّمُونَ الْمَدْرَسَةِ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الْمُعَلِّمُونَ الْمَدْرَسَةِ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مُعَلِّمُو الْمَدْرَسَةِ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Sound masculine plural of </a:t>
            </a:r>
            <a:pPr algn="l" indent="0" marL="0">
              <a:buNone/>
            </a:pPr>
            <a:r>
              <a:rPr lang="ar-SA" altLang="en-US" sz="1650" b="1" dirty="0">
                <a:solidFill>
                  <a:srgbClr val="1B3B6F"/>
                </a:solidFill>
                <a:latin typeface="Amiri" pitchFamily="2" charset="-78"/>
                <a:cs typeface="Amiri" pitchFamily="2" charset="-78"/>
              </a:rPr>
              <a:t>مُجْتَهِدٌ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مُجْتَهِدَاتٌ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مُجْتَهِدُونَ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مَجَاهِدُ</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automatically sound masculine?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مُهَنْدِسٌ</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cs typeface="Amiri" pitchFamily="2" charset="-78"/>
              </a:rPr>
              <a:t>ـينَ</a:t>
            </a:r>
            <a:pPr algn="l" indent="0" marL="0">
              <a:buNone/>
            </a:pPr>
            <a:r>
              <a:rPr lang="en-US" sz="1250" b="1" dirty="0">
                <a:solidFill>
                  <a:srgbClr val="1B3B6F"/>
                </a:solidFill>
                <a:latin typeface="Calibri" pitchFamily="34" charset="0"/>
                <a:cs typeface="Amiri" pitchFamily="2" charset="-78"/>
              </a:rPr>
              <a:t> marks:</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nominative</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dual nominative</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accusative/genitive</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Idāfa form “school teachers”.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مُعَلِّمُونَ الْمَدْرَسَةِ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الْمُعَلِّمُونَ الْمَدْرَسَةِ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مُعَلِّمُو الْمَدْرَسَةِ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Nūn drops in idāfa.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Sound masculine plural of </a:t>
            </a:r>
            <a:pPr algn="l" indent="0" marL="0">
              <a:buNone/>
            </a:pPr>
            <a:r>
              <a:rPr lang="ar-SA" altLang="en-US" sz="1650" b="1" dirty="0">
                <a:solidFill>
                  <a:srgbClr val="1B3B6F"/>
                </a:solidFill>
                <a:latin typeface="Amiri" pitchFamily="2" charset="-78"/>
                <a:cs typeface="Amiri" pitchFamily="2" charset="-78"/>
              </a:rPr>
              <a:t>مُجْتَهِدٌ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مُجْتَهِدَاتٌ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مُجْتَهِدُونَ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مَجَاهِدُ</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Regular ending.</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automatically sound masculine?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مُعَلِّمٌ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كِتَابٌ</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مُهَنْدِسٌ</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objects often use other plural patterns.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cs typeface="Amiri" pitchFamily="2" charset="-78"/>
              </a:rPr>
              <a:t>ـينَ</a:t>
            </a:r>
            <a:pPr algn="l" indent="0" marL="0">
              <a:buNone/>
            </a:pPr>
            <a:r>
              <a:rPr lang="en-US" sz="1250" b="1" dirty="0">
                <a:solidFill>
                  <a:srgbClr val="1B3B6F"/>
                </a:solidFill>
                <a:latin typeface="Calibri" pitchFamily="34" charset="0"/>
                <a:cs typeface="Amiri" pitchFamily="2" charset="-78"/>
              </a:rPr>
              <a:t> marks:</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nominative</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dual nominative</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accusative/genitive</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Case-sensitive plural ending.</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cs typeface="Amiri" pitchFamily="2" charset="-78"/>
              </a:rPr>
              <a:t>YOU DO · READ AND NOTICE · WEBSITE READ-AND-NOTICE TEXT, EXTENDED BY THE TEACHER</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school’s teachers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مَدْرَسَتِنَا مُعَلِّمُونَ مُجْتَهِدُونَ وَمُعَلِّمَاتٌ خَبِيرَاتٌ. يَصِلُ الْمُعَلِّمُونَ مُبَكِّرِينَ كُلَّ يَوْمٍ. فِي الِاسْتِرَاحَةِ يَتَحَدَّثُ الطُّلَّابُ مَعَ الْمُعَلِّمِينَ، وَيَلْعَبُ لَاعِبُو فَرِيقِ الْمَدْرَسَةِ فِي الْمَلْعَبِ. الْمُوَظَّفُونَ فِي الْمَكْتَبِ لُطَفَاءُ.</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مُجْتَهِدُونَ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hard-working</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خَبِيرَاتٌ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expert (f.)</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يَصِلُ</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arrive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مُبَكِّرِينَ</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early</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الِاسْتِرَاحَةِ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break</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لَاعِبُو فَرِيقِ الْمَدْرَسَةِ</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school team’s players</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لُطَفَاءُ</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kind</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الْمُعَلِّمِينَ</a:t>
            </a:r>
            <a:pPr algn="l" indent="0" marL="0">
              <a:buNone/>
            </a:pPr>
            <a:r>
              <a:rPr lang="en-US" sz="1250" b="1" dirty="0">
                <a:solidFill>
                  <a:srgbClr val="1B3B6F"/>
                </a:solidFill>
                <a:latin typeface="Calibri" pitchFamily="34" charset="0"/>
                <a:cs typeface="Amiri" pitchFamily="2" charset="-78"/>
              </a:rPr>
              <a:t> in the third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subject.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comes after </a:t>
            </a:r>
            <a:pPr algn="l" indent="0" marL="0">
              <a:buNone/>
            </a:pPr>
            <a:r>
              <a:rPr lang="ar-SA" altLang="en-US" sz="1650" dirty="0">
                <a:solidFill>
                  <a:srgbClr val="1F2A37"/>
                </a:solidFill>
                <a:latin typeface="Amiri" pitchFamily="2" charset="-78"/>
                <a:cs typeface="Amiri" pitchFamily="2" charset="-78"/>
              </a:rPr>
              <a:t>مَعَ</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feminine.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يَصِلُ الْمُعَلِّمُونَ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comes after a preposition.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an object.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الْمُعَلِّمُونَ</a:t>
            </a:r>
            <a:pPr algn="l" indent="0" marL="0">
              <a:buNone/>
            </a:pPr>
            <a:r>
              <a:rPr lang="en-US" sz="1250" dirty="0">
                <a:solidFill>
                  <a:srgbClr val="1F2A37"/>
                </a:solidFill>
                <a:latin typeface="Calibri" pitchFamily="34" charset="0"/>
                <a:cs typeface="Amiri" pitchFamily="2" charset="-78"/>
              </a:rPr>
              <a:t> is the subject.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there no nūn in </a:t>
            </a:r>
            <a:pPr algn="l" indent="0" marL="0">
              <a:buNone/>
            </a:pPr>
            <a:r>
              <a:rPr lang="ar-SA" altLang="en-US" sz="1650" b="1" dirty="0">
                <a:solidFill>
                  <a:srgbClr val="1B3B6F"/>
                </a:solidFill>
                <a:latin typeface="Amiri" pitchFamily="2" charset="-78"/>
                <a:cs typeface="Amiri" pitchFamily="2" charset="-78"/>
              </a:rPr>
              <a:t>لَاعِبُو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first noun of an iḍāfa.</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singular.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sound masculine plural adjective?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لُطَفَاءُ</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مُجْتَهِدُونَ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خَبِيرَاتٌ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الْمُعَلِّمِينَ</a:t>
            </a:r>
            <a:pPr algn="l" indent="0" marL="0">
              <a:buNone/>
            </a:pPr>
            <a:r>
              <a:rPr lang="en-US" sz="1250" b="1" dirty="0">
                <a:solidFill>
                  <a:srgbClr val="1B3B6F"/>
                </a:solidFill>
                <a:latin typeface="Calibri" pitchFamily="34" charset="0"/>
                <a:cs typeface="Amiri" pitchFamily="2" charset="-78"/>
              </a:rPr>
              <a:t> in the third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subject.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comes after </a:t>
            </a:r>
            <a:pPr algn="l" indent="0" marL="0">
              <a:buNone/>
            </a:pPr>
            <a:r>
              <a:rPr lang="ar-SA" altLang="en-US" sz="1650" b="1" dirty="0">
                <a:solidFill>
                  <a:srgbClr val="1F2A37"/>
                </a:solidFill>
                <a:latin typeface="Amiri" pitchFamily="2" charset="-78"/>
                <a:cs typeface="Amiri" pitchFamily="2" charset="-78"/>
              </a:rPr>
              <a:t>مَعَ</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feminine.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 preposition → -īna.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يَصِلُ الْمُعَلِّمُونَ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comes after a preposition.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an object.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الْمُعَلِّمُونَ</a:t>
            </a:r>
            <a:pPr algn="l" indent="0" marL="0">
              <a:buNone/>
            </a:pPr>
            <a:r>
              <a:rPr lang="en-US" sz="1250" b="1" dirty="0">
                <a:solidFill>
                  <a:srgbClr val="1F2A37"/>
                </a:solidFill>
                <a:latin typeface="Calibri" pitchFamily="34" charset="0"/>
                <a:cs typeface="Amiri" pitchFamily="2" charset="-78"/>
              </a:rPr>
              <a:t> is the subject.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Subject → -ūna.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there no nūn in </a:t>
            </a:r>
            <a:pPr algn="l" indent="0" marL="0">
              <a:buNone/>
            </a:pPr>
            <a:r>
              <a:rPr lang="ar-SA" altLang="en-US" sz="1650" b="1" dirty="0">
                <a:solidFill>
                  <a:srgbClr val="1B3B6F"/>
                </a:solidFill>
                <a:latin typeface="Amiri" pitchFamily="2" charset="-78"/>
                <a:cs typeface="Amiri" pitchFamily="2" charset="-78"/>
              </a:rPr>
              <a:t>لَاعِبُو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the first noun of an iḍāfa.</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singular.</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لَاعِبُو فَرِيقِ الْمَدْرَسَةِ.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sound masculine plural adjective?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لُطَفَاءُ</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مُجْتَهِدُونَ</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خَبِيرَاتٌ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Whole stem + -ūna.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people in my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فِي مَدْرَسَتِكَ؟ (مُعَلِّمُونَ، مُوَظَّفُونَ …)</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مَنْ تَتَحَدَّثُ فِي الْمَدْرَسَةِ؟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لَاعِبِي فَرِيقِكَ الْمُفَضَّلِ.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فِي مَدْرَسَتِي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أَتَحَدَّثُ مَعَ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لَاعِبُو ___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مَنْ فِي مَدْرَسَتِكَ؟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is in your school?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فِي مَدْرَسَتِي مُعَلِّمُونَ لُطَفَاءُ، وَأَتَحَدَّثُ مَعَ الْمُعَلِّمِينَ كُلَّ يَوْمٍ.</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In my school there are kind teachers, and I talk with the teachers every day.</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with a plural subject in </a:t>
            </a:r>
            <a:pPr algn="l" indent="0" marL="0">
              <a:buNone/>
            </a:pPr>
            <a:r>
              <a:rPr lang="ar-SA" altLang="en-US" sz="1800" b="1" dirty="0">
                <a:solidFill>
                  <a:srgbClr val="1F2A37"/>
                </a:solidFill>
                <a:latin typeface="Amiri" pitchFamily="2" charset="-78"/>
                <a:cs typeface="Amiri" pitchFamily="2" charset="-78"/>
              </a:rPr>
              <a:t>ـُونَ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مُعَلِّمُونَ · مُهَنْدِسُونَ · لَاعِبُونَ + an adjective.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Mix </a:t>
            </a:r>
            <a:pPr algn="l" indent="0" marL="0">
              <a:buNone/>
            </a:pPr>
            <a:r>
              <a:rPr lang="ar-SA" altLang="en-US" sz="1800" b="1" dirty="0">
                <a:solidFill>
                  <a:srgbClr val="1F2A37"/>
                </a:solidFill>
                <a:latin typeface="Amiri" pitchFamily="2" charset="-78"/>
                <a:cs typeface="Amiri" pitchFamily="2" charset="-78"/>
              </a:rPr>
              <a:t>ـُونَ</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cs typeface="Amiri" pitchFamily="2" charset="-78"/>
              </a:rPr>
              <a:t>ـِينَ</a:t>
            </a:r>
            <a:pPr algn="l" indent="0" marL="0">
              <a:buNone/>
            </a:pPr>
            <a:r>
              <a:rPr lang="en-US" sz="1400" b="1" dirty="0">
                <a:solidFill>
                  <a:srgbClr val="1F2A37"/>
                </a:solidFill>
                <a:latin typeface="Calibri" pitchFamily="34" charset="0"/>
                <a:cs typeface="Amiri" pitchFamily="2" charset="-78"/>
              </a:rPr>
              <a:t>: three after a preposition, two as objects.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Label each plural S, O or P.</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8–12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one iḍāfa plural (</a:t>
            </a:r>
            <a:pPr algn="l" indent="0" marL="0">
              <a:buNone/>
            </a:pPr>
            <a:r>
              <a:rPr lang="ar-SA" altLang="en-US" sz="1800" b="1" dirty="0">
                <a:solidFill>
                  <a:srgbClr val="1F2A37"/>
                </a:solidFill>
                <a:latin typeface="Amiri" pitchFamily="2" charset="-78"/>
                <a:cs typeface="Amiri" pitchFamily="2" charset="-78"/>
              </a:rPr>
              <a:t>مُعَلِّمُو</a:t>
            </a:r>
            <a:pPr algn="l" indent="0" marL="0">
              <a:buNone/>
            </a:pPr>
            <a:r>
              <a:rPr lang="en-US" sz="1400" b="1" dirty="0">
                <a:solidFill>
                  <a:srgbClr val="1F2A37"/>
                </a:solidFill>
                <a:latin typeface="Calibri" pitchFamily="34" charset="0"/>
                <a:cs typeface="Amiri" pitchFamily="2" charset="-78"/>
              </a:rPr>
              <a:t> …) and plural adjectives.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Check every nūn: does it stay or drop?</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أَتَحَدَّثُ مَعَ الْمُعَلِّمِينَ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talk with the teachers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شَكَرْتُ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thanked the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مُعَلِّمُو الْمَدْرَسَةِ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school’s teachers are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شَاهَدْتُ اللَّاعِبِينَ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watched the players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مَدْرَسَتِي مُعَلِّمُونَ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school there are … teachers.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اللَّاعِبُونَ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players are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يَعْمَلُ الْمُهَنْدِسُونَ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engineers work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الْمُوَظَّفُونَ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employees are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مُعَلِّمُونَ / مُعَلِّمِينَ  ·  مُهَنْدِسُونَ / مُهَنْدِسِينَ  ·  لَاعِبُونَ / لَاعِبِينَ  ·  مُوَظَّفُونَ / مُوَظَّفِينَ  ·  مُسَافِرُونَ  ·  مُجْتَهِدُونَ  ·  نَشِيطُونَ  ·  مَشْهُورُونَ  ·  مَعَ  ·  إِلَى  ·  شَكَرْتُ  ·  رَأَيْتُ</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workshop: 8–12 connected sentences about your school or local area with at least six target noun forms.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plural subjects with </a:t>
            </a:r>
            <a:pPr algn="l" indent="0" marL="0">
              <a:buNone/>
            </a:pPr>
            <a:r>
              <a:rPr lang="ar-SA" altLang="en-US" sz="1550" dirty="0">
                <a:solidFill>
                  <a:srgbClr val="1F2A37"/>
                </a:solidFill>
                <a:latin typeface="Amiri" pitchFamily="2" charset="-78"/>
                <a:cs typeface="Amiri" pitchFamily="2" charset="-78"/>
              </a:rPr>
              <a:t>ـُونَ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plurals after a preposition or as objects with </a:t>
            </a:r>
            <a:pPr algn="l" indent="0" marL="0">
              <a:buNone/>
            </a:pPr>
            <a:r>
              <a:rPr lang="ar-SA" altLang="en-US" sz="1550" dirty="0">
                <a:solidFill>
                  <a:srgbClr val="1F2A37"/>
                </a:solidFill>
                <a:latin typeface="Amiri" pitchFamily="2" charset="-78"/>
                <a:cs typeface="Amiri" pitchFamily="2" charset="-78"/>
              </a:rPr>
              <a:t>ـِينَ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iḍāfa plural without nūn.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Plural adjectives for people.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contrast with a broken plural (</a:t>
            </a:r>
            <a:pPr algn="l" indent="0" marL="0">
              <a:buNone/>
            </a:pPr>
            <a:r>
              <a:rPr lang="ar-SA" altLang="en-US" sz="1550" dirty="0">
                <a:solidFill>
                  <a:srgbClr val="1F2A37"/>
                </a:solidFill>
                <a:latin typeface="Amiri" pitchFamily="2" charset="-78"/>
                <a:cs typeface="Amiri" pitchFamily="2" charset="-78"/>
              </a:rPr>
              <a:t>الطُّلَّابُ</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مُعَلِّمُو الْمَدْرَسَةِ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school’s teachers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الْمُوَظَّفِينَ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the employees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اللَّاعِبُونَ الْمَشْهُورُونَ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famous players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شَكَرْتُ الْمُعَلِّمِينَ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thanked the teachers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يَصِلُونَ مُبَكِّرِينَ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arrive early</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الْمُسَافِرُونَ فِي الْمَطَارِ</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travellers at the airport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مَدْرَسَتِي مُعَلِّمُونَ مُجْتَهِدُونَ، وَهُمْ يَصِلُونَ مُبَكِّرِينَ. أُحِبُّ أَنْ أَتَحَدَّثَ مَعَ الْمُعَلِّمِينَ بَعْدَ الدَّرْسِ. فِي الْمَكْتَبِ مُوَظَّفُونَ لُطَفَاءُ يُسَاعِدُونَ الطُّلَّابَ. لَاعِبُو فَرِيقِ الْمَدْرَسَةِ مَشْهُورُونَ فِي الْمَدِينَةِ، وَشَاهَدْتُ اللَّاعِبِينَ فِي الْمُبَارَاةِ الْأَخِيرَةِ. فِي الْعُطْلَةِ يَزُورُ مُهَنْدِسُونَ الْمَدْرَسَةَ وَيَتَحَدَّثُونَ عَنْ عَمَلِهِمْ.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school there are hard-working teachers, and they arrive early. I like to talk with the teachers after the lesson. In the office there are kind employees who help the students. The school team’s players are famous in the city, and I watched the players in the last match. In the holidays engineers visit the school and talk about their work.</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-ūna subjects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-īna after a preposition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-īna objects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iḍāfa: no nūn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plural subjects end in </a:t>
            </a:r>
            <a:pPr algn="l" indent="0" marL="0">
              <a:buNone/>
            </a:pPr>
            <a:r>
              <a:rPr lang="ar-SA" altLang="en-US" sz="1700" dirty="0">
                <a:solidFill>
                  <a:srgbClr val="1F2A37"/>
                </a:solidFill>
                <a:latin typeface="Amiri" pitchFamily="2" charset="-78"/>
                <a:cs typeface="Amiri" pitchFamily="2" charset="-78"/>
              </a:rPr>
              <a:t>ـُونَ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this plural only for people.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 preposition or as an object I wrote </a:t>
            </a:r>
            <a:pPr algn="l" indent="0" marL="0">
              <a:buNone/>
            </a:pPr>
            <a:r>
              <a:rPr lang="ar-SA" altLang="en-US" sz="1700" dirty="0">
                <a:solidFill>
                  <a:srgbClr val="1F2A37"/>
                </a:solidFill>
                <a:latin typeface="Amiri" pitchFamily="2" charset="-78"/>
                <a:cs typeface="Amiri" pitchFamily="2" charset="-78"/>
              </a:rPr>
              <a:t>ـِينَ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adjectives for people are plural.</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dropped the nūn in iḍāfa.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subject: “The travellers arrived.”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 الْمُسَافِرُونَ.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 الْمُسَافِرِينَ.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 الْمُسَافِرَاتِ.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cs typeface="Amiri" pitchFamily="2" charset="-78"/>
              </a:rPr>
              <a:t>مِنْ</a:t>
            </a:r>
            <a:pPr algn="l" indent="0" marL="0">
              <a:buNone/>
            </a:pPr>
            <a:r>
              <a:rPr lang="en-US" sz="1250" b="1" dirty="0">
                <a:solidFill>
                  <a:srgbClr val="1B3B6F"/>
                </a:solidFill>
                <a:latin typeface="Calibri" pitchFamily="34" charset="0"/>
                <a:cs typeface="Amiri" pitchFamily="2" charset="-78"/>
              </a:rPr>
              <a:t>, choose.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الْمُوَظَّفُونَ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الْمُوَظَّفِينَ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الْمُوَظَّفُو</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club’s players”.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لَاعِبُو النَّادِي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لَاعِبُونَ النَّادِي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اللَّاعِبُونَ النَّادِي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subject: “The travellers arrived.”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وَصَلَ الْمُسَافِرُونَ.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وَصَلَ الْمُسَافِرِينَ.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وَصَلَ الْمُسَافِرَاتِ.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Subject → -ūna.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cs typeface="Amiri" pitchFamily="2" charset="-78"/>
              </a:rPr>
              <a:t>مِنْ</a:t>
            </a:r>
            <a:pPr algn="l" indent="0" marL="0">
              <a:buNone/>
            </a:pPr>
            <a:r>
              <a:rPr lang="en-US" sz="1250" b="1" dirty="0">
                <a:solidFill>
                  <a:srgbClr val="1B3B6F"/>
                </a:solidFill>
                <a:latin typeface="Calibri" pitchFamily="34" charset="0"/>
                <a:cs typeface="Amiri" pitchFamily="2" charset="-78"/>
              </a:rPr>
              <a:t>, choose.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الْمُوَظَّفُونَ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الْمُوَظَّفِينَ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الْمُوَظَّفُو</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Genitive → -īna.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club’s players”.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لَاعِبُو النَّادِي</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لَاعِبُونَ النَّادِي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اللَّاعِبُونَ النَّادِي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Iḍāfa: nūn drops, no </a:t>
            </a:r>
            <a:pPr algn="l" indent="0" marL="0">
              <a:buNone/>
            </a:pPr>
            <a:r>
              <a:rPr lang="ar-SA" altLang="en-US" sz="1350" dirty="0">
                <a:solidFill>
                  <a:srgbClr val="8A6D1E"/>
                </a:solidFill>
                <a:latin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GM-N-03 · 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GM-N-04: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GM-N-04 · Sound Feminine Plural</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جَمْعُ الْمُؤَنَّثِ السَّالِمِ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sound feminine plural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طَالِبَاتٌ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female students</a:t>
            </a:r>
            <a:pPr indent="0" marL="0">
              <a:buNone/>
            </a:pPr>
            <a:r>
              <a:rPr lang="en-US" sz="1000" i="1" dirty="0">
                <a:solidFill>
                  <a:srgbClr val="5A6472"/>
                </a:solidFill>
                <a:latin typeface="Calibri" pitchFamily="34" charset="0"/>
                <a:cs typeface="Amiri" pitchFamily="2" charset="-78"/>
              </a:rPr>
              <a:t>  sing. طَالِبَةٌ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سَيَّارَاتٌ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cars</a:t>
            </a:r>
            <a:pPr indent="0" marL="0">
              <a:buNone/>
            </a:pPr>
            <a:r>
              <a:rPr lang="en-US" sz="1000" i="1" dirty="0">
                <a:solidFill>
                  <a:srgbClr val="5A6472"/>
                </a:solidFill>
                <a:latin typeface="Calibri" pitchFamily="34" charset="0"/>
                <a:cs typeface="Amiri" pitchFamily="2" charset="-78"/>
              </a:rPr>
              <a:t>  sing. سَيَّارَةٌ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مُعَلِّمَاتٌ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female teachers</a:t>
            </a:r>
            <a:pPr indent="0" marL="0">
              <a:buNone/>
            </a:pPr>
            <a:r>
              <a:rPr lang="en-US" sz="1000" i="1" dirty="0">
                <a:solidFill>
                  <a:srgbClr val="5A6472"/>
                </a:solidFill>
                <a:latin typeface="Calibri" pitchFamily="34" charset="0"/>
                <a:cs typeface="Amiri" pitchFamily="2" charset="-78"/>
              </a:rPr>
              <a:t>  sing. مُعَلِّمَةٌ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جَامِعَاتٌ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universities</a:t>
            </a:r>
            <a:pPr indent="0" marL="0">
              <a:buNone/>
            </a:pPr>
            <a:r>
              <a:rPr lang="en-US" sz="1000" i="1" dirty="0">
                <a:solidFill>
                  <a:srgbClr val="5A6472"/>
                </a:solidFill>
                <a:latin typeface="Calibri" pitchFamily="34" charset="0"/>
                <a:cs typeface="Amiri" pitchFamily="2" charset="-78"/>
              </a:rPr>
              <a:t>  sing. جَامِعَةٌ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happens to the </a:t>
            </a:r>
            <a:pPr algn="l" indent="0" marL="0">
              <a:buNone/>
            </a:pPr>
            <a:r>
              <a:rPr lang="ar-SA" altLang="en-US" sz="1350" dirty="0">
                <a:solidFill>
                  <a:srgbClr val="1F2A37"/>
                </a:solidFill>
                <a:latin typeface="Amiri" pitchFamily="2" charset="-78"/>
                <a:cs typeface="Amiri" pitchFamily="2" charset="-78"/>
              </a:rPr>
              <a:t>ة</a:t>
            </a:r>
            <a:pPr algn="l" indent="0" marL="0">
              <a:buNone/>
            </a:pPr>
            <a:r>
              <a:rPr lang="en-US" sz="1050" dirty="0">
                <a:solidFill>
                  <a:srgbClr val="1F2A37"/>
                </a:solidFill>
                <a:latin typeface="Calibri" pitchFamily="34" charset="0"/>
                <a:cs typeface="Amiri" pitchFamily="2" charset="-78"/>
              </a:rPr>
              <a:t> when </a:t>
            </a:r>
            <a:pPr algn="l" indent="0" marL="0">
              <a:buNone/>
            </a:pPr>
            <a:r>
              <a:rPr lang="ar-SA" altLang="en-US" sz="1350" dirty="0">
                <a:solidFill>
                  <a:srgbClr val="1F2A37"/>
                </a:solidFill>
                <a:latin typeface="Amiri" pitchFamily="2" charset="-78"/>
                <a:cs typeface="Amiri" pitchFamily="2" charset="-78"/>
              </a:rPr>
              <a:t>طَالِبَةٌ</a:t>
            </a:r>
            <a:pPr algn="l" indent="0" marL="0">
              <a:buNone/>
            </a:pPr>
            <a:r>
              <a:rPr lang="en-US" sz="1050" dirty="0">
                <a:solidFill>
                  <a:srgbClr val="1F2A37"/>
                </a:solidFill>
                <a:latin typeface="Calibri" pitchFamily="34" charset="0"/>
                <a:cs typeface="Amiri" pitchFamily="2" charset="-78"/>
              </a:rPr>
              <a:t> becomes plural? Guess the rule.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طَالِبَةٌ ← ______ · سَيَّارَةٌ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Make ten sound masculine plurals from professions.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three with </a:t>
            </a:r>
            <a:pPr algn="l" indent="0" marL="0">
              <a:buNone/>
            </a:pPr>
            <a:r>
              <a:rPr lang="ar-SA" altLang="en-US" sz="1550" dirty="0">
                <a:solidFill>
                  <a:srgbClr val="1F2A37"/>
                </a:solidFill>
                <a:latin typeface="Amiri" pitchFamily="2" charset="-78"/>
                <a:cs typeface="Amiri" pitchFamily="2" charset="-78"/>
              </a:rPr>
              <a:t>ـُونَ</a:t>
            </a:r>
            <a:pPr algn="l" indent="0" marL="0">
              <a:buNone/>
            </a:pPr>
            <a:r>
              <a:rPr lang="en-US" sz="1200" dirty="0">
                <a:solidFill>
                  <a:srgbClr val="1F2A37"/>
                </a:solidFill>
                <a:latin typeface="Calibri" pitchFamily="34" charset="0"/>
                <a:cs typeface="Amiri" pitchFamily="2" charset="-78"/>
              </a:rPr>
              <a:t>, three with </a:t>
            </a:r>
            <a:pPr algn="l" indent="0" marL="0">
              <a:buNone/>
            </a:pPr>
            <a:r>
              <a:rPr lang="ar-SA" altLang="en-US" sz="1550" dirty="0">
                <a:solidFill>
                  <a:srgbClr val="1F2A37"/>
                </a:solidFill>
                <a:latin typeface="Amiri" pitchFamily="2" charset="-78"/>
                <a:cs typeface="Amiri" pitchFamily="2" charset="-78"/>
              </a:rPr>
              <a:t>ـِينَ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and three iḍāfa plurals (</a:t>
            </a:r>
            <a:pPr algn="l" indent="0" marL="0">
              <a:buNone/>
            </a:pPr>
            <a:r>
              <a:rPr lang="ar-SA" altLang="en-US" sz="1550" dirty="0">
                <a:solidFill>
                  <a:srgbClr val="1F2A37"/>
                </a:solidFill>
                <a:latin typeface="Amiri" pitchFamily="2" charset="-78"/>
                <a:cs typeface="Amiri" pitchFamily="2" charset="-78"/>
              </a:rPr>
              <a:t>مُعَلِّمُو</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GM-N-04 · Sound Feminine Plural</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جَمْعُ الْمُؤَنَّثِ السَّالِمُ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people (male / mixed) → whole stem + </a:t>
            </a:r>
            <a:pPr algn="l" indent="0" marL="0">
              <a:buNone/>
            </a:pPr>
            <a:r>
              <a:rPr lang="ar-SA" altLang="en-US" sz="1700" b="1" dirty="0">
                <a:solidFill>
                  <a:srgbClr val="FFFFFF"/>
                </a:solidFill>
                <a:latin typeface="Amiri" pitchFamily="2" charset="-78"/>
                <a:cs typeface="Amiri" pitchFamily="2" charset="-78"/>
              </a:rPr>
              <a:t>ـُونَ / ـِينَ</a:t>
            </a:r>
            <a:pPr algn="l" indent="0" marL="0">
              <a:buNone/>
            </a:pPr>
            <a:r>
              <a:rPr lang="en-US" sz="1300" b="1" dirty="0">
                <a:solidFill>
                  <a:srgbClr val="FFFFFF"/>
                </a:solidFill>
                <a:latin typeface="Calibri" pitchFamily="34" charset="0"/>
                <a:cs typeface="Amiri" pitchFamily="2" charset="-78"/>
              </a:rPr>
              <a:t> · subject </a:t>
            </a:r>
            <a:pPr algn="l" indent="0" marL="0">
              <a:buNone/>
            </a:pPr>
            <a:r>
              <a:rPr lang="ar-SA" altLang="en-US" sz="1700" b="1" dirty="0">
                <a:solidFill>
                  <a:srgbClr val="FFFFFF"/>
                </a:solidFill>
                <a:latin typeface="Amiri" pitchFamily="2" charset="-78"/>
                <a:cs typeface="Amiri" pitchFamily="2" charset="-78"/>
              </a:rPr>
              <a:t>ـُونَ</a:t>
            </a:r>
            <a:pPr algn="l" indent="0" marL="0">
              <a:buNone/>
            </a:pPr>
            <a:r>
              <a:rPr lang="en-US" sz="1300" b="1" dirty="0">
                <a:solidFill>
                  <a:srgbClr val="FFFFFF"/>
                </a:solidFill>
                <a:latin typeface="Calibri" pitchFamily="34" charset="0"/>
                <a:cs typeface="Amiri" pitchFamily="2" charset="-78"/>
              </a:rPr>
              <a:t> · object or after a preposition </a:t>
            </a:r>
            <a:pPr algn="l" indent="0" marL="0">
              <a:buNone/>
            </a:pPr>
            <a:r>
              <a:rPr lang="ar-SA" altLang="en-US" sz="1700" b="1" dirty="0">
                <a:solidFill>
                  <a:srgbClr val="FFFFFF"/>
                </a:solidFill>
                <a:latin typeface="Amiri" pitchFamily="2" charset="-78"/>
                <a:cs typeface="Amiri" pitchFamily="2" charset="-78"/>
              </a:rPr>
              <a:t>ـِينَ</a:t>
            </a:r>
            <a:pPr algn="l" indent="0" marL="0">
              <a:buNone/>
            </a:pPr>
            <a:r>
              <a:rPr lang="en-US" sz="1300" b="1" dirty="0">
                <a:solidFill>
                  <a:srgbClr val="FFFFFF"/>
                </a:solidFill>
                <a:latin typeface="Calibri" pitchFamily="34" charset="0"/>
                <a:cs typeface="Amiri" pitchFamily="2" charset="-78"/>
              </a:rPr>
              <a:t> · iḍāfa drops the nūn.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GM-N-03 · Sound Masculine Plural</dc:title>
  <dc:subject>PptxGenJS Presentation</dc:subject>
  <dc:creator>Al Madina Online School · Arabic Department</dc:creator>
  <cp:lastModifiedBy>Al Madina Online School · Arabic Department</cp:lastModifiedBy>
  <cp:revision>1</cp:revision>
  <dcterms:created xsi:type="dcterms:W3CDTF">2026-10-11T06:42:17Z</dcterms:created>
  <dcterms:modified xsi:type="dcterms:W3CDTF">2026-10-11T06:42:17Z</dcterms:modified>
</cp:coreProperties>
</file>