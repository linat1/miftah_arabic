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Nouns › GM-N-03 (“Sound Masculine Plural”).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build the plural with ـُونَ from professions and describing words (مُعَلِّمٌ → مُعَلِّمُونَ). Develop: ـُونَ vs ـِينَ from the noun’s job; plural adjective agreement. Stretch: the nūn drops in iḍāfa.
• QUR’AN BRIDGE: students know الْمُسْلِمُونَ / الْمُسْلِمِينَ, الْمُؤْمِنُونَ / الْمُؤْمِنِينَ, الْعَالَمِينَ, الصَّالِحِينَ — the SAME two endings, chosen by position. Use Sūrat al-Fātiḥa (رَبِّ الْعَالَمِينَ · الضَّالِّينَ) as the example of ـِينَ.
• Website reminder: “sound” means the stem stays whole — it does NOT mean every masculine noun takes this plural (كِتَابٌ → كُتُبٌ).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retrieves GM-N-02 (cases after a preposition) and tests prepared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Same plural, two endings: the job in the sentence decides — subject ـُونَ, everything else ـِينَ.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table “Formation and meaning”. Cover the plural columns: students build them from the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2 (3 min) — website section “Choose ـونَ or ـينَ from the noun’s job”. Qur’an link: رَبِّ الْعَالَمِينَ (after rabb, genitive) · وَلَا الضَّالِّينَ.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3 (2 min). Contrast with GM-ART-02: things (الْكُتُبُ) take a feminine SINGULAR adjective; people take a plural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guided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Ask at each plural: “What is its job — subject, object, after a preposition, or the first noun of an iḍāfa?”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U or I for each card and say WHY (subject / object /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U or I for each card and say WHY (subject / object /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5–8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read-and-notice text, extended by the teacher. Read it aloud once while students follow; then they hunt for today’s grammar.
Task: Website: underline every noun relevant to this lesson and explain its form (-ūna, -īna or no nūn).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text on the website pattern (the website read-and-notice text has no masculine sound plural), with teacher-written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task “speak and transform”. Sequence: ● 10s think → ↔ 45s rehearse aloud with mic muted → ◎ two named students on open mic (warned in advance) → + ? the class types one follow-up in chat → ↺ one student summarises.
Routes: Core uses the Core prompt and stem; Develop the Develop prompt; Stretch the last prompt.
Website: choose five nouns; say singular, dual and plural, then use each in a sentence. To a girl: مَدْرَسَتِكِ · تَتَحَدَّثِينَ · فَرِيقِكِ.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8–12 connected sentences about your school, home or local area, using at least six target noun forms from this lesson.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(GM-N-04 · Sound Feminine Plural) will spend class time USING this language, so students prepare it tonight — short, simple, easy to access (school guidance: “Simple, Short, Interesting, Relevant, Easy to access”). The five words prepare GM-N-04 (website Nouns lesson 4: the sound feminine plural).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NOUNS  ·  GM-N-03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Sound Masculine Plural</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جَمْعُ الْمُذَكَّرِ السَّالِمُ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Keep the word whole and add an ending for male or mixed groups of people: </a:t>
            </a:r>
            <a:pPr algn="l" indent="0" marL="0">
              <a:buNone/>
            </a:pPr>
            <a:r>
              <a:rPr lang="ar-SA" altLang="en-US" sz="1800" dirty="0">
                <a:solidFill>
                  <a:srgbClr val="C6D2E6"/>
                </a:solidFill>
                <a:latin typeface="Amiri" pitchFamily="2" charset="-78"/>
                <a:ea typeface="Amiri" pitchFamily="2" charset="-78"/>
                <a:cs typeface="Amiri" pitchFamily="2" charset="-78"/>
              </a:rPr>
              <a:t>ـُونَ</a:t>
            </a:r>
            <a:pPr algn="l" indent="0" marL="0">
              <a:buNone/>
            </a:pPr>
            <a:r>
              <a:rPr lang="en-US" sz="1400" dirty="0">
                <a:solidFill>
                  <a:srgbClr val="C6D2E6"/>
                </a:solidFill>
                <a:latin typeface="Calibri" pitchFamily="34" charset="0"/>
                <a:cs typeface="Amiri" pitchFamily="2" charset="-78"/>
              </a:rPr>
              <a:t> for the subject (</a:t>
            </a:r>
            <a:pPr algn="l" indent="0" marL="0">
              <a:buNone/>
            </a:pPr>
            <a:r>
              <a:rPr lang="ar-SA" altLang="en-US" sz="1800" dirty="0">
                <a:solidFill>
                  <a:srgbClr val="C6D2E6"/>
                </a:solidFill>
                <a:latin typeface="Amiri" pitchFamily="2" charset="-78"/>
                <a:ea typeface="Amiri" pitchFamily="2" charset="-78"/>
                <a:cs typeface="Amiri" pitchFamily="2" charset="-78"/>
              </a:rPr>
              <a:t>حَضَرَ الْمُعَلِّمُونَ</a:t>
            </a:r>
            <a:pPr algn="l" indent="0" marL="0">
              <a:buNone/>
            </a:pPr>
            <a:r>
              <a:rPr lang="en-US" sz="1400" dirty="0">
                <a:solidFill>
                  <a:srgbClr val="C6D2E6"/>
                </a:solidFill>
                <a:latin typeface="Calibri" pitchFamily="34" charset="0"/>
                <a:cs typeface="Amiri" pitchFamily="2" charset="-78"/>
              </a:rPr>
              <a:t>), </a:t>
            </a:r>
            <a:pPr algn="l" indent="0" marL="0">
              <a:buNone/>
            </a:pPr>
            <a:r>
              <a:rPr lang="ar-SA" altLang="en-US" sz="1800" dirty="0">
                <a:solidFill>
                  <a:srgbClr val="C6D2E6"/>
                </a:solidFill>
                <a:latin typeface="Amiri" pitchFamily="2" charset="-78"/>
                <a:ea typeface="Amiri" pitchFamily="2" charset="-78"/>
                <a:cs typeface="Amiri" pitchFamily="2" charset="-78"/>
              </a:rPr>
              <a:t>ـِينَ</a:t>
            </a:r>
            <a:pPr algn="l" indent="0" marL="0">
              <a:buNone/>
            </a:pPr>
            <a:r>
              <a:rPr lang="en-US" sz="1400" dirty="0">
                <a:solidFill>
                  <a:srgbClr val="C6D2E6"/>
                </a:solidFill>
                <a:latin typeface="Calibri" pitchFamily="34" charset="0"/>
                <a:cs typeface="Amiri" pitchFamily="2" charset="-78"/>
              </a:rPr>
              <a:t> as an object or after a preposition (</a:t>
            </a:r>
            <a:pPr algn="l" indent="0" marL="0">
              <a:buNone/>
            </a:pPr>
            <a:r>
              <a:rPr lang="ar-SA" altLang="en-US" sz="1800" dirty="0">
                <a:solidFill>
                  <a:srgbClr val="C6D2E6"/>
                </a:solidFill>
                <a:latin typeface="Amiri" pitchFamily="2" charset="-78"/>
                <a:ea typeface="Amiri" pitchFamily="2" charset="-78"/>
                <a:cs typeface="Amiri" pitchFamily="2" charset="-78"/>
              </a:rPr>
              <a:t>مَعَ الْمُعَلِّمِينَ</a:t>
            </a:r>
            <a:pPr algn="l" indent="0" marL="0">
              <a:buNone/>
            </a:pPr>
            <a:r>
              <a:rPr lang="en-US" sz="1400" dirty="0">
                <a:solidFill>
                  <a:srgbClr val="C6D2E6"/>
                </a:solidFill>
                <a:latin typeface="Calibri" pitchFamily="34" charset="0"/>
                <a:cs typeface="Amiri" pitchFamily="2" charset="-78"/>
              </a:rPr>
              <a:t>) — and drop the nūn in an iḍāfa (</a:t>
            </a:r>
            <a:pPr algn="l" indent="0" marL="0">
              <a:buNone/>
            </a:pPr>
            <a:r>
              <a:rPr lang="ar-SA" altLang="en-US" sz="1800" dirty="0">
                <a:solidFill>
                  <a:srgbClr val="C6D2E6"/>
                </a:solidFill>
                <a:latin typeface="Amiri" pitchFamily="2" charset="-78"/>
                <a:ea typeface="Amiri" pitchFamily="2" charset="-78"/>
                <a:cs typeface="Amiri" pitchFamily="2" charset="-78"/>
              </a:rPr>
              <a:t>مُعَلِّمُو الْمَدْرَسَةِ</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Whole stem + </a:t>
            </a:r>
            <a:pPr algn="ctr" indent="0" marL="0">
              <a:buNone/>
            </a:pPr>
            <a:r>
              <a:rPr lang="ar-SA" altLang="en-US" sz="1550" dirty="0">
                <a:solidFill>
                  <a:srgbClr val="1F2A37"/>
                </a:solidFill>
                <a:latin typeface="Amiri" pitchFamily="2" charset="-78"/>
                <a:ea typeface="Amiri" pitchFamily="2" charset="-78"/>
                <a:cs typeface="Amiri" pitchFamily="2" charset="-78"/>
              </a:rPr>
              <a:t>ـُونَ / ـِينَ</a:t>
            </a:r>
            <a:pPr algn="ctr" indent="0" marL="0">
              <a:buNone/>
            </a:pPr>
            <a:r>
              <a:rPr lang="en-US" sz="1200" dirty="0">
                <a:solidFill>
                  <a:srgbClr val="1F2A37"/>
                </a:solidFill>
                <a:latin typeface="Calibri" pitchFamily="34" charset="0"/>
                <a:cs typeface="Amiri" pitchFamily="2" charset="-78"/>
              </a:rPr>
              <a:t>; the ending follows the job; agreement; iḍāfa.</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a:t>
            </a:r>
            <a:pPr algn="ctr" indent="0" marL="0">
              <a:buNone/>
            </a:pPr>
            <a:r>
              <a:rPr lang="ar-SA" altLang="en-US" sz="1550" dirty="0">
                <a:solidFill>
                  <a:srgbClr val="1F2A37"/>
                </a:solidFill>
                <a:latin typeface="Amiri" pitchFamily="2" charset="-78"/>
                <a:ea typeface="Amiri" pitchFamily="2" charset="-78"/>
                <a:cs typeface="Amiri" pitchFamily="2" charset="-78"/>
              </a:rPr>
              <a:t>ـُونَ / ـِينَ</a:t>
            </a:r>
            <a:pPr algn="ctr" indent="0" marL="0">
              <a:buNone/>
            </a:pPr>
            <a:r>
              <a:rPr lang="en-US" sz="1200" dirty="0">
                <a:solidFill>
                  <a:srgbClr val="1F2A37"/>
                </a:solidFill>
                <a:latin typeface="Calibri" pitchFamily="34" charset="0"/>
                <a:cs typeface="Amiri" pitchFamily="2" charset="-78"/>
              </a:rPr>
              <a:t>, repair case and iḍāfa slips, build plurals.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nominative “teachers”.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مُعَلِّمَاتٌ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مُهَنْدِسُونَ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مُهَنْدِسَاتٍ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plural mainly refers to: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objects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 nouns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 masculine groups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 مُجْتَهِدٌ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 مُجْتَهِدَةٌ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 مُجْتَهِدُونَ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singular forms </a:t>
            </a:r>
            <a:pPr algn="l" indent="0" marL="0">
              <a:buNone/>
            </a:pPr>
            <a:r>
              <a:rPr lang="ar-SA" altLang="en-US" sz="1650" b="1" dirty="0">
                <a:solidFill>
                  <a:srgbClr val="1B3B6F"/>
                </a:solidFill>
                <a:latin typeface="Amiri" pitchFamily="2" charset="-78"/>
                <a:ea typeface="Amiri" pitchFamily="2" charset="-78"/>
                <a:cs typeface="Amiri" pitchFamily="2" charset="-78"/>
              </a:rPr>
              <a:t>مُسْلِمُونَ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مُسْلِمٌ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مُسْلِمَةٌ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إِسْلَامٌ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nominative “teachers”.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مُعَلِّمِينَ</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مُعَلِّمُونَ</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مُعَلِّمَاتٌ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-ūna nominative.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 choose.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مُهَنْدِسِينَ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مُهَنْدِسُونَ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مُهَنْدِسَاتٍ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 after preposition.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This plural mainly refers to: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objects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feminine nouns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human masculine groups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Productive with male persons/professions/adjectival nouns.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الْمُعَلِّمُونَ مُجْتَهِدٌ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الْمُعَلِّمُونَ مُجْتَهِدَةٌ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الْمُعَلِّمُونَ مُجْتَهِدُونَ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plural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singular forms </a:t>
            </a:r>
            <a:pPr algn="l" indent="0" marL="0">
              <a:buNone/>
            </a:pPr>
            <a:r>
              <a:rPr lang="ar-SA" altLang="en-US" sz="1650" b="1" dirty="0">
                <a:solidFill>
                  <a:srgbClr val="1B3B6F"/>
                </a:solidFill>
                <a:latin typeface="Amiri" pitchFamily="2" charset="-78"/>
                <a:ea typeface="Amiri" pitchFamily="2" charset="-78"/>
                <a:cs typeface="Amiri" pitchFamily="2" charset="-78"/>
              </a:rPr>
              <a:t>مُسْلِمُونَ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مُسْلِمٌ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مُسْلِمَةٌ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إِسْلَامٌ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sound masculine ending.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Same plural, two endings: the job in the sentence decides — subject </a:t>
            </a:r>
            <a:pPr algn="l" indent="0" marL="0">
              <a:buNone/>
            </a:pPr>
            <a:r>
              <a:rPr lang="ar-SA" altLang="en-US" sz="1700" b="1" dirty="0">
                <a:solidFill>
                  <a:srgbClr val="1F2A37"/>
                </a:solidFill>
                <a:latin typeface="Amiri" pitchFamily="2" charset="-78"/>
                <a:ea typeface="Amiri" pitchFamily="2" charset="-78"/>
                <a:cs typeface="Amiri" pitchFamily="2" charset="-78"/>
              </a:rPr>
              <a:t>ـُونَ</a:t>
            </a:r>
            <a:pPr algn="l" indent="0" marL="0">
              <a:buNone/>
            </a:pPr>
            <a:r>
              <a:rPr lang="en-US" sz="1300" b="1" dirty="0">
                <a:solidFill>
                  <a:srgbClr val="1F2A37"/>
                </a:solidFill>
                <a:latin typeface="Calibri" pitchFamily="34" charset="0"/>
                <a:cs typeface="Amiri" pitchFamily="2" charset="-78"/>
              </a:rPr>
              <a:t>, everything else </a:t>
            </a:r>
            <a:pPr algn="l" indent="0" marL="0">
              <a:buNone/>
            </a:pPr>
            <a:r>
              <a:rPr lang="ar-SA" altLang="en-US" sz="1700" b="1" dirty="0">
                <a:solidFill>
                  <a:srgbClr val="1F2A37"/>
                </a:solidFill>
                <a:latin typeface="Amiri" pitchFamily="2" charset="-78"/>
                <a:ea typeface="Amiri" pitchFamily="2" charset="-78"/>
                <a:cs typeface="Amiri" pitchFamily="2" charset="-78"/>
              </a:rPr>
              <a:t>ـِينَ</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حَضَرَ </a:t>
            </a:r>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الْمُعَلِّمُونَ</a:t>
            </a:r>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 ‖ رَأَيْتُ </a:t>
            </a:r>
            <a:pPr rtl="1" algn="ctr" indent="0" marL="0">
              <a:lnSpc>
                <a:spcPct val="120000"/>
              </a:lnSpc>
              <a:buNone/>
            </a:pPr>
            <a:r>
              <a:rPr lang="ar-SA" altLang="en-US" sz="2300" b="1" dirty="0">
                <a:solidFill>
                  <a:srgbClr val="D6336C"/>
                </a:solidFill>
                <a:latin typeface="Amiri" pitchFamily="2" charset="-78"/>
                <a:ea typeface="Amiri" pitchFamily="2" charset="-78"/>
                <a:cs typeface="Amiri" pitchFamily="2" charset="-78"/>
              </a:rPr>
              <a:t>الْمُعَلِّمِينَ</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sound masculine plural with </a:t>
            </a:r>
            <a:pPr algn="l" indent="0" marL="0">
              <a:buNone/>
            </a:pPr>
            <a:r>
              <a:rPr lang="ar-SA" altLang="en-US" sz="1700" dirty="0">
                <a:solidFill>
                  <a:srgbClr val="1F2A37"/>
                </a:solidFill>
                <a:latin typeface="Amiri" pitchFamily="2" charset="-78"/>
                <a:ea typeface="Amiri" pitchFamily="2" charset="-78"/>
                <a:cs typeface="Amiri" pitchFamily="2" charset="-78"/>
              </a:rPr>
              <a:t>ـُونَ / ـِينَ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the ending from the noun’s job in the sentence.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plural adjectives for male or mixed human groups.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Drop the nūn when the plural is the first noun of an iḍāfa.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build </a:t>
            </a:r>
            <a:pPr algn="l" indent="0" marL="0">
              <a:buNone/>
            </a:pPr>
            <a:r>
              <a:rPr lang="ar-SA" altLang="en-US" sz="1700" b="1" dirty="0">
                <a:solidFill>
                  <a:srgbClr val="2E8B57"/>
                </a:solidFill>
                <a:latin typeface="Amiri" pitchFamily="2" charset="-78"/>
                <a:ea typeface="Amiri" pitchFamily="2" charset="-78"/>
                <a:cs typeface="Amiri" pitchFamily="2" charset="-78"/>
              </a:rPr>
              <a:t>مُعَلِّمُونَ</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مُهَنْدِسُونَ</a:t>
            </a:r>
            <a:pPr algn="l" indent="0" marL="0">
              <a:buNone/>
            </a:pPr>
            <a:r>
              <a:rPr lang="en-US" sz="1300" b="1" dirty="0">
                <a:solidFill>
                  <a:srgbClr val="2E8B57"/>
                </a:solidFill>
                <a:latin typeface="Calibri" pitchFamily="34" charset="0"/>
                <a:cs typeface="Amiri" pitchFamily="2" charset="-78"/>
              </a:rPr>
              <a:t> · </a:t>
            </a:r>
            <a:pPr algn="l" indent="0" marL="0">
              <a:buNone/>
            </a:pPr>
            <a:r>
              <a:rPr lang="ar-SA" altLang="en-US" sz="1700" b="1" dirty="0">
                <a:solidFill>
                  <a:srgbClr val="2E8B57"/>
                </a:solidFill>
                <a:latin typeface="Amiri" pitchFamily="2" charset="-78"/>
                <a:ea typeface="Amiri" pitchFamily="2" charset="-78"/>
                <a:cs typeface="Amiri" pitchFamily="2" charset="-78"/>
              </a:rPr>
              <a:t>لَاعِبُونَ</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know this plural is for male / mixed people.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a:t>
            </a:r>
            <a:pPr algn="l" indent="0" marL="0">
              <a:buNone/>
            </a:pPr>
            <a:r>
              <a:rPr lang="ar-SA" altLang="en-US" sz="1700" b="1" dirty="0">
                <a:solidFill>
                  <a:srgbClr val="C9780A"/>
                </a:solidFill>
                <a:latin typeface="Amiri" pitchFamily="2" charset="-78"/>
                <a:ea typeface="Amiri" pitchFamily="2" charset="-78"/>
                <a:cs typeface="Amiri" pitchFamily="2" charset="-78"/>
              </a:rPr>
              <a:t>ـِينَ</a:t>
            </a:r>
            <a:pPr algn="l" indent="0" marL="0">
              <a:buNone/>
            </a:pPr>
            <a:r>
              <a:rPr lang="en-US" sz="1300" b="1" dirty="0">
                <a:solidFill>
                  <a:srgbClr val="C9780A"/>
                </a:solidFill>
                <a:latin typeface="Calibri" pitchFamily="34" charset="0"/>
                <a:cs typeface="Amiri" pitchFamily="2" charset="-78"/>
              </a:rPr>
              <a:t> after a preposition and as an object.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make the adjective plural: </a:t>
            </a:r>
            <a:pPr algn="l" indent="0" marL="0">
              <a:buNone/>
            </a:pPr>
            <a:r>
              <a:rPr lang="ar-SA" altLang="en-US" sz="1700" b="1" dirty="0">
                <a:solidFill>
                  <a:srgbClr val="C9780A"/>
                </a:solidFill>
                <a:latin typeface="Amiri" pitchFamily="2" charset="-78"/>
                <a:ea typeface="Amiri" pitchFamily="2" charset="-78"/>
                <a:cs typeface="Amiri" pitchFamily="2" charset="-78"/>
              </a:rPr>
              <a:t>الطُّلَّابُ نَشِيطُونَ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drop the nūn in iḍāfa: </a:t>
            </a:r>
            <a:pPr algn="l" indent="0" marL="0">
              <a:buNone/>
            </a:pPr>
            <a:r>
              <a:rPr lang="ar-SA" altLang="en-US" sz="1700" b="1" dirty="0">
                <a:solidFill>
                  <a:srgbClr val="B83227"/>
                </a:solidFill>
                <a:latin typeface="Amiri" pitchFamily="2" charset="-78"/>
                <a:ea typeface="Amiri" pitchFamily="2" charset="-78"/>
                <a:cs typeface="Amiri" pitchFamily="2" charset="-78"/>
              </a:rPr>
              <a:t>مُعَلِّمُو الْمَدْرَسَةِ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which nouns do NOT take this plural.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جَمْعُ الْمُذَكَّرِ السَّالِمُ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sound masculine plural</a:t>
            </a:r>
            <a:endParaRPr lang="en-US" sz="1350" dirty="0"/>
          </a:p>
          <a:p>
            <a:pPr indent="0" marL="0">
              <a:buNone/>
            </a:pPr>
            <a:r>
              <a:rPr lang="en-US" sz="1100" i="1" dirty="0">
                <a:solidFill>
                  <a:srgbClr val="5A6472"/>
                </a:solidFill>
                <a:latin typeface="Calibri" pitchFamily="34" charset="0"/>
                <a:cs typeface="Amiri" pitchFamily="2" charset="-78"/>
              </a:rPr>
              <a:t>jam-ʿu al-mu-dhak-ka-ri as-sā-li-mu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stem stays whole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ـُونَ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nominative ending (subject)</a:t>
            </a:r>
            <a:endParaRPr lang="en-US" sz="1350" dirty="0"/>
          </a:p>
          <a:p>
            <a:pPr indent="0" marL="0">
              <a:buNone/>
            </a:pPr>
            <a:r>
              <a:rPr lang="en-US" sz="1100" i="1" dirty="0">
                <a:solidFill>
                  <a:srgbClr val="5A6472"/>
                </a:solidFill>
                <a:latin typeface="Calibri" pitchFamily="34" charset="0"/>
                <a:cs typeface="Amiri" pitchFamily="2" charset="-78"/>
              </a:rPr>
              <a:t>-ūna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الْمُعَلِّمُونَ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ـِينَ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accusative / genitive ending</a:t>
            </a:r>
            <a:endParaRPr lang="en-US" sz="1350" dirty="0"/>
          </a:p>
          <a:p>
            <a:pPr indent="0" marL="0">
              <a:buNone/>
            </a:pPr>
            <a:r>
              <a:rPr lang="en-US" sz="1100" i="1" dirty="0">
                <a:solidFill>
                  <a:srgbClr val="5A6472"/>
                </a:solidFill>
                <a:latin typeface="Calibri" pitchFamily="34" charset="0"/>
                <a:cs typeface="Amiri" pitchFamily="2" charset="-78"/>
              </a:rPr>
              <a:t>-īna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الْمُعَلِّمِينَ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فَاعِلٌ</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of a verb</a:t>
            </a:r>
            <a:endParaRPr lang="en-US" sz="1350" dirty="0"/>
          </a:p>
          <a:p>
            <a:pPr indent="0" marL="0">
              <a:buNone/>
            </a:pPr>
            <a:r>
              <a:rPr lang="en-US" sz="1100" i="1" dirty="0">
                <a:solidFill>
                  <a:srgbClr val="5A6472"/>
                </a:solidFill>
                <a:latin typeface="Calibri" pitchFamily="34" charset="0"/>
                <a:cs typeface="Amiri" pitchFamily="2" charset="-78"/>
              </a:rPr>
              <a:t>fā-ʿi-lun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حَضَرَ الْمُعَلِّمُونَ</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مَفْعُولٌ بِهِ</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object of a verb</a:t>
            </a:r>
            <a:endParaRPr lang="en-US" sz="1350" dirty="0"/>
          </a:p>
          <a:p>
            <a:pPr indent="0" marL="0">
              <a:buNone/>
            </a:pPr>
            <a:r>
              <a:rPr lang="en-US" sz="1100" i="1" dirty="0">
                <a:solidFill>
                  <a:srgbClr val="5A6472"/>
                </a:solidFill>
                <a:latin typeface="Calibri" pitchFamily="34" charset="0"/>
                <a:cs typeface="Amiri" pitchFamily="2" charset="-78"/>
              </a:rPr>
              <a:t>maf-ʿū-lun bi-hi</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رَأَيْتُ الْمُعَلِّمِينَ</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عَاقِلٌ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 (rational)</a:t>
            </a:r>
            <a:endParaRPr lang="en-US" sz="1350" dirty="0"/>
          </a:p>
          <a:p>
            <a:pPr indent="0" marL="0">
              <a:buNone/>
            </a:pPr>
            <a:r>
              <a:rPr lang="en-US" sz="1100" i="1" dirty="0">
                <a:solidFill>
                  <a:srgbClr val="5A6472"/>
                </a:solidFill>
                <a:latin typeface="Calibri" pitchFamily="34" charset="0"/>
                <a:cs typeface="Amiri" pitchFamily="2" charset="-78"/>
              </a:rPr>
              <a:t>ʿā-qi-lun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people, not things</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FORMATION AND MEANING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Keep the word whole, add an ending</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الصِّيغَةُ وَالْمَعْنَى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Object / after prep. (-īna)</a:t>
            </a:r>
            <a:endParaRPr lang="en-US" sz="1100" dirty="0"/>
          </a:p>
        </p:txBody>
      </p:sp>
      <p:sp>
        <p:nvSpPr>
          <p:cNvPr id="17" name="Text 14"/>
          <p:cNvSpPr txBox="1"/>
          <p:nvPr/>
        </p:nvSpPr>
        <p:spPr>
          <a:xfrm>
            <a:off x="6016752" y="1810512"/>
            <a:ext cx="2688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Subject (-ūna)</a:t>
            </a:r>
            <a:endParaRPr lang="en-US" sz="1100" dirty="0"/>
          </a:p>
        </p:txBody>
      </p:sp>
      <p:sp>
        <p:nvSpPr>
          <p:cNvPr id="18" name="Text 15"/>
          <p:cNvSpPr txBox="1"/>
          <p:nvPr/>
        </p:nvSpPr>
        <p:spPr>
          <a:xfrm>
            <a:off x="34564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869680" y="2267712"/>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مُعَلِّمِينَ</a:t>
            </a:r>
            <a:endParaRPr lang="ar-SA" sz="2400" dirty="0"/>
          </a:p>
        </p:txBody>
      </p:sp>
      <p:sp>
        <p:nvSpPr>
          <p:cNvPr id="22" name="Text 19"/>
          <p:cNvSpPr txBox="1"/>
          <p:nvPr/>
        </p:nvSpPr>
        <p:spPr>
          <a:xfrm>
            <a:off x="6035040" y="2267712"/>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مُعَلِّمُونَ</a:t>
            </a:r>
            <a:endParaRPr lang="ar-SA" sz="2400" dirty="0"/>
          </a:p>
        </p:txBody>
      </p:sp>
      <p:sp>
        <p:nvSpPr>
          <p:cNvPr id="23" name="Text 20"/>
          <p:cNvSpPr txBox="1"/>
          <p:nvPr/>
        </p:nvSpPr>
        <p:spPr>
          <a:xfrm>
            <a:off x="347472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مُعَلِّمٌ</a:t>
            </a:r>
            <a:endParaRPr lang="ar-SA" sz="2400" dirty="0"/>
          </a:p>
        </p:txBody>
      </p:sp>
      <p:sp>
        <p:nvSpPr>
          <p:cNvPr id="24" name="Text 21"/>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male / mixed teachers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869680" y="3004718"/>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مُهَنْدِسِينَ</a:t>
            </a:r>
            <a:endParaRPr lang="ar-SA" sz="2400" dirty="0"/>
          </a:p>
        </p:txBody>
      </p:sp>
      <p:sp>
        <p:nvSpPr>
          <p:cNvPr id="29" name="Text 26"/>
          <p:cNvSpPr txBox="1"/>
          <p:nvPr/>
        </p:nvSpPr>
        <p:spPr>
          <a:xfrm>
            <a:off x="6035040" y="300471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مُهَنْدِسُونَ</a:t>
            </a:r>
            <a:endParaRPr lang="ar-SA" sz="2400" dirty="0"/>
          </a:p>
        </p:txBody>
      </p:sp>
      <p:sp>
        <p:nvSpPr>
          <p:cNvPr id="30" name="Text 27"/>
          <p:cNvSpPr txBox="1"/>
          <p:nvPr/>
        </p:nvSpPr>
        <p:spPr>
          <a:xfrm>
            <a:off x="347472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مُهَنْدِسٌ</a:t>
            </a:r>
            <a:endParaRPr lang="ar-SA" sz="2400" dirty="0"/>
          </a:p>
        </p:txBody>
      </p:sp>
      <p:sp>
        <p:nvSpPr>
          <p:cNvPr id="31" name="Text 28"/>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engineers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869680" y="3741725"/>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مُجْتَهِدِينَ</a:t>
            </a:r>
            <a:endParaRPr lang="ar-SA" sz="2400" dirty="0"/>
          </a:p>
        </p:txBody>
      </p:sp>
      <p:sp>
        <p:nvSpPr>
          <p:cNvPr id="36" name="Text 33"/>
          <p:cNvSpPr txBox="1"/>
          <p:nvPr/>
        </p:nvSpPr>
        <p:spPr>
          <a:xfrm>
            <a:off x="6035040" y="3741725"/>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مُجْتَهِدُونَ</a:t>
            </a:r>
            <a:endParaRPr lang="ar-SA" sz="2400" dirty="0"/>
          </a:p>
        </p:txBody>
      </p:sp>
      <p:sp>
        <p:nvSpPr>
          <p:cNvPr id="37" name="Text 34"/>
          <p:cNvSpPr txBox="1"/>
          <p:nvPr/>
        </p:nvSpPr>
        <p:spPr>
          <a:xfrm>
            <a:off x="347472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مُجْتَهِدٌ</a:t>
            </a:r>
            <a:endParaRPr lang="ar-SA" sz="2400" dirty="0"/>
          </a:p>
        </p:txBody>
      </p:sp>
      <p:sp>
        <p:nvSpPr>
          <p:cNvPr id="38" name="Text 35"/>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hard-working people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869680" y="4478731"/>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لَاعِبِينَ</a:t>
            </a:r>
            <a:endParaRPr lang="ar-SA" sz="2400" dirty="0"/>
          </a:p>
        </p:txBody>
      </p:sp>
      <p:sp>
        <p:nvSpPr>
          <p:cNvPr id="41" name="Text 38"/>
          <p:cNvSpPr txBox="1"/>
          <p:nvPr/>
        </p:nvSpPr>
        <p:spPr>
          <a:xfrm>
            <a:off x="6035040" y="4478731"/>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لَاعِبُونَ</a:t>
            </a:r>
            <a:endParaRPr lang="ar-SA" sz="2400" dirty="0"/>
          </a:p>
        </p:txBody>
      </p:sp>
      <p:sp>
        <p:nvSpPr>
          <p:cNvPr id="42" name="Text 39"/>
          <p:cNvSpPr txBox="1"/>
          <p:nvPr/>
        </p:nvSpPr>
        <p:spPr>
          <a:xfrm>
            <a:off x="347472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لَاعِبٌ</a:t>
            </a:r>
            <a:endParaRPr lang="ar-SA" sz="2400" dirty="0"/>
          </a:p>
        </p:txBody>
      </p:sp>
      <p:sp>
        <p:nvSpPr>
          <p:cNvPr id="43" name="Text 40"/>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players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869680" y="5215738"/>
            <a:ext cx="277063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مُوَظَّفِينَ</a:t>
            </a:r>
            <a:endParaRPr lang="ar-SA" sz="2400" dirty="0"/>
          </a:p>
        </p:txBody>
      </p:sp>
      <p:sp>
        <p:nvSpPr>
          <p:cNvPr id="46" name="Text 43"/>
          <p:cNvSpPr txBox="1"/>
          <p:nvPr/>
        </p:nvSpPr>
        <p:spPr>
          <a:xfrm>
            <a:off x="6035040" y="5215738"/>
            <a:ext cx="26517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مُوَظَّفُونَ</a:t>
            </a:r>
            <a:endParaRPr lang="ar-SA" sz="2400" dirty="0"/>
          </a:p>
        </p:txBody>
      </p:sp>
      <p:sp>
        <p:nvSpPr>
          <p:cNvPr id="47" name="Text 44"/>
          <p:cNvSpPr txBox="1"/>
          <p:nvPr/>
        </p:nvSpPr>
        <p:spPr>
          <a:xfrm>
            <a:off x="347472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مُوَظَّفٌ</a:t>
            </a:r>
            <a:endParaRPr lang="ar-SA" sz="2400" dirty="0"/>
          </a:p>
        </p:txBody>
      </p:sp>
      <p:sp>
        <p:nvSpPr>
          <p:cNvPr id="48" name="Text 45"/>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employees</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“Sound” means the stem stays substantially intact (website) — it does not mean every masculine noun uses this plural.</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 PART 2 · CHOOSE -ŪNA OR -ĪNA FROM THE NOUN’S JOB (WEBSITE SECTION)</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The job in the sentence chooses the ending</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ـُونَ أَمْ ـِينَ؟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Subject (who does the action) → -ūna: the teachers attended (first example).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Object (who receives the action) → -īna: I saw the teachers.</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After a preposition such as maʿa, min, ilā, fī → -īna: I spoke with the teachers.</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nūn stays in ordinary use — but drops when the plural is the FIRST noun of an iḍāfa.</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This plural is used mainly for male or mixed groups of PEOPLE: professions, nationalities, describing words.</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حَضَرَ الْمُعَلِّمُونَ.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teachers attended.  ·  subject</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رَأَيْتُ الْمُعَلِّمِينَ.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saw the teachers.  ·  object</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تَحَدَّثْتُ مَعَ الْمُعَلِّمِينَ.</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spoke with the teachers.  ·  after a preposition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مُعَلِّمُو الْمَدْرَسَةِ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school’s teachers  ·  iḍāfa: nūn drops</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Spelling alert (website): the nūn remains in ordinary use, but drops when the sound plural is the first term of an iḍāfa.</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AGREEMENT WITH PEOPLE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Plural people, plural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مُطَابَقَةُ الصِّفَةِ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382219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adjective</a:t>
            </a:r>
            <a:endParaRPr lang="en-US" sz="1100" dirty="0"/>
          </a:p>
        </p:txBody>
      </p:sp>
      <p:sp>
        <p:nvSpPr>
          <p:cNvPr id="21" name="Text 18"/>
          <p:cNvSpPr txBox="1"/>
          <p:nvPr/>
        </p:nvSpPr>
        <p:spPr>
          <a:xfrm>
            <a:off x="3840480" y="2267712"/>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الطُّلَّابُ نَشِيطُونَ.</a:t>
            </a:r>
            <a:endParaRPr lang="ar-SA" sz="24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students are active.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t>
            </a:r>
            <a:pPr algn="l" indent="0" marL="0">
              <a:buNone/>
            </a:pPr>
            <a:r>
              <a:rPr lang="ar-SA" altLang="en-US" sz="1450" dirty="0">
                <a:solidFill>
                  <a:srgbClr val="5A6472"/>
                </a:solidFill>
                <a:latin typeface="Amiri" pitchFamily="2" charset="-78"/>
                <a:ea typeface="Amiri" pitchFamily="2" charset="-78"/>
                <a:cs typeface="Amiri" pitchFamily="2" charset="-78"/>
              </a:rPr>
              <a:t>ـُونَ</a:t>
            </a:r>
            <a:endParaRPr lang="en-US" sz="1100" dirty="0"/>
          </a:p>
        </p:txBody>
      </p:sp>
      <p:sp>
        <p:nvSpPr>
          <p:cNvPr id="27" name="Text 24"/>
          <p:cNvSpPr txBox="1"/>
          <p:nvPr/>
        </p:nvSpPr>
        <p:spPr>
          <a:xfrm>
            <a:off x="3840480" y="3054096"/>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الْمُعَلِّمُونَ الْمُجْتَهِدُونَ</a:t>
            </a:r>
            <a:endParaRPr lang="ar-SA" sz="24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hard-working teachers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broken plural</a:t>
            </a:r>
            <a:endParaRPr lang="en-US" sz="1100" dirty="0"/>
          </a:p>
        </p:txBody>
      </p:sp>
      <p:sp>
        <p:nvSpPr>
          <p:cNvPr id="33" name="Text 30"/>
          <p:cNvSpPr txBox="1"/>
          <p:nvPr/>
        </p:nvSpPr>
        <p:spPr>
          <a:xfrm>
            <a:off x="3840480" y="3840480"/>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اللَّاعِبِينَ الْجُدُدِ</a:t>
            </a:r>
            <a:endParaRPr lang="ar-SA" sz="24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the new players</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a:t>
            </a:r>
            <a:pPr algn="l" indent="0" marL="0">
              <a:buNone/>
            </a:pPr>
            <a:r>
              <a:rPr lang="ar-SA" altLang="en-US" sz="1450" dirty="0">
                <a:solidFill>
                  <a:srgbClr val="5A6472"/>
                </a:solidFill>
                <a:latin typeface="Amiri" pitchFamily="2" charset="-78"/>
                <a:ea typeface="Amiri" pitchFamily="2" charset="-78"/>
                <a:cs typeface="Amiri" pitchFamily="2" charset="-78"/>
              </a:rPr>
              <a:t>ـِينَ</a:t>
            </a:r>
            <a:pPr algn="l" indent="0" marL="0">
              <a:buNone/>
            </a:pPr>
            <a:r>
              <a:rPr lang="en-US" sz="1100" dirty="0">
                <a:solidFill>
                  <a:srgbClr val="5A6472"/>
                </a:solidFill>
                <a:latin typeface="Calibri" pitchFamily="34" charset="0"/>
                <a:cs typeface="Amiri" pitchFamily="2" charset="-78"/>
              </a:rPr>
              <a:t> (object)</a:t>
            </a:r>
            <a:endParaRPr lang="en-US" sz="1100" dirty="0"/>
          </a:p>
        </p:txBody>
      </p:sp>
      <p:sp>
        <p:nvSpPr>
          <p:cNvPr id="37" name="Text 34"/>
          <p:cNvSpPr txBox="1"/>
          <p:nvPr/>
        </p:nvSpPr>
        <p:spPr>
          <a:xfrm>
            <a:off x="3840480" y="4626864"/>
            <a:ext cx="43891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قَابَلْتُ مُهَنْدِسِينَ مِصْرِيِّينَ.</a:t>
            </a:r>
            <a:endParaRPr lang="ar-SA" sz="2400" dirty="0"/>
          </a:p>
        </p:txBody>
      </p:sp>
      <p:sp>
        <p:nvSpPr>
          <p:cNvPr id="38" name="Text 35"/>
          <p:cNvSpPr txBox="1"/>
          <p:nvPr/>
        </p:nvSpPr>
        <p:spPr>
          <a:xfrm>
            <a:off x="56692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met Egyptian engineers.</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adjective of a human masculine plural is plural too — and shares the same case.</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Subject: “The engineers arrived.”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 الْمُهَنْدِسِينَ.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 الْمُهَنْدِسَاتُ.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 الْمُهَنْدِسُونَ.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 choose.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الْمُوَظَّفِينَ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الْمُوَظَّفُونَ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الْمُوَظَّفَاتُ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“I thanked the teachers.”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شَكَرْتُ الْمُعَلِّمُونَ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شَكَرْتُ الْمُعَلِّمِينَ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شَكَرْتُ الْمُعَلِّمَاتِ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نَشِيطُونَ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نَشِيطَةٌ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الطُّلَّابُ نَشِيطٌ</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Subject: “The engineers arrived.”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 الْمُهَنْدِسِينَ.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 الْمُهَنْدِسَاتُ.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وَصَلَ الْمُهَنْدِسُونَ.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Nominative subject.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إِلَى</a:t>
            </a:r>
            <a:pPr algn="l" indent="0" marL="0">
              <a:buNone/>
            </a:pPr>
            <a:r>
              <a:rPr lang="en-US" sz="1250" b="1" dirty="0">
                <a:solidFill>
                  <a:srgbClr val="1B3B6F"/>
                </a:solidFill>
                <a:latin typeface="Calibri" pitchFamily="34" charset="0"/>
                <a:cs typeface="Amiri" pitchFamily="2" charset="-78"/>
              </a:rPr>
              <a:t> choose.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الْمُوَظَّفِينَ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الْمُوَظَّفُونَ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الْمُوَظَّفَاتُ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“I thanked the teachers.”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شَكَرْتُ الْمُعَلِّمُونَ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شَكَرْتُ الْمُعَلِّمِينَ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شَكَرْتُ الْمُعَلِّمَاتِ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Accusative.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الطُّلَّابُ نَشِيطُونَ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نَشِيطَةٌ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الطُّلَّابُ نَشِيطٌ</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Human masculine plural.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choose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Singular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مُهَنْدِسٌ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male profession.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Subject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وَصَلَ الْمُهَنْدِسُونَ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arrived → -ūna.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After </a:t>
            </a:r>
            <a:pPr algn="l" indent="0" marL="0">
              <a:buNone/>
            </a:pPr>
            <a:r>
              <a:rPr lang="ar-SA" altLang="en-US" sz="1650" b="1" dirty="0">
                <a:solidFill>
                  <a:srgbClr val="6B4C9A"/>
                </a:solidFill>
                <a:latin typeface="Amiri" pitchFamily="2" charset="-78"/>
                <a:ea typeface="Amiri" pitchFamily="2" charset="-78"/>
                <a:cs typeface="Amiri" pitchFamily="2" charset="-78"/>
              </a:rPr>
              <a:t>مَعَ</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مَعَ الْمُهَنْدِسِينَ</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Preposition → -īna.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Iḍāfa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مُهَنْدِسُو الشَّرِكَةِ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noun → no nūn.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-ŪNA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-ĪNA (other)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وَصَلَ </a:t>
            </a:r>
            <a:pPr rtl="1" algn="r" indent="0" marL="0">
              <a:buNone/>
            </a:pPr>
            <a:r>
              <a:rPr lang="ar-SA" altLang="en-US" sz="2600" b="1" dirty="0">
                <a:solidFill>
                  <a:srgbClr val="0E7C86"/>
                </a:solidFill>
                <a:latin typeface="Amiri" pitchFamily="2" charset="-78"/>
                <a:ea typeface="Amiri" pitchFamily="2" charset="-78"/>
                <a:cs typeface="Amiri" pitchFamily="2" charset="-78"/>
              </a:rPr>
              <a:t>الْمُهَنْدِسُونَ</a:t>
            </a:r>
            <a:pPr rtl="1" algn="r" indent="0" marL="0">
              <a:buNone/>
            </a:pPr>
            <a:r>
              <a:rPr lang="ar-SA" altLang="en-US" sz="2600" b="1" dirty="0">
                <a:solidFill>
                  <a:srgbClr val="1B3B6F"/>
                </a:solidFill>
                <a:latin typeface="Amiri" pitchFamily="2" charset="-78"/>
                <a:ea typeface="Amiri" pitchFamily="2" charset="-78"/>
                <a:cs typeface="Amiri" pitchFamily="2" charset="-78"/>
              </a:rPr>
              <a:t> صَبَاحًا، وَعَمِلْتُ مَعَ </a:t>
            </a:r>
            <a:pPr rtl="1" algn="r" indent="0" marL="0">
              <a:buNone/>
            </a:pPr>
            <a:r>
              <a:rPr lang="ar-SA" altLang="en-US" sz="2600" b="1" dirty="0">
                <a:solidFill>
                  <a:srgbClr val="D6336C"/>
                </a:solidFill>
                <a:latin typeface="Amiri" pitchFamily="2" charset="-78"/>
                <a:ea typeface="Amiri" pitchFamily="2" charset="-78"/>
                <a:cs typeface="Amiri" pitchFamily="2" charset="-78"/>
              </a:rPr>
              <a:t>الْمُهَنْدِسِينَ</a:t>
            </a:r>
            <a:pPr rtl="1" algn="r" indent="0" marL="0">
              <a:buNone/>
            </a:pPr>
            <a:r>
              <a:rPr lang="ar-SA" altLang="en-US" sz="2600" b="1" dirty="0">
                <a:solidFill>
                  <a:srgbClr val="1B3B6F"/>
                </a:solidFill>
                <a:latin typeface="Amiri" pitchFamily="2" charset="-78"/>
                <a:ea typeface="Amiri" pitchFamily="2" charset="-78"/>
                <a:cs typeface="Amiri" pitchFamily="2" charset="-78"/>
              </a:rPr>
              <a:t> طُولَ الْيَوْمِ. مُهَنْدِسُو الشَّرِكَةِ </a:t>
            </a:r>
            <a:pPr rtl="1" algn="r" indent="0" marL="0">
              <a:buNone/>
            </a:pPr>
            <a:r>
              <a:rPr lang="ar-SA" altLang="en-US" sz="2600" b="1" dirty="0">
                <a:solidFill>
                  <a:srgbClr val="0E7C86"/>
                </a:solidFill>
                <a:latin typeface="Amiri" pitchFamily="2" charset="-78"/>
                <a:ea typeface="Amiri" pitchFamily="2" charset="-78"/>
                <a:cs typeface="Amiri" pitchFamily="2" charset="-78"/>
              </a:rPr>
              <a:t>مُجْتَهِدُونَ</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engineers arrived in the morning, and I worked with the engineers all day. The company’s engineers are hard-working.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الْمُعَلِّمُونَ فِي الْفَصْلِ.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teachers are in the class.</a:t>
            </a:r>
            <a:endParaRPr lang="en-US" sz="1250" dirty="0"/>
          </a:p>
          <a:p>
            <a:pPr indent="0" marL="0">
              <a:buNone/>
            </a:pPr>
            <a:r>
              <a:rPr lang="en-US" sz="1050" i="1" dirty="0">
                <a:solidFill>
                  <a:srgbClr val="8A6D1E"/>
                </a:solidFill>
                <a:latin typeface="Calibri" pitchFamily="34" charset="0"/>
                <a:cs typeface="Amiri" pitchFamily="2" charset="-78"/>
              </a:rPr>
              <a:t>Subject → -ūna.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شَكَرْتُ الْمُعَلِّمِينَ.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thanked the teachers.</a:t>
            </a:r>
            <a:endParaRPr lang="en-US" sz="1250" dirty="0"/>
          </a:p>
          <a:p>
            <a:pPr indent="0" marL="0">
              <a:buNone/>
            </a:pPr>
            <a:r>
              <a:rPr lang="en-US" sz="1050" i="1" dirty="0">
                <a:solidFill>
                  <a:srgbClr val="8A6D1E"/>
                </a:solidFill>
                <a:latin typeface="Calibri" pitchFamily="34" charset="0"/>
                <a:cs typeface="Amiri" pitchFamily="2" charset="-78"/>
              </a:rPr>
              <a:t>Object → -īna.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ذَهَبْتُ إِلَى الْمُوَظَّفِينَ.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went to the employees.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إِلَى → -īna.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لَاعِبُو الْفَرِيقِ مَشْهُورُونَ.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team’s players are famous.</a:t>
            </a:r>
            <a:endParaRPr lang="en-US" sz="1250" dirty="0"/>
          </a:p>
          <a:p>
            <a:pPr indent="0" marL="0">
              <a:buNone/>
            </a:pPr>
            <a:r>
              <a:rPr lang="en-US" sz="1050" i="1" dirty="0">
                <a:solidFill>
                  <a:srgbClr val="8A6D1E"/>
                </a:solidFill>
                <a:latin typeface="Calibri" pitchFamily="34" charset="0"/>
                <a:cs typeface="Amiri" pitchFamily="2" charset="-78"/>
              </a:rPr>
              <a:t>Iḍāfa: nūn drops.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-ŪNA OR -ĪNA?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 الْمُعَلِّمُونَ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 اللَّاعِبِينَ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الْمُوَظَّفِينَ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الْمُهَنْدِسُونَ مَشْغُولُونَ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شَكَرْتُ الْمُعَلِّمِينَ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 الْمُسَافِرُونَ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الْمُسْلِمِينَ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الْفَلَّاحُونَ نَشِيطُونَ</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-ūna (subject)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-īna (object / after a preposition)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-ūna (subject)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 الْمُعَلِّمُونَ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الْمُهَنْدِسُونَ مَشْغُولُونَ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 الْمُسَافِرُونَ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الْفَلَّاحُونَ نَشِيطُونَ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-īna (object / after a preposition)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رَأَيْتُ اللَّاعِبِينَ</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الْمُوَظَّفِينَ</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شَكَرْتُ الْمُعَلِّمِينَ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الْمُسْلِمِينَ</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شَكَرْتُ الْمُعَلِّمُونَ.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Subject or object?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مُعَلِّمُونَ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First noun of an iḍāfa?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الْمُعَلِّمُونَ مُجْتَهِدٌ.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adjective agree?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شَكَرْتُ الْمُعَلِّمُونَ.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شَكَرْتُ الْمُعَلِّمِينَ.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Object → -īna.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مُعَلِّمُونَ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مُعَلِّمُو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 noun of an iḍāfa drops its nūn.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الْمُعَلِّمُونَ مُجْتَهِدٌ.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الْمُعَلِّمُونَ مُجْتَهِدُونَ.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People in the plural take a plural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5–8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Idāfa form “school teachers”.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مُعَلِّمُونَ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الْمُعَلِّمُونَ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مُعَلِّمُو الْمَدْرَسَةِ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Sound masculine plural of </a:t>
            </a:r>
            <a:pPr algn="l" indent="0" marL="0">
              <a:buNone/>
            </a:pPr>
            <a:r>
              <a:rPr lang="ar-SA" altLang="en-US" sz="1650" b="1" dirty="0">
                <a:solidFill>
                  <a:srgbClr val="1B3B6F"/>
                </a:solidFill>
                <a:latin typeface="Amiri" pitchFamily="2" charset="-78"/>
                <a:ea typeface="Amiri" pitchFamily="2" charset="-78"/>
                <a:cs typeface="Amiri" pitchFamily="2" charset="-78"/>
              </a:rPr>
              <a:t>مُجْتَهِدٌ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مَجَاهِدُ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automatically sound masculine?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مُهَنْدِسٌ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ـينَ</a:t>
            </a:r>
            <a:pPr algn="l" indent="0" marL="0">
              <a:buNone/>
            </a:pPr>
            <a:r>
              <a:rPr lang="en-US" sz="1250" b="1" dirty="0">
                <a:solidFill>
                  <a:srgbClr val="1B3B6F"/>
                </a:solidFill>
                <a:latin typeface="Calibri" pitchFamily="34" charset="0"/>
                <a:cs typeface="Amiri" pitchFamily="2" charset="-78"/>
              </a:rPr>
              <a:t> marks: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nominative</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dual nominative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accusative/genitive</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Idāfa form “school teachers”.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مُعَلِّمُونَ الْمَدْرَسَةِ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الْمُعَلِّمُونَ الْمَدْرَسَةِ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مُعَلِّمُو الْمَدْرَسَةِ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Nūn drops in idāfa.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Sound masculine plural of </a:t>
            </a:r>
            <a:pPr algn="l" indent="0" marL="0">
              <a:buNone/>
            </a:pPr>
            <a:r>
              <a:rPr lang="ar-SA" altLang="en-US" sz="1650" b="1" dirty="0">
                <a:solidFill>
                  <a:srgbClr val="1B3B6F"/>
                </a:solidFill>
                <a:latin typeface="Amiri" pitchFamily="2" charset="-78"/>
                <a:ea typeface="Amiri" pitchFamily="2" charset="-78"/>
                <a:cs typeface="Amiri" pitchFamily="2" charset="-78"/>
              </a:rPr>
              <a:t>مُجْتَهِدٌ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مُجْتَهِدُونَ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مَجَاهِدُ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Regular ending.</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not automatically sound masculine?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مُهَنْدِسٌ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objects often use other plural patterns.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2" charset="-78"/>
                <a:ea typeface="Amiri" pitchFamily="2" charset="-78"/>
                <a:cs typeface="Amiri" pitchFamily="2" charset="-78"/>
              </a:rPr>
              <a:t>ـينَ</a:t>
            </a:r>
            <a:pPr algn="l" indent="0" marL="0">
              <a:buNone/>
            </a:pPr>
            <a:r>
              <a:rPr lang="en-US" sz="1250" b="1" dirty="0">
                <a:solidFill>
                  <a:srgbClr val="1B3B6F"/>
                </a:solidFill>
                <a:latin typeface="Calibri" pitchFamily="34" charset="0"/>
                <a:cs typeface="Amiri" pitchFamily="2" charset="-78"/>
              </a:rPr>
              <a:t> marks: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nominative</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dual nominative</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accusative/genitive</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Case-sensitive plural ending.</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READ AND NOTICE · WEBSITE READ-AND-NOTICE TEXT, EXTENDED BY THE TEACHER</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school’s teachers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مَدْرَسَتِنَا مُعَلِّمُونَ مُجْتَهِدُونَ وَمُعَلِّمَاتٌ خَبِيرَاتٌ. يَصِلُ الْمُعَلِّمُونَ مُبَكِّرِينَ كُلَّ يَوْمٍ. فِي الِاسْتِرَاحَةِ يَتَحَدَّثُ الطُّلَّابُ مَعَ الْمُعَلِّمِينَ، وَيَلْعَبُ لَاعِبُو فَرِيقِ الْمَدْرَسَةِ فِي الْمَلْعَبِ. الْمُوَظَّفُونَ فِي الْمَكْتَبِ لُطَفَاءُ.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مُجْتَهِدُونَ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hard-working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خَبِيرَاتٌ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يَصِلُ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arrive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مُبَكِّرِينَ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early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الِاسْتِرَاحَةِ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break</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لَاعِبُو فَرِيقِ الْمَدْرَسَةِ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school team’s players</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لُطَفَاءُ</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kind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الْمُعَلِّمِينَ</a:t>
            </a:r>
            <a:pPr algn="l" indent="0" marL="0">
              <a:buNone/>
            </a:pPr>
            <a:r>
              <a:rPr lang="en-US" sz="1250" b="1" dirty="0">
                <a:solidFill>
                  <a:srgbClr val="1B3B6F"/>
                </a:solidFill>
                <a:latin typeface="Calibri" pitchFamily="34" charset="0"/>
                <a:cs typeface="Amiri" pitchFamily="2" charset="-78"/>
              </a:rPr>
              <a:t> in the third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comes after </a:t>
            </a:r>
            <a:pPr algn="l" indent="0" marL="0">
              <a:buNone/>
            </a:pPr>
            <a:r>
              <a:rPr lang="ar-SA" altLang="en-US" sz="1650" dirty="0">
                <a:solidFill>
                  <a:srgbClr val="1F2A37"/>
                </a:solidFill>
                <a:latin typeface="Amiri" pitchFamily="2" charset="-78"/>
                <a:ea typeface="Amiri" pitchFamily="2" charset="-78"/>
                <a:cs typeface="Amiri" pitchFamily="2" charset="-78"/>
              </a:rPr>
              <a:t>مَعَ</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feminine.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يَصِلُ الْمُعَلِّمُونَ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comes after a preposition.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an object.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الْمُعَلِّمُونَ</a:t>
            </a:r>
            <a:pPr algn="l" indent="0" marL="0">
              <a:buNone/>
            </a:pPr>
            <a:r>
              <a:rPr lang="en-US" sz="1250" dirty="0">
                <a:solidFill>
                  <a:srgbClr val="1F2A37"/>
                </a:solidFill>
                <a:latin typeface="Calibri" pitchFamily="34" charset="0"/>
                <a:cs typeface="Amiri" pitchFamily="2" charset="-78"/>
              </a:rPr>
              <a:t> is the subject.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there no nūn in </a:t>
            </a:r>
            <a:pPr algn="l" indent="0" marL="0">
              <a:buNone/>
            </a:pPr>
            <a:r>
              <a:rPr lang="ar-SA" altLang="en-US" sz="1650" b="1" dirty="0">
                <a:solidFill>
                  <a:srgbClr val="1B3B6F"/>
                </a:solidFill>
                <a:latin typeface="Amiri" pitchFamily="2" charset="-78"/>
                <a:ea typeface="Amiri" pitchFamily="2" charset="-78"/>
                <a:cs typeface="Amiri" pitchFamily="2" charset="-78"/>
              </a:rPr>
              <a:t>لَاعِبُو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first noun of an iḍāfa.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singular.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sound masculine plural adjective?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لُطَفَاءُ</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خَبِيرَاتٌ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الْمُعَلِّمِينَ</a:t>
            </a:r>
            <a:pPr algn="l" indent="0" marL="0">
              <a:buNone/>
            </a:pPr>
            <a:r>
              <a:rPr lang="en-US" sz="1250" b="1" dirty="0">
                <a:solidFill>
                  <a:srgbClr val="1B3B6F"/>
                </a:solidFill>
                <a:latin typeface="Calibri" pitchFamily="34" charset="0"/>
                <a:cs typeface="Amiri" pitchFamily="2" charset="-78"/>
              </a:rPr>
              <a:t> in the third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subject.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comes after </a:t>
            </a:r>
            <a:pPr algn="l" indent="0" marL="0">
              <a:buNone/>
            </a:pPr>
            <a:r>
              <a:rPr lang="ar-SA" altLang="en-US" sz="1650" b="1" dirty="0">
                <a:solidFill>
                  <a:srgbClr val="1F2A37"/>
                </a:solidFill>
                <a:latin typeface="Amiri" pitchFamily="2" charset="-78"/>
                <a:ea typeface="Amiri" pitchFamily="2" charset="-78"/>
                <a:cs typeface="Amiri" pitchFamily="2" charset="-78"/>
              </a:rPr>
              <a:t>مَعَ</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feminine.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 preposition → -īna.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ea typeface="Amiri" pitchFamily="2" charset="-78"/>
                <a:cs typeface="Amiri" pitchFamily="2" charset="-78"/>
              </a:rPr>
              <a:t>يَصِلُ الْمُعَلِّمُونَ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comes after a preposition.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an object.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الْمُعَلِّمُونَ</a:t>
            </a:r>
            <a:pPr algn="l" indent="0" marL="0">
              <a:buNone/>
            </a:pPr>
            <a:r>
              <a:rPr lang="en-US" sz="1250" b="1" dirty="0">
                <a:solidFill>
                  <a:srgbClr val="1F2A37"/>
                </a:solidFill>
                <a:latin typeface="Calibri" pitchFamily="34" charset="0"/>
                <a:cs typeface="Amiri" pitchFamily="2" charset="-78"/>
              </a:rPr>
              <a:t> is the subject.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Subject → -ūna.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there no nūn in </a:t>
            </a:r>
            <a:pPr algn="l" indent="0" marL="0">
              <a:buNone/>
            </a:pPr>
            <a:r>
              <a:rPr lang="ar-SA" altLang="en-US" sz="1650" b="1" dirty="0">
                <a:solidFill>
                  <a:srgbClr val="1B3B6F"/>
                </a:solidFill>
                <a:latin typeface="Amiri" pitchFamily="2" charset="-78"/>
                <a:ea typeface="Amiri" pitchFamily="2" charset="-78"/>
                <a:cs typeface="Amiri" pitchFamily="2" charset="-78"/>
              </a:rPr>
              <a:t>لَاعِبُو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the first noun of an iḍāfa.</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singular.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لَاعِبُو فَرِيقِ الْمَدْرَسَةِ.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sound masculine plural adjective?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لُطَفَاءُ</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مُجْتَهِدُونَ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خَبِيرَاتٌ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Whole stem + -ūna.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people in my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فِي مَدْرَسَتِكَ؟ (مُعَلِّمُونَ، مُوَظَّفُونَ …)</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تَتَحَدَّثُ فِي الْمَدْرَسَةِ؟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لَاعِبِي فَرِيقِكَ الْمُفَضَّلِ.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مَدْرَسَتِي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أَتَحَدَّثُ مَعَ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لَاعِبُو ___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فِي مَدْرَسَتِكَ؟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in your school?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مَدْرَسَتِي مُعَلِّمُونَ لُطَفَاءُ، وَأَتَحَدَّثُ مَعَ الْمُعَلِّمِينَ كُلَّ يَوْمٍ.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In my school there are kind teachers, and I talk with the teachers every day.</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with a plural subject in </a:t>
            </a:r>
            <a:pPr algn="l" indent="0" marL="0">
              <a:buNone/>
            </a:pPr>
            <a:r>
              <a:rPr lang="ar-SA" altLang="en-US" sz="1800" b="1" dirty="0">
                <a:solidFill>
                  <a:srgbClr val="1F2A37"/>
                </a:solidFill>
                <a:latin typeface="Amiri" pitchFamily="2" charset="-78"/>
                <a:ea typeface="Amiri" pitchFamily="2" charset="-78"/>
                <a:cs typeface="Amiri" pitchFamily="2" charset="-78"/>
              </a:rPr>
              <a:t>ـُونَ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مُعَلِّمُونَ · مُهَنْدِسُونَ · لَاعِبُونَ + an adjective.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Mix </a:t>
            </a:r>
            <a:pPr algn="l" indent="0" marL="0">
              <a:buNone/>
            </a:pPr>
            <a:r>
              <a:rPr lang="ar-SA" altLang="en-US" sz="1800" b="1" dirty="0">
                <a:solidFill>
                  <a:srgbClr val="1F2A37"/>
                </a:solidFill>
                <a:latin typeface="Amiri" pitchFamily="2" charset="-78"/>
                <a:ea typeface="Amiri" pitchFamily="2" charset="-78"/>
                <a:cs typeface="Amiri" pitchFamily="2" charset="-78"/>
              </a:rPr>
              <a:t>ـُونَ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ـِينَ</a:t>
            </a:r>
            <a:pPr algn="l" indent="0" marL="0">
              <a:buNone/>
            </a:pPr>
            <a:r>
              <a:rPr lang="en-US" sz="1400" b="1" dirty="0">
                <a:solidFill>
                  <a:srgbClr val="1F2A37"/>
                </a:solidFill>
                <a:latin typeface="Calibri" pitchFamily="34" charset="0"/>
                <a:cs typeface="Amiri" pitchFamily="2" charset="-78"/>
              </a:rPr>
              <a:t>: three after a preposition, two as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Label each plural S, O or P.</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8–12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with one iḍāfa plural (</a:t>
            </a:r>
            <a:pPr algn="l" indent="0" marL="0">
              <a:buNone/>
            </a:pPr>
            <a:r>
              <a:rPr lang="ar-SA" altLang="en-US" sz="1800" b="1" dirty="0">
                <a:solidFill>
                  <a:srgbClr val="1F2A37"/>
                </a:solidFill>
                <a:latin typeface="Amiri" pitchFamily="2" charset="-78"/>
                <a:ea typeface="Amiri" pitchFamily="2" charset="-78"/>
                <a:cs typeface="Amiri" pitchFamily="2" charset="-78"/>
              </a:rPr>
              <a:t>مُعَلِّمُو</a:t>
            </a:r>
            <a:pPr algn="l" indent="0" marL="0">
              <a:buNone/>
            </a:pPr>
            <a:r>
              <a:rPr lang="en-US" sz="1400" b="1" dirty="0">
                <a:solidFill>
                  <a:srgbClr val="1F2A37"/>
                </a:solidFill>
                <a:latin typeface="Calibri" pitchFamily="34" charset="0"/>
                <a:cs typeface="Amiri" pitchFamily="2" charset="-78"/>
              </a:rPr>
              <a:t> …) and plural adjectives.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Check every nūn: does it stay or drop?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أَتَحَدَّثُ مَعَ الْمُعَلِّمِينَ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talk with the teachers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thanked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مُعَلِّمُو الْمَدْرَسَةِ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school’s teachers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شَاهَدْتُ اللَّاعِبِينَ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watched the players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مَدْرَسَتِي مُعَلِّمُونَ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school there are … teachers.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اللَّاعِبُونَ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players are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يَعْمَلُ الْمُهَنْدِسُونَ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engineers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الْمُوَظَّفُونَ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employees are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مُعَلِّمُونَ / مُعَلِّمِينَ  ·  مُهَنْدِسُونَ / مُهَنْدِسِينَ  ·  لَاعِبُونَ / لَاعِبِينَ  ·  مُوَظَّفُونَ / مُوَظَّفِينَ  ·  مُسَافِرُونَ  ·  مُجْتَهِدُونَ  ·  نَشِيطُونَ  ·  مَشْهُورُونَ  ·  مَعَ  ·  إِلَى  ·  شَكَرْتُ  ·  رَأَيْتُ</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8–12 connected sentences about your school or local area with at least six target noun forms.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plural subjects with </a:t>
            </a:r>
            <a:pPr algn="l" indent="0" marL="0">
              <a:buNone/>
            </a:pPr>
            <a:r>
              <a:rPr lang="ar-SA" altLang="en-US" sz="1550" dirty="0">
                <a:solidFill>
                  <a:srgbClr val="1F2A37"/>
                </a:solidFill>
                <a:latin typeface="Amiri" pitchFamily="2" charset="-78"/>
                <a:ea typeface="Amiri" pitchFamily="2" charset="-78"/>
                <a:cs typeface="Amiri" pitchFamily="2" charset="-78"/>
              </a:rPr>
              <a:t>ـُونَ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plurals after a preposition or as objects with </a:t>
            </a:r>
            <a:pPr algn="l" indent="0" marL="0">
              <a:buNone/>
            </a:pPr>
            <a:r>
              <a:rPr lang="ar-SA" altLang="en-US" sz="1550" dirty="0">
                <a:solidFill>
                  <a:srgbClr val="1F2A37"/>
                </a:solidFill>
                <a:latin typeface="Amiri" pitchFamily="2" charset="-78"/>
                <a:ea typeface="Amiri" pitchFamily="2" charset="-78"/>
                <a:cs typeface="Amiri" pitchFamily="2" charset="-78"/>
              </a:rPr>
              <a:t>ـِينَ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iḍāfa plural without nūn.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Plural adjectives for people.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with a broken plural (</a:t>
            </a:r>
            <a:pPr algn="l" indent="0" marL="0">
              <a:buNone/>
            </a:pPr>
            <a:r>
              <a:rPr lang="ar-SA" altLang="en-US" sz="1550" dirty="0">
                <a:solidFill>
                  <a:srgbClr val="1F2A37"/>
                </a:solidFill>
                <a:latin typeface="Amiri" pitchFamily="2" charset="-78"/>
                <a:ea typeface="Amiri" pitchFamily="2" charset="-78"/>
                <a:cs typeface="Amiri" pitchFamily="2" charset="-78"/>
              </a:rPr>
              <a:t>الطُّلَّابُ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مُعَلِّمُو الْمَدْرَسَةِ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school’s teachers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الْمُوَظَّفِينَ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the employees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اللَّاعِبُونَ الْمَشْهُورُونَ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famous players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شَكَرْتُ الْمُعَلِّمِينَ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thanked the teachers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يَصِلُونَ مُبَكِّرِينَ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arrive early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الْمُسَافِرُونَ فِي الْمَطَارِ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travellers at the airport</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مَدْرَسَتِي مُعَلِّمُونَ مُجْتَهِدُونَ، وَهُمْ يَصِلُونَ مُبَكِّرِينَ. أُحِبُّ أَنْ أَتَحَدَّثَ مَعَ الْمُعَلِّمِينَ بَعْدَ الدَّرْسِ. فِي الْمَكْتَبِ مُوَظَّفُونَ لُطَفَاءُ يُسَاعِدُونَ الطُّلَّابَ. لَاعِبُو فَرِيقِ الْمَدْرَسَةِ مَشْهُورُونَ فِي الْمَدِينَةِ، وَشَاهَدْتُ اللَّاعِبِينَ فِي الْمُبَارَاةِ الْأَخِيرَةِ. فِي الْعُطْلَةِ يَزُورُ مُهَنْدِسُونَ الْمَدْرَسَةَ وَيَتَحَدَّثُونَ عَنْ عَمَلِهِمْ.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school there are hard-working teachers, and they arrive early. I like to talk with the teachers after the lesson. In the office there are kind employees who help the students. The school team’s players are famous in the city, and I watched the players in the last match. In the holidays engineers visit the school and talk about their work.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-ūna 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-īna after a preposition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-īna objects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iḍāfa: no nūn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plural subjects end in </a:t>
            </a:r>
            <a:pPr algn="l" indent="0" marL="0">
              <a:buNone/>
            </a:pPr>
            <a:r>
              <a:rPr lang="ar-SA" altLang="en-US" sz="1700" dirty="0">
                <a:solidFill>
                  <a:srgbClr val="1F2A37"/>
                </a:solidFill>
                <a:latin typeface="Amiri" pitchFamily="2" charset="-78"/>
                <a:ea typeface="Amiri" pitchFamily="2" charset="-78"/>
                <a:cs typeface="Amiri" pitchFamily="2" charset="-78"/>
              </a:rPr>
              <a:t>ـُونَ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this plural only for people.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 preposition or as an object I wrote </a:t>
            </a:r>
            <a:pPr algn="l" indent="0" marL="0">
              <a:buNone/>
            </a:pPr>
            <a:r>
              <a:rPr lang="ar-SA" altLang="en-US" sz="1700" dirty="0">
                <a:solidFill>
                  <a:srgbClr val="1F2A37"/>
                </a:solidFill>
                <a:latin typeface="Amiri" pitchFamily="2" charset="-78"/>
                <a:ea typeface="Amiri" pitchFamily="2" charset="-78"/>
                <a:cs typeface="Amiri" pitchFamily="2" charset="-78"/>
              </a:rPr>
              <a:t>ـِينَ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adjectives for people are plural.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dropped the nūn in iḍāfa.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subject: “The travellers arrived.”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 الْمُسَافِرُونَ.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 الْمُسَافِرِينَ.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 الْمُسَافِرَاتِ.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مِنْ</a:t>
            </a:r>
            <a:pPr algn="l" indent="0" marL="0">
              <a:buNone/>
            </a:pPr>
            <a:r>
              <a:rPr lang="en-US" sz="1250" b="1" dirty="0">
                <a:solidFill>
                  <a:srgbClr val="1B3B6F"/>
                </a:solidFill>
                <a:latin typeface="Calibri" pitchFamily="34" charset="0"/>
                <a:cs typeface="Amiri" pitchFamily="2" charset="-78"/>
              </a:rPr>
              <a:t>,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الْمُوَظَّفُونَ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الْمُوَظَّفِينَ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الْمُوَظَّفُو</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club’s players”.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لَاعِبُو النَّادِي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لَاعِبُونَ النَّادِي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اللَّاعِبُونَ النَّادِي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subject: “The travellers arrived.”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وَصَلَ الْمُسَافِرُونَ.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وَصَلَ الْمُسَافِرِينَ.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وَصَلَ الْمُسَافِرَاتِ.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Subject → -ūna.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t>
            </a:r>
            <a:pPr algn="l" indent="0" marL="0">
              <a:buNone/>
            </a:pPr>
            <a:r>
              <a:rPr lang="ar-SA" altLang="en-US" sz="1650" b="1" dirty="0">
                <a:solidFill>
                  <a:srgbClr val="1B3B6F"/>
                </a:solidFill>
                <a:latin typeface="Amiri" pitchFamily="2" charset="-78"/>
                <a:ea typeface="Amiri" pitchFamily="2" charset="-78"/>
                <a:cs typeface="Amiri" pitchFamily="2" charset="-78"/>
              </a:rPr>
              <a:t>مِنْ</a:t>
            </a:r>
            <a:pPr algn="l" indent="0" marL="0">
              <a:buNone/>
            </a:pPr>
            <a:r>
              <a:rPr lang="en-US" sz="1250" b="1" dirty="0">
                <a:solidFill>
                  <a:srgbClr val="1B3B6F"/>
                </a:solidFill>
                <a:latin typeface="Calibri" pitchFamily="34" charset="0"/>
                <a:cs typeface="Amiri" pitchFamily="2" charset="-78"/>
              </a:rPr>
              <a:t>, choose.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الْمُوَظَّفُونَ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الْمُوَظَّفِينَ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الْمُوَظَّفُو</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Genitive → -īna.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club’s players”.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لَاعِبُو النَّادِي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لَاعِبُونَ النَّادِي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اللَّاعِبُونَ النَّادِي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Iḍāfa: nūn drops, no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GM-N-03 · 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GM-N-04: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Nouns · GM-N-03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GM-N-04 · Sound Feminine Plural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جَمْعُ الْمُؤَنَّثِ السَّالِمِ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sound feminine 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طَالِبَاتٌ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female students</a:t>
            </a:r>
            <a:pPr indent="0" marL="0">
              <a:buNone/>
            </a:pPr>
            <a:r>
              <a:rPr lang="ar-SA" sz="1000" i="1" dirty="0">
                <a:solidFill>
                  <a:srgbClr val="5A6472"/>
                </a:solidFill>
                <a:latin typeface="Calibri" pitchFamily="34" charset="0"/>
                <a:ea typeface="Amiri" pitchFamily="2" charset="-78"/>
                <a:cs typeface="Amiri" pitchFamily="2" charset="-78"/>
              </a:rPr>
              <a:t>  sing. طَالِبَةٌ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سَيَّارَاتٌ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cars</a:t>
            </a:r>
            <a:pPr indent="0" marL="0">
              <a:buNone/>
            </a:pPr>
            <a:r>
              <a:rPr lang="ar-SA" sz="1000" i="1" dirty="0">
                <a:solidFill>
                  <a:srgbClr val="5A6472"/>
                </a:solidFill>
                <a:latin typeface="Calibri" pitchFamily="34" charset="0"/>
                <a:ea typeface="Amiri" pitchFamily="2" charset="-78"/>
                <a:cs typeface="Amiri" pitchFamily="2" charset="-78"/>
              </a:rPr>
              <a:t>  sing. سَيَّارَةٌ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مُعَلِّمَاتٌ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female teachers</a:t>
            </a:r>
            <a:pPr indent="0" marL="0">
              <a:buNone/>
            </a:pPr>
            <a:r>
              <a:rPr lang="ar-SA" sz="1000" i="1" dirty="0">
                <a:solidFill>
                  <a:srgbClr val="5A6472"/>
                </a:solidFill>
                <a:latin typeface="Calibri" pitchFamily="34" charset="0"/>
                <a:ea typeface="Amiri" pitchFamily="2" charset="-78"/>
                <a:cs typeface="Amiri" pitchFamily="2" charset="-78"/>
              </a:rPr>
              <a:t>  sing. مُعَلِّمَةٌ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جَامِعَاتٌ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universities</a:t>
            </a:r>
            <a:pPr indent="0" marL="0">
              <a:buNone/>
            </a:pPr>
            <a:r>
              <a:rPr lang="ar-SA" sz="1000" i="1" dirty="0">
                <a:solidFill>
                  <a:srgbClr val="5A6472"/>
                </a:solidFill>
                <a:latin typeface="Calibri" pitchFamily="34" charset="0"/>
                <a:ea typeface="Amiri" pitchFamily="2" charset="-78"/>
                <a:cs typeface="Amiri" pitchFamily="2" charset="-78"/>
              </a:rPr>
              <a:t>  sing. جَامِعَةٌ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happens to the </a:t>
            </a:r>
            <a:pPr algn="l" indent="0" marL="0">
              <a:buNone/>
            </a:pPr>
            <a:r>
              <a:rPr lang="ar-SA" altLang="en-US" sz="1350" dirty="0">
                <a:solidFill>
                  <a:srgbClr val="1F2A37"/>
                </a:solidFill>
                <a:latin typeface="Amiri" pitchFamily="2" charset="-78"/>
                <a:ea typeface="Amiri" pitchFamily="2" charset="-78"/>
                <a:cs typeface="Amiri" pitchFamily="2" charset="-78"/>
              </a:rPr>
              <a:t>ة</a:t>
            </a:r>
            <a:pPr algn="l" indent="0" marL="0">
              <a:buNone/>
            </a:pPr>
            <a:r>
              <a:rPr lang="en-US" sz="1050" dirty="0">
                <a:solidFill>
                  <a:srgbClr val="1F2A37"/>
                </a:solidFill>
                <a:latin typeface="Calibri" pitchFamily="34" charset="0"/>
                <a:cs typeface="Amiri" pitchFamily="2" charset="-78"/>
              </a:rPr>
              <a:t> when </a:t>
            </a:r>
            <a:pPr algn="l" indent="0" marL="0">
              <a:buNone/>
            </a:pPr>
            <a:r>
              <a:rPr lang="ar-SA" altLang="en-US" sz="1350" dirty="0">
                <a:solidFill>
                  <a:srgbClr val="1F2A37"/>
                </a:solidFill>
                <a:latin typeface="Amiri" pitchFamily="2" charset="-78"/>
                <a:ea typeface="Amiri" pitchFamily="2" charset="-78"/>
                <a:cs typeface="Amiri" pitchFamily="2" charset="-78"/>
              </a:rPr>
              <a:t>طَالِبَةٌ</a:t>
            </a:r>
            <a:pPr algn="l" indent="0" marL="0">
              <a:buNone/>
            </a:pPr>
            <a:r>
              <a:rPr lang="en-US" sz="1050" dirty="0">
                <a:solidFill>
                  <a:srgbClr val="1F2A37"/>
                </a:solidFill>
                <a:latin typeface="Calibri" pitchFamily="34" charset="0"/>
                <a:cs typeface="Amiri" pitchFamily="2" charset="-78"/>
              </a:rPr>
              <a:t> becomes plural? Guess the rule.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طَالِبَةٌ ← ______ · سَيَّارَةٌ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Make ten sound masculine plurals from professions.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three with </a:t>
            </a:r>
            <a:pPr algn="l" indent="0" marL="0">
              <a:buNone/>
            </a:pPr>
            <a:r>
              <a:rPr lang="ar-SA" altLang="en-US" sz="1550" dirty="0">
                <a:solidFill>
                  <a:srgbClr val="1F2A37"/>
                </a:solidFill>
                <a:latin typeface="Amiri" pitchFamily="2" charset="-78"/>
                <a:ea typeface="Amiri" pitchFamily="2" charset="-78"/>
                <a:cs typeface="Amiri" pitchFamily="2" charset="-78"/>
              </a:rPr>
              <a:t>ـُونَ</a:t>
            </a:r>
            <a:pPr algn="l" indent="0" marL="0">
              <a:buNone/>
            </a:pPr>
            <a:r>
              <a:rPr lang="en-US" sz="1200" dirty="0">
                <a:solidFill>
                  <a:srgbClr val="1F2A37"/>
                </a:solidFill>
                <a:latin typeface="Calibri" pitchFamily="34" charset="0"/>
                <a:cs typeface="Amiri" pitchFamily="2" charset="-78"/>
              </a:rPr>
              <a:t>, three with </a:t>
            </a:r>
            <a:pPr algn="l" indent="0" marL="0">
              <a:buNone/>
            </a:pPr>
            <a:r>
              <a:rPr lang="ar-SA" altLang="en-US" sz="1550" dirty="0">
                <a:solidFill>
                  <a:srgbClr val="1F2A37"/>
                </a:solidFill>
                <a:latin typeface="Amiri" pitchFamily="2" charset="-78"/>
                <a:ea typeface="Amiri" pitchFamily="2" charset="-78"/>
                <a:cs typeface="Amiri" pitchFamily="2" charset="-78"/>
              </a:rPr>
              <a:t>ـِينَ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and three iḍāfa plurals (</a:t>
            </a:r>
            <a:pPr algn="l" indent="0" marL="0">
              <a:buNone/>
            </a:pPr>
            <a:r>
              <a:rPr lang="ar-SA" altLang="en-US" sz="1550" dirty="0">
                <a:solidFill>
                  <a:srgbClr val="1F2A37"/>
                </a:solidFill>
                <a:latin typeface="Amiri" pitchFamily="2" charset="-78"/>
                <a:ea typeface="Amiri" pitchFamily="2" charset="-78"/>
                <a:cs typeface="Amiri" pitchFamily="2" charset="-78"/>
              </a:rPr>
              <a:t>مُعَلِّمُو</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GM-N-04 · Sound Feminine Plural</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جَمْعُ الْمُؤَنَّثِ السَّالِمُ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people (male / mixed) → whole stem + </a:t>
            </a:r>
            <a:pPr algn="l" indent="0" marL="0">
              <a:buNone/>
            </a:pPr>
            <a:r>
              <a:rPr lang="ar-SA" altLang="en-US" sz="1700" b="1" dirty="0">
                <a:solidFill>
                  <a:srgbClr val="FFFFFF"/>
                </a:solidFill>
                <a:latin typeface="Amiri" pitchFamily="2" charset="-78"/>
                <a:ea typeface="Amiri" pitchFamily="2" charset="-78"/>
                <a:cs typeface="Amiri" pitchFamily="2" charset="-78"/>
              </a:rPr>
              <a:t>ـُونَ / ـِينَ</a:t>
            </a:r>
            <a:pPr algn="l" indent="0" marL="0">
              <a:buNone/>
            </a:pPr>
            <a:r>
              <a:rPr lang="en-US" sz="1300" b="1" dirty="0">
                <a:solidFill>
                  <a:srgbClr val="FFFFFF"/>
                </a:solidFill>
                <a:latin typeface="Calibri" pitchFamily="34" charset="0"/>
                <a:cs typeface="Amiri" pitchFamily="2" charset="-78"/>
              </a:rPr>
              <a:t> · subject </a:t>
            </a:r>
            <a:pPr algn="l" indent="0" marL="0">
              <a:buNone/>
            </a:pPr>
            <a:r>
              <a:rPr lang="ar-SA" altLang="en-US" sz="1700" b="1" dirty="0">
                <a:solidFill>
                  <a:srgbClr val="FFFFFF"/>
                </a:solidFill>
                <a:latin typeface="Amiri" pitchFamily="2" charset="-78"/>
                <a:ea typeface="Amiri" pitchFamily="2" charset="-78"/>
                <a:cs typeface="Amiri" pitchFamily="2" charset="-78"/>
              </a:rPr>
              <a:t>ـُونَ</a:t>
            </a:r>
            <a:pPr algn="l" indent="0" marL="0">
              <a:buNone/>
            </a:pPr>
            <a:r>
              <a:rPr lang="en-US" sz="1300" b="1" dirty="0">
                <a:solidFill>
                  <a:srgbClr val="FFFFFF"/>
                </a:solidFill>
                <a:latin typeface="Calibri" pitchFamily="34" charset="0"/>
                <a:cs typeface="Amiri" pitchFamily="2" charset="-78"/>
              </a:rPr>
              <a:t> · object or after a preposition </a:t>
            </a:r>
            <a:pPr algn="l" indent="0" marL="0">
              <a:buNone/>
            </a:pPr>
            <a:r>
              <a:rPr lang="ar-SA" altLang="en-US" sz="1700" b="1" dirty="0">
                <a:solidFill>
                  <a:srgbClr val="FFFFFF"/>
                </a:solidFill>
                <a:latin typeface="Amiri" pitchFamily="2" charset="-78"/>
                <a:ea typeface="Amiri" pitchFamily="2" charset="-78"/>
                <a:cs typeface="Amiri" pitchFamily="2" charset="-78"/>
              </a:rPr>
              <a:t>ـِينَ</a:t>
            </a:r>
            <a:pPr algn="l" indent="0" marL="0">
              <a:buNone/>
            </a:pPr>
            <a:r>
              <a:rPr lang="en-US" sz="1300" b="1" dirty="0">
                <a:solidFill>
                  <a:srgbClr val="FFFFFF"/>
                </a:solidFill>
                <a:latin typeface="Calibri" pitchFamily="34" charset="0"/>
                <a:cs typeface="Amiri" pitchFamily="2" charset="-78"/>
              </a:rPr>
              <a:t> · iḍāfa drops the nūn.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GM-N-03 · Sound Masculine Plural</dc:title>
  <dc:subject>PptxGenJS Presentation</dc:subject>
  <dc:creator>Al Madina Online School · Arabic Department</dc:creator>
  <cp:lastModifiedBy>Al Madina Online School · Arabic Department</cp:lastModifiedBy>
  <cp:revision>1</cp:revision>
  <dcterms:created xsi:type="dcterms:W3CDTF">2026-10-11T06:42:17Z</dcterms:created>
  <dcterms:modified xsi:type="dcterms:W3CDTF">2026-10-11T06:42:17Z</dcterms:modified>
</cp:coreProperties>
</file>