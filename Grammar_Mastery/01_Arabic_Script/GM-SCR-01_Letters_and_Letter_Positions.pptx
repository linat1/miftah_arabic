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Arabic Script › GM-SCR-01 (“الحُرُوفُ العَرَبِيَّةُ وَأَشْكَالُهَا”). The website chapter “Script Mastery 01”: the 28-letter table, the four contextual positions, the joining rules and the six forward non-connectors, letter families, writing discipline, the letter hunt, sound-to-letter listening, explain-the-join speaking and the script challenge. The website checks this chapter through eight interactive games, so the Do Now, quick check, practice, exit ticket and mastery questions are teacher-written on the website content.
SUPPORT FOR THIS CLASS (Arabic not yet secure; mixed levels):
• Core: recognise the 28 letters and the four positions; find the six non-connectors. Develop: build and break words correctly. Stretch: explain every break, and read and copy short unvowelled words.
• URDU BRIDGE: Urdu uses the same joining system (and the same six non-connectors) — Urdu readers already know HOW letters join. The work today is the Arabic letter NAMES, the sounds Urdu does not have (ع ح ط ص ض ظ ق) and accurate writing.
• Teach shapes as a skeleton + joining strokes, never as four unrelated pictures (website rule).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Teacher-written retrieval of the alphabet (letter count, direction, names and dots). Use it to spot students who still confuse dot patterns — they go on the Core route today.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One letter, four shapes: find the skeleton, then look at the joining strokes on the right and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(1 of 2)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Core students learn the English terms; Develop/Stretch use the Arabic position words when explaining a join (فِي وَسَطِ الْكَلِمَةِ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(2 of 2)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Core students learn the English terms; Develop/Stretch use the Arabic position words when explaining a join (فِي وَسَطِ الْكَلِمَةِ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section “Four contextual positions”. Write ب in four positions on the whiteboard, slowly, saying the position name in English and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ALPHABET 1/4 (1 min) — website table “All 28 Arabic letters”. Choral: name → isolated → the three joined shapes. Ask: “Which letters on this slide never join forward?”
Website: “Initial does not always mean the letter changes shape. A non-connecting letter such as د remains visually separate from the letter that follows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ALPHABET 2/4 (1 min) — website table “All 28 Arabic letters”. Choral: name → isolated → the three joined shapes. Ask: “Which letters on this slide never join forward?”
Website: “Initial does not always mean the letter changes shape. A non-connecting letter such as د remains visually separate from the letter that follows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ALPHABET 3/4 (1 min) — website table “All 28 Arabic letters”. Choral: name → isolated → the three joined shapes. Ask: “Which letters on this slide never join forward?”
Website: “Initial does not always mean the letter changes shape. A non-connecting letter such as د remains visually separate from the letter that follows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ALPHABET 4/4 (1 min) — website table “All 28 Arabic letters”. Choral: name → isolated → the three joined shapes. Ask: “Which letters on this slide never join forward?”
Website: “Initial does not always mean the letter changes shape. A non-connecting letter such as د remains visually separate from the letter that follows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(2 min). Connection test (website): at every boundary ask two questions — can the first letter connect forward? Can the next letter receive a connection from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(2 min). Quick game: say a family, students type the letter that has e.g. “two dots above” (ت).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teacher-written on the website rules.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Think aloud: “Can this letter connect forward? Can the next one receive it?” Then students copy the five words and draw a small line at every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games 4 “Connect or Break?” and 6 “Find the Break” as a whole-class sort. Students type J or B for each card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games 4 “Connect or Break?” and 6 “Find the Break” as a whole-class sort. Students type J or B for each card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teacher-written on website games 2, 4 and 6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task “letter hunt”. Read it aloud once while students follow; then they hunt for today’s grammar.
Task: Website letter hunt: find every non-connector, circle letters in medial position, underline final letters, and explain the visible break in two words.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on the website letter-hunt words (website answer: مَدْرَسَة breaks after د and ر; زَهْرَة after ز and ر; وَلَد after 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task “explain the join”. Sequence: ● 10s think → ↔ 45s rehearse aloud with mic muted → ◎ two named students on open mic (warned in advance) → + ? the class types one follow-up in chat → ↺ one student summarises.
Routes: Core uses the Core prompt and stem; Develop the Develop prompt; Stretch the last prompt.
Website task: choose three words and explain which letters connect, which letters break the sequence, and which letter is initial, medial or final. Core students may explain in English while pointing to the Arabic. Listening extension (website): say ten letter names twice — بَاءٌ · ثَاءٌ · خَاءٌ · ذَالٌ · شِينٌ · ضَادٌ · غَيْنٌ · قَافٌ · نُونٌ · يَاءٌ — students write the isolated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Script challenge: write eight words containing one fully connected word, two words with one break, one word with two breaks, and at least six different letter families.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for the website script challenge,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MASTERY CHECK (FLEX) — teacher-written on the website lesson (the website checks this chapter through interactive games). Fast finishers or homework. Below 70%: repeat the explanation slides; 90%+: move on and revisit in 3–7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(GM-SCR-02 · Sun and Moon Letters) will spend class time USING this language, so students prepare it tonight — short, simple, easy to access (school guidance: “Simple, Short, Interesting, Relevant, Easy to access”). The five words prepare GM-SCR-02 (website Script Mastery 02: sun and moon letters).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ARABIC SCRIPT  ·  GM-SCR-01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GM-SCR-01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700" b="1" dirty="0">
                <a:solidFill>
                  <a:srgbClr val="FFFFFF"/>
                </a:solidFill>
                <a:latin typeface="Cambria" pitchFamily="34" charset="0"/>
                <a:cs typeface="Amiri" pitchFamily="2" charset="-78"/>
              </a:rPr>
              <a:t>Letters and Letter Positions</a:t>
            </a:r>
            <a:endParaRPr lang="en-US" sz="37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الْحُرُوفُ الْعَرَبِيَّةُ وَأَشْكَالُهَا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Recognise all 28 letters in their four positions (</a:t>
            </a:r>
            <a:pPr algn="l" indent="0" marL="0">
              <a:buNone/>
            </a:pPr>
            <a:r>
              <a:rPr lang="ar-SA" altLang="en-US" sz="1800" dirty="0">
                <a:solidFill>
                  <a:srgbClr val="C6D2E6"/>
                </a:solidFill>
                <a:latin typeface="Amiri" pitchFamily="2" charset="-78"/>
                <a:cs typeface="Amiri" pitchFamily="2" charset="-78"/>
              </a:rPr>
              <a:t>ب</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بـ</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ـبـ</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ـب</a:t>
            </a:r>
            <a:pPr algn="l" indent="0" marL="0">
              <a:buNone/>
            </a:pPr>
            <a:r>
              <a:rPr lang="en-US" sz="1400" dirty="0">
                <a:solidFill>
                  <a:srgbClr val="C6D2E6"/>
                </a:solidFill>
                <a:latin typeface="Calibri" pitchFamily="34" charset="0"/>
                <a:cs typeface="Amiri" pitchFamily="2" charset="-78"/>
              </a:rPr>
              <a:t>), know the six letters that never join forward (</a:t>
            </a:r>
            <a:pPr algn="l" indent="0" marL="0">
              <a:buNone/>
            </a:pPr>
            <a:r>
              <a:rPr lang="ar-SA" altLang="en-US" sz="1800" dirty="0">
                <a:solidFill>
                  <a:srgbClr val="C6D2E6"/>
                </a:solidFill>
                <a:latin typeface="Amiri" pitchFamily="2" charset="-78"/>
                <a:cs typeface="Amiri" pitchFamily="2" charset="-78"/>
              </a:rPr>
              <a:t>ا د ذ ر ز و</a:t>
            </a:r>
            <a:pPr algn="l" indent="0" marL="0">
              <a:buNone/>
            </a:pPr>
            <a:r>
              <a:rPr lang="en-US" sz="1400" dirty="0">
                <a:solidFill>
                  <a:srgbClr val="C6D2E6"/>
                </a:solidFill>
                <a:latin typeface="Calibri" pitchFamily="34" charset="0"/>
                <a:cs typeface="Amiri" pitchFamily="2" charset="-78"/>
              </a:rPr>
              <a:t>), explain exactly where a word breaks — and write connected words clearly.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GM-SCR-01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Arabic Script</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40</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Four positions, all 28 letters, joining rules, the six non-connectors, letter families.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connectors and non-connectors, repair spacing and dot slips, find the breaks.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GM-SCR-02.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40</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letters are in the Arabic alphabet?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26</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28</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30</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way is Arabic written?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right to left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left to right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top to bottom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is Mīm?</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has ONE dot below?</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Read the word: </a:t>
            </a:r>
            <a:pPr algn="l" indent="0" marL="0">
              <a:buNone/>
            </a:pPr>
            <a:r>
              <a:rPr lang="ar-SA" altLang="en-US" sz="1650" b="1" dirty="0">
                <a:solidFill>
                  <a:srgbClr val="1B3B6F"/>
                </a:solidFill>
                <a:latin typeface="Amiri" pitchFamily="2" charset="-78"/>
                <a:cs typeface="Amiri" pitchFamily="2" charset="-78"/>
              </a:rPr>
              <a:t>بَيْت</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bayt (house)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bint (girl)</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nabt (plant)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40</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letters are in the Arabic alphabet?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26</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28</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30</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There are 28 letters (website table).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way is Arabic written?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right to left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left to right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top to bottom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Begin on the right (website stroke discipline).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is Mīm?</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a:t>
            </a:r>
            <a:pPr algn="l" indent="0" marL="0">
              <a:buNone/>
            </a:pPr>
            <a:r>
              <a:rPr lang="en-US" sz="1050" i="1" dirty="0">
                <a:solidFill>
                  <a:srgbClr val="8A6D1E"/>
                </a:solidFill>
                <a:latin typeface="Calibri" pitchFamily="34" charset="0"/>
                <a:cs typeface="Amiri" pitchFamily="2" charset="-78"/>
              </a:rPr>
              <a:t> = Mīm · </a:t>
            </a:r>
            <a:pPr algn="l" indent="0" marL="0">
              <a:buNone/>
            </a:pPr>
            <a:r>
              <a:rPr lang="ar-SA" altLang="en-US" sz="1350" dirty="0">
                <a:solidFill>
                  <a:srgbClr val="8A6D1E"/>
                </a:solidFill>
                <a:latin typeface="Amiri" pitchFamily="2" charset="-78"/>
                <a:cs typeface="Amiri" pitchFamily="2" charset="-78"/>
              </a:rPr>
              <a:t>ن</a:t>
            </a:r>
            <a:pPr algn="l" indent="0" marL="0">
              <a:buNone/>
            </a:pPr>
            <a:r>
              <a:rPr lang="en-US" sz="1050" i="1" dirty="0">
                <a:solidFill>
                  <a:srgbClr val="8A6D1E"/>
                </a:solidFill>
                <a:latin typeface="Calibri" pitchFamily="34" charset="0"/>
                <a:cs typeface="Amiri" pitchFamily="2" charset="-78"/>
              </a:rPr>
              <a:t> = Nūn · </a:t>
            </a:r>
            <a:pPr algn="l" indent="0" marL="0">
              <a:buNone/>
            </a:pPr>
            <a:r>
              <a:rPr lang="ar-SA" altLang="en-US" sz="1350" dirty="0">
                <a:solidFill>
                  <a:srgbClr val="8A6D1E"/>
                </a:solidFill>
                <a:latin typeface="Amiri" pitchFamily="2" charset="-78"/>
                <a:cs typeface="Amiri" pitchFamily="2" charset="-78"/>
              </a:rPr>
              <a:t>ل</a:t>
            </a:r>
            <a:pPr algn="l" indent="0" marL="0">
              <a:buNone/>
            </a:pPr>
            <a:r>
              <a:rPr lang="en-US" sz="1050" i="1" dirty="0">
                <a:solidFill>
                  <a:srgbClr val="8A6D1E"/>
                </a:solidFill>
                <a:latin typeface="Calibri" pitchFamily="34" charset="0"/>
                <a:cs typeface="Amiri" pitchFamily="2" charset="-78"/>
              </a:rPr>
              <a:t> = Lām.</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has ONE dot below?</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ب</a:t>
            </a:r>
            <a:pPr algn="l" indent="0" marL="0">
              <a:buNone/>
            </a:pPr>
            <a:r>
              <a:rPr lang="en-US" sz="1050" i="1" dirty="0">
                <a:solidFill>
                  <a:srgbClr val="8A6D1E"/>
                </a:solidFill>
                <a:latin typeface="Calibri" pitchFamily="34" charset="0"/>
                <a:cs typeface="Amiri" pitchFamily="2" charset="-78"/>
              </a:rPr>
              <a:t>: one dot below · </a:t>
            </a:r>
            <a:pPr algn="l" indent="0" marL="0">
              <a:buNone/>
            </a:pPr>
            <a:r>
              <a:rPr lang="ar-SA" altLang="en-US" sz="1350" dirty="0">
                <a:solidFill>
                  <a:srgbClr val="8A6D1E"/>
                </a:solidFill>
                <a:latin typeface="Amiri" pitchFamily="2" charset="-78"/>
                <a:cs typeface="Amiri" pitchFamily="2" charset="-78"/>
              </a:rPr>
              <a:t>ت</a:t>
            </a:r>
            <a:pPr algn="l" indent="0" marL="0">
              <a:buNone/>
            </a:pPr>
            <a:r>
              <a:rPr lang="en-US" sz="1050" i="1" dirty="0">
                <a:solidFill>
                  <a:srgbClr val="8A6D1E"/>
                </a:solidFill>
                <a:latin typeface="Calibri" pitchFamily="34" charset="0"/>
                <a:cs typeface="Amiri" pitchFamily="2" charset="-78"/>
              </a:rPr>
              <a:t>: two dots above · </a:t>
            </a:r>
            <a:pPr algn="l" indent="0" marL="0">
              <a:buNone/>
            </a:pPr>
            <a:r>
              <a:rPr lang="ar-SA" altLang="en-US" sz="1350" dirty="0">
                <a:solidFill>
                  <a:srgbClr val="8A6D1E"/>
                </a:solidFill>
                <a:latin typeface="Amiri" pitchFamily="2" charset="-78"/>
                <a:cs typeface="Amiri" pitchFamily="2" charset="-78"/>
              </a:rPr>
              <a:t>ن</a:t>
            </a:r>
            <a:pPr algn="l" indent="0" marL="0">
              <a:buNone/>
            </a:pPr>
            <a:r>
              <a:rPr lang="en-US" sz="1050" i="1" dirty="0">
                <a:solidFill>
                  <a:srgbClr val="8A6D1E"/>
                </a:solidFill>
                <a:latin typeface="Calibri" pitchFamily="34" charset="0"/>
                <a:cs typeface="Amiri" pitchFamily="2" charset="-78"/>
              </a:rPr>
              <a:t>: one dot above.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Read the word: </a:t>
            </a:r>
            <a:pPr algn="l" indent="0" marL="0">
              <a:buNone/>
            </a:pPr>
            <a:r>
              <a:rPr lang="ar-SA" altLang="en-US" sz="1650" b="1" dirty="0">
                <a:solidFill>
                  <a:srgbClr val="1B3B6F"/>
                </a:solidFill>
                <a:latin typeface="Amiri" pitchFamily="2" charset="-78"/>
                <a:cs typeface="Amiri" pitchFamily="2" charset="-78"/>
              </a:rPr>
              <a:t>بَيْت</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bayt (house)</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bint (girl)</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nabt (plant)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ب</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cs typeface="Amiri" pitchFamily="2" charset="-78"/>
              </a:rPr>
              <a:t>ي</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cs typeface="Amiri" pitchFamily="2" charset="-78"/>
              </a:rPr>
              <a:t>ت</a:t>
            </a:r>
            <a:pPr algn="l" indent="0" marL="0">
              <a:buNone/>
            </a:pPr>
            <a:r>
              <a:rPr lang="en-US" sz="1050" i="1" dirty="0">
                <a:solidFill>
                  <a:srgbClr val="8A6D1E"/>
                </a:solidFill>
                <a:latin typeface="Calibri" pitchFamily="34" charset="0"/>
                <a:cs typeface="Amiri" pitchFamily="2" charset="-78"/>
              </a:rPr>
              <a:t> — bayt.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One letter, four shapes: find the skeleton, then look at the joining strokes on the right and left.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ب · بـ · ـبـ · ـب</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40</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all 28 Arabic letters.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Identify the isolated, initial, medial and final forms.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the six letters that never join to the next letter.</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where and why a word breaks, and write connected words clearly.</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all 28 letters.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which position a letter is in.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build a word with the right joins.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find every break in a word.</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explain WHY a word breaks at that point.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read and copy short unvowelled words.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40</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 (1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حَرْفٌ</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letter</a:t>
            </a:r>
            <a:endParaRPr lang="en-US" sz="1350" dirty="0"/>
          </a:p>
          <a:p>
            <a:pPr indent="0" marL="0">
              <a:buNone/>
            </a:pPr>
            <a:r>
              <a:rPr lang="en-US" sz="1100" i="1" dirty="0">
                <a:solidFill>
                  <a:srgbClr val="5A6472"/>
                </a:solidFill>
                <a:latin typeface="Calibri" pitchFamily="34" charset="0"/>
                <a:cs typeface="Amiri" pitchFamily="2" charset="-78"/>
              </a:rPr>
              <a:t>ḥar-fun</a:t>
            </a:r>
            <a:endParaRPr lang="en-US" sz="1350" dirty="0"/>
          </a:p>
        </p:txBody>
      </p:sp>
      <p:sp>
        <p:nvSpPr>
          <p:cNvPr id="22" name="Shape 19"/>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حُرُوفٌ</a:t>
            </a:r>
            <a:endParaRPr lang="ar-SA" sz="15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8" name="Shape 2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حَرْفٌ مُنْفَصِلٌ</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isolated form</a:t>
            </a:r>
            <a:endParaRPr lang="en-US" sz="1350" dirty="0"/>
          </a:p>
          <a:p>
            <a:pPr indent="0" marL="0">
              <a:buNone/>
            </a:pPr>
            <a:r>
              <a:rPr lang="en-US" sz="1100" i="1" dirty="0">
                <a:solidFill>
                  <a:srgbClr val="5A6472"/>
                </a:solidFill>
                <a:latin typeface="Calibri" pitchFamily="34" charset="0"/>
                <a:cs typeface="Amiri" pitchFamily="2" charset="-78"/>
              </a:rPr>
              <a:t>ḥar-fun mun-fa-ṣi-lun</a:t>
            </a:r>
            <a:endParaRPr lang="en-US" sz="1350" dirty="0"/>
          </a:p>
        </p:txBody>
      </p:sp>
      <p:sp>
        <p:nvSpPr>
          <p:cNvPr id="32" name="Text 29"/>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stands alone: </a:t>
            </a:r>
            <a:pPr algn="l" indent="0" marL="0">
              <a:buNone/>
            </a:pPr>
            <a:r>
              <a:rPr lang="ar-SA" altLang="en-US" sz="1300" dirty="0">
                <a:solidFill>
                  <a:srgbClr val="8A6D1E"/>
                </a:solidFill>
                <a:latin typeface="Amiri" pitchFamily="2" charset="-78"/>
                <a:cs typeface="Amiri" pitchFamily="2" charset="-78"/>
              </a:rPr>
              <a:t>ب</a:t>
            </a:r>
            <a:endParaRPr lang="en-US" sz="100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أَوَّلِ الْكَلِمَةِ</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initial (at the start)</a:t>
            </a:r>
            <a:endParaRPr lang="en-US" sz="1350" dirty="0"/>
          </a:p>
          <a:p>
            <a:pPr indent="0" marL="0">
              <a:buNone/>
            </a:pPr>
            <a:r>
              <a:rPr lang="en-US" sz="1100" i="1" dirty="0">
                <a:solidFill>
                  <a:srgbClr val="5A6472"/>
                </a:solidFill>
                <a:latin typeface="Calibri" pitchFamily="34" charset="0"/>
                <a:cs typeface="Amiri" pitchFamily="2" charset="-78"/>
              </a:rPr>
              <a:t>fī aw-wa-li al-ka-li-ma-ti</a:t>
            </a:r>
            <a:endParaRPr lang="en-US" sz="1350" dirty="0"/>
          </a:p>
        </p:txBody>
      </p:sp>
      <p:sp>
        <p:nvSpPr>
          <p:cNvPr id="40" name="Text 37"/>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بـ</a:t>
            </a:r>
            <a:endParaRPr lang="ar-SA" sz="130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4" name="Shape 4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وَسَطِ الْكَلِمَةِ</a:t>
            </a:r>
            <a:endParaRPr lang="ar-SA" sz="3000" dirty="0"/>
          </a:p>
        </p:txBody>
      </p:sp>
      <p:sp>
        <p:nvSpPr>
          <p:cNvPr id="47" name="Text 4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medial (in the middle)</a:t>
            </a:r>
            <a:endParaRPr lang="en-US" sz="1350" dirty="0"/>
          </a:p>
          <a:p>
            <a:pPr indent="0" marL="0">
              <a:buNone/>
            </a:pPr>
            <a:r>
              <a:rPr lang="en-US" sz="1100" i="1" dirty="0">
                <a:solidFill>
                  <a:srgbClr val="5A6472"/>
                </a:solidFill>
                <a:latin typeface="Calibri" pitchFamily="34" charset="0"/>
                <a:cs typeface="Amiri" pitchFamily="2" charset="-78"/>
              </a:rPr>
              <a:t>fī wa-sa-ṭi al-ka-li-ma-ti</a:t>
            </a:r>
            <a:endParaRPr lang="en-US" sz="1350" dirty="0"/>
          </a:p>
        </p:txBody>
      </p:sp>
      <p:sp>
        <p:nvSpPr>
          <p:cNvPr id="48" name="Text 45"/>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ـبـ</a:t>
            </a:r>
            <a:endParaRPr lang="ar-SA" sz="130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2" name="Shape 4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آخِرِ الْكَلِمَةِ</a:t>
            </a:r>
            <a:endParaRPr lang="ar-SA" sz="3000" dirty="0"/>
          </a:p>
        </p:txBody>
      </p:sp>
      <p:sp>
        <p:nvSpPr>
          <p:cNvPr id="55" name="Text 5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final (at the end)</a:t>
            </a:r>
            <a:endParaRPr lang="en-US" sz="1350" dirty="0"/>
          </a:p>
          <a:p>
            <a:pPr indent="0" marL="0">
              <a:buNone/>
            </a:pPr>
            <a:r>
              <a:rPr lang="en-US" sz="1100" i="1" dirty="0">
                <a:solidFill>
                  <a:srgbClr val="5A6472"/>
                </a:solidFill>
                <a:latin typeface="Calibri" pitchFamily="34" charset="0"/>
                <a:cs typeface="Amiri" pitchFamily="2" charset="-78"/>
              </a:rPr>
              <a:t>fī ā-khi-ri al-ka-li-ma-ti</a:t>
            </a:r>
            <a:endParaRPr lang="en-US" sz="1350" dirty="0"/>
          </a:p>
        </p:txBody>
      </p:sp>
      <p:sp>
        <p:nvSpPr>
          <p:cNvPr id="56" name="Text 53"/>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ـب</a:t>
            </a:r>
            <a:endParaRPr lang="ar-SA" sz="1300" dirty="0"/>
          </a:p>
        </p:txBody>
      </p:sp>
      <p:sp>
        <p:nvSpPr>
          <p:cNvPr id="57" name="Shape 5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66928"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0" name="Shape 5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2" name="Text 5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لَا يَتَّصِلُ بِمَا بَعْدَهُ</a:t>
            </a:r>
            <a:endParaRPr lang="ar-SA" sz="3000" dirty="0"/>
          </a:p>
        </p:txBody>
      </p:sp>
      <p:sp>
        <p:nvSpPr>
          <p:cNvPr id="63" name="Text 6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does not join the next letter</a:t>
            </a:r>
            <a:endParaRPr lang="en-US" sz="1350" dirty="0"/>
          </a:p>
          <a:p>
            <a:pPr indent="0" marL="0">
              <a:buNone/>
            </a:pPr>
            <a:r>
              <a:rPr lang="en-US" sz="1100" i="1" dirty="0">
                <a:solidFill>
                  <a:srgbClr val="5A6472"/>
                </a:solidFill>
                <a:latin typeface="Calibri" pitchFamily="34" charset="0"/>
                <a:cs typeface="Amiri" pitchFamily="2" charset="-78"/>
              </a:rPr>
              <a:t>lā yat-ta-ṣi-lu bi-mā baʿ-da-hu</a:t>
            </a:r>
            <a:endParaRPr lang="en-US" sz="1350" dirty="0"/>
          </a:p>
        </p:txBody>
      </p:sp>
      <p:sp>
        <p:nvSpPr>
          <p:cNvPr id="64" name="Text 61"/>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 د ذ ر ز و</a:t>
            </a:r>
            <a:endParaRPr lang="ar-SA" sz="130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40</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 (2 OF 2)</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نُقْطَةٌ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dot</a:t>
            </a:r>
            <a:endParaRPr lang="en-US" sz="1350" dirty="0"/>
          </a:p>
          <a:p>
            <a:pPr indent="0" marL="0">
              <a:buNone/>
            </a:pPr>
            <a:r>
              <a:rPr lang="en-US" sz="1100" i="1" dirty="0">
                <a:solidFill>
                  <a:srgbClr val="5A6472"/>
                </a:solidFill>
                <a:latin typeface="Calibri" pitchFamily="34" charset="0"/>
                <a:cs typeface="Amiri" pitchFamily="2" charset="-78"/>
              </a:rPr>
              <a:t>nuq-ṭa-tun</a:t>
            </a:r>
            <a:endParaRPr lang="en-US" sz="1350" dirty="0"/>
          </a:p>
        </p:txBody>
      </p:sp>
      <p:sp>
        <p:nvSpPr>
          <p:cNvPr id="22" name="Shape 19"/>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نُقَاطٌ</a:t>
            </a:r>
            <a:endParaRPr lang="ar-SA" sz="15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عَائِلَةُ الْحُرُوفِ</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letter family</a:t>
            </a:r>
            <a:endParaRPr lang="en-US" sz="1350" dirty="0"/>
          </a:p>
          <a:p>
            <a:pPr indent="0" marL="0">
              <a:buNone/>
            </a:pPr>
            <a:r>
              <a:rPr lang="en-US" sz="1100" i="1" dirty="0">
                <a:solidFill>
                  <a:srgbClr val="5A6472"/>
                </a:solidFill>
                <a:latin typeface="Calibri" pitchFamily="34" charset="0"/>
                <a:cs typeface="Amiri" pitchFamily="2" charset="-78"/>
              </a:rPr>
              <a:t>ʿā-ʾi-la-tu al-ḥu-rū-fi</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same body, different dots: </a:t>
            </a:r>
            <a:pPr algn="l" indent="0" marL="0">
              <a:buNone/>
            </a:pPr>
            <a:r>
              <a:rPr lang="ar-SA" altLang="en-US" sz="1300" dirty="0">
                <a:solidFill>
                  <a:srgbClr val="8A6D1E"/>
                </a:solidFill>
                <a:latin typeface="Amiri" pitchFamily="2" charset="-78"/>
                <a:cs typeface="Amiri" pitchFamily="2" charset="-78"/>
              </a:rPr>
              <a:t>ب ت ث</a:t>
            </a:r>
            <a:endParaRPr lang="en-US" sz="100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40</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FOUR CONTEXTUAL POSITIONS (WEBSITE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letter — four shapes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أَرْبَعَةُ أَشْكَالٍ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Arabic is written from right to left, and most letters JOIN to the letters around them.</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Isolated: the letter stands alone — </a:t>
            </a:r>
            <a:pPr algn="l" indent="0" marL="0">
              <a:buNone/>
            </a:pPr>
            <a:r>
              <a:rPr lang="ar-SA" altLang="en-US" sz="1700" dirty="0">
                <a:solidFill>
                  <a:srgbClr val="1F2A37"/>
                </a:solidFill>
                <a:latin typeface="Amiri" pitchFamily="2" charset="-78"/>
                <a:cs typeface="Amiri" pitchFamily="2" charset="-78"/>
              </a:rPr>
              <a:t>ب</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Initial: it begins a joined sequence, so it has a joining stroke on the left — </a:t>
            </a:r>
            <a:pPr algn="l" indent="0" marL="0">
              <a:buNone/>
            </a:pPr>
            <a:r>
              <a:rPr lang="ar-SA" altLang="en-US" sz="1700" dirty="0">
                <a:solidFill>
                  <a:srgbClr val="1F2A37"/>
                </a:solidFill>
                <a:latin typeface="Amiri" pitchFamily="2" charset="-78"/>
                <a:cs typeface="Amiri" pitchFamily="2" charset="-78"/>
              </a:rPr>
              <a:t>بـ</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Medial: it joins on both sides — </a:t>
            </a:r>
            <a:pPr algn="l" indent="0" marL="0">
              <a:buNone/>
            </a:pPr>
            <a:r>
              <a:rPr lang="ar-SA" altLang="en-US" sz="1700" dirty="0">
                <a:solidFill>
                  <a:srgbClr val="1F2A37"/>
                </a:solidFill>
                <a:latin typeface="Amiri" pitchFamily="2" charset="-78"/>
                <a:cs typeface="Amiri" pitchFamily="2" charset="-78"/>
              </a:rPr>
              <a:t>ـبـ</a:t>
            </a:r>
            <a:pPr algn="l" indent="0" marL="0">
              <a:buNone/>
            </a:pPr>
            <a:r>
              <a:rPr lang="en-US" sz="1300" dirty="0">
                <a:solidFill>
                  <a:srgbClr val="1F2A37"/>
                </a:solidFill>
                <a:latin typeface="Calibri" pitchFamily="34" charset="0"/>
                <a:cs typeface="Amiri" pitchFamily="2" charset="-78"/>
              </a:rPr>
              <a:t>. Final: it ends the sequence, joined only from the right — </a:t>
            </a:r>
            <a:pPr algn="l" indent="0" marL="0">
              <a:buNone/>
            </a:pPr>
            <a:r>
              <a:rPr lang="ar-SA" altLang="en-US" sz="1700" dirty="0">
                <a:solidFill>
                  <a:srgbClr val="1F2A37"/>
                </a:solidFill>
                <a:latin typeface="Amiri" pitchFamily="2" charset="-78"/>
                <a:cs typeface="Amiri" pitchFamily="2" charset="-78"/>
              </a:rPr>
              <a:t>ـب</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Do not learn four unrelated pictures: find the letter’s skeleton (body + dots), then look at the joining strokes.</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ب · بـ · ـبـ · ـب</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bāʾ in four positions</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بـ + ـيـ + ـت = بَيْت</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initial + medial + final = house</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ع · عـ · ـعـ · ـع</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ʿayn changes most: learn it carefully</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ه · هـ · ـهـ · ـه</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hāʾ: four quite different shapes</a:t>
            </a:r>
            <a:endParaRPr lang="en-US" sz="1100" dirty="0"/>
          </a:p>
        </p:txBody>
      </p:sp>
      <p:sp>
        <p:nvSpPr>
          <p:cNvPr id="45" name="Shape 42"/>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REMEMBER</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Shape recognition rule (website): look for the letter’s basic skeleton, then notice which joining strokes appear on the right and on the left.</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40</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ALL 28 LETTERS (1 OF 4) ·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The alphabet in four positions (1 of 4)</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الْحُرُوفُ فِي أَرْبَعَةِ مَوَاضِعَ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930384" y="1810512"/>
            <a:ext cx="1728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Isolated</a:t>
            </a:r>
            <a:endParaRPr lang="en-US" sz="1100" dirty="0"/>
          </a:p>
        </p:txBody>
      </p:sp>
      <p:sp>
        <p:nvSpPr>
          <p:cNvPr id="17" name="Text 14"/>
          <p:cNvSpPr txBox="1"/>
          <p:nvPr/>
        </p:nvSpPr>
        <p:spPr>
          <a:xfrm>
            <a:off x="8055864" y="1810512"/>
            <a:ext cx="1728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Initial</a:t>
            </a:r>
            <a:endParaRPr lang="en-US" sz="1100" dirty="0"/>
          </a:p>
        </p:txBody>
      </p:sp>
      <p:sp>
        <p:nvSpPr>
          <p:cNvPr id="18" name="Text 15"/>
          <p:cNvSpPr txBox="1"/>
          <p:nvPr/>
        </p:nvSpPr>
        <p:spPr>
          <a:xfrm>
            <a:off x="6181344" y="1810512"/>
            <a:ext cx="1728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Medial</a:t>
            </a:r>
            <a:endParaRPr lang="en-US" sz="1100" dirty="0"/>
          </a:p>
        </p:txBody>
      </p:sp>
      <p:sp>
        <p:nvSpPr>
          <p:cNvPr id="19" name="Text 16"/>
          <p:cNvSpPr txBox="1"/>
          <p:nvPr/>
        </p:nvSpPr>
        <p:spPr>
          <a:xfrm>
            <a:off x="4306824" y="1810512"/>
            <a:ext cx="1728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Final</a:t>
            </a:r>
            <a:endParaRPr lang="en-US" sz="1100" dirty="0"/>
          </a:p>
        </p:txBody>
      </p:sp>
      <p:sp>
        <p:nvSpPr>
          <p:cNvPr id="20" name="Text 17"/>
          <p:cNvSpPr txBox="1"/>
          <p:nvPr/>
        </p:nvSpPr>
        <p:spPr>
          <a:xfrm>
            <a:off x="2450592" y="1810512"/>
            <a:ext cx="1709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Joins the next letter?</a:t>
            </a:r>
            <a:endParaRPr lang="en-US" sz="1100" dirty="0"/>
          </a:p>
        </p:txBody>
      </p:sp>
      <p:sp>
        <p:nvSpPr>
          <p:cNvPr id="21" name="Text 18"/>
          <p:cNvSpPr txBox="1"/>
          <p:nvPr/>
        </p:nvSpPr>
        <p:spPr>
          <a:xfrm>
            <a:off x="53035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Letter</a:t>
            </a:r>
            <a:endParaRPr lang="en-US" sz="1100" dirty="0"/>
          </a:p>
        </p:txBody>
      </p:sp>
      <p:sp>
        <p:nvSpPr>
          <p:cNvPr id="22" name="Shape 19"/>
          <p:cNvSpPr/>
          <p:nvPr/>
        </p:nvSpPr>
        <p:spPr>
          <a:xfrm>
            <a:off x="457200" y="2267712"/>
            <a:ext cx="11274552" cy="471569"/>
          </a:xfrm>
          <a:prstGeom prst="roundRect">
            <a:avLst>
              <a:gd name="adj" fmla="val 9695"/>
            </a:avLst>
          </a:prstGeom>
          <a:solidFill>
            <a:srgbClr val="FFFFFF"/>
          </a:solidFill>
          <a:ln w="9525">
            <a:solidFill>
              <a:srgbClr val="D8D0BF"/>
            </a:solidFill>
            <a:prstDash val="solid"/>
          </a:ln>
        </p:spPr>
      </p:sp>
      <p:sp>
        <p:nvSpPr>
          <p:cNvPr id="23" name="Text 20"/>
          <p:cNvSpPr txBox="1"/>
          <p:nvPr/>
        </p:nvSpPr>
        <p:spPr>
          <a:xfrm>
            <a:off x="9948672" y="2267712"/>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a:t>
            </a:r>
            <a:endParaRPr lang="ar-SA" sz="2200" dirty="0"/>
          </a:p>
        </p:txBody>
      </p:sp>
      <p:sp>
        <p:nvSpPr>
          <p:cNvPr id="24" name="Text 21"/>
          <p:cNvSpPr txBox="1"/>
          <p:nvPr/>
        </p:nvSpPr>
        <p:spPr>
          <a:xfrm>
            <a:off x="8074152" y="2267712"/>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a:t>
            </a:r>
            <a:endParaRPr lang="ar-SA" sz="2200" dirty="0"/>
          </a:p>
        </p:txBody>
      </p:sp>
      <p:sp>
        <p:nvSpPr>
          <p:cNvPr id="25" name="Text 22"/>
          <p:cNvSpPr txBox="1"/>
          <p:nvPr/>
        </p:nvSpPr>
        <p:spPr>
          <a:xfrm>
            <a:off x="6199632" y="2267712"/>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ـا</a:t>
            </a:r>
            <a:endParaRPr lang="ar-SA" sz="2200" dirty="0"/>
          </a:p>
        </p:txBody>
      </p:sp>
      <p:sp>
        <p:nvSpPr>
          <p:cNvPr id="26" name="Text 23"/>
          <p:cNvSpPr txBox="1"/>
          <p:nvPr/>
        </p:nvSpPr>
        <p:spPr>
          <a:xfrm>
            <a:off x="4325112" y="2267712"/>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ـا</a:t>
            </a:r>
            <a:endParaRPr lang="ar-SA" sz="2200" dirty="0"/>
          </a:p>
        </p:txBody>
      </p:sp>
      <p:sp>
        <p:nvSpPr>
          <p:cNvPr id="27" name="Text 24"/>
          <p:cNvSpPr txBox="1"/>
          <p:nvPr/>
        </p:nvSpPr>
        <p:spPr>
          <a:xfrm>
            <a:off x="2487168" y="2267712"/>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 breaks</a:t>
            </a:r>
            <a:endParaRPr lang="en-US" sz="1100" dirty="0"/>
          </a:p>
        </p:txBody>
      </p:sp>
      <p:sp>
        <p:nvSpPr>
          <p:cNvPr id="28" name="Text 25"/>
          <p:cNvSpPr txBox="1"/>
          <p:nvPr/>
        </p:nvSpPr>
        <p:spPr>
          <a:xfrm>
            <a:off x="566928" y="2267712"/>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Alif</a:t>
            </a:r>
            <a:endParaRPr lang="en-US" sz="1100" dirty="0"/>
          </a:p>
        </p:txBody>
      </p:sp>
      <p:sp>
        <p:nvSpPr>
          <p:cNvPr id="29" name="Shape 26"/>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2794145"/>
            <a:ext cx="11274552" cy="471569"/>
          </a:xfrm>
          <a:prstGeom prst="roundRect">
            <a:avLst>
              <a:gd name="adj" fmla="val 9695"/>
            </a:avLst>
          </a:prstGeom>
          <a:solidFill>
            <a:srgbClr val="F4F1EA"/>
          </a:solidFill>
          <a:ln w="9525">
            <a:solidFill>
              <a:srgbClr val="D8D0BF"/>
            </a:solidFill>
            <a:prstDash val="solid"/>
          </a:ln>
        </p:spPr>
      </p:sp>
      <p:sp>
        <p:nvSpPr>
          <p:cNvPr id="32" name="Text 29"/>
          <p:cNvSpPr txBox="1"/>
          <p:nvPr/>
        </p:nvSpPr>
        <p:spPr>
          <a:xfrm>
            <a:off x="9948672" y="27941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a:t>
            </a:r>
            <a:endParaRPr lang="ar-SA" sz="2200" dirty="0"/>
          </a:p>
        </p:txBody>
      </p:sp>
      <p:sp>
        <p:nvSpPr>
          <p:cNvPr id="33" name="Text 30"/>
          <p:cNvSpPr txBox="1"/>
          <p:nvPr/>
        </p:nvSpPr>
        <p:spPr>
          <a:xfrm>
            <a:off x="8074152" y="27941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بـ</a:t>
            </a:r>
            <a:endParaRPr lang="ar-SA" sz="2200" dirty="0"/>
          </a:p>
        </p:txBody>
      </p:sp>
      <p:sp>
        <p:nvSpPr>
          <p:cNvPr id="34" name="Text 31"/>
          <p:cNvSpPr txBox="1"/>
          <p:nvPr/>
        </p:nvSpPr>
        <p:spPr>
          <a:xfrm>
            <a:off x="6199632" y="27941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ـبـ</a:t>
            </a:r>
            <a:endParaRPr lang="ar-SA" sz="2200" dirty="0"/>
          </a:p>
        </p:txBody>
      </p:sp>
      <p:sp>
        <p:nvSpPr>
          <p:cNvPr id="35" name="Text 32"/>
          <p:cNvSpPr txBox="1"/>
          <p:nvPr/>
        </p:nvSpPr>
        <p:spPr>
          <a:xfrm>
            <a:off x="4325112" y="27941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ـب</a:t>
            </a:r>
            <a:endParaRPr lang="ar-SA" sz="2200" dirty="0"/>
          </a:p>
        </p:txBody>
      </p:sp>
      <p:sp>
        <p:nvSpPr>
          <p:cNvPr id="36" name="Text 33"/>
          <p:cNvSpPr txBox="1"/>
          <p:nvPr/>
        </p:nvSpPr>
        <p:spPr>
          <a:xfrm>
            <a:off x="2487168" y="2794145"/>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a:t>
            </a:r>
            <a:endParaRPr lang="en-US" sz="1100" dirty="0"/>
          </a:p>
        </p:txBody>
      </p:sp>
      <p:sp>
        <p:nvSpPr>
          <p:cNvPr id="37" name="Text 34"/>
          <p:cNvSpPr txBox="1"/>
          <p:nvPr/>
        </p:nvSpPr>
        <p:spPr>
          <a:xfrm>
            <a:off x="566928" y="2794145"/>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Bāʾ</a:t>
            </a:r>
            <a:endParaRPr lang="en-US" sz="1100" dirty="0"/>
          </a:p>
        </p:txBody>
      </p:sp>
      <p:sp>
        <p:nvSpPr>
          <p:cNvPr id="38" name="Shape 35"/>
          <p:cNvSpPr/>
          <p:nvPr/>
        </p:nvSpPr>
        <p:spPr>
          <a:xfrm>
            <a:off x="457200" y="3320578"/>
            <a:ext cx="11274552" cy="471569"/>
          </a:xfrm>
          <a:prstGeom prst="roundRect">
            <a:avLst>
              <a:gd name="adj" fmla="val 9695"/>
            </a:avLst>
          </a:prstGeom>
          <a:solidFill>
            <a:srgbClr val="FFFFFF"/>
          </a:solidFill>
          <a:ln w="9525">
            <a:solidFill>
              <a:srgbClr val="D8D0BF"/>
            </a:solidFill>
            <a:prstDash val="solid"/>
          </a:ln>
        </p:spPr>
      </p:sp>
      <p:sp>
        <p:nvSpPr>
          <p:cNvPr id="39" name="Text 36"/>
          <p:cNvSpPr txBox="1"/>
          <p:nvPr/>
        </p:nvSpPr>
        <p:spPr>
          <a:xfrm>
            <a:off x="9948672" y="33205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a:t>
            </a:r>
            <a:endParaRPr lang="ar-SA" sz="2200" dirty="0"/>
          </a:p>
        </p:txBody>
      </p:sp>
      <p:sp>
        <p:nvSpPr>
          <p:cNvPr id="40" name="Text 37"/>
          <p:cNvSpPr txBox="1"/>
          <p:nvPr/>
        </p:nvSpPr>
        <p:spPr>
          <a:xfrm>
            <a:off x="8074152" y="33205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تـ</a:t>
            </a:r>
            <a:endParaRPr lang="ar-SA" sz="2200" dirty="0"/>
          </a:p>
        </p:txBody>
      </p:sp>
      <p:sp>
        <p:nvSpPr>
          <p:cNvPr id="41" name="Text 38"/>
          <p:cNvSpPr txBox="1"/>
          <p:nvPr/>
        </p:nvSpPr>
        <p:spPr>
          <a:xfrm>
            <a:off x="6199632" y="33205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ـتـ</a:t>
            </a:r>
            <a:endParaRPr lang="ar-SA" sz="2200" dirty="0"/>
          </a:p>
        </p:txBody>
      </p:sp>
      <p:sp>
        <p:nvSpPr>
          <p:cNvPr id="42" name="Text 39"/>
          <p:cNvSpPr txBox="1"/>
          <p:nvPr/>
        </p:nvSpPr>
        <p:spPr>
          <a:xfrm>
            <a:off x="4325112" y="33205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ـت</a:t>
            </a:r>
            <a:endParaRPr lang="ar-SA" sz="2200" dirty="0"/>
          </a:p>
        </p:txBody>
      </p:sp>
      <p:sp>
        <p:nvSpPr>
          <p:cNvPr id="43" name="Text 40"/>
          <p:cNvSpPr txBox="1"/>
          <p:nvPr/>
        </p:nvSpPr>
        <p:spPr>
          <a:xfrm>
            <a:off x="2487168" y="3320578"/>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a:t>
            </a:r>
            <a:endParaRPr lang="en-US" sz="1100" dirty="0"/>
          </a:p>
        </p:txBody>
      </p:sp>
      <p:sp>
        <p:nvSpPr>
          <p:cNvPr id="44" name="Text 41"/>
          <p:cNvSpPr txBox="1"/>
          <p:nvPr/>
        </p:nvSpPr>
        <p:spPr>
          <a:xfrm>
            <a:off x="566928" y="3320578"/>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Tāʾ</a:t>
            </a:r>
            <a:endParaRPr lang="en-US" sz="1100" dirty="0"/>
          </a:p>
        </p:txBody>
      </p:sp>
      <p:sp>
        <p:nvSpPr>
          <p:cNvPr id="45" name="Shape 42"/>
          <p:cNvSpPr/>
          <p:nvPr/>
        </p:nvSpPr>
        <p:spPr>
          <a:xfrm>
            <a:off x="457200" y="3847011"/>
            <a:ext cx="11274552" cy="471569"/>
          </a:xfrm>
          <a:prstGeom prst="roundRect">
            <a:avLst>
              <a:gd name="adj" fmla="val 9695"/>
            </a:avLst>
          </a:prstGeom>
          <a:solidFill>
            <a:srgbClr val="F4F1EA"/>
          </a:solidFill>
          <a:ln w="9525">
            <a:solidFill>
              <a:srgbClr val="D8D0BF"/>
            </a:solidFill>
            <a:prstDash val="solid"/>
          </a:ln>
        </p:spPr>
      </p:sp>
      <p:sp>
        <p:nvSpPr>
          <p:cNvPr id="46" name="Text 43"/>
          <p:cNvSpPr txBox="1"/>
          <p:nvPr/>
        </p:nvSpPr>
        <p:spPr>
          <a:xfrm>
            <a:off x="9948672" y="38470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ث</a:t>
            </a:r>
            <a:endParaRPr lang="ar-SA" sz="2200" dirty="0"/>
          </a:p>
        </p:txBody>
      </p:sp>
      <p:sp>
        <p:nvSpPr>
          <p:cNvPr id="47" name="Text 44"/>
          <p:cNvSpPr txBox="1"/>
          <p:nvPr/>
        </p:nvSpPr>
        <p:spPr>
          <a:xfrm>
            <a:off x="8074152" y="38470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ثـ</a:t>
            </a:r>
            <a:endParaRPr lang="ar-SA" sz="2200" dirty="0"/>
          </a:p>
        </p:txBody>
      </p:sp>
      <p:sp>
        <p:nvSpPr>
          <p:cNvPr id="48" name="Text 45"/>
          <p:cNvSpPr txBox="1"/>
          <p:nvPr/>
        </p:nvSpPr>
        <p:spPr>
          <a:xfrm>
            <a:off x="6199632" y="38470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ـثـ</a:t>
            </a:r>
            <a:endParaRPr lang="ar-SA" sz="2200" dirty="0"/>
          </a:p>
        </p:txBody>
      </p:sp>
      <p:sp>
        <p:nvSpPr>
          <p:cNvPr id="49" name="Text 46"/>
          <p:cNvSpPr txBox="1"/>
          <p:nvPr/>
        </p:nvSpPr>
        <p:spPr>
          <a:xfrm>
            <a:off x="4325112" y="38470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ـث</a:t>
            </a:r>
            <a:endParaRPr lang="ar-SA" sz="2200" dirty="0"/>
          </a:p>
        </p:txBody>
      </p:sp>
      <p:sp>
        <p:nvSpPr>
          <p:cNvPr id="50" name="Text 47"/>
          <p:cNvSpPr txBox="1"/>
          <p:nvPr/>
        </p:nvSpPr>
        <p:spPr>
          <a:xfrm>
            <a:off x="2487168" y="3847011"/>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a:t>
            </a:r>
            <a:endParaRPr lang="en-US" sz="1100" dirty="0"/>
          </a:p>
        </p:txBody>
      </p:sp>
      <p:sp>
        <p:nvSpPr>
          <p:cNvPr id="51" name="Text 48"/>
          <p:cNvSpPr txBox="1"/>
          <p:nvPr/>
        </p:nvSpPr>
        <p:spPr>
          <a:xfrm>
            <a:off x="566928" y="3847011"/>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Thāʾ</a:t>
            </a:r>
            <a:endParaRPr lang="en-US" sz="1100" dirty="0"/>
          </a:p>
        </p:txBody>
      </p:sp>
      <p:sp>
        <p:nvSpPr>
          <p:cNvPr id="52" name="Shape 49"/>
          <p:cNvSpPr/>
          <p:nvPr/>
        </p:nvSpPr>
        <p:spPr>
          <a:xfrm>
            <a:off x="457200" y="4373445"/>
            <a:ext cx="11274552" cy="471569"/>
          </a:xfrm>
          <a:prstGeom prst="roundRect">
            <a:avLst>
              <a:gd name="adj" fmla="val 9695"/>
            </a:avLst>
          </a:prstGeom>
          <a:solidFill>
            <a:srgbClr val="FFFFFF"/>
          </a:solidFill>
          <a:ln w="9525">
            <a:solidFill>
              <a:srgbClr val="D8D0BF"/>
            </a:solidFill>
            <a:prstDash val="solid"/>
          </a:ln>
        </p:spPr>
      </p:sp>
      <p:sp>
        <p:nvSpPr>
          <p:cNvPr id="53" name="Text 50"/>
          <p:cNvSpPr txBox="1"/>
          <p:nvPr/>
        </p:nvSpPr>
        <p:spPr>
          <a:xfrm>
            <a:off x="9948672" y="43734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ج</a:t>
            </a:r>
            <a:endParaRPr lang="ar-SA" sz="2200" dirty="0"/>
          </a:p>
        </p:txBody>
      </p:sp>
      <p:sp>
        <p:nvSpPr>
          <p:cNvPr id="54" name="Text 51"/>
          <p:cNvSpPr txBox="1"/>
          <p:nvPr/>
        </p:nvSpPr>
        <p:spPr>
          <a:xfrm>
            <a:off x="8074152" y="43734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جـ</a:t>
            </a:r>
            <a:endParaRPr lang="ar-SA" sz="2200" dirty="0"/>
          </a:p>
        </p:txBody>
      </p:sp>
      <p:sp>
        <p:nvSpPr>
          <p:cNvPr id="55" name="Text 52"/>
          <p:cNvSpPr txBox="1"/>
          <p:nvPr/>
        </p:nvSpPr>
        <p:spPr>
          <a:xfrm>
            <a:off x="6199632" y="43734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ـجـ</a:t>
            </a:r>
            <a:endParaRPr lang="ar-SA" sz="2200" dirty="0"/>
          </a:p>
        </p:txBody>
      </p:sp>
      <p:sp>
        <p:nvSpPr>
          <p:cNvPr id="56" name="Text 53"/>
          <p:cNvSpPr txBox="1"/>
          <p:nvPr/>
        </p:nvSpPr>
        <p:spPr>
          <a:xfrm>
            <a:off x="4325112" y="43734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ـج</a:t>
            </a:r>
            <a:endParaRPr lang="ar-SA" sz="2200" dirty="0"/>
          </a:p>
        </p:txBody>
      </p:sp>
      <p:sp>
        <p:nvSpPr>
          <p:cNvPr id="57" name="Text 54"/>
          <p:cNvSpPr txBox="1"/>
          <p:nvPr/>
        </p:nvSpPr>
        <p:spPr>
          <a:xfrm>
            <a:off x="2487168" y="4373445"/>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a:t>
            </a:r>
            <a:endParaRPr lang="en-US" sz="1100" dirty="0"/>
          </a:p>
        </p:txBody>
      </p:sp>
      <p:sp>
        <p:nvSpPr>
          <p:cNvPr id="58" name="Text 55"/>
          <p:cNvSpPr txBox="1"/>
          <p:nvPr/>
        </p:nvSpPr>
        <p:spPr>
          <a:xfrm>
            <a:off x="566928" y="4373445"/>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Jīm</a:t>
            </a:r>
            <a:endParaRPr lang="en-US" sz="1100" dirty="0"/>
          </a:p>
        </p:txBody>
      </p:sp>
      <p:sp>
        <p:nvSpPr>
          <p:cNvPr id="59" name="Shape 56"/>
          <p:cNvSpPr/>
          <p:nvPr/>
        </p:nvSpPr>
        <p:spPr>
          <a:xfrm>
            <a:off x="457200" y="4899878"/>
            <a:ext cx="11274552" cy="471569"/>
          </a:xfrm>
          <a:prstGeom prst="roundRect">
            <a:avLst>
              <a:gd name="adj" fmla="val 9695"/>
            </a:avLst>
          </a:prstGeom>
          <a:solidFill>
            <a:srgbClr val="F4F1EA"/>
          </a:solidFill>
          <a:ln w="9525">
            <a:solidFill>
              <a:srgbClr val="D8D0BF"/>
            </a:solidFill>
            <a:prstDash val="solid"/>
          </a:ln>
        </p:spPr>
      </p:sp>
      <p:sp>
        <p:nvSpPr>
          <p:cNvPr id="60" name="Text 57"/>
          <p:cNvSpPr txBox="1"/>
          <p:nvPr/>
        </p:nvSpPr>
        <p:spPr>
          <a:xfrm>
            <a:off x="9948672" y="48998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ح</a:t>
            </a:r>
            <a:endParaRPr lang="ar-SA" sz="2200" dirty="0"/>
          </a:p>
        </p:txBody>
      </p:sp>
      <p:sp>
        <p:nvSpPr>
          <p:cNvPr id="61" name="Text 58"/>
          <p:cNvSpPr txBox="1"/>
          <p:nvPr/>
        </p:nvSpPr>
        <p:spPr>
          <a:xfrm>
            <a:off x="8074152" y="48998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حـ</a:t>
            </a:r>
            <a:endParaRPr lang="ar-SA" sz="2200" dirty="0"/>
          </a:p>
        </p:txBody>
      </p:sp>
      <p:sp>
        <p:nvSpPr>
          <p:cNvPr id="62" name="Text 59"/>
          <p:cNvSpPr txBox="1"/>
          <p:nvPr/>
        </p:nvSpPr>
        <p:spPr>
          <a:xfrm>
            <a:off x="6199632" y="48998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ـحـ</a:t>
            </a:r>
            <a:endParaRPr lang="ar-SA" sz="2200" dirty="0"/>
          </a:p>
        </p:txBody>
      </p:sp>
      <p:sp>
        <p:nvSpPr>
          <p:cNvPr id="63" name="Text 60"/>
          <p:cNvSpPr txBox="1"/>
          <p:nvPr/>
        </p:nvSpPr>
        <p:spPr>
          <a:xfrm>
            <a:off x="4325112" y="48998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ـح</a:t>
            </a:r>
            <a:endParaRPr lang="ar-SA" sz="2200" dirty="0"/>
          </a:p>
        </p:txBody>
      </p:sp>
      <p:sp>
        <p:nvSpPr>
          <p:cNvPr id="64" name="Text 61"/>
          <p:cNvSpPr txBox="1"/>
          <p:nvPr/>
        </p:nvSpPr>
        <p:spPr>
          <a:xfrm>
            <a:off x="2487168" y="4899878"/>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a:t>
            </a:r>
            <a:endParaRPr lang="en-US" sz="1100" dirty="0"/>
          </a:p>
        </p:txBody>
      </p:sp>
      <p:sp>
        <p:nvSpPr>
          <p:cNvPr id="65" name="Text 62"/>
          <p:cNvSpPr txBox="1"/>
          <p:nvPr/>
        </p:nvSpPr>
        <p:spPr>
          <a:xfrm>
            <a:off x="566928" y="4899878"/>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 · Ḥāʾ</a:t>
            </a:r>
            <a:endParaRPr lang="en-US" sz="1100" dirty="0"/>
          </a:p>
        </p:txBody>
      </p:sp>
      <p:sp>
        <p:nvSpPr>
          <p:cNvPr id="66" name="Shape 63"/>
          <p:cNvSpPr/>
          <p:nvPr/>
        </p:nvSpPr>
        <p:spPr>
          <a:xfrm>
            <a:off x="457200" y="5426311"/>
            <a:ext cx="11274552" cy="471569"/>
          </a:xfrm>
          <a:prstGeom prst="roundRect">
            <a:avLst>
              <a:gd name="adj" fmla="val 9695"/>
            </a:avLst>
          </a:prstGeom>
          <a:solidFill>
            <a:srgbClr val="FFFFFF"/>
          </a:solidFill>
          <a:ln w="9525">
            <a:solidFill>
              <a:srgbClr val="D8D0BF"/>
            </a:solidFill>
            <a:prstDash val="solid"/>
          </a:ln>
        </p:spPr>
      </p:sp>
      <p:sp>
        <p:nvSpPr>
          <p:cNvPr id="67" name="Text 64"/>
          <p:cNvSpPr txBox="1"/>
          <p:nvPr/>
        </p:nvSpPr>
        <p:spPr>
          <a:xfrm>
            <a:off x="9948672" y="54263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خ</a:t>
            </a:r>
            <a:endParaRPr lang="ar-SA" sz="2200" dirty="0"/>
          </a:p>
        </p:txBody>
      </p:sp>
      <p:sp>
        <p:nvSpPr>
          <p:cNvPr id="68" name="Text 65"/>
          <p:cNvSpPr txBox="1"/>
          <p:nvPr/>
        </p:nvSpPr>
        <p:spPr>
          <a:xfrm>
            <a:off x="8074152" y="54263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خـ</a:t>
            </a:r>
            <a:endParaRPr lang="ar-SA" sz="2200" dirty="0"/>
          </a:p>
        </p:txBody>
      </p:sp>
      <p:sp>
        <p:nvSpPr>
          <p:cNvPr id="69" name="Text 66"/>
          <p:cNvSpPr txBox="1"/>
          <p:nvPr/>
        </p:nvSpPr>
        <p:spPr>
          <a:xfrm>
            <a:off x="6199632" y="54263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ـخـ</a:t>
            </a:r>
            <a:endParaRPr lang="ar-SA" sz="2200" dirty="0"/>
          </a:p>
        </p:txBody>
      </p:sp>
      <p:sp>
        <p:nvSpPr>
          <p:cNvPr id="70" name="Text 67"/>
          <p:cNvSpPr txBox="1"/>
          <p:nvPr/>
        </p:nvSpPr>
        <p:spPr>
          <a:xfrm>
            <a:off x="4325112" y="54263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ـخ</a:t>
            </a:r>
            <a:endParaRPr lang="ar-SA" sz="2200" dirty="0"/>
          </a:p>
        </p:txBody>
      </p:sp>
      <p:sp>
        <p:nvSpPr>
          <p:cNvPr id="71" name="Text 68"/>
          <p:cNvSpPr txBox="1"/>
          <p:nvPr/>
        </p:nvSpPr>
        <p:spPr>
          <a:xfrm>
            <a:off x="2487168" y="5426311"/>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a:t>
            </a:r>
            <a:endParaRPr lang="en-US" sz="1100" dirty="0"/>
          </a:p>
        </p:txBody>
      </p:sp>
      <p:sp>
        <p:nvSpPr>
          <p:cNvPr id="72" name="Text 69"/>
          <p:cNvSpPr txBox="1"/>
          <p:nvPr/>
        </p:nvSpPr>
        <p:spPr>
          <a:xfrm>
            <a:off x="566928" y="5426311"/>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 · Khāʾ</a:t>
            </a:r>
            <a:endParaRPr lang="en-US" sz="1100" dirty="0"/>
          </a:p>
        </p:txBody>
      </p:sp>
      <p:sp>
        <p:nvSpPr>
          <p:cNvPr id="73" name="Text 7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Read right → left: isolated · initial · medial · final. The CORE badge marks a letter that never joins forward.</a:t>
            </a:r>
            <a:endParaRPr lang="en-US" sz="11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ALL 28 LETTERS (2 OF 4) ·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The alphabet in four positions (2 of 4)</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الْحُرُوفُ فِي أَرْبَعَةِ مَوَاضِعَ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930384" y="1810512"/>
            <a:ext cx="1728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Isolated</a:t>
            </a:r>
            <a:endParaRPr lang="en-US" sz="1100" dirty="0"/>
          </a:p>
        </p:txBody>
      </p:sp>
      <p:sp>
        <p:nvSpPr>
          <p:cNvPr id="17" name="Text 14"/>
          <p:cNvSpPr txBox="1"/>
          <p:nvPr/>
        </p:nvSpPr>
        <p:spPr>
          <a:xfrm>
            <a:off x="8055864" y="1810512"/>
            <a:ext cx="1728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Initial</a:t>
            </a:r>
            <a:endParaRPr lang="en-US" sz="1100" dirty="0"/>
          </a:p>
        </p:txBody>
      </p:sp>
      <p:sp>
        <p:nvSpPr>
          <p:cNvPr id="18" name="Text 15"/>
          <p:cNvSpPr txBox="1"/>
          <p:nvPr/>
        </p:nvSpPr>
        <p:spPr>
          <a:xfrm>
            <a:off x="6181344" y="1810512"/>
            <a:ext cx="1728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Medial</a:t>
            </a:r>
            <a:endParaRPr lang="en-US" sz="1100" dirty="0"/>
          </a:p>
        </p:txBody>
      </p:sp>
      <p:sp>
        <p:nvSpPr>
          <p:cNvPr id="19" name="Text 16"/>
          <p:cNvSpPr txBox="1"/>
          <p:nvPr/>
        </p:nvSpPr>
        <p:spPr>
          <a:xfrm>
            <a:off x="4306824" y="1810512"/>
            <a:ext cx="1728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Final</a:t>
            </a:r>
            <a:endParaRPr lang="en-US" sz="1100" dirty="0"/>
          </a:p>
        </p:txBody>
      </p:sp>
      <p:sp>
        <p:nvSpPr>
          <p:cNvPr id="20" name="Text 17"/>
          <p:cNvSpPr txBox="1"/>
          <p:nvPr/>
        </p:nvSpPr>
        <p:spPr>
          <a:xfrm>
            <a:off x="2450592" y="1810512"/>
            <a:ext cx="1709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Joins the next letter?</a:t>
            </a:r>
            <a:endParaRPr lang="en-US" sz="1100" dirty="0"/>
          </a:p>
        </p:txBody>
      </p:sp>
      <p:sp>
        <p:nvSpPr>
          <p:cNvPr id="21" name="Text 18"/>
          <p:cNvSpPr txBox="1"/>
          <p:nvPr/>
        </p:nvSpPr>
        <p:spPr>
          <a:xfrm>
            <a:off x="53035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Letter</a:t>
            </a:r>
            <a:endParaRPr lang="en-US" sz="1100" dirty="0"/>
          </a:p>
        </p:txBody>
      </p:sp>
      <p:sp>
        <p:nvSpPr>
          <p:cNvPr id="22" name="Shape 19"/>
          <p:cNvSpPr/>
          <p:nvPr/>
        </p:nvSpPr>
        <p:spPr>
          <a:xfrm>
            <a:off x="457200" y="2267712"/>
            <a:ext cx="11274552" cy="471569"/>
          </a:xfrm>
          <a:prstGeom prst="roundRect">
            <a:avLst>
              <a:gd name="adj" fmla="val 9695"/>
            </a:avLst>
          </a:prstGeom>
          <a:solidFill>
            <a:srgbClr val="FFFFFF"/>
          </a:solidFill>
          <a:ln w="9525">
            <a:solidFill>
              <a:srgbClr val="D8D0BF"/>
            </a:solidFill>
            <a:prstDash val="solid"/>
          </a:ln>
        </p:spPr>
      </p:sp>
      <p:sp>
        <p:nvSpPr>
          <p:cNvPr id="23" name="Text 20"/>
          <p:cNvSpPr txBox="1"/>
          <p:nvPr/>
        </p:nvSpPr>
        <p:spPr>
          <a:xfrm>
            <a:off x="9948672" y="2267712"/>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د</a:t>
            </a:r>
            <a:endParaRPr lang="ar-SA" sz="2200" dirty="0"/>
          </a:p>
        </p:txBody>
      </p:sp>
      <p:sp>
        <p:nvSpPr>
          <p:cNvPr id="24" name="Text 21"/>
          <p:cNvSpPr txBox="1"/>
          <p:nvPr/>
        </p:nvSpPr>
        <p:spPr>
          <a:xfrm>
            <a:off x="8074152" y="2267712"/>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د</a:t>
            </a:r>
            <a:endParaRPr lang="ar-SA" sz="2200" dirty="0"/>
          </a:p>
        </p:txBody>
      </p:sp>
      <p:sp>
        <p:nvSpPr>
          <p:cNvPr id="25" name="Text 22"/>
          <p:cNvSpPr txBox="1"/>
          <p:nvPr/>
        </p:nvSpPr>
        <p:spPr>
          <a:xfrm>
            <a:off x="6199632" y="2267712"/>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ـد</a:t>
            </a:r>
            <a:endParaRPr lang="ar-SA" sz="2200" dirty="0"/>
          </a:p>
        </p:txBody>
      </p:sp>
      <p:sp>
        <p:nvSpPr>
          <p:cNvPr id="26" name="Text 23"/>
          <p:cNvSpPr txBox="1"/>
          <p:nvPr/>
        </p:nvSpPr>
        <p:spPr>
          <a:xfrm>
            <a:off x="4325112" y="2267712"/>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ـد</a:t>
            </a:r>
            <a:endParaRPr lang="ar-SA" sz="2200" dirty="0"/>
          </a:p>
        </p:txBody>
      </p:sp>
      <p:sp>
        <p:nvSpPr>
          <p:cNvPr id="27" name="Text 24"/>
          <p:cNvSpPr txBox="1"/>
          <p:nvPr/>
        </p:nvSpPr>
        <p:spPr>
          <a:xfrm>
            <a:off x="2487168" y="2267712"/>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 breaks</a:t>
            </a:r>
            <a:endParaRPr lang="en-US" sz="1100" dirty="0"/>
          </a:p>
        </p:txBody>
      </p:sp>
      <p:sp>
        <p:nvSpPr>
          <p:cNvPr id="28" name="Text 25"/>
          <p:cNvSpPr txBox="1"/>
          <p:nvPr/>
        </p:nvSpPr>
        <p:spPr>
          <a:xfrm>
            <a:off x="566928" y="2267712"/>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 · Dāl</a:t>
            </a:r>
            <a:endParaRPr lang="en-US" sz="1100" dirty="0"/>
          </a:p>
        </p:txBody>
      </p:sp>
      <p:sp>
        <p:nvSpPr>
          <p:cNvPr id="29" name="Shape 26"/>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2794145"/>
            <a:ext cx="11274552" cy="471569"/>
          </a:xfrm>
          <a:prstGeom prst="roundRect">
            <a:avLst>
              <a:gd name="adj" fmla="val 9695"/>
            </a:avLst>
          </a:prstGeom>
          <a:solidFill>
            <a:srgbClr val="F4F1EA"/>
          </a:solidFill>
          <a:ln w="9525">
            <a:solidFill>
              <a:srgbClr val="D8D0BF"/>
            </a:solidFill>
            <a:prstDash val="solid"/>
          </a:ln>
        </p:spPr>
      </p:sp>
      <p:sp>
        <p:nvSpPr>
          <p:cNvPr id="32" name="Text 29"/>
          <p:cNvSpPr txBox="1"/>
          <p:nvPr/>
        </p:nvSpPr>
        <p:spPr>
          <a:xfrm>
            <a:off x="9948672" y="27941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ذ</a:t>
            </a:r>
            <a:endParaRPr lang="ar-SA" sz="2200" dirty="0"/>
          </a:p>
        </p:txBody>
      </p:sp>
      <p:sp>
        <p:nvSpPr>
          <p:cNvPr id="33" name="Text 30"/>
          <p:cNvSpPr txBox="1"/>
          <p:nvPr/>
        </p:nvSpPr>
        <p:spPr>
          <a:xfrm>
            <a:off x="8074152" y="27941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ذ</a:t>
            </a:r>
            <a:endParaRPr lang="ar-SA" sz="2200" dirty="0"/>
          </a:p>
        </p:txBody>
      </p:sp>
      <p:sp>
        <p:nvSpPr>
          <p:cNvPr id="34" name="Text 31"/>
          <p:cNvSpPr txBox="1"/>
          <p:nvPr/>
        </p:nvSpPr>
        <p:spPr>
          <a:xfrm>
            <a:off x="6199632" y="27941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ـذ</a:t>
            </a:r>
            <a:endParaRPr lang="ar-SA" sz="2200" dirty="0"/>
          </a:p>
        </p:txBody>
      </p:sp>
      <p:sp>
        <p:nvSpPr>
          <p:cNvPr id="35" name="Text 32"/>
          <p:cNvSpPr txBox="1"/>
          <p:nvPr/>
        </p:nvSpPr>
        <p:spPr>
          <a:xfrm>
            <a:off x="4325112" y="27941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ـذ</a:t>
            </a:r>
            <a:endParaRPr lang="ar-SA" sz="2200" dirty="0"/>
          </a:p>
        </p:txBody>
      </p:sp>
      <p:sp>
        <p:nvSpPr>
          <p:cNvPr id="36" name="Text 33"/>
          <p:cNvSpPr txBox="1"/>
          <p:nvPr/>
        </p:nvSpPr>
        <p:spPr>
          <a:xfrm>
            <a:off x="2487168" y="2794145"/>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 breaks</a:t>
            </a:r>
            <a:endParaRPr lang="en-US" sz="1100" dirty="0"/>
          </a:p>
        </p:txBody>
      </p:sp>
      <p:sp>
        <p:nvSpPr>
          <p:cNvPr id="37" name="Text 34"/>
          <p:cNvSpPr txBox="1"/>
          <p:nvPr/>
        </p:nvSpPr>
        <p:spPr>
          <a:xfrm>
            <a:off x="566928" y="2794145"/>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9 · Dhāl</a:t>
            </a:r>
            <a:endParaRPr lang="en-US" sz="1100" dirty="0"/>
          </a:p>
        </p:txBody>
      </p:sp>
      <p:sp>
        <p:nvSpPr>
          <p:cNvPr id="38" name="Shape 35"/>
          <p:cNvSpPr/>
          <p:nvPr/>
        </p:nvSpPr>
        <p:spPr>
          <a:xfrm>
            <a:off x="11091672" y="2839865"/>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283986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3320578"/>
            <a:ext cx="11274552" cy="471569"/>
          </a:xfrm>
          <a:prstGeom prst="roundRect">
            <a:avLst>
              <a:gd name="adj" fmla="val 9695"/>
            </a:avLst>
          </a:prstGeom>
          <a:solidFill>
            <a:srgbClr val="FFFFFF"/>
          </a:solidFill>
          <a:ln w="9525">
            <a:solidFill>
              <a:srgbClr val="D8D0BF"/>
            </a:solidFill>
            <a:prstDash val="solid"/>
          </a:ln>
        </p:spPr>
      </p:sp>
      <p:sp>
        <p:nvSpPr>
          <p:cNvPr id="41" name="Text 38"/>
          <p:cNvSpPr txBox="1"/>
          <p:nvPr/>
        </p:nvSpPr>
        <p:spPr>
          <a:xfrm>
            <a:off x="9948672" y="33205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ر</a:t>
            </a:r>
            <a:endParaRPr lang="ar-SA" sz="2200" dirty="0"/>
          </a:p>
        </p:txBody>
      </p:sp>
      <p:sp>
        <p:nvSpPr>
          <p:cNvPr id="42" name="Text 39"/>
          <p:cNvSpPr txBox="1"/>
          <p:nvPr/>
        </p:nvSpPr>
        <p:spPr>
          <a:xfrm>
            <a:off x="8074152" y="33205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ر</a:t>
            </a:r>
            <a:endParaRPr lang="ar-SA" sz="2200" dirty="0"/>
          </a:p>
        </p:txBody>
      </p:sp>
      <p:sp>
        <p:nvSpPr>
          <p:cNvPr id="43" name="Text 40"/>
          <p:cNvSpPr txBox="1"/>
          <p:nvPr/>
        </p:nvSpPr>
        <p:spPr>
          <a:xfrm>
            <a:off x="6199632" y="33205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ـر</a:t>
            </a:r>
            <a:endParaRPr lang="ar-SA" sz="2200" dirty="0"/>
          </a:p>
        </p:txBody>
      </p:sp>
      <p:sp>
        <p:nvSpPr>
          <p:cNvPr id="44" name="Text 41"/>
          <p:cNvSpPr txBox="1"/>
          <p:nvPr/>
        </p:nvSpPr>
        <p:spPr>
          <a:xfrm>
            <a:off x="4325112" y="33205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ـر</a:t>
            </a:r>
            <a:endParaRPr lang="ar-SA" sz="2200" dirty="0"/>
          </a:p>
        </p:txBody>
      </p:sp>
      <p:sp>
        <p:nvSpPr>
          <p:cNvPr id="45" name="Text 42"/>
          <p:cNvSpPr txBox="1"/>
          <p:nvPr/>
        </p:nvSpPr>
        <p:spPr>
          <a:xfrm>
            <a:off x="2487168" y="3320578"/>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 breaks</a:t>
            </a:r>
            <a:endParaRPr lang="en-US" sz="1100" dirty="0"/>
          </a:p>
        </p:txBody>
      </p:sp>
      <p:sp>
        <p:nvSpPr>
          <p:cNvPr id="46" name="Text 43"/>
          <p:cNvSpPr txBox="1"/>
          <p:nvPr/>
        </p:nvSpPr>
        <p:spPr>
          <a:xfrm>
            <a:off x="566928" y="3320578"/>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 · Rāʾ</a:t>
            </a:r>
            <a:endParaRPr lang="en-US" sz="1100" dirty="0"/>
          </a:p>
        </p:txBody>
      </p:sp>
      <p:sp>
        <p:nvSpPr>
          <p:cNvPr id="47" name="Shape 44"/>
          <p:cNvSpPr/>
          <p:nvPr/>
        </p:nvSpPr>
        <p:spPr>
          <a:xfrm>
            <a:off x="11091672" y="3366298"/>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336629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3847011"/>
            <a:ext cx="11274552" cy="471569"/>
          </a:xfrm>
          <a:prstGeom prst="roundRect">
            <a:avLst>
              <a:gd name="adj" fmla="val 9695"/>
            </a:avLst>
          </a:prstGeom>
          <a:solidFill>
            <a:srgbClr val="F4F1EA"/>
          </a:solidFill>
          <a:ln w="9525">
            <a:solidFill>
              <a:srgbClr val="D8D0BF"/>
            </a:solidFill>
            <a:prstDash val="solid"/>
          </a:ln>
        </p:spPr>
      </p:sp>
      <p:sp>
        <p:nvSpPr>
          <p:cNvPr id="50" name="Text 47"/>
          <p:cNvSpPr txBox="1"/>
          <p:nvPr/>
        </p:nvSpPr>
        <p:spPr>
          <a:xfrm>
            <a:off x="9948672" y="38470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ز</a:t>
            </a:r>
            <a:endParaRPr lang="ar-SA" sz="2200" dirty="0"/>
          </a:p>
        </p:txBody>
      </p:sp>
      <p:sp>
        <p:nvSpPr>
          <p:cNvPr id="51" name="Text 48"/>
          <p:cNvSpPr txBox="1"/>
          <p:nvPr/>
        </p:nvSpPr>
        <p:spPr>
          <a:xfrm>
            <a:off x="8074152" y="38470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ز</a:t>
            </a:r>
            <a:endParaRPr lang="ar-SA" sz="2200" dirty="0"/>
          </a:p>
        </p:txBody>
      </p:sp>
      <p:sp>
        <p:nvSpPr>
          <p:cNvPr id="52" name="Text 49"/>
          <p:cNvSpPr txBox="1"/>
          <p:nvPr/>
        </p:nvSpPr>
        <p:spPr>
          <a:xfrm>
            <a:off x="6199632" y="38470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ـز</a:t>
            </a:r>
            <a:endParaRPr lang="ar-SA" sz="2200" dirty="0"/>
          </a:p>
        </p:txBody>
      </p:sp>
      <p:sp>
        <p:nvSpPr>
          <p:cNvPr id="53" name="Text 50"/>
          <p:cNvSpPr txBox="1"/>
          <p:nvPr/>
        </p:nvSpPr>
        <p:spPr>
          <a:xfrm>
            <a:off x="4325112" y="38470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ـز</a:t>
            </a:r>
            <a:endParaRPr lang="ar-SA" sz="2200" dirty="0"/>
          </a:p>
        </p:txBody>
      </p:sp>
      <p:sp>
        <p:nvSpPr>
          <p:cNvPr id="54" name="Text 51"/>
          <p:cNvSpPr txBox="1"/>
          <p:nvPr/>
        </p:nvSpPr>
        <p:spPr>
          <a:xfrm>
            <a:off x="2487168" y="3847011"/>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 breaks</a:t>
            </a:r>
            <a:endParaRPr lang="en-US" sz="1100" dirty="0"/>
          </a:p>
        </p:txBody>
      </p:sp>
      <p:sp>
        <p:nvSpPr>
          <p:cNvPr id="55" name="Text 52"/>
          <p:cNvSpPr txBox="1"/>
          <p:nvPr/>
        </p:nvSpPr>
        <p:spPr>
          <a:xfrm>
            <a:off x="566928" y="3847011"/>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11 · Zāy</a:t>
            </a:r>
            <a:endParaRPr lang="en-US" sz="1100" dirty="0"/>
          </a:p>
        </p:txBody>
      </p:sp>
      <p:sp>
        <p:nvSpPr>
          <p:cNvPr id="56" name="Shape 53"/>
          <p:cNvSpPr/>
          <p:nvPr/>
        </p:nvSpPr>
        <p:spPr>
          <a:xfrm>
            <a:off x="11091672" y="3892731"/>
            <a:ext cx="548640" cy="182880"/>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1091672" y="389273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8" name="Shape 55"/>
          <p:cNvSpPr/>
          <p:nvPr/>
        </p:nvSpPr>
        <p:spPr>
          <a:xfrm>
            <a:off x="457200" y="4373445"/>
            <a:ext cx="11274552" cy="471569"/>
          </a:xfrm>
          <a:prstGeom prst="roundRect">
            <a:avLst>
              <a:gd name="adj" fmla="val 9695"/>
            </a:avLst>
          </a:prstGeom>
          <a:solidFill>
            <a:srgbClr val="FFFFFF"/>
          </a:solidFill>
          <a:ln w="9525">
            <a:solidFill>
              <a:srgbClr val="D8D0BF"/>
            </a:solidFill>
            <a:prstDash val="solid"/>
          </a:ln>
        </p:spPr>
      </p:sp>
      <p:sp>
        <p:nvSpPr>
          <p:cNvPr id="59" name="Text 56"/>
          <p:cNvSpPr txBox="1"/>
          <p:nvPr/>
        </p:nvSpPr>
        <p:spPr>
          <a:xfrm>
            <a:off x="9948672" y="43734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a:t>
            </a:r>
            <a:endParaRPr lang="ar-SA" sz="2200" dirty="0"/>
          </a:p>
        </p:txBody>
      </p:sp>
      <p:sp>
        <p:nvSpPr>
          <p:cNvPr id="60" name="Text 57"/>
          <p:cNvSpPr txBox="1"/>
          <p:nvPr/>
        </p:nvSpPr>
        <p:spPr>
          <a:xfrm>
            <a:off x="8074152" y="43734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سـ</a:t>
            </a:r>
            <a:endParaRPr lang="ar-SA" sz="2200" dirty="0"/>
          </a:p>
        </p:txBody>
      </p:sp>
      <p:sp>
        <p:nvSpPr>
          <p:cNvPr id="61" name="Text 58"/>
          <p:cNvSpPr txBox="1"/>
          <p:nvPr/>
        </p:nvSpPr>
        <p:spPr>
          <a:xfrm>
            <a:off x="6199632" y="43734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ـسـ</a:t>
            </a:r>
            <a:endParaRPr lang="ar-SA" sz="2200" dirty="0"/>
          </a:p>
        </p:txBody>
      </p:sp>
      <p:sp>
        <p:nvSpPr>
          <p:cNvPr id="62" name="Text 59"/>
          <p:cNvSpPr txBox="1"/>
          <p:nvPr/>
        </p:nvSpPr>
        <p:spPr>
          <a:xfrm>
            <a:off x="4325112" y="43734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ـس</a:t>
            </a:r>
            <a:endParaRPr lang="ar-SA" sz="2200" dirty="0"/>
          </a:p>
        </p:txBody>
      </p:sp>
      <p:sp>
        <p:nvSpPr>
          <p:cNvPr id="63" name="Text 60"/>
          <p:cNvSpPr txBox="1"/>
          <p:nvPr/>
        </p:nvSpPr>
        <p:spPr>
          <a:xfrm>
            <a:off x="2487168" y="4373445"/>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a:t>
            </a:r>
            <a:endParaRPr lang="en-US" sz="1100" dirty="0"/>
          </a:p>
        </p:txBody>
      </p:sp>
      <p:sp>
        <p:nvSpPr>
          <p:cNvPr id="64" name="Text 61"/>
          <p:cNvSpPr txBox="1"/>
          <p:nvPr/>
        </p:nvSpPr>
        <p:spPr>
          <a:xfrm>
            <a:off x="566928" y="4373445"/>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12 · Sīn</a:t>
            </a:r>
            <a:endParaRPr lang="en-US" sz="1100" dirty="0"/>
          </a:p>
        </p:txBody>
      </p:sp>
      <p:sp>
        <p:nvSpPr>
          <p:cNvPr id="65" name="Shape 62"/>
          <p:cNvSpPr/>
          <p:nvPr/>
        </p:nvSpPr>
        <p:spPr>
          <a:xfrm>
            <a:off x="457200" y="4899878"/>
            <a:ext cx="11274552" cy="471569"/>
          </a:xfrm>
          <a:prstGeom prst="roundRect">
            <a:avLst>
              <a:gd name="adj" fmla="val 9695"/>
            </a:avLst>
          </a:prstGeom>
          <a:solidFill>
            <a:srgbClr val="F4F1EA"/>
          </a:solidFill>
          <a:ln w="9525">
            <a:solidFill>
              <a:srgbClr val="D8D0BF"/>
            </a:solidFill>
            <a:prstDash val="solid"/>
          </a:ln>
        </p:spPr>
      </p:sp>
      <p:sp>
        <p:nvSpPr>
          <p:cNvPr id="66" name="Text 63"/>
          <p:cNvSpPr txBox="1"/>
          <p:nvPr/>
        </p:nvSpPr>
        <p:spPr>
          <a:xfrm>
            <a:off x="9948672" y="48998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ش</a:t>
            </a:r>
            <a:endParaRPr lang="ar-SA" sz="2200" dirty="0"/>
          </a:p>
        </p:txBody>
      </p:sp>
      <p:sp>
        <p:nvSpPr>
          <p:cNvPr id="67" name="Text 64"/>
          <p:cNvSpPr txBox="1"/>
          <p:nvPr/>
        </p:nvSpPr>
        <p:spPr>
          <a:xfrm>
            <a:off x="8074152" y="48998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شـ</a:t>
            </a:r>
            <a:endParaRPr lang="ar-SA" sz="2200" dirty="0"/>
          </a:p>
        </p:txBody>
      </p:sp>
      <p:sp>
        <p:nvSpPr>
          <p:cNvPr id="68" name="Text 65"/>
          <p:cNvSpPr txBox="1"/>
          <p:nvPr/>
        </p:nvSpPr>
        <p:spPr>
          <a:xfrm>
            <a:off x="6199632" y="48998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ـشـ</a:t>
            </a:r>
            <a:endParaRPr lang="ar-SA" sz="2200" dirty="0"/>
          </a:p>
        </p:txBody>
      </p:sp>
      <p:sp>
        <p:nvSpPr>
          <p:cNvPr id="69" name="Text 66"/>
          <p:cNvSpPr txBox="1"/>
          <p:nvPr/>
        </p:nvSpPr>
        <p:spPr>
          <a:xfrm>
            <a:off x="4325112" y="48998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ـش</a:t>
            </a:r>
            <a:endParaRPr lang="ar-SA" sz="2200" dirty="0"/>
          </a:p>
        </p:txBody>
      </p:sp>
      <p:sp>
        <p:nvSpPr>
          <p:cNvPr id="70" name="Text 67"/>
          <p:cNvSpPr txBox="1"/>
          <p:nvPr/>
        </p:nvSpPr>
        <p:spPr>
          <a:xfrm>
            <a:off x="2487168" y="4899878"/>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a:t>
            </a:r>
            <a:endParaRPr lang="en-US" sz="1100" dirty="0"/>
          </a:p>
        </p:txBody>
      </p:sp>
      <p:sp>
        <p:nvSpPr>
          <p:cNvPr id="71" name="Text 68"/>
          <p:cNvSpPr txBox="1"/>
          <p:nvPr/>
        </p:nvSpPr>
        <p:spPr>
          <a:xfrm>
            <a:off x="566928" y="4899878"/>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13 · Shīn</a:t>
            </a:r>
            <a:endParaRPr lang="en-US" sz="1100" dirty="0"/>
          </a:p>
        </p:txBody>
      </p:sp>
      <p:sp>
        <p:nvSpPr>
          <p:cNvPr id="72" name="Shape 69"/>
          <p:cNvSpPr/>
          <p:nvPr/>
        </p:nvSpPr>
        <p:spPr>
          <a:xfrm>
            <a:off x="457200" y="5426311"/>
            <a:ext cx="11274552" cy="471569"/>
          </a:xfrm>
          <a:prstGeom prst="roundRect">
            <a:avLst>
              <a:gd name="adj" fmla="val 9695"/>
            </a:avLst>
          </a:prstGeom>
          <a:solidFill>
            <a:srgbClr val="FFFFFF"/>
          </a:solidFill>
          <a:ln w="9525">
            <a:solidFill>
              <a:srgbClr val="D8D0BF"/>
            </a:solidFill>
            <a:prstDash val="solid"/>
          </a:ln>
        </p:spPr>
      </p:sp>
      <p:sp>
        <p:nvSpPr>
          <p:cNvPr id="73" name="Text 70"/>
          <p:cNvSpPr txBox="1"/>
          <p:nvPr/>
        </p:nvSpPr>
        <p:spPr>
          <a:xfrm>
            <a:off x="9948672" y="54263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ص</a:t>
            </a:r>
            <a:endParaRPr lang="ar-SA" sz="2200" dirty="0"/>
          </a:p>
        </p:txBody>
      </p:sp>
      <p:sp>
        <p:nvSpPr>
          <p:cNvPr id="74" name="Text 71"/>
          <p:cNvSpPr txBox="1"/>
          <p:nvPr/>
        </p:nvSpPr>
        <p:spPr>
          <a:xfrm>
            <a:off x="8074152" y="54263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صـ</a:t>
            </a:r>
            <a:endParaRPr lang="ar-SA" sz="2200" dirty="0"/>
          </a:p>
        </p:txBody>
      </p:sp>
      <p:sp>
        <p:nvSpPr>
          <p:cNvPr id="75" name="Text 72"/>
          <p:cNvSpPr txBox="1"/>
          <p:nvPr/>
        </p:nvSpPr>
        <p:spPr>
          <a:xfrm>
            <a:off x="6199632" y="54263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ـصـ</a:t>
            </a:r>
            <a:endParaRPr lang="ar-SA" sz="2200" dirty="0"/>
          </a:p>
        </p:txBody>
      </p:sp>
      <p:sp>
        <p:nvSpPr>
          <p:cNvPr id="76" name="Text 73"/>
          <p:cNvSpPr txBox="1"/>
          <p:nvPr/>
        </p:nvSpPr>
        <p:spPr>
          <a:xfrm>
            <a:off x="4325112" y="54263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ـص</a:t>
            </a:r>
            <a:endParaRPr lang="ar-SA" sz="2200" dirty="0"/>
          </a:p>
        </p:txBody>
      </p:sp>
      <p:sp>
        <p:nvSpPr>
          <p:cNvPr id="77" name="Text 74"/>
          <p:cNvSpPr txBox="1"/>
          <p:nvPr/>
        </p:nvSpPr>
        <p:spPr>
          <a:xfrm>
            <a:off x="2487168" y="5426311"/>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a:t>
            </a:r>
            <a:endParaRPr lang="en-US" sz="1100" dirty="0"/>
          </a:p>
        </p:txBody>
      </p:sp>
      <p:sp>
        <p:nvSpPr>
          <p:cNvPr id="78" name="Text 75"/>
          <p:cNvSpPr txBox="1"/>
          <p:nvPr/>
        </p:nvSpPr>
        <p:spPr>
          <a:xfrm>
            <a:off x="566928" y="5426311"/>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14 · Ṣād</a:t>
            </a:r>
            <a:endParaRPr lang="en-US" sz="1100" dirty="0"/>
          </a:p>
        </p:txBody>
      </p:sp>
      <p:sp>
        <p:nvSpPr>
          <p:cNvPr id="79" name="Text 7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Read right → left: isolated · initial · medial · final. The CORE badge marks a letter that never joins forward.</a:t>
            </a:r>
            <a:endParaRPr lang="en-US" sz="11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ALL 28 LETTERS (3 OF 4) ·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The alphabet in four positions (3 of 4)</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الْحُرُوفُ فِي أَرْبَعَةِ مَوَاضِعَ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930384" y="1810512"/>
            <a:ext cx="1728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Isolated</a:t>
            </a:r>
            <a:endParaRPr lang="en-US" sz="1100" dirty="0"/>
          </a:p>
        </p:txBody>
      </p:sp>
      <p:sp>
        <p:nvSpPr>
          <p:cNvPr id="17" name="Text 14"/>
          <p:cNvSpPr txBox="1"/>
          <p:nvPr/>
        </p:nvSpPr>
        <p:spPr>
          <a:xfrm>
            <a:off x="8055864" y="1810512"/>
            <a:ext cx="1728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Initial</a:t>
            </a:r>
            <a:endParaRPr lang="en-US" sz="1100" dirty="0"/>
          </a:p>
        </p:txBody>
      </p:sp>
      <p:sp>
        <p:nvSpPr>
          <p:cNvPr id="18" name="Text 15"/>
          <p:cNvSpPr txBox="1"/>
          <p:nvPr/>
        </p:nvSpPr>
        <p:spPr>
          <a:xfrm>
            <a:off x="6181344" y="1810512"/>
            <a:ext cx="1728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Medial</a:t>
            </a:r>
            <a:endParaRPr lang="en-US" sz="1100" dirty="0"/>
          </a:p>
        </p:txBody>
      </p:sp>
      <p:sp>
        <p:nvSpPr>
          <p:cNvPr id="19" name="Text 16"/>
          <p:cNvSpPr txBox="1"/>
          <p:nvPr/>
        </p:nvSpPr>
        <p:spPr>
          <a:xfrm>
            <a:off x="4306824" y="1810512"/>
            <a:ext cx="1728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Final</a:t>
            </a:r>
            <a:endParaRPr lang="en-US" sz="1100" dirty="0"/>
          </a:p>
        </p:txBody>
      </p:sp>
      <p:sp>
        <p:nvSpPr>
          <p:cNvPr id="20" name="Text 17"/>
          <p:cNvSpPr txBox="1"/>
          <p:nvPr/>
        </p:nvSpPr>
        <p:spPr>
          <a:xfrm>
            <a:off x="2450592" y="1810512"/>
            <a:ext cx="1709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Joins the next letter?</a:t>
            </a:r>
            <a:endParaRPr lang="en-US" sz="1100" dirty="0"/>
          </a:p>
        </p:txBody>
      </p:sp>
      <p:sp>
        <p:nvSpPr>
          <p:cNvPr id="21" name="Text 18"/>
          <p:cNvSpPr txBox="1"/>
          <p:nvPr/>
        </p:nvSpPr>
        <p:spPr>
          <a:xfrm>
            <a:off x="53035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Letter</a:t>
            </a:r>
            <a:endParaRPr lang="en-US" sz="1100" dirty="0"/>
          </a:p>
        </p:txBody>
      </p:sp>
      <p:sp>
        <p:nvSpPr>
          <p:cNvPr id="22" name="Shape 19"/>
          <p:cNvSpPr/>
          <p:nvPr/>
        </p:nvSpPr>
        <p:spPr>
          <a:xfrm>
            <a:off x="457200" y="2267712"/>
            <a:ext cx="11274552" cy="471569"/>
          </a:xfrm>
          <a:prstGeom prst="roundRect">
            <a:avLst>
              <a:gd name="adj" fmla="val 9695"/>
            </a:avLst>
          </a:prstGeom>
          <a:solidFill>
            <a:srgbClr val="FFFFFF"/>
          </a:solidFill>
          <a:ln w="9525">
            <a:solidFill>
              <a:srgbClr val="D8D0BF"/>
            </a:solidFill>
            <a:prstDash val="solid"/>
          </a:ln>
        </p:spPr>
      </p:sp>
      <p:sp>
        <p:nvSpPr>
          <p:cNvPr id="23" name="Text 20"/>
          <p:cNvSpPr txBox="1"/>
          <p:nvPr/>
        </p:nvSpPr>
        <p:spPr>
          <a:xfrm>
            <a:off x="9948672" y="2267712"/>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ض</a:t>
            </a:r>
            <a:endParaRPr lang="ar-SA" sz="2200" dirty="0"/>
          </a:p>
        </p:txBody>
      </p:sp>
      <p:sp>
        <p:nvSpPr>
          <p:cNvPr id="24" name="Text 21"/>
          <p:cNvSpPr txBox="1"/>
          <p:nvPr/>
        </p:nvSpPr>
        <p:spPr>
          <a:xfrm>
            <a:off x="8074152" y="2267712"/>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ضـ</a:t>
            </a:r>
            <a:endParaRPr lang="ar-SA" sz="2200" dirty="0"/>
          </a:p>
        </p:txBody>
      </p:sp>
      <p:sp>
        <p:nvSpPr>
          <p:cNvPr id="25" name="Text 22"/>
          <p:cNvSpPr txBox="1"/>
          <p:nvPr/>
        </p:nvSpPr>
        <p:spPr>
          <a:xfrm>
            <a:off x="6199632" y="2267712"/>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ـضـ</a:t>
            </a:r>
            <a:endParaRPr lang="ar-SA" sz="2200" dirty="0"/>
          </a:p>
        </p:txBody>
      </p:sp>
      <p:sp>
        <p:nvSpPr>
          <p:cNvPr id="26" name="Text 23"/>
          <p:cNvSpPr txBox="1"/>
          <p:nvPr/>
        </p:nvSpPr>
        <p:spPr>
          <a:xfrm>
            <a:off x="4325112" y="2267712"/>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ـض</a:t>
            </a:r>
            <a:endParaRPr lang="ar-SA" sz="2200" dirty="0"/>
          </a:p>
        </p:txBody>
      </p:sp>
      <p:sp>
        <p:nvSpPr>
          <p:cNvPr id="27" name="Text 24"/>
          <p:cNvSpPr txBox="1"/>
          <p:nvPr/>
        </p:nvSpPr>
        <p:spPr>
          <a:xfrm>
            <a:off x="2487168" y="2267712"/>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a:t>
            </a:r>
            <a:endParaRPr lang="en-US" sz="1100" dirty="0"/>
          </a:p>
        </p:txBody>
      </p:sp>
      <p:sp>
        <p:nvSpPr>
          <p:cNvPr id="28" name="Text 25"/>
          <p:cNvSpPr txBox="1"/>
          <p:nvPr/>
        </p:nvSpPr>
        <p:spPr>
          <a:xfrm>
            <a:off x="566928" y="2267712"/>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15 · Ḍād</a:t>
            </a:r>
            <a:endParaRPr lang="en-US" sz="1100" dirty="0"/>
          </a:p>
        </p:txBody>
      </p:sp>
      <p:sp>
        <p:nvSpPr>
          <p:cNvPr id="29" name="Shape 26"/>
          <p:cNvSpPr/>
          <p:nvPr/>
        </p:nvSpPr>
        <p:spPr>
          <a:xfrm>
            <a:off x="457200" y="2794145"/>
            <a:ext cx="11274552" cy="471569"/>
          </a:xfrm>
          <a:prstGeom prst="roundRect">
            <a:avLst>
              <a:gd name="adj" fmla="val 9695"/>
            </a:avLst>
          </a:prstGeom>
          <a:solidFill>
            <a:srgbClr val="F4F1EA"/>
          </a:solidFill>
          <a:ln w="9525">
            <a:solidFill>
              <a:srgbClr val="D8D0BF"/>
            </a:solidFill>
            <a:prstDash val="solid"/>
          </a:ln>
        </p:spPr>
      </p:sp>
      <p:sp>
        <p:nvSpPr>
          <p:cNvPr id="30" name="Text 27"/>
          <p:cNvSpPr txBox="1"/>
          <p:nvPr/>
        </p:nvSpPr>
        <p:spPr>
          <a:xfrm>
            <a:off x="9948672" y="27941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ط</a:t>
            </a:r>
            <a:endParaRPr lang="ar-SA" sz="2200" dirty="0"/>
          </a:p>
        </p:txBody>
      </p:sp>
      <p:sp>
        <p:nvSpPr>
          <p:cNvPr id="31" name="Text 28"/>
          <p:cNvSpPr txBox="1"/>
          <p:nvPr/>
        </p:nvSpPr>
        <p:spPr>
          <a:xfrm>
            <a:off x="8074152" y="27941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طـ</a:t>
            </a:r>
            <a:endParaRPr lang="ar-SA" sz="2200" dirty="0"/>
          </a:p>
        </p:txBody>
      </p:sp>
      <p:sp>
        <p:nvSpPr>
          <p:cNvPr id="32" name="Text 29"/>
          <p:cNvSpPr txBox="1"/>
          <p:nvPr/>
        </p:nvSpPr>
        <p:spPr>
          <a:xfrm>
            <a:off x="6199632" y="27941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ـطـ</a:t>
            </a:r>
            <a:endParaRPr lang="ar-SA" sz="2200" dirty="0"/>
          </a:p>
        </p:txBody>
      </p:sp>
      <p:sp>
        <p:nvSpPr>
          <p:cNvPr id="33" name="Text 30"/>
          <p:cNvSpPr txBox="1"/>
          <p:nvPr/>
        </p:nvSpPr>
        <p:spPr>
          <a:xfrm>
            <a:off x="4325112" y="27941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ـط</a:t>
            </a:r>
            <a:endParaRPr lang="ar-SA" sz="2200" dirty="0"/>
          </a:p>
        </p:txBody>
      </p:sp>
      <p:sp>
        <p:nvSpPr>
          <p:cNvPr id="34" name="Text 31"/>
          <p:cNvSpPr txBox="1"/>
          <p:nvPr/>
        </p:nvSpPr>
        <p:spPr>
          <a:xfrm>
            <a:off x="2487168" y="2794145"/>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a:t>
            </a:r>
            <a:endParaRPr lang="en-US" sz="1100" dirty="0"/>
          </a:p>
        </p:txBody>
      </p:sp>
      <p:sp>
        <p:nvSpPr>
          <p:cNvPr id="35" name="Text 32"/>
          <p:cNvSpPr txBox="1"/>
          <p:nvPr/>
        </p:nvSpPr>
        <p:spPr>
          <a:xfrm>
            <a:off x="566928" y="2794145"/>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16 · Ṭāʾ</a:t>
            </a:r>
            <a:endParaRPr lang="en-US" sz="1100" dirty="0"/>
          </a:p>
        </p:txBody>
      </p:sp>
      <p:sp>
        <p:nvSpPr>
          <p:cNvPr id="36" name="Shape 33"/>
          <p:cNvSpPr/>
          <p:nvPr/>
        </p:nvSpPr>
        <p:spPr>
          <a:xfrm>
            <a:off x="457200" y="3320578"/>
            <a:ext cx="11274552" cy="471569"/>
          </a:xfrm>
          <a:prstGeom prst="roundRect">
            <a:avLst>
              <a:gd name="adj" fmla="val 9695"/>
            </a:avLst>
          </a:prstGeom>
          <a:solidFill>
            <a:srgbClr val="FFFFFF"/>
          </a:solidFill>
          <a:ln w="9525">
            <a:solidFill>
              <a:srgbClr val="D8D0BF"/>
            </a:solidFill>
            <a:prstDash val="solid"/>
          </a:ln>
        </p:spPr>
      </p:sp>
      <p:sp>
        <p:nvSpPr>
          <p:cNvPr id="37" name="Text 34"/>
          <p:cNvSpPr txBox="1"/>
          <p:nvPr/>
        </p:nvSpPr>
        <p:spPr>
          <a:xfrm>
            <a:off x="9948672" y="33205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ظ</a:t>
            </a:r>
            <a:endParaRPr lang="ar-SA" sz="2200" dirty="0"/>
          </a:p>
        </p:txBody>
      </p:sp>
      <p:sp>
        <p:nvSpPr>
          <p:cNvPr id="38" name="Text 35"/>
          <p:cNvSpPr txBox="1"/>
          <p:nvPr/>
        </p:nvSpPr>
        <p:spPr>
          <a:xfrm>
            <a:off x="8074152" y="33205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ظـ</a:t>
            </a:r>
            <a:endParaRPr lang="ar-SA" sz="2200" dirty="0"/>
          </a:p>
        </p:txBody>
      </p:sp>
      <p:sp>
        <p:nvSpPr>
          <p:cNvPr id="39" name="Text 36"/>
          <p:cNvSpPr txBox="1"/>
          <p:nvPr/>
        </p:nvSpPr>
        <p:spPr>
          <a:xfrm>
            <a:off x="6199632" y="33205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ـظـ</a:t>
            </a:r>
            <a:endParaRPr lang="ar-SA" sz="2200" dirty="0"/>
          </a:p>
        </p:txBody>
      </p:sp>
      <p:sp>
        <p:nvSpPr>
          <p:cNvPr id="40" name="Text 37"/>
          <p:cNvSpPr txBox="1"/>
          <p:nvPr/>
        </p:nvSpPr>
        <p:spPr>
          <a:xfrm>
            <a:off x="4325112" y="33205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ـظ</a:t>
            </a:r>
            <a:endParaRPr lang="ar-SA" sz="2200" dirty="0"/>
          </a:p>
        </p:txBody>
      </p:sp>
      <p:sp>
        <p:nvSpPr>
          <p:cNvPr id="41" name="Text 38"/>
          <p:cNvSpPr txBox="1"/>
          <p:nvPr/>
        </p:nvSpPr>
        <p:spPr>
          <a:xfrm>
            <a:off x="2487168" y="3320578"/>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a:t>
            </a:r>
            <a:endParaRPr lang="en-US" sz="1100" dirty="0"/>
          </a:p>
        </p:txBody>
      </p:sp>
      <p:sp>
        <p:nvSpPr>
          <p:cNvPr id="42" name="Text 39"/>
          <p:cNvSpPr txBox="1"/>
          <p:nvPr/>
        </p:nvSpPr>
        <p:spPr>
          <a:xfrm>
            <a:off x="566928" y="3320578"/>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17 · Ẓāʾ</a:t>
            </a:r>
            <a:endParaRPr lang="en-US" sz="1100" dirty="0"/>
          </a:p>
        </p:txBody>
      </p:sp>
      <p:sp>
        <p:nvSpPr>
          <p:cNvPr id="43" name="Shape 40"/>
          <p:cNvSpPr/>
          <p:nvPr/>
        </p:nvSpPr>
        <p:spPr>
          <a:xfrm>
            <a:off x="457200" y="3847011"/>
            <a:ext cx="11274552" cy="471569"/>
          </a:xfrm>
          <a:prstGeom prst="roundRect">
            <a:avLst>
              <a:gd name="adj" fmla="val 9695"/>
            </a:avLst>
          </a:prstGeom>
          <a:solidFill>
            <a:srgbClr val="F4F1EA"/>
          </a:solidFill>
          <a:ln w="9525">
            <a:solidFill>
              <a:srgbClr val="D8D0BF"/>
            </a:solidFill>
            <a:prstDash val="solid"/>
          </a:ln>
        </p:spPr>
      </p:sp>
      <p:sp>
        <p:nvSpPr>
          <p:cNvPr id="44" name="Text 41"/>
          <p:cNvSpPr txBox="1"/>
          <p:nvPr/>
        </p:nvSpPr>
        <p:spPr>
          <a:xfrm>
            <a:off x="9948672" y="38470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a:t>
            </a:r>
            <a:endParaRPr lang="ar-SA" sz="2200" dirty="0"/>
          </a:p>
        </p:txBody>
      </p:sp>
      <p:sp>
        <p:nvSpPr>
          <p:cNvPr id="45" name="Text 42"/>
          <p:cNvSpPr txBox="1"/>
          <p:nvPr/>
        </p:nvSpPr>
        <p:spPr>
          <a:xfrm>
            <a:off x="8074152" y="38470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عـ</a:t>
            </a:r>
            <a:endParaRPr lang="ar-SA" sz="2200" dirty="0"/>
          </a:p>
        </p:txBody>
      </p:sp>
      <p:sp>
        <p:nvSpPr>
          <p:cNvPr id="46" name="Text 43"/>
          <p:cNvSpPr txBox="1"/>
          <p:nvPr/>
        </p:nvSpPr>
        <p:spPr>
          <a:xfrm>
            <a:off x="6199632" y="38470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ـعـ</a:t>
            </a:r>
            <a:endParaRPr lang="ar-SA" sz="2200" dirty="0"/>
          </a:p>
        </p:txBody>
      </p:sp>
      <p:sp>
        <p:nvSpPr>
          <p:cNvPr id="47" name="Text 44"/>
          <p:cNvSpPr txBox="1"/>
          <p:nvPr/>
        </p:nvSpPr>
        <p:spPr>
          <a:xfrm>
            <a:off x="4325112" y="38470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ـع</a:t>
            </a:r>
            <a:endParaRPr lang="ar-SA" sz="2200" dirty="0"/>
          </a:p>
        </p:txBody>
      </p:sp>
      <p:sp>
        <p:nvSpPr>
          <p:cNvPr id="48" name="Text 45"/>
          <p:cNvSpPr txBox="1"/>
          <p:nvPr/>
        </p:nvSpPr>
        <p:spPr>
          <a:xfrm>
            <a:off x="2487168" y="3847011"/>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a:t>
            </a:r>
            <a:endParaRPr lang="en-US" sz="1100" dirty="0"/>
          </a:p>
        </p:txBody>
      </p:sp>
      <p:sp>
        <p:nvSpPr>
          <p:cNvPr id="49" name="Text 46"/>
          <p:cNvSpPr txBox="1"/>
          <p:nvPr/>
        </p:nvSpPr>
        <p:spPr>
          <a:xfrm>
            <a:off x="566928" y="3847011"/>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18 · ʿAyn</a:t>
            </a:r>
            <a:endParaRPr lang="en-US" sz="1100" dirty="0"/>
          </a:p>
        </p:txBody>
      </p:sp>
      <p:sp>
        <p:nvSpPr>
          <p:cNvPr id="50" name="Shape 47"/>
          <p:cNvSpPr/>
          <p:nvPr/>
        </p:nvSpPr>
        <p:spPr>
          <a:xfrm>
            <a:off x="457200" y="4373445"/>
            <a:ext cx="11274552" cy="471569"/>
          </a:xfrm>
          <a:prstGeom prst="roundRect">
            <a:avLst>
              <a:gd name="adj" fmla="val 9695"/>
            </a:avLst>
          </a:prstGeom>
          <a:solidFill>
            <a:srgbClr val="FFFFFF"/>
          </a:solidFill>
          <a:ln w="9525">
            <a:solidFill>
              <a:srgbClr val="D8D0BF"/>
            </a:solidFill>
            <a:prstDash val="solid"/>
          </a:ln>
        </p:spPr>
      </p:sp>
      <p:sp>
        <p:nvSpPr>
          <p:cNvPr id="51" name="Text 48"/>
          <p:cNvSpPr txBox="1"/>
          <p:nvPr/>
        </p:nvSpPr>
        <p:spPr>
          <a:xfrm>
            <a:off x="9948672" y="43734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غ</a:t>
            </a:r>
            <a:endParaRPr lang="ar-SA" sz="2200" dirty="0"/>
          </a:p>
        </p:txBody>
      </p:sp>
      <p:sp>
        <p:nvSpPr>
          <p:cNvPr id="52" name="Text 49"/>
          <p:cNvSpPr txBox="1"/>
          <p:nvPr/>
        </p:nvSpPr>
        <p:spPr>
          <a:xfrm>
            <a:off x="8074152" y="43734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غـ</a:t>
            </a:r>
            <a:endParaRPr lang="ar-SA" sz="2200" dirty="0"/>
          </a:p>
        </p:txBody>
      </p:sp>
      <p:sp>
        <p:nvSpPr>
          <p:cNvPr id="53" name="Text 50"/>
          <p:cNvSpPr txBox="1"/>
          <p:nvPr/>
        </p:nvSpPr>
        <p:spPr>
          <a:xfrm>
            <a:off x="6199632" y="43734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ـغـ</a:t>
            </a:r>
            <a:endParaRPr lang="ar-SA" sz="2200" dirty="0"/>
          </a:p>
        </p:txBody>
      </p:sp>
      <p:sp>
        <p:nvSpPr>
          <p:cNvPr id="54" name="Text 51"/>
          <p:cNvSpPr txBox="1"/>
          <p:nvPr/>
        </p:nvSpPr>
        <p:spPr>
          <a:xfrm>
            <a:off x="4325112" y="43734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ـغ</a:t>
            </a:r>
            <a:endParaRPr lang="ar-SA" sz="2200" dirty="0"/>
          </a:p>
        </p:txBody>
      </p:sp>
      <p:sp>
        <p:nvSpPr>
          <p:cNvPr id="55" name="Text 52"/>
          <p:cNvSpPr txBox="1"/>
          <p:nvPr/>
        </p:nvSpPr>
        <p:spPr>
          <a:xfrm>
            <a:off x="2487168" y="4373445"/>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a:t>
            </a:r>
            <a:endParaRPr lang="en-US" sz="1100" dirty="0"/>
          </a:p>
        </p:txBody>
      </p:sp>
      <p:sp>
        <p:nvSpPr>
          <p:cNvPr id="56" name="Text 53"/>
          <p:cNvSpPr txBox="1"/>
          <p:nvPr/>
        </p:nvSpPr>
        <p:spPr>
          <a:xfrm>
            <a:off x="566928" y="4373445"/>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19 · Ghayn</a:t>
            </a:r>
            <a:endParaRPr lang="en-US" sz="1100" dirty="0"/>
          </a:p>
        </p:txBody>
      </p:sp>
      <p:sp>
        <p:nvSpPr>
          <p:cNvPr id="57" name="Shape 54"/>
          <p:cNvSpPr/>
          <p:nvPr/>
        </p:nvSpPr>
        <p:spPr>
          <a:xfrm>
            <a:off x="457200" y="4899878"/>
            <a:ext cx="11274552" cy="471569"/>
          </a:xfrm>
          <a:prstGeom prst="roundRect">
            <a:avLst>
              <a:gd name="adj" fmla="val 9695"/>
            </a:avLst>
          </a:prstGeom>
          <a:solidFill>
            <a:srgbClr val="F4F1EA"/>
          </a:solidFill>
          <a:ln w="9525">
            <a:solidFill>
              <a:srgbClr val="D8D0BF"/>
            </a:solidFill>
            <a:prstDash val="solid"/>
          </a:ln>
        </p:spPr>
      </p:sp>
      <p:sp>
        <p:nvSpPr>
          <p:cNvPr id="58" name="Text 55"/>
          <p:cNvSpPr txBox="1"/>
          <p:nvPr/>
        </p:nvSpPr>
        <p:spPr>
          <a:xfrm>
            <a:off x="9948672" y="48998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a:t>
            </a:r>
            <a:endParaRPr lang="ar-SA" sz="2200" dirty="0"/>
          </a:p>
        </p:txBody>
      </p:sp>
      <p:sp>
        <p:nvSpPr>
          <p:cNvPr id="59" name="Text 56"/>
          <p:cNvSpPr txBox="1"/>
          <p:nvPr/>
        </p:nvSpPr>
        <p:spPr>
          <a:xfrm>
            <a:off x="8074152" y="48998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فـ</a:t>
            </a:r>
            <a:endParaRPr lang="ar-SA" sz="2200" dirty="0"/>
          </a:p>
        </p:txBody>
      </p:sp>
      <p:sp>
        <p:nvSpPr>
          <p:cNvPr id="60" name="Text 57"/>
          <p:cNvSpPr txBox="1"/>
          <p:nvPr/>
        </p:nvSpPr>
        <p:spPr>
          <a:xfrm>
            <a:off x="6199632" y="48998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ـفـ</a:t>
            </a:r>
            <a:endParaRPr lang="ar-SA" sz="2200" dirty="0"/>
          </a:p>
        </p:txBody>
      </p:sp>
      <p:sp>
        <p:nvSpPr>
          <p:cNvPr id="61" name="Text 58"/>
          <p:cNvSpPr txBox="1"/>
          <p:nvPr/>
        </p:nvSpPr>
        <p:spPr>
          <a:xfrm>
            <a:off x="4325112" y="48998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ـف</a:t>
            </a:r>
            <a:endParaRPr lang="ar-SA" sz="2200" dirty="0"/>
          </a:p>
        </p:txBody>
      </p:sp>
      <p:sp>
        <p:nvSpPr>
          <p:cNvPr id="62" name="Text 59"/>
          <p:cNvSpPr txBox="1"/>
          <p:nvPr/>
        </p:nvSpPr>
        <p:spPr>
          <a:xfrm>
            <a:off x="2487168" y="4899878"/>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a:t>
            </a:r>
            <a:endParaRPr lang="en-US" sz="1100" dirty="0"/>
          </a:p>
        </p:txBody>
      </p:sp>
      <p:sp>
        <p:nvSpPr>
          <p:cNvPr id="63" name="Text 60"/>
          <p:cNvSpPr txBox="1"/>
          <p:nvPr/>
        </p:nvSpPr>
        <p:spPr>
          <a:xfrm>
            <a:off x="566928" y="4899878"/>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 · Fāʾ</a:t>
            </a:r>
            <a:endParaRPr lang="en-US" sz="1100" dirty="0"/>
          </a:p>
        </p:txBody>
      </p:sp>
      <p:sp>
        <p:nvSpPr>
          <p:cNvPr id="64" name="Shape 61"/>
          <p:cNvSpPr/>
          <p:nvPr/>
        </p:nvSpPr>
        <p:spPr>
          <a:xfrm>
            <a:off x="457200" y="5426311"/>
            <a:ext cx="11274552" cy="471569"/>
          </a:xfrm>
          <a:prstGeom prst="roundRect">
            <a:avLst>
              <a:gd name="adj" fmla="val 9695"/>
            </a:avLst>
          </a:prstGeom>
          <a:solidFill>
            <a:srgbClr val="FFFFFF"/>
          </a:solidFill>
          <a:ln w="9525">
            <a:solidFill>
              <a:srgbClr val="D8D0BF"/>
            </a:solidFill>
            <a:prstDash val="solid"/>
          </a:ln>
        </p:spPr>
      </p:sp>
      <p:sp>
        <p:nvSpPr>
          <p:cNvPr id="65" name="Text 62"/>
          <p:cNvSpPr txBox="1"/>
          <p:nvPr/>
        </p:nvSpPr>
        <p:spPr>
          <a:xfrm>
            <a:off x="9948672" y="54263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ق</a:t>
            </a:r>
            <a:endParaRPr lang="ar-SA" sz="2200" dirty="0"/>
          </a:p>
        </p:txBody>
      </p:sp>
      <p:sp>
        <p:nvSpPr>
          <p:cNvPr id="66" name="Text 63"/>
          <p:cNvSpPr txBox="1"/>
          <p:nvPr/>
        </p:nvSpPr>
        <p:spPr>
          <a:xfrm>
            <a:off x="8074152" y="54263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قـ</a:t>
            </a:r>
            <a:endParaRPr lang="ar-SA" sz="2200" dirty="0"/>
          </a:p>
        </p:txBody>
      </p:sp>
      <p:sp>
        <p:nvSpPr>
          <p:cNvPr id="67" name="Text 64"/>
          <p:cNvSpPr txBox="1"/>
          <p:nvPr/>
        </p:nvSpPr>
        <p:spPr>
          <a:xfrm>
            <a:off x="6199632" y="54263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ـقـ</a:t>
            </a:r>
            <a:endParaRPr lang="ar-SA" sz="2200" dirty="0"/>
          </a:p>
        </p:txBody>
      </p:sp>
      <p:sp>
        <p:nvSpPr>
          <p:cNvPr id="68" name="Text 65"/>
          <p:cNvSpPr txBox="1"/>
          <p:nvPr/>
        </p:nvSpPr>
        <p:spPr>
          <a:xfrm>
            <a:off x="4325112" y="54263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ـق</a:t>
            </a:r>
            <a:endParaRPr lang="ar-SA" sz="2200" dirty="0"/>
          </a:p>
        </p:txBody>
      </p:sp>
      <p:sp>
        <p:nvSpPr>
          <p:cNvPr id="69" name="Text 66"/>
          <p:cNvSpPr txBox="1"/>
          <p:nvPr/>
        </p:nvSpPr>
        <p:spPr>
          <a:xfrm>
            <a:off x="2487168" y="5426311"/>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a:t>
            </a:r>
            <a:endParaRPr lang="en-US" sz="1100" dirty="0"/>
          </a:p>
        </p:txBody>
      </p:sp>
      <p:sp>
        <p:nvSpPr>
          <p:cNvPr id="70" name="Text 67"/>
          <p:cNvSpPr txBox="1"/>
          <p:nvPr/>
        </p:nvSpPr>
        <p:spPr>
          <a:xfrm>
            <a:off x="566928" y="5426311"/>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21 · Qāf</a:t>
            </a:r>
            <a:endParaRPr lang="en-US" sz="1100" dirty="0"/>
          </a:p>
        </p:txBody>
      </p:sp>
      <p:sp>
        <p:nvSpPr>
          <p:cNvPr id="71" name="Text 6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Read right → left: isolated · initial · medial · final. The CORE badge marks a letter that never joins forward.</a:t>
            </a:r>
            <a:endParaRPr lang="en-US" sz="11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40</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ALL 28 LETTERS (4 OF 4) ·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The alphabet in four positions (4 of 4)</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الْحُرُوفُ فِي أَرْبَعَةِ مَوَاضِعَ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930384" y="1810512"/>
            <a:ext cx="1728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Isolated</a:t>
            </a:r>
            <a:endParaRPr lang="en-US" sz="1100" dirty="0"/>
          </a:p>
        </p:txBody>
      </p:sp>
      <p:sp>
        <p:nvSpPr>
          <p:cNvPr id="17" name="Text 14"/>
          <p:cNvSpPr txBox="1"/>
          <p:nvPr/>
        </p:nvSpPr>
        <p:spPr>
          <a:xfrm>
            <a:off x="8055864" y="1810512"/>
            <a:ext cx="1728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Initial</a:t>
            </a:r>
            <a:endParaRPr lang="en-US" sz="1100" dirty="0"/>
          </a:p>
        </p:txBody>
      </p:sp>
      <p:sp>
        <p:nvSpPr>
          <p:cNvPr id="18" name="Text 15"/>
          <p:cNvSpPr txBox="1"/>
          <p:nvPr/>
        </p:nvSpPr>
        <p:spPr>
          <a:xfrm>
            <a:off x="6181344" y="1810512"/>
            <a:ext cx="1728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Medial</a:t>
            </a:r>
            <a:endParaRPr lang="en-US" sz="1100" dirty="0"/>
          </a:p>
        </p:txBody>
      </p:sp>
      <p:sp>
        <p:nvSpPr>
          <p:cNvPr id="19" name="Text 16"/>
          <p:cNvSpPr txBox="1"/>
          <p:nvPr/>
        </p:nvSpPr>
        <p:spPr>
          <a:xfrm>
            <a:off x="4306824" y="1810512"/>
            <a:ext cx="1728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Final</a:t>
            </a:r>
            <a:endParaRPr lang="en-US" sz="1100" dirty="0"/>
          </a:p>
        </p:txBody>
      </p:sp>
      <p:sp>
        <p:nvSpPr>
          <p:cNvPr id="20" name="Text 17"/>
          <p:cNvSpPr txBox="1"/>
          <p:nvPr/>
        </p:nvSpPr>
        <p:spPr>
          <a:xfrm>
            <a:off x="2450592" y="1810512"/>
            <a:ext cx="1709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Joins the next letter?</a:t>
            </a:r>
            <a:endParaRPr lang="en-US" sz="1100" dirty="0"/>
          </a:p>
        </p:txBody>
      </p:sp>
      <p:sp>
        <p:nvSpPr>
          <p:cNvPr id="21" name="Text 18"/>
          <p:cNvSpPr txBox="1"/>
          <p:nvPr/>
        </p:nvSpPr>
        <p:spPr>
          <a:xfrm>
            <a:off x="53035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Letter</a:t>
            </a:r>
            <a:endParaRPr lang="en-US" sz="1100" dirty="0"/>
          </a:p>
        </p:txBody>
      </p:sp>
      <p:sp>
        <p:nvSpPr>
          <p:cNvPr id="22" name="Shape 19"/>
          <p:cNvSpPr/>
          <p:nvPr/>
        </p:nvSpPr>
        <p:spPr>
          <a:xfrm>
            <a:off x="457200" y="2267712"/>
            <a:ext cx="11274552" cy="471569"/>
          </a:xfrm>
          <a:prstGeom prst="roundRect">
            <a:avLst>
              <a:gd name="adj" fmla="val 9695"/>
            </a:avLst>
          </a:prstGeom>
          <a:solidFill>
            <a:srgbClr val="FFFFFF"/>
          </a:solidFill>
          <a:ln w="9525">
            <a:solidFill>
              <a:srgbClr val="D8D0BF"/>
            </a:solidFill>
            <a:prstDash val="solid"/>
          </a:ln>
        </p:spPr>
      </p:sp>
      <p:sp>
        <p:nvSpPr>
          <p:cNvPr id="23" name="Text 20"/>
          <p:cNvSpPr txBox="1"/>
          <p:nvPr/>
        </p:nvSpPr>
        <p:spPr>
          <a:xfrm>
            <a:off x="9948672" y="2267712"/>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a:t>
            </a:r>
            <a:endParaRPr lang="ar-SA" sz="2200" dirty="0"/>
          </a:p>
        </p:txBody>
      </p:sp>
      <p:sp>
        <p:nvSpPr>
          <p:cNvPr id="24" name="Text 21"/>
          <p:cNvSpPr txBox="1"/>
          <p:nvPr/>
        </p:nvSpPr>
        <p:spPr>
          <a:xfrm>
            <a:off x="8074152" y="2267712"/>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كـ</a:t>
            </a:r>
            <a:endParaRPr lang="ar-SA" sz="2200" dirty="0"/>
          </a:p>
        </p:txBody>
      </p:sp>
      <p:sp>
        <p:nvSpPr>
          <p:cNvPr id="25" name="Text 22"/>
          <p:cNvSpPr txBox="1"/>
          <p:nvPr/>
        </p:nvSpPr>
        <p:spPr>
          <a:xfrm>
            <a:off x="6199632" y="2267712"/>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ـكـ</a:t>
            </a:r>
            <a:endParaRPr lang="ar-SA" sz="2200" dirty="0"/>
          </a:p>
        </p:txBody>
      </p:sp>
      <p:sp>
        <p:nvSpPr>
          <p:cNvPr id="26" name="Text 23"/>
          <p:cNvSpPr txBox="1"/>
          <p:nvPr/>
        </p:nvSpPr>
        <p:spPr>
          <a:xfrm>
            <a:off x="4325112" y="2267712"/>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ـك</a:t>
            </a:r>
            <a:endParaRPr lang="ar-SA" sz="2200" dirty="0"/>
          </a:p>
        </p:txBody>
      </p:sp>
      <p:sp>
        <p:nvSpPr>
          <p:cNvPr id="27" name="Text 24"/>
          <p:cNvSpPr txBox="1"/>
          <p:nvPr/>
        </p:nvSpPr>
        <p:spPr>
          <a:xfrm>
            <a:off x="2487168" y="2267712"/>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a:t>
            </a:r>
            <a:endParaRPr lang="en-US" sz="1100" dirty="0"/>
          </a:p>
        </p:txBody>
      </p:sp>
      <p:sp>
        <p:nvSpPr>
          <p:cNvPr id="28" name="Text 25"/>
          <p:cNvSpPr txBox="1"/>
          <p:nvPr/>
        </p:nvSpPr>
        <p:spPr>
          <a:xfrm>
            <a:off x="566928" y="2267712"/>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22 · Kāf</a:t>
            </a:r>
            <a:endParaRPr lang="en-US" sz="1100" dirty="0"/>
          </a:p>
        </p:txBody>
      </p:sp>
      <p:sp>
        <p:nvSpPr>
          <p:cNvPr id="29" name="Shape 26"/>
          <p:cNvSpPr/>
          <p:nvPr/>
        </p:nvSpPr>
        <p:spPr>
          <a:xfrm>
            <a:off x="457200" y="2794145"/>
            <a:ext cx="11274552" cy="471569"/>
          </a:xfrm>
          <a:prstGeom prst="roundRect">
            <a:avLst>
              <a:gd name="adj" fmla="val 9695"/>
            </a:avLst>
          </a:prstGeom>
          <a:solidFill>
            <a:srgbClr val="F4F1EA"/>
          </a:solidFill>
          <a:ln w="9525">
            <a:solidFill>
              <a:srgbClr val="D8D0BF"/>
            </a:solidFill>
            <a:prstDash val="solid"/>
          </a:ln>
        </p:spPr>
      </p:sp>
      <p:sp>
        <p:nvSpPr>
          <p:cNvPr id="30" name="Text 27"/>
          <p:cNvSpPr txBox="1"/>
          <p:nvPr/>
        </p:nvSpPr>
        <p:spPr>
          <a:xfrm>
            <a:off x="9948672" y="27941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a:t>
            </a:r>
            <a:endParaRPr lang="ar-SA" sz="2200" dirty="0"/>
          </a:p>
        </p:txBody>
      </p:sp>
      <p:sp>
        <p:nvSpPr>
          <p:cNvPr id="31" name="Text 28"/>
          <p:cNvSpPr txBox="1"/>
          <p:nvPr/>
        </p:nvSpPr>
        <p:spPr>
          <a:xfrm>
            <a:off x="8074152" y="27941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لـ</a:t>
            </a:r>
            <a:endParaRPr lang="ar-SA" sz="2200" dirty="0"/>
          </a:p>
        </p:txBody>
      </p:sp>
      <p:sp>
        <p:nvSpPr>
          <p:cNvPr id="32" name="Text 29"/>
          <p:cNvSpPr txBox="1"/>
          <p:nvPr/>
        </p:nvSpPr>
        <p:spPr>
          <a:xfrm>
            <a:off x="6199632" y="27941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ـلـ</a:t>
            </a:r>
            <a:endParaRPr lang="ar-SA" sz="2200" dirty="0"/>
          </a:p>
        </p:txBody>
      </p:sp>
      <p:sp>
        <p:nvSpPr>
          <p:cNvPr id="33" name="Text 30"/>
          <p:cNvSpPr txBox="1"/>
          <p:nvPr/>
        </p:nvSpPr>
        <p:spPr>
          <a:xfrm>
            <a:off x="4325112" y="27941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ـل</a:t>
            </a:r>
            <a:endParaRPr lang="ar-SA" sz="2200" dirty="0"/>
          </a:p>
        </p:txBody>
      </p:sp>
      <p:sp>
        <p:nvSpPr>
          <p:cNvPr id="34" name="Text 31"/>
          <p:cNvSpPr txBox="1"/>
          <p:nvPr/>
        </p:nvSpPr>
        <p:spPr>
          <a:xfrm>
            <a:off x="2487168" y="2794145"/>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a:t>
            </a:r>
            <a:endParaRPr lang="en-US" sz="1100" dirty="0"/>
          </a:p>
        </p:txBody>
      </p:sp>
      <p:sp>
        <p:nvSpPr>
          <p:cNvPr id="35" name="Text 32"/>
          <p:cNvSpPr txBox="1"/>
          <p:nvPr/>
        </p:nvSpPr>
        <p:spPr>
          <a:xfrm>
            <a:off x="566928" y="2794145"/>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23 · Lām</a:t>
            </a:r>
            <a:endParaRPr lang="en-US" sz="1100" dirty="0"/>
          </a:p>
        </p:txBody>
      </p:sp>
      <p:sp>
        <p:nvSpPr>
          <p:cNvPr id="36" name="Shape 33"/>
          <p:cNvSpPr/>
          <p:nvPr/>
        </p:nvSpPr>
        <p:spPr>
          <a:xfrm>
            <a:off x="457200" y="3320578"/>
            <a:ext cx="11274552" cy="471569"/>
          </a:xfrm>
          <a:prstGeom prst="roundRect">
            <a:avLst>
              <a:gd name="adj" fmla="val 9695"/>
            </a:avLst>
          </a:prstGeom>
          <a:solidFill>
            <a:srgbClr val="FFFFFF"/>
          </a:solidFill>
          <a:ln w="9525">
            <a:solidFill>
              <a:srgbClr val="D8D0BF"/>
            </a:solidFill>
            <a:prstDash val="solid"/>
          </a:ln>
        </p:spPr>
      </p:sp>
      <p:sp>
        <p:nvSpPr>
          <p:cNvPr id="37" name="Text 34"/>
          <p:cNvSpPr txBox="1"/>
          <p:nvPr/>
        </p:nvSpPr>
        <p:spPr>
          <a:xfrm>
            <a:off x="9948672" y="33205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a:t>
            </a:r>
            <a:endParaRPr lang="ar-SA" sz="2200" dirty="0"/>
          </a:p>
        </p:txBody>
      </p:sp>
      <p:sp>
        <p:nvSpPr>
          <p:cNvPr id="38" name="Text 35"/>
          <p:cNvSpPr txBox="1"/>
          <p:nvPr/>
        </p:nvSpPr>
        <p:spPr>
          <a:xfrm>
            <a:off x="8074152" y="33205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مـ</a:t>
            </a:r>
            <a:endParaRPr lang="ar-SA" sz="2200" dirty="0"/>
          </a:p>
        </p:txBody>
      </p:sp>
      <p:sp>
        <p:nvSpPr>
          <p:cNvPr id="39" name="Text 36"/>
          <p:cNvSpPr txBox="1"/>
          <p:nvPr/>
        </p:nvSpPr>
        <p:spPr>
          <a:xfrm>
            <a:off x="6199632" y="33205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ـمـ</a:t>
            </a:r>
            <a:endParaRPr lang="ar-SA" sz="2200" dirty="0"/>
          </a:p>
        </p:txBody>
      </p:sp>
      <p:sp>
        <p:nvSpPr>
          <p:cNvPr id="40" name="Text 37"/>
          <p:cNvSpPr txBox="1"/>
          <p:nvPr/>
        </p:nvSpPr>
        <p:spPr>
          <a:xfrm>
            <a:off x="4325112" y="33205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ـم</a:t>
            </a:r>
            <a:endParaRPr lang="ar-SA" sz="2200" dirty="0"/>
          </a:p>
        </p:txBody>
      </p:sp>
      <p:sp>
        <p:nvSpPr>
          <p:cNvPr id="41" name="Text 38"/>
          <p:cNvSpPr txBox="1"/>
          <p:nvPr/>
        </p:nvSpPr>
        <p:spPr>
          <a:xfrm>
            <a:off x="2487168" y="3320578"/>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a:t>
            </a:r>
            <a:endParaRPr lang="en-US" sz="1100" dirty="0"/>
          </a:p>
        </p:txBody>
      </p:sp>
      <p:sp>
        <p:nvSpPr>
          <p:cNvPr id="42" name="Text 39"/>
          <p:cNvSpPr txBox="1"/>
          <p:nvPr/>
        </p:nvSpPr>
        <p:spPr>
          <a:xfrm>
            <a:off x="566928" y="3320578"/>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24 · Mīm</a:t>
            </a:r>
            <a:endParaRPr lang="en-US" sz="1100" dirty="0"/>
          </a:p>
        </p:txBody>
      </p:sp>
      <p:sp>
        <p:nvSpPr>
          <p:cNvPr id="43" name="Shape 40"/>
          <p:cNvSpPr/>
          <p:nvPr/>
        </p:nvSpPr>
        <p:spPr>
          <a:xfrm>
            <a:off x="457200" y="3847011"/>
            <a:ext cx="11274552" cy="471569"/>
          </a:xfrm>
          <a:prstGeom prst="roundRect">
            <a:avLst>
              <a:gd name="adj" fmla="val 9695"/>
            </a:avLst>
          </a:prstGeom>
          <a:solidFill>
            <a:srgbClr val="F4F1EA"/>
          </a:solidFill>
          <a:ln w="9525">
            <a:solidFill>
              <a:srgbClr val="D8D0BF"/>
            </a:solidFill>
            <a:prstDash val="solid"/>
          </a:ln>
        </p:spPr>
      </p:sp>
      <p:sp>
        <p:nvSpPr>
          <p:cNvPr id="44" name="Text 41"/>
          <p:cNvSpPr txBox="1"/>
          <p:nvPr/>
        </p:nvSpPr>
        <p:spPr>
          <a:xfrm>
            <a:off x="9948672" y="38470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ن</a:t>
            </a:r>
            <a:endParaRPr lang="ar-SA" sz="2200" dirty="0"/>
          </a:p>
        </p:txBody>
      </p:sp>
      <p:sp>
        <p:nvSpPr>
          <p:cNvPr id="45" name="Text 42"/>
          <p:cNvSpPr txBox="1"/>
          <p:nvPr/>
        </p:nvSpPr>
        <p:spPr>
          <a:xfrm>
            <a:off x="8074152" y="38470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نـ</a:t>
            </a:r>
            <a:endParaRPr lang="ar-SA" sz="2200" dirty="0"/>
          </a:p>
        </p:txBody>
      </p:sp>
      <p:sp>
        <p:nvSpPr>
          <p:cNvPr id="46" name="Text 43"/>
          <p:cNvSpPr txBox="1"/>
          <p:nvPr/>
        </p:nvSpPr>
        <p:spPr>
          <a:xfrm>
            <a:off x="6199632" y="38470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ـنـ</a:t>
            </a:r>
            <a:endParaRPr lang="ar-SA" sz="2200" dirty="0"/>
          </a:p>
        </p:txBody>
      </p:sp>
      <p:sp>
        <p:nvSpPr>
          <p:cNvPr id="47" name="Text 44"/>
          <p:cNvSpPr txBox="1"/>
          <p:nvPr/>
        </p:nvSpPr>
        <p:spPr>
          <a:xfrm>
            <a:off x="4325112" y="38470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ـن</a:t>
            </a:r>
            <a:endParaRPr lang="ar-SA" sz="2200" dirty="0"/>
          </a:p>
        </p:txBody>
      </p:sp>
      <p:sp>
        <p:nvSpPr>
          <p:cNvPr id="48" name="Text 45"/>
          <p:cNvSpPr txBox="1"/>
          <p:nvPr/>
        </p:nvSpPr>
        <p:spPr>
          <a:xfrm>
            <a:off x="2487168" y="3847011"/>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a:t>
            </a:r>
            <a:endParaRPr lang="en-US" sz="1100" dirty="0"/>
          </a:p>
        </p:txBody>
      </p:sp>
      <p:sp>
        <p:nvSpPr>
          <p:cNvPr id="49" name="Text 46"/>
          <p:cNvSpPr txBox="1"/>
          <p:nvPr/>
        </p:nvSpPr>
        <p:spPr>
          <a:xfrm>
            <a:off x="566928" y="3847011"/>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25 · Nūn</a:t>
            </a:r>
            <a:endParaRPr lang="en-US" sz="1100" dirty="0"/>
          </a:p>
        </p:txBody>
      </p:sp>
      <p:sp>
        <p:nvSpPr>
          <p:cNvPr id="50" name="Shape 47"/>
          <p:cNvSpPr/>
          <p:nvPr/>
        </p:nvSpPr>
        <p:spPr>
          <a:xfrm>
            <a:off x="457200" y="4373445"/>
            <a:ext cx="11274552" cy="471569"/>
          </a:xfrm>
          <a:prstGeom prst="roundRect">
            <a:avLst>
              <a:gd name="adj" fmla="val 9695"/>
            </a:avLst>
          </a:prstGeom>
          <a:solidFill>
            <a:srgbClr val="FFFFFF"/>
          </a:solidFill>
          <a:ln w="9525">
            <a:solidFill>
              <a:srgbClr val="D8D0BF"/>
            </a:solidFill>
            <a:prstDash val="solid"/>
          </a:ln>
        </p:spPr>
      </p:sp>
      <p:sp>
        <p:nvSpPr>
          <p:cNvPr id="51" name="Text 48"/>
          <p:cNvSpPr txBox="1"/>
          <p:nvPr/>
        </p:nvSpPr>
        <p:spPr>
          <a:xfrm>
            <a:off x="9948672" y="43734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a:t>
            </a:r>
            <a:endParaRPr lang="ar-SA" sz="2200" dirty="0"/>
          </a:p>
        </p:txBody>
      </p:sp>
      <p:sp>
        <p:nvSpPr>
          <p:cNvPr id="52" name="Text 49"/>
          <p:cNvSpPr txBox="1"/>
          <p:nvPr/>
        </p:nvSpPr>
        <p:spPr>
          <a:xfrm>
            <a:off x="8074152" y="43734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هـ</a:t>
            </a:r>
            <a:endParaRPr lang="ar-SA" sz="2200" dirty="0"/>
          </a:p>
        </p:txBody>
      </p:sp>
      <p:sp>
        <p:nvSpPr>
          <p:cNvPr id="53" name="Text 50"/>
          <p:cNvSpPr txBox="1"/>
          <p:nvPr/>
        </p:nvSpPr>
        <p:spPr>
          <a:xfrm>
            <a:off x="6199632" y="43734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ـهـ</a:t>
            </a:r>
            <a:endParaRPr lang="ar-SA" sz="2200" dirty="0"/>
          </a:p>
        </p:txBody>
      </p:sp>
      <p:sp>
        <p:nvSpPr>
          <p:cNvPr id="54" name="Text 51"/>
          <p:cNvSpPr txBox="1"/>
          <p:nvPr/>
        </p:nvSpPr>
        <p:spPr>
          <a:xfrm>
            <a:off x="4325112" y="4373445"/>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ـه</a:t>
            </a:r>
            <a:endParaRPr lang="ar-SA" sz="2200" dirty="0"/>
          </a:p>
        </p:txBody>
      </p:sp>
      <p:sp>
        <p:nvSpPr>
          <p:cNvPr id="55" name="Text 52"/>
          <p:cNvSpPr txBox="1"/>
          <p:nvPr/>
        </p:nvSpPr>
        <p:spPr>
          <a:xfrm>
            <a:off x="2487168" y="4373445"/>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a:t>
            </a:r>
            <a:endParaRPr lang="en-US" sz="1100" dirty="0"/>
          </a:p>
        </p:txBody>
      </p:sp>
      <p:sp>
        <p:nvSpPr>
          <p:cNvPr id="56" name="Text 53"/>
          <p:cNvSpPr txBox="1"/>
          <p:nvPr/>
        </p:nvSpPr>
        <p:spPr>
          <a:xfrm>
            <a:off x="566928" y="4373445"/>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26 · Hāʾ</a:t>
            </a:r>
            <a:endParaRPr lang="en-US" sz="1100" dirty="0"/>
          </a:p>
        </p:txBody>
      </p:sp>
      <p:sp>
        <p:nvSpPr>
          <p:cNvPr id="57" name="Shape 54"/>
          <p:cNvSpPr/>
          <p:nvPr/>
        </p:nvSpPr>
        <p:spPr>
          <a:xfrm>
            <a:off x="457200" y="4899878"/>
            <a:ext cx="11274552" cy="471569"/>
          </a:xfrm>
          <a:prstGeom prst="roundRect">
            <a:avLst>
              <a:gd name="adj" fmla="val 9695"/>
            </a:avLst>
          </a:prstGeom>
          <a:solidFill>
            <a:srgbClr val="F4F1EA"/>
          </a:solidFill>
          <a:ln w="9525">
            <a:solidFill>
              <a:srgbClr val="D8D0BF"/>
            </a:solidFill>
            <a:prstDash val="solid"/>
          </a:ln>
        </p:spPr>
      </p:sp>
      <p:sp>
        <p:nvSpPr>
          <p:cNvPr id="58" name="Text 55"/>
          <p:cNvSpPr txBox="1"/>
          <p:nvPr/>
        </p:nvSpPr>
        <p:spPr>
          <a:xfrm>
            <a:off x="9948672" y="48998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و</a:t>
            </a:r>
            <a:endParaRPr lang="ar-SA" sz="2200" dirty="0"/>
          </a:p>
        </p:txBody>
      </p:sp>
      <p:sp>
        <p:nvSpPr>
          <p:cNvPr id="59" name="Text 56"/>
          <p:cNvSpPr txBox="1"/>
          <p:nvPr/>
        </p:nvSpPr>
        <p:spPr>
          <a:xfrm>
            <a:off x="8074152" y="48998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و</a:t>
            </a:r>
            <a:endParaRPr lang="ar-SA" sz="2200" dirty="0"/>
          </a:p>
        </p:txBody>
      </p:sp>
      <p:sp>
        <p:nvSpPr>
          <p:cNvPr id="60" name="Text 57"/>
          <p:cNvSpPr txBox="1"/>
          <p:nvPr/>
        </p:nvSpPr>
        <p:spPr>
          <a:xfrm>
            <a:off x="6199632" y="48998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ـو</a:t>
            </a:r>
            <a:endParaRPr lang="ar-SA" sz="2200" dirty="0"/>
          </a:p>
        </p:txBody>
      </p:sp>
      <p:sp>
        <p:nvSpPr>
          <p:cNvPr id="61" name="Text 58"/>
          <p:cNvSpPr txBox="1"/>
          <p:nvPr/>
        </p:nvSpPr>
        <p:spPr>
          <a:xfrm>
            <a:off x="4325112" y="4899878"/>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ـو</a:t>
            </a:r>
            <a:endParaRPr lang="ar-SA" sz="2200" dirty="0"/>
          </a:p>
        </p:txBody>
      </p:sp>
      <p:sp>
        <p:nvSpPr>
          <p:cNvPr id="62" name="Text 59"/>
          <p:cNvSpPr txBox="1"/>
          <p:nvPr/>
        </p:nvSpPr>
        <p:spPr>
          <a:xfrm>
            <a:off x="2487168" y="4899878"/>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 breaks</a:t>
            </a:r>
            <a:endParaRPr lang="en-US" sz="1100" dirty="0"/>
          </a:p>
        </p:txBody>
      </p:sp>
      <p:sp>
        <p:nvSpPr>
          <p:cNvPr id="63" name="Text 60"/>
          <p:cNvSpPr txBox="1"/>
          <p:nvPr/>
        </p:nvSpPr>
        <p:spPr>
          <a:xfrm>
            <a:off x="566928" y="4899878"/>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27 · Wāw</a:t>
            </a:r>
            <a:endParaRPr lang="en-US" sz="1100" dirty="0"/>
          </a:p>
        </p:txBody>
      </p:sp>
      <p:sp>
        <p:nvSpPr>
          <p:cNvPr id="64" name="Shape 61"/>
          <p:cNvSpPr/>
          <p:nvPr/>
        </p:nvSpPr>
        <p:spPr>
          <a:xfrm>
            <a:off x="11091672" y="4945598"/>
            <a:ext cx="548640" cy="182880"/>
          </a:xfrm>
          <a:prstGeom prst="roundRect">
            <a:avLst>
              <a:gd name="adj" fmla="val 50000"/>
            </a:avLst>
          </a:prstGeom>
          <a:solidFill>
            <a:srgbClr val="2E8B57"/>
          </a:solidFill>
          <a:ln w="12700">
            <a:solidFill>
              <a:srgbClr val="2E8B57"/>
            </a:solidFill>
            <a:prstDash val="solid"/>
          </a:ln>
        </p:spPr>
      </p:sp>
      <p:sp>
        <p:nvSpPr>
          <p:cNvPr id="65" name="Text 62"/>
          <p:cNvSpPr txBox="1"/>
          <p:nvPr/>
        </p:nvSpPr>
        <p:spPr>
          <a:xfrm>
            <a:off x="11091672" y="494559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6" name="Shape 63"/>
          <p:cNvSpPr/>
          <p:nvPr/>
        </p:nvSpPr>
        <p:spPr>
          <a:xfrm>
            <a:off x="457200" y="5426311"/>
            <a:ext cx="11274552" cy="471569"/>
          </a:xfrm>
          <a:prstGeom prst="roundRect">
            <a:avLst>
              <a:gd name="adj" fmla="val 9695"/>
            </a:avLst>
          </a:prstGeom>
          <a:solidFill>
            <a:srgbClr val="FFFFFF"/>
          </a:solidFill>
          <a:ln w="9525">
            <a:solidFill>
              <a:srgbClr val="D8D0BF"/>
            </a:solidFill>
            <a:prstDash val="solid"/>
          </a:ln>
        </p:spPr>
      </p:sp>
      <p:sp>
        <p:nvSpPr>
          <p:cNvPr id="67" name="Text 64"/>
          <p:cNvSpPr txBox="1"/>
          <p:nvPr/>
        </p:nvSpPr>
        <p:spPr>
          <a:xfrm>
            <a:off x="9948672" y="54263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a:t>
            </a:r>
            <a:endParaRPr lang="ar-SA" sz="2200" dirty="0"/>
          </a:p>
        </p:txBody>
      </p:sp>
      <p:sp>
        <p:nvSpPr>
          <p:cNvPr id="68" name="Text 65"/>
          <p:cNvSpPr txBox="1"/>
          <p:nvPr/>
        </p:nvSpPr>
        <p:spPr>
          <a:xfrm>
            <a:off x="8074152" y="54263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يـ</a:t>
            </a:r>
            <a:endParaRPr lang="ar-SA" sz="2200" dirty="0"/>
          </a:p>
        </p:txBody>
      </p:sp>
      <p:sp>
        <p:nvSpPr>
          <p:cNvPr id="69" name="Text 66"/>
          <p:cNvSpPr txBox="1"/>
          <p:nvPr/>
        </p:nvSpPr>
        <p:spPr>
          <a:xfrm>
            <a:off x="6199632" y="54263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ـيـ</a:t>
            </a:r>
            <a:endParaRPr lang="ar-SA" sz="2200" dirty="0"/>
          </a:p>
        </p:txBody>
      </p:sp>
      <p:sp>
        <p:nvSpPr>
          <p:cNvPr id="70" name="Text 67"/>
          <p:cNvSpPr txBox="1"/>
          <p:nvPr/>
        </p:nvSpPr>
        <p:spPr>
          <a:xfrm>
            <a:off x="4325112" y="5426311"/>
            <a:ext cx="16916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ـي</a:t>
            </a:r>
            <a:endParaRPr lang="ar-SA" sz="2200" dirty="0"/>
          </a:p>
        </p:txBody>
      </p:sp>
      <p:sp>
        <p:nvSpPr>
          <p:cNvPr id="71" name="Text 68"/>
          <p:cNvSpPr txBox="1"/>
          <p:nvPr/>
        </p:nvSpPr>
        <p:spPr>
          <a:xfrm>
            <a:off x="2487168" y="5426311"/>
            <a:ext cx="167335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a:t>
            </a:r>
            <a:endParaRPr lang="en-US" sz="1100" dirty="0"/>
          </a:p>
        </p:txBody>
      </p:sp>
      <p:sp>
        <p:nvSpPr>
          <p:cNvPr id="72" name="Text 69"/>
          <p:cNvSpPr txBox="1"/>
          <p:nvPr/>
        </p:nvSpPr>
        <p:spPr>
          <a:xfrm>
            <a:off x="566928" y="5426311"/>
            <a:ext cx="17373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28 · Yāʾ</a:t>
            </a:r>
            <a:endParaRPr lang="en-US" sz="1100" dirty="0"/>
          </a:p>
        </p:txBody>
      </p:sp>
      <p:sp>
        <p:nvSpPr>
          <p:cNvPr id="73" name="Text 7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Read right → left: isolated · initial · medial · final. The CORE badge marks a letter that never joins forward.</a:t>
            </a:r>
            <a:endParaRPr lang="en-US" sz="11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40</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3 · THE SIX FORWARD NON-CONNECTORS (WEBSITE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Six letters that never join forward</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 د ذ ر ز و</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016752" y="1810512"/>
            <a:ext cx="56418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Explanation (website)</a:t>
            </a:r>
            <a:endParaRPr lang="en-US" sz="1100" dirty="0"/>
          </a:p>
        </p:txBody>
      </p:sp>
      <p:sp>
        <p:nvSpPr>
          <p:cNvPr id="17" name="Text 14"/>
          <p:cNvSpPr txBox="1"/>
          <p:nvPr/>
        </p:nvSpPr>
        <p:spPr>
          <a:xfrm>
            <a:off x="290779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Where is the break?</a:t>
            </a:r>
            <a:endParaRPr lang="en-US" sz="1100" dirty="0"/>
          </a:p>
        </p:txBody>
      </p:sp>
      <p:sp>
        <p:nvSpPr>
          <p:cNvPr id="18" name="Text 15"/>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Word</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6053328" y="2267712"/>
            <a:ext cx="5605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Wāw does not connect forward.</a:t>
            </a:r>
            <a:endParaRPr lang="en-US" sz="1100" dirty="0"/>
          </a:p>
        </p:txBody>
      </p:sp>
      <p:sp>
        <p:nvSpPr>
          <p:cNvPr id="21" name="Text 18"/>
          <p:cNvSpPr txBox="1"/>
          <p:nvPr/>
        </p:nvSpPr>
        <p:spPr>
          <a:xfrm>
            <a:off x="294436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a:t>
            </a:r>
            <a:pPr algn="l" indent="0" marL="0">
              <a:buNone/>
            </a:pPr>
            <a:r>
              <a:rPr lang="ar-SA" altLang="en-US" sz="1450" dirty="0">
                <a:solidFill>
                  <a:srgbClr val="5A6472"/>
                </a:solidFill>
                <a:latin typeface="Amiri" pitchFamily="2" charset="-78"/>
                <a:cs typeface="Amiri" pitchFamily="2" charset="-78"/>
              </a:rPr>
              <a:t>و</a:t>
            </a:r>
            <a:endParaRPr lang="en-US" sz="1100" dirty="0"/>
          </a:p>
        </p:txBody>
      </p:sp>
      <p:sp>
        <p:nvSpPr>
          <p:cNvPr id="22" name="Text 19"/>
          <p:cNvSpPr txBox="1"/>
          <p:nvPr/>
        </p:nvSpPr>
        <p:spPr>
          <a:xfrm>
            <a:off x="548640" y="2267712"/>
            <a:ext cx="2194560" cy="682142"/>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وَلَد</a:t>
            </a:r>
            <a:endParaRPr lang="ar-SA" sz="30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6053328" y="3004718"/>
            <a:ext cx="5605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Dāl does not connect to Rāʾ; Rāʾ does not connect to Sīn.</a:t>
            </a:r>
            <a:endParaRPr lang="en-US" sz="1100" dirty="0"/>
          </a:p>
        </p:txBody>
      </p:sp>
      <p:sp>
        <p:nvSpPr>
          <p:cNvPr id="27" name="Text 24"/>
          <p:cNvSpPr txBox="1"/>
          <p:nvPr/>
        </p:nvSpPr>
        <p:spPr>
          <a:xfrm>
            <a:off x="2944368" y="3004718"/>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a:t>
            </a:r>
            <a:pPr algn="l" indent="0" marL="0">
              <a:buNone/>
            </a:pPr>
            <a:r>
              <a:rPr lang="ar-SA" altLang="en-US" sz="1450" dirty="0">
                <a:solidFill>
                  <a:srgbClr val="5A6472"/>
                </a:solidFill>
                <a:latin typeface="Amiri" pitchFamily="2" charset="-78"/>
                <a:cs typeface="Amiri" pitchFamily="2" charset="-78"/>
              </a:rPr>
              <a:t>د</a:t>
            </a:r>
            <a:pPr algn="l" indent="0" marL="0">
              <a:buNone/>
            </a:pPr>
            <a:r>
              <a:rPr lang="en-US" sz="1100" dirty="0">
                <a:solidFill>
                  <a:srgbClr val="5A6472"/>
                </a:solidFill>
                <a:latin typeface="Calibri" pitchFamily="34" charset="0"/>
                <a:cs typeface="Amiri" pitchFamily="2" charset="-78"/>
              </a:rPr>
              <a:t> and after </a:t>
            </a:r>
            <a:pPr algn="l" indent="0" marL="0">
              <a:buNone/>
            </a:pPr>
            <a:r>
              <a:rPr lang="ar-SA" altLang="en-US" sz="1450" dirty="0">
                <a:solidFill>
                  <a:srgbClr val="5A6472"/>
                </a:solidFill>
                <a:latin typeface="Amiri" pitchFamily="2" charset="-78"/>
                <a:cs typeface="Amiri" pitchFamily="2" charset="-78"/>
              </a:rPr>
              <a:t>ر</a:t>
            </a:r>
            <a:endParaRPr lang="en-US" sz="1100" dirty="0"/>
          </a:p>
        </p:txBody>
      </p:sp>
      <p:sp>
        <p:nvSpPr>
          <p:cNvPr id="28" name="Text 25"/>
          <p:cNvSpPr txBox="1"/>
          <p:nvPr/>
        </p:nvSpPr>
        <p:spPr>
          <a:xfrm>
            <a:off x="548640" y="3004718"/>
            <a:ext cx="2194560" cy="682142"/>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مَدْرَسَة</a:t>
            </a:r>
            <a:endParaRPr lang="ar-SA" sz="30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6053328" y="3741725"/>
            <a:ext cx="5605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are forward non-connectors.</a:t>
            </a:r>
            <a:endParaRPr lang="en-US" sz="1100" dirty="0"/>
          </a:p>
        </p:txBody>
      </p:sp>
      <p:sp>
        <p:nvSpPr>
          <p:cNvPr id="33" name="Text 30"/>
          <p:cNvSpPr txBox="1"/>
          <p:nvPr/>
        </p:nvSpPr>
        <p:spPr>
          <a:xfrm>
            <a:off x="2944368" y="3741725"/>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a:t>
            </a:r>
            <a:pPr algn="l" indent="0" marL="0">
              <a:buNone/>
            </a:pPr>
            <a:r>
              <a:rPr lang="ar-SA" altLang="en-US" sz="1450" dirty="0">
                <a:solidFill>
                  <a:srgbClr val="5A6472"/>
                </a:solidFill>
                <a:latin typeface="Amiri" pitchFamily="2" charset="-78"/>
                <a:cs typeface="Amiri" pitchFamily="2" charset="-78"/>
              </a:rPr>
              <a:t>ز</a:t>
            </a:r>
            <a:pPr algn="l" indent="0" marL="0">
              <a:buNone/>
            </a:pPr>
            <a:r>
              <a:rPr lang="en-US" sz="1100" dirty="0">
                <a:solidFill>
                  <a:srgbClr val="5A6472"/>
                </a:solidFill>
                <a:latin typeface="Calibri" pitchFamily="34" charset="0"/>
                <a:cs typeface="Amiri" pitchFamily="2" charset="-78"/>
              </a:rPr>
              <a:t> and after </a:t>
            </a:r>
            <a:pPr algn="l" indent="0" marL="0">
              <a:buNone/>
            </a:pPr>
            <a:r>
              <a:rPr lang="ar-SA" altLang="en-US" sz="1450" dirty="0">
                <a:solidFill>
                  <a:srgbClr val="5A6472"/>
                </a:solidFill>
                <a:latin typeface="Amiri" pitchFamily="2" charset="-78"/>
                <a:cs typeface="Amiri" pitchFamily="2" charset="-78"/>
              </a:rPr>
              <a:t>ر</a:t>
            </a:r>
            <a:endParaRPr lang="en-US" sz="1100" dirty="0"/>
          </a:p>
        </p:txBody>
      </p:sp>
      <p:sp>
        <p:nvSpPr>
          <p:cNvPr id="34" name="Text 31"/>
          <p:cNvSpPr txBox="1"/>
          <p:nvPr/>
        </p:nvSpPr>
        <p:spPr>
          <a:xfrm>
            <a:off x="548640" y="3741725"/>
            <a:ext cx="2194560" cy="682142"/>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زَهْرَة</a:t>
            </a:r>
            <a:endParaRPr lang="ar-SA" sz="30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6053328" y="4478731"/>
            <a:ext cx="5605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Rāʾ and Alif do not connect forward.</a:t>
            </a:r>
            <a:endParaRPr lang="en-US" sz="1100" dirty="0"/>
          </a:p>
        </p:txBody>
      </p:sp>
      <p:sp>
        <p:nvSpPr>
          <p:cNvPr id="37" name="Text 34"/>
          <p:cNvSpPr txBox="1"/>
          <p:nvPr/>
        </p:nvSpPr>
        <p:spPr>
          <a:xfrm>
            <a:off x="2944368" y="4478731"/>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a:t>
            </a:r>
            <a:pPr algn="l" indent="0" marL="0">
              <a:buNone/>
            </a:pPr>
            <a:r>
              <a:rPr lang="ar-SA" altLang="en-US" sz="1450" dirty="0">
                <a:solidFill>
                  <a:srgbClr val="5A6472"/>
                </a:solidFill>
                <a:latin typeface="Amiri" pitchFamily="2" charset="-78"/>
                <a:cs typeface="Amiri" pitchFamily="2" charset="-78"/>
              </a:rPr>
              <a:t>ر</a:t>
            </a:r>
            <a:pPr algn="l" indent="0" marL="0">
              <a:buNone/>
            </a:pPr>
            <a:r>
              <a:rPr lang="en-US" sz="1100" dirty="0">
                <a:solidFill>
                  <a:srgbClr val="5A6472"/>
                </a:solidFill>
                <a:latin typeface="Calibri" pitchFamily="34" charset="0"/>
                <a:cs typeface="Amiri" pitchFamily="2" charset="-78"/>
              </a:rPr>
              <a:t> and after </a:t>
            </a:r>
            <a:pPr algn="l" indent="0" marL="0">
              <a:buNone/>
            </a:pPr>
            <a:r>
              <a:rPr lang="ar-SA" altLang="en-US" sz="1450" dirty="0">
                <a:solidFill>
                  <a:srgbClr val="5A6472"/>
                </a:solidFill>
                <a:latin typeface="Amiri" pitchFamily="2" charset="-78"/>
                <a:cs typeface="Amiri" pitchFamily="2" charset="-78"/>
              </a:rPr>
              <a:t>آ</a:t>
            </a:r>
            <a:endParaRPr lang="en-US" sz="1100" dirty="0"/>
          </a:p>
        </p:txBody>
      </p:sp>
      <p:sp>
        <p:nvSpPr>
          <p:cNvPr id="38" name="Text 35"/>
          <p:cNvSpPr txBox="1"/>
          <p:nvPr/>
        </p:nvSpPr>
        <p:spPr>
          <a:xfrm>
            <a:off x="548640" y="4478731"/>
            <a:ext cx="2194560" cy="682142"/>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قُرْآن</a:t>
            </a:r>
            <a:endParaRPr lang="ar-SA" sz="30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6053328" y="5215738"/>
            <a:ext cx="5605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non-connector: the whole word joins.</a:t>
            </a:r>
            <a:endParaRPr lang="en-US" sz="1100" dirty="0"/>
          </a:p>
        </p:txBody>
      </p:sp>
      <p:sp>
        <p:nvSpPr>
          <p:cNvPr id="41" name="Text 38"/>
          <p:cNvSpPr txBox="1"/>
          <p:nvPr/>
        </p:nvSpPr>
        <p:spPr>
          <a:xfrm>
            <a:off x="2944368" y="5215738"/>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break</a:t>
            </a:r>
            <a:endParaRPr lang="en-US" sz="1100" dirty="0"/>
          </a:p>
        </p:txBody>
      </p:sp>
      <p:sp>
        <p:nvSpPr>
          <p:cNvPr id="42" name="Text 39"/>
          <p:cNvSpPr txBox="1"/>
          <p:nvPr/>
        </p:nvSpPr>
        <p:spPr>
          <a:xfrm>
            <a:off x="548640" y="5215738"/>
            <a:ext cx="2194560" cy="682142"/>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كَتَبَ</a:t>
            </a:r>
            <a:endParaRPr lang="ar-SA" sz="30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Memory line (website): </a:t>
            </a:r>
            <a:pPr algn="l" indent="0" marL="0">
              <a:buNone/>
            </a:pPr>
            <a:r>
              <a:rPr lang="ar-SA" altLang="en-US" sz="1500" b="1" dirty="0">
                <a:solidFill>
                  <a:srgbClr val="1B3B6F"/>
                </a:solidFill>
                <a:latin typeface="Amiri" pitchFamily="2" charset="-78"/>
                <a:cs typeface="Amiri" pitchFamily="2" charset="-78"/>
              </a:rPr>
              <a:t>أ د ذ ر ز و</a:t>
            </a:r>
            <a:pPr algn="l" indent="0" marL="0">
              <a:buNone/>
            </a:pPr>
            <a:r>
              <a:rPr lang="en-US" sz="1150" b="1" dirty="0">
                <a:solidFill>
                  <a:srgbClr val="1B3B6F"/>
                </a:solidFill>
                <a:latin typeface="Calibri" pitchFamily="34" charset="0"/>
                <a:cs typeface="Amiri" pitchFamily="2" charset="-78"/>
              </a:rPr>
              <a:t> — they join to the letter BEFORE them, never to the letter AFTER them.</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40</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4 · LETTER FAMILIES (WEBSITE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Learn families, not single pictures</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عَائِلَاتُ الْحُرُوفِ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016752" y="1810512"/>
            <a:ext cx="56418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How to tell them apart (website)</a:t>
            </a:r>
            <a:endParaRPr lang="en-US" sz="1100" dirty="0"/>
          </a:p>
        </p:txBody>
      </p:sp>
      <p:sp>
        <p:nvSpPr>
          <p:cNvPr id="17" name="Text 14"/>
          <p:cNvSpPr txBox="1"/>
          <p:nvPr/>
        </p:nvSpPr>
        <p:spPr>
          <a:xfrm>
            <a:off x="272491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Letters</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Family</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6053328" y="2267712"/>
            <a:ext cx="5605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Similar bowls and joining strokes; the dots decide.</a:t>
            </a:r>
            <a:endParaRPr lang="en-US" sz="1100" dirty="0"/>
          </a:p>
        </p:txBody>
      </p:sp>
      <p:sp>
        <p:nvSpPr>
          <p:cNvPr id="21" name="Text 18"/>
          <p:cNvSpPr txBox="1"/>
          <p:nvPr/>
        </p:nvSpPr>
        <p:spPr>
          <a:xfrm>
            <a:off x="2743200" y="2267712"/>
            <a:ext cx="3108960" cy="682142"/>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ب ت ث ن ي</a:t>
            </a:r>
            <a:endParaRPr lang="ar-SA" sz="3000" dirty="0"/>
          </a:p>
        </p:txBody>
      </p:sp>
      <p:sp>
        <p:nvSpPr>
          <p:cNvPr id="22" name="Text 19"/>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Bāʾ family</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6053328" y="3004718"/>
            <a:ext cx="5605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Same body: dot below · no dot · dot above.</a:t>
            </a:r>
            <a:endParaRPr lang="en-US" sz="1100" dirty="0"/>
          </a:p>
        </p:txBody>
      </p:sp>
      <p:sp>
        <p:nvSpPr>
          <p:cNvPr id="27" name="Text 24"/>
          <p:cNvSpPr txBox="1"/>
          <p:nvPr/>
        </p:nvSpPr>
        <p:spPr>
          <a:xfrm>
            <a:off x="2743200" y="3004718"/>
            <a:ext cx="3108960" cy="682142"/>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ج ح خ</a:t>
            </a:r>
            <a:endParaRPr lang="ar-SA" sz="3000" dirty="0"/>
          </a:p>
        </p:txBody>
      </p:sp>
      <p:sp>
        <p:nvSpPr>
          <p:cNvPr id="28" name="Text 25"/>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Jīm family</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6053328" y="3741725"/>
            <a:ext cx="5605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Non-connecting bodies; </a:t>
            </a:r>
            <a:pPr algn="l" indent="0" marL="0">
              <a:buNone/>
            </a:pPr>
            <a:r>
              <a:rPr lang="ar-SA" altLang="en-US" sz="1450" dirty="0">
                <a:solidFill>
                  <a:srgbClr val="5A6472"/>
                </a:solidFill>
                <a:latin typeface="Amiri" pitchFamily="2" charset="-78"/>
                <a:cs typeface="Amiri" pitchFamily="2" charset="-78"/>
              </a:rPr>
              <a:t>ذ</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cs typeface="Amiri" pitchFamily="2" charset="-78"/>
              </a:rPr>
              <a:t>ز</a:t>
            </a:r>
            <a:pPr algn="l" indent="0" marL="0">
              <a:buNone/>
            </a:pPr>
            <a:r>
              <a:rPr lang="en-US" sz="1100" dirty="0">
                <a:solidFill>
                  <a:srgbClr val="5A6472"/>
                </a:solidFill>
                <a:latin typeface="Calibri" pitchFamily="34" charset="0"/>
                <a:cs typeface="Amiri" pitchFamily="2" charset="-78"/>
              </a:rPr>
              <a:t> add a dot.</a:t>
            </a:r>
            <a:endParaRPr lang="en-US" sz="1100" dirty="0"/>
          </a:p>
        </p:txBody>
      </p:sp>
      <p:sp>
        <p:nvSpPr>
          <p:cNvPr id="33" name="Text 30"/>
          <p:cNvSpPr txBox="1"/>
          <p:nvPr/>
        </p:nvSpPr>
        <p:spPr>
          <a:xfrm>
            <a:off x="2743200" y="3741725"/>
            <a:ext cx="3108960" cy="682142"/>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د ذ · ر ز</a:t>
            </a:r>
            <a:endParaRPr lang="ar-SA" sz="3000" dirty="0"/>
          </a:p>
        </p:txBody>
      </p:sp>
      <p:sp>
        <p:nvSpPr>
          <p:cNvPr id="34" name="Text 31"/>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Dāl · Rāʾ</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6053328" y="4478731"/>
            <a:ext cx="5605272"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cs typeface="Amiri" pitchFamily="2" charset="-78"/>
              </a:rPr>
              <a:t>ش</a:t>
            </a:r>
            <a:pPr algn="l" indent="0" marL="0">
              <a:buNone/>
            </a:pPr>
            <a:r>
              <a:rPr lang="en-US" sz="1100" dirty="0">
                <a:solidFill>
                  <a:srgbClr val="5A6472"/>
                </a:solidFill>
                <a:latin typeface="Calibri" pitchFamily="34" charset="0"/>
                <a:cs typeface="Amiri" pitchFamily="2" charset="-78"/>
              </a:rPr>
              <a:t> adds three dots; </a:t>
            </a:r>
            <a:pPr algn="l" indent="0" marL="0">
              <a:buNone/>
            </a:pPr>
            <a:r>
              <a:rPr lang="ar-SA" altLang="en-US" sz="1450" dirty="0">
                <a:solidFill>
                  <a:srgbClr val="5A6472"/>
                </a:solidFill>
                <a:latin typeface="Amiri" pitchFamily="2" charset="-78"/>
                <a:cs typeface="Amiri" pitchFamily="2" charset="-78"/>
              </a:rPr>
              <a:t>ض</a:t>
            </a:r>
            <a:pPr algn="l" indent="0" marL="0">
              <a:buNone/>
            </a:pPr>
            <a:r>
              <a:rPr lang="en-US" sz="1100" dirty="0">
                <a:solidFill>
                  <a:srgbClr val="5A6472"/>
                </a:solidFill>
                <a:latin typeface="Calibri" pitchFamily="34" charset="0"/>
                <a:cs typeface="Amiri" pitchFamily="2" charset="-78"/>
              </a:rPr>
              <a:t> adds one dot.</a:t>
            </a:r>
            <a:endParaRPr lang="en-US" sz="1100" dirty="0"/>
          </a:p>
        </p:txBody>
      </p:sp>
      <p:sp>
        <p:nvSpPr>
          <p:cNvPr id="37" name="Text 34"/>
          <p:cNvSpPr txBox="1"/>
          <p:nvPr/>
        </p:nvSpPr>
        <p:spPr>
          <a:xfrm>
            <a:off x="2743200" y="4478731"/>
            <a:ext cx="3108960" cy="682142"/>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س ش · ص ض</a:t>
            </a:r>
            <a:endParaRPr lang="ar-SA" sz="3000" dirty="0"/>
          </a:p>
        </p:txBody>
      </p:sp>
      <p:sp>
        <p:nvSpPr>
          <p:cNvPr id="38" name="Text 35"/>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Sīn · Ṣād</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6053328" y="5215738"/>
            <a:ext cx="5605272"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cs typeface="Amiri" pitchFamily="2" charset="-78"/>
              </a:rPr>
              <a:t>ظ</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cs typeface="Amiri" pitchFamily="2" charset="-78"/>
              </a:rPr>
              <a:t>غ</a:t>
            </a:r>
            <a:pPr algn="l" indent="0" marL="0">
              <a:buNone/>
            </a:pPr>
            <a:r>
              <a:rPr lang="en-US" sz="1100" dirty="0">
                <a:solidFill>
                  <a:srgbClr val="5A6472"/>
                </a:solidFill>
                <a:latin typeface="Calibri" pitchFamily="34" charset="0"/>
                <a:cs typeface="Amiri" pitchFamily="2" charset="-78"/>
              </a:rPr>
              <a:t> add one dot above.</a:t>
            </a:r>
            <a:endParaRPr lang="en-US" sz="1100" dirty="0"/>
          </a:p>
        </p:txBody>
      </p:sp>
      <p:sp>
        <p:nvSpPr>
          <p:cNvPr id="41" name="Text 38"/>
          <p:cNvSpPr txBox="1"/>
          <p:nvPr/>
        </p:nvSpPr>
        <p:spPr>
          <a:xfrm>
            <a:off x="2743200" y="5215738"/>
            <a:ext cx="3108960" cy="682142"/>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ط ظ · ع غ</a:t>
            </a:r>
            <a:endParaRPr lang="ar-SA" sz="3000" dirty="0"/>
          </a:p>
        </p:txBody>
      </p:sp>
      <p:sp>
        <p:nvSpPr>
          <p:cNvPr id="42" name="Text 39"/>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Ṭāʾ · ʿAyn</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Dots are part of the letter: write them clearly and in the right place.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40</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INITIAL form of </a:t>
            </a:r>
            <a:pPr algn="l" indent="0" marL="0">
              <a:buNone/>
            </a:pPr>
            <a:r>
              <a:rPr lang="ar-SA" altLang="en-US" sz="1650" b="1" dirty="0">
                <a:solidFill>
                  <a:srgbClr val="1B3B6F"/>
                </a:solidFill>
                <a:latin typeface="Amiri" pitchFamily="2" charset="-78"/>
                <a:cs typeface="Amiri" pitchFamily="2" charset="-78"/>
              </a:rPr>
              <a:t>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ـبـ</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ـب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never joins the next letter?</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break in </a:t>
            </a:r>
            <a:pPr algn="l" indent="0" marL="0">
              <a:buNone/>
            </a:pPr>
            <a:r>
              <a:rPr lang="ar-SA" altLang="en-US" sz="1650" b="1" dirty="0">
                <a:solidFill>
                  <a:srgbClr val="1B3B6F"/>
                </a:solidFill>
                <a:latin typeface="Amiri" pitchFamily="2" charset="-78"/>
                <a:cs typeface="Amiri" pitchFamily="2" charset="-78"/>
              </a:rPr>
              <a:t>وَلَد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a:t>
            </a:r>
            <a:pPr algn="l" indent="0" marL="0">
              <a:buNone/>
            </a:pPr>
            <a:r>
              <a:rPr lang="ar-SA" altLang="en-US" sz="1650" dirty="0">
                <a:solidFill>
                  <a:srgbClr val="1F2A37"/>
                </a:solidFill>
                <a:latin typeface="Amiri" pitchFamily="2" charset="-78"/>
                <a:cs typeface="Amiri" pitchFamily="2" charset="-78"/>
              </a:rPr>
              <a:t>ل</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a:t>
            </a:r>
            <a:pPr algn="l" indent="0" marL="0">
              <a:buNone/>
            </a:pPr>
            <a:r>
              <a:rPr lang="ar-SA" altLang="en-US" sz="1650" dirty="0">
                <a:solidFill>
                  <a:srgbClr val="1F2A37"/>
                </a:solidFill>
                <a:latin typeface="Amiri" pitchFamily="2" charset="-78"/>
                <a:cs typeface="Amiri" pitchFamily="2" charset="-78"/>
              </a:rPr>
              <a:t>و</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is no break</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letters are one family?</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 ح خ</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 د ر</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 س ع</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40</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INITIAL form of </a:t>
            </a:r>
            <a:pPr algn="l" indent="0" marL="0">
              <a:buNone/>
            </a:pPr>
            <a:r>
              <a:rPr lang="ar-SA" altLang="en-US" sz="1650" b="1" dirty="0">
                <a:solidFill>
                  <a:srgbClr val="1B3B6F"/>
                </a:solidFill>
                <a:latin typeface="Amiri" pitchFamily="2" charset="-78"/>
                <a:cs typeface="Amiri" pitchFamily="2" charset="-78"/>
              </a:rPr>
              <a:t>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ـبـ</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ـب</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بـ</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Initial: joining stroke on the left only.</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never joins the next letter?</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د</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د</a:t>
            </a:r>
            <a:pPr algn="l" indent="0" marL="0">
              <a:buNone/>
            </a:pPr>
            <a:r>
              <a:rPr lang="en-US" sz="1050" i="1" dirty="0">
                <a:solidFill>
                  <a:srgbClr val="8A6D1E"/>
                </a:solidFill>
                <a:latin typeface="Calibri" pitchFamily="34" charset="0"/>
                <a:cs typeface="Amiri" pitchFamily="2" charset="-78"/>
              </a:rPr>
              <a:t> is one of the six: </a:t>
            </a:r>
            <a:pPr algn="l" indent="0" marL="0">
              <a:buNone/>
            </a:pPr>
            <a:r>
              <a:rPr lang="ar-SA" altLang="en-US" sz="1350" dirty="0">
                <a:solidFill>
                  <a:srgbClr val="8A6D1E"/>
                </a:solidFill>
                <a:latin typeface="Amiri" pitchFamily="2" charset="-78"/>
                <a:cs typeface="Amiri" pitchFamily="2" charset="-78"/>
              </a:rPr>
              <a:t>أ د ذ ر ز و</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break in </a:t>
            </a:r>
            <a:pPr algn="l" indent="0" marL="0">
              <a:buNone/>
            </a:pPr>
            <a:r>
              <a:rPr lang="ar-SA" altLang="en-US" sz="1650" b="1" dirty="0">
                <a:solidFill>
                  <a:srgbClr val="1B3B6F"/>
                </a:solidFill>
                <a:latin typeface="Amiri" pitchFamily="2" charset="-78"/>
                <a:cs typeface="Amiri" pitchFamily="2" charset="-78"/>
              </a:rPr>
              <a:t>وَلَد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 </a:t>
            </a:r>
            <a:pPr algn="l" indent="0" marL="0">
              <a:buNone/>
            </a:pPr>
            <a:r>
              <a:rPr lang="ar-SA" altLang="en-US" sz="1650" dirty="0">
                <a:solidFill>
                  <a:srgbClr val="9AA1AB"/>
                </a:solidFill>
                <a:latin typeface="Amiri" pitchFamily="2" charset="-78"/>
                <a:cs typeface="Amiri" pitchFamily="2" charset="-78"/>
              </a:rPr>
              <a:t>ل</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after </a:t>
            </a:r>
            <a:pPr algn="l" indent="0" marL="0">
              <a:buNone/>
            </a:pPr>
            <a:r>
              <a:rPr lang="ar-SA" altLang="en-US" sz="1650" b="1" dirty="0">
                <a:solidFill>
                  <a:srgbClr val="1F2A37"/>
                </a:solidFill>
                <a:latin typeface="Amiri" pitchFamily="2" charset="-78"/>
                <a:cs typeface="Amiri" pitchFamily="2" charset="-78"/>
              </a:rPr>
              <a:t>و</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is no break</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و</a:t>
            </a:r>
            <a:pPr algn="l" indent="0" marL="0">
              <a:buNone/>
            </a:pPr>
            <a:r>
              <a:rPr lang="en-US" sz="1050" i="1" dirty="0">
                <a:solidFill>
                  <a:srgbClr val="8A6D1E"/>
                </a:solidFill>
                <a:latin typeface="Calibri" pitchFamily="34" charset="0"/>
                <a:cs typeface="Amiri" pitchFamily="2" charset="-78"/>
              </a:rPr>
              <a:t> does not connect forward.</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letters are one family?</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ج ح خ</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ج د ر</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 س ع</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Same body: dot below, no dot, dot above.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40</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Watch me read a word letter by letter</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Name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ب + ي + ت</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Name each letter.</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Position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بـ + ـيـ + ـت</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Initial · medial · final.</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Breaks?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بَيْت</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non-connector: fully joined.</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Compare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وَرَقَة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breaks the chain after it.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Text 41"/>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بَيْتٌ · كَتَبَ · وَرَقَةٌ · مَدْرَسَةٌ · زَهْرَةٌ</a:t>
            </a:r>
            <a:endParaRPr lang="ar-SA" sz="2600" dirty="0"/>
          </a:p>
        </p:txBody>
      </p:sp>
      <p:sp>
        <p:nvSpPr>
          <p:cNvPr id="46" name="Text 4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house · he wrote · a sheet of paper · school · flower — copy, then mark every break.</a:t>
            </a:r>
            <a:endParaRPr lang="en-US" sz="1300" dirty="0"/>
          </a:p>
        </p:txBody>
      </p:sp>
      <p:sp>
        <p:nvSpPr>
          <p:cNvPr id="47"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40</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كَتَبَ</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wrote</a:t>
            </a:r>
            <a:endParaRPr lang="en-US" sz="1250" dirty="0"/>
          </a:p>
          <a:p>
            <a:pPr indent="0" marL="0">
              <a:buNone/>
            </a:pPr>
            <a:r>
              <a:rPr lang="en-US" sz="1050" i="1" dirty="0">
                <a:solidFill>
                  <a:srgbClr val="8A6D1E"/>
                </a:solidFill>
                <a:latin typeface="Calibri" pitchFamily="34" charset="0"/>
                <a:cs typeface="Amiri" pitchFamily="2" charset="-78"/>
              </a:rPr>
              <a:t>كـ + ـتـ + ـب — fully connected</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وَرَقَةٌ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 sheet of paper</a:t>
            </a:r>
            <a:endParaRPr lang="en-US" sz="1250" dirty="0"/>
          </a:p>
          <a:p>
            <a:pPr indent="0" marL="0">
              <a:buNone/>
            </a:pPr>
            <a:r>
              <a:rPr lang="en-US" sz="1050" i="1" dirty="0">
                <a:solidFill>
                  <a:srgbClr val="8A6D1E"/>
                </a:solidFill>
                <a:latin typeface="Calibri" pitchFamily="34" charset="0"/>
                <a:cs typeface="Amiri" pitchFamily="2" charset="-78"/>
              </a:rPr>
              <a:t>one break: after و</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مَدْرَسَةٌ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 school</a:t>
            </a:r>
            <a:endParaRPr lang="en-US" sz="1250" dirty="0"/>
          </a:p>
          <a:p>
            <a:pPr indent="0" marL="0">
              <a:buNone/>
            </a:pPr>
            <a:r>
              <a:rPr lang="en-US" sz="1050" i="1" dirty="0">
                <a:solidFill>
                  <a:srgbClr val="8A6D1E"/>
                </a:solidFill>
                <a:latin typeface="Calibri" pitchFamily="34" charset="0"/>
                <a:cs typeface="Amiri" pitchFamily="2" charset="-78"/>
              </a:rPr>
              <a:t>two breaks: after د and after ر</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زَهْرَةٌ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 flower</a:t>
            </a:r>
            <a:endParaRPr lang="en-US" sz="1250" dirty="0"/>
          </a:p>
          <a:p>
            <a:pPr indent="0" marL="0">
              <a:buNone/>
            </a:pPr>
            <a:r>
              <a:rPr lang="en-US" sz="1050" i="1" dirty="0">
                <a:solidFill>
                  <a:srgbClr val="8A6D1E"/>
                </a:solidFill>
                <a:latin typeface="Calibri" pitchFamily="34" charset="0"/>
                <a:cs typeface="Amiri" pitchFamily="2" charset="-78"/>
              </a:rPr>
              <a:t>two breaks: after ز and after ر</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40</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JOIN OR BREAK?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Does it join the next letter?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د</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ز</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a:t>
            </a:r>
            <a:endParaRPr lang="ar-SA" sz="1800" dirty="0"/>
          </a:p>
        </p:txBody>
      </p:sp>
      <p:sp>
        <p:nvSpPr>
          <p:cNvPr id="33" name="Shape 30"/>
          <p:cNvSpPr/>
          <p:nvPr/>
        </p:nvSpPr>
        <p:spPr>
          <a:xfrm>
            <a:off x="6163056"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254496"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a:t>
            </a:r>
            <a:endParaRPr lang="ar-SA" sz="1800" dirty="0"/>
          </a:p>
        </p:txBody>
      </p:sp>
      <p:sp>
        <p:nvSpPr>
          <p:cNvPr id="35" name="Shape 32"/>
          <p:cNvSpPr/>
          <p:nvPr/>
        </p:nvSpPr>
        <p:spPr>
          <a:xfrm>
            <a:off x="6185916" y="3529584"/>
            <a:ext cx="5545836" cy="2779776"/>
          </a:xfrm>
          <a:prstGeom prst="roundRect">
            <a:avLst>
              <a:gd name="adj" fmla="val 2632"/>
            </a:avLst>
          </a:prstGeom>
          <a:solidFill>
            <a:srgbClr val="EEF3FA"/>
          </a:solidFill>
          <a:ln w="9525">
            <a:solidFill>
              <a:srgbClr val="C9D6EA"/>
            </a:solidFill>
            <a:prstDash val="solid"/>
          </a:ln>
        </p:spPr>
      </p:sp>
      <p:sp>
        <p:nvSpPr>
          <p:cNvPr id="36" name="Shape 33"/>
          <p:cNvSpPr/>
          <p:nvPr/>
        </p:nvSpPr>
        <p:spPr>
          <a:xfrm>
            <a:off x="6323076" y="3639312"/>
            <a:ext cx="5271516"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6323076" y="3639312"/>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Joins the next letter</a:t>
            </a:r>
            <a:endParaRPr lang="en-US" sz="950" dirty="0"/>
          </a:p>
        </p:txBody>
      </p:sp>
      <p:sp>
        <p:nvSpPr>
          <p:cNvPr id="38" name="Shape 35"/>
          <p:cNvSpPr/>
          <p:nvPr/>
        </p:nvSpPr>
        <p:spPr>
          <a:xfrm>
            <a:off x="457200" y="3529584"/>
            <a:ext cx="5545836" cy="2779776"/>
          </a:xfrm>
          <a:prstGeom prst="roundRect">
            <a:avLst>
              <a:gd name="adj" fmla="val 2632"/>
            </a:avLst>
          </a:prstGeom>
          <a:solidFill>
            <a:srgbClr val="EEF3FA"/>
          </a:solidFill>
          <a:ln w="9525">
            <a:solidFill>
              <a:srgbClr val="C9D6EA"/>
            </a:solidFill>
            <a:prstDash val="solid"/>
          </a:ln>
        </p:spPr>
      </p:sp>
      <p:sp>
        <p:nvSpPr>
          <p:cNvPr id="39" name="Shape 36"/>
          <p:cNvSpPr/>
          <p:nvPr/>
        </p:nvSpPr>
        <p:spPr>
          <a:xfrm>
            <a:off x="594360" y="3639312"/>
            <a:ext cx="5271516"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594360" y="3639312"/>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Never joins the next letter</a:t>
            </a:r>
            <a:endParaRPr lang="en-US" sz="9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Joins the next letter</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a:t>
            </a:r>
            <a:endParaRPr lang="ar-SA" sz="1800" dirty="0"/>
          </a:p>
        </p:txBody>
      </p:sp>
      <p:sp>
        <p:nvSpPr>
          <p:cNvPr id="26" name="Shape 23"/>
          <p:cNvSpPr/>
          <p:nvPr/>
        </p:nvSpPr>
        <p:spPr>
          <a:xfrm>
            <a:off x="6323076" y="4425696"/>
            <a:ext cx="5271516" cy="438912"/>
          </a:xfrm>
          <a:prstGeom prst="roundRect">
            <a:avLst>
              <a:gd name="adj" fmla="val 12500"/>
            </a:avLst>
          </a:prstGeom>
          <a:solidFill>
            <a:srgbClr val="FFF4DC"/>
          </a:solidFill>
          <a:ln w="9525">
            <a:solidFill>
              <a:srgbClr val="E6C98A"/>
            </a:solidFill>
            <a:prstDash val="solid"/>
          </a:ln>
        </p:spPr>
      </p:sp>
      <p:sp>
        <p:nvSpPr>
          <p:cNvPr id="27" name="Text 24"/>
          <p:cNvSpPr txBox="1"/>
          <p:nvPr/>
        </p:nvSpPr>
        <p:spPr>
          <a:xfrm>
            <a:off x="6414516" y="4425696"/>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a:t>
            </a:r>
            <a:endParaRPr lang="ar-SA" sz="1800" dirty="0"/>
          </a:p>
        </p:txBody>
      </p:sp>
      <p:sp>
        <p:nvSpPr>
          <p:cNvPr id="28" name="Shape 25"/>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9" name="Shape 26"/>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30" name="Text 27"/>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Never joins the next letter</a:t>
            </a:r>
            <a:endParaRPr lang="en-US" sz="950" dirty="0"/>
          </a:p>
        </p:txBody>
      </p:sp>
      <p:sp>
        <p:nvSpPr>
          <p:cNvPr id="31" name="Shape 28"/>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د</a:t>
            </a:r>
            <a:endParaRPr lang="ar-SA" sz="1800" dirty="0"/>
          </a:p>
        </p:txBody>
      </p:sp>
      <p:sp>
        <p:nvSpPr>
          <p:cNvPr id="33" name="Shape 30"/>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a:t>
            </a:r>
            <a:endParaRPr lang="ar-SA" sz="1800" dirty="0"/>
          </a:p>
        </p:txBody>
      </p:sp>
      <p:sp>
        <p:nvSpPr>
          <p:cNvPr id="35" name="Shape 32"/>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a:t>
            </a:r>
            <a:endParaRPr lang="ar-SA" sz="1800" dirty="0"/>
          </a:p>
        </p:txBody>
      </p:sp>
      <p:sp>
        <p:nvSpPr>
          <p:cNvPr id="37" name="Shape 34"/>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8" name="Text 35"/>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ز</a:t>
            </a:r>
            <a:endParaRPr lang="ar-SA" sz="1800" dirty="0"/>
          </a:p>
        </p:txBody>
      </p:sp>
      <p:sp>
        <p:nvSpPr>
          <p:cNvPr id="39" name="Shape 36"/>
          <p:cNvSpPr/>
          <p:nvPr/>
        </p:nvSpPr>
        <p:spPr>
          <a:xfrm>
            <a:off x="594360" y="4425696"/>
            <a:ext cx="5271516" cy="438912"/>
          </a:xfrm>
          <a:prstGeom prst="roundRect">
            <a:avLst>
              <a:gd name="adj" fmla="val 12500"/>
            </a:avLst>
          </a:prstGeom>
          <a:solidFill>
            <a:srgbClr val="FFF4DC"/>
          </a:solidFill>
          <a:ln w="9525">
            <a:solidFill>
              <a:srgbClr val="E6C98A"/>
            </a:solidFill>
            <a:prstDash val="solid"/>
          </a:ln>
        </p:spPr>
      </p:sp>
      <p:sp>
        <p:nvSpPr>
          <p:cNvPr id="40" name="Text 37"/>
          <p:cNvSpPr txBox="1"/>
          <p:nvPr/>
        </p:nvSpPr>
        <p:spPr>
          <a:xfrm>
            <a:off x="685800" y="4425696"/>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a:t>
            </a:r>
            <a:endParaRPr lang="ar-SA" sz="180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40</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مَدْ رَسَة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space inside a word?</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ب ي 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Should these letters join?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بَيْث</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Count the dots.</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40</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مَدْ رَسَة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مَدْرَسَة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 spaces inside a word: the breaks after </a:t>
            </a:r>
            <a:pPr algn="l" indent="0" marL="0">
              <a:buNone/>
            </a:pPr>
            <a:r>
              <a:rPr lang="ar-SA" altLang="en-US" sz="1500" b="1" dirty="0">
                <a:solidFill>
                  <a:srgbClr val="1B3B6F"/>
                </a:solidFill>
                <a:latin typeface="Amiri" pitchFamily="2" charset="-78"/>
                <a:cs typeface="Amiri" pitchFamily="2" charset="-78"/>
              </a:rPr>
              <a:t>د</a:t>
            </a:r>
            <a:pPr algn="l" indent="0" marL="0">
              <a:buNone/>
            </a:pPr>
            <a:r>
              <a:rPr lang="en-US" sz="1150" b="1" dirty="0">
                <a:solidFill>
                  <a:srgbClr val="1B3B6F"/>
                </a:solidFill>
                <a:latin typeface="Calibri" pitchFamily="34" charset="0"/>
                <a:cs typeface="Amiri" pitchFamily="2" charset="-78"/>
              </a:rPr>
              <a:t> and </a:t>
            </a:r>
            <a:pPr algn="l" indent="0" marL="0">
              <a:buNone/>
            </a:pPr>
            <a:r>
              <a:rPr lang="ar-SA" altLang="en-US" sz="1500" b="1" dirty="0">
                <a:solidFill>
                  <a:srgbClr val="1B3B6F"/>
                </a:solidFill>
                <a:latin typeface="Amiri" pitchFamily="2" charset="-78"/>
                <a:cs typeface="Amiri" pitchFamily="2" charset="-78"/>
              </a:rPr>
              <a:t>ر</a:t>
            </a:r>
            <a:pPr algn="l" indent="0" marL="0">
              <a:buNone/>
            </a:pPr>
            <a:r>
              <a:rPr lang="en-US" sz="1150" b="1" dirty="0">
                <a:solidFill>
                  <a:srgbClr val="1B3B6F"/>
                </a:solidFill>
                <a:latin typeface="Calibri" pitchFamily="34" charset="0"/>
                <a:cs typeface="Amiri" pitchFamily="2" charset="-78"/>
              </a:rPr>
              <a:t> happen by themselves.</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ب ي 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بَيْت</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Joining letters must join — write the word as one unit.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بَيْث</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بَيْت</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ت</a:t>
            </a:r>
            <a:pPr algn="l" indent="0" marL="0">
              <a:buNone/>
            </a:pPr>
            <a:r>
              <a:rPr lang="en-US" sz="1150" b="1" dirty="0">
                <a:solidFill>
                  <a:srgbClr val="1B3B6F"/>
                </a:solidFill>
                <a:latin typeface="Calibri" pitchFamily="34" charset="0"/>
                <a:cs typeface="Amiri" pitchFamily="2" charset="-78"/>
              </a:rPr>
              <a:t> has two dots; </a:t>
            </a:r>
            <a:pPr algn="l" indent="0" marL="0">
              <a:buNone/>
            </a:pPr>
            <a:r>
              <a:rPr lang="ar-SA" altLang="en-US" sz="1500" b="1" dirty="0">
                <a:solidFill>
                  <a:srgbClr val="1B3B6F"/>
                </a:solidFill>
                <a:latin typeface="Amiri" pitchFamily="2" charset="-78"/>
                <a:cs typeface="Amiri" pitchFamily="2" charset="-78"/>
              </a:rPr>
              <a:t>ث</a:t>
            </a:r>
            <a:pPr algn="l" indent="0" marL="0">
              <a:buNone/>
            </a:pPr>
            <a:r>
              <a:rPr lang="en-US" sz="1150" b="1" dirty="0">
                <a:solidFill>
                  <a:srgbClr val="1B3B6F"/>
                </a:solidFill>
                <a:latin typeface="Calibri" pitchFamily="34" charset="0"/>
                <a:cs typeface="Amiri" pitchFamily="2" charset="-78"/>
              </a:rPr>
              <a:t> has three.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40</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TEACHER-WRITTEN ON WEBSITE GAMES 2, 4 AND 6</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is MEDIAL?</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عـ</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ـع</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ـعـ</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are the breaks in </a:t>
            </a:r>
            <a:pPr algn="l" indent="0" marL="0">
              <a:buNone/>
            </a:pPr>
            <a:r>
              <a:rPr lang="ar-SA" altLang="en-US" sz="1650" b="1" dirty="0">
                <a:solidFill>
                  <a:srgbClr val="1B3B6F"/>
                </a:solidFill>
                <a:latin typeface="Amiri" pitchFamily="2" charset="-78"/>
                <a:cs typeface="Amiri" pitchFamily="2" charset="-78"/>
              </a:rPr>
              <a:t>مَدْرَسَة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a:t>
            </a:r>
            <a:pPr algn="l" indent="0" marL="0">
              <a:buNone/>
            </a:pPr>
            <a:r>
              <a:rPr lang="ar-SA" altLang="en-US" sz="1650" dirty="0">
                <a:solidFill>
                  <a:srgbClr val="1F2A37"/>
                </a:solidFill>
                <a:latin typeface="Amiri" pitchFamily="2" charset="-78"/>
                <a:cs typeface="Amiri" pitchFamily="2" charset="-78"/>
              </a:rPr>
              <a:t>م</a:t>
            </a:r>
            <a:endParaRPr lang="en-US" sz="12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a:t>
            </a:r>
            <a:pPr algn="l" indent="0" marL="0">
              <a:buNone/>
            </a:pPr>
            <a:r>
              <a:rPr lang="ar-SA" altLang="en-US" sz="1650" dirty="0">
                <a:solidFill>
                  <a:srgbClr val="1F2A37"/>
                </a:solidFill>
                <a:latin typeface="Amiri" pitchFamily="2" charset="-78"/>
                <a:cs typeface="Amiri" pitchFamily="2" charset="-78"/>
              </a:rPr>
              <a:t>د</a:t>
            </a:r>
            <a:pPr algn="l" indent="0" marL="0">
              <a:buNone/>
            </a:pPr>
            <a:r>
              <a:rPr lang="en-US" sz="1250" dirty="0">
                <a:solidFill>
                  <a:srgbClr val="1F2A37"/>
                </a:solidFill>
                <a:latin typeface="Calibri" pitchFamily="34" charset="0"/>
                <a:cs typeface="Amiri" pitchFamily="2" charset="-78"/>
              </a:rPr>
              <a:t> and after </a:t>
            </a:r>
            <a:pPr algn="l" indent="0" marL="0">
              <a:buNone/>
            </a:pPr>
            <a:r>
              <a:rPr lang="ar-SA" altLang="en-US" sz="1650" dirty="0">
                <a:solidFill>
                  <a:srgbClr val="1F2A37"/>
                </a:solidFill>
                <a:latin typeface="Amiri" pitchFamily="2" charset="-78"/>
                <a:cs typeface="Amiri" pitchFamily="2" charset="-78"/>
              </a:rPr>
              <a:t>ر</a:t>
            </a:r>
            <a:endParaRPr lang="en-US" sz="12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a:t>
            </a:r>
            <a:pPr algn="l" indent="0" marL="0">
              <a:buNone/>
            </a:pPr>
            <a:r>
              <a:rPr lang="ar-SA" altLang="en-US" sz="1650" dirty="0">
                <a:solidFill>
                  <a:srgbClr val="1F2A37"/>
                </a:solidFill>
                <a:latin typeface="Amiri" pitchFamily="2" charset="-78"/>
                <a:cs typeface="Amiri" pitchFamily="2" charset="-78"/>
              </a:rPr>
              <a:t>س</a:t>
            </a:r>
            <a:endParaRPr lang="en-US" sz="12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is the odd one out?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shares the same body?</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 ص</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 ف</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 ش</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40</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is MEDIAL?</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عـ</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ـع</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ـعـ</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Joined on both sides.</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are the breaks in </a:t>
            </a:r>
            <a:pPr algn="l" indent="0" marL="0">
              <a:buNone/>
            </a:pPr>
            <a:r>
              <a:rPr lang="ar-SA" altLang="en-US" sz="1650" b="1" dirty="0">
                <a:solidFill>
                  <a:srgbClr val="1B3B6F"/>
                </a:solidFill>
                <a:latin typeface="Amiri" pitchFamily="2" charset="-78"/>
                <a:cs typeface="Amiri" pitchFamily="2" charset="-78"/>
              </a:rPr>
              <a:t>مَدْرَسَة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 </a:t>
            </a:r>
            <a:pPr algn="l" indent="0" marL="0">
              <a:buNone/>
            </a:pPr>
            <a:r>
              <a:rPr lang="ar-SA" altLang="en-US" sz="1650" dirty="0">
                <a:solidFill>
                  <a:srgbClr val="9AA1AB"/>
                </a:solidFill>
                <a:latin typeface="Amiri" pitchFamily="2" charset="-78"/>
                <a:cs typeface="Amiri" pitchFamily="2" charset="-78"/>
              </a:rPr>
              <a:t>م</a:t>
            </a:r>
            <a:endParaRPr lang="en-US" sz="125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after </a:t>
            </a:r>
            <a:pPr algn="l" indent="0" marL="0">
              <a:buNone/>
            </a:pPr>
            <a:r>
              <a:rPr lang="ar-SA" altLang="en-US" sz="1650" b="1" dirty="0">
                <a:solidFill>
                  <a:srgbClr val="1F2A37"/>
                </a:solidFill>
                <a:latin typeface="Amiri" pitchFamily="2" charset="-78"/>
                <a:cs typeface="Amiri" pitchFamily="2" charset="-78"/>
              </a:rPr>
              <a:t>د</a:t>
            </a:r>
            <a:pPr algn="l" indent="0" marL="0">
              <a:buNone/>
            </a:pPr>
            <a:r>
              <a:rPr lang="en-US" sz="1250" b="1" dirty="0">
                <a:solidFill>
                  <a:srgbClr val="1F2A37"/>
                </a:solidFill>
                <a:latin typeface="Calibri" pitchFamily="34" charset="0"/>
                <a:cs typeface="Amiri" pitchFamily="2" charset="-78"/>
              </a:rPr>
              <a:t> and after </a:t>
            </a:r>
            <a:pPr algn="l" indent="0" marL="0">
              <a:buNone/>
            </a:pPr>
            <a:r>
              <a:rPr lang="ar-SA" altLang="en-US" sz="1650" b="1" dirty="0">
                <a:solidFill>
                  <a:srgbClr val="1F2A37"/>
                </a:solidFill>
                <a:latin typeface="Amiri" pitchFamily="2" charset="-78"/>
                <a:cs typeface="Amiri" pitchFamily="2" charset="-78"/>
              </a:rPr>
              <a:t>ر</a:t>
            </a:r>
            <a:endParaRPr lang="en-US" sz="125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 </a:t>
            </a:r>
            <a:pPr algn="l" indent="0" marL="0">
              <a:buNone/>
            </a:pPr>
            <a:r>
              <a:rPr lang="ar-SA" altLang="en-US" sz="1650" dirty="0">
                <a:solidFill>
                  <a:srgbClr val="9AA1AB"/>
                </a:solidFill>
                <a:latin typeface="Amiri" pitchFamily="2" charset="-78"/>
                <a:cs typeface="Amiri" pitchFamily="2" charset="-78"/>
              </a:rPr>
              <a:t>س</a:t>
            </a:r>
            <a:endParaRPr lang="en-US" sz="125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Two forward non-connectors.</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is the odd one out?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ز</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ز</a:t>
            </a:r>
            <a:pPr algn="l" indent="0" marL="0">
              <a:buNone/>
            </a:pPr>
            <a:r>
              <a:rPr lang="en-US" sz="1050" i="1" dirty="0">
                <a:solidFill>
                  <a:srgbClr val="8A6D1E"/>
                </a:solidFill>
                <a:latin typeface="Calibri" pitchFamily="34" charset="0"/>
                <a:cs typeface="Amiri" pitchFamily="2" charset="-78"/>
              </a:rPr>
              <a:t> never joins forward; </a:t>
            </a:r>
            <a:pPr algn="l" indent="0" marL="0">
              <a:buNone/>
            </a:pPr>
            <a:r>
              <a:rPr lang="ar-SA" altLang="en-US" sz="1350" dirty="0">
                <a:solidFill>
                  <a:srgbClr val="8A6D1E"/>
                </a:solidFill>
                <a:latin typeface="Amiri" pitchFamily="2" charset="-78"/>
                <a:cs typeface="Amiri" pitchFamily="2" charset="-78"/>
              </a:rPr>
              <a:t>ن</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cs typeface="Amiri" pitchFamily="2" charset="-78"/>
              </a:rPr>
              <a:t>ك</a:t>
            </a:r>
            <a:pPr algn="l" indent="0" marL="0">
              <a:buNone/>
            </a:pPr>
            <a:r>
              <a:rPr lang="en-US" sz="1050" i="1" dirty="0">
                <a:solidFill>
                  <a:srgbClr val="8A6D1E"/>
                </a:solidFill>
                <a:latin typeface="Calibri" pitchFamily="34" charset="0"/>
                <a:cs typeface="Amiri" pitchFamily="2" charset="-78"/>
              </a:rPr>
              <a:t> do.</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shares the same body?</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 ص</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 ف</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 ش</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Shīn is Sīn with three dots above.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40</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 AND NOTICE · WEBSITE READING TASK “LETTER HUNT”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Letter hunt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buNone/>
            </a:pPr>
            <a:r>
              <a:rPr lang="ar-SA" altLang="en-US" sz="4000" dirty="0">
                <a:solidFill>
                  <a:srgbClr val="1F2A37"/>
                </a:solidFill>
                <a:latin typeface="Amiri" pitchFamily="2" charset="-78"/>
                <a:cs typeface="Amiri" pitchFamily="2" charset="-78"/>
              </a:rPr>
              <a:t>مَدْرَسَةٌ · بَيْتٌ · زَهْرَةٌ · كِتَابٌ · وَلَدٌ · قَمَرٌ</a:t>
            </a:r>
            <a:endParaRPr lang="ar-SA" sz="40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مَدْرَسَةٌ</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school</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بَيْتٌ</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house</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زَهْرَةٌ</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flower</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كِتَابٌ</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book</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وَلَدٌ</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boy</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قَمَرٌ</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moon</a:t>
            </a:r>
            <a:endParaRPr lang="en-US" sz="105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40</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NO break?</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وَلَدٌ</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زَهْرَةٌ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cs typeface="Amiri" pitchFamily="2" charset="-78"/>
              </a:rPr>
              <a:t>وَلَدٌ</a:t>
            </a:r>
            <a:pPr algn="l" indent="0" marL="0">
              <a:buNone/>
            </a:pPr>
            <a:r>
              <a:rPr lang="en-US" sz="1250" b="1" dirty="0">
                <a:solidFill>
                  <a:srgbClr val="1B3B6F"/>
                </a:solidFill>
                <a:latin typeface="Calibri" pitchFamily="34" charset="0"/>
                <a:cs typeface="Amiri" pitchFamily="2" charset="-78"/>
              </a:rPr>
              <a:t>, which letter causes the break?</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TWO breaks?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زَهْرَةٌ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قَمَرٌ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بَيْتٌ</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cs typeface="Amiri" pitchFamily="2" charset="-78"/>
              </a:rPr>
              <a:t>كِتَابٌ</a:t>
            </a:r>
            <a:pPr algn="l" indent="0" marL="0">
              <a:buNone/>
            </a:pPr>
            <a:r>
              <a:rPr lang="en-US" sz="1250" b="1" dirty="0">
                <a:solidFill>
                  <a:srgbClr val="1B3B6F"/>
                </a:solidFill>
                <a:latin typeface="Calibri" pitchFamily="34" charset="0"/>
                <a:cs typeface="Amiri" pitchFamily="2" charset="-78"/>
              </a:rPr>
              <a:t>, where is the break?</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a:t>
            </a:r>
            <a:pPr algn="l" indent="0" marL="0">
              <a:buNone/>
            </a:pPr>
            <a:r>
              <a:rPr lang="ar-SA" altLang="en-US" sz="1650" dirty="0">
                <a:solidFill>
                  <a:srgbClr val="1F2A37"/>
                </a:solidFill>
                <a:latin typeface="Amiri" pitchFamily="2" charset="-78"/>
                <a:cs typeface="Amiri" pitchFamily="2" charset="-78"/>
              </a:rPr>
              <a:t>ك</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a:t>
            </a:r>
            <a:pPr algn="l" indent="0" marL="0">
              <a:buNone/>
            </a:pPr>
            <a:r>
              <a:rPr lang="ar-SA" altLang="en-US" sz="1650" dirty="0">
                <a:solidFill>
                  <a:srgbClr val="1F2A37"/>
                </a:solidFill>
                <a:latin typeface="Amiri" pitchFamily="2" charset="-78"/>
                <a:cs typeface="Amiri" pitchFamily="2" charset="-78"/>
              </a:rPr>
              <a:t>ا</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a:t>
            </a:r>
            <a:pPr algn="l" indent="0" marL="0">
              <a:buNone/>
            </a:pPr>
            <a:r>
              <a:rPr lang="ar-SA" altLang="en-US" sz="1650" dirty="0">
                <a:solidFill>
                  <a:srgbClr val="1F2A37"/>
                </a:solidFill>
                <a:latin typeface="Amiri" pitchFamily="2" charset="-78"/>
                <a:cs typeface="Amiri" pitchFamily="2" charset="-78"/>
              </a:rPr>
              <a:t>ت</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lnSpc>
                <a:spcPct val="115000"/>
              </a:lnSpc>
              <a:buNone/>
            </a:pPr>
            <a:r>
              <a:rPr lang="en-US" sz="1250" dirty="0">
                <a:solidFill>
                  <a:srgbClr val="1F2A37"/>
                </a:solidFill>
                <a:latin typeface="Calibri" pitchFamily="34" charset="0"/>
                <a:cs typeface="Amiri" pitchFamily="2" charset="-78"/>
              </a:rPr>
              <a:t>1. Find the six non-connectors: </a:t>
            </a:r>
            <a:pPr algn="l" indent="0" marL="0">
              <a:lnSpc>
                <a:spcPct val="115000"/>
              </a:lnSpc>
              <a:buNone/>
            </a:pPr>
            <a:r>
              <a:rPr lang="ar-SA" altLang="en-US" sz="1650" dirty="0">
                <a:solidFill>
                  <a:srgbClr val="1F2A37"/>
                </a:solidFill>
                <a:latin typeface="Amiri" pitchFamily="2" charset="-78"/>
                <a:cs typeface="Amiri" pitchFamily="2" charset="-78"/>
              </a:rPr>
              <a:t>ا د ذ ر ز و</a:t>
            </a:r>
            <a:pPr algn="l" indent="0" marL="0">
              <a:lnSpc>
                <a:spcPct val="115000"/>
              </a:lnSpc>
              <a:buNone/>
            </a:pPr>
            <a:r>
              <a:rPr lang="en-US" sz="1250" dirty="0">
                <a:solidFill>
                  <a:srgbClr val="1F2A37"/>
                </a:solidFill>
                <a:latin typeface="Calibri" pitchFamily="34" charset="0"/>
                <a:cs typeface="Amiri" pitchFamily="2" charset="-78"/>
              </a:rPr>
              <a:t>.</a:t>
            </a:r>
            <a:endParaRPr lang="en-US" sz="1250" dirty="0"/>
          </a:p>
          <a:p>
            <a:pPr algn="l" indent="0" marL="0">
              <a:lnSpc>
                <a:spcPct val="115000"/>
              </a:lnSpc>
              <a:buNone/>
            </a:pPr>
            <a:r>
              <a:rPr lang="en-US" sz="1250" dirty="0">
                <a:solidFill>
                  <a:srgbClr val="1F2A37"/>
                </a:solidFill>
                <a:latin typeface="Calibri" pitchFamily="34" charset="0"/>
                <a:cs typeface="Amiri" pitchFamily="2" charset="-78"/>
              </a:rPr>
              <a:t>2. The NEXT letter starts a new shape.</a:t>
            </a:r>
            <a:endParaRPr lang="en-US" sz="1250" dirty="0"/>
          </a:p>
          <a:p>
            <a:pPr algn="l" indent="0" marL="0">
              <a:lnSpc>
                <a:spcPct val="115000"/>
              </a:lnSpc>
              <a:buNone/>
            </a:pPr>
            <a:r>
              <a:rPr lang="en-US" sz="1250" dirty="0">
                <a:solidFill>
                  <a:srgbClr val="1F2A37"/>
                </a:solidFill>
                <a:latin typeface="Calibri" pitchFamily="34" charset="0"/>
                <a:cs typeface="Amiri" pitchFamily="2" charset="-78"/>
              </a:rPr>
              <a:t>3. Count the breaks.</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40</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NO break?</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وَلَدٌ</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بَيْتٌ</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زَهْرَةٌ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All three letters join.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cs typeface="Amiri" pitchFamily="2" charset="-78"/>
              </a:rPr>
              <a:t>وَلَدٌ</a:t>
            </a:r>
            <a:pPr algn="l" indent="0" marL="0">
              <a:buNone/>
            </a:pPr>
            <a:r>
              <a:rPr lang="en-US" sz="1250" b="1" dirty="0">
                <a:solidFill>
                  <a:srgbClr val="1B3B6F"/>
                </a:solidFill>
                <a:latin typeface="Calibri" pitchFamily="34" charset="0"/>
                <a:cs typeface="Amiri" pitchFamily="2" charset="-78"/>
              </a:rPr>
              <a:t>, which letter causes the break?</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و</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Wāw does not connect forward.</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TWO breaks?</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زَهْرَةٌ</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قَمَرٌ</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بَيْتٌ</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ز</a:t>
            </a:r>
            <a:pPr algn="l" indent="0" marL="0">
              <a:buNone/>
            </a:pPr>
            <a:r>
              <a:rPr lang="en-US" sz="1050" i="1" dirty="0">
                <a:solidFill>
                  <a:srgbClr val="8A6D1E"/>
                </a:solidFill>
                <a:latin typeface="Calibri" pitchFamily="34" charset="0"/>
                <a:cs typeface="Amiri" pitchFamily="2" charset="-78"/>
              </a:rPr>
              <a:t> and after </a:t>
            </a:r>
            <a:pPr algn="l" indent="0" marL="0">
              <a:buNone/>
            </a:pPr>
            <a:r>
              <a:rPr lang="ar-SA" altLang="en-US" sz="1350" dirty="0">
                <a:solidFill>
                  <a:srgbClr val="8A6D1E"/>
                </a:solidFill>
                <a:latin typeface="Amiri" pitchFamily="2" charset="-78"/>
                <a:cs typeface="Amiri" pitchFamily="2" charset="-78"/>
              </a:rPr>
              <a:t>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cs typeface="Amiri" pitchFamily="2" charset="-78"/>
              </a:rPr>
              <a:t>كِتَابٌ</a:t>
            </a:r>
            <a:pPr algn="l" indent="0" marL="0">
              <a:buNone/>
            </a:pPr>
            <a:r>
              <a:rPr lang="en-US" sz="1250" b="1" dirty="0">
                <a:solidFill>
                  <a:srgbClr val="1B3B6F"/>
                </a:solidFill>
                <a:latin typeface="Calibri" pitchFamily="34" charset="0"/>
                <a:cs typeface="Amiri" pitchFamily="2" charset="-78"/>
              </a:rPr>
              <a:t>, where is the break?</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 </a:t>
            </a:r>
            <a:pPr algn="l" indent="0" marL="0">
              <a:buNone/>
            </a:pPr>
            <a:r>
              <a:rPr lang="ar-SA" altLang="en-US" sz="1650" dirty="0">
                <a:solidFill>
                  <a:srgbClr val="9AA1AB"/>
                </a:solidFill>
                <a:latin typeface="Amiri" pitchFamily="2" charset="-78"/>
                <a:cs typeface="Amiri" pitchFamily="2" charset="-78"/>
              </a:rPr>
              <a:t>ك</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after </a:t>
            </a:r>
            <a:pPr algn="l" indent="0" marL="0">
              <a:buNone/>
            </a:pPr>
            <a:r>
              <a:rPr lang="ar-SA" altLang="en-US" sz="1650" b="1" dirty="0">
                <a:solidFill>
                  <a:srgbClr val="1F2A37"/>
                </a:solidFill>
                <a:latin typeface="Amiri" pitchFamily="2" charset="-78"/>
                <a:cs typeface="Amiri" pitchFamily="2" charset="-78"/>
              </a:rPr>
              <a:t>ا</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 </a:t>
            </a:r>
            <a:pPr algn="l" indent="0" marL="0">
              <a:buNone/>
            </a:pPr>
            <a:r>
              <a:rPr lang="ar-SA" altLang="en-US" sz="1650" dirty="0">
                <a:solidFill>
                  <a:srgbClr val="9AA1AB"/>
                </a:solidFill>
                <a:latin typeface="Amiri" pitchFamily="2" charset="-78"/>
                <a:cs typeface="Amiri" pitchFamily="2" charset="-78"/>
              </a:rPr>
              <a:t>ت</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Alif never joins forward.</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lnSpc>
                <a:spcPct val="115000"/>
              </a:lnSpc>
              <a:buNone/>
            </a:pPr>
            <a:r>
              <a:rPr lang="en-US" sz="1250" dirty="0">
                <a:solidFill>
                  <a:srgbClr val="1F2A37"/>
                </a:solidFill>
                <a:latin typeface="Calibri" pitchFamily="34" charset="0"/>
                <a:cs typeface="Amiri" pitchFamily="2" charset="-78"/>
              </a:rPr>
              <a:t>1. Find the six non-connectors: </a:t>
            </a:r>
            <a:pPr algn="l" indent="0" marL="0">
              <a:lnSpc>
                <a:spcPct val="115000"/>
              </a:lnSpc>
              <a:buNone/>
            </a:pPr>
            <a:r>
              <a:rPr lang="ar-SA" altLang="en-US" sz="1650" dirty="0">
                <a:solidFill>
                  <a:srgbClr val="1F2A37"/>
                </a:solidFill>
                <a:latin typeface="Amiri" pitchFamily="2" charset="-78"/>
                <a:cs typeface="Amiri" pitchFamily="2" charset="-78"/>
              </a:rPr>
              <a:t>ا د ذ ر ز و</a:t>
            </a:r>
            <a:pPr algn="l" indent="0" marL="0">
              <a:lnSpc>
                <a:spcPct val="115000"/>
              </a:lnSpc>
              <a:buNone/>
            </a:pPr>
            <a:r>
              <a:rPr lang="en-US" sz="1250" dirty="0">
                <a:solidFill>
                  <a:srgbClr val="1F2A37"/>
                </a:solidFill>
                <a:latin typeface="Calibri" pitchFamily="34" charset="0"/>
                <a:cs typeface="Amiri" pitchFamily="2" charset="-78"/>
              </a:rPr>
              <a:t>.</a:t>
            </a:r>
            <a:endParaRPr lang="en-US" sz="1250" dirty="0"/>
          </a:p>
          <a:p>
            <a:pPr algn="l" indent="0" marL="0">
              <a:lnSpc>
                <a:spcPct val="115000"/>
              </a:lnSpc>
              <a:buNone/>
            </a:pPr>
            <a:r>
              <a:rPr lang="en-US" sz="1250" dirty="0">
                <a:solidFill>
                  <a:srgbClr val="1F2A37"/>
                </a:solidFill>
                <a:latin typeface="Calibri" pitchFamily="34" charset="0"/>
                <a:cs typeface="Amiri" pitchFamily="2" charset="-78"/>
              </a:rPr>
              <a:t>2. The NEXT letter starts a new shape.</a:t>
            </a:r>
            <a:endParaRPr lang="en-US" sz="1250" dirty="0"/>
          </a:p>
          <a:p>
            <a:pPr algn="l" indent="0" marL="0">
              <a:lnSpc>
                <a:spcPct val="115000"/>
              </a:lnSpc>
              <a:buNone/>
            </a:pPr>
            <a:r>
              <a:rPr lang="en-US" sz="1250" dirty="0">
                <a:solidFill>
                  <a:srgbClr val="1F2A37"/>
                </a:solidFill>
                <a:latin typeface="Calibri" pitchFamily="34" charset="0"/>
                <a:cs typeface="Amiri" pitchFamily="2" charset="-78"/>
              </a:rPr>
              <a:t>3. Count the breaks.</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40</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explain the join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اسْمُ هٰذَا الْحَرْفِ؟</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يَتَّصِلُ هٰذَا الْحَرْفُ بِمَا بَعْدَهُ؟</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لِمَاذَا تَنْقَطِعُ الْكَلِمَةُ هُنَا؟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هٰذَا حَرْفُ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حَرْفُ ___ يَتَّصِلُ بِمَا بَعْدَهُ.</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cs typeface="Amiri" pitchFamily="2" charset="-78"/>
              </a:rPr>
              <a:t>تَنْقَطِعُ الْكَلِمَةُ بَعْدَ ___ لِأَنَّهُ لَا يَتَّصِلُ.</a:t>
            </a:r>
            <a:endParaRPr lang="ar-SA" sz="15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 اسْمُ هٰذَا الْحَرْفِ؟</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this letter called?</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هٰذَا حَرْفُ الدَّالِ، وَهُوَ لَا يَتَّصِلُ بِمَا بَعْدَهُ.</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This is dāl; it does not join the next letter.</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40</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8 words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Copy–cover–write–check: eight words from the lesson.</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Copy · cover · write from memory · check every join. Circle each non-connector.</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eight words: one fully connected, two with one break, one with two breaks.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Use the word bank. Mark every break with a small line.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000" b="1" dirty="0">
                <a:solidFill>
                  <a:srgbClr val="B83227"/>
                </a:solidFill>
                <a:latin typeface="Cambria" pitchFamily="34" charset="0"/>
                <a:cs typeface="Amiri" pitchFamily="2" charset="-78"/>
              </a:rPr>
              <a:t>8 words + 3 sentences</a:t>
            </a:r>
            <a:endParaRPr lang="en-US" sz="20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The website script challenge, then explain three breaks in a sentence each.</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At least six letter families. Try one unvowelled word.</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40</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كَتَبَ · ______</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fully joined word</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وَرَقَةٌ · ______</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word with one break</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زَهْرَةٌ · ______</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word with two breaks</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شَمْسٌ · ______</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word with a new family</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بَيْتٌ · ______</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house</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كَتَبَ · ______</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he wrote</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وَلَدٌ · ______</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a boy</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مَدْرَسَةٌ · ______</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a school</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بَيْتٌ  ·  كَتَبَ  ·  قَلَمٌ  ·  شَمْسٌ  ·  وَلَدٌ  ·  وَرَقَةٌ  ·  بَابٌ  ·  زَهْرَةٌ  ·  مَدْرَسَةٌ  ·  دَرْسٌ  ·  عَيْنٌ  ·  خُبْزٌ</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40</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Script challenge (website): write eight words, then explain three of the breaks.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fully connected word.</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words with one break.</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word with two breaks.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six different letter families.</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dot clear and in the right place.</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WORD BANK — FROM THE WEBSITE EXAMPLES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كَتَبَ</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wrote — fully joined</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وَرَقَةٌ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paper — break after </a:t>
            </a:r>
            <a:pPr algn="r" indent="0" marL="0">
              <a:buNone/>
            </a:pPr>
            <a:r>
              <a:rPr lang="ar-SA" altLang="en-US" sz="1350" dirty="0">
                <a:solidFill>
                  <a:srgbClr val="5A6472"/>
                </a:solidFill>
                <a:latin typeface="Amiri" pitchFamily="2" charset="-78"/>
                <a:cs typeface="Amiri" pitchFamily="2" charset="-78"/>
              </a:rPr>
              <a:t>و</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مَدْرَسَةٌ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school — two breaks</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قُرْآنٌ</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Qurʾān — breaks after </a:t>
            </a:r>
            <a:pPr algn="r" indent="0" marL="0">
              <a:buNone/>
            </a:pPr>
            <a:r>
              <a:rPr lang="ar-SA" altLang="en-US" sz="1350" dirty="0">
                <a:solidFill>
                  <a:srgbClr val="5A6472"/>
                </a:solidFill>
                <a:latin typeface="Amiri" pitchFamily="2" charset="-78"/>
                <a:cs typeface="Amiri" pitchFamily="2" charset="-78"/>
              </a:rPr>
              <a:t>ر</a:t>
            </a:r>
            <a:pPr algn="r" indent="0" marL="0">
              <a:buNone/>
            </a:pPr>
            <a:r>
              <a:rPr lang="en-US" sz="1050" i="1" dirty="0">
                <a:solidFill>
                  <a:srgbClr val="5A6472"/>
                </a:solidFill>
                <a:latin typeface="Calibri" pitchFamily="34" charset="0"/>
                <a:cs typeface="Amiri" pitchFamily="2" charset="-78"/>
              </a:rPr>
              <a:t> and </a:t>
            </a:r>
            <a:pPr algn="r" indent="0" marL="0">
              <a:buNone/>
            </a:pPr>
            <a:r>
              <a:rPr lang="ar-SA" altLang="en-US" sz="1350" dirty="0">
                <a:solidFill>
                  <a:srgbClr val="5A6472"/>
                </a:solidFill>
                <a:latin typeface="Amiri" pitchFamily="2" charset="-78"/>
                <a:cs typeface="Amiri" pitchFamily="2" charset="-78"/>
              </a:rPr>
              <a:t>آ</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شَمْسٌ</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sun — Sīn family</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خُبْزٌ</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bread — Jīm family</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40</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buNone/>
            </a:pPr>
            <a:r>
              <a:rPr lang="ar-SA" altLang="en-US" sz="2600" dirty="0">
                <a:solidFill>
                  <a:srgbClr val="1F2A37"/>
                </a:solidFill>
                <a:latin typeface="Amiri" pitchFamily="2" charset="-78"/>
                <a:cs typeface="Amiri" pitchFamily="2" charset="-78"/>
              </a:rPr>
              <a:t>كَتَبَ · شَمْسٌ · وَرَقَةٌ · وَلَدٌ · زَهْرَةٌ · مَدْرَسَةٌ · خُبْزٌ · قَلَمٌ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 wrote · sun · paper · boy · flower · school · bread · pen — </a:t>
            </a:r>
            <a:pPr algn="l" indent="0" marL="0">
              <a:buNone/>
            </a:pPr>
            <a:r>
              <a:rPr lang="ar-SA" altLang="en-US" sz="1500" dirty="0">
                <a:solidFill>
                  <a:srgbClr val="5A6472"/>
                </a:solidFill>
                <a:latin typeface="Amiri" pitchFamily="2" charset="-78"/>
                <a:cs typeface="Amiri" pitchFamily="2" charset="-78"/>
              </a:rPr>
              <a:t>كَتَبَ</a:t>
            </a:r>
            <a:pPr algn="l" indent="0" marL="0">
              <a:buNone/>
            </a:pPr>
            <a:r>
              <a:rPr lang="en-US" sz="1150" i="1" dirty="0">
                <a:solidFill>
                  <a:srgbClr val="5A6472"/>
                </a:solidFill>
                <a:latin typeface="Calibri" pitchFamily="34" charset="0"/>
                <a:cs typeface="Amiri" pitchFamily="2" charset="-78"/>
              </a:rPr>
              <a:t> and </a:t>
            </a:r>
            <a:pPr algn="l" indent="0" marL="0">
              <a:buNone/>
            </a:pPr>
            <a:r>
              <a:rPr lang="ar-SA" altLang="en-US" sz="1500" dirty="0">
                <a:solidFill>
                  <a:srgbClr val="5A6472"/>
                </a:solidFill>
                <a:latin typeface="Amiri" pitchFamily="2" charset="-78"/>
                <a:cs typeface="Amiri" pitchFamily="2" charset="-78"/>
              </a:rPr>
              <a:t>شَمْسٌ</a:t>
            </a:r>
            <a:pPr algn="l" indent="0" marL="0">
              <a:buNone/>
            </a:pPr>
            <a:r>
              <a:rPr lang="en-US" sz="1150" i="1" dirty="0">
                <a:solidFill>
                  <a:srgbClr val="5A6472"/>
                </a:solidFill>
                <a:latin typeface="Calibri" pitchFamily="34" charset="0"/>
                <a:cs typeface="Amiri" pitchFamily="2" charset="-78"/>
              </a:rPr>
              <a:t> are fully joined; </a:t>
            </a:r>
            <a:pPr algn="l" indent="0" marL="0">
              <a:buNone/>
            </a:pPr>
            <a:r>
              <a:rPr lang="ar-SA" altLang="en-US" sz="1500" dirty="0">
                <a:solidFill>
                  <a:srgbClr val="5A6472"/>
                </a:solidFill>
                <a:latin typeface="Amiri" pitchFamily="2" charset="-78"/>
                <a:cs typeface="Amiri" pitchFamily="2" charset="-78"/>
              </a:rPr>
              <a:t>وَرَقَةٌ</a:t>
            </a:r>
            <a:pPr algn="l" indent="0" marL="0">
              <a:buNone/>
            </a:pPr>
            <a:r>
              <a:rPr lang="en-US" sz="1150" i="1" dirty="0">
                <a:solidFill>
                  <a:srgbClr val="5A6472"/>
                </a:solidFill>
                <a:latin typeface="Calibri" pitchFamily="34" charset="0"/>
                <a:cs typeface="Amiri" pitchFamily="2" charset="-78"/>
              </a:rPr>
              <a:t> and </a:t>
            </a:r>
            <a:pPr algn="l" indent="0" marL="0">
              <a:buNone/>
            </a:pPr>
            <a:r>
              <a:rPr lang="ar-SA" altLang="en-US" sz="1500" dirty="0">
                <a:solidFill>
                  <a:srgbClr val="5A6472"/>
                </a:solidFill>
                <a:latin typeface="Amiri" pitchFamily="2" charset="-78"/>
                <a:cs typeface="Amiri" pitchFamily="2" charset="-78"/>
              </a:rPr>
              <a:t>وَلَدٌ</a:t>
            </a:r>
            <a:pPr algn="l" indent="0" marL="0">
              <a:buNone/>
            </a:pPr>
            <a:r>
              <a:rPr lang="en-US" sz="1150" i="1" dirty="0">
                <a:solidFill>
                  <a:srgbClr val="5A6472"/>
                </a:solidFill>
                <a:latin typeface="Calibri" pitchFamily="34" charset="0"/>
                <a:cs typeface="Amiri" pitchFamily="2" charset="-78"/>
              </a:rPr>
              <a:t> have one break (after </a:t>
            </a:r>
            <a:pPr algn="l" indent="0" marL="0">
              <a:buNone/>
            </a:pPr>
            <a:r>
              <a:rPr lang="ar-SA" altLang="en-US" sz="1500" dirty="0">
                <a:solidFill>
                  <a:srgbClr val="5A6472"/>
                </a:solidFill>
                <a:latin typeface="Amiri" pitchFamily="2" charset="-78"/>
                <a:cs typeface="Amiri" pitchFamily="2" charset="-78"/>
              </a:rPr>
              <a:t>و</a:t>
            </a:r>
            <a:pPr algn="l" indent="0" marL="0">
              <a:buNone/>
            </a:pPr>
            <a:r>
              <a:rPr lang="en-US" sz="1150" i="1" dirty="0">
                <a:solidFill>
                  <a:srgbClr val="5A6472"/>
                </a:solidFill>
                <a:latin typeface="Calibri" pitchFamily="34" charset="0"/>
                <a:cs typeface="Amiri" pitchFamily="2" charset="-78"/>
              </a:rPr>
              <a:t>); </a:t>
            </a:r>
            <a:pPr algn="l" indent="0" marL="0">
              <a:buNone/>
            </a:pPr>
            <a:r>
              <a:rPr lang="ar-SA" altLang="en-US" sz="1500" dirty="0">
                <a:solidFill>
                  <a:srgbClr val="5A6472"/>
                </a:solidFill>
                <a:latin typeface="Amiri" pitchFamily="2" charset="-78"/>
                <a:cs typeface="Amiri" pitchFamily="2" charset="-78"/>
              </a:rPr>
              <a:t>زَهْرَةٌ</a:t>
            </a:r>
            <a:pPr algn="l" indent="0" marL="0">
              <a:buNone/>
            </a:pPr>
            <a:r>
              <a:rPr lang="en-US" sz="1150" i="1" dirty="0">
                <a:solidFill>
                  <a:srgbClr val="5A6472"/>
                </a:solidFill>
                <a:latin typeface="Calibri" pitchFamily="34" charset="0"/>
                <a:cs typeface="Amiri" pitchFamily="2" charset="-78"/>
              </a:rPr>
              <a:t> and </a:t>
            </a:r>
            <a:pPr algn="l" indent="0" marL="0">
              <a:buNone/>
            </a:pPr>
            <a:r>
              <a:rPr lang="ar-SA" altLang="en-US" sz="1500" dirty="0">
                <a:solidFill>
                  <a:srgbClr val="5A6472"/>
                </a:solidFill>
                <a:latin typeface="Amiri" pitchFamily="2" charset="-78"/>
                <a:cs typeface="Amiri" pitchFamily="2" charset="-78"/>
              </a:rPr>
              <a:t>مَدْرَسَةٌ</a:t>
            </a:r>
            <a:pPr algn="l" indent="0" marL="0">
              <a:buNone/>
            </a:pPr>
            <a:r>
              <a:rPr lang="en-US" sz="1150" i="1" dirty="0">
                <a:solidFill>
                  <a:srgbClr val="5A6472"/>
                </a:solidFill>
                <a:latin typeface="Calibri" pitchFamily="34" charset="0"/>
                <a:cs typeface="Amiri" pitchFamily="2" charset="-78"/>
              </a:rPr>
              <a:t> have two breaks; seven families are used.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fully joined</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one break</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breaks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six families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40</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name all 28 letters.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find the six letters that never join forward.</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words have no spaces inside them.</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dot is clear and in the right place.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explain every break in my words.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40</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FINAL form of </a:t>
            </a:r>
            <a:pPr algn="l" indent="0" marL="0">
              <a:buNone/>
            </a:pPr>
            <a:r>
              <a:rPr lang="ar-SA" altLang="en-US" sz="1650" b="1" dirty="0">
                <a:solidFill>
                  <a:srgbClr val="1B3B6F"/>
                </a:solidFill>
                <a:latin typeface="Amiri" pitchFamily="2" charset="-78"/>
                <a:cs typeface="Amiri" pitchFamily="2" charset="-78"/>
              </a:rPr>
              <a:t>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ـع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عـ</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ـعـ</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group contains ONLY non-connectors?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 ت ث 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 د ر و</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 ح خ ع</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fully connected?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وَرَقَةٌ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زَهْرَةٌ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40</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FINAL form of </a:t>
            </a:r>
            <a:pPr algn="l" indent="0" marL="0">
              <a:buNone/>
            </a:pPr>
            <a:r>
              <a:rPr lang="ar-SA" altLang="en-US" sz="1650" b="1" dirty="0">
                <a:solidFill>
                  <a:srgbClr val="1B3B6F"/>
                </a:solidFill>
                <a:latin typeface="Amiri" pitchFamily="2" charset="-78"/>
                <a:cs typeface="Amiri" pitchFamily="2" charset="-78"/>
              </a:rPr>
              <a:t>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ـع</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عـ</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ـعـ</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Joined from the right only.</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group contains ONLY non-connectors?</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ب ت ث 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 د ر و</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ج ح خ ع</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 د ذ ر ز و.</a:t>
            </a:r>
            <a:endParaRPr lang="ar-SA" sz="13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fully connected?</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كَتَبَ</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وَرَقَةٌ</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زَهْرَةٌ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 non-connector inside.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40</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EXTENSION · MASTERY CHECK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Mastery check</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اِخْتِبَارُ الإِتْقَانِ</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forward non-connectors are there?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six</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eight</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has two dots above?</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INITIAL form of </a:t>
            </a:r>
            <a:pPr algn="l" indent="0" marL="0">
              <a:buNone/>
            </a:pPr>
            <a:r>
              <a:rPr lang="ar-SA" altLang="en-US" sz="1650" b="1" dirty="0">
                <a:solidFill>
                  <a:srgbClr val="1B3B6F"/>
                </a:solidFill>
                <a:latin typeface="Amiri" pitchFamily="2" charset="-78"/>
                <a:cs typeface="Amiri" pitchFamily="2" charset="-78"/>
              </a:rPr>
              <a:t>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ـه</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ـهـ</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هـ</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cs typeface="Amiri" pitchFamily="2" charset="-78"/>
              </a:rPr>
              <a:t>زَارَ</a:t>
            </a:r>
            <a:pPr algn="l" indent="0" marL="0">
              <a:buNone/>
            </a:pPr>
            <a:r>
              <a:rPr lang="en-US" sz="1250" b="1" dirty="0">
                <a:solidFill>
                  <a:srgbClr val="1B3B6F"/>
                </a:solidFill>
                <a:latin typeface="Calibri" pitchFamily="34" charset="0"/>
                <a:cs typeface="Amiri" pitchFamily="2" charset="-78"/>
              </a:rPr>
              <a:t>, after which letters does the word break?</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a:t>
            </a:r>
            <a:pPr algn="l" indent="0" marL="0">
              <a:buNone/>
            </a:pPr>
            <a:r>
              <a:rPr lang="ar-SA" altLang="en-US" sz="1650" dirty="0">
                <a:solidFill>
                  <a:srgbClr val="1F2A37"/>
                </a:solidFill>
                <a:latin typeface="Amiri" pitchFamily="2" charset="-78"/>
                <a:cs typeface="Amiri" pitchFamily="2" charset="-78"/>
              </a:rPr>
              <a:t>ر</a:t>
            </a:r>
            <a:pPr algn="l" indent="0" marL="0">
              <a:buNone/>
            </a:pPr>
            <a:r>
              <a:rPr lang="en-US" sz="1250" dirty="0">
                <a:solidFill>
                  <a:srgbClr val="1F2A37"/>
                </a:solidFill>
                <a:latin typeface="Calibri" pitchFamily="34" charset="0"/>
                <a:cs typeface="Amiri" pitchFamily="2" charset="-78"/>
              </a:rPr>
              <a:t> only</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nowhere</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a:t>
            </a:r>
            <a:pPr algn="l" indent="0" marL="0">
              <a:buNone/>
            </a:pPr>
            <a:r>
              <a:rPr lang="ar-SA" altLang="en-US" sz="1650" dirty="0">
                <a:solidFill>
                  <a:srgbClr val="1F2A37"/>
                </a:solidFill>
                <a:latin typeface="Amiri" pitchFamily="2" charset="-78"/>
                <a:cs typeface="Amiri" pitchFamily="2" charset="-78"/>
              </a:rPr>
              <a:t>ز</a:t>
            </a:r>
            <a:pPr algn="l" indent="0" marL="0">
              <a:buNone/>
            </a:pPr>
            <a:r>
              <a:rPr lang="en-US" sz="1250" dirty="0">
                <a:solidFill>
                  <a:srgbClr val="1F2A37"/>
                </a:solidFill>
                <a:latin typeface="Calibri" pitchFamily="34" charset="0"/>
                <a:cs typeface="Amiri" pitchFamily="2" charset="-78"/>
              </a:rPr>
              <a:t> and after </a:t>
            </a:r>
            <a:pPr algn="l" indent="0" marL="0">
              <a:buNone/>
            </a:pPr>
            <a:r>
              <a:rPr lang="ar-SA" altLang="en-US" sz="1650" dirty="0">
                <a:solidFill>
                  <a:srgbClr val="1F2A37"/>
                </a:solidFill>
                <a:latin typeface="Amiri" pitchFamily="2" charset="-78"/>
                <a:cs typeface="Amiri" pitchFamily="2" charset="-78"/>
              </a:rPr>
              <a:t>ا</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NOT in the Jīm family?</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NEVER do inside a word?</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write dots</a:t>
            </a:r>
            <a:endParaRPr lang="en-US" sz="12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leave a space</a:t>
            </a:r>
            <a:endParaRPr lang="en-US" sz="12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start on the right</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40</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EXTENSION · MASTERY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Mastery check: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forward non-connectors are there?</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four</a:t>
            </a:r>
            <a:endParaRPr lang="en-US" sz="125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six</a:t>
            </a:r>
            <a:endParaRPr lang="en-US" sz="125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eight</a:t>
            </a:r>
            <a:endParaRPr lang="en-US" sz="125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 د ذ ر ز و.</a:t>
            </a:r>
            <a:endParaRPr lang="ar-SA" sz="13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has two dots above?</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ت</a:t>
            </a:r>
            <a:pPr algn="l" indent="0" marL="0">
              <a:buNone/>
            </a:pPr>
            <a:r>
              <a:rPr lang="en-US" sz="1050" i="1" dirty="0">
                <a:solidFill>
                  <a:srgbClr val="8A6D1E"/>
                </a:solidFill>
                <a:latin typeface="Calibri" pitchFamily="34" charset="0"/>
                <a:cs typeface="Amiri" pitchFamily="2" charset="-78"/>
              </a:rPr>
              <a:t>: two dots above.</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INITIAL form of </a:t>
            </a:r>
            <a:pPr algn="l" indent="0" marL="0">
              <a:buNone/>
            </a:pPr>
            <a:r>
              <a:rPr lang="ar-SA" altLang="en-US" sz="1650" b="1" dirty="0">
                <a:solidFill>
                  <a:srgbClr val="1B3B6F"/>
                </a:solidFill>
                <a:latin typeface="Amiri" pitchFamily="2" charset="-78"/>
                <a:cs typeface="Amiri" pitchFamily="2" charset="-78"/>
              </a:rPr>
              <a:t>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ـه</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ـهـ</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هـ</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Joining stroke on the left.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cs typeface="Amiri" pitchFamily="2" charset="-78"/>
              </a:rPr>
              <a:t>زَارَ</a:t>
            </a:r>
            <a:pPr algn="l" indent="0" marL="0">
              <a:buNone/>
            </a:pPr>
            <a:r>
              <a:rPr lang="en-US" sz="1250" b="1" dirty="0">
                <a:solidFill>
                  <a:srgbClr val="1B3B6F"/>
                </a:solidFill>
                <a:latin typeface="Calibri" pitchFamily="34" charset="0"/>
                <a:cs typeface="Amiri" pitchFamily="2" charset="-78"/>
              </a:rPr>
              <a:t>, after which letters does the word break?</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 </a:t>
            </a:r>
            <a:pPr algn="l" indent="0" marL="0">
              <a:buNone/>
            </a:pPr>
            <a:r>
              <a:rPr lang="ar-SA" altLang="en-US" sz="1650" dirty="0">
                <a:solidFill>
                  <a:srgbClr val="9AA1AB"/>
                </a:solidFill>
                <a:latin typeface="Amiri" pitchFamily="2" charset="-78"/>
                <a:cs typeface="Amiri" pitchFamily="2" charset="-78"/>
              </a:rPr>
              <a:t>ر</a:t>
            </a:r>
            <a:pPr algn="l" indent="0" marL="0">
              <a:buNone/>
            </a:pPr>
            <a:r>
              <a:rPr lang="en-US" sz="1250" dirty="0">
                <a:solidFill>
                  <a:srgbClr val="9AA1AB"/>
                </a:solidFill>
                <a:latin typeface="Calibri" pitchFamily="34" charset="0"/>
                <a:cs typeface="Amiri" pitchFamily="2" charset="-78"/>
              </a:rPr>
              <a:t> only</a:t>
            </a:r>
            <a:endParaRPr lang="en-US" sz="125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nowhere</a:t>
            </a:r>
            <a:endParaRPr lang="en-US" sz="125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after </a:t>
            </a:r>
            <a:pPr algn="l" indent="0" marL="0">
              <a:buNone/>
            </a:pPr>
            <a:r>
              <a:rPr lang="ar-SA" altLang="en-US" sz="1650" b="1" dirty="0">
                <a:solidFill>
                  <a:srgbClr val="1F2A37"/>
                </a:solidFill>
                <a:latin typeface="Amiri" pitchFamily="2" charset="-78"/>
                <a:cs typeface="Amiri" pitchFamily="2" charset="-78"/>
              </a:rPr>
              <a:t>ز</a:t>
            </a:r>
            <a:pPr algn="l" indent="0" marL="0">
              <a:buNone/>
            </a:pPr>
            <a:r>
              <a:rPr lang="en-US" sz="1250" b="1" dirty="0">
                <a:solidFill>
                  <a:srgbClr val="1F2A37"/>
                </a:solidFill>
                <a:latin typeface="Calibri" pitchFamily="34" charset="0"/>
                <a:cs typeface="Amiri" pitchFamily="2" charset="-78"/>
              </a:rPr>
              <a:t> and after </a:t>
            </a:r>
            <a:pPr algn="l" indent="0" marL="0">
              <a:buNone/>
            </a:pPr>
            <a:r>
              <a:rPr lang="ar-SA" altLang="en-US" sz="1650" b="1" dirty="0">
                <a:solidFill>
                  <a:srgbClr val="1F2A37"/>
                </a:solidFill>
                <a:latin typeface="Amiri" pitchFamily="2" charset="-78"/>
                <a:cs typeface="Amiri" pitchFamily="2" charset="-78"/>
              </a:rPr>
              <a:t>ا</a:t>
            </a:r>
            <a:endParaRPr lang="en-US" sz="125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ز</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cs typeface="Amiri" pitchFamily="2" charset="-78"/>
              </a:rPr>
              <a:t>ا</a:t>
            </a:r>
            <a:pPr algn="l" indent="0" marL="0">
              <a:buNone/>
            </a:pPr>
            <a:r>
              <a:rPr lang="en-US" sz="1050" i="1" dirty="0">
                <a:solidFill>
                  <a:srgbClr val="8A6D1E"/>
                </a:solidFill>
                <a:latin typeface="Calibri" pitchFamily="34" charset="0"/>
                <a:cs typeface="Amiri" pitchFamily="2" charset="-78"/>
              </a:rPr>
              <a:t> are non-connectors; </a:t>
            </a:r>
            <a:pPr algn="l" indent="0" marL="0">
              <a:buNone/>
            </a:pPr>
            <a:r>
              <a:rPr lang="ar-SA" altLang="en-US" sz="1350" dirty="0">
                <a:solidFill>
                  <a:srgbClr val="8A6D1E"/>
                </a:solidFill>
                <a:latin typeface="Amiri" pitchFamily="2" charset="-78"/>
                <a:cs typeface="Amiri" pitchFamily="2" charset="-78"/>
              </a:rPr>
              <a:t>ر</a:t>
            </a:r>
            <a:pPr algn="l" indent="0" marL="0">
              <a:buNone/>
            </a:pPr>
            <a:r>
              <a:rPr lang="en-US" sz="1050" i="1" dirty="0">
                <a:solidFill>
                  <a:srgbClr val="8A6D1E"/>
                </a:solidFill>
                <a:latin typeface="Calibri" pitchFamily="34" charset="0"/>
                <a:cs typeface="Amiri" pitchFamily="2" charset="-78"/>
              </a:rPr>
              <a:t> is the last letter.</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NOT in the Jīm family?</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ح</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خ</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ج ح خ</a:t>
            </a:r>
            <a:pPr algn="l" indent="0" marL="0">
              <a:buNone/>
            </a:pPr>
            <a:r>
              <a:rPr lang="en-US" sz="1050" i="1" dirty="0">
                <a:solidFill>
                  <a:srgbClr val="8A6D1E"/>
                </a:solidFill>
                <a:latin typeface="Calibri" pitchFamily="34" charset="0"/>
                <a:cs typeface="Amiri" pitchFamily="2" charset="-78"/>
              </a:rPr>
              <a:t> share one body.</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NEVER do inside a word?</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write dots</a:t>
            </a:r>
            <a:endParaRPr lang="en-US" sz="125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leave a space</a:t>
            </a:r>
            <a:endParaRPr lang="en-US" sz="125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start on the right</a:t>
            </a:r>
            <a:endParaRPr lang="en-US" sz="125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Breaks happen only after a non-connector.</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40</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GM-SCR-01 · Arabic Script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GM-SCR-02: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GM-SCR-02 · Sun and Moon Letters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الشَّمْسُ</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sun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الْقَمَرُ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moon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شَدَّةٌ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shadda (doubling)</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سُكُونٌ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sukūn (no vowel)</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أَدَاةُ التَّعْرِيفِ</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definite article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Say these aloud and listen to the lām: </a:t>
            </a:r>
            <a:pPr algn="l" indent="0" marL="0">
              <a:buNone/>
            </a:pPr>
            <a:r>
              <a:rPr lang="ar-SA" altLang="en-US" sz="1350" dirty="0">
                <a:solidFill>
                  <a:srgbClr val="1F2A37"/>
                </a:solidFill>
                <a:latin typeface="Amiri" pitchFamily="2" charset="-78"/>
                <a:cs typeface="Amiri" pitchFamily="2" charset="-78"/>
              </a:rPr>
              <a:t>الشَّمْسُ</a:t>
            </a:r>
            <a:pPr algn="l" indent="0" marL="0">
              <a:buNone/>
            </a:pPr>
            <a:r>
              <a:rPr lang="en-US" sz="1050" dirty="0">
                <a:solidFill>
                  <a:srgbClr val="1F2A37"/>
                </a:solidFill>
                <a:latin typeface="Calibri" pitchFamily="34" charset="0"/>
                <a:cs typeface="Amiri" pitchFamily="2" charset="-78"/>
              </a:rPr>
              <a:t> · </a:t>
            </a:r>
            <a:pPr algn="l" indent="0" marL="0">
              <a:buNone/>
            </a:pPr>
            <a:r>
              <a:rPr lang="ar-SA" altLang="en-US" sz="1350" dirty="0">
                <a:solidFill>
                  <a:srgbClr val="1F2A37"/>
                </a:solidFill>
                <a:latin typeface="Amiri" pitchFamily="2" charset="-78"/>
                <a:cs typeface="Amiri" pitchFamily="2" charset="-78"/>
              </a:rPr>
              <a:t>الْقَمَرُ</a:t>
            </a:r>
            <a:pPr algn="l" indent="0" marL="0">
              <a:buNone/>
            </a:pPr>
            <a:r>
              <a:rPr lang="en-US" sz="1050" dirty="0">
                <a:solidFill>
                  <a:srgbClr val="1F2A37"/>
                </a:solidFill>
                <a:latin typeface="Calibri" pitchFamily="34" charset="0"/>
                <a:cs typeface="Amiri" pitchFamily="2" charset="-78"/>
              </a:rPr>
              <a:t>. Which one do you hear “l” in?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الشَّمْسُ ← ______ · الْقَمَرُ ·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Copy the 28 letters in their four positions; learn the six non-connectors by heart.</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ten words and mark every break.</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Complete the website script challenge and play the 60-second Script Challenge game.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40</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GM-SCR-01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50" b="1" dirty="0">
                <a:solidFill>
                  <a:srgbClr val="FFFFFF"/>
                </a:solidFill>
                <a:latin typeface="Cambria" pitchFamily="34" charset="0"/>
                <a:cs typeface="Amiri" pitchFamily="2" charset="-78"/>
              </a:rPr>
              <a:t>GM-SCR-02 · Sun and Moon Letters</a:t>
            </a:r>
            <a:endParaRPr lang="en-US" sz="2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الْحُرُوفُ الشَّمْسِيَّةُ وَالْقَمَرِيَّةُ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one letter, four shapes · </a:t>
            </a:r>
            <a:pPr algn="l" indent="0" marL="0">
              <a:buNone/>
            </a:pPr>
            <a:r>
              <a:rPr lang="ar-SA" altLang="en-US" sz="1700" b="1" dirty="0">
                <a:solidFill>
                  <a:srgbClr val="FFFFFF"/>
                </a:solidFill>
                <a:latin typeface="Amiri" pitchFamily="2" charset="-78"/>
                <a:cs typeface="Amiri" pitchFamily="2" charset="-78"/>
              </a:rPr>
              <a:t>أ د ذ ر ز و</a:t>
            </a:r>
            <a:pPr algn="l" indent="0" marL="0">
              <a:buNone/>
            </a:pPr>
            <a:r>
              <a:rPr lang="en-US" sz="1300" b="1" dirty="0">
                <a:solidFill>
                  <a:srgbClr val="FFFFFF"/>
                </a:solidFill>
                <a:latin typeface="Calibri" pitchFamily="34" charset="0"/>
                <a:cs typeface="Amiri" pitchFamily="2" charset="-78"/>
              </a:rPr>
              <a:t> never join forward · no spaces inside a word · dots are part of the letter.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GM-SCR-01 · Letters and Letter Positions</dc:title>
  <dc:subject>PptxGenJS Presentation</dc:subject>
  <dc:creator>Al Madina Online School · Arabic Department</dc:creator>
  <cp:lastModifiedBy>Al Madina Online School · Arabic Department</cp:lastModifiedBy>
  <cp:revision>1</cp:revision>
  <dcterms:created xsi:type="dcterms:W3CDTF">2026-10-11T06:42:31Z</dcterms:created>
  <dcterms:modified xsi:type="dcterms:W3CDTF">2026-10-11T06:42:31Z</dcterms:modified>
</cp:coreProperties>
</file>