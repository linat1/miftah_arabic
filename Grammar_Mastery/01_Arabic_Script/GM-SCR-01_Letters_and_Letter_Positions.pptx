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GM-SCR-01 (“الحُرُوفُ العَرَبِيَّةُ وَأَشْكَالُهَا”). The website chapter “Script Mastery 01”: the 28-letter table, the four contextual positions, the joining rules and the six forward non-connectors, letter families, writing discipline, the letter hunt, sound-to-letter listening, explain-the-join speaking and the script challenge. The website checks this chapter through eight interactive games, so the Do Now, quick check, practice, exit ticket and mastery questions are teacher-written on the website content.
SUPPORT FOR THIS CLASS (Arabic not yet secure; mixed levels):
• Core: recognise the 28 letters and the four positions; find the six non-connectors. Develop: build and break words correctly. Stretch: explain every break, and read and copy short unvowelled words.
• URDU BRIDGE: Urdu uses the same joining system (and the same six non-connectors) — Urdu readers already know HOW letters join. The work today is the Arabic letter NAMES, the sounds Urdu does not have (ع ح ط ص ض ظ ق) and accurate writing.
• Teach shapes as a skeleton + joining strokes, never as four unrelated pictures (website rule).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the alphabet (letter count, direction, names and dots). Use it to spot students who still confuse dot patterns — they go on the Core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four shapes: find the skeleton, then look at the joining strokes on the right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“Four contextual positions”. Write ب in four positions on the whiteboard, slowly, saying the position name in English and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1/4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2/4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3/4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4/4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Connection test (website): at every boundary ask two questions — can the first letter connect forward? Can the next letter receive a connection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Quick game: say a family, students type the letter that has e.g. “two dots above”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Think aloud: “Can this letter connect forward? Can the next one receive it?” Then students copy the five words and draw a small line at every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2, 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“letter hunt”. Read it aloud once while students follow; then they hunt for today’s grammar.
Task: Website letter hunt: find every non-connector, circle letters in medial position, underline final letters, and explain the visible break in two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letter-hunt words (website answer: مَدْرَسَة breaks after د and ر; زَهْرَة after ز and ر; وَلَد after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“explain the join”. Sequence: ● 10s think → ↔ 45s rehearse aloud with mic muted → ◎ two named students on open mic (warned in advance) → + ? the class types one follow-up in chat → ↺ one student summarises.
Routes: Core uses the Core prompt and stem; Develop the Develop prompt; Stretch the last prompt.
Website task: choose three words and explain which letters connect, which letters break the sequence, and which letter is initial, medial or final. Core students may explain in English while pointing to the Arabic. Listening extension (website): say ten letter names twice — بَاءٌ · ثَاءٌ · خَاءٌ · ذَالٌ · شِينٌ · ضَادٌ · غَيْنٌ · قَافٌ · نُونٌ · يَاءٌ — students write the isolated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Script challenge: write eight words containing one fully connected word, two words with one break, one word with two breaks, and at least six different letter families.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script challenge,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(GM-SCR-02 · Sun and Moon Letters) will spend class time USING this language, so students prepare it tonight — short, simple, easy to access (school guidance: “Simple, Short, Interesting, Relevant, Easy to access”). The five words prepare GM-SCR-02 (website Script Mastery 02: sun and moon letters).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SCRIPT  ·  GM-SCR-01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GM-SCR-01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00" b="1" dirty="0">
                <a:solidFill>
                  <a:srgbClr val="FFFFFF"/>
                </a:solidFill>
                <a:latin typeface="Cambria" pitchFamily="34" charset="0"/>
                <a:ea typeface="Cambria" pitchFamily="34" charset="-122"/>
                <a:cs typeface="Cambria" pitchFamily="34" charset="-120"/>
              </a:rPr>
              <a:t>Letters and Letter Positions</a:t>
            </a:r>
            <a:endParaRPr lang="en-US" sz="3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الْعَرَبِيَّةُ وَأَشْكَالُهَا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Recognise all 28 letters in their four positions (</a:t>
            </a:r>
            <a:pPr algn="l" indent="0" marL="0">
              <a:buNone/>
            </a:pPr>
            <a:r>
              <a:rPr lang="ar-SA" altLang="en-US" sz="1800" dirty="0">
                <a:solidFill>
                  <a:srgbClr val="C6D2E6"/>
                </a:solidFill>
                <a:latin typeface="Amiri" pitchFamily="34" charset="0"/>
                <a:ea typeface="Amiri" pitchFamily="34" charset="-122"/>
                <a:cs typeface="Amiri" pitchFamily="34" charset="-120"/>
              </a:rPr>
              <a:t>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ـبـ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ـب</a:t>
            </a:r>
            <a:pPr algn="l" indent="0" marL="0">
              <a:buNone/>
            </a:pPr>
            <a:r>
              <a:rPr lang="en-US" sz="1400" dirty="0">
                <a:solidFill>
                  <a:srgbClr val="C6D2E6"/>
                </a:solidFill>
                <a:latin typeface="Calibri" pitchFamily="34" charset="0"/>
                <a:ea typeface="Calibri" pitchFamily="34" charset="-122"/>
                <a:cs typeface="Calibri" pitchFamily="34" charset="-120"/>
              </a:rPr>
              <a:t>), know the six letters that never join forward (</a:t>
            </a:r>
            <a:pPr algn="l" indent="0" marL="0">
              <a:buNone/>
            </a:pPr>
            <a:r>
              <a:rPr lang="ar-SA" altLang="en-US" sz="1800" dirty="0">
                <a:solidFill>
                  <a:srgbClr val="C6D2E6"/>
                </a:solidFill>
                <a:latin typeface="Amiri" pitchFamily="34" charset="0"/>
                <a:ea typeface="Amiri" pitchFamily="34" charset="-122"/>
                <a:cs typeface="Amiri" pitchFamily="34" charset="-120"/>
              </a:rPr>
              <a:t>ا د ذ ر ز و</a:t>
            </a:r>
            <a:pPr algn="l" indent="0" marL="0">
              <a:buNone/>
            </a:pPr>
            <a:r>
              <a:rPr lang="en-US" sz="1400" dirty="0">
                <a:solidFill>
                  <a:srgbClr val="C6D2E6"/>
                </a:solidFill>
                <a:latin typeface="Calibri" pitchFamily="34" charset="0"/>
                <a:ea typeface="Calibri" pitchFamily="34" charset="-122"/>
                <a:cs typeface="Calibri" pitchFamily="34" charset="-120"/>
              </a:rPr>
              <a:t>), explain exactly where a word breaks — and write connected words clearly.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GM-SCR-01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positions, all 28 letters, joining rules, the six non-connectors,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connectors and non-connectors, repair spacing and dot slips, find the breaks.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GM-SCR-02.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28</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is Arabic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 to right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top to bottom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word: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bayt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bint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nabt (plant)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28</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There are 28 letters (website table).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is Arabic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 to right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top to bottom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Begin on the right (website stroke discipline).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a:t>
            </a:r>
            <a:pPr algn="l" indent="0" marL="0">
              <a:buNone/>
            </a:pPr>
            <a:r>
              <a:rPr lang="en-US" sz="1050" i="1" dirty="0">
                <a:solidFill>
                  <a:srgbClr val="8A6D1E"/>
                </a:solidFill>
                <a:latin typeface="Calibri" pitchFamily="34" charset="0"/>
                <a:ea typeface="Calibri" pitchFamily="34" charset="-122"/>
                <a:cs typeface="Calibri" pitchFamily="34" charset="-120"/>
              </a:rPr>
              <a:t> = Mīm ·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 Nūn ·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 Lām.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one dot below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two dots above ·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one dot above.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word: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bayt (house)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bint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nabt (plant)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 bayt.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letter, four shapes: find the skeleton, then look at the joining strokes on the right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 بـ · ـبـ · ـب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all 28 Arabic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isolated, initial, medial and final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six letters that never join to the next letter.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where and why a word breaks, and write connected words clearly.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all 28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which position a letter is 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word with the right joins.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every break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WHY a word breaks at that point.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and copy short unvowelled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حُرُوفٌ</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مُنْفَصِلٌ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isolated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ḥar-fun mun-fa-ṣi-lun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stands alone: </a:t>
            </a:r>
            <a:pPr algn="l" indent="0" marL="0">
              <a:buNone/>
            </a:pPr>
            <a:r>
              <a:rPr lang="ar-SA" altLang="en-US" sz="1300" dirty="0">
                <a:solidFill>
                  <a:srgbClr val="8A6D1E"/>
                </a:solidFill>
                <a:latin typeface="Amiri" pitchFamily="34" charset="0"/>
                <a:ea typeface="Amiri" pitchFamily="34" charset="-122"/>
                <a:cs typeface="Amiri" pitchFamily="34" charset="-120"/>
              </a:rPr>
              <a:t>ب</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أَوَّلِ الْكَلِمَةِ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initial (at the start)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aw-wa-li al-ka-li-ma-ti</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بـ</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وَسَطِ الْكَلِمَةِ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medial (in the middle)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wa-sa-ṭi al-ka-li-ma-ti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ـبـ</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آخِرِ الْكَلِمَةِ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 (at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ā-khi-ri al-ka-li-ma-ti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ـب</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يَتَّصِلُ بِمَا بَعْدَهُ</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does not join the next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yat-ta-ṣi-lu bi-mā baʿ-da-hu</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 د ذ ر ز و</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عَائِلَةُ الْحُرُوفِ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letter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ʿā-ʾi-la-tu al-ḥu-rū-fi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same body, different dots: </a:t>
            </a:r>
            <a:pPr algn="l" indent="0" marL="0">
              <a:buNone/>
            </a:pPr>
            <a:r>
              <a:rPr lang="ar-SA" altLang="en-US" sz="1300" dirty="0">
                <a:solidFill>
                  <a:srgbClr val="8A6D1E"/>
                </a:solidFill>
                <a:latin typeface="Amiri" pitchFamily="34" charset="0"/>
                <a:ea typeface="Amiri" pitchFamily="34" charset="-122"/>
                <a:cs typeface="Amiri" pitchFamily="34" charset="-120"/>
              </a:rPr>
              <a:t>ب ت ث</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FOUR CONTEXTUAL POSITIONS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letter —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أَرْبَعَةُ أَشْكَالٍ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is written from right to left, and most letters JOIN to the letters around them.</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Isolated: the letter stands alone — </a:t>
            </a:r>
            <a:pPr algn="l" indent="0" marL="0">
              <a:buNone/>
            </a:pPr>
            <a:r>
              <a:rPr lang="ar-SA" altLang="en-US" sz="1700" dirty="0">
                <a:solidFill>
                  <a:srgbClr val="1F2A37"/>
                </a:solidFill>
                <a:latin typeface="Amiri" pitchFamily="34" charset="0"/>
                <a:ea typeface="Amiri" pitchFamily="34" charset="-122"/>
                <a:cs typeface="Amiri" pitchFamily="34" charset="-120"/>
              </a:rPr>
              <a:t>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Initial: it begins a joined sequence, so it has a joining stroke on the left — </a:t>
            </a:r>
            <a:pPr algn="l" indent="0" marL="0">
              <a:buNone/>
            </a:pPr>
            <a:r>
              <a:rPr lang="ar-SA" altLang="en-US" sz="1700" dirty="0">
                <a:solidFill>
                  <a:srgbClr val="1F2A37"/>
                </a:solidFill>
                <a:latin typeface="Amiri" pitchFamily="34" charset="0"/>
                <a:ea typeface="Amiri" pitchFamily="34" charset="-122"/>
                <a:cs typeface="Amiri" pitchFamily="34" charset="-120"/>
              </a:rPr>
              <a:t>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Medial: it joins on both sides — </a:t>
            </a:r>
            <a:pPr algn="l" indent="0" marL="0">
              <a:buNone/>
            </a:pPr>
            <a:r>
              <a:rPr lang="ar-SA" altLang="en-US" sz="1700" dirty="0">
                <a:solidFill>
                  <a:srgbClr val="1F2A37"/>
                </a:solidFill>
                <a:latin typeface="Amiri" pitchFamily="34" charset="0"/>
                <a:ea typeface="Amiri" pitchFamily="34" charset="-122"/>
                <a:cs typeface="Amiri" pitchFamily="34" charset="-120"/>
              </a:rPr>
              <a:t>ـبـ</a:t>
            </a:r>
            <a:pPr algn="l" indent="0" marL="0">
              <a:buNone/>
            </a:pPr>
            <a:r>
              <a:rPr lang="en-US" sz="1300" dirty="0">
                <a:solidFill>
                  <a:srgbClr val="1F2A37"/>
                </a:solidFill>
                <a:latin typeface="Calibri" pitchFamily="34" charset="0"/>
                <a:ea typeface="Calibri" pitchFamily="34" charset="-122"/>
                <a:cs typeface="Calibri" pitchFamily="34" charset="-120"/>
              </a:rPr>
              <a:t>. Final: it ends the sequence, joined only from the right — </a:t>
            </a:r>
            <a:pPr algn="l" indent="0" marL="0">
              <a:buNone/>
            </a:pPr>
            <a:r>
              <a:rPr lang="ar-SA" altLang="en-US" sz="1700" dirty="0">
                <a:solidFill>
                  <a:srgbClr val="1F2A37"/>
                </a:solidFill>
                <a:latin typeface="Amiri" pitchFamily="34" charset="0"/>
                <a:ea typeface="Amiri" pitchFamily="34" charset="-122"/>
                <a:cs typeface="Amiri" pitchFamily="34" charset="-120"/>
              </a:rPr>
              <a:t>ـب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Do not learn four unrelated pictures: find the letter’s skeleton (body + dots), then look at the joining strokes.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 · بـ · ـبـ · ـب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bāʾ in four positions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بـ + ـيـ + ـت = 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initial + medial + final = house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 · عـ · ـعـ · ـع</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ʿayn changes most: learn it carefully</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 · هـ · ـهـ · ـه</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hāʾ: four quite different shapes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Shape recognition rule (website): look for the letter’s basic skeleton, then notice which joining strokes appear on the right and on the left.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(1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(1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ـا</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ـا</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Alif</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بـ</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ـبـ</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ـب</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Bāʾ</a:t>
            </a:r>
            <a:endParaRPr lang="en-US" sz="1100" dirty="0"/>
          </a:p>
        </p:txBody>
      </p:sp>
      <p:sp>
        <p:nvSpPr>
          <p:cNvPr id="38" name="Shape 35"/>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9" name="Text 36"/>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a:t>
            </a:r>
            <a:endParaRPr lang="ar-SA" sz="2200" dirty="0"/>
          </a:p>
        </p:txBody>
      </p:sp>
      <p:sp>
        <p:nvSpPr>
          <p:cNvPr id="40" name="Text 37"/>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تـ</a:t>
            </a:r>
            <a:endParaRPr lang="ar-SA" sz="2200" dirty="0"/>
          </a:p>
        </p:txBody>
      </p:sp>
      <p:sp>
        <p:nvSpPr>
          <p:cNvPr id="41" name="Text 38"/>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ـتـ</a:t>
            </a:r>
            <a:endParaRPr lang="ar-SA" sz="2200" dirty="0"/>
          </a:p>
        </p:txBody>
      </p:sp>
      <p:sp>
        <p:nvSpPr>
          <p:cNvPr id="42" name="Text 39"/>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ـت</a:t>
            </a:r>
            <a:endParaRPr lang="ar-SA" sz="2200" dirty="0"/>
          </a:p>
        </p:txBody>
      </p:sp>
      <p:sp>
        <p:nvSpPr>
          <p:cNvPr id="43" name="Text 40"/>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4" name="Text 41"/>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Tāʾ</a:t>
            </a:r>
            <a:endParaRPr lang="en-US" sz="1100" dirty="0"/>
          </a:p>
        </p:txBody>
      </p:sp>
      <p:sp>
        <p:nvSpPr>
          <p:cNvPr id="45" name="Shape 4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a:t>
            </a:r>
            <a:endParaRPr lang="ar-SA" sz="2200" dirty="0"/>
          </a:p>
        </p:txBody>
      </p:sp>
      <p:sp>
        <p:nvSpPr>
          <p:cNvPr id="47" name="Text 44"/>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ثـ</a:t>
            </a:r>
            <a:endParaRPr lang="ar-SA" sz="2200" dirty="0"/>
          </a:p>
        </p:txBody>
      </p:sp>
      <p:sp>
        <p:nvSpPr>
          <p:cNvPr id="48" name="Text 45"/>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ـثـ</a:t>
            </a:r>
            <a:endParaRPr lang="ar-SA" sz="2200" dirty="0"/>
          </a:p>
        </p:txBody>
      </p:sp>
      <p:sp>
        <p:nvSpPr>
          <p:cNvPr id="49" name="Text 46"/>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ـث</a:t>
            </a:r>
            <a:endParaRPr lang="ar-SA" sz="2200" dirty="0"/>
          </a:p>
        </p:txBody>
      </p:sp>
      <p:sp>
        <p:nvSpPr>
          <p:cNvPr id="50" name="Text 47"/>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1" name="Text 48"/>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Thāʾ</a:t>
            </a:r>
            <a:endParaRPr lang="en-US" sz="1100" dirty="0"/>
          </a:p>
        </p:txBody>
      </p:sp>
      <p:sp>
        <p:nvSpPr>
          <p:cNvPr id="52" name="Shape 49"/>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3" name="Text 50"/>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54" name="Text 51"/>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جـ</a:t>
            </a:r>
            <a:endParaRPr lang="ar-SA" sz="2200" dirty="0"/>
          </a:p>
        </p:txBody>
      </p:sp>
      <p:sp>
        <p:nvSpPr>
          <p:cNvPr id="55" name="Text 52"/>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ـجـ</a:t>
            </a:r>
            <a:endParaRPr lang="ar-SA" sz="2200" dirty="0"/>
          </a:p>
        </p:txBody>
      </p:sp>
      <p:sp>
        <p:nvSpPr>
          <p:cNvPr id="56" name="Text 53"/>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ـج</a:t>
            </a:r>
            <a:endParaRPr lang="ar-SA" sz="2200" dirty="0"/>
          </a:p>
        </p:txBody>
      </p:sp>
      <p:sp>
        <p:nvSpPr>
          <p:cNvPr id="57" name="Text 54"/>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8" name="Text 55"/>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Jīm</a:t>
            </a:r>
            <a:endParaRPr lang="en-US" sz="1100" dirty="0"/>
          </a:p>
        </p:txBody>
      </p:sp>
      <p:sp>
        <p:nvSpPr>
          <p:cNvPr id="59" name="Shape 5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0" name="Text 57"/>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61" name="Text 58"/>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حـ</a:t>
            </a:r>
            <a:endParaRPr lang="ar-SA" sz="2200" dirty="0"/>
          </a:p>
        </p:txBody>
      </p:sp>
      <p:sp>
        <p:nvSpPr>
          <p:cNvPr id="62" name="Text 59"/>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ـحـ</a:t>
            </a:r>
            <a:endParaRPr lang="ar-SA" sz="2200" dirty="0"/>
          </a:p>
        </p:txBody>
      </p:sp>
      <p:sp>
        <p:nvSpPr>
          <p:cNvPr id="63" name="Text 60"/>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ـح</a:t>
            </a:r>
            <a:endParaRPr lang="ar-SA" sz="2200" dirty="0"/>
          </a:p>
        </p:txBody>
      </p:sp>
      <p:sp>
        <p:nvSpPr>
          <p:cNvPr id="64" name="Text 61"/>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5" name="Text 62"/>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Ḥāʾ</a:t>
            </a:r>
            <a:endParaRPr lang="en-US" sz="110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ـخـ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ـخ</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Khāʾ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(2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(2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ـد</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ـد</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 · Dāl</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ـذ</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ـذ</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 · Dhāl</a:t>
            </a:r>
            <a:endParaRPr lang="en-US" sz="1100" dirty="0"/>
          </a:p>
        </p:txBody>
      </p:sp>
      <p:sp>
        <p:nvSpPr>
          <p:cNvPr id="38" name="Shape 35"/>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41" name="Text 38"/>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42" name="Text 39"/>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43" name="Text 40"/>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ـر</a:t>
            </a:r>
            <a:endParaRPr lang="ar-SA" sz="2200" dirty="0"/>
          </a:p>
        </p:txBody>
      </p:sp>
      <p:sp>
        <p:nvSpPr>
          <p:cNvPr id="44" name="Text 41"/>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ـر</a:t>
            </a:r>
            <a:endParaRPr lang="ar-SA" sz="2200" dirty="0"/>
          </a:p>
        </p:txBody>
      </p:sp>
      <p:sp>
        <p:nvSpPr>
          <p:cNvPr id="45" name="Text 42"/>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46" name="Text 43"/>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 · Rāʾ</a:t>
            </a:r>
            <a:endParaRPr lang="en-US" sz="1100" dirty="0"/>
          </a:p>
        </p:txBody>
      </p:sp>
      <p:sp>
        <p:nvSpPr>
          <p:cNvPr id="47" name="Shape 4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51" name="Text 48"/>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52" name="Text 49"/>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ـز</a:t>
            </a:r>
            <a:endParaRPr lang="ar-SA" sz="2200" dirty="0"/>
          </a:p>
        </p:txBody>
      </p:sp>
      <p:sp>
        <p:nvSpPr>
          <p:cNvPr id="53" name="Text 50"/>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ـز</a:t>
            </a:r>
            <a:endParaRPr lang="ar-SA" sz="2200" dirty="0"/>
          </a:p>
        </p:txBody>
      </p:sp>
      <p:sp>
        <p:nvSpPr>
          <p:cNvPr id="54" name="Text 51"/>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55" name="Text 52"/>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 · Zāy</a:t>
            </a:r>
            <a:endParaRPr lang="en-US" sz="1100" dirty="0"/>
          </a:p>
        </p:txBody>
      </p:sp>
      <p:sp>
        <p:nvSpPr>
          <p:cNvPr id="56" name="Shape 5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Shape 5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a:t>
            </a:r>
            <a:endParaRPr lang="ar-SA" sz="2200" dirty="0"/>
          </a:p>
        </p:txBody>
      </p:sp>
      <p:sp>
        <p:nvSpPr>
          <p:cNvPr id="60" name="Text 57"/>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سـ</a:t>
            </a:r>
            <a:endParaRPr lang="ar-SA" sz="2200" dirty="0"/>
          </a:p>
        </p:txBody>
      </p:sp>
      <p:sp>
        <p:nvSpPr>
          <p:cNvPr id="61" name="Text 58"/>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62" name="Text 59"/>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ـس</a:t>
            </a:r>
            <a:endParaRPr lang="ar-SA" sz="2200" dirty="0"/>
          </a:p>
        </p:txBody>
      </p:sp>
      <p:sp>
        <p:nvSpPr>
          <p:cNvPr id="63" name="Text 60"/>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4" name="Text 61"/>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 · Sīn</a:t>
            </a:r>
            <a:endParaRPr lang="en-US" sz="1100" dirty="0"/>
          </a:p>
        </p:txBody>
      </p:sp>
      <p:sp>
        <p:nvSpPr>
          <p:cNvPr id="65" name="Shape 6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6" name="Text 63"/>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a:t>
            </a:r>
            <a:endParaRPr lang="ar-SA" sz="2200" dirty="0"/>
          </a:p>
        </p:txBody>
      </p:sp>
      <p:sp>
        <p:nvSpPr>
          <p:cNvPr id="67" name="Text 64"/>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شـ</a:t>
            </a:r>
            <a:endParaRPr lang="ar-SA" sz="2200" dirty="0"/>
          </a:p>
        </p:txBody>
      </p:sp>
      <p:sp>
        <p:nvSpPr>
          <p:cNvPr id="68" name="Text 65"/>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ـشـ</a:t>
            </a:r>
            <a:endParaRPr lang="ar-SA" sz="2200" dirty="0"/>
          </a:p>
        </p:txBody>
      </p:sp>
      <p:sp>
        <p:nvSpPr>
          <p:cNvPr id="69" name="Text 66"/>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ـش</a:t>
            </a:r>
            <a:endParaRPr lang="ar-SA" sz="2200" dirty="0"/>
          </a:p>
        </p:txBody>
      </p:sp>
      <p:sp>
        <p:nvSpPr>
          <p:cNvPr id="70" name="Text 67"/>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1" name="Text 68"/>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13 · Shīn</a:t>
            </a:r>
            <a:endParaRPr lang="en-US" sz="1100" dirty="0"/>
          </a:p>
        </p:txBody>
      </p:sp>
      <p:sp>
        <p:nvSpPr>
          <p:cNvPr id="72" name="Shape 69"/>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73" name="Text 70"/>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a:t>
            </a:r>
            <a:endParaRPr lang="ar-SA" sz="2200" dirty="0"/>
          </a:p>
        </p:txBody>
      </p:sp>
      <p:sp>
        <p:nvSpPr>
          <p:cNvPr id="74" name="Text 71"/>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صـ</a:t>
            </a:r>
            <a:endParaRPr lang="ar-SA" sz="2200" dirty="0"/>
          </a:p>
        </p:txBody>
      </p:sp>
      <p:sp>
        <p:nvSpPr>
          <p:cNvPr id="75" name="Text 72"/>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ـصـ</a:t>
            </a:r>
            <a:endParaRPr lang="ar-SA" sz="2200" dirty="0"/>
          </a:p>
        </p:txBody>
      </p:sp>
      <p:sp>
        <p:nvSpPr>
          <p:cNvPr id="76" name="Text 73"/>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ـص</a:t>
            </a:r>
            <a:endParaRPr lang="ar-SA" sz="2200" dirty="0"/>
          </a:p>
        </p:txBody>
      </p:sp>
      <p:sp>
        <p:nvSpPr>
          <p:cNvPr id="77" name="Text 74"/>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8" name="Text 75"/>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 · Ṣād</a:t>
            </a:r>
            <a:endParaRPr lang="en-US" sz="1100" dirty="0"/>
          </a:p>
        </p:txBody>
      </p:sp>
      <p:sp>
        <p:nvSpPr>
          <p:cNvPr id="79" name="Text 7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(3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(3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ـضـ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ـض</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 · Ḍād</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ـطـ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ـط</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16 · Ṭāʾ</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ظ</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ظـ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ـظـ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ـظ</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17 · Ẓāʾ</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ـعـ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ـع</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18 · ʿAyn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ـغـ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ـغ</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19 · Ghayn</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فـ</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ـفـ</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ـف</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 Fāʾ</a:t>
            </a:r>
            <a:endParaRPr lang="en-US" sz="1100" dirty="0"/>
          </a:p>
        </p:txBody>
      </p:sp>
      <p:sp>
        <p:nvSpPr>
          <p:cNvPr id="64" name="Shape 61"/>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5" name="Text 62"/>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6" name="Text 63"/>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قـ</a:t>
            </a:r>
            <a:endParaRPr lang="ar-SA" sz="2200" dirty="0"/>
          </a:p>
        </p:txBody>
      </p:sp>
      <p:sp>
        <p:nvSpPr>
          <p:cNvPr id="67" name="Text 64"/>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ـقـ</a:t>
            </a:r>
            <a:endParaRPr lang="ar-SA" sz="2200" dirty="0"/>
          </a:p>
        </p:txBody>
      </p:sp>
      <p:sp>
        <p:nvSpPr>
          <p:cNvPr id="68" name="Text 65"/>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ـق</a:t>
            </a:r>
            <a:endParaRPr lang="ar-SA" sz="2200" dirty="0"/>
          </a:p>
        </p:txBody>
      </p:sp>
      <p:sp>
        <p:nvSpPr>
          <p:cNvPr id="69" name="Text 66"/>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0" name="Text 67"/>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21 · Qāf</a:t>
            </a:r>
            <a:endParaRPr lang="en-US" sz="1100" dirty="0"/>
          </a:p>
        </p:txBody>
      </p:sp>
      <p:sp>
        <p:nvSpPr>
          <p:cNvPr id="71" name="Text 6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(4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(4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ـكـ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ـك</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22 · Kāf</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ـلـ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ـل</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23 · Lām</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ـمـ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 · Mīm</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ـنـ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ـن</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 · Nūn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ـه</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26 · Hāʾ</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ـو</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ـو</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27 · Wāw</a:t>
            </a:r>
            <a:endParaRPr lang="en-US" sz="1100" dirty="0"/>
          </a:p>
        </p:txBody>
      </p:sp>
      <p:sp>
        <p:nvSpPr>
          <p:cNvPr id="64" name="Shape 61"/>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ـيـ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ـي</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28 · Yāʾ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THE SIX FORWARD NON-CONNECTORS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Six letters that never join forward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 د ذ ر ز 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Explanation (website)</a:t>
            </a:r>
            <a:endParaRPr lang="en-US" sz="1100" dirty="0"/>
          </a:p>
        </p:txBody>
      </p:sp>
      <p:sp>
        <p:nvSpPr>
          <p:cNvPr id="17" name="Text 14"/>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 is the break?</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does not connect forward.</a:t>
            </a:r>
            <a:endParaRPr lang="en-US" sz="1100" dirty="0"/>
          </a:p>
        </p:txBody>
      </p:sp>
      <p:sp>
        <p:nvSpPr>
          <p:cNvPr id="21" name="Text 18"/>
          <p:cNvSpPr txBox="1"/>
          <p:nvPr/>
        </p:nvSpPr>
        <p:spPr>
          <a:xfrm>
            <a:off x="29443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و</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وَلَد</a:t>
            </a:r>
            <a:endParaRPr lang="ar-SA" sz="3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 does not connect to Rāʾ; Rāʾ does not connect to Sīn.</a:t>
            </a:r>
            <a:endParaRPr lang="en-US" sz="1100" dirty="0"/>
          </a:p>
        </p:txBody>
      </p:sp>
      <p:sp>
        <p:nvSpPr>
          <p:cNvPr id="27" name="Text 24"/>
          <p:cNvSpPr txBox="1"/>
          <p:nvPr/>
        </p:nvSpPr>
        <p:spPr>
          <a:xfrm>
            <a:off x="29443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د</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are forward non-connectors.</a:t>
            </a:r>
            <a:endParaRPr lang="en-US" sz="1100" dirty="0"/>
          </a:p>
        </p:txBody>
      </p:sp>
      <p:sp>
        <p:nvSpPr>
          <p:cNvPr id="33" name="Text 30"/>
          <p:cNvSpPr txBox="1"/>
          <p:nvPr/>
        </p:nvSpPr>
        <p:spPr>
          <a:xfrm>
            <a:off x="29443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ز</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endParaRPr lang="en-US" sz="11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زَهْرَة</a:t>
            </a:r>
            <a:endParaRPr lang="ar-SA" sz="3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Rāʾ and Alif do not connect forward.</a:t>
            </a:r>
            <a:endParaRPr lang="en-US" sz="1100" dirty="0"/>
          </a:p>
        </p:txBody>
      </p:sp>
      <p:sp>
        <p:nvSpPr>
          <p:cNvPr id="37" name="Text 34"/>
          <p:cNvSpPr txBox="1"/>
          <p:nvPr/>
        </p:nvSpPr>
        <p:spPr>
          <a:xfrm>
            <a:off x="29443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آ</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قُرْآن</a:t>
            </a:r>
            <a:endParaRPr lang="ar-SA" sz="3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non-connector: the whole word joins.</a:t>
            </a:r>
            <a:endParaRPr lang="en-US" sz="1100" dirty="0"/>
          </a:p>
        </p:txBody>
      </p:sp>
      <p:sp>
        <p:nvSpPr>
          <p:cNvPr id="41" name="Text 38"/>
          <p:cNvSpPr txBox="1"/>
          <p:nvPr/>
        </p:nvSpPr>
        <p:spPr>
          <a:xfrm>
            <a:off x="29443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break</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كَتَبَ</a:t>
            </a:r>
            <a:endParaRPr lang="ar-SA" sz="3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Memory line (website): </a:t>
            </a:r>
            <a:pPr algn="l" indent="0" marL="0">
              <a:buNone/>
            </a:pPr>
            <a:r>
              <a:rPr lang="ar-SA" altLang="en-US" sz="1500" b="1" dirty="0">
                <a:solidFill>
                  <a:srgbClr val="1B3B6F"/>
                </a:solidFill>
                <a:latin typeface="Amiri" pitchFamily="34" charset="0"/>
                <a:ea typeface="Amiri" pitchFamily="34" charset="-122"/>
                <a:cs typeface="Amiri" pitchFamily="34" charset="-120"/>
              </a:rPr>
              <a:t>أ د ذ ر ز و</a:t>
            </a:r>
            <a:pPr algn="l" indent="0" marL="0">
              <a:buNone/>
            </a:pPr>
            <a:r>
              <a:rPr lang="en-US" sz="1150" b="1" dirty="0">
                <a:solidFill>
                  <a:srgbClr val="1B3B6F"/>
                </a:solidFill>
                <a:latin typeface="Calibri" pitchFamily="34" charset="0"/>
                <a:ea typeface="Calibri" pitchFamily="34" charset="-122"/>
                <a:cs typeface="Calibri" pitchFamily="34" charset="-120"/>
              </a:rPr>
              <a:t> — they join to the letter BEFORE them, never to the letter AFTER them.</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4 · LETTER FAMILIES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Learn families, not single pictures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عَائِلَاتُ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tell them apart (website)</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Similar bowls and joining strokes; the dots decide.</a:t>
            </a:r>
            <a:endParaRPr lang="en-US" sz="1100" dirty="0"/>
          </a:p>
        </p:txBody>
      </p:sp>
      <p:sp>
        <p:nvSpPr>
          <p:cNvPr id="21" name="Text 18"/>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ب ت ث ن ي</a:t>
            </a:r>
            <a:endParaRPr lang="ar-SA" sz="3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Bāʾ family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body: dot below · no dot · dot above.</a:t>
            </a:r>
            <a:endParaRPr lang="en-US" sz="1100" dirty="0"/>
          </a:p>
        </p:txBody>
      </p:sp>
      <p:sp>
        <p:nvSpPr>
          <p:cNvPr id="27" name="Text 24"/>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ج ح خ</a:t>
            </a:r>
            <a:endParaRPr lang="ar-SA" sz="3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Jīm family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Non-connecting bodies; </a:t>
            </a:r>
            <a:pPr algn="l" indent="0" marL="0">
              <a:buNone/>
            </a:pPr>
            <a:r>
              <a:rPr lang="ar-SA" altLang="en-US" sz="1450" dirty="0">
                <a:solidFill>
                  <a:srgbClr val="5A6472"/>
                </a:solidFill>
                <a:latin typeface="Amiri" pitchFamily="34" charset="0"/>
                <a:ea typeface="Amiri" pitchFamily="34" charset="-122"/>
                <a:cs typeface="Amiri" pitchFamily="34" charset="-120"/>
              </a:rPr>
              <a:t>ذ</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ز</a:t>
            </a:r>
            <a:pPr algn="l" indent="0" marL="0">
              <a:buNone/>
            </a:pPr>
            <a:r>
              <a:rPr lang="en-US" sz="1100" dirty="0">
                <a:solidFill>
                  <a:srgbClr val="5A6472"/>
                </a:solidFill>
                <a:latin typeface="Calibri" pitchFamily="34" charset="0"/>
                <a:ea typeface="Calibri" pitchFamily="34" charset="-122"/>
                <a:cs typeface="Calibri" pitchFamily="34" charset="-120"/>
              </a:rPr>
              <a:t> add a dot.</a:t>
            </a:r>
            <a:endParaRPr lang="en-US" sz="1100" dirty="0"/>
          </a:p>
        </p:txBody>
      </p:sp>
      <p:sp>
        <p:nvSpPr>
          <p:cNvPr id="33" name="Text 30"/>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د ذ · ر ز</a:t>
            </a:r>
            <a:endParaRPr lang="ar-SA" sz="3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 · Rāʾ</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ش</a:t>
            </a:r>
            <a:pPr algn="l" indent="0" marL="0">
              <a:buNone/>
            </a:pPr>
            <a:r>
              <a:rPr lang="en-US" sz="1100" dirty="0">
                <a:solidFill>
                  <a:srgbClr val="5A6472"/>
                </a:solidFill>
                <a:latin typeface="Calibri" pitchFamily="34" charset="0"/>
                <a:ea typeface="Calibri" pitchFamily="34" charset="-122"/>
                <a:cs typeface="Calibri" pitchFamily="34" charset="-120"/>
              </a:rPr>
              <a:t> adds three dots; </a:t>
            </a:r>
            <a:pPr algn="l" indent="0" marL="0">
              <a:buNone/>
            </a:pPr>
            <a:r>
              <a:rPr lang="ar-SA" altLang="en-US" sz="1450" dirty="0">
                <a:solidFill>
                  <a:srgbClr val="5A6472"/>
                </a:solidFill>
                <a:latin typeface="Amiri" pitchFamily="34" charset="0"/>
                <a:ea typeface="Amiri" pitchFamily="34" charset="-122"/>
                <a:cs typeface="Amiri" pitchFamily="34" charset="-120"/>
              </a:rPr>
              <a:t>ض</a:t>
            </a:r>
            <a:pPr algn="l" indent="0" marL="0">
              <a:buNone/>
            </a:pPr>
            <a:r>
              <a:rPr lang="en-US" sz="1100" dirty="0">
                <a:solidFill>
                  <a:srgbClr val="5A6472"/>
                </a:solidFill>
                <a:latin typeface="Calibri" pitchFamily="34" charset="0"/>
                <a:ea typeface="Calibri" pitchFamily="34" charset="-122"/>
                <a:cs typeface="Calibri" pitchFamily="34" charset="-120"/>
              </a:rPr>
              <a:t> adds one dot.</a:t>
            </a:r>
            <a:endParaRPr lang="en-US" sz="1100" dirty="0"/>
          </a:p>
        </p:txBody>
      </p:sp>
      <p:sp>
        <p:nvSpPr>
          <p:cNvPr id="37" name="Text 34"/>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س ش · ص ض</a:t>
            </a:r>
            <a:endParaRPr lang="ar-SA" sz="3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Sīn · Ṣād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ظ</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غ</a:t>
            </a:r>
            <a:pPr algn="l" indent="0" marL="0">
              <a:buNone/>
            </a:pPr>
            <a:r>
              <a:rPr lang="en-US" sz="1100" dirty="0">
                <a:solidFill>
                  <a:srgbClr val="5A6472"/>
                </a:solidFill>
                <a:latin typeface="Calibri" pitchFamily="34" charset="0"/>
                <a:ea typeface="Calibri" pitchFamily="34" charset="-122"/>
                <a:cs typeface="Calibri" pitchFamily="34" charset="-120"/>
              </a:rPr>
              <a:t> add one dot above.</a:t>
            </a:r>
            <a:endParaRPr lang="en-US" sz="1100" dirty="0"/>
          </a:p>
        </p:txBody>
      </p:sp>
      <p:sp>
        <p:nvSpPr>
          <p:cNvPr id="41" name="Text 38"/>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ط ظ · ع غ</a:t>
            </a:r>
            <a:endParaRPr lang="ar-SA" sz="3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Ṭāʾ · ʿAyn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Dots are part of the letter: write them clearly and in the right place.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ل</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و</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break</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are one family?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ح خ</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د 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س ع</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joining stroke on the left only.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is one of the six: </a:t>
            </a:r>
            <a:pPr algn="l" indent="0" marL="0">
              <a:buNone/>
            </a:pPr>
            <a:r>
              <a:rPr lang="ar-SA" altLang="en-US" sz="1350" dirty="0">
                <a:solidFill>
                  <a:srgbClr val="8A6D1E"/>
                </a:solidFill>
                <a:latin typeface="Amiri" pitchFamily="34" charset="0"/>
                <a:ea typeface="Amiri" pitchFamily="34" charset="-122"/>
                <a:cs typeface="Amiri" pitchFamily="34" charset="-120"/>
              </a:rPr>
              <a:t>أ د ذ ر ز 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ل</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و</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break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does not connect forward.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are one family?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 ح خ</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 د 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س ع</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body: dot below, no dot, dot above.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read a word letter by letter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 + ي + 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each letter.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بـ + ـيـ + ـت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Initial · medial · final.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Breaks?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non-connector: fully joined.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وَرَقَة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breaks the chain after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بَيْتٌ · كَتَبَ · وَرَقَةٌ · مَدْرَسَةٌ · زَهْرَةٌ</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house · he wrote · a sheet of paper · school · flower — copy, then mark every break.</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wrote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كـ + ـتـ + ـب — fully connected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وَرَقَةٌ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sheet of paper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one break: after و</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breaks: after د and after ر</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زَهْرَةٌ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flower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breaks: after ز and after ر</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JOIN OR BREAK?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Does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Joins the next letter</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Never joins the next letter</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Joins the next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Never joins the next letter</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 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space inside a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 ي 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Should these letters join?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بَيْث</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Count the dots.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 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spaces inside a word: the breaks after </a:t>
            </a:r>
            <a:pPr algn="l" indent="0" marL="0">
              <a:buNone/>
            </a:pPr>
            <a:r>
              <a:rPr lang="ar-SA" altLang="en-US" sz="1500" b="1" dirty="0">
                <a:solidFill>
                  <a:srgbClr val="1B3B6F"/>
                </a:solidFill>
                <a:latin typeface="Amiri" pitchFamily="34" charset="0"/>
                <a:ea typeface="Amiri" pitchFamily="34" charset="-122"/>
                <a:cs typeface="Amiri" pitchFamily="34" charset="-120"/>
              </a:rPr>
              <a:t>د</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ر</a:t>
            </a:r>
            <a:pPr algn="l" indent="0" marL="0">
              <a:buNone/>
            </a:pPr>
            <a:r>
              <a:rPr lang="en-US" sz="1150" b="1" dirty="0">
                <a:solidFill>
                  <a:srgbClr val="1B3B6F"/>
                </a:solidFill>
                <a:latin typeface="Calibri" pitchFamily="34" charset="0"/>
                <a:ea typeface="Calibri" pitchFamily="34" charset="-122"/>
                <a:cs typeface="Calibri" pitchFamily="34" charset="-120"/>
              </a:rPr>
              <a:t> happen by themselves.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 ي 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Joining letters must join — write the word as one unit.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بَيْث</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a:t>
            </a:r>
            <a:pPr algn="l" indent="0" marL="0">
              <a:buNone/>
            </a:pPr>
            <a:r>
              <a:rPr lang="en-US" sz="1150" b="1" dirty="0">
                <a:solidFill>
                  <a:srgbClr val="1B3B6F"/>
                </a:solidFill>
                <a:latin typeface="Calibri" pitchFamily="34" charset="0"/>
                <a:ea typeface="Calibri" pitchFamily="34" charset="-122"/>
                <a:cs typeface="Calibri" pitchFamily="34" charset="-120"/>
              </a:rPr>
              <a:t> has two dots; </a:t>
            </a:r>
            <a:pPr algn="l" indent="0" marL="0">
              <a:buNone/>
            </a:pPr>
            <a:r>
              <a:rPr lang="ar-SA" altLang="en-US" sz="1500" b="1" dirty="0">
                <a:solidFill>
                  <a:srgbClr val="1B3B6F"/>
                </a:solidFill>
                <a:latin typeface="Amiri" pitchFamily="34" charset="0"/>
                <a:ea typeface="Amiri" pitchFamily="34" charset="-122"/>
                <a:cs typeface="Amiri" pitchFamily="34" charset="-120"/>
              </a:rPr>
              <a:t>ث</a:t>
            </a:r>
            <a:pPr algn="l" indent="0" marL="0">
              <a:buNone/>
            </a:pPr>
            <a:r>
              <a:rPr lang="en-US" sz="1150" b="1" dirty="0">
                <a:solidFill>
                  <a:srgbClr val="1B3B6F"/>
                </a:solidFill>
                <a:latin typeface="Calibri" pitchFamily="34" charset="0"/>
                <a:ea typeface="Calibri" pitchFamily="34" charset="-122"/>
                <a:cs typeface="Calibri" pitchFamily="34" charset="-120"/>
              </a:rPr>
              <a:t> has three.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ON WEBSITE GAMES 2, 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MEDIAL?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ـعـ</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breaks in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م</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د</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س</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odd one out?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shares the same body?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ص</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MEDIAL?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ـعـ</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breaks in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م</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د</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ر</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س</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forward non-connectors.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odd one out?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never joins forward;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do.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shares the same body?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ص</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 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 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Shīn is Sīn with three dots above.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TASK “LETTER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4000" dirty="0">
                <a:solidFill>
                  <a:srgbClr val="1F2A37"/>
                </a:solidFill>
                <a:latin typeface="Amiri" pitchFamily="34" charset="0"/>
                <a:ea typeface="Amiri" pitchFamily="34" charset="-122"/>
                <a:cs typeface="Amiri" pitchFamily="34" charset="-120"/>
              </a:rPr>
              <a:t>مَدْرَسَةٌ · بَيْتٌ · زَهْرَةٌ · كِتَابٌ · وَلَدٌ · قَمَرٌ</a:t>
            </a:r>
            <a:endParaRPr lang="ar-SA" sz="40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school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house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زَهْرَةٌ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flower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book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وَلَدٌ</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boy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قَمَرٌ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break?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which letter causes the break?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TWO breaks?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where is the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ك</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ا</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ت</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the six non-connectors: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 د ذ ر ز و</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Count the breaks.</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break?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زَهْرَةٌ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three letters join.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which letter causes the break?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does not connect forward.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TWO breaks?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زَهْرَةٌ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and after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where is the break?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ك</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ا</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ت</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never joins forward.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the six non-connectors: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 د ذ ر ز و</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Count the breaks.</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explain the join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يَتَّصِلُ هٰذَا الْحَرْفُ بِمَا بَعْدَهُ؟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تَنْقَطِعُ الْكَلِمَةُ هُنَا؟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حَرْفُ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حَرْفُ ___ يَتَّصِلُ بِمَا بَعْدَهُ.</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تَنْقَطِعُ الْكَلِمَةُ بَعْدَ ___ لِأَنَّهُ لَا يَتَّصِلُ.</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اسْمُ هٰذَا الْحَرْفِ؟</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letter called?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حَرْفُ الدَّالِ، وَهُوَ لَا يَتَّصِلُ بِمَا بَعْدَهُ.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dāl; it does not join the next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8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Copy–cover–write–check: eight words from the lesson.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 cover · write from memory · check every join. Circle each non-connector.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eight words: one fully connected, two with one break, one with two breaks.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word bank. Mark every break with a small line.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00" b="1" dirty="0">
                <a:solidFill>
                  <a:srgbClr val="B83227"/>
                </a:solidFill>
                <a:latin typeface="Cambria" pitchFamily="34" charset="0"/>
                <a:ea typeface="Cambria" pitchFamily="34" charset="-122"/>
                <a:cs typeface="Cambria" pitchFamily="34" charset="-120"/>
              </a:rPr>
              <a:t>8 words + 3 sentences</a:t>
            </a:r>
            <a:endParaRPr lang="en-US" sz="20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script challenge, then explain three breaks in a sentence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At least six letter families. Try one unvowelled word.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fully joined word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وَرَقَةٌ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one break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زَهْرَةٌ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two breaks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شَمْسٌ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a new family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house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he wrote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boy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مَدْرَسَةٌ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school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  كَتَبَ  ·  قَلَمٌ  ·  شَمْسٌ  ·  وَلَدٌ  ·  وَرَقَةٌ  ·  بَابٌ  ·  زَهْرَةٌ  ·  مَدْرَسَةٌ  ·  دَرْسٌ  ·  عَيْنٌ  ·  خُبْزٌ</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Script challenge (website): write eight words, then explain three of the breaks.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fully connected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words with one break.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word with two breaks.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six different letter families.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dot clear and in the right place.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WORD BANK — FROM THE WEBSITE EXAMPLES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wrote — fully joined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وَرَقَةٌ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paper — break after </a:t>
            </a:r>
            <a:pPr algn="r" indent="0" marL="0">
              <a:buNone/>
            </a:pPr>
            <a:r>
              <a:rPr lang="ar-SA" altLang="en-US" sz="1350" dirty="0">
                <a:solidFill>
                  <a:srgbClr val="5A6472"/>
                </a:solidFill>
                <a:latin typeface="Amiri" pitchFamily="34" charset="0"/>
                <a:ea typeface="Amiri" pitchFamily="34" charset="-122"/>
                <a:cs typeface="Amiri" pitchFamily="34" charset="-120"/>
              </a:rPr>
              <a:t>و</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school — two breaks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قُرْآنٌ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Qurʾān — breaks after </a:t>
            </a:r>
            <a:pPr algn="r" indent="0" marL="0">
              <a:buNone/>
            </a:pPr>
            <a:r>
              <a:rPr lang="ar-SA" altLang="en-US" sz="1350" dirty="0">
                <a:solidFill>
                  <a:srgbClr val="5A6472"/>
                </a:solidFill>
                <a:latin typeface="Amiri" pitchFamily="34" charset="0"/>
                <a:ea typeface="Amiri" pitchFamily="34" charset="-122"/>
                <a:cs typeface="Amiri" pitchFamily="34" charset="-120"/>
              </a:rPr>
              <a:t>ر</a:t>
            </a:r>
            <a:pPr algn="r" indent="0" marL="0">
              <a:buNone/>
            </a:pPr>
            <a:r>
              <a:rPr lang="en-US" sz="1050" i="1" dirty="0">
                <a:solidFill>
                  <a:srgbClr val="5A6472"/>
                </a:solidFill>
                <a:latin typeface="Calibri" pitchFamily="34" charset="0"/>
                <a:ea typeface="Calibri" pitchFamily="34" charset="-122"/>
                <a:cs typeface="Calibri" pitchFamily="34" charset="-120"/>
              </a:rPr>
              <a:t> and </a:t>
            </a:r>
            <a:pPr algn="r" indent="0" marL="0">
              <a:buNone/>
            </a:pPr>
            <a:r>
              <a:rPr lang="ar-SA" altLang="en-US" sz="1350" dirty="0">
                <a:solidFill>
                  <a:srgbClr val="5A6472"/>
                </a:solidFill>
                <a:latin typeface="Amiri" pitchFamily="34" charset="0"/>
                <a:ea typeface="Amiri" pitchFamily="34" charset="-122"/>
                <a:cs typeface="Amiri" pitchFamily="34" charset="-120"/>
              </a:rPr>
              <a:t>آ</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sun — Sīn family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خُبْزٌ</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bread — Jīm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كَتَبَ · شَمْسٌ · وَرَقَةٌ · وَلَدٌ · زَهْرَةٌ · مَدْرَسَةٌ · خُبْزٌ · قَلَمٌ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 wrote · sun · paper · boy · flower · school · bread · pen — </a:t>
            </a:r>
            <a:pPr algn="l" indent="0" marL="0">
              <a:buNone/>
            </a:pPr>
            <a:r>
              <a:rPr lang="ar-SA" altLang="en-US" sz="1500" dirty="0">
                <a:solidFill>
                  <a:srgbClr val="5A6472"/>
                </a:solidFill>
                <a:latin typeface="Amiri" pitchFamily="34" charset="0"/>
                <a:ea typeface="Amiri" pitchFamily="34" charset="-122"/>
                <a:cs typeface="Amiri" pitchFamily="34" charset="-120"/>
              </a:rPr>
              <a:t>كَتَبَ</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شَمْسٌ</a:t>
            </a:r>
            <a:pPr algn="l" indent="0" marL="0">
              <a:buNone/>
            </a:pPr>
            <a:r>
              <a:rPr lang="en-US" sz="1150" i="1" dirty="0">
                <a:solidFill>
                  <a:srgbClr val="5A6472"/>
                </a:solidFill>
                <a:latin typeface="Calibri" pitchFamily="34" charset="0"/>
                <a:ea typeface="Calibri" pitchFamily="34" charset="-122"/>
                <a:cs typeface="Calibri" pitchFamily="34" charset="-120"/>
              </a:rPr>
              <a:t> are fully joined; </a:t>
            </a:r>
            <a:pPr algn="l" indent="0" marL="0">
              <a:buNone/>
            </a:pPr>
            <a:r>
              <a:rPr lang="ar-SA" altLang="en-US" sz="1500" dirty="0">
                <a:solidFill>
                  <a:srgbClr val="5A6472"/>
                </a:solidFill>
                <a:latin typeface="Amiri" pitchFamily="34" charset="0"/>
                <a:ea typeface="Amiri" pitchFamily="34" charset="-122"/>
                <a:cs typeface="Amiri" pitchFamily="34" charset="-120"/>
              </a:rPr>
              <a:t>وَرَقَةٌ</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وَلَدٌ</a:t>
            </a:r>
            <a:pPr algn="l" indent="0" marL="0">
              <a:buNone/>
            </a:pPr>
            <a:r>
              <a:rPr lang="en-US" sz="1150" i="1" dirty="0">
                <a:solidFill>
                  <a:srgbClr val="5A6472"/>
                </a:solidFill>
                <a:latin typeface="Calibri" pitchFamily="34" charset="0"/>
                <a:ea typeface="Calibri" pitchFamily="34" charset="-122"/>
                <a:cs typeface="Calibri" pitchFamily="34" charset="-120"/>
              </a:rPr>
              <a:t> have one break (after </a:t>
            </a:r>
            <a:pPr algn="l" indent="0" marL="0">
              <a:buNone/>
            </a:pPr>
            <a:r>
              <a:rPr lang="ar-SA" altLang="en-US" sz="1500" dirty="0">
                <a:solidFill>
                  <a:srgbClr val="5A6472"/>
                </a:solidFill>
                <a:latin typeface="Amiri" pitchFamily="34" charset="0"/>
                <a:ea typeface="Amiri" pitchFamily="34" charset="-122"/>
                <a:cs typeface="Amiri" pitchFamily="34" charset="-120"/>
              </a:rPr>
              <a:t>و</a:t>
            </a:r>
            <a:pPr algn="l" indent="0" marL="0">
              <a:buNone/>
            </a:pPr>
            <a:r>
              <a:rPr lang="en-US" sz="1150" i="1"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زَهْرَةٌ</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مَدْرَسَةٌ</a:t>
            </a:r>
            <a:pPr algn="l" indent="0" marL="0">
              <a:buNone/>
            </a:pPr>
            <a:r>
              <a:rPr lang="en-US" sz="1150" i="1" dirty="0">
                <a:solidFill>
                  <a:srgbClr val="5A6472"/>
                </a:solidFill>
                <a:latin typeface="Calibri" pitchFamily="34" charset="0"/>
                <a:ea typeface="Calibri" pitchFamily="34" charset="-122"/>
                <a:cs typeface="Calibri" pitchFamily="34" charset="-120"/>
              </a:rPr>
              <a:t> have two breaks; seven families are used.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fully joined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break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breaks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families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all 28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six letters that never join forward.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words have no spaces inside them.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dot is clear and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every break in my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non-connectors?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 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د ر 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ح خ 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fully connected?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وَرَقَةٌ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ـع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ـعـ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only.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non-connectors?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 ت ث 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 د ر 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 ح خ 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 د ذ ر ز و.</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fully connected?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وَرَقَةٌ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زَهْرَةٌ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non-connector inside.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forward non-connectors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 after which letters does the word break?</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ز</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ا</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in the Jīm family?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NEVER do inside a word?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dots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a space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on the right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forward non-connectors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 د ذ ر ز و.</a:t>
            </a:r>
            <a:endParaRPr lang="ar-SA" sz="13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two dots above.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Joining stroke on the left.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 after which letters does the word break?</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ر</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ز</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ا</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a:t>
            </a:r>
            <a:pPr algn="l" indent="0" marL="0">
              <a:buNone/>
            </a:pPr>
            <a:r>
              <a:rPr lang="en-US" sz="1050" i="1" dirty="0">
                <a:solidFill>
                  <a:srgbClr val="8A6D1E"/>
                </a:solidFill>
                <a:latin typeface="Calibri" pitchFamily="34" charset="0"/>
                <a:ea typeface="Calibri" pitchFamily="34" charset="-122"/>
                <a:cs typeface="Calibri" pitchFamily="34" charset="-120"/>
              </a:rPr>
              <a:t> are non-connectors;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is the last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in the Jīm family?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 ح خ</a:t>
            </a:r>
            <a:pPr algn="l" indent="0" marL="0">
              <a:buNone/>
            </a:pPr>
            <a:r>
              <a:rPr lang="en-US" sz="1050" i="1" dirty="0">
                <a:solidFill>
                  <a:srgbClr val="8A6D1E"/>
                </a:solidFill>
                <a:latin typeface="Calibri" pitchFamily="34" charset="0"/>
                <a:ea typeface="Calibri" pitchFamily="34" charset="-122"/>
                <a:cs typeface="Calibri" pitchFamily="34" charset="-120"/>
              </a:rPr>
              <a:t> share one body.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NEVER do inside a word?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dots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leave a space</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on the right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Breaks happen only after a non-connector.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GM-SCR-02: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GM-SCR-02 · Sun and Moon Letters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الشَّمْسُ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الْقَمَرُ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moon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(doubling)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sukūn (no vowel)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أَدَاةُ التَّعْرِيفِ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definite article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Say these aloud and listen to the lām: </a:t>
            </a:r>
            <a:pPr algn="l" indent="0" marL="0">
              <a:buNone/>
            </a:pPr>
            <a:r>
              <a:rPr lang="ar-SA" altLang="en-US" sz="1350" dirty="0">
                <a:solidFill>
                  <a:srgbClr val="1F2A37"/>
                </a:solidFill>
                <a:latin typeface="Amiri" pitchFamily="34" charset="0"/>
                <a:ea typeface="Amiri" pitchFamily="34" charset="-122"/>
                <a:cs typeface="Amiri" pitchFamily="34" charset="-120"/>
              </a:rPr>
              <a:t>الشَّمْسُ</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الْقَمَرُ</a:t>
            </a:r>
            <a:pPr algn="l" indent="0" marL="0">
              <a:buNone/>
            </a:pPr>
            <a:r>
              <a:rPr lang="en-US" sz="1050" dirty="0">
                <a:solidFill>
                  <a:srgbClr val="1F2A37"/>
                </a:solidFill>
                <a:latin typeface="Calibri" pitchFamily="34" charset="0"/>
                <a:ea typeface="Calibri" pitchFamily="34" charset="-122"/>
                <a:cs typeface="Calibri" pitchFamily="34" charset="-120"/>
              </a:rPr>
              <a:t>. Which one do you hear “l”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الشَّمْسُ ← ______ · الْقَمَرُ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the 28 letters in their four positions; learn the six non-connectors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words and mark every break.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 script challenge and play the 60-second Script Challenge game.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GM-SCR-01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GM-SCR-02 · Sun and Moon Letters</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الْحُرُوفُ الشَّمْسِيَّةُ وَالْقَمَرِيَّةُ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letter, four shapes · </a:t>
            </a:r>
            <a:pPr algn="l" indent="0" marL="0">
              <a:buNone/>
            </a:pPr>
            <a:r>
              <a:rPr lang="ar-SA" altLang="en-US" sz="1700" b="1" dirty="0">
                <a:solidFill>
                  <a:srgbClr val="FFFFFF"/>
                </a:solidFill>
                <a:latin typeface="Amiri" pitchFamily="34" charset="0"/>
                <a:ea typeface="Amiri" pitchFamily="34" charset="-122"/>
                <a:cs typeface="Amiri" pitchFamily="34" charset="-120"/>
              </a:rPr>
              <a:t>أ د ذ ر ز و</a:t>
            </a:r>
            <a:pPr algn="l" indent="0" marL="0">
              <a:buNone/>
            </a:pPr>
            <a:r>
              <a:rPr lang="en-US" sz="1300" b="1" dirty="0">
                <a:solidFill>
                  <a:srgbClr val="FFFFFF"/>
                </a:solidFill>
                <a:latin typeface="Calibri" pitchFamily="34" charset="0"/>
                <a:ea typeface="Calibri" pitchFamily="34" charset="-122"/>
                <a:cs typeface="Calibri" pitchFamily="34" charset="-120"/>
              </a:rPr>
              <a:t> never join forward · no spaces inside a word · dots are part of the letter.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GM-SCR-01 · Letters and Letter Positions</dc:title>
  <dc:subject>PptxGenJS Presentation</dc:subject>
  <dc:creator>Al Madina Online School · Arabic Department</dc:creator>
  <cp:lastModifiedBy>Al Madina Online School · Arabic Department</cp:lastModifiedBy>
  <cp:revision>1</cp:revision>
  <dcterms:created xsi:type="dcterms:W3CDTF">2026-10-03T15:39:49Z</dcterms:created>
  <dcterms:modified xsi:type="dcterms:W3CDTF">2026-10-03T15:39:49Z</dcterms:modified>
</cp:coreProperties>
</file>