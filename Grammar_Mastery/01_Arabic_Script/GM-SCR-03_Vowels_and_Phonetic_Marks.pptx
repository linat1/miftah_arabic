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Script › GM-SCR-03 (“الحَرَكَاتُ وَالعَلَامَاتُ الصَّوْتِيَّةُ”). The website chapter “Script Mastery 03”: short vowels, long vowels, tanwīn, sukūn, shadda, madda, hamza chairs and the qaṭʿ / waṣl distinction, with the mark hunt, short/long listening, controlled-contrast speaking, fully vowelled writing and the common-mistakes table. The website checks this chapter through eight games, so the quizzes are teacher-written on the website content.
SUPPORT FOR THIS CLASS (Arabic not yet secure; mixed levels):
• Core: the three short vowels, long vowels, sukūn and shadda. Develop: tanwīn and vowel length; read fully vowelled words fluently. Stretch: madda, hamza chairs, hamzat al-qaṭʿ vs al-waṣl.
• QUR’AN BRIDGE: students know these marks from muṣḥaf reading (zabar · zer · pesh in Urdu = fatḥa · kasra · ḍamma; jazm = sukūn; tashdīd = shadda; do zabar = tanwīn fatḥ). Use their Urdu names as the hook, then teach the Arabic terms.
• Length matters: a long vowel is about twice as long as a short one — practise the contrast aloud every time.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the words prepared at home; 4–5 retrieve GM-SCR-02 and GM-SCR-01.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mark tells you a sound — or tells you there is NO vowel (sukūn) or a DOUBLE consonant (shadda).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Bridge each Arabic term to the Urdu muṣḥaf term students already know (zabar, zer, pesh, jazm, tashdīd).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Bridge each Arabic term to the Urdu muṣḥaf term students already know (zabar, zer, pesh, jazm, tashdīd).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Choral contrast pairs (website speaking task): بَ / بَا · بِ / بِي · بُ / بُو — hold the long vowel for two beats.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Website pronunciation rule for sukūn: “do not insert an extra vowel after a letter carrying sukūn” — يَكْتُبُ moves directly from كْ to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Website precision notes: madda is written only on alif (آ), not over every long vowel. Hamzat al-qaṭʿ (أَحْمَدُ, إِنَّ) is always pronounced; hamzat al-waṣl (اِسْمٌ, الْكِتَابُ) is pronounced only at the start of speech — link to GM-ART-01.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on the website sections.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Think aloud through مُعَلِّمٌ, then let the class “read the marks” of مَكْتَبٌ with you (sukūn on 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Read each word aloud first — exaggerate the long vowels. Note وَلَدٌ: the wāw is a consonant here, not a long vowel (website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Read each word aloud first — exaggerate the long vowels. Note وَلَدٌ: the wāw is a consonant here, not a long vowel (website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on website games 4, 6 and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“mark hunt”. Read it aloud once while students follow; then they hunt for today’s grammar.
Task: Website mark hunt: find one shadda, two long vowels, one sukūn and one hamza chair.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on the website mark-hunt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“controlled contrast” and listening “short or long?”. Sequence: ● 10s think → ↔ 45s rehearse aloud with mic muted → ◎ two named students on open mic (warned in advance) → + ? the class types one follow-up in chat → ↺ one student summarises.
Routes: Core uses the Core prompt and stem; Develop the Develop prompt; Stretch the last prompt.
Website listening (do it first, slide hidden): say each pair twice — بَ / بَا · بِ / بِي · بُ / بُو · كَ / كَا · سِ / سِي · نُ / نُو. Students write “short, long” for each. Then the speaking contrast: keep the long vowel twice as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Fully vowelled practice: write six short words and add every necessary mark, including a long vowel, sukūn, shadda, tanwīn, madda and hamza.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for the website fully vowelled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teacher-written on the website lesson (the website checks this chapter through interactive games).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(GM-SCR-04 · Arabic Figures) will spend class time USING this language, so students prepare it tonight — short, simple, easy to access (school guidance: “Simple, Short, Interesting, Relevant, Easy to access”). The five words prepare GM-SCR-04 (website Script Mastery 04: Arabic figures).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SCRIPT  ·  GM-SCR-03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GM-SCR-03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Vowels and Phonetic Marks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الْحَرَكَاتُ وَالْعَلَامَاتُ الصَّوْتِيَّةُ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every mark on a fully vowelled word: the three short vowels (</a:t>
            </a:r>
            <a:pPr algn="l" indent="0" marL="0">
              <a:buNone/>
            </a:pPr>
            <a:r>
              <a:rPr lang="ar-SA" altLang="en-US" sz="1800" dirty="0">
                <a:solidFill>
                  <a:srgbClr val="C6D2E6"/>
                </a:solidFill>
                <a:latin typeface="Amiri" pitchFamily="2" charset="-78"/>
                <a:cs typeface="Amiri" pitchFamily="2" charset="-78"/>
              </a:rPr>
              <a:t>ـَ ـِ ـُ</a:t>
            </a:r>
            <a:pPr algn="l" indent="0" marL="0">
              <a:buNone/>
            </a:pPr>
            <a:r>
              <a:rPr lang="en-US" sz="1400" dirty="0">
                <a:solidFill>
                  <a:srgbClr val="C6D2E6"/>
                </a:solidFill>
                <a:latin typeface="Calibri" pitchFamily="34" charset="0"/>
                <a:cs typeface="Amiri" pitchFamily="2" charset="-78"/>
              </a:rPr>
              <a:t>), long vowels (</a:t>
            </a:r>
            <a:pPr algn="l" indent="0" marL="0">
              <a:buNone/>
            </a:pPr>
            <a:r>
              <a:rPr lang="ar-SA" altLang="en-US" sz="1800" dirty="0">
                <a:solidFill>
                  <a:srgbClr val="C6D2E6"/>
                </a:solidFill>
                <a:latin typeface="Amiri" pitchFamily="2" charset="-78"/>
                <a:cs typeface="Amiri" pitchFamily="2" charset="-78"/>
              </a:rPr>
              <a:t>بَا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بِي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بُو</a:t>
            </a:r>
            <a:pPr algn="l" indent="0" marL="0">
              <a:buNone/>
            </a:pPr>
            <a:r>
              <a:rPr lang="en-US" sz="1400" dirty="0">
                <a:solidFill>
                  <a:srgbClr val="C6D2E6"/>
                </a:solidFill>
                <a:latin typeface="Calibri" pitchFamily="34" charset="0"/>
                <a:cs typeface="Amiri" pitchFamily="2" charset="-78"/>
              </a:rPr>
              <a:t>), tanwīn (</a:t>
            </a:r>
            <a:pPr algn="l" indent="0" marL="0">
              <a:buNone/>
            </a:pPr>
            <a:r>
              <a:rPr lang="ar-SA" altLang="en-US" sz="1800" dirty="0">
                <a:solidFill>
                  <a:srgbClr val="C6D2E6"/>
                </a:solidFill>
                <a:latin typeface="Amiri" pitchFamily="2" charset="-78"/>
                <a:cs typeface="Amiri" pitchFamily="2" charset="-78"/>
              </a:rPr>
              <a:t>ـٌ ـً ـٍ</a:t>
            </a:r>
            <a:pPr algn="l" indent="0" marL="0">
              <a:buNone/>
            </a:pPr>
            <a:r>
              <a:rPr lang="en-US" sz="1400" dirty="0">
                <a:solidFill>
                  <a:srgbClr val="C6D2E6"/>
                </a:solidFill>
                <a:latin typeface="Calibri" pitchFamily="34" charset="0"/>
                <a:cs typeface="Amiri" pitchFamily="2" charset="-78"/>
              </a:rPr>
              <a:t>), sukūn (</a:t>
            </a:r>
            <a:pPr algn="l" indent="0" marL="0">
              <a:buNone/>
            </a:pPr>
            <a:r>
              <a:rPr lang="ar-SA" altLang="en-US" sz="1800" dirty="0">
                <a:solidFill>
                  <a:srgbClr val="C6D2E6"/>
                </a:solidFill>
                <a:latin typeface="Amiri" pitchFamily="2" charset="-78"/>
                <a:cs typeface="Amiri" pitchFamily="2" charset="-78"/>
              </a:rPr>
              <a:t>ـْ</a:t>
            </a:r>
            <a:pPr algn="l" indent="0" marL="0">
              <a:buNone/>
            </a:pPr>
            <a:r>
              <a:rPr lang="en-US" sz="1400" dirty="0">
                <a:solidFill>
                  <a:srgbClr val="C6D2E6"/>
                </a:solidFill>
                <a:latin typeface="Calibri" pitchFamily="34" charset="0"/>
                <a:cs typeface="Amiri" pitchFamily="2" charset="-78"/>
              </a:rPr>
              <a:t>), shadda (</a:t>
            </a:r>
            <a:pPr algn="l" indent="0" marL="0">
              <a:buNone/>
            </a:pPr>
            <a:r>
              <a:rPr lang="ar-SA" altLang="en-US" sz="1800" dirty="0">
                <a:solidFill>
                  <a:srgbClr val="C6D2E6"/>
                </a:solidFill>
                <a:latin typeface="Amiri" pitchFamily="2" charset="-78"/>
                <a:cs typeface="Amiri" pitchFamily="2" charset="-78"/>
              </a:rPr>
              <a:t>ـّ</a:t>
            </a:r>
            <a:pPr algn="l" indent="0" marL="0">
              <a:buNone/>
            </a:pPr>
            <a:r>
              <a:rPr lang="en-US" sz="1400" dirty="0">
                <a:solidFill>
                  <a:srgbClr val="C6D2E6"/>
                </a:solidFill>
                <a:latin typeface="Calibri" pitchFamily="34" charset="0"/>
                <a:cs typeface="Amiri" pitchFamily="2" charset="-78"/>
              </a:rPr>
              <a:t>), madda (</a:t>
            </a:r>
            <a:pPr algn="l" indent="0" marL="0">
              <a:buNone/>
            </a:pPr>
            <a:r>
              <a:rPr lang="ar-SA" altLang="en-US" sz="1800" dirty="0">
                <a:solidFill>
                  <a:srgbClr val="C6D2E6"/>
                </a:solidFill>
                <a:latin typeface="Amiri" pitchFamily="2" charset="-78"/>
                <a:cs typeface="Amiri" pitchFamily="2" charset="-78"/>
              </a:rPr>
              <a:t>آ</a:t>
            </a:r>
            <a:pPr algn="l" indent="0" marL="0">
              <a:buNone/>
            </a:pPr>
            <a:r>
              <a:rPr lang="en-US" sz="1400" dirty="0">
                <a:solidFill>
                  <a:srgbClr val="C6D2E6"/>
                </a:solidFill>
                <a:latin typeface="Calibri" pitchFamily="34" charset="0"/>
                <a:cs typeface="Amiri" pitchFamily="2" charset="-78"/>
              </a:rPr>
              <a:t>) and hamza on its chairs (</a:t>
            </a:r>
            <a:pPr algn="l" indent="0" marL="0">
              <a:buNone/>
            </a:pPr>
            <a:r>
              <a:rPr lang="ar-SA" altLang="en-US" sz="1800" dirty="0">
                <a:solidFill>
                  <a:srgbClr val="C6D2E6"/>
                </a:solidFill>
                <a:latin typeface="Amiri" pitchFamily="2" charset="-78"/>
                <a:cs typeface="Amiri" pitchFamily="2" charset="-78"/>
              </a:rPr>
              <a:t>أ إ ؤ ئ ء</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GM-SCR-03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Script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Short vowels, long vowels, tanwīn, sukūn, shadda, madda and hamza.</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short and long, repair missing marks, hunt marks in words.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GM-SCR-04.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is a fatḥa?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is a ḍamma?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tanwīn add to the end of a word?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ā</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n sound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SUN letter?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break in </a:t>
            </a:r>
            <a:pPr algn="l" indent="0" marL="0">
              <a:buNone/>
            </a:pPr>
            <a:r>
              <a:rPr lang="ar-SA" altLang="en-US" sz="1650" b="1" dirty="0">
                <a:solidFill>
                  <a:srgbClr val="1B3B6F"/>
                </a:solidFill>
                <a:latin typeface="Amiri" pitchFamily="2" charset="-78"/>
                <a:cs typeface="Amiri" pitchFamily="2" charset="-78"/>
              </a:rPr>
              <a:t>وَرَقَة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cs typeface="Amiri" pitchFamily="2" charset="-78"/>
              </a:rPr>
              <a:t>و</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cs typeface="Amiri" pitchFamily="2" charset="-78"/>
              </a:rPr>
              <a:t>ر</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break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is a fatḥa?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ـَ</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fatḥa = a short 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is a ḍamma?</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ـُ</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ḍamma = a short 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tanwīn add to the end of a word?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ā</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n sound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-un · -an · -in.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SUN letter?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الْقَلَمُ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النُّورُ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GM-SCR-02: </a:t>
            </a:r>
            <a:pPr algn="l" indent="0" marL="0">
              <a:buNone/>
            </a:pPr>
            <a:r>
              <a:rPr lang="ar-SA" altLang="en-US" sz="1350" dirty="0">
                <a:solidFill>
                  <a:srgbClr val="8A6D1E"/>
                </a:solidFill>
                <a:latin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break in </a:t>
            </a:r>
            <a:pPr algn="l" indent="0" marL="0">
              <a:buNone/>
            </a:pPr>
            <a:r>
              <a:rPr lang="ar-SA" altLang="en-US" sz="1650" b="1" dirty="0">
                <a:solidFill>
                  <a:srgbClr val="1B3B6F"/>
                </a:solidFill>
                <a:latin typeface="Amiri" pitchFamily="2" charset="-78"/>
                <a:cs typeface="Amiri" pitchFamily="2" charset="-78"/>
              </a:rPr>
              <a:t>وَرَقَة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a:t>
            </a:r>
            <a:pPr algn="l" indent="0" marL="0">
              <a:buNone/>
            </a:pPr>
            <a:r>
              <a:rPr lang="ar-SA" altLang="en-US" sz="1650" b="1" dirty="0">
                <a:solidFill>
                  <a:srgbClr val="1F2A37"/>
                </a:solidFill>
                <a:latin typeface="Amiri" pitchFamily="2" charset="-78"/>
                <a:cs typeface="Amiri" pitchFamily="2" charset="-78"/>
              </a:rPr>
              <a:t>و</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a:t>
            </a:r>
            <a:pPr algn="l" indent="0" marL="0">
              <a:buNone/>
            </a:pPr>
            <a:r>
              <a:rPr lang="ar-SA" altLang="en-US" sz="1650" dirty="0">
                <a:solidFill>
                  <a:srgbClr val="9AA1AB"/>
                </a:solidFill>
                <a:latin typeface="Amiri" pitchFamily="2" charset="-78"/>
                <a:cs typeface="Amiri" pitchFamily="2" charset="-78"/>
              </a:rPr>
              <a:t>ر</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break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GM-SCR-01: </a:t>
            </a:r>
            <a:pPr algn="l" indent="0" marL="0">
              <a:buNone/>
            </a:pPr>
            <a:r>
              <a:rPr lang="ar-SA" altLang="en-US" sz="1350" dirty="0">
                <a:solidFill>
                  <a:srgbClr val="8A6D1E"/>
                </a:solidFill>
                <a:latin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 never joins forward.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mark tells you a sound — or tells you there is NO vowel (sukūn) or a DOUBLE consonant (shadda).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 · بِ · بُ · بْ · 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the three short vowels and the three long vowels.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tanwīn, sukūn and shadda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madda and the hamza chairs.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hamzat al-qaṭʿ from hamzat al-waṣl.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read </a:t>
            </a:r>
            <a:pPr algn="l" indent="0" marL="0">
              <a:buNone/>
            </a:pPr>
            <a:r>
              <a:rPr lang="ar-SA" altLang="en-US" sz="1700" b="1" dirty="0">
                <a:solidFill>
                  <a:srgbClr val="2E8B57"/>
                </a:solidFill>
                <a:latin typeface="Amiri" pitchFamily="2" charset="-78"/>
                <a:cs typeface="Amiri" pitchFamily="2" charset="-78"/>
              </a:rPr>
              <a:t>بَ</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cs typeface="Amiri" pitchFamily="2" charset="-78"/>
              </a:rPr>
              <a:t>بِ</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cs typeface="Amiri" pitchFamily="2" charset="-78"/>
              </a:rPr>
              <a:t>بُ</a:t>
            </a:r>
            <a:pPr algn="l" indent="0" marL="0">
              <a:buNone/>
            </a:pPr>
            <a:r>
              <a:rPr lang="en-US" sz="1300" b="1" dirty="0">
                <a:solidFill>
                  <a:srgbClr val="2E8B57"/>
                </a:solidFill>
                <a:latin typeface="Calibri" pitchFamily="34" charset="0"/>
                <a:cs typeface="Amiri" pitchFamily="2" charset="-78"/>
              </a:rPr>
              <a:t> and </a:t>
            </a:r>
            <a:pPr algn="l" indent="0" marL="0">
              <a:buNone/>
            </a:pPr>
            <a:r>
              <a:rPr lang="ar-SA" altLang="en-US" sz="1700" b="1" dirty="0">
                <a:solidFill>
                  <a:srgbClr val="2E8B57"/>
                </a:solidFill>
                <a:latin typeface="Amiri" pitchFamily="2" charset="-78"/>
                <a:cs typeface="Amiri" pitchFamily="2" charset="-78"/>
              </a:rPr>
              <a:t>بَا</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cs typeface="Amiri" pitchFamily="2" charset="-78"/>
              </a:rPr>
              <a:t>بِي</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cs typeface="Amiri" pitchFamily="2" charset="-78"/>
              </a:rPr>
              <a:t>بُو</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spot a sukūn and a shadda.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tanwīn: </a:t>
            </a:r>
            <a:pPr algn="l" indent="0" marL="0">
              <a:buNone/>
            </a:pPr>
            <a:r>
              <a:rPr lang="ar-SA" altLang="en-US" sz="1700" b="1" dirty="0">
                <a:solidFill>
                  <a:srgbClr val="C9780A"/>
                </a:solidFill>
                <a:latin typeface="Amiri" pitchFamily="2" charset="-78"/>
                <a:cs typeface="Amiri" pitchFamily="2" charset="-78"/>
              </a:rPr>
              <a:t>كِتَابٌ</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cs typeface="Amiri" pitchFamily="2" charset="-78"/>
              </a:rPr>
              <a:t>كِتَابًا</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cs typeface="Amiri" pitchFamily="2" charset="-78"/>
              </a:rPr>
              <a:t>كِتَابٍ</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long vowels long and short vowels short.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where hamza sits (</a:t>
            </a:r>
            <a:pPr algn="l" indent="0" marL="0">
              <a:buNone/>
            </a:pPr>
            <a:r>
              <a:rPr lang="ar-SA" altLang="en-US" sz="1700" b="1" dirty="0">
                <a:solidFill>
                  <a:srgbClr val="B83227"/>
                </a:solidFill>
                <a:latin typeface="Amiri" pitchFamily="2" charset="-78"/>
                <a:cs typeface="Amiri" pitchFamily="2" charset="-78"/>
              </a:rPr>
              <a:t>أ</a:t>
            </a:r>
            <a:pPr algn="l" indent="0" marL="0">
              <a:buNone/>
            </a:pPr>
            <a:r>
              <a:rPr lang="en-US" sz="1300" b="1" dirty="0">
                <a:solidFill>
                  <a:srgbClr val="B83227"/>
                </a:solidFill>
                <a:latin typeface="Calibri" pitchFamily="34" charset="0"/>
                <a:cs typeface="Amiri" pitchFamily="2" charset="-78"/>
              </a:rPr>
              <a:t> · </a:t>
            </a:r>
            <a:pPr algn="l" indent="0" marL="0">
              <a:buNone/>
            </a:pPr>
            <a:r>
              <a:rPr lang="ar-SA" altLang="en-US" sz="1700" b="1" dirty="0">
                <a:solidFill>
                  <a:srgbClr val="B83227"/>
                </a:solidFill>
                <a:latin typeface="Amiri" pitchFamily="2" charset="-78"/>
                <a:cs typeface="Amiri" pitchFamily="2" charset="-78"/>
              </a:rPr>
              <a:t>إ</a:t>
            </a:r>
            <a:pPr algn="l" indent="0" marL="0">
              <a:buNone/>
            </a:pPr>
            <a:r>
              <a:rPr lang="en-US" sz="1300" b="1" dirty="0">
                <a:solidFill>
                  <a:srgbClr val="B83227"/>
                </a:solidFill>
                <a:latin typeface="Calibri" pitchFamily="34" charset="0"/>
                <a:cs typeface="Amiri" pitchFamily="2" charset="-78"/>
              </a:rPr>
              <a:t> · </a:t>
            </a:r>
            <a:pPr algn="l" indent="0" marL="0">
              <a:buNone/>
            </a:pPr>
            <a:r>
              <a:rPr lang="ar-SA" altLang="en-US" sz="1700" b="1" dirty="0">
                <a:solidFill>
                  <a:srgbClr val="B83227"/>
                </a:solidFill>
                <a:latin typeface="Amiri" pitchFamily="2" charset="-78"/>
                <a:cs typeface="Amiri" pitchFamily="2" charset="-78"/>
              </a:rPr>
              <a:t>ؤ</a:t>
            </a:r>
            <a:pPr algn="l" indent="0" marL="0">
              <a:buNone/>
            </a:pPr>
            <a:r>
              <a:rPr lang="en-US" sz="1300" b="1" dirty="0">
                <a:solidFill>
                  <a:srgbClr val="B83227"/>
                </a:solidFill>
                <a:latin typeface="Calibri" pitchFamily="34" charset="0"/>
                <a:cs typeface="Amiri" pitchFamily="2" charset="-78"/>
              </a:rPr>
              <a:t> · </a:t>
            </a:r>
            <a:pPr algn="l" indent="0" marL="0">
              <a:buNone/>
            </a:pPr>
            <a:r>
              <a:rPr lang="ar-SA" altLang="en-US" sz="1700" b="1" dirty="0">
                <a:solidFill>
                  <a:srgbClr val="B83227"/>
                </a:solidFill>
                <a:latin typeface="Amiri" pitchFamily="2" charset="-78"/>
                <a:cs typeface="Amiri" pitchFamily="2" charset="-78"/>
              </a:rPr>
              <a:t>ئ</a:t>
            </a:r>
            <a:pPr algn="l" indent="0" marL="0">
              <a:buNone/>
            </a:pPr>
            <a:r>
              <a:rPr lang="en-US" sz="1300" b="1" dirty="0">
                <a:solidFill>
                  <a:srgbClr val="B83227"/>
                </a:solidFill>
                <a:latin typeface="Calibri" pitchFamily="34" charset="0"/>
                <a:cs typeface="Amiri" pitchFamily="2" charset="-78"/>
              </a:rPr>
              <a:t> · </a:t>
            </a:r>
            <a:pPr algn="l" indent="0" marL="0">
              <a:buNone/>
            </a:pPr>
            <a:r>
              <a:rPr lang="ar-SA" altLang="en-US" sz="1700" b="1" dirty="0">
                <a:solidFill>
                  <a:srgbClr val="B83227"/>
                </a:solidFill>
                <a:latin typeface="Amiri" pitchFamily="2" charset="-78"/>
                <a:cs typeface="Amiri" pitchFamily="2" charset="-78"/>
              </a:rPr>
              <a:t>ء</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tell hamzat al-qaṭʿ from hamzat al-waṣl.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فَتْحَةٌ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fatḥa — short a (zabar)</a:t>
            </a:r>
            <a:endParaRPr lang="en-US" sz="1350" dirty="0"/>
          </a:p>
          <a:p>
            <a:pPr indent="0" marL="0">
              <a:buNone/>
            </a:pPr>
            <a:r>
              <a:rPr lang="en-US" sz="1100" i="1" dirty="0">
                <a:solidFill>
                  <a:srgbClr val="5A6472"/>
                </a:solidFill>
                <a:latin typeface="Calibri" pitchFamily="34" charset="0"/>
                <a:cs typeface="Amiri" pitchFamily="2" charset="-78"/>
              </a:rPr>
              <a:t>fat-ḥa-tun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كَسْرَةٌ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kasra — short i (zer)</a:t>
            </a:r>
            <a:endParaRPr lang="en-US" sz="1350" dirty="0"/>
          </a:p>
          <a:p>
            <a:pPr indent="0" marL="0">
              <a:buNone/>
            </a:pPr>
            <a:r>
              <a:rPr lang="en-US" sz="1100" i="1" dirty="0">
                <a:solidFill>
                  <a:srgbClr val="5A6472"/>
                </a:solidFill>
                <a:latin typeface="Calibri" pitchFamily="34" charset="0"/>
                <a:cs typeface="Amiri" pitchFamily="2" charset="-78"/>
              </a:rPr>
              <a:t>kas-ra-tun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بِنْتٌ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ضَمَّةٌ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ḍamma — short u (pesh)</a:t>
            </a:r>
            <a:endParaRPr lang="en-US" sz="1350" dirty="0"/>
          </a:p>
          <a:p>
            <a:pPr indent="0" marL="0">
              <a:buNone/>
            </a:pPr>
            <a:r>
              <a:rPr lang="en-US" sz="1100" i="1" dirty="0">
                <a:solidFill>
                  <a:srgbClr val="5A6472"/>
                </a:solidFill>
                <a:latin typeface="Calibri" pitchFamily="34" charset="0"/>
                <a:cs typeface="Amiri" pitchFamily="2" charset="-78"/>
              </a:rPr>
              <a:t>ḍam-ma-tun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سُكُونٌ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sukūn — no vowel (jazm)</a:t>
            </a:r>
            <a:endParaRPr lang="en-US" sz="1350" dirty="0"/>
          </a:p>
          <a:p>
            <a:pPr indent="0" marL="0">
              <a:buNone/>
            </a:pPr>
            <a:r>
              <a:rPr lang="en-US" sz="1100" i="1" dirty="0">
                <a:solidFill>
                  <a:srgbClr val="5A6472"/>
                </a:solidFill>
                <a:latin typeface="Calibri" pitchFamily="34" charset="0"/>
                <a:cs typeface="Amiri" pitchFamily="2" charset="-78"/>
              </a:rPr>
              <a:t>su-kū-nun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مَكْتَبٌ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شَدَّةٌ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shadda — doubled letter (tashdīd)</a:t>
            </a:r>
            <a:endParaRPr lang="en-US" sz="1350" dirty="0"/>
          </a:p>
          <a:p>
            <a:pPr indent="0" marL="0">
              <a:buNone/>
            </a:pPr>
            <a:r>
              <a:rPr lang="en-US" sz="1100" i="1" dirty="0">
                <a:solidFill>
                  <a:srgbClr val="5A6472"/>
                </a:solidFill>
                <a:latin typeface="Calibri" pitchFamily="34" charset="0"/>
                <a:cs typeface="Amiri" pitchFamily="2" charset="-78"/>
              </a:rPr>
              <a:t>shad-da-tun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مُعَلِّمٌ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تَنْوِينٌ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tanwīn — -un · -an · -in</a:t>
            </a:r>
            <a:endParaRPr lang="en-US" sz="1350" dirty="0"/>
          </a:p>
          <a:p>
            <a:pPr indent="0" marL="0">
              <a:buNone/>
            </a:pPr>
            <a:r>
              <a:rPr lang="en-US" sz="1100" i="1" dirty="0">
                <a:solidFill>
                  <a:srgbClr val="5A6472"/>
                </a:solidFill>
                <a:latin typeface="Calibri" pitchFamily="34" charset="0"/>
                <a:cs typeface="Amiri" pitchFamily="2" charset="-78"/>
              </a:rPr>
              <a:t>tan-wī-nun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كِتَابٌ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vowel / madda</a:t>
            </a:r>
            <a:endParaRPr lang="en-US" sz="1350" dirty="0"/>
          </a:p>
          <a:p>
            <a:pPr indent="0" marL="0">
              <a:buNone/>
            </a:pPr>
            <a:r>
              <a:rPr lang="en-US" sz="1100" i="1" dirty="0">
                <a:solidFill>
                  <a:srgbClr val="5A6472"/>
                </a:solidFill>
                <a:latin typeface="Calibri" pitchFamily="34" charset="0"/>
                <a:cs typeface="Amiri" pitchFamily="2" charset="-78"/>
              </a:rPr>
              <a:t>mad-dun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e.g. </a:t>
            </a:r>
            <a:pPr algn="l" indent="0" marL="0">
              <a:buNone/>
            </a:pPr>
            <a:r>
              <a:rPr lang="ar-SA" altLang="en-US" sz="1300" dirty="0">
                <a:solidFill>
                  <a:srgbClr val="8A6D1E"/>
                </a:solidFill>
                <a:latin typeface="Amiri" pitchFamily="2" charset="-78"/>
                <a:cs typeface="Amiri" pitchFamily="2" charset="-78"/>
              </a:rPr>
              <a:t>قُرْآنٌ</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هَمْزَةٌ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hamza (glottal stop)</a:t>
            </a:r>
            <a:endParaRPr lang="en-US" sz="1350" dirty="0"/>
          </a:p>
          <a:p>
            <a:pPr indent="0" marL="0">
              <a:buNone/>
            </a:pPr>
            <a:r>
              <a:rPr lang="en-US" sz="1100" i="1" dirty="0">
                <a:solidFill>
                  <a:srgbClr val="5A6472"/>
                </a:solidFill>
                <a:latin typeface="Calibri" pitchFamily="34" charset="0"/>
                <a:cs typeface="Amiri" pitchFamily="2" charset="-78"/>
              </a:rPr>
              <a:t>ham-za-tun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 إ ؤ ئ ء</a:t>
            </a:r>
            <a:endParaRPr lang="ar-SA" sz="13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SHORT AND LONG VOWELS (WEBSITE SECTIONS)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Short a, i, u — and their long partners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الْحَرَكَاتُ الْقَصِيرَةُ وَالطَّوِيلَةُ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Three short vowels sit above or below a letter: fatḥa </a:t>
            </a:r>
            <a:pPr algn="l" indent="0" marL="0">
              <a:buNone/>
            </a:pPr>
            <a:r>
              <a:rPr lang="ar-SA" altLang="en-US" sz="1700" dirty="0">
                <a:solidFill>
                  <a:srgbClr val="1F2A37"/>
                </a:solidFill>
                <a:latin typeface="Amiri" pitchFamily="2" charset="-78"/>
                <a:cs typeface="Amiri" pitchFamily="2" charset="-78"/>
              </a:rPr>
              <a:t>ـَ</a:t>
            </a:r>
            <a:pPr algn="l" indent="0" marL="0">
              <a:buNone/>
            </a:pPr>
            <a:r>
              <a:rPr lang="en-US" sz="1300" dirty="0">
                <a:solidFill>
                  <a:srgbClr val="1F2A37"/>
                </a:solidFill>
                <a:latin typeface="Calibri" pitchFamily="34" charset="0"/>
                <a:cs typeface="Amiri" pitchFamily="2" charset="-78"/>
              </a:rPr>
              <a:t> (a) · kasra </a:t>
            </a:r>
            <a:pPr algn="l" indent="0" marL="0">
              <a:buNone/>
            </a:pPr>
            <a:r>
              <a:rPr lang="ar-SA" altLang="en-US" sz="1700" dirty="0">
                <a:solidFill>
                  <a:srgbClr val="1F2A37"/>
                </a:solidFill>
                <a:latin typeface="Amiri" pitchFamily="2" charset="-78"/>
                <a:cs typeface="Amiri" pitchFamily="2" charset="-78"/>
              </a:rPr>
              <a:t>ـِ</a:t>
            </a:r>
            <a:pPr algn="l" indent="0" marL="0">
              <a:buNone/>
            </a:pPr>
            <a:r>
              <a:rPr lang="en-US" sz="1300" dirty="0">
                <a:solidFill>
                  <a:srgbClr val="1F2A37"/>
                </a:solidFill>
                <a:latin typeface="Calibri" pitchFamily="34" charset="0"/>
                <a:cs typeface="Amiri" pitchFamily="2" charset="-78"/>
              </a:rPr>
              <a:t> (i) · ḍamma </a:t>
            </a:r>
            <a:pPr algn="l" indent="0" marL="0">
              <a:buNone/>
            </a:pPr>
            <a:r>
              <a:rPr lang="ar-SA" altLang="en-US" sz="1700" dirty="0">
                <a:solidFill>
                  <a:srgbClr val="1F2A37"/>
                </a:solidFill>
                <a:latin typeface="Amiri" pitchFamily="2" charset="-78"/>
                <a:cs typeface="Amiri" pitchFamily="2" charset="-78"/>
              </a:rPr>
              <a:t>ـُ</a:t>
            </a:r>
            <a:pPr algn="l" indent="0" marL="0">
              <a:buNone/>
            </a:pPr>
            <a:r>
              <a:rPr lang="en-US" sz="1300" dirty="0">
                <a:solidFill>
                  <a:srgbClr val="1F2A37"/>
                </a:solidFill>
                <a:latin typeface="Calibri" pitchFamily="34" charset="0"/>
                <a:cs typeface="Amiri" pitchFamily="2" charset="-78"/>
              </a:rPr>
              <a:t> (u).</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short vowel is brief. Do not lengthen it unless a long-vowel letter follows (website duration rule).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Long ā = fatḥa + alif · long ī = kasra + yāʾ · long ū = ḍamma + wāw.</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Say a long vowel about twice as long as a short one: </a:t>
            </a:r>
            <a:pPr algn="l" indent="0" marL="0">
              <a:buNone/>
            </a:pPr>
            <a:r>
              <a:rPr lang="ar-SA" altLang="en-US" sz="1700" dirty="0">
                <a:solidFill>
                  <a:srgbClr val="1F2A37"/>
                </a:solidFill>
                <a:latin typeface="Amiri" pitchFamily="2" charset="-78"/>
                <a:cs typeface="Amiri" pitchFamily="2" charset="-78"/>
              </a:rPr>
              <a:t>بَ</a:t>
            </a:r>
            <a:pPr algn="l" indent="0" marL="0">
              <a:buNone/>
            </a:pPr>
            <a:r>
              <a:rPr lang="en-US" sz="1300" dirty="0">
                <a:solidFill>
                  <a:srgbClr val="1F2A37"/>
                </a:solidFill>
                <a:latin typeface="Calibri" pitchFamily="34" charset="0"/>
                <a:cs typeface="Amiri" pitchFamily="2" charset="-78"/>
              </a:rPr>
              <a:t> (ba) — </a:t>
            </a:r>
            <a:pPr algn="l" indent="0" marL="0">
              <a:buNone/>
            </a:pPr>
            <a:r>
              <a:rPr lang="ar-SA" altLang="en-US" sz="1700" dirty="0">
                <a:solidFill>
                  <a:srgbClr val="1F2A37"/>
                </a:solidFill>
                <a:latin typeface="Amiri" pitchFamily="2" charset="-78"/>
                <a:cs typeface="Amiri" pitchFamily="2" charset="-78"/>
              </a:rPr>
              <a:t>بَا</a:t>
            </a:r>
            <a:pPr algn="l" indent="0" marL="0">
              <a:buNone/>
            </a:pPr>
            <a:r>
              <a:rPr lang="en-US" sz="1300" dirty="0">
                <a:solidFill>
                  <a:srgbClr val="1F2A37"/>
                </a:solidFill>
                <a:latin typeface="Calibri" pitchFamily="34" charset="0"/>
                <a:cs typeface="Amiri" pitchFamily="2" charset="-78"/>
              </a:rPr>
              <a:t> (bā).</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Wāw and yāʾ can also be consonants (</a:t>
            </a:r>
            <a:pPr algn="l" indent="0" marL="0">
              <a:buNone/>
            </a:pPr>
            <a:r>
              <a:rPr lang="ar-SA" altLang="en-US" sz="1700" dirty="0">
                <a:solidFill>
                  <a:srgbClr val="1F2A37"/>
                </a:solidFill>
                <a:latin typeface="Amiri" pitchFamily="2" charset="-78"/>
                <a:cs typeface="Amiri" pitchFamily="2" charset="-78"/>
              </a:rPr>
              <a:t>وَلَدٌ</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يَوْمٌ</a:t>
            </a:r>
            <a:pPr algn="l" indent="0" marL="0">
              <a:buNone/>
            </a:pPr>
            <a:r>
              <a:rPr lang="en-US" sz="1300" dirty="0">
                <a:solidFill>
                  <a:srgbClr val="1F2A37"/>
                </a:solidFill>
                <a:latin typeface="Calibri" pitchFamily="34" charset="0"/>
                <a:cs typeface="Amiri" pitchFamily="2" charset="-78"/>
              </a:rPr>
              <a:t>): the vowels around them decide.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كَتَبَ · بِنْتٌ · كُتُبٌ</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kataba · bintun · kutubun  ·  short a · i · u</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بَابٌ</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bābun — door  ·  fatḥa + alif = ā</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كَبِيرٌ</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kabīrun — big  ·  kasra + yāʾ = ī</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نُورٌ</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nūrun — light  ·  ḍamma + wāw = ū</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table: fatḥa + alif = long ā (bābun) · kasra + yāʾ = long ī (kabīrun) · ḍamma + wāw = long ū (nūrun).</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TANWĪN, SUKŪN AND SHADDA (WEBSITE SECTIONS)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more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التَّنْوِينُ وَالسُّكُونُ وَالشَّدَّةُ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tells you (website)</a:t>
            </a:r>
            <a:endParaRPr lang="en-US" sz="1100" dirty="0"/>
          </a:p>
        </p:txBody>
      </p:sp>
      <p:sp>
        <p:nvSpPr>
          <p:cNvPr id="17" name="Text 14"/>
          <p:cNvSpPr txBox="1"/>
          <p:nvPr/>
        </p:nvSpPr>
        <p:spPr>
          <a:xfrm>
            <a:off x="29077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236208" y="2267712"/>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Adds an n sound; usually an indefinite noun: a book.</a:t>
            </a:r>
            <a:endParaRPr lang="en-US" sz="1100" dirty="0"/>
          </a:p>
        </p:txBody>
      </p:sp>
      <p:sp>
        <p:nvSpPr>
          <p:cNvPr id="21" name="Text 18"/>
          <p:cNvSpPr txBox="1"/>
          <p:nvPr/>
        </p:nvSpPr>
        <p:spPr>
          <a:xfrm>
            <a:off x="2926080" y="2267712"/>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كِتَابٌ</a:t>
            </a:r>
            <a:endParaRPr lang="ar-SA" sz="28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ḍamm (-un)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236208" y="300471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Written with an extra alif in most words.</a:t>
            </a:r>
            <a:endParaRPr lang="en-US" sz="1100" dirty="0"/>
          </a:p>
        </p:txBody>
      </p:sp>
      <p:sp>
        <p:nvSpPr>
          <p:cNvPr id="27" name="Text 24"/>
          <p:cNvSpPr txBox="1"/>
          <p:nvPr/>
        </p:nvSpPr>
        <p:spPr>
          <a:xfrm>
            <a:off x="2926080" y="3004718"/>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كِتَابًا</a:t>
            </a:r>
            <a:endParaRPr lang="ar-SA" sz="28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fatḥ (-an)</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6236208" y="3741725"/>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 after a preposition: </a:t>
            </a:r>
            <a:pPr algn="l" indent="0" marL="0">
              <a:buNone/>
            </a:pPr>
            <a:r>
              <a:rPr lang="ar-SA" altLang="en-US" sz="1450" dirty="0">
                <a:solidFill>
                  <a:srgbClr val="5A6472"/>
                </a:solidFill>
                <a:latin typeface="Amiri" pitchFamily="2" charset="-78"/>
                <a:cs typeface="Amiri" pitchFamily="2" charset="-78"/>
              </a:rPr>
              <a:t>فِي بَيْتٍ</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2926080" y="3741725"/>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كِتَابٍ</a:t>
            </a:r>
            <a:endParaRPr lang="ar-SA" sz="2800" dirty="0"/>
          </a:p>
        </p:txBody>
      </p:sp>
      <p:sp>
        <p:nvSpPr>
          <p:cNvPr id="32" name="Text 29"/>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kasr (-in)</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236208" y="4478731"/>
            <a:ext cx="542239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كْ</a:t>
            </a:r>
            <a:pPr algn="l" indent="0" marL="0">
              <a:buNone/>
            </a:pPr>
            <a:r>
              <a:rPr lang="en-US" sz="1100" dirty="0">
                <a:solidFill>
                  <a:srgbClr val="5A6472"/>
                </a:solidFill>
                <a:latin typeface="Calibri" pitchFamily="34" charset="0"/>
                <a:cs typeface="Amiri" pitchFamily="2" charset="-78"/>
              </a:rPr>
              <a:t> has no vowel: do not add an extra vowel (makNtab ✗).</a:t>
            </a:r>
            <a:endParaRPr lang="en-US" sz="1100" dirty="0"/>
          </a:p>
        </p:txBody>
      </p:sp>
      <p:sp>
        <p:nvSpPr>
          <p:cNvPr id="35" name="Text 32"/>
          <p:cNvSpPr txBox="1"/>
          <p:nvPr/>
        </p:nvSpPr>
        <p:spPr>
          <a:xfrm>
            <a:off x="2926080" y="4478731"/>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مَكْتَبٌ</a:t>
            </a:r>
            <a:endParaRPr lang="ar-SA" sz="2800" dirty="0"/>
          </a:p>
        </p:txBody>
      </p:sp>
      <p:sp>
        <p:nvSpPr>
          <p:cNvPr id="36" name="Text 33"/>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sukūn</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236208" y="521573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lām is doubled: two consonants, the first without a vowel.</a:t>
            </a:r>
            <a:endParaRPr lang="en-US" sz="1100" dirty="0"/>
          </a:p>
        </p:txBody>
      </p:sp>
      <p:sp>
        <p:nvSpPr>
          <p:cNvPr id="41" name="Text 38"/>
          <p:cNvSpPr txBox="1"/>
          <p:nvPr/>
        </p:nvSpPr>
        <p:spPr>
          <a:xfrm>
            <a:off x="2926080" y="5215738"/>
            <a:ext cx="3108960" cy="682142"/>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مُعَلِّمٌ</a:t>
            </a:r>
            <a:endParaRPr lang="ar-SA" sz="28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Hidden structure (website): a shadda = two consonants — the first vowelless, the second carrying the written vowel.</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3 · MADDA AND HAMZA (WEBSITE SECTIONS) · DEVELOP / STRETCH</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Madda, hamza and its chairs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الْمَدَّةُ وَالْهَمْزَةُ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172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MADDA</a:t>
            </a:r>
            <a:endParaRPr lang="en-US" sz="850" dirty="0"/>
          </a:p>
        </p:txBody>
      </p:sp>
      <p:sp>
        <p:nvSpPr>
          <p:cNvPr id="18" name="Text 15"/>
          <p:cNvSpPr txBox="1"/>
          <p:nvPr/>
        </p:nvSpPr>
        <p:spPr>
          <a:xfrm>
            <a:off x="8895588"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آ</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قُرْآنٌ</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hamza + long ā — only ever written on alif</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t>
            </a:r>
            <a:pPr algn="l" indent="0" marL="0">
              <a:buNone/>
            </a:pPr>
            <a:r>
              <a:rPr lang="ar-SA" altLang="en-US" sz="1450" dirty="0">
                <a:solidFill>
                  <a:srgbClr val="1F2A37"/>
                </a:solidFill>
                <a:latin typeface="Amiri" pitchFamily="2" charset="-78"/>
                <a:cs typeface="Amiri" pitchFamily="2" charset="-78"/>
              </a:rPr>
              <a:t>آمَنَ</a:t>
            </a:r>
            <a:pPr algn="l" indent="0" marL="0">
              <a:buNone/>
            </a:pPr>
            <a:r>
              <a:rPr lang="en-US" sz="1100" dirty="0">
                <a:solidFill>
                  <a:srgbClr val="1F2A37"/>
                </a:solidFill>
                <a:latin typeface="Calibri" pitchFamily="34" charset="0"/>
                <a:cs typeface="Amiri" pitchFamily="2" charset="-78"/>
              </a:rPr>
              <a:t> (he believed).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HAMZA CHAIRS</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 · إ · ؤ · ئ · ء</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أَكَلَ · إِسْلَامٌ</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with fatḥa/ḍamma above alif · with kasra below alif</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 wāw: </a:t>
            </a:r>
            <a:pPr algn="l" indent="0" marL="0">
              <a:buNone/>
            </a:pPr>
            <a:r>
              <a:rPr lang="ar-SA" altLang="en-US" sz="1450" dirty="0">
                <a:solidFill>
                  <a:srgbClr val="1F2A37"/>
                </a:solidFill>
                <a:latin typeface="Amiri" pitchFamily="2" charset="-78"/>
                <a:cs typeface="Amiri" pitchFamily="2" charset="-78"/>
              </a:rPr>
              <a:t>سُؤَالٌ</a:t>
            </a:r>
            <a:pPr algn="l" indent="0" marL="0">
              <a:buNone/>
            </a:pPr>
            <a:r>
              <a:rPr lang="en-US" sz="1100" dirty="0">
                <a:solidFill>
                  <a:srgbClr val="1F2A37"/>
                </a:solidFill>
                <a:latin typeface="Calibri" pitchFamily="34" charset="0"/>
                <a:cs typeface="Amiri" pitchFamily="2" charset="-78"/>
              </a:rPr>
              <a:t> · on yāʾ: </a:t>
            </a:r>
            <a:pPr algn="l" indent="0" marL="0">
              <a:buNone/>
            </a:pPr>
            <a:r>
              <a:rPr lang="ar-SA" altLang="en-US" sz="1450" dirty="0">
                <a:solidFill>
                  <a:srgbClr val="1F2A37"/>
                </a:solidFill>
                <a:latin typeface="Amiri" pitchFamily="2" charset="-78"/>
                <a:cs typeface="Amiri" pitchFamily="2" charset="-78"/>
              </a:rPr>
              <a:t>بِئْرٌ</a:t>
            </a:r>
            <a:pPr algn="l" indent="0" marL="0">
              <a:buNone/>
            </a:pPr>
            <a:r>
              <a:rPr lang="en-US" sz="1100" dirty="0">
                <a:solidFill>
                  <a:srgbClr val="1F2A37"/>
                </a:solidFill>
                <a:latin typeface="Calibri" pitchFamily="34" charset="0"/>
                <a:cs typeface="Amiri" pitchFamily="2" charset="-78"/>
              </a:rPr>
              <a:t> · alone: </a:t>
            </a:r>
            <a:pPr algn="l" indent="0" marL="0">
              <a:buNone/>
            </a:pPr>
            <a:r>
              <a:rPr lang="ar-SA" altLang="en-US" sz="1450" dirty="0">
                <a:solidFill>
                  <a:srgbClr val="1F2A37"/>
                </a:solidFill>
                <a:latin typeface="Amiri" pitchFamily="2" charset="-78"/>
                <a:cs typeface="Amiri" pitchFamily="2" charset="-78"/>
              </a:rPr>
              <a:t>شَيْءٌ</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QAṬʿ OR WAṢL</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أَحْمَدُ · اِسْمٌ</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بِسْمِ اللهِ</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qaṭʿ is always said; waṣl drops when joined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بِسْمِ</a:t>
            </a:r>
            <a:pPr algn="l" indent="0" marL="0">
              <a:buNone/>
            </a:pPr>
            <a:r>
              <a:rPr lang="en-US" sz="1100" dirty="0">
                <a:solidFill>
                  <a:srgbClr val="1F2A37"/>
                </a:solidFill>
                <a:latin typeface="Calibri" pitchFamily="34" charset="0"/>
                <a:cs typeface="Amiri" pitchFamily="2" charset="-78"/>
              </a:rPr>
              <a:t>: the alif of </a:t>
            </a:r>
            <a:pPr algn="l" indent="0" marL="0">
              <a:buNone/>
            </a:pPr>
            <a:r>
              <a:rPr lang="ar-SA" altLang="en-US" sz="1450" dirty="0">
                <a:solidFill>
                  <a:srgbClr val="1F2A37"/>
                </a:solidFill>
                <a:latin typeface="Amiri" pitchFamily="2" charset="-78"/>
                <a:cs typeface="Amiri" pitchFamily="2" charset="-78"/>
              </a:rPr>
              <a:t>اِسْم</a:t>
            </a:r>
            <a:pPr algn="l" indent="0" marL="0">
              <a:buNone/>
            </a:pPr>
            <a:r>
              <a:rPr lang="en-US" sz="1100" dirty="0">
                <a:solidFill>
                  <a:srgbClr val="1F2A37"/>
                </a:solidFill>
                <a:latin typeface="Calibri" pitchFamily="34" charset="0"/>
                <a:cs typeface="Amiri" pitchFamily="2" charset="-78"/>
              </a:rPr>
              <a:t> is not heard.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an initial kasra puts hamza BELOW the alif.</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إِسْلَامٌ</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أِسْلَامٌ</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LONG ī?</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كَبِيرٌ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sukūn in </a:t>
            </a:r>
            <a:pPr algn="l" indent="0" marL="0">
              <a:buNone/>
            </a:pPr>
            <a:r>
              <a:rPr lang="ar-SA" altLang="en-US" sz="1650" b="1" dirty="0">
                <a:solidFill>
                  <a:srgbClr val="1B3B6F"/>
                </a:solidFill>
                <a:latin typeface="Amiri" pitchFamily="2" charset="-78"/>
                <a:cs typeface="Amiri" pitchFamily="2" charset="-78"/>
              </a:rPr>
              <a:t>مَكْتَبٌ</a:t>
            </a:r>
            <a:pPr algn="l" indent="0" marL="0">
              <a:buNone/>
            </a:pPr>
            <a:r>
              <a:rPr lang="en-US" sz="1250" b="1" dirty="0">
                <a:solidFill>
                  <a:srgbClr val="1B3B6F"/>
                </a:solidFill>
                <a:latin typeface="Calibri" pitchFamily="34" charset="0"/>
                <a:cs typeface="Amiri" pitchFamily="2" charset="-78"/>
              </a:rPr>
              <a:t> tell you?</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كْ</a:t>
            </a:r>
            <a:pPr algn="l" indent="0" marL="0">
              <a:buNone/>
            </a:pPr>
            <a:r>
              <a:rPr lang="en-US" sz="1250" dirty="0">
                <a:solidFill>
                  <a:srgbClr val="1F2A37"/>
                </a:solidFill>
                <a:latin typeface="Calibri" pitchFamily="34" charset="0"/>
                <a:cs typeface="Amiri" pitchFamily="2" charset="-78"/>
              </a:rPr>
              <a:t> has no vowel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كّ</a:t>
            </a:r>
            <a:pPr algn="l" indent="0" marL="0">
              <a:buNone/>
            </a:pPr>
            <a:r>
              <a:rPr lang="en-US" sz="1250" dirty="0">
                <a:solidFill>
                  <a:srgbClr val="1F2A37"/>
                </a:solidFill>
                <a:latin typeface="Calibri" pitchFamily="34" charset="0"/>
                <a:cs typeface="Amiri" pitchFamily="2" charset="-78"/>
              </a:rPr>
              <a:t> is doubled</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ك</a:t>
            </a:r>
            <a:pPr algn="l" indent="0" marL="0">
              <a:buNone/>
            </a:pPr>
            <a:r>
              <a:rPr lang="en-US" sz="1250" dirty="0">
                <a:solidFill>
                  <a:srgbClr val="1F2A37"/>
                </a:solidFill>
                <a:latin typeface="Calibri" pitchFamily="34" charset="0"/>
                <a:cs typeface="Amiri" pitchFamily="2" charset="-78"/>
              </a:rPr>
              <a:t> is long</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shadda?</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نُورٌ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is tanwīn fatḥ (-an)?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LONG ī?</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كَبِيرٌ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 yāʾ.</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sukūn in </a:t>
            </a:r>
            <a:pPr algn="l" indent="0" marL="0">
              <a:buNone/>
            </a:pPr>
            <a:r>
              <a:rPr lang="ar-SA" altLang="en-US" sz="1650" b="1" dirty="0">
                <a:solidFill>
                  <a:srgbClr val="1B3B6F"/>
                </a:solidFill>
                <a:latin typeface="Amiri" pitchFamily="2" charset="-78"/>
                <a:cs typeface="Amiri" pitchFamily="2" charset="-78"/>
              </a:rPr>
              <a:t>مَكْتَبٌ</a:t>
            </a:r>
            <a:pPr algn="l" indent="0" marL="0">
              <a:buNone/>
            </a:pPr>
            <a:r>
              <a:rPr lang="en-US" sz="1250" b="1" dirty="0">
                <a:solidFill>
                  <a:srgbClr val="1B3B6F"/>
                </a:solidFill>
                <a:latin typeface="Calibri" pitchFamily="34" charset="0"/>
                <a:cs typeface="Amiri" pitchFamily="2" charset="-78"/>
              </a:rPr>
              <a:t> tell you?</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كْ</a:t>
            </a:r>
            <a:pPr algn="l" indent="0" marL="0">
              <a:buNone/>
            </a:pPr>
            <a:r>
              <a:rPr lang="en-US" sz="1250" b="1" dirty="0">
                <a:solidFill>
                  <a:srgbClr val="1F2A37"/>
                </a:solidFill>
                <a:latin typeface="Calibri" pitchFamily="34" charset="0"/>
                <a:cs typeface="Amiri" pitchFamily="2" charset="-78"/>
              </a:rPr>
              <a:t> has no vowel</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كّ</a:t>
            </a:r>
            <a:pPr algn="l" indent="0" marL="0">
              <a:buNone/>
            </a:pPr>
            <a:r>
              <a:rPr lang="en-US" sz="1250" dirty="0">
                <a:solidFill>
                  <a:srgbClr val="9AA1AB"/>
                </a:solidFill>
                <a:latin typeface="Calibri" pitchFamily="34" charset="0"/>
                <a:cs typeface="Amiri" pitchFamily="2" charset="-78"/>
              </a:rPr>
              <a:t> is doubled</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ك</a:t>
            </a:r>
            <a:pPr algn="l" indent="0" marL="0">
              <a:buNone/>
            </a:pPr>
            <a:r>
              <a:rPr lang="en-US" sz="1250" dirty="0">
                <a:solidFill>
                  <a:srgbClr val="9AA1AB"/>
                </a:solidFill>
                <a:latin typeface="Calibri" pitchFamily="34" charset="0"/>
                <a:cs typeface="Amiri" pitchFamily="2" charset="-78"/>
              </a:rPr>
              <a:t> is long</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Move straight on to </a:t>
            </a:r>
            <a:pPr algn="l" indent="0" marL="0">
              <a:buNone/>
            </a:pPr>
            <a:r>
              <a:rPr lang="ar-SA" altLang="en-US" sz="1350" dirty="0">
                <a:solidFill>
                  <a:srgbClr val="8A6D1E"/>
                </a:solidFill>
                <a:latin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shadda?</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مُعَلِّمٌ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نُورٌ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lām is doubled.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is tanwīn fatḥ (-an)?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Double fatḥa, with an alif.</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read every mark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Letters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 ع ل 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the skeleton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Short vowels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 عَ 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mu · ʿa · li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Shadda</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مُعَلِّـ</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Double the lām: mu-ʿal-li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Tanwīn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مُعَلِّمٌ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End with -un: muʿallimun.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Text 41"/>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مُعَلِّمٌ · مَكْتَبٌ · كَبِيرٌ · نُورٌ · قُرْآنٌ · سُؤَالٌ</a:t>
            </a:r>
            <a:endParaRPr lang="ar-SA" sz="2600" dirty="0"/>
          </a:p>
        </p:txBody>
      </p:sp>
      <p:sp>
        <p:nvSpPr>
          <p:cNvPr id="46" name="Text 4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teacher · desk/office · big · light · Qurʾān · question — the website mark hunt: one shadda, two long vowels, one sukūn, one hamza chair.</a:t>
            </a:r>
            <a:endParaRPr lang="en-US" sz="1300" dirty="0"/>
          </a:p>
        </p:txBody>
      </p:sp>
      <p:sp>
        <p:nvSpPr>
          <p:cNvPr id="47"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بَ / بَا · بِ / بِي · بُ / بُو</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ba / bā · bi / bī · bu / bū</a:t>
            </a:r>
            <a:endParaRPr lang="en-US" sz="1250" dirty="0"/>
          </a:p>
          <a:p>
            <a:pPr indent="0" marL="0">
              <a:buNone/>
            </a:pPr>
            <a:r>
              <a:rPr lang="en-US" sz="1050" i="1" dirty="0">
                <a:solidFill>
                  <a:srgbClr val="8A6D1E"/>
                </a:solidFill>
                <a:latin typeface="Calibri" pitchFamily="34" charset="0"/>
                <a:cs typeface="Amiri" pitchFamily="2" charset="-78"/>
              </a:rPr>
              <a:t>Website controlled contrast: long = two beats.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يَكْتُبُ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yaktubu — he writes</a:t>
            </a:r>
            <a:endParaRPr lang="en-US" sz="1250" dirty="0"/>
          </a:p>
          <a:p>
            <a:pPr indent="0" marL="0">
              <a:buNone/>
            </a:pPr>
            <a:r>
              <a:rPr lang="en-US" sz="1050" i="1" dirty="0">
                <a:solidFill>
                  <a:srgbClr val="8A6D1E"/>
                </a:solidFill>
                <a:latin typeface="Calibri" pitchFamily="34" charset="0"/>
                <a:cs typeface="Amiri" pitchFamily="2" charset="-78"/>
              </a:rPr>
              <a:t>kt: no vowel between ك and ت.</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سُؤَالٌ · بِئْرٌ · شَيْءٌ</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question · a well · a thing</a:t>
            </a:r>
            <a:endParaRPr lang="en-US" sz="1250" dirty="0"/>
          </a:p>
          <a:p>
            <a:pPr indent="0" marL="0">
              <a:buNone/>
            </a:pPr>
            <a:r>
              <a:rPr lang="en-US" sz="1050" i="1" dirty="0">
                <a:solidFill>
                  <a:srgbClr val="8A6D1E"/>
                </a:solidFill>
                <a:latin typeface="Calibri" pitchFamily="34" charset="0"/>
                <a:cs typeface="Amiri" pitchFamily="2" charset="-78"/>
              </a:rPr>
              <a:t>hamza on wāw · on yāʾ · alone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آمَنَ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āmana — he believed</a:t>
            </a:r>
            <a:endParaRPr lang="en-US" sz="1250" dirty="0"/>
          </a:p>
          <a:p>
            <a:pPr indent="0" marL="0">
              <a:buNone/>
            </a:pPr>
            <a:r>
              <a:rPr lang="en-US" sz="1050" i="1" dirty="0">
                <a:solidFill>
                  <a:srgbClr val="8A6D1E"/>
                </a:solidFill>
                <a:latin typeface="Calibri" pitchFamily="34" charset="0"/>
                <a:cs typeface="Amiri" pitchFamily="2" charset="-78"/>
              </a:rPr>
              <a:t>madda: hamza + long 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3 “SHORT OR LONG?”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Short vowel or long vowel?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بِنْتٌ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كَبِيرٌ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نُورٌ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سُوقٌ</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وَلَدٌ</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Short vowel only</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Has a long vowel</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Short vowel only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بِنْتٌ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وَلَدٌ</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Has a long vowel</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كَبِيرٌ</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نُورٌ</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سُوقٌ</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مَكِتَبٌ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letter has no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مُعَلِمٌ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letter doubled?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أِسْلَامٌ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hamza sit?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مَكِتَبٌ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مَكْتَبٌ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كْ</a:t>
            </a:r>
            <a:pPr algn="l" indent="0" marL="0">
              <a:buNone/>
            </a:pPr>
            <a:r>
              <a:rPr lang="en-US" sz="1150" b="1" dirty="0">
                <a:solidFill>
                  <a:srgbClr val="1B3B6F"/>
                </a:solidFill>
                <a:latin typeface="Calibri" pitchFamily="34" charset="0"/>
                <a:cs typeface="Amiri" pitchFamily="2" charset="-78"/>
              </a:rPr>
              <a:t> carries no vowel (sukūn).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مُعَلِمٌ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مُعَلِّمٌ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lām is doubled: it needs a shadda.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أِسْلَامٌ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إِسْلَامٌ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initial kasra puts hamza below the alif.</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ON WEBSITE GAMES 4, 6 AND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madda?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إِسْلَامٌ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آمَنَ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سُؤَالٌ</a:t>
            </a:r>
            <a:pPr algn="l" indent="0" marL="0">
              <a:buNone/>
            </a:pPr>
            <a:r>
              <a:rPr lang="en-US" sz="1250" b="1" dirty="0">
                <a:solidFill>
                  <a:srgbClr val="1B3B6F"/>
                </a:solidFill>
                <a:latin typeface="Calibri" pitchFamily="34" charset="0"/>
                <a:cs typeface="Amiri" pitchFamily="2" charset="-78"/>
              </a:rPr>
              <a:t>, what carries the hamza?</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yāʾ</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wāw</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alif</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hamzat al-waṣl?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hamza of </a:t>
            </a:r>
            <a:pPr algn="l" indent="0" marL="0">
              <a:buNone/>
            </a:pPr>
            <a:r>
              <a:rPr lang="ar-SA" altLang="en-US" sz="1650" dirty="0">
                <a:solidFill>
                  <a:srgbClr val="1F2A37"/>
                </a:solidFill>
                <a:latin typeface="Amiri" pitchFamily="2" charset="-78"/>
                <a:cs typeface="Amiri" pitchFamily="2" charset="-78"/>
              </a:rPr>
              <a:t>أَحْمَدُ</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alif of </a:t>
            </a:r>
            <a:pPr algn="l" indent="0" marL="0">
              <a:buNone/>
            </a:pPr>
            <a:r>
              <a:rPr lang="ar-SA" altLang="en-US" sz="1650" dirty="0">
                <a:solidFill>
                  <a:srgbClr val="1F2A37"/>
                </a:solidFill>
                <a:latin typeface="Amiri" pitchFamily="2" charset="-78"/>
                <a:cs typeface="Amiri" pitchFamily="2" charset="-78"/>
              </a:rPr>
              <a:t>اِسْمٌ</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hamza of </a:t>
            </a:r>
            <a:pPr algn="l" indent="0" marL="0">
              <a:buNone/>
            </a:pPr>
            <a:r>
              <a:rPr lang="ar-SA" altLang="en-US" sz="1650" dirty="0">
                <a:solidFill>
                  <a:srgbClr val="1F2A37"/>
                </a:solidFill>
                <a:latin typeface="Amiri" pitchFamily="2" charset="-78"/>
                <a:cs typeface="Amiri" pitchFamily="2" charset="-78"/>
              </a:rPr>
              <a:t>إِنَّ</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consonants does a letter with shadda stand for?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madda?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إِسْلَامٌ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آمَنَ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آ</a:t>
            </a:r>
            <a:pPr algn="l" indent="0" marL="0">
              <a:buNone/>
            </a:pPr>
            <a:r>
              <a:rPr lang="en-US" sz="1050" i="1" dirty="0">
                <a:solidFill>
                  <a:srgbClr val="8A6D1E"/>
                </a:solidFill>
                <a:latin typeface="Calibri" pitchFamily="34" charset="0"/>
                <a:cs typeface="Amiri" pitchFamily="2" charset="-78"/>
              </a:rPr>
              <a:t> = hamza + long ā.</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سُؤَالٌ</a:t>
            </a:r>
            <a:pPr algn="l" indent="0" marL="0">
              <a:buNone/>
            </a:pPr>
            <a:r>
              <a:rPr lang="en-US" sz="1250" b="1" dirty="0">
                <a:solidFill>
                  <a:srgbClr val="1B3B6F"/>
                </a:solidFill>
                <a:latin typeface="Calibri" pitchFamily="34" charset="0"/>
                <a:cs typeface="Amiri" pitchFamily="2" charset="-78"/>
              </a:rPr>
              <a:t>, what carries the hamza?</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yāʾ</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wāw</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alif</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Hamza on a wāw chair.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hamzat al-waṣl?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hamza of </a:t>
            </a:r>
            <a:pPr algn="l" indent="0" marL="0">
              <a:buNone/>
            </a:pPr>
            <a:r>
              <a:rPr lang="ar-SA" altLang="en-US" sz="1650" dirty="0">
                <a:solidFill>
                  <a:srgbClr val="9AA1AB"/>
                </a:solidFill>
                <a:latin typeface="Amiri" pitchFamily="2" charset="-78"/>
                <a:cs typeface="Amiri" pitchFamily="2" charset="-78"/>
              </a:rPr>
              <a:t>أَحْمَدُ</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alif of </a:t>
            </a:r>
            <a:pPr algn="l" indent="0" marL="0">
              <a:buNone/>
            </a:pPr>
            <a:r>
              <a:rPr lang="ar-SA" altLang="en-US" sz="1650" b="1" dirty="0">
                <a:solidFill>
                  <a:srgbClr val="1F2A37"/>
                </a:solidFill>
                <a:latin typeface="Amiri" pitchFamily="2" charset="-78"/>
                <a:cs typeface="Amiri" pitchFamily="2" charset="-78"/>
              </a:rPr>
              <a:t>اِسْمٌ</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hamza of </a:t>
            </a:r>
            <a:pPr algn="l" indent="0" marL="0">
              <a:buNone/>
            </a:pPr>
            <a:r>
              <a:rPr lang="ar-SA" altLang="en-US" sz="1650" dirty="0">
                <a:solidFill>
                  <a:srgbClr val="9AA1AB"/>
                </a:solidFill>
                <a:latin typeface="Amiri" pitchFamily="2" charset="-78"/>
                <a:cs typeface="Amiri" pitchFamily="2" charset="-78"/>
              </a:rPr>
              <a:t>إِنَّ</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drops in </a:t>
            </a:r>
            <a:pPr algn="l" indent="0" marL="0">
              <a:buNone/>
            </a:pPr>
            <a:r>
              <a:rPr lang="ar-SA" altLang="en-US" sz="1350" dirty="0">
                <a:solidFill>
                  <a:srgbClr val="8A6D1E"/>
                </a:solidFill>
                <a:latin typeface="Amiri" pitchFamily="2" charset="-78"/>
                <a:cs typeface="Amiri" pitchFamily="2" charset="-78"/>
              </a:rPr>
              <a:t>بِسْمِ اللهِ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consonants does a letter with shadda stand for?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vowelless, the second has the vowel.</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TASK “MARK HUNT”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Mark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buNone/>
            </a:pPr>
            <a:r>
              <a:rPr lang="ar-SA" altLang="en-US" sz="4000" dirty="0">
                <a:solidFill>
                  <a:srgbClr val="1F2A37"/>
                </a:solidFill>
                <a:latin typeface="Amiri" pitchFamily="2" charset="-78"/>
                <a:cs typeface="Amiri" pitchFamily="2" charset="-78"/>
              </a:rPr>
              <a:t>مُعَلِّمٌ · مَكْتَبٌ · كَبِيرٌ · نُورٌ · قُرْآنٌ · سُؤَالٌ</a:t>
            </a:r>
            <a:endParaRPr lang="ar-SA" sz="40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مُعَلِّمٌ</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teacher</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مَكْتَبٌ</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office / desk</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كَبِيرٌ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big</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نُورٌ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light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قُرْآنٌ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Qurʾān</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سُؤَالٌ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question</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the shadda?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كَبِيرٌ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words have a long vowel?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مُعَلِّمٌ</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مَكْتَبٌ</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مَكْتَبٌ</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سُؤَالٌ</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كَبِيرٌ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نُورٌ</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sukūn on </a:t>
            </a:r>
            <a:pPr algn="l" indent="0" marL="0">
              <a:buNone/>
            </a:pPr>
            <a:r>
              <a:rPr lang="ar-SA" altLang="en-US" sz="1650" b="1" dirty="0">
                <a:solidFill>
                  <a:srgbClr val="1B3B6F"/>
                </a:solidFill>
                <a:latin typeface="Amiri" pitchFamily="2" charset="-78"/>
                <a:cs typeface="Amiri" pitchFamily="2" charset="-78"/>
              </a:rPr>
              <a:t>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hamza on a chair?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سُؤَالٌ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Look above and below each letter.</a:t>
            </a:r>
            <a:endParaRPr lang="en-US" sz="1250" dirty="0"/>
          </a:p>
          <a:p>
            <a:pPr algn="l" indent="0" marL="0">
              <a:buNone/>
            </a:pPr>
            <a:r>
              <a:rPr lang="en-US" sz="1250" dirty="0">
                <a:solidFill>
                  <a:srgbClr val="1F2A37"/>
                </a:solidFill>
                <a:latin typeface="Calibri" pitchFamily="34" charset="0"/>
                <a:cs typeface="Amiri" pitchFamily="2" charset="-78"/>
              </a:rPr>
              <a:t>2. Name the mark.</a:t>
            </a:r>
            <a:endParaRPr lang="en-US" sz="1250" dirty="0"/>
          </a:p>
          <a:p>
            <a:pPr algn="l" indent="0" marL="0">
              <a:buNone/>
            </a:pPr>
            <a:r>
              <a:rPr lang="en-US" sz="1250" dirty="0">
                <a:solidFill>
                  <a:srgbClr val="1F2A37"/>
                </a:solidFill>
                <a:latin typeface="Calibri" pitchFamily="34" charset="0"/>
                <a:cs typeface="Amiri" pitchFamily="2" charset="-78"/>
              </a:rPr>
              <a:t>3. Say the word aloud.</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the shadda?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نُورٌ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كَبِيرٌ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a:t>
            </a:r>
            <a:pPr algn="l" indent="0" marL="0">
              <a:buNone/>
            </a:pPr>
            <a:r>
              <a:rPr lang="en-US" sz="1050" i="1" dirty="0">
                <a:solidFill>
                  <a:srgbClr val="8A6D1E"/>
                </a:solidFill>
                <a:latin typeface="Calibri" pitchFamily="34" charset="0"/>
                <a:cs typeface="Amiri" pitchFamily="2" charset="-78"/>
              </a:rPr>
              <a:t> is doubled.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words have a long vowel?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مُعَلِّمٌ</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مَكْتَبٌ</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مَكْتَبٌ</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سُؤَالٌ</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كَبِيرٌ</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cs typeface="Amiri" pitchFamily="2" charset="-78"/>
              </a:rPr>
              <a:t>نُورٌ</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ī in </a:t>
            </a:r>
            <a:pPr algn="l" indent="0" marL="0">
              <a:buNone/>
            </a:pPr>
            <a:r>
              <a:rPr lang="ar-SA" altLang="en-US" sz="1350" dirty="0">
                <a:solidFill>
                  <a:srgbClr val="8A6D1E"/>
                </a:solidFill>
                <a:latin typeface="Amiri" pitchFamily="2" charset="-78"/>
                <a:cs typeface="Amiri" pitchFamily="2" charset="-78"/>
              </a:rPr>
              <a:t>كَبِيرٌ</a:t>
            </a:r>
            <a:pPr algn="l" indent="0" marL="0">
              <a:buNone/>
            </a:pPr>
            <a:r>
              <a:rPr lang="en-US" sz="1050" i="1" dirty="0">
                <a:solidFill>
                  <a:srgbClr val="8A6D1E"/>
                </a:solidFill>
                <a:latin typeface="Calibri" pitchFamily="34" charset="0"/>
                <a:cs typeface="Amiri" pitchFamily="2" charset="-78"/>
              </a:rPr>
              <a:t> · ū in </a:t>
            </a:r>
            <a:pPr algn="l" indent="0" marL="0">
              <a:buNone/>
            </a:pPr>
            <a:r>
              <a:rPr lang="ar-SA" altLang="en-US" sz="1350" dirty="0">
                <a:solidFill>
                  <a:srgbClr val="8A6D1E"/>
                </a:solidFill>
                <a:latin typeface="Amiri" pitchFamily="2" charset="-78"/>
                <a:cs typeface="Amiri" pitchFamily="2" charset="-78"/>
              </a:rPr>
              <a:t>نُورٌ</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قُرْآنٌ</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سُؤَالٌ</a:t>
            </a:r>
            <a:pPr algn="l" indent="0" marL="0">
              <a:buNone/>
            </a:pPr>
            <a:r>
              <a:rPr lang="en-US" sz="1050" i="1" dirty="0">
                <a:solidFill>
                  <a:srgbClr val="8A6D1E"/>
                </a:solidFill>
                <a:latin typeface="Calibri" pitchFamily="34" charset="0"/>
                <a:cs typeface="Amiri" pitchFamily="2" charset="-78"/>
              </a:rPr>
              <a:t> also have 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sukūn on </a:t>
            </a:r>
            <a:pPr algn="l" indent="0" marL="0">
              <a:buNone/>
            </a:pPr>
            <a:r>
              <a:rPr lang="ar-SA" altLang="en-US" sz="1650" b="1" dirty="0">
                <a:solidFill>
                  <a:srgbClr val="1B3B6F"/>
                </a:solidFill>
                <a:latin typeface="Amiri" pitchFamily="2" charset="-78"/>
                <a:cs typeface="Amiri" pitchFamily="2" charset="-78"/>
              </a:rPr>
              <a:t>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مَكْتَبٌ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كَبِيرٌ</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mak-tab.</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hamza on a chair?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نُورٌ</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سُؤَالٌ</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ؤ</a:t>
            </a:r>
            <a:pPr algn="l" indent="0" marL="0">
              <a:buNone/>
            </a:pPr>
            <a:r>
              <a:rPr lang="en-US" sz="1050" i="1" dirty="0">
                <a:solidFill>
                  <a:srgbClr val="8A6D1E"/>
                </a:solidFill>
                <a:latin typeface="Calibri" pitchFamily="34" charset="0"/>
                <a:cs typeface="Amiri" pitchFamily="2" charset="-78"/>
              </a:rPr>
              <a:t>: hamza on wāw.</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Look above and below each letter.</a:t>
            </a:r>
            <a:endParaRPr lang="en-US" sz="1250" dirty="0"/>
          </a:p>
          <a:p>
            <a:pPr algn="l" indent="0" marL="0">
              <a:buNone/>
            </a:pPr>
            <a:r>
              <a:rPr lang="en-US" sz="1250" dirty="0">
                <a:solidFill>
                  <a:srgbClr val="1F2A37"/>
                </a:solidFill>
                <a:latin typeface="Calibri" pitchFamily="34" charset="0"/>
                <a:cs typeface="Amiri" pitchFamily="2" charset="-78"/>
              </a:rPr>
              <a:t>2. Name the mark.</a:t>
            </a:r>
            <a:endParaRPr lang="en-US" sz="1250" dirty="0"/>
          </a:p>
          <a:p>
            <a:pPr algn="l" indent="0" marL="0">
              <a:buNone/>
            </a:pPr>
            <a:r>
              <a:rPr lang="en-US" sz="1250" dirty="0">
                <a:solidFill>
                  <a:srgbClr val="1F2A37"/>
                </a:solidFill>
                <a:latin typeface="Calibri" pitchFamily="34" charset="0"/>
                <a:cs typeface="Amiri" pitchFamily="2" charset="-78"/>
              </a:rPr>
              <a:t>3. Say the word aloud.</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controlled contrast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بَ / بَا · بِ / بِي · بُ / بُو</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كِتَابٌ · كِتَابًا · كِتَابٍ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قُرْآنٌ · سُؤَالٌ · بِسْمِ اللهِ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كَلِمَةِ ___ فَتْحَةٌ.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كَلِمَةِ ___ شَدَّةٌ.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كَلِمَةِ ___ هَمْزَةٌ عَلَى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الْعَلَامَةُ عَلَى اللَّامِ فِي «مُعَلِّمٌ»؟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mark is on the lām in “teacher”?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عَلَيْهَا شَدَّةٌ وَكَسْرَةٌ: مُعَلِّمٌ.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has a shadda and a kasra: muʿallimun.</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six words from the lesson with ALL their marks.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Letters first, then vowels, then sukūn / shadda / tanwīn.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words: two long vowels, one sukūn, one shadda, two with tanwīn.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Read each one aloud after you write it.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 words + labels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 long vowel, sukūn, shadda, tanwīn, madda and hamza.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Label each mark with its Arabic name.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بَابٌ · ______</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word with a long ā</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مَكْتَبٌ · ______</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word with a sukūn</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مُعَلِّمٌ · ______</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word with a shadda</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كِتَابٌ · ______</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word with tanwīn</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مُعَلِّمٌ · ______</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a teacher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بَابٌ · ______</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a door</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مَكْتَبٌ · ______</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an office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نُورٌ · ______</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light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بَابٌ  ·  كَبِيرٌ  ·  نُورٌ  ·  مَكْتَبٌ  ·  يَكْتُبُ  ·  مُعَلِّمٌ  ·  كِتَابٌ  ·  كِتَابًا  ·  قُرْآنٌ  ·  آمَنَ  ·  سُؤَالٌ  ·  إِسْلَامٌ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fully vowelled practice: write six words and add every necessary mark.</a:t>
            </a:r>
            <a:endParaRPr lang="en-US" sz="1350" dirty="0"/>
          </a:p>
        </p:txBody>
      </p:sp>
      <p:sp>
        <p:nvSpPr>
          <p:cNvPr id="19" name="Text 16"/>
          <p:cNvSpPr txBox="1"/>
          <p:nvPr/>
        </p:nvSpPr>
        <p:spPr>
          <a:xfrm>
            <a:off x="685800" y="331012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long vowel (ā, ī or ū).</a:t>
            </a:r>
            <a:endParaRPr lang="en-US" sz="1200" dirty="0"/>
          </a:p>
        </p:txBody>
      </p:sp>
      <p:sp>
        <p:nvSpPr>
          <p:cNvPr id="20" name="Text 17"/>
          <p:cNvSpPr txBox="1"/>
          <p:nvPr/>
        </p:nvSpPr>
        <p:spPr>
          <a:xfrm>
            <a:off x="685800" y="378256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sukūn.</a:t>
            </a:r>
            <a:endParaRPr lang="en-US" sz="1200" dirty="0"/>
          </a:p>
        </p:txBody>
      </p:sp>
      <p:sp>
        <p:nvSpPr>
          <p:cNvPr id="21" name="Text 18"/>
          <p:cNvSpPr txBox="1"/>
          <p:nvPr/>
        </p:nvSpPr>
        <p:spPr>
          <a:xfrm>
            <a:off x="685800" y="425500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shadda.</a:t>
            </a:r>
            <a:endParaRPr lang="en-US" sz="1200" dirty="0"/>
          </a:p>
        </p:txBody>
      </p:sp>
      <p:sp>
        <p:nvSpPr>
          <p:cNvPr id="22" name="Text 19"/>
          <p:cNvSpPr txBox="1"/>
          <p:nvPr/>
        </p:nvSpPr>
        <p:spPr>
          <a:xfrm>
            <a:off x="685800" y="472744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Tanwīn.</a:t>
            </a:r>
            <a:endParaRPr lang="en-US" sz="1200" dirty="0"/>
          </a:p>
        </p:txBody>
      </p:sp>
      <p:sp>
        <p:nvSpPr>
          <p:cNvPr id="23" name="Text 20"/>
          <p:cNvSpPr txBox="1"/>
          <p:nvPr/>
        </p:nvSpPr>
        <p:spPr>
          <a:xfrm>
            <a:off x="685800" y="519988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madda (</a:t>
            </a:r>
            <a:pPr algn="l" indent="0" marL="0">
              <a:buNone/>
            </a:pPr>
            <a:r>
              <a:rPr lang="ar-SA" altLang="en-US" sz="1550" dirty="0">
                <a:solidFill>
                  <a:srgbClr val="1F2A37"/>
                </a:solidFill>
                <a:latin typeface="Amiri" pitchFamily="2" charset="-78"/>
                <a:cs typeface="Amiri" pitchFamily="2" charset="-78"/>
              </a:rPr>
              <a:t>آ</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4" name="Text 21"/>
          <p:cNvSpPr txBox="1"/>
          <p:nvPr/>
        </p:nvSpPr>
        <p:spPr>
          <a:xfrm>
            <a:off x="685800" y="5672328"/>
            <a:ext cx="5212080" cy="47244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hamza on the correct chair.</a:t>
            </a:r>
            <a:endParaRPr lang="en-US" sz="1200" dirty="0"/>
          </a:p>
        </p:txBody>
      </p:sp>
      <p:sp>
        <p:nvSpPr>
          <p:cNvPr id="25" name="Shape 22"/>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WORD BANK — FROM THE WEBSITE EXAMPLES</a:t>
            </a:r>
            <a:endParaRPr lang="en-US" sz="950" dirty="0"/>
          </a:p>
        </p:txBody>
      </p:sp>
      <p:sp>
        <p:nvSpPr>
          <p:cNvPr id="27" name="Text 24"/>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قُرْآنٌ</a:t>
            </a:r>
            <a:endParaRPr lang="ar-SA" sz="1800" dirty="0"/>
          </a:p>
        </p:txBody>
      </p:sp>
      <p:sp>
        <p:nvSpPr>
          <p:cNvPr id="28" name="Text 25"/>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madda</a:t>
            </a:r>
            <a:endParaRPr lang="en-US" sz="1050" dirty="0"/>
          </a:p>
        </p:txBody>
      </p:sp>
      <p:sp>
        <p:nvSpPr>
          <p:cNvPr id="29" name="Text 26"/>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سُؤَالٌ</a:t>
            </a:r>
            <a:endParaRPr lang="ar-SA" sz="1800" dirty="0"/>
          </a:p>
        </p:txBody>
      </p:sp>
      <p:sp>
        <p:nvSpPr>
          <p:cNvPr id="30" name="Text 27"/>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hamza on wāw</a:t>
            </a:r>
            <a:endParaRPr lang="en-US" sz="1050" dirty="0"/>
          </a:p>
        </p:txBody>
      </p:sp>
      <p:sp>
        <p:nvSpPr>
          <p:cNvPr id="31" name="Text 28"/>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بِئْرٌ</a:t>
            </a:r>
            <a:endParaRPr lang="ar-SA" sz="1800" dirty="0"/>
          </a:p>
        </p:txBody>
      </p:sp>
      <p:sp>
        <p:nvSpPr>
          <p:cNvPr id="32" name="Text 29"/>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hamza on yāʾ</a:t>
            </a:r>
            <a:endParaRPr lang="en-US" sz="1050" dirty="0"/>
          </a:p>
        </p:txBody>
      </p:sp>
      <p:sp>
        <p:nvSpPr>
          <p:cNvPr id="33" name="Text 30"/>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شَيْءٌ</a:t>
            </a:r>
            <a:endParaRPr lang="ar-SA" sz="1800" dirty="0"/>
          </a:p>
        </p:txBody>
      </p:sp>
      <p:sp>
        <p:nvSpPr>
          <p:cNvPr id="34" name="Text 31"/>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hamza alone</a:t>
            </a:r>
            <a:endParaRPr lang="en-US" sz="1050" dirty="0"/>
          </a:p>
        </p:txBody>
      </p:sp>
      <p:sp>
        <p:nvSpPr>
          <p:cNvPr id="35" name="Text 32"/>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إِسْلَامٌ</a:t>
            </a:r>
            <a:endParaRPr lang="ar-SA" sz="1800" dirty="0"/>
          </a:p>
        </p:txBody>
      </p:sp>
      <p:sp>
        <p:nvSpPr>
          <p:cNvPr id="36" name="Text 33"/>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hamza below alif</a:t>
            </a:r>
            <a:endParaRPr lang="en-US" sz="1050" dirty="0"/>
          </a:p>
        </p:txBody>
      </p:sp>
      <p:sp>
        <p:nvSpPr>
          <p:cNvPr id="37" name="Text 34"/>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مُعَلِّمٌ</a:t>
            </a:r>
            <a:endParaRPr lang="ar-SA" sz="1800" dirty="0"/>
          </a:p>
        </p:txBody>
      </p:sp>
      <p:sp>
        <p:nvSpPr>
          <p:cNvPr id="38" name="Text 35"/>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shadda</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buNone/>
            </a:pPr>
            <a:r>
              <a:rPr lang="ar-SA" altLang="en-US" sz="2600" dirty="0">
                <a:solidFill>
                  <a:srgbClr val="1F2A37"/>
                </a:solidFill>
                <a:latin typeface="Amiri" pitchFamily="2" charset="-78"/>
                <a:cs typeface="Amiri" pitchFamily="2" charset="-78"/>
              </a:rPr>
              <a:t>بَابٌ · مَكْتَبٌ · مُعَلِّمٌ · كِتَابًا · قُرْآنٌ · سُؤَالٌ</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door (long ā) · office (sukūn on </a:t>
            </a:r>
            <a:pPr algn="l" indent="0" marL="0">
              <a:buNone/>
            </a:pPr>
            <a:r>
              <a:rPr lang="ar-SA" altLang="en-US" sz="1500" dirty="0">
                <a:solidFill>
                  <a:srgbClr val="5A6472"/>
                </a:solidFill>
                <a:latin typeface="Amiri" pitchFamily="2" charset="-78"/>
                <a:cs typeface="Amiri" pitchFamily="2" charset="-78"/>
              </a:rPr>
              <a:t>ك</a:t>
            </a:r>
            <a:pPr algn="l" indent="0" marL="0">
              <a:buNone/>
            </a:pPr>
            <a:r>
              <a:rPr lang="en-US" sz="1150" i="1" dirty="0">
                <a:solidFill>
                  <a:srgbClr val="5A6472"/>
                </a:solidFill>
                <a:latin typeface="Calibri" pitchFamily="34" charset="0"/>
                <a:cs typeface="Amiri" pitchFamily="2" charset="-78"/>
              </a:rPr>
              <a:t>) · teacher (shadda on </a:t>
            </a:r>
            <a:pPr algn="l" indent="0" marL="0">
              <a:buNone/>
            </a:pPr>
            <a:r>
              <a:rPr lang="ar-SA" altLang="en-US" sz="1500" dirty="0">
                <a:solidFill>
                  <a:srgbClr val="5A6472"/>
                </a:solidFill>
                <a:latin typeface="Amiri" pitchFamily="2" charset="-78"/>
                <a:cs typeface="Amiri" pitchFamily="2" charset="-78"/>
              </a:rPr>
              <a:t>ل</a:t>
            </a:r>
            <a:pPr algn="l" indent="0" marL="0">
              <a:buNone/>
            </a:pPr>
            <a:r>
              <a:rPr lang="en-US" sz="1150" i="1" dirty="0">
                <a:solidFill>
                  <a:srgbClr val="5A6472"/>
                </a:solidFill>
                <a:latin typeface="Calibri" pitchFamily="34" charset="0"/>
                <a:cs typeface="Amiri" pitchFamily="2" charset="-78"/>
              </a:rPr>
              <a:t>) · a book (tanwīn -an) · Qurʾān (madda) · question (hamza on wāw)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long vowel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sukūn + shadda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tanwīn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madda + hamza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and write the three short vowels.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build ā, ī and 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never add a vowel after a sukūn.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tanwīn and shadda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put hamza on the right chair.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long ū?</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means “no vowel”?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spelled correctly?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إِسْلَامٌ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أِسْلَامٌ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اسْلَامٌ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long ū?</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نُورٌ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 wāw.</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means “no vowel”?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sukūn.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spelled correctly?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إِسْلَامٌ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أِسْلَامٌ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اسْلَامٌ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 hamza below alif.</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tanwīn kasr?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madda written?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 alif</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every long vowel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wāw</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hamzat al-qaṭʿ?</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NO long vowel?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سُوقٌ</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 is the wāw a long vowel?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it is a consonant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long ū</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long ā</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short then long?</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 / سِ</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 / سِي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 / سُ</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tanwīn kasr?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kasras: -in.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madda written?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only on alif</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every long vowel</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wāw</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آ</a:t>
            </a:r>
            <a:pPr algn="l" indent="0" marL="0">
              <a:buNone/>
            </a:pPr>
            <a:r>
              <a:rPr lang="en-US" sz="1050" i="1" dirty="0">
                <a:solidFill>
                  <a:srgbClr val="8A6D1E"/>
                </a:solidFill>
                <a:latin typeface="Calibri" pitchFamily="34" charset="0"/>
                <a:cs typeface="Amiri" pitchFamily="2" charset="-78"/>
              </a:rPr>
              <a:t> only.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hamzat al-qaṭʿ?</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الْكِتَابُ</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أَحْمَدُ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Always pronounced.</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NO long vowel?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سُوقٌ</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كَبِيرٌ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قَلَمٌ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qa-la-mun: short vowels only.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 is the wāw a long vowel?</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it is a consonant</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 long ū</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 long ā</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carries its own fatḥa.</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short then long?</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 / سِ</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 / سِي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 / سُ</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then kasra + yāʾ.</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GM-SCR-03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GM-SCR-04: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GM-SCR-04 · Arabic Figures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رَقْمٌ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number / figure</a:t>
            </a:r>
            <a:pPr indent="0" marL="0">
              <a:buNone/>
            </a:pPr>
            <a:r>
              <a:rPr lang="en-US" sz="1000" i="1" dirty="0">
                <a:solidFill>
                  <a:srgbClr val="5A6472"/>
                </a:solidFill>
                <a:latin typeface="Calibri" pitchFamily="34" charset="0"/>
                <a:cs typeface="Amiri" pitchFamily="2" charset="-78"/>
              </a:rPr>
              <a:t>  pl. أَرْقَامٌ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صِفْرٌ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zero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خَمْسَةٌ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السَّاعَةُ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time / o’clock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السِّعْرُ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price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Find Arabic figures on something at home (a clock, a book, a receipt). Copy three.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رَأَيْتُ الرَّقْمَ ______ عَلَى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short and long vowels; copy the six mark-hunt words with all marks.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words with a long vowel, sukūn, shadda and tanwīn.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Complete the website fully vowelled task and play the 60-second Phonetic Marks Challenge.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GM-SCR-03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GM-SCR-04 · Arabic Figures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الْأَرْقَامُ الْعَرَبِيَّةُ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short vowels are short · long = vowel + </a:t>
            </a:r>
            <a:pPr algn="l" indent="0" marL="0">
              <a:buNone/>
            </a:pPr>
            <a:r>
              <a:rPr lang="ar-SA" altLang="en-US" sz="1700" b="1" dirty="0">
                <a:solidFill>
                  <a:srgbClr val="FFFFFF"/>
                </a:solidFill>
                <a:latin typeface="Amiri" pitchFamily="2" charset="-78"/>
                <a:cs typeface="Amiri" pitchFamily="2" charset="-78"/>
              </a:rPr>
              <a:t>ا / ي / و</a:t>
            </a:r>
            <a:pPr algn="l" indent="0" marL="0">
              <a:buNone/>
            </a:pPr>
            <a:r>
              <a:rPr lang="en-US" sz="1300" b="1" dirty="0">
                <a:solidFill>
                  <a:srgbClr val="FFFFFF"/>
                </a:solidFill>
                <a:latin typeface="Calibri" pitchFamily="34" charset="0"/>
                <a:cs typeface="Amiri" pitchFamily="2" charset="-78"/>
              </a:rPr>
              <a:t> · sukūn = no vowel · shadda = double · hamza sits on its chair.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GM-SCR-03 · Vowels and Phonetic Marks</dc:title>
  <dc:subject>PptxGenJS Presentation</dc:subject>
  <dc:creator>Al Madina Online School · Arabic Department</dc:creator>
  <cp:lastModifiedBy>Al Madina Online School · Arabic Department</cp:lastModifiedBy>
  <cp:revision>1</cp:revision>
  <dcterms:created xsi:type="dcterms:W3CDTF">2026-10-11T06:42:32Z</dcterms:created>
  <dcterms:modified xsi:type="dcterms:W3CDTF">2026-10-11T06:42:32Z</dcterms:modified>
</cp:coreProperties>
</file>