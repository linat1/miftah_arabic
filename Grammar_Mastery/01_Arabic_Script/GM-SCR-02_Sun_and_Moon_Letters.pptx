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Script › GM-SCR-02 (“الحُرُوفُ الشَّمْسِيَّةُ وَالقَمَرِيَّةُ”). The website chapter “Script Mastery 02”: the two pronunciation patterns, the 14 sun and 14 moon letters with example words, “why the shadda matters”, the mixed reading text, classify-the-word listening, pronunciation chain, colour-code reading, the mixed paragraph and the common-mistakes table. The website checks this chapter through eight games, so the quizzes are teacher-written on the website content.
SUPPORT FOR THIS CLASS (Arabic not yet secure; mixed levels):
• Core: sort the 28 letters into sun and moon; pronounce common words. Develop: read words with the shadda without transliteration; sort unfamiliar words. Stretch: explain assimilation and analyse connected speech.
• QUR’AN BRIDGE: students already read الرَّحْمٰنِ الرَّحِيمِ, الصِّرَاطَ, النَّاسِ (sun) and الْحَمْدُ, الْعَالَمِينَ, الْكِتَابُ (moon) correctly. Start from Sūrat al-Fātiḥa: “which lām do you NOT say?”
• This lesson is the script side of GM-ART-01: the focus here is READING and WRITING the pattern (shadda, sukūn, spelling).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retrieve GM-SCR-01 (non-connectors, positions); questions 3–5 test the words prepared at home.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Same spelling, two sounds. Look at the letter AFTER الـ: shadda → sun (lām silent) · sukūn on the lām → moon (lām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إِدْغَامٌ is the tajwīd word students may already know from Qur’an class — link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Model slowly: al + shams → ash-shams. Students feel the tongue tip for ش, then for ق (back of the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Choral reading. Cover the left column for Develop/Stretch.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Ask: “Where is the shadda?” — there is none after a moon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Website section “Why the shadda matters” and the website common-mistakes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on the website tables and common mistakes.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section “Add the definite article and choose the pronunciation”: noun → first letter → sun or moon → article + shadda or sukūn.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the website listening list. First as LISTENING: read each word twice with the slide hidden; students write S or M (website answer: Sun · Moon · Sun · Moon …). Then show the slide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the website listening list. First as LISTENING: read each word twice with the slide hidden; students write S or M (website answer: Sun · Moon · Sun · Moon …). Then show the slide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on website games 3, 4, 6 and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 AND NOTICE (3 min) — website reading text. Read it aloud once while students follow; then they hunt for today’s grammar.
Task: Website colour-code task: underline every الـ, circle the first root letter after it, and say whether it is sun or moon. Then read the text aloud with connected speech.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on the website mixed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“pronunciation chain”. Sequence: ● 10s think → ↔ 45s rehearse aloud with mic muted → ◎ two named students on open mic (warned in advance) → + ? the class types one follow-up in chat → ↺ one student summarises.
Routes: Core uses the Core prompt and stem; Develop the Develop prompt; Stretch the last prompt.
Website pronunciation chain: say each word twice — slowly and carefully, then naturally in a phrase. Pairs: A reads, B says “sun” or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Mixed paragraph: write 6–8 sentences using at least four sun-letter nouns and four moon-letter nouns.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teacher model for the website mixed paragraph, with an English translation for Core students.
Students find in the model (● 20s → ◎) the items on the chips. Sun: الصَّبَاحِ · الشَّارِعُ · النَّاسُ · الشَّمْسَ · السَّمَاءِ · الدَّرْسَ. Moon: الْمَدْرَسَةِ · الْجَبَلِ · الْفَصْلِ · الْقَلَمِ · الْجَدِيدِ · الْبَيْتِ.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CHECK (FLEX) — teacher-written on the website lesson (the website checks this chapter through interactive games). Fast finishers or homework. Below 70%: repeat the explanation slides;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(GM-SCR-03 · Vowels and Phonetic Marks) will spend class time USING this language, so students prepare it tonight — short, simple, easy to access (school guidance: “Simple, Short, Interesting, Relevant, Easy to access”). The five words prepare GM-SCR-03 (website Script Mastery 03: vowels and phonetic marks).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SCRIPT  ·  GM-SCR-02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GM-SCR-02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Sun and Moon Letters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الْحُرُوفُ الشَّمْسِيَّةُ وَالْقَمَرِيَّةُ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One written article, two sounds: before a sun letter the lām disappears and the letter doubles (</a:t>
            </a:r>
            <a:pPr algn="l" indent="0" marL="0">
              <a:buNone/>
            </a:pPr>
            <a:r>
              <a:rPr lang="ar-SA" altLang="en-US" sz="1800" dirty="0">
                <a:solidFill>
                  <a:srgbClr val="C6D2E6"/>
                </a:solidFill>
                <a:latin typeface="Amiri" pitchFamily="2" charset="-78"/>
                <a:ea typeface="Amiri" pitchFamily="2" charset="-78"/>
                <a:cs typeface="Amiri" pitchFamily="2" charset="-78"/>
              </a:rPr>
              <a:t>الشَّمْسُ</a:t>
            </a:r>
            <a:pPr algn="l" indent="0" marL="0">
              <a:buNone/>
            </a:pPr>
            <a:r>
              <a:rPr lang="en-US" sz="1400" dirty="0">
                <a:solidFill>
                  <a:srgbClr val="C6D2E6"/>
                </a:solidFill>
                <a:latin typeface="Calibri" pitchFamily="34" charset="0"/>
                <a:cs typeface="Amiri" pitchFamily="2" charset="-78"/>
              </a:rPr>
              <a:t> = ash-shamsu); before a moon letter the lām is heard (</a:t>
            </a:r>
            <a:pPr algn="l" indent="0" marL="0">
              <a:buNone/>
            </a:pPr>
            <a:r>
              <a:rPr lang="ar-SA" altLang="en-US" sz="1800" dirty="0">
                <a:solidFill>
                  <a:srgbClr val="C6D2E6"/>
                </a:solidFill>
                <a:latin typeface="Amiri" pitchFamily="2" charset="-78"/>
                <a:ea typeface="Amiri" pitchFamily="2" charset="-78"/>
                <a:cs typeface="Amiri" pitchFamily="2" charset="-78"/>
              </a:rPr>
              <a:t>الْقَمَرُ</a:t>
            </a:r>
            <a:pPr algn="l" indent="0" marL="0">
              <a:buNone/>
            </a:pPr>
            <a:r>
              <a:rPr lang="en-US" sz="1400" dirty="0">
                <a:solidFill>
                  <a:srgbClr val="C6D2E6"/>
                </a:solidFill>
                <a:latin typeface="Calibri" pitchFamily="34" charset="0"/>
                <a:cs typeface="Amiri" pitchFamily="2" charset="-78"/>
              </a:rPr>
              <a:t> = al-qamaru). Read, hear and write both patterns — and keep the </a:t>
            </a:r>
            <a:pPr algn="l" indent="0" marL="0">
              <a:buNone/>
            </a:pPr>
            <a:r>
              <a:rPr lang="ar-SA" altLang="en-US" sz="1800" dirty="0">
                <a:solidFill>
                  <a:srgbClr val="C6D2E6"/>
                </a:solidFill>
                <a:latin typeface="Amiri" pitchFamily="2" charset="-78"/>
                <a:ea typeface="Amiri" pitchFamily="2" charset="-78"/>
                <a:cs typeface="Amiri" pitchFamily="2" charset="-78"/>
              </a:rPr>
              <a:t>ل</a:t>
            </a:r>
            <a:pPr algn="l" indent="0" marL="0">
              <a:buNone/>
            </a:pPr>
            <a:r>
              <a:rPr lang="en-US" sz="1400" dirty="0">
                <a:solidFill>
                  <a:srgbClr val="C6D2E6"/>
                </a:solidFill>
                <a:latin typeface="Calibri" pitchFamily="34" charset="0"/>
                <a:cs typeface="Amiri" pitchFamily="2" charset="-78"/>
              </a:rPr>
              <a:t> in the spelling.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GM-SCR-02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Script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One article, two sounds; the 14 + 14 letters; why the shadda matters.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words, add the missing shadda, repair pronunciation and spelling slips.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GM-SCR-03.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never joins the next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MEDIAL form of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ـبـ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شَدَّةٌ</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vowel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vowel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doubled letter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سُكُونٌ</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doubled letter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letter 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vowel on the letter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al-qamaru?</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الْقَمَرُ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النَّهْرُ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never joins the next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GM-SCR-01: </a:t>
            </a:r>
            <a:pPr algn="l" indent="0" marL="0">
              <a:buNone/>
            </a:pPr>
            <a:r>
              <a:rPr lang="ar-SA" altLang="en-US" sz="1350" dirty="0">
                <a:solidFill>
                  <a:srgbClr val="8A6D1E"/>
                </a:solidFill>
                <a:latin typeface="Amiri" pitchFamily="2" charset="-78"/>
                <a:ea typeface="Amiri" pitchFamily="2" charset="-78"/>
                <a:cs typeface="Amiri" pitchFamily="2" charset="-78"/>
              </a:rPr>
              <a:t>أ د ذ ر ز 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MEDIAL form of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ـبـ</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GM-SCR-01: joined on both sides.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شَدَّةٌ</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vowel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vowel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doubled letter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(GM-SCR-01).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سُكُونٌ</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doubled letter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letter a</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vowel on the letter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(GM-SCR-01).</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al-qamaru?</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الْقَمَرُ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الشَّمْسُ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النَّهْرُ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the lām is heard.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Same spelling, two sounds. Look at the letter AFTER </a:t>
            </a:r>
            <a:pPr algn="l" indent="0" marL="0">
              <a:buNone/>
            </a:pPr>
            <a:r>
              <a:rPr lang="ar-SA" altLang="en-US" sz="1650" b="1" dirty="0">
                <a:solidFill>
                  <a:srgbClr val="1F2A37"/>
                </a:solidFill>
                <a:latin typeface="Amiri" pitchFamily="2" charset="-78"/>
                <a:ea typeface="Amiri" pitchFamily="2" charset="-78"/>
                <a:cs typeface="Amiri" pitchFamily="2" charset="-78"/>
              </a:rPr>
              <a:t>الـ</a:t>
            </a:r>
            <a:pPr algn="l" indent="0" marL="0">
              <a:buNone/>
            </a:pPr>
            <a:r>
              <a:rPr lang="en-US" sz="1250" b="1" dirty="0">
                <a:solidFill>
                  <a:srgbClr val="1F2A37"/>
                </a:solidFill>
                <a:latin typeface="Calibri" pitchFamily="34" charset="0"/>
                <a:cs typeface="Amiri" pitchFamily="2" charset="-78"/>
              </a:rPr>
              <a:t>: shadda → sun (lām silent) · sukūn on the lām → moon (lām heard).</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الشَّمْسُ ‖ الْقَمَرُ</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14 sun letters and the 14 moon letters.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Pronounce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correctly before every letter.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shadda to show assimilation.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of the article in the spelling.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a word into sun or moon.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t>
            </a:r>
            <a:pPr algn="l" indent="0" marL="0">
              <a:buNone/>
            </a:pPr>
            <a:r>
              <a:rPr lang="ar-SA" altLang="en-US" sz="1700" b="1" dirty="0">
                <a:solidFill>
                  <a:srgbClr val="2E8B57"/>
                </a:solidFill>
                <a:latin typeface="Amiri" pitchFamily="2" charset="-78"/>
                <a:ea typeface="Amiri" pitchFamily="2" charset="-78"/>
                <a:cs typeface="Amiri" pitchFamily="2" charset="-78"/>
              </a:rPr>
              <a:t>الشَّمْسُ</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ea typeface="Amiri" pitchFamily="2" charset="-78"/>
                <a:cs typeface="Amiri" pitchFamily="2" charset="-78"/>
              </a:rPr>
              <a:t>الْقَمَرُ</a:t>
            </a:r>
            <a:pPr algn="l" indent="0" marL="0">
              <a:buNone/>
            </a:pPr>
            <a:r>
              <a:rPr lang="en-US" sz="1300" b="1" dirty="0">
                <a:solidFill>
                  <a:srgbClr val="2E8B57"/>
                </a:solidFill>
                <a:latin typeface="Calibri" pitchFamily="34" charset="0"/>
                <a:cs typeface="Amiri" pitchFamily="2" charset="-78"/>
              </a:rPr>
              <a:t> correctly.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new words without transliteration.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the shadda only where it is needed.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what assimilation means.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repair pronunciation and spelling errors.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الْحُرُوفُ الشَّمْسِيَّةُ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 letters (14)</a:t>
            </a:r>
            <a:endParaRPr lang="en-US" sz="1350" dirty="0"/>
          </a:p>
          <a:p>
            <a:pPr indent="0" marL="0">
              <a:buNone/>
            </a:pPr>
            <a:r>
              <a:rPr lang="en-US" sz="1100" i="1" dirty="0">
                <a:solidFill>
                  <a:srgbClr val="5A6472"/>
                </a:solidFill>
                <a:latin typeface="Calibri" pitchFamily="34" charset="0"/>
                <a:cs typeface="Amiri" pitchFamily="2" charset="-78"/>
              </a:rPr>
              <a:t>al-ḥu-rū-fu ash-sham-siy-ya-tu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 ث د ذ ر ز س ش ص ض ط ظ ل 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الْحُرُوفُ الْقَمَرِيَّةُ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moon letters (14)</a:t>
            </a:r>
            <a:endParaRPr lang="en-US" sz="1350" dirty="0"/>
          </a:p>
          <a:p>
            <a:pPr indent="0" marL="0">
              <a:buNone/>
            </a:pPr>
            <a:r>
              <a:rPr lang="en-US" sz="1100" i="1" dirty="0">
                <a:solidFill>
                  <a:srgbClr val="5A6472"/>
                </a:solidFill>
                <a:latin typeface="Calibri" pitchFamily="34" charset="0"/>
                <a:cs typeface="Amiri" pitchFamily="2" charset="-78"/>
              </a:rPr>
              <a:t>al-ḥu-rū-fu al-qa-ma-riy-ya-tu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 ب ج ح خ ع غ ف ق ك م ه و ي</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شَدَّةٌ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the letter is doubled</a:t>
            </a:r>
            <a:endParaRPr lang="en-US" sz="1350" dirty="0"/>
          </a:p>
          <a:p>
            <a:pPr indent="0" marL="0">
              <a:buNone/>
            </a:pPr>
            <a:r>
              <a:rPr lang="en-US" sz="1100" i="1" dirty="0">
                <a:solidFill>
                  <a:srgbClr val="5A6472"/>
                </a:solidFill>
                <a:latin typeface="Calibri" pitchFamily="34" charset="0"/>
                <a:cs typeface="Amiri" pitchFamily="2" charset="-78"/>
              </a:rPr>
              <a:t>shad-da-tun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الشَّمْسُ</a:t>
            </a:r>
            <a:pPr algn="l" indent="0" marL="0">
              <a:buNone/>
            </a:pPr>
            <a:r>
              <a:rPr lang="en-US" sz="1000" i="1" dirty="0">
                <a:solidFill>
                  <a:srgbClr val="8A6D1E"/>
                </a:solidFill>
                <a:latin typeface="Calibri" pitchFamily="34" charset="0"/>
                <a:cs typeface="Amiri" pitchFamily="2" charset="-78"/>
              </a:rPr>
              <a:t> — shsh</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سُكُونٌ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sukūn: no vowel</a:t>
            </a:r>
            <a:endParaRPr lang="en-US" sz="1350" dirty="0"/>
          </a:p>
          <a:p>
            <a:pPr indent="0" marL="0">
              <a:buNone/>
            </a:pPr>
            <a:r>
              <a:rPr lang="en-US" sz="1100" i="1" dirty="0">
                <a:solidFill>
                  <a:srgbClr val="5A6472"/>
                </a:solidFill>
                <a:latin typeface="Calibri" pitchFamily="34" charset="0"/>
                <a:cs typeface="Amiri" pitchFamily="2" charset="-78"/>
              </a:rPr>
              <a:t>su-kū-nun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الْقَمَرُ</a:t>
            </a:r>
            <a:pPr algn="l" indent="0" marL="0">
              <a:buNone/>
            </a:pPr>
            <a:r>
              <a:rPr lang="en-US" sz="1000" i="1" dirty="0">
                <a:solidFill>
                  <a:srgbClr val="8A6D1E"/>
                </a:solidFill>
                <a:latin typeface="Calibri" pitchFamily="34" charset="0"/>
                <a:cs typeface="Amiri" pitchFamily="2" charset="-78"/>
              </a:rPr>
              <a:t> — the lām is heard</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إِدْغَامٌ</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assimilation (one sound merges into the next)</a:t>
            </a:r>
            <a:endParaRPr lang="en-US" sz="1350" dirty="0"/>
          </a:p>
          <a:p>
            <a:pPr indent="0" marL="0">
              <a:buNone/>
            </a:pPr>
            <a:r>
              <a:rPr lang="en-US" sz="1100" i="1" dirty="0">
                <a:solidFill>
                  <a:srgbClr val="5A6472"/>
                </a:solidFill>
                <a:latin typeface="Calibri" pitchFamily="34" charset="0"/>
                <a:cs typeface="Amiri" pitchFamily="2" charset="-78"/>
              </a:rPr>
              <a:t>id-ghā-mun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 + ش = شّ</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أَدَاةُ التَّعْرِيفِ</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definite article (al-)</a:t>
            </a:r>
            <a:endParaRPr lang="en-US" sz="1350" dirty="0"/>
          </a:p>
          <a:p>
            <a:pPr indent="0" marL="0">
              <a:buNone/>
            </a:pPr>
            <a:r>
              <a:rPr lang="en-US" sz="1100" i="1" dirty="0">
                <a:solidFill>
                  <a:srgbClr val="5A6472"/>
                </a:solidFill>
                <a:latin typeface="Calibri" pitchFamily="34" charset="0"/>
                <a:cs typeface="Amiri" pitchFamily="2" charset="-78"/>
              </a:rPr>
              <a:t>a-dā-tu at-taʿ-rī-fi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always written in full</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ONE WRITTEN ARTICLE, TWO PATTERNS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spelling — two sounds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كِتَابَةٌ وَاحِدَةٌ وَنُطْقَانِ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definite article is ALWAYS written the same way: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Sun pattern: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is not heard; the next (sun) letter is doubled and carries a shadda — </a:t>
            </a:r>
            <a:pPr algn="l" indent="0" marL="0">
              <a:buNone/>
            </a:pPr>
            <a:r>
              <a:rPr lang="ar-SA" altLang="en-US" sz="1700" dirty="0">
                <a:solidFill>
                  <a:srgbClr val="1F2A37"/>
                </a:solidFill>
                <a:latin typeface="Amiri" pitchFamily="2" charset="-78"/>
                <a:ea typeface="Amiri" pitchFamily="2" charset="-78"/>
                <a:cs typeface="Amiri" pitchFamily="2" charset="-78"/>
              </a:rPr>
              <a:t>الشَّمْسُ</a:t>
            </a:r>
            <a:pPr algn="l" indent="0" marL="0">
              <a:buNone/>
            </a:pPr>
            <a:r>
              <a:rPr lang="en-US" sz="1300" dirty="0">
                <a:solidFill>
                  <a:srgbClr val="1F2A37"/>
                </a:solidFill>
                <a:latin typeface="Calibri" pitchFamily="34" charset="0"/>
                <a:cs typeface="Amiri" pitchFamily="2" charset="-78"/>
              </a:rPr>
              <a:t> = ash-shamsu.</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Moon pattern: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is clearly pronounced and carries a sukūn — </a:t>
            </a:r>
            <a:pPr algn="l" indent="0" marL="0">
              <a:buNone/>
            </a:pPr>
            <a:r>
              <a:rPr lang="ar-SA" altLang="en-US" sz="1700" dirty="0">
                <a:solidFill>
                  <a:srgbClr val="1F2A37"/>
                </a:solidFill>
                <a:latin typeface="Amiri" pitchFamily="2" charset="-78"/>
                <a:ea typeface="Amiri" pitchFamily="2" charset="-78"/>
                <a:cs typeface="Amiri" pitchFamily="2" charset="-78"/>
              </a:rPr>
              <a:t>الْقَمَرُ</a:t>
            </a:r>
            <a:pPr algn="l" indent="0" marL="0">
              <a:buNone/>
            </a:pPr>
            <a:r>
              <a:rPr lang="en-US" sz="1300" dirty="0">
                <a:solidFill>
                  <a:srgbClr val="1F2A37"/>
                </a:solidFill>
                <a:latin typeface="Calibri" pitchFamily="34" charset="0"/>
                <a:cs typeface="Amiri" pitchFamily="2" charset="-78"/>
              </a:rPr>
              <a:t> = al-qamaru.</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Why? Sun letters are made near the tip of the tongue, like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so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merges into them (assimilation).</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spelling never changes: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is always written, even when it is silent.</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 + شَمْس = الشَّمْسُ</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ash-shamsu  ·  sun pattern</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 + ش = شّ</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lām merges into shīn</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 + قَمَر = الْقَمَرُ</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al-qamaru  ·  moon pattern</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شَمْسٌ · الشَّمْسُ</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shamsun → ash-shamsu  ·  the shadda appears</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Essential distinction (website): the spelling still contains </a:t>
            </a:r>
            <a:pPr algn="l" indent="0" marL="0">
              <a:buNone/>
            </a:pPr>
            <a:r>
              <a:rPr lang="ar-SA" altLang="en-US" sz="1650" dirty="0">
                <a:solidFill>
                  <a:srgbClr val="1F2A37"/>
                </a:solidFill>
                <a:latin typeface="Amiri" pitchFamily="2" charset="-78"/>
                <a:ea typeface="Amiri" pitchFamily="2" charset="-78"/>
                <a:cs typeface="Amiri" pitchFamily="2" charset="-78"/>
              </a:rPr>
              <a:t>الـ</a:t>
            </a:r>
            <a:pPr algn="l" indent="0" marL="0">
              <a:buNone/>
            </a:pPr>
            <a:r>
              <a:rPr lang="en-US" sz="1250" dirty="0">
                <a:solidFill>
                  <a:srgbClr val="1F2A37"/>
                </a:solidFill>
                <a:latin typeface="Calibri" pitchFamily="34" charset="0"/>
                <a:cs typeface="Amiri" pitchFamily="2" charset="-78"/>
              </a:rPr>
              <a:t> in both cases. The difference is pronunciation — and the shadda placed on the sun letter.</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THE 14 SUN LETTERS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 letters: the lām disappears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الشَّمْسِيَّةُ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notice (website)</a:t>
            </a:r>
            <a:endParaRPr lang="en-US" sz="1100" dirty="0"/>
          </a:p>
        </p:txBody>
      </p:sp>
      <p:sp>
        <p:nvSpPr>
          <p:cNvPr id="17" name="Text 14"/>
          <p:cNvSpPr txBox="1"/>
          <p:nvPr/>
        </p:nvSpPr>
        <p:spPr>
          <a:xfrm>
            <a:off x="32735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Pronounced</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150608" y="2267712"/>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the apples</a:t>
            </a:r>
            <a:endParaRPr lang="en-US" sz="1100" dirty="0"/>
          </a:p>
        </p:txBody>
      </p:sp>
      <p:sp>
        <p:nvSpPr>
          <p:cNvPr id="21" name="Text 18"/>
          <p:cNvSpPr txBox="1"/>
          <p:nvPr/>
        </p:nvSpPr>
        <p:spPr>
          <a:xfrm>
            <a:off x="3291840" y="226771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التُّفَّاحُ</a:t>
            </a:r>
            <a:endParaRPr lang="ar-SA" sz="26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at-tuffāḥ</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150608" y="2881884"/>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د</a:t>
            </a:r>
            <a:pPr algn="l" indent="0" marL="0">
              <a:buNone/>
            </a:pPr>
            <a:r>
              <a:rPr lang="en-US" sz="1100" dirty="0">
                <a:solidFill>
                  <a:srgbClr val="5A6472"/>
                </a:solidFill>
                <a:latin typeface="Calibri" pitchFamily="34" charset="0"/>
                <a:cs typeface="Amiri" pitchFamily="2" charset="-78"/>
              </a:rPr>
              <a:t> · the lesson</a:t>
            </a:r>
            <a:endParaRPr lang="en-US" sz="1100" dirty="0"/>
          </a:p>
        </p:txBody>
      </p:sp>
      <p:sp>
        <p:nvSpPr>
          <p:cNvPr id="27" name="Text 24"/>
          <p:cNvSpPr txBox="1"/>
          <p:nvPr/>
        </p:nvSpPr>
        <p:spPr>
          <a:xfrm>
            <a:off x="3291840" y="2881884"/>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الدَّرْسُ</a:t>
            </a:r>
            <a:endParaRPr lang="ar-SA" sz="26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ad-dars</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150608" y="3496056"/>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ر</a:t>
            </a:r>
            <a:pPr algn="l" indent="0" marL="0">
              <a:buNone/>
            </a:pPr>
            <a:r>
              <a:rPr lang="en-US" sz="1100" dirty="0">
                <a:solidFill>
                  <a:srgbClr val="5A6472"/>
                </a:solidFill>
                <a:latin typeface="Calibri" pitchFamily="34" charset="0"/>
                <a:cs typeface="Amiri" pitchFamily="2" charset="-78"/>
              </a:rPr>
              <a:t> · the man</a:t>
            </a:r>
            <a:endParaRPr lang="en-US" sz="1100" dirty="0"/>
          </a:p>
        </p:txBody>
      </p:sp>
      <p:sp>
        <p:nvSpPr>
          <p:cNvPr id="33" name="Text 30"/>
          <p:cNvSpPr txBox="1"/>
          <p:nvPr/>
        </p:nvSpPr>
        <p:spPr>
          <a:xfrm>
            <a:off x="3291840" y="3496056"/>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الرَّجُلُ</a:t>
            </a:r>
            <a:endParaRPr lang="ar-SA" sz="2600" dirty="0"/>
          </a:p>
        </p:txBody>
      </p:sp>
      <p:sp>
        <p:nvSpPr>
          <p:cNvPr id="34" name="Text 31"/>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ar-rajul</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150608" y="4110228"/>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ش</a:t>
            </a:r>
            <a:pPr algn="l" indent="0" marL="0">
              <a:buNone/>
            </a:pPr>
            <a:r>
              <a:rPr lang="en-US" sz="1100" dirty="0">
                <a:solidFill>
                  <a:srgbClr val="5A6472"/>
                </a:solidFill>
                <a:latin typeface="Calibri" pitchFamily="34" charset="0"/>
                <a:cs typeface="Amiri" pitchFamily="2" charset="-78"/>
              </a:rPr>
              <a:t> · the street</a:t>
            </a:r>
            <a:endParaRPr lang="en-US" sz="1100" dirty="0"/>
          </a:p>
        </p:txBody>
      </p:sp>
      <p:sp>
        <p:nvSpPr>
          <p:cNvPr id="37" name="Text 34"/>
          <p:cNvSpPr txBox="1"/>
          <p:nvPr/>
        </p:nvSpPr>
        <p:spPr>
          <a:xfrm>
            <a:off x="3291840" y="4110228"/>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الشَّارِعُ</a:t>
            </a:r>
            <a:endParaRPr lang="ar-SA" sz="2600" dirty="0"/>
          </a:p>
        </p:txBody>
      </p:sp>
      <p:sp>
        <p:nvSpPr>
          <p:cNvPr id="38" name="Text 35"/>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ash-shāriʿ</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150608" y="4724400"/>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ن</a:t>
            </a:r>
            <a:pPr algn="l" indent="0" marL="0">
              <a:buNone/>
            </a:pPr>
            <a:r>
              <a:rPr lang="en-US" sz="1100" dirty="0">
                <a:solidFill>
                  <a:srgbClr val="5A6472"/>
                </a:solidFill>
                <a:latin typeface="Calibri" pitchFamily="34" charset="0"/>
                <a:cs typeface="Amiri" pitchFamily="2" charset="-78"/>
              </a:rPr>
              <a:t> · the people</a:t>
            </a:r>
            <a:endParaRPr lang="en-US" sz="1100" dirty="0"/>
          </a:p>
        </p:txBody>
      </p:sp>
      <p:sp>
        <p:nvSpPr>
          <p:cNvPr id="41" name="Text 38"/>
          <p:cNvSpPr txBox="1"/>
          <p:nvPr/>
        </p:nvSpPr>
        <p:spPr>
          <a:xfrm>
            <a:off x="3291840" y="4724400"/>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النَّاسُ</a:t>
            </a:r>
            <a:endParaRPr lang="ar-SA" sz="2600" dirty="0"/>
          </a:p>
        </p:txBody>
      </p:sp>
      <p:sp>
        <p:nvSpPr>
          <p:cNvPr id="42" name="Text 3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an-nās</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150608" y="5338572"/>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a:t>
            </a:r>
            <a:pPr algn="l" indent="0" marL="0">
              <a:buNone/>
            </a:pPr>
            <a:r>
              <a:rPr lang="ar-SA" altLang="en-US" sz="1450" dirty="0">
                <a:solidFill>
                  <a:srgbClr val="5A6472"/>
                </a:solidFill>
                <a:latin typeface="Amiri" pitchFamily="2" charset="-78"/>
                <a:ea typeface="Amiri" pitchFamily="2" charset="-78"/>
                <a:cs typeface="Amiri" pitchFamily="2" charset="-78"/>
              </a:rPr>
              <a:t>ث</a:t>
            </a:r>
            <a:pPr algn="l" indent="0" marL="0">
              <a:buNone/>
            </a:pPr>
            <a:r>
              <a:rPr lang="en-US" sz="1100" dirty="0">
                <a:solidFill>
                  <a:srgbClr val="5A6472"/>
                </a:solidFill>
                <a:latin typeface="Calibri" pitchFamily="34" charset="0"/>
                <a:cs typeface="Amiri" pitchFamily="2" charset="-78"/>
              </a:rPr>
              <a:t> · the snow</a:t>
            </a:r>
            <a:endParaRPr lang="en-US" sz="1100" dirty="0"/>
          </a:p>
        </p:txBody>
      </p:sp>
      <p:sp>
        <p:nvSpPr>
          <p:cNvPr id="45" name="Text 42"/>
          <p:cNvSpPr txBox="1"/>
          <p:nvPr/>
        </p:nvSpPr>
        <p:spPr>
          <a:xfrm>
            <a:off x="3291840" y="533857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الثَّلْجُ</a:t>
            </a:r>
            <a:endParaRPr lang="ar-SA" sz="2600" dirty="0"/>
          </a:p>
        </p:txBody>
      </p:sp>
      <p:sp>
        <p:nvSpPr>
          <p:cNvPr id="46" name="Text 43"/>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ath-thalj</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Sun sequence (website): </a:t>
            </a:r>
            <a:pPr algn="l" indent="0" marL="0">
              <a:buNone/>
            </a:pPr>
            <a:r>
              <a:rPr lang="ar-SA" altLang="en-US" sz="1500" b="1" dirty="0">
                <a:solidFill>
                  <a:srgbClr val="1B3B6F"/>
                </a:solidFill>
                <a:latin typeface="Amiri" pitchFamily="2" charset="-78"/>
                <a:ea typeface="Amiri" pitchFamily="2" charset="-78"/>
                <a:cs typeface="Amiri" pitchFamily="2" charset="-78"/>
              </a:rPr>
              <a:t>ت ث د ذ ر ز س ش ص ض ط ظ ل ن</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THE 14 MOON LETTERS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Moon letters: the lām is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الْقَمَرِيَّةُ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notice (website)</a:t>
            </a:r>
            <a:endParaRPr lang="en-US" sz="1100" dirty="0"/>
          </a:p>
        </p:txBody>
      </p:sp>
      <p:sp>
        <p:nvSpPr>
          <p:cNvPr id="17" name="Text 14"/>
          <p:cNvSpPr txBox="1"/>
          <p:nvPr/>
        </p:nvSpPr>
        <p:spPr>
          <a:xfrm>
            <a:off x="32735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Pronounced</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150608" y="2267712"/>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ea typeface="Amiri" pitchFamily="2" charset="-78"/>
                <a:cs typeface="Amiri" pitchFamily="2" charset="-78"/>
              </a:rPr>
              <a:t>ل</a:t>
            </a:r>
            <a:pPr algn="l" indent="0" marL="0">
              <a:buNone/>
            </a:pPr>
            <a:r>
              <a:rPr lang="en-US" sz="1100" dirty="0">
                <a:solidFill>
                  <a:srgbClr val="5A6472"/>
                </a:solidFill>
                <a:latin typeface="Calibri" pitchFamily="34" charset="0"/>
                <a:cs typeface="Amiri" pitchFamily="2" charset="-78"/>
              </a:rPr>
              <a:t> is heard · the father</a:t>
            </a:r>
            <a:endParaRPr lang="en-US" sz="1100" dirty="0"/>
          </a:p>
        </p:txBody>
      </p:sp>
      <p:sp>
        <p:nvSpPr>
          <p:cNvPr id="21" name="Text 18"/>
          <p:cNvSpPr txBox="1"/>
          <p:nvPr/>
        </p:nvSpPr>
        <p:spPr>
          <a:xfrm>
            <a:off x="3291840" y="226771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الْأَبُ</a:t>
            </a:r>
            <a:endParaRPr lang="ar-SA" sz="26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al-ab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150608" y="2881884"/>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shadda on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 · the house</a:t>
            </a:r>
            <a:endParaRPr lang="en-US" sz="1100" dirty="0"/>
          </a:p>
        </p:txBody>
      </p:sp>
      <p:sp>
        <p:nvSpPr>
          <p:cNvPr id="27" name="Text 24"/>
          <p:cNvSpPr txBox="1"/>
          <p:nvPr/>
        </p:nvSpPr>
        <p:spPr>
          <a:xfrm>
            <a:off x="3291840" y="2881884"/>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الْبَيْتُ</a:t>
            </a:r>
            <a:endParaRPr lang="ar-SA" sz="26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al-bayt</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150608" y="3496056"/>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ea typeface="Amiri" pitchFamily="2" charset="-78"/>
                <a:cs typeface="Amiri" pitchFamily="2" charset="-78"/>
              </a:rPr>
              <a:t>ل</a:t>
            </a:r>
            <a:pPr algn="l" indent="0" marL="0">
              <a:buNone/>
            </a:pPr>
            <a:r>
              <a:rPr lang="en-US" sz="1100" dirty="0">
                <a:solidFill>
                  <a:srgbClr val="5A6472"/>
                </a:solidFill>
                <a:latin typeface="Calibri" pitchFamily="34" charset="0"/>
                <a:cs typeface="Amiri" pitchFamily="2" charset="-78"/>
              </a:rPr>
              <a:t> remains clear · the mountain</a:t>
            </a:r>
            <a:endParaRPr lang="en-US" sz="1100" dirty="0"/>
          </a:p>
        </p:txBody>
      </p:sp>
      <p:sp>
        <p:nvSpPr>
          <p:cNvPr id="33" name="Text 30"/>
          <p:cNvSpPr txBox="1"/>
          <p:nvPr/>
        </p:nvSpPr>
        <p:spPr>
          <a:xfrm>
            <a:off x="3291840" y="3496056"/>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الْجَبَلُ</a:t>
            </a:r>
            <a:endParaRPr lang="ar-SA" sz="2600" dirty="0"/>
          </a:p>
        </p:txBody>
      </p:sp>
      <p:sp>
        <p:nvSpPr>
          <p:cNvPr id="34" name="Text 31"/>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al-jabal</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150608" y="4110228"/>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Qāf is a moon letter · the pen</a:t>
            </a:r>
            <a:endParaRPr lang="en-US" sz="1100" dirty="0"/>
          </a:p>
        </p:txBody>
      </p:sp>
      <p:sp>
        <p:nvSpPr>
          <p:cNvPr id="37" name="Text 34"/>
          <p:cNvSpPr txBox="1"/>
          <p:nvPr/>
        </p:nvSpPr>
        <p:spPr>
          <a:xfrm>
            <a:off x="3291840" y="4110228"/>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الْقَلَمُ</a:t>
            </a:r>
            <a:endParaRPr lang="ar-SA" sz="2600" dirty="0"/>
          </a:p>
        </p:txBody>
      </p:sp>
      <p:sp>
        <p:nvSpPr>
          <p:cNvPr id="38" name="Text 35"/>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al-qalam</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150608" y="4724400"/>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Mīm is a moon letter · the school</a:t>
            </a:r>
            <a:endParaRPr lang="en-US" sz="1100" dirty="0"/>
          </a:p>
        </p:txBody>
      </p:sp>
      <p:sp>
        <p:nvSpPr>
          <p:cNvPr id="41" name="Text 38"/>
          <p:cNvSpPr txBox="1"/>
          <p:nvPr/>
        </p:nvSpPr>
        <p:spPr>
          <a:xfrm>
            <a:off x="3291840" y="4724400"/>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الْمَدْرَسَةُ</a:t>
            </a:r>
            <a:endParaRPr lang="ar-SA" sz="2600" dirty="0"/>
          </a:p>
        </p:txBody>
      </p:sp>
      <p:sp>
        <p:nvSpPr>
          <p:cNvPr id="42" name="Text 3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al-madrasah</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150608" y="5338572"/>
            <a:ext cx="45079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Yāʾ is a moon letter · the day</a:t>
            </a:r>
            <a:endParaRPr lang="en-US" sz="1100" dirty="0"/>
          </a:p>
        </p:txBody>
      </p:sp>
      <p:sp>
        <p:nvSpPr>
          <p:cNvPr id="45" name="Text 42"/>
          <p:cNvSpPr txBox="1"/>
          <p:nvPr/>
        </p:nvSpPr>
        <p:spPr>
          <a:xfrm>
            <a:off x="3291840" y="533857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الْيَوْمُ</a:t>
            </a:r>
            <a:endParaRPr lang="ar-SA" sz="2600" dirty="0"/>
          </a:p>
        </p:txBody>
      </p:sp>
      <p:sp>
        <p:nvSpPr>
          <p:cNvPr id="46" name="Text 43"/>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al-yawm</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Moon sequence (website): </a:t>
            </a:r>
            <a:pPr algn="l" indent="0" marL="0">
              <a:buNone/>
            </a:pPr>
            <a:r>
              <a:rPr lang="ar-SA" altLang="en-US" sz="1500" b="1" dirty="0">
                <a:solidFill>
                  <a:srgbClr val="1B3B6F"/>
                </a:solidFill>
                <a:latin typeface="Amiri" pitchFamily="2" charset="-78"/>
                <a:ea typeface="Amiri" pitchFamily="2" charset="-78"/>
                <a:cs typeface="Amiri" pitchFamily="2" charset="-78"/>
              </a:rPr>
              <a:t>أ ب ج ح خ ع غ ف ق ك م ه و ي</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4 · WHY THE SHADDA MATTERS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الشَّدَّةُ؟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shadda tells the reader that a consonant is doubled (said twice as long).</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With a sun letter, the shadda shows that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sound has merged into it.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fully vowelled text you can SEE the pattern: shadda after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 sun · sukūn on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 moon.</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Never put a shadda on a moon letter: the moon letter is said only once.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Orthographic discipline (website): write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even though it is not pronounced.</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شَمْسٌ</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shamsun  ·  without the article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الشَّمْسُ</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ash-shamsu  ·  with the article: </a:t>
            </a:r>
            <a:pPr algn="ctr" indent="0" marL="0">
              <a:buNone/>
            </a:pPr>
            <a:r>
              <a:rPr lang="ar-SA" altLang="en-US" sz="1450" dirty="0">
                <a:solidFill>
                  <a:srgbClr val="5A6472"/>
                </a:solidFill>
                <a:latin typeface="Amiri" pitchFamily="2" charset="-78"/>
                <a:ea typeface="Amiri" pitchFamily="2" charset="-78"/>
                <a:cs typeface="Amiri" pitchFamily="2" charset="-78"/>
              </a:rPr>
              <a:t>ش</a:t>
            </a:r>
            <a:pPr algn="ctr" indent="0" marL="0">
              <a:buNone/>
            </a:pPr>
            <a:r>
              <a:rPr lang="en-US" sz="1100" i="1" dirty="0">
                <a:solidFill>
                  <a:srgbClr val="5A6472"/>
                </a:solidFill>
                <a:latin typeface="Calibri" pitchFamily="34" charset="0"/>
                <a:cs typeface="Amiri" pitchFamily="2" charset="-78"/>
              </a:rPr>
              <a:t> is doubled</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نُورٌ · النُّورُ</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nūrun → an-nūru  ·  sun</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 · الْكِتَابُ</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kitābun → al-kitābu  ·  moon</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common mistakes: saying al-shams (say ash-shams) · dropping the </a:t>
            </a:r>
            <a:pPr algn="l" indent="0" marL="0">
              <a:buNone/>
            </a:pPr>
            <a:r>
              <a:rPr lang="ar-SA" altLang="en-US" sz="1650" dirty="0">
                <a:solidFill>
                  <a:srgbClr val="1F2A37"/>
                </a:solidFill>
                <a:latin typeface="Amiri" pitchFamily="2" charset="-78"/>
                <a:ea typeface="Amiri" pitchFamily="2" charset="-78"/>
                <a:cs typeface="Amiri" pitchFamily="2" charset="-78"/>
              </a:rPr>
              <a:t>ل</a:t>
            </a:r>
            <a:pPr algn="l" indent="0" marL="0">
              <a:buNone/>
            </a:pPr>
            <a:r>
              <a:rPr lang="en-US" sz="1250" dirty="0">
                <a:solidFill>
                  <a:srgbClr val="1F2A37"/>
                </a:solidFill>
                <a:latin typeface="Calibri" pitchFamily="34" charset="0"/>
                <a:cs typeface="Amiri" pitchFamily="2" charset="-78"/>
              </a:rPr>
              <a:t> in writing · a shadda on qāf · saying al-nās (say an-nās).</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MOON letter?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الدَّرْسُ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النَّاسُ</a:t>
            </a:r>
            <a:pPr algn="l" indent="0" marL="0">
              <a:buNone/>
            </a:pPr>
            <a:r>
              <a:rPr lang="en-US" sz="1250" b="1" dirty="0">
                <a:solidFill>
                  <a:srgbClr val="1B3B6F"/>
                </a:solidFill>
                <a:latin typeface="Calibri" pitchFamily="34" charset="0"/>
                <a:cs typeface="Amiri" pitchFamily="2" charset="-78"/>
              </a:rPr>
              <a:t> pronounced?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al-nās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an-nās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ā-nās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spelling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اشَّمْسُ</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الرَّجُلُ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 is a sun letter: ar-rajul.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MOON letter?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الْجَبَلُ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النَّاسُ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الدَّرْسُ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a:t>
            </a:r>
            <a:pPr algn="l" indent="0" marL="0">
              <a:buNone/>
            </a:pPr>
            <a:r>
              <a:rPr lang="en-US" sz="1050" i="1" dirty="0">
                <a:solidFill>
                  <a:srgbClr val="8A6D1E"/>
                </a:solidFill>
                <a:latin typeface="Calibri" pitchFamily="34" charset="0"/>
                <a:cs typeface="Amiri" pitchFamily="2" charset="-78"/>
              </a:rPr>
              <a:t> is a moon letter: al-jabal.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النَّاسُ</a:t>
            </a:r>
            <a:pPr algn="l" indent="0" marL="0">
              <a:buNone/>
            </a:pPr>
            <a:r>
              <a:rPr lang="en-US" sz="1250" b="1" dirty="0">
                <a:solidFill>
                  <a:srgbClr val="1B3B6F"/>
                </a:solidFill>
                <a:latin typeface="Calibri" pitchFamily="34" charset="0"/>
                <a:cs typeface="Amiri" pitchFamily="2" charset="-78"/>
              </a:rPr>
              <a:t> pronounced?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al-nās</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an-nās</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ā-nās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Nūn is a sun letter.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spelling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الشَّمْسُ</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اشَّمْسُ</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الشْمْسُ</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Write the </a:t>
            </a:r>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put the shadda on </a:t>
            </a:r>
            <a:pPr algn="l" indent="0" marL="0">
              <a:buNone/>
            </a:pPr>
            <a:r>
              <a:rPr lang="ar-SA" altLang="en-US" sz="1350" dirty="0">
                <a:solidFill>
                  <a:srgbClr val="8A6D1E"/>
                </a:solidFill>
                <a:latin typeface="Amiri" pitchFamily="2" charset="-78"/>
                <a:ea typeface="Amiri" pitchFamily="2" charset="-78"/>
                <a:cs typeface="Amiri" pitchFamily="2" charset="-78"/>
              </a:rPr>
              <a:t>ش</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Watch me add the article and choose the sound</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شَارِعٌ</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letter: </a:t>
            </a:r>
            <a:pPr algn="l" indent="0" marL="0">
              <a:buNone/>
            </a:pPr>
            <a:r>
              <a:rPr lang="ar-SA" altLang="en-US" sz="1500" dirty="0">
                <a:solidFill>
                  <a:srgbClr val="1F2A37"/>
                </a:solidFill>
                <a:latin typeface="Amiri" pitchFamily="2" charset="-78"/>
                <a:ea typeface="Amiri" pitchFamily="2" charset="-78"/>
                <a:cs typeface="Amiri" pitchFamily="2" charset="-78"/>
              </a:rPr>
              <a:t>ش</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Sun or moon?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Tongue tip → sun.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a:t>
            </a:r>
            <a:pPr algn="l" indent="0" marL="0">
              <a:buNone/>
            </a:pPr>
            <a:r>
              <a:rPr lang="ar-SA" altLang="en-US" sz="1650" b="1" dirty="0">
                <a:solidFill>
                  <a:srgbClr val="6B4C9A"/>
                </a:solidFill>
                <a:latin typeface="Amiri" pitchFamily="2" charset="-78"/>
                <a:ea typeface="Amiri" pitchFamily="2" charset="-78"/>
                <a:cs typeface="Amiri" pitchFamily="2" charset="-78"/>
              </a:rPr>
              <a:t>الـ</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الشَّارِعُ</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Shadda on </a:t>
            </a:r>
            <a:pPr algn="l" indent="0" marL="0">
              <a:buNone/>
            </a:pPr>
            <a:r>
              <a:rPr lang="ar-SA" altLang="en-US" sz="1500" dirty="0">
                <a:solidFill>
                  <a:srgbClr val="1F2A37"/>
                </a:solidFill>
                <a:latin typeface="Amiri" pitchFamily="2" charset="-78"/>
                <a:ea typeface="Amiri" pitchFamily="2" charset="-78"/>
                <a:cs typeface="Amiri" pitchFamily="2" charset="-78"/>
              </a:rPr>
              <a:t>ش</a:t>
            </a:r>
            <a:pPr algn="l" indent="0" marL="0">
              <a:buNone/>
            </a:pPr>
            <a:r>
              <a:rPr lang="en-US" sz="1150" dirty="0">
                <a:solidFill>
                  <a:srgbClr val="1F2A37"/>
                </a:solidFill>
                <a:latin typeface="Calibri" pitchFamily="34" charset="0"/>
                <a:cs typeface="Amiri" pitchFamily="2" charset="-78"/>
              </a:rPr>
              <a:t>; say ash-shāriʿ.</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الْمَطْعَمُ</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م</a:t>
            </a:r>
            <a:pPr algn="l" indent="0" marL="0">
              <a:buNone/>
            </a:pPr>
            <a:r>
              <a:rPr lang="en-US" sz="1150" dirty="0">
                <a:solidFill>
                  <a:srgbClr val="1F2A37"/>
                </a:solidFill>
                <a:latin typeface="Calibri" pitchFamily="34" charset="0"/>
                <a:cs typeface="Amiri" pitchFamily="2" charset="-78"/>
              </a:rPr>
              <a:t> = moon: al-maṭʿam.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Text 41"/>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الشَّارِعُ الطَّوِيلُ · الْقَلَمُ الْجَدِيدُ · النَّاسُ · الْبَيْتُ</a:t>
            </a:r>
            <a:endParaRPr lang="ar-SA" sz="2600" dirty="0"/>
          </a:p>
        </p:txBody>
      </p:sp>
      <p:sp>
        <p:nvSpPr>
          <p:cNvPr id="46" name="Text 4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long street · the new pen · the people · the house — website pronunciation chain: say each slowly, then naturally.</a:t>
            </a:r>
            <a:endParaRPr lang="en-US" sz="1300" dirty="0"/>
          </a:p>
        </p:txBody>
      </p:sp>
      <p:sp>
        <p:nvSpPr>
          <p:cNvPr id="47"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الصَّبَاحِ ذَهَبَ الطَّالِبُ إِلَى الْمَدْرَسَةِ.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the morning the student went to school.</a:t>
            </a:r>
            <a:endParaRPr lang="en-US" sz="1250" dirty="0"/>
          </a:p>
          <a:p>
            <a:pPr indent="0" marL="0">
              <a:buNone/>
            </a:pPr>
            <a:r>
              <a:rPr lang="en-US" sz="1050" i="1" dirty="0">
                <a:solidFill>
                  <a:srgbClr val="8A6D1E"/>
                </a:solidFill>
                <a:latin typeface="Calibri" pitchFamily="34" charset="0"/>
                <a:cs typeface="Amiri" pitchFamily="2" charset="-78"/>
              </a:rPr>
              <a:t>aṣ-ṣabāḥ · aṭ-ṭālib (sun) · al-madrasa (moon)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رَأَى الشَّمْسَ فَوْقَ الْجَبَلِ.</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saw the sun above the mountain.</a:t>
            </a:r>
            <a:endParaRPr lang="en-US" sz="1250" dirty="0"/>
          </a:p>
          <a:p>
            <a:pPr indent="0" marL="0">
              <a:buNone/>
            </a:pPr>
            <a:r>
              <a:rPr lang="en-US" sz="1050" i="1" dirty="0">
                <a:solidFill>
                  <a:srgbClr val="8A6D1E"/>
                </a:solidFill>
                <a:latin typeface="Calibri" pitchFamily="34" charset="0"/>
                <a:cs typeface="Amiri" pitchFamily="2" charset="-78"/>
              </a:rPr>
              <a:t>ash-shams (sun) · al-jabal (moon)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كَتَبَ الدَّرْسَ بِالْقَلَمِ الْأَزْرَقِ.</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wrote the lesson with the blue pen.</a:t>
            </a:r>
            <a:endParaRPr lang="en-US" sz="1250" dirty="0"/>
          </a:p>
          <a:p>
            <a:pPr indent="0" marL="0">
              <a:buNone/>
            </a:pPr>
            <a:r>
              <a:rPr lang="en-US" sz="1050" i="1" dirty="0">
                <a:solidFill>
                  <a:srgbClr val="8A6D1E"/>
                </a:solidFill>
                <a:latin typeface="Calibri" pitchFamily="34" charset="0"/>
                <a:cs typeface="Amiri" pitchFamily="2" charset="-78"/>
              </a:rPr>
              <a:t>ad-dars (sun) · al-qalam · al-azraq (moon)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“CLASSIFY THE WORD”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 or moon?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الشَّارِعُ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النَّاسُ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السَّمَاءُ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الْمَطْعَمُ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الرَّجُلُ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الْكِتَابُ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الطَّائِرَةُ</a:t>
            </a:r>
            <a:endParaRPr lang="ar-SA" sz="1800" dirty="0"/>
          </a:p>
        </p:txBody>
      </p:sp>
      <p:sp>
        <p:nvSpPr>
          <p:cNvPr id="33" name="Shape 30"/>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a:t>
            </a:r>
            <a:endParaRPr lang="ar-SA" sz="1800" dirty="0"/>
          </a:p>
        </p:txBody>
      </p:sp>
      <p:sp>
        <p:nvSpPr>
          <p:cNvPr id="35" name="Shape 32"/>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(lām silent)</a:t>
            </a:r>
            <a:endParaRPr lang="en-US" sz="950" dirty="0"/>
          </a:p>
        </p:txBody>
      </p:sp>
      <p:sp>
        <p:nvSpPr>
          <p:cNvPr id="38" name="Shape 35"/>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(lām heard)</a:t>
            </a:r>
            <a:endParaRPr lang="en-US" sz="9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(lām silent)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الشَّارِعُ</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النَّاسُ</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السَّمَاءُ</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الرَّجُلُ</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الطَّائِرَةُ</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(lām heard)</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الْقَمَرُ</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الْمَطْعَمُ</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الْكِتَابُ</a:t>
            </a:r>
            <a:endParaRPr lang="ar-SA" sz="1800" dirty="0"/>
          </a:p>
        </p:txBody>
      </p:sp>
      <p:sp>
        <p:nvSpPr>
          <p:cNvPr id="39" name="Shape 36"/>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a:t>
            </a:r>
            <a:endParaRPr lang="ar-SA" sz="18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اشَّمْسُ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letter missing?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الْقَّمَرُ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Sun or moon?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النَاسُ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mark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اشَّمْسُ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الشَّمْسُ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t>
            </a:r>
            <a:pPr algn="l" indent="0" marL="0">
              <a:buNone/>
            </a:pPr>
            <a:r>
              <a:rPr lang="ar-SA" altLang="en-US" sz="1500" b="1" dirty="0">
                <a:solidFill>
                  <a:srgbClr val="1B3B6F"/>
                </a:solidFill>
                <a:latin typeface="Amiri" pitchFamily="2" charset="-78"/>
                <a:ea typeface="Amiri" pitchFamily="2" charset="-78"/>
                <a:cs typeface="Amiri" pitchFamily="2" charset="-78"/>
              </a:rPr>
              <a:t>ل</a:t>
            </a:r>
            <a:pPr algn="l" indent="0" marL="0">
              <a:buNone/>
            </a:pPr>
            <a:r>
              <a:rPr lang="en-US" sz="1150" b="1" dirty="0">
                <a:solidFill>
                  <a:srgbClr val="1B3B6F"/>
                </a:solidFill>
                <a:latin typeface="Calibri" pitchFamily="34" charset="0"/>
                <a:cs typeface="Amiri" pitchFamily="2" charset="-78"/>
              </a:rPr>
              <a:t> stays in the spelling.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الْقَّمَرُ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الْقَمَرُ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Qāf is a moon letter: no shadda.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النَاسُ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النَّاسُ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Nūn is a sun letter: it needs a shadda.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GUIDED PRACTICE · TEACHER-WRITTEN ON WEBSITE GAMES 3, 4, 6 AND 7</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needs a shadda after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الْبَحْرُ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الْفَصْلُ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السَّمَكُ</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al-yawm?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الْيَوْمُ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الصَّوْمُ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group contains ONLY sun letters?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ق 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 د 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 ف 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pronunciation of </a:t>
            </a:r>
            <a:pPr algn="l" indent="0" marL="0">
              <a:buNone/>
            </a:pPr>
            <a:r>
              <a:rPr lang="ar-SA" altLang="en-US" sz="1650" b="1" dirty="0">
                <a:solidFill>
                  <a:srgbClr val="1B3B6F"/>
                </a:solidFill>
                <a:latin typeface="Amiri" pitchFamily="2" charset="-78"/>
                <a:ea typeface="Amiri" pitchFamily="2" charset="-78"/>
                <a:cs typeface="Amiri" pitchFamily="2" charset="-78"/>
              </a:rPr>
              <a:t>الطَّالِبُ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al-ṭālib</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a-ālib</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aṭ-ṭālib</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needs a shadda after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الْبَحْرُ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الْفَصْلُ</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السَّمَكُ</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al-yawm?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الْيَوْمُ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الصَّوْمُ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a:t>
            </a:r>
            <a:pPr algn="l" indent="0" marL="0">
              <a:buNone/>
            </a:pPr>
            <a:r>
              <a:rPr lang="en-US" sz="1050" i="1" dirty="0">
                <a:solidFill>
                  <a:srgbClr val="8A6D1E"/>
                </a:solidFill>
                <a:latin typeface="Calibri" pitchFamily="34" charset="0"/>
                <a:cs typeface="Amiri" pitchFamily="2" charset="-78"/>
              </a:rPr>
              <a:t> is a moon letter.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group contains ONLY sun letters?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 ق 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 د 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 ف 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are sun letters.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pronunciation of </a:t>
            </a:r>
            <a:pPr algn="l" indent="0" marL="0">
              <a:buNone/>
            </a:pPr>
            <a:r>
              <a:rPr lang="ar-SA" altLang="en-US" sz="1650" b="1" dirty="0">
                <a:solidFill>
                  <a:srgbClr val="1B3B6F"/>
                </a:solidFill>
                <a:latin typeface="Amiri" pitchFamily="2" charset="-78"/>
                <a:ea typeface="Amiri" pitchFamily="2" charset="-78"/>
                <a:cs typeface="Amiri" pitchFamily="2" charset="-78"/>
              </a:rPr>
              <a:t>الطَّالِبُ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al-ṭālib</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a-ālib</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aṭ-ṭālib</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mixed sun and moon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3400" dirty="0">
                <a:solidFill>
                  <a:srgbClr val="1F2A37"/>
                </a:solidFill>
                <a:latin typeface="Amiri" pitchFamily="2" charset="-78"/>
                <a:ea typeface="Amiri" pitchFamily="2" charset="-78"/>
                <a:cs typeface="Amiri" pitchFamily="2" charset="-78"/>
              </a:rPr>
              <a:t>فِي الصَّبَاحِ ذَهَبَ الطَّالِبُ إِلَى الْمَدْرَسَةِ. رَأَى الشَّمْسَ فَوْقَ الْجَبَلِ، وَفِي الْفَصْلِ كَتَبَ الدَّرْسَ بِالْقَلَمِ الْأَزْرَقِ.</a:t>
            </a:r>
            <a:endParaRPr lang="ar-SA" sz="34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الصَّبَاحِ</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morning</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went</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الطَّالِبُ</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student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رَأَى</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saw</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فَوْقَ الْجَبَلِ</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above the mountain</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الْفَصْلِ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classroom</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الْأَزْرَقِ</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blue</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SUN-letter words are in the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MOON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say </a:t>
            </a:r>
            <a:pPr algn="l" indent="0" marL="0">
              <a:buNone/>
            </a:pPr>
            <a:r>
              <a:rPr lang="ar-SA" altLang="en-US" sz="1650" b="1" dirty="0">
                <a:solidFill>
                  <a:srgbClr val="1B3B6F"/>
                </a:solidFill>
                <a:latin typeface="Amiri" pitchFamily="2" charset="-78"/>
                <a:ea typeface="Amiri" pitchFamily="2" charset="-78"/>
                <a:cs typeface="Amiri" pitchFamily="2" charset="-78"/>
              </a:rPr>
              <a:t>بِالْقَلَمِ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bil-qalami</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bi-qalami</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bi-l-qqalami</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there a shadda in </a:t>
            </a:r>
            <a:pPr algn="l" indent="0" marL="0">
              <a:buNone/>
            </a:pPr>
            <a:r>
              <a:rPr lang="ar-SA" altLang="en-US" sz="1650" b="1" dirty="0">
                <a:solidFill>
                  <a:srgbClr val="1B3B6F"/>
                </a:solidFill>
                <a:latin typeface="Amiri" pitchFamily="2" charset="-78"/>
                <a:ea typeface="Amiri" pitchFamily="2" charset="-78"/>
                <a:cs typeface="Amiri" pitchFamily="2" charset="-78"/>
              </a:rPr>
              <a:t>الصَّبَاحِ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ص</a:t>
            </a:r>
            <a:pPr algn="l" indent="0" marL="0">
              <a:buNone/>
            </a:pPr>
            <a:r>
              <a:rPr lang="en-US" sz="1250" dirty="0">
                <a:solidFill>
                  <a:srgbClr val="1F2A37"/>
                </a:solidFill>
                <a:latin typeface="Calibri" pitchFamily="34" charset="0"/>
                <a:cs typeface="Amiri" pitchFamily="2" charset="-78"/>
              </a:rPr>
              <a:t> is a moon letter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ص</a:t>
            </a:r>
            <a:pPr algn="l" indent="0" marL="0">
              <a:buNone/>
            </a:pPr>
            <a:r>
              <a:rPr lang="en-US" sz="1250" dirty="0">
                <a:solidFill>
                  <a:srgbClr val="1F2A37"/>
                </a:solidFill>
                <a:latin typeface="Calibri" pitchFamily="34" charset="0"/>
                <a:cs typeface="Amiri" pitchFamily="2" charset="-78"/>
              </a:rPr>
              <a:t> is a sun letter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1. Find every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الـ</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2. Look at the next letter.</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3. Shadda → sun · sukūn on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ل</a:t>
            </a:r>
            <a:pPr algn="l" indent="0" marL="0">
              <a:lnSpc>
                <a:spcPct val="115000"/>
              </a:lnSpc>
              <a:buNone/>
            </a:pPr>
            <a:r>
              <a:rPr lang="en-US" sz="1250" dirty="0">
                <a:solidFill>
                  <a:srgbClr val="1F2A37"/>
                </a:solidFill>
                <a:latin typeface="Calibri" pitchFamily="34" charset="0"/>
                <a:cs typeface="Amiri" pitchFamily="2" charset="-78"/>
              </a:rPr>
              <a:t> → moon.</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SUN-letter words are in the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الصَّبَاحِ · الطَّالِبُ · الشَّمْسَ · الدَّرْسَ.</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MOON letter?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الشَّمْسَ</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الدَّرْسَ</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الْجَبَلِ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a:t>
            </a:r>
            <a:pPr algn="l" indent="0" marL="0">
              <a:buNone/>
            </a:pPr>
            <a:r>
              <a:rPr lang="en-US" sz="1050" i="1" dirty="0">
                <a:solidFill>
                  <a:srgbClr val="8A6D1E"/>
                </a:solidFill>
                <a:latin typeface="Calibri" pitchFamily="34" charset="0"/>
                <a:cs typeface="Amiri" pitchFamily="2" charset="-78"/>
              </a:rPr>
              <a:t> is a moon letter.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say </a:t>
            </a:r>
            <a:pPr algn="l" indent="0" marL="0">
              <a:buNone/>
            </a:pPr>
            <a:r>
              <a:rPr lang="ar-SA" altLang="en-US" sz="1650" b="1" dirty="0">
                <a:solidFill>
                  <a:srgbClr val="1B3B6F"/>
                </a:solidFill>
                <a:latin typeface="Amiri" pitchFamily="2" charset="-78"/>
                <a:ea typeface="Amiri" pitchFamily="2" charset="-78"/>
                <a:cs typeface="Amiri" pitchFamily="2" charset="-78"/>
              </a:rPr>
              <a:t>بِالْقَلَمِ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bil-qalami</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bi-qalami</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bi-l-qqalami</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Moon letter: the lām is heard.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there a shadda in </a:t>
            </a:r>
            <a:pPr algn="l" indent="0" marL="0">
              <a:buNone/>
            </a:pPr>
            <a:r>
              <a:rPr lang="ar-SA" altLang="en-US" sz="1650" b="1" dirty="0">
                <a:solidFill>
                  <a:srgbClr val="1B3B6F"/>
                </a:solidFill>
                <a:latin typeface="Amiri" pitchFamily="2" charset="-78"/>
                <a:ea typeface="Amiri" pitchFamily="2" charset="-78"/>
                <a:cs typeface="Amiri" pitchFamily="2" charset="-78"/>
              </a:rPr>
              <a:t>الصَّبَاحِ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ص</a:t>
            </a:r>
            <a:pPr algn="l" indent="0" marL="0">
              <a:buNone/>
            </a:pPr>
            <a:r>
              <a:rPr lang="en-US" sz="1250" dirty="0">
                <a:solidFill>
                  <a:srgbClr val="9AA1AB"/>
                </a:solidFill>
                <a:latin typeface="Calibri" pitchFamily="34" charset="0"/>
                <a:cs typeface="Amiri" pitchFamily="2" charset="-78"/>
              </a:rPr>
              <a:t> is a moon letter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ص</a:t>
            </a:r>
            <a:pPr algn="l" indent="0" marL="0">
              <a:buNone/>
            </a:pPr>
            <a:r>
              <a:rPr lang="en-US" sz="1250" b="1" dirty="0">
                <a:solidFill>
                  <a:srgbClr val="1F2A37"/>
                </a:solidFill>
                <a:latin typeface="Calibri" pitchFamily="34" charset="0"/>
                <a:cs typeface="Amiri" pitchFamily="2" charset="-78"/>
              </a:rPr>
              <a:t> is a sun letter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merges into </a:t>
            </a:r>
            <a:pPr algn="l" indent="0" marL="0">
              <a:buNone/>
            </a:pPr>
            <a:r>
              <a:rPr lang="ar-SA" altLang="en-US" sz="1350" dirty="0">
                <a:solidFill>
                  <a:srgbClr val="8A6D1E"/>
                </a:solidFill>
                <a:latin typeface="Amiri" pitchFamily="2" charset="-78"/>
                <a:ea typeface="Amiri" pitchFamily="2" charset="-78"/>
                <a:cs typeface="Amiri" pitchFamily="2" charset="-78"/>
              </a:rPr>
              <a:t>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1. Find every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الـ</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2. Look at the next letter.</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3. Shadda → sun · sukūn on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ل</a:t>
            </a:r>
            <a:pPr algn="l" indent="0" marL="0">
              <a:lnSpc>
                <a:spcPct val="115000"/>
              </a:lnSpc>
              <a:buNone/>
            </a:pPr>
            <a:r>
              <a:rPr lang="en-US" sz="1250" dirty="0">
                <a:solidFill>
                  <a:srgbClr val="1F2A37"/>
                </a:solidFill>
                <a:latin typeface="Calibri" pitchFamily="34" charset="0"/>
                <a:cs typeface="Amiri" pitchFamily="2" charset="-78"/>
              </a:rPr>
              <a:t> → moon.</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 pronunciation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الشَّمْسُ · الْقَمَرُ · الْبَيْتُ · النَّاسُ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الشَّارِعُ الطَّوِيلُ · الْقَلَمُ الْجَدِيدُ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النَّصَّ كُلَّهُ بِسُرْعَةٍ طَبِيعِيَّةٍ.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كَلِمَةُ ___ شَمْسِيَّةٌ.</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كَلِمَةُ ___ قَمَرِيَّةٌ.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كَلِمَةِ ___ يُدْغَمُ اللَّامُ.</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نَقْرَأُ «الشَّارِعُ»؟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we read “the street”?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نَقُولُ: أَشْ-شَارِعُ، لِأَنَّ الشِّينَ حَرْفٌ شَمْسِيٌّ.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We say ash-shāriʿ, because shīn is a sun letter.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10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ten nouns with </a:t>
            </a:r>
            <a:pPr algn="l" indent="0" marL="0">
              <a:buNone/>
            </a:pPr>
            <a:r>
              <a:rPr lang="ar-SA" altLang="en-US" sz="1800" b="1" dirty="0">
                <a:solidFill>
                  <a:srgbClr val="1F2A37"/>
                </a:solidFill>
                <a:latin typeface="Amiri" pitchFamily="2" charset="-78"/>
                <a:ea typeface="Amiri" pitchFamily="2" charset="-78"/>
                <a:cs typeface="Amiri" pitchFamily="2" charset="-78"/>
              </a:rPr>
              <a:t>الـ</a:t>
            </a:r>
            <a:pPr algn="l" indent="0" marL="0">
              <a:buNone/>
            </a:pPr>
            <a:r>
              <a:rPr lang="en-US" sz="1400" b="1" dirty="0">
                <a:solidFill>
                  <a:srgbClr val="1F2A37"/>
                </a:solidFill>
                <a:latin typeface="Calibri" pitchFamily="34" charset="0"/>
                <a:cs typeface="Amiri" pitchFamily="2" charset="-78"/>
              </a:rPr>
              <a:t>: five sun, five moon.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Underline the article; add a shadda only on the sun letters.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4–5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sentences with at least three sun and three moon nouns.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Then read them aloud to a partner.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website mixed paragraph: four sun and four moon nouns.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Mark each noun ☀ or ☾ and explain one assimilation in English.</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الصَّبَاحِ أَذْهَبُ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morning I go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أَرَى الشَّمْسَ فَوْقَ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see the sun above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الدَّرْسَ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write the lesson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الشَّارِعُ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street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الشَّمْسُ · ______</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sun</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الْقَمَرُ · ______</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moon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النَّاسُ · ______</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people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 ______</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house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الشَّمْسُ  ·  السَّمَاءُ  ·  الشَّارِعُ  ·  الدَّرْسُ  ·  النَّاسُ  ·  الطَّالِبُ  ·  الْقَمَرُ  ·  الْبَيْتُ  ·  الْجَبَلُ  ·  الْقَلَمُ  ·  الْمَدْرَسَةُ  ·  الْكِتَابُ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mixed paragraph: 6–8 sentences with at least four sun-letter nouns and four moon-letter nouns.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sun-letter nouns, each with a shadda.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moon-letter nouns, each with the </a:t>
            </a:r>
            <a:pPr algn="l" indent="0" marL="0">
              <a:buNone/>
            </a:pPr>
            <a:r>
              <a:rPr lang="ar-SA" altLang="en-US" sz="1550" dirty="0">
                <a:solidFill>
                  <a:srgbClr val="1F2A37"/>
                </a:solidFill>
                <a:latin typeface="Amiri" pitchFamily="2" charset="-78"/>
                <a:ea typeface="Amiri" pitchFamily="2" charset="-78"/>
                <a:cs typeface="Amiri" pitchFamily="2" charset="-78"/>
              </a:rPr>
              <a:t>ل</a:t>
            </a:r>
            <a:pPr algn="l" indent="0" marL="0">
              <a:buNone/>
            </a:pPr>
            <a:r>
              <a:rPr lang="en-US" sz="1200" dirty="0">
                <a:solidFill>
                  <a:srgbClr val="1F2A37"/>
                </a:solidFill>
                <a:latin typeface="Calibri" pitchFamily="34" charset="0"/>
                <a:cs typeface="Amiri" pitchFamily="2" charset="-78"/>
              </a:rPr>
              <a:t> clearly written.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t>
            </a:r>
            <a:pPr algn="l" indent="0" marL="0">
              <a:buNone/>
            </a:pPr>
            <a:r>
              <a:rPr lang="ar-SA" altLang="en-US" sz="1550" dirty="0">
                <a:solidFill>
                  <a:srgbClr val="1F2A37"/>
                </a:solidFill>
                <a:latin typeface="Amiri" pitchFamily="2" charset="-78"/>
                <a:ea typeface="Amiri" pitchFamily="2" charset="-78"/>
                <a:cs typeface="Amiri" pitchFamily="2" charset="-78"/>
              </a:rPr>
              <a:t>ل</a:t>
            </a:r>
            <a:pPr algn="l" indent="0" marL="0">
              <a:buNone/>
            </a:pPr>
            <a:r>
              <a:rPr lang="en-US" sz="1200" dirty="0">
                <a:solidFill>
                  <a:srgbClr val="1F2A37"/>
                </a:solidFill>
                <a:latin typeface="Calibri" pitchFamily="34" charset="0"/>
                <a:cs typeface="Amiri" pitchFamily="2" charset="-78"/>
              </a:rPr>
              <a:t> of </a:t>
            </a:r>
            <a:pPr algn="l" indent="0" marL="0">
              <a:buNone/>
            </a:pPr>
            <a:r>
              <a:rPr lang="ar-SA" altLang="en-US" sz="1550" dirty="0">
                <a:solidFill>
                  <a:srgbClr val="1F2A37"/>
                </a:solidFill>
                <a:latin typeface="Amiri" pitchFamily="2" charset="-78"/>
                <a:ea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 written in every 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Read aloud: lām silent before sun letters.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الصَّبَاحِ</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morning</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 الطَّالِبُ</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 went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فَوْقَ الْجَبَلِ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above the mountain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الشَّارِعُ الطَّوِيلُ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long street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الْقَلَمُ الْجَدِيدُ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new pen</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السَّمَاءِ</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sky</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الصَّبَاحِ أَذْهَبُ إِلَى الْمَدْرَسَةِ مَعَ أَخِي. الشَّارِعُ طَوِيلٌ، وَالنَّاسُ كَثِيرُونَ. أَرَى الشَّمْسَ فِي السَّمَاءِ فَوْقَ الْجَبَلِ. فِي الْفَصْلِ أَكْتُبُ الدَّرْسَ بِالْقَلَمِ الْجَدِيدِ، ثُمَّ أَرْجِعُ إِلَى الْبَيْتِ.</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morning I go to school with my brother. The street is long, and there are many people. I see the sun in the sky above the mountain. In class I write the lesson with the new pen, then I go back home.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sun nouns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moon nouns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shadda after الـ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 always written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sort any word into sun or moon.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a:t>
            </a:r>
            <a:pPr algn="l" indent="0" marL="0">
              <a:buNone/>
            </a:pPr>
            <a:r>
              <a:rPr lang="ar-SA" altLang="en-US" sz="1700" dirty="0">
                <a:solidFill>
                  <a:srgbClr val="1F2A37"/>
                </a:solidFill>
                <a:latin typeface="Amiri" pitchFamily="2" charset="-78"/>
                <a:ea typeface="Amiri" pitchFamily="2" charset="-78"/>
                <a:cs typeface="Amiri" pitchFamily="2" charset="-78"/>
              </a:rPr>
              <a:t>ل</a:t>
            </a:r>
            <a:pPr algn="l" indent="0" marL="0">
              <a:buNone/>
            </a:pPr>
            <a:r>
              <a:rPr lang="en-US" sz="1300" dirty="0">
                <a:solidFill>
                  <a:srgbClr val="1F2A37"/>
                </a:solidFill>
                <a:latin typeface="Calibri" pitchFamily="34" charset="0"/>
                <a:cs typeface="Amiri" pitchFamily="2" charset="-78"/>
              </a:rPr>
              <a:t> in every article.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put a shadda only after sun letters.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my sentences without transliteration.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assimilation in one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الزَّهْرَةُ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الْوَرَقَةُ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الْعَيْنُ</a:t>
            </a:r>
            <a:pPr algn="l" indent="0" marL="0">
              <a:buNone/>
            </a:pPr>
            <a:r>
              <a:rPr lang="en-US" sz="1250" b="1" dirty="0">
                <a:solidFill>
                  <a:srgbClr val="1B3B6F"/>
                </a:solidFill>
                <a:latin typeface="Calibri" pitchFamily="34" charset="0"/>
                <a:cs typeface="Amiri" pitchFamily="2" charset="-78"/>
              </a:rPr>
              <a:t> pronounced?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aʿ-ʿayn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al-ʿayn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a-ʿayn</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spelled correctly?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الدَّرْسُ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ادَّرْسُ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الْدَّرْسُ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الزَّهْرَةُ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الْوَرَقَةُ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الْعَيْنُ</a:t>
            </a:r>
            <a:pPr algn="l" indent="0" marL="0">
              <a:buNone/>
            </a:pPr>
            <a:r>
              <a:rPr lang="en-US" sz="1250" b="1" dirty="0">
                <a:solidFill>
                  <a:srgbClr val="1B3B6F"/>
                </a:solidFill>
                <a:latin typeface="Calibri" pitchFamily="34" charset="0"/>
                <a:cs typeface="Amiri" pitchFamily="2" charset="-78"/>
              </a:rPr>
              <a:t> pronounced?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aʿ-ʿayn</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al-ʿayn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a-ʿayn</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a:t>
            </a:r>
            <a:pPr algn="l" indent="0" marL="0">
              <a:buNone/>
            </a:pPr>
            <a:r>
              <a:rPr lang="en-US" sz="1050" i="1" dirty="0">
                <a:solidFill>
                  <a:srgbClr val="8A6D1E"/>
                </a:solidFill>
                <a:latin typeface="Calibri" pitchFamily="34" charset="0"/>
                <a:cs typeface="Amiri" pitchFamily="2" charset="-78"/>
              </a:rPr>
              <a:t> is a moon letter.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spelled correctly?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الدَّرْسُ</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ادَّرْسُ</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الْدَّرْسُ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Write </a:t>
            </a:r>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shadda on the sun letter </a:t>
            </a:r>
            <a:pPr algn="l" indent="0" marL="0">
              <a:buNone/>
            </a:pPr>
            <a:r>
              <a:rPr lang="ar-SA" altLang="en-US" sz="1350" dirty="0">
                <a:solidFill>
                  <a:srgbClr val="8A6D1E"/>
                </a:solidFill>
                <a:latin typeface="Amiri" pitchFamily="2" charset="-78"/>
                <a:ea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no sukūn on </a:t>
            </a:r>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sun letters are there?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28</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silent lām?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التِّلْمِيذُ</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الْفِيلُ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a sun letter?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shadda after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moon letter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plural</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t>
            </a:r>
            <a:pPr algn="l" indent="0" marL="0">
              <a:buNone/>
            </a:pPr>
            <a:r>
              <a:rPr lang="ar-SA" altLang="en-US" sz="1650" dirty="0">
                <a:solidFill>
                  <a:srgbClr val="1F2A37"/>
                </a:solidFill>
                <a:latin typeface="Amiri" pitchFamily="2" charset="-78"/>
                <a:ea typeface="Amiri" pitchFamily="2" charset="-78"/>
                <a:cs typeface="Amiri" pitchFamily="2" charset="-78"/>
              </a:rPr>
              <a:t>ل</a:t>
            </a:r>
            <a:pPr algn="l" indent="0" marL="0">
              <a:buNone/>
            </a:pPr>
            <a:r>
              <a:rPr lang="en-US" sz="1250" dirty="0">
                <a:solidFill>
                  <a:srgbClr val="1F2A37"/>
                </a:solidFill>
                <a:latin typeface="Calibri" pitchFamily="34" charset="0"/>
                <a:cs typeface="Amiri" pitchFamily="2" charset="-78"/>
              </a:rPr>
              <a:t> merged into a sun letter</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ar-rajulu?</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الرَّجُلُ</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الْجَمَلُ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ل</a:t>
            </a:r>
            <a:pPr algn="l" indent="0" marL="0">
              <a:buNone/>
            </a:pPr>
            <a:r>
              <a:rPr lang="en-US" sz="1250" b="1" dirty="0">
                <a:solidFill>
                  <a:srgbClr val="1B3B6F"/>
                </a:solidFill>
                <a:latin typeface="Calibri" pitchFamily="34" charset="0"/>
                <a:cs typeface="Amiri" pitchFamily="2" charset="-78"/>
              </a:rPr>
              <a:t> itself a sun or a moon letter?</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 </a:t>
            </a:r>
            <a:pPr algn="l" indent="0" marL="0">
              <a:buNone/>
            </a:pPr>
            <a:r>
              <a:rPr lang="ar-SA" altLang="en-US" sz="1650" dirty="0">
                <a:solidFill>
                  <a:srgbClr val="1F2A37"/>
                </a:solidFill>
                <a:latin typeface="Amiri" pitchFamily="2" charset="-78"/>
                <a:ea typeface="Amiri" pitchFamily="2" charset="-78"/>
                <a:cs typeface="Amiri" pitchFamily="2" charset="-78"/>
              </a:rPr>
              <a:t>اللَّيْلُ</a:t>
            </a:r>
            <a:pPr algn="l" indent="0" marL="0">
              <a:buNone/>
            </a:pPr>
            <a:r>
              <a:rPr lang="en-US" sz="1250" dirty="0">
                <a:solidFill>
                  <a:srgbClr val="1F2A37"/>
                </a:solidFill>
                <a:latin typeface="Calibri" pitchFamily="34" charset="0"/>
                <a:cs typeface="Amiri" pitchFamily="2" charset="-78"/>
              </a:rPr>
              <a:t> = al-laylu</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sun letters are there?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28</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Half of the alphabet.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silent lām?</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التِّلْمِيذُ</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الْأُمُّ</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الْفِيلُ</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a sun letter?</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a:t>
            </a:r>
            <a:pPr algn="l" indent="0" marL="0">
              <a:buNone/>
            </a:pPr>
            <a:r>
              <a:rPr lang="en-US" sz="1050" i="1" dirty="0">
                <a:solidFill>
                  <a:srgbClr val="8A6D1E"/>
                </a:solidFill>
                <a:latin typeface="Calibri" pitchFamily="34" charset="0"/>
                <a:cs typeface="Amiri" pitchFamily="2" charset="-78"/>
              </a:rPr>
              <a:t> is a moon letter.</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shadda after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moon letter</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plural</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t>
            </a:r>
            <a:pPr algn="l" indent="0" marL="0">
              <a:buNone/>
            </a:pPr>
            <a:r>
              <a:rPr lang="ar-SA" altLang="en-US" sz="1650" b="1" dirty="0">
                <a:solidFill>
                  <a:srgbClr val="1F2A37"/>
                </a:solidFill>
                <a:latin typeface="Amiri" pitchFamily="2" charset="-78"/>
                <a:ea typeface="Amiri" pitchFamily="2" charset="-78"/>
                <a:cs typeface="Amiri" pitchFamily="2" charset="-78"/>
              </a:rPr>
              <a:t>ل</a:t>
            </a:r>
            <a:pPr algn="l" indent="0" marL="0">
              <a:buNone/>
            </a:pPr>
            <a:r>
              <a:rPr lang="en-US" sz="1250" b="1" dirty="0">
                <a:solidFill>
                  <a:srgbClr val="1F2A37"/>
                </a:solidFill>
                <a:latin typeface="Calibri" pitchFamily="34" charset="0"/>
                <a:cs typeface="Amiri" pitchFamily="2" charset="-78"/>
              </a:rPr>
              <a:t> merged into a sun letter</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Assimilation.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pronounced ar-rajulu?</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الرَّجُلُ</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الْجَمَلُ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ل</a:t>
            </a:r>
            <a:pPr algn="l" indent="0" marL="0">
              <a:buNone/>
            </a:pPr>
            <a:r>
              <a:rPr lang="en-US" sz="1250" b="1" dirty="0">
                <a:solidFill>
                  <a:srgbClr val="1B3B6F"/>
                </a:solidFill>
                <a:latin typeface="Calibri" pitchFamily="34" charset="0"/>
                <a:cs typeface="Amiri" pitchFamily="2" charset="-78"/>
              </a:rPr>
              <a:t> itself a sun or a moon letter?</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moon</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 </a:t>
            </a:r>
            <a:pPr algn="l" indent="0" marL="0">
              <a:buNone/>
            </a:pPr>
            <a:r>
              <a:rPr lang="ar-SA" altLang="en-US" sz="1650" b="1" dirty="0">
                <a:solidFill>
                  <a:srgbClr val="1F2A37"/>
                </a:solidFill>
                <a:latin typeface="Amiri" pitchFamily="2" charset="-78"/>
                <a:ea typeface="Amiri" pitchFamily="2" charset="-78"/>
                <a:cs typeface="Amiri" pitchFamily="2" charset="-78"/>
              </a:rPr>
              <a:t>اللَّيْلُ</a:t>
            </a:r>
            <a:pPr algn="l" indent="0" marL="0">
              <a:buNone/>
            </a:pPr>
            <a:r>
              <a:rPr lang="en-US" sz="1250" b="1" dirty="0">
                <a:solidFill>
                  <a:srgbClr val="1F2A37"/>
                </a:solidFill>
                <a:latin typeface="Calibri" pitchFamily="34" charset="0"/>
                <a:cs typeface="Amiri" pitchFamily="2" charset="-78"/>
              </a:rPr>
              <a:t> = al-laylu</a:t>
            </a:r>
            <a:endParaRPr lang="en-US"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is on the sun list: the two lāms merge.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GM-SCR-02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GM-SCR-03: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GM-SCR-03 · Vowels and Phonetic Marks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فَتْحَةٌ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fatḥa (a)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ḍamma (u)</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كَسْرَةٌ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kasra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long vowel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nunation (-n)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one word in your Qur’an or book with each short vowel (a · u · i).</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ـَ ______ · ـُ ______ · ـِ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14 sun letters; sort 10 nouns from your book.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Copy the website reading text and colour-code every article.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website mixed paragraph and play the 60-second Sun and Moon Challenge.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GM-SCR-02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GM-SCR-03 · Vowels and Phonetic Marks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الْحَرَكَاتُ وَالْعَلَامَاتُ الصَّوْتِيَّةُ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spelling, two sounds · sun = shadda, lām silent · moon = lām heard · always write the </a:t>
            </a:r>
            <a:pPr algn="l" indent="0" marL="0">
              <a:buNone/>
            </a:pPr>
            <a:r>
              <a:rPr lang="ar-SA" altLang="en-US" sz="1700" b="1" dirty="0">
                <a:solidFill>
                  <a:srgbClr val="FFFFFF"/>
                </a:solidFill>
                <a:latin typeface="Amiri" pitchFamily="2" charset="-78"/>
                <a:ea typeface="Amiri" pitchFamily="2" charset="-78"/>
                <a:cs typeface="Amiri" pitchFamily="2" charset="-78"/>
              </a:rPr>
              <a:t>ل</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GM-SCR-02 · Sun and Moon Letters</dc:title>
  <dc:subject>PptxGenJS Presentation</dc:subject>
  <dc:creator>Al Madina Online School · Arabic Department</dc:creator>
  <cp:lastModifiedBy>Al Madina Online School · Arabic Department</cp:lastModifiedBy>
  <cp:revision>1</cp:revision>
  <dcterms:created xsi:type="dcterms:W3CDTF">2026-10-11T06:42:31Z</dcterms:created>
  <dcterms:modified xsi:type="dcterms:W3CDTF">2026-10-11T06:42:31Z</dcterms:modified>
</cp:coreProperties>
</file>