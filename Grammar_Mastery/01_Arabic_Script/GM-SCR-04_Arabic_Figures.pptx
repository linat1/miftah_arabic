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Script › GM-SCR-04 (“الأَرْقَامُ العَرَبِيَّةُ”). The website chapter “Script Mastery 04”: the ten figures, place value, figures in context (time, price, date, phone, address, transport, pages), the information hunt, digit dictation, practical speaking, the information card and the common-mistakes table. The website checks this chapter through games, so the quizzes are teacher-written on the website content.
SUPPORT FOR THIS CLASS (Arabic not yet secure; mixed levels):
• Core: recognise ٠–٩ and convert to Western figures; read simple two-digit numbers. Develop: figures in times, prices and dates; read phone numbers. Stretch: mixed-format notices, decimals and larger numbers.
• URDU BRIDGE: Urdu uses the Eastern figures ۰ ۱ ۲ ۳ ۴ ۵ ۶ ۷ ۸ ۹. Arabic ٠ ١ ٢ ٣ ٥ ٧ ٨ ٩ look the same; Arabic ٤ ٦ are drawn differently from Urdu ۴ ۶ — point these out.
• This lesson is about FIGURES (writing numbers). Number WORDS and the grammar of numbers are taught in Numbers and Time (GM-NUM).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3–5 retrieve GM-SCR-03 and GM-SCR-02.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Arabic words run right to left — but the digits inside a number keep their place value: ١٢ is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(2 min). Write each figure on the whiteboard; class copies in the air. The number words are for recognition only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1b (2 min). Quick flash: show a figure, students type the Western digit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section “Arabic text runs right to left, but multi-digit figures keep their place value” and its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Read each line aloud; students say the Western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on the website sections.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information hunt, first two sentences. Think aloud: what kind of figure is it (time / number / price / date)? Then convert without reversing.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T, P or D for each card, then say each one aloud in Western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T, P or D for each card, then say each one aloud in Western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on website games 1–4 and 6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“information hunt”. Read it aloud once while students follow; then they hunt for today’s grammar.
Task: Website information hunt: what time does the lesson begin? What is the classroom number? How much is the book? What is the exam date?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information-hunt questions, as multiple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“practical information”. Sequence: ● 10s think → ↔ 45s rehearse aloud with mic muted → ◎ two named students on open mic (warned in advance) → + ? the class types one follow-up in chat → ↺ one student summarises.
Routes: Core uses the Core prompt and stem; Develop the Develop prompt; Stretch the last prompt.
Website speaking: say a fictional telephone number, a bus number, a price, a date and a time. Students may say the numbers in English if Arabic number words are not yet secure — the target today is reading the FIGURES. Safeguarding: phone numbers must be fictional. Digit dictation (website listening): read the four items in the notes of the website page; students write them in Arabic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My information card: write six short Arabic sentences using figures for age, date, time, price, address and telephone number.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for the website information card (all figures from the website examples),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CHECK (FLEX) — teacher-written on the website lesson (the website checks this chapter through interactive games). Fast finishers or homework. Below 70%: repeat the explanation slides;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(GM-ART-01 · The Definite Article) will spend class time USING this language, so students prepare it tonight — short, simple, easy to access (school guidance: “Simple, Short, Interesting, Relevant, Easy to access”). The five words prepare GM-ART-01 (website Articles lesson 1: the definite article).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SCRIPT  ·  GM-SCR-04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GM-SCR-04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Arabic Figures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الْأَرْقَامُ الْعَرَبِيَّةُ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and write the ten Arabic figures </a:t>
            </a:r>
            <a:pPr algn="l" indent="0" marL="0">
              <a:buNone/>
            </a:pPr>
            <a:r>
              <a:rPr lang="ar-SA" altLang="en-US" sz="1800" dirty="0">
                <a:solidFill>
                  <a:srgbClr val="C6D2E6"/>
                </a:solidFill>
                <a:latin typeface="Amiri" pitchFamily="2" charset="-78"/>
                <a:ea typeface="Amiri" pitchFamily="2" charset="-78"/>
                <a:cs typeface="Amiri" pitchFamily="2" charset="-78"/>
              </a:rPr>
              <a:t>٠ ١ ٢ ٣ ٤ ٥ ٦ ٧ ٨ ٩</a:t>
            </a:r>
            <a:pPr algn="l" indent="0" marL="0">
              <a:buNone/>
            </a:pPr>
            <a:r>
              <a:rPr lang="en-US" sz="1400" dirty="0">
                <a:solidFill>
                  <a:srgbClr val="C6D2E6"/>
                </a:solidFill>
                <a:latin typeface="Calibri" pitchFamily="34" charset="0"/>
                <a:cs typeface="Amiri" pitchFamily="2" charset="-78"/>
              </a:rPr>
              <a:t>, keep place value when Arabic text runs right to left (</a:t>
            </a:r>
            <a:pPr algn="l" indent="0" marL="0">
              <a:buNone/>
            </a:pPr>
            <a:r>
              <a:rPr lang="ar-SA" altLang="en-US" sz="1800" dirty="0">
                <a:solidFill>
                  <a:srgbClr val="C6D2E6"/>
                </a:solidFill>
                <a:latin typeface="Amiri" pitchFamily="2" charset="-78"/>
                <a:ea typeface="Amiri" pitchFamily="2" charset="-78"/>
                <a:cs typeface="Amiri" pitchFamily="2" charset="-78"/>
              </a:rPr>
              <a:t>١٢</a:t>
            </a:r>
            <a:pPr algn="l" indent="0" marL="0">
              <a:buNone/>
            </a:pPr>
            <a:r>
              <a:rPr lang="en-US" sz="1400" dirty="0">
                <a:solidFill>
                  <a:srgbClr val="C6D2E6"/>
                </a:solidFill>
                <a:latin typeface="Calibri" pitchFamily="34" charset="0"/>
                <a:cs typeface="Amiri" pitchFamily="2" charset="-78"/>
              </a:rPr>
              <a:t> = 12, never 21), and use figures for times, prices, dates, phone numbers and addresses.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GM-SCR-04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Script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ten figures, place value, figures in daily information.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figures, repair reversed numbers, hunt information.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GM-ART-01.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zero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means “no vowel”?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ā?</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zero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price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page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means “no vowel”?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GM-SCR-03: sukūn.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ā?</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قَلَمٌ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GM-SCR-03: fatḥa + alif.</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GM-SCR-02: </a:t>
            </a:r>
            <a:pPr algn="l" indent="0" marL="0">
              <a:buNone/>
            </a:pPr>
            <a:r>
              <a:rPr lang="ar-SA" altLang="en-US" sz="1350" dirty="0">
                <a:solidFill>
                  <a:srgbClr val="8A6D1E"/>
                </a:solidFill>
                <a:latin typeface="Amiri" pitchFamily="2" charset="-78"/>
                <a:ea typeface="Amiri" pitchFamily="2" charset="-78"/>
                <a:cs typeface="Amiri" pitchFamily="2" charset="-78"/>
              </a:rPr>
              <a:t>س</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words run right to left — but the digits inside a number keep their place value: </a:t>
            </a:r>
            <a:pPr algn="l" indent="0" marL="0">
              <a:buNone/>
            </a:pPr>
            <a:r>
              <a:rPr lang="ar-SA" altLang="en-US" sz="1700" b="1" dirty="0">
                <a:solidFill>
                  <a:srgbClr val="1F2A37"/>
                </a:solidFill>
                <a:latin typeface="Amiri" pitchFamily="2" charset="-78"/>
                <a:ea typeface="Amiri" pitchFamily="2" charset="-78"/>
                <a:cs typeface="Amiri" pitchFamily="2" charset="-78"/>
              </a:rPr>
              <a:t>١٢</a:t>
            </a:r>
            <a:pPr algn="l" indent="0" marL="0">
              <a:buNone/>
            </a:pPr>
            <a:r>
              <a:rPr lang="en-US" sz="1300" b="1" dirty="0">
                <a:solidFill>
                  <a:srgbClr val="1F2A37"/>
                </a:solidFill>
                <a:latin typeface="Calibri" pitchFamily="34" charset="0"/>
                <a:cs typeface="Amiri" pitchFamily="2" charset="-78"/>
              </a:rPr>
              <a:t> is twelve.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١٢ = 12 · ١٠٥ = 105 · ٢٠٢٧ = 2027</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write the ten Arabic figures.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Convert between Arabic and Western figures.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place value in multi-digit numbers.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figures in times, prices, dates and phone numbers.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a:t>
            </a:r>
            <a:pPr algn="l" indent="0" marL="0">
              <a:buNone/>
            </a:pPr>
            <a:r>
              <a:rPr lang="ar-SA" altLang="en-US" sz="1700" b="1" dirty="0">
                <a:solidFill>
                  <a:srgbClr val="2E8B57"/>
                </a:solidFill>
                <a:latin typeface="Amiri" pitchFamily="2" charset="-78"/>
                <a:ea typeface="Amiri" pitchFamily="2" charset="-78"/>
                <a:cs typeface="Amiri" pitchFamily="2" charset="-78"/>
              </a:rPr>
              <a:t>٠</a:t>
            </a:r>
            <a:pPr algn="l" indent="0" marL="0">
              <a:buNone/>
            </a:pPr>
            <a:r>
              <a:rPr lang="en-US" sz="1300" b="1" dirty="0">
                <a:solidFill>
                  <a:srgbClr val="2E8B57"/>
                </a:solidFill>
                <a:latin typeface="Calibri" pitchFamily="34" charset="0"/>
                <a:cs typeface="Amiri" pitchFamily="2" charset="-78"/>
              </a:rPr>
              <a:t>–</a:t>
            </a:r>
            <a:pPr algn="l" indent="0" marL="0">
              <a:buNone/>
            </a:pPr>
            <a:r>
              <a:rPr lang="ar-SA" altLang="en-US" sz="1700" b="1" dirty="0">
                <a:solidFill>
                  <a:srgbClr val="2E8B57"/>
                </a:solidFill>
                <a:latin typeface="Amiri" pitchFamily="2" charset="-78"/>
                <a:ea typeface="Amiri" pitchFamily="2" charset="-78"/>
                <a:cs typeface="Amiri" pitchFamily="2" charset="-78"/>
              </a:rPr>
              <a:t>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convert a two-digit number.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 time, a price and a date.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 phone number digit by digit.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a mixed notice with figures.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handle decimals and four-digit years.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رَقْمٌ</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figure / number</a:t>
            </a:r>
            <a:endParaRPr lang="en-US" sz="1350" dirty="0"/>
          </a:p>
          <a:p>
            <a:pPr indent="0" marL="0">
              <a:buNone/>
            </a:pPr>
            <a:r>
              <a:rPr lang="en-US" sz="1100" i="1" dirty="0">
                <a:solidFill>
                  <a:srgbClr val="5A6472"/>
                </a:solidFill>
                <a:latin typeface="Calibri" pitchFamily="34" charset="0"/>
                <a:cs typeface="Amiri" pitchFamily="2" charset="-78"/>
              </a:rPr>
              <a:t>raq-mun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أَرْقَامٌ</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صِفْرٌ</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zero</a:t>
            </a:r>
            <a:endParaRPr lang="en-US" sz="1350" dirty="0"/>
          </a:p>
          <a:p>
            <a:pPr indent="0" marL="0">
              <a:buNone/>
            </a:pPr>
            <a:r>
              <a:rPr lang="en-US" sz="1100" i="1" dirty="0">
                <a:solidFill>
                  <a:srgbClr val="5A6472"/>
                </a:solidFill>
                <a:latin typeface="Calibri" pitchFamily="34" charset="0"/>
                <a:cs typeface="Amiri" pitchFamily="2" charset="-78"/>
              </a:rPr>
              <a:t>ṣif-run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٠</a:t>
            </a:r>
            <a:pPr algn="l" indent="0" marL="0">
              <a:buNone/>
            </a:pPr>
            <a:r>
              <a:rPr lang="en-US" sz="1000" i="1" dirty="0">
                <a:solidFill>
                  <a:srgbClr val="8A6D1E"/>
                </a:solidFill>
                <a:latin typeface="Calibri" pitchFamily="34" charset="0"/>
                <a:cs typeface="Amiri" pitchFamily="2" charset="-78"/>
              </a:rPr>
              <a:t> — a small dot</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السَّاعَةُ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time / o’clock</a:t>
            </a:r>
            <a:endParaRPr lang="en-US" sz="1350" dirty="0"/>
          </a:p>
          <a:p>
            <a:pPr indent="0" marL="0">
              <a:buNone/>
            </a:pPr>
            <a:r>
              <a:rPr lang="en-US" sz="1100" i="1" dirty="0">
                <a:solidFill>
                  <a:srgbClr val="5A6472"/>
                </a:solidFill>
                <a:latin typeface="Calibri" pitchFamily="34" charset="0"/>
                <a:cs typeface="Amiri" pitchFamily="2" charset="-78"/>
              </a:rPr>
              <a:t>as-sā-ʿa-tu</a:t>
            </a:r>
            <a:endParaRPr lang="en-US" sz="1350" dirty="0"/>
          </a:p>
        </p:txBody>
      </p:sp>
      <p:sp>
        <p:nvSpPr>
          <p:cNvPr id="40" name="Text 37"/>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السَّاعَةُ ٧:٣٠</a:t>
            </a:r>
            <a:endParaRPr lang="ar-SA" sz="13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السِّعْرُ</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price</a:t>
            </a:r>
            <a:endParaRPr lang="en-US" sz="1350" dirty="0"/>
          </a:p>
          <a:p>
            <a:pPr indent="0" marL="0">
              <a:buNone/>
            </a:pPr>
            <a:r>
              <a:rPr lang="en-US" sz="1100" i="1" dirty="0">
                <a:solidFill>
                  <a:srgbClr val="5A6472"/>
                </a:solidFill>
                <a:latin typeface="Calibri" pitchFamily="34" charset="0"/>
                <a:cs typeface="Amiri" pitchFamily="2" charset="-78"/>
              </a:rPr>
              <a:t>as-siʿ-ru</a:t>
            </a:r>
            <a:endParaRPr lang="en-US" sz="1350" dirty="0"/>
          </a:p>
        </p:txBody>
      </p:sp>
      <p:sp>
        <p:nvSpPr>
          <p:cNvPr id="48" name="Text 45"/>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السِّعْرُ ٢٥ جُنَيْهًا</a:t>
            </a:r>
            <a:endParaRPr lang="ar-SA" sz="13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التَّارِيخُ</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date</a:t>
            </a:r>
            <a:endParaRPr lang="en-US" sz="1350" dirty="0"/>
          </a:p>
          <a:p>
            <a:pPr indent="0" marL="0">
              <a:buNone/>
            </a:pPr>
            <a:r>
              <a:rPr lang="en-US" sz="1100" i="1" dirty="0">
                <a:solidFill>
                  <a:srgbClr val="5A6472"/>
                </a:solidFill>
                <a:latin typeface="Calibri" pitchFamily="34" charset="0"/>
                <a:cs typeface="Amiri" pitchFamily="2" charset="-78"/>
              </a:rPr>
              <a:t>at-tā-rī-khu</a:t>
            </a:r>
            <a:endParaRPr lang="en-US" sz="1350" dirty="0"/>
          </a:p>
        </p:txBody>
      </p:sp>
      <p:sp>
        <p:nvSpPr>
          <p:cNvPr id="56" name="Text 53"/>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١٥/٠٦/٢٠٢٧</a:t>
            </a:r>
            <a:endParaRPr lang="ar-SA" sz="13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رَقْمُ الْهَاتِفِ</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telephone number</a:t>
            </a:r>
            <a:endParaRPr lang="en-US" sz="1350" dirty="0"/>
          </a:p>
          <a:p>
            <a:pPr indent="0" marL="0">
              <a:buNone/>
            </a:pPr>
            <a:r>
              <a:rPr lang="en-US" sz="1100" i="1" dirty="0">
                <a:solidFill>
                  <a:srgbClr val="5A6472"/>
                </a:solidFill>
                <a:latin typeface="Calibri" pitchFamily="34" charset="0"/>
                <a:cs typeface="Amiri" pitchFamily="2" charset="-78"/>
              </a:rPr>
              <a:t>raq-mu al-hā-ti-fi</a:t>
            </a:r>
            <a:endParaRPr lang="en-US" sz="1350" dirty="0"/>
          </a:p>
        </p:txBody>
      </p:sp>
      <p:sp>
        <p:nvSpPr>
          <p:cNvPr id="64" name="Text 6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read digit by digit</a:t>
            </a:r>
            <a:endParaRPr lang="en-US" sz="10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TEN ARABIC FIGURES (1 OF 2) ·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ten figures: </a:t>
            </a:r>
            <a:pPr algn="l" indent="0" marL="0">
              <a:buNone/>
            </a:pPr>
            <a:r>
              <a:rPr lang="ar-SA" altLang="en-US" sz="3650" b="1" dirty="0">
                <a:solidFill>
                  <a:srgbClr val="1B3B6F"/>
                </a:solidFill>
                <a:latin typeface="Amiri" pitchFamily="2" charset="-78"/>
                <a:ea typeface="Amiri" pitchFamily="2" charset="-78"/>
                <a:cs typeface="Amiri" pitchFamily="2" charset="-78"/>
              </a:rPr>
              <a:t>٠</a:t>
            </a:r>
            <a:pPr algn="l" indent="0" marL="0">
              <a:buNone/>
            </a:pPr>
            <a:r>
              <a:rPr lang="en-US" sz="2800" b="1" dirty="0">
                <a:solidFill>
                  <a:srgbClr val="1B3B6F"/>
                </a:solidFill>
                <a:latin typeface="Cambria" pitchFamily="34" charset="0"/>
                <a:cs typeface="Amiri" pitchFamily="2" charset="-78"/>
              </a:rPr>
              <a:t> to </a:t>
            </a:r>
            <a:pPr algn="l" indent="0" marL="0">
              <a:buNone/>
            </a:pPr>
            <a:r>
              <a:rPr lang="ar-SA" altLang="en-US" sz="3650" b="1" dirty="0">
                <a:solidFill>
                  <a:srgbClr val="1B3B6F"/>
                </a:solidFill>
                <a:latin typeface="Amiri" pitchFamily="2" charset="-78"/>
                <a:ea typeface="Amiri" pitchFamily="2" charset="-78"/>
                <a:cs typeface="Amiri" pitchFamily="2" charset="-78"/>
              </a:rPr>
              <a:t>٤</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٠–٤</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figure</a:t>
            </a:r>
            <a:endParaRPr lang="en-US" sz="1100" dirty="0"/>
          </a:p>
        </p:txBody>
      </p:sp>
      <p:sp>
        <p:nvSpPr>
          <p:cNvPr id="17" name="Text 14"/>
          <p:cNvSpPr txBox="1"/>
          <p:nvPr/>
        </p:nvSpPr>
        <p:spPr>
          <a:xfrm>
            <a:off x="69311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 word</a:t>
            </a:r>
            <a:endParaRPr lang="en-US" sz="1100" dirty="0"/>
          </a:p>
        </p:txBody>
      </p:sp>
      <p:sp>
        <p:nvSpPr>
          <p:cNvPr id="18" name="Text 15"/>
          <p:cNvSpPr txBox="1"/>
          <p:nvPr/>
        </p:nvSpPr>
        <p:spPr>
          <a:xfrm>
            <a:off x="2176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remember it</a:t>
            </a:r>
            <a:endParaRPr lang="en-US" sz="1100" dirty="0"/>
          </a:p>
        </p:txBody>
      </p:sp>
      <p:sp>
        <p:nvSpPr>
          <p:cNvPr id="19" name="Text 16"/>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Western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٠</a:t>
            </a:r>
            <a:endParaRPr lang="ar-SA" sz="3150" dirty="0"/>
          </a:p>
        </p:txBody>
      </p:sp>
      <p:sp>
        <p:nvSpPr>
          <p:cNvPr id="22" name="Text 19"/>
          <p:cNvSpPr txBox="1"/>
          <p:nvPr/>
        </p:nvSpPr>
        <p:spPr>
          <a:xfrm>
            <a:off x="6949440" y="2267712"/>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صِفْرٌ</a:t>
            </a:r>
            <a:endParaRPr lang="ar-SA" sz="2200" dirty="0"/>
          </a:p>
        </p:txBody>
      </p:sp>
      <p:sp>
        <p:nvSpPr>
          <p:cNvPr id="23" name="Text 20"/>
          <p:cNvSpPr txBox="1"/>
          <p:nvPr/>
        </p:nvSpPr>
        <p:spPr>
          <a:xfrm>
            <a:off x="2212848" y="2267712"/>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zero — a small dot</a:t>
            </a:r>
            <a:endParaRPr lang="en-US" sz="1100" dirty="0"/>
          </a:p>
        </p:txBody>
      </p:sp>
      <p:sp>
        <p:nvSpPr>
          <p:cNvPr id="24" name="Text 21"/>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١</a:t>
            </a:r>
            <a:endParaRPr lang="ar-SA" sz="3150" dirty="0"/>
          </a:p>
        </p:txBody>
      </p:sp>
      <p:sp>
        <p:nvSpPr>
          <p:cNvPr id="29" name="Text 26"/>
          <p:cNvSpPr txBox="1"/>
          <p:nvPr/>
        </p:nvSpPr>
        <p:spPr>
          <a:xfrm>
            <a:off x="6949440" y="300471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وَاحِدٌ</a:t>
            </a:r>
            <a:endParaRPr lang="ar-SA" sz="2200" dirty="0"/>
          </a:p>
        </p:txBody>
      </p:sp>
      <p:sp>
        <p:nvSpPr>
          <p:cNvPr id="30" name="Text 27"/>
          <p:cNvSpPr txBox="1"/>
          <p:nvPr/>
        </p:nvSpPr>
        <p:spPr>
          <a:xfrm>
            <a:off x="2212848" y="3004718"/>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 a straight line</a:t>
            </a:r>
            <a:endParaRPr lang="en-US" sz="1100" dirty="0"/>
          </a:p>
        </p:txBody>
      </p:sp>
      <p:sp>
        <p:nvSpPr>
          <p:cNvPr id="31" name="Text 28"/>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٢</a:t>
            </a:r>
            <a:endParaRPr lang="ar-SA" sz="3150" dirty="0"/>
          </a:p>
        </p:txBody>
      </p:sp>
      <p:sp>
        <p:nvSpPr>
          <p:cNvPr id="36" name="Text 33"/>
          <p:cNvSpPr txBox="1"/>
          <p:nvPr/>
        </p:nvSpPr>
        <p:spPr>
          <a:xfrm>
            <a:off x="6949440" y="3741725"/>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اِثْنَانِ</a:t>
            </a:r>
            <a:endParaRPr lang="ar-SA" sz="2200" dirty="0"/>
          </a:p>
        </p:txBody>
      </p:sp>
      <p:sp>
        <p:nvSpPr>
          <p:cNvPr id="37" name="Text 34"/>
          <p:cNvSpPr txBox="1"/>
          <p:nvPr/>
        </p:nvSpPr>
        <p:spPr>
          <a:xfrm>
            <a:off x="2212848" y="3741725"/>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 one hook</a:t>
            </a:r>
            <a:endParaRPr lang="en-US" sz="1100" dirty="0"/>
          </a:p>
        </p:txBody>
      </p:sp>
      <p:sp>
        <p:nvSpPr>
          <p:cNvPr id="38" name="Text 35"/>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٣</a:t>
            </a:r>
            <a:endParaRPr lang="ar-SA" sz="3150" dirty="0"/>
          </a:p>
        </p:txBody>
      </p:sp>
      <p:sp>
        <p:nvSpPr>
          <p:cNvPr id="43" name="Text 40"/>
          <p:cNvSpPr txBox="1"/>
          <p:nvPr/>
        </p:nvSpPr>
        <p:spPr>
          <a:xfrm>
            <a:off x="6949440" y="4478731"/>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ثَلَاثَةٌ</a:t>
            </a:r>
            <a:endParaRPr lang="ar-SA" sz="2200" dirty="0"/>
          </a:p>
        </p:txBody>
      </p:sp>
      <p:sp>
        <p:nvSpPr>
          <p:cNvPr id="44" name="Text 41"/>
          <p:cNvSpPr txBox="1"/>
          <p:nvPr/>
        </p:nvSpPr>
        <p:spPr>
          <a:xfrm>
            <a:off x="2212848" y="4478731"/>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 two hooks</a:t>
            </a:r>
            <a:endParaRPr lang="en-US" sz="1100" dirty="0"/>
          </a:p>
        </p:txBody>
      </p:sp>
      <p:sp>
        <p:nvSpPr>
          <p:cNvPr id="45" name="Text 42"/>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٤</a:t>
            </a:r>
            <a:endParaRPr lang="ar-SA" sz="3150" dirty="0"/>
          </a:p>
        </p:txBody>
      </p:sp>
      <p:sp>
        <p:nvSpPr>
          <p:cNvPr id="48" name="Text 45"/>
          <p:cNvSpPr txBox="1"/>
          <p:nvPr/>
        </p:nvSpPr>
        <p:spPr>
          <a:xfrm>
            <a:off x="6949440" y="521573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أَرْبَعَةٌ</a:t>
            </a:r>
            <a:endParaRPr lang="ar-SA" sz="2200" dirty="0"/>
          </a:p>
        </p:txBody>
      </p:sp>
      <p:sp>
        <p:nvSpPr>
          <p:cNvPr id="49" name="Text 46"/>
          <p:cNvSpPr txBox="1"/>
          <p:nvPr/>
        </p:nvSpPr>
        <p:spPr>
          <a:xfrm>
            <a:off x="2212848" y="5215738"/>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 like a backwards 3</a:t>
            </a:r>
            <a:endParaRPr lang="en-US" sz="1100" dirty="0"/>
          </a:p>
        </p:txBody>
      </p:sp>
      <p:sp>
        <p:nvSpPr>
          <p:cNvPr id="50" name="Text 47"/>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Visual warning (website): Arabic </a:t>
            </a:r>
            <a:pPr algn="l" indent="0" marL="0">
              <a:buNone/>
            </a:pPr>
            <a:r>
              <a:rPr lang="ar-SA" altLang="en-US" sz="1500" b="1" dirty="0">
                <a:solidFill>
                  <a:srgbClr val="1B3B6F"/>
                </a:solidFill>
                <a:latin typeface="Amiri" pitchFamily="2" charset="-78"/>
                <a:ea typeface="Amiri" pitchFamily="2" charset="-78"/>
                <a:cs typeface="Amiri" pitchFamily="2" charset="-78"/>
              </a:rPr>
              <a:t>٠</a:t>
            </a:r>
            <a:pPr algn="l" indent="0" marL="0">
              <a:buNone/>
            </a:pPr>
            <a:r>
              <a:rPr lang="en-US" sz="1150" b="1" dirty="0">
                <a:solidFill>
                  <a:srgbClr val="1B3B6F"/>
                </a:solidFill>
                <a:latin typeface="Calibri" pitchFamily="34" charset="0"/>
                <a:cs typeface="Amiri" pitchFamily="2" charset="-78"/>
              </a:rPr>
              <a:t> is the zero; </a:t>
            </a:r>
            <a:pPr algn="l" indent="0" marL="0">
              <a:buNone/>
            </a:pPr>
            <a:r>
              <a:rPr lang="ar-SA" altLang="en-US" sz="1500" b="1" dirty="0">
                <a:solidFill>
                  <a:srgbClr val="1B3B6F"/>
                </a:solidFill>
                <a:latin typeface="Amiri" pitchFamily="2" charset="-78"/>
                <a:ea typeface="Amiri" pitchFamily="2" charset="-78"/>
                <a:cs typeface="Amiri" pitchFamily="2" charset="-78"/>
              </a:rPr>
              <a:t>٥</a:t>
            </a:r>
            <a:pPr algn="l" indent="0" marL="0">
              <a:buNone/>
            </a:pPr>
            <a:r>
              <a:rPr lang="en-US" sz="1150" b="1" dirty="0">
                <a:solidFill>
                  <a:srgbClr val="1B3B6F"/>
                </a:solidFill>
                <a:latin typeface="Calibri" pitchFamily="34" charset="0"/>
                <a:cs typeface="Amiri" pitchFamily="2" charset="-78"/>
              </a:rPr>
              <a:t> is the five. Learners often confuse these at first.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TEN ARABIC FIGURES (2 OF 2) ·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ten figures: </a:t>
            </a:r>
            <a:pPr algn="l" indent="0" marL="0">
              <a:buNone/>
            </a:pPr>
            <a:r>
              <a:rPr lang="ar-SA" altLang="en-US" sz="3650" b="1" dirty="0">
                <a:solidFill>
                  <a:srgbClr val="1B3B6F"/>
                </a:solidFill>
                <a:latin typeface="Amiri" pitchFamily="2" charset="-78"/>
                <a:ea typeface="Amiri" pitchFamily="2" charset="-78"/>
                <a:cs typeface="Amiri" pitchFamily="2" charset="-78"/>
              </a:rPr>
              <a:t>٥</a:t>
            </a:r>
            <a:pPr algn="l" indent="0" marL="0">
              <a:buNone/>
            </a:pPr>
            <a:r>
              <a:rPr lang="en-US" sz="2800" b="1" dirty="0">
                <a:solidFill>
                  <a:srgbClr val="1B3B6F"/>
                </a:solidFill>
                <a:latin typeface="Cambria" pitchFamily="34" charset="0"/>
                <a:cs typeface="Amiri" pitchFamily="2" charset="-78"/>
              </a:rPr>
              <a:t> to </a:t>
            </a:r>
            <a:pPr algn="l" indent="0" marL="0">
              <a:buNone/>
            </a:pPr>
            <a:r>
              <a:rPr lang="ar-SA" altLang="en-US" sz="3650" b="1" dirty="0">
                <a:solidFill>
                  <a:srgbClr val="1B3B6F"/>
                </a:solidFill>
                <a:latin typeface="Amiri" pitchFamily="2" charset="-78"/>
                <a:ea typeface="Amiri" pitchFamily="2" charset="-78"/>
                <a:cs typeface="Amiri" pitchFamily="2" charset="-78"/>
              </a:rPr>
              <a:t>٩</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٥–٩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figure</a:t>
            </a:r>
            <a:endParaRPr lang="en-US" sz="1100" dirty="0"/>
          </a:p>
        </p:txBody>
      </p:sp>
      <p:sp>
        <p:nvSpPr>
          <p:cNvPr id="17" name="Text 14"/>
          <p:cNvSpPr txBox="1"/>
          <p:nvPr/>
        </p:nvSpPr>
        <p:spPr>
          <a:xfrm>
            <a:off x="69311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 word</a:t>
            </a:r>
            <a:endParaRPr lang="en-US" sz="1100" dirty="0"/>
          </a:p>
        </p:txBody>
      </p:sp>
      <p:sp>
        <p:nvSpPr>
          <p:cNvPr id="18" name="Text 15"/>
          <p:cNvSpPr txBox="1"/>
          <p:nvPr/>
        </p:nvSpPr>
        <p:spPr>
          <a:xfrm>
            <a:off x="21762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remember it</a:t>
            </a:r>
            <a:endParaRPr lang="en-US" sz="1100" dirty="0"/>
          </a:p>
        </p:txBody>
      </p:sp>
      <p:sp>
        <p:nvSpPr>
          <p:cNvPr id="19" name="Text 16"/>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Western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٥</a:t>
            </a:r>
            <a:endParaRPr lang="ar-SA" sz="3150" dirty="0"/>
          </a:p>
        </p:txBody>
      </p:sp>
      <p:sp>
        <p:nvSpPr>
          <p:cNvPr id="22" name="Text 19"/>
          <p:cNvSpPr txBox="1"/>
          <p:nvPr/>
        </p:nvSpPr>
        <p:spPr>
          <a:xfrm>
            <a:off x="6949440" y="2267712"/>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خَمْسَةٌ</a:t>
            </a:r>
            <a:endParaRPr lang="ar-SA" sz="2200" dirty="0"/>
          </a:p>
        </p:txBody>
      </p:sp>
      <p:sp>
        <p:nvSpPr>
          <p:cNvPr id="23" name="Text 20"/>
          <p:cNvSpPr txBox="1"/>
          <p:nvPr/>
        </p:nvSpPr>
        <p:spPr>
          <a:xfrm>
            <a:off x="2212848" y="2267712"/>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 a small circle (not zero!)</a:t>
            </a:r>
            <a:endParaRPr lang="en-US" sz="1100" dirty="0"/>
          </a:p>
        </p:txBody>
      </p:sp>
      <p:sp>
        <p:nvSpPr>
          <p:cNvPr id="24" name="Text 21"/>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٦</a:t>
            </a:r>
            <a:endParaRPr lang="ar-SA" sz="3150" dirty="0"/>
          </a:p>
        </p:txBody>
      </p:sp>
      <p:sp>
        <p:nvSpPr>
          <p:cNvPr id="29" name="Text 26"/>
          <p:cNvSpPr txBox="1"/>
          <p:nvPr/>
        </p:nvSpPr>
        <p:spPr>
          <a:xfrm>
            <a:off x="6949440" y="300471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سِتَّةٌ</a:t>
            </a:r>
            <a:endParaRPr lang="ar-SA" sz="2200" dirty="0"/>
          </a:p>
        </p:txBody>
      </p:sp>
      <p:sp>
        <p:nvSpPr>
          <p:cNvPr id="30" name="Text 27"/>
          <p:cNvSpPr txBox="1"/>
          <p:nvPr/>
        </p:nvSpPr>
        <p:spPr>
          <a:xfrm>
            <a:off x="2212848" y="3004718"/>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 — like a 7 with a hook</a:t>
            </a:r>
            <a:endParaRPr lang="en-US" sz="1100" dirty="0"/>
          </a:p>
        </p:txBody>
      </p:sp>
      <p:sp>
        <p:nvSpPr>
          <p:cNvPr id="31" name="Text 28"/>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٧</a:t>
            </a:r>
            <a:endParaRPr lang="ar-SA" sz="3150" dirty="0"/>
          </a:p>
        </p:txBody>
      </p:sp>
      <p:sp>
        <p:nvSpPr>
          <p:cNvPr id="34" name="Text 31"/>
          <p:cNvSpPr txBox="1"/>
          <p:nvPr/>
        </p:nvSpPr>
        <p:spPr>
          <a:xfrm>
            <a:off x="6949440" y="3741725"/>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سَبْعَةٌ</a:t>
            </a:r>
            <a:endParaRPr lang="ar-SA" sz="2200" dirty="0"/>
          </a:p>
        </p:txBody>
      </p:sp>
      <p:sp>
        <p:nvSpPr>
          <p:cNvPr id="35" name="Text 32"/>
          <p:cNvSpPr txBox="1"/>
          <p:nvPr/>
        </p:nvSpPr>
        <p:spPr>
          <a:xfrm>
            <a:off x="2212848" y="3741725"/>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seven — a V</a:t>
            </a:r>
            <a:endParaRPr lang="en-US" sz="1100" dirty="0"/>
          </a:p>
        </p:txBody>
      </p:sp>
      <p:sp>
        <p:nvSpPr>
          <p:cNvPr id="36" name="Text 33"/>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٨</a:t>
            </a:r>
            <a:endParaRPr lang="ar-SA" sz="3150" dirty="0"/>
          </a:p>
        </p:txBody>
      </p:sp>
      <p:sp>
        <p:nvSpPr>
          <p:cNvPr id="39" name="Text 36"/>
          <p:cNvSpPr txBox="1"/>
          <p:nvPr/>
        </p:nvSpPr>
        <p:spPr>
          <a:xfrm>
            <a:off x="6949440" y="4478731"/>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ثَمَانِيَةٌ</a:t>
            </a:r>
            <a:endParaRPr lang="ar-SA" sz="2200" dirty="0"/>
          </a:p>
        </p:txBody>
      </p:sp>
      <p:sp>
        <p:nvSpPr>
          <p:cNvPr id="40" name="Text 37"/>
          <p:cNvSpPr txBox="1"/>
          <p:nvPr/>
        </p:nvSpPr>
        <p:spPr>
          <a:xfrm>
            <a:off x="2212848" y="4478731"/>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 an upside-down V</a:t>
            </a:r>
            <a:endParaRPr lang="en-US" sz="1100" dirty="0"/>
          </a:p>
        </p:txBody>
      </p:sp>
      <p:sp>
        <p:nvSpPr>
          <p:cNvPr id="41" name="Text 38"/>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42" name="Shape 3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3" name="Text 40"/>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٩</a:t>
            </a:r>
            <a:endParaRPr lang="ar-SA" sz="3150" dirty="0"/>
          </a:p>
        </p:txBody>
      </p:sp>
      <p:sp>
        <p:nvSpPr>
          <p:cNvPr id="44" name="Text 41"/>
          <p:cNvSpPr txBox="1"/>
          <p:nvPr/>
        </p:nvSpPr>
        <p:spPr>
          <a:xfrm>
            <a:off x="6949440" y="521573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تِسْعَةٌ</a:t>
            </a:r>
            <a:endParaRPr lang="ar-SA" sz="2200" dirty="0"/>
          </a:p>
        </p:txBody>
      </p:sp>
      <p:sp>
        <p:nvSpPr>
          <p:cNvPr id="45" name="Text 42"/>
          <p:cNvSpPr txBox="1"/>
          <p:nvPr/>
        </p:nvSpPr>
        <p:spPr>
          <a:xfrm>
            <a:off x="2212848" y="5215738"/>
            <a:ext cx="4572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nine — like a 9</a:t>
            </a:r>
            <a:endParaRPr lang="en-US" sz="1100" dirty="0"/>
          </a:p>
        </p:txBody>
      </p:sp>
      <p:sp>
        <p:nvSpPr>
          <p:cNvPr id="46" name="Text 43"/>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Urdu bridge: Arabic </a:t>
            </a:r>
            <a:pPr algn="l" indent="0" marL="0">
              <a:buNone/>
            </a:pPr>
            <a:r>
              <a:rPr lang="ar-SA" altLang="en-US" sz="1500" b="1" dirty="0">
                <a:solidFill>
                  <a:srgbClr val="1B3B6F"/>
                </a:solidFill>
                <a:latin typeface="Amiri" pitchFamily="2" charset="-78"/>
                <a:ea typeface="Amiri" pitchFamily="2" charset="-78"/>
                <a:cs typeface="Amiri" pitchFamily="2" charset="-78"/>
              </a:rPr>
              <a:t>٤</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٦</a:t>
            </a:r>
            <a:pPr algn="l" indent="0" marL="0">
              <a:buNone/>
            </a:pPr>
            <a:r>
              <a:rPr lang="en-US" sz="1150" b="1" dirty="0">
                <a:solidFill>
                  <a:srgbClr val="1B3B6F"/>
                </a:solidFill>
                <a:latin typeface="Calibri" pitchFamily="34" charset="0"/>
                <a:cs typeface="Amiri" pitchFamily="2" charset="-78"/>
              </a:rPr>
              <a:t> look different from the Urdu forms </a:t>
            </a:r>
            <a:pPr algn="l" indent="0" marL="0">
              <a:buNone/>
            </a:pPr>
            <a:r>
              <a:rPr lang="ar-SA" altLang="en-US" sz="1500" b="1" dirty="0">
                <a:solidFill>
                  <a:srgbClr val="1B3B6F"/>
                </a:solidFill>
                <a:latin typeface="Amiri" pitchFamily="2" charset="-78"/>
                <a:ea typeface="Amiri" pitchFamily="2" charset="-78"/>
                <a:cs typeface="Amiri" pitchFamily="2" charset="-78"/>
              </a:rPr>
              <a:t>۴</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۶</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PLACE VALUE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Text runs right to left — numbers keep their order</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الْقِيمَةُ الْمَنْزِلِيَّةُ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Arabic words are read from right to left.</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But inside a number, the digits keep the same order as Western numbers: the biggest place value comes first on the LEFT.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a:t>
            </a:r>
            <a:pPr algn="l" indent="0" marL="0">
              <a:buNone/>
            </a:pPr>
            <a:r>
              <a:rPr lang="ar-SA" altLang="en-US" sz="1700" dirty="0">
                <a:solidFill>
                  <a:srgbClr val="1F2A37"/>
                </a:solidFill>
                <a:latin typeface="Amiri" pitchFamily="2" charset="-78"/>
                <a:ea typeface="Amiri" pitchFamily="2" charset="-78"/>
                <a:cs typeface="Amiri" pitchFamily="2" charset="-78"/>
              </a:rPr>
              <a:t>١٢</a:t>
            </a:r>
            <a:pPr algn="l" indent="0" marL="0">
              <a:buNone/>
            </a:pPr>
            <a:r>
              <a:rPr lang="en-US" sz="1300" dirty="0">
                <a:solidFill>
                  <a:srgbClr val="1F2A37"/>
                </a:solidFill>
                <a:latin typeface="Calibri" pitchFamily="34" charset="0"/>
                <a:cs typeface="Amiri" pitchFamily="2" charset="-78"/>
              </a:rPr>
              <a:t> is twelve (one ten, two units), not twenty-one.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Read a long number exactly as you would read 105 or 2027 — the figures just look different.</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Times use a colon, prices often use a decimal mark, and dates use slashes — see the next slide.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١٢</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12  ·  age, quantity</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٤٧</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47  ·  price, bus number</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١٠٥</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105  ·  room number</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٢٠٢٧</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2027  ·  a year</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not reverse the digits: </a:t>
            </a:r>
            <a:pPr algn="l" indent="0" marL="0">
              <a:buNone/>
            </a:pPr>
            <a:r>
              <a:rPr lang="ar-SA" altLang="en-US" sz="1650" dirty="0">
                <a:solidFill>
                  <a:srgbClr val="1F2A37"/>
                </a:solidFill>
                <a:latin typeface="Amiri" pitchFamily="2" charset="-78"/>
                <a:ea typeface="Amiri" pitchFamily="2" charset="-78"/>
                <a:cs typeface="Amiri" pitchFamily="2" charset="-78"/>
              </a:rPr>
              <a:t>١٢</a:t>
            </a:r>
            <a:pPr algn="l" indent="0" marL="0">
              <a:buNone/>
            </a:pPr>
            <a:r>
              <a:rPr lang="en-US" sz="1250" dirty="0">
                <a:solidFill>
                  <a:srgbClr val="1F2A37"/>
                </a:solidFill>
                <a:latin typeface="Calibri" pitchFamily="34" charset="0"/>
                <a:cs typeface="Amiri" pitchFamily="2" charset="-78"/>
              </a:rPr>
              <a:t> means 12, not 21 (website).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WHERE ARABIC FIGURES APPEAR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Figures in daily information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فِي الْحَيَاةِ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Context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99248" y="226771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7:30</a:t>
            </a:r>
            <a:endParaRPr lang="en-US" sz="1100" dirty="0"/>
          </a:p>
        </p:txBody>
      </p:sp>
      <p:sp>
        <p:nvSpPr>
          <p:cNvPr id="21" name="Text 18"/>
          <p:cNvSpPr txBox="1"/>
          <p:nvPr/>
        </p:nvSpPr>
        <p:spPr>
          <a:xfrm>
            <a:off x="2926080" y="226771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السَّاعَةُ ٧:٣٠</a:t>
            </a:r>
            <a:endParaRPr lang="ar-SA" sz="2400" dirty="0"/>
          </a:p>
        </p:txBody>
      </p:sp>
      <p:sp>
        <p:nvSpPr>
          <p:cNvPr id="22" name="Text 19"/>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99248" y="2881884"/>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£25.50</a:t>
            </a:r>
            <a:endParaRPr lang="en-US" sz="1100" dirty="0"/>
          </a:p>
        </p:txBody>
      </p:sp>
      <p:sp>
        <p:nvSpPr>
          <p:cNvPr id="27" name="Text 24"/>
          <p:cNvSpPr txBox="1"/>
          <p:nvPr/>
        </p:nvSpPr>
        <p:spPr>
          <a:xfrm>
            <a:off x="2926080" y="2881884"/>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السِّعْرُ ٢٥٫٥٠ جُنَيْهًا</a:t>
            </a:r>
            <a:endParaRPr lang="ar-SA" sz="2400" dirty="0"/>
          </a:p>
        </p:txBody>
      </p:sp>
      <p:sp>
        <p:nvSpPr>
          <p:cNvPr id="28" name="Text 25"/>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99248" y="3496056"/>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 June 2027</a:t>
            </a:r>
            <a:endParaRPr lang="en-US" sz="1100" dirty="0"/>
          </a:p>
        </p:txBody>
      </p:sp>
      <p:sp>
        <p:nvSpPr>
          <p:cNvPr id="33" name="Text 30"/>
          <p:cNvSpPr txBox="1"/>
          <p:nvPr/>
        </p:nvSpPr>
        <p:spPr>
          <a:xfrm>
            <a:off x="2926080" y="3496056"/>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١٥/٠٦/٢٠٢٧</a:t>
            </a:r>
            <a:endParaRPr lang="ar-SA" sz="2400" dirty="0"/>
          </a:p>
        </p:txBody>
      </p:sp>
      <p:sp>
        <p:nvSpPr>
          <p:cNvPr id="34" name="Text 31"/>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699248" y="4110228"/>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house number 27</a:t>
            </a:r>
            <a:endParaRPr lang="en-US" sz="1100" dirty="0"/>
          </a:p>
        </p:txBody>
      </p:sp>
      <p:sp>
        <p:nvSpPr>
          <p:cNvPr id="37" name="Text 34"/>
          <p:cNvSpPr txBox="1"/>
          <p:nvPr/>
        </p:nvSpPr>
        <p:spPr>
          <a:xfrm>
            <a:off x="2926080" y="4110228"/>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الْبَيْتُ رَقْمُ ٢٧</a:t>
            </a:r>
            <a:endParaRPr lang="ar-SA" sz="2400" dirty="0"/>
          </a:p>
        </p:txBody>
      </p:sp>
      <p:sp>
        <p:nvSpPr>
          <p:cNvPr id="38" name="Text 35"/>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address</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699248" y="4724400"/>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bus number 18</a:t>
            </a:r>
            <a:endParaRPr lang="en-US" sz="1100" dirty="0"/>
          </a:p>
        </p:txBody>
      </p:sp>
      <p:sp>
        <p:nvSpPr>
          <p:cNvPr id="41" name="Text 38"/>
          <p:cNvSpPr txBox="1"/>
          <p:nvPr/>
        </p:nvSpPr>
        <p:spPr>
          <a:xfrm>
            <a:off x="2926080" y="4724400"/>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الْحَافِلَةُ رَقْمُ ١٨</a:t>
            </a:r>
            <a:endParaRPr lang="ar-SA" sz="2400" dirty="0"/>
          </a:p>
        </p:txBody>
      </p:sp>
      <p:sp>
        <p:nvSpPr>
          <p:cNvPr id="42" name="Text 39"/>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transport</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699248" y="533857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page 42</a:t>
            </a:r>
            <a:endParaRPr lang="en-US" sz="1100" dirty="0"/>
          </a:p>
        </p:txBody>
      </p:sp>
      <p:sp>
        <p:nvSpPr>
          <p:cNvPr id="45" name="Text 42"/>
          <p:cNvSpPr txBox="1"/>
          <p:nvPr/>
        </p:nvSpPr>
        <p:spPr>
          <a:xfrm>
            <a:off x="2926080" y="533857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الصَّفْحَةُ ٤٢</a:t>
            </a:r>
            <a:endParaRPr lang="ar-SA" sz="2400" dirty="0"/>
          </a:p>
        </p:txBody>
      </p:sp>
      <p:sp>
        <p:nvSpPr>
          <p:cNvPr id="46" name="Text 43"/>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page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Functional reading (website): phone numbers, codes and room numbers are usually read digit by digit.</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figure is FIVE?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٠</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٣٨</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38</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28</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2027?</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٧٢٠٢</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٢٠٢٧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٢٠٧٢</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usually read a phone number?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digit by digit</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one big number</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backwards</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figure is FIVE?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٠</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٥</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٠</a:t>
            </a:r>
            <a:pPr algn="l" indent="0" marL="0">
              <a:buNone/>
            </a:pPr>
            <a:r>
              <a:rPr lang="en-US" sz="1050" i="1" dirty="0">
                <a:solidFill>
                  <a:srgbClr val="8A6D1E"/>
                </a:solidFill>
                <a:latin typeface="Calibri" pitchFamily="34" charset="0"/>
                <a:cs typeface="Amiri" pitchFamily="2" charset="-78"/>
              </a:rPr>
              <a:t> is zero.</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٣٨</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38</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83</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28</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place value.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2027?</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٧٢٠٢</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٢٠٢٧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٢٠٧٢</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Left to right: 2-0-2-7.</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usually read a phone number?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digit by digit</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one big number</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backwards</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functional reading.</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read an information notice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Find figures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٨:١٥</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Colon → a time.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Convert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٨:١٥</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8:15 — same order.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Context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رَقْمُ الْفَصْلِ ٢٤</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Classroom 24.</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Price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١٧٫٥٠ جُنَيْهًا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17.50 pounds.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Text 41"/>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يَبْدَأُ الدَّرْسُ فِي السَّاعَةِ ٨:١٥. رَقْمُ الْفَصْلِ ٢٤.</a:t>
            </a:r>
            <a:endParaRPr lang="ar-SA" sz="2600" dirty="0"/>
          </a:p>
        </p:txBody>
      </p:sp>
      <p:sp>
        <p:nvSpPr>
          <p:cNvPr id="46" name="Text 4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lesson begins at 8:15. The classroom number is 24.</a:t>
            </a:r>
            <a:endParaRPr lang="en-US" sz="1300" dirty="0"/>
          </a:p>
        </p:txBody>
      </p:sp>
      <p:sp>
        <p:nvSpPr>
          <p:cNvPr id="47"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السَّاعَةُ ٧:٣٠</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7:30.</a:t>
            </a:r>
            <a:endParaRPr lang="en-US" sz="1250" dirty="0"/>
          </a:p>
          <a:p>
            <a:pPr indent="0" marL="0">
              <a:buNone/>
            </a:pPr>
            <a:r>
              <a:rPr lang="en-US" sz="1050" i="1" dirty="0">
                <a:solidFill>
                  <a:srgbClr val="8A6D1E"/>
                </a:solidFill>
                <a:latin typeface="Calibri" pitchFamily="34" charset="0"/>
                <a:cs typeface="Amiri" pitchFamily="2" charset="-78"/>
              </a:rPr>
              <a:t>A colon marks a time.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الْحَافِلَةُ رَقْمُ ١٨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Bus number 18.</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رَقْمُ = number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الصَّفْحَةُ ٤٢</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Page 42.</a:t>
            </a:r>
            <a:endParaRPr lang="en-US" sz="1250" dirty="0"/>
          </a:p>
          <a:p>
            <a:pPr indent="0" marL="0">
              <a:buNone/>
            </a:pPr>
            <a:r>
              <a:rPr lang="en-US" sz="1050" i="1" dirty="0">
                <a:solidFill>
                  <a:srgbClr val="8A6D1E"/>
                </a:solidFill>
                <a:latin typeface="Calibri" pitchFamily="34" charset="0"/>
                <a:cs typeface="Amiri" pitchFamily="2" charset="-78"/>
              </a:rPr>
              <a:t>Not 24!</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الْبَيْتُ رَقْمُ ٢٧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House number 27.</a:t>
            </a:r>
            <a:endParaRPr lang="en-US" sz="1250" dirty="0"/>
          </a:p>
          <a:p>
            <a:pPr indent="0" marL="0">
              <a:buNone/>
            </a:pPr>
            <a:r>
              <a:rPr lang="en-US" sz="1050" i="1" dirty="0">
                <a:solidFill>
                  <a:srgbClr val="8A6D1E"/>
                </a:solidFill>
                <a:latin typeface="Calibri" pitchFamily="34" charset="0"/>
                <a:cs typeface="Amiri" pitchFamily="2" charset="-78"/>
              </a:rPr>
              <a:t>An address.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5 “WHAT CONTEXT IS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 price or date?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٧:٣٠</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٢٥ جُنَيْهًا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١٥/٠٦/٢٠٢٧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٨:١٥</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١٧٫٥٠ جُنَيْهًا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١٢/٠٥/٢٠٢٧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١٠:٤٥</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٤٥ جُنَيْهًا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٢١/٠٦/٢٠٢٧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 time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 price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date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 time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٧:٣٠</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٨:١٥</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١٠:٤٥</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 price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٢٥ جُنَيْهًا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١٧٫٥٠ جُنَيْهًا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٤٥ جُنَيْهًا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date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١٥/٠٦/٢٠٢٧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١٢/٠٥/٢٠٢٧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٢١/٠٦/٢٠٢٧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٥ = صِفْرٌ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Dot or circle?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١٢ = وَاحِدٌ وَعِشْرُونَ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way do digits go?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٧٣٠</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we show a time?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٥ = صِفْرٌ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٠ = صِفْرٌ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٠</a:t>
            </a:r>
            <a:pPr algn="l" indent="0" marL="0">
              <a:buNone/>
            </a:pPr>
            <a:r>
              <a:rPr lang="en-US" sz="1150" b="1" dirty="0">
                <a:solidFill>
                  <a:srgbClr val="1B3B6F"/>
                </a:solidFill>
                <a:latin typeface="Calibri" pitchFamily="34" charset="0"/>
                <a:cs typeface="Amiri" pitchFamily="2" charset="-78"/>
              </a:rPr>
              <a:t> is a small dot (zero); </a:t>
            </a:r>
            <a:pPr algn="l" indent="0" marL="0">
              <a:buNone/>
            </a:pPr>
            <a:r>
              <a:rPr lang="ar-SA" altLang="en-US" sz="1500" b="1" dirty="0">
                <a:solidFill>
                  <a:srgbClr val="1B3B6F"/>
                </a:solidFill>
                <a:latin typeface="Amiri" pitchFamily="2" charset="-78"/>
                <a:ea typeface="Amiri" pitchFamily="2" charset="-78"/>
                <a:cs typeface="Amiri" pitchFamily="2" charset="-78"/>
              </a:rPr>
              <a:t>٥</a:t>
            </a:r>
            <a:pPr algn="l" indent="0" marL="0">
              <a:buNone/>
            </a:pPr>
            <a:r>
              <a:rPr lang="en-US" sz="1150" b="1" dirty="0">
                <a:solidFill>
                  <a:srgbClr val="1B3B6F"/>
                </a:solidFill>
                <a:latin typeface="Calibri" pitchFamily="34" charset="0"/>
                <a:cs typeface="Amiri" pitchFamily="2" charset="-78"/>
              </a:rPr>
              <a:t> is a small circle (five).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١٢ = وَاحِدٌ وَعِشْرُونَ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١٢ = اِثْنَا عَشَرَ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١٢</a:t>
            </a:r>
            <a:pPr algn="l" indent="0" marL="0">
              <a:buNone/>
            </a:pPr>
            <a:r>
              <a:rPr lang="en-US" sz="1150" b="1" dirty="0">
                <a:solidFill>
                  <a:srgbClr val="1B3B6F"/>
                </a:solidFill>
                <a:latin typeface="Calibri" pitchFamily="34" charset="0"/>
                <a:cs typeface="Amiri" pitchFamily="2" charset="-78"/>
              </a:rPr>
              <a:t> is twelve: place value does not reverse.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٧٣٠</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٧:٣٠</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colon shows it is a time.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ON WEBSITE GAMES 1–4 AND 6</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٦٤</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46</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94</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price 45.50?</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٥٤٫٠٥</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٤٥٫٥٠</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٤٥:٥٠</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9?</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١٠٥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501</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105</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٦٤</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46</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94</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64</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Six, then four.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price 45.50?</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٥٤٫٠٥</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٤٥٫٥٠</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٤٥:٥٠</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decimal mark, not a colon.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9?</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other two are six and eight.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١٠٥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501</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105</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hundred and five.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TASK “INFORMATION HUNT”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Information hunt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3200" dirty="0">
                <a:solidFill>
                  <a:srgbClr val="1F2A37"/>
                </a:solidFill>
                <a:latin typeface="Amiri" pitchFamily="2" charset="-78"/>
                <a:ea typeface="Amiri" pitchFamily="2" charset="-78"/>
                <a:cs typeface="Amiri" pitchFamily="2" charset="-78"/>
              </a:rPr>
              <a:t>يَبْدَأُ الدَّرْسُ فِي السَّاعَةِ ٨:١٥. رَقْمُ الْفَصْلِ ٢٤. ثَمَنُ الْكِتَابِ ١٧٫٥٠ جُنَيْهًا. الِامْتِحَانُ فِي ١٢/٠٥/٢٠٢٧.</a:t>
            </a:r>
            <a:endParaRPr lang="ar-SA" sz="3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يَبْدَأُ</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begins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الدَّرْسُ</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lesson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رَقْمُ الْفَصْلِ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classroom number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ثَمَنُ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price of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جُنَيْهًا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pounds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الِامْتِحَانُ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exam</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lesson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5:18</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8:51</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classroom number?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42</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24</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17.50</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71.50</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17.05</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exam?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December 2027</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May 2027</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21 May 2027</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Find the figures.</a:t>
            </a:r>
            <a:endParaRPr lang="en-US" sz="1250" dirty="0"/>
          </a:p>
          <a:p>
            <a:pPr algn="l" indent="0" marL="0">
              <a:buNone/>
            </a:pPr>
            <a:r>
              <a:rPr lang="en-US" sz="1250" dirty="0">
                <a:solidFill>
                  <a:srgbClr val="1F2A37"/>
                </a:solidFill>
                <a:latin typeface="Calibri" pitchFamily="34" charset="0"/>
                <a:cs typeface="Amiri" pitchFamily="2" charset="-78"/>
              </a:rPr>
              <a:t>2. Colon = time · slashes = date.</a:t>
            </a:r>
            <a:endParaRPr lang="en-US" sz="1250" dirty="0"/>
          </a:p>
          <a:p>
            <a:pPr algn="l" indent="0" marL="0">
              <a:buNone/>
            </a:pPr>
            <a:r>
              <a:rPr lang="en-US" sz="1250" dirty="0">
                <a:solidFill>
                  <a:srgbClr val="1F2A37"/>
                </a:solidFill>
                <a:latin typeface="Calibri" pitchFamily="34" charset="0"/>
                <a:cs typeface="Amiri" pitchFamily="2" charset="-78"/>
              </a:rPr>
              <a:t>3. Convert without reversing.</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lesson begin?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5:18</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8:15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8:51</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السَّاعَةِ ٨:١٥</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classroom number?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42</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14</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24</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رَقْمُ الْفَصْلِ ٢٤</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book?</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17.50</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71.50</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17.05</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١٧٫٥٠ جُنَيْهًا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exam?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December 2027</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 May 2027</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21 May 2027</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١٢/٠٥/٢٠٢٧</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Find the figures.</a:t>
            </a:r>
            <a:endParaRPr lang="en-US" sz="1250" dirty="0"/>
          </a:p>
          <a:p>
            <a:pPr algn="l" indent="0" marL="0">
              <a:buNone/>
            </a:pPr>
            <a:r>
              <a:rPr lang="en-US" sz="1250" dirty="0">
                <a:solidFill>
                  <a:srgbClr val="1F2A37"/>
                </a:solidFill>
                <a:latin typeface="Calibri" pitchFamily="34" charset="0"/>
                <a:cs typeface="Amiri" pitchFamily="2" charset="-78"/>
              </a:rPr>
              <a:t>2. Colon = time · slashes = date.</a:t>
            </a:r>
            <a:endParaRPr lang="en-US" sz="1250" dirty="0"/>
          </a:p>
          <a:p>
            <a:pPr algn="l" indent="0" marL="0">
              <a:buNone/>
            </a:pPr>
            <a:r>
              <a:rPr lang="en-US" sz="1250" dirty="0">
                <a:solidFill>
                  <a:srgbClr val="1F2A37"/>
                </a:solidFill>
                <a:latin typeface="Calibri" pitchFamily="34" charset="0"/>
                <a:cs typeface="Amiri" pitchFamily="2" charset="-78"/>
              </a:rPr>
              <a:t>3. Convert without reversing.</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practical information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رَقْمُ الْحَافِلَةِ؟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السِّعْرُ؟ وَكَمِ السَّاعَةُ الْآنَ؟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رَقْمُ هَاتِفِكَ؟ (رَقْمٌ خَيَالِيٌّ)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الْحَافِلَةُ رَقْمُ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السِّعْرُ ___ جُنَيْهًا.</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رَقْمُ هَاتِفِي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رَقْمُ الْحَافِلَةِ؟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bus number?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الْحَافِلَةُ رَقْمُ ١٨، وَتَصِلُ فِي السَّاعَةِ ٧:٣٠.</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Bus number 18; it arrives at 7:30.</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figures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your age, house number and today’s date in Arabic figures.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Copy the frames; replace the figures.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Information card: age, date, time and price.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السَّاعَةُ · السِّعْرُ · التَّارِيخُ.</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information card: age, date, time, price, address and (fictional) phone number.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convert every figure to Western digits underneath.</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الدَّرْسُ فِي السَّاعَةِ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lesson begins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السِّعْرُ ______ جُنَيْهًا.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price is … pounds.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الْحَافِلَةُ رَقْمُ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Bus number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الِامْتِحَانُ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exam is on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______ سَنَةً.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age (e.g. 13)</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رَقْمُ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House number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التَّارِيخُ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date today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الصَّفْحَةُ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Page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٠  ·  ١  ·  ٢  ·  ٣  ·  ٤  ·  ٥  ·  ٦  ·  ٧  ·  ٨  ·  ٩  ·  السَّاعَةُ  ·  السِّعْرُ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information card: six sentences with figures for age, date, time, price, address and a fictional phone number.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figure written in Arabic figures.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reversed numbers.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colon in the time.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Slashes in the date.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phone number is fictional.</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عُمْرِي ١٣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13</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التَّارِيخُ ١٥/٠٦/٢٠٢٧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date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السَّاعَةُ ٧:٣٠</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time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السِّعْرُ ٢٥ جُنَيْهًا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price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رَقْمُ ٢٧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house number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رَقْمُ هَاتِفِي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phone number</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عُمْرِي ١٣ سَنَةً. أَسْكُنُ فِي الْبَيْتِ رَقْمُ ٢٧. التَّارِيخُ الْيَوْمَ ١٥/٠٦/٢٠٢٧. يَبْدَأُ الدَّرْسُ فِي السَّاعَةِ ٨:١٥. ثَمَنُ الْكِتَابِ ١٧٫٥٠ جُنَيْهًا. رَقْمُ الْهَاتِفِ ٠٧٩٣٥ ٦٤٨ ١٢.</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am 13. I live at house number 27. Today’s date is 15/06/2027. The lesson begins at 8:15. The book costs 17.50 pounds. The (fictional) phone number is 07935 648 12.</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age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date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time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t>
            </a:r>
            <a:pPr algn="l" indent="0" marL="0">
              <a:buNone/>
            </a:pPr>
            <a:r>
              <a:rPr lang="ar-SA" altLang="en-US" sz="1700" dirty="0">
                <a:solidFill>
                  <a:srgbClr val="1F2A37"/>
                </a:solidFill>
                <a:latin typeface="Amiri" pitchFamily="2" charset="-78"/>
                <a:ea typeface="Amiri" pitchFamily="2" charset="-78"/>
                <a:cs typeface="Amiri" pitchFamily="2" charset="-78"/>
              </a:rPr>
              <a:t>٠</a:t>
            </a:r>
            <a:pPr algn="l" indent="0" marL="0">
              <a:buNone/>
            </a:pPr>
            <a:r>
              <a:rPr lang="en-US" sz="1300" dirty="0">
                <a:solidFill>
                  <a:srgbClr val="1F2A37"/>
                </a:solidFill>
                <a:latin typeface="Calibri" pitchFamily="34" charset="0"/>
                <a:cs typeface="Amiri" pitchFamily="2" charset="-78"/>
              </a:rPr>
              <a:t> to </a:t>
            </a:r>
            <a:pPr algn="l" indent="0" marL="0">
              <a:buNone/>
            </a:pPr>
            <a:r>
              <a:rPr lang="ar-SA" altLang="en-US" sz="1700" dirty="0">
                <a:solidFill>
                  <a:srgbClr val="1F2A37"/>
                </a:solidFill>
                <a:latin typeface="Amiri" pitchFamily="2" charset="-78"/>
                <a:ea typeface="Amiri" pitchFamily="2" charset="-78"/>
                <a:cs typeface="Amiri" pitchFamily="2" charset="-78"/>
              </a:rPr>
              <a:t>٩</a:t>
            </a:r>
            <a:pPr algn="l" indent="0" marL="0">
              <a:buNone/>
            </a:pPr>
            <a:r>
              <a:rPr lang="en-US" sz="1300" dirty="0">
                <a:solidFill>
                  <a:srgbClr val="1F2A37"/>
                </a:solidFill>
                <a:latin typeface="Calibri" pitchFamily="34" charset="0"/>
                <a:cs typeface="Amiri" pitchFamily="2" charset="-78"/>
              </a:rPr>
              <a:t> without looking.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reverse any number.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 has a colon and my date has slashes.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 phone number digit by digit.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 whole notice with figures.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٥٠</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05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TIME?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٩:٤٥</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٩/٤٥</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٩٫٤٥</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2?</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٢</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٣</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hook = two.</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٥٠</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05</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Five, then zero.</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TIME?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٩:٤٥</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٩/٤٥</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٩٫٤٥</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colon marks a time.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7?</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٨٣</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38</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year 2026?</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٦٢٠٢</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٢٠٦٢</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٢٠٢٦</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4?</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٣</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٤</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١٠٠٠</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1000</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0001</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common mistake with </a:t>
            </a:r>
            <a:pPr algn="l" indent="0" marL="0">
              <a:buNone/>
            </a:pPr>
            <a:r>
              <a:rPr lang="ar-SA" altLang="en-US" sz="1650" b="1" dirty="0">
                <a:solidFill>
                  <a:srgbClr val="1B3B6F"/>
                </a:solidFill>
                <a:latin typeface="Amiri" pitchFamily="2" charset="-78"/>
                <a:ea typeface="Amiri" pitchFamily="2" charset="-78"/>
                <a:cs typeface="Amiri" pitchFamily="2" charset="-78"/>
              </a:rPr>
              <a:t>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it as 50</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it as zero</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it as 2</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7?</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٧</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V shape.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٨٣</a:t>
            </a:r>
            <a:pPr algn="l" indent="0" marL="0">
              <a:buNone/>
            </a:pPr>
            <a:r>
              <a:rPr lang="en-US" sz="1250" b="1" dirty="0">
                <a:solidFill>
                  <a:srgbClr val="1B3B6F"/>
                </a:solidFill>
                <a:latin typeface="Calibri" pitchFamily="34" charset="0"/>
                <a:cs typeface="Amiri" pitchFamily="2" charset="-78"/>
              </a:rPr>
              <a:t> in Western figures?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83</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38</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Eight, then three.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year 2026?</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٦٢٠٢</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٢٠٦٢</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٢٠٢٦</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order.</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4?</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٣</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٤</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Watch the Urdu form </a:t>
            </a:r>
            <a:pPr algn="l" indent="0" marL="0">
              <a:buNone/>
            </a:pPr>
            <a:r>
              <a:rPr lang="ar-SA" altLang="en-US" sz="1350" dirty="0">
                <a:solidFill>
                  <a:srgbClr val="8A6D1E"/>
                </a:solidFill>
                <a:latin typeface="Amiri" pitchFamily="2" charset="-78"/>
                <a:ea typeface="Amiri" pitchFamily="2" charset="-78"/>
                <a:cs typeface="Amiri" pitchFamily="2" charset="-78"/>
              </a:rPr>
              <a:t>۴</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١٠٠٠</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1000</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0001</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thousand.</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common mistake with </a:t>
            </a:r>
            <a:pPr algn="l" indent="0" marL="0">
              <a:buNone/>
            </a:pPr>
            <a:r>
              <a:rPr lang="ar-SA" altLang="en-US" sz="1650" b="1" dirty="0">
                <a:solidFill>
                  <a:srgbClr val="1B3B6F"/>
                </a:solidFill>
                <a:latin typeface="Amiri" pitchFamily="2" charset="-78"/>
                <a:ea typeface="Amiri" pitchFamily="2" charset="-78"/>
                <a:cs typeface="Amiri" pitchFamily="2" charset="-78"/>
              </a:rPr>
              <a:t>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it as 50</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 it as zero</a:t>
            </a:r>
            <a:endParaRPr lang="en-US"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it as 2</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٠</a:t>
            </a:r>
            <a:pPr algn="l" indent="0" marL="0">
              <a:buNone/>
            </a:pPr>
            <a:r>
              <a:rPr lang="en-US" sz="1050" i="1" dirty="0">
                <a:solidFill>
                  <a:srgbClr val="8A6D1E"/>
                </a:solidFill>
                <a:latin typeface="Calibri" pitchFamily="34" charset="0"/>
                <a:cs typeface="Amiri" pitchFamily="2" charset="-78"/>
              </a:rPr>
              <a:t> is zero.</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GM-SCR-04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GM-ART-01: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GM-ART-01 · The Definite Article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نَكِرَةٌ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indefinite noun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مَعْرِفَةٌ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definite noun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أَدَاةُ التَّعْرِيفِ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definite article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هَمْزَةُ الْوَصْلِ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connecting hamza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nunation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three nouns WITH </a:t>
            </a:r>
            <a:pPr algn="l" indent="0" marL="0">
              <a:buNone/>
            </a:pPr>
            <a:r>
              <a:rPr lang="ar-SA" altLang="en-US" sz="1350" dirty="0">
                <a:solidFill>
                  <a:srgbClr val="1F2A37"/>
                </a:solidFill>
                <a:latin typeface="Amiri" pitchFamily="2" charset="-78"/>
                <a:ea typeface="Amiri" pitchFamily="2" charset="-78"/>
                <a:cs typeface="Amiri" pitchFamily="2" charset="-78"/>
              </a:rPr>
              <a:t>الـ</a:t>
            </a:r>
            <a:pPr algn="l" indent="0" marL="0">
              <a:buNone/>
            </a:pPr>
            <a:r>
              <a:rPr lang="en-US" sz="1050" dirty="0">
                <a:solidFill>
                  <a:srgbClr val="1F2A37"/>
                </a:solidFill>
                <a:latin typeface="Calibri" pitchFamily="34" charset="0"/>
                <a:cs typeface="Amiri" pitchFamily="2" charset="-78"/>
              </a:rPr>
              <a:t> and three WITHOUT in your Arabic book.</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كِتَابٌ · الْكِتَابُ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t>
            </a:r>
            <a:pPr algn="l" indent="0" marL="0">
              <a:buNone/>
            </a:pPr>
            <a:r>
              <a:rPr lang="ar-SA" altLang="en-US" sz="1550" dirty="0">
                <a:solidFill>
                  <a:srgbClr val="1F2A37"/>
                </a:solidFill>
                <a:latin typeface="Amiri" pitchFamily="2" charset="-78"/>
                <a:ea typeface="Amiri" pitchFamily="2" charset="-78"/>
                <a:cs typeface="Amiri" pitchFamily="2" charset="-78"/>
              </a:rPr>
              <a:t>٠</a:t>
            </a:r>
            <a:pPr algn="l" indent="0" marL="0">
              <a:buNone/>
            </a:pPr>
            <a:r>
              <a:rPr lang="en-US" sz="1200" dirty="0">
                <a:solidFill>
                  <a:srgbClr val="1F2A37"/>
                </a:solidFill>
                <a:latin typeface="Calibri" pitchFamily="34" charset="0"/>
                <a:cs typeface="Amiri" pitchFamily="2" charset="-78"/>
              </a:rPr>
              <a:t>–</a:t>
            </a:r>
            <a:pPr algn="l" indent="0" marL="0">
              <a:buNone/>
            </a:pPr>
            <a:r>
              <a:rPr lang="ar-SA" altLang="en-US" sz="1550" dirty="0">
                <a:solidFill>
                  <a:srgbClr val="1F2A37"/>
                </a:solidFill>
                <a:latin typeface="Amiri" pitchFamily="2" charset="-78"/>
                <a:ea typeface="Amiri" pitchFamily="2" charset="-78"/>
                <a:cs typeface="Amiri" pitchFamily="2" charset="-78"/>
              </a:rPr>
              <a:t>٩</a:t>
            </a:r>
            <a:pPr algn="l" indent="0" marL="0">
              <a:buNone/>
            </a:pPr>
            <a:r>
              <a:rPr lang="en-US" sz="1200" dirty="0">
                <a:solidFill>
                  <a:srgbClr val="1F2A37"/>
                </a:solidFill>
                <a:latin typeface="Calibri" pitchFamily="34" charset="0"/>
                <a:cs typeface="Amiri" pitchFamily="2" charset="-78"/>
              </a:rPr>
              <a:t> three times; convert ten numbers from your timetable.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the website information card (four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full information card and play the 60-second Arabic Figures Challenge.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GM-SCR-04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GM-ART-01 · The Definite Article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أَدَاةُ التَّعْرِيفِ «الـ»</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٠</a:t>
            </a:r>
            <a:pPr algn="l" indent="0" marL="0">
              <a:buNone/>
            </a:pPr>
            <a:r>
              <a:rPr lang="en-US" sz="1300" b="1" dirty="0">
                <a:solidFill>
                  <a:srgbClr val="FFFFFF"/>
                </a:solidFill>
                <a:latin typeface="Calibri" pitchFamily="34" charset="0"/>
                <a:cs typeface="Amiri" pitchFamily="2" charset="-78"/>
              </a:rPr>
              <a:t> is zero, </a:t>
            </a:r>
            <a:pPr algn="l" indent="0" marL="0">
              <a:buNone/>
            </a:pPr>
            <a:r>
              <a:rPr lang="ar-SA" altLang="en-US" sz="1700" b="1" dirty="0">
                <a:solidFill>
                  <a:srgbClr val="FFFFFF"/>
                </a:solidFill>
                <a:latin typeface="Amiri" pitchFamily="2" charset="-78"/>
                <a:ea typeface="Amiri" pitchFamily="2" charset="-78"/>
                <a:cs typeface="Amiri" pitchFamily="2" charset="-78"/>
              </a:rPr>
              <a:t>٥</a:t>
            </a:r>
            <a:pPr algn="l" indent="0" marL="0">
              <a:buNone/>
            </a:pPr>
            <a:r>
              <a:rPr lang="en-US" sz="1300" b="1" dirty="0">
                <a:solidFill>
                  <a:srgbClr val="FFFFFF"/>
                </a:solidFill>
                <a:latin typeface="Calibri" pitchFamily="34" charset="0"/>
                <a:cs typeface="Amiri" pitchFamily="2" charset="-78"/>
              </a:rPr>
              <a:t> is five · digits keep their order (</a:t>
            </a:r>
            <a:pPr algn="l" indent="0" marL="0">
              <a:buNone/>
            </a:pPr>
            <a:r>
              <a:rPr lang="ar-SA" altLang="en-US" sz="1700" b="1" dirty="0">
                <a:solidFill>
                  <a:srgbClr val="FFFFFF"/>
                </a:solidFill>
                <a:latin typeface="Amiri" pitchFamily="2" charset="-78"/>
                <a:ea typeface="Amiri" pitchFamily="2" charset="-78"/>
                <a:cs typeface="Amiri" pitchFamily="2" charset="-78"/>
              </a:rPr>
              <a:t>١٢</a:t>
            </a:r>
            <a:pPr algn="l" indent="0" marL="0">
              <a:buNone/>
            </a:pPr>
            <a:r>
              <a:rPr lang="en-US" sz="1300" b="1" dirty="0">
                <a:solidFill>
                  <a:srgbClr val="FFFFFF"/>
                </a:solidFill>
                <a:latin typeface="Calibri" pitchFamily="34" charset="0"/>
                <a:cs typeface="Amiri" pitchFamily="2" charset="-78"/>
              </a:rPr>
              <a:t> = 12) · colon = time · read phone numbers digit by digit.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GM-SCR-04 · Arabic Figures</dc:title>
  <dc:subject>PptxGenJS Presentation</dc:subject>
  <dc:creator>Al Madina Online School · Arabic Department</dc:creator>
  <cp:lastModifiedBy>Al Madina Online School · Arabic Department</cp:lastModifiedBy>
  <cp:revision>1</cp:revision>
  <dcterms:created xsi:type="dcterms:W3CDTF">2026-10-11T06:42:33Z</dcterms:created>
  <dcterms:modified xsi:type="dcterms:W3CDTF">2026-10-11T06:42:33Z</dcterms:modified>
</cp:coreProperties>
</file>