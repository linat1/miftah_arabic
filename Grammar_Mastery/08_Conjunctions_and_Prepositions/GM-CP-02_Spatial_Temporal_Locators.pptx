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Lst>
  <p:notesMasterIdLst>
    <p:notesMasterId r:id="rId36"/>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notesMaster" Target="notesMasters/notesMaster1.xml"/><Relationship Id="rId37" Type="http://schemas.openxmlformats.org/officeDocument/2006/relationships/presProps" Target="presProps.xml"/><Relationship Id="rId38" Type="http://schemas.openxmlformats.org/officeDocument/2006/relationships/viewProps" Target="viewProps.xml"/><Relationship Id="rId39" Type="http://schemas.openxmlformats.org/officeDocument/2006/relationships/theme" Target="theme/theme1.xml"/><Relationship Id="rId40"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LESSON AT A GLANCE — planned for 56 minutes, leaving about 4 minutes for Teams delays.
0–1 Welcome · 1–2 Lesson map · 2–9 Do Now + answers · 9–10 Objectives · 10–13 Grammar words · 13–24 The grammar, step by step · 24–26 Quick check · 26–29 I Do · 29–38 We Do (sort, repair, practise) · 38–49 You Do (read, speak, write on your route) · 49–54 Feedback (model, self-check, exit ticket) · 54–56 Preparation.
FLEX slides are optional: use them if the class is moving quickly; otherwise the same activities are on the website for homework.
Content source: Miftah Arabic website, Mastery &amp; Revision › Grammar › Conjunctions and Prepositions › GM-CP-02 (“Spatial and Temporal Locators”). The Do Now, quick check, game practice, exit ticket and mastery check are the website’s own quizzes; the reading text, speaking and writing tasks are the website’s four-skills application. Explanation slides, worked examples, sorter, repair items, frames and model translations are teacher-made on the website rules and labelled in the notes.
SUPPORT FOR THIS CLASS (Arabic not yet secure; mixed levels):
• Core: أَمَامَ · خَلْفَ · فَوْقَ · تَحْتَ · بِجَانِبِ for a room. Develop: بَيْنَ … وَ … · مُقَابِلَ · بِالْقُرْبِ مِنْ · بَعِيدًا عَنْ for a map, and time locators قَبْلَ · بَعْدَ · أَثْنَاءَ · خِلَالَ · مُنْذُ. Stretch: technical status (locative nouns, not particles) and a 70–90-word map description with a route.
• Website: the locator ends in fatḥa (amāma, khalfa) and the next noun in kasra (amāma l-funduqi). In bayna X wa-Y both nouns are genitive.
• Practical routine (website): draw the room or map first, label it in Arabic, then describe it.
• Grammar words are always given in English AND Arabic: students should be able to name the rule, not just apply it.
• Colour code (same as all Miftah lessons): WHO = blue, MEANING = purple, ENDING = pink, PATTERN = orange, KEY WORD = teal.
• SEND “automatic doors”: lesson map, chunked tasks, worked examples before practice, cover-the-text reading and “pass” for reading aloud are built in for everyone.
ROUTES: Core (green) = students whose Arabic is not yet secure; Develop (amber) = on track; Stretch (red) = confident. Same objective for everyone — the task changes, not the goal.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(30 seconds) — SEND training: “absolute predictability”. Show the whole journey so students know what is coming and when they will be asked to speak or write. Point to the green box: using the Core supports is normal and expected (“automatic doors”).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(5 min independent + 2 min going through answers).
The website Entry Check (questions 1, 2, 3, 4 and 6) — the GM-CP-01 prep words amāma, khalfa, bayna, qabla, baʿda.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(2 min). Reveal and ask “why?” for each (● 10s think → named student, warned in advance).
Key idea for today (bottom-right card): Locator (ends in -a) + noun with kasra. Bayna X wa-Y: both nouns with kasra.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 min).
Left: the lesson objectives exactly as they appear on the website.
Right: the same objectives broken into three routes. Everyone starts with Core; most students reach Develop; confident students aim for Stretch. Students decide privately which route they are aiming for (● Think 10s) — revisit in Feedback.
Objectives are drawn from the website lesson purpose and its Core / Develop / Stretch routes.
EAL: read the Core statements aloud, pointing to the Arabic as you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WORDS (3 min). These are the words we use to TALK ABOUT the grammar. Hear → Say → See → Use:
say each term twice, class repeats, point to the example on the card, then ask “Which word means …?” (chat the number).
Core students learn the English name and recognise the Arabic; Develop/Stretch use the Arabic term when explaining a rule.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1 (4 min) — website “The spatial locator system”. Use a pen and a box: put the pen in front of / behind / on / under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2 (3 min) — website “Between, with and two-part relations”.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3 (3 min) — website “Locators of time”. Trap: khalfa is place only — “after lunch” is baʿda l-ghadāʾ.</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(2 min) — website Spatial, Two-Part and Time Locator checks.
● Think 20s silently → everyone types four letters in chat together on “3-2-1-go”. “Show me” alternative: A/B/C fingers to camera (EAL: show, not tell).
Read the chat: if more than a quarter of the class misses a question, re-teach that rule with its grammar slide before moving on (Live feedback: correct misconceptions immediately).
Use the results to confirm routes for the You Do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Ask “Who can build on that?” (+) — a student explains why one wrong option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DO (3 min) — think aloud at every step: name the rule in English and Arabic as you apply it.
Website “From map to connected description” model. Reading strategy (website): sketch while reading directions.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SENTENCES (1 min). Students copy TWO that are useful for them.
• Core: copy one and change one word. • Develop: copy two and change the noun. • Stretch: combine two into one longer sentence.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(3 min) — website game items. Cover column 2; students build the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(2 min). Website clinic: “I study behind lunch” — use a time, not a place, locator.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(2 min). Website clinic: “I study behind lunch” — use a time, not a place, locator.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Spatial, Two-Part, Time and Final Mastery checks (FLEX, 2 min). If time is short these are homework on the website.
“Show me” alternative: students hold up A/B/C fingers to camera.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link each to the grammar rule or vocabulary card it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AND NOTICE (3 min) — website skills workshop (teacher-written directions). Read it aloud once while students follow; then they hunt for today’s grammar.
Task: Website: draw a quick sketch while reading, then mark each landmark.
SEND reading strategy: cover the text and uncover one sentence at a time. Core: use the green glossary.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QUESTIONS (3 min). Teacher-written directions for the website skills workshop; questions teacher-written.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 student reads the phrase aloud and names the rule (in English or Arabic).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SPEAKING (3 min) — website communication target. Sequence: ● 10s think → ↔ 45s rehearse aloud with mic muted → ◎ two named students on open mic (warned in advance) → + ? the class types one follow-up in chat → ↺ one student summarises.
Routes: Core uses the Core prompt and stem; Develop the Develop prompt; Stretch the last prompt.
Website target: give a stranger enough information to find a building without seeing your map. Partner draws what they hear.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 (9 min writing). Steer routes using the Do Now and quick-check results.
Website writing task: Write 70–90 Arabic words describing the position of at least six objects or landmarks and explaining one short route.
LIVE FEEDBACK: students post their first two sentences in the chat after 3 minutes. Scan and correct the target rule immediately (private chat for individual corrections).
Work with the less able: stay with Core students for the first 3 minutes. SEND: chunk the Core task — “two sentences, then show me”.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on screen during writing — Core students complete the frames on the right; Develop students use the frames on the left.
Frames and word bank use only this lesson’s website language (EAL: sentence frame + word bank scaffold; same objective, adapted task).
EAL Band A–B students: complete three frames, then copy and adapt one model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Stretch students work from this slide. Checklist = website writing checklist; phrase bank = phrases built on today’s rule.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FEEDBACK (1 min) — teacher model on the website writing task, with an English translation for Core students.
Students find in the model (● 20s → ◎) the items on the chips. 
Then each student chooses ONE thing from the model to add to their own writing.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(2 min) — 3 of the website’s 3 end-of-lesson questions (“Final self-marking check”). The rest are on the website for homework.
Anyone scoring low → Core route next lesson and a check-in during the Do Now. Record Pastoral Tracker points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reveal. Students self-mark and type their score out of 3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(GM-CP-03 · Prepositions with Pronouns and Verb Collocations) will spend class time USING this language, so students prepare it tonight — short, simple, easy to access (school guidance: “Simple, Short, Interesting, Relevant, Easy to access”). The five words prepare GM-CP-03 (website: prepositions with pronouns and verb collocations).
Follow-up: the next Do Now tests two of these words (Flipped Learning: keep it short AND follow up).
Homework by route (website tasks). No internet? Students copy the five words from this slide into their book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MIFTAH GRAMMAR MASTERY  ·  CONJUNCTIONS AND PREPOSITIONS  ·  GM-CP-02</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GM-CP-02</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3550" b="1" dirty="0">
                <a:solidFill>
                  <a:srgbClr val="FFFFFF"/>
                </a:solidFill>
                <a:latin typeface="Cambria" pitchFamily="34" charset="0"/>
                <a:cs typeface="Amiri" pitchFamily="2" charset="-78"/>
              </a:rPr>
              <a:t>Spatial and Temporal Locators</a:t>
            </a:r>
            <a:endParaRPr lang="en-US" sz="35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ظُرُوفُ الْمَكَانِ وَالزَّمَانِ</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Locators say exactly where and when: amāma (in front of), khalfa (behind), bayna (between), qabla (before), athnāʾa (during). Each one is followed by a noun with kasra: amāma l-bayti.</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GM-CP-02 · Grammar Mastery</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All pathways · revision</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Grammar › Conjunctions and Prepositions</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GM-CP-02 · Conjunctions and Prepositions</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Conjunctions and Prepositions · GM-CP-02</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34</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GM-CP-02 · Conjunctions and Prepositions</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lesson today,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Conjunctions and Prepositions · GM-CP-02</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Retrieval quiz on your own, then we check together.</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2" charset="-78"/>
                <a:ea typeface="Amiri" pitchFamily="2" charset="-78"/>
                <a:cs typeface="Amiri" pitchFamily="2" charset="-78"/>
              </a:rPr>
              <a:t>اِبْدَأِ الآنَ</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14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Spatial locators; between / at; time locators; directions.</a:t>
            </a:r>
            <a:endParaRPr lang="en-US" sz="120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كَلِمَاتٌ وَقَوَاعِدُ</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3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Watch me build one sentence. Copy it into your book.</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2" charset="-78"/>
                <a:ea typeface="Amiri" pitchFamily="2" charset="-78"/>
                <a:cs typeface="Amiri" pitchFamily="2" charset="-78"/>
              </a:rPr>
              <a:t>شَاهِدْ</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9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Locate it; sort place / time; repair.</a:t>
            </a:r>
            <a:endParaRPr lang="en-US" sz="12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مَعًا</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12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Speak first, then write on your route.</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وَحْدَكَ</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5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Compare with a model and complete the exit ticket.</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قَيِّمْ عَمَلَكَ</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Get ready at home for GM-CP-03.</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2" charset="-78"/>
                <a:ea typeface="Amiri" pitchFamily="2" charset="-78"/>
                <a:cs typeface="Amiri" pitchFamily="2" charset="-78"/>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Look for the green CORE boxes: they give you transliteration, English meanings and sentence frames. You never need every word — find the key word first. You can answer in the chat, in English, or by holding up A / B / C to your camera.</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34</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GM-CP-02 · Conjunctions and Prepositions</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Conjunctions and Prepositions · GM-CP-02</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The school is in front of the mosque.</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الْمَدْرَسَةُ فِي الْمَسْجِدِ.</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الْمَدْرَسَةُ أَمَامَ الْمَسْجِدِ.</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الْمَدْرَسَةُ مِنَ الْمَسْجِدِ.</a:t>
            </a:r>
            <a:endParaRPr lang="ar-SA" sz="20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“under the bed”.</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تَحْتَ السَّرِيرِ</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فَوْقَ السَّرِيرِ</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خَلْفَ السَّرِيرِ</a:t>
            </a:r>
            <a:endParaRPr lang="ar-SA" sz="20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“between the bank and the shop”.</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بَيْنُ الْبَنْكُ وَالْمَتْجَرُ</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مَعَ الْبَنْكِ وَالْمَتْجَرِ</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بَيْنَ الْبَنْكِ وَالْمَتْجَرِ</a:t>
            </a:r>
            <a:endParaRPr lang="ar-SA" sz="20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best for “during the lesson”?</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إِلَى الدَّرْسِ</a:t>
            </a:r>
            <a:endParaRPr lang="ar-SA" sz="20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خَلْفَ الدَّرْسِ</a:t>
            </a:r>
            <a:endParaRPr lang="ar-SA" sz="20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أَثْنَاءَ الدَّرْسِ</a:t>
            </a:r>
            <a:endParaRPr lang="ar-SA" sz="20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“beside the window”.</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بِجَانِبِ النَّافِذَةِ</a:t>
            </a:r>
            <a:endParaRPr lang="ar-SA" sz="20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عَنِ النَّافِذَةِ</a:t>
            </a:r>
            <a:endParaRPr lang="ar-SA" sz="20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إِلَى النَّافِذَةِ</a:t>
            </a:r>
            <a:endParaRPr lang="ar-SA" sz="2050" dirty="0"/>
          </a:p>
        </p:txBody>
      </p:sp>
      <p:sp>
        <p:nvSpPr>
          <p:cNvPr id="80" name="Shape 77"/>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cs typeface="Amiri" pitchFamily="2" charset="-78"/>
              </a:rPr>
              <a:t>HOW TO ANSWER</a:t>
            </a:r>
            <a:endParaRPr lang="en-US" sz="1100" dirty="0"/>
          </a:p>
        </p:txBody>
      </p:sp>
      <p:sp>
        <p:nvSpPr>
          <p:cNvPr id="82" name="Text 79"/>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Work on your own in silence.</a:t>
            </a:r>
            <a:endParaRPr lang="en-US" sz="1350" dirty="0"/>
          </a:p>
          <a:p>
            <a:pPr algn="l" indent="0" marL="0">
              <a:buNone/>
            </a:pPr>
            <a:r>
              <a:rPr lang="en-US" sz="1350" dirty="0">
                <a:solidFill>
                  <a:srgbClr val="1F2A37"/>
                </a:solidFill>
                <a:latin typeface="Calibri" pitchFamily="34" charset="0"/>
                <a:cs typeface="Amiri" pitchFamily="2" charset="-78"/>
              </a:rPr>
              <a:t>When the timer ends, type in the chat:</a:t>
            </a:r>
            <a:endParaRPr lang="en-US" sz="1350" dirty="0"/>
          </a:p>
        </p:txBody>
      </p:sp>
      <p:sp>
        <p:nvSpPr>
          <p:cNvPr id="83" name="Text 80"/>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cs typeface="Amiri" pitchFamily="2" charset="-78"/>
              </a:rPr>
              <a:t>1_  2_  3_  4_  5_</a:t>
            </a:r>
            <a:endParaRPr lang="en-US" sz="1400" dirty="0"/>
          </a:p>
        </p:txBody>
      </p:sp>
      <p:sp>
        <p:nvSpPr>
          <p:cNvPr id="84" name="Text 81"/>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cs typeface="Amiri" pitchFamily="2" charset="-78"/>
              </a:rPr>
              <a:t>⏱  5 : 00</a:t>
            </a:r>
            <a:endParaRPr lang="en-US" sz="180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34</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GM-CP-02 · Conjunctions and Prepositions</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Conjunctions and Prepositions · GM-CP-02</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The school is in front of the mosque.</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الْمَدْرَسَةُ فِي الْمَسْجِدِ.</a:t>
            </a:r>
            <a:endParaRPr lang="ar-SA" sz="170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الْمَدْرَسَةُ أَمَامَ الْمَسْجِدِ.</a:t>
            </a:r>
            <a:endParaRPr lang="ar-SA" sz="170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الْمَدْرَسَةُ مِنَ الْمَسْجِدِ.</a:t>
            </a:r>
            <a:endParaRPr lang="ar-SA" sz="170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Amāma creates a relation between two places.</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“under the bed”.</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تَحْتَ السَّرِيرِ</a:t>
            </a:r>
            <a:endParaRPr lang="ar-SA" sz="170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فَوْقَ السَّرِيرِ</a:t>
            </a:r>
            <a:endParaRPr lang="ar-SA" sz="170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خَلْفَ السَّرِيرِ</a:t>
            </a:r>
            <a:endParaRPr lang="ar-SA" sz="170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Taḥta means under.</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“between the bank and the shop”.</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بَيْنُ الْبَنْكُ وَالْمَتْجَرُ</a:t>
            </a:r>
            <a:endParaRPr lang="ar-SA" sz="170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مَعَ الْبَنْكِ وَالْمَتْجَرِ</a:t>
            </a:r>
            <a:endParaRPr lang="ar-SA" sz="170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بَيْنَ الْبَنْكِ وَالْمَتْجَرِ</a:t>
            </a:r>
            <a:endParaRPr lang="ar-SA" sz="170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Both nouns after bayna … wa- are genitive.</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best for “during the lesson”?</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إِلَى الدَّرْسِ</a:t>
            </a:r>
            <a:endParaRPr lang="ar-SA" sz="170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خَلْفَ الدَّرْسِ</a:t>
            </a:r>
            <a:endParaRPr lang="ar-SA" sz="170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أَثْنَاءَ الدَّرْسِ</a:t>
            </a:r>
            <a:endParaRPr lang="ar-SA" sz="170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Athnāʾa places an action within an event.</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“beside the window”.</a:t>
            </a:r>
            <a:endParaRPr lang="en-US"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بِجَانِبِ النَّافِذَةِ</a:t>
            </a:r>
            <a:endParaRPr lang="ar-SA" sz="170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عَنِ النَّافِذَةِ</a:t>
            </a:r>
            <a:endParaRPr lang="ar-SA" sz="170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إِلَى النَّافِذَةِ</a:t>
            </a:r>
            <a:endParaRPr lang="ar-SA" sz="170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بِجَانِبِ</a:t>
            </a:r>
            <a:pPr algn="l" indent="0" marL="0">
              <a:buNone/>
            </a:pPr>
            <a:r>
              <a:rPr lang="en-US" sz="1050" i="1" dirty="0">
                <a:solidFill>
                  <a:srgbClr val="8A6D1E"/>
                </a:solidFill>
                <a:latin typeface="Calibri" pitchFamily="34" charset="0"/>
                <a:cs typeface="Amiri" pitchFamily="2" charset="-78"/>
              </a:rPr>
              <a:t> means beside or next to.</a:t>
            </a:r>
            <a:endParaRPr lang="en-US" sz="1050" dirty="0"/>
          </a:p>
        </p:txBody>
      </p:sp>
      <p:sp>
        <p:nvSpPr>
          <p:cNvPr id="90" name="Shape 87"/>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KEY IDEA FOR TODAY</a:t>
            </a:r>
            <a:endParaRPr lang="en-US" sz="1000" dirty="0"/>
          </a:p>
        </p:txBody>
      </p:sp>
      <p:sp>
        <p:nvSpPr>
          <p:cNvPr id="92" name="Text 89"/>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300" b="1" dirty="0">
                <a:solidFill>
                  <a:srgbClr val="1F2A37"/>
                </a:solidFill>
                <a:latin typeface="Calibri" pitchFamily="34" charset="0"/>
                <a:cs typeface="Amiri" pitchFamily="2" charset="-78"/>
              </a:rPr>
              <a:t>Locator (ends in -a) + noun with kasra. Bayna X wa-Y: both nouns with kasra.</a:t>
            </a:r>
            <a:endParaRPr lang="en-US" sz="1300" dirty="0"/>
          </a:p>
        </p:txBody>
      </p:sp>
      <p:sp>
        <p:nvSpPr>
          <p:cNvPr id="93" name="Text 90"/>
          <p:cNvSpPr txBox="1"/>
          <p:nvPr/>
        </p:nvSpPr>
        <p:spPr>
          <a:xfrm>
            <a:off x="8278368" y="5202936"/>
            <a:ext cx="3270504" cy="1014984"/>
          </a:xfrm>
          <a:prstGeom prst="rect">
            <a:avLst/>
          </a:prstGeom>
          <a:noFill/>
          <a:ln/>
        </p:spPr>
        <p:txBody>
          <a:bodyPr wrap="square" lIns="0" tIns="0" rIns="0" bIns="0" rtlCol="0" anchor="ctr"/>
          <a:lstStyle/>
          <a:p>
            <a:pPr rtl="1" algn="ctr" indent="0" marL="0">
              <a:lnSpc>
                <a:spcPct val="120000"/>
              </a:lnSpc>
              <a:buNone/>
            </a:pPr>
            <a:r>
              <a:rPr lang="ar-SA" altLang="en-US" sz="2150" b="1" dirty="0">
                <a:solidFill>
                  <a:srgbClr val="0E7C86"/>
                </a:solidFill>
                <a:latin typeface="Amiri" pitchFamily="2" charset="-78"/>
                <a:ea typeface="Amiri" pitchFamily="2" charset="-78"/>
                <a:cs typeface="Amiri" pitchFamily="2" charset="-78"/>
              </a:rPr>
              <a:t>أَمَامَ</a:t>
            </a:r>
            <a:pPr rtl="1" algn="ctr" indent="0" marL="0">
              <a:lnSpc>
                <a:spcPct val="120000"/>
              </a:lnSpc>
              <a:buNone/>
            </a:pPr>
            <a:r>
              <a:rPr lang="ar-SA" altLang="en-US" sz="2150" b="1" dirty="0">
                <a:solidFill>
                  <a:srgbClr val="1B3B6F"/>
                </a:solidFill>
                <a:latin typeface="Amiri" pitchFamily="2" charset="-78"/>
                <a:ea typeface="Amiri" pitchFamily="2" charset="-78"/>
                <a:cs typeface="Amiri" pitchFamily="2" charset="-78"/>
              </a:rPr>
              <a:t> الْبَيْتِ ‖ </a:t>
            </a:r>
            <a:pPr rtl="1" algn="ctr" indent="0" marL="0">
              <a:lnSpc>
                <a:spcPct val="120000"/>
              </a:lnSpc>
              <a:buNone/>
            </a:pPr>
            <a:r>
              <a:rPr lang="ar-SA" altLang="en-US" sz="2150" b="1" dirty="0">
                <a:solidFill>
                  <a:srgbClr val="D6336C"/>
                </a:solidFill>
                <a:latin typeface="Amiri" pitchFamily="2" charset="-78"/>
                <a:ea typeface="Amiri" pitchFamily="2" charset="-78"/>
                <a:cs typeface="Amiri" pitchFamily="2" charset="-78"/>
              </a:rPr>
              <a:t>بَيْنَ</a:t>
            </a:r>
            <a:pPr rtl="1" algn="ctr" indent="0" marL="0">
              <a:lnSpc>
                <a:spcPct val="120000"/>
              </a:lnSpc>
              <a:buNone/>
            </a:pPr>
            <a:r>
              <a:rPr lang="ar-SA" altLang="en-US" sz="2150" b="1" dirty="0">
                <a:solidFill>
                  <a:srgbClr val="1B3B6F"/>
                </a:solidFill>
                <a:latin typeface="Amiri" pitchFamily="2" charset="-78"/>
                <a:ea typeface="Amiri" pitchFamily="2" charset="-78"/>
                <a:cs typeface="Amiri" pitchFamily="2" charset="-78"/>
              </a:rPr>
              <a:t> الْبَنْكِ وَالْمَتْجَرِ</a:t>
            </a:r>
            <a:endParaRPr lang="ar-SA" sz="21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34</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GM-CP-02 · Conjunctions and Prepositions</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LESSON OBJECTIVES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Objectives and success criteria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الأَهْدَافُ وَمَعَايِيرُ النَّجَاحِ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Conjunctions and Prepositions · GM-CP-02</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2" charset="-78"/>
                <a:ea typeface="Amiri" pitchFamily="2" charset="-78"/>
                <a:cs typeface="Amiri" pitchFamily="2" charset="-78"/>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Describe where things are with spatial locators.</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Use bayna with two genitive nouns.</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Place actions in time with qabla, baʿda, athnāʾa.</a:t>
            </a:r>
            <a:endParaRPr lang="en-US" sz="1300" dirty="0"/>
          </a:p>
        </p:txBody>
      </p:sp>
      <p:sp>
        <p:nvSpPr>
          <p:cNvPr id="27" name="Shape 24"/>
          <p:cNvSpPr/>
          <p:nvPr/>
        </p:nvSpPr>
        <p:spPr>
          <a:xfrm>
            <a:off x="685800" y="5084064"/>
            <a:ext cx="365760" cy="365760"/>
          </a:xfrm>
          <a:prstGeom prst="ellipse">
            <a:avLst/>
          </a:prstGeom>
          <a:solidFill>
            <a:srgbClr val="1B3B6F"/>
          </a:solidFill>
          <a:ln w="12700">
            <a:solidFill>
              <a:srgbClr val="1B3B6F"/>
            </a:solidFill>
            <a:prstDash val="solid"/>
          </a:ln>
        </p:spPr>
      </p:sp>
      <p:sp>
        <p:nvSpPr>
          <p:cNvPr id="28" name="Text 25"/>
          <p:cNvSpPr txBox="1"/>
          <p:nvPr/>
        </p:nvSpPr>
        <p:spPr>
          <a:xfrm>
            <a:off x="685800" y="5084064"/>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4</a:t>
            </a:r>
            <a:endParaRPr lang="en-US" sz="1200" dirty="0"/>
          </a:p>
        </p:txBody>
      </p:sp>
      <p:sp>
        <p:nvSpPr>
          <p:cNvPr id="29" name="Text 26"/>
          <p:cNvSpPr txBox="1"/>
          <p:nvPr/>
        </p:nvSpPr>
        <p:spPr>
          <a:xfrm>
            <a:off x="1188720" y="4974336"/>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Give clear directions on a map.</a:t>
            </a:r>
            <a:endParaRPr lang="en-US" sz="1300" dirty="0"/>
          </a:p>
        </p:txBody>
      </p:sp>
      <p:sp>
        <p:nvSpPr>
          <p:cNvPr id="30" name="Shape 27"/>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31" name="Shape 28"/>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CORE</a:t>
            </a:r>
            <a:endParaRPr lang="en-US" sz="950" dirty="0"/>
          </a:p>
        </p:txBody>
      </p:sp>
      <p:sp>
        <p:nvSpPr>
          <p:cNvPr id="33" name="Text 30"/>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cs typeface="Amiri" pitchFamily="2" charset="-78"/>
              </a:rPr>
              <a:t>Everyone</a:t>
            </a:r>
            <a:endParaRPr lang="en-US" sz="1050" dirty="0"/>
          </a:p>
        </p:txBody>
      </p:sp>
      <p:sp>
        <p:nvSpPr>
          <p:cNvPr id="34" name="Text 31"/>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say where things are in my room.</a:t>
            </a:r>
            <a:endParaRPr lang="en-US" sz="1300" dirty="0"/>
          </a:p>
        </p:txBody>
      </p:sp>
      <p:sp>
        <p:nvSpPr>
          <p:cNvPr id="35" name="Text 32"/>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use amāma, khalfa, fawqa, taḥta.</a:t>
            </a:r>
            <a:endParaRPr lang="en-US" sz="1300" dirty="0"/>
          </a:p>
        </p:txBody>
      </p:sp>
      <p:sp>
        <p:nvSpPr>
          <p:cNvPr id="36" name="Shape 33"/>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7" name="Shape 34"/>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DEVELOP</a:t>
            </a:r>
            <a:endParaRPr lang="en-US" sz="950" dirty="0"/>
          </a:p>
        </p:txBody>
      </p:sp>
      <p:sp>
        <p:nvSpPr>
          <p:cNvPr id="39" name="Text 36"/>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cs typeface="Amiri" pitchFamily="2" charset="-78"/>
              </a:rPr>
              <a:t>Most of us</a:t>
            </a:r>
            <a:endParaRPr lang="en-US" sz="1050" dirty="0"/>
          </a:p>
        </p:txBody>
      </p:sp>
      <p:sp>
        <p:nvSpPr>
          <p:cNvPr id="40" name="Text 37"/>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describe a map with bayna, muqābila, qurb.</a:t>
            </a:r>
            <a:endParaRPr lang="en-US" sz="1300" dirty="0"/>
          </a:p>
        </p:txBody>
      </p:sp>
      <p:sp>
        <p:nvSpPr>
          <p:cNvPr id="41" name="Text 38"/>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use before, after and during.</a:t>
            </a:r>
            <a:endParaRPr lang="en-US" sz="1300" dirty="0"/>
          </a:p>
        </p:txBody>
      </p:sp>
      <p:sp>
        <p:nvSpPr>
          <p:cNvPr id="42" name="Shape 39"/>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3" name="Shape 40"/>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45" name="Text 42"/>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cs typeface="Amiri" pitchFamily="2" charset="-78"/>
              </a:rPr>
              <a:t>Aim high</a:t>
            </a:r>
            <a:endParaRPr lang="en-US" sz="1050" dirty="0"/>
          </a:p>
        </p:txBody>
      </p:sp>
      <p:sp>
        <p:nvSpPr>
          <p:cNvPr id="46" name="Text 43"/>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give a route a stranger can follow.</a:t>
            </a:r>
            <a:endParaRPr lang="en-US" sz="1300" dirty="0"/>
          </a:p>
        </p:txBody>
      </p:sp>
      <p:sp>
        <p:nvSpPr>
          <p:cNvPr id="47" name="Text 44"/>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explain why amāma is a noun, not a particle.</a:t>
            </a:r>
            <a:endParaRPr lang="en-US" sz="13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34</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GM-CP-02 · Conjunctions and Prepositions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THE GRAMMAR WORDS WE WILL USE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Grammar words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مُصْطَلَحَاتُ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Conjunctions and Prepositions · GM-CP-02</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ظَرْفُ الْمَكَانِ</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place locator</a:t>
            </a:r>
            <a:endParaRPr lang="en-US" sz="1350" dirty="0"/>
          </a:p>
          <a:p>
            <a:pPr indent="0" marL="0">
              <a:buNone/>
            </a:pPr>
            <a:r>
              <a:rPr lang="en-US" sz="1100" i="1" dirty="0">
                <a:solidFill>
                  <a:srgbClr val="5A6472"/>
                </a:solidFill>
                <a:latin typeface="Calibri" pitchFamily="34" charset="0"/>
                <a:cs typeface="Amiri" pitchFamily="2" charset="-78"/>
              </a:rPr>
              <a:t>ẓar-fu al-ma-kā-ni</a:t>
            </a:r>
            <a:endParaRPr lang="en-US" sz="1350" dirty="0"/>
          </a:p>
        </p:txBody>
      </p:sp>
      <p:sp>
        <p:nvSpPr>
          <p:cNvPr id="22" name="Text 19"/>
          <p:cNvSpPr txBox="1"/>
          <p:nvPr/>
        </p:nvSpPr>
        <p:spPr>
          <a:xfrm>
            <a:off x="8238744" y="3621024"/>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ea typeface="Amiri" pitchFamily="2" charset="-78"/>
                <a:cs typeface="Amiri" pitchFamily="2" charset="-78"/>
              </a:rPr>
              <a:t>أَمَامَ · خَلْفَ</a:t>
            </a:r>
            <a:endParaRPr lang="ar-SA" sz="1300" dirty="0"/>
          </a:p>
        </p:txBody>
      </p:sp>
      <p:sp>
        <p:nvSpPr>
          <p:cNvPr id="23" name="Shape 20"/>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389120" y="1920240"/>
            <a:ext cx="310896" cy="310896"/>
          </a:xfrm>
          <a:prstGeom prst="ellipse">
            <a:avLst/>
          </a:prstGeom>
          <a:solidFill>
            <a:srgbClr val="F4F1EA"/>
          </a:solidFill>
          <a:ln w="12700">
            <a:solidFill>
              <a:srgbClr val="F4F1EA"/>
            </a:solidFill>
            <a:prstDash val="solid"/>
          </a:ln>
        </p:spPr>
      </p:sp>
      <p:sp>
        <p:nvSpPr>
          <p:cNvPr id="25" name="Text 22"/>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26" name="Shape 23"/>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7" name="Text 24"/>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8" name="Text 25"/>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ظَرْفُ الزَّمَانِ</a:t>
            </a:r>
            <a:endParaRPr lang="ar-SA" sz="3000" dirty="0"/>
          </a:p>
        </p:txBody>
      </p:sp>
      <p:sp>
        <p:nvSpPr>
          <p:cNvPr id="29" name="Text 26"/>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time locator</a:t>
            </a:r>
            <a:endParaRPr lang="en-US" sz="1350" dirty="0"/>
          </a:p>
          <a:p>
            <a:pPr indent="0" marL="0">
              <a:buNone/>
            </a:pPr>
            <a:r>
              <a:rPr lang="en-US" sz="1100" i="1" dirty="0">
                <a:solidFill>
                  <a:srgbClr val="5A6472"/>
                </a:solidFill>
                <a:latin typeface="Calibri" pitchFamily="34" charset="0"/>
                <a:cs typeface="Amiri" pitchFamily="2" charset="-78"/>
              </a:rPr>
              <a:t>ẓar-fu az-za-mā-ni</a:t>
            </a:r>
            <a:endParaRPr lang="en-US" sz="1350" dirty="0"/>
          </a:p>
        </p:txBody>
      </p:sp>
      <p:sp>
        <p:nvSpPr>
          <p:cNvPr id="30" name="Text 27"/>
          <p:cNvSpPr txBox="1"/>
          <p:nvPr/>
        </p:nvSpPr>
        <p:spPr>
          <a:xfrm>
            <a:off x="4416552" y="3621024"/>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ea typeface="Amiri" pitchFamily="2" charset="-78"/>
                <a:cs typeface="Amiri" pitchFamily="2" charset="-78"/>
              </a:rPr>
              <a:t>قَبْلَ · بَعْدَ</a:t>
            </a:r>
            <a:endParaRPr lang="ar-SA" sz="1300" dirty="0"/>
          </a:p>
        </p:txBody>
      </p:sp>
      <p:sp>
        <p:nvSpPr>
          <p:cNvPr id="31" name="Shape 28"/>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66928" y="1920240"/>
            <a:ext cx="310896" cy="310896"/>
          </a:xfrm>
          <a:prstGeom prst="ellipse">
            <a:avLst/>
          </a:prstGeom>
          <a:solidFill>
            <a:srgbClr val="F4F1EA"/>
          </a:solidFill>
          <a:ln w="12700">
            <a:solidFill>
              <a:srgbClr val="F4F1EA"/>
            </a:solidFill>
            <a:prstDash val="solid"/>
          </a:ln>
        </p:spPr>
      </p:sp>
      <p:sp>
        <p:nvSpPr>
          <p:cNvPr id="33" name="Text 30"/>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34" name="Shape 31"/>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6" name="Text 33"/>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الْمُضَافُ إِلَيْهِ</a:t>
            </a:r>
            <a:endParaRPr lang="ar-SA" sz="3000" dirty="0"/>
          </a:p>
        </p:txBody>
      </p:sp>
      <p:sp>
        <p:nvSpPr>
          <p:cNvPr id="37" name="Text 34"/>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genitive noun after it</a:t>
            </a:r>
            <a:endParaRPr lang="en-US" sz="1350" dirty="0"/>
          </a:p>
          <a:p>
            <a:pPr indent="0" marL="0">
              <a:buNone/>
            </a:pPr>
            <a:r>
              <a:rPr lang="en-US" sz="1100" i="1" dirty="0">
                <a:solidFill>
                  <a:srgbClr val="5A6472"/>
                </a:solidFill>
                <a:latin typeface="Calibri" pitchFamily="34" charset="0"/>
                <a:cs typeface="Amiri" pitchFamily="2" charset="-78"/>
              </a:rPr>
              <a:t>al-mu-ḍā-fu i-lay-hi</a:t>
            </a:r>
            <a:endParaRPr lang="en-US" sz="1350" dirty="0"/>
          </a:p>
        </p:txBody>
      </p:sp>
      <p:sp>
        <p:nvSpPr>
          <p:cNvPr id="38" name="Text 35"/>
          <p:cNvSpPr txBox="1"/>
          <p:nvPr/>
        </p:nvSpPr>
        <p:spPr>
          <a:xfrm>
            <a:off x="594360" y="3621024"/>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ea typeface="Amiri" pitchFamily="2" charset="-78"/>
                <a:cs typeface="Amiri" pitchFamily="2" charset="-78"/>
              </a:rPr>
              <a:t>الْبَيْتِ</a:t>
            </a:r>
            <a:endParaRPr lang="ar-SA" sz="1300" dirty="0"/>
          </a:p>
        </p:txBody>
      </p:sp>
      <p:sp>
        <p:nvSpPr>
          <p:cNvPr id="39" name="Shape 36"/>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8211312" y="4261104"/>
            <a:ext cx="310896" cy="310896"/>
          </a:xfrm>
          <a:prstGeom prst="ellipse">
            <a:avLst/>
          </a:prstGeom>
          <a:solidFill>
            <a:srgbClr val="F4F1EA"/>
          </a:solidFill>
          <a:ln w="12700">
            <a:solidFill>
              <a:srgbClr val="F4F1EA"/>
            </a:solidFill>
            <a:prstDash val="solid"/>
          </a:ln>
        </p:spPr>
      </p:sp>
      <p:sp>
        <p:nvSpPr>
          <p:cNvPr id="41" name="Text 38"/>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42" name="Shape 39"/>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3" name="Text 40"/>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4" name="Text 41"/>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بَيْنَ … وَ …</a:t>
            </a:r>
            <a:endParaRPr lang="ar-SA" sz="3000" dirty="0"/>
          </a:p>
        </p:txBody>
      </p:sp>
      <p:sp>
        <p:nvSpPr>
          <p:cNvPr id="45" name="Text 42"/>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between … and …</a:t>
            </a:r>
            <a:endParaRPr lang="en-US" sz="1350" dirty="0"/>
          </a:p>
          <a:p>
            <a:pPr indent="0" marL="0">
              <a:buNone/>
            </a:pPr>
            <a:r>
              <a:rPr lang="en-US" sz="1100" i="1" dirty="0">
                <a:solidFill>
                  <a:srgbClr val="5A6472"/>
                </a:solidFill>
                <a:latin typeface="Calibri" pitchFamily="34" charset="0"/>
                <a:cs typeface="Amiri" pitchFamily="2" charset="-78"/>
              </a:rPr>
              <a:t>bay-na … wa …</a:t>
            </a:r>
            <a:endParaRPr lang="en-US" sz="1350" dirty="0"/>
          </a:p>
        </p:txBody>
      </p:sp>
      <p:sp>
        <p:nvSpPr>
          <p:cNvPr id="46" name="Text 43"/>
          <p:cNvSpPr txBox="1"/>
          <p:nvPr/>
        </p:nvSpPr>
        <p:spPr>
          <a:xfrm>
            <a:off x="8238744" y="5961888"/>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ea typeface="Amiri" pitchFamily="2" charset="-78"/>
                <a:cs typeface="Amiri" pitchFamily="2" charset="-78"/>
              </a:rPr>
              <a:t>بَيْنَ الْبَيْتِ وَالْمَدْرَسَةِ</a:t>
            </a:r>
            <a:endParaRPr lang="ar-SA" sz="1300" dirty="0"/>
          </a:p>
        </p:txBody>
      </p:sp>
      <p:sp>
        <p:nvSpPr>
          <p:cNvPr id="47" name="Shape 44"/>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4389120" y="4261104"/>
            <a:ext cx="310896" cy="310896"/>
          </a:xfrm>
          <a:prstGeom prst="ellipse">
            <a:avLst/>
          </a:prstGeom>
          <a:solidFill>
            <a:srgbClr val="F4F1EA"/>
          </a:solidFill>
          <a:ln w="12700">
            <a:solidFill>
              <a:srgbClr val="F4F1EA"/>
            </a:solidFill>
            <a:prstDash val="solid"/>
          </a:ln>
        </p:spPr>
      </p:sp>
      <p:sp>
        <p:nvSpPr>
          <p:cNvPr id="49" name="Text 46"/>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50" name="Shape 47"/>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51" name="Text 48"/>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2" name="Text 49"/>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الْخَرِيطَةُ</a:t>
            </a:r>
            <a:endParaRPr lang="ar-SA" sz="3000" dirty="0"/>
          </a:p>
        </p:txBody>
      </p:sp>
      <p:sp>
        <p:nvSpPr>
          <p:cNvPr id="53" name="Text 50"/>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map</a:t>
            </a:r>
            <a:endParaRPr lang="en-US" sz="1350" dirty="0"/>
          </a:p>
          <a:p>
            <a:pPr indent="0" marL="0">
              <a:buNone/>
            </a:pPr>
            <a:r>
              <a:rPr lang="en-US" sz="1100" i="1" dirty="0">
                <a:solidFill>
                  <a:srgbClr val="5A6472"/>
                </a:solidFill>
                <a:latin typeface="Calibri" pitchFamily="34" charset="0"/>
                <a:cs typeface="Amiri" pitchFamily="2" charset="-78"/>
              </a:rPr>
              <a:t>al-kha-rī-ṭa-tu</a:t>
            </a:r>
            <a:endParaRPr lang="en-US" sz="1350" dirty="0"/>
          </a:p>
        </p:txBody>
      </p:sp>
      <p:sp>
        <p:nvSpPr>
          <p:cNvPr id="54" name="Text 51"/>
          <p:cNvSpPr txBox="1"/>
          <p:nvPr/>
        </p:nvSpPr>
        <p:spPr>
          <a:xfrm>
            <a:off x="4416552" y="5961888"/>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ea typeface="Amiri" pitchFamily="2" charset="-78"/>
                <a:cs typeface="Amiri" pitchFamily="2" charset="-78"/>
              </a:rPr>
              <a:t>عَلَى الْخَرِيطَةِ</a:t>
            </a:r>
            <a:endParaRPr lang="ar-SA" sz="1300" dirty="0"/>
          </a:p>
        </p:txBody>
      </p:sp>
      <p:sp>
        <p:nvSpPr>
          <p:cNvPr id="55" name="Shape 52"/>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566928" y="4261104"/>
            <a:ext cx="310896" cy="310896"/>
          </a:xfrm>
          <a:prstGeom prst="ellipse">
            <a:avLst/>
          </a:prstGeom>
          <a:solidFill>
            <a:srgbClr val="F4F1EA"/>
          </a:solidFill>
          <a:ln w="12700">
            <a:solidFill>
              <a:srgbClr val="F4F1EA"/>
            </a:solidFill>
            <a:prstDash val="solid"/>
          </a:ln>
        </p:spPr>
      </p:sp>
      <p:sp>
        <p:nvSpPr>
          <p:cNvPr id="57" name="Text 54"/>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58" name="Shape 55"/>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59" name="Text 56"/>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60" name="Text 57"/>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الِاتِّجَاهَاتُ</a:t>
            </a:r>
            <a:endParaRPr lang="ar-SA" sz="3000" dirty="0"/>
          </a:p>
        </p:txBody>
      </p:sp>
      <p:sp>
        <p:nvSpPr>
          <p:cNvPr id="61" name="Text 58"/>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directions</a:t>
            </a:r>
            <a:endParaRPr lang="en-US" sz="1350" dirty="0"/>
          </a:p>
          <a:p>
            <a:pPr indent="0" marL="0">
              <a:buNone/>
            </a:pPr>
            <a:r>
              <a:rPr lang="ar-SA" sz="1100" i="1" dirty="0">
                <a:solidFill>
                  <a:srgbClr val="5A6472"/>
                </a:solidFill>
                <a:latin typeface="Calibri" pitchFamily="34" charset="0"/>
                <a:ea typeface="Amiri" pitchFamily="2" charset="-78"/>
                <a:cs typeface="Amiri" pitchFamily="2" charset="-78"/>
              </a:rPr>
              <a:t>al-ِt-ti-jā-hā-tu</a:t>
            </a:r>
            <a:endParaRPr lang="en-US" sz="1350" dirty="0"/>
          </a:p>
        </p:txBody>
      </p:sp>
      <p:sp>
        <p:nvSpPr>
          <p:cNvPr id="62" name="Text 59"/>
          <p:cNvSpPr txBox="1"/>
          <p:nvPr/>
        </p:nvSpPr>
        <p:spPr>
          <a:xfrm>
            <a:off x="594360" y="5961888"/>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ea typeface="Amiri" pitchFamily="2" charset="-78"/>
                <a:cs typeface="Amiri" pitchFamily="2" charset="-78"/>
              </a:rPr>
              <a:t>اِنْعَطِفْ يَمِينًا</a:t>
            </a:r>
            <a:endParaRPr lang="ar-SA" sz="130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34</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GM-CP-02 · Conjunctions and Prepositions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B3B6F"/>
                </a:solidFill>
                <a:latin typeface="Calibri" pitchFamily="34" charset="0"/>
                <a:cs typeface="Amiri" pitchFamily="2" charset="-78"/>
              </a:rPr>
              <a:t>GRAMMAR · PART 1 · THE SPATIAL LOCATOR SYSTEM (WEBSITE TABLE)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Where exactly?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ظُرُوفُ الْمَكَانِ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Conjunctions and Prepositions · GM-CP-02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857232" y="1810512"/>
            <a:ext cx="18013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Route</a:t>
            </a:r>
            <a:endParaRPr lang="en-US" sz="1100" dirty="0"/>
          </a:p>
        </p:txBody>
      </p:sp>
      <p:sp>
        <p:nvSpPr>
          <p:cNvPr id="17" name="Text 14"/>
          <p:cNvSpPr txBox="1"/>
          <p:nvPr/>
        </p:nvSpPr>
        <p:spPr>
          <a:xfrm>
            <a:off x="5285232" y="1810512"/>
            <a:ext cx="44256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Model (website)</a:t>
            </a:r>
            <a:endParaRPr lang="en-US" sz="1100" dirty="0"/>
          </a:p>
        </p:txBody>
      </p:sp>
      <p:sp>
        <p:nvSpPr>
          <p:cNvPr id="18" name="Text 15"/>
          <p:cNvSpPr txBox="1"/>
          <p:nvPr/>
        </p:nvSpPr>
        <p:spPr>
          <a:xfrm>
            <a:off x="3090672" y="1810512"/>
            <a:ext cx="20482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9" name="Text 16"/>
          <p:cNvSpPr txBox="1"/>
          <p:nvPr/>
        </p:nvSpPr>
        <p:spPr>
          <a:xfrm>
            <a:off x="530352" y="1810512"/>
            <a:ext cx="24140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Locator</a:t>
            </a:r>
            <a:endParaRPr lang="en-US" sz="1100" dirty="0"/>
          </a:p>
        </p:txBody>
      </p:sp>
      <p:sp>
        <p:nvSpPr>
          <p:cNvPr id="20" name="Shape 17"/>
          <p:cNvSpPr/>
          <p:nvPr/>
        </p:nvSpPr>
        <p:spPr>
          <a:xfrm>
            <a:off x="457200" y="2267712"/>
            <a:ext cx="11274552" cy="471569"/>
          </a:xfrm>
          <a:prstGeom prst="roundRect">
            <a:avLst>
              <a:gd name="adj" fmla="val 9695"/>
            </a:avLst>
          </a:prstGeom>
          <a:solidFill>
            <a:srgbClr val="FFFFFF"/>
          </a:solidFill>
          <a:ln w="9525">
            <a:solidFill>
              <a:srgbClr val="D8D0BF"/>
            </a:solidFill>
            <a:prstDash val="solid"/>
          </a:ln>
        </p:spPr>
      </p:sp>
      <p:sp>
        <p:nvSpPr>
          <p:cNvPr id="21" name="Text 18"/>
          <p:cNvSpPr txBox="1"/>
          <p:nvPr/>
        </p:nvSpPr>
        <p:spPr>
          <a:xfrm>
            <a:off x="9893808" y="2267712"/>
            <a:ext cx="1764792" cy="471569"/>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22" name="Text 19"/>
          <p:cNvSpPr txBox="1"/>
          <p:nvPr/>
        </p:nvSpPr>
        <p:spPr>
          <a:xfrm>
            <a:off x="5303520" y="2267712"/>
            <a:ext cx="4389120" cy="471569"/>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السَّيَّارَةُ أَمَامَ الْبَيْتِ.</a:t>
            </a:r>
            <a:endParaRPr lang="ar-SA" sz="2200" dirty="0"/>
          </a:p>
        </p:txBody>
      </p:sp>
      <p:sp>
        <p:nvSpPr>
          <p:cNvPr id="23" name="Text 20"/>
          <p:cNvSpPr txBox="1"/>
          <p:nvPr/>
        </p:nvSpPr>
        <p:spPr>
          <a:xfrm>
            <a:off x="3127248" y="2267712"/>
            <a:ext cx="2011680" cy="471569"/>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in front of</a:t>
            </a:r>
            <a:endParaRPr lang="en-US" sz="1100" dirty="0"/>
          </a:p>
        </p:txBody>
      </p:sp>
      <p:sp>
        <p:nvSpPr>
          <p:cNvPr id="24" name="Text 21"/>
          <p:cNvSpPr txBox="1"/>
          <p:nvPr/>
        </p:nvSpPr>
        <p:spPr>
          <a:xfrm>
            <a:off x="548640" y="2267712"/>
            <a:ext cx="2377440" cy="471569"/>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أَمَامَ</a:t>
            </a:r>
            <a:endParaRPr lang="ar-SA" sz="22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2794145"/>
            <a:ext cx="11274552" cy="471569"/>
          </a:xfrm>
          <a:prstGeom prst="roundRect">
            <a:avLst>
              <a:gd name="adj" fmla="val 9695"/>
            </a:avLst>
          </a:prstGeom>
          <a:solidFill>
            <a:srgbClr val="F4F1EA"/>
          </a:solidFill>
          <a:ln w="9525">
            <a:solidFill>
              <a:srgbClr val="D8D0BF"/>
            </a:solidFill>
            <a:prstDash val="solid"/>
          </a:ln>
        </p:spPr>
      </p:sp>
      <p:sp>
        <p:nvSpPr>
          <p:cNvPr id="28" name="Text 25"/>
          <p:cNvSpPr txBox="1"/>
          <p:nvPr/>
        </p:nvSpPr>
        <p:spPr>
          <a:xfrm>
            <a:off x="9893808" y="2794145"/>
            <a:ext cx="1764792" cy="471569"/>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29" name="Text 26"/>
          <p:cNvSpPr txBox="1"/>
          <p:nvPr/>
        </p:nvSpPr>
        <p:spPr>
          <a:xfrm>
            <a:off x="5303520" y="2794145"/>
            <a:ext cx="4389120" cy="471569"/>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الْحَدِيقَةُ خَلْفَ الْمَدْرَسَةِ.</a:t>
            </a:r>
            <a:endParaRPr lang="ar-SA" sz="2200" dirty="0"/>
          </a:p>
        </p:txBody>
      </p:sp>
      <p:sp>
        <p:nvSpPr>
          <p:cNvPr id="30" name="Text 27"/>
          <p:cNvSpPr txBox="1"/>
          <p:nvPr/>
        </p:nvSpPr>
        <p:spPr>
          <a:xfrm>
            <a:off x="3127248" y="2794145"/>
            <a:ext cx="2011680" cy="471569"/>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behind</a:t>
            </a:r>
            <a:endParaRPr lang="en-US" sz="1100" dirty="0"/>
          </a:p>
        </p:txBody>
      </p:sp>
      <p:sp>
        <p:nvSpPr>
          <p:cNvPr id="31" name="Text 28"/>
          <p:cNvSpPr txBox="1"/>
          <p:nvPr/>
        </p:nvSpPr>
        <p:spPr>
          <a:xfrm>
            <a:off x="548640" y="2794145"/>
            <a:ext cx="2377440" cy="471569"/>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خَلْفَ · وَرَاءَ</a:t>
            </a:r>
            <a:endParaRPr lang="ar-SA" sz="2200" dirty="0"/>
          </a:p>
        </p:txBody>
      </p:sp>
      <p:sp>
        <p:nvSpPr>
          <p:cNvPr id="32" name="Shape 29"/>
          <p:cNvSpPr/>
          <p:nvPr/>
        </p:nvSpPr>
        <p:spPr>
          <a:xfrm>
            <a:off x="11091672" y="2839865"/>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2839865"/>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320578"/>
            <a:ext cx="11274552" cy="471569"/>
          </a:xfrm>
          <a:prstGeom prst="roundRect">
            <a:avLst>
              <a:gd name="adj" fmla="val 9695"/>
            </a:avLst>
          </a:prstGeom>
          <a:solidFill>
            <a:srgbClr val="FFFFFF"/>
          </a:solidFill>
          <a:ln w="9525">
            <a:solidFill>
              <a:srgbClr val="D8D0BF"/>
            </a:solidFill>
            <a:prstDash val="solid"/>
          </a:ln>
        </p:spPr>
      </p:sp>
      <p:sp>
        <p:nvSpPr>
          <p:cNvPr id="35" name="Text 32"/>
          <p:cNvSpPr txBox="1"/>
          <p:nvPr/>
        </p:nvSpPr>
        <p:spPr>
          <a:xfrm>
            <a:off x="9893808" y="3320578"/>
            <a:ext cx="1764792" cy="471569"/>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36" name="Text 33"/>
          <p:cNvSpPr txBox="1"/>
          <p:nvPr/>
        </p:nvSpPr>
        <p:spPr>
          <a:xfrm>
            <a:off x="5303520" y="3320578"/>
            <a:ext cx="4389120" cy="471569"/>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الْحَقِيبَةُ تَحْتَ الْكُرْسِيِّ.</a:t>
            </a:r>
            <a:endParaRPr lang="ar-SA" sz="2200" dirty="0"/>
          </a:p>
        </p:txBody>
      </p:sp>
      <p:sp>
        <p:nvSpPr>
          <p:cNvPr id="37" name="Text 34"/>
          <p:cNvSpPr txBox="1"/>
          <p:nvPr/>
        </p:nvSpPr>
        <p:spPr>
          <a:xfrm>
            <a:off x="3127248" y="3320578"/>
            <a:ext cx="2011680" cy="471569"/>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above · under</a:t>
            </a:r>
            <a:endParaRPr lang="en-US" sz="1100" dirty="0"/>
          </a:p>
        </p:txBody>
      </p:sp>
      <p:sp>
        <p:nvSpPr>
          <p:cNvPr id="38" name="Text 35"/>
          <p:cNvSpPr txBox="1"/>
          <p:nvPr/>
        </p:nvSpPr>
        <p:spPr>
          <a:xfrm>
            <a:off x="548640" y="3320578"/>
            <a:ext cx="2377440" cy="471569"/>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فَوْقَ · تَحْتَ</a:t>
            </a:r>
            <a:endParaRPr lang="ar-SA" sz="2200" dirty="0"/>
          </a:p>
        </p:txBody>
      </p:sp>
      <p:sp>
        <p:nvSpPr>
          <p:cNvPr id="39" name="Shape 36"/>
          <p:cNvSpPr/>
          <p:nvPr/>
        </p:nvSpPr>
        <p:spPr>
          <a:xfrm>
            <a:off x="11091672" y="3366298"/>
            <a:ext cx="548640" cy="182880"/>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1091672" y="336629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1" name="Shape 38"/>
          <p:cNvSpPr/>
          <p:nvPr/>
        </p:nvSpPr>
        <p:spPr>
          <a:xfrm>
            <a:off x="457200" y="3847011"/>
            <a:ext cx="11274552" cy="471569"/>
          </a:xfrm>
          <a:prstGeom prst="roundRect">
            <a:avLst>
              <a:gd name="adj" fmla="val 9695"/>
            </a:avLst>
          </a:prstGeom>
          <a:solidFill>
            <a:srgbClr val="F4F1EA"/>
          </a:solidFill>
          <a:ln w="9525">
            <a:solidFill>
              <a:srgbClr val="D8D0BF"/>
            </a:solidFill>
            <a:prstDash val="solid"/>
          </a:ln>
        </p:spPr>
      </p:sp>
      <p:sp>
        <p:nvSpPr>
          <p:cNvPr id="42" name="Text 39"/>
          <p:cNvSpPr txBox="1"/>
          <p:nvPr/>
        </p:nvSpPr>
        <p:spPr>
          <a:xfrm>
            <a:off x="9893808" y="3847011"/>
            <a:ext cx="1764792" cy="471569"/>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43" name="Text 40"/>
          <p:cNvSpPr txBox="1"/>
          <p:nvPr/>
        </p:nvSpPr>
        <p:spPr>
          <a:xfrm>
            <a:off x="5303520" y="3847011"/>
            <a:ext cx="4389120" cy="471569"/>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الْمَكْتَبَةُ بِجَانِبِ الْمَسْجِدِ.</a:t>
            </a:r>
            <a:endParaRPr lang="ar-SA" sz="2200" dirty="0"/>
          </a:p>
        </p:txBody>
      </p:sp>
      <p:sp>
        <p:nvSpPr>
          <p:cNvPr id="44" name="Text 41"/>
          <p:cNvSpPr txBox="1"/>
          <p:nvPr/>
        </p:nvSpPr>
        <p:spPr>
          <a:xfrm>
            <a:off x="3127248" y="3847011"/>
            <a:ext cx="2011680" cy="471569"/>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beside</a:t>
            </a:r>
            <a:endParaRPr lang="en-US" sz="1100" dirty="0"/>
          </a:p>
        </p:txBody>
      </p:sp>
      <p:sp>
        <p:nvSpPr>
          <p:cNvPr id="45" name="Text 42"/>
          <p:cNvSpPr txBox="1"/>
          <p:nvPr/>
        </p:nvSpPr>
        <p:spPr>
          <a:xfrm>
            <a:off x="548640" y="3847011"/>
            <a:ext cx="2377440" cy="471569"/>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بِجَانِبِ</a:t>
            </a:r>
            <a:endParaRPr lang="ar-SA" sz="2200" dirty="0"/>
          </a:p>
        </p:txBody>
      </p:sp>
      <p:sp>
        <p:nvSpPr>
          <p:cNvPr id="46" name="Shape 43"/>
          <p:cNvSpPr/>
          <p:nvPr/>
        </p:nvSpPr>
        <p:spPr>
          <a:xfrm>
            <a:off x="11091672" y="3892731"/>
            <a:ext cx="548640" cy="182880"/>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11091672" y="3892731"/>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8" name="Shape 45"/>
          <p:cNvSpPr/>
          <p:nvPr/>
        </p:nvSpPr>
        <p:spPr>
          <a:xfrm>
            <a:off x="457200" y="4373445"/>
            <a:ext cx="11274552" cy="471569"/>
          </a:xfrm>
          <a:prstGeom prst="roundRect">
            <a:avLst>
              <a:gd name="adj" fmla="val 9695"/>
            </a:avLst>
          </a:prstGeom>
          <a:solidFill>
            <a:srgbClr val="FFFFFF"/>
          </a:solidFill>
          <a:ln w="9525">
            <a:solidFill>
              <a:srgbClr val="D8D0BF"/>
            </a:solidFill>
            <a:prstDash val="solid"/>
          </a:ln>
        </p:spPr>
      </p:sp>
      <p:sp>
        <p:nvSpPr>
          <p:cNvPr id="49" name="Text 46"/>
          <p:cNvSpPr txBox="1"/>
          <p:nvPr/>
        </p:nvSpPr>
        <p:spPr>
          <a:xfrm>
            <a:off x="9893808" y="4373445"/>
            <a:ext cx="1764792" cy="471569"/>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50" name="Text 47"/>
          <p:cNvSpPr txBox="1"/>
          <p:nvPr/>
        </p:nvSpPr>
        <p:spPr>
          <a:xfrm>
            <a:off x="5303520" y="4373445"/>
            <a:ext cx="4389120" cy="471569"/>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الْمَطْعَمُ مُقَابِلَ الْفُنْدُقِ.</a:t>
            </a:r>
            <a:endParaRPr lang="ar-SA" sz="2200" dirty="0"/>
          </a:p>
        </p:txBody>
      </p:sp>
      <p:sp>
        <p:nvSpPr>
          <p:cNvPr id="51" name="Text 48"/>
          <p:cNvSpPr txBox="1"/>
          <p:nvPr/>
        </p:nvSpPr>
        <p:spPr>
          <a:xfrm>
            <a:off x="3127248" y="4373445"/>
            <a:ext cx="2011680" cy="471569"/>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opposite</a:t>
            </a:r>
            <a:endParaRPr lang="en-US" sz="1100" dirty="0"/>
          </a:p>
        </p:txBody>
      </p:sp>
      <p:sp>
        <p:nvSpPr>
          <p:cNvPr id="52" name="Text 49"/>
          <p:cNvSpPr txBox="1"/>
          <p:nvPr/>
        </p:nvSpPr>
        <p:spPr>
          <a:xfrm>
            <a:off x="548640" y="4373445"/>
            <a:ext cx="2377440" cy="471569"/>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مُقَابِلَ</a:t>
            </a:r>
            <a:endParaRPr lang="ar-SA" sz="2200" dirty="0"/>
          </a:p>
        </p:txBody>
      </p:sp>
      <p:sp>
        <p:nvSpPr>
          <p:cNvPr id="53" name="Shape 50"/>
          <p:cNvSpPr/>
          <p:nvPr/>
        </p:nvSpPr>
        <p:spPr>
          <a:xfrm>
            <a:off x="457200" y="4899878"/>
            <a:ext cx="11274552" cy="471569"/>
          </a:xfrm>
          <a:prstGeom prst="roundRect">
            <a:avLst>
              <a:gd name="adj" fmla="val 9695"/>
            </a:avLst>
          </a:prstGeom>
          <a:solidFill>
            <a:srgbClr val="F4F1EA"/>
          </a:solidFill>
          <a:ln w="9525">
            <a:solidFill>
              <a:srgbClr val="D8D0BF"/>
            </a:solidFill>
            <a:prstDash val="solid"/>
          </a:ln>
        </p:spPr>
      </p:sp>
      <p:sp>
        <p:nvSpPr>
          <p:cNvPr id="54" name="Text 51"/>
          <p:cNvSpPr txBox="1"/>
          <p:nvPr/>
        </p:nvSpPr>
        <p:spPr>
          <a:xfrm>
            <a:off x="9893808" y="4899878"/>
            <a:ext cx="1764792" cy="471569"/>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55" name="Text 52"/>
          <p:cNvSpPr txBox="1"/>
          <p:nvPr/>
        </p:nvSpPr>
        <p:spPr>
          <a:xfrm>
            <a:off x="5303520" y="4899878"/>
            <a:ext cx="4389120" cy="471569"/>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أَسْكُنُ بِالْقُرْبِ مِنَ الْمَدْرَسَةِ.</a:t>
            </a:r>
            <a:endParaRPr lang="ar-SA" sz="2200" dirty="0"/>
          </a:p>
        </p:txBody>
      </p:sp>
      <p:sp>
        <p:nvSpPr>
          <p:cNvPr id="56" name="Text 53"/>
          <p:cNvSpPr txBox="1"/>
          <p:nvPr/>
        </p:nvSpPr>
        <p:spPr>
          <a:xfrm>
            <a:off x="3127248" y="4899878"/>
            <a:ext cx="2011680" cy="471569"/>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near · far from</a:t>
            </a:r>
            <a:endParaRPr lang="en-US" sz="1100" dirty="0"/>
          </a:p>
        </p:txBody>
      </p:sp>
      <p:sp>
        <p:nvSpPr>
          <p:cNvPr id="57" name="Text 54"/>
          <p:cNvSpPr txBox="1"/>
          <p:nvPr/>
        </p:nvSpPr>
        <p:spPr>
          <a:xfrm>
            <a:off x="548640" y="4899878"/>
            <a:ext cx="2377440" cy="471569"/>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بِالْقُرْبِ مِنْ · بَعِيدًا عَنْ</a:t>
            </a:r>
            <a:endParaRPr lang="ar-SA" sz="2200" dirty="0"/>
          </a:p>
        </p:txBody>
      </p:sp>
      <p:sp>
        <p:nvSpPr>
          <p:cNvPr id="58" name="Shape 55"/>
          <p:cNvSpPr/>
          <p:nvPr/>
        </p:nvSpPr>
        <p:spPr>
          <a:xfrm>
            <a:off x="457200" y="5426311"/>
            <a:ext cx="11274552" cy="471569"/>
          </a:xfrm>
          <a:prstGeom prst="roundRect">
            <a:avLst>
              <a:gd name="adj" fmla="val 9695"/>
            </a:avLst>
          </a:prstGeom>
          <a:solidFill>
            <a:srgbClr val="FFFFFF"/>
          </a:solidFill>
          <a:ln w="9525">
            <a:solidFill>
              <a:srgbClr val="D8D0BF"/>
            </a:solidFill>
            <a:prstDash val="solid"/>
          </a:ln>
        </p:spPr>
      </p:sp>
      <p:sp>
        <p:nvSpPr>
          <p:cNvPr id="59" name="Text 56"/>
          <p:cNvSpPr txBox="1"/>
          <p:nvPr/>
        </p:nvSpPr>
        <p:spPr>
          <a:xfrm>
            <a:off x="9893808" y="5426311"/>
            <a:ext cx="1764792" cy="471569"/>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60" name="Text 57"/>
          <p:cNvSpPr txBox="1"/>
          <p:nvPr/>
        </p:nvSpPr>
        <p:spPr>
          <a:xfrm>
            <a:off x="5303520" y="5426311"/>
            <a:ext cx="4389120" cy="471569"/>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الطُّلَّابُ دَاخِلَ الْفَصْلِ.</a:t>
            </a:r>
            <a:endParaRPr lang="ar-SA" sz="2200" dirty="0"/>
          </a:p>
        </p:txBody>
      </p:sp>
      <p:sp>
        <p:nvSpPr>
          <p:cNvPr id="61" name="Text 58"/>
          <p:cNvSpPr txBox="1"/>
          <p:nvPr/>
        </p:nvSpPr>
        <p:spPr>
          <a:xfrm>
            <a:off x="3127248" y="5426311"/>
            <a:ext cx="2011680" cy="471569"/>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inside · outside · around</a:t>
            </a:r>
            <a:endParaRPr lang="en-US" sz="1100" dirty="0"/>
          </a:p>
        </p:txBody>
      </p:sp>
      <p:sp>
        <p:nvSpPr>
          <p:cNvPr id="62" name="Text 59"/>
          <p:cNvSpPr txBox="1"/>
          <p:nvPr/>
        </p:nvSpPr>
        <p:spPr>
          <a:xfrm>
            <a:off x="548640" y="5426311"/>
            <a:ext cx="2377440" cy="471569"/>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دَاخِلَ · خَارِجَ · حَوْلَ</a:t>
            </a:r>
            <a:endParaRPr lang="ar-SA" sz="2200" dirty="0"/>
          </a:p>
        </p:txBody>
      </p:sp>
      <p:sp>
        <p:nvSpPr>
          <p:cNvPr id="63" name="Text 6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Website: words such as amāma, khalfa, fawqa are analysed as locative nouns / adverbs, not particle prepositions. Functionally, learn the complete pattern: locator + genitive noun.</a:t>
            </a:r>
            <a:endParaRPr lang="en-US" sz="1100" dirty="0"/>
          </a:p>
        </p:txBody>
      </p:sp>
      <p:sp>
        <p:nvSpPr>
          <p:cNvPr id="64" name="Text 6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34</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GM-CP-02 · Conjunctions and Prepositions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GRAMMAR · PART 2 · BETWEEN AND TWO-PART RELATIONS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00" b="1" dirty="0">
                <a:solidFill>
                  <a:srgbClr val="1B3B6F"/>
                </a:solidFill>
                <a:latin typeface="Cambria" pitchFamily="34" charset="0"/>
                <a:cs typeface="Amiri" pitchFamily="2" charset="-78"/>
              </a:rPr>
              <a:t>Between X and Y — both with kasra</a:t>
            </a:r>
            <a:endParaRPr lang="en-US" sz="27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بَيْنَ وَعِنْدَ</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Conjunctions and Prepositions · GM-CP-02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394192" y="1810512"/>
            <a:ext cx="326440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English</a:t>
            </a:r>
            <a:endParaRPr lang="en-US" sz="1100" dirty="0"/>
          </a:p>
        </p:txBody>
      </p:sp>
      <p:sp>
        <p:nvSpPr>
          <p:cNvPr id="17" name="Text 14"/>
          <p:cNvSpPr txBox="1"/>
          <p:nvPr/>
        </p:nvSpPr>
        <p:spPr>
          <a:xfrm>
            <a:off x="3273552" y="1810512"/>
            <a:ext cx="49743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Arabic (website)</a:t>
            </a:r>
            <a:endParaRPr lang="en-US" sz="1100" dirty="0"/>
          </a:p>
        </p:txBody>
      </p:sp>
      <p:sp>
        <p:nvSpPr>
          <p:cNvPr id="18" name="Text 15"/>
          <p:cNvSpPr txBox="1"/>
          <p:nvPr/>
        </p:nvSpPr>
        <p:spPr>
          <a:xfrm>
            <a:off x="530352" y="1810512"/>
            <a:ext cx="25968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Pattern</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8430768" y="2267712"/>
            <a:ext cx="322783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library is between the school and the mosque.</a:t>
            </a:r>
            <a:endParaRPr lang="en-US" sz="1100" dirty="0"/>
          </a:p>
        </p:txBody>
      </p:sp>
      <p:sp>
        <p:nvSpPr>
          <p:cNvPr id="21" name="Text 18"/>
          <p:cNvSpPr txBox="1"/>
          <p:nvPr/>
        </p:nvSpPr>
        <p:spPr>
          <a:xfrm>
            <a:off x="3291840" y="2267712"/>
            <a:ext cx="4937760" cy="73152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الْمَكْتَبَةُ بَيْنَ الْمَدْرَسَةِ وَالْمَسْجِدِ.</a:t>
            </a:r>
            <a:endParaRPr lang="ar-SA" sz="2200" dirty="0"/>
          </a:p>
        </p:txBody>
      </p:sp>
      <p:sp>
        <p:nvSpPr>
          <p:cNvPr id="22" name="Text 19"/>
          <p:cNvSpPr txBox="1"/>
          <p:nvPr/>
        </p:nvSpPr>
        <p:spPr>
          <a:xfrm>
            <a:off x="566928" y="2267712"/>
            <a:ext cx="256032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bayna X wa-Y</a:t>
            </a:r>
            <a:endParaRPr lang="en-US" sz="11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6" name="Text 23"/>
          <p:cNvSpPr txBox="1"/>
          <p:nvPr/>
        </p:nvSpPr>
        <p:spPr>
          <a:xfrm>
            <a:off x="8430768" y="3054096"/>
            <a:ext cx="322783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 sat between two friends.</a:t>
            </a:r>
            <a:endParaRPr lang="en-US" sz="1100" dirty="0"/>
          </a:p>
        </p:txBody>
      </p:sp>
      <p:sp>
        <p:nvSpPr>
          <p:cNvPr id="27" name="Text 24"/>
          <p:cNvSpPr txBox="1"/>
          <p:nvPr/>
        </p:nvSpPr>
        <p:spPr>
          <a:xfrm>
            <a:off x="3291840" y="3054096"/>
            <a:ext cx="4937760" cy="73152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جَلَسْتُ بَيْنَ صَدِيقَيْنِ.</a:t>
            </a:r>
            <a:endParaRPr lang="ar-SA" sz="2200" dirty="0"/>
          </a:p>
        </p:txBody>
      </p:sp>
      <p:sp>
        <p:nvSpPr>
          <p:cNvPr id="28" name="Text 25"/>
          <p:cNvSpPr txBox="1"/>
          <p:nvPr/>
        </p:nvSpPr>
        <p:spPr>
          <a:xfrm>
            <a:off x="566928" y="3054096"/>
            <a:ext cx="256032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bayna + dual</a:t>
            </a:r>
            <a:endParaRPr lang="en-US" sz="1100" dirty="0"/>
          </a:p>
        </p:txBody>
      </p:sp>
      <p:sp>
        <p:nvSpPr>
          <p:cNvPr id="29" name="Shape 26"/>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0" name="Text 27"/>
          <p:cNvSpPr txBox="1"/>
          <p:nvPr/>
        </p:nvSpPr>
        <p:spPr>
          <a:xfrm>
            <a:off x="8430768" y="3840480"/>
            <a:ext cx="322783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shop is at the end of the street.</a:t>
            </a:r>
            <a:endParaRPr lang="en-US" sz="1100" dirty="0"/>
          </a:p>
        </p:txBody>
      </p:sp>
      <p:sp>
        <p:nvSpPr>
          <p:cNvPr id="31" name="Text 28"/>
          <p:cNvSpPr txBox="1"/>
          <p:nvPr/>
        </p:nvSpPr>
        <p:spPr>
          <a:xfrm>
            <a:off x="3291840" y="3840480"/>
            <a:ext cx="4937760" cy="73152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الْمَتْجَرُ عِنْدَ نِهَايَةِ الشَّارِعِ.</a:t>
            </a:r>
            <a:endParaRPr lang="ar-SA" sz="2200" dirty="0"/>
          </a:p>
        </p:txBody>
      </p:sp>
      <p:sp>
        <p:nvSpPr>
          <p:cNvPr id="32" name="Text 29"/>
          <p:cNvSpPr txBox="1"/>
          <p:nvPr/>
        </p:nvSpPr>
        <p:spPr>
          <a:xfrm>
            <a:off x="566928" y="3840480"/>
            <a:ext cx="256032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ʿinda (at / by)</a:t>
            </a:r>
            <a:endParaRPr lang="en-US" sz="1100" dirty="0"/>
          </a:p>
        </p:txBody>
      </p:sp>
      <p:sp>
        <p:nvSpPr>
          <p:cNvPr id="33" name="Shape 30"/>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34" name="Text 31"/>
          <p:cNvSpPr txBox="1"/>
          <p:nvPr/>
        </p:nvSpPr>
        <p:spPr>
          <a:xfrm>
            <a:off x="8430768" y="4626864"/>
            <a:ext cx="322783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and the café is next to it.</a:t>
            </a:r>
            <a:endParaRPr lang="en-US" sz="1100" dirty="0"/>
          </a:p>
        </p:txBody>
      </p:sp>
      <p:sp>
        <p:nvSpPr>
          <p:cNvPr id="35" name="Text 32"/>
          <p:cNvSpPr txBox="1"/>
          <p:nvPr/>
        </p:nvSpPr>
        <p:spPr>
          <a:xfrm>
            <a:off x="3291840" y="4626864"/>
            <a:ext cx="4937760" cy="73152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وَالْمَقْهَى بِجَانِبِهِ.</a:t>
            </a:r>
            <a:endParaRPr lang="ar-SA" sz="2200" dirty="0"/>
          </a:p>
        </p:txBody>
      </p:sp>
      <p:sp>
        <p:nvSpPr>
          <p:cNvPr id="36" name="Text 33"/>
          <p:cNvSpPr txBox="1"/>
          <p:nvPr/>
        </p:nvSpPr>
        <p:spPr>
          <a:xfrm>
            <a:off x="566928" y="4626864"/>
            <a:ext cx="256032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locator + pronoun</a:t>
            </a:r>
            <a:endParaRPr lang="en-US" sz="1100" dirty="0"/>
          </a:p>
        </p:txBody>
      </p:sp>
      <p:sp>
        <p:nvSpPr>
          <p:cNvPr id="37" name="Text 34"/>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Website warning: in bayna l-banki wa-l-matjari, do not change the second noun back to nominative just because of wa-. Both nouns belong to the relationship.</a:t>
            </a:r>
            <a:endParaRPr lang="en-US" sz="1150" dirty="0"/>
          </a:p>
        </p:txBody>
      </p:sp>
      <p:sp>
        <p:nvSpPr>
          <p:cNvPr id="38" name="Text 3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34</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GM-CP-02 · Conjunctions and Prepositions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B3B6F"/>
                </a:solidFill>
                <a:latin typeface="Calibri" pitchFamily="34" charset="0"/>
                <a:cs typeface="Amiri" pitchFamily="2" charset="-78"/>
              </a:rPr>
              <a:t>GRAMMAR · PART 3 · LOCATORS OF TIME (WEBSITE TABLE) · DEVELOP / STRETCH</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Before, after, during</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ظُرُوفُ الزَّمَانِ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Conjunctions and Prepositions · GM-CP-02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10222992" y="1810512"/>
            <a:ext cx="1435608" cy="384048"/>
          </a:xfrm>
          <a:prstGeom prst="rect">
            <a:avLst/>
          </a:prstGeom>
          <a:noFill/>
          <a:ln/>
        </p:spPr>
        <p:txBody>
          <a:bodyPr wrap="square" lIns="0" tIns="0" rIns="0" bIns="0" rtlCol="0" anchor="ctr"/>
          <a:lstStyle/>
          <a:p>
            <a:pPr algn="ctr" indent="0" marL="0">
              <a:buNone/>
            </a:pPr>
            <a:endParaRPr lang="en-US" sz="1100" dirty="0"/>
          </a:p>
        </p:txBody>
      </p:sp>
      <p:sp>
        <p:nvSpPr>
          <p:cNvPr id="17" name="Text 14"/>
          <p:cNvSpPr txBox="1"/>
          <p:nvPr/>
        </p:nvSpPr>
        <p:spPr>
          <a:xfrm>
            <a:off x="5102352" y="1810512"/>
            <a:ext cx="49743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Model (website)</a:t>
            </a:r>
            <a:endParaRPr lang="en-US" sz="1100" dirty="0"/>
          </a:p>
        </p:txBody>
      </p:sp>
      <p:sp>
        <p:nvSpPr>
          <p:cNvPr id="18" name="Text 15"/>
          <p:cNvSpPr txBox="1"/>
          <p:nvPr/>
        </p:nvSpPr>
        <p:spPr>
          <a:xfrm>
            <a:off x="2724912"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9" name="Text 16"/>
          <p:cNvSpPr txBox="1"/>
          <p:nvPr/>
        </p:nvSpPr>
        <p:spPr>
          <a:xfrm>
            <a:off x="530352" y="1810512"/>
            <a:ext cx="20482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Locator</a:t>
            </a:r>
            <a:endParaRPr lang="en-US" sz="1100" dirty="0"/>
          </a:p>
        </p:txBody>
      </p:sp>
      <p:sp>
        <p:nvSpPr>
          <p:cNvPr id="20" name="Shape 17"/>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1" name="Text 18"/>
          <p:cNvSpPr txBox="1"/>
          <p:nvPr/>
        </p:nvSpPr>
        <p:spPr>
          <a:xfrm>
            <a:off x="10259568" y="2267712"/>
            <a:ext cx="1399032" cy="559308"/>
          </a:xfrm>
          <a:prstGeom prst="rect">
            <a:avLst/>
          </a:prstGeom>
          <a:noFill/>
          <a:ln/>
        </p:spPr>
        <p:txBody>
          <a:bodyPr wrap="square" lIns="0" tIns="0" rIns="0" bIns="0" rtlCol="0" anchor="ctr"/>
          <a:lstStyle/>
          <a:p>
            <a:pPr algn="l" indent="0" marL="0">
              <a:buNone/>
            </a:pPr>
            <a:endParaRPr lang="en-US" sz="1100" dirty="0"/>
          </a:p>
        </p:txBody>
      </p:sp>
      <p:sp>
        <p:nvSpPr>
          <p:cNvPr id="22" name="Text 19"/>
          <p:cNvSpPr txBox="1"/>
          <p:nvPr/>
        </p:nvSpPr>
        <p:spPr>
          <a:xfrm>
            <a:off x="5120640" y="2267712"/>
            <a:ext cx="493776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أَسْتَيْقِظُ قَبْلَ السَّابِعَةِ.</a:t>
            </a:r>
            <a:endParaRPr lang="ar-SA" sz="2200" dirty="0"/>
          </a:p>
        </p:txBody>
      </p:sp>
      <p:sp>
        <p:nvSpPr>
          <p:cNvPr id="23" name="Text 20"/>
          <p:cNvSpPr txBox="1"/>
          <p:nvPr/>
        </p:nvSpPr>
        <p:spPr>
          <a:xfrm>
            <a:off x="2761488" y="2267712"/>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before</a:t>
            </a:r>
            <a:endParaRPr lang="en-US" sz="1100" dirty="0"/>
          </a:p>
        </p:txBody>
      </p:sp>
      <p:sp>
        <p:nvSpPr>
          <p:cNvPr id="24" name="Text 21"/>
          <p:cNvSpPr txBox="1"/>
          <p:nvPr/>
        </p:nvSpPr>
        <p:spPr>
          <a:xfrm>
            <a:off x="548640" y="2267712"/>
            <a:ext cx="201168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قَبْلَ</a:t>
            </a:r>
            <a:endParaRPr lang="ar-SA" sz="24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8" name="Text 25"/>
          <p:cNvSpPr txBox="1"/>
          <p:nvPr/>
        </p:nvSpPr>
        <p:spPr>
          <a:xfrm>
            <a:off x="10259568" y="2881884"/>
            <a:ext cx="1399032" cy="559308"/>
          </a:xfrm>
          <a:prstGeom prst="rect">
            <a:avLst/>
          </a:prstGeom>
          <a:noFill/>
          <a:ln/>
        </p:spPr>
        <p:txBody>
          <a:bodyPr wrap="square" lIns="0" tIns="0" rIns="0" bIns="0" rtlCol="0" anchor="ctr"/>
          <a:lstStyle/>
          <a:p>
            <a:pPr algn="l" indent="0" marL="0">
              <a:buNone/>
            </a:pPr>
            <a:endParaRPr lang="en-US" sz="1100" dirty="0"/>
          </a:p>
        </p:txBody>
      </p:sp>
      <p:sp>
        <p:nvSpPr>
          <p:cNvPr id="29" name="Text 26"/>
          <p:cNvSpPr txBox="1"/>
          <p:nvPr/>
        </p:nvSpPr>
        <p:spPr>
          <a:xfrm>
            <a:off x="5120640" y="2881884"/>
            <a:ext cx="493776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أَدْرُسُ بَعْدَ الْغَدَاءِ.</a:t>
            </a:r>
            <a:endParaRPr lang="ar-SA" sz="2200" dirty="0"/>
          </a:p>
        </p:txBody>
      </p:sp>
      <p:sp>
        <p:nvSpPr>
          <p:cNvPr id="30" name="Text 27"/>
          <p:cNvSpPr txBox="1"/>
          <p:nvPr/>
        </p:nvSpPr>
        <p:spPr>
          <a:xfrm>
            <a:off x="2761488" y="2881884"/>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after</a:t>
            </a:r>
            <a:endParaRPr lang="en-US" sz="1100" dirty="0"/>
          </a:p>
        </p:txBody>
      </p:sp>
      <p:sp>
        <p:nvSpPr>
          <p:cNvPr id="31" name="Text 28"/>
          <p:cNvSpPr txBox="1"/>
          <p:nvPr/>
        </p:nvSpPr>
        <p:spPr>
          <a:xfrm>
            <a:off x="548640" y="2881884"/>
            <a:ext cx="201168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بَعْدَ</a:t>
            </a:r>
            <a:endParaRPr lang="ar-SA" sz="2400" dirty="0"/>
          </a:p>
        </p:txBody>
      </p:sp>
      <p:sp>
        <p:nvSpPr>
          <p:cNvPr id="32" name="Shape 29"/>
          <p:cNvSpPr/>
          <p:nvPr/>
        </p:nvSpPr>
        <p:spPr>
          <a:xfrm>
            <a:off x="11091672" y="2927604"/>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292760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35" name="Text 32"/>
          <p:cNvSpPr txBox="1"/>
          <p:nvPr/>
        </p:nvSpPr>
        <p:spPr>
          <a:xfrm>
            <a:off x="10259568" y="3496056"/>
            <a:ext cx="1399032" cy="559308"/>
          </a:xfrm>
          <a:prstGeom prst="rect">
            <a:avLst/>
          </a:prstGeom>
          <a:noFill/>
          <a:ln/>
        </p:spPr>
        <p:txBody>
          <a:bodyPr wrap="square" lIns="0" tIns="0" rIns="0" bIns="0" rtlCol="0" anchor="ctr"/>
          <a:lstStyle/>
          <a:p>
            <a:pPr algn="l" indent="0" marL="0">
              <a:buNone/>
            </a:pPr>
            <a:endParaRPr lang="en-US" sz="1100" dirty="0"/>
          </a:p>
        </p:txBody>
      </p:sp>
      <p:sp>
        <p:nvSpPr>
          <p:cNvPr id="36" name="Text 33"/>
          <p:cNvSpPr txBox="1"/>
          <p:nvPr/>
        </p:nvSpPr>
        <p:spPr>
          <a:xfrm>
            <a:off x="5120640" y="3496056"/>
            <a:ext cx="493776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لَا أَسْتَعْمِلُ هَاتِفِي أَثْنَاءَ الدَّرْسِ.</a:t>
            </a:r>
            <a:endParaRPr lang="ar-SA" sz="2200" dirty="0"/>
          </a:p>
        </p:txBody>
      </p:sp>
      <p:sp>
        <p:nvSpPr>
          <p:cNvPr id="37" name="Text 34"/>
          <p:cNvSpPr txBox="1"/>
          <p:nvPr/>
        </p:nvSpPr>
        <p:spPr>
          <a:xfrm>
            <a:off x="2761488" y="3496056"/>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during</a:t>
            </a:r>
            <a:endParaRPr lang="en-US" sz="1100" dirty="0"/>
          </a:p>
        </p:txBody>
      </p:sp>
      <p:sp>
        <p:nvSpPr>
          <p:cNvPr id="38" name="Text 35"/>
          <p:cNvSpPr txBox="1"/>
          <p:nvPr/>
        </p:nvSpPr>
        <p:spPr>
          <a:xfrm>
            <a:off x="548640" y="3496056"/>
            <a:ext cx="201168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أَثْنَاءَ</a:t>
            </a:r>
            <a:endParaRPr lang="ar-SA" sz="2400" dirty="0"/>
          </a:p>
        </p:txBody>
      </p:sp>
      <p:sp>
        <p:nvSpPr>
          <p:cNvPr id="39" name="Shape 36"/>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40" name="Text 37"/>
          <p:cNvSpPr txBox="1"/>
          <p:nvPr/>
        </p:nvSpPr>
        <p:spPr>
          <a:xfrm>
            <a:off x="10259568" y="4110228"/>
            <a:ext cx="1399032" cy="559308"/>
          </a:xfrm>
          <a:prstGeom prst="rect">
            <a:avLst/>
          </a:prstGeom>
          <a:noFill/>
          <a:ln/>
        </p:spPr>
        <p:txBody>
          <a:bodyPr wrap="square" lIns="0" tIns="0" rIns="0" bIns="0" rtlCol="0" anchor="ctr"/>
          <a:lstStyle/>
          <a:p>
            <a:pPr algn="l" indent="0" marL="0">
              <a:buNone/>
            </a:pPr>
            <a:endParaRPr lang="en-US" sz="1100" dirty="0"/>
          </a:p>
        </p:txBody>
      </p:sp>
      <p:sp>
        <p:nvSpPr>
          <p:cNvPr id="41" name="Text 38"/>
          <p:cNvSpPr txBox="1"/>
          <p:nvPr/>
        </p:nvSpPr>
        <p:spPr>
          <a:xfrm>
            <a:off x="5120640" y="4110228"/>
            <a:ext cx="493776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تَعَلَّمْتُ كَثِيرًا خِلَالَ الْعُطْلَةِ.</a:t>
            </a:r>
            <a:endParaRPr lang="ar-SA" sz="2200" dirty="0"/>
          </a:p>
        </p:txBody>
      </p:sp>
      <p:sp>
        <p:nvSpPr>
          <p:cNvPr id="42" name="Text 39"/>
          <p:cNvSpPr txBox="1"/>
          <p:nvPr/>
        </p:nvSpPr>
        <p:spPr>
          <a:xfrm>
            <a:off x="2761488" y="4110228"/>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during / throughout</a:t>
            </a:r>
            <a:endParaRPr lang="en-US" sz="1100" dirty="0"/>
          </a:p>
        </p:txBody>
      </p:sp>
      <p:sp>
        <p:nvSpPr>
          <p:cNvPr id="43" name="Text 40"/>
          <p:cNvSpPr txBox="1"/>
          <p:nvPr/>
        </p:nvSpPr>
        <p:spPr>
          <a:xfrm>
            <a:off x="548640" y="4110228"/>
            <a:ext cx="201168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خِلَالَ</a:t>
            </a:r>
            <a:endParaRPr lang="ar-SA" sz="2400" dirty="0"/>
          </a:p>
        </p:txBody>
      </p:sp>
      <p:sp>
        <p:nvSpPr>
          <p:cNvPr id="44" name="Shape 41"/>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45" name="Text 42"/>
          <p:cNvSpPr txBox="1"/>
          <p:nvPr/>
        </p:nvSpPr>
        <p:spPr>
          <a:xfrm>
            <a:off x="10259568" y="4724400"/>
            <a:ext cx="1399032" cy="559308"/>
          </a:xfrm>
          <a:prstGeom prst="rect">
            <a:avLst/>
          </a:prstGeom>
          <a:noFill/>
          <a:ln/>
        </p:spPr>
        <p:txBody>
          <a:bodyPr wrap="square" lIns="0" tIns="0" rIns="0" bIns="0" rtlCol="0" anchor="ctr"/>
          <a:lstStyle/>
          <a:p>
            <a:pPr algn="l" indent="0" marL="0">
              <a:buNone/>
            </a:pPr>
            <a:endParaRPr lang="en-US" sz="1100" dirty="0"/>
          </a:p>
        </p:txBody>
      </p:sp>
      <p:sp>
        <p:nvSpPr>
          <p:cNvPr id="46" name="Text 43"/>
          <p:cNvSpPr txBox="1"/>
          <p:nvPr/>
        </p:nvSpPr>
        <p:spPr>
          <a:xfrm>
            <a:off x="5120640" y="4724400"/>
            <a:ext cx="493776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أَسْكُنُ هُنَا مُنْذُ سَنَتَيْنِ.</a:t>
            </a:r>
            <a:endParaRPr lang="ar-SA" sz="2200" dirty="0"/>
          </a:p>
        </p:txBody>
      </p:sp>
      <p:sp>
        <p:nvSpPr>
          <p:cNvPr id="47" name="Text 44"/>
          <p:cNvSpPr txBox="1"/>
          <p:nvPr/>
        </p:nvSpPr>
        <p:spPr>
          <a:xfrm>
            <a:off x="2761488" y="4724400"/>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since / for</a:t>
            </a:r>
            <a:endParaRPr lang="en-US" sz="1100" dirty="0"/>
          </a:p>
        </p:txBody>
      </p:sp>
      <p:sp>
        <p:nvSpPr>
          <p:cNvPr id="48" name="Text 45"/>
          <p:cNvSpPr txBox="1"/>
          <p:nvPr/>
        </p:nvSpPr>
        <p:spPr>
          <a:xfrm>
            <a:off x="548640" y="4724400"/>
            <a:ext cx="201168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مُنْذُ</a:t>
            </a:r>
            <a:endParaRPr lang="ar-SA" sz="2400" dirty="0"/>
          </a:p>
        </p:txBody>
      </p:sp>
      <p:sp>
        <p:nvSpPr>
          <p:cNvPr id="49" name="Shape 46"/>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50" name="Text 47"/>
          <p:cNvSpPr txBox="1"/>
          <p:nvPr/>
        </p:nvSpPr>
        <p:spPr>
          <a:xfrm>
            <a:off x="10259568" y="5338572"/>
            <a:ext cx="1399032" cy="559308"/>
          </a:xfrm>
          <a:prstGeom prst="rect">
            <a:avLst/>
          </a:prstGeom>
          <a:noFill/>
          <a:ln/>
        </p:spPr>
        <p:txBody>
          <a:bodyPr wrap="square" lIns="0" tIns="0" rIns="0" bIns="0" rtlCol="0" anchor="ctr"/>
          <a:lstStyle/>
          <a:p>
            <a:pPr algn="l" indent="0" marL="0">
              <a:buNone/>
            </a:pPr>
            <a:endParaRPr lang="en-US" sz="1100" dirty="0"/>
          </a:p>
        </p:txBody>
      </p:sp>
      <p:sp>
        <p:nvSpPr>
          <p:cNvPr id="51" name="Text 48"/>
          <p:cNvSpPr txBox="1"/>
          <p:nvPr/>
        </p:nvSpPr>
        <p:spPr>
          <a:xfrm>
            <a:off x="5120640" y="5338572"/>
            <a:ext cx="493776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أَدْرُسُ حَتَّى السَّاعَةِ الثَّامِنَةِ.</a:t>
            </a:r>
            <a:endParaRPr lang="ar-SA" sz="2200" dirty="0"/>
          </a:p>
        </p:txBody>
      </p:sp>
      <p:sp>
        <p:nvSpPr>
          <p:cNvPr id="52" name="Text 49"/>
          <p:cNvSpPr txBox="1"/>
          <p:nvPr/>
        </p:nvSpPr>
        <p:spPr>
          <a:xfrm>
            <a:off x="2761488" y="5338572"/>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until</a:t>
            </a:r>
            <a:endParaRPr lang="en-US" sz="1100" dirty="0"/>
          </a:p>
        </p:txBody>
      </p:sp>
      <p:sp>
        <p:nvSpPr>
          <p:cNvPr id="53" name="Text 50"/>
          <p:cNvSpPr txBox="1"/>
          <p:nvPr/>
        </p:nvSpPr>
        <p:spPr>
          <a:xfrm>
            <a:off x="548640" y="5338572"/>
            <a:ext cx="201168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حَتَّى</a:t>
            </a:r>
            <a:endParaRPr lang="ar-SA" sz="2400" dirty="0"/>
          </a:p>
        </p:txBody>
      </p:sp>
      <p:sp>
        <p:nvSpPr>
          <p:cNvPr id="54" name="Text 51"/>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Website boundary: qabla an, baʿda an and mundhu an link whole clauses — they return in GM-CP-05.</a:t>
            </a:r>
            <a:endParaRPr lang="en-US" sz="115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34</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GM-CP-02 · Conjunctions and Prepositions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HINGE QUESTIONS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Quick check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فَحْصٌ سَرِيعٌ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Conjunctions and Prepositions · GM-CP-02</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The picture is above the sofa.</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الصُّورَةُ تَحْتَ الْأَرِيكَةِ.</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الصُّورَةُ عَنِ الْأَرِيكَةِ.</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الصُّورَةُ فَوْقَ الْأَرِيكَةِ.</a:t>
            </a:r>
            <a:endParaRPr lang="ar-SA" sz="2050" dirty="0"/>
          </a:p>
        </p:txBody>
      </p:sp>
      <p:sp>
        <p:nvSpPr>
          <p:cNvPr id="28" name="Shape 25"/>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6313932"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The pharmacy is opposite the hospital.</a:t>
            </a:r>
            <a:endParaRPr lang="en-US" sz="1250" dirty="0"/>
          </a:p>
        </p:txBody>
      </p:sp>
      <p:sp>
        <p:nvSpPr>
          <p:cNvPr id="32" name="Shape 29"/>
          <p:cNvSpPr/>
          <p:nvPr/>
        </p:nvSpPr>
        <p:spPr>
          <a:xfrm>
            <a:off x="6368796"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الصَّيْدَلِيَّةُ مُقَابِلَ الْمُسْتَشْفَى.</a:t>
            </a:r>
            <a:endParaRPr lang="ar-SA" sz="2050" dirty="0"/>
          </a:p>
        </p:txBody>
      </p:sp>
      <p:sp>
        <p:nvSpPr>
          <p:cNvPr id="35" name="Shape 32"/>
          <p:cNvSpPr/>
          <p:nvPr/>
        </p:nvSpPr>
        <p:spPr>
          <a:xfrm>
            <a:off x="6368796"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الصَّيْدَلِيَّةُ دَاخِلَ الْمُسْتَشْفَى.</a:t>
            </a:r>
            <a:endParaRPr lang="ar-SA" sz="2050" dirty="0"/>
          </a:p>
        </p:txBody>
      </p:sp>
      <p:sp>
        <p:nvSpPr>
          <p:cNvPr id="38" name="Shape 35"/>
          <p:cNvSpPr/>
          <p:nvPr/>
        </p:nvSpPr>
        <p:spPr>
          <a:xfrm>
            <a:off x="6368796"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الصَّيْدَلِيَّةُ مِنَ الْمُسْتَشْفَى.</a:t>
            </a:r>
            <a:endParaRPr lang="ar-SA" sz="2050" dirty="0"/>
          </a:p>
        </p:txBody>
      </p:sp>
      <p:sp>
        <p:nvSpPr>
          <p:cNvPr id="41" name="Shape 38"/>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585216" y="4288536"/>
            <a:ext cx="310896" cy="310896"/>
          </a:xfrm>
          <a:prstGeom prst="ellipse">
            <a:avLst/>
          </a:prstGeom>
          <a:solidFill>
            <a:srgbClr val="1B3B6F"/>
          </a:solidFill>
          <a:ln w="12700">
            <a:solidFill>
              <a:srgbClr val="1B3B6F"/>
            </a:solidFill>
            <a:prstDash val="solid"/>
          </a:ln>
        </p:spPr>
      </p:sp>
      <p:sp>
        <p:nvSpPr>
          <p:cNvPr id="43" name="Text 40"/>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phrase.</a:t>
            </a:r>
            <a:endParaRPr lang="en-US" sz="1250" dirty="0"/>
          </a:p>
        </p:txBody>
      </p:sp>
      <p:sp>
        <p:nvSpPr>
          <p:cNvPr id="45" name="Shape 42"/>
          <p:cNvSpPr/>
          <p:nvPr/>
        </p:nvSpPr>
        <p:spPr>
          <a:xfrm>
            <a:off x="640080" y="4873752"/>
            <a:ext cx="256032" cy="256032"/>
          </a:xfrm>
          <a:prstGeom prst="ellipse">
            <a:avLst/>
          </a:prstGeom>
          <a:solidFill>
            <a:srgbClr val="F4F1EA"/>
          </a:solidFill>
          <a:ln w="12700">
            <a:solidFill>
              <a:srgbClr val="F4F1EA"/>
            </a:solidFill>
            <a:prstDash val="solid"/>
          </a:ln>
        </p:spPr>
      </p:sp>
      <p:sp>
        <p:nvSpPr>
          <p:cNvPr id="46" name="Text 43"/>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بَيْنَ الْبَيْتُ وَالْمَدْرَسَةُ</a:t>
            </a:r>
            <a:endParaRPr lang="ar-SA" sz="2050" dirty="0"/>
          </a:p>
        </p:txBody>
      </p:sp>
      <p:sp>
        <p:nvSpPr>
          <p:cNvPr id="48" name="Shape 45"/>
          <p:cNvSpPr/>
          <p:nvPr/>
        </p:nvSpPr>
        <p:spPr>
          <a:xfrm>
            <a:off x="640080" y="5330952"/>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بَيْنَ الْبَيْتِ وَالْمَدْرَسَةِ</a:t>
            </a:r>
            <a:endParaRPr lang="ar-SA" sz="2050" dirty="0"/>
          </a:p>
        </p:txBody>
      </p:sp>
      <p:sp>
        <p:nvSpPr>
          <p:cNvPr id="51" name="Shape 48"/>
          <p:cNvSpPr/>
          <p:nvPr/>
        </p:nvSpPr>
        <p:spPr>
          <a:xfrm>
            <a:off x="640080" y="5788152"/>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بَيْنُ الْبَيْتِ وَالْمَدْرَسَةِ</a:t>
            </a:r>
            <a:endParaRPr lang="ar-SA" sz="2050" dirty="0"/>
          </a:p>
        </p:txBody>
      </p:sp>
      <p:sp>
        <p:nvSpPr>
          <p:cNvPr id="54" name="Shape 51"/>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6313932"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I revise after dinner.</a:t>
            </a:r>
            <a:endParaRPr lang="en-US" sz="1250" dirty="0"/>
          </a:p>
        </p:txBody>
      </p:sp>
      <p:sp>
        <p:nvSpPr>
          <p:cNvPr id="58" name="Shape 55"/>
          <p:cNvSpPr/>
          <p:nvPr/>
        </p:nvSpPr>
        <p:spPr>
          <a:xfrm>
            <a:off x="6368796"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أُرَاجِعُ بَعْدَ الْعَشَاءِ.</a:t>
            </a:r>
            <a:endParaRPr lang="ar-SA" sz="2050" dirty="0"/>
          </a:p>
        </p:txBody>
      </p:sp>
      <p:sp>
        <p:nvSpPr>
          <p:cNvPr id="61" name="Shape 58"/>
          <p:cNvSpPr/>
          <p:nvPr/>
        </p:nvSpPr>
        <p:spPr>
          <a:xfrm>
            <a:off x="6368796"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أُرَاجِعُ خَلْفَ الْعَشَاءِ.</a:t>
            </a:r>
            <a:endParaRPr lang="ar-SA" sz="2050" dirty="0"/>
          </a:p>
        </p:txBody>
      </p:sp>
      <p:sp>
        <p:nvSpPr>
          <p:cNvPr id="64" name="Shape 61"/>
          <p:cNvSpPr/>
          <p:nvPr/>
        </p:nvSpPr>
        <p:spPr>
          <a:xfrm>
            <a:off x="6368796"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أُرَاجِعُ إِلَى الْعَشَاءِ.</a:t>
            </a:r>
            <a:endParaRPr lang="ar-SA" sz="2050" dirty="0"/>
          </a:p>
        </p:txBody>
      </p:sp>
      <p:sp>
        <p:nvSpPr>
          <p:cNvPr id="67" name="Text 6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34</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GM-CP-02 · Conjunctions and Prepositions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Conjunctions and Prepositions · GM-CP-02</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The picture is above the sofa.</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الصُّورَةُ تَحْتَ الْأَرِيكَةِ.</a:t>
            </a:r>
            <a:endParaRPr lang="ar-SA" sz="1700" dirty="0"/>
          </a:p>
        </p:txBody>
      </p:sp>
      <p:sp>
        <p:nvSpPr>
          <p:cNvPr id="22" name="Shape 19"/>
          <p:cNvSpPr/>
          <p:nvPr/>
        </p:nvSpPr>
        <p:spPr>
          <a:xfrm>
            <a:off x="640080" y="2862072"/>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الصُّورَةُ عَنِ الْأَرِيكَةِ.</a:t>
            </a:r>
            <a:endParaRPr lang="ar-SA" sz="1700" dirty="0"/>
          </a:p>
        </p:txBody>
      </p:sp>
      <p:sp>
        <p:nvSpPr>
          <p:cNvPr id="25" name="Shape 22"/>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6" name="Shape 23"/>
          <p:cNvSpPr/>
          <p:nvPr/>
        </p:nvSpPr>
        <p:spPr>
          <a:xfrm>
            <a:off x="640080" y="3233928"/>
            <a:ext cx="256032" cy="256032"/>
          </a:xfrm>
          <a:prstGeom prst="ellipse">
            <a:avLst/>
          </a:prstGeom>
          <a:solidFill>
            <a:srgbClr val="2E8B57"/>
          </a:solidFill>
          <a:ln w="12700">
            <a:solidFill>
              <a:srgbClr val="2E8B57"/>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28" name="Text 25"/>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الصُّورَةُ فَوْقَ الْأَرِيكَةِ.</a:t>
            </a:r>
            <a:endParaRPr lang="ar-SA" sz="1700" dirty="0"/>
          </a:p>
        </p:txBody>
      </p:sp>
      <p:sp>
        <p:nvSpPr>
          <p:cNvPr id="29" name="Text 26"/>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Fawqa expresses the higher position.</a:t>
            </a:r>
            <a:endParaRPr lang="en-US" sz="1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The pharmacy is opposite the hospital.</a:t>
            </a:r>
            <a:endParaRPr lang="en-US" sz="1250" dirty="0"/>
          </a:p>
        </p:txBody>
      </p:sp>
      <p:sp>
        <p:nvSpPr>
          <p:cNvPr id="34" name="Shape 31"/>
          <p:cNvSpPr/>
          <p:nvPr/>
        </p:nvSpPr>
        <p:spPr>
          <a:xfrm>
            <a:off x="6277356" y="2453640"/>
            <a:ext cx="5362956"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6368796"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الصَّيْدَلِيَّةُ مُقَابِلَ الْمُسْتَشْفَى.</a:t>
            </a:r>
            <a:endParaRPr lang="ar-SA" sz="1700" dirty="0"/>
          </a:p>
        </p:txBody>
      </p:sp>
      <p:sp>
        <p:nvSpPr>
          <p:cNvPr id="38" name="Shape 35"/>
          <p:cNvSpPr/>
          <p:nvPr/>
        </p:nvSpPr>
        <p:spPr>
          <a:xfrm>
            <a:off x="6368796"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الصَّيْدَلِيَّةُ دَاخِلَ الْمُسْتَشْفَى.</a:t>
            </a:r>
            <a:endParaRPr lang="ar-SA" sz="1700" dirty="0"/>
          </a:p>
        </p:txBody>
      </p:sp>
      <p:sp>
        <p:nvSpPr>
          <p:cNvPr id="41" name="Shape 38"/>
          <p:cNvSpPr/>
          <p:nvPr/>
        </p:nvSpPr>
        <p:spPr>
          <a:xfrm>
            <a:off x="6368796"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الصَّيْدَلِيَّةُ مِنَ الْمُسْتَشْفَى.</a:t>
            </a:r>
            <a:endParaRPr lang="ar-SA" sz="1700" dirty="0"/>
          </a:p>
        </p:txBody>
      </p:sp>
      <p:sp>
        <p:nvSpPr>
          <p:cNvPr id="44" name="Text 41"/>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Muqābila = facing / opposite.</a:t>
            </a:r>
            <a:endParaRPr lang="en-US" sz="1050" dirty="0"/>
          </a:p>
        </p:txBody>
      </p:sp>
      <p:sp>
        <p:nvSpPr>
          <p:cNvPr id="45" name="Shape 42"/>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85216" y="4288536"/>
            <a:ext cx="310896" cy="310896"/>
          </a:xfrm>
          <a:prstGeom prst="ellipse">
            <a:avLst/>
          </a:prstGeom>
          <a:solidFill>
            <a:srgbClr val="1B3B6F"/>
          </a:solidFill>
          <a:ln w="12700">
            <a:solidFill>
              <a:srgbClr val="1B3B6F"/>
            </a:solidFill>
            <a:prstDash val="solid"/>
          </a:ln>
        </p:spPr>
      </p:sp>
      <p:sp>
        <p:nvSpPr>
          <p:cNvPr id="47" name="Text 4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phrase.</a:t>
            </a:r>
            <a:endParaRPr lang="en-US" sz="1250" dirty="0"/>
          </a:p>
        </p:txBody>
      </p:sp>
      <p:sp>
        <p:nvSpPr>
          <p:cNvPr id="49" name="Shape 46"/>
          <p:cNvSpPr/>
          <p:nvPr/>
        </p:nvSpPr>
        <p:spPr>
          <a:xfrm>
            <a:off x="640080" y="4831080"/>
            <a:ext cx="256032" cy="256032"/>
          </a:xfrm>
          <a:prstGeom prst="ellipse">
            <a:avLst/>
          </a:prstGeom>
          <a:solidFill>
            <a:srgbClr val="C9CED6"/>
          </a:solidFill>
          <a:ln w="12700">
            <a:solidFill>
              <a:srgbClr val="C9CED6"/>
            </a:solidFill>
            <a:prstDash val="solid"/>
          </a:ln>
        </p:spPr>
      </p:sp>
      <p:sp>
        <p:nvSpPr>
          <p:cNvPr id="50" name="Text 47"/>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بَيْنَ الْبَيْتُ وَالْمَدْرَسَةُ</a:t>
            </a:r>
            <a:endParaRPr lang="ar-SA" sz="1700" dirty="0"/>
          </a:p>
        </p:txBody>
      </p:sp>
      <p:sp>
        <p:nvSpPr>
          <p:cNvPr id="52" name="Shape 49"/>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3" name="Shape 50"/>
          <p:cNvSpPr/>
          <p:nvPr/>
        </p:nvSpPr>
        <p:spPr>
          <a:xfrm>
            <a:off x="640080" y="5202936"/>
            <a:ext cx="256032" cy="256032"/>
          </a:xfrm>
          <a:prstGeom prst="ellipse">
            <a:avLst/>
          </a:prstGeom>
          <a:solidFill>
            <a:srgbClr val="2E8B57"/>
          </a:solidFill>
          <a:ln w="12700">
            <a:solidFill>
              <a:srgbClr val="2E8B57"/>
            </a:solidFill>
            <a:prstDash val="solid"/>
          </a:ln>
        </p:spPr>
      </p:sp>
      <p:sp>
        <p:nvSpPr>
          <p:cNvPr id="54" name="Text 51"/>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5" name="Text 52"/>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بَيْنَ الْبَيْتِ وَالْمَدْرَسَةِ</a:t>
            </a:r>
            <a:endParaRPr lang="ar-SA" sz="1700" dirty="0"/>
          </a:p>
        </p:txBody>
      </p:sp>
      <p:sp>
        <p:nvSpPr>
          <p:cNvPr id="56" name="Shape 53"/>
          <p:cNvSpPr/>
          <p:nvPr/>
        </p:nvSpPr>
        <p:spPr>
          <a:xfrm>
            <a:off x="640080" y="5574792"/>
            <a:ext cx="256032" cy="256032"/>
          </a:xfrm>
          <a:prstGeom prst="ellipse">
            <a:avLst/>
          </a:prstGeom>
          <a:solidFill>
            <a:srgbClr val="C9CED6"/>
          </a:solidFill>
          <a:ln w="12700">
            <a:solidFill>
              <a:srgbClr val="C9CED6"/>
            </a:solidFill>
            <a:prstDash val="solid"/>
          </a:ln>
        </p:spPr>
      </p:sp>
      <p:sp>
        <p:nvSpPr>
          <p:cNvPr id="57" name="Text 54"/>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بَيْنُ الْبَيْتِ وَالْمَدْرَسَةِ</a:t>
            </a:r>
            <a:endParaRPr lang="ar-SA" sz="1700" dirty="0"/>
          </a:p>
        </p:txBody>
      </p:sp>
      <p:sp>
        <p:nvSpPr>
          <p:cNvPr id="59" name="Text 56"/>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Both nouns are in the locator phrase.</a:t>
            </a:r>
            <a:endParaRPr lang="en-US" sz="1050" dirty="0"/>
          </a:p>
        </p:txBody>
      </p:sp>
      <p:sp>
        <p:nvSpPr>
          <p:cNvPr id="60" name="Shape 57"/>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6313932"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I revise after dinner.</a:t>
            </a:r>
            <a:endParaRPr lang="en-US" sz="1250" dirty="0"/>
          </a:p>
        </p:txBody>
      </p:sp>
      <p:sp>
        <p:nvSpPr>
          <p:cNvPr id="64" name="Shape 61"/>
          <p:cNvSpPr/>
          <p:nvPr/>
        </p:nvSpPr>
        <p:spPr>
          <a:xfrm>
            <a:off x="6277356" y="4794504"/>
            <a:ext cx="5362956"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368796"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أُرَاجِعُ بَعْدَ الْعَشَاءِ.</a:t>
            </a:r>
            <a:endParaRPr lang="ar-SA" sz="1700" dirty="0"/>
          </a:p>
        </p:txBody>
      </p:sp>
      <p:sp>
        <p:nvSpPr>
          <p:cNvPr id="68" name="Shape 65"/>
          <p:cNvSpPr/>
          <p:nvPr/>
        </p:nvSpPr>
        <p:spPr>
          <a:xfrm>
            <a:off x="6368796"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أُرَاجِعُ خَلْفَ الْعَشَاءِ.</a:t>
            </a:r>
            <a:endParaRPr lang="ar-SA" sz="1700" dirty="0"/>
          </a:p>
        </p:txBody>
      </p:sp>
      <p:sp>
        <p:nvSpPr>
          <p:cNvPr id="71" name="Shape 68"/>
          <p:cNvSpPr/>
          <p:nvPr/>
        </p:nvSpPr>
        <p:spPr>
          <a:xfrm>
            <a:off x="6368796"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أُرَاجِعُ إِلَى الْعَشَاءِ.</a:t>
            </a:r>
            <a:endParaRPr lang="ar-SA" sz="1700" dirty="0"/>
          </a:p>
        </p:txBody>
      </p:sp>
      <p:sp>
        <p:nvSpPr>
          <p:cNvPr id="74" name="Text 71"/>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After in time = baʿda.</a:t>
            </a:r>
            <a:endParaRPr lang="en-US" sz="1050" dirty="0"/>
          </a:p>
        </p:txBody>
      </p:sp>
      <p:sp>
        <p:nvSpPr>
          <p:cNvPr id="75" name="Text 7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34</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GM-CP-02 · Conjunctions and Prepositions</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WATCH, THEN COPY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50" b="1" dirty="0">
                <a:solidFill>
                  <a:srgbClr val="1B3B6F"/>
                </a:solidFill>
                <a:latin typeface="Cambria" pitchFamily="34" charset="0"/>
                <a:cs typeface="Amiri" pitchFamily="2" charset="-78"/>
              </a:rPr>
              <a:t>Watch me describe my street and a route</a:t>
            </a:r>
            <a:endParaRPr lang="en-US" sz="22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شَاهِدْ ثُمَّ 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Conjunctions and Prepositions · GM-CP-02</a:t>
            </a:r>
            <a:endParaRPr lang="en-US" sz="850" dirty="0"/>
          </a:p>
        </p:txBody>
      </p:sp>
      <p:sp>
        <p:nvSpPr>
          <p:cNvPr id="15" name="Shape 12"/>
          <p:cNvSpPr/>
          <p:nvPr/>
        </p:nvSpPr>
        <p:spPr>
          <a:xfrm>
            <a:off x="9050274"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19688" y="1938528"/>
            <a:ext cx="384048" cy="384048"/>
          </a:xfrm>
          <a:prstGeom prst="ellipse">
            <a:avLst/>
          </a:prstGeom>
          <a:solidFill>
            <a:srgbClr val="6B4C9A"/>
          </a:solidFill>
          <a:ln w="12700">
            <a:solidFill>
              <a:srgbClr val="6B4C9A"/>
            </a:solidFill>
            <a:prstDash val="solid"/>
          </a:ln>
        </p:spPr>
      </p:sp>
      <p:sp>
        <p:nvSpPr>
          <p:cNvPr id="17" name="Text 14"/>
          <p:cNvSpPr txBox="1"/>
          <p:nvPr/>
        </p:nvSpPr>
        <p:spPr>
          <a:xfrm>
            <a:off x="11219688"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1</a:t>
            </a:r>
            <a:endParaRPr lang="en-US" sz="1400" dirty="0"/>
          </a:p>
        </p:txBody>
      </p:sp>
      <p:sp>
        <p:nvSpPr>
          <p:cNvPr id="18" name="Text 15"/>
          <p:cNvSpPr txBox="1"/>
          <p:nvPr/>
        </p:nvSpPr>
        <p:spPr>
          <a:xfrm>
            <a:off x="9187434"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Reference point</a:t>
            </a:r>
            <a:endParaRPr lang="en-US" sz="1250" dirty="0"/>
          </a:p>
        </p:txBody>
      </p:sp>
      <p:sp>
        <p:nvSpPr>
          <p:cNvPr id="19" name="Text 16"/>
          <p:cNvSpPr txBox="1"/>
          <p:nvPr/>
        </p:nvSpPr>
        <p:spPr>
          <a:xfrm>
            <a:off x="9160002"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الْمَكْتَبَةِ</a:t>
            </a:r>
            <a:endParaRPr lang="ar-SA" sz="2800" dirty="0"/>
          </a:p>
        </p:txBody>
      </p:sp>
      <p:sp>
        <p:nvSpPr>
          <p:cNvPr id="20" name="Text 17"/>
          <p:cNvSpPr txBox="1"/>
          <p:nvPr/>
        </p:nvSpPr>
        <p:spPr>
          <a:xfrm>
            <a:off x="9187434"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Start from a landmark.</a:t>
            </a:r>
            <a:endParaRPr lang="en-US" sz="1150" dirty="0"/>
          </a:p>
        </p:txBody>
      </p:sp>
      <p:sp>
        <p:nvSpPr>
          <p:cNvPr id="21" name="Text 18"/>
          <p:cNvSpPr txBox="1"/>
          <p:nvPr/>
        </p:nvSpPr>
        <p:spPr>
          <a:xfrm>
            <a:off x="8867394"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2" name="Shape 19"/>
          <p:cNvSpPr/>
          <p:nvPr/>
        </p:nvSpPr>
        <p:spPr>
          <a:xfrm>
            <a:off x="6185916"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8355330" y="1938528"/>
            <a:ext cx="384048" cy="384048"/>
          </a:xfrm>
          <a:prstGeom prst="ellipse">
            <a:avLst/>
          </a:prstGeom>
          <a:solidFill>
            <a:srgbClr val="6B4C9A"/>
          </a:solidFill>
          <a:ln w="12700">
            <a:solidFill>
              <a:srgbClr val="6B4C9A"/>
            </a:solidFill>
            <a:prstDash val="solid"/>
          </a:ln>
        </p:spPr>
      </p:sp>
      <p:sp>
        <p:nvSpPr>
          <p:cNvPr id="24" name="Text 21"/>
          <p:cNvSpPr txBox="1"/>
          <p:nvPr/>
        </p:nvSpPr>
        <p:spPr>
          <a:xfrm>
            <a:off x="8355330"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2</a:t>
            </a:r>
            <a:endParaRPr lang="en-US" sz="1400" dirty="0"/>
          </a:p>
        </p:txBody>
      </p:sp>
      <p:sp>
        <p:nvSpPr>
          <p:cNvPr id="25" name="Text 22"/>
          <p:cNvSpPr txBox="1"/>
          <p:nvPr/>
        </p:nvSpPr>
        <p:spPr>
          <a:xfrm>
            <a:off x="6323076"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Relation</a:t>
            </a:r>
            <a:endParaRPr lang="en-US" sz="1250" dirty="0"/>
          </a:p>
        </p:txBody>
      </p:sp>
      <p:sp>
        <p:nvSpPr>
          <p:cNvPr id="26" name="Text 23"/>
          <p:cNvSpPr txBox="1"/>
          <p:nvPr/>
        </p:nvSpPr>
        <p:spPr>
          <a:xfrm>
            <a:off x="6295644"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مُقَابِلَ</a:t>
            </a:r>
            <a:endParaRPr lang="ar-SA" sz="2800" dirty="0"/>
          </a:p>
        </p:txBody>
      </p:sp>
      <p:sp>
        <p:nvSpPr>
          <p:cNvPr id="27" name="Text 24"/>
          <p:cNvSpPr txBox="1"/>
          <p:nvPr/>
        </p:nvSpPr>
        <p:spPr>
          <a:xfrm>
            <a:off x="6323076"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Opposite.</a:t>
            </a:r>
            <a:endParaRPr lang="en-US" sz="1150" dirty="0"/>
          </a:p>
        </p:txBody>
      </p:sp>
      <p:sp>
        <p:nvSpPr>
          <p:cNvPr id="28" name="Text 25"/>
          <p:cNvSpPr txBox="1"/>
          <p:nvPr/>
        </p:nvSpPr>
        <p:spPr>
          <a:xfrm>
            <a:off x="6003036"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9" name="Shape 26"/>
          <p:cNvSpPr/>
          <p:nvPr/>
        </p:nvSpPr>
        <p:spPr>
          <a:xfrm>
            <a:off x="3321558"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490972" y="1938528"/>
            <a:ext cx="384048" cy="384048"/>
          </a:xfrm>
          <a:prstGeom prst="ellipse">
            <a:avLst/>
          </a:prstGeom>
          <a:solidFill>
            <a:srgbClr val="6B4C9A"/>
          </a:solidFill>
          <a:ln w="12700">
            <a:solidFill>
              <a:srgbClr val="6B4C9A"/>
            </a:solidFill>
            <a:prstDash val="solid"/>
          </a:ln>
        </p:spPr>
      </p:sp>
      <p:sp>
        <p:nvSpPr>
          <p:cNvPr id="31" name="Text 28"/>
          <p:cNvSpPr txBox="1"/>
          <p:nvPr/>
        </p:nvSpPr>
        <p:spPr>
          <a:xfrm>
            <a:off x="5490972"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3</a:t>
            </a:r>
            <a:endParaRPr lang="en-US" sz="1400" dirty="0"/>
          </a:p>
        </p:txBody>
      </p:sp>
      <p:sp>
        <p:nvSpPr>
          <p:cNvPr id="32" name="Text 29"/>
          <p:cNvSpPr txBox="1"/>
          <p:nvPr/>
        </p:nvSpPr>
        <p:spPr>
          <a:xfrm>
            <a:off x="3458718"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Next to it</a:t>
            </a:r>
            <a:endParaRPr lang="en-US" sz="1250" dirty="0"/>
          </a:p>
        </p:txBody>
      </p:sp>
      <p:sp>
        <p:nvSpPr>
          <p:cNvPr id="33" name="Text 30"/>
          <p:cNvSpPr txBox="1"/>
          <p:nvPr/>
        </p:nvSpPr>
        <p:spPr>
          <a:xfrm>
            <a:off x="3431286"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بِجَانِبِهِ</a:t>
            </a:r>
            <a:endParaRPr lang="ar-SA" sz="2800" dirty="0"/>
          </a:p>
        </p:txBody>
      </p:sp>
      <p:sp>
        <p:nvSpPr>
          <p:cNvPr id="34" name="Text 31"/>
          <p:cNvSpPr txBox="1"/>
          <p:nvPr/>
        </p:nvSpPr>
        <p:spPr>
          <a:xfrm>
            <a:off x="3458718"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Locator + pronoun.</a:t>
            </a:r>
            <a:endParaRPr lang="en-US" sz="1150" dirty="0"/>
          </a:p>
        </p:txBody>
      </p:sp>
      <p:sp>
        <p:nvSpPr>
          <p:cNvPr id="35" name="Text 32"/>
          <p:cNvSpPr txBox="1"/>
          <p:nvPr/>
        </p:nvSpPr>
        <p:spPr>
          <a:xfrm>
            <a:off x="3138678"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36" name="Shape 33"/>
          <p:cNvSpPr/>
          <p:nvPr/>
        </p:nvSpPr>
        <p:spPr>
          <a:xfrm>
            <a:off x="457200"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2626614" y="1938528"/>
            <a:ext cx="384048" cy="384048"/>
          </a:xfrm>
          <a:prstGeom prst="ellipse">
            <a:avLst/>
          </a:prstGeom>
          <a:solidFill>
            <a:srgbClr val="6B4C9A"/>
          </a:solidFill>
          <a:ln w="12700">
            <a:solidFill>
              <a:srgbClr val="6B4C9A"/>
            </a:solidFill>
            <a:prstDash val="solid"/>
          </a:ln>
        </p:spPr>
      </p:sp>
      <p:sp>
        <p:nvSpPr>
          <p:cNvPr id="38" name="Text 35"/>
          <p:cNvSpPr txBox="1"/>
          <p:nvPr/>
        </p:nvSpPr>
        <p:spPr>
          <a:xfrm>
            <a:off x="2626614"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4</a:t>
            </a:r>
            <a:endParaRPr lang="en-US" sz="1400" dirty="0"/>
          </a:p>
        </p:txBody>
      </p:sp>
      <p:sp>
        <p:nvSpPr>
          <p:cNvPr id="39" name="Text 36"/>
          <p:cNvSpPr txBox="1"/>
          <p:nvPr/>
        </p:nvSpPr>
        <p:spPr>
          <a:xfrm>
            <a:off x="594360"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Route</a:t>
            </a:r>
            <a:endParaRPr lang="en-US" sz="1250" dirty="0"/>
          </a:p>
        </p:txBody>
      </p:sp>
      <p:sp>
        <p:nvSpPr>
          <p:cNvPr id="40" name="Text 37"/>
          <p:cNvSpPr txBox="1"/>
          <p:nvPr/>
        </p:nvSpPr>
        <p:spPr>
          <a:xfrm>
            <a:off x="566928"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عِنْدَ الْمَسْجِدِ</a:t>
            </a:r>
            <a:endParaRPr lang="ar-SA" sz="2800" dirty="0"/>
          </a:p>
        </p:txBody>
      </p:sp>
      <p:sp>
        <p:nvSpPr>
          <p:cNvPr id="41" name="Text 38"/>
          <p:cNvSpPr txBox="1"/>
          <p:nvPr/>
        </p:nvSpPr>
        <p:spPr>
          <a:xfrm>
            <a:off x="594360"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Turn at the mosque.</a:t>
            </a:r>
            <a:endParaRPr lang="en-US" sz="1150" dirty="0"/>
          </a:p>
        </p:txBody>
      </p:sp>
      <p:sp>
        <p:nvSpPr>
          <p:cNvPr id="42" name="Shape 39"/>
          <p:cNvSpPr/>
          <p:nvPr/>
        </p:nvSpPr>
        <p:spPr>
          <a:xfrm>
            <a:off x="457200" y="4480560"/>
            <a:ext cx="11274552" cy="1828800"/>
          </a:xfrm>
          <a:prstGeom prst="roundRect">
            <a:avLst>
              <a:gd name="adj" fmla="val 4000"/>
            </a:avLst>
          </a:prstGeom>
          <a:solidFill>
            <a:srgbClr val="F1ECF8"/>
          </a:solidFill>
          <a:ln w="9525">
            <a:solidFill>
              <a:srgbClr val="CFC2E3"/>
            </a:solidFill>
            <a:prstDash val="solid"/>
          </a:ln>
          <a:effectLst>
            <a:outerShdw sx="100000" sy="100000" kx="0" ky="0" algn="bl" rotWithShape="0" blurRad="50800" dist="19050" dir="5400000">
              <a:srgbClr val="000000">
                <a:alpha val="10000"/>
              </a:srgbClr>
            </a:outerShdw>
          </a:effectLst>
        </p:spPr>
      </p:sp>
      <p:pic>
        <p:nvPicPr>
          <p:cNvPr id="43" name="Image 0" descr="preencoded.png">    </p:cNvPr>
          <p:cNvPicPr>
            <a:picLocks noChangeAspect="1"/>
          </p:cNvPicPr>
          <p:nvPr/>
        </p:nvPicPr>
        <p:blipFill>
          <a:blip r:embed="rId1"/>
          <a:stretch>
            <a:fillRect/>
          </a:stretch>
        </p:blipFill>
        <p:spPr>
          <a:xfrm>
            <a:off x="685800" y="4663440"/>
            <a:ext cx="457200" cy="457200"/>
          </a:xfrm>
          <a:prstGeom prst="rect">
            <a:avLst/>
          </a:prstGeom>
        </p:spPr>
      </p:pic>
      <p:sp>
        <p:nvSpPr>
          <p:cNvPr id="44" name="Text 40"/>
          <p:cNvSpPr txBox="1"/>
          <p:nvPr/>
        </p:nvSpPr>
        <p:spPr>
          <a:xfrm>
            <a:off x="1280160" y="4736592"/>
            <a:ext cx="3657600" cy="310896"/>
          </a:xfrm>
          <a:prstGeom prst="rect">
            <a:avLst/>
          </a:prstGeom>
          <a:noFill/>
          <a:ln/>
        </p:spPr>
        <p:txBody>
          <a:bodyPr wrap="square" lIns="0" tIns="0" rIns="0" bIns="0" rtlCol="0" anchor="ctr"/>
          <a:lstStyle/>
          <a:p>
            <a:pPr algn="l" indent="0" marL="0">
              <a:buNone/>
            </a:pPr>
            <a:r>
              <a:rPr lang="en-US" sz="1200" b="1" spc="200" kern="0" dirty="0">
                <a:solidFill>
                  <a:srgbClr val="6B4C9A"/>
                </a:solidFill>
                <a:latin typeface="Calibri" pitchFamily="34" charset="0"/>
                <a:cs typeface="Amiri" pitchFamily="2" charset="-78"/>
              </a:rPr>
              <a:t>COPY THIS INTO YOUR BOOK</a:t>
            </a:r>
            <a:endParaRPr lang="en-US" sz="1200" dirty="0"/>
          </a:p>
        </p:txBody>
      </p:sp>
      <p:sp>
        <p:nvSpPr>
          <p:cNvPr id="45" name="Shape 41"/>
          <p:cNvSpPr/>
          <p:nvPr/>
        </p:nvSpPr>
        <p:spPr>
          <a:xfrm>
            <a:off x="9528048" y="4736592"/>
            <a:ext cx="914400" cy="237744"/>
          </a:xfrm>
          <a:prstGeom prst="roundRect">
            <a:avLst>
              <a:gd name="adj" fmla="val 50000"/>
            </a:avLst>
          </a:prstGeom>
          <a:solidFill>
            <a:srgbClr val="0E7C86"/>
          </a:solidFill>
          <a:ln w="12700">
            <a:solidFill>
              <a:srgbClr val="0E7C86"/>
            </a:solidFill>
            <a:prstDash val="solid"/>
          </a:ln>
        </p:spPr>
      </p:sp>
      <p:sp>
        <p:nvSpPr>
          <p:cNvPr id="46" name="Text 42"/>
          <p:cNvSpPr txBox="1"/>
          <p:nvPr/>
        </p:nvSpPr>
        <p:spPr>
          <a:xfrm>
            <a:off x="9528048"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LOCATOR</a:t>
            </a:r>
            <a:endParaRPr lang="en-US" sz="800" dirty="0"/>
          </a:p>
        </p:txBody>
      </p:sp>
      <p:sp>
        <p:nvSpPr>
          <p:cNvPr id="47" name="Shape 43"/>
          <p:cNvSpPr/>
          <p:nvPr/>
        </p:nvSpPr>
        <p:spPr>
          <a:xfrm>
            <a:off x="10515600" y="4736592"/>
            <a:ext cx="914400" cy="237744"/>
          </a:xfrm>
          <a:prstGeom prst="roundRect">
            <a:avLst>
              <a:gd name="adj" fmla="val 50000"/>
            </a:avLst>
          </a:prstGeom>
          <a:solidFill>
            <a:srgbClr val="D6336C"/>
          </a:solidFill>
          <a:ln w="12700">
            <a:solidFill>
              <a:srgbClr val="D6336C"/>
            </a:solidFill>
            <a:prstDash val="solid"/>
          </a:ln>
        </p:spPr>
      </p:sp>
      <p:sp>
        <p:nvSpPr>
          <p:cNvPr id="48" name="Text 44"/>
          <p:cNvSpPr txBox="1"/>
          <p:nvPr/>
        </p:nvSpPr>
        <p:spPr>
          <a:xfrm>
            <a:off x="10515600"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GENITIVE NOUN</a:t>
            </a:r>
            <a:endParaRPr lang="en-US" sz="800" dirty="0"/>
          </a:p>
        </p:txBody>
      </p:sp>
      <p:sp>
        <p:nvSpPr>
          <p:cNvPr id="49" name="Text 45"/>
          <p:cNvSpPr txBox="1"/>
          <p:nvPr/>
        </p:nvSpPr>
        <p:spPr>
          <a:xfrm>
            <a:off x="685800" y="5029200"/>
            <a:ext cx="10817352" cy="731520"/>
          </a:xfrm>
          <a:prstGeom prst="rect">
            <a:avLst/>
          </a:prstGeom>
          <a:noFill/>
          <a:ln/>
        </p:spPr>
        <p:txBody>
          <a:bodyPr wrap="square" lIns="0" tIns="0" rIns="0" bIns="0" rtlCol="0" anchor="ctr"/>
          <a:lstStyle/>
          <a:p>
            <a:pPr rtl="1" algn="r" indent="0" marL="0">
              <a:buNone/>
            </a:pPr>
            <a:r>
              <a:rPr lang="ar-SA" altLang="en-US" sz="2400" b="1" dirty="0">
                <a:solidFill>
                  <a:srgbClr val="1B3B6F"/>
                </a:solidFill>
                <a:latin typeface="Amiri" pitchFamily="2" charset="-78"/>
                <a:ea typeface="Amiri" pitchFamily="2" charset="-78"/>
                <a:cs typeface="Amiri" pitchFamily="2" charset="-78"/>
              </a:rPr>
              <a:t>يَقَعُ الْبَنْكُ </a:t>
            </a:r>
            <a:pPr rtl="1" algn="r" indent="0" marL="0">
              <a:buNone/>
            </a:pPr>
            <a:r>
              <a:rPr lang="ar-SA" altLang="en-US" sz="2400" b="1" dirty="0">
                <a:solidFill>
                  <a:srgbClr val="0E7C86"/>
                </a:solidFill>
                <a:latin typeface="Amiri" pitchFamily="2" charset="-78"/>
                <a:ea typeface="Amiri" pitchFamily="2" charset="-78"/>
                <a:cs typeface="Amiri" pitchFamily="2" charset="-78"/>
              </a:rPr>
              <a:t>مُقَابِلَ</a:t>
            </a:r>
            <a:pPr rtl="1" algn="r" indent="0" marL="0">
              <a:buNone/>
            </a:pPr>
            <a:r>
              <a:rPr lang="ar-SA" altLang="en-US" sz="2400" b="1" dirty="0">
                <a:solidFill>
                  <a:srgbClr val="1B3B6F"/>
                </a:solidFill>
                <a:latin typeface="Amiri" pitchFamily="2" charset="-78"/>
                <a:cs typeface="Amiri" pitchFamily="2" charset="-78"/>
              </a:rPr>
              <a:t> </a:t>
            </a:r>
            <a:pPr rtl="1" algn="r" indent="0" marL="0">
              <a:buNone/>
            </a:pPr>
            <a:r>
              <a:rPr lang="ar-SA" altLang="en-US" sz="2400" b="1" dirty="0">
                <a:solidFill>
                  <a:srgbClr val="D6336C"/>
                </a:solidFill>
                <a:latin typeface="Amiri" pitchFamily="2" charset="-78"/>
                <a:ea typeface="Amiri" pitchFamily="2" charset="-78"/>
                <a:cs typeface="Amiri" pitchFamily="2" charset="-78"/>
              </a:rPr>
              <a:t>الْمَكْتَبَةِ</a:t>
            </a:r>
            <a:pPr rtl="1" algn="r" indent="0" marL="0">
              <a:buNone/>
            </a:pPr>
            <a:r>
              <a:rPr lang="ar-SA" altLang="en-US" sz="2400" b="1" dirty="0">
                <a:solidFill>
                  <a:srgbClr val="1B3B6F"/>
                </a:solidFill>
                <a:latin typeface="Amiri" pitchFamily="2" charset="-78"/>
                <a:ea typeface="Amiri" pitchFamily="2" charset="-78"/>
                <a:cs typeface="Amiri" pitchFamily="2" charset="-78"/>
              </a:rPr>
              <a:t>، وَالْمَقْهَى </a:t>
            </a:r>
            <a:pPr rtl="1" algn="r" indent="0" marL="0">
              <a:buNone/>
            </a:pPr>
            <a:r>
              <a:rPr lang="ar-SA" altLang="en-US" sz="2400" b="1" dirty="0">
                <a:solidFill>
                  <a:srgbClr val="0E7C86"/>
                </a:solidFill>
                <a:latin typeface="Amiri" pitchFamily="2" charset="-78"/>
                <a:ea typeface="Amiri" pitchFamily="2" charset="-78"/>
                <a:cs typeface="Amiri" pitchFamily="2" charset="-78"/>
              </a:rPr>
              <a:t>بِجَانِبِهِ</a:t>
            </a:r>
            <a:pPr rtl="1" algn="r" indent="0" marL="0">
              <a:buNone/>
            </a:pPr>
            <a:r>
              <a:rPr lang="ar-SA" altLang="en-US" sz="2400" b="1" dirty="0">
                <a:solidFill>
                  <a:srgbClr val="1B3B6F"/>
                </a:solidFill>
                <a:latin typeface="Amiri" pitchFamily="2" charset="-78"/>
                <a:ea typeface="Amiri" pitchFamily="2" charset="-78"/>
                <a:cs typeface="Amiri" pitchFamily="2" charset="-78"/>
              </a:rPr>
              <a:t>. سِرْ إِلَى نِهَايَةِ الشَّارِعِ، ثُمَّ انْعَطِفْ يَمِينًا </a:t>
            </a:r>
            <a:pPr rtl="1" algn="r" indent="0" marL="0">
              <a:buNone/>
            </a:pPr>
            <a:r>
              <a:rPr lang="ar-SA" altLang="en-US" sz="2400" b="1" dirty="0">
                <a:solidFill>
                  <a:srgbClr val="0E7C86"/>
                </a:solidFill>
                <a:latin typeface="Amiri" pitchFamily="2" charset="-78"/>
                <a:ea typeface="Amiri" pitchFamily="2" charset="-78"/>
                <a:cs typeface="Amiri" pitchFamily="2" charset="-78"/>
              </a:rPr>
              <a:t>عِنْدَ</a:t>
            </a:r>
            <a:pPr rtl="1" algn="r" indent="0" marL="0">
              <a:buNone/>
            </a:pPr>
            <a:r>
              <a:rPr lang="ar-SA" altLang="en-US" sz="2400" b="1" dirty="0">
                <a:solidFill>
                  <a:srgbClr val="1B3B6F"/>
                </a:solidFill>
                <a:latin typeface="Amiri" pitchFamily="2" charset="-78"/>
                <a:cs typeface="Amiri" pitchFamily="2" charset="-78"/>
              </a:rPr>
              <a:t> </a:t>
            </a:r>
            <a:pPr rtl="1" algn="r" indent="0" marL="0">
              <a:buNone/>
            </a:pPr>
            <a:r>
              <a:rPr lang="ar-SA" altLang="en-US" sz="2400" b="1" dirty="0">
                <a:solidFill>
                  <a:srgbClr val="D6336C"/>
                </a:solidFill>
                <a:latin typeface="Amiri" pitchFamily="2" charset="-78"/>
                <a:ea typeface="Amiri" pitchFamily="2" charset="-78"/>
                <a:cs typeface="Amiri" pitchFamily="2" charset="-78"/>
              </a:rPr>
              <a:t>الْمَسْجِدِ</a:t>
            </a:r>
            <a:pPr rtl="1" algn="r" indent="0" marL="0">
              <a:buNone/>
            </a:pPr>
            <a:r>
              <a:rPr lang="ar-SA" altLang="en-US" sz="2400" b="1" dirty="0">
                <a:solidFill>
                  <a:srgbClr val="1B3B6F"/>
                </a:solidFill>
                <a:latin typeface="Amiri" pitchFamily="2" charset="-78"/>
                <a:cs typeface="Amiri" pitchFamily="2" charset="-78"/>
              </a:rPr>
              <a:t>.</a:t>
            </a:r>
            <a:endParaRPr lang="ar-SA" sz="2400" dirty="0"/>
          </a:p>
        </p:txBody>
      </p:sp>
      <p:sp>
        <p:nvSpPr>
          <p:cNvPr id="50" name="Text 46"/>
          <p:cNvSpPr txBox="1"/>
          <p:nvPr/>
        </p:nvSpPr>
        <p:spPr>
          <a:xfrm>
            <a:off x="685800" y="5760720"/>
            <a:ext cx="10817352" cy="365760"/>
          </a:xfrm>
          <a:prstGeom prst="rect">
            <a:avLst/>
          </a:prstGeom>
          <a:noFill/>
          <a:ln/>
        </p:spPr>
        <p:txBody>
          <a:bodyPr wrap="square" lIns="0" tIns="0" rIns="0" bIns="0" rtlCol="0" anchor="ctr"/>
          <a:lstStyle/>
          <a:p>
            <a:pPr algn="r" indent="0" marL="0">
              <a:buNone/>
            </a:pPr>
            <a:r>
              <a:rPr lang="en-US" sz="1300" i="1" dirty="0">
                <a:solidFill>
                  <a:srgbClr val="5A6472"/>
                </a:solidFill>
                <a:latin typeface="Calibri" pitchFamily="34" charset="0"/>
                <a:cs typeface="Amiri" pitchFamily="2" charset="-78"/>
              </a:rPr>
              <a:t>The bank is opposite the library, and the café is next to it. Walk to the end of the street, then turn right at the mosque.</a:t>
            </a:r>
            <a:endParaRPr lang="en-US" sz="1300" dirty="0"/>
          </a:p>
        </p:txBody>
      </p:sp>
      <p:sp>
        <p:nvSpPr>
          <p:cNvPr id="51"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34</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GM-CP-02 · Conjunctions and Prepositions</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MODEL SENTENCES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Sentences to borrow</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جُمَلٌ نَمُوذَجِيَّةٌ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Conjunctions and Prepositions · GM-CP-02</a:t>
            </a:r>
            <a:endParaRPr lang="en-US" sz="850" dirty="0"/>
          </a:p>
        </p:txBody>
      </p:sp>
      <p:sp>
        <p:nvSpPr>
          <p:cNvPr id="15" name="Shape 12"/>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01400" y="2123694"/>
            <a:ext cx="402336" cy="402336"/>
          </a:xfrm>
          <a:prstGeom prst="ellipse">
            <a:avLst/>
          </a:prstGeom>
          <a:solidFill>
            <a:srgbClr val="1B3B6F"/>
          </a:solidFill>
          <a:ln w="12700">
            <a:solidFill>
              <a:srgbClr val="1B3B6F"/>
            </a:solidFill>
            <a:prstDash val="solid"/>
          </a:ln>
        </p:spPr>
      </p:sp>
      <p:sp>
        <p:nvSpPr>
          <p:cNvPr id="17" name="Text 14"/>
          <p:cNvSpPr txBox="1"/>
          <p:nvPr/>
        </p:nvSpPr>
        <p:spPr>
          <a:xfrm>
            <a:off x="11201400" y="212369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572000" y="1847088"/>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الصُّورَةُ فَوْقَ السَّرِيرِ.</a:t>
            </a:r>
            <a:endParaRPr lang="ar-SA" sz="2600" dirty="0"/>
          </a:p>
        </p:txBody>
      </p:sp>
      <p:sp>
        <p:nvSpPr>
          <p:cNvPr id="19" name="Text 16"/>
          <p:cNvSpPr txBox="1"/>
          <p:nvPr/>
        </p:nvSpPr>
        <p:spPr>
          <a:xfrm>
            <a:off x="685800" y="1856232"/>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The picture is above the bed.</a:t>
            </a:r>
            <a:endParaRPr lang="en-US" sz="1250" dirty="0"/>
          </a:p>
          <a:p>
            <a:pPr indent="0" marL="0">
              <a:buNone/>
            </a:pPr>
            <a:r>
              <a:rPr lang="en-US" sz="1050" i="1" dirty="0">
                <a:solidFill>
                  <a:srgbClr val="8A6D1E"/>
                </a:solidFill>
                <a:latin typeface="Calibri" pitchFamily="34" charset="0"/>
                <a:cs typeface="Amiri" pitchFamily="2" charset="-78"/>
              </a:rPr>
              <a:t>fawqa.</a:t>
            </a:r>
            <a:endParaRPr lang="en-US" sz="1250" dirty="0"/>
          </a:p>
        </p:txBody>
      </p:sp>
      <p:sp>
        <p:nvSpPr>
          <p:cNvPr id="20" name="Shape 17"/>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201400" y="3280410"/>
            <a:ext cx="402336" cy="402336"/>
          </a:xfrm>
          <a:prstGeom prst="ellipse">
            <a:avLst/>
          </a:prstGeom>
          <a:solidFill>
            <a:srgbClr val="1B3B6F"/>
          </a:solidFill>
          <a:ln w="12700">
            <a:solidFill>
              <a:srgbClr val="1B3B6F"/>
            </a:solidFill>
            <a:prstDash val="solid"/>
          </a:ln>
        </p:spPr>
      </p:sp>
      <p:sp>
        <p:nvSpPr>
          <p:cNvPr id="22" name="Text 19"/>
          <p:cNvSpPr txBox="1"/>
          <p:nvPr/>
        </p:nvSpPr>
        <p:spPr>
          <a:xfrm>
            <a:off x="11201400" y="328041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572000" y="3003804"/>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الْمَوْقِفُ خَلْفَ الْمَتْجَرِ.</a:t>
            </a:r>
            <a:endParaRPr lang="ar-SA" sz="2600" dirty="0"/>
          </a:p>
        </p:txBody>
      </p:sp>
      <p:sp>
        <p:nvSpPr>
          <p:cNvPr id="24" name="Text 21"/>
          <p:cNvSpPr txBox="1"/>
          <p:nvPr/>
        </p:nvSpPr>
        <p:spPr>
          <a:xfrm>
            <a:off x="685800" y="3012948"/>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The bus stop is behind the shop.</a:t>
            </a:r>
            <a:endParaRPr lang="en-US" sz="1250" dirty="0"/>
          </a:p>
          <a:p>
            <a:pPr indent="0" marL="0">
              <a:buNone/>
            </a:pPr>
            <a:r>
              <a:rPr lang="en-US" sz="1050" i="1" dirty="0">
                <a:solidFill>
                  <a:srgbClr val="8A6D1E"/>
                </a:solidFill>
                <a:latin typeface="Calibri" pitchFamily="34" charset="0"/>
                <a:cs typeface="Amiri" pitchFamily="2" charset="-78"/>
              </a:rPr>
              <a:t>khalfa.</a:t>
            </a:r>
            <a:endParaRPr lang="en-US" sz="125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201400" y="4437126"/>
            <a:ext cx="402336" cy="402336"/>
          </a:xfrm>
          <a:prstGeom prst="ellipse">
            <a:avLst/>
          </a:prstGeom>
          <a:solidFill>
            <a:srgbClr val="1B3B6F"/>
          </a:solidFill>
          <a:ln w="12700">
            <a:solidFill>
              <a:srgbClr val="1B3B6F"/>
            </a:solidFill>
            <a:prstDash val="solid"/>
          </a:ln>
        </p:spPr>
      </p:sp>
      <p:sp>
        <p:nvSpPr>
          <p:cNvPr id="27" name="Text 24"/>
          <p:cNvSpPr txBox="1"/>
          <p:nvPr/>
        </p:nvSpPr>
        <p:spPr>
          <a:xfrm>
            <a:off x="11201400" y="443712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572000" y="4160520"/>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تُوجَدُ أَشْجَارٌ حَوْلَ الْبَيْتِ.</a:t>
            </a:r>
            <a:endParaRPr lang="ar-SA" sz="2600" dirty="0"/>
          </a:p>
        </p:txBody>
      </p:sp>
      <p:sp>
        <p:nvSpPr>
          <p:cNvPr id="29" name="Text 26"/>
          <p:cNvSpPr txBox="1"/>
          <p:nvPr/>
        </p:nvSpPr>
        <p:spPr>
          <a:xfrm>
            <a:off x="685800" y="4169664"/>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There are trees around the house.</a:t>
            </a:r>
            <a:endParaRPr lang="en-US" sz="1250" dirty="0"/>
          </a:p>
          <a:p>
            <a:pPr indent="0" marL="0">
              <a:buNone/>
            </a:pPr>
            <a:r>
              <a:rPr lang="en-US" sz="1050" i="1" dirty="0">
                <a:solidFill>
                  <a:srgbClr val="8A6D1E"/>
                </a:solidFill>
                <a:latin typeface="Calibri" pitchFamily="34" charset="0"/>
                <a:cs typeface="Amiri" pitchFamily="2" charset="-78"/>
              </a:rPr>
              <a:t>ḥawla.</a:t>
            </a:r>
            <a:endParaRPr lang="en-US" sz="1250" dirty="0"/>
          </a:p>
        </p:txBody>
      </p:sp>
      <p:sp>
        <p:nvSpPr>
          <p:cNvPr id="30" name="Shape 27"/>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11201400" y="5593842"/>
            <a:ext cx="402336" cy="402336"/>
          </a:xfrm>
          <a:prstGeom prst="ellipse">
            <a:avLst/>
          </a:prstGeom>
          <a:solidFill>
            <a:srgbClr val="1B3B6F"/>
          </a:solidFill>
          <a:ln w="12700">
            <a:solidFill>
              <a:srgbClr val="1B3B6F"/>
            </a:solidFill>
            <a:prstDash val="solid"/>
          </a:ln>
        </p:spPr>
      </p:sp>
      <p:sp>
        <p:nvSpPr>
          <p:cNvPr id="32" name="Text 29"/>
          <p:cNvSpPr txBox="1"/>
          <p:nvPr/>
        </p:nvSpPr>
        <p:spPr>
          <a:xfrm>
            <a:off x="11201400" y="5593842"/>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4</a:t>
            </a:r>
            <a:endParaRPr lang="en-US" sz="1300" dirty="0"/>
          </a:p>
        </p:txBody>
      </p:sp>
      <p:sp>
        <p:nvSpPr>
          <p:cNvPr id="33" name="Text 30"/>
          <p:cNvSpPr txBox="1"/>
          <p:nvPr/>
        </p:nvSpPr>
        <p:spPr>
          <a:xfrm>
            <a:off x="4572000" y="5317236"/>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لَا أَسْتَعْمِلُ هَاتِفِي أَثْنَاءَ الدَّرْسِ.</a:t>
            </a:r>
            <a:endParaRPr lang="ar-SA" sz="2600" dirty="0"/>
          </a:p>
        </p:txBody>
      </p:sp>
      <p:sp>
        <p:nvSpPr>
          <p:cNvPr id="34" name="Text 31"/>
          <p:cNvSpPr txBox="1"/>
          <p:nvPr/>
        </p:nvSpPr>
        <p:spPr>
          <a:xfrm>
            <a:off x="685800" y="5326380"/>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I do not use my phone during the lesson.</a:t>
            </a:r>
            <a:endParaRPr lang="en-US" sz="1250" dirty="0"/>
          </a:p>
          <a:p>
            <a:pPr indent="0" marL="0">
              <a:buNone/>
            </a:pPr>
            <a:r>
              <a:rPr lang="en-US" sz="1050" i="1" dirty="0">
                <a:solidFill>
                  <a:srgbClr val="8A6D1E"/>
                </a:solidFill>
                <a:latin typeface="Calibri" pitchFamily="34" charset="0"/>
                <a:cs typeface="Amiri" pitchFamily="2" charset="-78"/>
              </a:rPr>
              <a:t>Time.</a:t>
            </a:r>
            <a:endParaRPr lang="en-US" sz="12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34</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GM-CP-02 · Conjunctions and Prepositions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READ THE CLUE, CHOOSE THE LOCATOR (WEBSITE GAME)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Where is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أَيْنَ هُوَ؟</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Conjunctions and Prepositions · GM-CP-02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759952" y="1810512"/>
            <a:ext cx="28986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Locator</a:t>
            </a:r>
            <a:endParaRPr lang="en-US" sz="1100" dirty="0"/>
          </a:p>
        </p:txBody>
      </p:sp>
      <p:sp>
        <p:nvSpPr>
          <p:cNvPr id="17" name="Text 14"/>
          <p:cNvSpPr txBox="1"/>
          <p:nvPr/>
        </p:nvSpPr>
        <p:spPr>
          <a:xfrm>
            <a:off x="4187952" y="1810512"/>
            <a:ext cx="44256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Arabic</a:t>
            </a:r>
            <a:endParaRPr lang="en-US" sz="1100" dirty="0"/>
          </a:p>
        </p:txBody>
      </p:sp>
      <p:sp>
        <p:nvSpPr>
          <p:cNvPr id="18" name="Text 15"/>
          <p:cNvSpPr txBox="1"/>
          <p:nvPr/>
        </p:nvSpPr>
        <p:spPr>
          <a:xfrm>
            <a:off x="530352" y="1810512"/>
            <a:ext cx="35112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Clue</a:t>
            </a:r>
            <a:endParaRPr lang="en-US" sz="1100" dirty="0"/>
          </a:p>
        </p:txBody>
      </p:sp>
      <p:sp>
        <p:nvSpPr>
          <p:cNvPr id="19" name="Shape 16"/>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0" name="Text 17"/>
          <p:cNvSpPr txBox="1"/>
          <p:nvPr/>
        </p:nvSpPr>
        <p:spPr>
          <a:xfrm>
            <a:off x="8796528" y="2267712"/>
            <a:ext cx="286207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taḥta</a:t>
            </a:r>
            <a:endParaRPr lang="en-US" sz="1100" dirty="0"/>
          </a:p>
        </p:txBody>
      </p:sp>
      <p:sp>
        <p:nvSpPr>
          <p:cNvPr id="21" name="Text 18"/>
          <p:cNvSpPr txBox="1"/>
          <p:nvPr/>
        </p:nvSpPr>
        <p:spPr>
          <a:xfrm>
            <a:off x="4206240" y="2267712"/>
            <a:ext cx="438912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الْحَقِيبَةُ تَحْتَ الْكُرْسِيِّ.</a:t>
            </a:r>
            <a:endParaRPr lang="ar-SA" sz="2400" dirty="0"/>
          </a:p>
        </p:txBody>
      </p:sp>
      <p:sp>
        <p:nvSpPr>
          <p:cNvPr id="22" name="Text 19"/>
          <p:cNvSpPr txBox="1"/>
          <p:nvPr/>
        </p:nvSpPr>
        <p:spPr>
          <a:xfrm>
            <a:off x="566928" y="2267712"/>
            <a:ext cx="34747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bag is under the chair.</a:t>
            </a:r>
            <a:endParaRPr lang="en-US" sz="11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6" name="Text 23"/>
          <p:cNvSpPr txBox="1"/>
          <p:nvPr/>
        </p:nvSpPr>
        <p:spPr>
          <a:xfrm>
            <a:off x="8796528" y="2881884"/>
            <a:ext cx="286207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khalfa</a:t>
            </a:r>
            <a:endParaRPr lang="en-US" sz="1100" dirty="0"/>
          </a:p>
        </p:txBody>
      </p:sp>
      <p:sp>
        <p:nvSpPr>
          <p:cNvPr id="27" name="Text 24"/>
          <p:cNvSpPr txBox="1"/>
          <p:nvPr/>
        </p:nvSpPr>
        <p:spPr>
          <a:xfrm>
            <a:off x="4206240" y="2881884"/>
            <a:ext cx="438912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الْحَدِيقَةُ خَلْفَ الْبَيْتِ.</a:t>
            </a:r>
            <a:endParaRPr lang="ar-SA" sz="2400" dirty="0"/>
          </a:p>
        </p:txBody>
      </p:sp>
      <p:sp>
        <p:nvSpPr>
          <p:cNvPr id="28" name="Text 25"/>
          <p:cNvSpPr txBox="1"/>
          <p:nvPr/>
        </p:nvSpPr>
        <p:spPr>
          <a:xfrm>
            <a:off x="566928" y="2881884"/>
            <a:ext cx="34747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garden is behind the house.</a:t>
            </a:r>
            <a:endParaRPr lang="en-US" sz="1100" dirty="0"/>
          </a:p>
        </p:txBody>
      </p:sp>
      <p:sp>
        <p:nvSpPr>
          <p:cNvPr id="29" name="Shape 26"/>
          <p:cNvSpPr/>
          <p:nvPr/>
        </p:nvSpPr>
        <p:spPr>
          <a:xfrm>
            <a:off x="11091672" y="2927604"/>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292760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32" name="Text 29"/>
          <p:cNvSpPr txBox="1"/>
          <p:nvPr/>
        </p:nvSpPr>
        <p:spPr>
          <a:xfrm>
            <a:off x="8796528" y="3496056"/>
            <a:ext cx="286207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bi-jānibi</a:t>
            </a:r>
            <a:endParaRPr lang="en-US" sz="1100" dirty="0"/>
          </a:p>
        </p:txBody>
      </p:sp>
      <p:sp>
        <p:nvSpPr>
          <p:cNvPr id="33" name="Text 30"/>
          <p:cNvSpPr txBox="1"/>
          <p:nvPr/>
        </p:nvSpPr>
        <p:spPr>
          <a:xfrm>
            <a:off x="4206240" y="3496056"/>
            <a:ext cx="438912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الْمَدْرَسَةُ بِجَانِبِ الْمَسْجِدِ.</a:t>
            </a:r>
            <a:endParaRPr lang="ar-SA" sz="2400" dirty="0"/>
          </a:p>
        </p:txBody>
      </p:sp>
      <p:sp>
        <p:nvSpPr>
          <p:cNvPr id="34" name="Text 31"/>
          <p:cNvSpPr txBox="1"/>
          <p:nvPr/>
        </p:nvSpPr>
        <p:spPr>
          <a:xfrm>
            <a:off x="566928" y="3496056"/>
            <a:ext cx="34747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school is beside the mosque.</a:t>
            </a:r>
            <a:endParaRPr lang="en-US" sz="1100" dirty="0"/>
          </a:p>
        </p:txBody>
      </p:sp>
      <p:sp>
        <p:nvSpPr>
          <p:cNvPr id="35" name="Shape 32"/>
          <p:cNvSpPr/>
          <p:nvPr/>
        </p:nvSpPr>
        <p:spPr>
          <a:xfrm>
            <a:off x="11091672" y="3541776"/>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54177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38" name="Text 35"/>
          <p:cNvSpPr txBox="1"/>
          <p:nvPr/>
        </p:nvSpPr>
        <p:spPr>
          <a:xfrm>
            <a:off x="8796528" y="4110228"/>
            <a:ext cx="286207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muqābila</a:t>
            </a:r>
            <a:endParaRPr lang="en-US" sz="1100" dirty="0"/>
          </a:p>
        </p:txBody>
      </p:sp>
      <p:sp>
        <p:nvSpPr>
          <p:cNvPr id="39" name="Text 36"/>
          <p:cNvSpPr txBox="1"/>
          <p:nvPr/>
        </p:nvSpPr>
        <p:spPr>
          <a:xfrm>
            <a:off x="4206240" y="4110228"/>
            <a:ext cx="438912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الصَّيْدَلِيَّةُ مُقَابِلَ الْمُسْتَشْفَى.</a:t>
            </a:r>
            <a:endParaRPr lang="ar-SA" sz="2400" dirty="0"/>
          </a:p>
        </p:txBody>
      </p:sp>
      <p:sp>
        <p:nvSpPr>
          <p:cNvPr id="40" name="Text 37"/>
          <p:cNvSpPr txBox="1"/>
          <p:nvPr/>
        </p:nvSpPr>
        <p:spPr>
          <a:xfrm>
            <a:off x="566928" y="4110228"/>
            <a:ext cx="34747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pharmacy is opposite the hospital.</a:t>
            </a:r>
            <a:endParaRPr lang="en-US" sz="1100" dirty="0"/>
          </a:p>
        </p:txBody>
      </p:sp>
      <p:sp>
        <p:nvSpPr>
          <p:cNvPr id="41" name="Shape 38"/>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42" name="Text 39"/>
          <p:cNvSpPr txBox="1"/>
          <p:nvPr/>
        </p:nvSpPr>
        <p:spPr>
          <a:xfrm>
            <a:off x="8796528" y="4724400"/>
            <a:ext cx="286207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bayna … wa-</a:t>
            </a:r>
            <a:endParaRPr lang="en-US" sz="1100" dirty="0"/>
          </a:p>
        </p:txBody>
      </p:sp>
      <p:sp>
        <p:nvSpPr>
          <p:cNvPr id="43" name="Text 40"/>
          <p:cNvSpPr txBox="1"/>
          <p:nvPr/>
        </p:nvSpPr>
        <p:spPr>
          <a:xfrm>
            <a:off x="4206240" y="4724400"/>
            <a:ext cx="438912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بَيْنَ الْبَنْكِ وَالْمَتْجَرِ</a:t>
            </a:r>
            <a:endParaRPr lang="ar-SA" sz="2400" dirty="0"/>
          </a:p>
        </p:txBody>
      </p:sp>
      <p:sp>
        <p:nvSpPr>
          <p:cNvPr id="44" name="Text 41"/>
          <p:cNvSpPr txBox="1"/>
          <p:nvPr/>
        </p:nvSpPr>
        <p:spPr>
          <a:xfrm>
            <a:off x="566928" y="4724400"/>
            <a:ext cx="34747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between the bank and the shop</a:t>
            </a:r>
            <a:endParaRPr lang="en-US" sz="1100" dirty="0"/>
          </a:p>
        </p:txBody>
      </p:sp>
      <p:sp>
        <p:nvSpPr>
          <p:cNvPr id="45" name="Shape 42"/>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46" name="Text 43"/>
          <p:cNvSpPr txBox="1"/>
          <p:nvPr/>
        </p:nvSpPr>
        <p:spPr>
          <a:xfrm>
            <a:off x="8796528" y="5338572"/>
            <a:ext cx="286207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fixed phrase</a:t>
            </a:r>
            <a:endParaRPr lang="en-US" sz="1100" dirty="0"/>
          </a:p>
        </p:txBody>
      </p:sp>
      <p:sp>
        <p:nvSpPr>
          <p:cNvPr id="47" name="Text 44"/>
          <p:cNvSpPr txBox="1"/>
          <p:nvPr/>
        </p:nvSpPr>
        <p:spPr>
          <a:xfrm>
            <a:off x="4206240" y="5338572"/>
            <a:ext cx="438912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بِالْقُرْبِ مِنَ الْمَحَطَّةِ</a:t>
            </a:r>
            <a:endParaRPr lang="ar-SA" sz="2400" dirty="0"/>
          </a:p>
        </p:txBody>
      </p:sp>
      <p:sp>
        <p:nvSpPr>
          <p:cNvPr id="48" name="Text 45"/>
          <p:cNvSpPr txBox="1"/>
          <p:nvPr/>
        </p:nvSpPr>
        <p:spPr>
          <a:xfrm>
            <a:off x="566928" y="5338572"/>
            <a:ext cx="34747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near the station</a:t>
            </a:r>
            <a:endParaRPr lang="en-US" sz="11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Website game: read each clue and select the locator that represents the relationship.</a:t>
            </a:r>
            <a:endParaRPr lang="en-US" sz="11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34</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GM-CP-02 · Conjunctions and Prepositions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SORT IT · PLACE OR TIME?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Where, or when?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مَكَانٌ أَمْ زَمَانٌ؟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Conjunctions and Prepositions · GM-CP-02</a:t>
            </a:r>
            <a:endParaRPr lang="en-US" sz="850" dirty="0"/>
          </a:p>
        </p:txBody>
      </p:sp>
      <p:sp>
        <p:nvSpPr>
          <p:cNvPr id="15" name="Shape 12"/>
          <p:cNvSpPr/>
          <p:nvPr/>
        </p:nvSpPr>
        <p:spPr>
          <a:xfrm>
            <a:off x="9015984"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9107424"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أَمَامَ الْبَيْتِ</a:t>
            </a:r>
            <a:endParaRPr lang="ar-SA" sz="1800" dirty="0"/>
          </a:p>
        </p:txBody>
      </p:sp>
      <p:sp>
        <p:nvSpPr>
          <p:cNvPr id="17" name="Shape 14"/>
          <p:cNvSpPr/>
          <p:nvPr/>
        </p:nvSpPr>
        <p:spPr>
          <a:xfrm>
            <a:off x="6163056"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254496"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خَلْفَ الْمَدْرَسَةِ</a:t>
            </a:r>
            <a:endParaRPr lang="ar-SA" sz="1800" dirty="0"/>
          </a:p>
        </p:txBody>
      </p:sp>
      <p:sp>
        <p:nvSpPr>
          <p:cNvPr id="19" name="Shape 16"/>
          <p:cNvSpPr/>
          <p:nvPr/>
        </p:nvSpPr>
        <p:spPr>
          <a:xfrm>
            <a:off x="3310128"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3401568"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تَحْتَ الْكُرْسِيِّ</a:t>
            </a:r>
            <a:endParaRPr lang="ar-SA" sz="1800" dirty="0"/>
          </a:p>
        </p:txBody>
      </p:sp>
      <p:sp>
        <p:nvSpPr>
          <p:cNvPr id="21" name="Shape 18"/>
          <p:cNvSpPr/>
          <p:nvPr/>
        </p:nvSpPr>
        <p:spPr>
          <a:xfrm>
            <a:off x="457200"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548640"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مُقَابِلَ الْفُنْدُقِ</a:t>
            </a:r>
            <a:endParaRPr lang="ar-SA" sz="1800" dirty="0"/>
          </a:p>
        </p:txBody>
      </p:sp>
      <p:sp>
        <p:nvSpPr>
          <p:cNvPr id="23" name="Shape 20"/>
          <p:cNvSpPr/>
          <p:nvPr/>
        </p:nvSpPr>
        <p:spPr>
          <a:xfrm>
            <a:off x="9015984"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9107424"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قَبْلَ السَّابِعَةِ</a:t>
            </a:r>
            <a:endParaRPr lang="ar-SA" sz="1800" dirty="0"/>
          </a:p>
        </p:txBody>
      </p:sp>
      <p:sp>
        <p:nvSpPr>
          <p:cNvPr id="25" name="Shape 22"/>
          <p:cNvSpPr/>
          <p:nvPr/>
        </p:nvSpPr>
        <p:spPr>
          <a:xfrm>
            <a:off x="6163056"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254496"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بَعْدَ الْغَدَاءِ</a:t>
            </a:r>
            <a:endParaRPr lang="ar-SA" sz="1800" dirty="0"/>
          </a:p>
        </p:txBody>
      </p:sp>
      <p:sp>
        <p:nvSpPr>
          <p:cNvPr id="27" name="Shape 24"/>
          <p:cNvSpPr/>
          <p:nvPr/>
        </p:nvSpPr>
        <p:spPr>
          <a:xfrm>
            <a:off x="3310128"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3401568"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أَثْنَاءَ الدَّرْسِ</a:t>
            </a:r>
            <a:endParaRPr lang="ar-SA" sz="1800" dirty="0"/>
          </a:p>
        </p:txBody>
      </p:sp>
      <p:sp>
        <p:nvSpPr>
          <p:cNvPr id="29" name="Shape 26"/>
          <p:cNvSpPr/>
          <p:nvPr/>
        </p:nvSpPr>
        <p:spPr>
          <a:xfrm>
            <a:off x="457200"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548640"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خِلَالَ الْعُطْلَةِ</a:t>
            </a:r>
            <a:endParaRPr lang="ar-SA" sz="1800" dirty="0"/>
          </a:p>
        </p:txBody>
      </p:sp>
      <p:sp>
        <p:nvSpPr>
          <p:cNvPr id="31" name="Shape 28"/>
          <p:cNvSpPr/>
          <p:nvPr/>
        </p:nvSpPr>
        <p:spPr>
          <a:xfrm>
            <a:off x="6185916" y="3017520"/>
            <a:ext cx="5545836" cy="3291840"/>
          </a:xfrm>
          <a:prstGeom prst="roundRect">
            <a:avLst>
              <a:gd name="adj" fmla="val 2222"/>
            </a:avLst>
          </a:prstGeom>
          <a:solidFill>
            <a:srgbClr val="EEF3FA"/>
          </a:solidFill>
          <a:ln w="9525">
            <a:solidFill>
              <a:srgbClr val="C9D6EA"/>
            </a:solidFill>
            <a:prstDash val="solid"/>
          </a:ln>
        </p:spPr>
      </p:sp>
      <p:sp>
        <p:nvSpPr>
          <p:cNvPr id="32" name="Shape 29"/>
          <p:cNvSpPr/>
          <p:nvPr/>
        </p:nvSpPr>
        <p:spPr>
          <a:xfrm>
            <a:off x="6323076" y="3127248"/>
            <a:ext cx="5271516" cy="310896"/>
          </a:xfrm>
          <a:prstGeom prst="roundRect">
            <a:avLst>
              <a:gd name="adj" fmla="val 50000"/>
            </a:avLst>
          </a:prstGeom>
          <a:solidFill>
            <a:srgbClr val="2F6FB0"/>
          </a:solidFill>
          <a:ln w="12700">
            <a:solidFill>
              <a:srgbClr val="2F6FB0"/>
            </a:solidFill>
            <a:prstDash val="solid"/>
          </a:ln>
        </p:spPr>
      </p:sp>
      <p:sp>
        <p:nvSpPr>
          <p:cNvPr id="33" name="Text 30"/>
          <p:cNvSpPr txBox="1"/>
          <p:nvPr/>
        </p:nvSpPr>
        <p:spPr>
          <a:xfrm>
            <a:off x="6323076" y="3127248"/>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Place</a:t>
            </a:r>
            <a:endParaRPr lang="en-US" sz="950" dirty="0"/>
          </a:p>
        </p:txBody>
      </p:sp>
      <p:sp>
        <p:nvSpPr>
          <p:cNvPr id="34" name="Shape 31"/>
          <p:cNvSpPr/>
          <p:nvPr/>
        </p:nvSpPr>
        <p:spPr>
          <a:xfrm>
            <a:off x="457200" y="3017520"/>
            <a:ext cx="5545836" cy="3291840"/>
          </a:xfrm>
          <a:prstGeom prst="roundRect">
            <a:avLst>
              <a:gd name="adj" fmla="val 2222"/>
            </a:avLst>
          </a:prstGeom>
          <a:solidFill>
            <a:srgbClr val="EEF3FA"/>
          </a:solidFill>
          <a:ln w="9525">
            <a:solidFill>
              <a:srgbClr val="C9D6EA"/>
            </a:solidFill>
            <a:prstDash val="solid"/>
          </a:ln>
        </p:spPr>
      </p:sp>
      <p:sp>
        <p:nvSpPr>
          <p:cNvPr id="35" name="Shape 32"/>
          <p:cNvSpPr/>
          <p:nvPr/>
        </p:nvSpPr>
        <p:spPr>
          <a:xfrm>
            <a:off x="594360" y="3127248"/>
            <a:ext cx="5271516" cy="310896"/>
          </a:xfrm>
          <a:prstGeom prst="roundRect">
            <a:avLst>
              <a:gd name="adj" fmla="val 50000"/>
            </a:avLst>
          </a:prstGeom>
          <a:solidFill>
            <a:srgbClr val="2F6FB0"/>
          </a:solidFill>
          <a:ln w="12700">
            <a:solidFill>
              <a:srgbClr val="2F6FB0"/>
            </a:solidFill>
            <a:prstDash val="solid"/>
          </a:ln>
        </p:spPr>
      </p:sp>
      <p:sp>
        <p:nvSpPr>
          <p:cNvPr id="36" name="Text 33"/>
          <p:cNvSpPr txBox="1"/>
          <p:nvPr/>
        </p:nvSpPr>
        <p:spPr>
          <a:xfrm>
            <a:off x="594360" y="3127248"/>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Time</a:t>
            </a:r>
            <a:endParaRPr lang="en-US" sz="95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34</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GM-CP-02 · Conjunctions and Prepositions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SORTER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Sorted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Conjunctions and Prepositions · GM-CP-02</a:t>
            </a:r>
            <a:endParaRPr lang="en-US" sz="850" dirty="0"/>
          </a:p>
        </p:txBody>
      </p:sp>
      <p:sp>
        <p:nvSpPr>
          <p:cNvPr id="15" name="Shape 12"/>
          <p:cNvSpPr/>
          <p:nvPr/>
        </p:nvSpPr>
        <p:spPr>
          <a:xfrm>
            <a:off x="6185916" y="1810512"/>
            <a:ext cx="5545836" cy="4498848"/>
          </a:xfrm>
          <a:prstGeom prst="roundRect">
            <a:avLst>
              <a:gd name="adj" fmla="val 1626"/>
            </a:avLst>
          </a:prstGeom>
          <a:solidFill>
            <a:srgbClr val="EEF3FA"/>
          </a:solidFill>
          <a:ln w="9525">
            <a:solidFill>
              <a:srgbClr val="C9D6EA"/>
            </a:solidFill>
            <a:prstDash val="solid"/>
          </a:ln>
        </p:spPr>
      </p:sp>
      <p:sp>
        <p:nvSpPr>
          <p:cNvPr id="16" name="Shape 13"/>
          <p:cNvSpPr/>
          <p:nvPr/>
        </p:nvSpPr>
        <p:spPr>
          <a:xfrm>
            <a:off x="6323076" y="1920240"/>
            <a:ext cx="5271516" cy="310896"/>
          </a:xfrm>
          <a:prstGeom prst="roundRect">
            <a:avLst>
              <a:gd name="adj" fmla="val 50000"/>
            </a:avLst>
          </a:prstGeom>
          <a:solidFill>
            <a:srgbClr val="2F6FB0"/>
          </a:solidFill>
          <a:ln w="12700">
            <a:solidFill>
              <a:srgbClr val="2F6FB0"/>
            </a:solidFill>
            <a:prstDash val="solid"/>
          </a:ln>
        </p:spPr>
      </p:sp>
      <p:sp>
        <p:nvSpPr>
          <p:cNvPr id="17" name="Text 14"/>
          <p:cNvSpPr txBox="1"/>
          <p:nvPr/>
        </p:nvSpPr>
        <p:spPr>
          <a:xfrm>
            <a:off x="6323076" y="1920240"/>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Place</a:t>
            </a:r>
            <a:endParaRPr lang="en-US" sz="950" dirty="0"/>
          </a:p>
        </p:txBody>
      </p:sp>
      <p:sp>
        <p:nvSpPr>
          <p:cNvPr id="18" name="Shape 15"/>
          <p:cNvSpPr/>
          <p:nvPr/>
        </p:nvSpPr>
        <p:spPr>
          <a:xfrm>
            <a:off x="6323076" y="2377440"/>
            <a:ext cx="5271516" cy="438912"/>
          </a:xfrm>
          <a:prstGeom prst="roundRect">
            <a:avLst>
              <a:gd name="adj" fmla="val 12500"/>
            </a:avLst>
          </a:prstGeom>
          <a:solidFill>
            <a:srgbClr val="FFF4DC"/>
          </a:solidFill>
          <a:ln w="9525">
            <a:solidFill>
              <a:srgbClr val="E6C98A"/>
            </a:solidFill>
            <a:prstDash val="solid"/>
          </a:ln>
        </p:spPr>
      </p:sp>
      <p:sp>
        <p:nvSpPr>
          <p:cNvPr id="19" name="Text 16"/>
          <p:cNvSpPr txBox="1"/>
          <p:nvPr/>
        </p:nvSpPr>
        <p:spPr>
          <a:xfrm>
            <a:off x="6414516" y="2377440"/>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أَمَامَ الْبَيْتِ</a:t>
            </a:r>
            <a:endParaRPr lang="ar-SA" sz="1800" dirty="0"/>
          </a:p>
        </p:txBody>
      </p:sp>
      <p:sp>
        <p:nvSpPr>
          <p:cNvPr id="20" name="Shape 17"/>
          <p:cNvSpPr/>
          <p:nvPr/>
        </p:nvSpPr>
        <p:spPr>
          <a:xfrm>
            <a:off x="6323076" y="2889504"/>
            <a:ext cx="5271516" cy="438912"/>
          </a:xfrm>
          <a:prstGeom prst="roundRect">
            <a:avLst>
              <a:gd name="adj" fmla="val 12500"/>
            </a:avLst>
          </a:prstGeom>
          <a:solidFill>
            <a:srgbClr val="FFF4DC"/>
          </a:solidFill>
          <a:ln w="9525">
            <a:solidFill>
              <a:srgbClr val="E6C98A"/>
            </a:solidFill>
            <a:prstDash val="solid"/>
          </a:ln>
        </p:spPr>
      </p:sp>
      <p:sp>
        <p:nvSpPr>
          <p:cNvPr id="21" name="Text 18"/>
          <p:cNvSpPr txBox="1"/>
          <p:nvPr/>
        </p:nvSpPr>
        <p:spPr>
          <a:xfrm>
            <a:off x="6414516" y="2889504"/>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خَلْفَ الْمَدْرَسَةِ</a:t>
            </a:r>
            <a:endParaRPr lang="ar-SA" sz="1800" dirty="0"/>
          </a:p>
        </p:txBody>
      </p:sp>
      <p:sp>
        <p:nvSpPr>
          <p:cNvPr id="22" name="Shape 19"/>
          <p:cNvSpPr/>
          <p:nvPr/>
        </p:nvSpPr>
        <p:spPr>
          <a:xfrm>
            <a:off x="6323076" y="3401568"/>
            <a:ext cx="5271516" cy="438912"/>
          </a:xfrm>
          <a:prstGeom prst="roundRect">
            <a:avLst>
              <a:gd name="adj" fmla="val 12500"/>
            </a:avLst>
          </a:prstGeom>
          <a:solidFill>
            <a:srgbClr val="FFF4DC"/>
          </a:solidFill>
          <a:ln w="9525">
            <a:solidFill>
              <a:srgbClr val="E6C98A"/>
            </a:solidFill>
            <a:prstDash val="solid"/>
          </a:ln>
        </p:spPr>
      </p:sp>
      <p:sp>
        <p:nvSpPr>
          <p:cNvPr id="23" name="Text 20"/>
          <p:cNvSpPr txBox="1"/>
          <p:nvPr/>
        </p:nvSpPr>
        <p:spPr>
          <a:xfrm>
            <a:off x="6414516" y="3401568"/>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تَحْتَ الْكُرْسِيِّ</a:t>
            </a:r>
            <a:endParaRPr lang="ar-SA" sz="1800" dirty="0"/>
          </a:p>
        </p:txBody>
      </p:sp>
      <p:sp>
        <p:nvSpPr>
          <p:cNvPr id="24" name="Shape 21"/>
          <p:cNvSpPr/>
          <p:nvPr/>
        </p:nvSpPr>
        <p:spPr>
          <a:xfrm>
            <a:off x="6323076" y="3913632"/>
            <a:ext cx="5271516" cy="438912"/>
          </a:xfrm>
          <a:prstGeom prst="roundRect">
            <a:avLst>
              <a:gd name="adj" fmla="val 12500"/>
            </a:avLst>
          </a:prstGeom>
          <a:solidFill>
            <a:srgbClr val="FFF4DC"/>
          </a:solidFill>
          <a:ln w="9525">
            <a:solidFill>
              <a:srgbClr val="E6C98A"/>
            </a:solidFill>
            <a:prstDash val="solid"/>
          </a:ln>
        </p:spPr>
      </p:sp>
      <p:sp>
        <p:nvSpPr>
          <p:cNvPr id="25" name="Text 22"/>
          <p:cNvSpPr txBox="1"/>
          <p:nvPr/>
        </p:nvSpPr>
        <p:spPr>
          <a:xfrm>
            <a:off x="6414516" y="3913632"/>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مُقَابِلَ الْفُنْدُقِ</a:t>
            </a:r>
            <a:endParaRPr lang="ar-SA" sz="1800" dirty="0"/>
          </a:p>
        </p:txBody>
      </p:sp>
      <p:sp>
        <p:nvSpPr>
          <p:cNvPr id="26" name="Shape 23"/>
          <p:cNvSpPr/>
          <p:nvPr/>
        </p:nvSpPr>
        <p:spPr>
          <a:xfrm>
            <a:off x="457200" y="1810512"/>
            <a:ext cx="5545836" cy="4498848"/>
          </a:xfrm>
          <a:prstGeom prst="roundRect">
            <a:avLst>
              <a:gd name="adj" fmla="val 1626"/>
            </a:avLst>
          </a:prstGeom>
          <a:solidFill>
            <a:srgbClr val="EEF3FA"/>
          </a:solidFill>
          <a:ln w="9525">
            <a:solidFill>
              <a:srgbClr val="C9D6EA"/>
            </a:solidFill>
            <a:prstDash val="solid"/>
          </a:ln>
        </p:spPr>
      </p:sp>
      <p:sp>
        <p:nvSpPr>
          <p:cNvPr id="27" name="Shape 24"/>
          <p:cNvSpPr/>
          <p:nvPr/>
        </p:nvSpPr>
        <p:spPr>
          <a:xfrm>
            <a:off x="594360" y="1920240"/>
            <a:ext cx="5271516" cy="310896"/>
          </a:xfrm>
          <a:prstGeom prst="roundRect">
            <a:avLst>
              <a:gd name="adj" fmla="val 50000"/>
            </a:avLst>
          </a:prstGeom>
          <a:solidFill>
            <a:srgbClr val="2F6FB0"/>
          </a:solidFill>
          <a:ln w="12700">
            <a:solidFill>
              <a:srgbClr val="2F6FB0"/>
            </a:solidFill>
            <a:prstDash val="solid"/>
          </a:ln>
        </p:spPr>
      </p:sp>
      <p:sp>
        <p:nvSpPr>
          <p:cNvPr id="28" name="Text 25"/>
          <p:cNvSpPr txBox="1"/>
          <p:nvPr/>
        </p:nvSpPr>
        <p:spPr>
          <a:xfrm>
            <a:off x="594360" y="1920240"/>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Time</a:t>
            </a:r>
            <a:endParaRPr lang="en-US" sz="950" dirty="0"/>
          </a:p>
        </p:txBody>
      </p:sp>
      <p:sp>
        <p:nvSpPr>
          <p:cNvPr id="29" name="Shape 26"/>
          <p:cNvSpPr/>
          <p:nvPr/>
        </p:nvSpPr>
        <p:spPr>
          <a:xfrm>
            <a:off x="594360" y="2377440"/>
            <a:ext cx="5271516" cy="438912"/>
          </a:xfrm>
          <a:prstGeom prst="roundRect">
            <a:avLst>
              <a:gd name="adj" fmla="val 12500"/>
            </a:avLst>
          </a:prstGeom>
          <a:solidFill>
            <a:srgbClr val="FFF4DC"/>
          </a:solidFill>
          <a:ln w="9525">
            <a:solidFill>
              <a:srgbClr val="E6C98A"/>
            </a:solidFill>
            <a:prstDash val="solid"/>
          </a:ln>
        </p:spPr>
      </p:sp>
      <p:sp>
        <p:nvSpPr>
          <p:cNvPr id="30" name="Text 27"/>
          <p:cNvSpPr txBox="1"/>
          <p:nvPr/>
        </p:nvSpPr>
        <p:spPr>
          <a:xfrm>
            <a:off x="685800" y="2377440"/>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قَبْلَ السَّابِعَةِ</a:t>
            </a:r>
            <a:endParaRPr lang="ar-SA" sz="1800" dirty="0"/>
          </a:p>
        </p:txBody>
      </p:sp>
      <p:sp>
        <p:nvSpPr>
          <p:cNvPr id="31" name="Shape 28"/>
          <p:cNvSpPr/>
          <p:nvPr/>
        </p:nvSpPr>
        <p:spPr>
          <a:xfrm>
            <a:off x="594360" y="2889504"/>
            <a:ext cx="5271516" cy="438912"/>
          </a:xfrm>
          <a:prstGeom prst="roundRect">
            <a:avLst>
              <a:gd name="adj" fmla="val 12500"/>
            </a:avLst>
          </a:prstGeom>
          <a:solidFill>
            <a:srgbClr val="FFF4DC"/>
          </a:solidFill>
          <a:ln w="9525">
            <a:solidFill>
              <a:srgbClr val="E6C98A"/>
            </a:solidFill>
            <a:prstDash val="solid"/>
          </a:ln>
        </p:spPr>
      </p:sp>
      <p:sp>
        <p:nvSpPr>
          <p:cNvPr id="32" name="Text 29"/>
          <p:cNvSpPr txBox="1"/>
          <p:nvPr/>
        </p:nvSpPr>
        <p:spPr>
          <a:xfrm>
            <a:off x="685800" y="2889504"/>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بَعْدَ الْغَدَاءِ</a:t>
            </a:r>
            <a:endParaRPr lang="ar-SA" sz="1800" dirty="0"/>
          </a:p>
        </p:txBody>
      </p:sp>
      <p:sp>
        <p:nvSpPr>
          <p:cNvPr id="33" name="Shape 30"/>
          <p:cNvSpPr/>
          <p:nvPr/>
        </p:nvSpPr>
        <p:spPr>
          <a:xfrm>
            <a:off x="594360" y="3401568"/>
            <a:ext cx="5271516" cy="438912"/>
          </a:xfrm>
          <a:prstGeom prst="roundRect">
            <a:avLst>
              <a:gd name="adj" fmla="val 12500"/>
            </a:avLst>
          </a:prstGeom>
          <a:solidFill>
            <a:srgbClr val="FFF4DC"/>
          </a:solidFill>
          <a:ln w="9525">
            <a:solidFill>
              <a:srgbClr val="E6C98A"/>
            </a:solidFill>
            <a:prstDash val="solid"/>
          </a:ln>
        </p:spPr>
      </p:sp>
      <p:sp>
        <p:nvSpPr>
          <p:cNvPr id="34" name="Text 31"/>
          <p:cNvSpPr txBox="1"/>
          <p:nvPr/>
        </p:nvSpPr>
        <p:spPr>
          <a:xfrm>
            <a:off x="685800" y="3401568"/>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أَثْنَاءَ الدَّرْسِ</a:t>
            </a:r>
            <a:endParaRPr lang="ar-SA" sz="1800" dirty="0"/>
          </a:p>
        </p:txBody>
      </p:sp>
      <p:sp>
        <p:nvSpPr>
          <p:cNvPr id="35" name="Shape 32"/>
          <p:cNvSpPr/>
          <p:nvPr/>
        </p:nvSpPr>
        <p:spPr>
          <a:xfrm>
            <a:off x="594360" y="3913632"/>
            <a:ext cx="5271516" cy="438912"/>
          </a:xfrm>
          <a:prstGeom prst="roundRect">
            <a:avLst>
              <a:gd name="adj" fmla="val 12500"/>
            </a:avLst>
          </a:prstGeom>
          <a:solidFill>
            <a:srgbClr val="FFF4DC"/>
          </a:solidFill>
          <a:ln w="9525">
            <a:solidFill>
              <a:srgbClr val="E6C98A"/>
            </a:solidFill>
            <a:prstDash val="solid"/>
          </a:ln>
        </p:spPr>
      </p:sp>
      <p:sp>
        <p:nvSpPr>
          <p:cNvPr id="36" name="Text 33"/>
          <p:cNvSpPr txBox="1"/>
          <p:nvPr/>
        </p:nvSpPr>
        <p:spPr>
          <a:xfrm>
            <a:off x="685800" y="3913632"/>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خِلَالَ الْعُطْلَةِ</a:t>
            </a:r>
            <a:endParaRPr lang="ar-SA" sz="180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34</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GM-CP-02 · Conjunctions and Prepositions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SPOT AND FIX</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Repair the mistake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صَحِّحِ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Conjunctions and Prepositions · GM-CP-02</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الْمَطْعَمُ أَمَامُ الْفُنْدُقُ</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Which ending on each word?</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بَيْنَ الْمَدْرَسَةِ وَالْمَتْجَرُ</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What about the second noun?</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أَدْرُسُ خَلْفَ الْغَدَاءِ</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Place or time?</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34</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GM-CP-02 · Conjunctions and Prepositions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Fixed — and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التَّصْحِيحُ وَالسَّبَبُ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Conjunctions and Prepositions · GM-CP-02</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الْمَطْعَمُ أَمَامُ الْفُنْدُقُ</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الْمَطْعَمُ أَمَامَ الْفُنْدُقِ</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Locator ends in -a; the next noun in kasra (website clinic).</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بَيْنَ الْمَدْرَسَةِ وَالْمَتْجَرُ</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بَيْنَ الْمَدْرَسَةِ وَالْمَتْجَرِ</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The second noun stays in the relation (website clinic).</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أَدْرُسُ خَلْفَ الْغَدَاءِ</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أَدْرُسُ بَعْدَ الْغَدَاءِ</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Use a time locator, not a place one (website clinic).</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34</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GM-CP-02 · Conjunctions and Prepositions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33" b="1" spc="150" kern="0" dirty="0">
                <a:solidFill>
                  <a:srgbClr val="2F6FB0"/>
                </a:solidFill>
                <a:latin typeface="Calibri" pitchFamily="34" charset="0"/>
                <a:cs typeface="Amiri" pitchFamily="2" charset="-78"/>
              </a:rPr>
              <a:t>WE DO · GUIDED PRACTICE · WEBSITE SPATIAL, TWO-PART, TIME AND FINAL MASTERY CHECKS</a:t>
            </a:r>
            <a:endParaRPr lang="en-US" sz="833"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More practice</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تَدْرِيبٌ إِضَافِيٌّ</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Conjunctions and Prepositions · GM-CP-02</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phrase means “near the station”?</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بَعِيدًا عَنِ الْمَحَطَّةِ</a:t>
            </a:r>
            <a:endParaRPr lang="ar-SA" sz="20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وَرَاءَ الْمَحَطَّةِ</a:t>
            </a:r>
            <a:endParaRPr lang="ar-SA" sz="20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بِالْقُرْبِ مِنَ الْمَحَطَّةِ</a:t>
            </a:r>
            <a:endParaRPr lang="ar-SA" sz="2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“at the door”?</a:t>
            </a:r>
            <a:endParaRPr lang="en-US" sz="1250" dirty="0"/>
          </a:p>
        </p:txBody>
      </p:sp>
      <p:sp>
        <p:nvSpPr>
          <p:cNvPr id="34" name="Shape 31"/>
          <p:cNvSpPr/>
          <p:nvPr/>
        </p:nvSpPr>
        <p:spPr>
          <a:xfrm>
            <a:off x="6368796"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عَنِ الْبَابِ</a:t>
            </a:r>
            <a:endParaRPr lang="ar-SA" sz="2050" dirty="0"/>
          </a:p>
        </p:txBody>
      </p:sp>
      <p:sp>
        <p:nvSpPr>
          <p:cNvPr id="37" name="Shape 34"/>
          <p:cNvSpPr/>
          <p:nvPr/>
        </p:nvSpPr>
        <p:spPr>
          <a:xfrm>
            <a:off x="6368796"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عِنْدَ الْبَابِ</a:t>
            </a:r>
            <a:endParaRPr lang="ar-SA" sz="2050" dirty="0"/>
          </a:p>
        </p:txBody>
      </p:sp>
      <p:sp>
        <p:nvSpPr>
          <p:cNvPr id="40" name="Shape 37"/>
          <p:cNvSpPr/>
          <p:nvPr/>
        </p:nvSpPr>
        <p:spPr>
          <a:xfrm>
            <a:off x="6368796"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إِلَى الْبَابِ</a:t>
            </a:r>
            <a:endParaRPr lang="ar-SA" sz="2050" dirty="0"/>
          </a:p>
        </p:txBody>
      </p:sp>
      <p:sp>
        <p:nvSpPr>
          <p:cNvPr id="43" name="Shape 40"/>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585216" y="4288536"/>
            <a:ext cx="310896" cy="310896"/>
          </a:xfrm>
          <a:prstGeom prst="ellipse">
            <a:avLst/>
          </a:prstGeom>
          <a:solidFill>
            <a:srgbClr val="1B3B6F"/>
          </a:solidFill>
          <a:ln w="12700">
            <a:solidFill>
              <a:srgbClr val="1B3B6F"/>
            </a:solidFill>
            <a:prstDash val="solid"/>
          </a:ln>
        </p:spPr>
      </p:sp>
      <p:sp>
        <p:nvSpPr>
          <p:cNvPr id="45" name="Text 42"/>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I have lived here for two years.</a:t>
            </a:r>
            <a:endParaRPr lang="en-US" sz="1250" dirty="0"/>
          </a:p>
        </p:txBody>
      </p:sp>
      <p:sp>
        <p:nvSpPr>
          <p:cNvPr id="47" name="Shape 44"/>
          <p:cNvSpPr/>
          <p:nvPr/>
        </p:nvSpPr>
        <p:spPr>
          <a:xfrm>
            <a:off x="640080" y="4873752"/>
            <a:ext cx="256032" cy="256032"/>
          </a:xfrm>
          <a:prstGeom prst="ellipse">
            <a:avLst/>
          </a:prstGeom>
          <a:solidFill>
            <a:srgbClr val="F4F1EA"/>
          </a:solidFill>
          <a:ln w="12700">
            <a:solidFill>
              <a:srgbClr val="F4F1EA"/>
            </a:solidFill>
            <a:prstDash val="solid"/>
          </a:ln>
        </p:spPr>
      </p:sp>
      <p:sp>
        <p:nvSpPr>
          <p:cNvPr id="48" name="Text 45"/>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أَسْكُنُ هُنَا إِلَى سَنَتَيْنِ.</a:t>
            </a:r>
            <a:endParaRPr lang="ar-SA" sz="2050" dirty="0"/>
          </a:p>
        </p:txBody>
      </p:sp>
      <p:sp>
        <p:nvSpPr>
          <p:cNvPr id="50" name="Shape 47"/>
          <p:cNvSpPr/>
          <p:nvPr/>
        </p:nvSpPr>
        <p:spPr>
          <a:xfrm>
            <a:off x="640080" y="5330952"/>
            <a:ext cx="256032" cy="256032"/>
          </a:xfrm>
          <a:prstGeom prst="ellipse">
            <a:avLst/>
          </a:prstGeom>
          <a:solidFill>
            <a:srgbClr val="F4F1EA"/>
          </a:solidFill>
          <a:ln w="12700">
            <a:solidFill>
              <a:srgbClr val="F4F1EA"/>
            </a:solidFill>
            <a:prstDash val="solid"/>
          </a:ln>
        </p:spPr>
      </p:sp>
      <p:sp>
        <p:nvSpPr>
          <p:cNvPr id="51" name="Text 48"/>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أَسْكُنُ هُنَا مُنْذُ سَنَتَيْنِ.</a:t>
            </a:r>
            <a:endParaRPr lang="ar-SA" sz="2050" dirty="0"/>
          </a:p>
        </p:txBody>
      </p:sp>
      <p:sp>
        <p:nvSpPr>
          <p:cNvPr id="53" name="Shape 50"/>
          <p:cNvSpPr/>
          <p:nvPr/>
        </p:nvSpPr>
        <p:spPr>
          <a:xfrm>
            <a:off x="640080" y="5788152"/>
            <a:ext cx="256032" cy="256032"/>
          </a:xfrm>
          <a:prstGeom prst="ellipse">
            <a:avLst/>
          </a:prstGeom>
          <a:solidFill>
            <a:srgbClr val="F4F1EA"/>
          </a:solidFill>
          <a:ln w="12700">
            <a:solidFill>
              <a:srgbClr val="F4F1EA"/>
            </a:solidFill>
            <a:prstDash val="solid"/>
          </a:ln>
        </p:spPr>
      </p:sp>
      <p:sp>
        <p:nvSpPr>
          <p:cNvPr id="54" name="Text 51"/>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أَسْكُنُ هُنَا خَلْفَ سَنَتَيْنِ.</a:t>
            </a:r>
            <a:endParaRPr lang="ar-SA" sz="2050" dirty="0"/>
          </a:p>
        </p:txBody>
      </p:sp>
      <p:sp>
        <p:nvSpPr>
          <p:cNvPr id="56" name="Shape 53"/>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6313932"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Correct: “near the park”.</a:t>
            </a:r>
            <a:endParaRPr lang="en-US" sz="1250" dirty="0"/>
          </a:p>
        </p:txBody>
      </p:sp>
      <p:sp>
        <p:nvSpPr>
          <p:cNvPr id="60" name="Shape 57"/>
          <p:cNvSpPr/>
          <p:nvPr/>
        </p:nvSpPr>
        <p:spPr>
          <a:xfrm>
            <a:off x="6368796"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بِالْقُرْبِ عَنِ الْحَدِيقَةِ</a:t>
            </a:r>
            <a:endParaRPr lang="ar-SA" sz="2050" dirty="0"/>
          </a:p>
        </p:txBody>
      </p:sp>
      <p:sp>
        <p:nvSpPr>
          <p:cNvPr id="63" name="Shape 60"/>
          <p:cNvSpPr/>
          <p:nvPr/>
        </p:nvSpPr>
        <p:spPr>
          <a:xfrm>
            <a:off x="6368796"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بِقُرْبُ الْحَدِيقَةُ</a:t>
            </a:r>
            <a:endParaRPr lang="ar-SA" sz="2050" dirty="0"/>
          </a:p>
        </p:txBody>
      </p:sp>
      <p:sp>
        <p:nvSpPr>
          <p:cNvPr id="66" name="Shape 63"/>
          <p:cNvSpPr/>
          <p:nvPr/>
        </p:nvSpPr>
        <p:spPr>
          <a:xfrm>
            <a:off x="6368796"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بِالْقُرْبِ مِنَ الْحَدِيقَةِ</a:t>
            </a:r>
            <a:endParaRPr lang="ar-SA" sz="2050" dirty="0"/>
          </a:p>
        </p:txBody>
      </p:sp>
      <p:sp>
        <p:nvSpPr>
          <p:cNvPr id="69" name="Text 6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34</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GM-CP-02 · Conjunctions and Prepositions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Conjunctions and Prepositions · GM-CP-02</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phrase means “near the station”?</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بَعِيدًا عَنِ الْمَحَطَّةِ</a:t>
            </a:r>
            <a:endParaRPr lang="ar-SA" sz="1700" dirty="0"/>
          </a:p>
        </p:txBody>
      </p:sp>
      <p:sp>
        <p:nvSpPr>
          <p:cNvPr id="24" name="Shape 21"/>
          <p:cNvSpPr/>
          <p:nvPr/>
        </p:nvSpPr>
        <p:spPr>
          <a:xfrm>
            <a:off x="640080" y="2862072"/>
            <a:ext cx="256032" cy="256032"/>
          </a:xfrm>
          <a:prstGeom prst="ellipse">
            <a:avLst/>
          </a:prstGeom>
          <a:solidFill>
            <a:srgbClr val="C9CED6"/>
          </a:solidFill>
          <a:ln w="12700">
            <a:solidFill>
              <a:srgbClr val="C9CED6"/>
            </a:solidFill>
            <a:prstDash val="solid"/>
          </a:ln>
        </p:spPr>
      </p:sp>
      <p:sp>
        <p:nvSpPr>
          <p:cNvPr id="25" name="Text 22"/>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وَرَاءَ الْمَحَطَّةِ</a:t>
            </a:r>
            <a:endParaRPr lang="ar-SA" sz="1700" dirty="0"/>
          </a:p>
        </p:txBody>
      </p:sp>
      <p:sp>
        <p:nvSpPr>
          <p:cNvPr id="27" name="Shape 24"/>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8" name="Shape 25"/>
          <p:cNvSpPr/>
          <p:nvPr/>
        </p:nvSpPr>
        <p:spPr>
          <a:xfrm>
            <a:off x="640080" y="3233928"/>
            <a:ext cx="256032" cy="256032"/>
          </a:xfrm>
          <a:prstGeom prst="ellipse">
            <a:avLst/>
          </a:prstGeom>
          <a:solidFill>
            <a:srgbClr val="2E8B57"/>
          </a:solidFill>
          <a:ln w="12700">
            <a:solidFill>
              <a:srgbClr val="2E8B57"/>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30" name="Text 27"/>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بِالْقُرْبِ مِنَ الْمَحَطَّةِ</a:t>
            </a:r>
            <a:endParaRPr lang="ar-SA" sz="1700" dirty="0"/>
          </a:p>
        </p:txBody>
      </p:sp>
      <p:sp>
        <p:nvSpPr>
          <p:cNvPr id="31" name="Text 28"/>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Bi-l-qurbi min = near.</a:t>
            </a:r>
            <a:endParaRPr lang="en-US" sz="1050" dirty="0"/>
          </a:p>
        </p:txBody>
      </p:sp>
      <p:sp>
        <p:nvSpPr>
          <p:cNvPr id="32" name="Shape 29"/>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6313932"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5" name="Text 32"/>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“at the door”?</a:t>
            </a:r>
            <a:endParaRPr lang="en-US" sz="1250" dirty="0"/>
          </a:p>
        </p:txBody>
      </p:sp>
      <p:sp>
        <p:nvSpPr>
          <p:cNvPr id="36" name="Shape 33"/>
          <p:cNvSpPr/>
          <p:nvPr/>
        </p:nvSpPr>
        <p:spPr>
          <a:xfrm>
            <a:off x="6368796"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عَنِ الْبَابِ</a:t>
            </a:r>
            <a:endParaRPr lang="ar-SA" sz="1700" dirty="0"/>
          </a:p>
        </p:txBody>
      </p:sp>
      <p:sp>
        <p:nvSpPr>
          <p:cNvPr id="39" name="Shape 36"/>
          <p:cNvSpPr/>
          <p:nvPr/>
        </p:nvSpPr>
        <p:spPr>
          <a:xfrm>
            <a:off x="6277356" y="2825496"/>
            <a:ext cx="5362956" cy="347472"/>
          </a:xfrm>
          <a:prstGeom prst="roundRect">
            <a:avLst>
              <a:gd name="adj" fmla="val 15789"/>
            </a:avLst>
          </a:prstGeom>
          <a:solidFill>
            <a:srgbClr val="E6F4EC"/>
          </a:solidFill>
          <a:ln w="9525">
            <a:solidFill>
              <a:srgbClr val="2E8B57"/>
            </a:solidFill>
            <a:prstDash val="solid"/>
          </a:ln>
        </p:spPr>
      </p:sp>
      <p:sp>
        <p:nvSpPr>
          <p:cNvPr id="40" name="Shape 37"/>
          <p:cNvSpPr/>
          <p:nvPr/>
        </p:nvSpPr>
        <p:spPr>
          <a:xfrm>
            <a:off x="6368796" y="2862072"/>
            <a:ext cx="256032" cy="256032"/>
          </a:xfrm>
          <a:prstGeom prst="ellipse">
            <a:avLst/>
          </a:prstGeom>
          <a:solidFill>
            <a:srgbClr val="2E8B57"/>
          </a:solidFill>
          <a:ln w="12700">
            <a:solidFill>
              <a:srgbClr val="2E8B57"/>
            </a:solidFill>
            <a:prstDash val="solid"/>
          </a:ln>
        </p:spPr>
      </p:sp>
      <p:sp>
        <p:nvSpPr>
          <p:cNvPr id="41" name="Text 38"/>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2" name="Text 39"/>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عِنْدَ الْبَابِ</a:t>
            </a:r>
            <a:endParaRPr lang="ar-SA" sz="1700" dirty="0"/>
          </a:p>
        </p:txBody>
      </p:sp>
      <p:sp>
        <p:nvSpPr>
          <p:cNvPr id="43" name="Shape 40"/>
          <p:cNvSpPr/>
          <p:nvPr/>
        </p:nvSpPr>
        <p:spPr>
          <a:xfrm>
            <a:off x="6368796" y="3233928"/>
            <a:ext cx="256032" cy="256032"/>
          </a:xfrm>
          <a:prstGeom prst="ellipse">
            <a:avLst/>
          </a:prstGeom>
          <a:solidFill>
            <a:srgbClr val="C9CED6"/>
          </a:solidFill>
          <a:ln w="12700">
            <a:solidFill>
              <a:srgbClr val="C9CED6"/>
            </a:solidFill>
            <a:prstDash val="solid"/>
          </a:ln>
        </p:spPr>
      </p:sp>
      <p:sp>
        <p:nvSpPr>
          <p:cNvPr id="44" name="Text 41"/>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5" name="Text 42"/>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إِلَى الْبَابِ</a:t>
            </a:r>
            <a:endParaRPr lang="ar-SA" sz="1700" dirty="0"/>
          </a:p>
        </p:txBody>
      </p:sp>
      <p:sp>
        <p:nvSpPr>
          <p:cNvPr id="46" name="Text 43"/>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ʿInda locates something at a point.</a:t>
            </a:r>
            <a:endParaRPr lang="en-US" sz="1050" dirty="0"/>
          </a:p>
        </p:txBody>
      </p:sp>
      <p:sp>
        <p:nvSpPr>
          <p:cNvPr id="47" name="Shape 44"/>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585216" y="4288536"/>
            <a:ext cx="310896" cy="310896"/>
          </a:xfrm>
          <a:prstGeom prst="ellipse">
            <a:avLst/>
          </a:prstGeom>
          <a:solidFill>
            <a:srgbClr val="1B3B6F"/>
          </a:solidFill>
          <a:ln w="12700">
            <a:solidFill>
              <a:srgbClr val="1B3B6F"/>
            </a:solidFill>
            <a:prstDash val="solid"/>
          </a:ln>
        </p:spPr>
      </p:sp>
      <p:sp>
        <p:nvSpPr>
          <p:cNvPr id="49" name="Text 4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50" name="Text 47"/>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I have lived here for two years.</a:t>
            </a:r>
            <a:endParaRPr lang="en-US" sz="1250" dirty="0"/>
          </a:p>
        </p:txBody>
      </p:sp>
      <p:sp>
        <p:nvSpPr>
          <p:cNvPr id="51" name="Shape 48"/>
          <p:cNvSpPr/>
          <p:nvPr/>
        </p:nvSpPr>
        <p:spPr>
          <a:xfrm>
            <a:off x="640080" y="4831080"/>
            <a:ext cx="256032" cy="256032"/>
          </a:xfrm>
          <a:prstGeom prst="ellipse">
            <a:avLst/>
          </a:prstGeom>
          <a:solidFill>
            <a:srgbClr val="C9CED6"/>
          </a:solidFill>
          <a:ln w="12700">
            <a:solidFill>
              <a:srgbClr val="C9CED6"/>
            </a:solidFill>
            <a:prstDash val="solid"/>
          </a:ln>
        </p:spPr>
      </p:sp>
      <p:sp>
        <p:nvSpPr>
          <p:cNvPr id="52" name="Text 49"/>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3" name="Text 50"/>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أَسْكُنُ هُنَا إِلَى سَنَتَيْنِ.</a:t>
            </a:r>
            <a:endParaRPr lang="ar-SA" sz="1700" dirty="0"/>
          </a:p>
        </p:txBody>
      </p:sp>
      <p:sp>
        <p:nvSpPr>
          <p:cNvPr id="54" name="Shape 51"/>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5" name="Shape 52"/>
          <p:cNvSpPr/>
          <p:nvPr/>
        </p:nvSpPr>
        <p:spPr>
          <a:xfrm>
            <a:off x="640080" y="5202936"/>
            <a:ext cx="256032" cy="256032"/>
          </a:xfrm>
          <a:prstGeom prst="ellipse">
            <a:avLst/>
          </a:prstGeom>
          <a:solidFill>
            <a:srgbClr val="2E8B57"/>
          </a:solidFill>
          <a:ln w="12700">
            <a:solidFill>
              <a:srgbClr val="2E8B57"/>
            </a:solidFill>
            <a:prstDash val="solid"/>
          </a:ln>
        </p:spPr>
      </p:sp>
      <p:sp>
        <p:nvSpPr>
          <p:cNvPr id="56" name="Text 53"/>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7" name="Text 54"/>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أَسْكُنُ هُنَا مُنْذُ سَنَتَيْنِ.</a:t>
            </a:r>
            <a:endParaRPr lang="ar-SA" sz="1700" dirty="0"/>
          </a:p>
        </p:txBody>
      </p:sp>
      <p:sp>
        <p:nvSpPr>
          <p:cNvPr id="58" name="Shape 55"/>
          <p:cNvSpPr/>
          <p:nvPr/>
        </p:nvSpPr>
        <p:spPr>
          <a:xfrm>
            <a:off x="640080" y="5574792"/>
            <a:ext cx="256032" cy="256032"/>
          </a:xfrm>
          <a:prstGeom prst="ellipse">
            <a:avLst/>
          </a:prstGeom>
          <a:solidFill>
            <a:srgbClr val="C9CED6"/>
          </a:solidFill>
          <a:ln w="12700">
            <a:solidFill>
              <a:srgbClr val="C9CED6"/>
            </a:solidFill>
            <a:prstDash val="solid"/>
          </a:ln>
        </p:spPr>
      </p:sp>
      <p:sp>
        <p:nvSpPr>
          <p:cNvPr id="59" name="Text 56"/>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0" name="Text 57"/>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أَسْكُنُ هُنَا خَلْفَ سَنَتَيْنِ.</a:t>
            </a:r>
            <a:endParaRPr lang="ar-SA" sz="1700" dirty="0"/>
          </a:p>
        </p:txBody>
      </p:sp>
      <p:sp>
        <p:nvSpPr>
          <p:cNvPr id="61" name="Text 58"/>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Mundhu marks the starting point or period.</a:t>
            </a:r>
            <a:endParaRPr lang="en-US" sz="1050" dirty="0"/>
          </a:p>
        </p:txBody>
      </p:sp>
      <p:sp>
        <p:nvSpPr>
          <p:cNvPr id="62" name="Shape 59"/>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6313932" y="4288536"/>
            <a:ext cx="310896" cy="310896"/>
          </a:xfrm>
          <a:prstGeom prst="ellipse">
            <a:avLst/>
          </a:prstGeom>
          <a:solidFill>
            <a:srgbClr val="1B3B6F"/>
          </a:solidFill>
          <a:ln w="12700">
            <a:solidFill>
              <a:srgbClr val="1B3B6F"/>
            </a:solidFill>
            <a:prstDash val="solid"/>
          </a:ln>
        </p:spPr>
      </p:sp>
      <p:sp>
        <p:nvSpPr>
          <p:cNvPr id="64" name="Text 61"/>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5" name="Text 62"/>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Correct: “near the park”.</a:t>
            </a:r>
            <a:endParaRPr lang="en-US" sz="1250" dirty="0"/>
          </a:p>
        </p:txBody>
      </p:sp>
      <p:sp>
        <p:nvSpPr>
          <p:cNvPr id="66" name="Shape 63"/>
          <p:cNvSpPr/>
          <p:nvPr/>
        </p:nvSpPr>
        <p:spPr>
          <a:xfrm>
            <a:off x="6368796" y="4831080"/>
            <a:ext cx="256032" cy="256032"/>
          </a:xfrm>
          <a:prstGeom prst="ellipse">
            <a:avLst/>
          </a:prstGeom>
          <a:solidFill>
            <a:srgbClr val="C9CED6"/>
          </a:solidFill>
          <a:ln w="12700">
            <a:solidFill>
              <a:srgbClr val="C9CED6"/>
            </a:solidFill>
            <a:prstDash val="solid"/>
          </a:ln>
        </p:spPr>
      </p:sp>
      <p:sp>
        <p:nvSpPr>
          <p:cNvPr id="67" name="Text 64"/>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8" name="Text 65"/>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بِالْقُرْبِ عَنِ الْحَدِيقَةِ</a:t>
            </a:r>
            <a:endParaRPr lang="ar-SA" sz="1700" dirty="0"/>
          </a:p>
        </p:txBody>
      </p:sp>
      <p:sp>
        <p:nvSpPr>
          <p:cNvPr id="69" name="Shape 66"/>
          <p:cNvSpPr/>
          <p:nvPr/>
        </p:nvSpPr>
        <p:spPr>
          <a:xfrm>
            <a:off x="6368796" y="5202936"/>
            <a:ext cx="256032" cy="256032"/>
          </a:xfrm>
          <a:prstGeom prst="ellipse">
            <a:avLst/>
          </a:prstGeom>
          <a:solidFill>
            <a:srgbClr val="C9CED6"/>
          </a:solidFill>
          <a:ln w="12700">
            <a:solidFill>
              <a:srgbClr val="C9CED6"/>
            </a:solidFill>
            <a:prstDash val="solid"/>
          </a:ln>
        </p:spPr>
      </p:sp>
      <p:sp>
        <p:nvSpPr>
          <p:cNvPr id="70" name="Text 67"/>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1" name="Text 68"/>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بِقُرْبُ الْحَدِيقَةُ</a:t>
            </a:r>
            <a:endParaRPr lang="ar-SA" sz="1700" dirty="0"/>
          </a:p>
        </p:txBody>
      </p:sp>
      <p:sp>
        <p:nvSpPr>
          <p:cNvPr id="72" name="Shape 69"/>
          <p:cNvSpPr/>
          <p:nvPr/>
        </p:nvSpPr>
        <p:spPr>
          <a:xfrm>
            <a:off x="6277356" y="5538216"/>
            <a:ext cx="5362956" cy="347472"/>
          </a:xfrm>
          <a:prstGeom prst="roundRect">
            <a:avLst>
              <a:gd name="adj" fmla="val 15789"/>
            </a:avLst>
          </a:prstGeom>
          <a:solidFill>
            <a:srgbClr val="E6F4EC"/>
          </a:solidFill>
          <a:ln w="9525">
            <a:solidFill>
              <a:srgbClr val="2E8B57"/>
            </a:solidFill>
            <a:prstDash val="solid"/>
          </a:ln>
        </p:spPr>
      </p:sp>
      <p:sp>
        <p:nvSpPr>
          <p:cNvPr id="73" name="Shape 70"/>
          <p:cNvSpPr/>
          <p:nvPr/>
        </p:nvSpPr>
        <p:spPr>
          <a:xfrm>
            <a:off x="6368796" y="5574792"/>
            <a:ext cx="256032" cy="256032"/>
          </a:xfrm>
          <a:prstGeom prst="ellipse">
            <a:avLst/>
          </a:prstGeom>
          <a:solidFill>
            <a:srgbClr val="2E8B57"/>
          </a:solidFill>
          <a:ln w="12700">
            <a:solidFill>
              <a:srgbClr val="2E8B57"/>
            </a:solidFill>
            <a:prstDash val="solid"/>
          </a:ln>
        </p:spPr>
      </p:sp>
      <p:sp>
        <p:nvSpPr>
          <p:cNvPr id="74" name="Text 71"/>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5" name="Text 72"/>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بِالْقُرْبِ مِنَ الْحَدِيقَةِ</a:t>
            </a:r>
            <a:endParaRPr lang="ar-SA" sz="1700" dirty="0"/>
          </a:p>
        </p:txBody>
      </p:sp>
      <p:sp>
        <p:nvSpPr>
          <p:cNvPr id="76" name="Text 73"/>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fixed phrase is bi-l-qurbi min.</a:t>
            </a:r>
            <a:endParaRPr lang="en-US" sz="1050" dirty="0"/>
          </a:p>
        </p:txBody>
      </p:sp>
      <p:sp>
        <p:nvSpPr>
          <p:cNvPr id="77" name="Text 7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34</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GM-CP-02 · Conjunctions and Prepositions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74" b="1" spc="150" kern="0" dirty="0">
                <a:solidFill>
                  <a:srgbClr val="1E6B52"/>
                </a:solidFill>
                <a:latin typeface="Calibri" pitchFamily="34" charset="0"/>
                <a:cs typeface="Amiri" pitchFamily="2" charset="-78"/>
              </a:rPr>
              <a:t>YOU DO · READ AND NOTICE · WEBSITE SKILLS WORKSHOP (TEACHER-WRITTEN DIRECTIONS)</a:t>
            </a:r>
            <a:endParaRPr lang="en-US" sz="874"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How to find our school</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اِقْرَأْ وَلَاحِظْ</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Conjunctions and Prepositions · GM-CP-02</a:t>
            </a:r>
            <a:endParaRPr lang="en-US" sz="850" dirty="0"/>
          </a:p>
        </p:txBody>
      </p:sp>
      <p:sp>
        <p:nvSpPr>
          <p:cNvPr id="15" name="Shape 12"/>
          <p:cNvSpPr/>
          <p:nvPr/>
        </p:nvSpPr>
        <p:spPr>
          <a:xfrm>
            <a:off x="457200" y="1810512"/>
            <a:ext cx="807415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65960"/>
            <a:ext cx="7616952" cy="4206240"/>
          </a:xfrm>
          <a:prstGeom prst="rect">
            <a:avLst/>
          </a:prstGeom>
          <a:noFill/>
          <a:ln/>
        </p:spPr>
        <p:txBody>
          <a:bodyPr wrap="square" lIns="0" tIns="0" rIns="0" bIns="0" rtlCol="0" anchor="t"/>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مَدْرَسَتُنَا بَيْنَ الْمَسْجِدِ وَالْمَكْتَبَةِ الْعَامَّةِ، وَمَوْقِفُ الْحَافِلَاتِ أَمَامَهَا. مُقَابِلَ الْمَدْرَسَةِ صَيْدَلِيَّةٌ صَغِيرَةٌ، وَبِجَانِبِهَا مَخْبَزٌ. إِذَا جِئْتَ بِالْقِطَارِ، فَاخْرُجْ مِنَ الْمَحَطَّةِ وَسِرْ مُسْتَقِيمًا حَتَّى الْإِشَارَةِ، ثُمَّ انْعَطِفْ يَسَارًا عِنْدَ الْحَدِيقَةِ. يَبْدَأُ الدَّوَامُ بَعْدَ الثَّامِنَةِ، فَتَعَالَ قَبْلَهَا بِعَشْرِ دَقَائِقَ!</a:t>
            </a:r>
            <a:endParaRPr lang="ar-SA" sz="2600" dirty="0"/>
          </a:p>
        </p:txBody>
      </p:sp>
      <p:sp>
        <p:nvSpPr>
          <p:cNvPr id="17" name="Shape 14"/>
          <p:cNvSpPr/>
          <p:nvPr/>
        </p:nvSpPr>
        <p:spPr>
          <a:xfrm>
            <a:off x="8714232" y="1810512"/>
            <a:ext cx="3017520" cy="4498848"/>
          </a:xfrm>
          <a:prstGeom prst="roundRect">
            <a:avLst>
              <a:gd name="adj" fmla="val 2424"/>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8897112" y="1883664"/>
            <a:ext cx="2651760" cy="292608"/>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KEY WORDS</a:t>
            </a:r>
            <a:endParaRPr lang="en-US" sz="1000" dirty="0"/>
          </a:p>
        </p:txBody>
      </p:sp>
      <p:sp>
        <p:nvSpPr>
          <p:cNvPr id="19" name="Text 16"/>
          <p:cNvSpPr txBox="1"/>
          <p:nvPr/>
        </p:nvSpPr>
        <p:spPr>
          <a:xfrm>
            <a:off x="10102291" y="221284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مَوْقِفُ الْحَافِلَاتِ</a:t>
            </a:r>
            <a:endParaRPr lang="ar-SA" sz="1600" dirty="0"/>
          </a:p>
        </p:txBody>
      </p:sp>
      <p:sp>
        <p:nvSpPr>
          <p:cNvPr id="20" name="Text 17"/>
          <p:cNvSpPr txBox="1"/>
          <p:nvPr/>
        </p:nvSpPr>
        <p:spPr>
          <a:xfrm>
            <a:off x="8851392" y="221284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 bus stop</a:t>
            </a:r>
            <a:endParaRPr lang="en-US" sz="1050" dirty="0"/>
          </a:p>
        </p:txBody>
      </p:sp>
      <p:sp>
        <p:nvSpPr>
          <p:cNvPr id="21" name="Text 18"/>
          <p:cNvSpPr txBox="1"/>
          <p:nvPr/>
        </p:nvSpPr>
        <p:spPr>
          <a:xfrm>
            <a:off x="10102291" y="271576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مَخْبَزٌ</a:t>
            </a:r>
            <a:endParaRPr lang="ar-SA" sz="1600" dirty="0"/>
          </a:p>
        </p:txBody>
      </p:sp>
      <p:sp>
        <p:nvSpPr>
          <p:cNvPr id="22" name="Text 19"/>
          <p:cNvSpPr txBox="1"/>
          <p:nvPr/>
        </p:nvSpPr>
        <p:spPr>
          <a:xfrm>
            <a:off x="8851392" y="271576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a bakery</a:t>
            </a:r>
            <a:endParaRPr lang="en-US" sz="1050" dirty="0"/>
          </a:p>
        </p:txBody>
      </p:sp>
      <p:sp>
        <p:nvSpPr>
          <p:cNvPr id="23" name="Text 20"/>
          <p:cNvSpPr txBox="1"/>
          <p:nvPr/>
        </p:nvSpPr>
        <p:spPr>
          <a:xfrm>
            <a:off x="10102291" y="321868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الْإِشَارَةِ</a:t>
            </a:r>
            <a:endParaRPr lang="ar-SA" sz="1600" dirty="0"/>
          </a:p>
        </p:txBody>
      </p:sp>
      <p:sp>
        <p:nvSpPr>
          <p:cNvPr id="24" name="Text 21"/>
          <p:cNvSpPr txBox="1"/>
          <p:nvPr/>
        </p:nvSpPr>
        <p:spPr>
          <a:xfrm>
            <a:off x="8851392" y="321868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 traffic lights</a:t>
            </a:r>
            <a:endParaRPr lang="en-US" sz="1050" dirty="0"/>
          </a:p>
        </p:txBody>
      </p:sp>
      <p:sp>
        <p:nvSpPr>
          <p:cNvPr id="25" name="Text 22"/>
          <p:cNvSpPr txBox="1"/>
          <p:nvPr/>
        </p:nvSpPr>
        <p:spPr>
          <a:xfrm>
            <a:off x="10102291" y="372160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الدَّوَامُ</a:t>
            </a:r>
            <a:endParaRPr lang="ar-SA" sz="1600" dirty="0"/>
          </a:p>
        </p:txBody>
      </p:sp>
      <p:sp>
        <p:nvSpPr>
          <p:cNvPr id="26" name="Text 23"/>
          <p:cNvSpPr txBox="1"/>
          <p:nvPr/>
        </p:nvSpPr>
        <p:spPr>
          <a:xfrm>
            <a:off x="8851392" y="372160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 school day</a:t>
            </a:r>
            <a:endParaRPr lang="en-US" sz="1050" dirty="0"/>
          </a:p>
        </p:txBody>
      </p:sp>
      <p:sp>
        <p:nvSpPr>
          <p:cNvPr id="27" name="Text 24"/>
          <p:cNvSpPr txBox="1"/>
          <p:nvPr/>
        </p:nvSpPr>
        <p:spPr>
          <a:xfrm>
            <a:off x="10102291" y="422452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تَعَالَ</a:t>
            </a:r>
            <a:endParaRPr lang="ar-SA" sz="1600" dirty="0"/>
          </a:p>
        </p:txBody>
      </p:sp>
      <p:sp>
        <p:nvSpPr>
          <p:cNvPr id="28" name="Text 25"/>
          <p:cNvSpPr txBox="1"/>
          <p:nvPr/>
        </p:nvSpPr>
        <p:spPr>
          <a:xfrm>
            <a:off x="8851392" y="422452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come!</a:t>
            </a:r>
            <a:endParaRPr lang="en-US" sz="1050" dirty="0"/>
          </a:p>
        </p:txBody>
      </p:sp>
      <p:sp>
        <p:nvSpPr>
          <p:cNvPr id="29" name="Text 2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34</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GM-CP-02 · Conjunctions and Prepositions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READING QUESTIONS · FIND THE GRAMMAR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notice the grammar</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القِرَاءَةِ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Conjunctions and Prepositions · GM-CP-02</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Where is the school?</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opposite the station</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between the mosque and the library</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behind the park</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opposite the school?</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bakery</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bus stop</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small pharmacy</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Where do you turn left?</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at the park</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at the lights</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at the mosque</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When should you arrive?</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after eight</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ten minutes before eight</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at eight exactly</a:t>
            </a:r>
            <a:endParaRPr lang="en-US" sz="1250" dirty="0"/>
          </a:p>
        </p:txBody>
      </p:sp>
      <p:sp>
        <p:nvSpPr>
          <p:cNvPr id="67" name="Shape 64"/>
          <p:cNvSpPr/>
          <p:nvPr/>
        </p:nvSpPr>
        <p:spPr>
          <a:xfrm>
            <a:off x="4276344"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68" name="Text 65"/>
          <p:cNvSpPr txBox="1"/>
          <p:nvPr/>
        </p:nvSpPr>
        <p:spPr>
          <a:xfrm>
            <a:off x="4459224"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GRAMMAR DETECTIVE</a:t>
            </a:r>
            <a:endParaRPr lang="en-US" sz="1000" dirty="0"/>
          </a:p>
        </p:txBody>
      </p:sp>
      <p:sp>
        <p:nvSpPr>
          <p:cNvPr id="69" name="Text 66"/>
          <p:cNvSpPr txBox="1"/>
          <p:nvPr/>
        </p:nvSpPr>
        <p:spPr>
          <a:xfrm>
            <a:off x="4459224"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the phrase in the text.</a:t>
            </a:r>
            <a:endParaRPr lang="en-US" sz="1250" dirty="0"/>
          </a:p>
          <a:p>
            <a:pPr algn="l" indent="0" marL="0">
              <a:buNone/>
            </a:pPr>
            <a:r>
              <a:rPr lang="en-US" sz="1250" dirty="0">
                <a:solidFill>
                  <a:srgbClr val="1F2A37"/>
                </a:solidFill>
                <a:latin typeface="Calibri" pitchFamily="34" charset="0"/>
                <a:cs typeface="Amiri" pitchFamily="2" charset="-78"/>
              </a:rPr>
              <a:t>3. Name the rule that explains it.</a:t>
            </a:r>
            <a:endParaRPr lang="en-US" sz="1250" dirty="0"/>
          </a:p>
        </p:txBody>
      </p:sp>
      <p:sp>
        <p:nvSpPr>
          <p:cNvPr id="70" name="Text 6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34</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GM-CP-02 · Conjunctions and Prepositions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READING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القِرَاءَةِ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Conjunctions and Prepositions · GM-CP-02</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Where is the school?</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opposite the station</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between the mosque and the library</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behind the park</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Bayna l-masjidi wa-l-maktaba.</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opposite the school?</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bakery</a:t>
            </a:r>
            <a:endParaRPr lang="en-US" sz="1250" dirty="0"/>
          </a:p>
        </p:txBody>
      </p:sp>
      <p:sp>
        <p:nvSpPr>
          <p:cNvPr id="37" name="Shape 34"/>
          <p:cNvSpPr/>
          <p:nvPr/>
        </p:nvSpPr>
        <p:spPr>
          <a:xfrm>
            <a:off x="4459224"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bus stop</a:t>
            </a:r>
            <a:endParaRPr lang="en-US" sz="1250" dirty="0"/>
          </a:p>
        </p:txBody>
      </p:sp>
      <p:sp>
        <p:nvSpPr>
          <p:cNvPr id="40" name="Shape 37"/>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4459224"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 small pharmacy</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Muqābila l-madrasa ṣaydaliyya.</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Where do you turn left?</a:t>
            </a:r>
            <a:endParaRPr lang="en-US" sz="1250" dirty="0"/>
          </a:p>
        </p:txBody>
      </p:sp>
      <p:sp>
        <p:nvSpPr>
          <p:cNvPr id="49" name="Shape 46"/>
          <p:cNvSpPr/>
          <p:nvPr/>
        </p:nvSpPr>
        <p:spPr>
          <a:xfrm>
            <a:off x="8186928" y="2453640"/>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490216"/>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at the park</a:t>
            </a:r>
            <a:endParaRPr lang="en-US" sz="1250" dirty="0"/>
          </a:p>
        </p:txBody>
      </p:sp>
      <p:sp>
        <p:nvSpPr>
          <p:cNvPr id="53" name="Shape 50"/>
          <p:cNvSpPr/>
          <p:nvPr/>
        </p:nvSpPr>
        <p:spPr>
          <a:xfrm>
            <a:off x="8278368" y="2862072"/>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at the lights</a:t>
            </a:r>
            <a:endParaRPr lang="en-US" sz="1250" dirty="0"/>
          </a:p>
        </p:txBody>
      </p:sp>
      <p:sp>
        <p:nvSpPr>
          <p:cNvPr id="56" name="Shape 53"/>
          <p:cNvSpPr/>
          <p:nvPr/>
        </p:nvSpPr>
        <p:spPr>
          <a:xfrm>
            <a:off x="8278368" y="323392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at the mosque</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ʿInda l-ḥadīqa.</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When should you arrive?</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after eight</a:t>
            </a:r>
            <a:endParaRPr lang="en-US" sz="1250" dirty="0"/>
          </a:p>
        </p:txBody>
      </p:sp>
      <p:sp>
        <p:nvSpPr>
          <p:cNvPr id="67" name="Shape 64"/>
          <p:cNvSpPr/>
          <p:nvPr/>
        </p:nvSpPr>
        <p:spPr>
          <a:xfrm>
            <a:off x="548640" y="5166360"/>
            <a:ext cx="3453384" cy="347472"/>
          </a:xfrm>
          <a:prstGeom prst="roundRect">
            <a:avLst>
              <a:gd name="adj" fmla="val 15789"/>
            </a:avLst>
          </a:prstGeom>
          <a:solidFill>
            <a:srgbClr val="E6F4EC"/>
          </a:solidFill>
          <a:ln w="9525">
            <a:solidFill>
              <a:srgbClr val="2E8B57"/>
            </a:solidFill>
            <a:prstDash val="solid"/>
          </a:ln>
        </p:spPr>
      </p:sp>
      <p:sp>
        <p:nvSpPr>
          <p:cNvPr id="68" name="Shape 65"/>
          <p:cNvSpPr/>
          <p:nvPr/>
        </p:nvSpPr>
        <p:spPr>
          <a:xfrm>
            <a:off x="640080" y="5202936"/>
            <a:ext cx="256032" cy="256032"/>
          </a:xfrm>
          <a:prstGeom prst="ellipse">
            <a:avLst/>
          </a:prstGeom>
          <a:solidFill>
            <a:srgbClr val="2E8B57"/>
          </a:solidFill>
          <a:ln w="12700">
            <a:solidFill>
              <a:srgbClr val="2E8B57"/>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ten minutes before eight</a:t>
            </a:r>
            <a:endParaRPr lang="en-US" sz="125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at eight exactly</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Qablahā bi-ʿashri daqāʾiq.</a:t>
            </a:r>
            <a:endParaRPr lang="en-US" sz="1050" dirty="0"/>
          </a:p>
        </p:txBody>
      </p:sp>
      <p:sp>
        <p:nvSpPr>
          <p:cNvPr id="75" name="Shape 72"/>
          <p:cNvSpPr/>
          <p:nvPr/>
        </p:nvSpPr>
        <p:spPr>
          <a:xfrm>
            <a:off x="4276344"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6" name="Text 73"/>
          <p:cNvSpPr txBox="1"/>
          <p:nvPr/>
        </p:nvSpPr>
        <p:spPr>
          <a:xfrm>
            <a:off x="4459224"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GRAMMAR DETECTIVE</a:t>
            </a:r>
            <a:endParaRPr lang="en-US" sz="1000" dirty="0"/>
          </a:p>
        </p:txBody>
      </p:sp>
      <p:sp>
        <p:nvSpPr>
          <p:cNvPr id="77" name="Text 74"/>
          <p:cNvSpPr txBox="1"/>
          <p:nvPr/>
        </p:nvSpPr>
        <p:spPr>
          <a:xfrm>
            <a:off x="4459224"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the phrase in the text.</a:t>
            </a:r>
            <a:endParaRPr lang="en-US" sz="1250" dirty="0"/>
          </a:p>
          <a:p>
            <a:pPr algn="l" indent="0" marL="0">
              <a:buNone/>
            </a:pPr>
            <a:r>
              <a:rPr lang="en-US" sz="1250" dirty="0">
                <a:solidFill>
                  <a:srgbClr val="1F2A37"/>
                </a:solidFill>
                <a:latin typeface="Calibri" pitchFamily="34" charset="0"/>
                <a:cs typeface="Amiri" pitchFamily="2" charset="-78"/>
              </a:rPr>
              <a:t>3. Name the rule that explains it.</a:t>
            </a:r>
            <a:endParaRPr lang="en-US" sz="1250" dirty="0"/>
          </a:p>
        </p:txBody>
      </p:sp>
      <p:sp>
        <p:nvSpPr>
          <p:cNvPr id="78" name="Text 7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24 / 34</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GM-CP-02 · Conjunctions and Prepositions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SAY IT BEFORE YOU WRITE IT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Speaking: help a stranger find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التَّحَدُّثُ</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Conjunctions and Prepositions · GM-CP-02</a:t>
            </a:r>
            <a:endParaRPr lang="en-US" sz="850" dirty="0"/>
          </a:p>
        </p:txBody>
      </p:sp>
      <p:sp>
        <p:nvSpPr>
          <p:cNvPr id="15" name="Shape 12"/>
          <p:cNvSpPr/>
          <p:nvPr/>
        </p:nvSpPr>
        <p:spPr>
          <a:xfrm>
            <a:off x="457200" y="1810512"/>
            <a:ext cx="2185416" cy="566928"/>
          </a:xfrm>
          <a:prstGeom prst="roundRect">
            <a:avLst>
              <a:gd name="adj" fmla="val 12903"/>
            </a:avLst>
          </a:prstGeom>
          <a:solidFill>
            <a:srgbClr val="EEF3FA"/>
          </a:solidFill>
          <a:ln w="9525">
            <a:solidFill>
              <a:srgbClr val="C9D6EA"/>
            </a:solidFill>
            <a:prstDash val="solid"/>
          </a:ln>
        </p:spPr>
      </p:sp>
      <p:sp>
        <p:nvSpPr>
          <p:cNvPr id="16" name="Text 13"/>
          <p:cNvSpPr txBox="1"/>
          <p:nvPr/>
        </p:nvSpPr>
        <p:spPr>
          <a:xfrm>
            <a:off x="512064"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17" name="Text 14"/>
          <p:cNvSpPr txBox="1"/>
          <p:nvPr/>
        </p:nvSpPr>
        <p:spPr>
          <a:xfrm>
            <a:off x="914400"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Think</a:t>
            </a:r>
            <a:endParaRPr lang="en-US" sz="1050" dirty="0"/>
          </a:p>
          <a:p>
            <a:pPr indent="0" marL="0">
              <a:buNone/>
            </a:pPr>
            <a:r>
              <a:rPr lang="en-US" sz="950" dirty="0">
                <a:solidFill>
                  <a:srgbClr val="5A6472"/>
                </a:solidFill>
                <a:latin typeface="Calibri" pitchFamily="34" charset="0"/>
                <a:cs typeface="Amiri" pitchFamily="2" charset="-78"/>
              </a:rPr>
              <a:t>10 seconds</a:t>
            </a:r>
            <a:endParaRPr lang="en-US" sz="1050" dirty="0"/>
          </a:p>
        </p:txBody>
      </p:sp>
      <p:sp>
        <p:nvSpPr>
          <p:cNvPr id="18" name="Shape 15"/>
          <p:cNvSpPr/>
          <p:nvPr/>
        </p:nvSpPr>
        <p:spPr>
          <a:xfrm>
            <a:off x="2729484" y="1810512"/>
            <a:ext cx="2185416" cy="566928"/>
          </a:xfrm>
          <a:prstGeom prst="roundRect">
            <a:avLst>
              <a:gd name="adj" fmla="val 12903"/>
            </a:avLst>
          </a:prstGeom>
          <a:solidFill>
            <a:srgbClr val="EEF3FA"/>
          </a:solidFill>
          <a:ln w="9525">
            <a:solidFill>
              <a:srgbClr val="C9D6EA"/>
            </a:solidFill>
            <a:prstDash val="solid"/>
          </a:ln>
        </p:spPr>
      </p:sp>
      <p:sp>
        <p:nvSpPr>
          <p:cNvPr id="19" name="Text 16"/>
          <p:cNvSpPr txBox="1"/>
          <p:nvPr/>
        </p:nvSpPr>
        <p:spPr>
          <a:xfrm>
            <a:off x="2784348"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0" name="Text 17"/>
          <p:cNvSpPr txBox="1"/>
          <p:nvPr/>
        </p:nvSpPr>
        <p:spPr>
          <a:xfrm>
            <a:off x="3186684"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Rehearse</a:t>
            </a:r>
            <a:endParaRPr lang="en-US" sz="1050" dirty="0"/>
          </a:p>
          <a:p>
            <a:pPr indent="0" marL="0">
              <a:buNone/>
            </a:pPr>
            <a:r>
              <a:rPr lang="en-US" sz="950" dirty="0">
                <a:solidFill>
                  <a:srgbClr val="5A6472"/>
                </a:solidFill>
                <a:latin typeface="Calibri" pitchFamily="34" charset="0"/>
                <a:cs typeface="Amiri" pitchFamily="2" charset="-78"/>
              </a:rPr>
              <a:t>muted · 45 s</a:t>
            </a:r>
            <a:endParaRPr lang="en-US" sz="1050" dirty="0"/>
          </a:p>
        </p:txBody>
      </p:sp>
      <p:sp>
        <p:nvSpPr>
          <p:cNvPr id="21" name="Shape 18"/>
          <p:cNvSpPr/>
          <p:nvPr/>
        </p:nvSpPr>
        <p:spPr>
          <a:xfrm>
            <a:off x="5001768" y="1810512"/>
            <a:ext cx="2185416" cy="566928"/>
          </a:xfrm>
          <a:prstGeom prst="roundRect">
            <a:avLst>
              <a:gd name="adj" fmla="val 12903"/>
            </a:avLst>
          </a:prstGeom>
          <a:solidFill>
            <a:srgbClr val="EEF3FA"/>
          </a:solidFill>
          <a:ln w="9525">
            <a:solidFill>
              <a:srgbClr val="C9D6EA"/>
            </a:solidFill>
            <a:prstDash val="solid"/>
          </a:ln>
        </p:spPr>
      </p:sp>
      <p:sp>
        <p:nvSpPr>
          <p:cNvPr id="22" name="Text 19"/>
          <p:cNvSpPr txBox="1"/>
          <p:nvPr/>
        </p:nvSpPr>
        <p:spPr>
          <a:xfrm>
            <a:off x="5056632"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3" name="Text 20"/>
          <p:cNvSpPr txBox="1"/>
          <p:nvPr/>
        </p:nvSpPr>
        <p:spPr>
          <a:xfrm>
            <a:off x="5458968"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Pairs share</a:t>
            </a:r>
            <a:endParaRPr lang="en-US" sz="1050" dirty="0"/>
          </a:p>
          <a:p>
            <a:pPr indent="0" marL="0">
              <a:buNone/>
            </a:pPr>
            <a:r>
              <a:rPr lang="en-US" sz="950" dirty="0">
                <a:solidFill>
                  <a:srgbClr val="5A6472"/>
                </a:solidFill>
                <a:latin typeface="Calibri" pitchFamily="34" charset="0"/>
                <a:cs typeface="Amiri" pitchFamily="2" charset="-78"/>
              </a:rPr>
              <a:t>open mic</a:t>
            </a:r>
            <a:endParaRPr lang="en-US" sz="1050" dirty="0"/>
          </a:p>
        </p:txBody>
      </p:sp>
      <p:sp>
        <p:nvSpPr>
          <p:cNvPr id="24" name="Shape 21"/>
          <p:cNvSpPr/>
          <p:nvPr/>
        </p:nvSpPr>
        <p:spPr>
          <a:xfrm>
            <a:off x="7274052" y="1810512"/>
            <a:ext cx="2185416" cy="566928"/>
          </a:xfrm>
          <a:prstGeom prst="roundRect">
            <a:avLst>
              <a:gd name="adj" fmla="val 12903"/>
            </a:avLst>
          </a:prstGeom>
          <a:solidFill>
            <a:srgbClr val="EEF3FA"/>
          </a:solidFill>
          <a:ln w="9525">
            <a:solidFill>
              <a:srgbClr val="C9D6EA"/>
            </a:solidFill>
            <a:prstDash val="solid"/>
          </a:ln>
        </p:spPr>
      </p:sp>
      <p:sp>
        <p:nvSpPr>
          <p:cNvPr id="25" name="Text 22"/>
          <p:cNvSpPr txBox="1"/>
          <p:nvPr/>
        </p:nvSpPr>
        <p:spPr>
          <a:xfrm>
            <a:off x="7328916"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 ?</a:t>
            </a:r>
            <a:endParaRPr lang="en-US" sz="1800" dirty="0"/>
          </a:p>
        </p:txBody>
      </p:sp>
      <p:sp>
        <p:nvSpPr>
          <p:cNvPr id="26" name="Text 23"/>
          <p:cNvSpPr txBox="1"/>
          <p:nvPr/>
        </p:nvSpPr>
        <p:spPr>
          <a:xfrm>
            <a:off x="7731252"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Build / ask</a:t>
            </a:r>
            <a:endParaRPr lang="en-US" sz="1050" dirty="0"/>
          </a:p>
          <a:p>
            <a:pPr indent="0" marL="0">
              <a:buNone/>
            </a:pPr>
            <a:r>
              <a:rPr lang="en-US" sz="950" dirty="0">
                <a:solidFill>
                  <a:srgbClr val="5A6472"/>
                </a:solidFill>
                <a:latin typeface="Calibri" pitchFamily="34" charset="0"/>
                <a:cs typeface="Amiri" pitchFamily="2" charset="-78"/>
              </a:rPr>
              <a:t>in the chat</a:t>
            </a:r>
            <a:endParaRPr lang="en-US" sz="1050" dirty="0"/>
          </a:p>
        </p:txBody>
      </p:sp>
      <p:sp>
        <p:nvSpPr>
          <p:cNvPr id="27" name="Shape 24"/>
          <p:cNvSpPr/>
          <p:nvPr/>
        </p:nvSpPr>
        <p:spPr>
          <a:xfrm>
            <a:off x="9546336" y="1810512"/>
            <a:ext cx="2185416" cy="566928"/>
          </a:xfrm>
          <a:prstGeom prst="roundRect">
            <a:avLst>
              <a:gd name="adj" fmla="val 12903"/>
            </a:avLst>
          </a:prstGeom>
          <a:solidFill>
            <a:srgbClr val="EEF3FA"/>
          </a:solidFill>
          <a:ln w="9525">
            <a:solidFill>
              <a:srgbClr val="C9D6EA"/>
            </a:solidFill>
            <a:prstDash val="solid"/>
          </a:ln>
        </p:spPr>
      </p:sp>
      <p:sp>
        <p:nvSpPr>
          <p:cNvPr id="28" name="Text 25"/>
          <p:cNvSpPr txBox="1"/>
          <p:nvPr/>
        </p:nvSpPr>
        <p:spPr>
          <a:xfrm>
            <a:off x="9601200"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9" name="Text 26"/>
          <p:cNvSpPr txBox="1"/>
          <p:nvPr/>
        </p:nvSpPr>
        <p:spPr>
          <a:xfrm>
            <a:off x="10003536"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Summarise</a:t>
            </a:r>
            <a:endParaRPr lang="en-US" sz="1050" dirty="0"/>
          </a:p>
          <a:p>
            <a:pPr indent="0" marL="0">
              <a:buNone/>
            </a:pPr>
            <a:r>
              <a:rPr lang="en-US" sz="950" dirty="0">
                <a:solidFill>
                  <a:srgbClr val="5A6472"/>
                </a:solidFill>
                <a:latin typeface="Calibri" pitchFamily="34" charset="0"/>
                <a:cs typeface="Amiri" pitchFamily="2" charset="-78"/>
              </a:rPr>
              <a:t>he / she …</a:t>
            </a:r>
            <a:endParaRPr lang="en-US" sz="1050" dirty="0"/>
          </a:p>
        </p:txBody>
      </p:sp>
      <p:sp>
        <p:nvSpPr>
          <p:cNvPr id="30" name="Shape 27"/>
          <p:cNvSpPr/>
          <p:nvPr/>
        </p:nvSpPr>
        <p:spPr>
          <a:xfrm>
            <a:off x="4754880" y="2487168"/>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846320" y="2642616"/>
            <a:ext cx="960120" cy="256032"/>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4846320" y="2642616"/>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3" name="Text 30"/>
          <p:cNvSpPr txBox="1"/>
          <p:nvPr/>
        </p:nvSpPr>
        <p:spPr>
          <a:xfrm>
            <a:off x="5897880" y="2487168"/>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صِفْ غُرْفَتَكَ: أَيْنَ السَّرِيرُ؟ وَأَيْنَ الْمَكْتَبُ؟</a:t>
            </a:r>
            <a:endParaRPr lang="ar-SA" sz="1800" dirty="0"/>
          </a:p>
        </p:txBody>
      </p:sp>
      <p:sp>
        <p:nvSpPr>
          <p:cNvPr id="34" name="Shape 31"/>
          <p:cNvSpPr/>
          <p:nvPr/>
        </p:nvSpPr>
        <p:spPr>
          <a:xfrm>
            <a:off x="4754880" y="3108960"/>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4846320" y="3264408"/>
            <a:ext cx="960120" cy="256032"/>
          </a:xfrm>
          <a:prstGeom prst="roundRect">
            <a:avLst>
              <a:gd name="adj" fmla="val 50000"/>
            </a:avLst>
          </a:prstGeom>
          <a:solidFill>
            <a:srgbClr val="C9780A"/>
          </a:solidFill>
          <a:ln w="12700">
            <a:solidFill>
              <a:srgbClr val="C9780A"/>
            </a:solidFill>
            <a:prstDash val="solid"/>
          </a:ln>
        </p:spPr>
      </p:sp>
      <p:sp>
        <p:nvSpPr>
          <p:cNvPr id="36" name="Text 33"/>
          <p:cNvSpPr txBox="1"/>
          <p:nvPr/>
        </p:nvSpPr>
        <p:spPr>
          <a:xfrm>
            <a:off x="4846320" y="3264408"/>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7" name="Text 34"/>
          <p:cNvSpPr txBox="1"/>
          <p:nvPr/>
        </p:nvSpPr>
        <p:spPr>
          <a:xfrm>
            <a:off x="5897880" y="3108960"/>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أَيْنَ يَقَعُ بَيْتُكَ؟ مَاذَا يُوجَدُ بِجَانِبِهِ وَمُقَابِلَهُ؟</a:t>
            </a:r>
            <a:endParaRPr lang="ar-SA" sz="1800" dirty="0"/>
          </a:p>
        </p:txBody>
      </p:sp>
      <p:sp>
        <p:nvSpPr>
          <p:cNvPr id="38" name="Shape 35"/>
          <p:cNvSpPr/>
          <p:nvPr/>
        </p:nvSpPr>
        <p:spPr>
          <a:xfrm>
            <a:off x="4754880" y="3730752"/>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4846320" y="3886200"/>
            <a:ext cx="960120" cy="256032"/>
          </a:xfrm>
          <a:prstGeom prst="roundRect">
            <a:avLst>
              <a:gd name="adj" fmla="val 50000"/>
            </a:avLst>
          </a:prstGeom>
          <a:solidFill>
            <a:srgbClr val="B83227"/>
          </a:solidFill>
          <a:ln w="12700">
            <a:solidFill>
              <a:srgbClr val="B83227"/>
            </a:solidFill>
            <a:prstDash val="solid"/>
          </a:ln>
        </p:spPr>
      </p:sp>
      <p:sp>
        <p:nvSpPr>
          <p:cNvPr id="40" name="Text 37"/>
          <p:cNvSpPr txBox="1"/>
          <p:nvPr/>
        </p:nvSpPr>
        <p:spPr>
          <a:xfrm>
            <a:off x="4846320" y="3886200"/>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1" name="Text 38"/>
          <p:cNvSpPr txBox="1"/>
          <p:nvPr/>
        </p:nvSpPr>
        <p:spPr>
          <a:xfrm>
            <a:off x="5897880" y="3730752"/>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كَيْفَ أَصِلُ مِنَ الْمَدْرَسَةِ إِلَى أَقْرَبِ مَسْجِدٍ؟</a:t>
            </a:r>
            <a:endParaRPr lang="ar-SA" sz="1800" dirty="0"/>
          </a:p>
        </p:txBody>
      </p:sp>
      <p:sp>
        <p:nvSpPr>
          <p:cNvPr id="42" name="Shape 39"/>
          <p:cNvSpPr/>
          <p:nvPr/>
        </p:nvSpPr>
        <p:spPr>
          <a:xfrm>
            <a:off x="457200" y="2487168"/>
            <a:ext cx="4114800" cy="2651760"/>
          </a:xfrm>
          <a:prstGeom prst="roundRect">
            <a:avLst>
              <a:gd name="adj" fmla="val 2759"/>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640080" y="2542032"/>
            <a:ext cx="27432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SENTENCE STEMS</a:t>
            </a:r>
            <a:endParaRPr lang="en-US" sz="1000" dirty="0"/>
          </a:p>
        </p:txBody>
      </p:sp>
      <p:sp>
        <p:nvSpPr>
          <p:cNvPr id="44" name="Shape 41"/>
          <p:cNvSpPr/>
          <p:nvPr/>
        </p:nvSpPr>
        <p:spPr>
          <a:xfrm>
            <a:off x="640080" y="3008376"/>
            <a:ext cx="1051560" cy="256032"/>
          </a:xfrm>
          <a:prstGeom prst="roundRect">
            <a:avLst>
              <a:gd name="adj" fmla="val 50000"/>
            </a:avLst>
          </a:prstGeom>
          <a:solidFill>
            <a:srgbClr val="2E8B57"/>
          </a:solidFill>
          <a:ln w="12700">
            <a:solidFill>
              <a:srgbClr val="2E8B57"/>
            </a:solidFill>
            <a:prstDash val="solid"/>
          </a:ln>
        </p:spPr>
      </p:sp>
      <p:sp>
        <p:nvSpPr>
          <p:cNvPr id="45" name="Text 42"/>
          <p:cNvSpPr txBox="1"/>
          <p:nvPr/>
        </p:nvSpPr>
        <p:spPr>
          <a:xfrm>
            <a:off x="640080" y="3008376"/>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6" name="Text 43"/>
          <p:cNvSpPr txBox="1"/>
          <p:nvPr/>
        </p:nvSpPr>
        <p:spPr>
          <a:xfrm>
            <a:off x="1783080" y="2852928"/>
            <a:ext cx="2697480" cy="557784"/>
          </a:xfrm>
          <a:prstGeom prst="rect">
            <a:avLst/>
          </a:prstGeom>
          <a:noFill/>
          <a:ln/>
        </p:spPr>
        <p:txBody>
          <a:bodyPr wrap="square" lIns="0" tIns="0" rIns="0" bIns="0" rtlCol="0" anchor="ctr"/>
          <a:lstStyle/>
          <a:p>
            <a:pPr rtl="1" algn="r" indent="0" marL="0">
              <a:buNone/>
            </a:pPr>
            <a:r>
              <a:rPr lang="ar-SA" altLang="en-US" sz="1400" b="1" dirty="0">
                <a:solidFill>
                  <a:srgbClr val="1D5FBF"/>
                </a:solidFill>
                <a:latin typeface="Amiri" pitchFamily="2" charset="-78"/>
                <a:ea typeface="Amiri" pitchFamily="2" charset="-78"/>
                <a:cs typeface="Amiri" pitchFamily="2" charset="-78"/>
              </a:rPr>
              <a:t>السَّرِيرُ ___ النَّافِذَةِ، وَالْمَكْتَبُ ___ الْبَابِ.</a:t>
            </a:r>
            <a:endParaRPr lang="ar-SA" sz="1400" dirty="0"/>
          </a:p>
        </p:txBody>
      </p:sp>
      <p:sp>
        <p:nvSpPr>
          <p:cNvPr id="47" name="Shape 44"/>
          <p:cNvSpPr/>
          <p:nvPr/>
        </p:nvSpPr>
        <p:spPr>
          <a:xfrm>
            <a:off x="640080" y="3566160"/>
            <a:ext cx="1051560" cy="256032"/>
          </a:xfrm>
          <a:prstGeom prst="roundRect">
            <a:avLst>
              <a:gd name="adj" fmla="val 50000"/>
            </a:avLst>
          </a:prstGeom>
          <a:solidFill>
            <a:srgbClr val="C9780A"/>
          </a:solidFill>
          <a:ln w="12700">
            <a:solidFill>
              <a:srgbClr val="C9780A"/>
            </a:solidFill>
            <a:prstDash val="solid"/>
          </a:ln>
        </p:spPr>
      </p:sp>
      <p:sp>
        <p:nvSpPr>
          <p:cNvPr id="48" name="Text 45"/>
          <p:cNvSpPr txBox="1"/>
          <p:nvPr/>
        </p:nvSpPr>
        <p:spPr>
          <a:xfrm>
            <a:off x="640080" y="3566160"/>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49" name="Text 46"/>
          <p:cNvSpPr txBox="1"/>
          <p:nvPr/>
        </p:nvSpPr>
        <p:spPr>
          <a:xfrm>
            <a:off x="1783080" y="3410712"/>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ea typeface="Amiri" pitchFamily="2" charset="-78"/>
                <a:cs typeface="Amiri" pitchFamily="2" charset="-78"/>
              </a:rPr>
              <a:t>يَقَعُ بَيْتِي ___ ، وَبِجَانِبِهِ ___ .</a:t>
            </a:r>
            <a:endParaRPr lang="ar-SA" sz="1600" dirty="0"/>
          </a:p>
        </p:txBody>
      </p:sp>
      <p:sp>
        <p:nvSpPr>
          <p:cNvPr id="50" name="Shape 47"/>
          <p:cNvSpPr/>
          <p:nvPr/>
        </p:nvSpPr>
        <p:spPr>
          <a:xfrm>
            <a:off x="640080" y="4123944"/>
            <a:ext cx="1051560" cy="256032"/>
          </a:xfrm>
          <a:prstGeom prst="roundRect">
            <a:avLst>
              <a:gd name="adj" fmla="val 50000"/>
            </a:avLst>
          </a:prstGeom>
          <a:solidFill>
            <a:srgbClr val="B83227"/>
          </a:solidFill>
          <a:ln w="12700">
            <a:solidFill>
              <a:srgbClr val="B83227"/>
            </a:solidFill>
            <a:prstDash val="solid"/>
          </a:ln>
        </p:spPr>
      </p:sp>
      <p:sp>
        <p:nvSpPr>
          <p:cNvPr id="51" name="Text 48"/>
          <p:cNvSpPr txBox="1"/>
          <p:nvPr/>
        </p:nvSpPr>
        <p:spPr>
          <a:xfrm>
            <a:off x="640080" y="4123944"/>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52" name="Text 49"/>
          <p:cNvSpPr txBox="1"/>
          <p:nvPr/>
        </p:nvSpPr>
        <p:spPr>
          <a:xfrm>
            <a:off x="1783080" y="3968496"/>
            <a:ext cx="2697480" cy="557784"/>
          </a:xfrm>
          <a:prstGeom prst="rect">
            <a:avLst/>
          </a:prstGeom>
          <a:noFill/>
          <a:ln/>
        </p:spPr>
        <p:txBody>
          <a:bodyPr wrap="square" lIns="0" tIns="0" rIns="0" bIns="0" rtlCol="0" anchor="ctr"/>
          <a:lstStyle/>
          <a:p>
            <a:pPr rtl="1" algn="r" indent="0" marL="0">
              <a:buNone/>
            </a:pPr>
            <a:r>
              <a:rPr lang="ar-SA" altLang="en-US" sz="1450" b="1" dirty="0">
                <a:solidFill>
                  <a:srgbClr val="1F2A37"/>
                </a:solidFill>
                <a:latin typeface="Amiri" pitchFamily="2" charset="-78"/>
                <a:ea typeface="Amiri" pitchFamily="2" charset="-78"/>
                <a:cs typeface="Amiri" pitchFamily="2" charset="-78"/>
              </a:rPr>
              <a:t>اُخْرُجْ مِنَ ___ ، وَسِرْ حَتَّى ___ ، ثُمَّ ___ .</a:t>
            </a:r>
            <a:endParaRPr lang="ar-SA" sz="1450" dirty="0"/>
          </a:p>
        </p:txBody>
      </p:sp>
      <p:sp>
        <p:nvSpPr>
          <p:cNvPr id="53" name="Shape 50"/>
          <p:cNvSpPr/>
          <p:nvPr/>
        </p:nvSpPr>
        <p:spPr>
          <a:xfrm>
            <a:off x="457200" y="5248656"/>
            <a:ext cx="11274552" cy="1060704"/>
          </a:xfrm>
          <a:prstGeom prst="roundRect">
            <a:avLst>
              <a:gd name="adj" fmla="val 6897"/>
            </a:avLst>
          </a:prstGeom>
          <a:solidFill>
            <a:srgbClr val="EAF3EF"/>
          </a:solidFill>
          <a:ln w="9525">
            <a:solidFill>
              <a:srgbClr val="A8CDB9"/>
            </a:solidFill>
            <a:prstDash val="solid"/>
          </a:ln>
          <a:effectLst>
            <a:outerShdw sx="100000" sy="100000" kx="0" ky="0" algn="bl" rotWithShape="0" blurRad="50800" dist="19050" dir="5400000">
              <a:srgbClr val="000000">
                <a:alpha val="10000"/>
              </a:srgbClr>
            </a:outerShdw>
          </a:effectLst>
        </p:spPr>
      </p:sp>
      <p:sp>
        <p:nvSpPr>
          <p:cNvPr id="54" name="Text 51"/>
          <p:cNvSpPr txBox="1"/>
          <p:nvPr/>
        </p:nvSpPr>
        <p:spPr>
          <a:xfrm>
            <a:off x="640080" y="5285232"/>
            <a:ext cx="2011680" cy="256032"/>
          </a:xfrm>
          <a:prstGeom prst="rect">
            <a:avLst/>
          </a:prstGeom>
          <a:noFill/>
          <a:ln/>
        </p:spPr>
        <p:txBody>
          <a:bodyPr wrap="square" lIns="0" tIns="0" rIns="0" bIns="0" rtlCol="0" anchor="ctr"/>
          <a:lstStyle/>
          <a:p>
            <a:pPr algn="l" indent="0" marL="0">
              <a:buNone/>
            </a:pPr>
            <a:r>
              <a:rPr lang="en-US" sz="950" b="1" spc="100" kern="0" dirty="0">
                <a:solidFill>
                  <a:srgbClr val="1E6B52"/>
                </a:solidFill>
                <a:latin typeface="Calibri" pitchFamily="34" charset="0"/>
                <a:cs typeface="Amiri" pitchFamily="2" charset="-78"/>
              </a:rPr>
              <a:t>MODEL (WEBSITE)</a:t>
            </a:r>
            <a:endParaRPr lang="en-US" sz="950" dirty="0"/>
          </a:p>
        </p:txBody>
      </p:sp>
      <p:sp>
        <p:nvSpPr>
          <p:cNvPr id="55" name="Shape 52"/>
          <p:cNvSpPr/>
          <p:nvPr/>
        </p:nvSpPr>
        <p:spPr>
          <a:xfrm>
            <a:off x="11274552" y="5559552"/>
            <a:ext cx="292608" cy="292608"/>
          </a:xfrm>
          <a:prstGeom prst="ellipse">
            <a:avLst/>
          </a:prstGeom>
          <a:solidFill>
            <a:srgbClr val="1E6B52"/>
          </a:solidFill>
          <a:ln w="12700">
            <a:solidFill>
              <a:srgbClr val="1E6B52"/>
            </a:solidFill>
            <a:prstDash val="solid"/>
          </a:ln>
        </p:spPr>
      </p:sp>
      <p:sp>
        <p:nvSpPr>
          <p:cNvPr id="56" name="Text 53"/>
          <p:cNvSpPr txBox="1"/>
          <p:nvPr/>
        </p:nvSpPr>
        <p:spPr>
          <a:xfrm>
            <a:off x="11274552" y="555955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57" name="Text 54"/>
          <p:cNvSpPr txBox="1"/>
          <p:nvPr/>
        </p:nvSpPr>
        <p:spPr>
          <a:xfrm>
            <a:off x="2834640" y="552297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مِنْ فَضْلِكِ، أَيْنَ الْمَكْتَبَةُ؟</a:t>
            </a:r>
            <a:endParaRPr lang="ar-SA" sz="1550" dirty="0"/>
          </a:p>
        </p:txBody>
      </p:sp>
      <p:sp>
        <p:nvSpPr>
          <p:cNvPr id="58" name="Text 55"/>
          <p:cNvSpPr txBox="1"/>
          <p:nvPr/>
        </p:nvSpPr>
        <p:spPr>
          <a:xfrm>
            <a:off x="640080" y="552297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Excuse me, where is the library? (to a woman)</a:t>
            </a:r>
            <a:endParaRPr lang="en-US" sz="950" dirty="0"/>
          </a:p>
        </p:txBody>
      </p:sp>
      <p:sp>
        <p:nvSpPr>
          <p:cNvPr id="59" name="Shape 56"/>
          <p:cNvSpPr/>
          <p:nvPr/>
        </p:nvSpPr>
        <p:spPr>
          <a:xfrm>
            <a:off x="11274552" y="5925312"/>
            <a:ext cx="292608" cy="292608"/>
          </a:xfrm>
          <a:prstGeom prst="ellipse">
            <a:avLst/>
          </a:prstGeom>
          <a:solidFill>
            <a:srgbClr val="1E6B52"/>
          </a:solidFill>
          <a:ln w="12700">
            <a:solidFill>
              <a:srgbClr val="1E6B52"/>
            </a:solidFill>
            <a:prstDash val="solid"/>
          </a:ln>
        </p:spPr>
      </p:sp>
      <p:sp>
        <p:nvSpPr>
          <p:cNvPr id="60" name="Text 57"/>
          <p:cNvSpPr txBox="1"/>
          <p:nvPr/>
        </p:nvSpPr>
        <p:spPr>
          <a:xfrm>
            <a:off x="11274552" y="592531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61" name="Text 58"/>
          <p:cNvSpPr txBox="1"/>
          <p:nvPr/>
        </p:nvSpPr>
        <p:spPr>
          <a:xfrm>
            <a:off x="2834640" y="588873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الْمَكْتَبَةُ قَرِيبَةٌ. سِرْ مُسْتَقِيمًا، وَهِيَ مُقَابِلَ الْبَنْكِ، بَيْنَ الْمَقْهَى وَالصَّيْدَلِيَّةِ.</a:t>
            </a:r>
            <a:endParaRPr lang="ar-SA" sz="1550" dirty="0"/>
          </a:p>
        </p:txBody>
      </p:sp>
      <p:sp>
        <p:nvSpPr>
          <p:cNvPr id="62" name="Text 59"/>
          <p:cNvSpPr txBox="1"/>
          <p:nvPr/>
        </p:nvSpPr>
        <p:spPr>
          <a:xfrm>
            <a:off x="640080" y="5888736"/>
            <a:ext cx="2148840" cy="365760"/>
          </a:xfrm>
          <a:prstGeom prst="rect">
            <a:avLst/>
          </a:prstGeom>
          <a:noFill/>
          <a:ln/>
        </p:spPr>
        <p:txBody>
          <a:bodyPr wrap="square" lIns="0" tIns="0" rIns="0" bIns="0" rtlCol="0" anchor="ctr"/>
          <a:lstStyle/>
          <a:p>
            <a:pPr algn="l" indent="0" marL="0">
              <a:buNone/>
            </a:pPr>
            <a:r>
              <a:rPr lang="en-US" sz="750" i="1" dirty="0">
                <a:solidFill>
                  <a:srgbClr val="5A6472"/>
                </a:solidFill>
                <a:latin typeface="Calibri" pitchFamily="34" charset="0"/>
                <a:cs typeface="Amiri" pitchFamily="2" charset="-78"/>
              </a:rPr>
              <a:t>The library is near. Walk straight on; it is opposite the bank, between the café and the pharmacy.</a:t>
            </a:r>
            <a:endParaRPr lang="en-US" sz="7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25 / 34</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GM-CP-02 · Conjunctions and Prepositions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9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INDEPENDENT PRACTICE · 9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choose your route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Conjunctions and Prepositions · GM-CP-02</a:t>
            </a:r>
            <a:endParaRPr lang="en-US" sz="850" dirty="0"/>
          </a:p>
        </p:txBody>
      </p:sp>
      <p:sp>
        <p:nvSpPr>
          <p:cNvPr id="15" name="Shape 12"/>
          <p:cNvSpPr/>
          <p:nvPr/>
        </p:nvSpPr>
        <p:spPr>
          <a:xfrm>
            <a:off x="457200" y="1810512"/>
            <a:ext cx="3639312" cy="4315968"/>
          </a:xfrm>
          <a:prstGeom prst="roundRect">
            <a:avLst>
              <a:gd name="adj" fmla="val 2010"/>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310896"/>
          </a:xfrm>
          <a:prstGeom prst="roundRect">
            <a:avLst>
              <a:gd name="adj" fmla="val 50000"/>
            </a:avLst>
          </a:prstGeom>
          <a:solidFill>
            <a:srgbClr val="2E8B57"/>
          </a:solidFill>
          <a:ln w="12700">
            <a:solidFill>
              <a:srgbClr val="2E8B57"/>
            </a:solidFill>
            <a:prstDash val="solid"/>
          </a:ln>
        </p:spPr>
      </p:sp>
      <p:sp>
        <p:nvSpPr>
          <p:cNvPr id="17" name="Text 14"/>
          <p:cNvSpPr txBox="1"/>
          <p:nvPr/>
        </p:nvSpPr>
        <p:spPr>
          <a:xfrm>
            <a:off x="640080"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CORE</a:t>
            </a:r>
            <a:endParaRPr lang="en-US" sz="1000" dirty="0"/>
          </a:p>
        </p:txBody>
      </p:sp>
      <p:sp>
        <p:nvSpPr>
          <p:cNvPr id="18" name="Text 15"/>
          <p:cNvSpPr txBox="1"/>
          <p:nvPr/>
        </p:nvSpPr>
        <p:spPr>
          <a:xfrm>
            <a:off x="2450592"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2E8B57"/>
                </a:solidFill>
                <a:latin typeface="Amiri" pitchFamily="2" charset="-78"/>
                <a:ea typeface="Amiri" pitchFamily="2" charset="-78"/>
                <a:cs typeface="Amiri" pitchFamily="2" charset="-78"/>
              </a:rPr>
              <a:t>الأَسَاسُ</a:t>
            </a:r>
            <a:endParaRPr lang="ar-SA" sz="1800" dirty="0"/>
          </a:p>
        </p:txBody>
      </p:sp>
      <p:sp>
        <p:nvSpPr>
          <p:cNvPr id="19" name="Text 16"/>
          <p:cNvSpPr txBox="1"/>
          <p:nvPr/>
        </p:nvSpPr>
        <p:spPr>
          <a:xfrm>
            <a:off x="640080" y="2377440"/>
            <a:ext cx="3273552" cy="457200"/>
          </a:xfrm>
          <a:prstGeom prst="rect">
            <a:avLst/>
          </a:prstGeom>
          <a:noFill/>
          <a:ln/>
        </p:spPr>
        <p:txBody>
          <a:bodyPr wrap="square" lIns="0" tIns="0" rIns="0" bIns="0" rtlCol="0" anchor="ctr"/>
          <a:lstStyle/>
          <a:p>
            <a:pPr algn="l" indent="0" marL="0">
              <a:buNone/>
            </a:pPr>
            <a:r>
              <a:rPr lang="en-US" sz="2200" b="1" dirty="0">
                <a:solidFill>
                  <a:srgbClr val="2E8B57"/>
                </a:solidFill>
                <a:latin typeface="Cambria" pitchFamily="34" charset="0"/>
                <a:cs typeface="Amiri" pitchFamily="2" charset="-78"/>
              </a:rPr>
              <a:t>5 sentences</a:t>
            </a:r>
            <a:endParaRPr lang="en-US" sz="2200" dirty="0"/>
          </a:p>
        </p:txBody>
      </p:sp>
      <p:sp>
        <p:nvSpPr>
          <p:cNvPr id="20" name="Text 17"/>
          <p:cNvSpPr txBox="1"/>
          <p:nvPr/>
        </p:nvSpPr>
        <p:spPr>
          <a:xfrm>
            <a:off x="640080"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My room: where five things are.</a:t>
            </a:r>
            <a:endParaRPr lang="en-US" sz="1400" dirty="0"/>
          </a:p>
        </p:txBody>
      </p:sp>
      <p:sp>
        <p:nvSpPr>
          <p:cNvPr id="21" name="Shape 18"/>
          <p:cNvSpPr/>
          <p:nvPr/>
        </p:nvSpPr>
        <p:spPr>
          <a:xfrm>
            <a:off x="640080" y="4160520"/>
            <a:ext cx="3273552" cy="1783080"/>
          </a:xfrm>
          <a:prstGeom prst="roundRect">
            <a:avLst>
              <a:gd name="adj" fmla="val 4103"/>
            </a:avLst>
          </a:prstGeom>
          <a:solidFill>
            <a:srgbClr val="FFFFFF"/>
          </a:solidFill>
          <a:ln w="9525">
            <a:solidFill>
              <a:srgbClr val="FFFFFF"/>
            </a:solidFill>
            <a:prstDash val="solid"/>
          </a:ln>
        </p:spPr>
      </p:sp>
      <p:sp>
        <p:nvSpPr>
          <p:cNvPr id="22" name="Text 19"/>
          <p:cNvSpPr txBox="1"/>
          <p:nvPr/>
        </p:nvSpPr>
        <p:spPr>
          <a:xfrm>
            <a:off x="731520" y="4224528"/>
            <a:ext cx="3090672" cy="1645920"/>
          </a:xfrm>
          <a:prstGeom prst="rect">
            <a:avLst/>
          </a:prstGeom>
          <a:noFill/>
          <a:ln/>
        </p:spPr>
        <p:txBody>
          <a:bodyPr wrap="square" lIns="0" tIns="0" rIns="0" bIns="0" rtlCol="0" anchor="t"/>
          <a:lstStyle/>
          <a:p>
            <a:pPr indent="0" marL="0">
              <a:buNone/>
            </a:pPr>
            <a:r>
              <a:rPr lang="en-US" sz="900" b="1" spc="200" kern="0" dirty="0">
                <a:solidFill>
                  <a:srgbClr val="2E8B5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amāma · khalfa · fawqa · taḥta · bi-jānibi.</a:t>
            </a:r>
            <a:endParaRPr lang="en-US" sz="900" dirty="0"/>
          </a:p>
        </p:txBody>
      </p:sp>
      <p:sp>
        <p:nvSpPr>
          <p:cNvPr id="23" name="Shape 20"/>
          <p:cNvSpPr/>
          <p:nvPr/>
        </p:nvSpPr>
        <p:spPr>
          <a:xfrm>
            <a:off x="4279392" y="1810512"/>
            <a:ext cx="3639312" cy="4315968"/>
          </a:xfrm>
          <a:prstGeom prst="roundRect">
            <a:avLst>
              <a:gd name="adj" fmla="val 2010"/>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62272" y="1938528"/>
            <a:ext cx="1188720" cy="310896"/>
          </a:xfrm>
          <a:prstGeom prst="roundRect">
            <a:avLst>
              <a:gd name="adj" fmla="val 50000"/>
            </a:avLst>
          </a:prstGeom>
          <a:solidFill>
            <a:srgbClr val="C9780A"/>
          </a:solidFill>
          <a:ln w="12700">
            <a:solidFill>
              <a:srgbClr val="C9780A"/>
            </a:solidFill>
            <a:prstDash val="solid"/>
          </a:ln>
        </p:spPr>
      </p:sp>
      <p:sp>
        <p:nvSpPr>
          <p:cNvPr id="25" name="Text 22"/>
          <p:cNvSpPr txBox="1"/>
          <p:nvPr/>
        </p:nvSpPr>
        <p:spPr>
          <a:xfrm>
            <a:off x="4462272"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DEVELOP</a:t>
            </a:r>
            <a:endParaRPr lang="en-US" sz="1000" dirty="0"/>
          </a:p>
        </p:txBody>
      </p:sp>
      <p:sp>
        <p:nvSpPr>
          <p:cNvPr id="26" name="Text 23"/>
          <p:cNvSpPr txBox="1"/>
          <p:nvPr/>
        </p:nvSpPr>
        <p:spPr>
          <a:xfrm>
            <a:off x="6272784"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C9780A"/>
                </a:solidFill>
                <a:latin typeface="Amiri" pitchFamily="2" charset="-78"/>
                <a:ea typeface="Amiri" pitchFamily="2" charset="-78"/>
                <a:cs typeface="Amiri" pitchFamily="2" charset="-78"/>
              </a:rPr>
              <a:t>التَّطْوِيرُ</a:t>
            </a:r>
            <a:endParaRPr lang="ar-SA" sz="1800" dirty="0"/>
          </a:p>
        </p:txBody>
      </p:sp>
      <p:sp>
        <p:nvSpPr>
          <p:cNvPr id="27" name="Text 24"/>
          <p:cNvSpPr txBox="1"/>
          <p:nvPr/>
        </p:nvSpPr>
        <p:spPr>
          <a:xfrm>
            <a:off x="4462272" y="2377440"/>
            <a:ext cx="3273552" cy="457200"/>
          </a:xfrm>
          <a:prstGeom prst="rect">
            <a:avLst/>
          </a:prstGeom>
          <a:noFill/>
          <a:ln/>
        </p:spPr>
        <p:txBody>
          <a:bodyPr wrap="square" lIns="0" tIns="0" rIns="0" bIns="0" rtlCol="0" anchor="ctr"/>
          <a:lstStyle/>
          <a:p>
            <a:pPr algn="l" indent="0" marL="0">
              <a:buNone/>
            </a:pPr>
            <a:r>
              <a:rPr lang="en-US" sz="2200" b="1" dirty="0">
                <a:solidFill>
                  <a:srgbClr val="C9780A"/>
                </a:solidFill>
                <a:latin typeface="Cambria" pitchFamily="34" charset="0"/>
                <a:cs typeface="Amiri" pitchFamily="2" charset="-78"/>
              </a:rPr>
              <a:t>7 sentences</a:t>
            </a:r>
            <a:endParaRPr lang="en-US" sz="2200" dirty="0"/>
          </a:p>
        </p:txBody>
      </p:sp>
      <p:sp>
        <p:nvSpPr>
          <p:cNvPr id="28" name="Text 25"/>
          <p:cNvSpPr txBox="1"/>
          <p:nvPr/>
        </p:nvSpPr>
        <p:spPr>
          <a:xfrm>
            <a:off x="4462272"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My street on a map, with bayna and a time locator.</a:t>
            </a:r>
            <a:endParaRPr lang="en-US" sz="1400" dirty="0"/>
          </a:p>
        </p:txBody>
      </p:sp>
      <p:sp>
        <p:nvSpPr>
          <p:cNvPr id="29" name="Shape 26"/>
          <p:cNvSpPr/>
          <p:nvPr/>
        </p:nvSpPr>
        <p:spPr>
          <a:xfrm>
            <a:off x="4462272" y="4160520"/>
            <a:ext cx="3273552" cy="1783080"/>
          </a:xfrm>
          <a:prstGeom prst="roundRect">
            <a:avLst>
              <a:gd name="adj" fmla="val 4103"/>
            </a:avLst>
          </a:prstGeom>
          <a:solidFill>
            <a:srgbClr val="FFFFFF"/>
          </a:solidFill>
          <a:ln w="9525">
            <a:solidFill>
              <a:srgbClr val="FFFFFF"/>
            </a:solidFill>
            <a:prstDash val="solid"/>
          </a:ln>
        </p:spPr>
      </p:sp>
      <p:sp>
        <p:nvSpPr>
          <p:cNvPr id="30" name="Text 27"/>
          <p:cNvSpPr txBox="1"/>
          <p:nvPr/>
        </p:nvSpPr>
        <p:spPr>
          <a:xfrm>
            <a:off x="4553712" y="4224528"/>
            <a:ext cx="3090672" cy="1645920"/>
          </a:xfrm>
          <a:prstGeom prst="rect">
            <a:avLst/>
          </a:prstGeom>
          <a:noFill/>
          <a:ln/>
        </p:spPr>
        <p:txBody>
          <a:bodyPr wrap="square" lIns="0" tIns="0" rIns="0" bIns="0" rtlCol="0" anchor="t"/>
          <a:lstStyle/>
          <a:p>
            <a:pPr indent="0" marL="0">
              <a:buNone/>
            </a:pPr>
            <a:r>
              <a:rPr lang="en-US" sz="900" b="1" spc="200" kern="0" dirty="0">
                <a:solidFill>
                  <a:srgbClr val="C9780A"/>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Both nouns after bayna with kasra.</a:t>
            </a:r>
            <a:endParaRPr lang="en-US" sz="900" dirty="0"/>
          </a:p>
        </p:txBody>
      </p:sp>
      <p:sp>
        <p:nvSpPr>
          <p:cNvPr id="31" name="Shape 28"/>
          <p:cNvSpPr/>
          <p:nvPr/>
        </p:nvSpPr>
        <p:spPr>
          <a:xfrm>
            <a:off x="8101584" y="1810512"/>
            <a:ext cx="3639312" cy="4315968"/>
          </a:xfrm>
          <a:prstGeom prst="roundRect">
            <a:avLst>
              <a:gd name="adj" fmla="val 2010"/>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8284464" y="1938528"/>
            <a:ext cx="1188720" cy="310896"/>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8284464"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STRETCH</a:t>
            </a:r>
            <a:endParaRPr lang="en-US" sz="1000" dirty="0"/>
          </a:p>
        </p:txBody>
      </p:sp>
      <p:sp>
        <p:nvSpPr>
          <p:cNvPr id="34" name="Text 31"/>
          <p:cNvSpPr txBox="1"/>
          <p:nvPr/>
        </p:nvSpPr>
        <p:spPr>
          <a:xfrm>
            <a:off x="10094976"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التَّحَدِّي</a:t>
            </a:r>
            <a:endParaRPr lang="ar-SA" sz="1800" dirty="0"/>
          </a:p>
        </p:txBody>
      </p:sp>
      <p:sp>
        <p:nvSpPr>
          <p:cNvPr id="35" name="Text 32"/>
          <p:cNvSpPr txBox="1"/>
          <p:nvPr/>
        </p:nvSpPr>
        <p:spPr>
          <a:xfrm>
            <a:off x="8284464" y="2377440"/>
            <a:ext cx="3273552" cy="457200"/>
          </a:xfrm>
          <a:prstGeom prst="rect">
            <a:avLst/>
          </a:prstGeom>
          <a:noFill/>
          <a:ln/>
        </p:spPr>
        <p:txBody>
          <a:bodyPr wrap="square" lIns="0" tIns="0" rIns="0" bIns="0" rtlCol="0" anchor="ctr"/>
          <a:lstStyle/>
          <a:p>
            <a:pPr algn="l" indent="0" marL="0">
              <a:buNone/>
            </a:pPr>
            <a:r>
              <a:rPr lang="en-US" sz="2200" b="1" dirty="0">
                <a:solidFill>
                  <a:srgbClr val="B83227"/>
                </a:solidFill>
                <a:latin typeface="Cambria" pitchFamily="34" charset="0"/>
                <a:cs typeface="Amiri" pitchFamily="2" charset="-78"/>
              </a:rPr>
              <a:t>70–90 words</a:t>
            </a:r>
            <a:endParaRPr lang="en-US" sz="2200" dirty="0"/>
          </a:p>
        </p:txBody>
      </p:sp>
      <p:sp>
        <p:nvSpPr>
          <p:cNvPr id="36" name="Text 33"/>
          <p:cNvSpPr txBox="1"/>
          <p:nvPr/>
        </p:nvSpPr>
        <p:spPr>
          <a:xfrm>
            <a:off x="8284464"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Website task: six landmarks and a route.</a:t>
            </a:r>
            <a:endParaRPr lang="en-US" sz="1400" dirty="0"/>
          </a:p>
        </p:txBody>
      </p:sp>
      <p:sp>
        <p:nvSpPr>
          <p:cNvPr id="37" name="Shape 34"/>
          <p:cNvSpPr/>
          <p:nvPr/>
        </p:nvSpPr>
        <p:spPr>
          <a:xfrm>
            <a:off x="8284464" y="4160520"/>
            <a:ext cx="3273552" cy="1783080"/>
          </a:xfrm>
          <a:prstGeom prst="roundRect">
            <a:avLst>
              <a:gd name="adj" fmla="val 4103"/>
            </a:avLst>
          </a:prstGeom>
          <a:solidFill>
            <a:srgbClr val="FFFFFF"/>
          </a:solidFill>
          <a:ln w="9525">
            <a:solidFill>
              <a:srgbClr val="FFFFFF"/>
            </a:solidFill>
            <a:prstDash val="solid"/>
          </a:ln>
        </p:spPr>
      </p:sp>
      <p:sp>
        <p:nvSpPr>
          <p:cNvPr id="38" name="Text 35"/>
          <p:cNvSpPr txBox="1"/>
          <p:nvPr/>
        </p:nvSpPr>
        <p:spPr>
          <a:xfrm>
            <a:off x="8375904" y="4224528"/>
            <a:ext cx="3090672" cy="1645920"/>
          </a:xfrm>
          <a:prstGeom prst="rect">
            <a:avLst/>
          </a:prstGeom>
          <a:noFill/>
          <a:ln/>
        </p:spPr>
        <p:txBody>
          <a:bodyPr wrap="square" lIns="0" tIns="0" rIns="0" bIns="0" rtlCol="0" anchor="t"/>
          <a:lstStyle/>
          <a:p>
            <a:pPr indent="0" marL="0">
              <a:buNone/>
            </a:pPr>
            <a:r>
              <a:rPr lang="en-US" sz="900" b="1" spc="200" kern="0" dirty="0">
                <a:solidFill>
                  <a:srgbClr val="B8322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Connectors: thumma, baʿda dhālika.</a:t>
            </a:r>
            <a:endParaRPr lang="en-US" sz="9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26 / 34</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GM-CP-02 · Conjunctions and Prepositions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SUPPORT · CORE AND DEVELOP FRAMES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frames and word bank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الجُمَلِ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Conjunctions and Prepositions · GM-CP-02</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الْمَكْتَبَةُ بَيْنَ ______ وَ ______ .</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library is between … and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الْبَنْكُ مُقَابِلَ ______ .</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bank is opposite …</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أَسْكُنُ بِالْقُرْبِ مِنَ ______ .</a:t>
            </a:r>
            <a:endParaRPr lang="ar-SA" sz="180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live near …</a:t>
            </a:r>
            <a:endParaRPr lang="en-US" sz="1050" dirty="0"/>
          </a:p>
        </p:txBody>
      </p:sp>
      <p:sp>
        <p:nvSpPr>
          <p:cNvPr id="24" name="Text 21"/>
          <p:cNvSpPr txBox="1"/>
          <p:nvPr/>
        </p:nvSpPr>
        <p:spPr>
          <a:xfrm>
            <a:off x="2468880"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اِنْعَطِفْ يَمِينًا عِنْدَ ______ .</a:t>
            </a:r>
            <a:endParaRPr lang="ar-SA" sz="1800" dirty="0"/>
          </a:p>
        </p:txBody>
      </p:sp>
      <p:sp>
        <p:nvSpPr>
          <p:cNvPr id="25" name="Text 22"/>
          <p:cNvSpPr txBox="1"/>
          <p:nvPr/>
        </p:nvSpPr>
        <p:spPr>
          <a:xfrm>
            <a:off x="594360"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Turn right at …</a:t>
            </a:r>
            <a:endParaRPr lang="en-US" sz="1050" dirty="0"/>
          </a:p>
        </p:txBody>
      </p:sp>
      <p:sp>
        <p:nvSpPr>
          <p:cNvPr id="26" name="Shape 23"/>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7" name="Shape 24"/>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9" name="Text 26"/>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السَّرِيرُ بِجَانِبِ ______ .</a:t>
            </a:r>
            <a:endParaRPr lang="ar-SA" sz="1800" dirty="0"/>
          </a:p>
        </p:txBody>
      </p:sp>
      <p:sp>
        <p:nvSpPr>
          <p:cNvPr id="30" name="Text 27"/>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bed is beside …</a:t>
            </a:r>
            <a:endParaRPr lang="en-US" sz="1050" dirty="0"/>
          </a:p>
        </p:txBody>
      </p:sp>
      <p:sp>
        <p:nvSpPr>
          <p:cNvPr id="31" name="Text 28"/>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الْحَقِيبَةُ تَحْتَ ______ .</a:t>
            </a:r>
            <a:endParaRPr lang="ar-SA" sz="1800" dirty="0"/>
          </a:p>
        </p:txBody>
      </p:sp>
      <p:sp>
        <p:nvSpPr>
          <p:cNvPr id="32" name="Text 29"/>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bag is under …</a:t>
            </a:r>
            <a:endParaRPr lang="en-US" sz="1050" dirty="0"/>
          </a:p>
        </p:txBody>
      </p:sp>
      <p:sp>
        <p:nvSpPr>
          <p:cNvPr id="33" name="Text 30"/>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الصُّورَةُ فَوْقَ ______ .</a:t>
            </a:r>
            <a:endParaRPr lang="ar-SA" sz="1800" dirty="0"/>
          </a:p>
        </p:txBody>
      </p:sp>
      <p:sp>
        <p:nvSpPr>
          <p:cNvPr id="34" name="Text 31"/>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picture is above …</a:t>
            </a:r>
            <a:endParaRPr lang="en-US" sz="1050" dirty="0"/>
          </a:p>
        </p:txBody>
      </p:sp>
      <p:sp>
        <p:nvSpPr>
          <p:cNvPr id="35" name="Text 32"/>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السَّيَّارَةُ أَمَامَ ______ .</a:t>
            </a:r>
            <a:endParaRPr lang="ar-SA" sz="1800" dirty="0"/>
          </a:p>
        </p:txBody>
      </p:sp>
      <p:sp>
        <p:nvSpPr>
          <p:cNvPr id="36" name="Text 33"/>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car is in front of …</a:t>
            </a:r>
            <a:endParaRPr lang="en-US" sz="1050" dirty="0"/>
          </a:p>
        </p:txBody>
      </p:sp>
      <p:sp>
        <p:nvSpPr>
          <p:cNvPr id="37" name="Shape 34"/>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Text 35"/>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9" name="Text 36"/>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أَمَامَ  ·  خَلْفَ  ·  فَوْقَ  ·  تَحْتَ  ·  بِجَانِبِ  ·  مُقَابِلَ  ·  بَيْنَ … وَ …  ·  عِنْدَ  ·  بِالْقُرْبِ مِنْ  ·  بَعِيدًا عَنْ  ·  قَبْلَ  ·  بَعْدَ  ·  أَثْنَاءَ</a:t>
            </a:r>
            <a:endParaRPr lang="ar-SA" sz="160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27 / 34</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GM-CP-02 · Conjunctions and Prepositions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STRETCH · THE WEBSITE WRITING TASK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Stretch: the full writing task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مُهِمَّةُ التَّحَدِّي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Conjunctions and Prepositions · GM-CP-02</a:t>
            </a:r>
            <a:endParaRPr lang="en-US" sz="850" dirty="0"/>
          </a:p>
        </p:txBody>
      </p:sp>
      <p:sp>
        <p:nvSpPr>
          <p:cNvPr id="15" name="Shape 12"/>
          <p:cNvSpPr/>
          <p:nvPr/>
        </p:nvSpPr>
        <p:spPr>
          <a:xfrm>
            <a:off x="457200" y="1810512"/>
            <a:ext cx="5577840" cy="4498848"/>
          </a:xfrm>
          <a:prstGeom prst="roundRect">
            <a:avLst>
              <a:gd name="adj" fmla="val 1626"/>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292608"/>
          </a:xfrm>
          <a:prstGeom prst="roundRect">
            <a:avLst>
              <a:gd name="adj" fmla="val 50000"/>
            </a:avLst>
          </a:prstGeom>
          <a:solidFill>
            <a:srgbClr val="B83227"/>
          </a:solidFill>
          <a:ln w="12700">
            <a:solidFill>
              <a:srgbClr val="B83227"/>
            </a:solidFill>
            <a:prstDash val="solid"/>
          </a:ln>
        </p:spPr>
      </p:sp>
      <p:sp>
        <p:nvSpPr>
          <p:cNvPr id="17" name="Text 14"/>
          <p:cNvSpPr txBox="1"/>
          <p:nvPr/>
        </p:nvSpPr>
        <p:spPr>
          <a:xfrm>
            <a:off x="640080" y="1938528"/>
            <a:ext cx="118872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50" b="1" dirty="0">
                <a:solidFill>
                  <a:srgbClr val="1F2A37"/>
                </a:solidFill>
                <a:latin typeface="Calibri" pitchFamily="34" charset="0"/>
                <a:cs typeface="Amiri" pitchFamily="2" charset="-78"/>
              </a:rPr>
              <a:t>Website task: describe a room or local map (70–90 words) with six landmarks and one route.</a:t>
            </a:r>
            <a:endParaRPr lang="en-US" sz="13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Six spatial locators.</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One bayna phrase with two genitive nouns.</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One time locator.</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Connectors to sequence the route.</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Kasra on every noun after a locator.</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PHRASE BANK — USEFUL FOR THIS TASK</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يَقَعُ</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is located</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سِرْ مُسْتَقِيمًا</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walk straight on</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اِنْعَطِفْ يَمِينًا / يَسَارًا</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turn right / left</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فِي نِهَايَةِ الشَّارِعِ</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at the end of the street</a:t>
            </a:r>
            <a:endParaRPr lang="en-US" sz="1050" dirty="0"/>
          </a:p>
        </p:txBody>
      </p:sp>
      <p:sp>
        <p:nvSpPr>
          <p:cNvPr id="34" name="Text 31"/>
          <p:cNvSpPr txBox="1"/>
          <p:nvPr/>
        </p:nvSpPr>
        <p:spPr>
          <a:xfrm>
            <a:off x="8412480" y="4864608"/>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عَلَى بُعْدِ</a:t>
            </a:r>
            <a:endParaRPr lang="ar-SA" sz="1800" dirty="0"/>
          </a:p>
        </p:txBody>
      </p:sp>
      <p:sp>
        <p:nvSpPr>
          <p:cNvPr id="35" name="Text 32"/>
          <p:cNvSpPr txBox="1"/>
          <p:nvPr/>
        </p:nvSpPr>
        <p:spPr>
          <a:xfrm>
            <a:off x="6400800" y="5193792"/>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at a distance of</a:t>
            </a:r>
            <a:endParaRPr lang="en-US" sz="1050" dirty="0"/>
          </a:p>
        </p:txBody>
      </p:sp>
      <p:sp>
        <p:nvSpPr>
          <p:cNvPr id="36" name="Text 33"/>
          <p:cNvSpPr txBox="1"/>
          <p:nvPr/>
        </p:nvSpPr>
        <p:spPr>
          <a:xfrm>
            <a:off x="8412480" y="552297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ثُمَّ</a:t>
            </a:r>
            <a:endParaRPr lang="ar-SA" sz="1800" dirty="0"/>
          </a:p>
        </p:txBody>
      </p:sp>
      <p:sp>
        <p:nvSpPr>
          <p:cNvPr id="37" name="Text 34"/>
          <p:cNvSpPr txBox="1"/>
          <p:nvPr/>
        </p:nvSpPr>
        <p:spPr>
          <a:xfrm>
            <a:off x="6400800" y="585216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then</a:t>
            </a:r>
            <a:endParaRPr lang="en-US" sz="1050" dirty="0"/>
          </a:p>
        </p:txBody>
      </p:sp>
      <p:sp>
        <p:nvSpPr>
          <p:cNvPr id="38" name="Text 3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28 / 34</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GM-CP-02 · Conjunctions and Prepositions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COMPARE WITH THE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a strong answer looks like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Conjunctions and Prepositions · GM-CP-02</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أَسْكُنُ فِي شَارِعٍ هَادِئٍ بِالْقُرْبِ مِنْ وَسَطِ الْمَدِينَةِ. بَيْتِي بَيْنَ الْمَخْبَزِ وَالْمَسْجِدِ، وَأَمَامَهُ شَجَرَةٌ كَبِيرَةٌ. مُقَابِلَ الْبَيْتِ حَدِيقَةٌ عَامَّةٌ، وَخَلْفَ الْحَدِيقَةِ مَوْقِفُ الْحَافِلَاتِ. الْمَدْرَسَةُ بَعِيدَةٌ قَلِيلًا عَنْ بَيْتِي. لِلْوُصُولِ إِلَيْهَا، أَمْشِي حَتَّى نِهَايَةِ الشَّارِعِ، ثُمَّ أَنْعَطِفُ يَسَارًا عِنْدَ الصَّيْدَلِيَّةِ. أَخْرُجُ مِنَ الْبَيْتِ قَبْلَ السَّابِعَةِ، وَأَسْتَمِعُ إِلَى الْقُرْآنِ أَثْنَاءَ الطَّرِيقِ.</a:t>
            </a:r>
            <a:endParaRPr lang="ar-SA" sz="26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I live on a quiet street near the city centre. My house is between the bakery and the mosque, and in front of it is a big tree. Opposite the house is a public park, and behind the park is the bus stop. The school is a little far from my house. To get there, I walk to the end of the street, then turn left at the pharmacy. I leave the house before seven, and I listen to the Qur’an on the way.</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place locator</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bayna … wa-</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time locator</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route connector</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29 / 34</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GM-CP-02 · Conjunctions and Prepositions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Conjunctions and Prepositions · GM-CP-02</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five spatial locators.</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The noun after each locator ends in kasra.</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Both nouns after bayna … wa- have kasra.</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a time locator correctly (not khalfa for time).</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A stranger could follow my route.</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30 / 34</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GM-CP-02 · Conjunctions and Prepositions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ON YOUR OWN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three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Conjunctions and Prepositions · GM-CP-02</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“opposite the school”.</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مُقَابِلَ الْمَدْرَسَةِ</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دَاخِلَ الْمَدْرَسَةِ</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إِلَى الْمَدْرَسَةِ</a:t>
            </a:r>
            <a:endParaRPr lang="ar-SA" sz="2050" dirty="0"/>
          </a:p>
        </p:txBody>
      </p:sp>
      <p:sp>
        <p:nvSpPr>
          <p:cNvPr id="28" name="Shape 25"/>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“between the two shops”.</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بَيْنَ الْمَتْجَرَانِ</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بَيْنَ الْمَتْجَرَيْنِ</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بَيْنُ الْمَتْجَرَيْنَ</a:t>
            </a:r>
            <a:endParaRPr lang="ar-SA" sz="2050" dirty="0"/>
          </a:p>
        </p:txBody>
      </p:sp>
      <p:sp>
        <p:nvSpPr>
          <p:cNvPr id="41" name="Shape 38"/>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“during the holiday”.</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خِلَالَ الْعُطْلَةِ</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فَوْقَ الْعُطْلَةِ</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إِلَى الْعُطْلَةِ</a:t>
            </a:r>
            <a:endParaRPr lang="ar-SA" sz="2050" dirty="0"/>
          </a:p>
        </p:txBody>
      </p:sp>
      <p:sp>
        <p:nvSpPr>
          <p:cNvPr id="54" name="Shape 51"/>
          <p:cNvSpPr/>
          <p:nvPr/>
        </p:nvSpPr>
        <p:spPr>
          <a:xfrm>
            <a:off x="457200" y="5532120"/>
            <a:ext cx="11274552" cy="777240"/>
          </a:xfrm>
          <a:prstGeom prst="roundRect">
            <a:avLst>
              <a:gd name="adj" fmla="val 9412"/>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55" name="Text 52"/>
          <p:cNvSpPr txBox="1"/>
          <p:nvPr/>
        </p:nvSpPr>
        <p:spPr>
          <a:xfrm>
            <a:off x="685800" y="5577840"/>
            <a:ext cx="2830068" cy="685800"/>
          </a:xfrm>
          <a:prstGeom prst="rect">
            <a:avLst/>
          </a:prstGeom>
          <a:noFill/>
          <a:ln/>
        </p:spPr>
        <p:txBody>
          <a:bodyPr wrap="square" lIns="0" tIns="0" rIns="0" bIns="0" rtlCol="0" anchor="ctr"/>
          <a:lstStyle/>
          <a:p>
            <a:pPr algn="l" indent="0" marL="0">
              <a:buNone/>
            </a:pPr>
            <a:r>
              <a:rPr lang="en-US" sz="1200" b="1" spc="100" kern="0" dirty="0">
                <a:solidFill>
                  <a:srgbClr val="8A6D1E"/>
                </a:solidFill>
                <a:latin typeface="Calibri" pitchFamily="34" charset="0"/>
                <a:cs typeface="Amiri" pitchFamily="2" charset="-78"/>
              </a:rPr>
              <a:t>ON YOUR OWN · 2 MINUTES</a:t>
            </a:r>
            <a:endParaRPr lang="en-US" sz="1200" dirty="0"/>
          </a:p>
        </p:txBody>
      </p:sp>
      <p:sp>
        <p:nvSpPr>
          <p:cNvPr id="56" name="Text 53"/>
          <p:cNvSpPr txBox="1"/>
          <p:nvPr/>
        </p:nvSpPr>
        <p:spPr>
          <a:xfrm>
            <a:off x="3515868" y="5577840"/>
            <a:ext cx="8051292"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Answer silently. When the timer ends, type your three letters in the chat: 1_ 2_ 3_. The other end-of-lesson questions are on the website.</a:t>
            </a:r>
            <a:endParaRPr lang="en-US" sz="12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31 / 34</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GM-CP-02 · Conjunctions and Prepositions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Conjunctions and Prepositions · GM-CP-02</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“opposite the school”.</a:t>
            </a:r>
            <a:endParaRPr lang="en-US" sz="1250" dirty="0"/>
          </a:p>
        </p:txBody>
      </p:sp>
      <p:sp>
        <p:nvSpPr>
          <p:cNvPr id="19" name="Shape 16"/>
          <p:cNvSpPr/>
          <p:nvPr/>
        </p:nvSpPr>
        <p:spPr>
          <a:xfrm>
            <a:off x="548640" y="2496312"/>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532888"/>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مُقَابِلَ الْمَدْرَسَةِ</a:t>
            </a:r>
            <a:endParaRPr lang="ar-SA" sz="2050" dirty="0"/>
          </a:p>
        </p:txBody>
      </p:sp>
      <p:sp>
        <p:nvSpPr>
          <p:cNvPr id="23" name="Shape 20"/>
          <p:cNvSpPr/>
          <p:nvPr/>
        </p:nvSpPr>
        <p:spPr>
          <a:xfrm>
            <a:off x="640080" y="2990088"/>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دَاخِلَ الْمَدْرَسَةِ</a:t>
            </a:r>
            <a:endParaRPr lang="ar-SA" sz="2050" dirty="0"/>
          </a:p>
        </p:txBody>
      </p:sp>
      <p:sp>
        <p:nvSpPr>
          <p:cNvPr id="26" name="Shape 23"/>
          <p:cNvSpPr/>
          <p:nvPr/>
        </p:nvSpPr>
        <p:spPr>
          <a:xfrm>
            <a:off x="640080" y="344728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إِلَى الْمَدْرَسَةِ</a:t>
            </a:r>
            <a:endParaRPr lang="ar-SA" sz="2050" dirty="0"/>
          </a:p>
        </p:txBody>
      </p:sp>
      <p:sp>
        <p:nvSpPr>
          <p:cNvPr id="29" name="Text 26"/>
          <p:cNvSpPr txBox="1"/>
          <p:nvPr/>
        </p:nvSpPr>
        <p:spPr>
          <a:xfrm>
            <a:off x="585216"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Muqābila = opposite.</a:t>
            </a:r>
            <a:endParaRPr lang="en-US" sz="1050" dirty="0"/>
          </a:p>
        </p:txBody>
      </p:sp>
      <p:sp>
        <p:nvSpPr>
          <p:cNvPr id="30" name="Shape 27"/>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“between the two shops”.</a:t>
            </a:r>
            <a:endParaRPr lang="en-US" sz="1250" dirty="0"/>
          </a:p>
        </p:txBody>
      </p:sp>
      <p:sp>
        <p:nvSpPr>
          <p:cNvPr id="34" name="Shape 31"/>
          <p:cNvSpPr/>
          <p:nvPr/>
        </p:nvSpPr>
        <p:spPr>
          <a:xfrm>
            <a:off x="4459224" y="2532888"/>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بَيْنَ الْمَتْجَرَانِ</a:t>
            </a:r>
            <a:endParaRPr lang="ar-SA" sz="2050" dirty="0"/>
          </a:p>
        </p:txBody>
      </p:sp>
      <p:sp>
        <p:nvSpPr>
          <p:cNvPr id="37" name="Shape 34"/>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990088"/>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0" name="Text 37"/>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بَيْنَ الْمَتْجَرَيْنِ</a:t>
            </a:r>
            <a:endParaRPr lang="ar-SA" sz="2050" dirty="0"/>
          </a:p>
        </p:txBody>
      </p:sp>
      <p:sp>
        <p:nvSpPr>
          <p:cNvPr id="41" name="Shape 38"/>
          <p:cNvSpPr/>
          <p:nvPr/>
        </p:nvSpPr>
        <p:spPr>
          <a:xfrm>
            <a:off x="4459224" y="344728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بَيْنُ الْمَتْجَرَيْنَ</a:t>
            </a:r>
            <a:endParaRPr lang="ar-SA" sz="2050" dirty="0"/>
          </a:p>
        </p:txBody>
      </p:sp>
      <p:sp>
        <p:nvSpPr>
          <p:cNvPr id="44" name="Text 41"/>
          <p:cNvSpPr txBox="1"/>
          <p:nvPr/>
        </p:nvSpPr>
        <p:spPr>
          <a:xfrm>
            <a:off x="4404360"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Dual genitive: -ayni.</a:t>
            </a:r>
            <a:endParaRPr lang="en-US" sz="1050" dirty="0"/>
          </a:p>
        </p:txBody>
      </p:sp>
      <p:sp>
        <p:nvSpPr>
          <p:cNvPr id="45" name="Shape 42"/>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“during the holiday”.</a:t>
            </a:r>
            <a:endParaRPr lang="en-US" sz="1250" dirty="0"/>
          </a:p>
        </p:txBody>
      </p:sp>
      <p:sp>
        <p:nvSpPr>
          <p:cNvPr id="49" name="Shape 46"/>
          <p:cNvSpPr/>
          <p:nvPr/>
        </p:nvSpPr>
        <p:spPr>
          <a:xfrm>
            <a:off x="8186928" y="2496312"/>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532888"/>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خِلَالَ الْعُطْلَةِ</a:t>
            </a:r>
            <a:endParaRPr lang="ar-SA" sz="2050" dirty="0"/>
          </a:p>
        </p:txBody>
      </p:sp>
      <p:sp>
        <p:nvSpPr>
          <p:cNvPr id="53" name="Shape 50"/>
          <p:cNvSpPr/>
          <p:nvPr/>
        </p:nvSpPr>
        <p:spPr>
          <a:xfrm>
            <a:off x="8278368" y="2990088"/>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فَوْقَ الْعُطْلَةِ</a:t>
            </a:r>
            <a:endParaRPr lang="ar-SA" sz="2050" dirty="0"/>
          </a:p>
        </p:txBody>
      </p:sp>
      <p:sp>
        <p:nvSpPr>
          <p:cNvPr id="56" name="Shape 53"/>
          <p:cNvSpPr/>
          <p:nvPr/>
        </p:nvSpPr>
        <p:spPr>
          <a:xfrm>
            <a:off x="8278368" y="344728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إِلَى الْعُطْلَةِ</a:t>
            </a:r>
            <a:endParaRPr lang="ar-SA" sz="2050" dirty="0"/>
          </a:p>
        </p:txBody>
      </p:sp>
      <p:sp>
        <p:nvSpPr>
          <p:cNvPr id="59" name="Text 56"/>
          <p:cNvSpPr txBox="1"/>
          <p:nvPr/>
        </p:nvSpPr>
        <p:spPr>
          <a:xfrm>
            <a:off x="8223504"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Khilāla = during / throughout.</a:t>
            </a:r>
            <a:endParaRPr lang="en-US" sz="1050" dirty="0"/>
          </a:p>
        </p:txBody>
      </p:sp>
      <p:sp>
        <p:nvSpPr>
          <p:cNvPr id="60" name="Shape 57"/>
          <p:cNvSpPr/>
          <p:nvPr/>
        </p:nvSpPr>
        <p:spPr>
          <a:xfrm>
            <a:off x="457200" y="5532120"/>
            <a:ext cx="11274552" cy="777240"/>
          </a:xfrm>
          <a:prstGeom prst="roundRect">
            <a:avLst>
              <a:gd name="adj" fmla="val 9412"/>
            </a:avLst>
          </a:prstGeom>
          <a:solidFill>
            <a:srgbClr val="EEF3FA"/>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85800" y="5577840"/>
            <a:ext cx="937260" cy="685800"/>
          </a:xfrm>
          <a:prstGeom prst="rect">
            <a:avLst/>
          </a:prstGeom>
          <a:noFill/>
          <a:ln/>
        </p:spPr>
        <p:txBody>
          <a:bodyPr wrap="square" lIns="0" tIns="0" rIns="0" bIns="0" rtlCol="0" anchor="ctr"/>
          <a:lstStyle/>
          <a:p>
            <a:pPr algn="l" indent="0" marL="0">
              <a:buNone/>
            </a:pPr>
            <a:r>
              <a:rPr lang="en-US" sz="1200" b="1" spc="100" kern="0" dirty="0">
                <a:solidFill>
                  <a:srgbClr val="1B3B6F"/>
                </a:solidFill>
                <a:latin typeface="Calibri" pitchFamily="34" charset="0"/>
                <a:cs typeface="Amiri" pitchFamily="2" charset="-78"/>
              </a:rPr>
              <a:t>SCORE</a:t>
            </a:r>
            <a:endParaRPr lang="en-US" sz="1200" dirty="0"/>
          </a:p>
        </p:txBody>
      </p:sp>
      <p:sp>
        <p:nvSpPr>
          <p:cNvPr id="62" name="Text 59"/>
          <p:cNvSpPr txBox="1"/>
          <p:nvPr/>
        </p:nvSpPr>
        <p:spPr>
          <a:xfrm>
            <a:off x="1623060" y="5577840"/>
            <a:ext cx="9944100"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3/3 → aim for Stretch next lesson  ·  2/3 → Develop  ·  0–1 → Core route and a quick check-in during the next Do Now.</a:t>
            </a:r>
            <a:endParaRPr lang="en-US" sz="12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32 / 34</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GM-CP-02 · Conjunctions and Prepositions</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cs typeface="Amiri" pitchFamily="2" charset="-78"/>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00" b="1" dirty="0">
                <a:solidFill>
                  <a:srgbClr val="1B3B6F"/>
                </a:solidFill>
                <a:latin typeface="Cambria" pitchFamily="34" charset="0"/>
                <a:cs typeface="Amiri" pitchFamily="2" charset="-78"/>
              </a:rPr>
              <a:t>Before GM-CP-03: get ready at home</a:t>
            </a:r>
            <a:endParaRPr lang="en-US" sz="25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Conjunctions and Prepositions · GM-CP-02</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cs typeface="Amiri" pitchFamily="2" charset="-78"/>
              </a:rPr>
              <a:t>LEARN THESE 5 WORDS</a:t>
            </a:r>
            <a:endParaRPr lang="en-US" sz="1100" dirty="0"/>
          </a:p>
          <a:p>
            <a:pPr indent="0" marL="0">
              <a:buNone/>
            </a:pPr>
            <a:r>
              <a:rPr lang="en-US" sz="1000" dirty="0">
                <a:solidFill>
                  <a:srgbClr val="5A6472"/>
                </a:solidFill>
                <a:latin typeface="Calibri" pitchFamily="34" charset="0"/>
                <a:cs typeface="Amiri" pitchFamily="2" charset="-78"/>
              </a:rPr>
              <a:t>for GM-CP-03 · Prepositions with Pronouns and Verb Collocations</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فِيهِ</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in it / him</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عَلَيْهِ</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on it / him</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مِنْهُ</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from it / him</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إِلَيْهِ</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to it / him</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مَعَهُ</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with him</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cs typeface="Amiri" pitchFamily="2" charset="-78"/>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cs typeface="Amiri" pitchFamily="2" charset="-78"/>
              </a:rPr>
              <a:t>You know bi-jānibihi (next to it). What happens to ʿalā when you add -hi?</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2" charset="-78"/>
                <a:ea typeface="Amiri" pitchFamily="2" charset="-78"/>
                <a:cs typeface="Amiri" pitchFamily="2" charset="-78"/>
              </a:rPr>
              <a:t>عَلَى + هِ = ______</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Draw your room and write five locator sentences.</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Draw your street and write six sentences, including bayna.</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task: room or map description (70–90 words).</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33 / 34</a:t>
            </a:r>
            <a:endParaRPr lang="en-US" sz="8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GM-CP-02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1650" b="1" dirty="0">
                <a:solidFill>
                  <a:srgbClr val="FFFFFF"/>
                </a:solidFill>
                <a:latin typeface="Cambria" pitchFamily="34" charset="0"/>
                <a:cs typeface="Amiri" pitchFamily="2" charset="-78"/>
              </a:rPr>
              <a:t>GM-CP-03 · Prepositions with Pronouns and Verb Collocations</a:t>
            </a:r>
            <a:endParaRPr lang="en-US" sz="16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حُرُوفُ الْجَرِّ مَعَ الضَّمَائِرِ وَالْمُتَلَازِمَاتِ</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locator (-a) + noun (kasra): amāma l-bayti · bayna X wa-Y — both kasra · khalfa is place, baʿda is time · bi-l-qurbi min, baʿīdan ʿan are fixed phrases.</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34</Slides>
  <Notes>34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34</vt:i4>
      </vt:variant>
    </vt:vector>
  </HeadingPairs>
  <TitlesOfParts>
    <vt:vector size="3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GM-CP-02 · Spatial and Temporal Locators</dc:title>
  <dc:subject>PptxGenJS Presentation</dc:subject>
  <dc:creator>Al Madina Online School · Arabic Department</dc:creator>
  <cp:lastModifiedBy>Al Madina Online School · Arabic Department</cp:lastModifiedBy>
  <cp:revision>1</cp:revision>
  <dcterms:created xsi:type="dcterms:W3CDTF">2026-10-11T06:42:11Z</dcterms:created>
  <dcterms:modified xsi:type="dcterms:W3CDTF">2026-10-11T06:42:11Z</dcterms:modified>
</cp:coreProperties>
</file>