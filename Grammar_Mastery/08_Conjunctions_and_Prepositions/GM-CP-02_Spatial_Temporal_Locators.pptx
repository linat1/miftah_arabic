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GM-CP-02 (“Spatial and Temporal Locators”).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أَمَامَ · خَلْفَ · فَوْقَ · تَحْتَ · بِجَانِبِ for a room. Develop: بَيْنَ … وَ … · مُقَابِلَ · بِالْقُرْبِ مِنْ · بَعِيدًا عَنْ for a map, and time locators قَبْلَ · بَعْدَ · أَثْنَاءَ · خِلَالَ · مُنْذُ. Stretch: technical status (locative nouns, not particles) and a 70–90-word map description with a route.
• Website: the locator ends in fatḥa (amāma, khalfa) and the next noun in kasra (amāma l-funduqi). In bayna X wa-Y both nouns are genitive.
• Practical routine (website): draw the room or map first, label it in Arabic, then describe it.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4 and 6) — the GM-CP-01 prep words amāma, khalfa, bayna, qabla, baʿda.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Locator (ends in -a) + noun with kasra. Bayna X wa-Y: both nouns with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spatial locator system”. Use a pen and a box: put the pen in front of / behind / on /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“Between, with and two-part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“Locators of time”. Trap: khalfa is place only — “after lunch” is baʿda l-ghadāʾ.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Spatial, Two-Part and Time Locator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“From map to connected description” model. Reading strategy (website): sketch while reading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students build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“I study behind lunch” — use a time, not a place,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“I study behind lunch” — use a time, not a place,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Spatial, Two-Part, Time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directions). Read it aloud once while students follow; then they hunt for today’s grammar.
Task: Website: draw a quick sketch while reading, then mark each landmark.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directions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communication target. Sequence: ● 10s think → ↔ 45s rehearse aloud with mic muted → ◎ two named students on open mic (warned in advance) → + ? the class types one follow-up in chat → ↺ one student summarises.
Routes: Core uses the Core prompt and stem; Develop the Develop prompt; Stretch the last prompt.
Website target: give a stranger enough information to find a building without seeing your map. Partner draws what they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70–90 Arabic words describing the position of at least six objects or landmarks and explaining one short route.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(GM-CP-03 · Prepositions with Pronouns and Verb Collocations) will spend class time USING this language, so students prepare it tonight — short, simple, easy to access (school guidance: “Simple, Short, Interesting, Relevant, Easy to access”). The five words prepare GM-CP-03 (website: prepositions with pronouns and verb collocations).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CONJUNCTIONS AND PREPOSITIONS  ·  GM-CP-02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GM-CP-02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50" b="1" dirty="0">
                <a:solidFill>
                  <a:srgbClr val="FFFFFF"/>
                </a:solidFill>
                <a:latin typeface="Cambria" pitchFamily="34" charset="0"/>
                <a:cs typeface="Amiri" pitchFamily="2" charset="-78"/>
              </a:rPr>
              <a:t>Spatial and Temporal Locators</a:t>
            </a:r>
            <a:endParaRPr lang="en-US" sz="35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ظُرُوفُ الْمَكَانِ وَالزَّمَانِ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Locators say exactly where and when: amāma (in front of), khalfa (behind), bayna (between), qabla (before), athnāʾa (during). Each one is followed by a noun with kasra: amāma l-bayti.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GM-CP-02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Spatial locators; between / at; time locators; directions.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Locate it; sort place / time;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GM-CP-03.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school is in front of the mosque.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فِي الْمَسْجِدِ.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أَمَامَ الْمَسْجِدِ.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مِنَ الْمَسْجِدِ.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السَّرِيرِ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 السَّرِيرِ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خَلْفَ السَّرِيرِ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“between the bank and the shop”.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 الْبَنْكُ وَالْمَتْجَرُ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الْبَنْكِ وَالْمَتْجَرِ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 الْبَنْكِ وَالْمَتْجَرِ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best for “during the lesson”?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الدَّرْسِ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خَلْفَ الدَّرْسِ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أَثْنَاءَ الدَّرْسِ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“beside the window”.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بِجَانِبِ النَّافِذَةِ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النَّافِذَةِ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النَّافِذَةِ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school is in front of the mosque.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الْمَدْرَسَةُ فِي الْمَسْجِدِ.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الْمَدْرَسَةُ أَمَامَ الْمَسْجِدِ.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الْمَدْرَسَةُ مِنَ الْمَسْجِدِ.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Amāma creates a relation between two places.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تَحْتَ السَّرِيرِ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فَوْقَ السَّرِيرِ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خَلْفَ السَّرِيرِ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Taḥta means under.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“between the bank and the shop”.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 الْبَنْكُ وَالْمَتْجَرُ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الْبَنْكِ وَالْمَتْجَرِ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 الْبَنْكِ وَالْمَتْجَرِ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nouns after bayna … wa- are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best for “during the lesson”?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الدَّرْسِ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خَلْفَ الدَّرْسِ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أَثْنَاءَ الدَّرْسِ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Athnāʾa places an action within an event.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“beside the window”.</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بِجَانِبِ النَّافِذَةِ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 النَّافِذَةِ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النَّافِذَةِ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بِجَانِبِ</a:t>
            </a:r>
            <a:pPr algn="l" indent="0" marL="0">
              <a:buNone/>
            </a:pPr>
            <a:r>
              <a:rPr lang="en-US" sz="1050" i="1" dirty="0">
                <a:solidFill>
                  <a:srgbClr val="8A6D1E"/>
                </a:solidFill>
                <a:latin typeface="Calibri" pitchFamily="34" charset="0"/>
                <a:cs typeface="Amiri" pitchFamily="2" charset="-78"/>
              </a:rPr>
              <a:t> means beside or next to.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Locator (ends in -a) + noun with kasra. Bayna X wa-Y: both nouns with kasra.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0E7C86"/>
                </a:solidFill>
                <a:latin typeface="Amiri" pitchFamily="2" charset="-78"/>
                <a:ea typeface="Amiri" pitchFamily="2" charset="-78"/>
                <a:cs typeface="Amiri" pitchFamily="2" charset="-78"/>
              </a:rPr>
              <a:t>أَمَامَ</a:t>
            </a:r>
            <a:pPr rtl="1" algn="ct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 الْبَيْتِ ‖ </a:t>
            </a:r>
            <a:pPr rtl="1" algn="ctr" indent="0" marL="0">
              <a:lnSpc>
                <a:spcPct val="120000"/>
              </a:lnSpc>
              <a:buNone/>
            </a:pPr>
            <a:r>
              <a:rPr lang="ar-SA" altLang="en-US" sz="2150" b="1" dirty="0">
                <a:solidFill>
                  <a:srgbClr val="D6336C"/>
                </a:solidFill>
                <a:latin typeface="Amiri" pitchFamily="2" charset="-78"/>
                <a:ea typeface="Amiri" pitchFamily="2" charset="-78"/>
                <a:cs typeface="Amiri" pitchFamily="2" charset="-78"/>
              </a:rPr>
              <a:t>بَيْنَ</a:t>
            </a:r>
            <a:pPr rtl="1" algn="ct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 الْبَنْكِ وَالْمَتْجَرِ</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where things are with spatial locators.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bayna with two genitive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actions in time with qabla, baʿda, athnāʾa.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clear directions on a map.</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where things are in my room.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amāma, khalfa, fawqa, taḥta.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describe a map with bayna, muqābila, qurb.</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before, after and during.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give a route a stranger can follow.</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amāma is a noun, not a particle.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ظَرْفُ الْمَكَانِ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place locator</a:t>
            </a:r>
            <a:endParaRPr lang="en-US" sz="1350" dirty="0"/>
          </a:p>
          <a:p>
            <a:pPr indent="0" marL="0">
              <a:buNone/>
            </a:pPr>
            <a:r>
              <a:rPr lang="en-US" sz="1100" i="1" dirty="0">
                <a:solidFill>
                  <a:srgbClr val="5A6472"/>
                </a:solidFill>
                <a:latin typeface="Calibri" pitchFamily="34" charset="0"/>
                <a:cs typeface="Amiri" pitchFamily="2" charset="-78"/>
              </a:rPr>
              <a:t>ẓar-fu al-ma-kā-ni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أَمَامَ · خَلْفَ</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ظَرْفُ الزَّمَانِ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locator</a:t>
            </a:r>
            <a:endParaRPr lang="en-US" sz="1350" dirty="0"/>
          </a:p>
          <a:p>
            <a:pPr indent="0" marL="0">
              <a:buNone/>
            </a:pPr>
            <a:r>
              <a:rPr lang="en-US" sz="1100" i="1" dirty="0">
                <a:solidFill>
                  <a:srgbClr val="5A6472"/>
                </a:solidFill>
                <a:latin typeface="Calibri" pitchFamily="34" charset="0"/>
                <a:cs typeface="Amiri" pitchFamily="2" charset="-78"/>
              </a:rPr>
              <a:t>ẓar-fu az-za-mā-ni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قَبْلَ · بَعْدَ</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الْمُضَافُ إِلَيْهِ</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genitive noun after it</a:t>
            </a:r>
            <a:endParaRPr lang="en-US" sz="1350" dirty="0"/>
          </a:p>
          <a:p>
            <a:pPr indent="0" marL="0">
              <a:buNone/>
            </a:pPr>
            <a:r>
              <a:rPr lang="en-US" sz="1100" i="1" dirty="0">
                <a:solidFill>
                  <a:srgbClr val="5A6472"/>
                </a:solidFill>
                <a:latin typeface="Calibri" pitchFamily="34" charset="0"/>
                <a:cs typeface="Amiri" pitchFamily="2" charset="-78"/>
              </a:rPr>
              <a:t>al-mu-ḍā-fu i-lay-hi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الْبَيْتِ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 … وَ …</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between … and …</a:t>
            </a:r>
            <a:endParaRPr lang="en-US" sz="1350" dirty="0"/>
          </a:p>
          <a:p>
            <a:pPr indent="0" marL="0">
              <a:buNone/>
            </a:pPr>
            <a:r>
              <a:rPr lang="en-US" sz="1100" i="1" dirty="0">
                <a:solidFill>
                  <a:srgbClr val="5A6472"/>
                </a:solidFill>
                <a:latin typeface="Calibri" pitchFamily="34" charset="0"/>
                <a:cs typeface="Amiri" pitchFamily="2" charset="-78"/>
              </a:rPr>
              <a:t>bay-na … wa …</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بَيْنَ الْبَيْتِ وَالْمَدْرَسَةِ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الْخَرِيطَةُ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map</a:t>
            </a:r>
            <a:endParaRPr lang="en-US" sz="1350" dirty="0"/>
          </a:p>
          <a:p>
            <a:pPr indent="0" marL="0">
              <a:buNone/>
            </a:pPr>
            <a:r>
              <a:rPr lang="en-US" sz="1100" i="1" dirty="0">
                <a:solidFill>
                  <a:srgbClr val="5A6472"/>
                </a:solidFill>
                <a:latin typeface="Calibri" pitchFamily="34" charset="0"/>
                <a:cs typeface="Amiri" pitchFamily="2" charset="-78"/>
              </a:rPr>
              <a:t>al-kha-rī-ṭa-tu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عَلَى الْخَرِيطَةِ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الِاتِّجَاهَاتُ</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directions</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al-ِt-ti-jā-hā-tu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اِنْعَطِفْ يَمِينًا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SPATIAL LOCATOR SYSTEM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exactly?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7" name="Text 14"/>
          <p:cNvSpPr txBox="1"/>
          <p:nvPr/>
        </p:nvSpPr>
        <p:spPr>
          <a:xfrm>
            <a:off x="528523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30906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Locator</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9893808" y="2267712"/>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2" name="Text 19"/>
          <p:cNvSpPr txBox="1"/>
          <p:nvPr/>
        </p:nvSpPr>
        <p:spPr>
          <a:xfrm>
            <a:off x="5303520" y="2267712"/>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السَّيَّارَةُ أَمَامَ الْبَيْتِ.</a:t>
            </a:r>
            <a:endParaRPr lang="ar-SA" sz="2200" dirty="0"/>
          </a:p>
        </p:txBody>
      </p:sp>
      <p:sp>
        <p:nvSpPr>
          <p:cNvPr id="23" name="Text 20"/>
          <p:cNvSpPr txBox="1"/>
          <p:nvPr/>
        </p:nvSpPr>
        <p:spPr>
          <a:xfrm>
            <a:off x="3127248" y="2267712"/>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front of</a:t>
            </a:r>
            <a:endParaRPr lang="en-US" sz="1100" dirty="0"/>
          </a:p>
        </p:txBody>
      </p:sp>
      <p:sp>
        <p:nvSpPr>
          <p:cNvPr id="24" name="Text 21"/>
          <p:cNvSpPr txBox="1"/>
          <p:nvPr/>
        </p:nvSpPr>
        <p:spPr>
          <a:xfrm>
            <a:off x="548640" y="2267712"/>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أَمَامَ</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9893808" y="2794145"/>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9" name="Text 26"/>
          <p:cNvSpPr txBox="1"/>
          <p:nvPr/>
        </p:nvSpPr>
        <p:spPr>
          <a:xfrm>
            <a:off x="5303520" y="27941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الْحَدِيقَةُ خَلْفَ الْمَدْرَسَةِ.</a:t>
            </a:r>
            <a:endParaRPr lang="ar-SA" sz="2200" dirty="0"/>
          </a:p>
        </p:txBody>
      </p:sp>
      <p:sp>
        <p:nvSpPr>
          <p:cNvPr id="30" name="Text 27"/>
          <p:cNvSpPr txBox="1"/>
          <p:nvPr/>
        </p:nvSpPr>
        <p:spPr>
          <a:xfrm>
            <a:off x="3127248" y="2794145"/>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behind</a:t>
            </a:r>
            <a:endParaRPr lang="en-US" sz="1100" dirty="0"/>
          </a:p>
        </p:txBody>
      </p:sp>
      <p:sp>
        <p:nvSpPr>
          <p:cNvPr id="31" name="Text 28"/>
          <p:cNvSpPr txBox="1"/>
          <p:nvPr/>
        </p:nvSpPr>
        <p:spPr>
          <a:xfrm>
            <a:off x="548640" y="27941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خَلْفَ · وَرَاءَ</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9893808" y="3320578"/>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6" name="Text 33"/>
          <p:cNvSpPr txBox="1"/>
          <p:nvPr/>
        </p:nvSpPr>
        <p:spPr>
          <a:xfrm>
            <a:off x="5303520" y="33205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الْحَقِيبَةُ تَحْتَ الْكُرْسِيِّ.</a:t>
            </a:r>
            <a:endParaRPr lang="ar-SA" sz="2200" dirty="0"/>
          </a:p>
        </p:txBody>
      </p:sp>
      <p:sp>
        <p:nvSpPr>
          <p:cNvPr id="37" name="Text 34"/>
          <p:cNvSpPr txBox="1"/>
          <p:nvPr/>
        </p:nvSpPr>
        <p:spPr>
          <a:xfrm>
            <a:off x="3127248" y="3320578"/>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above · under</a:t>
            </a:r>
            <a:endParaRPr lang="en-US" sz="1100" dirty="0"/>
          </a:p>
        </p:txBody>
      </p:sp>
      <p:sp>
        <p:nvSpPr>
          <p:cNvPr id="38" name="Text 35"/>
          <p:cNvSpPr txBox="1"/>
          <p:nvPr/>
        </p:nvSpPr>
        <p:spPr>
          <a:xfrm>
            <a:off x="548640" y="33205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فَوْقَ · تَحْتَ</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9893808" y="3847011"/>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43" name="Text 40"/>
          <p:cNvSpPr txBox="1"/>
          <p:nvPr/>
        </p:nvSpPr>
        <p:spPr>
          <a:xfrm>
            <a:off x="5303520" y="38470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الْمَكْتَبَةُ بِجَانِبِ الْمَسْجِدِ.</a:t>
            </a:r>
            <a:endParaRPr lang="ar-SA" sz="2200" dirty="0"/>
          </a:p>
        </p:txBody>
      </p:sp>
      <p:sp>
        <p:nvSpPr>
          <p:cNvPr id="44" name="Text 41"/>
          <p:cNvSpPr txBox="1"/>
          <p:nvPr/>
        </p:nvSpPr>
        <p:spPr>
          <a:xfrm>
            <a:off x="3127248" y="3847011"/>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beside</a:t>
            </a:r>
            <a:endParaRPr lang="en-US" sz="1100" dirty="0"/>
          </a:p>
        </p:txBody>
      </p:sp>
      <p:sp>
        <p:nvSpPr>
          <p:cNvPr id="45" name="Text 42"/>
          <p:cNvSpPr txBox="1"/>
          <p:nvPr/>
        </p:nvSpPr>
        <p:spPr>
          <a:xfrm>
            <a:off x="548640" y="38470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بِجَانِبِ</a:t>
            </a:r>
            <a:endParaRPr lang="ar-SA" sz="2200" dirty="0"/>
          </a:p>
        </p:txBody>
      </p:sp>
      <p:sp>
        <p:nvSpPr>
          <p:cNvPr id="46" name="Shape 4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9" name="Text 46"/>
          <p:cNvSpPr txBox="1"/>
          <p:nvPr/>
        </p:nvSpPr>
        <p:spPr>
          <a:xfrm>
            <a:off x="9893808" y="4373445"/>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50" name="Text 47"/>
          <p:cNvSpPr txBox="1"/>
          <p:nvPr/>
        </p:nvSpPr>
        <p:spPr>
          <a:xfrm>
            <a:off x="5303520" y="43734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الْمَطْعَمُ مُقَابِلَ الْفُنْدُقِ.</a:t>
            </a:r>
            <a:endParaRPr lang="ar-SA" sz="2200" dirty="0"/>
          </a:p>
        </p:txBody>
      </p:sp>
      <p:sp>
        <p:nvSpPr>
          <p:cNvPr id="51" name="Text 48"/>
          <p:cNvSpPr txBox="1"/>
          <p:nvPr/>
        </p:nvSpPr>
        <p:spPr>
          <a:xfrm>
            <a:off x="3127248" y="4373445"/>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opposite</a:t>
            </a:r>
            <a:endParaRPr lang="en-US" sz="1100" dirty="0"/>
          </a:p>
        </p:txBody>
      </p:sp>
      <p:sp>
        <p:nvSpPr>
          <p:cNvPr id="52" name="Text 49"/>
          <p:cNvSpPr txBox="1"/>
          <p:nvPr/>
        </p:nvSpPr>
        <p:spPr>
          <a:xfrm>
            <a:off x="548640" y="43734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مُقَابِلَ</a:t>
            </a:r>
            <a:endParaRPr lang="ar-SA" sz="2200" dirty="0"/>
          </a:p>
        </p:txBody>
      </p:sp>
      <p:sp>
        <p:nvSpPr>
          <p:cNvPr id="53" name="Shape 50"/>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4" name="Text 51"/>
          <p:cNvSpPr txBox="1"/>
          <p:nvPr/>
        </p:nvSpPr>
        <p:spPr>
          <a:xfrm>
            <a:off x="9893808" y="4899878"/>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55" name="Text 52"/>
          <p:cNvSpPr txBox="1"/>
          <p:nvPr/>
        </p:nvSpPr>
        <p:spPr>
          <a:xfrm>
            <a:off x="5303520" y="48998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بِالْقُرْبِ مِنَ الْمَدْرَسَةِ.</a:t>
            </a:r>
            <a:endParaRPr lang="ar-SA" sz="2200" dirty="0"/>
          </a:p>
        </p:txBody>
      </p:sp>
      <p:sp>
        <p:nvSpPr>
          <p:cNvPr id="56" name="Text 53"/>
          <p:cNvSpPr txBox="1"/>
          <p:nvPr/>
        </p:nvSpPr>
        <p:spPr>
          <a:xfrm>
            <a:off x="3127248" y="4899878"/>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 · far from</a:t>
            </a:r>
            <a:endParaRPr lang="en-US" sz="1100" dirty="0"/>
          </a:p>
        </p:txBody>
      </p:sp>
      <p:sp>
        <p:nvSpPr>
          <p:cNvPr id="57" name="Text 54"/>
          <p:cNvSpPr txBox="1"/>
          <p:nvPr/>
        </p:nvSpPr>
        <p:spPr>
          <a:xfrm>
            <a:off x="548640" y="48998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بِالْقُرْبِ مِنْ · بَعِيدًا عَنْ</a:t>
            </a:r>
            <a:endParaRPr lang="ar-SA" sz="2200" dirty="0"/>
          </a:p>
        </p:txBody>
      </p:sp>
      <p:sp>
        <p:nvSpPr>
          <p:cNvPr id="58" name="Shape 55"/>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9893808" y="5426311"/>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60" name="Text 57"/>
          <p:cNvSpPr txBox="1"/>
          <p:nvPr/>
        </p:nvSpPr>
        <p:spPr>
          <a:xfrm>
            <a:off x="5303520" y="54263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الطُّلَّابُ دَاخِلَ الْفَصْلِ.</a:t>
            </a:r>
            <a:endParaRPr lang="ar-SA" sz="2200" dirty="0"/>
          </a:p>
        </p:txBody>
      </p:sp>
      <p:sp>
        <p:nvSpPr>
          <p:cNvPr id="61" name="Text 58"/>
          <p:cNvSpPr txBox="1"/>
          <p:nvPr/>
        </p:nvSpPr>
        <p:spPr>
          <a:xfrm>
            <a:off x="3127248" y="5426311"/>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inside · outside · around</a:t>
            </a:r>
            <a:endParaRPr lang="en-US" sz="1100" dirty="0"/>
          </a:p>
        </p:txBody>
      </p:sp>
      <p:sp>
        <p:nvSpPr>
          <p:cNvPr id="62" name="Text 59"/>
          <p:cNvSpPr txBox="1"/>
          <p:nvPr/>
        </p:nvSpPr>
        <p:spPr>
          <a:xfrm>
            <a:off x="548640" y="54263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دَاخِلَ · خَارِجَ · حَوْلَ</a:t>
            </a:r>
            <a:endParaRPr lang="ar-SA" sz="22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words such as amāma, khalfa, fawqa are analysed as locative nouns / adverbs, not particle prepositions. Functionally, learn the complete pattern: locator + genitive noun.</a:t>
            </a:r>
            <a:endParaRPr lang="en-US" sz="11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BETWEEN AND TWO-PART RELATIONS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Between X and Y — both with kasra</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بَيْنَ وَعِنْدَ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library is between the school and the mosque.</a:t>
            </a:r>
            <a:endParaRPr lang="en-US" sz="1100" dirty="0"/>
          </a:p>
        </p:txBody>
      </p:sp>
      <p:sp>
        <p:nvSpPr>
          <p:cNvPr id="21" name="Text 18"/>
          <p:cNvSpPr txBox="1"/>
          <p:nvPr/>
        </p:nvSpPr>
        <p:spPr>
          <a:xfrm>
            <a:off x="329184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الْمَكْتَبَةُ بَيْنَ الْمَدْرَسَةِ وَالْمَسْجِدِ.</a:t>
            </a:r>
            <a:endParaRPr lang="ar-SA" sz="22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bayna X wa-Y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sat between two friends.</a:t>
            </a:r>
            <a:endParaRPr lang="en-US" sz="1100" dirty="0"/>
          </a:p>
        </p:txBody>
      </p:sp>
      <p:sp>
        <p:nvSpPr>
          <p:cNvPr id="27" name="Text 24"/>
          <p:cNvSpPr txBox="1"/>
          <p:nvPr/>
        </p:nvSpPr>
        <p:spPr>
          <a:xfrm>
            <a:off x="329184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جَلَسْتُ بَيْنَ صَدِيقَيْنِ.</a:t>
            </a:r>
            <a:endParaRPr lang="ar-SA" sz="22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bayna + dual</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shop is at the end of the street.</a:t>
            </a:r>
            <a:endParaRPr lang="en-US" sz="1100" dirty="0"/>
          </a:p>
        </p:txBody>
      </p:sp>
      <p:sp>
        <p:nvSpPr>
          <p:cNvPr id="31" name="Text 28"/>
          <p:cNvSpPr txBox="1"/>
          <p:nvPr/>
        </p:nvSpPr>
        <p:spPr>
          <a:xfrm>
            <a:off x="329184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الْمَتْجَرُ عِنْدَ نِهَايَةِ الشَّارِعِ.</a:t>
            </a:r>
            <a:endParaRPr lang="ar-SA" sz="2200" dirty="0"/>
          </a:p>
        </p:txBody>
      </p:sp>
      <p:sp>
        <p:nvSpPr>
          <p:cNvPr id="32" name="Text 29"/>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ʿinda (at / by)</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the café is next to it.</a:t>
            </a:r>
            <a:endParaRPr lang="en-US" sz="1100" dirty="0"/>
          </a:p>
        </p:txBody>
      </p:sp>
      <p:sp>
        <p:nvSpPr>
          <p:cNvPr id="35" name="Text 32"/>
          <p:cNvSpPr txBox="1"/>
          <p:nvPr/>
        </p:nvSpPr>
        <p:spPr>
          <a:xfrm>
            <a:off x="329184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وَالْمَقْهَى بِجَانِبِهِ.</a:t>
            </a:r>
            <a:endParaRPr lang="ar-SA" sz="2200" dirty="0"/>
          </a:p>
        </p:txBody>
      </p:sp>
      <p:sp>
        <p:nvSpPr>
          <p:cNvPr id="36" name="Text 3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locator + pronoun</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in bayna l-banki wa-l-matjari, do not change the second noun back to nominative just because of wa-. Both nouns belong to the relationship.</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LOCATORS OF TIME (WEBSITE TABLE)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after, during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الزَّمَانِ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endParaRPr lang="en-US" sz="1100" dirty="0"/>
          </a:p>
        </p:txBody>
      </p:sp>
      <p:sp>
        <p:nvSpPr>
          <p:cNvPr id="17" name="Text 14"/>
          <p:cNvSpPr txBox="1"/>
          <p:nvPr/>
        </p:nvSpPr>
        <p:spPr>
          <a:xfrm>
            <a:off x="5102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27249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Locator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259568" y="2267712"/>
            <a:ext cx="1399032" cy="559308"/>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512064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أَسْتَيْقِظُ قَبْلَ السَّابِعَةِ.</a:t>
            </a:r>
            <a:endParaRPr lang="ar-SA" sz="2200" dirty="0"/>
          </a:p>
        </p:txBody>
      </p:sp>
      <p:sp>
        <p:nvSpPr>
          <p:cNvPr id="23" name="Text 20"/>
          <p:cNvSpPr txBox="1"/>
          <p:nvPr/>
        </p:nvSpPr>
        <p:spPr>
          <a:xfrm>
            <a:off x="276148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a:t>
            </a:r>
            <a:endParaRPr lang="en-US" sz="11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قَبْلَ</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512064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بَعْدَ الْغَدَاءِ.</a:t>
            </a:r>
            <a:endParaRPr lang="ar-SA" sz="2200" dirty="0"/>
          </a:p>
        </p:txBody>
      </p:sp>
      <p:sp>
        <p:nvSpPr>
          <p:cNvPr id="30" name="Text 27"/>
          <p:cNvSpPr txBox="1"/>
          <p:nvPr/>
        </p:nvSpPr>
        <p:spPr>
          <a:xfrm>
            <a:off x="276148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a:t>
            </a:r>
            <a:endParaRPr lang="en-US" sz="11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بَعْدَ</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259568" y="3496056"/>
            <a:ext cx="1399032" cy="559308"/>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512064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أَسْتَعْمِلُ هَاتِفِي أَثْنَاءَ الدَّرْسِ.</a:t>
            </a:r>
            <a:endParaRPr lang="ar-SA" sz="2200" dirty="0"/>
          </a:p>
        </p:txBody>
      </p:sp>
      <p:sp>
        <p:nvSpPr>
          <p:cNvPr id="37" name="Text 34"/>
          <p:cNvSpPr txBox="1"/>
          <p:nvPr/>
        </p:nvSpPr>
        <p:spPr>
          <a:xfrm>
            <a:off x="276148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a:t>
            </a:r>
            <a:endParaRPr lang="en-US" sz="11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أَثْنَاءَ</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512064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تَعَلَّمْتُ كَثِيرًا خِلَالَ الْعُطْلَةِ.</a:t>
            </a:r>
            <a:endParaRPr lang="ar-SA" sz="2200" dirty="0"/>
          </a:p>
        </p:txBody>
      </p:sp>
      <p:sp>
        <p:nvSpPr>
          <p:cNvPr id="42" name="Text 39"/>
          <p:cNvSpPr txBox="1"/>
          <p:nvPr/>
        </p:nvSpPr>
        <p:spPr>
          <a:xfrm>
            <a:off x="276148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 / throughout</a:t>
            </a:r>
            <a:endParaRPr lang="en-US" sz="1100" dirty="0"/>
          </a:p>
        </p:txBody>
      </p:sp>
      <p:sp>
        <p:nvSpPr>
          <p:cNvPr id="43" name="Text 40"/>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خِلَالَ</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259568" y="4724400"/>
            <a:ext cx="1399032" cy="559308"/>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512064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هُنَا مُنْذُ سَنَتَيْنِ.</a:t>
            </a:r>
            <a:endParaRPr lang="ar-SA" sz="2200" dirty="0"/>
          </a:p>
        </p:txBody>
      </p:sp>
      <p:sp>
        <p:nvSpPr>
          <p:cNvPr id="47" name="Text 44"/>
          <p:cNvSpPr txBox="1"/>
          <p:nvPr/>
        </p:nvSpPr>
        <p:spPr>
          <a:xfrm>
            <a:off x="276148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 for</a:t>
            </a:r>
            <a:endParaRPr lang="en-US" sz="1100" dirty="0"/>
          </a:p>
        </p:txBody>
      </p:sp>
      <p:sp>
        <p:nvSpPr>
          <p:cNvPr id="48" name="Text 45"/>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مُنْذُ</a:t>
            </a:r>
            <a:endParaRPr lang="ar-SA" sz="24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10259568" y="5338572"/>
            <a:ext cx="1399032" cy="559308"/>
          </a:xfrm>
          <a:prstGeom prst="rect">
            <a:avLst/>
          </a:prstGeom>
          <a:noFill/>
          <a:ln/>
        </p:spPr>
        <p:txBody>
          <a:bodyPr wrap="square" lIns="0" tIns="0" rIns="0" bIns="0" rtlCol="0" anchor="ctr"/>
          <a:lstStyle/>
          <a:p>
            <a:pPr algn="l" indent="0" marL="0">
              <a:buNone/>
            </a:pPr>
            <a:endParaRPr lang="en-US" sz="1100" dirty="0"/>
          </a:p>
        </p:txBody>
      </p:sp>
      <p:sp>
        <p:nvSpPr>
          <p:cNvPr id="51" name="Text 48"/>
          <p:cNvSpPr txBox="1"/>
          <p:nvPr/>
        </p:nvSpPr>
        <p:spPr>
          <a:xfrm>
            <a:off x="512064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حَتَّى السَّاعَةِ الثَّامِنَةِ.</a:t>
            </a:r>
            <a:endParaRPr lang="ar-SA" sz="2200" dirty="0"/>
          </a:p>
        </p:txBody>
      </p:sp>
      <p:sp>
        <p:nvSpPr>
          <p:cNvPr id="52" name="Text 49"/>
          <p:cNvSpPr txBox="1"/>
          <p:nvPr/>
        </p:nvSpPr>
        <p:spPr>
          <a:xfrm>
            <a:off x="276148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until</a:t>
            </a:r>
            <a:endParaRPr lang="en-US" sz="1100" dirty="0"/>
          </a:p>
        </p:txBody>
      </p:sp>
      <p:sp>
        <p:nvSpPr>
          <p:cNvPr id="53" name="Text 50"/>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حَتَّى</a:t>
            </a:r>
            <a:endParaRPr lang="ar-SA" sz="24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boundary: qabla an, baʿda an and mundhu an link whole clauses — they return in GM-CP-05.</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picture is above the sofa.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الصُّورَةُ تَحْتَ الْأَرِيكَةِ.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الصُّورَةُ عَنِ الْأَرِيكَةِ.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الصُّورَةُ فَوْقَ الْأَرِيكَةِ.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pharmacy is opposite the hospital.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الصَّيْدَلِيَّةُ مُقَابِلَ الْمُسْتَشْفَى.</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الصَّيْدَلِيَّةُ دَاخِلَ الْمُسْتَشْفَى.</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الصَّيْدَلِيَّةُ مِنَ الْمُسْتَشْفَى.</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 الْبَيْتُ وَالْمَدْرَسَةُ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 الْبَيْتِ وَالْمَدْرَسَةِ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 الْبَيْتِ وَالْمَدْرَسَةِ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revise after dinner.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 بَعْدَ الْعَشَاءِ.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 خَلْفَ الْعَشَاءِ.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 إِلَى الْعَشَاءِ.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picture is above the sofa.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الصُّورَةُ تَحْتَ الْأَرِيكَةِ.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الصُّورَةُ عَنِ الْأَرِيكَةِ.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الصُّورَةُ فَوْقَ الْأَرِيكَةِ.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Fawqa expresses the higher position.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pharmacy is opposite the hospital.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الصَّيْدَلِيَّةُ مُقَابِلَ الْمُسْتَشْفَى.</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الصَّيْدَلِيَّةُ دَاخِلَ الْمُسْتَشْفَى.</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الصَّيْدَلِيَّةُ مِنَ الْمُسْتَشْفَى.</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Muqābila = facing / opposite.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 الْبَيْتُ وَالْمَدْرَسَةُ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 الْبَيْتِ وَالْمَدْرَسَةِ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 الْبَيْتِ وَالْمَدْرَسَةِ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nouns are in the locator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revise after dinner.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أُرَاجِعُ بَعْدَ الْعَشَاءِ.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أُرَاجِعُ خَلْفَ الْعَشَاءِ.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أُرَاجِعُ إِلَى الْعَشَاءِ.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in time = baʿda.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Watch me describe my street and a route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Reference point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الْمَكْتَبَةِ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 from a landmark.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Relation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مُقَابِلَ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Opposite.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Next to 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بِجَانِبِهِ</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Locator + pronoun.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Route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عِنْدَ الْمَسْجِدِ</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Turn at the mosque.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LOCATOR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GENITIVE NOUN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يَقَعُ الْبَنْكُ </a:t>
            </a:r>
            <a:pPr rtl="1" algn="r" indent="0" marL="0">
              <a:buNone/>
            </a:pPr>
            <a:r>
              <a:rPr lang="ar-SA" altLang="en-US" sz="2400" b="1" dirty="0">
                <a:solidFill>
                  <a:srgbClr val="0E7C86"/>
                </a:solidFill>
                <a:latin typeface="Amiri" pitchFamily="2" charset="-78"/>
                <a:ea typeface="Amiri" pitchFamily="2" charset="-78"/>
                <a:cs typeface="Amiri" pitchFamily="2" charset="-78"/>
              </a:rPr>
              <a:t>مُقَابِلَ</a:t>
            </a:r>
            <a:pPr rtl="1" algn="r" indent="0" marL="0">
              <a:buNone/>
            </a:pPr>
            <a:r>
              <a:rPr lang="ar-SA" altLang="en-US" sz="2400" b="1" dirty="0">
                <a:solidFill>
                  <a:srgbClr val="1B3B6F"/>
                </a:solidFill>
                <a:latin typeface="Amiri" pitchFamily="2" charset="-78"/>
                <a:cs typeface="Amiri" pitchFamily="2" charset="-78"/>
              </a:rPr>
              <a:t> </a:t>
            </a:r>
            <a:pPr rtl="1" algn="r" indent="0" marL="0">
              <a:buNone/>
            </a:pPr>
            <a:r>
              <a:rPr lang="ar-SA" altLang="en-US" sz="2400" b="1" dirty="0">
                <a:solidFill>
                  <a:srgbClr val="D6336C"/>
                </a:solidFill>
                <a:latin typeface="Amiri" pitchFamily="2" charset="-78"/>
                <a:ea typeface="Amiri" pitchFamily="2" charset="-78"/>
                <a:cs typeface="Amiri" pitchFamily="2" charset="-78"/>
              </a:rPr>
              <a:t>الْمَكْتَبَةِ</a:t>
            </a:r>
            <a:pPr rtl="1" algn="r" indent="0" marL="0">
              <a:buNone/>
            </a:pPr>
            <a:r>
              <a:rPr lang="ar-SA" altLang="en-US" sz="2400" b="1" dirty="0">
                <a:solidFill>
                  <a:srgbClr val="1B3B6F"/>
                </a:solidFill>
                <a:latin typeface="Amiri" pitchFamily="2" charset="-78"/>
                <a:ea typeface="Amiri" pitchFamily="2" charset="-78"/>
                <a:cs typeface="Amiri" pitchFamily="2" charset="-78"/>
              </a:rPr>
              <a:t>، وَالْمَقْهَى </a:t>
            </a:r>
            <a:pPr rtl="1" algn="r" indent="0" marL="0">
              <a:buNone/>
            </a:pPr>
            <a:r>
              <a:rPr lang="ar-SA" altLang="en-US" sz="2400" b="1" dirty="0">
                <a:solidFill>
                  <a:srgbClr val="0E7C86"/>
                </a:solidFill>
                <a:latin typeface="Amiri" pitchFamily="2" charset="-78"/>
                <a:ea typeface="Amiri" pitchFamily="2" charset="-78"/>
                <a:cs typeface="Amiri" pitchFamily="2" charset="-78"/>
              </a:rPr>
              <a:t>بِجَانِبِهِ</a:t>
            </a:r>
            <a:pPr rtl="1" algn="r" indent="0" marL="0">
              <a:buNone/>
            </a:pPr>
            <a:r>
              <a:rPr lang="ar-SA" altLang="en-US" sz="2400" b="1" dirty="0">
                <a:solidFill>
                  <a:srgbClr val="1B3B6F"/>
                </a:solidFill>
                <a:latin typeface="Amiri" pitchFamily="2" charset="-78"/>
                <a:ea typeface="Amiri" pitchFamily="2" charset="-78"/>
                <a:cs typeface="Amiri" pitchFamily="2" charset="-78"/>
              </a:rPr>
              <a:t>. سِرْ إِلَى نِهَايَةِ الشَّارِعِ، ثُمَّ انْعَطِفْ يَمِينًا </a:t>
            </a:r>
            <a:pPr rtl="1" algn="r" indent="0" marL="0">
              <a:buNone/>
            </a:pPr>
            <a:r>
              <a:rPr lang="ar-SA" altLang="en-US" sz="2400" b="1" dirty="0">
                <a:solidFill>
                  <a:srgbClr val="0E7C86"/>
                </a:solidFill>
                <a:latin typeface="Amiri" pitchFamily="2" charset="-78"/>
                <a:ea typeface="Amiri" pitchFamily="2" charset="-78"/>
                <a:cs typeface="Amiri" pitchFamily="2" charset="-78"/>
              </a:rPr>
              <a:t>عِنْدَ</a:t>
            </a:r>
            <a:pPr rtl="1" algn="r" indent="0" marL="0">
              <a:buNone/>
            </a:pPr>
            <a:r>
              <a:rPr lang="ar-SA" altLang="en-US" sz="2400" b="1" dirty="0">
                <a:solidFill>
                  <a:srgbClr val="1B3B6F"/>
                </a:solidFill>
                <a:latin typeface="Amiri" pitchFamily="2" charset="-78"/>
                <a:cs typeface="Amiri" pitchFamily="2" charset="-78"/>
              </a:rPr>
              <a:t> </a:t>
            </a:r>
            <a:pPr rtl="1" algn="r" indent="0" marL="0">
              <a:buNone/>
            </a:pPr>
            <a:r>
              <a:rPr lang="ar-SA" altLang="en-US" sz="2400" b="1" dirty="0">
                <a:solidFill>
                  <a:srgbClr val="D6336C"/>
                </a:solidFill>
                <a:latin typeface="Amiri" pitchFamily="2" charset="-78"/>
                <a:ea typeface="Amiri" pitchFamily="2" charset="-78"/>
                <a:cs typeface="Amiri" pitchFamily="2" charset="-78"/>
              </a:rPr>
              <a:t>الْمَسْجِدِ</a:t>
            </a:r>
            <a:pPr rtl="1" algn="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bank is opposite the library, and the café is next to it. Walk to the end of the street, then turn right at the mosque.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الصُّورَةُ فَوْقَ السَّرِيرِ.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picture is above the bed.</a:t>
            </a:r>
            <a:endParaRPr lang="en-US" sz="1250" dirty="0"/>
          </a:p>
          <a:p>
            <a:pPr indent="0" marL="0">
              <a:buNone/>
            </a:pPr>
            <a:r>
              <a:rPr lang="en-US" sz="1050" i="1" dirty="0">
                <a:solidFill>
                  <a:srgbClr val="8A6D1E"/>
                </a:solidFill>
                <a:latin typeface="Calibri" pitchFamily="34" charset="0"/>
                <a:cs typeface="Amiri" pitchFamily="2" charset="-78"/>
              </a:rPr>
              <a:t>fawqa.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الْمَوْقِفُ خَلْفَ الْمَتْجَرِ.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bus stop is behind the shop.</a:t>
            </a:r>
            <a:endParaRPr lang="en-US" sz="1250" dirty="0"/>
          </a:p>
          <a:p>
            <a:pPr indent="0" marL="0">
              <a:buNone/>
            </a:pPr>
            <a:r>
              <a:rPr lang="en-US" sz="1050" i="1" dirty="0">
                <a:solidFill>
                  <a:srgbClr val="8A6D1E"/>
                </a:solidFill>
                <a:latin typeface="Calibri" pitchFamily="34" charset="0"/>
                <a:cs typeface="Amiri" pitchFamily="2" charset="-78"/>
              </a:rPr>
              <a:t>khalfa.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تُوجَدُ أَشْجَارٌ حَوْلَ الْبَيْتِ.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are trees around the house.</a:t>
            </a:r>
            <a:endParaRPr lang="en-US" sz="1250" dirty="0"/>
          </a:p>
          <a:p>
            <a:pPr indent="0" marL="0">
              <a:buNone/>
            </a:pPr>
            <a:r>
              <a:rPr lang="en-US" sz="1050" i="1" dirty="0">
                <a:solidFill>
                  <a:srgbClr val="8A6D1E"/>
                </a:solidFill>
                <a:latin typeface="Calibri" pitchFamily="34" charset="0"/>
                <a:cs typeface="Amiri" pitchFamily="2" charset="-78"/>
              </a:rPr>
              <a:t>ḥawla.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أَسْتَعْمِلُ هَاتِفِي أَثْنَاءَ الدَّرْسِ.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do not use my phone during the lesson.</a:t>
            </a:r>
            <a:endParaRPr lang="en-US" sz="1250" dirty="0"/>
          </a:p>
          <a:p>
            <a:pPr indent="0" marL="0">
              <a:buNone/>
            </a:pPr>
            <a:r>
              <a:rPr lang="en-US" sz="1050" i="1" dirty="0">
                <a:solidFill>
                  <a:srgbClr val="8A6D1E"/>
                </a:solidFill>
                <a:latin typeface="Calibri" pitchFamily="34" charset="0"/>
                <a:cs typeface="Amiri" pitchFamily="2" charset="-78"/>
              </a:rPr>
              <a:t>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THE CLUE, CHOOSE THE LOCATOR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هُوَ؟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Locator</a:t>
            </a:r>
            <a:endParaRPr lang="en-US" sz="1100" dirty="0"/>
          </a:p>
        </p:txBody>
      </p:sp>
      <p:sp>
        <p:nvSpPr>
          <p:cNvPr id="17" name="Text 14"/>
          <p:cNvSpPr txBox="1"/>
          <p:nvPr/>
        </p:nvSpPr>
        <p:spPr>
          <a:xfrm>
            <a:off x="41879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taḥta</a:t>
            </a:r>
            <a:endParaRPr lang="en-US" sz="1100" dirty="0"/>
          </a:p>
        </p:txBody>
      </p:sp>
      <p:sp>
        <p:nvSpPr>
          <p:cNvPr id="21" name="Text 18"/>
          <p:cNvSpPr txBox="1"/>
          <p:nvPr/>
        </p:nvSpPr>
        <p:spPr>
          <a:xfrm>
            <a:off x="420624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الْحَقِيبَةُ تَحْتَ الْكُرْسِيِّ.</a:t>
            </a:r>
            <a:endParaRPr lang="ar-SA" sz="2400" dirty="0"/>
          </a:p>
        </p:txBody>
      </p:sp>
      <p:sp>
        <p:nvSpPr>
          <p:cNvPr id="22" name="Text 19"/>
          <p:cNvSpPr txBox="1"/>
          <p:nvPr/>
        </p:nvSpPr>
        <p:spPr>
          <a:xfrm>
            <a:off x="566928" y="226771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bag is under the chair.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khalfa</a:t>
            </a:r>
            <a:endParaRPr lang="en-US" sz="1100" dirty="0"/>
          </a:p>
        </p:txBody>
      </p:sp>
      <p:sp>
        <p:nvSpPr>
          <p:cNvPr id="27" name="Text 24"/>
          <p:cNvSpPr txBox="1"/>
          <p:nvPr/>
        </p:nvSpPr>
        <p:spPr>
          <a:xfrm>
            <a:off x="420624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الْحَدِيقَةُ خَلْفَ الْبَيْتِ.</a:t>
            </a:r>
            <a:endParaRPr lang="ar-SA" sz="2400" dirty="0"/>
          </a:p>
        </p:txBody>
      </p:sp>
      <p:sp>
        <p:nvSpPr>
          <p:cNvPr id="28" name="Text 25"/>
          <p:cNvSpPr txBox="1"/>
          <p:nvPr/>
        </p:nvSpPr>
        <p:spPr>
          <a:xfrm>
            <a:off x="566928" y="2881884"/>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garden is behind the house.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bi-jānibi</a:t>
            </a:r>
            <a:endParaRPr lang="en-US" sz="1100" dirty="0"/>
          </a:p>
        </p:txBody>
      </p:sp>
      <p:sp>
        <p:nvSpPr>
          <p:cNvPr id="33" name="Text 30"/>
          <p:cNvSpPr txBox="1"/>
          <p:nvPr/>
        </p:nvSpPr>
        <p:spPr>
          <a:xfrm>
            <a:off x="420624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الْمَدْرَسَةُ بِجَانِبِ الْمَسْجِدِ.</a:t>
            </a:r>
            <a:endParaRPr lang="ar-SA" sz="2400" dirty="0"/>
          </a:p>
        </p:txBody>
      </p:sp>
      <p:sp>
        <p:nvSpPr>
          <p:cNvPr id="34" name="Text 31"/>
          <p:cNvSpPr txBox="1"/>
          <p:nvPr/>
        </p:nvSpPr>
        <p:spPr>
          <a:xfrm>
            <a:off x="566928" y="3496056"/>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is beside the mosque.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muqābila</a:t>
            </a:r>
            <a:endParaRPr lang="en-US" sz="1100" dirty="0"/>
          </a:p>
        </p:txBody>
      </p:sp>
      <p:sp>
        <p:nvSpPr>
          <p:cNvPr id="39" name="Text 36"/>
          <p:cNvSpPr txBox="1"/>
          <p:nvPr/>
        </p:nvSpPr>
        <p:spPr>
          <a:xfrm>
            <a:off x="420624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الصَّيْدَلِيَّةُ مُقَابِلَ الْمُسْتَشْفَى.</a:t>
            </a:r>
            <a:endParaRPr lang="ar-SA" sz="2400" dirty="0"/>
          </a:p>
        </p:txBody>
      </p:sp>
      <p:sp>
        <p:nvSpPr>
          <p:cNvPr id="40" name="Text 37"/>
          <p:cNvSpPr txBox="1"/>
          <p:nvPr/>
        </p:nvSpPr>
        <p:spPr>
          <a:xfrm>
            <a:off x="566928" y="4110228"/>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pharmacy is opposite the hospital.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bayna … wa-</a:t>
            </a:r>
            <a:endParaRPr lang="en-US" sz="1100" dirty="0"/>
          </a:p>
        </p:txBody>
      </p:sp>
      <p:sp>
        <p:nvSpPr>
          <p:cNvPr id="43" name="Text 40"/>
          <p:cNvSpPr txBox="1"/>
          <p:nvPr/>
        </p:nvSpPr>
        <p:spPr>
          <a:xfrm>
            <a:off x="420624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بَيْنَ الْبَنْكِ وَالْمَتْجَرِ</a:t>
            </a:r>
            <a:endParaRPr lang="ar-SA" sz="2400" dirty="0"/>
          </a:p>
        </p:txBody>
      </p:sp>
      <p:sp>
        <p:nvSpPr>
          <p:cNvPr id="44" name="Text 41"/>
          <p:cNvSpPr txBox="1"/>
          <p:nvPr/>
        </p:nvSpPr>
        <p:spPr>
          <a:xfrm>
            <a:off x="566928" y="4724400"/>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between the bank and the shop</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fixed phrase</a:t>
            </a:r>
            <a:endParaRPr lang="en-US" sz="1100" dirty="0"/>
          </a:p>
        </p:txBody>
      </p:sp>
      <p:sp>
        <p:nvSpPr>
          <p:cNvPr id="47" name="Text 44"/>
          <p:cNvSpPr txBox="1"/>
          <p:nvPr/>
        </p:nvSpPr>
        <p:spPr>
          <a:xfrm>
            <a:off x="420624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بِالْقُرْبِ مِنَ الْمَحَطَّةِ</a:t>
            </a:r>
            <a:endParaRPr lang="ar-SA" sz="2400" dirty="0"/>
          </a:p>
        </p:txBody>
      </p:sp>
      <p:sp>
        <p:nvSpPr>
          <p:cNvPr id="48" name="Text 45"/>
          <p:cNvSpPr txBox="1"/>
          <p:nvPr/>
        </p:nvSpPr>
        <p:spPr>
          <a:xfrm>
            <a:off x="566928" y="533857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 the station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read each clue and select the locator that represents the relationship.</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PLACE OR TIME?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or when?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مَكَانٌ أَمْ زَمَانٌ؟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أَمَامَ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خَلْفَ الْمَدْرَسَةِ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تَحْتَ الْكُرْسِيِّ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مُقَابِلَ الْفُنْدُقِ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السَّابِعَةِ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الْغَدَاءِ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أَثْنَاءَ الدَّرْسِ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خِلَالَ الْعُطْلَةِ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أَمَامَ الْبَيْتِ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خَلْفَ الْمَدْرَسَةِ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تَحْتَ الْكُرْسِيِّ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مُقَابِلَ الْفُنْدُقِ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السَّابِعَةِ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الْغَدَاءِ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أَثْنَاءَ الدَّرْسِ</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خِلَالَ الْعُطْلَةِ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الْمَطْعَمُ أَمَامُ الْفُنْدُقُ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on each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بَيْنَ الْمَدْرَسَةِ وَالْمَتْجَرُ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about the second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أَدْرُسُ خَلْفَ الْغَدَاءِ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Place or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الْمَطْعَمُ أَمَامُ الْفُنْدُقُ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الْمَطْعَمُ أَمَامَ الْفُنْدُقِ</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Locator ends in -a; the next noun in kasra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بَيْنَ الْمَدْرَسَةِ وَالْمَتْجَرُ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بَيْنَ الْمَدْرَسَةِ وَالْمَتْجَرِ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second noun stays in the relation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أَدْرُسُ خَلْفَ الْغَدَاءِ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أَدْرُسُ بَعْدَ الْغَدَاءِ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 time locator, not a place one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GUIDED PRACTICE · WEBSITE SPATIAL, TWO-PART, TIME AND FINAL MASTERY CHECKS</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“near the station”?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بَعِيدًا عَنِ الْمَحَطَّةِ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وَرَاءَ الْمَحَطَّةِ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بِالْقُرْبِ مِنَ الْمَحَطَّةِ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“at the door”?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الْبَابِ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 الْبَابِ</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الْبَابِ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have lived here for two years.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هُنَا إِلَى سَنَتَيْنِ.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هُنَا مُنْذُ سَنَتَيْنِ.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هُنَا خَلْفَ سَنَتَيْنِ.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“near the park”.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بِالْقُرْبِ عَنِ الْحَدِيقَةِ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بِقُرْبُ الْحَدِيقَةُ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بِالْقُرْبِ مِنَ الْحَدِيقَةِ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“near the station”?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بَعِيدًا عَنِ الْمَحَطَّةِ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وَرَاءَ الْمَحَطَّةِ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بِالْقُرْبِ مِنَ الْمَحَطَّةِ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Bi-l-qurbi min = near.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“at the door”?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 الْبَابِ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 الْبَابِ</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الْبَابِ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ʿInda locates something at a point.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have lived here for two years.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هُنَا إِلَى سَنَتَيْنِ.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أَسْكُنُ هُنَا مُنْذُ سَنَتَيْنِ.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هُنَا خَلْفَ سَنَتَيْنِ.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Mundhu marks the starting point or period.</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“near the park”.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بِالْقُرْبِ عَنِ الْحَدِيقَةِ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بِقُرْبُ الْحَدِيقَةُ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بِالْقُرْبِ مِنَ الْحَدِيقَةِ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phrase is bi-l-qurbi min.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cs typeface="Amiri" pitchFamily="2" charset="-78"/>
              </a:rPr>
              <a:t>YOU DO · READ AND NOTICE · WEBSITE SKILLS WORKSHOP (TEACHER-WRITTEN DIRECTIONS)</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to find 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مَدْرَسَتُنَا بَيْنَ الْمَسْجِدِ وَالْمَكْتَبَةِ الْعَامَّةِ، وَمَوْقِفُ الْحَافِلَاتِ أَمَامَهَا. مُقَابِلَ الْمَدْرَسَةِ صَيْدَلِيَّةٌ صَغِيرَةٌ، وَبِجَانِبِهَا مَخْبَزٌ. إِذَا جِئْتَ بِالْقِطَارِ، فَاخْرُجْ مِنَ الْمَحَطَّةِ وَسِرْ مُسْتَقِيمًا حَتَّى الْإِشَارَةِ، ثُمَّ انْعَطِفْ يَسَارًا عِنْدَ الْحَدِيقَةِ. يَبْدَأُ الدَّوَامُ بَعْدَ الثَّامِنَةِ، فَتَعَالَ قَبْلَهَا بِعَشْرِ دَقَائِقَ!</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مَوْقِفُ الْحَافِلَاتِ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stop</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مَخْبَزٌ</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bakery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الْإِشَارَةِ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traffic lights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الدَّوَامُ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school day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تَعَالَ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station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 the mosque and the library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park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opposite the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bakery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stop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pharmacy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turn left?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park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lights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mosque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you arrive?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eight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minutes before eight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eight exactly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opposite the station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between the mosque and the library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park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 l-masjidi wa-l-maktaba.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opposite the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bakery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stop</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pharmacy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Muqābila l-madrasa ṣaydaliyya.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turn left?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park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lights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mosque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ʿInda l-ḥadīqa.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you arrive?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eight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ten minutes before eight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eight exactly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Qablahā bi-ʿashri daqāʾiq.</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help a stranger find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غُرْفَتَكَ: أَيْنَ السَّرِيرُ؟ وَأَيْنَ الْمَكْتَبُ؟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يَقَعُ بَيْتُكَ؟ مَاذَا يُوجَدُ بِجَانِبِهِ وَمُقَابِلَهُ؟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أَصِلُ مِنَ الْمَدْرَسَةِ إِلَى أَقْرَبِ مَسْجِدٍ؟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ea typeface="Amiri" pitchFamily="2" charset="-78"/>
                <a:cs typeface="Amiri" pitchFamily="2" charset="-78"/>
              </a:rPr>
              <a:t>السَّرِيرُ ___ النَّافِذَةِ، وَالْمَكْتَبُ ___ الْبَابِ.</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يَقَعُ بَيْتِي ___ ، وَبِجَانِبِهِ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اُخْرُجْ مِنَ ___ ، وَسِرْ حَتَّى ___ ، ثُمَّ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فَضْلِكِ، أَيْنَ الْمَكْتَبَةُ؟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Excuse me, where is the library? (to a woman)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الْمَكْتَبَةُ قَرِيبَةٌ. سِرْ مُسْتَقِيمًا، وَهِيَ مُقَابِلَ الْبَنْكِ، بَيْنَ الْمَقْهَى وَالصَّيْدَلِيَّةِ.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library is near. Walk straight on; it is opposite the bank, between the café and the pharmacy.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room: where five things are.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amāma · khalfa · fawqa · taḥta · bi-jānibi.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street on a map, with bayna and a time locator.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Both nouns after bayna with kasra.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six landmarks and a route.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Connectors: thumma, baʿda dhālika.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الْمَكْتَبَةُ بَيْنَ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library is between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الْبَنْكُ مُقَابِلَ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bank is opposite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بِالْقُرْبِ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near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اِنْعَطِفْ يَمِينًا عِنْدَ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Turn right 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السَّرِيرُ بِجَانِبِ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bed is beside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الْحَقِيبَةُ تَحْتَ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bag is under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الصُّورَةُ فَوْقَ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picture is above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السَّيَّارَةُ أَمَامَ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car is in front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أَمَامَ  ·  خَلْفَ  ·  فَوْقَ  ·  تَحْتَ  ·  بِجَانِبِ  ·  مُقَابِلَ  ·  بَيْنَ … وَ …  ·  عِنْدَ  ·  بِالْقُرْبِ مِنْ  ·  بَعِيدًا عَنْ  ·  قَبْلَ  ·  بَعْدَ  ·  أَثْنَاءَ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task: describe a room or local map (70–90 words) with six landmarks and one route.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spatial locators.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bayna phrase with two genitive nouns.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time locator.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Connectors to sequence the route.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Kasra on every noun after a locator.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located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سِرْ مُسْتَقِيمًا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walk straight 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اِنْعَطِفْ يَمِينًا / يَسَارًا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turn right / left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الشَّارِعِ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end of the street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بُعْدِ</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a distance of</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شَارِعٍ هَادِئٍ بِالْقُرْبِ مِنْ وَسَطِ الْمَدِينَةِ. بَيْتِي بَيْنَ الْمَخْبَزِ وَالْمَسْجِدِ، وَأَمَامَهُ شَجَرَةٌ كَبِيرَةٌ. مُقَابِلَ الْبَيْتِ حَدِيقَةٌ عَامَّةٌ، وَخَلْفَ الْحَدِيقَةِ مَوْقِفُ الْحَافِلَاتِ. الْمَدْرَسَةُ بَعِيدَةٌ قَلِيلًا عَنْ بَيْتِي. لِلْوُصُولِ إِلَيْهَا، أَمْشِي حَتَّى نِهَايَةِ الشَّارِعِ، ثُمَّ أَنْعَطِفُ يَسَارًا عِنْدَ الصَّيْدَلِيَّةِ. أَخْرُجُ مِنَ الْبَيْتِ قَبْلَ السَّابِعَةِ، وَأَسْتَمِعُ إِلَى الْقُرْآنِ أَثْنَاءَ الطَّرِيقِ.</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on a quiet street near the city centre. My house is between the bakery and the mosque, and in front of it is a big tree. Opposite the house is a public park, and behind the park is the bus stop. The school is a little far from my house. To get there, I walk to the end of the street, then turn left at the pharmacy. I leave the house before seven, and I listen to the Qur’an on the way.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place locator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bayna … wa-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 locator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route connector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five spatial locators.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each locator ends in kasra.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Both nouns after bayna … wa- have kasra.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time locator correctly (not khalfa for time).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stranger could follow my route.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“opposite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مُقَابِلَ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دَاخِلَ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الْمَدْرَسَةِ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“between the two shops”.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 الْمَتْجَرَانِ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 الْمَتْجَرَيْنِ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 الْمَتْجَرَيْنَ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“during the holiday”.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خِلَالَ الْعُطْلَةِ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 الْعُطْلَةِ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الْعُطْلَةِ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“opposite the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مُقَابِلَ الْمَدْرَسَةِ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دَاخِلَ الْمَدْرَسَةِ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 الْمَدْرَسَةِ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Muqābila = opposite.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“between the two shops”.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 الْمَتْجَرَانِ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بَيْنَ الْمَتْجَرَيْنِ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 الْمَتْجَرَيْنَ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genitive: -ayni.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“during the holiday”.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خِلَالَ الْعُطْلَةِ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فَوْقَ الْعُطْلَةِ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 الْعُطْلَةِ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Khilāla = during / throughout.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GM-CP-03: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GM-CP-03 · Prepositions with Pronouns and Verb Collocations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it / him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عَلَيْهِ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 it / him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from it / him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إِلَيْهِ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it / him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مَعَهُ</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 him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bi-jānibihi (next to it). What happens to ʿalā when you add -hi?</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عَلَى + هِ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Draw your room and write five locator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Draw your street and write six sentences, including bayna.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room or map description (70–90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GM-CP-02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GM-CP-03 · Prepositions with Pronouns and Verb Collocations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حُرُوفُ الْجَرِّ مَعَ الضَّمَائِرِ وَالْمُتَلَازِمَاتِ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locator (-a) + noun (kasra): amāma l-bayti · bayna X wa-Y — both kasra · khalfa is place, baʿda is time · bi-l-qurbi min, baʿīdan ʿan are fixed phrases.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GM-CP-02 · Spatial and Temporal Locators</dc:title>
  <dc:subject>PptxGenJS Presentation</dc:subject>
  <dc:creator>Al Madina Online School · Arabic Department</dc:creator>
  <cp:lastModifiedBy>Al Madina Online School · Arabic Department</cp:lastModifiedBy>
  <cp:revision>1</cp:revision>
  <dcterms:created xsi:type="dcterms:W3CDTF">2026-10-11T06:42:11Z</dcterms:created>
  <dcterms:modified xsi:type="dcterms:W3CDTF">2026-10-11T06:42:11Z</dcterms:modified>
</cp:coreProperties>
</file>