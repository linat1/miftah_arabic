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Conjunctions and Prepositions › GM-CP-01 (“Common Prepositions and the Genitive”).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فِي · إِلَى · مِنْ · عَلَى · عَنْ · مَعَ with places and people (فِي الْمَدْرَسَةِ · إِلَى الْمَكْتَبَةِ). Develop: attached بِـ and لِـ (بِالْحَافِلَةِ · لِلطَّالِبِ · لَهُ · بِهِ) and verb + preposition pairs (اِسْتَمَعَ إِلَى · بَحَثَ عَنْ). Stretch: the genitive with duals and plurals (إِلَى مَكْتَبَتَيْنِ · مَعَ الْمُعَلِّمِينَ).
• Website principle: choose the preposition by the Arabic relationship, not by the English translation. maʿa = company (with my brother); bi- = means (by train).
• Case boundary (website): this lesson shows the kasra for reading and modelling; the full system comes in the Case Endings lessons (GM-CASE).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3, 4 and 6) — the GM-VF-R prep words fī, ʿalā, min, ilā, maʿa.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Preposition + noun = a phrase; the noun ends in kasra. Bi- and li- join the word: bi-l-, li-l-.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“Meaning first”. Act them out: in the box, to the door, from the door, on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“What happens after a preposition?”. Stretch rows recycle GM-N-03 duals and GM-N-04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“Attached prepositions” and “Choose the preposition the verb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Meaning and Attached Form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model. ʿani l-ʿuṭla: ʿan takes kasra before al- (helping vowel).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meaning boundary. Ask: “I went with the bus” — maʿa or bi-?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meaning boundary. Ask: “I went with the bus” — maʿa or bi-?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Genitive, Attached Form and Final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message). Read it aloud once while students follow; then they hunt for today’s grammar.
Task: Website: circle every preposition and draw an arrow to the noun or pronoun it governs.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message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a spoken description using where, where to, with whom, how and about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60–80 Arabic words telling a friend where you are, where you are going, who is with you, how you will travel and what you will talk about.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(GM-CP-02 · Spatial and Temporal Locators) will spend class time USING this language, so students prepare it tonight — short, simple, easy to access (school guidance: “Simple, Short, Interesting, Relevant, Easy to access”). The five words prepare GM-CP-02 (website: spatial and temporal locators).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CONJUNCTIONS AND PREPOSITIONS  ·  GM-CP-01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GM-CP-01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Common Prepositions and the Genitive</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حُرُوفُ الْجَرِّ وَالْمَجْرُورُ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Eight small words show where, where to, where from, about what, with whom, how and for whom. After a preposition the noun ends in kasra (fī l-bayti). Bi- and li- join the next word: bi-l-ḥāfila, li-l-ṭālib.</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GM-CP-01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Conjunctions and Prepositions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Meaning of 8 prepositions; majrūr; bi- / li-; collocations.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Choose the preposition; sort maʿa / bi-;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GM-CP-02.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house”.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الْبَيْتِ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الْبَيْتِ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الْبَيْتِ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the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الْمَدْرَسَةِ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 الْمَدْرَسَةِ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بِالْمَدْرَسَةِ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means “about”?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written correctly?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 الْحَافِلَةِ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 ال حافلة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بِالْحَافِلَةِ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the student”.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لِلطَّالِبِ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 الطَّالِبُ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الطَّالِبَ</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the house”.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الْبَيْتِ</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الْبَيْتِ</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الْبَيْتِ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Fī locates something inside a place.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the school”.</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 الْمَدْرَسَةِ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 الْمَدْرَسَةِ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بِالْمَدْرَسَةِ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Ilā marks movement towards a destination.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means “about”?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ʿAn commonly introduces a topic.</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written correctly?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 الْحَافِلَةِ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 ال حافلة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بِالْحَافِلَةِ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 attaches directly to the next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the student”.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لِلطَّالِبِ</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 الطَّالِبُ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الطَّالِبَ</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attaches to the article: </a:t>
            </a:r>
            <a:pPr algn="l" indent="0" marL="0">
              <a:buNone/>
            </a:pPr>
            <a:r>
              <a:rPr lang="ar-SA" altLang="en-US" sz="1350" dirty="0">
                <a:solidFill>
                  <a:srgbClr val="8A6D1E"/>
                </a:solidFill>
                <a:latin typeface="Amiri" pitchFamily="2" charset="-78"/>
                <a:cs typeface="Amiri" pitchFamily="2" charset="-78"/>
              </a:rPr>
              <a:t>لِلـ</a:t>
            </a:r>
            <a:pPr algn="l" indent="0" marL="0">
              <a:buNone/>
            </a:pPr>
            <a:r>
              <a:rPr lang="en-US" sz="1050" i="1" dirty="0">
                <a:solidFill>
                  <a:srgbClr val="8A6D1E"/>
                </a:solidFill>
                <a:latin typeface="Calibri" pitchFamily="34" charset="0"/>
                <a:cs typeface="Amiri" pitchFamily="2" charset="-78"/>
              </a:rPr>
              <a:t>, and the noun is genitive.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Preposition + noun = a phrase; the noun ends in kasra. Bi- and li- join the word: bi-l-, li-l-.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300" b="1" dirty="0">
                <a:solidFill>
                  <a:srgbClr val="0E7C86"/>
                </a:solidFill>
                <a:latin typeface="Amiri" pitchFamily="2" charset="-78"/>
                <a:cs typeface="Amiri" pitchFamily="2" charset="-78"/>
              </a:rPr>
              <a:t>فِي</a:t>
            </a:r>
            <a:pPr rtl="1" algn="ctr" indent="0" marL="0">
              <a:lnSpc>
                <a:spcPct val="120000"/>
              </a:lnSpc>
              <a:buNone/>
            </a:pPr>
            <a:r>
              <a:rPr lang="ar-SA" altLang="en-US" sz="2300" b="1" dirty="0">
                <a:solidFill>
                  <a:srgbClr val="1B3B6F"/>
                </a:solidFill>
                <a:latin typeface="Amiri" pitchFamily="2" charset="-78"/>
                <a:cs typeface="Amiri" pitchFamily="2" charset="-78"/>
              </a:rPr>
              <a:t> الْبَيْتِ ‖ </a:t>
            </a:r>
            <a:pPr rtl="1" algn="ctr" indent="0" marL="0">
              <a:lnSpc>
                <a:spcPct val="120000"/>
              </a:lnSpc>
              <a:buNone/>
            </a:pPr>
            <a:r>
              <a:rPr lang="ar-SA" altLang="en-US" sz="2300" b="1" dirty="0">
                <a:solidFill>
                  <a:srgbClr val="D6336C"/>
                </a:solidFill>
                <a:latin typeface="Amiri" pitchFamily="2" charset="-78"/>
                <a:cs typeface="Amiri" pitchFamily="2" charset="-78"/>
              </a:rPr>
              <a:t>بِالْحَافِلَةِ</a:t>
            </a:r>
            <a:pPr rtl="1" algn="ctr" indent="0" marL="0">
              <a:lnSpc>
                <a:spcPct val="120000"/>
              </a:lnSpc>
              <a:buNone/>
            </a:pPr>
            <a:r>
              <a:rPr lang="ar-SA" altLang="en-US" sz="2300" b="1" dirty="0">
                <a:solidFill>
                  <a:srgbClr val="1B3B6F"/>
                </a:solidFill>
                <a:latin typeface="Amiri" pitchFamily="2" charset="-78"/>
                <a:cs typeface="Amiri" pitchFamily="2" charset="-78"/>
              </a:rPr>
              <a:t> · </a:t>
            </a:r>
            <a:pPr rtl="1" algn="ctr" indent="0" marL="0">
              <a:lnSpc>
                <a:spcPct val="120000"/>
              </a:lnSpc>
              <a:buNone/>
            </a:pPr>
            <a:r>
              <a:rPr lang="ar-SA" altLang="en-US" sz="2300" b="1" dirty="0">
                <a:solidFill>
                  <a:srgbClr val="D6336C"/>
                </a:solidFill>
                <a:latin typeface="Amiri" pitchFamily="2" charset="-78"/>
                <a:cs typeface="Amiri" pitchFamily="2" charset="-78"/>
              </a:rPr>
              <a:t>لِلطَّالِبِ</a:t>
            </a:r>
            <a:endParaRPr lang="ar-SA" sz="23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a preposition by its meaning.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the noun after a preposition with kasra.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bi- and li- correctly.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verbs with their prepositions.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where I am and where I go.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maʿa for people.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bi-l- and li-l- with no space.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learn istamaʿa ilā and baḥatha ʿan.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-ayni and -īna after a preposition.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60–80-word message with six prepositions.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حَرْفُ الْجَرِّ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preposition</a:t>
            </a:r>
            <a:endParaRPr lang="en-US" sz="1350" dirty="0"/>
          </a:p>
          <a:p>
            <a:pPr indent="0" marL="0">
              <a:buNone/>
            </a:pPr>
            <a:r>
              <a:rPr lang="en-US" sz="1100" i="1" dirty="0">
                <a:solidFill>
                  <a:srgbClr val="5A6472"/>
                </a:solidFill>
                <a:latin typeface="Calibri" pitchFamily="34" charset="0"/>
                <a:cs typeface="Amiri" pitchFamily="2" charset="-78"/>
              </a:rPr>
              <a:t>ḥar-fu al-jar-ri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فِي · إِلَى · مِنْ</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الِاسْمُ الْمَجْرُورُ</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noun after a preposition (genitive)</a:t>
            </a:r>
            <a:endParaRPr lang="en-US" sz="1350" dirty="0"/>
          </a:p>
          <a:p>
            <a:pPr indent="0" marL="0">
              <a:buNone/>
            </a:pPr>
            <a:r>
              <a:rPr lang="en-US" sz="1100" i="1" dirty="0">
                <a:solidFill>
                  <a:srgbClr val="5A6472"/>
                </a:solidFill>
                <a:latin typeface="Calibri" pitchFamily="34" charset="0"/>
                <a:cs typeface="Amiri" pitchFamily="2" charset="-78"/>
              </a:rPr>
              <a:t>al-ِs-mu al-maj-rū-ru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الْبَيْتِ</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الْكَسْرَةُ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kasra (genitive sign)</a:t>
            </a:r>
            <a:endParaRPr lang="en-US" sz="1350" dirty="0"/>
          </a:p>
          <a:p>
            <a:pPr indent="0" marL="0">
              <a:buNone/>
            </a:pPr>
            <a:r>
              <a:rPr lang="en-US" sz="1100" i="1" dirty="0">
                <a:solidFill>
                  <a:srgbClr val="5A6472"/>
                </a:solidFill>
                <a:latin typeface="Calibri" pitchFamily="34" charset="0"/>
                <a:cs typeface="Amiri" pitchFamily="2" charset="-78"/>
              </a:rPr>
              <a:t>al-kas-ra-tu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الْمَدْرَسَةِ</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شِبْهُ الْجُمْلَةِ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prepositional phrase</a:t>
            </a:r>
            <a:endParaRPr lang="en-US" sz="1350" dirty="0"/>
          </a:p>
          <a:p>
            <a:pPr indent="0" marL="0">
              <a:buNone/>
            </a:pPr>
            <a:r>
              <a:rPr lang="en-US" sz="1100" i="1" dirty="0">
                <a:solidFill>
                  <a:srgbClr val="5A6472"/>
                </a:solidFill>
                <a:latin typeface="Calibri" pitchFamily="34" charset="0"/>
                <a:cs typeface="Amiri" pitchFamily="2" charset="-78"/>
              </a:rPr>
              <a:t>shib-hu al-jum-la-ti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فِي الصَّفِّ</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بِـ · لِـ</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attached prepositions</a:t>
            </a:r>
            <a:endParaRPr lang="en-US" sz="1350" dirty="0"/>
          </a:p>
          <a:p>
            <a:pPr indent="0" marL="0">
              <a:buNone/>
            </a:pPr>
            <a:r>
              <a:rPr lang="en-US" sz="1100" i="1" dirty="0">
                <a:solidFill>
                  <a:srgbClr val="5A6472"/>
                </a:solidFill>
                <a:latin typeface="Calibri" pitchFamily="34" charset="0"/>
                <a:cs typeface="Amiri" pitchFamily="2" charset="-78"/>
              </a:rPr>
              <a:t>bi · li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بِالْقِطَارِ · لَهُ</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التَّلَازُمُ</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 preposition pair</a:t>
            </a:r>
            <a:endParaRPr lang="en-US" sz="1350" dirty="0"/>
          </a:p>
          <a:p>
            <a:pPr indent="0" marL="0">
              <a:buNone/>
            </a:pPr>
            <a:r>
              <a:rPr lang="en-US" sz="1100" i="1" dirty="0">
                <a:solidFill>
                  <a:srgbClr val="5A6472"/>
                </a:solidFill>
                <a:latin typeface="Calibri" pitchFamily="34" charset="0"/>
                <a:cs typeface="Amiri" pitchFamily="2" charset="-78"/>
              </a:rPr>
              <a:t>at-ta-lā-zu-mu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اِسْتَمَعَ إِلَى</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MEANING FIRST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Eight common prepositions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حُرُوفُ الْجَرِّ الشَّائِعَةُ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102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Worked example (website)</a:t>
            </a:r>
            <a:endParaRPr lang="en-US" sz="1100" dirty="0"/>
          </a:p>
        </p:txBody>
      </p:sp>
      <p:sp>
        <p:nvSpPr>
          <p:cNvPr id="18" name="Text 15"/>
          <p:cNvSpPr txBox="1"/>
          <p:nvPr/>
        </p:nvSpPr>
        <p:spPr>
          <a:xfrm>
            <a:off x="23591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Core function</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Preposition</a:t>
            </a:r>
            <a:endParaRPr lang="en-US" sz="1100" dirty="0"/>
          </a:p>
        </p:txBody>
      </p:sp>
      <p:sp>
        <p:nvSpPr>
          <p:cNvPr id="20" name="Shape 17"/>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1" name="Text 18"/>
          <p:cNvSpPr txBox="1"/>
          <p:nvPr/>
        </p:nvSpPr>
        <p:spPr>
          <a:xfrm>
            <a:off x="9345168" y="2267712"/>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 at school.</a:t>
            </a:r>
            <a:endParaRPr lang="en-US" sz="1100" dirty="0"/>
          </a:p>
        </p:txBody>
      </p:sp>
      <p:sp>
        <p:nvSpPr>
          <p:cNvPr id="22" name="Text 19"/>
          <p:cNvSpPr txBox="1"/>
          <p:nvPr/>
        </p:nvSpPr>
        <p:spPr>
          <a:xfrm>
            <a:off x="5120640" y="2267712"/>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فِي الْمَدْرَسَةِ.</a:t>
            </a:r>
            <a:endParaRPr lang="ar-SA" sz="2200" dirty="0"/>
          </a:p>
        </p:txBody>
      </p:sp>
      <p:sp>
        <p:nvSpPr>
          <p:cNvPr id="23" name="Text 20"/>
          <p:cNvSpPr txBox="1"/>
          <p:nvPr/>
        </p:nvSpPr>
        <p:spPr>
          <a:xfrm>
            <a:off x="2395728" y="2267712"/>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 inside / during</a:t>
            </a:r>
            <a:endParaRPr lang="en-US" sz="1100" dirty="0"/>
          </a:p>
        </p:txBody>
      </p:sp>
      <p:sp>
        <p:nvSpPr>
          <p:cNvPr id="24" name="Text 21"/>
          <p:cNvSpPr txBox="1"/>
          <p:nvPr/>
        </p:nvSpPr>
        <p:spPr>
          <a:xfrm>
            <a:off x="548640" y="2267712"/>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9345168" y="2794145"/>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the library.</a:t>
            </a:r>
            <a:endParaRPr lang="en-US" sz="1100" dirty="0"/>
          </a:p>
        </p:txBody>
      </p:sp>
      <p:sp>
        <p:nvSpPr>
          <p:cNvPr id="29" name="Text 26"/>
          <p:cNvSpPr txBox="1"/>
          <p:nvPr/>
        </p:nvSpPr>
        <p:spPr>
          <a:xfrm>
            <a:off x="5120640" y="2794145"/>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إِلَى الْمَكْتَبَةِ.</a:t>
            </a:r>
            <a:endParaRPr lang="ar-SA" sz="2200" dirty="0"/>
          </a:p>
        </p:txBody>
      </p:sp>
      <p:sp>
        <p:nvSpPr>
          <p:cNvPr id="30" name="Text 27"/>
          <p:cNvSpPr txBox="1"/>
          <p:nvPr/>
        </p:nvSpPr>
        <p:spPr>
          <a:xfrm>
            <a:off x="2395728" y="2794145"/>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 towards</a:t>
            </a:r>
            <a:endParaRPr lang="en-US" sz="1100" dirty="0"/>
          </a:p>
        </p:txBody>
      </p:sp>
      <p:sp>
        <p:nvSpPr>
          <p:cNvPr id="31" name="Text 28"/>
          <p:cNvSpPr txBox="1"/>
          <p:nvPr/>
        </p:nvSpPr>
        <p:spPr>
          <a:xfrm>
            <a:off x="548640" y="2794145"/>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إِلَى</a:t>
            </a:r>
            <a:endParaRPr lang="ar-SA" sz="2200" dirty="0"/>
          </a:p>
        </p:txBody>
      </p:sp>
      <p:sp>
        <p:nvSpPr>
          <p:cNvPr id="32" name="Shape 29"/>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5" name="Text 32"/>
          <p:cNvSpPr txBox="1"/>
          <p:nvPr/>
        </p:nvSpPr>
        <p:spPr>
          <a:xfrm>
            <a:off x="9345168" y="3320578"/>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returned from the market.</a:t>
            </a:r>
            <a:endParaRPr lang="en-US" sz="1100" dirty="0"/>
          </a:p>
        </p:txBody>
      </p:sp>
      <p:sp>
        <p:nvSpPr>
          <p:cNvPr id="36" name="Text 33"/>
          <p:cNvSpPr txBox="1"/>
          <p:nvPr/>
        </p:nvSpPr>
        <p:spPr>
          <a:xfrm>
            <a:off x="5120640" y="3320578"/>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عُدْتُ مِنَ السُّوقِ.</a:t>
            </a:r>
            <a:endParaRPr lang="ar-SA" sz="2200" dirty="0"/>
          </a:p>
        </p:txBody>
      </p:sp>
      <p:sp>
        <p:nvSpPr>
          <p:cNvPr id="37" name="Text 34"/>
          <p:cNvSpPr txBox="1"/>
          <p:nvPr/>
        </p:nvSpPr>
        <p:spPr>
          <a:xfrm>
            <a:off x="2395728" y="3320578"/>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 / out of</a:t>
            </a:r>
            <a:endParaRPr lang="en-US" sz="1100" dirty="0"/>
          </a:p>
        </p:txBody>
      </p:sp>
      <p:sp>
        <p:nvSpPr>
          <p:cNvPr id="38" name="Text 35"/>
          <p:cNvSpPr txBox="1"/>
          <p:nvPr/>
        </p:nvSpPr>
        <p:spPr>
          <a:xfrm>
            <a:off x="548640" y="3320578"/>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a:t>
            </a:r>
            <a:endParaRPr lang="ar-SA" sz="2200" dirty="0"/>
          </a:p>
        </p:txBody>
      </p:sp>
      <p:sp>
        <p:nvSpPr>
          <p:cNvPr id="39" name="Shape 36"/>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2" name="Text 39"/>
          <p:cNvSpPr txBox="1"/>
          <p:nvPr/>
        </p:nvSpPr>
        <p:spPr>
          <a:xfrm>
            <a:off x="9345168" y="3847011"/>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book is on the table.</a:t>
            </a:r>
            <a:endParaRPr lang="en-US" sz="1100" dirty="0"/>
          </a:p>
        </p:txBody>
      </p:sp>
      <p:sp>
        <p:nvSpPr>
          <p:cNvPr id="43" name="Text 40"/>
          <p:cNvSpPr txBox="1"/>
          <p:nvPr/>
        </p:nvSpPr>
        <p:spPr>
          <a:xfrm>
            <a:off x="5120640" y="3847011"/>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الْكِتَابُ عَلَى الطَّاوِلَةِ.</a:t>
            </a:r>
            <a:endParaRPr lang="ar-SA" sz="2200" dirty="0"/>
          </a:p>
        </p:txBody>
      </p:sp>
      <p:sp>
        <p:nvSpPr>
          <p:cNvPr id="44" name="Text 41"/>
          <p:cNvSpPr txBox="1"/>
          <p:nvPr/>
        </p:nvSpPr>
        <p:spPr>
          <a:xfrm>
            <a:off x="2395728" y="3847011"/>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 upon</a:t>
            </a:r>
            <a:endParaRPr lang="en-US" sz="1100" dirty="0"/>
          </a:p>
        </p:txBody>
      </p:sp>
      <p:sp>
        <p:nvSpPr>
          <p:cNvPr id="45" name="Text 42"/>
          <p:cNvSpPr txBox="1"/>
          <p:nvPr/>
        </p:nvSpPr>
        <p:spPr>
          <a:xfrm>
            <a:off x="548640" y="3847011"/>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عَلَى</a:t>
            </a:r>
            <a:endParaRPr lang="ar-SA" sz="2200" dirty="0"/>
          </a:p>
        </p:txBody>
      </p:sp>
      <p:sp>
        <p:nvSpPr>
          <p:cNvPr id="46" name="Shape 43"/>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9" name="Text 46"/>
          <p:cNvSpPr txBox="1"/>
          <p:nvPr/>
        </p:nvSpPr>
        <p:spPr>
          <a:xfrm>
            <a:off x="9345168" y="4373445"/>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spoke about the trip.</a:t>
            </a:r>
            <a:endParaRPr lang="en-US" sz="1100" dirty="0"/>
          </a:p>
        </p:txBody>
      </p:sp>
      <p:sp>
        <p:nvSpPr>
          <p:cNvPr id="50" name="Text 47"/>
          <p:cNvSpPr txBox="1"/>
          <p:nvPr/>
        </p:nvSpPr>
        <p:spPr>
          <a:xfrm>
            <a:off x="5120640" y="4373445"/>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تَحَدَّثْنَا عَنِ الرِّحْلَةِ.</a:t>
            </a:r>
            <a:endParaRPr lang="ar-SA" sz="2200" dirty="0"/>
          </a:p>
        </p:txBody>
      </p:sp>
      <p:sp>
        <p:nvSpPr>
          <p:cNvPr id="51" name="Text 48"/>
          <p:cNvSpPr txBox="1"/>
          <p:nvPr/>
        </p:nvSpPr>
        <p:spPr>
          <a:xfrm>
            <a:off x="2395728" y="4373445"/>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 away from</a:t>
            </a:r>
            <a:endParaRPr lang="en-US" sz="1100" dirty="0"/>
          </a:p>
        </p:txBody>
      </p:sp>
      <p:sp>
        <p:nvSpPr>
          <p:cNvPr id="52" name="Text 49"/>
          <p:cNvSpPr txBox="1"/>
          <p:nvPr/>
        </p:nvSpPr>
        <p:spPr>
          <a:xfrm>
            <a:off x="548640" y="4373445"/>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a:t>
            </a:r>
            <a:endParaRPr lang="ar-SA" sz="2200" dirty="0"/>
          </a:p>
        </p:txBody>
      </p:sp>
      <p:sp>
        <p:nvSpPr>
          <p:cNvPr id="53" name="Shape 50"/>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4" name="Text 51"/>
          <p:cNvSpPr txBox="1"/>
          <p:nvPr/>
        </p:nvSpPr>
        <p:spPr>
          <a:xfrm>
            <a:off x="9345168" y="4899878"/>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went with my family.</a:t>
            </a:r>
            <a:endParaRPr lang="en-US" sz="1100" dirty="0"/>
          </a:p>
        </p:txBody>
      </p:sp>
      <p:sp>
        <p:nvSpPr>
          <p:cNvPr id="55" name="Text 52"/>
          <p:cNvSpPr txBox="1"/>
          <p:nvPr/>
        </p:nvSpPr>
        <p:spPr>
          <a:xfrm>
            <a:off x="5120640" y="4899878"/>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مَعَ أُسْرَتِي.</a:t>
            </a:r>
            <a:endParaRPr lang="ar-SA" sz="2200" dirty="0"/>
          </a:p>
        </p:txBody>
      </p:sp>
      <p:sp>
        <p:nvSpPr>
          <p:cNvPr id="56" name="Text 53"/>
          <p:cNvSpPr txBox="1"/>
          <p:nvPr/>
        </p:nvSpPr>
        <p:spPr>
          <a:xfrm>
            <a:off x="2395728" y="4899878"/>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(company)</a:t>
            </a:r>
            <a:endParaRPr lang="en-US" sz="1100" dirty="0"/>
          </a:p>
        </p:txBody>
      </p:sp>
      <p:sp>
        <p:nvSpPr>
          <p:cNvPr id="57" name="Text 54"/>
          <p:cNvSpPr txBox="1"/>
          <p:nvPr/>
        </p:nvSpPr>
        <p:spPr>
          <a:xfrm>
            <a:off x="548640" y="4899878"/>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a:t>
            </a:r>
            <a:endParaRPr lang="ar-SA" sz="2200" dirty="0"/>
          </a:p>
        </p:txBody>
      </p:sp>
      <p:sp>
        <p:nvSpPr>
          <p:cNvPr id="58" name="Shape 55"/>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9" name="Text 56"/>
          <p:cNvSpPr txBox="1"/>
          <p:nvPr/>
        </p:nvSpPr>
        <p:spPr>
          <a:xfrm>
            <a:off x="9345168" y="5426311"/>
            <a:ext cx="231343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went by bus.</a:t>
            </a:r>
            <a:endParaRPr lang="en-US" sz="1100" dirty="0"/>
          </a:p>
        </p:txBody>
      </p:sp>
      <p:sp>
        <p:nvSpPr>
          <p:cNvPr id="60" name="Text 57"/>
          <p:cNvSpPr txBox="1"/>
          <p:nvPr/>
        </p:nvSpPr>
        <p:spPr>
          <a:xfrm>
            <a:off x="5120640" y="5426311"/>
            <a:ext cx="40233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بِالْحَافِلَةِ.</a:t>
            </a:r>
            <a:endParaRPr lang="ar-SA" sz="2200" dirty="0"/>
          </a:p>
        </p:txBody>
      </p:sp>
      <p:sp>
        <p:nvSpPr>
          <p:cNvPr id="61" name="Text 58"/>
          <p:cNvSpPr txBox="1"/>
          <p:nvPr/>
        </p:nvSpPr>
        <p:spPr>
          <a:xfrm>
            <a:off x="2395728" y="5426311"/>
            <a:ext cx="256032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 using · for</a:t>
            </a:r>
            <a:endParaRPr lang="en-US" sz="1100" dirty="0"/>
          </a:p>
        </p:txBody>
      </p:sp>
      <p:sp>
        <p:nvSpPr>
          <p:cNvPr id="62" name="Text 59"/>
          <p:cNvSpPr txBox="1"/>
          <p:nvPr/>
        </p:nvSpPr>
        <p:spPr>
          <a:xfrm>
            <a:off x="548640" y="5426311"/>
            <a:ext cx="16459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بِـ · لِـ</a:t>
            </a:r>
            <a:endParaRPr lang="ar-SA" sz="22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meaning boundary: maʿa = accompanying someone; bi- = instrument, means or method. Compare dhahabtu maʿa akhī and dhahabtu bi-l-qiṭār.</a:t>
            </a:r>
            <a:endParaRPr lang="en-US" sz="11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AFTER A PREPOSITION: AL-ISM AL-MAJRŪR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The noun after a preposition takes kasra</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الِاسْمُ الْمَجْرُورُ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72969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t>
            </a:r>
            <a:endParaRPr lang="en-US" sz="1100" dirty="0"/>
          </a:p>
        </p:txBody>
      </p:sp>
      <p:sp>
        <p:nvSpPr>
          <p:cNvPr id="18" name="Text 15"/>
          <p:cNvSpPr txBox="1"/>
          <p:nvPr/>
        </p:nvSpPr>
        <p:spPr>
          <a:xfrm>
            <a:off x="32735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 preposition</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Noun type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house</a:t>
            </a:r>
            <a:endParaRPr lang="en-US" sz="1100" dirty="0"/>
          </a:p>
        </p:txBody>
      </p:sp>
      <p:sp>
        <p:nvSpPr>
          <p:cNvPr id="22" name="Text 19"/>
          <p:cNvSpPr txBox="1"/>
          <p:nvPr/>
        </p:nvSpPr>
        <p:spPr>
          <a:xfrm>
            <a:off x="733348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kasra -i</a:t>
            </a:r>
            <a:endParaRPr lang="en-US" sz="1100" dirty="0"/>
          </a:p>
        </p:txBody>
      </p:sp>
      <p:sp>
        <p:nvSpPr>
          <p:cNvPr id="23" name="Text 20"/>
          <p:cNvSpPr txBox="1"/>
          <p:nvPr/>
        </p:nvSpPr>
        <p:spPr>
          <a:xfrm>
            <a:off x="3291840" y="2267712"/>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الْبَيْتِ</a:t>
            </a:r>
            <a:endParaRPr lang="ar-SA" sz="26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a house</a:t>
            </a:r>
            <a:endParaRPr lang="en-US" sz="1100" dirty="0"/>
          </a:p>
        </p:txBody>
      </p:sp>
      <p:sp>
        <p:nvSpPr>
          <p:cNvPr id="29" name="Text 26"/>
          <p:cNvSpPr txBox="1"/>
          <p:nvPr/>
        </p:nvSpPr>
        <p:spPr>
          <a:xfrm>
            <a:off x="733348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tanwīn -in</a:t>
            </a:r>
            <a:endParaRPr lang="en-US" sz="1100" dirty="0"/>
          </a:p>
        </p:txBody>
      </p:sp>
      <p:sp>
        <p:nvSpPr>
          <p:cNvPr id="30" name="Text 27"/>
          <p:cNvSpPr txBox="1"/>
          <p:nvPr/>
        </p:nvSpPr>
        <p:spPr>
          <a:xfrm>
            <a:off x="3291840" y="300471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 بَيْتٍ</a:t>
            </a:r>
            <a:endParaRPr lang="ar-SA" sz="26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two schools</a:t>
            </a:r>
            <a:endParaRPr lang="en-US" sz="1100" dirty="0"/>
          </a:p>
        </p:txBody>
      </p:sp>
      <p:sp>
        <p:nvSpPr>
          <p:cNvPr id="36" name="Text 33"/>
          <p:cNvSpPr txBox="1"/>
          <p:nvPr/>
        </p:nvSpPr>
        <p:spPr>
          <a:xfrm>
            <a:off x="733348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-ayni</a:t>
            </a:r>
            <a:endParaRPr lang="en-US" sz="1100" dirty="0"/>
          </a:p>
        </p:txBody>
      </p:sp>
      <p:sp>
        <p:nvSpPr>
          <p:cNvPr id="37" name="Text 34"/>
          <p:cNvSpPr txBox="1"/>
          <p:nvPr/>
        </p:nvSpPr>
        <p:spPr>
          <a:xfrm>
            <a:off x="3291840" y="3741725"/>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إِلَى مَدْرَسَتَيْنِ</a:t>
            </a:r>
            <a:endParaRPr lang="ar-SA" sz="26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the teachers</a:t>
            </a:r>
            <a:endParaRPr lang="en-US" sz="1100" dirty="0"/>
          </a:p>
        </p:txBody>
      </p:sp>
      <p:sp>
        <p:nvSpPr>
          <p:cNvPr id="41" name="Text 38"/>
          <p:cNvSpPr txBox="1"/>
          <p:nvPr/>
        </p:nvSpPr>
        <p:spPr>
          <a:xfrm>
            <a:off x="733348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-īna</a:t>
            </a:r>
            <a:endParaRPr lang="en-US" sz="1100" dirty="0"/>
          </a:p>
        </p:txBody>
      </p:sp>
      <p:sp>
        <p:nvSpPr>
          <p:cNvPr id="42" name="Text 39"/>
          <p:cNvSpPr txBox="1"/>
          <p:nvPr/>
        </p:nvSpPr>
        <p:spPr>
          <a:xfrm>
            <a:off x="3291840" y="4478731"/>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 الْمُعَلِّمِينَ</a:t>
            </a:r>
            <a:endParaRPr lang="ar-SA" sz="2600" dirty="0"/>
          </a:p>
        </p:txBody>
      </p:sp>
      <p:sp>
        <p:nvSpPr>
          <p:cNvPr id="43" name="Text 40"/>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sound masc. plural</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it · on her · from them</a:t>
            </a:r>
            <a:endParaRPr lang="en-US" sz="1100" dirty="0"/>
          </a:p>
        </p:txBody>
      </p:sp>
      <p:sp>
        <p:nvSpPr>
          <p:cNvPr id="46" name="Text 43"/>
          <p:cNvSpPr txBox="1"/>
          <p:nvPr/>
        </p:nvSpPr>
        <p:spPr>
          <a:xfrm>
            <a:off x="733348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learn as units</a:t>
            </a:r>
            <a:endParaRPr lang="en-US" sz="1100" dirty="0"/>
          </a:p>
        </p:txBody>
      </p:sp>
      <p:sp>
        <p:nvSpPr>
          <p:cNvPr id="47" name="Text 44"/>
          <p:cNvSpPr txBox="1"/>
          <p:nvPr/>
        </p:nvSpPr>
        <p:spPr>
          <a:xfrm>
            <a:off x="3291840" y="5215738"/>
            <a:ext cx="38404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فِيهِ · عَلَيْهَا · مِنْهُمْ</a:t>
            </a:r>
            <a:endParaRPr lang="ar-SA" sz="2600" dirty="0"/>
          </a:p>
        </p:txBody>
      </p:sp>
      <p:sp>
        <p:nvSpPr>
          <p:cNvPr id="48" name="Text 45"/>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pronoun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a pronoun attached to a preposition does not show a kasra in the same way — learn fīhi, ʿalayhā, minhum as complete units.</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ATTACHED BI- AND LI- · VERB + PREPOSITION (WEBSITE TABLES)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 space — and learn the 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بِـ وَلِـ وَتَلَازُمُ الْأَفْعَالِ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67482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36393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 form</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Build</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162288" y="226771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joins al-</a:t>
            </a:r>
            <a:endParaRPr lang="en-US" sz="1100" dirty="0"/>
          </a:p>
        </p:txBody>
      </p:sp>
      <p:sp>
        <p:nvSpPr>
          <p:cNvPr id="22" name="Text 19"/>
          <p:cNvSpPr txBox="1"/>
          <p:nvPr/>
        </p:nvSpPr>
        <p:spPr>
          <a:xfrm>
            <a:off x="678484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the bus</a:t>
            </a:r>
            <a:endParaRPr lang="en-US" sz="1100" dirty="0"/>
          </a:p>
        </p:txBody>
      </p:sp>
      <p:sp>
        <p:nvSpPr>
          <p:cNvPr id="23" name="Text 20"/>
          <p:cNvSpPr txBox="1"/>
          <p:nvPr/>
        </p:nvSpPr>
        <p:spPr>
          <a:xfrm>
            <a:off x="365760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بِالْحَافِلَةِ</a:t>
            </a:r>
            <a:endParaRPr lang="ar-SA" sz="2400" dirty="0"/>
          </a:p>
        </p:txBody>
      </p:sp>
      <p:sp>
        <p:nvSpPr>
          <p:cNvPr id="24" name="Text 21"/>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بِـ + الْحَافِلَةِ</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162288" y="2881884"/>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lām: li-l-</a:t>
            </a:r>
            <a:endParaRPr lang="en-US" sz="1100" dirty="0"/>
          </a:p>
        </p:txBody>
      </p:sp>
      <p:sp>
        <p:nvSpPr>
          <p:cNvPr id="29" name="Text 26"/>
          <p:cNvSpPr txBox="1"/>
          <p:nvPr/>
        </p:nvSpPr>
        <p:spPr>
          <a:xfrm>
            <a:off x="678484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the student</a:t>
            </a:r>
            <a:endParaRPr lang="en-US" sz="1100" dirty="0"/>
          </a:p>
        </p:txBody>
      </p:sp>
      <p:sp>
        <p:nvSpPr>
          <p:cNvPr id="30" name="Text 27"/>
          <p:cNvSpPr txBox="1"/>
          <p:nvPr/>
        </p:nvSpPr>
        <p:spPr>
          <a:xfrm>
            <a:off x="365760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لِلطَّالِبِ</a:t>
            </a:r>
            <a:endParaRPr lang="ar-SA" sz="2400" dirty="0"/>
          </a:p>
        </p:txBody>
      </p:sp>
      <p:sp>
        <p:nvSpPr>
          <p:cNvPr id="31" name="Text 28"/>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لِـ + الطَّالِبِ</a:t>
            </a:r>
            <a:endParaRPr lang="ar-SA" sz="22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162288" y="3496056"/>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also bihi: with it</a:t>
            </a:r>
            <a:endParaRPr lang="en-US" sz="1100" dirty="0"/>
          </a:p>
        </p:txBody>
      </p:sp>
      <p:sp>
        <p:nvSpPr>
          <p:cNvPr id="36" name="Text 33"/>
          <p:cNvSpPr txBox="1"/>
          <p:nvPr/>
        </p:nvSpPr>
        <p:spPr>
          <a:xfrm>
            <a:off x="678484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him / he has</a:t>
            </a:r>
            <a:endParaRPr lang="en-US" sz="1100" dirty="0"/>
          </a:p>
        </p:txBody>
      </p:sp>
      <p:sp>
        <p:nvSpPr>
          <p:cNvPr id="37" name="Text 34"/>
          <p:cNvSpPr txBox="1"/>
          <p:nvPr/>
        </p:nvSpPr>
        <p:spPr>
          <a:xfrm>
            <a:off x="365760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لَهُ</a:t>
            </a:r>
            <a:endParaRPr lang="ar-SA" sz="2400" dirty="0"/>
          </a:p>
        </p:txBody>
      </p:sp>
      <p:sp>
        <p:nvSpPr>
          <p:cNvPr id="38" name="Text 35"/>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لِـ + هُ</a:t>
            </a:r>
            <a:endParaRPr lang="ar-SA" sz="22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162288" y="4110228"/>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istamaʿa ilā</a:t>
            </a:r>
            <a:endParaRPr lang="en-US" sz="1100" dirty="0"/>
          </a:p>
        </p:txBody>
      </p:sp>
      <p:sp>
        <p:nvSpPr>
          <p:cNvPr id="41" name="Text 38"/>
          <p:cNvSpPr txBox="1"/>
          <p:nvPr/>
        </p:nvSpPr>
        <p:spPr>
          <a:xfrm>
            <a:off x="678484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listened to</a:t>
            </a:r>
            <a:endParaRPr lang="en-US" sz="1100" dirty="0"/>
          </a:p>
        </p:txBody>
      </p:sp>
      <p:sp>
        <p:nvSpPr>
          <p:cNvPr id="42" name="Text 39"/>
          <p:cNvSpPr txBox="1"/>
          <p:nvPr/>
        </p:nvSpPr>
        <p:spPr>
          <a:xfrm>
            <a:off x="365760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اِسْتَمَعْتُ إِلَى الْمُوسِيقَى</a:t>
            </a:r>
            <a:endParaRPr lang="ar-SA" sz="2400" dirty="0"/>
          </a:p>
        </p:txBody>
      </p:sp>
      <p:sp>
        <p:nvSpPr>
          <p:cNvPr id="43" name="Text 40"/>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اِسْتَمَعَ</a:t>
            </a:r>
            <a:endParaRPr lang="ar-SA" sz="22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9162288" y="4724400"/>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ihtamma bi-</a:t>
            </a:r>
            <a:endParaRPr lang="en-US" sz="1100" dirty="0"/>
          </a:p>
        </p:txBody>
      </p:sp>
      <p:sp>
        <p:nvSpPr>
          <p:cNvPr id="46" name="Text 43"/>
          <p:cNvSpPr txBox="1"/>
          <p:nvPr/>
        </p:nvSpPr>
        <p:spPr>
          <a:xfrm>
            <a:off x="678484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interested in</a:t>
            </a:r>
            <a:endParaRPr lang="en-US" sz="1100" dirty="0"/>
          </a:p>
        </p:txBody>
      </p:sp>
      <p:sp>
        <p:nvSpPr>
          <p:cNvPr id="47" name="Text 44"/>
          <p:cNvSpPr txBox="1"/>
          <p:nvPr/>
        </p:nvSpPr>
        <p:spPr>
          <a:xfrm>
            <a:off x="365760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أَهْتَمُّ بِالْبِيئَةِ</a:t>
            </a:r>
            <a:endParaRPr lang="ar-SA" sz="2400" dirty="0"/>
          </a:p>
        </p:txBody>
      </p:sp>
      <p:sp>
        <p:nvSpPr>
          <p:cNvPr id="48" name="Text 45"/>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اِهْتَمَّ</a:t>
            </a:r>
            <a:endParaRPr lang="ar-SA" sz="22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9162288" y="5338572"/>
            <a:ext cx="24963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baḥatha ʿan</a:t>
            </a:r>
            <a:endParaRPr lang="en-US" sz="1100" dirty="0"/>
          </a:p>
        </p:txBody>
      </p:sp>
      <p:sp>
        <p:nvSpPr>
          <p:cNvPr id="51" name="Text 48"/>
          <p:cNvSpPr txBox="1"/>
          <p:nvPr/>
        </p:nvSpPr>
        <p:spPr>
          <a:xfrm>
            <a:off x="678484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looked for</a:t>
            </a:r>
            <a:endParaRPr lang="en-US" sz="1100" dirty="0"/>
          </a:p>
        </p:txBody>
      </p:sp>
      <p:sp>
        <p:nvSpPr>
          <p:cNvPr id="52" name="Text 49"/>
          <p:cNvSpPr txBox="1"/>
          <p:nvPr/>
        </p:nvSpPr>
        <p:spPr>
          <a:xfrm>
            <a:off x="365760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بَحَثْتُ عَنِ الْمَعْلُومَاتِ</a:t>
            </a:r>
            <a:endParaRPr lang="ar-SA" sz="2400" dirty="0"/>
          </a:p>
        </p:txBody>
      </p:sp>
      <p:sp>
        <p:nvSpPr>
          <p:cNvPr id="53" name="Text 50"/>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بَحَثَ</a:t>
            </a:r>
            <a:endParaRPr lang="ar-SA" sz="22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do not write bi l-bayt or li l-madrasa with a space. Memory method: learn istamaʿa ilā — not only istamaʿa. The pair is the usable unit.</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travelled ___ my parents.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بِوَالِدَيَّ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 وَالِدَيَّ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وَالِدَيَّ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travelled ___ train.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بِالْقِطَارِ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الْقِطَارِ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 الْقِطَارِ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spoke ___ technology.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التِّقْنِيَّةِ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 التِّقْنِيَّةِ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التِّقْنِيَّةِ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“for the school”?</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لِلْمَدْرَسَةِ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 الْمَدْرَسَةُ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بِالْمَدْرَسَةِ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travelled ___ my parents.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بِوَالِدَيَّ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 وَالِدَيَّ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وَالِدَيَّ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Company: maʿa.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travelled ___ train.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بِالْقِطَارِ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الْقِطَارِ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 الْقِطَارِ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Means of transport: bi-.</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We spoke ___ technology.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التِّقْنِيَّةِ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 التِّقْنِيَّةِ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التِّقْنِيَّةِ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topic follows ʿan.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“for the school”?</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لِلْمَدْرَسَةِ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 الْمَدْرَسَةُ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بِالْمَدْرَسَةِ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 + al- = li-l-.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write a message with prepositions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am 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 مَدْرَسَتِي</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 = in.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 to?</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إِلَى الْمَكْتَبَةِ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ilā + kasra.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With whom? How?</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مَعَ صَدِيقَتِي بِالْحَافِلَةِ</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maʿa = person; bi- = means.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About what?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عَنِ الْعُطْلَةِ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ʿan = topic.</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ATTACHED bi- / li-</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2" charset="-78"/>
                <a:cs typeface="Amiri" pitchFamily="2" charset="-78"/>
              </a:rPr>
              <a:t>أَنَا </a:t>
            </a:r>
            <a:pPr rtl="1" algn="r" indent="0" marL="0">
              <a:buNone/>
            </a:pPr>
            <a:r>
              <a:rPr lang="ar-SA" altLang="en-US" sz="2250" b="1" dirty="0">
                <a:solidFill>
                  <a:srgbClr val="0E7C86"/>
                </a:solidFill>
                <a:latin typeface="Amiri" pitchFamily="2" charset="-78"/>
                <a:cs typeface="Amiri" pitchFamily="2" charset="-78"/>
              </a:rPr>
              <a:t>فِي</a:t>
            </a:r>
            <a:pPr rtl="1" algn="r" indent="0" marL="0">
              <a:buNone/>
            </a:pPr>
            <a:r>
              <a:rPr lang="ar-SA" altLang="en-US" sz="2250" b="1" dirty="0">
                <a:solidFill>
                  <a:srgbClr val="1B3B6F"/>
                </a:solidFill>
                <a:latin typeface="Amiri" pitchFamily="2" charset="-78"/>
                <a:cs typeface="Amiri" pitchFamily="2" charset="-78"/>
              </a:rPr>
              <a:t> مَدْرَسَتِي الْآنَ، وَسَأَذْهَبُ </a:t>
            </a:r>
            <a:pPr rtl="1" algn="r" indent="0" marL="0">
              <a:buNone/>
            </a:pPr>
            <a:r>
              <a:rPr lang="ar-SA" altLang="en-US" sz="2250" b="1" dirty="0">
                <a:solidFill>
                  <a:srgbClr val="0E7C86"/>
                </a:solidFill>
                <a:latin typeface="Amiri" pitchFamily="2" charset="-78"/>
                <a:cs typeface="Amiri" pitchFamily="2" charset="-78"/>
              </a:rPr>
              <a:t>إِلَى</a:t>
            </a:r>
            <a:pPr rtl="1" algn="r" indent="0" marL="0">
              <a:buNone/>
            </a:pPr>
            <a:r>
              <a:rPr lang="ar-SA" altLang="en-US" sz="2250" b="1" dirty="0">
                <a:solidFill>
                  <a:srgbClr val="1B3B6F"/>
                </a:solidFill>
                <a:latin typeface="Amiri" pitchFamily="2" charset="-78"/>
                <a:cs typeface="Amiri" pitchFamily="2" charset="-78"/>
              </a:rPr>
              <a:t> الْمَكْتَبَةِ بَعْدَ الدَّرْسِ. ذَهَبْتُ </a:t>
            </a:r>
            <a:pPr rtl="1" algn="r" indent="0" marL="0">
              <a:buNone/>
            </a:pPr>
            <a:r>
              <a:rPr lang="ar-SA" altLang="en-US" sz="2250" b="1" dirty="0">
                <a:solidFill>
                  <a:srgbClr val="0E7C86"/>
                </a:solidFill>
                <a:latin typeface="Amiri" pitchFamily="2" charset="-78"/>
                <a:cs typeface="Amiri" pitchFamily="2" charset="-78"/>
              </a:rPr>
              <a:t>مَعَ</a:t>
            </a:r>
            <a:pPr rtl="1" algn="r" indent="0" marL="0">
              <a:buNone/>
            </a:pPr>
            <a:r>
              <a:rPr lang="ar-SA" altLang="en-US" sz="2250" b="1" dirty="0">
                <a:solidFill>
                  <a:srgbClr val="1B3B6F"/>
                </a:solidFill>
                <a:latin typeface="Amiri" pitchFamily="2" charset="-78"/>
                <a:cs typeface="Amiri" pitchFamily="2" charset="-78"/>
              </a:rPr>
              <a:t> صَدِيقَتِي </a:t>
            </a:r>
            <a:pPr rtl="1" algn="r" indent="0" marL="0">
              <a:buNone/>
            </a:pPr>
            <a:r>
              <a:rPr lang="ar-SA" altLang="en-US" sz="2250" b="1" dirty="0">
                <a:solidFill>
                  <a:srgbClr val="D6336C"/>
                </a:solidFill>
                <a:latin typeface="Amiri" pitchFamily="2" charset="-78"/>
                <a:cs typeface="Amiri" pitchFamily="2" charset="-78"/>
              </a:rPr>
              <a:t>بِالْحَافِلَةِ</a:t>
            </a:r>
            <a:pPr rtl="1" algn="r" indent="0" marL="0">
              <a:buNone/>
            </a:pPr>
            <a:r>
              <a:rPr lang="ar-SA" altLang="en-US" sz="2250" b="1" dirty="0">
                <a:solidFill>
                  <a:srgbClr val="1B3B6F"/>
                </a:solidFill>
                <a:latin typeface="Amiri" pitchFamily="2" charset="-78"/>
                <a:cs typeface="Amiri" pitchFamily="2" charset="-78"/>
              </a:rPr>
              <a:t>، وَتَحَدَّثْنَا </a:t>
            </a:r>
            <a:pPr rtl="1" algn="r" indent="0" marL="0">
              <a:buNone/>
            </a:pPr>
            <a:r>
              <a:rPr lang="ar-SA" altLang="en-US" sz="2250" b="1" dirty="0">
                <a:solidFill>
                  <a:srgbClr val="0E7C86"/>
                </a:solidFill>
                <a:latin typeface="Amiri" pitchFamily="2" charset="-78"/>
                <a:cs typeface="Amiri" pitchFamily="2" charset="-78"/>
              </a:rPr>
              <a:t>عَنِ</a:t>
            </a:r>
            <a:pPr rtl="1" algn="r" indent="0" marL="0">
              <a:buNone/>
            </a:pPr>
            <a:r>
              <a:rPr lang="ar-SA" altLang="en-US" sz="2250" b="1" dirty="0">
                <a:solidFill>
                  <a:srgbClr val="1B3B6F"/>
                </a:solidFill>
                <a:latin typeface="Amiri" pitchFamily="2" charset="-78"/>
                <a:cs typeface="Amiri" pitchFamily="2" charset="-78"/>
              </a:rPr>
              <a:t> الْعُطْلَةِ.</a:t>
            </a:r>
            <a:endParaRPr lang="ar-SA" sz="22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am at my school now, and I will go to the library after the lesson. I went with my friend by bus, and we talked about the holiday.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الْكِتَابُ عَلَى الطَّاوِلَةِ.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book is on the table.</a:t>
            </a:r>
            <a:endParaRPr lang="en-US" sz="1250" dirty="0"/>
          </a:p>
          <a:p>
            <a:pPr indent="0" marL="0">
              <a:buNone/>
            </a:pPr>
            <a:r>
              <a:rPr lang="en-US" sz="1050" i="1" dirty="0">
                <a:solidFill>
                  <a:srgbClr val="8A6D1E"/>
                </a:solidFill>
                <a:latin typeface="Calibri" pitchFamily="34" charset="0"/>
                <a:cs typeface="Amiri" pitchFamily="2" charset="-78"/>
              </a:rPr>
              <a:t>Surface.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هَذِهِ هَدِيَّةٌ لِصَدِيقَتِي.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gift for my friend.</a:t>
            </a:r>
            <a:endParaRPr lang="en-US" sz="1250" dirty="0"/>
          </a:p>
          <a:p>
            <a:pPr indent="0" marL="0">
              <a:buNone/>
            </a:pPr>
            <a:r>
              <a:rPr lang="en-US" sz="1050" i="1" dirty="0">
                <a:solidFill>
                  <a:srgbClr val="8A6D1E"/>
                </a:solidFill>
                <a:latin typeface="Calibri" pitchFamily="34" charset="0"/>
                <a:cs typeface="Amiri" pitchFamily="2" charset="-78"/>
              </a:rPr>
              <a:t>li-.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عُدْنَا مِنَ الرِّحْلَةِ.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returned from the trip.</a:t>
            </a:r>
            <a:endParaRPr lang="en-US" sz="1250" dirty="0"/>
          </a:p>
          <a:p>
            <a:pPr indent="0" marL="0">
              <a:buNone/>
            </a:pPr>
            <a:r>
              <a:rPr lang="en-US" sz="1050" i="1" dirty="0">
                <a:solidFill>
                  <a:srgbClr val="8A6D1E"/>
                </a:solidFill>
                <a:latin typeface="Calibri" pitchFamily="34" charset="0"/>
                <a:cs typeface="Amiri" pitchFamily="2" charset="-78"/>
              </a:rPr>
              <a:t>min + kasra.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أَهْتَمُّ بِالْبِيئَةِ.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care about the environment.</a:t>
            </a:r>
            <a:endParaRPr lang="en-US" sz="1250" dirty="0"/>
          </a:p>
          <a:p>
            <a:pPr indent="0" marL="0">
              <a:buNone/>
            </a:pPr>
            <a:r>
              <a:rPr lang="en-US" sz="1050" i="1" dirty="0">
                <a:solidFill>
                  <a:srgbClr val="8A6D1E"/>
                </a:solidFill>
                <a:latin typeface="Calibri" pitchFamily="34" charset="0"/>
                <a:cs typeface="Amiri" pitchFamily="2" charset="-78"/>
              </a:rPr>
              <a:t>ihtamma bi-.</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RETRIEVE THE PREPOSITION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preposition completes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أَكْمِلْ بِحَرْفِ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54681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Answer</a:t>
            </a:r>
            <a:endParaRPr lang="en-US" sz="1100" dirty="0"/>
          </a:p>
        </p:txBody>
      </p:sp>
      <p:sp>
        <p:nvSpPr>
          <p:cNvPr id="18" name="Text 15"/>
          <p:cNvSpPr txBox="1"/>
          <p:nvPr/>
        </p:nvSpPr>
        <p:spPr>
          <a:xfrm>
            <a:off x="5303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99248" y="226771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a:t>
            </a:r>
            <a:endParaRPr lang="en-US" sz="1100" dirty="0"/>
          </a:p>
        </p:txBody>
      </p:sp>
      <p:sp>
        <p:nvSpPr>
          <p:cNvPr id="21" name="Text 18"/>
          <p:cNvSpPr txBox="1"/>
          <p:nvPr/>
        </p:nvSpPr>
        <p:spPr>
          <a:xfrm>
            <a:off x="5486400" y="2267712"/>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فِي</a:t>
            </a:r>
            <a:endParaRPr lang="ar-SA" sz="2600" dirty="0"/>
          </a:p>
        </p:txBody>
      </p:sp>
      <p:sp>
        <p:nvSpPr>
          <p:cNvPr id="22" name="Text 19"/>
          <p:cNvSpPr txBox="1"/>
          <p:nvPr/>
        </p:nvSpPr>
        <p:spPr>
          <a:xfrm>
            <a:off x="548640" y="2267712"/>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 الْمَدْرَسَةِ.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99248" y="2881884"/>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direction</a:t>
            </a:r>
            <a:endParaRPr lang="en-US" sz="1100" dirty="0"/>
          </a:p>
        </p:txBody>
      </p:sp>
      <p:sp>
        <p:nvSpPr>
          <p:cNvPr id="27" name="Text 24"/>
          <p:cNvSpPr txBox="1"/>
          <p:nvPr/>
        </p:nvSpPr>
        <p:spPr>
          <a:xfrm>
            <a:off x="5486400" y="2881884"/>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إِلَى</a:t>
            </a:r>
            <a:endParaRPr lang="ar-SA" sz="2600" dirty="0"/>
          </a:p>
        </p:txBody>
      </p:sp>
      <p:sp>
        <p:nvSpPr>
          <p:cNvPr id="28" name="Text 25"/>
          <p:cNvSpPr txBox="1"/>
          <p:nvPr/>
        </p:nvSpPr>
        <p:spPr>
          <a:xfrm>
            <a:off x="548640" y="2881884"/>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 الْمَكْتَبَةِ.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99248" y="3496056"/>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source</a:t>
            </a:r>
            <a:endParaRPr lang="en-US" sz="1100" dirty="0"/>
          </a:p>
        </p:txBody>
      </p:sp>
      <p:sp>
        <p:nvSpPr>
          <p:cNvPr id="33" name="Text 30"/>
          <p:cNvSpPr txBox="1"/>
          <p:nvPr/>
        </p:nvSpPr>
        <p:spPr>
          <a:xfrm>
            <a:off x="5486400" y="3496056"/>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مِنَ</a:t>
            </a:r>
            <a:endParaRPr lang="ar-SA" sz="2600" dirty="0"/>
          </a:p>
        </p:txBody>
      </p:sp>
      <p:sp>
        <p:nvSpPr>
          <p:cNvPr id="34" name="Text 31"/>
          <p:cNvSpPr txBox="1"/>
          <p:nvPr/>
        </p:nvSpPr>
        <p:spPr>
          <a:xfrm>
            <a:off x="548640" y="3496056"/>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عُدْتُ … السُّوقِ.</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699248" y="4110228"/>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a:t>
            </a:r>
            <a:endParaRPr lang="en-US" sz="1100" dirty="0"/>
          </a:p>
        </p:txBody>
      </p:sp>
      <p:sp>
        <p:nvSpPr>
          <p:cNvPr id="39" name="Text 36"/>
          <p:cNvSpPr txBox="1"/>
          <p:nvPr/>
        </p:nvSpPr>
        <p:spPr>
          <a:xfrm>
            <a:off x="5486400" y="4110228"/>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عَنِ</a:t>
            </a:r>
            <a:endParaRPr lang="ar-SA" sz="2600" dirty="0"/>
          </a:p>
        </p:txBody>
      </p:sp>
      <p:sp>
        <p:nvSpPr>
          <p:cNvPr id="40" name="Text 37"/>
          <p:cNvSpPr txBox="1"/>
          <p:nvPr/>
        </p:nvSpPr>
        <p:spPr>
          <a:xfrm>
            <a:off x="548640" y="4110228"/>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تَحَدَّثْنَا … الرِّحْلَةِ.</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699248" y="4724400"/>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company</a:t>
            </a:r>
            <a:endParaRPr lang="en-US" sz="1100" dirty="0"/>
          </a:p>
        </p:txBody>
      </p:sp>
      <p:sp>
        <p:nvSpPr>
          <p:cNvPr id="43" name="Text 40"/>
          <p:cNvSpPr txBox="1"/>
          <p:nvPr/>
        </p:nvSpPr>
        <p:spPr>
          <a:xfrm>
            <a:off x="5486400" y="4724400"/>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مَعَ</a:t>
            </a:r>
            <a:endParaRPr lang="ar-SA" sz="2600" dirty="0"/>
          </a:p>
        </p:txBody>
      </p:sp>
      <p:sp>
        <p:nvSpPr>
          <p:cNvPr id="44" name="Text 41"/>
          <p:cNvSpPr txBox="1"/>
          <p:nvPr/>
        </p:nvSpPr>
        <p:spPr>
          <a:xfrm>
            <a:off x="548640" y="4724400"/>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 صَدِيقِي.</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699248" y="5338572"/>
            <a:ext cx="39593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means: bi-l-qiṭāri</a:t>
            </a:r>
            <a:endParaRPr lang="en-US" sz="1100" dirty="0"/>
          </a:p>
        </p:txBody>
      </p:sp>
      <p:sp>
        <p:nvSpPr>
          <p:cNvPr id="47" name="Text 44"/>
          <p:cNvSpPr txBox="1"/>
          <p:nvPr/>
        </p:nvSpPr>
        <p:spPr>
          <a:xfrm>
            <a:off x="5486400" y="5338572"/>
            <a:ext cx="20116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بِـ</a:t>
            </a:r>
            <a:endParaRPr lang="ar-SA" sz="2600" dirty="0"/>
          </a:p>
        </p:txBody>
      </p:sp>
      <p:sp>
        <p:nvSpPr>
          <p:cNvPr id="48" name="Text 45"/>
          <p:cNvSpPr txBox="1"/>
          <p:nvPr/>
        </p:nvSpPr>
        <p:spPr>
          <a:xfrm>
            <a:off x="548640" y="5338572"/>
            <a:ext cx="47548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سَافَرْنَا … الْقِطَارِ.</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choose the preposition that completes the meaning. Min and ʿan take a helping vowel before al- (mina, ʿani).</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COMPANY OR MEANS?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With a person, or by a means?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مَعَ أَمْ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أَخِي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أُسْرَتِي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صَدِيقَتِي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الْمُعَلِّمِ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بِالْقِطَارِ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بِالْحَافِلَةِ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بِالْقَلَمِ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بِالسَّيَّارَةِ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maʿa (company)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 (means / method)</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maʿa (company)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أَخِي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أُسْرَتِي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صَدِيقَتِي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الْمُعَلِّمِ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 (means / method)</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بِالْقِطَارِ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بِالْحَافِلَةِ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بِالْقَلَمِ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بِالسَّيَّارَةِ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أَذْهَبُ فِي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Being there or going there?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ذَهَبْتُ مَعَ الْحَافِلَةِ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Person or means?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هَدِيَّةٌ لِ الطَّالِبُ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Space?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أَذْهَبُ فِي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أَذْهَبُ إِلَى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Movement towards a destination = ilā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ذَهَبْتُ مَعَ الْحَافِلَةِ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ذَهَبْتُ بِالْحَافِلَةِ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Means of transport uses bi-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هَدِيَّةٌ لِ الطَّالِبُ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هَدِيَّةٌ لِلطَّالِبِ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Attach li- and use the genitive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GUIDED PRACTICE · WEBSITE GENITIVE, ATTACHED FORM AND FINAL MASTERY CHECKS</a:t>
            </a:r>
            <a:endParaRPr lang="en-US" sz="83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fully marked “in a school”.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the teachers”.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الْمُعَلِّمُونَ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الْمُعَلِّمِينَ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الْمُعَلِّمَانِ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him”.</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بِهِ</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looked ___ the book.”</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fully marked “in a school”.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after fī: tanwīn kasr.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“with the teachers”.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الْمُعَلِّمُونَ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الْمُعَلِّمِينَ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 الْمُعَلِّمَانِ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Sound masculine plural after a preposition: -īna.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him”.</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لِهُ</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لَهُ</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بِهِ</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established form is lahu.</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looked ___ the book.”</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collocation is baḥatha ʿan.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SKILLS WORKSHOP (TEACHER-WRITTEN MESSAGE)</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message from Laylā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مَرْحَبًا يَا سَارَةُ! أَنَا الْآنَ فِي الْمَكْتَبَةِ مَعَ أَخِي. جِئْنَا مِنَ الْبَيْتِ بِالدَّرَّاجَةِ. أَبْحَثُ عَنْ كِتَابٍ عَنِ الْفَضَاءِ لِمَشْرُوعِ الْعُلُومِ. الْكُتُبُ هُنَا عَلَى رُفُوفٍ عَالِيَةٍ! بَعْدَ سَاعَةٍ سَنَذْهَبُ إِلَى الْمَطْعَمِ، وَعِنْدِي هَدِيَّةٌ لَكِ. إِلَى اللِّقَاءِ!</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جِئْنَا</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came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بِالدَّرَّاجَةِ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bicycle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الْفَضَاءِ</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space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رُفُوفٍ</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shelves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عَالِيَةٍ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Laylā with?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Sārah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come?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bicycle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looking for?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book about space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restaurant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gift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“for you (f.)”?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لِمَشْرُوعِ</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اللِّقَاءِ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Laylā with?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Sārah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brother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mother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Maʿa akhī.</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they come?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bus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bicycle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Bi-d-darrāja.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looking for?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book about space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restaurant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gift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Abḥathu ʿan kitābin ʿani l-faḍāʾ.</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“for you (f.)”?</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لِمَشْرُوعِ</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اللِّقَاءِ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 + ki = laki.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where, who, how, what about?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أَيْنَ أَنْتَ الْآنَ؟ وَإِلَى أَيْنَ تَذْهَبُ بَعْدَ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مَنْ تَذْهَبُ إِلَى الْمَدْرَسَةِ؟ وَكَيْفَ؟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عَمَّ تَتَحَدَّثُ مَعَ أَصْدِقَائِكَ؟ وَبِمَاذَا تَهْتَمُّ؟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أَنَا فِي ___ ، وَسَأَذْهَبُ إِلَى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أَذْهَبُ مَعَ ___ ، وَأُسَافِرُ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نَتَحَدَّثُ عَنْ ___ ، وَأَهْتَمُّ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تَذْهَبِينَ إِلَى الْمَدْرَسَةِ؟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go to school?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أَذْهَبُ مَعَ أُخْتِي بِالسَّيَّارَةِ. فِي الطَّرِيقِ نَتَحَدَّثُ عَنِ الدُّرُوسِ، وَنَسْتَمِعُ إِلَى الْقُرْآنِ.</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 go with my sister by car. On the way we talk about lessons and listen to the Qur’an.</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Where I am, where I go, who with.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fī · ilā · maʿa.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how you travel and a gift for someone.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bi-l- · li-l- (no space).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60–80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message with six prepositions and a verb–preposition pair.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every noun ending.</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سَافَرْنَا بِالْقِطَارِ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travelled by train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الْهَدِيَّةُ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gift is for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تَحَدَّثْنَا عَنِ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talked about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أَسْتَمِعُ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listen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سَأَذْهَبُ إِلَى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going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رَجَعْتُ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came back from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ذَهَبْتُ مَعَ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with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  إِلَى  ·  مِنْ  ·  عَلَى  ·  عَنْ  ·  مَعَ  ·  بِالْحَافِلَةِ  ·  بِالْقِطَارِ  ·  لِلطَّالِبِ  ·  لَهُ  ·  لَهَا  ·  اِسْتَمَعَ إِلَى  ·  بَحَثَ عَنْ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practical message: 60–80 words to a friend — where, where to, with whom, how, about what.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different prepositions.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Bi- and li- attached (bi-l-, li-l-).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Kasra on every noun after a preposition.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verb–preposition pair.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maʿa for people, bi- for means.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الدَّرْسِ</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the lesson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الطَّرِيقِ</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way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إِلَى اللِّقَاءِ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see you</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 لَكَ</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 for you</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بِالسَّيَّارَةِ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by car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 الْعُطْلَةِ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about the holiday</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أَهْلًا يَا عُمَرُ! أَنَا الْآنَ فِي الْبَيْتِ، وَسَأَذْهَبُ بَعْدَ الْعَصْرِ إِلَى النَّادِي مَعَ أَبِي. سَنُسَافِرُ بِالْحَافِلَةِ، لِأَنَّ السَّيَّارَةَ عِنْدَ الْمِيكَانِيكِيِّ. بَعْدَ التَّدْرِيبِ سَنَرْجِعُ مِنَ النَّادِي إِلَى بَيْتِ جَدِّي، وَسَنَتَحَدَّثُ عَنْ مُبَارَاةِ الْأُسْبُوعِ الْقَادِمِ. عِنْدِي قَمِيصٌ جَدِيدٌ لَكَ، وَسَأَضَعُهُ عَلَى مَكْتَبِكَ غَدًا. أَبْحَثُ أَيْضًا عَنْ كِتَابٍ لِلْمُدَرِّبِ. مَعَ السَّلَامَةِ!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ʿUmar! I am at home now, and after ʿAṣr I will go to the club with my father. We will travel by bus, because the car is at the mechanic’s. After training we will go back from the club to my grandfather’s house, and we will talk about next week’s match. I have a new shirt for you, and I will put it on your desk tomorrow. I am also looking for a book for the coach.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location / direction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company / means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topic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 / bi-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each preposition by its meaning.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maʿa for people; bi- for means.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 and li- are attached (bi-l-, li-l-).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Nouns after prepositions end in kasra.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verb–preposition pair.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the library”.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الْمَكْتَبَةِ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الْمَكْتَبَةِ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الْمَكْتَبَةِ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spelling: “for the teacher”.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 الْمُعَلِّمُ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لِلْمُعَلِّمِ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لِالْمُعَلِّمِ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two rooms”.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غُرْفَتَانِ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غُرْفَتَيْنَ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the library”.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 الْمَكْتَبَةِ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 الْمَكْتَبَةِ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 الْمَكْتَبَةِ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Source: min.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spelling: “for the teacher”.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 الْمُعَلِّمُ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لِلْمُعَلِّمِ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لِالْمُعَلِّمِ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li-l- + genitive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two rooms”.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غُرْفَتَيْنِ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غُرْفَتَانِ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غُرْفَتَيْنَ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genitive: -ayni.</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GM-CP-01 · Conjunctions and Prepositions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GM-CP-02: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GM-CP-02 · Spatial and Temporal Locators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front of</a:t>
            </a:r>
            <a:pPr indent="0" marL="0">
              <a:buNone/>
            </a:pPr>
            <a:r>
              <a:rPr lang="en-US" sz="1000" i="1" dirty="0">
                <a:solidFill>
                  <a:srgbClr val="5A6472"/>
                </a:solidFill>
                <a:latin typeface="Calibri" pitchFamily="34" charset="0"/>
                <a:cs typeface="Amiri" pitchFamily="2" charset="-78"/>
              </a:rPr>
              <a:t>  أَمَامَ الْبَيْتِ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خَلْفَ</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behind</a:t>
            </a:r>
            <a:pPr indent="0" marL="0">
              <a:buNone/>
            </a:pPr>
            <a:r>
              <a:rPr lang="en-US" sz="1000" i="1" dirty="0">
                <a:solidFill>
                  <a:srgbClr val="5A6472"/>
                </a:solidFill>
                <a:latin typeface="Calibri" pitchFamily="34" charset="0"/>
                <a:cs typeface="Amiri" pitchFamily="2" charset="-78"/>
              </a:rPr>
              <a:t>  خَلْفَ الْمَدْرَسَةِ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بَيْنَ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between</a:t>
            </a:r>
            <a:pPr indent="0" marL="0">
              <a:buNone/>
            </a:pPr>
            <a:r>
              <a:rPr lang="en-US" sz="1000" i="1" dirty="0">
                <a:solidFill>
                  <a:srgbClr val="5A6472"/>
                </a:solidFill>
                <a:latin typeface="Calibri" pitchFamily="34" charset="0"/>
                <a:cs typeface="Amiri" pitchFamily="2" charset="-78"/>
              </a:rPr>
              <a:t>  بَيْنَ الْبَيْتَيْنِ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قَبْلَ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before</a:t>
            </a:r>
            <a:pPr indent="0" marL="0">
              <a:buNone/>
            </a:pPr>
            <a:r>
              <a:rPr lang="en-US" sz="1000" i="1" dirty="0">
                <a:solidFill>
                  <a:srgbClr val="5A6472"/>
                </a:solidFill>
                <a:latin typeface="Calibri" pitchFamily="34" charset="0"/>
                <a:cs typeface="Amiri" pitchFamily="2" charset="-78"/>
              </a:rPr>
              <a:t>  قَبْلَ الدَّرْسِ</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بَعْدَ</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a:t>
            </a:r>
            <a:pPr indent="0" marL="0">
              <a:buNone/>
            </a:pPr>
            <a:r>
              <a:rPr lang="en-US" sz="1000" i="1" dirty="0">
                <a:solidFill>
                  <a:srgbClr val="5A6472"/>
                </a:solidFill>
                <a:latin typeface="Calibri" pitchFamily="34" charset="0"/>
                <a:cs typeface="Amiri" pitchFamily="2" charset="-78"/>
              </a:rPr>
              <a:t>  بَعْدَ الصَّلَاةِ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These words also take a noun with kasra. Can you say “in front of the school”?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______ الْمَدْرَسَةِ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one for each preposition.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bi-l- and li-l-.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message (60–80 words) with six prepositions.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GM-CP-01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GM-CP-02 · Spatial and Temporal Locators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ظُرُوفُ الْمَكَانِ وَالزَّمَانِ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choose by meaning — fī in · ilā to · min from · ʿalā on · ʿan about · maʿa with (person) · bi- by (means) · li- for · the noun after takes kasra · bi-l- / li-l- with no space.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GM-CP-01 · Common Prepositions and the Genitive</dc:title>
  <dc:subject>PptxGenJS Presentation</dc:subject>
  <dc:creator>Al Madina Online School · Arabic Department</dc:creator>
  <cp:lastModifiedBy>Al Madina Online School · Arabic Department</cp:lastModifiedBy>
  <cp:revision>1</cp:revision>
  <dcterms:created xsi:type="dcterms:W3CDTF">2026-10-11T06:42:11Z</dcterms:created>
  <dcterms:modified xsi:type="dcterms:W3CDTF">2026-10-11T06:42:11Z</dcterms:modified>
</cp:coreProperties>
</file>