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Conjunctions and Prepositions › GM-CP-04 (“Core Conjunctions and Logical Links”).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وَ · أَوْ · ثُمَّ · لَكِنْ · لِأَنَّ with short sentences about routines and opinions. Develop: ثُمَّ vs فَـ, and reason vs result (لِأَنَّ / لِذَلِكَ). Stretch: وَلَكِنَّهُ · وَلَكِنَّهَا · لِأَنَّنِي as chunks (inna family), and a 90–110-word comparison.
• Website warning: range is not random variety — replacing every wa with a formal word can make the logic worse. Accuracy first.
• Li-anna needs a subject: لِأَنَّنِي · لِأَنَّهُ · لِأَنَّ الطَّقْسَ … — never li-anna + a bare verb.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the GM-CP-03 prep words wa, thumma, fa-, aw, lākinna.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Name the relationship first — add, choose, sequence, contrast, reason, result — then choose the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“The connector logic map”. Hand signals: + (wa), ? (aw), → (thumma), ⚡ (fa-), ✋ (lākin), ← why (li-anna), → so (li-dhālika).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“Sequence: thumma versus 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“Contrast with lākin and wa-lākinna” and “Reason and result”. Full inna behaviour returns in GM-NVS.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Logic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models (website prints marūna; corrected to murūna — flexibility).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Students show the hand signal before saying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build one full sentence for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build one full sentence for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Sequence, Reason–Result and Final Mastery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opinion). Read it aloud once while students follow; then they hunt for today’s grammar.
Task: Website: annotate the function above each connector (addition, contrast, reason, result, sequence).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opinion text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communication target. Sequence: ● 10s think → ↔ 45s rehearse aloud with mic muted → ◎ two named students on open mic (warned in advance) → + ? the class types one follow-up in chat → ↺ one student summarises.
Routes: Core uses the Core prompt and stem; Develop the Develop prompt; Stretch the last prompt.
Website target: an opinion, a reason, a contrasting point and a consequence in one connected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90–110 Arabic words comparing two ways of travelling, learning, shopping or spending free time.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(GM-CP-05 · Clause Linkers and Paragraph Cohesion) will spend class time USING this language, so students prepare it tonight — short, simple, easy to access (school guidance: “Simple, Short, Interesting, Relevant, Easy to access”). The five words prepare GM-CP-05 (website: clause linkers and paragraph cohesion).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CONJUNCTIONS AND PREPOSITIONS  ·  GM-CP-04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GM-CP-04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50" b="1" dirty="0">
                <a:solidFill>
                  <a:srgbClr val="FFFFFF"/>
                </a:solidFill>
                <a:latin typeface="Cambria" pitchFamily="34" charset="0"/>
                <a:ea typeface="Cambria" pitchFamily="34" charset="-122"/>
                <a:cs typeface="Cambria" pitchFamily="34" charset="-120"/>
              </a:rPr>
              <a:t>Core Conjunctions and Logical Links</a:t>
            </a:r>
            <a:endParaRPr lang="en-US" sz="30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حُرُوفُ الْعَطْفِ وَالرَّبْطِ</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Stop joining everything with wa. Choose the link that shows the real relationship: aw (or), thumma (then, later), fa- (so / straight after), lākin (but), li-anna (because), li-dhālika (so, therefore).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GM-CP-04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Conjunctions and Prepositions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Logic map; thumma vs fa-; contrast; reason vs result.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Name the relationship; sort reason / result;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GM-CP-05.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connector that adds equal information.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connector that presents an alternative.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sequence with a later next step.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contrast.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reason.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connector that adds equal information.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لَكِنْ</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Wa adds or coordinates.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connector that presents an alternative.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أَوْ</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لِذَلِكَ</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Aw means or.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sequence with a later next step.</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فَـ</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Thumma marks an ordered later step.</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contrast.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Lākin turns to an opposing point.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reason.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لِذَلِكَ</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Li-anna introduces the cause.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Name the relationship first — add, choose, sequence, contrast, reason, result — then choose the link.</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0E7C86"/>
                </a:solidFill>
                <a:latin typeface="Amiri" pitchFamily="34" charset="0"/>
                <a:ea typeface="Amiri" pitchFamily="34" charset="-122"/>
                <a:cs typeface="Amiri" pitchFamily="34" charset="-120"/>
              </a:rPr>
              <a:t>لِأَنَّ</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لِمَاذَا؟ ‖ </a:t>
            </a:r>
            <a:pPr rtl="1" algn="ctr" indent="0" marL="0">
              <a:lnSpc>
                <a:spcPct val="120000"/>
              </a:lnSpc>
              <a:buNone/>
            </a:pPr>
            <a:r>
              <a:rPr lang="ar-SA" altLang="en-US" sz="2050" b="1" dirty="0">
                <a:solidFill>
                  <a:srgbClr val="D6336C"/>
                </a:solidFill>
                <a:latin typeface="Amiri" pitchFamily="34" charset="0"/>
                <a:ea typeface="Amiri" pitchFamily="34" charset="-122"/>
                <a:cs typeface="Amiri" pitchFamily="34" charset="-120"/>
              </a:rPr>
              <a:t>لِذَلِكَ</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مَاذَا حَدَثَ؟</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a connector by its logical job.</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thumma from fa-.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Show contrast with lākin.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Link cause and result with li-anna and li-dhālika.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join ideas with wa, aw, thumma and lākin.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give a reason with li-anna.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fa- for an immediate result.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li-dhālika for a consequence.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wa-lākinnahu and li-annanī as chunks.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a linked 90–110-word comparison.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حَرْفُ الْعَطْفِ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conjunction (linking 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ḥar-fu al-ʿaṭ-fi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وَ · أَوْ · ثُمَّ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الْإِضَافَةُ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al-i-ḍā-fa-tu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وَ</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التَّرْتِيبُ</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sequence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at-tar-tī-bu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ثُمَّ · فَـ</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الِاسْتِدْرَاكُ</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contrast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al-ِs-tid-rā-ku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لَكِنْ · وَلَكِنَّ</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السَّبَبُ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reason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as-sa-ba-bu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لِأَنَّ</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النَّتِيجَةُ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an-na-tī-ja-tu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لِذَلِكَ · لِذَا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CONNECTOR LOGIC MAP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job per connector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الرَّوَابِطِ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285232" y="1810512"/>
            <a:ext cx="6373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7" name="Text 14"/>
          <p:cNvSpPr txBox="1"/>
          <p:nvPr/>
        </p:nvSpPr>
        <p:spPr>
          <a:xfrm>
            <a:off x="309067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Connector</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Function</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5303520" y="2267712"/>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الْقِرَاءَةَ وَالْكِتَابَةَ.</a:t>
            </a:r>
            <a:endParaRPr lang="ar-SA" sz="2200" dirty="0"/>
          </a:p>
        </p:txBody>
      </p:sp>
      <p:sp>
        <p:nvSpPr>
          <p:cNvPr id="21" name="Text 18"/>
          <p:cNvSpPr txBox="1"/>
          <p:nvPr/>
        </p:nvSpPr>
        <p:spPr>
          <a:xfrm>
            <a:off x="3108960" y="2267712"/>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a:t>
            </a:r>
            <a:endParaRPr lang="ar-SA" sz="2200" dirty="0"/>
          </a:p>
        </p:txBody>
      </p:sp>
      <p:sp>
        <p:nvSpPr>
          <p:cNvPr id="22" name="Text 19"/>
          <p:cNvSpPr txBox="1"/>
          <p:nvPr/>
        </p:nvSpPr>
        <p:spPr>
          <a:xfrm>
            <a:off x="566928" y="2267712"/>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addition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5303520" y="2794145"/>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تُفَضِّلُ الْقِطَارَ أَوِ الْحَافِلَةَ؟</a:t>
            </a:r>
            <a:endParaRPr lang="ar-SA" sz="2200" dirty="0"/>
          </a:p>
        </p:txBody>
      </p:sp>
      <p:sp>
        <p:nvSpPr>
          <p:cNvPr id="27" name="Text 24"/>
          <p:cNvSpPr txBox="1"/>
          <p:nvPr/>
        </p:nvSpPr>
        <p:spPr>
          <a:xfrm>
            <a:off x="3108960" y="2794145"/>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أَوْ</a:t>
            </a:r>
            <a:endParaRPr lang="ar-SA" sz="2200" dirty="0"/>
          </a:p>
        </p:txBody>
      </p:sp>
      <p:sp>
        <p:nvSpPr>
          <p:cNvPr id="28" name="Text 25"/>
          <p:cNvSpPr txBox="1"/>
          <p:nvPr/>
        </p:nvSpPr>
        <p:spPr>
          <a:xfrm>
            <a:off x="566928" y="2794145"/>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alternative</a:t>
            </a:r>
            <a:endParaRPr lang="en-US" sz="11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5303520" y="3320578"/>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تَنَاوَلْتُ الْفَطُورَ، ثُمَّ خَرَجْتُ.</a:t>
            </a:r>
            <a:endParaRPr lang="ar-SA" sz="2200" dirty="0"/>
          </a:p>
        </p:txBody>
      </p:sp>
      <p:sp>
        <p:nvSpPr>
          <p:cNvPr id="33" name="Text 30"/>
          <p:cNvSpPr txBox="1"/>
          <p:nvPr/>
        </p:nvSpPr>
        <p:spPr>
          <a:xfrm>
            <a:off x="3108960" y="3320578"/>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ثُمَّ</a:t>
            </a:r>
            <a:endParaRPr lang="ar-SA" sz="2200" dirty="0"/>
          </a:p>
        </p:txBody>
      </p:sp>
      <p:sp>
        <p:nvSpPr>
          <p:cNvPr id="34" name="Text 31"/>
          <p:cNvSpPr txBox="1"/>
          <p:nvPr/>
        </p:nvSpPr>
        <p:spPr>
          <a:xfrm>
            <a:off x="566928" y="3320578"/>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ordered next step</a:t>
            </a:r>
            <a:endParaRPr lang="en-US" sz="1100" dirty="0"/>
          </a:p>
        </p:txBody>
      </p:sp>
      <p:sp>
        <p:nvSpPr>
          <p:cNvPr id="35" name="Shape 32"/>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8" name="Text 35"/>
          <p:cNvSpPr txBox="1"/>
          <p:nvPr/>
        </p:nvSpPr>
        <p:spPr>
          <a:xfrm>
            <a:off x="5303520" y="3847011"/>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وَصَلَتِ الْحَافِلَةُ فَرَكِبْتُهَا.</a:t>
            </a:r>
            <a:endParaRPr lang="ar-SA" sz="2200" dirty="0"/>
          </a:p>
        </p:txBody>
      </p:sp>
      <p:sp>
        <p:nvSpPr>
          <p:cNvPr id="39" name="Text 36"/>
          <p:cNvSpPr txBox="1"/>
          <p:nvPr/>
        </p:nvSpPr>
        <p:spPr>
          <a:xfrm>
            <a:off x="3108960" y="3847011"/>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فَـ</a:t>
            </a:r>
            <a:endParaRPr lang="ar-SA" sz="2200" dirty="0"/>
          </a:p>
        </p:txBody>
      </p:sp>
      <p:sp>
        <p:nvSpPr>
          <p:cNvPr id="40" name="Text 37"/>
          <p:cNvSpPr txBox="1"/>
          <p:nvPr/>
        </p:nvSpPr>
        <p:spPr>
          <a:xfrm>
            <a:off x="566928" y="3847011"/>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immediate step / result</a:t>
            </a:r>
            <a:endParaRPr lang="en-US" sz="1100" dirty="0"/>
          </a:p>
        </p:txBody>
      </p:sp>
      <p:sp>
        <p:nvSpPr>
          <p:cNvPr id="41" name="Shape 38"/>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2" name="Text 39"/>
          <p:cNvSpPr txBox="1"/>
          <p:nvPr/>
        </p:nvSpPr>
        <p:spPr>
          <a:xfrm>
            <a:off x="5303520" y="4373445"/>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الطَّقْسُ بَارِدٌ، لَكِنْ سَأَخْرُجُ.</a:t>
            </a:r>
            <a:endParaRPr lang="ar-SA" sz="2200" dirty="0"/>
          </a:p>
        </p:txBody>
      </p:sp>
      <p:sp>
        <p:nvSpPr>
          <p:cNvPr id="43" name="Text 40"/>
          <p:cNvSpPr txBox="1"/>
          <p:nvPr/>
        </p:nvSpPr>
        <p:spPr>
          <a:xfrm>
            <a:off x="3108960" y="4373445"/>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لَكِنْ</a:t>
            </a:r>
            <a:endParaRPr lang="ar-SA" sz="2200" dirty="0"/>
          </a:p>
        </p:txBody>
      </p:sp>
      <p:sp>
        <p:nvSpPr>
          <p:cNvPr id="44" name="Text 41"/>
          <p:cNvSpPr txBox="1"/>
          <p:nvPr/>
        </p:nvSpPr>
        <p:spPr>
          <a:xfrm>
            <a:off x="566928" y="4373445"/>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contrast</a:t>
            </a:r>
            <a:endParaRPr lang="en-US" sz="1100" dirty="0"/>
          </a:p>
        </p:txBody>
      </p:sp>
      <p:sp>
        <p:nvSpPr>
          <p:cNvPr id="45" name="Shape 42"/>
          <p:cNvSpPr/>
          <p:nvPr/>
        </p:nvSpPr>
        <p:spPr>
          <a:xfrm>
            <a:off x="11091672" y="4419165"/>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4191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7" name="Shape 44"/>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48" name="Text 45"/>
          <p:cNvSpPr txBox="1"/>
          <p:nvPr/>
        </p:nvSpPr>
        <p:spPr>
          <a:xfrm>
            <a:off x="5303520" y="4899878"/>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الْعَرَبِيَّةَ لِأَنَّهَا مُهِمَّةٌ.</a:t>
            </a:r>
            <a:endParaRPr lang="ar-SA" sz="2200" dirty="0"/>
          </a:p>
        </p:txBody>
      </p:sp>
      <p:sp>
        <p:nvSpPr>
          <p:cNvPr id="49" name="Text 46"/>
          <p:cNvSpPr txBox="1"/>
          <p:nvPr/>
        </p:nvSpPr>
        <p:spPr>
          <a:xfrm>
            <a:off x="3108960" y="4899878"/>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لِأَنَّ</a:t>
            </a:r>
            <a:endParaRPr lang="ar-SA" sz="2200" dirty="0"/>
          </a:p>
        </p:txBody>
      </p:sp>
      <p:sp>
        <p:nvSpPr>
          <p:cNvPr id="50" name="Text 47"/>
          <p:cNvSpPr txBox="1"/>
          <p:nvPr/>
        </p:nvSpPr>
        <p:spPr>
          <a:xfrm>
            <a:off x="566928" y="4899878"/>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reason</a:t>
            </a:r>
            <a:endParaRPr lang="en-US" sz="1100" dirty="0"/>
          </a:p>
        </p:txBody>
      </p:sp>
      <p:sp>
        <p:nvSpPr>
          <p:cNvPr id="51" name="Shape 48"/>
          <p:cNvSpPr/>
          <p:nvPr/>
        </p:nvSpPr>
        <p:spPr>
          <a:xfrm>
            <a:off x="11091672" y="494559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9455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Shape 50"/>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4" name="Text 51"/>
          <p:cNvSpPr txBox="1"/>
          <p:nvPr/>
        </p:nvSpPr>
        <p:spPr>
          <a:xfrm>
            <a:off x="5303520" y="5426311"/>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كَانَ الطَّرِيقُ مُغْلَقًا، لِذَلِكَ تَأَخَّرْنَا.</a:t>
            </a:r>
            <a:endParaRPr lang="ar-SA" sz="2200" dirty="0"/>
          </a:p>
        </p:txBody>
      </p:sp>
      <p:sp>
        <p:nvSpPr>
          <p:cNvPr id="55" name="Text 52"/>
          <p:cNvSpPr txBox="1"/>
          <p:nvPr/>
        </p:nvSpPr>
        <p:spPr>
          <a:xfrm>
            <a:off x="3108960" y="5426311"/>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لِذَلِكَ · لِذَا</a:t>
            </a:r>
            <a:endParaRPr lang="ar-SA" sz="2200" dirty="0"/>
          </a:p>
        </p:txBody>
      </p:sp>
      <p:sp>
        <p:nvSpPr>
          <p:cNvPr id="56" name="Text 53"/>
          <p:cNvSpPr txBox="1"/>
          <p:nvPr/>
        </p:nvSpPr>
        <p:spPr>
          <a:xfrm>
            <a:off x="566928" y="5426311"/>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result</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a varied paragraph is not one with many different linkers — it is one where each linker expresses the intended relationship.</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SEQUENCE: THUMMA VS FA-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Later — or straight after?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ثُمَّ أَمْ فَـ؟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Relationship</a:t>
            </a:r>
            <a:endParaRPr lang="en-US" sz="1100" dirty="0"/>
          </a:p>
        </p:txBody>
      </p:sp>
      <p:sp>
        <p:nvSpPr>
          <p:cNvPr id="17" name="Text 14"/>
          <p:cNvSpPr txBox="1"/>
          <p:nvPr/>
        </p:nvSpPr>
        <p:spPr>
          <a:xfrm>
            <a:off x="272491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Link</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ordered later step</a:t>
            </a:r>
            <a:endParaRPr lang="en-US" sz="1100" dirty="0"/>
          </a:p>
        </p:txBody>
      </p:sp>
      <p:sp>
        <p:nvSpPr>
          <p:cNvPr id="21" name="Text 18"/>
          <p:cNvSpPr txBox="1"/>
          <p:nvPr/>
        </p:nvSpPr>
        <p:spPr>
          <a:xfrm>
            <a:off x="2743200" y="2267712"/>
            <a:ext cx="5303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غَسَلْتُ وَجْهِي، ثُمَّ تَنَاوَلْتُ الْفَطُورَ.</a:t>
            </a:r>
            <a:endParaRPr lang="ar-SA" sz="2200" dirty="0"/>
          </a:p>
        </p:txBody>
      </p:sp>
      <p:sp>
        <p:nvSpPr>
          <p:cNvPr id="22" name="Text 19"/>
          <p:cNvSpPr txBox="1"/>
          <p:nvPr/>
        </p:nvSpPr>
        <p:spPr>
          <a:xfrm>
            <a:off x="548640" y="2267712"/>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ثُمَّ</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immediate next action</a:t>
            </a:r>
            <a:endParaRPr lang="en-US" sz="1100" dirty="0"/>
          </a:p>
        </p:txBody>
      </p:sp>
      <p:sp>
        <p:nvSpPr>
          <p:cNvPr id="27" name="Text 24"/>
          <p:cNvSpPr txBox="1"/>
          <p:nvPr/>
        </p:nvSpPr>
        <p:spPr>
          <a:xfrm>
            <a:off x="2743200" y="3054096"/>
            <a:ext cx="5303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دَقَّ الْجَرَسُ فَدَخَلَ الطُّلَّابُ.</a:t>
            </a:r>
            <a:endParaRPr lang="ar-SA" sz="2200" dirty="0"/>
          </a:p>
        </p:txBody>
      </p:sp>
      <p:sp>
        <p:nvSpPr>
          <p:cNvPr id="28" name="Text 25"/>
          <p:cNvSpPr txBox="1"/>
          <p:nvPr/>
        </p:nvSpPr>
        <p:spPr>
          <a:xfrm>
            <a:off x="548640" y="3054096"/>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فَـ</a:t>
            </a:r>
            <a:endParaRPr lang="ar-SA" sz="2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result</a:t>
            </a:r>
            <a:endParaRPr lang="en-US" sz="1100" dirty="0"/>
          </a:p>
        </p:txBody>
      </p:sp>
      <p:sp>
        <p:nvSpPr>
          <p:cNvPr id="33" name="Text 30"/>
          <p:cNvSpPr txBox="1"/>
          <p:nvPr/>
        </p:nvSpPr>
        <p:spPr>
          <a:xfrm>
            <a:off x="2743200" y="3840480"/>
            <a:ext cx="5303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دَرَسْتُ بِجِدٍّ فَنَجَحْتُ.</a:t>
            </a:r>
            <a:endParaRPr lang="ar-SA" sz="2200" dirty="0"/>
          </a:p>
        </p:txBody>
      </p:sp>
      <p:sp>
        <p:nvSpPr>
          <p:cNvPr id="34" name="Text 31"/>
          <p:cNvSpPr txBox="1"/>
          <p:nvPr/>
        </p:nvSpPr>
        <p:spPr>
          <a:xfrm>
            <a:off x="548640" y="3840480"/>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فَـ</a:t>
            </a:r>
            <a:endParaRPr lang="ar-SA" sz="2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first · then · finally</a:t>
            </a:r>
            <a:endParaRPr lang="en-US" sz="1100" dirty="0"/>
          </a:p>
        </p:txBody>
      </p:sp>
      <p:sp>
        <p:nvSpPr>
          <p:cNvPr id="37" name="Text 34"/>
          <p:cNvSpPr txBox="1"/>
          <p:nvPr/>
        </p:nvSpPr>
        <p:spPr>
          <a:xfrm>
            <a:off x="2743200" y="4626864"/>
            <a:ext cx="5303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أَوَّلًا خَطَّطْتُ، ثُمَّ كَتَبْتُ، وَأَخِيرًا رَاجَعْتُ.</a:t>
            </a:r>
            <a:endParaRPr lang="ar-SA" sz="2200" dirty="0"/>
          </a:p>
        </p:txBody>
      </p:sp>
      <p:sp>
        <p:nvSpPr>
          <p:cNvPr id="38" name="Text 35"/>
          <p:cNvSpPr txBox="1"/>
          <p:nvPr/>
        </p:nvSpPr>
        <p:spPr>
          <a:xfrm>
            <a:off x="56692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sequence chain</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natural usage overlaps — for learners, use thumma for a clearly ordered later step and fa- when the next action or result follows closely. Fa- is written joined to the next word.</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ea typeface="Calibri" pitchFamily="34" charset="-122"/>
                <a:cs typeface="Calibri" pitchFamily="34" charset="-120"/>
              </a:rPr>
              <a:t>GRAMMAR · PART 3 · CONTRAST, REASON AND RESULT (WEBSITE) · DEVELOP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But · because · so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الِاسْتِدْرَاكُ وَالسَّبَبُ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2907792"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Link</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simple contrast</a:t>
            </a:r>
            <a:endParaRPr lang="en-US" sz="1100" dirty="0"/>
          </a:p>
        </p:txBody>
      </p:sp>
      <p:sp>
        <p:nvSpPr>
          <p:cNvPr id="21" name="Text 18"/>
          <p:cNvSpPr txBox="1"/>
          <p:nvPr/>
        </p:nvSpPr>
        <p:spPr>
          <a:xfrm>
            <a:off x="2926080" y="2267712"/>
            <a:ext cx="5669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الْمَدْرَسَةُ بَعِيدَةٌ، لَكِنْ أُحِبُّهَا.</a:t>
            </a:r>
            <a:endParaRPr lang="ar-SA" sz="2200" dirty="0"/>
          </a:p>
        </p:txBody>
      </p:sp>
      <p:sp>
        <p:nvSpPr>
          <p:cNvPr id="22" name="Text 19"/>
          <p:cNvSpPr txBox="1"/>
          <p:nvPr/>
        </p:nvSpPr>
        <p:spPr>
          <a:xfrm>
            <a:off x="54864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لَكِنْ</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inna family: + pronoun</a:t>
            </a:r>
            <a:endParaRPr lang="en-US" sz="1100" dirty="0"/>
          </a:p>
        </p:txBody>
      </p:sp>
      <p:sp>
        <p:nvSpPr>
          <p:cNvPr id="27" name="Text 24"/>
          <p:cNvSpPr txBox="1"/>
          <p:nvPr/>
        </p:nvSpPr>
        <p:spPr>
          <a:xfrm>
            <a:off x="2926080" y="2881884"/>
            <a:ext cx="5669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الْفِلْمُ طَوِيلٌ، وَلَكِنَّهُ مُثِيرٌ.</a:t>
            </a:r>
            <a:endParaRPr lang="ar-SA" sz="2200" dirty="0"/>
          </a:p>
        </p:txBody>
      </p:sp>
      <p:sp>
        <p:nvSpPr>
          <p:cNvPr id="28" name="Text 25"/>
          <p:cNvSpPr txBox="1"/>
          <p:nvPr/>
        </p:nvSpPr>
        <p:spPr>
          <a:xfrm>
            <a:off x="54864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وَلَكِنَّهُ</a:t>
            </a:r>
            <a:endParaRPr lang="ar-SA" sz="24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reason: answers why</a:t>
            </a:r>
            <a:endParaRPr lang="en-US" sz="1100" dirty="0"/>
          </a:p>
        </p:txBody>
      </p:sp>
      <p:sp>
        <p:nvSpPr>
          <p:cNvPr id="31" name="Text 28"/>
          <p:cNvSpPr txBox="1"/>
          <p:nvPr/>
        </p:nvSpPr>
        <p:spPr>
          <a:xfrm>
            <a:off x="2926080" y="3496056"/>
            <a:ext cx="5669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لَمْ أَذْهَبْ لِأَنَّنِي كُنْتُ مَرِيضًا.</a:t>
            </a:r>
            <a:endParaRPr lang="ar-SA" sz="2200" dirty="0"/>
          </a:p>
        </p:txBody>
      </p:sp>
      <p:sp>
        <p:nvSpPr>
          <p:cNvPr id="32" name="Text 29"/>
          <p:cNvSpPr txBox="1"/>
          <p:nvPr/>
        </p:nvSpPr>
        <p:spPr>
          <a:xfrm>
            <a:off x="54864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لِأَنَّنِي</a:t>
            </a:r>
            <a:endParaRPr lang="ar-SA" sz="24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li-anna + pronoun</a:t>
            </a:r>
            <a:endParaRPr lang="en-US" sz="1100" dirty="0"/>
          </a:p>
        </p:txBody>
      </p:sp>
      <p:sp>
        <p:nvSpPr>
          <p:cNvPr id="37" name="Text 34"/>
          <p:cNvSpPr txBox="1"/>
          <p:nvPr/>
        </p:nvSpPr>
        <p:spPr>
          <a:xfrm>
            <a:off x="2926080" y="4110228"/>
            <a:ext cx="5669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التَّعَلُّمَ عَنْ بُعْدٍ لِأَنَّهُ مَرِنٌ.</a:t>
            </a:r>
            <a:endParaRPr lang="ar-SA" sz="2200" dirty="0"/>
          </a:p>
        </p:txBody>
      </p:sp>
      <p:sp>
        <p:nvSpPr>
          <p:cNvPr id="38" name="Text 35"/>
          <p:cNvSpPr txBox="1"/>
          <p:nvPr/>
        </p:nvSpPr>
        <p:spPr>
          <a:xfrm>
            <a:off x="54864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لِأَنَّهُ</a:t>
            </a:r>
            <a:endParaRPr lang="ar-SA" sz="24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result: cause first</a:t>
            </a:r>
            <a:endParaRPr lang="en-US" sz="1100" dirty="0"/>
          </a:p>
        </p:txBody>
      </p:sp>
      <p:sp>
        <p:nvSpPr>
          <p:cNvPr id="41" name="Text 38"/>
          <p:cNvSpPr txBox="1"/>
          <p:nvPr/>
        </p:nvSpPr>
        <p:spPr>
          <a:xfrm>
            <a:off x="2926080" y="4724400"/>
            <a:ext cx="5669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كُنْتُ مَرِيضًا، لِذَلِكَ لَمْ أَذْهَبْ.</a:t>
            </a:r>
            <a:endParaRPr lang="ar-SA" sz="2200" dirty="0"/>
          </a:p>
        </p:txBody>
      </p:sp>
      <p:sp>
        <p:nvSpPr>
          <p:cNvPr id="42" name="Text 39"/>
          <p:cNvSpPr txBox="1"/>
          <p:nvPr/>
        </p:nvSpPr>
        <p:spPr>
          <a:xfrm>
            <a:off x="54864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لِذَلِكَ</a:t>
            </a:r>
            <a:endParaRPr lang="ar-SA" sz="2400" dirty="0"/>
          </a:p>
        </p:txBody>
      </p:sp>
      <p:sp>
        <p:nvSpPr>
          <p:cNvPr id="43" name="Shape 4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result (shorter)</a:t>
            </a:r>
            <a:endParaRPr lang="en-US" sz="1100" dirty="0"/>
          </a:p>
        </p:txBody>
      </p:sp>
      <p:sp>
        <p:nvSpPr>
          <p:cNvPr id="47" name="Text 44"/>
          <p:cNvSpPr txBox="1"/>
          <p:nvPr/>
        </p:nvSpPr>
        <p:spPr>
          <a:xfrm>
            <a:off x="2926080" y="5338572"/>
            <a:ext cx="5669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الطَّقْسُ جَمِيلٌ، لِذَا سَنَخْرُجُ.</a:t>
            </a:r>
            <a:endParaRPr lang="ar-SA" sz="2200" dirty="0"/>
          </a:p>
        </p:txBody>
      </p:sp>
      <p:sp>
        <p:nvSpPr>
          <p:cNvPr id="48" name="Text 45"/>
          <p:cNvSpPr txBox="1"/>
          <p:nvPr/>
        </p:nvSpPr>
        <p:spPr>
          <a:xfrm>
            <a:off x="54864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لِذَا</a:t>
            </a:r>
            <a:endParaRPr lang="ar-SA" sz="24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a reason answers “why?”; a result states what happened because of the earlier cause. After li-anna use a noun or attached pronoun as the subject (li-annanī, li-anna ṭ-ṭaqsa …).</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bus arrived; I boarded it immediately.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وَصَلَتِ الْحَافِلَةُ لَكِنْ رَكِبْتُهَا.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وَصَلَتِ الْحَافِلَةُ لِأَنَّ رَكِبْتُهَا.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وَصَلَتِ الْحَافِلَةُ فَرَكِبْتُهَا.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like sport, but I do not play every day.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الرِّيَاضَةَ، لَكِنْ لَا أُمَارِسُهَا كُلَّ يَوْمٍ.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الرِّيَاضَةَ، لِأَنَّ لَا أُمَارِسُهَا.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الرِّيَاضَةَ، لِذَلِكَ لَا أُمَارِسُهَا.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stayed home because I was ill.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بَقِيتُ فِي الْبَيْتِ لَكِنْ كُنْتُ مَرِيضًا.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بَقِيتُ فِي الْبَيْتِ لِأَنَّنِي كُنْتُ مَرِيضًا.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بَقِيتُ فِي الْبَيْتِ أَوْ كُنْتُ مَرِيضًا.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train was cancelled, so we travelled by bus.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أُلْغِيَ الْقِطَارُ، لِذَلِكَ سَافَرْنَا بِالْحَافِلَةِ.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أُلْغِيَ الْقِطَارُ لِأَنَّ سَافَرْنَا.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أُلْغِيَ الْقِطَارُ أَوْ سَافَرْنَا.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bus arrived; I boarded it immediately.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وَصَلَتِ الْحَافِلَةُ لَكِنْ رَكِبْتُهَا.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وَصَلَتِ الْحَافِلَةُ لِأَنَّ رَكِبْتُهَا.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وَصَلَتِ الْحَافِلَةُ فَرَكِبْتُهَا.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 expresses the immediate next action.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like sport, but I do not play every day.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أُحِبُّ الرِّيَاضَةَ، لَكِنْ لَا أُمَارِسُهَا كُلَّ يَوْمٍ.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الرِّيَاضَةَ، لِأَنَّ لَا أُمَارِسُهَا.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الرِّيَاضَةَ، لِذَلِكَ لَا أُمَارِسُهَا.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second idea contrasts with the first.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stayed home because I was ill.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بَقِيتُ فِي الْبَيْتِ لَكِنْ كُنْتُ مَرِيضًا.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بَقِيتُ فِي الْبَيْتِ لِأَنَّنِي كُنْتُ مَرِيضًا.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بَقِيتُ فِي الْبَيْتِ أَوْ كُنْتُ مَرِيضًا.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Li-annanī introduces the reason.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train was cancelled, so we travelled by bus.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أُلْغِيَ الْقِطَارُ، لِذَلِكَ سَافَرْنَا بِالْحَافِلَةِ.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أُلْغِيَ الْقِطَارُ لِأَنَّ سَافَرْنَا.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أُلْغِيَ الْقِطَارُ أَوْ سَافَرْنَا.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Li-dhālika introduces the consequence.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upgrade a chain of wa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Weak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كَانَ الطَّقْسُ سَيِّئًا وَبَقِينَا</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Is it really addition?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Result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لِذَلِكَ</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Bad weather → so we stayed.</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Later step</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ثُمَّ</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Then we watched a film.</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Opinion +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لِأَنَّنِي · لَكِنَّ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Why? But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SEQUENCE / RESULT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REASON / CONTRAST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كَانَ الطَّقْسُ سَيِّئًا، </a:t>
            </a:r>
            <a:pPr rtl="1" algn="r" indent="0" marL="0">
              <a:lnSpc>
                <a:spcPct val="120000"/>
              </a:lnSpc>
              <a:buNone/>
            </a:pPr>
            <a:r>
              <a:rPr lang="ar-SA" altLang="en-US" sz="1650" b="1" dirty="0">
                <a:solidFill>
                  <a:srgbClr val="0E7C86"/>
                </a:solidFill>
                <a:latin typeface="Amiri" pitchFamily="34" charset="0"/>
                <a:ea typeface="Amiri" pitchFamily="34" charset="-122"/>
                <a:cs typeface="Amiri" pitchFamily="34" charset="-120"/>
              </a:rPr>
              <a:t>لِذَلِكَ</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بَقِينَا فِي الْبَيْتِ، </a:t>
            </a:r>
            <a:pPr rtl="1" algn="r" indent="0" marL="0">
              <a:lnSpc>
                <a:spcPct val="120000"/>
              </a:lnSpc>
              <a:buNone/>
            </a:pPr>
            <a:r>
              <a:rPr lang="ar-SA" altLang="en-US" sz="1650" b="1" dirty="0">
                <a:solidFill>
                  <a:srgbClr val="0E7C86"/>
                </a:solidFill>
                <a:latin typeface="Amiri" pitchFamily="34" charset="0"/>
                <a:ea typeface="Amiri" pitchFamily="34" charset="-122"/>
                <a:cs typeface="Amiri" pitchFamily="34" charset="-120"/>
              </a:rPr>
              <a:t>ثُمَّ</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شَاهَدْنَا فِلْمًا. أُفَضِّلُ التَّعَلُّمَ فِي الْفَصْلِ </a:t>
            </a:r>
            <a:pPr rtl="1" algn="r" indent="0" marL="0">
              <a:lnSpc>
                <a:spcPct val="120000"/>
              </a:lnSpc>
              <a:buNone/>
            </a:pPr>
            <a:r>
              <a:rPr lang="ar-SA" altLang="en-US" sz="1650" b="1" dirty="0">
                <a:solidFill>
                  <a:srgbClr val="D6336C"/>
                </a:solidFill>
                <a:latin typeface="Amiri" pitchFamily="34" charset="0"/>
                <a:ea typeface="Amiri" pitchFamily="34" charset="-122"/>
                <a:cs typeface="Amiri" pitchFamily="34" charset="-120"/>
              </a:rPr>
              <a:t>لِأَنَّنِي</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أَتَفَاعَلُ مَعَ الْمُعَلِّمِ، </a:t>
            </a:r>
            <a:pPr rtl="1" algn="r" indent="0" marL="0">
              <a:lnSpc>
                <a:spcPct val="120000"/>
              </a:lnSpc>
              <a:buNone/>
            </a:pPr>
            <a:r>
              <a:rPr lang="ar-SA" altLang="en-US" sz="1650" b="1" dirty="0">
                <a:solidFill>
                  <a:srgbClr val="D6336C"/>
                </a:solidFill>
                <a:latin typeface="Amiri" pitchFamily="34" charset="0"/>
                <a:ea typeface="Amiri" pitchFamily="34" charset="-122"/>
                <a:cs typeface="Amiri" pitchFamily="34" charset="-120"/>
              </a:rPr>
              <a:t>لَكِنَّ</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التَّعَلُّمَ عَنْ بُعْدٍ أَكْثَرُ مُرُونَةً.</a:t>
            </a:r>
            <a:endParaRPr lang="ar-SA" sz="16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weather was bad, so we stayed at home, then we watched a film. I prefer learning in class because I interact with the teacher, but distance learning is more flexible.</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هَلْ تُفَضِّلُ الْقِطَارَ أَوِ الْحَافِلَةَ؟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Do you prefer the train or the bus?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aw (aw-i before al-).</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دَقَّ الْجَرَسُ فَدَخَلَ الطُّلَّابُ.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bell rang and the students went in.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fa- immediate.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الْفِلْمُ طَوِيلٌ، وَلَكِنَّهُ مُثِيرٌ.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film is long, but it is exciting.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wa-lākinnahu.</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الطَّقْسُ جَمِيلٌ، لِذَا سَنَخْرُجُ.</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weather is nice, so we will go out.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li-dhā.</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NAME THE RELATIONSHIP, CHOOSE THE LINK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link fits?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الرَّابِطَ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Relationship</a:t>
            </a:r>
            <a:endParaRPr lang="en-US" sz="1100" dirty="0"/>
          </a:p>
        </p:txBody>
      </p:sp>
      <p:sp>
        <p:nvSpPr>
          <p:cNvPr id="17" name="Text 14"/>
          <p:cNvSpPr txBox="1"/>
          <p:nvPr/>
        </p:nvSpPr>
        <p:spPr>
          <a:xfrm>
            <a:off x="60167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Link</a:t>
            </a:r>
            <a:endParaRPr lang="en-US" sz="1100" dirty="0"/>
          </a:p>
        </p:txBody>
      </p:sp>
      <p:sp>
        <p:nvSpPr>
          <p:cNvPr id="18" name="Text 15"/>
          <p:cNvSpPr txBox="1"/>
          <p:nvPr/>
        </p:nvSpPr>
        <p:spPr>
          <a:xfrm>
            <a:off x="53035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addition</a:t>
            </a:r>
            <a:endParaRPr lang="en-US" sz="1100" dirty="0"/>
          </a:p>
        </p:txBody>
      </p:sp>
      <p:sp>
        <p:nvSpPr>
          <p:cNvPr id="21" name="Text 18"/>
          <p:cNvSpPr txBox="1"/>
          <p:nvPr/>
        </p:nvSpPr>
        <p:spPr>
          <a:xfrm>
            <a:off x="60350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a:t>
            </a:r>
            <a:endParaRPr lang="ar-SA" sz="2400" dirty="0"/>
          </a:p>
        </p:txBody>
      </p:sp>
      <p:sp>
        <p:nvSpPr>
          <p:cNvPr id="22" name="Text 19"/>
          <p:cNvSpPr txBox="1"/>
          <p:nvPr/>
        </p:nvSpPr>
        <p:spPr>
          <a:xfrm>
            <a:off x="548640" y="2267712"/>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الْقِرَاءَةَ … الْكِتَابَةَ.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alternative</a:t>
            </a:r>
            <a:endParaRPr lang="en-US" sz="1100" dirty="0"/>
          </a:p>
        </p:txBody>
      </p:sp>
      <p:sp>
        <p:nvSpPr>
          <p:cNvPr id="27" name="Text 24"/>
          <p:cNvSpPr txBox="1"/>
          <p:nvPr/>
        </p:nvSpPr>
        <p:spPr>
          <a:xfrm>
            <a:off x="60350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أَوْ</a:t>
            </a:r>
            <a:endParaRPr lang="ar-SA" sz="2400" dirty="0"/>
          </a:p>
        </p:txBody>
      </p:sp>
      <p:sp>
        <p:nvSpPr>
          <p:cNvPr id="28" name="Text 25"/>
          <p:cNvSpPr txBox="1"/>
          <p:nvPr/>
        </p:nvSpPr>
        <p:spPr>
          <a:xfrm>
            <a:off x="548640" y="2881884"/>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بِالْقِطَارِ … بِالْحَافِلَةِ؟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contrast</a:t>
            </a:r>
            <a:endParaRPr lang="en-US" sz="1100" dirty="0"/>
          </a:p>
        </p:txBody>
      </p:sp>
      <p:sp>
        <p:nvSpPr>
          <p:cNvPr id="33" name="Text 30"/>
          <p:cNvSpPr txBox="1"/>
          <p:nvPr/>
        </p:nvSpPr>
        <p:spPr>
          <a:xfrm>
            <a:off x="60350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لَكِنْ</a:t>
            </a:r>
            <a:endParaRPr lang="ar-SA" sz="2400" dirty="0"/>
          </a:p>
        </p:txBody>
      </p:sp>
      <p:sp>
        <p:nvSpPr>
          <p:cNvPr id="34" name="Text 31"/>
          <p:cNvSpPr txBox="1"/>
          <p:nvPr/>
        </p:nvSpPr>
        <p:spPr>
          <a:xfrm>
            <a:off x="548640" y="3496056"/>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الطَّقْسُ بَارِدٌ، … سَأَخْرُجُ.</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reason (li-annanī)</a:t>
            </a:r>
            <a:endParaRPr lang="en-US" sz="1100" dirty="0"/>
          </a:p>
        </p:txBody>
      </p:sp>
      <p:sp>
        <p:nvSpPr>
          <p:cNvPr id="39" name="Text 36"/>
          <p:cNvSpPr txBox="1"/>
          <p:nvPr/>
        </p:nvSpPr>
        <p:spPr>
          <a:xfrm>
            <a:off x="60350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لِأَنَّ</a:t>
            </a:r>
            <a:endParaRPr lang="ar-SA" sz="2400" dirty="0"/>
          </a:p>
        </p:txBody>
      </p:sp>
      <p:sp>
        <p:nvSpPr>
          <p:cNvPr id="40" name="Text 37"/>
          <p:cNvSpPr txBox="1"/>
          <p:nvPr/>
        </p:nvSpPr>
        <p:spPr>
          <a:xfrm>
            <a:off x="548640" y="4110228"/>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بَقِيتُ فِي الْبَيْتِ … نِي مَرِيضٌ.</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result</a:t>
            </a:r>
            <a:endParaRPr lang="en-US" sz="1100" dirty="0"/>
          </a:p>
        </p:txBody>
      </p:sp>
      <p:sp>
        <p:nvSpPr>
          <p:cNvPr id="43" name="Text 40"/>
          <p:cNvSpPr txBox="1"/>
          <p:nvPr/>
        </p:nvSpPr>
        <p:spPr>
          <a:xfrm>
            <a:off x="60350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لِذَلِكَ</a:t>
            </a:r>
            <a:endParaRPr lang="ar-SA" sz="2400" dirty="0"/>
          </a:p>
        </p:txBody>
      </p:sp>
      <p:sp>
        <p:nvSpPr>
          <p:cNvPr id="44" name="Text 41"/>
          <p:cNvSpPr txBox="1"/>
          <p:nvPr/>
        </p:nvSpPr>
        <p:spPr>
          <a:xfrm>
            <a:off x="548640" y="4724400"/>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كَانَ الطَّرِيقُ مُغْلَقًا، … تَأَخَّرْنَا.</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cause first, result second</a:t>
            </a:r>
            <a:endParaRPr lang="en-US" sz="1100" dirty="0"/>
          </a:p>
        </p:txBody>
      </p:sp>
      <p:sp>
        <p:nvSpPr>
          <p:cNvPr id="47" name="Text 44"/>
          <p:cNvSpPr txBox="1"/>
          <p:nvPr/>
        </p:nvSpPr>
        <p:spPr>
          <a:xfrm>
            <a:off x="60350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لِذَلِكَ / فَـ</a:t>
            </a:r>
            <a:endParaRPr lang="ar-SA" sz="2400" dirty="0"/>
          </a:p>
        </p:txBody>
      </p:sp>
      <p:sp>
        <p:nvSpPr>
          <p:cNvPr id="48" name="Text 45"/>
          <p:cNvSpPr txBox="1"/>
          <p:nvPr/>
        </p:nvSpPr>
        <p:spPr>
          <a:xfrm>
            <a:off x="548640" y="5338572"/>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دَرَسْتُ بِجِدٍّ، … نَجَحْتُ.</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game: identify the logical relationship, then choose the connector that expresses it.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REASON OR RESULT?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Why — or so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سَبَبٌ أَمْ 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لِأَنَّنِي مَرِيضٌ</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لِأَنَّهَا مُهِمَّةٌ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 الطَّقْسَ بَارِدٌ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لِأَنَّهُ مَرِنٌ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لِذَلِكَ تَأَخَّرْنَا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لِذَا سَنَخْرُجُ</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فَنَجَحْتُ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لِذَلِكَ بَقِينَا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Reason (li-anna)</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Result (li-dhālika / fa-)</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Reason (li-anna)</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لِأَنَّنِي مَرِيضٌ</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لِأَنَّهَا مُهِمَّةٌ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 الطَّقْسَ بَارِدٌ</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لِأَنَّهُ مَرِنٌ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Result (li-dhālika / fa-)</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لِذَلِكَ تَأَخَّرْنَا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لِذَا سَنَخْرُجُ</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فَنَجَحْتُ</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لِذَلِكَ بَقِينَا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السَّفَرَ وَهُوَ مُكْلِفٌ</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Add or contrast?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لَمْ أَذْهَبْ لِأَنَّ كُنْتُ مَرِيضًا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is the subject after li-anna?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دَخَلْتُ ثُمَّ وَجَدْتُهُ أَمَامِي فَوْرًا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Later or immediately?</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أُحِبُّ السَّفَرَ وَهُوَ مُكْلِفٌ</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السَّفَرَ، لَكِنَّهُ مُكْلِفٌ</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Contrast, not simple addition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لَمْ أَذْهَبْ لِأَنَّ كُنْتُ مَرِيضًا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لَمْ أَذْهَبْ لِأَنَّنِي كُنْتُ مَرِيضًا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Build the li-anna clause with its subject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دَخَلْتُ ثُمَّ وَجَدْتُهُ أَمَامِي فَوْرًا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دَخَلْتُ فَوَجَدْتُهُ أَمَامِي فَوْرًا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 immediate next event suits fa-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2F6FB0"/>
                </a:solidFill>
                <a:latin typeface="Calibri" pitchFamily="34" charset="0"/>
                <a:ea typeface="Calibri" pitchFamily="34" charset="-122"/>
                <a:cs typeface="Calibri" pitchFamily="34" charset="-120"/>
              </a:rPr>
              <a:t>WE DO · GUIDED PRACTICE · WEBSITE SEQUENCE, REASON–RESULT AND FINAL MASTERY CHECKS</a:t>
            </a:r>
            <a:endParaRPr lang="en-US" sz="83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alarm rang and I woke up immediately.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رَنَّ الْمُنَبِّهُ لَكِنْ اسْتَيْقَظْتُ.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رَنَّ الْمُنَبِّهُ لِأَنَّنِي اسْتَيْقَظْتُ.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رَنَّ الْمُنَبِّهُ فَاسْتَيْقَظْتُ.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reason for studying Arabic.</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 الْعَرَبِيَّةَ لِذَلِكَ هِيَ جَمِيلَةٌ.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 الْعَرَبِيَّةَ لِأَنَّهَا لُغَةٌ جَمِيلَةٌ.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 الْعَرَبِيَّةَ أَوْ هِيَ جَمِيلَةٌ.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“I did not go out ___ the weather was bad.”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form: “because I …”</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أَنَا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 أَنَا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alarm rang and I woke up immediately.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رَنَّ الْمُنَبِّهُ لَكِنْ اسْتَيْقَظْتُ.</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رَنَّ الْمُنَبِّهُ لِأَنَّنِي اسْتَيْقَظْتُ.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رَنَّ الْمُنَبِّهُ فَاسْتَيْقَظْتُ.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immediate response suits fa-.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reason for studying Arabic.</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 الْعَرَبِيَّةَ لِذَلِكَ هِيَ جَمِيلَةٌ.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أَدْرُسُ الْعَرَبِيَّةَ لِأَنَّهَا لُغَةٌ جَمِيلَةٌ.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 الْعَرَبِيَّةَ أَوْ هِيَ جَمِيلَةٌ.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Li-annahā introduces the reason.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“I did not go out ___ the weather was bad.”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لِذَلِكَ</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clause explains why.</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form: “because I …”</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أَنَا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لِذَلِكَ أَنَا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لِأَنَّنِي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Attach -nī to li-anna.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ea typeface="Calibri" pitchFamily="34" charset="-122"/>
                <a:cs typeface="Calibri" pitchFamily="34" charset="-120"/>
              </a:rPr>
              <a:t>YOU DO · READ AND NOTICE · WEBSITE SKILLS WORKSHOP (TEACHER-WRITTEN OPINION)</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Online or in class?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يُفَضِّلُ بَعْضُ الطُّلَّابِ التَّعَلُّمَ عَنْ بُعْدٍ، وَيُفَضِّلُ آخَرُونَ الْفَصْلَ. أَنَا أُحِبُّ الْفَصْلَ لِأَنَّنِي أَسْأَلُ الْمُعَلِّمَ مُبَاشَرَةً. لَكِنَّ أُخْتِي تَعِيشُ بَعِيدًا عَنِ الْجَامِعَةِ، لِذَلِكَ تَدْرُسُ عَبْرَ الْإِنْتَرْنِتِ. تَسْتَيْقِظُ مُتَأَخِّرَةً، ثُمَّ تَفْتَحُ حَاسُوبَهَا. أَمْسِ انْقَطَعَ الْإِنْتَرْنِتُ فَفَاتَهَا الدَّرْسُ! هَلْ تُفَضِّلُ أَنْتَ الْفَصْلَ أَمِ الشَّاشَةَ؟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عَنْ بُعْدٍ</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remotely / online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مُبَاشَرَةً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directly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عَبْرَ</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via</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فَفَاتَهَا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 she missed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الشَّاشَةَ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screen</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writer like class?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wake up late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ask the teacher directly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it is online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sister study online?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wakes up late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internet is fast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lives far from the university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link shows an immediate result?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فَفَاتَهَا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introduces contrast?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writer like class?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wake up late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ask the teacher directly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 it is online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Li-annanī asʾalu l-muʿallim.</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sister study online?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wakes up late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internet is fast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lives far from the university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Li-dhālika shows the result of living far away.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link shows an immediate result?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فَفَاتَهَا</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لِأَنَّنِي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 the connection dropped, so she missed it.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introduces contrast?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لِذَلِكَ</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لَكِنَّ</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Lākinna + ukhtī.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Speaking: opinion, reason, contrast, result</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تُحِبُّ الرِّيَاضَةَ؟ 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بَعْدَ الْمَدْرَسَةِ؟ (أَوَّلًا … ثُمَّ …)</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أَيُّهُمَا أَفْضَلُ: السَّفَرُ بِالطَّائِرَةِ أَمْ بِالْقِطَارِ؟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نَعَمْ، أُحِبُّهَا لِأَنَّ ___ ، لَكِنْ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أَوَّلًا ___ ، ثُمَّ ___ ، وَأَخِيرًا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أُفَضِّلُ ___ لِأَنَّهُ ___ ، وَلَكِنَّ ___ ، لِذَلِكَ ___ .</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أَيُّهُمَا تُفَضِّلِينَ: الْقِرَاءَةُ أَمِ الْأَفْلَامُ؟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Which do you prefer: reading or films?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أُفَضِّلُ الْقِرَاءَةَ لِأَنَّهَا تُنَمِّي خَيَالِي، لَكِنَّ الْأَفْلَامَ مُمْتِعَةٌ أَيْضًا. لِذَلِكَ أَقْرَأُ فِي الْأُسْبُوعِ، ثُمَّ أُشَاهِدُ فِلْمًا يَوْمَ السَّبْتِ.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prefer reading because it develops my imagination, but films are fun too. So I read during the week, then I watch a film on Saturday.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Two hobbies: which I like and why.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wa · aw · lākin · li-anna.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sequence and a result.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thumma or fa- · li-dhālika.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comparison with annotated connectors.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wa-lākinnahu · li-annanī.</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______ ، ثُمَّ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First … then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لِذَلِكَ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so we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اِجْتَهَدْتُ، لِذَا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worked hard, so I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______ ، وَلَكِنَّهُ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 but it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______ 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تُفَضِّلُ ______ أَوْ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 you prefer … or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______ لِأَنَّ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 because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جَيِّدٌ، لَكِنْ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good, but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  ·  أَوْ  ·  ثُمَّ  ·  فَـ  ·  لَكِنْ  ·  وَلَكِنَّهُ  ·  لِأَنَّ  ·  لِأَنَّنِي  ·  لِأَنَّهُ  ·  لِذَلِكَ  ·  لِذَا  ·  أَوَّلًا  ·  وَأَخِيرًا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upgrade task: compare two ways of travelling, learning, shopping or spending free time (90–110 words).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wa and aw only where logical.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thumma or fa- for sequence.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lākin / wa-lākinnahu for contrast.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li-anna + subject for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li-dhālika or li-dhā for a consequence.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نَاحِيَةٍ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the one hand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نَاحِيَةٍ أُخْرَى</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the other hand</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prefer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أَكْثَرُ … مِنْ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 than</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رَأْيِي</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my opinion</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النِّهَايَةِ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end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يُسَافِرُ النَّاسُ بِالطَّائِرَةِ أَوْ بِالْقِطَارِ. فِي رَأْيِي الطَّائِرَةُ أَسْرَعُ، وَلَكِنَّهَا أَغْلَى. أُفَضِّلُ الْقِطَارَ لِأَنَّنِي أَرَى الطَّبِيعَةَ مِنَ النَّافِذَةِ، وَأَقْرَأُ بِهُدُوءٍ. فِي الصَّيْفِ الْمَاضِي سَافَرْنَا إِلَى إِسْكُتْلَنْدَا بِالْقِطَارِ؛ أَوَّلًا رَكِبْنَا مِنْ لَنْدَنَ، ثُمَّ غَيَّرْنَا الْقِطَارَ فِي يُورْك. تَأَخَّرَ الْقِطَارُ الثَّانِي سَاعَةً، لِذَلِكَ وَصَلْنَا لَيْلًا، فَنِمْنَا فَوْرًا! لَكِنْ كَانَتِ الرِّحْلَةُ جَمِيلَةً، لِذَا سَأُسَافِرُ بِالْقِطَارِ مَرَّةً أُخْرَى.</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People travel by plane or by train. In my opinion the plane is faster, but it is more expensive. I prefer the train because I see nature from the window and read quietly. Last summer we travelled to Scotland by train; first we got on in London, then we changed trains in York. The second train was an hour late, so we arrived at night, and we slept straight away! But the journey was beautiful, so I will travel by train again.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addition / choice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sequence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contrast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reason / result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wa and aw only where they fit.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a reason with li-anna.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chose thumma or fa- by timing.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result follows its cause (li-dhālika).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li-anna / lākinna I used a subject (-nī, -hu, a noun).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contrast connector?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result connector?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well linked?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كَانَ الْمَطَرُ غَزِيرًا، لِذَلِكَ بَقِينَا فِي الْبَيْتِ.</a:t>
            </a:r>
            <a:endParaRPr lang="ar-SA" sz="15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كَانَ الْمَطَرُ غَزِيرًا أَوْ بَقِينَا فِي الْبَيْتِ.</a:t>
            </a:r>
            <a:endParaRPr lang="ar-SA" sz="15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كَانَ الْمَطَرُ غَزِيرًا لَكِنْ بَقِينَا لأن المطر.</a:t>
            </a:r>
            <a:endParaRPr lang="ar-SA" sz="15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contrast connector?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لَكِنْ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لِذَلِكَ</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Lākin contrasts.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result connector?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لِذَلِكَ</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Li-dhālika introduces the consequence.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well linked?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كَانَ الْمَطَرُ غَزِيرًا، لِذَلِكَ بَقِينَا فِي الْبَيْتِ.</a:t>
            </a:r>
            <a:endParaRPr lang="ar-SA" sz="15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كَانَ الْمَطَرُ غَزِيرًا أَوْ بَقِينَا فِي الْبَيْتِ.</a:t>
            </a:r>
            <a:endParaRPr lang="ar-SA" sz="15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كَانَ الْمَطَرُ غَزِيرًا لَكِنْ بَقِينَا لأن المطر.</a:t>
            </a:r>
            <a:endParaRPr lang="ar-SA" sz="15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cause and result are explicit.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GM-CP-04 · Conjunctions and Prepositions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GM-CP-05: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GM-CP-05 · Clause Linkers and Paragraph Cohesion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عِنْدَمَا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when</a:t>
            </a:r>
            <a:pPr indent="0" marL="0">
              <a:buNone/>
            </a:pPr>
            <a:r>
              <a:rPr lang="en-US" sz="1000" i="1" dirty="0">
                <a:solidFill>
                  <a:srgbClr val="5A6472"/>
                </a:solidFill>
                <a:latin typeface="Calibri" pitchFamily="34" charset="0"/>
                <a:ea typeface="Calibri" pitchFamily="34" charset="-122"/>
                <a:cs typeface="Calibri" pitchFamily="34" charset="-120"/>
              </a:rPr>
              <a:t>  عِنْدَمَا وَصَلْتُ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before (+ verb)</a:t>
            </a:r>
            <a:pPr indent="0" marL="0">
              <a:buNone/>
            </a:pPr>
            <a:r>
              <a:rPr lang="en-US" sz="1000" i="1" dirty="0">
                <a:solidFill>
                  <a:srgbClr val="5A6472"/>
                </a:solidFill>
                <a:latin typeface="Calibri" pitchFamily="34" charset="0"/>
                <a:ea typeface="Calibri" pitchFamily="34" charset="-122"/>
                <a:cs typeface="Calibri" pitchFamily="34" charset="-120"/>
              </a:rPr>
              <a:t>  قَبْلَ أَنْ أَنَامَ</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أَنْ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after (+ verb)</a:t>
            </a:r>
            <a:pPr indent="0" marL="0">
              <a:buNone/>
            </a:pPr>
            <a:r>
              <a:rPr lang="en-US" sz="1000" i="1" dirty="0">
                <a:solidFill>
                  <a:srgbClr val="5A6472"/>
                </a:solidFill>
                <a:latin typeface="Calibri" pitchFamily="34" charset="0"/>
                <a:ea typeface="Calibri" pitchFamily="34" charset="-122"/>
                <a:cs typeface="Calibri" pitchFamily="34" charset="-120"/>
              </a:rPr>
              <a:t>  بَعْدَ أَنْ أَكَلْتُ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بَيْنَمَا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while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أَوَّلًا · أَخِيرًا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first · finally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Qabla d-dars = before the lesson. How do you think you say “before I sleep”?</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______ أَنَامَ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six sentences, each with a different connector.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Rewrite a chain of wa sentences with the correct links.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comparison (90–110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GM-CP-04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GM-CP-05 · Clause Linkers and Paragraph Cohesion</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رَوَابِطُ الْجُمَلِ وَتَمَاسُكُ الْفِقْرَةِ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wa add · aw or · thumma then (later) · fa- so / straight after · lākin but · li-anna because (+ subject) · li-dhālika therefore · choose by meaning, not variety.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GM-CP-04 · Core Conjunctions and Logical Links</dc:title>
  <dc:subject>PptxGenJS Presentation</dc:subject>
  <dc:creator>Al Madina Online School · Arabic Department</dc:creator>
  <cp:lastModifiedBy>Al Madina Online School · Arabic Department</cp:lastModifiedBy>
  <cp:revision>1</cp:revision>
  <dcterms:created xsi:type="dcterms:W3CDTF">2026-10-04T02:07:18Z</dcterms:created>
  <dcterms:modified xsi:type="dcterms:W3CDTF">2026-10-04T02:07:18Z</dcterms:modified>
</cp:coreProperties>
</file>