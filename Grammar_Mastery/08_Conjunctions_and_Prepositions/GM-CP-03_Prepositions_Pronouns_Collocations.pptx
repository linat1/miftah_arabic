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Conjunctions and Prepositions › GM-CP-03 (“Prepositions with Pronouns and Verb Collocations”).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-hu / -hā / -hum family with فِي · مِنْ · عَنْ · مَعَ · لِـ · بِـ (فِيهِ · مِنْهَا · مَعَهُمْ · لَهُ). Develop: the stem change إِلَى → إِلَيْـ, عَلَى → عَلَيْـ and twelve verb + preposition pairs. Stretch: direct object vs preposition — زَارَ · سَأَلَ · سَاعَدَ · اِنْتَظَرَ take NO preposition.
• Website reference check: the pronoun agrees with the Arabic noun, not the English “it” — al-madrasa is feminine → ilayhā; non-human plurals → -hā.
• Recycles GM-PRO-02 / PRO-03 (attached pronouns) and GM-VF verb families (istamaʿa ilā, iʿtamada ʿalā).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the GM-CP-02 prep words fīhi, ʿalayhi, minhu, ilayhi, maʿahu.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One word: preposition + pronoun (ilā → ilay-, ʿalā → ʿalay-). Learn every verb WITH its preposition — or with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“How pronouns attach”. Core: rows 1–3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“Replace the repeated noun” (last row from the website Final Mastery).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“Verb–preposition collocations” and “Direct object or preposition?”. Also: waṣala ilā, ʿāda min, shāraka fī, ihtamma bi-, istamaʿa ilā.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Pronoun Form, Reference and Collocation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skills-workshop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Reference and Final Mastery items.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English says “wait FOR”, “listen TO” — Arabic intaẓara has no preposition, istamaʿa needs ilā.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English says “wait FOR”, “listen TO” — Arabic intaẓara has no preposition, istamaʿa needs ilā.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Pronoun Form, Reference, Collocation and Final Mastery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skills workshop (teacher-written account). Read it aloud once while students follow; then they hunt for today’s grammar.
Task: Website: underline verb–preposition pairs once and circle attached pronoun forms. Check what each pronoun refers to.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account for the website skills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skills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avoid repetition by replacing a known noun with the correct attached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80–100 Arabic words about a project, club, journey or school event. Refer back to people, places and things with attached pronouns instead of repeating every noun.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(GM-CP-04 · Core Conjunctions and Logical Links) will spend class time USING this language, so students prepare it tonight — short, simple, easy to access (school guidance: “Simple, Short, Interesting, Relevant, Easy to access”). The five words prepare GM-CP-04 (website: core conjunctions and logical links).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CONJUNCTIONS AND PREPOSITIONS  ·  GM-CP-03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GM-CP-03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Prepositions with Pronouns and Verb Collocations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حُرُوفُ الْجَرِّ مَعَ الضَّمَائِرِ وَالْمُتَلَازِمَاتِ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Preposition + pronoun = one word: ilā + hā → ilayhā (to her / it). Many verbs come with their own preposition — baḥatha ʿan (look for), iʿtamada ʿalā (rely on) — and some take none: zurtu ṣadīqī.</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GM-CP-03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Conjunctions and Prepositions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Preposition + pronoun; replace the noun; collocations; direct object.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Replace the noun; sort with / without a preposition;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GM-CP-04.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it / in him”.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فِيهُ</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لَهُ</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“to her”.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إِلَيْهَا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هَا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عَلَيْهَا</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أَبْحَثُ ___ مَعْلُومَاتٍ.</a:t>
            </a:r>
            <a:endParaRPr lang="ar-SA" sz="15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أَسْتَمِعُ ___ الْمُوسِيقَى.</a:t>
            </a:r>
            <a:endParaRPr lang="ar-SA" sz="150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normally takes a direct object without </a:t>
            </a:r>
            <a:pPr algn="l" indent="0" marL="0">
              <a:buNone/>
            </a:pPr>
            <a:r>
              <a:rPr lang="ar-SA" altLang="en-US" sz="1650" b="1" dirty="0">
                <a:solidFill>
                  <a:srgbClr val="1B3B6F"/>
                </a:solidFill>
                <a:latin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زَارَ صَدِيقَهُ</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 إِلَى صَدِيقِهِ</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اِسْتَمَعَ إِلَى صَدِيقِهِ</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it / in him”.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فِيهُ</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فِيهِ</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لَهُ</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established form is fīhi.</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“to her”.</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إِلَيْهَا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هَا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عَلَيْهَا</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pronoun attaches to the changed stem ilay-.</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أَبْحَثُ ___ مَعْلُومَاتٍ.</a:t>
            </a:r>
            <a:endParaRPr lang="ar-SA" sz="15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pair is baḥatha ʿan.</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أَسْتَمِعُ ___ الْمُوسِيقَى.</a:t>
            </a:r>
            <a:endParaRPr lang="ar-SA" sz="150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pair is istamaʿa ilā.</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normally takes a direct object without </a:t>
            </a:r>
            <a:pPr algn="l" indent="0" marL="0">
              <a:buNone/>
            </a:pPr>
            <a:r>
              <a:rPr lang="ar-SA" altLang="en-US" sz="1650" b="1" dirty="0">
                <a:solidFill>
                  <a:srgbClr val="1B3B6F"/>
                </a:solidFill>
                <a:latin typeface="Amiri" pitchFamily="2" charset="-78"/>
                <a:cs typeface="Amiri" pitchFamily="2" charset="-78"/>
              </a:rPr>
              <a:t>إِلَى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زَارَ صَدِيقَهُ</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ذَهَبَ إِلَى صَدِيقِهِ</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اِسْتَمَعَ إِلَى صَدِيقِهِ</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Zāra takes the person or place directly.</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One word: preposition + pronoun (ilā → ilay-, ʿalā → ʿalay-). Learn every verb WITH its preposition — or with none.</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0E7C86"/>
                </a:solidFill>
                <a:latin typeface="Amiri" pitchFamily="2" charset="-78"/>
                <a:cs typeface="Amiri" pitchFamily="2" charset="-78"/>
              </a:rPr>
              <a:t>إِلَيْهَا</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0E7C86"/>
                </a:solidFill>
                <a:latin typeface="Amiri" pitchFamily="2" charset="-78"/>
                <a:cs typeface="Amiri" pitchFamily="2" charset="-78"/>
              </a:rPr>
              <a:t>عَلَيْهِ</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D6336C"/>
                </a:solidFill>
                <a:latin typeface="Amiri" pitchFamily="2" charset="-78"/>
                <a:cs typeface="Amiri" pitchFamily="2" charset="-78"/>
              </a:rPr>
              <a:t>بَحَثَ عَنْ</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D6336C"/>
                </a:solidFill>
                <a:latin typeface="Amiri" pitchFamily="2" charset="-78"/>
                <a:cs typeface="Amiri" pitchFamily="2" charset="-78"/>
              </a:rPr>
              <a:t>زَارَ</a:t>
            </a:r>
            <a:endParaRPr lang="ar-SA" sz="23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Attach pronouns to prepositions as one word.</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Replace a repeated noun with the right pronoun.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Learn verbs with their prepositions.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Know which verbs take a direct object.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fīhi, minhā, maʿahum.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replace a noun to avoid repeating it.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ilayhā and ʿalayhim correctly.</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six verb + preposition pairs.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zurtu ṣadīqī (no ilā).</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80–100 words with four pronoun forms.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الضَّمِيرُ الْمُتَّصِلُ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attached pronoun</a:t>
            </a:r>
            <a:endParaRPr lang="en-US" sz="1350" dirty="0"/>
          </a:p>
          <a:p>
            <a:pPr indent="0" marL="0">
              <a:buNone/>
            </a:pPr>
            <a:r>
              <a:rPr lang="en-US" sz="1100" i="1" dirty="0">
                <a:solidFill>
                  <a:srgbClr val="5A6472"/>
                </a:solidFill>
                <a:latin typeface="Calibri" pitchFamily="34" charset="0"/>
                <a:cs typeface="Amiri" pitchFamily="2" charset="-78"/>
              </a:rPr>
              <a:t>aḍ-ḍa-mī-ru al-mut-ta-ṣi-lu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ـهُ · ـهَا · ـهُمْ</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إِلَيْـ · عَلَيْـ</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changed stems</a:t>
            </a:r>
            <a:endParaRPr lang="en-US" sz="1350" dirty="0"/>
          </a:p>
          <a:p>
            <a:pPr indent="0" marL="0">
              <a:buNone/>
            </a:pPr>
            <a:r>
              <a:rPr lang="en-US" sz="1100" i="1" dirty="0">
                <a:solidFill>
                  <a:srgbClr val="5A6472"/>
                </a:solidFill>
                <a:latin typeface="Calibri" pitchFamily="34" charset="0"/>
                <a:cs typeface="Amiri" pitchFamily="2" charset="-78"/>
              </a:rPr>
              <a:t>i-lay · ʿa-lay</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إِلَيْهِ · عَلَيْهَا</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الْمَرْجِعُ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noun the pronoun refers to</a:t>
            </a:r>
            <a:endParaRPr lang="en-US" sz="1350" dirty="0"/>
          </a:p>
          <a:p>
            <a:pPr indent="0" marL="0">
              <a:buNone/>
            </a:pPr>
            <a:r>
              <a:rPr lang="en-US" sz="1100" i="1" dirty="0">
                <a:solidFill>
                  <a:srgbClr val="5A6472"/>
                </a:solidFill>
                <a:latin typeface="Calibri" pitchFamily="34" charset="0"/>
                <a:cs typeface="Amiri" pitchFamily="2" charset="-78"/>
              </a:rPr>
              <a:t>al-mar-ji-ʿu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الْمَدْرَسَةُ ← هَا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الْمُتَلَازِمَاتُ</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verb + preposition pairs</a:t>
            </a:r>
            <a:endParaRPr lang="en-US" sz="1350" dirty="0"/>
          </a:p>
          <a:p>
            <a:pPr indent="0" marL="0">
              <a:buNone/>
            </a:pPr>
            <a:r>
              <a:rPr lang="en-US" sz="1100" i="1" dirty="0">
                <a:solidFill>
                  <a:srgbClr val="5A6472"/>
                </a:solidFill>
                <a:latin typeface="Calibri" pitchFamily="34" charset="0"/>
                <a:cs typeface="Amiri" pitchFamily="2" charset="-78"/>
              </a:rPr>
              <a:t>al-mu-ta-lā-zi-mā-tu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اِعْتَمَدَ عَلَى</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الْمَفْعُولُ بِهِ</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direct object (no preposition)</a:t>
            </a:r>
            <a:endParaRPr lang="en-US" sz="1350" dirty="0"/>
          </a:p>
          <a:p>
            <a:pPr indent="0" marL="0">
              <a:buNone/>
            </a:pPr>
            <a:r>
              <a:rPr lang="en-US" sz="1100" i="1" dirty="0">
                <a:solidFill>
                  <a:srgbClr val="5A6472"/>
                </a:solidFill>
                <a:latin typeface="Calibri" pitchFamily="34" charset="0"/>
                <a:cs typeface="Amiri" pitchFamily="2" charset="-78"/>
              </a:rPr>
              <a:t>al-maf-ʿū-lu bi-hi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زُرْتُ صَدِيقِي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التَّكْرَارُ</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repetition (to avoid)</a:t>
            </a:r>
            <a:endParaRPr lang="en-US" sz="1350" dirty="0"/>
          </a:p>
          <a:p>
            <a:pPr indent="0" marL="0">
              <a:buNone/>
            </a:pPr>
            <a:r>
              <a:rPr lang="en-US" sz="1100" i="1" dirty="0">
                <a:solidFill>
                  <a:srgbClr val="5A6472"/>
                </a:solidFill>
                <a:latin typeface="Calibri" pitchFamily="34" charset="0"/>
                <a:cs typeface="Amiri" pitchFamily="2" charset="-78"/>
              </a:rPr>
              <a:t>at-tak-rā-ru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ذَهَبْتُ إِلَيْهَا</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HOW PRONOUNS ATTACH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word: preposition + pronoun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حُرُوفُ الْجَرِّ مَعَ الضَّمَائِرِ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2571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683971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them</a:t>
            </a:r>
            <a:endParaRPr lang="en-US" sz="1100" dirty="0"/>
          </a:p>
        </p:txBody>
      </p:sp>
      <p:sp>
        <p:nvSpPr>
          <p:cNvPr id="18" name="Text 15"/>
          <p:cNvSpPr txBox="1"/>
          <p:nvPr/>
        </p:nvSpPr>
        <p:spPr>
          <a:xfrm>
            <a:off x="455371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her / it (f.)</a:t>
            </a:r>
            <a:endParaRPr lang="en-US" sz="1100" dirty="0"/>
          </a:p>
        </p:txBody>
      </p:sp>
      <p:sp>
        <p:nvSpPr>
          <p:cNvPr id="19" name="Text 16"/>
          <p:cNvSpPr txBox="1"/>
          <p:nvPr/>
        </p:nvSpPr>
        <p:spPr>
          <a:xfrm>
            <a:off x="226771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him / it (m.)</a:t>
            </a:r>
            <a:endParaRPr lang="en-US" sz="1100" dirty="0"/>
          </a:p>
        </p:txBody>
      </p:sp>
      <p:sp>
        <p:nvSpPr>
          <p:cNvPr id="20" name="Text 17"/>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a:t>
            </a:r>
            <a:endParaRPr lang="en-US" sz="1100" dirty="0"/>
          </a:p>
        </p:txBody>
      </p:sp>
      <p:sp>
        <p:nvSpPr>
          <p:cNvPr id="21" name="Shape 18"/>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2" name="Text 19"/>
          <p:cNvSpPr txBox="1"/>
          <p:nvPr/>
        </p:nvSpPr>
        <p:spPr>
          <a:xfrm>
            <a:off x="9162288" y="2267712"/>
            <a:ext cx="249631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a:t>
            </a:r>
            <a:endParaRPr lang="en-US" sz="1100" dirty="0"/>
          </a:p>
        </p:txBody>
      </p:sp>
      <p:sp>
        <p:nvSpPr>
          <p:cNvPr id="23" name="Text 20"/>
          <p:cNvSpPr txBox="1"/>
          <p:nvPr/>
        </p:nvSpPr>
        <p:spPr>
          <a:xfrm>
            <a:off x="6858000" y="2267712"/>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فِيهِمْ</a:t>
            </a:r>
            <a:endParaRPr lang="ar-SA" sz="2200" dirty="0"/>
          </a:p>
        </p:txBody>
      </p:sp>
      <p:sp>
        <p:nvSpPr>
          <p:cNvPr id="24" name="Text 21"/>
          <p:cNvSpPr txBox="1"/>
          <p:nvPr/>
        </p:nvSpPr>
        <p:spPr>
          <a:xfrm>
            <a:off x="4572000" y="2267712"/>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فِيهَا</a:t>
            </a:r>
            <a:endParaRPr lang="ar-SA" sz="2200" dirty="0"/>
          </a:p>
        </p:txBody>
      </p:sp>
      <p:sp>
        <p:nvSpPr>
          <p:cNvPr id="25" name="Text 22"/>
          <p:cNvSpPr txBox="1"/>
          <p:nvPr/>
        </p:nvSpPr>
        <p:spPr>
          <a:xfrm>
            <a:off x="2286000" y="2267712"/>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فِيهِ</a:t>
            </a:r>
            <a:endParaRPr lang="ar-SA" sz="2200" dirty="0"/>
          </a:p>
        </p:txBody>
      </p:sp>
      <p:sp>
        <p:nvSpPr>
          <p:cNvPr id="26" name="Text 23"/>
          <p:cNvSpPr txBox="1"/>
          <p:nvPr/>
        </p:nvSpPr>
        <p:spPr>
          <a:xfrm>
            <a:off x="548640" y="2267712"/>
            <a:ext cx="15544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a:t>
            </a:r>
            <a:endParaRPr lang="ar-SA" sz="22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30" name="Text 27"/>
          <p:cNvSpPr txBox="1"/>
          <p:nvPr/>
        </p:nvSpPr>
        <p:spPr>
          <a:xfrm>
            <a:off x="9162288" y="2794145"/>
            <a:ext cx="249631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from</a:t>
            </a:r>
            <a:endParaRPr lang="en-US" sz="1100" dirty="0"/>
          </a:p>
        </p:txBody>
      </p:sp>
      <p:sp>
        <p:nvSpPr>
          <p:cNvPr id="31" name="Text 28"/>
          <p:cNvSpPr txBox="1"/>
          <p:nvPr/>
        </p:nvSpPr>
        <p:spPr>
          <a:xfrm>
            <a:off x="6858000" y="2794145"/>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مِنْهُمْ</a:t>
            </a:r>
            <a:endParaRPr lang="ar-SA" sz="2200" dirty="0"/>
          </a:p>
        </p:txBody>
      </p:sp>
      <p:sp>
        <p:nvSpPr>
          <p:cNvPr id="32" name="Text 29"/>
          <p:cNvSpPr txBox="1"/>
          <p:nvPr/>
        </p:nvSpPr>
        <p:spPr>
          <a:xfrm>
            <a:off x="4572000" y="2794145"/>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مِنْهَا</a:t>
            </a:r>
            <a:endParaRPr lang="ar-SA" sz="2200" dirty="0"/>
          </a:p>
        </p:txBody>
      </p:sp>
      <p:sp>
        <p:nvSpPr>
          <p:cNvPr id="33" name="Text 30"/>
          <p:cNvSpPr txBox="1"/>
          <p:nvPr/>
        </p:nvSpPr>
        <p:spPr>
          <a:xfrm>
            <a:off x="2286000" y="2794145"/>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مِنْهُ</a:t>
            </a:r>
            <a:endParaRPr lang="ar-SA" sz="2200" dirty="0"/>
          </a:p>
        </p:txBody>
      </p:sp>
      <p:sp>
        <p:nvSpPr>
          <p:cNvPr id="34" name="Text 31"/>
          <p:cNvSpPr txBox="1"/>
          <p:nvPr/>
        </p:nvSpPr>
        <p:spPr>
          <a:xfrm>
            <a:off x="548640" y="2794145"/>
            <a:ext cx="15544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مِنْ</a:t>
            </a:r>
            <a:endParaRPr lang="ar-SA" sz="2200" dirty="0"/>
          </a:p>
        </p:txBody>
      </p:sp>
      <p:sp>
        <p:nvSpPr>
          <p:cNvPr id="35" name="Shape 32"/>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8" name="Text 35"/>
          <p:cNvSpPr txBox="1"/>
          <p:nvPr/>
        </p:nvSpPr>
        <p:spPr>
          <a:xfrm>
            <a:off x="9162288" y="3320578"/>
            <a:ext cx="249631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(company)</a:t>
            </a:r>
            <a:endParaRPr lang="en-US" sz="1100" dirty="0"/>
          </a:p>
        </p:txBody>
      </p:sp>
      <p:sp>
        <p:nvSpPr>
          <p:cNvPr id="39" name="Text 36"/>
          <p:cNvSpPr txBox="1"/>
          <p:nvPr/>
        </p:nvSpPr>
        <p:spPr>
          <a:xfrm>
            <a:off x="6858000" y="3320578"/>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مَعَهُمْ</a:t>
            </a:r>
            <a:endParaRPr lang="ar-SA" sz="2200" dirty="0"/>
          </a:p>
        </p:txBody>
      </p:sp>
      <p:sp>
        <p:nvSpPr>
          <p:cNvPr id="40" name="Text 37"/>
          <p:cNvSpPr txBox="1"/>
          <p:nvPr/>
        </p:nvSpPr>
        <p:spPr>
          <a:xfrm>
            <a:off x="4572000" y="3320578"/>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مَعَهَا</a:t>
            </a:r>
            <a:endParaRPr lang="ar-SA" sz="2200" dirty="0"/>
          </a:p>
        </p:txBody>
      </p:sp>
      <p:sp>
        <p:nvSpPr>
          <p:cNvPr id="41" name="Text 38"/>
          <p:cNvSpPr txBox="1"/>
          <p:nvPr/>
        </p:nvSpPr>
        <p:spPr>
          <a:xfrm>
            <a:off x="2286000" y="3320578"/>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مَعَهُ</a:t>
            </a:r>
            <a:endParaRPr lang="ar-SA" sz="2200" dirty="0"/>
          </a:p>
        </p:txBody>
      </p:sp>
      <p:sp>
        <p:nvSpPr>
          <p:cNvPr id="42" name="Text 39"/>
          <p:cNvSpPr txBox="1"/>
          <p:nvPr/>
        </p:nvSpPr>
        <p:spPr>
          <a:xfrm>
            <a:off x="548640" y="3320578"/>
            <a:ext cx="15544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مَعَ</a:t>
            </a:r>
            <a:endParaRPr lang="ar-SA" sz="2200" dirty="0"/>
          </a:p>
        </p:txBody>
      </p:sp>
      <p:sp>
        <p:nvSpPr>
          <p:cNvPr id="43" name="Shape 40"/>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46" name="Text 43"/>
          <p:cNvSpPr txBox="1"/>
          <p:nvPr/>
        </p:nvSpPr>
        <p:spPr>
          <a:xfrm>
            <a:off x="9162288" y="3847011"/>
            <a:ext cx="249631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 stem ilay-</a:t>
            </a:r>
            <a:endParaRPr lang="en-US" sz="1100" dirty="0"/>
          </a:p>
        </p:txBody>
      </p:sp>
      <p:sp>
        <p:nvSpPr>
          <p:cNvPr id="47" name="Text 44"/>
          <p:cNvSpPr txBox="1"/>
          <p:nvPr/>
        </p:nvSpPr>
        <p:spPr>
          <a:xfrm>
            <a:off x="6858000" y="3847011"/>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إِلَيْهِمْ</a:t>
            </a:r>
            <a:endParaRPr lang="ar-SA" sz="2200" dirty="0"/>
          </a:p>
        </p:txBody>
      </p:sp>
      <p:sp>
        <p:nvSpPr>
          <p:cNvPr id="48" name="Text 45"/>
          <p:cNvSpPr txBox="1"/>
          <p:nvPr/>
        </p:nvSpPr>
        <p:spPr>
          <a:xfrm>
            <a:off x="4572000" y="3847011"/>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إِلَيْهَا</a:t>
            </a:r>
            <a:endParaRPr lang="ar-SA" sz="2200" dirty="0"/>
          </a:p>
        </p:txBody>
      </p:sp>
      <p:sp>
        <p:nvSpPr>
          <p:cNvPr id="49" name="Text 46"/>
          <p:cNvSpPr txBox="1"/>
          <p:nvPr/>
        </p:nvSpPr>
        <p:spPr>
          <a:xfrm>
            <a:off x="2286000" y="3847011"/>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إِلَيْهِ</a:t>
            </a:r>
            <a:endParaRPr lang="ar-SA" sz="2200" dirty="0"/>
          </a:p>
        </p:txBody>
      </p:sp>
      <p:sp>
        <p:nvSpPr>
          <p:cNvPr id="50" name="Text 47"/>
          <p:cNvSpPr txBox="1"/>
          <p:nvPr/>
        </p:nvSpPr>
        <p:spPr>
          <a:xfrm>
            <a:off x="548640" y="3847011"/>
            <a:ext cx="15544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إِلَى</a:t>
            </a:r>
            <a:endParaRPr lang="ar-SA" sz="2200" dirty="0"/>
          </a:p>
        </p:txBody>
      </p:sp>
      <p:sp>
        <p:nvSpPr>
          <p:cNvPr id="51" name="Shape 48"/>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52" name="Text 49"/>
          <p:cNvSpPr txBox="1"/>
          <p:nvPr/>
        </p:nvSpPr>
        <p:spPr>
          <a:xfrm>
            <a:off x="9162288" y="4373445"/>
            <a:ext cx="249631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 stem ʿalay-</a:t>
            </a:r>
            <a:endParaRPr lang="en-US" sz="1100" dirty="0"/>
          </a:p>
        </p:txBody>
      </p:sp>
      <p:sp>
        <p:nvSpPr>
          <p:cNvPr id="53" name="Text 50"/>
          <p:cNvSpPr txBox="1"/>
          <p:nvPr/>
        </p:nvSpPr>
        <p:spPr>
          <a:xfrm>
            <a:off x="6858000" y="4373445"/>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عَلَيْهِمْ</a:t>
            </a:r>
            <a:endParaRPr lang="ar-SA" sz="2200" dirty="0"/>
          </a:p>
        </p:txBody>
      </p:sp>
      <p:sp>
        <p:nvSpPr>
          <p:cNvPr id="54" name="Text 51"/>
          <p:cNvSpPr txBox="1"/>
          <p:nvPr/>
        </p:nvSpPr>
        <p:spPr>
          <a:xfrm>
            <a:off x="4572000" y="4373445"/>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عَلَيْهَا</a:t>
            </a:r>
            <a:endParaRPr lang="ar-SA" sz="2200" dirty="0"/>
          </a:p>
        </p:txBody>
      </p:sp>
      <p:sp>
        <p:nvSpPr>
          <p:cNvPr id="55" name="Text 52"/>
          <p:cNvSpPr txBox="1"/>
          <p:nvPr/>
        </p:nvSpPr>
        <p:spPr>
          <a:xfrm>
            <a:off x="2286000" y="4373445"/>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عَلَيْهِ</a:t>
            </a:r>
            <a:endParaRPr lang="ar-SA" sz="2200" dirty="0"/>
          </a:p>
        </p:txBody>
      </p:sp>
      <p:sp>
        <p:nvSpPr>
          <p:cNvPr id="56" name="Text 53"/>
          <p:cNvSpPr txBox="1"/>
          <p:nvPr/>
        </p:nvSpPr>
        <p:spPr>
          <a:xfrm>
            <a:off x="548640" y="4373445"/>
            <a:ext cx="15544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عَلَى</a:t>
            </a:r>
            <a:endParaRPr lang="ar-SA" sz="2200" dirty="0"/>
          </a:p>
        </p:txBody>
      </p:sp>
      <p:sp>
        <p:nvSpPr>
          <p:cNvPr id="57" name="Shape 54"/>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8" name="Text 55"/>
          <p:cNvSpPr txBox="1"/>
          <p:nvPr/>
        </p:nvSpPr>
        <p:spPr>
          <a:xfrm>
            <a:off x="9162288" y="4899878"/>
            <a:ext cx="249631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about</a:t>
            </a:r>
            <a:endParaRPr lang="en-US" sz="1100" dirty="0"/>
          </a:p>
        </p:txBody>
      </p:sp>
      <p:sp>
        <p:nvSpPr>
          <p:cNvPr id="59" name="Text 56"/>
          <p:cNvSpPr txBox="1"/>
          <p:nvPr/>
        </p:nvSpPr>
        <p:spPr>
          <a:xfrm>
            <a:off x="6858000" y="4899878"/>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عَنْهُمْ</a:t>
            </a:r>
            <a:endParaRPr lang="ar-SA" sz="2200" dirty="0"/>
          </a:p>
        </p:txBody>
      </p:sp>
      <p:sp>
        <p:nvSpPr>
          <p:cNvPr id="60" name="Text 57"/>
          <p:cNvSpPr txBox="1"/>
          <p:nvPr/>
        </p:nvSpPr>
        <p:spPr>
          <a:xfrm>
            <a:off x="4572000" y="4899878"/>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عَنْهَا</a:t>
            </a:r>
            <a:endParaRPr lang="ar-SA" sz="2200" dirty="0"/>
          </a:p>
        </p:txBody>
      </p:sp>
      <p:sp>
        <p:nvSpPr>
          <p:cNvPr id="61" name="Text 58"/>
          <p:cNvSpPr txBox="1"/>
          <p:nvPr/>
        </p:nvSpPr>
        <p:spPr>
          <a:xfrm>
            <a:off x="2286000" y="4899878"/>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عَنْهُ</a:t>
            </a:r>
            <a:endParaRPr lang="ar-SA" sz="2200" dirty="0"/>
          </a:p>
        </p:txBody>
      </p:sp>
      <p:sp>
        <p:nvSpPr>
          <p:cNvPr id="62" name="Text 59"/>
          <p:cNvSpPr txBox="1"/>
          <p:nvPr/>
        </p:nvSpPr>
        <p:spPr>
          <a:xfrm>
            <a:off x="548640" y="4899878"/>
            <a:ext cx="15544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a:t>
            </a:r>
            <a:endParaRPr lang="ar-SA" sz="2200" dirty="0"/>
          </a:p>
        </p:txBody>
      </p:sp>
      <p:sp>
        <p:nvSpPr>
          <p:cNvPr id="63" name="Shape 60"/>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64" name="Text 61"/>
          <p:cNvSpPr txBox="1"/>
          <p:nvPr/>
        </p:nvSpPr>
        <p:spPr>
          <a:xfrm>
            <a:off x="9162288" y="5426311"/>
            <a:ext cx="2496312"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 · with / by</a:t>
            </a:r>
            <a:endParaRPr lang="en-US" sz="1100" dirty="0"/>
          </a:p>
        </p:txBody>
      </p:sp>
      <p:sp>
        <p:nvSpPr>
          <p:cNvPr id="65" name="Text 62"/>
          <p:cNvSpPr txBox="1"/>
          <p:nvPr/>
        </p:nvSpPr>
        <p:spPr>
          <a:xfrm>
            <a:off x="6858000" y="5426311"/>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لَهُمْ · بِهِمْ</a:t>
            </a:r>
            <a:endParaRPr lang="ar-SA" sz="2200" dirty="0"/>
          </a:p>
        </p:txBody>
      </p:sp>
      <p:sp>
        <p:nvSpPr>
          <p:cNvPr id="66" name="Text 63"/>
          <p:cNvSpPr txBox="1"/>
          <p:nvPr/>
        </p:nvSpPr>
        <p:spPr>
          <a:xfrm>
            <a:off x="4572000" y="5426311"/>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لَهَا · بِهَا</a:t>
            </a:r>
            <a:endParaRPr lang="ar-SA" sz="2200" dirty="0"/>
          </a:p>
        </p:txBody>
      </p:sp>
      <p:sp>
        <p:nvSpPr>
          <p:cNvPr id="67" name="Text 64"/>
          <p:cNvSpPr txBox="1"/>
          <p:nvPr/>
        </p:nvSpPr>
        <p:spPr>
          <a:xfrm>
            <a:off x="2286000" y="5426311"/>
            <a:ext cx="210312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لَهُ · بِهِ</a:t>
            </a:r>
            <a:endParaRPr lang="ar-SA" sz="2200" dirty="0"/>
          </a:p>
        </p:txBody>
      </p:sp>
      <p:sp>
        <p:nvSpPr>
          <p:cNvPr id="68" name="Text 65"/>
          <p:cNvSpPr txBox="1"/>
          <p:nvPr/>
        </p:nvSpPr>
        <p:spPr>
          <a:xfrm>
            <a:off x="548640" y="5426311"/>
            <a:ext cx="155448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لِـ · بِـ</a:t>
            </a:r>
            <a:endParaRPr lang="ar-SA" sz="2200" dirty="0"/>
          </a:p>
        </p:txBody>
      </p:sp>
      <p:sp>
        <p:nvSpPr>
          <p:cNvPr id="69" name="Text 6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ilā and ʿalā become ilay- and ʿalay- before a pronoun. Write ONE word — never ilā hā, and never invent ʿalāhu. After i / y, -hu becomes -hi (fīhi, ʿalayhi, bihi).</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REPLACE THE REPEATED NOUN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preposition — new pronoun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تَجَنَّبِ التَّكْرَارَ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473659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Second mention</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First mention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maktaba: feminine</a:t>
            </a:r>
            <a:endParaRPr lang="en-US" sz="1100" dirty="0"/>
          </a:p>
        </p:txBody>
      </p:sp>
      <p:sp>
        <p:nvSpPr>
          <p:cNvPr id="21" name="Text 18"/>
          <p:cNvSpPr txBox="1"/>
          <p:nvPr/>
        </p:nvSpPr>
        <p:spPr>
          <a:xfrm>
            <a:off x="4754880" y="2267712"/>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ذَهَبْتُ إِلَيْهَا أَمْسِ.</a:t>
            </a:r>
            <a:endParaRPr lang="ar-SA" sz="2200" dirty="0"/>
          </a:p>
        </p:txBody>
      </p:sp>
      <p:sp>
        <p:nvSpPr>
          <p:cNvPr id="22" name="Text 19"/>
          <p:cNvSpPr txBox="1"/>
          <p:nvPr/>
        </p:nvSpPr>
        <p:spPr>
          <a:xfrm>
            <a:off x="548640" y="2267712"/>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ذَهَبْتُ إِلَى الْمَكْتَبَةِ.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riḥla: feminine</a:t>
            </a:r>
            <a:endParaRPr lang="en-US" sz="1100" dirty="0"/>
          </a:p>
        </p:txBody>
      </p:sp>
      <p:sp>
        <p:nvSpPr>
          <p:cNvPr id="27" name="Text 24"/>
          <p:cNvSpPr txBox="1"/>
          <p:nvPr/>
        </p:nvSpPr>
        <p:spPr>
          <a:xfrm>
            <a:off x="4754880" y="300471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تَحَدَّثْنَا عَنْهَا طَوِيلًا.</a:t>
            </a:r>
            <a:endParaRPr lang="ar-SA" sz="2200" dirty="0"/>
          </a:p>
        </p:txBody>
      </p:sp>
      <p:sp>
        <p:nvSpPr>
          <p:cNvPr id="28" name="Text 25"/>
          <p:cNvSpPr txBox="1"/>
          <p:nvPr/>
        </p:nvSpPr>
        <p:spPr>
          <a:xfrm>
            <a:off x="548640" y="300471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تَحَدَّثْنَا عَنِ الرِّحْلَةِ.</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ṭāwila: feminine</a:t>
            </a:r>
            <a:endParaRPr lang="en-US" sz="1100" dirty="0"/>
          </a:p>
        </p:txBody>
      </p:sp>
      <p:sp>
        <p:nvSpPr>
          <p:cNvPr id="33" name="Text 30"/>
          <p:cNvSpPr txBox="1"/>
          <p:nvPr/>
        </p:nvSpPr>
        <p:spPr>
          <a:xfrm>
            <a:off x="4754880" y="3741725"/>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هُوَ عَلَيْهَا.</a:t>
            </a:r>
            <a:endParaRPr lang="ar-SA" sz="2200" dirty="0"/>
          </a:p>
        </p:txBody>
      </p:sp>
      <p:sp>
        <p:nvSpPr>
          <p:cNvPr id="34" name="Text 31"/>
          <p:cNvSpPr txBox="1"/>
          <p:nvPr/>
        </p:nvSpPr>
        <p:spPr>
          <a:xfrm>
            <a:off x="548640" y="3741725"/>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الْكِتَابُ عَلَى الطَّاوِلَةِ.</a:t>
            </a:r>
            <a:endParaRPr lang="ar-SA" sz="22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plural: -hum</a:t>
            </a:r>
            <a:endParaRPr lang="en-US" sz="1100" dirty="0"/>
          </a:p>
        </p:txBody>
      </p:sp>
      <p:sp>
        <p:nvSpPr>
          <p:cNvPr id="37" name="Text 34"/>
          <p:cNvSpPr txBox="1"/>
          <p:nvPr/>
        </p:nvSpPr>
        <p:spPr>
          <a:xfrm>
            <a:off x="4754880" y="4478731"/>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قَضَيْتُ الْيَوْمَ مَعَهُمْ.</a:t>
            </a:r>
            <a:endParaRPr lang="ar-SA" sz="2200" dirty="0"/>
          </a:p>
        </p:txBody>
      </p:sp>
      <p:sp>
        <p:nvSpPr>
          <p:cNvPr id="38" name="Text 35"/>
          <p:cNvSpPr txBox="1"/>
          <p:nvPr/>
        </p:nvSpPr>
        <p:spPr>
          <a:xfrm>
            <a:off x="548640" y="4478731"/>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ذَهَبْتُ مَعَ أَصْدِقَائِي.</a:t>
            </a:r>
            <a:endParaRPr lang="ar-SA" sz="22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 -hā</a:t>
            </a:r>
            <a:endParaRPr lang="en-US" sz="1100" dirty="0"/>
          </a:p>
        </p:txBody>
      </p:sp>
      <p:sp>
        <p:nvSpPr>
          <p:cNvPr id="41" name="Text 38"/>
          <p:cNvSpPr txBox="1"/>
          <p:nvPr/>
        </p:nvSpPr>
        <p:spPr>
          <a:xfrm>
            <a:off x="4754880" y="5215738"/>
            <a:ext cx="34747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بَحَثْتُ عَنْهَا.</a:t>
            </a:r>
            <a:endParaRPr lang="ar-SA" sz="2200" dirty="0"/>
          </a:p>
        </p:txBody>
      </p:sp>
      <p:sp>
        <p:nvSpPr>
          <p:cNvPr id="42" name="Text 39"/>
          <p:cNvSpPr txBox="1"/>
          <p:nvPr/>
        </p:nvSpPr>
        <p:spPr>
          <a:xfrm>
            <a:off x="548640" y="521573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بَحَثْتُ عَنِ الْكُتُبِ.</a:t>
            </a:r>
            <a:endParaRPr lang="ar-SA" sz="22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reference check: the pronoun agrees with the noun it replaces, not with the English word “it”. Keep the same preposition.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3 · VERB COLLOCATIONS AND DIRECT OBJECTS (WEBSITE TABLES)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Learn the verb with its partner — or with none</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الْمُتَلَازِمَاتُ وَالْمَفْعُولُ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7" name="Text 14"/>
          <p:cNvSpPr txBox="1"/>
          <p:nvPr/>
        </p:nvSpPr>
        <p:spPr>
          <a:xfrm>
            <a:off x="3456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preposition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أَبْحَثُ عَنْ عَمَلٍ.</a:t>
            </a:r>
            <a:endParaRPr lang="ar-SA" sz="2200" dirty="0"/>
          </a:p>
        </p:txBody>
      </p:sp>
      <p:sp>
        <p:nvSpPr>
          <p:cNvPr id="21" name="Text 18"/>
          <p:cNvSpPr txBox="1"/>
          <p:nvPr/>
        </p:nvSpPr>
        <p:spPr>
          <a:xfrm>
            <a:off x="3493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for</a:t>
            </a:r>
            <a:endParaRPr lang="en-US" sz="1100" dirty="0"/>
          </a:p>
        </p:txBody>
      </p:sp>
      <p:sp>
        <p:nvSpPr>
          <p:cNvPr id="22" name="Text 19"/>
          <p:cNvSpPr txBox="1"/>
          <p:nvPr/>
        </p:nvSpPr>
        <p:spPr>
          <a:xfrm>
            <a:off x="54864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بَحَثَ عَنْ</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أُفَكِّرُ فِي الْمُسْتَقْبَلِ.</a:t>
            </a:r>
            <a:endParaRPr lang="ar-SA" sz="2200" dirty="0"/>
          </a:p>
        </p:txBody>
      </p:sp>
      <p:sp>
        <p:nvSpPr>
          <p:cNvPr id="27" name="Text 24"/>
          <p:cNvSpPr txBox="1"/>
          <p:nvPr/>
        </p:nvSpPr>
        <p:spPr>
          <a:xfrm>
            <a:off x="3493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think about</a:t>
            </a:r>
            <a:endParaRPr lang="en-US" sz="1100" dirty="0"/>
          </a:p>
        </p:txBody>
      </p:sp>
      <p:sp>
        <p:nvSpPr>
          <p:cNvPr id="28" name="Text 25"/>
          <p:cNvSpPr txBox="1"/>
          <p:nvPr/>
        </p:nvSpPr>
        <p:spPr>
          <a:xfrm>
            <a:off x="54864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فَكَّرَ فِي</a:t>
            </a:r>
            <a:endParaRPr lang="ar-SA" sz="24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نَعْتَمِدُ عَلَى التِّقْنِيَّةِ.</a:t>
            </a:r>
            <a:endParaRPr lang="ar-SA" sz="2200" dirty="0"/>
          </a:p>
        </p:txBody>
      </p:sp>
      <p:sp>
        <p:nvSpPr>
          <p:cNvPr id="33" name="Text 30"/>
          <p:cNvSpPr txBox="1"/>
          <p:nvPr/>
        </p:nvSpPr>
        <p:spPr>
          <a:xfrm>
            <a:off x="3493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rely on</a:t>
            </a:r>
            <a:endParaRPr lang="en-US" sz="1100" dirty="0"/>
          </a:p>
        </p:txBody>
      </p:sp>
      <p:sp>
        <p:nvSpPr>
          <p:cNvPr id="34" name="Text 31"/>
          <p:cNvSpPr txBox="1"/>
          <p:nvPr/>
        </p:nvSpPr>
        <p:spPr>
          <a:xfrm>
            <a:off x="54864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اِعْتَمَدَ عَلَى</a:t>
            </a:r>
            <a:endParaRPr lang="ar-SA" sz="24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أَحْتَاجُ إِلَى وَقْتٍ.</a:t>
            </a:r>
            <a:endParaRPr lang="ar-SA" sz="2200" dirty="0"/>
          </a:p>
        </p:txBody>
      </p:sp>
      <p:sp>
        <p:nvSpPr>
          <p:cNvPr id="37" name="Text 34"/>
          <p:cNvSpPr txBox="1"/>
          <p:nvPr/>
        </p:nvSpPr>
        <p:spPr>
          <a:xfrm>
            <a:off x="3493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need</a:t>
            </a:r>
            <a:endParaRPr lang="en-US" sz="1100" dirty="0"/>
          </a:p>
        </p:txBody>
      </p:sp>
      <p:sp>
        <p:nvSpPr>
          <p:cNvPr id="38" name="Text 35"/>
          <p:cNvSpPr txBox="1"/>
          <p:nvPr/>
        </p:nvSpPr>
        <p:spPr>
          <a:xfrm>
            <a:off x="54864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اِحْتَاجَ إِلَى</a:t>
            </a:r>
            <a:endParaRPr lang="ar-SA" sz="24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تَحَدَّثْتُ مَعَ الْمُعَلِّمَةِ عَنِ الْبِيئَةِ.</a:t>
            </a:r>
            <a:endParaRPr lang="ar-SA" sz="2200" dirty="0"/>
          </a:p>
        </p:txBody>
      </p:sp>
      <p:sp>
        <p:nvSpPr>
          <p:cNvPr id="41" name="Text 38"/>
          <p:cNvSpPr txBox="1"/>
          <p:nvPr/>
        </p:nvSpPr>
        <p:spPr>
          <a:xfrm>
            <a:off x="3493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talk with … about</a:t>
            </a:r>
            <a:endParaRPr lang="en-US" sz="1100" dirty="0"/>
          </a:p>
        </p:txBody>
      </p:sp>
      <p:sp>
        <p:nvSpPr>
          <p:cNvPr id="42" name="Text 39"/>
          <p:cNvSpPr txBox="1"/>
          <p:nvPr/>
        </p:nvSpPr>
        <p:spPr>
          <a:xfrm>
            <a:off x="54864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تَحَدَّثَ مَعَ … عَنْ</a:t>
            </a:r>
            <a:endParaRPr lang="ar-SA" sz="24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زُرْتُ صَدِيقِي وَسَاعَدْتُ أُخْتِي.</a:t>
            </a:r>
            <a:endParaRPr lang="ar-SA" sz="2200" dirty="0"/>
          </a:p>
        </p:txBody>
      </p:sp>
      <p:sp>
        <p:nvSpPr>
          <p:cNvPr id="45" name="Text 42"/>
          <p:cNvSpPr txBox="1"/>
          <p:nvPr/>
        </p:nvSpPr>
        <p:spPr>
          <a:xfrm>
            <a:off x="3493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visit · help (no preposition!)</a:t>
            </a:r>
            <a:endParaRPr lang="en-US" sz="1100" dirty="0"/>
          </a:p>
        </p:txBody>
      </p:sp>
      <p:sp>
        <p:nvSpPr>
          <p:cNvPr id="46" name="Text 43"/>
          <p:cNvSpPr txBox="1"/>
          <p:nvPr/>
        </p:nvSpPr>
        <p:spPr>
          <a:xfrm>
            <a:off x="54864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زَارَ · سَاعَدَ</a:t>
            </a:r>
            <a:endParaRPr lang="ar-SA" sz="24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translation trap: English syntax does not decide Arabic syntax. Zāra, saʾala, sāʿada and intaẓara take a direct object — no ilā, no li-.</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“on it / on him”.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عَلَاهُ</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عَلَيْهِ</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“from them”.</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مِنْهُمْ</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هُمْ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عَنْهُمْ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al-madrasa in “dhahabtu ilā l-madrasa”.</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 إِلَيْهِ.</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 إِلَيْهَا.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 عَلَيْهَا.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“I think ___ my plans.”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“on it / on him”.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عَلَاهُ</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هِ</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عَلَيْهِ</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ʿAlā becomes ʿalay- before the pronoun.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“from them”.</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مِنْهُمْ</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هُمْ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عَنْهُمْ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min + hum = minhum.</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al-madrasa in “dhahabtu ilā l-madrasa”.</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ذَهَبْتُ إِلَيْهِ.</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ذَهَبْتُ إِلَيْهَا.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ذَهَبْتُ عَلَيْهَا.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Madrasa is feminine; keep ilā.</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“I think ___ my plans.”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pair is fakkara fī.</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avoid repeating nouns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الْمُسَابَقَةِ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 pair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شَارَكْتُ فِي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shāraka fī.</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Pronoun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فِيهَا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fī + hā.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Person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إِلَيْهِ</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istamaʿa ilā + hi.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 + PREPOSITION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PREPOSITION + PRONOUN</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cs typeface="Amiri" pitchFamily="2" charset="-78"/>
              </a:rPr>
              <a:t>قَرَأْتُ عَنِ</a:t>
            </a:r>
            <a:pPr rtl="1" algn="r" indent="0" marL="0">
              <a:buNone/>
            </a:pPr>
            <a:r>
              <a:rPr lang="ar-SA" altLang="en-US" sz="2600" b="1" dirty="0">
                <a:solidFill>
                  <a:srgbClr val="1B3B6F"/>
                </a:solidFill>
                <a:latin typeface="Amiri" pitchFamily="2" charset="-78"/>
                <a:cs typeface="Amiri" pitchFamily="2" charset="-78"/>
              </a:rPr>
              <a:t> الْمُسَابَقَةِ، ثُمَّ </a:t>
            </a:r>
            <a:pPr rtl="1" algn="r" indent="0" marL="0">
              <a:buNone/>
            </a:pPr>
            <a:r>
              <a:rPr lang="ar-SA" altLang="en-US" sz="2600" b="1" dirty="0">
                <a:solidFill>
                  <a:srgbClr val="0E7C86"/>
                </a:solidFill>
                <a:latin typeface="Amiri" pitchFamily="2" charset="-78"/>
                <a:cs typeface="Amiri" pitchFamily="2" charset="-78"/>
              </a:rPr>
              <a:t>شَارَكْتُ</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فِيهَا</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0E7C86"/>
                </a:solidFill>
                <a:latin typeface="Amiri" pitchFamily="2" charset="-78"/>
                <a:cs typeface="Amiri" pitchFamily="2" charset="-78"/>
              </a:rPr>
              <a:t>تَحَدَّثْتُ مَعَ</a:t>
            </a:r>
            <a:pPr rtl="1" algn="r" indent="0" marL="0">
              <a:buNone/>
            </a:pPr>
            <a:r>
              <a:rPr lang="ar-SA" altLang="en-US" sz="2600" b="1" dirty="0">
                <a:solidFill>
                  <a:srgbClr val="1B3B6F"/>
                </a:solidFill>
                <a:latin typeface="Amiri" pitchFamily="2" charset="-78"/>
                <a:cs typeface="Amiri" pitchFamily="2" charset="-78"/>
              </a:rPr>
              <a:t> مُعَلِّمِي عَنِ الْمُسْتَقْبَلِ، وَ</a:t>
            </a:r>
            <a:pPr rtl="1" algn="r" indent="0" marL="0">
              <a:buNone/>
            </a:pPr>
            <a:r>
              <a:rPr lang="ar-SA" altLang="en-US" sz="2600" b="1" dirty="0">
                <a:solidFill>
                  <a:srgbClr val="0E7C86"/>
                </a:solidFill>
                <a:latin typeface="Amiri" pitchFamily="2" charset="-78"/>
                <a:cs typeface="Amiri" pitchFamily="2" charset="-78"/>
              </a:rPr>
              <a:t>اسْتَمَعْتُ</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cs typeface="Amiri" pitchFamily="2" charset="-78"/>
              </a:rPr>
              <a:t>إِلَيْهِ</a:t>
            </a:r>
            <a:pPr rtl="1" algn="r" indent="0" marL="0">
              <a:buNone/>
            </a:pPr>
            <a:r>
              <a:rPr lang="ar-SA" altLang="en-US" sz="2600" b="1" dirty="0">
                <a:solidFill>
                  <a:srgbClr val="1B3B6F"/>
                </a:solidFill>
                <a:latin typeface="Amiri" pitchFamily="2" charset="-78"/>
                <a:cs typeface="Amiri" pitchFamily="2" charset="-78"/>
              </a:rPr>
              <a:t> بِعِنَايَةٍ.</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read about the competition, then I took part in it. I talked with my teacher about the future, and I listened to him carefully.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وَصَلْتُ إِلَى الْفُنْدُقِ.</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arrived at the hotel.</a:t>
            </a:r>
            <a:endParaRPr lang="en-US" sz="1250" dirty="0"/>
          </a:p>
          <a:p>
            <a:pPr indent="0" marL="0">
              <a:buNone/>
            </a:pPr>
            <a:r>
              <a:rPr lang="en-US" sz="1050" i="1" dirty="0">
                <a:solidFill>
                  <a:srgbClr val="8A6D1E"/>
                </a:solidFill>
                <a:latin typeface="Calibri" pitchFamily="34" charset="0"/>
                <a:cs typeface="Amiri" pitchFamily="2" charset="-78"/>
              </a:rPr>
              <a:t>waṣala ilā.</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عَادُوا مِنَ السَّفَرِ.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They came back from travelling.</a:t>
            </a:r>
            <a:endParaRPr lang="en-US" sz="1250" dirty="0"/>
          </a:p>
          <a:p>
            <a:pPr indent="0" marL="0">
              <a:buNone/>
            </a:pPr>
            <a:r>
              <a:rPr lang="en-US" sz="1050" i="1" dirty="0">
                <a:solidFill>
                  <a:srgbClr val="8A6D1E"/>
                </a:solidFill>
                <a:latin typeface="Calibri" pitchFamily="34" charset="0"/>
                <a:cs typeface="Amiri" pitchFamily="2" charset="-78"/>
              </a:rPr>
              <a:t>ʿāda min.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نَهْتَمُّ بِالصِّحَّةِ.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care about health.</a:t>
            </a:r>
            <a:endParaRPr lang="en-US" sz="1250" dirty="0"/>
          </a:p>
          <a:p>
            <a:pPr indent="0" marL="0">
              <a:buNone/>
            </a:pPr>
            <a:r>
              <a:rPr lang="en-US" sz="1050" i="1" dirty="0">
                <a:solidFill>
                  <a:srgbClr val="8A6D1E"/>
                </a:solidFill>
                <a:latin typeface="Calibri" pitchFamily="34" charset="0"/>
                <a:cs typeface="Amiri" pitchFamily="2" charset="-78"/>
              </a:rPr>
              <a:t>ihtamma bi-.</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اِنْتَظَرْتُ الْحَافِلَةَ.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waited for the bus.</a:t>
            </a:r>
            <a:endParaRPr lang="en-US" sz="1250" dirty="0"/>
          </a:p>
          <a:p>
            <a:pPr indent="0" marL="0">
              <a:buNone/>
            </a:pPr>
            <a:r>
              <a:rPr lang="en-US" sz="1050" i="1" dirty="0">
                <a:solidFill>
                  <a:srgbClr val="8A6D1E"/>
                </a:solidFill>
                <a:latin typeface="Calibri" pitchFamily="34" charset="0"/>
                <a:cs typeface="Amiri" pitchFamily="2" charset="-78"/>
              </a:rPr>
              <a:t>Direct object.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REPLACE THE NOUN (WEBSITE REFERENCE CHECK)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Keep the preposition, change the noun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ضَعِ الضَّمِيرَ مَكَانَ الِاسْمِ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5102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With pronoun</a:t>
            </a:r>
            <a:endParaRPr lang="en-US" sz="1100" dirty="0"/>
          </a:p>
        </p:txBody>
      </p:sp>
      <p:sp>
        <p:nvSpPr>
          <p:cNvPr id="18" name="Text 15"/>
          <p:cNvSpPr txBox="1"/>
          <p:nvPr/>
        </p:nvSpPr>
        <p:spPr>
          <a:xfrm>
            <a:off x="5303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61364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a:t>
            </a:r>
            <a:endParaRPr lang="en-US" sz="1100" dirty="0"/>
          </a:p>
        </p:txBody>
      </p:sp>
      <p:sp>
        <p:nvSpPr>
          <p:cNvPr id="21" name="Text 18"/>
          <p:cNvSpPr txBox="1"/>
          <p:nvPr/>
        </p:nvSpPr>
        <p:spPr>
          <a:xfrm>
            <a:off x="5120640" y="2267712"/>
            <a:ext cx="32918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ذَهَبْتُ إِلَيْهَا.</a:t>
            </a:r>
            <a:endParaRPr lang="ar-SA" sz="2400" dirty="0"/>
          </a:p>
        </p:txBody>
      </p:sp>
      <p:sp>
        <p:nvSpPr>
          <p:cNvPr id="22" name="Text 19"/>
          <p:cNvSpPr txBox="1"/>
          <p:nvPr/>
        </p:nvSpPr>
        <p:spPr>
          <a:xfrm>
            <a:off x="548640" y="226771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ذَهَبْتُ إِلَى الْحَدِيقَةِ.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61364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a:t>
            </a:r>
            <a:endParaRPr lang="en-US" sz="1100" dirty="0"/>
          </a:p>
        </p:txBody>
      </p:sp>
      <p:sp>
        <p:nvSpPr>
          <p:cNvPr id="27" name="Text 24"/>
          <p:cNvSpPr txBox="1"/>
          <p:nvPr/>
        </p:nvSpPr>
        <p:spPr>
          <a:xfrm>
            <a:off x="5120640" y="2881884"/>
            <a:ext cx="32918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بَحَثْتُ عَنْهُ.</a:t>
            </a:r>
            <a:endParaRPr lang="ar-SA" sz="2400" dirty="0"/>
          </a:p>
        </p:txBody>
      </p:sp>
      <p:sp>
        <p:nvSpPr>
          <p:cNvPr id="28" name="Text 25"/>
          <p:cNvSpPr txBox="1"/>
          <p:nvPr/>
        </p:nvSpPr>
        <p:spPr>
          <a:xfrm>
            <a:off x="548640" y="2881884"/>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بَحَثْتُ عَنِ الْكِتَابِ.</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61364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female group: -hunna</a:t>
            </a:r>
            <a:endParaRPr lang="en-US" sz="1100" dirty="0"/>
          </a:p>
        </p:txBody>
      </p:sp>
      <p:sp>
        <p:nvSpPr>
          <p:cNvPr id="33" name="Text 30"/>
          <p:cNvSpPr txBox="1"/>
          <p:nvPr/>
        </p:nvSpPr>
        <p:spPr>
          <a:xfrm>
            <a:off x="5120640" y="3496056"/>
            <a:ext cx="32918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ذَهَبْتُ مَعَهُنَّ.</a:t>
            </a:r>
            <a:endParaRPr lang="ar-SA" sz="2400" dirty="0"/>
          </a:p>
        </p:txBody>
      </p:sp>
      <p:sp>
        <p:nvSpPr>
          <p:cNvPr id="34" name="Text 31"/>
          <p:cNvSpPr txBox="1"/>
          <p:nvPr/>
        </p:nvSpPr>
        <p:spPr>
          <a:xfrm>
            <a:off x="548640" y="3496056"/>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ذَهَبْتُ مَعَ الصَّدِيقَاتِ.</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61364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a:t>
            </a:r>
            <a:endParaRPr lang="en-US" sz="1100" dirty="0"/>
          </a:p>
        </p:txBody>
      </p:sp>
      <p:sp>
        <p:nvSpPr>
          <p:cNvPr id="39" name="Text 36"/>
          <p:cNvSpPr txBox="1"/>
          <p:nvPr/>
        </p:nvSpPr>
        <p:spPr>
          <a:xfrm>
            <a:off x="5120640" y="4110228"/>
            <a:ext cx="32918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اِهْتَمَمْتُ بِهَا.</a:t>
            </a:r>
            <a:endParaRPr lang="ar-SA" sz="2400" dirty="0"/>
          </a:p>
        </p:txBody>
      </p:sp>
      <p:sp>
        <p:nvSpPr>
          <p:cNvPr id="40" name="Text 37"/>
          <p:cNvSpPr txBox="1"/>
          <p:nvPr/>
        </p:nvSpPr>
        <p:spPr>
          <a:xfrm>
            <a:off x="548640" y="4110228"/>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اِهْتَمَمْتُ بِالْمَعْلُومَاتِ.</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61364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ʿalay- + hā</a:t>
            </a:r>
            <a:endParaRPr lang="en-US" sz="1100" dirty="0"/>
          </a:p>
        </p:txBody>
      </p:sp>
      <p:sp>
        <p:nvSpPr>
          <p:cNvPr id="43" name="Text 40"/>
          <p:cNvSpPr txBox="1"/>
          <p:nvPr/>
        </p:nvSpPr>
        <p:spPr>
          <a:xfrm>
            <a:off x="5120640" y="4724400"/>
            <a:ext cx="32918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اِعْتَمَدْنَا عَلَيْهَا.</a:t>
            </a:r>
            <a:endParaRPr lang="ar-SA" sz="2400" dirty="0"/>
          </a:p>
        </p:txBody>
      </p:sp>
      <p:sp>
        <p:nvSpPr>
          <p:cNvPr id="44" name="Text 41"/>
          <p:cNvSpPr txBox="1"/>
          <p:nvPr/>
        </p:nvSpPr>
        <p:spPr>
          <a:xfrm>
            <a:off x="548640" y="4724400"/>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اِعْتَمَدْنَا عَلَى الْخُطَّةِ.</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61364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plural</a:t>
            </a:r>
            <a:endParaRPr lang="en-US" sz="1100" dirty="0"/>
          </a:p>
        </p:txBody>
      </p:sp>
      <p:sp>
        <p:nvSpPr>
          <p:cNvPr id="47" name="Text 44"/>
          <p:cNvSpPr txBox="1"/>
          <p:nvPr/>
        </p:nvSpPr>
        <p:spPr>
          <a:xfrm>
            <a:off x="5120640" y="5338572"/>
            <a:ext cx="32918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تَحَدَّثْتُ عَنْهُمْ.</a:t>
            </a:r>
            <a:endParaRPr lang="ar-SA" sz="2400" dirty="0"/>
          </a:p>
        </p:txBody>
      </p:sp>
      <p:sp>
        <p:nvSpPr>
          <p:cNvPr id="48" name="Text 45"/>
          <p:cNvSpPr txBox="1"/>
          <p:nvPr/>
        </p:nvSpPr>
        <p:spPr>
          <a:xfrm>
            <a:off x="548640" y="533857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تَحَدَّثْتُ عَنِ الْأَوْلَادِ.</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first identify the preposition; then attach a pronoun matching the known noun.</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WEBSITE TRANSLATION TRAP · PREPOSITION OR DIRECT OBJECT?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Does the verb need a preposition?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بِحَرْفِ جَرٍّ أَمْ بِدُونِهِ؟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بَحَثَ عَنْ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اِسْتَمَعَ إِلَى</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اِعْتَمَدَ عَلَى</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شَارَكَ فِي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زَارَ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سَاعَدَ</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اِنْتَظَرَ</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Needs a preposition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Direct object (no preposition)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Needs a preposition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بَحَثَ عَنْ</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اِسْتَمَعَ إِلَى</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اِعْتَمَدَ عَلَى</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شَارَكَ فِي</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Direct object (no preposition)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زَارَ</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سَاعَدَ</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اِنْتَظَرَ</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ذَهَبْتُ إِلَى 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word or two?</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أَبْحَثُ إِلَى عَمَلٍ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partner for baḥatha?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زُرْتُ إِلَى الْمَتْحَفِ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zāra need ilā?</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ذَهَبْتُ إِلَى 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ذَهَبْتُ إِلَيْهَا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Attach the pronoun and change the stem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أَبْحَثُ إِلَى عَمَلٍ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أَبْحَثُ عَنْ عَمَلٍ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pair is baḥatha ʿan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زُرْتُ إِلَى الْمَتْحَفِ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زُرْتُ الْمَتْحَفَ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Zāra takes a direct object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GUIDED PRACTICE · WEBSITE PRONOUN FORM, REFERENCE, COLLOCATION AND FINAL MASTERY CHECKS</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her”.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لِهَا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بِهَا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لَهَا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aṣ-ṣadīqāt in “dhahabtu maʿa ṣ-ṣadīqāt”.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 مَعَهُمْ.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 مَعَهُنَّ.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ذَهَبْتُ بِهَا.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“We rely ___ solar energy.”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“I talked ___ my friend ___ the problem.”</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 … مَعَ</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 مِنْ</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 عَنِ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“for her”.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لِهَا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بِهَا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لَهَا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established form is lahā.</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aṣ-ṣadīqāt in “dhahabtu maʿa ṣ-ṣadīqāt”.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ذَهَبْتُ مَعَهُمْ.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ذَهَبْتُ مَعَهُنَّ.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ذَهَبْتُ بِهَا.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female human plural takes -hunna.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“We rely ___ solar energy.”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pair is iʿtamada ʿalā.</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“I talked ___ my friend ___ the problem.”</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 … مَعَ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 مِنْ</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 … عَنِ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Person: maʿa; topic: ʿan.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SKILLS WORKSHOP (TEACHER-WRITTEN ACCOUNT)</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robotics club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مَدْرَسَتِنَا نَادٍ لِلرُّوبُوتَاتِ. سَمِعْتُ عَنْهُ مِنْ صَدِيقِي، فَشَارَكْتُ فِيهِ. نَحْتَاجُ إِلَى أَدَوَاتٍ كَثِيرَةٍ، وَنَعْتَمِدُ عَلَيْهَا فِي كُلِّ مَشْرُوعٍ. الْمُدَرِّبَةُ ذَكِيَّةٌ، وَنَسْتَمِعُ إِلَيْهَا بِاهْتِمَامٍ. أَمْسِ زُرْنَا مَعْرِضًا لِلتِّقْنِيَّةِ، وَتَحَدَّثْنَا مَعَ مُهَنْدِسِينَ عَنْ عَمَلِهِمْ. سَأَلْتُهُمْ أَسْئِلَةً كَثِيرَةً، وَأَجَابُوا عَنْهَا بِصَبْرٍ.</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الرُّوبُوتَاتِ</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robots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أَدَوَاتٍ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tools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الْمُدَرِّبَةُ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coach (f.)</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مَعْرِضًا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exhibition</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أَجَابُوا عَنْ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answered</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ʿalayhā refer to?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coach</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tools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club</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 they listen to carefully?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engineers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friend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coach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takes a direct object here?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نَحْتَاجُ</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تَحَدَّثْنَا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engineers do?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visited the club</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answered the questions patiently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sold tools</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ʿalayhā refer to?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coach</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tools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club</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Adawāt: non-human plural → -hā.</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do they listen to carefully?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engineers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friend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coach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Nastamiʿu ilayhā.</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takes a direct object here?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زُرْنَا</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نَحْتَاجُ</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تَحَدَّثْنَا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Zurnā maʿriḍan.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engineers do?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visited the club</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answered the questions patiently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sold tools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Ajābū ʿanhā bi-ṣabr.</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talk about it — don’t repeat it</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تَذْهَبُ إِلَى الْمَكْتَبَةِ؟ مَتَى تَذْهَبُ إِلَيْهَا؟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بِمَاذَا تَهْتَمُّ؟ وَعَلَى مَنْ تَعْتَمِدُ؟</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تَحَدَّثْ عَنْ نَادٍ أَوْ مَشْرُوعٍ شَارَكْتَ فِيهِ.</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نَعَمْ، أَذْهَبُ إِلَيْهَا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أَهْتَمُّ ___ ، وَأَعْتَمِدُ عَلَى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شَارَكْتُ فِي ___ ، وَتَحَدَّثْنَا عَنْ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تَتَحَدَّثِينَ مَعَ جَدَّتِكِ كَثِيرًا؟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talk with your grandmother a lot?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نَعَمْ، أَتَحَدَّثُ مَعَهَا كُلَّ يَوْمٍ، وَأَسْتَمِعُ إِلَيْهَا عِنْدَمَا تَحْكِي عَنْ طُفُولَتِهَا. أَزُورُهَا يَوْمَ الْجُمُعَةِ.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Yes, I talk with her every day, and I listen to her when she tells me about her childhood. I visit her on Fridays.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club: what it is, who is in it, what we do in it.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fīhi · maʿahum · lahu.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five verb + preposition pairs.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baḥatha ʿan · iʿtamada ʿalā · fakkara fī.</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account with four pronoun forms and a direct-object verb.</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zurtu · sāʿadtu (no preposition).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أَبْحَثُ عَنْ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looking for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نَعْتَمِدُ عَلَى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rely on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أَحْتَاجُ إِلَى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need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زُرْتُ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 (no preposition)</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ذَهَبْتُ إِلَيْهَا يَوْمَ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went to it (f.) on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قَضَيْتُ ______ مَعَهُمْ.</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spent … with them</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قَرَأْتُ عَنْهُ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about it (m.)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______ لَهَا.</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 is for her</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فِيهِ  ·  فِيهَا  ·  إِلَيْهِ  ·  إِلَيْهَا  ·  عَلَيْهِمْ  ·  مِنْهُ  ·  عَنْهَا  ·  مَعَهُمْ  ·  لَهُ  ·  بِهَا  ·  بَحَثَ عَنْ  ·  اِعْتَمَدَ عَلَى  ·  زَارَ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connected account (80–100 words): a project, club, journey or event without repeating nouns.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verb–preposition pairs.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preposition + pronoun forms (one word).</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Pronouns that agree with the Arabic noun.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direct-object verb without a preposition.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ilay- / ʿalay- stems correct.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سَمِعْتُ عَنْهُ</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heard about it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شَارَكْتُ فِيهِ</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took part in it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تَحَدَّثْتُ مَعَهُ عَنْ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talked with him about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أَحْتَاجُ إِلَيْهِ</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need it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أَعْتَمِدُ عَلَيْهَا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rely on her / it</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زُرْتُهُ</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visited him / it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الصَّيْفِ الْمَاضِي سَمِعْتُ عَنْ مُخَيَّمٍ لِلْعُلُومِ، فَشَارَكْتُ فِيهِ مَعَ ابْنِ عَمِّي. وَصَلْنَا إِلَيْهِ بِالْقِطَارِ، وَكَانَ الْمُشْرِفُونَ لُطَفَاءَ؛ تَحَدَّثْنَا مَعَهُمْ عَنْ مَشَارِيعِنَا، وَاسْتَمَعْنَا إِلَيْهِمْ بِاهْتِمَامٍ. كُنَّا نَحْتَاجُ إِلَى أَدَوَاتٍ خَاصَّةٍ، فَبَحَثْنَا عَنْهَا فِي الْمُخْتَبَرِ. فِي الْيَوْمِ الْأَخِيرِ زُرْنَا مَتْحَفًا قَرِيبًا، وَسَأَلْتُ الْمُرْشِدَ أَسْئِلَةً كَثِيرَةً. أُفَكِّرُ فِي الْمُخَيَّمِ دَائِمًا، وَسَأَرْجِعُ إِلَيْهِ إِنْ شَاءَ اللَّهُ.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I heard about a science camp, so I took part in it with my cousin. We got there by train, and the supervisors were kind; we talked with them about our projects and listened to them carefully. We needed special tools, so we looked for them in the lab. On the last day we visited a nearby museum, and I asked the guide many questions. I think about the camp all the time, and I will go back to it, in shāʾ Allāh.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verb + preposition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preposition + pronoun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direct object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non-human plural -hā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preposition + pronoun forms are one word.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pronouns match the Arabic noun (masc. / fem.).</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ilayhā / ʿalayhi with the stem change.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five verb + preposition pairs.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zāra / sāʿada without a preposition.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“to them”.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إِلَيْهِمْ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هُمْ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عَلَيْهِمْ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direct-object sentence?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سَاعَدْتُ لِأَخِي.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سَاعَدْتُ أَخِي.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سَاعَدْتُ إِلَى أَخِي.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al-kutub in “baḥathtu ʿani l-kutub”.</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بَحَثْتُ عَنْهَا.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بَحَثْتُ عَنْهُمْ.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بَحَثْتُ إِلَيْهَا.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“to them”.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إِلَيْهِمْ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 هُمْ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عَلَيْهِمْ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ilā + hum = ilayhim.</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correct direct-object sentence?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سَاعَدْتُ لِأَخِي.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سَاعَدْتُ أَخِي.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سَاعَدْتُ إِلَى أَخِي.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Sāʿada takes a direct object.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Replace al-kutub in “baḥathtu ʿani l-kutub”.</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بَحَثْتُ عَنْهَا.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بَحَثْتُ عَنْهُمْ.</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بَحَثْتُ إِلَيْهَا.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 ʿanhā.</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GM-CP-03 · Conjunctions and Prepositions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GM-CP-04: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Conjunctions and Prepositions · GM-CP-03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GM-CP-04 · Core Conjunctions and Logical Links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ثُمَّ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then (after a gap)</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فَـ</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 / then (straight after)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أَوْ</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لَكِنَّ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but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Wa, fa- and thumma all join actions. Which one do you think shows a time gap?</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اِسْتَيْقَظْتُ ______ صَلَّيْتُ.</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-hu / -hā / -hum forms for six prepositions.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each with a different verb + preposition pair.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account (80–100 words) with four pronoun forms.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GM-CP-03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GM-CP-04 · Core Conjunctions and Logical Links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حُرُوفُ الْعَطْفِ وَالرَّبْطِ</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preposition + pronoun = one word (fīhi, ilayhā, ʿalayhim) · the pronoun agrees with the Arabic noun · learn verb + partner (baḥatha ʿan) · zāra, sāʿada, saʾala, intaẓara take no preposition.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GM-CP-03 · Prepositions with Pronouns and Verb Collocations</dc:title>
  <dc:subject>PptxGenJS Presentation</dc:subject>
  <dc:creator>Al Madina Online School · Arabic Department</dc:creator>
  <cp:lastModifiedBy>Al Madina Online School · Arabic Department</cp:lastModifiedBy>
  <cp:revision>1</cp:revision>
  <dcterms:created xsi:type="dcterms:W3CDTF">2026-10-11T06:42:12Z</dcterms:created>
  <dcterms:modified xsi:type="dcterms:W3CDTF">2026-10-11T06:42:12Z</dcterms:modified>
</cp:coreProperties>
</file>