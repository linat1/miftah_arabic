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GM-CP-05 (“Clause Linkers and Paragraph Cohesion”).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أَعْتَقِدُ أَنَّ + opinion, and time clauses بَعْدَمَا + past, قَبْلَ أَنْ + subjunctive, مُنْذُ أَنْ. Develop: أَمَّا … فَـ (topic shift), حَيْثُ (where), إِلَّا (except), بَيْنَمَا (whereas). Stretch: plan a 130–140-word paragraph with five paragraph jobs (view, reason, contrast, development, result).
• Website (Cambridge Paper 4): there are no automatic marks for “advanced” linkers. One accurate complex sentence beats several memorised linkers placed unnaturally.
• Website translation correction: ḥaythu = where (in the place where) — use baynamā for “whereas”.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GM-CP-04 prep words ʿindamā, qabla an, baʿda an, baynamā.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link has a job: view (anna), topic (ammā … fa-), contrast (baynamā), exception (illā), time (baʿdamā, qabla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“Content clauses with anna”. Qāla takes inna (not anna) — a Stretch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“Specific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“Time clauses”. Compare GM-CP-02: qabla d-dars (noun) vs qabla an adrusa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Content Clause and Specific Link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“Build a cohesive paragraph”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Content Clause, Specific Link and Time Clause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paragraph). Read it aloud once while students follow; then they hunt for today’s grammar.
Task: Website: label each connector by function, then reconstruct the paragraph plan (view, contrast, topic, time, result).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extend spoken answers with precise links — view, topic shift, contrast,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Arabic words on one topic: online learning, transport, holidays, technology or the environment. Organise the response into a clear sequence of ideas rather than a list of sentences.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(GM-NUM-01 · Numbers) will spend class time USING this language, so students prepare it tonight — short, simple, easy to access (school guidance: “Simple, Short, Interesting, Relevant, Easy to access”). The five words prepare GM-NUM-01 (website Numeracy Mastery 01: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CONJUNCTIONS AND PREPOSITIONS  ·  GM-CP-05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GM-CP-05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Clause Linkers and Paragraph Cohesion</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رَوَابِطُ الْجُمَلِ وَتَمَاسُكُ الْفِقْرَةِ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Build a paragraph, not a list: aʿtaqidu anna (I think that), ammā … fa- (as for … ), baynamā (whereas), illā (except), baʿdamā / qabla an (after / before). Each link must do a real job.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GM-CP-05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anna clauses; ammā … fa-, ḥaythu, illā, baynamā; time clauses; paragraph jobs.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the clause linker; sort paragraph jobs;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أَعْتَقِدُ ___ التَّعَلُّمَ مُهِمٌّ.</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topic-shift frame.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السَّفَرُ بِالْقِطَارِ فَهُوَ مُرِيحٌ.</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السَّفَرُ بِالْقِطَارِ فَهُوَ.</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السَّفَرُ فَهُوَ.</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formal “before I leave”.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قَبْلَ مَا أَخْرُجُ</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بَعْدَ أَنْ أَخْرُجَ</a:t>
            </a:r>
            <a:endParaRPr lang="ar-SA" sz="220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قَبْلَ أَنْ أَخْرُجَ</a:t>
            </a:r>
            <a:endParaRPr lang="ar-SA" sz="220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“since I began studying”.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إِلَّا أَنْ بَدَأْتُ</a:t>
            </a:r>
            <a:endParaRPr lang="ar-SA" sz="220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حَيْثُ بَدَأْتُ</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مُنْذُ أَنْ بَدَأْتُ الدِّرَاسَةَ</a:t>
            </a:r>
            <a:endParaRPr lang="ar-SA" sz="220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less common connectors earn automatic marks?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range and accuracy are judged in the whole response.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each rare connector guarantees one mark.</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if written in English too.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أَعْتَقِدُ ___ التَّعَلُّمَ مُهِمٌّ.</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Anna introduces the content of the belief.</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topic-shift frame.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السَّفَرُ بِالْقِطَارِ فَهُوَ مُرِيحٌ.</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السَّفَرُ بِالْقِطَارِ فَهُوَ.</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السَّفَرُ فَهُوَ.</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Ammā introduces a topic and fa- the comment.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formal “before I leave”.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قَبْلَ مَا أَخْرُجُ</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بَعْدَ أَنْ أَخْرُجَ</a:t>
            </a:r>
            <a:endParaRPr lang="ar-SA" sz="22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قَبْلَ أَنْ أَخْرُجَ</a:t>
            </a:r>
            <a:endParaRPr lang="ar-SA" sz="22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Mundhu an introduces a starting action.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“since I began studying”.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إِلَّا أَنْ بَدَأْتُ</a:t>
            </a:r>
            <a:endParaRPr lang="ar-SA" sz="2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حَيْثُ بَدَأْتُ</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مُنْذُ أَنْ بَدَأْتُ الدِّرَاسَةَ</a:t>
            </a:r>
            <a:endParaRPr lang="ar-SA" sz="22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and accuracy are judged across the whole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 less common connectors earn automatic marks?</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range and accuracy are judged in the whole response.</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Yes; each rare connector guarantees one mark.</a:t>
            </a:r>
            <a:endParaRPr lang="en-US" sz="11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if written in English too.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Assessment rewards well-linked sentences and controlled range, not a connector checklist.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Every link has a job: view (anna), topic (ammā … fa-), contrast (baynamā), exception (illā), time (baʿdamā, qabla an).</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أَعْتَقِدُ </a:t>
            </a:r>
            <a:pPr rtl="1" algn="ctr" indent="0" marL="0">
              <a:buNone/>
            </a:pPr>
            <a:r>
              <a:rPr lang="ar-SA" altLang="en-US" sz="2400" b="1" dirty="0">
                <a:solidFill>
                  <a:srgbClr val="0E7C86"/>
                </a:solidFill>
                <a:latin typeface="Amiri" pitchFamily="34" charset="0"/>
                <a:ea typeface="Amiri" pitchFamily="34" charset="-122"/>
                <a:cs typeface="Amiri" pitchFamily="34" charset="-120"/>
              </a:rPr>
              <a:t>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 </a:t>
            </a:r>
            <a:pPr rtl="1" algn="ctr" indent="0" marL="0">
              <a:buNone/>
            </a:pPr>
            <a:r>
              <a:rPr lang="ar-SA" altLang="en-US" sz="2400" b="1" dirty="0">
                <a:solidFill>
                  <a:srgbClr val="D6336C"/>
                </a:solidFill>
                <a:latin typeface="Amiri" pitchFamily="34" charset="0"/>
                <a:ea typeface="Amiri" pitchFamily="34" charset="-122"/>
                <a:cs typeface="Amiri" pitchFamily="34" charset="-120"/>
              </a:rPr>
              <a:t>أَمَّا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فَـ</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an opinion with aʿtaqidu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Shift topic with ammā …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ḥaythu, illā and baynamā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actions in time with baʿdamā, qabla an and mundhu 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my opinion with aʿtaqidu anna.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after I … and before I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ammā … fa- with both halves.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baynamā for “whereas”.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plan five paragraph jobs before writing.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130–140 linked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التَّمَاسُكُ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cohesion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at-ta-mā-su-ku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رَوَابِطُ الْفِقْرَةِ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that (+ noun /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أَعْتَقِدُ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 (then)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أَمَّا الْقِطَارُ فَهُوَ</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بَيْنَمَا يُفَضِّلُ أَخِي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except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كُلَّ الْمَوَادِّ إِلَّا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حَيْثُ</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 (place)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ḥay-thu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حَيْثُ تُوجَدُ الْخِدْمَاتُ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CONTENT CLAUSES WITH ANNA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think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أَعْتَقِدُ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think that …</a:t>
            </a:r>
            <a:endParaRPr lang="en-US" sz="1100" dirty="0"/>
          </a:p>
        </p:txBody>
      </p:sp>
      <p:sp>
        <p:nvSpPr>
          <p:cNvPr id="21" name="Text 18"/>
          <p:cNvSpPr txBox="1"/>
          <p:nvPr/>
        </p:nvSpPr>
        <p:spPr>
          <a:xfrm>
            <a:off x="3291840" y="2267712"/>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 التَّعَلُّمَ عَنْ بُعْدٍ مُفِيدٌ.</a:t>
            </a:r>
            <a:endParaRPr lang="ar-SA" sz="22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أَنَّ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suppose that …</a:t>
            </a:r>
            <a:endParaRPr lang="en-US" sz="1100" dirty="0"/>
          </a:p>
        </p:txBody>
      </p:sp>
      <p:sp>
        <p:nvSpPr>
          <p:cNvPr id="27" name="Text 24"/>
          <p:cNvSpPr txBox="1"/>
          <p:nvPr/>
        </p:nvSpPr>
        <p:spPr>
          <a:xfrm>
            <a:off x="3291840" y="300471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أَظُنُّ أَنَّ الطَّقْسَ سَيَتَحَسَّنُ.</a:t>
            </a:r>
            <a:endParaRPr lang="ar-SA" sz="22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أَظُنُّ أَنَّ</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know that …</a:t>
            </a:r>
            <a:endParaRPr lang="en-US" sz="1100" dirty="0"/>
          </a:p>
        </p:txBody>
      </p:sp>
      <p:sp>
        <p:nvSpPr>
          <p:cNvPr id="33" name="Text 30"/>
          <p:cNvSpPr txBox="1"/>
          <p:nvPr/>
        </p:nvSpPr>
        <p:spPr>
          <a:xfrm>
            <a:off x="3291840" y="3741725"/>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أَعْرِفُ أَنَّ الِامْتِحَانَ صَعْبٌ.</a:t>
            </a:r>
            <a:endParaRPr lang="ar-SA" sz="22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أَعْرِفُ أَنَّ</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stated that …</a:t>
            </a:r>
            <a:endParaRPr lang="en-US" sz="1100" dirty="0"/>
          </a:p>
        </p:txBody>
      </p:sp>
      <p:sp>
        <p:nvSpPr>
          <p:cNvPr id="37" name="Text 34"/>
          <p:cNvSpPr txBox="1"/>
          <p:nvPr/>
        </p:nvSpPr>
        <p:spPr>
          <a:xfrm>
            <a:off x="3291840" y="4478731"/>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ذَكَرَ الْكَاتِبُ أَنَّ التِّقْنِيَّةَ مُهِمَّةٌ.</a:t>
            </a:r>
            <a:endParaRPr lang="ar-SA" sz="22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ذَكَرَ أَنَّ</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clear that …</a:t>
            </a:r>
            <a:endParaRPr lang="en-US" sz="1100" dirty="0"/>
          </a:p>
        </p:txBody>
      </p:sp>
      <p:sp>
        <p:nvSpPr>
          <p:cNvPr id="41" name="Text 38"/>
          <p:cNvSpPr txBox="1"/>
          <p:nvPr/>
        </p:nvSpPr>
        <p:spPr>
          <a:xfrm>
            <a:off x="3291840" y="521573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الْوَاضِحِ أَنَّ الْخِدْمَةَ تَحَسَّنَتْ.</a:t>
            </a:r>
            <a:endParaRPr lang="ar-SA" sz="22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الْوَاضِحِ أَنَّ</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in fully marked models the subject after anna is accusative — anna ṭ-ṭaqsa, anna d-dirāsata. With a pronoun: annahu, annanī. Full inna-family analysis comes in GM-NVS.</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SPECIFIC LINKS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link has its own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 حَيْثُ · إِلَّا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943600" y="2267712"/>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أَمَّا الْقِطَارُ فَهُوَ أَسْرَعُ.</a:t>
            </a:r>
            <a:endParaRPr lang="ar-SA" sz="2200" dirty="0"/>
          </a:p>
        </p:txBody>
      </p:sp>
      <p:sp>
        <p:nvSpPr>
          <p:cNvPr id="21" name="Text 18"/>
          <p:cNvSpPr txBox="1"/>
          <p:nvPr/>
        </p:nvSpPr>
        <p:spPr>
          <a:xfrm>
            <a:off x="2944368"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a topic, then comment</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 فَـ</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943600" y="3054096"/>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السَّكَنَ حَيْثُ تُوجَدُ الْخِدْمَاتُ.</a:t>
            </a:r>
            <a:endParaRPr lang="ar-SA" sz="2200" dirty="0"/>
          </a:p>
        </p:txBody>
      </p:sp>
      <p:sp>
        <p:nvSpPr>
          <p:cNvPr id="27" name="Text 24"/>
          <p:cNvSpPr txBox="1"/>
          <p:nvPr/>
        </p:nvSpPr>
        <p:spPr>
          <a:xfrm>
            <a:off x="2944368"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 in the place where</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حَيْثُ</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5943600" y="3840480"/>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كُلَّ الْمَوَادِّ إِلَّا الرِّيَاضِيَّاتِ.</a:t>
            </a:r>
            <a:endParaRPr lang="ar-SA" sz="2200" dirty="0"/>
          </a:p>
        </p:txBody>
      </p:sp>
      <p:sp>
        <p:nvSpPr>
          <p:cNvPr id="31" name="Text 28"/>
          <p:cNvSpPr txBox="1"/>
          <p:nvPr/>
        </p:nvSpPr>
        <p:spPr>
          <a:xfrm>
            <a:off x="2944368"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except</a:t>
            </a:r>
            <a:endParaRPr lang="en-US" sz="1100" dirty="0"/>
          </a:p>
        </p:txBody>
      </p:sp>
      <p:sp>
        <p:nvSpPr>
          <p:cNvPr id="32" name="Text 29"/>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إِلَّا</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943600" y="4626864"/>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الْمَدِينَةَ، بَيْنَمَا يُفَضِّلُ أَخِي الرِّيفَ.</a:t>
            </a:r>
            <a:endParaRPr lang="ar-SA" sz="2200" dirty="0"/>
          </a:p>
        </p:txBody>
      </p:sp>
      <p:sp>
        <p:nvSpPr>
          <p:cNvPr id="37" name="Text 34"/>
          <p:cNvSpPr txBox="1"/>
          <p:nvPr/>
        </p:nvSpPr>
        <p:spPr>
          <a:xfrm>
            <a:off x="2944368"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whereas / while</a:t>
            </a:r>
            <a:endParaRPr lang="en-US" sz="11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بَيْنَمَا</a:t>
            </a:r>
            <a:endParaRPr lang="ar-SA" sz="2400" dirty="0"/>
          </a:p>
        </p:txBody>
      </p:sp>
      <p:sp>
        <p:nvSpPr>
          <p:cNvPr id="39" name="Shape 36"/>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ammā … fa- is a pair — never leave out the fa-. Ḥaythu means “where”; do not use it for English “whereas” — baynamā is the clearer contrast linker.</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TIME CLAUSES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before, since — with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رَوَابِطُ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use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17920" y="2267712"/>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بَعْدَمَا أَنْهَيْتُ وَاجِبِي، خَرَجْتُ.</a:t>
            </a:r>
            <a:endParaRPr lang="ar-SA" sz="2200" dirty="0"/>
          </a:p>
        </p:txBody>
      </p:sp>
      <p:sp>
        <p:nvSpPr>
          <p:cNvPr id="21" name="Text 18"/>
          <p:cNvSpPr txBox="1"/>
          <p:nvPr/>
        </p:nvSpPr>
        <p:spPr>
          <a:xfrm>
            <a:off x="29443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past: after an action was done</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بَعْدَمَا</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17920" y="300471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خَرَجْتُ بَعْدَ أَنْ أَنْهَيْتُ وَاجِبِي.</a:t>
            </a:r>
            <a:endParaRPr lang="ar-SA" sz="2200" dirty="0"/>
          </a:p>
        </p:txBody>
      </p:sp>
      <p:sp>
        <p:nvSpPr>
          <p:cNvPr id="27" name="Text 24"/>
          <p:cNvSpPr txBox="1"/>
          <p:nvPr/>
        </p:nvSpPr>
        <p:spPr>
          <a:xfrm>
            <a:off x="29443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verb: after doing</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بَعْدَ أَنْ</a:t>
            </a:r>
            <a:endParaRPr lang="ar-SA" sz="24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17920" y="3741725"/>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رَاجِعْ عَمَلَكَ قَبْلَ أَنْ تُسَلِّمَهُ.</a:t>
            </a:r>
            <a:endParaRPr lang="ar-SA" sz="2200" dirty="0"/>
          </a:p>
        </p:txBody>
      </p:sp>
      <p:sp>
        <p:nvSpPr>
          <p:cNvPr id="31" name="Text 28"/>
          <p:cNvSpPr txBox="1"/>
          <p:nvPr/>
        </p:nvSpPr>
        <p:spPr>
          <a:xfrm>
            <a:off x="29443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subjunctive: before doing</a:t>
            </a:r>
            <a:endParaRPr lang="en-US" sz="1100" dirty="0"/>
          </a:p>
        </p:txBody>
      </p:sp>
      <p:sp>
        <p:nvSpPr>
          <p:cNvPr id="32" name="Text 29"/>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a:t>
            </a:r>
            <a:endParaRPr lang="ar-SA" sz="24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217920" y="4478731"/>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هُنَا مُنْذُ عَامٍ.</a:t>
            </a:r>
            <a:endParaRPr lang="ar-SA" sz="2200" dirty="0"/>
          </a:p>
        </p:txBody>
      </p:sp>
      <p:sp>
        <p:nvSpPr>
          <p:cNvPr id="37" name="Text 34"/>
          <p:cNvSpPr txBox="1"/>
          <p:nvPr/>
        </p:nvSpPr>
        <p:spPr>
          <a:xfrm>
            <a:off x="29443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noun: since / for</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مُنْذُ</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17920" y="521573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تَحَسَّنَتْ لُغَتِي مُنْذُ أَنْ بَدَأْتُ التَّدَرُّبَ.</a:t>
            </a:r>
            <a:endParaRPr lang="ar-SA" sz="2200" dirty="0"/>
          </a:p>
        </p:txBody>
      </p:sp>
      <p:sp>
        <p:nvSpPr>
          <p:cNvPr id="41" name="Text 38"/>
          <p:cNvSpPr txBox="1"/>
          <p:nvPr/>
        </p:nvSpPr>
        <p:spPr>
          <a:xfrm>
            <a:off x="29443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past: since an action began</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مُنْذُ أَنْ</a:t>
            </a:r>
            <a:endParaRPr lang="ar-SA" sz="24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house form: use baʿdamā / baʿda an and qabla an in formal writing (not spoken qabl mā). After qabla an the verb is subjunctive: qabla an adhhaba (GM-V-10).</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believe that sport is important.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لِذَلِكَ الرِّيَاضَةُ.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إِلَّا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أَعْتَقِدُ أَنَّ الرِّيَاضَةَ مُهِمَّةٌ.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fully marked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أَظُنُّ أَنَّ الطَّقْسَ جَمِيلٌ.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أَظُنُّ أَنَّ الطَّقْسُ جَمِيلٌ.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أَظُنُّ أَنَّ الطَّقْسِ جَمِيلٌ.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 for online learning, it is flexible.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حَيْثُ التَّعَلُّمُ عَنْ بُعْدٍ 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التَّعَلُّمُ عَنْ بُعْدٍ فَهُوَ 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التَّعَلُّمُ عَنْ بُعْدٍ 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prefer the city, whereas my brother prefers the countryside.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الْمَدِينَةَ، بَيْنَمَا يُفَضِّلُ أَخِي الرِّيفَ.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الْمَدِينَةَ حَيْثُ يُفَضِّلُ أَخِي الرِّيفَ.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الْمَدِينَةَ إِلَّا أَخِي الرِّيفَ.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believe that sport is important.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لِذَلِكَ الرِّيَاضَةُ.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أَعْتَقِدُ إِلَّا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أَعْتَقِدُ أَنَّ الرِّيَاضَةَ مُهِمَّةٌ.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Anna introduces the content of the belief.</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fully marked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أَظُنُّ أَنَّ الطَّقْسَ جَمِيلٌ.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أَظُنُّ أَنَّ الطَّقْسُ جَمِيلٌ.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أَظُنُّ أَنَّ الطَّقْسِ جَمِيلٌ.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after anna is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 for online learning, it is flexible.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حَيْثُ التَّعَلُّمُ عَنْ بُعْدٍ 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التَّعَلُّمُ عَنْ بُعْدٍ فَهُوَ 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التَّعَلُّمُ عَنْ بُعْدٍ 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Ammā … fa- organises a topic and comment.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prefer the city, whereas my brother prefers the countryside.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الْمَدِينَةَ، بَيْنَمَا يُفَضِّلُ أَخِي الرِّيفَ.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الْمَدِينَةَ حَيْثُ يُفَضِّلُ أَخِي الرِّيفَ.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الْمَدِينَةَ إِلَّا أَخِي الرِّيفَ.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Baynamā expresses the contrast.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build a paragraph, job by job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View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أَعْتَقِدُ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opinion.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لِأَنَّهُ</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Topic shift +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أَمَّا … فَـ · وَلَكِنَّهُ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Plane: fast but costly.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لِذَلِكَ</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 I prefer the train.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VIEW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TOPIC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أَعْتَقِدُ أَنَّ</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السَّفَرَ مُفِيدٌ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لِأَنَّهُ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يُعَرِّفُنَا بِثَقَافَاتٍ جَدِيدَةٍ.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أَمَّا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السَّفَرُ بِالطَّائِرَةِ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فَهُوَ</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سَرِيعٌ، </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وَلَكِنَّهُ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مُكْلِفٌ.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لِذَلِكَ</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أُفَضِّلُ الْقِطَارَ عِنْدَمَا يَكُونُ ذَلِكَ مُمْكِنًا.</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believe that travel is useful because it introduces us to new cultures. As for travelling by plane, it is fast, but it is expensive. So I prefer the train when that is possible.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بَعْدَمَا وَصَلْنَا إِلَى الْمَدِينَةِ، ذَهَبْنَا إِلَى الْفُنْدُقِ.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After we arrived in the city, we went to the hotel.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خَرَجْنَا حَيْثُ تُوجَدُ الْمَطَاعِمُ الشَّهِيرَةُ.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we went out to where the famous restaurants are.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ḥaythu = where.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آكُلُ كُلَّ الْفَوَاكِهِ إِلَّا الْمَوْزَ.</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eat all fruit except bananas.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رَاجِعِ الْإِجَابَةَ قَبْلَ أَنْ تُسَلِّمَهَا.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Check the answer before you hand it 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qabla an + subj.</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MAKE THE RELATIONSHIP PRECISE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clause linker?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الرَّابِطَ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7" name="Text 14"/>
          <p:cNvSpPr txBox="1"/>
          <p:nvPr/>
        </p:nvSpPr>
        <p:spPr>
          <a:xfrm>
            <a:off x="60167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Linker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content of a belief</a:t>
            </a:r>
            <a:endParaRPr lang="en-US" sz="1100" dirty="0"/>
          </a:p>
        </p:txBody>
      </p:sp>
      <p:sp>
        <p:nvSpPr>
          <p:cNvPr id="21" name="Text 18"/>
          <p:cNvSpPr txBox="1"/>
          <p:nvPr/>
        </p:nvSpPr>
        <p:spPr>
          <a:xfrm>
            <a:off x="60350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أَعْتَقِدُ … الدِّرَاسَةَ مُفِيدَةٌ.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 comment</a:t>
            </a:r>
            <a:endParaRPr lang="en-US" sz="1100" dirty="0"/>
          </a:p>
        </p:txBody>
      </p:sp>
      <p:sp>
        <p:nvSpPr>
          <p:cNvPr id="27" name="Text 24"/>
          <p:cNvSpPr txBox="1"/>
          <p:nvPr/>
        </p:nvSpPr>
        <p:spPr>
          <a:xfrm>
            <a:off x="60350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 فَـ</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الْقِطَارُ … هُوَ مُرِيحٌ.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a:t>
            </a:r>
            <a:endParaRPr lang="en-US" sz="1100" dirty="0"/>
          </a:p>
        </p:txBody>
      </p:sp>
      <p:sp>
        <p:nvSpPr>
          <p:cNvPr id="33" name="Text 30"/>
          <p:cNvSpPr txBox="1"/>
          <p:nvPr/>
        </p:nvSpPr>
        <p:spPr>
          <a:xfrm>
            <a:off x="60350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حَيْثُ</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 تَتَوَفَّرُ الْخِدْمَاتُ.</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exception</a:t>
            </a:r>
            <a:endParaRPr lang="en-US" sz="1100" dirty="0"/>
          </a:p>
        </p:txBody>
      </p:sp>
      <p:sp>
        <p:nvSpPr>
          <p:cNvPr id="37" name="Text 34"/>
          <p:cNvSpPr txBox="1"/>
          <p:nvPr/>
        </p:nvSpPr>
        <p:spPr>
          <a:xfrm>
            <a:off x="60350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إِلَّا</a:t>
            </a:r>
            <a:endParaRPr lang="ar-SA" sz="2400" dirty="0"/>
          </a:p>
        </p:txBody>
      </p:sp>
      <p:sp>
        <p:nvSpPr>
          <p:cNvPr id="38" name="Text 35"/>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كُلَّ الْمَوَادِّ … الرِّيَاضِيَّاتِ.</a:t>
            </a:r>
            <a:endParaRPr lang="ar-SA" sz="22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(completed)</a:t>
            </a:r>
            <a:endParaRPr lang="en-US" sz="1100" dirty="0"/>
          </a:p>
        </p:txBody>
      </p:sp>
      <p:sp>
        <p:nvSpPr>
          <p:cNvPr id="43" name="Text 40"/>
          <p:cNvSpPr txBox="1"/>
          <p:nvPr/>
        </p:nvSpPr>
        <p:spPr>
          <a:xfrm>
            <a:off x="60350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بَعْدَمَا</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أَنْهَيْتُ وَاجِبِي، خَرَجْتُ.</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(subjunctive)</a:t>
            </a:r>
            <a:endParaRPr lang="en-US" sz="1100" dirty="0"/>
          </a:p>
        </p:txBody>
      </p:sp>
      <p:sp>
        <p:nvSpPr>
          <p:cNvPr id="47" name="Text 44"/>
          <p:cNvSpPr txBox="1"/>
          <p:nvPr/>
        </p:nvSpPr>
        <p:spPr>
          <a:xfrm>
            <a:off x="60350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رَاجِعْ عَمَلَكَ … تُسَلِّمَهُ.</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choose the clause linker that makes the paragraph relationship precise.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PARAGRAPH JOBS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job does each signal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وَظِيفَةُ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أَعْتَقِدُ أَنَّ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بَيْنَمَا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بِالْإِضَافَةِ إِلَى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وَمِنْ ثَمَّ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View / reason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Contrast / balance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Development / result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View / reason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أَعْتَقِدُ أَنَّ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Contrast / balance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بَيْنَمَا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Development / result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بِالْإِضَافَةِ إِلَى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وَمِنْ ثَمَّ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أَعْتَقِدُ لِأَنَّ التَّعَلُّمُ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or that?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الْقِطَارُ هُوَ 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is the 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أُفَضِّلُ الْمَدِينَةَ حَيْثُ أَخِي يُفَضِّلُ الرِّيفَ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Place or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أَعْتَقِدُ لِأَنَّ التَّعَلُّمُ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أَعْتَقِدُ أَنَّ التَّعَلُّمَ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Belief content uses anna, with an accusative subject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الْقِطَارُ هُوَ 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الْقِطَارُ فَهُوَ سَرِيعٌ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Ammā pairs with fa-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أُفَضِّلُ الْمَدِينَةَ حَيْثُ أَخِي يُفَضِّلُ الرِّيفَ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أُفَضِّلُ الْمَدِينَةَ، بَيْنَمَا يُفَضِّلُ أَخِي الرِّيفَ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Contrast is baynamā, not ḥaythu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CONTENT CLAUSE, SPECIFIC LINK AND TIME CLAUSE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 is clear that prices increased.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الْوَاضِحِ لِأَنَّ الْأَسْعَارُ.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الْوَاضِحِ إِلَّا الْأَسْعَارَ.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الْوَاضِحِ أَنَّ الْأَسْعَارَ ارْتَفَعَتْ.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eat all fruit except bananas.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كُلَّ الْفَوَاكِهِ حَيْثُ الْمَوْزَ.</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كُلَّ الْفَوَاكِهِ إِلَّا الْمَوْزَ.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كُلَّ الْفَوَاكِهِ لِذَلِكَ الْمَوْزَ.</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Check the answer before you submit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 الْإِجَابَةَ بَعْدَمَا تُسَلِّمُهَا.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 الْإِجَابَةَ قَبْلَ أَنْ تُسَلِّمَهَا.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 الْإِجَابَةَ إِلَّا تُسَلِّمَهَا.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Formal form for “before I leave”.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مَا أَخْرُجُ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 is clear that prices increased.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الْوَاضِحِ لِأَنَّ الْأَسْعَارُ.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الْوَاضِحِ إِلَّا الْأَسْعَارَ.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الْوَاضِحِ أَنَّ الْأَسْعَارَ ارْتَفَعَتْ.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al-wāḍiḥ anna is a useful formal frame.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eat all fruit except bananas.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كُلَّ الْفَوَاكِهِ حَيْثُ الْمَوْزَ.</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آكُلُ كُلَّ الْفَوَاكِهِ إِلَّا الْمَوْزَ.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كُلَّ الْفَوَاكِهِ لِذَلِكَ الْمَوْزَ.</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Illā introduces the exception.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Check the answer before you submit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رَاجِعِ الْإِجَابَةَ بَعْدَمَا تُسَلِّمُهَا.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رَاجِعِ الْإِجَابَةَ قَبْلَ أَنْ تُسَلِّمَهَا.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رَاجِعِ الْإِجَابَةَ إِلَّا تُسَلِّمَهَا.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Qabla an + subjunctive.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Formal form for “before I leave”.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مَا أَخْرُجُ</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Qabla an + subjunctive is the formal target.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ea typeface="Calibri" pitchFamily="34" charset="-122"/>
                <a:cs typeface="Calibri" pitchFamily="34" charset="-120"/>
              </a:rPr>
              <a:t>YOU DO · READ AND NOTICE · WEBSITE SKILLS WORKSHOP (TEACHER-WRITTEN PARAGRAPH)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Holidays at home or abroad?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أَعْتَقِدُ أَنَّ الْعُطْلَةَ ضَرُورِيَّةٌ لِلرَّاحَةِ. بَعْضُ النَّاسِ يُسَافِرُونَ إِلَى الْخَارِجِ، بَيْنَمَا يَبْقَى آخَرُونَ فِي بِلَادِهِمْ. أَمَّا أُسْرَتِي فَتُفَضِّلُ الرِّيفَ، حَيْثُ الْهَوَاءُ نَقِيٌّ وَالْحَيَاةُ هَادِئَةٌ. نَحْجِزُ كُلَّ شَيْءٍ قَبْلَ أَنْ نُسَافِرَ بِشَهْرٍ، وَبَعْدَمَا نَصِلُ نُطْفِئُ الْهَوَاتِفَ إِلَّا هَاتِفَ أَبِي. مُنْذُ أَنْ بَدَأْنَا هَذِهِ الْعَادَةَ، أَصْبَحَتْ عُطْلَاتُنَا أَجْمَلَ، لِذَلِكَ لَنْ نُغَيِّرَهَا.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ضَرُورِيَّةٌ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necessary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pure / clean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نَحْجِزُ</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نُطْفِئُ</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switch off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الْعَادَةَ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habit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linker shows a contrast between two groups?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family prefer the countryside?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 is clean and life is 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phone stays 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nobody’s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they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they arrive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month before they travel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linker shows a contrast between two groups?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 travel abroad, whereas others stay.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family prefer the countryside?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air is clean and life is 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Ḥaythu l-hawāʾu naqiyy.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phone stays 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father’s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nobody’s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Illā hātifa abī.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they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they arrive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month before they travel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Qabla an nusāfira bi-shahr.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one extended, linked answer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 فِي التَّعَلُّمِ عَنْ بُعْدٍ؟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قَبْلَ أَنْ تَنَامَ، وَبَعْدَمَا تَسْتَيْقِظُ؟</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السَّكَنِ فِي الْمَدِينَةِ وَالسَّكَنِ فِي الرِّيفِ.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أَعْتَقِدُ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قَبْلَ أَنْ أَنَامَ ___ ، وَبَعْدَمَا أَسْتَيْقِظُ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أَمَّا الْمَدِينَةُ فَهِيَ ___ ، بَيْنَمَا الرِّيفُ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الْمُوَاصَلَاتِ فِي مَدِينَتِكِ؟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think of the transport in your city?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أَعْتَقِدُ أَنَّهَا جَيِّدَةٌ. أَمَّا الْحَافِلَاتُ فَهِيَ رَخِيصَةٌ، بَيْنَمَا الْقِطَارُ أَسْرَعُ. مُنْذُ أَنْ فُتِحَ خَطٌّ جَدِيدٌ، أَصِلُ إِلَى الْمَدْرَسَةِ فِي عِشْرِينَ دَقِيقَةً.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think it is good. As for the buses, they are cheap, whereas the train is faster. Since a new line opened, I get to school in twenty minutes.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view on one topic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aʿtaqidu anna · li-anna · baʿdamā.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topic shift and a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ammā … fa- · baynamā · illā.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five planned paragraph jobs.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every connector by function.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______ فَهُوَ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كُلَّ شَيْءٍ إِلَّا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everything except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 بَيْنَمَا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whereas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الْوَاضِحِ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clear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أَعْتَقِدُ أَنَّ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think that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بَعْدَمَا أَنْهَيْتُ ______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I finished …,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أُسَافِرَ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I travel,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أَنْ بَدَأْتُ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Since I started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أَعْتَقِدُ أَنَّ  ·  أَظُنُّ أَنَّ  ·  مِنَ الْوَاضِحِ أَنَّ  ·  أَمَّا … فَـ  ·  حَيْثُ  ·  إِلَّا  ·  بَيْنَمَا  ·  بَعْدَمَا  ·  قَبْلَ أَنْ  ·  مُنْذُ أَنْ  ·  بِالْإِضَافَةِ إِلَى ذَلِكَ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cohesive response: 130–140 words on one topic, planned as five paragraph jobs.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aʿtaqidu anna + accusative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reason → result chain.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ammā … fa- topic shift.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(baynamā / lākin).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time clause (baʿdamā / qabla an + subj. / mundhu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my point of view</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بِالْإِضَافَةِ إِلَى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addition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despite that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ثَمَّ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consequently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أُخْرَى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other hand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الْخِتَامِ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conclusion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أَعْتَقِدُ أَنَّ حِمَايَةَ الْبِيئَةِ مَسْؤُولِيَّةُ الْجَمِيعِ، لِأَنَّنَا نَعِيشُ عَلَى كَوْكَبٍ وَاحِدٍ. أَمَّا الْحُكُومَاتُ فَعَلَيْهَا أَنْ تَضَعَ قَوَانِينَ قَوِيَّةً، بَيْنَمَا يَسْتَطِيعُ كُلُّ فَرْدٍ أَنْ يُغَيِّرَ عَادَاتِهِ الْيَوْمِيَّةَ. مُنْذُ أَنْ بَدَأَتْ مَدْرَسَتُنَا بِرْنَامَجَ إِعَادَةِ التَّدْوِيرِ، قَلَّتِ النُّفَايَاتُ كَثِيرًا. بِالْإِضَافَةِ إِلَى ذَلِكَ، أَصْبَحْنَا نَمْشِي إِلَى الْمَدْرَسَةِ إِلَّا فِي الْأَيَّامِ الْمُمْطِرَةِ. قَبْلَ أَنْ نَشْتَرِيَ شَيْئًا جَدِيدًا، نَسْأَلُ: هَلْ نَحْتَاجُهُ حَقًّا؟ عَلَى الرَّغْمِ مِنْ ذَلِكَ، مَا زَالَ أَمَامَنَا عَمَلٌ كَثِيرٌ، لِذَلِكَ يَجِبُ أَنْ نَتَعَاوَنَ جَمِيعًا.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believe that protecting the environment is everyone’s responsibility, because we live on one planet. As for governments, they must make strong laws, whereas every individual can change their daily habits. Since our school started a recycling programme, waste has fallen a lot. In addition, we now walk to school except on rainy days. Before we buy something new, we ask: do we really need it? Despite that, we still have a lot of work ahead, so we must all cooperate.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view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topic shift (ammā … 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contrast / exception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my view with aʿtaqidu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time clause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ammā has its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baynamā (not ḥaythu) for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connector does a real job — no random links.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pair: ammā l-ḥāfila ___ hiya arkhaṣ.</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clear “whereas”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final editing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each connector express the relationship I intend?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Have I used the longest possible word?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Have I removed all simple 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pair: ammā l-ḥāfila ___ hiya arkhaṣ.</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Ammā pairs with 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clear “whereas”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حَيْثُ</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بَيْنَمَا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Baynamā is the clearer contrast linker.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final editing question?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Does each connector express the relationship I intend?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Have I used the longest possible word?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Have I removed all simple 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Logical accuracy is the foundation of cohesion.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GM-CP-05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GM-NUM-01: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GM-NUM-01 · Numbers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وَاحِدٌ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one</a:t>
            </a:r>
            <a:pPr indent="0" marL="0">
              <a:buNone/>
            </a:pPr>
            <a:r>
              <a:rPr lang="en-US" sz="1000" i="1" dirty="0">
                <a:solidFill>
                  <a:srgbClr val="5A6472"/>
                </a:solidFill>
                <a:latin typeface="Calibri" pitchFamily="34" charset="0"/>
                <a:ea typeface="Calibri" pitchFamily="34" charset="-122"/>
                <a:cs typeface="Calibri" pitchFamily="34" charset="-120"/>
              </a:rPr>
              <a:t>  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خَمْسَةٌ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five</a:t>
            </a:r>
            <a:pPr indent="0" marL="0">
              <a:buNone/>
            </a:pPr>
            <a:r>
              <a:rPr lang="en-US" sz="1000" i="1" dirty="0">
                <a:solidFill>
                  <a:srgbClr val="5A6472"/>
                </a:solidFill>
                <a:latin typeface="Calibri" pitchFamily="34" charset="0"/>
                <a:ea typeface="Calibri" pitchFamily="34" charset="-122"/>
                <a:cs typeface="Calibri" pitchFamily="34" charset="-120"/>
              </a:rPr>
              <a:t>  ٥</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عَشَرَةٌ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ten</a:t>
            </a:r>
            <a:pPr indent="0" marL="0">
              <a:buNone/>
            </a:pPr>
            <a:r>
              <a:rPr lang="en-US" sz="1000" i="1" dirty="0">
                <a:solidFill>
                  <a:srgbClr val="5A6472"/>
                </a:solidFill>
                <a:latin typeface="Calibri" pitchFamily="34" charset="0"/>
                <a:ea typeface="Calibri" pitchFamily="34" charset="-122"/>
                <a:cs typeface="Calibri" pitchFamily="34" charset="-120"/>
              </a:rPr>
              <a:t>  ١٠</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عِشْرُونَ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twenty</a:t>
            </a:r>
            <a:pPr indent="0" marL="0">
              <a:buNone/>
            </a:pPr>
            <a:r>
              <a:rPr lang="en-US" sz="1000" i="1" dirty="0">
                <a:solidFill>
                  <a:srgbClr val="5A6472"/>
                </a:solidFill>
                <a:latin typeface="Calibri" pitchFamily="34" charset="0"/>
                <a:ea typeface="Calibri" pitchFamily="34" charset="-122"/>
                <a:cs typeface="Calibri" pitchFamily="34" charset="-120"/>
              </a:rPr>
              <a:t>  ٢٠</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hundred</a:t>
            </a:r>
            <a:pPr indent="0" marL="0">
              <a:buNone/>
            </a:pPr>
            <a:r>
              <a:rPr lang="en-US" sz="1000" i="1" dirty="0">
                <a:solidFill>
                  <a:srgbClr val="5A6472"/>
                </a:solidFill>
                <a:latin typeface="Calibri" pitchFamily="34" charset="0"/>
                <a:ea typeface="Calibri" pitchFamily="34" charset="-122"/>
                <a:cs typeface="Calibri" pitchFamily="34" charset="-120"/>
              </a:rPr>
              <a:t>  ١٠٠</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Can you count to ten in Arabic? Which number words do you already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وَاحِدٌ · اثْنَانِ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opinion sentences with aʿtaqidu anna.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short paragraph with ammā … fa-, baynamā and illā.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extended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GM-CP-05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GM-NUM-01 · Numbers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الْأَرْقَامُ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aʿtaqidu anna + accusative · ammā … fa- (both halves) · ḥaythu = where · baynamā = whereas · illā = except · qabla an + subjunctive · every link must do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GM-CP-05 · Clause Linkers and Paragraph Cohesion</dc:title>
  <dc:subject>PptxGenJS Presentation</dc:subject>
  <dc:creator>Al Madina Online School · Arabic Department</dc:creator>
  <cp:lastModifiedBy>Al Madina Online School · Arabic Department</cp:lastModifiedBy>
  <cp:revision>1</cp:revision>
  <dcterms:created xsi:type="dcterms:W3CDTF">2026-10-04T02:10:04Z</dcterms:created>
  <dcterms:modified xsi:type="dcterms:W3CDTF">2026-10-04T02:10:04Z</dcterms:modified>
</cp:coreProperties>
</file>