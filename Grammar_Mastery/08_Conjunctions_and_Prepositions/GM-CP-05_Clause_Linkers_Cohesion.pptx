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Conjunctions and Prepositions › GM-CP-05 (“Clause Linkers and Paragraph Cohesion”).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أَعْتَقِدُ أَنَّ + opinion, and time clauses بَعْدَمَا + past, قَبْلَ أَنْ + subjunctive, مُنْذُ أَنْ. Develop: أَمَّا … فَـ (topic shift), حَيْثُ (where), إِلَّا (except), بَيْنَمَا (whereas). Stretch: plan a 130–140-word paragraph with five paragraph jobs (view, reason, contrast, development, result).
• Website (Cambridge Paper 4): there are no automatic marks for “advanced” linkers. One accurate complex sentence beats several memorised linkers placed unnaturally.
• Website translation correction: ḥaythu = where (in the place where) — use baynamā for “whereas”.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 2, 4, 5 and 6) — the GM-CP-04 prep words ʿindamā, qabla an, baʿda an, baynamā.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Every link has a job: view (anna), topic (ammā … fa-), contrast (baynamā), exception (illā), time (baʿdamā, qabla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“Content clauses with anna”. Qāla takes inna (not anna) — a Stretch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“Specific links”.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“Time clauses”. Compare GM-CP-02: qabla d-dars (noun) vs qabla an adrusa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Content Clause and Specific Link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“Build a cohesive paragraph”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game items. Cover column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“Build a cohesive paragraph” signal table. Students type 1, 2 or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“Build a cohesive paragraph” signal table. Students type 1, 2 or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Content Clause, Specific Link and Time Clause checks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skills workshop (teacher-written paragraph). Read it aloud once while students follow; then they hunt for today’s grammar.
Task: Website: label each connector by function, then reconstruct the paragraph plan (view, contrast, topic, time, result).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paragraph for the website skills workshop;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skills workshop. Sequence: ● 10s think → ↔ 45s rehearse aloud with mic muted → ◎ two named students on open mic (warned in advance) → + ? the class types one follow-up in chat → ↺ one student summarises.
Routes: Core uses the Core prompt and stem; Develop the Develop prompt; Stretch the last prompt.
Website: extend spoken answers with precise links — view, topic shift, contrast,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130–140 Arabic words on one topic: online learning, transport, holidays, technology or the environment. Organise the response into a clear sequence of ideas rather than a list of sentences.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(GM-NUM-01 · Numbers) will spend class time USING this language, so students prepare it tonight — short, simple, easy to access (school guidance: “Simple, Short, Interesting, Relevant, Easy to access”). The five words prepare GM-NUM-01 (website Numeracy Mastery 01: numbers).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CONJUNCTIONS AND PREPOSITIONS  ·  GM-CP-05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GM-CP-05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Clause Linkers and Paragraph Cohesion</a:t>
            </a:r>
            <a:endParaRPr lang="en-US" sz="28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رَوَابِطُ الْجُمَلِ وَتَمَاسُكُ الْفِقْرَةِ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Build a paragraph, not a list: aʿtaqidu anna (I think that), ammā … fa- (as for … ), baynamā (whereas), illā (except), baʿdamā / qabla an (after / before). Each link must do a real job.</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GM-CP-05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Conjunctions and Prepositions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GM-CP-05 · Conjunctions and Prepositions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GM-CP-05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anna clauses; ammā … fa-, ḥaythu, illā, baynamā; time clauses; paragraph jobs.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Choose the clause linker; sort paragraph jobs;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GM-NUM-01.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GM-CP-05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أَعْتَقِدُ ___ التَّعَلُّمَ مُهِمٌّ.</a:t>
            </a:r>
            <a:endParaRPr lang="ar-SA" sz="145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لِذَلِكَ</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إِلَّا</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topic-shift frame.</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أَمَّا السَّفَرُ بِالْقِطَارِ فَهُوَ مُرِيحٌ.</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 السَّفَرُ بِالْقِطَارِ فَهُوَ.</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إِلَّا السَّفَرُ فَهُوَ.</a:t>
            </a:r>
            <a:endParaRPr lang="ar-SA" sz="2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formal “before I leave”.</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قَبْلَ مَا أَخْرُجُ</a:t>
            </a:r>
            <a:pPr algn="l" indent="0" marL="0">
              <a:buNone/>
            </a:pPr>
            <a:r>
              <a:rPr lang="en-US" sz="1250" dirty="0">
                <a:solidFill>
                  <a:srgbClr val="1F2A37"/>
                </a:solidFill>
                <a:latin typeface="Calibri" pitchFamily="34" charset="0"/>
                <a:cs typeface="Amiri" pitchFamily="2" charset="-78"/>
              </a:rPr>
              <a:t> only</a:t>
            </a:r>
            <a:endParaRPr lang="en-US" sz="12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2" charset="-78"/>
                <a:ea typeface="Amiri" pitchFamily="2" charset="-78"/>
                <a:cs typeface="Amiri" pitchFamily="2" charset="-78"/>
              </a:rPr>
              <a:t>بَعْدَ أَنْ أَخْرُجَ</a:t>
            </a:r>
            <a:endParaRPr lang="ar-SA" sz="220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2" charset="-78"/>
                <a:ea typeface="Amiri" pitchFamily="2" charset="-78"/>
                <a:cs typeface="Amiri" pitchFamily="2" charset="-78"/>
              </a:rPr>
              <a:t>قَبْلَ أَنْ أَخْرُجَ</a:t>
            </a:r>
            <a:endParaRPr lang="ar-SA" sz="220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“since I began studying”.</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2" charset="-78"/>
                <a:ea typeface="Amiri" pitchFamily="2" charset="-78"/>
                <a:cs typeface="Amiri" pitchFamily="2" charset="-78"/>
              </a:rPr>
              <a:t>إِلَّا أَنْ بَدَأْتُ</a:t>
            </a:r>
            <a:endParaRPr lang="ar-SA" sz="220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حَيْثُ بَدَأْتُ</a:t>
            </a:r>
            <a:pPr algn="l" indent="0" marL="0">
              <a:buNone/>
            </a:pPr>
            <a:r>
              <a:rPr lang="en-US" sz="1250" dirty="0">
                <a:solidFill>
                  <a:srgbClr val="1F2A37"/>
                </a:solidFill>
                <a:latin typeface="Calibri" pitchFamily="34" charset="0"/>
                <a:cs typeface="Amiri" pitchFamily="2" charset="-78"/>
              </a:rPr>
              <a:t> only</a:t>
            </a:r>
            <a:endParaRPr lang="en-US" sz="12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2" charset="-78"/>
                <a:ea typeface="Amiri" pitchFamily="2" charset="-78"/>
                <a:cs typeface="Amiri" pitchFamily="2" charset="-78"/>
              </a:rPr>
              <a:t>مُنْذُ أَنْ بَدَأْتُ الدِّرَاسَةَ</a:t>
            </a:r>
            <a:endParaRPr lang="ar-SA" sz="220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Do less common connectors earn automatic marks?</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range and accuracy are judged in the whole response.</a:t>
            </a:r>
            <a:endParaRPr lang="en-US" sz="12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 each rare connector guarantees one mark.</a:t>
            </a:r>
            <a:endParaRPr lang="en-US" sz="12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if written in English too.</a:t>
            </a:r>
            <a:endParaRPr lang="en-US" sz="12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GM-CP-05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أَعْتَقِدُ ___ التَّعَلُّمَ مُهِمٌّ.</a:t>
            </a:r>
            <a:endParaRPr lang="ar-SA" sz="145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لِذَلِكَ</a:t>
            </a:r>
            <a:endParaRPr lang="ar-SA" sz="1700" dirty="0"/>
          </a:p>
        </p:txBody>
      </p:sp>
      <p:sp>
        <p:nvSpPr>
          <p:cNvPr id="23" name="Shape 20"/>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1"/>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إِلَّا</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Anna introduces the content of the belief.</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topic-shift frame.</a:t>
            </a:r>
            <a:endParaRPr lang="en-US" sz="1250" dirty="0"/>
          </a:p>
        </p:txBody>
      </p:sp>
      <p:sp>
        <p:nvSpPr>
          <p:cNvPr id="35" name="Shape 32"/>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أَمَّا السَّفَرُ بِالْقِطَارِ فَهُوَ مُرِيحٌ.</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 السَّفَرُ بِالْقِطَارِ فَهُوَ.</a:t>
            </a:r>
            <a:endParaRPr lang="ar-SA" sz="1700" dirty="0"/>
          </a:p>
        </p:txBody>
      </p:sp>
      <p:sp>
        <p:nvSpPr>
          <p:cNvPr id="42" name="Shape 39"/>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إِلَّا السَّفَرُ فَهُوَ.</a:t>
            </a:r>
            <a:endParaRPr lang="ar-SA" sz="170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Ammā introduces a topic and fa- the comment.</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formal “before I leave”.</a:t>
            </a:r>
            <a:endParaRPr lang="en-US" sz="125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قَبْلَ مَا أَخْرُجُ</a:t>
            </a:r>
            <a:pPr algn="l" indent="0" marL="0">
              <a:buNone/>
            </a:pPr>
            <a:r>
              <a:rPr lang="en-US" sz="1250" dirty="0">
                <a:solidFill>
                  <a:srgbClr val="9AA1AB"/>
                </a:solidFill>
                <a:latin typeface="Calibri" pitchFamily="34" charset="0"/>
                <a:cs typeface="Amiri" pitchFamily="2" charset="-78"/>
              </a:rPr>
              <a:t> only</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2" charset="-78"/>
                <a:ea typeface="Amiri" pitchFamily="2" charset="-78"/>
                <a:cs typeface="Amiri" pitchFamily="2" charset="-78"/>
              </a:rPr>
              <a:t>بَعْدَ أَنْ أَخْرُجَ</a:t>
            </a:r>
            <a:endParaRPr lang="ar-SA" sz="22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2200" b="1" dirty="0">
                <a:solidFill>
                  <a:srgbClr val="1F2A37"/>
                </a:solidFill>
                <a:latin typeface="Amiri" pitchFamily="2" charset="-78"/>
                <a:ea typeface="Amiri" pitchFamily="2" charset="-78"/>
                <a:cs typeface="Amiri" pitchFamily="2" charset="-78"/>
              </a:rPr>
              <a:t>قَبْلَ أَنْ أَخْرُجَ</a:t>
            </a:r>
            <a:endParaRPr lang="ar-SA" sz="22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Mundhu an introduces a starting action.</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“since I began studying”.</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2" charset="-78"/>
                <a:ea typeface="Amiri" pitchFamily="2" charset="-78"/>
                <a:cs typeface="Amiri" pitchFamily="2" charset="-78"/>
              </a:rPr>
              <a:t>إِلَّا أَنْ بَدَأْتُ</a:t>
            </a:r>
            <a:endParaRPr lang="ar-SA" sz="22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حَيْثُ بَدَأْتُ</a:t>
            </a:r>
            <a:pPr algn="l" indent="0" marL="0">
              <a:buNone/>
            </a:pPr>
            <a:r>
              <a:rPr lang="en-US" sz="1250" dirty="0">
                <a:solidFill>
                  <a:srgbClr val="9AA1AB"/>
                </a:solidFill>
                <a:latin typeface="Calibri" pitchFamily="34" charset="0"/>
                <a:cs typeface="Amiri" pitchFamily="2" charset="-78"/>
              </a:rPr>
              <a:t> only</a:t>
            </a:r>
            <a:endParaRPr lang="en-US" sz="125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2200" b="1" dirty="0">
                <a:solidFill>
                  <a:srgbClr val="1F2A37"/>
                </a:solidFill>
                <a:latin typeface="Amiri" pitchFamily="2" charset="-78"/>
                <a:ea typeface="Amiri" pitchFamily="2" charset="-78"/>
                <a:cs typeface="Amiri" pitchFamily="2" charset="-78"/>
              </a:rPr>
              <a:t>مُنْذُ أَنْ بَدَأْتُ الدِّرَاسَةَ</a:t>
            </a:r>
            <a:endParaRPr lang="ar-SA" sz="22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Range and accuracy are judged across the whole answer.</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Do less common connectors earn automatic marks?</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No; range and accuracy are judged in the whole response.</a:t>
            </a:r>
            <a:endParaRPr lang="en-US" sz="115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Yes; each rare connector guarantees one mark.</a:t>
            </a:r>
            <a:endParaRPr lang="en-US" sz="115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if written in English too.</a:t>
            </a:r>
            <a:endParaRPr lang="en-US" sz="125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Assessment rewards well-linked sentences and controlled range, not a connector checklist.</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250" b="1" dirty="0">
                <a:solidFill>
                  <a:srgbClr val="1F2A37"/>
                </a:solidFill>
                <a:latin typeface="Calibri" pitchFamily="34" charset="0"/>
                <a:cs typeface="Amiri" pitchFamily="2" charset="-78"/>
              </a:rPr>
              <a:t>Every link has a job: view (anna), topic (ammā … fa-), contrast (baynamā), exception (illā), time (baʿdamā, qabla an).</a:t>
            </a:r>
            <a:endParaRPr lang="en-US" sz="125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أَعْتَقِدُ </a:t>
            </a:r>
            <a:pPr rtl="1" algn="ctr" indent="0" marL="0">
              <a:buNone/>
            </a:pPr>
            <a:r>
              <a:rPr lang="ar-SA" altLang="en-US" sz="2400" b="1" dirty="0">
                <a:solidFill>
                  <a:srgbClr val="0E7C86"/>
                </a:solidFill>
                <a:latin typeface="Amiri" pitchFamily="2" charset="-78"/>
                <a:ea typeface="Amiri" pitchFamily="2" charset="-78"/>
                <a:cs typeface="Amiri" pitchFamily="2" charset="-78"/>
              </a:rPr>
              <a:t>أَنَّ</a:t>
            </a:r>
            <a:pPr rtl="1" algn="ctr" indent="0" marL="0">
              <a:buNone/>
            </a:pPr>
            <a:r>
              <a:rPr lang="ar-SA" altLang="en-US" sz="2400" b="1" dirty="0">
                <a:solidFill>
                  <a:srgbClr val="1B3B6F"/>
                </a:solidFill>
                <a:latin typeface="Amiri" pitchFamily="2" charset="-78"/>
                <a:cs typeface="Amiri" pitchFamily="2" charset="-78"/>
              </a:rPr>
              <a:t> … ‖ </a:t>
            </a:r>
            <a:pPr rtl="1" algn="ctr" indent="0" marL="0">
              <a:buNone/>
            </a:pPr>
            <a:r>
              <a:rPr lang="ar-SA" altLang="en-US" sz="2400" b="1" dirty="0">
                <a:solidFill>
                  <a:srgbClr val="D6336C"/>
                </a:solidFill>
                <a:latin typeface="Amiri" pitchFamily="2" charset="-78"/>
                <a:ea typeface="Amiri" pitchFamily="2" charset="-78"/>
                <a:cs typeface="Amiri" pitchFamily="2" charset="-78"/>
              </a:rPr>
              <a:t>أَمَّا</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D6336C"/>
                </a:solidFill>
                <a:latin typeface="Amiri" pitchFamily="2" charset="-78"/>
                <a:ea typeface="Amiri" pitchFamily="2" charset="-78"/>
                <a:cs typeface="Amiri" pitchFamily="2" charset="-78"/>
              </a:rPr>
              <a:t>فَـ</a:t>
            </a:r>
            <a:pPr rtl="1" algn="ctr" indent="0" marL="0">
              <a:buNone/>
            </a:pPr>
            <a:r>
              <a:rPr lang="ar-SA" altLang="en-US" sz="2400" b="1" dirty="0">
                <a:solidFill>
                  <a:srgbClr val="1B3B6F"/>
                </a:solidFill>
                <a:latin typeface="Amiri" pitchFamily="2" charset="-78"/>
                <a:cs typeface="Amiri" pitchFamily="2" charset="-78"/>
              </a:rPr>
              <a:t> …</a:t>
            </a:r>
            <a:endParaRPr lang="ar-SA" sz="24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GM-CP-05 · Conjunctions and Prepositions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Give an opinion with aʿtaqidu anna.</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Shift topic with ammā … fa-.</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ḥaythu, illā and baynamā correctly.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Link actions in time with baʿdamā, qabla an and mundhu an.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give my opinion with aʿtaqidu anna.</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after I … and before I …</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ammā … fa- with both halves.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baynamā for “whereas”.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plan five paragraph jobs before writing.</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write 130–140 linked words.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GM-CP-05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التَّمَاسُكُ</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cohesion</a:t>
            </a:r>
            <a:endParaRPr lang="en-US" sz="1350" dirty="0"/>
          </a:p>
          <a:p>
            <a:pPr indent="0" marL="0">
              <a:buNone/>
            </a:pPr>
            <a:r>
              <a:rPr lang="en-US" sz="1100" i="1" dirty="0">
                <a:solidFill>
                  <a:srgbClr val="5A6472"/>
                </a:solidFill>
                <a:latin typeface="Calibri" pitchFamily="34" charset="0"/>
                <a:cs typeface="Amiri" pitchFamily="2" charset="-78"/>
              </a:rPr>
              <a:t>at-ta-mā-su-ku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رَوَابِطُ الْفِقْرَةِ</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أَنَّ</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that (+ noun / pronoun)</a:t>
            </a:r>
            <a:endParaRPr lang="en-US" sz="1350" dirty="0"/>
          </a:p>
          <a:p>
            <a:pPr indent="0" marL="0">
              <a:buNone/>
            </a:pPr>
            <a:r>
              <a:rPr lang="en-US" sz="1100" i="1" dirty="0">
                <a:solidFill>
                  <a:srgbClr val="5A6472"/>
                </a:solidFill>
                <a:latin typeface="Calibri" pitchFamily="34" charset="0"/>
                <a:cs typeface="Amiri" pitchFamily="2" charset="-78"/>
              </a:rPr>
              <a:t>an-na</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أَعْتَقِدُ أَنَّ</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أَمَّا … فَـ</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 for … (then)</a:t>
            </a:r>
            <a:endParaRPr lang="en-US" sz="1350" dirty="0"/>
          </a:p>
          <a:p>
            <a:pPr indent="0" marL="0">
              <a:buNone/>
            </a:pPr>
            <a:r>
              <a:rPr lang="en-US" sz="1100" i="1" dirty="0">
                <a:solidFill>
                  <a:srgbClr val="5A6472"/>
                </a:solidFill>
                <a:latin typeface="Calibri" pitchFamily="34" charset="0"/>
                <a:cs typeface="Amiri" pitchFamily="2" charset="-78"/>
              </a:rPr>
              <a:t>am-mā … fa</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أَمَّا الْقِطَارُ فَهُوَ</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بَيْنَمَا</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 / while</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بَيْنَمَا يُفَضِّلُ أَخِي</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إِلَّا</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except</a:t>
            </a:r>
            <a:endParaRPr lang="en-US" sz="1350" dirty="0"/>
          </a:p>
          <a:p>
            <a:pPr indent="0" marL="0">
              <a:buNone/>
            </a:pPr>
            <a:r>
              <a:rPr lang="en-US" sz="1100" i="1" dirty="0">
                <a:solidFill>
                  <a:srgbClr val="5A6472"/>
                </a:solidFill>
                <a:latin typeface="Calibri" pitchFamily="34" charset="0"/>
                <a:cs typeface="Amiri" pitchFamily="2" charset="-78"/>
              </a:rPr>
              <a:t>il-lā</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كُلَّ الْمَوَادِّ إِلَّا</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حَيْثُ</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 (place)</a:t>
            </a:r>
            <a:endParaRPr lang="en-US" sz="1350" dirty="0"/>
          </a:p>
          <a:p>
            <a:pPr indent="0" marL="0">
              <a:buNone/>
            </a:pPr>
            <a:r>
              <a:rPr lang="en-US" sz="1100" i="1" dirty="0">
                <a:solidFill>
                  <a:srgbClr val="5A6472"/>
                </a:solidFill>
                <a:latin typeface="Calibri" pitchFamily="34" charset="0"/>
                <a:cs typeface="Amiri" pitchFamily="2" charset="-78"/>
              </a:rPr>
              <a:t>ḥay-thu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حَيْثُ تُوجَدُ الْخِدْمَاتُ</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GM-CP-05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1 · CONTENT CLAUSES WITH ANNA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 think that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أَعْتَقِدُ أَنَّ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4283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3273552" y="1810512"/>
            <a:ext cx="5522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(website)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979408" y="2267712"/>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think that …</a:t>
            </a:r>
            <a:endParaRPr lang="en-US" sz="1100" dirty="0"/>
          </a:p>
        </p:txBody>
      </p:sp>
      <p:sp>
        <p:nvSpPr>
          <p:cNvPr id="21" name="Text 18"/>
          <p:cNvSpPr txBox="1"/>
          <p:nvPr/>
        </p:nvSpPr>
        <p:spPr>
          <a:xfrm>
            <a:off x="3291840" y="2267712"/>
            <a:ext cx="54864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أَعْتَقِدُ أَنَّ التَّعَلُّمَ عَنْ بُعْدٍ مُفِيدٌ.</a:t>
            </a:r>
            <a:endParaRPr lang="ar-SA" sz="2200" dirty="0"/>
          </a:p>
        </p:txBody>
      </p:sp>
      <p:sp>
        <p:nvSpPr>
          <p:cNvPr id="22" name="Text 19"/>
          <p:cNvSpPr txBox="1"/>
          <p:nvPr/>
        </p:nvSpPr>
        <p:spPr>
          <a:xfrm>
            <a:off x="548640" y="2267712"/>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أَعْتَقِدُ أَنَّ</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979408" y="3004718"/>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suppose that …</a:t>
            </a:r>
            <a:endParaRPr lang="en-US" sz="1100" dirty="0"/>
          </a:p>
        </p:txBody>
      </p:sp>
      <p:sp>
        <p:nvSpPr>
          <p:cNvPr id="27" name="Text 24"/>
          <p:cNvSpPr txBox="1"/>
          <p:nvPr/>
        </p:nvSpPr>
        <p:spPr>
          <a:xfrm>
            <a:off x="3291840" y="3004718"/>
            <a:ext cx="54864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أَظُنُّ أَنَّ الطَّقْسَ سَيَتَحَسَّنُ.</a:t>
            </a:r>
            <a:endParaRPr lang="ar-SA" sz="2200" dirty="0"/>
          </a:p>
        </p:txBody>
      </p:sp>
      <p:sp>
        <p:nvSpPr>
          <p:cNvPr id="28" name="Text 25"/>
          <p:cNvSpPr txBox="1"/>
          <p:nvPr/>
        </p:nvSpPr>
        <p:spPr>
          <a:xfrm>
            <a:off x="548640" y="300471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أَظُنُّ أَنَّ</a:t>
            </a:r>
            <a:endParaRPr lang="ar-SA" sz="22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979408" y="3741725"/>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know that …</a:t>
            </a:r>
            <a:endParaRPr lang="en-US" sz="1100" dirty="0"/>
          </a:p>
        </p:txBody>
      </p:sp>
      <p:sp>
        <p:nvSpPr>
          <p:cNvPr id="33" name="Text 30"/>
          <p:cNvSpPr txBox="1"/>
          <p:nvPr/>
        </p:nvSpPr>
        <p:spPr>
          <a:xfrm>
            <a:off x="3291840" y="3741725"/>
            <a:ext cx="54864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أَعْرِفُ أَنَّ الِامْتِحَانَ صَعْبٌ.</a:t>
            </a:r>
            <a:endParaRPr lang="ar-SA" sz="2200" dirty="0"/>
          </a:p>
        </p:txBody>
      </p:sp>
      <p:sp>
        <p:nvSpPr>
          <p:cNvPr id="34" name="Text 31"/>
          <p:cNvSpPr txBox="1"/>
          <p:nvPr/>
        </p:nvSpPr>
        <p:spPr>
          <a:xfrm>
            <a:off x="548640" y="3741725"/>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أَعْرِفُ أَنَّ</a:t>
            </a:r>
            <a:endParaRPr lang="ar-SA" sz="22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979408" y="4478731"/>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writer stated that …</a:t>
            </a:r>
            <a:endParaRPr lang="en-US" sz="1100" dirty="0"/>
          </a:p>
        </p:txBody>
      </p:sp>
      <p:sp>
        <p:nvSpPr>
          <p:cNvPr id="37" name="Text 34"/>
          <p:cNvSpPr txBox="1"/>
          <p:nvPr/>
        </p:nvSpPr>
        <p:spPr>
          <a:xfrm>
            <a:off x="3291840" y="4478731"/>
            <a:ext cx="54864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ذَكَرَ الْكَاتِبُ أَنَّ التِّقْنِيَّةَ مُهِمَّةٌ.</a:t>
            </a:r>
            <a:endParaRPr lang="ar-SA" sz="2200" dirty="0"/>
          </a:p>
        </p:txBody>
      </p:sp>
      <p:sp>
        <p:nvSpPr>
          <p:cNvPr id="38" name="Text 35"/>
          <p:cNvSpPr txBox="1"/>
          <p:nvPr/>
        </p:nvSpPr>
        <p:spPr>
          <a:xfrm>
            <a:off x="548640" y="4478731"/>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ذَكَرَ أَنَّ</a:t>
            </a:r>
            <a:endParaRPr lang="ar-SA" sz="22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8979408" y="5215738"/>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 is clear that …</a:t>
            </a:r>
            <a:endParaRPr lang="en-US" sz="1100" dirty="0"/>
          </a:p>
        </p:txBody>
      </p:sp>
      <p:sp>
        <p:nvSpPr>
          <p:cNvPr id="41" name="Text 38"/>
          <p:cNvSpPr txBox="1"/>
          <p:nvPr/>
        </p:nvSpPr>
        <p:spPr>
          <a:xfrm>
            <a:off x="3291840" y="5215738"/>
            <a:ext cx="54864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مِنَ الْوَاضِحِ أَنَّ الْخِدْمَةَ تَحَسَّنَتْ.</a:t>
            </a:r>
            <a:endParaRPr lang="ar-SA" sz="2200" dirty="0"/>
          </a:p>
        </p:txBody>
      </p:sp>
      <p:sp>
        <p:nvSpPr>
          <p:cNvPr id="42" name="Text 39"/>
          <p:cNvSpPr txBox="1"/>
          <p:nvPr/>
        </p:nvSpPr>
        <p:spPr>
          <a:xfrm>
            <a:off x="548640" y="521573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مِنَ الْوَاضِحِ أَنَّ</a:t>
            </a:r>
            <a:endParaRPr lang="ar-SA" sz="22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in fully marked models the subject after anna is accusative — anna ṭ-ṭaqsa, anna d-dirāsata. With a pronoun: annahu, annanī. Full inna-family analysis comes in GM-NVS.</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GM-CP-05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2 · SPECIFIC LINKS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Each link has its own job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أَمَّا · حَيْثُ · إِلَّا · بَيْنَمَا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925312" y="1810512"/>
            <a:ext cx="5733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(website)</a:t>
            </a:r>
            <a:endParaRPr lang="en-US" sz="1100" dirty="0"/>
          </a:p>
        </p:txBody>
      </p:sp>
      <p:sp>
        <p:nvSpPr>
          <p:cNvPr id="17" name="Text 14"/>
          <p:cNvSpPr txBox="1"/>
          <p:nvPr/>
        </p:nvSpPr>
        <p:spPr>
          <a:xfrm>
            <a:off x="2907792"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Function</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Structure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5943600" y="2267712"/>
            <a:ext cx="569671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أَمَّا الْقِطَارُ فَهُوَ أَسْرَعُ.</a:t>
            </a:r>
            <a:endParaRPr lang="ar-SA" sz="2200" dirty="0"/>
          </a:p>
        </p:txBody>
      </p:sp>
      <p:sp>
        <p:nvSpPr>
          <p:cNvPr id="21" name="Text 18"/>
          <p:cNvSpPr txBox="1"/>
          <p:nvPr/>
        </p:nvSpPr>
        <p:spPr>
          <a:xfrm>
            <a:off x="2944368" y="2267712"/>
            <a:ext cx="28346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introduce a topic, then comment</a:t>
            </a:r>
            <a:endParaRPr lang="en-US" sz="1100" dirty="0"/>
          </a:p>
        </p:txBody>
      </p:sp>
      <p:sp>
        <p:nvSpPr>
          <p:cNvPr id="22" name="Text 19"/>
          <p:cNvSpPr txBox="1"/>
          <p:nvPr/>
        </p:nvSpPr>
        <p:spPr>
          <a:xfrm>
            <a:off x="548640" y="2267712"/>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أَمَّا … فَـ</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5943600" y="3054096"/>
            <a:ext cx="569671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أُفَضِّلُ السَّكَنَ حَيْثُ تُوجَدُ الْخِدْمَاتُ.</a:t>
            </a:r>
            <a:endParaRPr lang="ar-SA" sz="2200" dirty="0"/>
          </a:p>
        </p:txBody>
      </p:sp>
      <p:sp>
        <p:nvSpPr>
          <p:cNvPr id="27" name="Text 24"/>
          <p:cNvSpPr txBox="1"/>
          <p:nvPr/>
        </p:nvSpPr>
        <p:spPr>
          <a:xfrm>
            <a:off x="2944368" y="3054096"/>
            <a:ext cx="28346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 in the place where</a:t>
            </a:r>
            <a:endParaRPr lang="en-US" sz="1100" dirty="0"/>
          </a:p>
        </p:txBody>
      </p:sp>
      <p:sp>
        <p:nvSpPr>
          <p:cNvPr id="28" name="Text 25"/>
          <p:cNvSpPr txBox="1"/>
          <p:nvPr/>
        </p:nvSpPr>
        <p:spPr>
          <a:xfrm>
            <a:off x="548640" y="3054096"/>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حَيْثُ</a:t>
            </a:r>
            <a:endParaRPr lang="ar-SA" sz="24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5943600" y="3840480"/>
            <a:ext cx="569671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أُحِبُّ كُلَّ الْمَوَادِّ إِلَّا الرِّيَاضِيَّاتِ.</a:t>
            </a:r>
            <a:endParaRPr lang="ar-SA" sz="2200" dirty="0"/>
          </a:p>
        </p:txBody>
      </p:sp>
      <p:sp>
        <p:nvSpPr>
          <p:cNvPr id="31" name="Text 28"/>
          <p:cNvSpPr txBox="1"/>
          <p:nvPr/>
        </p:nvSpPr>
        <p:spPr>
          <a:xfrm>
            <a:off x="2944368" y="3840480"/>
            <a:ext cx="28346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except</a:t>
            </a:r>
            <a:endParaRPr lang="en-US" sz="1100" dirty="0"/>
          </a:p>
        </p:txBody>
      </p:sp>
      <p:sp>
        <p:nvSpPr>
          <p:cNvPr id="32" name="Text 29"/>
          <p:cNvSpPr txBox="1"/>
          <p:nvPr/>
        </p:nvSpPr>
        <p:spPr>
          <a:xfrm>
            <a:off x="548640" y="3840480"/>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إِلَّا</a:t>
            </a:r>
            <a:endParaRPr lang="ar-SA" sz="2400" dirty="0"/>
          </a:p>
        </p:txBody>
      </p:sp>
      <p:sp>
        <p:nvSpPr>
          <p:cNvPr id="33" name="Shape 30"/>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5943600" y="4626864"/>
            <a:ext cx="569671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أُفَضِّلُ الْمَدِينَةَ، بَيْنَمَا يُفَضِّلُ أَخِي الرِّيفَ.</a:t>
            </a:r>
            <a:endParaRPr lang="ar-SA" sz="2200" dirty="0"/>
          </a:p>
        </p:txBody>
      </p:sp>
      <p:sp>
        <p:nvSpPr>
          <p:cNvPr id="37" name="Text 34"/>
          <p:cNvSpPr txBox="1"/>
          <p:nvPr/>
        </p:nvSpPr>
        <p:spPr>
          <a:xfrm>
            <a:off x="2944368" y="4626864"/>
            <a:ext cx="28346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whereas / while</a:t>
            </a:r>
            <a:endParaRPr lang="en-US" sz="1100" dirty="0"/>
          </a:p>
        </p:txBody>
      </p:sp>
      <p:sp>
        <p:nvSpPr>
          <p:cNvPr id="38" name="Text 35"/>
          <p:cNvSpPr txBox="1"/>
          <p:nvPr/>
        </p:nvSpPr>
        <p:spPr>
          <a:xfrm>
            <a:off x="548640" y="4626864"/>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بَيْنَمَا</a:t>
            </a:r>
            <a:endParaRPr lang="ar-SA" sz="2400" dirty="0"/>
          </a:p>
        </p:txBody>
      </p:sp>
      <p:sp>
        <p:nvSpPr>
          <p:cNvPr id="39" name="Shape 36"/>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Text 3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ammā … fa- is a pair — never leave out the fa-. Ḥaythu means “where”; do not use it for English “whereas” — baynamā is the clearer contrast linker.</a:t>
            </a:r>
            <a:endParaRPr lang="en-US" sz="11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GM-CP-05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3 · TIME CLAUSES (WEBSITE TABLE) · DEVELOP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After, before, since — with a verb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رَوَابِطُ الزَّمَنِ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199632" y="1810512"/>
            <a:ext cx="54589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(website)</a:t>
            </a:r>
            <a:endParaRPr lang="en-US" sz="1100" dirty="0"/>
          </a:p>
        </p:txBody>
      </p:sp>
      <p:sp>
        <p:nvSpPr>
          <p:cNvPr id="17" name="Text 14"/>
          <p:cNvSpPr txBox="1"/>
          <p:nvPr/>
        </p:nvSpPr>
        <p:spPr>
          <a:xfrm>
            <a:off x="29077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Core use</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Linker</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6217920" y="2267712"/>
            <a:ext cx="542239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بَعْدَمَا أَنْهَيْتُ وَاجِبِي، خَرَجْتُ.</a:t>
            </a:r>
            <a:endParaRPr lang="ar-SA" sz="2200" dirty="0"/>
          </a:p>
        </p:txBody>
      </p:sp>
      <p:sp>
        <p:nvSpPr>
          <p:cNvPr id="21" name="Text 18"/>
          <p:cNvSpPr txBox="1"/>
          <p:nvPr/>
        </p:nvSpPr>
        <p:spPr>
          <a:xfrm>
            <a:off x="29443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past: after an action was done</a:t>
            </a:r>
            <a:endParaRPr lang="en-US" sz="1100" dirty="0"/>
          </a:p>
        </p:txBody>
      </p:sp>
      <p:sp>
        <p:nvSpPr>
          <p:cNvPr id="22" name="Text 19"/>
          <p:cNvSpPr txBox="1"/>
          <p:nvPr/>
        </p:nvSpPr>
        <p:spPr>
          <a:xfrm>
            <a:off x="548640" y="2267712"/>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بَعْدَمَا</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6217920" y="3004718"/>
            <a:ext cx="542239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خَرَجْتُ بَعْدَ أَنْ أَنْهَيْتُ وَاجِبِي.</a:t>
            </a:r>
            <a:endParaRPr lang="ar-SA" sz="2200" dirty="0"/>
          </a:p>
        </p:txBody>
      </p:sp>
      <p:sp>
        <p:nvSpPr>
          <p:cNvPr id="27" name="Text 24"/>
          <p:cNvSpPr txBox="1"/>
          <p:nvPr/>
        </p:nvSpPr>
        <p:spPr>
          <a:xfrm>
            <a:off x="29443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verb: after doing</a:t>
            </a:r>
            <a:endParaRPr lang="en-US" sz="1100" dirty="0"/>
          </a:p>
        </p:txBody>
      </p:sp>
      <p:sp>
        <p:nvSpPr>
          <p:cNvPr id="28" name="Text 25"/>
          <p:cNvSpPr txBox="1"/>
          <p:nvPr/>
        </p:nvSpPr>
        <p:spPr>
          <a:xfrm>
            <a:off x="548640"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بَعْدَ أَنْ</a:t>
            </a:r>
            <a:endParaRPr lang="ar-SA" sz="24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6217920" y="3741725"/>
            <a:ext cx="542239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رَاجِعْ عَمَلَكَ قَبْلَ أَنْ تُسَلِّمَهُ.</a:t>
            </a:r>
            <a:endParaRPr lang="ar-SA" sz="2200" dirty="0"/>
          </a:p>
        </p:txBody>
      </p:sp>
      <p:sp>
        <p:nvSpPr>
          <p:cNvPr id="31" name="Text 28"/>
          <p:cNvSpPr txBox="1"/>
          <p:nvPr/>
        </p:nvSpPr>
        <p:spPr>
          <a:xfrm>
            <a:off x="29443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subjunctive: before doing</a:t>
            </a:r>
            <a:endParaRPr lang="en-US" sz="1100" dirty="0"/>
          </a:p>
        </p:txBody>
      </p:sp>
      <p:sp>
        <p:nvSpPr>
          <p:cNvPr id="32" name="Text 29"/>
          <p:cNvSpPr txBox="1"/>
          <p:nvPr/>
        </p:nvSpPr>
        <p:spPr>
          <a:xfrm>
            <a:off x="548640"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قَبْلَ أَنْ</a:t>
            </a:r>
            <a:endParaRPr lang="ar-SA" sz="2400" dirty="0"/>
          </a:p>
        </p:txBody>
      </p:sp>
      <p:sp>
        <p:nvSpPr>
          <p:cNvPr id="33" name="Shape 3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6217920" y="4478731"/>
            <a:ext cx="542239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أَعْمَلُ هُنَا مُنْذُ عَامٍ.</a:t>
            </a:r>
            <a:endParaRPr lang="ar-SA" sz="2200" dirty="0"/>
          </a:p>
        </p:txBody>
      </p:sp>
      <p:sp>
        <p:nvSpPr>
          <p:cNvPr id="37" name="Text 34"/>
          <p:cNvSpPr txBox="1"/>
          <p:nvPr/>
        </p:nvSpPr>
        <p:spPr>
          <a:xfrm>
            <a:off x="29443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noun: since / for</a:t>
            </a:r>
            <a:endParaRPr lang="en-US" sz="1100" dirty="0"/>
          </a:p>
        </p:txBody>
      </p:sp>
      <p:sp>
        <p:nvSpPr>
          <p:cNvPr id="38" name="Text 35"/>
          <p:cNvSpPr txBox="1"/>
          <p:nvPr/>
        </p:nvSpPr>
        <p:spPr>
          <a:xfrm>
            <a:off x="548640"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مُنْذُ</a:t>
            </a:r>
            <a:endParaRPr lang="ar-SA" sz="24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6217920" y="5215738"/>
            <a:ext cx="542239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تَحَسَّنَتْ لُغَتِي مُنْذُ أَنْ بَدَأْتُ التَّدَرُّبَ.</a:t>
            </a:r>
            <a:endParaRPr lang="ar-SA" sz="2200" dirty="0"/>
          </a:p>
        </p:txBody>
      </p:sp>
      <p:sp>
        <p:nvSpPr>
          <p:cNvPr id="41" name="Text 38"/>
          <p:cNvSpPr txBox="1"/>
          <p:nvPr/>
        </p:nvSpPr>
        <p:spPr>
          <a:xfrm>
            <a:off x="29443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past: since an action began</a:t>
            </a:r>
            <a:endParaRPr lang="en-US" sz="1100" dirty="0"/>
          </a:p>
        </p:txBody>
      </p:sp>
      <p:sp>
        <p:nvSpPr>
          <p:cNvPr id="42" name="Text 39"/>
          <p:cNvSpPr txBox="1"/>
          <p:nvPr/>
        </p:nvSpPr>
        <p:spPr>
          <a:xfrm>
            <a:off x="548640"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مُنْذُ أَنْ</a:t>
            </a:r>
            <a:endParaRPr lang="ar-SA" sz="2400" dirty="0"/>
          </a:p>
        </p:txBody>
      </p:sp>
      <p:sp>
        <p:nvSpPr>
          <p:cNvPr id="43" name="Shape 4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house form: use baʿdamā / baʿda an and qabla an in formal writing (not spoken qabl mā). After qabla an the verb is subjunctive: qabla an adhhaba (GM-V-10).</a:t>
            </a:r>
            <a:endParaRPr lang="en-US" sz="110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GM-CP-05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 believe that sport is important.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أَعْتَقِدُ لِذَلِكَ الرِّيَاضَةُ.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أَعْتَقِدُ إِلَّا الرِّيَاضَةَ.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أَعْتَقِدُ أَنَّ الرِّيَاضَةَ مُهِمَّةٌ.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fully marked form.</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أَظُنُّ أَنَّ الطَّقْسَ جَمِيلٌ.</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أَظُنُّ أَنَّ الطَّقْسُ جَمِيلٌ.</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أَظُنُّ أَنَّ الطَّقْسِ جَمِيلٌ.</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 for online learning, it is flexible.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حَيْثُ التَّعَلُّمُ عَنْ بُعْدٍ مَرِنٌ.</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أَمَّا التَّعَلُّمُ عَنْ بُعْدٍ فَهُوَ مَرِنٌ.</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إِلَّا التَّعَلُّمُ عَنْ بُعْدٍ مَرِنٌ.</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 prefer the city, whereas my brother prefers the countryside.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أُفَضِّلُ الْمَدِينَةَ، بَيْنَمَا يُفَضِّلُ أَخِي الرِّيفَ.</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أُفَضِّلُ الْمَدِينَةَ حَيْثُ يُفَضِّلُ أَخِي الرِّيفَ.</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أُفَضِّلُ الْمَدِينَةَ إِلَّا أَخِي الرِّيفَ.</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GM-CP-05 · Conjunctions and Prepositions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 believe that sport is important.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أَعْتَقِدُ لِذَلِكَ الرِّيَاضَةُ.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أَعْتَقِدُ إِلَّا الرِّيَاضَةَ.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أَعْتَقِدُ أَنَّ الرِّيَاضَةَ مُهِمَّةٌ.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Anna introduces the content of the belief.</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fully marked form.</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أَظُنُّ أَنَّ الطَّقْسَ جَمِيلٌ.</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أَظُنُّ أَنَّ الطَّقْسُ جَمِيلٌ.</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أَظُنُّ أَنَّ الطَّقْسِ جَمِيلٌ.</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subject after anna is accusative.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 for online learning, it is flexible.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حَيْثُ التَّعَلُّمُ عَنْ بُعْدٍ مَرِنٌ.</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أَمَّا التَّعَلُّمُ عَنْ بُعْدٍ فَهُوَ مَرِنٌ.</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إِلَّا التَّعَلُّمُ عَنْ بُعْدٍ مَرِنٌ.</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Ammā … fa- organises a topic and comment.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 prefer the city, whereas my brother prefers the countryside.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أُفَضِّلُ الْمَدِينَةَ، بَيْنَمَا يُفَضِّلُ أَخِي الرِّيفَ.</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أُفَضِّلُ الْمَدِينَةَ حَيْثُ يُفَضِّلُ أَخِي الرِّيفَ.</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أُفَضِّلُ الْمَدِينَةَ إِلَّا أَخِي الرِّيفَ.</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Baynamā expresses the contrast.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GM-CP-05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Watch me build a paragraph, job by job</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View</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أَعْتَقِدُ أَنَّ</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My opinion.</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Reason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لِأَنَّهُ</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Why?</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Topic shift + contrast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أَمَّا … فَـ · وَلَكِنَّهُ</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Plane: fast but costly.</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Result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لِذَلِكَ</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So I prefer the train.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VIEW · RESULT</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TOPIC · CONTRAST</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0E7C86"/>
                </a:solidFill>
                <a:latin typeface="Amiri" pitchFamily="2" charset="-78"/>
                <a:ea typeface="Amiri" pitchFamily="2" charset="-78"/>
                <a:cs typeface="Amiri" pitchFamily="2" charset="-78"/>
              </a:rPr>
              <a:t>أَعْتَقِدُ أَنَّ</a:t>
            </a:r>
            <a:pPr rtl="1" algn="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 السَّفَرَ مُفِيدٌ </a:t>
            </a:r>
            <a:pPr rtl="1" algn="r" indent="0" marL="0">
              <a:lnSpc>
                <a:spcPct val="120000"/>
              </a:lnSpc>
              <a:buNone/>
            </a:pPr>
            <a:r>
              <a:rPr lang="ar-SA" altLang="en-US" sz="1650" b="1" dirty="0">
                <a:solidFill>
                  <a:srgbClr val="0E7C86"/>
                </a:solidFill>
                <a:latin typeface="Amiri" pitchFamily="2" charset="-78"/>
                <a:ea typeface="Amiri" pitchFamily="2" charset="-78"/>
                <a:cs typeface="Amiri" pitchFamily="2" charset="-78"/>
              </a:rPr>
              <a:t>لِأَنَّهُ</a:t>
            </a:r>
            <a:pPr rtl="1" algn="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 يُعَرِّفُنَا بِثَقَافَاتٍ جَدِيدَةٍ. </a:t>
            </a:r>
            <a:pPr rtl="1" algn="r" indent="0" marL="0">
              <a:lnSpc>
                <a:spcPct val="120000"/>
              </a:lnSpc>
              <a:buNone/>
            </a:pPr>
            <a:r>
              <a:rPr lang="ar-SA" altLang="en-US" sz="1650" b="1" dirty="0">
                <a:solidFill>
                  <a:srgbClr val="D6336C"/>
                </a:solidFill>
                <a:latin typeface="Amiri" pitchFamily="2" charset="-78"/>
                <a:ea typeface="Amiri" pitchFamily="2" charset="-78"/>
                <a:cs typeface="Amiri" pitchFamily="2" charset="-78"/>
              </a:rPr>
              <a:t>أَمَّا</a:t>
            </a:r>
            <a:pPr rtl="1" algn="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 السَّفَرُ بِالطَّائِرَةِ </a:t>
            </a:r>
            <a:pPr rtl="1" algn="r" indent="0" marL="0">
              <a:lnSpc>
                <a:spcPct val="120000"/>
              </a:lnSpc>
              <a:buNone/>
            </a:pPr>
            <a:r>
              <a:rPr lang="ar-SA" altLang="en-US" sz="1650" b="1" dirty="0">
                <a:solidFill>
                  <a:srgbClr val="D6336C"/>
                </a:solidFill>
                <a:latin typeface="Amiri" pitchFamily="2" charset="-78"/>
                <a:ea typeface="Amiri" pitchFamily="2" charset="-78"/>
                <a:cs typeface="Amiri" pitchFamily="2" charset="-78"/>
              </a:rPr>
              <a:t>فَهُوَ</a:t>
            </a:r>
            <a:pPr rtl="1" algn="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 سَرِيعٌ، </a:t>
            </a:r>
            <a:pPr rtl="1" algn="r" indent="0" marL="0">
              <a:lnSpc>
                <a:spcPct val="120000"/>
              </a:lnSpc>
              <a:buNone/>
            </a:pPr>
            <a:r>
              <a:rPr lang="ar-SA" altLang="en-US" sz="1650" b="1" dirty="0">
                <a:solidFill>
                  <a:srgbClr val="D6336C"/>
                </a:solidFill>
                <a:latin typeface="Amiri" pitchFamily="2" charset="-78"/>
                <a:ea typeface="Amiri" pitchFamily="2" charset="-78"/>
                <a:cs typeface="Amiri" pitchFamily="2" charset="-78"/>
              </a:rPr>
              <a:t>وَلَكِنَّهُ</a:t>
            </a:r>
            <a:pPr rtl="1" algn="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 مُكْلِفٌ. </a:t>
            </a:r>
            <a:pPr rtl="1" algn="r" indent="0" marL="0">
              <a:lnSpc>
                <a:spcPct val="120000"/>
              </a:lnSpc>
              <a:buNone/>
            </a:pPr>
            <a:r>
              <a:rPr lang="ar-SA" altLang="en-US" sz="1650" b="1" dirty="0">
                <a:solidFill>
                  <a:srgbClr val="0E7C86"/>
                </a:solidFill>
                <a:latin typeface="Amiri" pitchFamily="2" charset="-78"/>
                <a:ea typeface="Amiri" pitchFamily="2" charset="-78"/>
                <a:cs typeface="Amiri" pitchFamily="2" charset="-78"/>
              </a:rPr>
              <a:t>لِذَلِكَ</a:t>
            </a:r>
            <a:pPr rtl="1" algn="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 أُفَضِّلُ الْقِطَارَ عِنْدَمَا يَكُونُ ذَلِكَ مُمْكِنًا.</a:t>
            </a:r>
            <a:endParaRPr lang="ar-SA" sz="16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 believe that travel is useful because it introduces us to new cultures. As for travelling by plane, it is fast, but it is expensive. So I prefer the train when that is possible.</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GM-CP-05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GM-CP-05</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بَعْدَمَا وَصَلْنَا إِلَى الْمَدِينَةِ، ذَهَبْنَا إِلَى الْفُنْدُقِ.</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After we arrived in the city, we went to the hotel.</a:t>
            </a:r>
            <a:endParaRPr lang="en-US" sz="1250" dirty="0"/>
          </a:p>
          <a:p>
            <a:pPr indent="0" marL="0">
              <a:buNone/>
            </a:pPr>
            <a:r>
              <a:rPr lang="en-US" sz="1050" i="1" dirty="0">
                <a:solidFill>
                  <a:srgbClr val="8A6D1E"/>
                </a:solidFill>
                <a:latin typeface="Calibri" pitchFamily="34" charset="0"/>
                <a:cs typeface="Amiri" pitchFamily="2" charset="-78"/>
              </a:rPr>
              <a:t>Website.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ثُمَّ خَرَجْنَا حَيْثُ تُوجَدُ الْمَطَاعِمُ الشَّهِيرَةُ.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Then we went out to where the famous restaurants are.</a:t>
            </a:r>
            <a:endParaRPr lang="en-US" sz="1250" dirty="0"/>
          </a:p>
          <a:p>
            <a:pPr indent="0" marL="0">
              <a:buNone/>
            </a:pPr>
            <a:r>
              <a:rPr lang="en-US" sz="1050" i="1" dirty="0">
                <a:solidFill>
                  <a:srgbClr val="8A6D1E"/>
                </a:solidFill>
                <a:latin typeface="Calibri" pitchFamily="34" charset="0"/>
                <a:cs typeface="Amiri" pitchFamily="2" charset="-78"/>
              </a:rPr>
              <a:t>ḥaythu = where.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آكُلُ كُلَّ الْفَوَاكِهِ إِلَّا الْمَوْزَ.</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eat all fruit except bananas.</a:t>
            </a:r>
            <a:endParaRPr lang="en-US" sz="1250" dirty="0"/>
          </a:p>
          <a:p>
            <a:pPr indent="0" marL="0">
              <a:buNone/>
            </a:pPr>
            <a:r>
              <a:rPr lang="en-US" sz="1050" i="1" dirty="0">
                <a:solidFill>
                  <a:srgbClr val="8A6D1E"/>
                </a:solidFill>
                <a:latin typeface="Calibri" pitchFamily="34" charset="0"/>
                <a:cs typeface="Amiri" pitchFamily="2" charset="-78"/>
              </a:rPr>
              <a:t>illā.</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رَاجِعِ الْإِجَابَةَ قَبْلَ أَنْ تُسَلِّمَهَا.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Check the answer before you hand it in.</a:t>
            </a:r>
            <a:endParaRPr lang="en-US" sz="1250" dirty="0"/>
          </a:p>
          <a:p>
            <a:pPr indent="0" marL="0">
              <a:buNone/>
            </a:pPr>
            <a:r>
              <a:rPr lang="en-US" sz="1050" i="1" dirty="0">
                <a:solidFill>
                  <a:srgbClr val="8A6D1E"/>
                </a:solidFill>
                <a:latin typeface="Calibri" pitchFamily="34" charset="0"/>
                <a:cs typeface="Amiri" pitchFamily="2" charset="-78"/>
              </a:rPr>
              <a:t>qabla an + subj.</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GM-CP-05 · Conjunctions and Prepositions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MAKE THE RELATIONSHIP PRECISE (WEBSITE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clause linker?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الرَّابِطَ الْمُنَاسِبَ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Job</a:t>
            </a:r>
            <a:endParaRPr lang="en-US" sz="1100" dirty="0"/>
          </a:p>
        </p:txBody>
      </p:sp>
      <p:sp>
        <p:nvSpPr>
          <p:cNvPr id="17" name="Text 14"/>
          <p:cNvSpPr txBox="1"/>
          <p:nvPr/>
        </p:nvSpPr>
        <p:spPr>
          <a:xfrm>
            <a:off x="60167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Linker</a:t>
            </a:r>
            <a:endParaRPr lang="en-US" sz="1100" dirty="0"/>
          </a:p>
        </p:txBody>
      </p:sp>
      <p:sp>
        <p:nvSpPr>
          <p:cNvPr id="18" name="Text 15"/>
          <p:cNvSpPr txBox="1"/>
          <p:nvPr/>
        </p:nvSpPr>
        <p:spPr>
          <a:xfrm>
            <a:off x="530352" y="1810512"/>
            <a:ext cx="5340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Sentence</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430768" y="226771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content of a belief</a:t>
            </a:r>
            <a:endParaRPr lang="en-US" sz="1100" dirty="0"/>
          </a:p>
        </p:txBody>
      </p:sp>
      <p:sp>
        <p:nvSpPr>
          <p:cNvPr id="21" name="Text 18"/>
          <p:cNvSpPr txBox="1"/>
          <p:nvPr/>
        </p:nvSpPr>
        <p:spPr>
          <a:xfrm>
            <a:off x="6035040" y="226771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a:t>
            </a:r>
            <a:endParaRPr lang="ar-SA" sz="2400" dirty="0"/>
          </a:p>
        </p:txBody>
      </p:sp>
      <p:sp>
        <p:nvSpPr>
          <p:cNvPr id="22" name="Text 19"/>
          <p:cNvSpPr txBox="1"/>
          <p:nvPr/>
        </p:nvSpPr>
        <p:spPr>
          <a:xfrm>
            <a:off x="548640" y="2267712"/>
            <a:ext cx="53035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أَعْتَقِدُ … الدِّرَاسَةَ مُفِيدَةٌ.</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430768" y="2881884"/>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topic + comment</a:t>
            </a:r>
            <a:endParaRPr lang="en-US" sz="1100" dirty="0"/>
          </a:p>
        </p:txBody>
      </p:sp>
      <p:sp>
        <p:nvSpPr>
          <p:cNvPr id="27" name="Text 24"/>
          <p:cNvSpPr txBox="1"/>
          <p:nvPr/>
        </p:nvSpPr>
        <p:spPr>
          <a:xfrm>
            <a:off x="6035040" y="2881884"/>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أَمَّا … فَـ</a:t>
            </a:r>
            <a:endParaRPr lang="ar-SA" sz="2400" dirty="0"/>
          </a:p>
        </p:txBody>
      </p:sp>
      <p:sp>
        <p:nvSpPr>
          <p:cNvPr id="28" name="Text 25"/>
          <p:cNvSpPr txBox="1"/>
          <p:nvPr/>
        </p:nvSpPr>
        <p:spPr>
          <a:xfrm>
            <a:off x="548640" y="2881884"/>
            <a:ext cx="53035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 الْقِطَارُ … هُوَ مُرِيحٌ.</a:t>
            </a:r>
            <a:endParaRPr lang="ar-SA" sz="22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430768" y="3496056"/>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place</a:t>
            </a:r>
            <a:endParaRPr lang="en-US" sz="1100" dirty="0"/>
          </a:p>
        </p:txBody>
      </p:sp>
      <p:sp>
        <p:nvSpPr>
          <p:cNvPr id="33" name="Text 30"/>
          <p:cNvSpPr txBox="1"/>
          <p:nvPr/>
        </p:nvSpPr>
        <p:spPr>
          <a:xfrm>
            <a:off x="6035040" y="3496056"/>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حَيْثُ</a:t>
            </a:r>
            <a:endParaRPr lang="ar-SA" sz="2400" dirty="0"/>
          </a:p>
        </p:txBody>
      </p:sp>
      <p:sp>
        <p:nvSpPr>
          <p:cNvPr id="34" name="Text 31"/>
          <p:cNvSpPr txBox="1"/>
          <p:nvPr/>
        </p:nvSpPr>
        <p:spPr>
          <a:xfrm>
            <a:off x="548640" y="3496056"/>
            <a:ext cx="53035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أَسْكُنُ … تَتَوَفَّرُ الْخِدْمَاتُ.</a:t>
            </a:r>
            <a:endParaRPr lang="ar-SA" sz="22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8430768" y="4110228"/>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exception</a:t>
            </a:r>
            <a:endParaRPr lang="en-US" sz="1100" dirty="0"/>
          </a:p>
        </p:txBody>
      </p:sp>
      <p:sp>
        <p:nvSpPr>
          <p:cNvPr id="37" name="Text 34"/>
          <p:cNvSpPr txBox="1"/>
          <p:nvPr/>
        </p:nvSpPr>
        <p:spPr>
          <a:xfrm>
            <a:off x="6035040" y="4110228"/>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إِلَّا</a:t>
            </a:r>
            <a:endParaRPr lang="ar-SA" sz="2400" dirty="0"/>
          </a:p>
        </p:txBody>
      </p:sp>
      <p:sp>
        <p:nvSpPr>
          <p:cNvPr id="38" name="Text 35"/>
          <p:cNvSpPr txBox="1"/>
          <p:nvPr/>
        </p:nvSpPr>
        <p:spPr>
          <a:xfrm>
            <a:off x="548640" y="4110228"/>
            <a:ext cx="53035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أُحِبُّ كُلَّ الْمَوَادِّ … الرِّيَاضِيَّاتِ.</a:t>
            </a:r>
            <a:endParaRPr lang="ar-SA" sz="2200" dirty="0"/>
          </a:p>
        </p:txBody>
      </p:sp>
      <p:sp>
        <p:nvSpPr>
          <p:cNvPr id="39" name="Shape 36"/>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430768" y="4724400"/>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 (completed)</a:t>
            </a:r>
            <a:endParaRPr lang="en-US" sz="1100" dirty="0"/>
          </a:p>
        </p:txBody>
      </p:sp>
      <p:sp>
        <p:nvSpPr>
          <p:cNvPr id="43" name="Text 40"/>
          <p:cNvSpPr txBox="1"/>
          <p:nvPr/>
        </p:nvSpPr>
        <p:spPr>
          <a:xfrm>
            <a:off x="6035040" y="4724400"/>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بَعْدَمَا</a:t>
            </a:r>
            <a:endParaRPr lang="ar-SA" sz="2400" dirty="0"/>
          </a:p>
        </p:txBody>
      </p:sp>
      <p:sp>
        <p:nvSpPr>
          <p:cNvPr id="44" name="Text 41"/>
          <p:cNvSpPr txBox="1"/>
          <p:nvPr/>
        </p:nvSpPr>
        <p:spPr>
          <a:xfrm>
            <a:off x="548640" y="4724400"/>
            <a:ext cx="53035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 أَنْهَيْتُ وَاجِبِي، خَرَجْتُ.</a:t>
            </a:r>
            <a:endParaRPr lang="ar-SA" sz="22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430768" y="533857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before (subjunctive)</a:t>
            </a:r>
            <a:endParaRPr lang="en-US" sz="1100" dirty="0"/>
          </a:p>
        </p:txBody>
      </p:sp>
      <p:sp>
        <p:nvSpPr>
          <p:cNvPr id="47" name="Text 44"/>
          <p:cNvSpPr txBox="1"/>
          <p:nvPr/>
        </p:nvSpPr>
        <p:spPr>
          <a:xfrm>
            <a:off x="6035040" y="533857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قَبْلَ أَنْ</a:t>
            </a:r>
            <a:endParaRPr lang="ar-SA" sz="2400" dirty="0"/>
          </a:p>
        </p:txBody>
      </p:sp>
      <p:sp>
        <p:nvSpPr>
          <p:cNvPr id="48" name="Text 45"/>
          <p:cNvSpPr txBox="1"/>
          <p:nvPr/>
        </p:nvSpPr>
        <p:spPr>
          <a:xfrm>
            <a:off x="548640" y="5338572"/>
            <a:ext cx="53035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رَاجِعْ عَمَلَكَ … تُسَلِّمَهُ.</a:t>
            </a:r>
            <a:endParaRPr lang="ar-SA" sz="22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game: choose the clause linker that makes the paragraph relationship precise.</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GM-CP-05 · Conjunctions and Prepositions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PARAGRAPH JOBS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job does each signal do?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وَظِيفَةُ الرَّابِطِ</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أَعْتَقِدُ أَنَّ</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وَجْهَةِ نَظَرِي</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بِسَبَبِ</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بَيْنَمَا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عَلَى الرَّغْمِ مِنْ ذَلِكَ</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بِالْإِضَافَةِ إِلَى ذَلِكَ</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لِذَلِكَ</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وَمِنْ ثَمَّ</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View / reason</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Contrast / balance</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Development / result</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GM-CP-05 · Conjunctions and Prepositions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GM-CP-05</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View / reason</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أَعْتَقِدُ أَنَّ</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وَجْهَةِ نَظَرِي</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بِسَبَبِ</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Contrast / balance</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بَيْنَمَا</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عَلَى الرَّغْمِ مِنْ ذَلِكَ</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Development / result</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بِالْإِضَافَةِ إِلَى ذَلِكَ</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لِذَلِكَ</a:t>
            </a:r>
            <a:endParaRPr lang="ar-SA" sz="1800" dirty="0"/>
          </a:p>
        </p:txBody>
      </p:sp>
      <p:sp>
        <p:nvSpPr>
          <p:cNvPr id="38" name="Shape 35"/>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وَمِنْ ثَمَّ</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GM-CP-05 · Conjunctions and Prepositions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أَعْتَقِدُ لِأَنَّ التَّعَلُّمُ مُهِمٌّ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Because or that?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أَمَّا الْقِطَارُ هُوَ سَرِيعٌ</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Where is the fa-?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أُفَضِّلُ الْمَدِينَةَ حَيْثُ أَخِي يُفَضِّلُ الرِّيفَ</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Place or contrast?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GM-CP-05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أَعْتَقِدُ لِأَنَّ التَّعَلُّمُ مُهِمٌّ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أَعْتَقِدُ أَنَّ التَّعَلُّمَ مُهِمٌّ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Belief content uses anna, with an accusative subject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أَمَّا الْقِطَارُ هُوَ سَرِيعٌ</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أَمَّا الْقِطَارُ فَهُوَ سَرِيعٌ</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Ammā pairs with fa-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أُفَضِّلُ الْمَدِينَةَ حَيْثُ أَخِي يُفَضِّلُ الرِّيفَ</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أُفَضِّلُ الْمَدِينَةَ، بَيْنَمَا يُفَضِّلُ أَخِي الرِّيفَ</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Contrast is baynamā, not ḥaythu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GM-CP-05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GUIDED PRACTICE · WEBSITE CONTENT CLAUSE, SPECIFIC LINK AND TIME CLAUSE CHECKS</a:t>
            </a:r>
            <a:endParaRPr lang="en-US" sz="8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It is clear that prices increased.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الْوَاضِحِ لِأَنَّ الْأَسْعَارُ.</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الْوَاضِحِ إِلَّا الْأَسْعَارَ.</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الْوَاضِحِ أَنَّ الْأَسْعَارَ ارْتَفَعَتْ.</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 eat all fruit except bananas.</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آكُلُ كُلَّ الْفَوَاكِهِ حَيْثُ الْمَوْزَ.</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آكُلُ كُلَّ الْفَوَاكِهِ إِلَّا الْمَوْزَ.</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آكُلُ كُلَّ الْفَوَاكِهِ لِذَلِكَ الْمَوْزَ.</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Check the answer before you submit it.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رَاجِعِ الْإِجَابَةَ بَعْدَمَا تُسَلِّمُهَا.</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رَاجِعِ الْإِجَابَةَ قَبْلَ أَنْ تُسَلِّمَهَا.</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رَاجِعِ الْإِجَابَةَ إِلَّا تُسَلِّمَهَا.</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Formal form for “before I leave”.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قَبْلَ مَا أَخْرُجُ</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قَبْلَ أَنَّ أَخْرُجَ</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قَبْلَ أَنْ أَخْرُجَ</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GM-CP-05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It is clear that prices increased.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الْوَاضِحِ لِأَنَّ الْأَسْعَارُ.</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الْوَاضِحِ إِلَّا الْأَسْعَارَ.</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 الْوَاضِحِ أَنَّ الْأَسْعَارَ ارْتَفَعَتْ.</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Min al-wāḍiḥ anna is a useful formal frame.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 eat all fruit except bananas.</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آكُلُ كُلَّ الْفَوَاكِهِ حَيْثُ الْمَوْزَ.</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آكُلُ كُلَّ الْفَوَاكِهِ إِلَّا الْمَوْزَ.</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آكُلُ كُلَّ الْفَوَاكِهِ لِذَلِكَ الْمَوْزَ.</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Illā introduces the exception.</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Check the answer before you submit it.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رَاجِعِ الْإِجَابَةَ بَعْدَمَا تُسَلِّمُهَا.</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رَاجِعِ الْإِجَابَةَ قَبْلَ أَنْ تُسَلِّمَهَا.</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رَاجِعِ الْإِجَابَةَ إِلَّا تُسَلِّمَهَا.</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Qabla an + subjunctive.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Formal form for “before I leave”.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قَبْلَ مَا أَخْرُجُ</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قَبْلَ أَنَّ أَخْرُجَ</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قَبْلَ أَنْ أَخْرُجَ</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Qabla an + subjunctive is the formal target.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GM-CP-05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88" b="1" spc="150" kern="0" dirty="0">
                <a:solidFill>
                  <a:srgbClr val="1E6B52"/>
                </a:solidFill>
                <a:latin typeface="Calibri" pitchFamily="34" charset="0"/>
                <a:cs typeface="Amiri" pitchFamily="2" charset="-78"/>
              </a:rPr>
              <a:t>YOU DO · READ AND NOTICE · WEBSITE SKILLS WORKSHOP (TEACHER-WRITTEN PARAGRAPH)</a:t>
            </a:r>
            <a:endParaRPr lang="en-US" sz="88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Holidays at home or abroad?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GM-CP-05</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أَعْتَقِدُ أَنَّ الْعُطْلَةَ ضَرُورِيَّةٌ لِلرَّاحَةِ. بَعْضُ النَّاسِ يُسَافِرُونَ إِلَى الْخَارِجِ، بَيْنَمَا يَبْقَى آخَرُونَ فِي بِلَادِهِمْ. أَمَّا أُسْرَتِي فَتُفَضِّلُ الرِّيفَ، حَيْثُ الْهَوَاءُ نَقِيٌّ وَالْحَيَاةُ هَادِئَةٌ. نَحْجِزُ كُلَّ شَيْءٍ قَبْلَ أَنْ نُسَافِرَ بِشَهْرٍ، وَبَعْدَمَا نَصِلُ نُطْفِئُ الْهَوَاتِفَ إِلَّا هَاتِفَ أَبِي. مُنْذُ أَنْ بَدَأْنَا هَذِهِ الْعَادَةَ، أَصْبَحَتْ عُطْلَاتُنَا أَجْمَلَ، لِذَلِكَ لَنْ نُغَيِّرَهَا.</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ضَرُورِيَّةٌ</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necessary</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نَقِيٌّ</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pure / clean</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نَحْجِزُ</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book</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نُطْفِئُ</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switch off</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الْعَادَةَ</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habit</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GM-CP-05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linker shows a contrast between two groups?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حَيْثُ</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بَيْنَمَا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إِلَّا</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family prefer the countryside?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cheap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near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air is clean and life is calm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Whose phone stays 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father’s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nobody’s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 they book?</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they arrive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month before they travel</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day</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GM-CP-05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linker shows a contrast between two groups?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حَيْثُ</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بَيْنَمَا</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إِلَّا</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Some travel abroad, whereas others stay.</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family prefer the countryside?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cheap</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near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air is clean and life is calm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Ḥaythu l-hawāʾu naqiyy.</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Whose phone stays on?</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father’s</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writer’s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nobody’s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Illā hātifa abī.</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 they book?</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after they arrive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month before they travel</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the day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Qabla an nusāfira bi-shahr.</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GM-CP-05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Speaking: one extended, linked answer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رَأْيُكَ فِي التَّعَلُّمِ عَنْ بُعْدٍ؟</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تَفْعَلُ قَبْلَ أَنْ تَنَامَ، وَبَعْدَمَا تَسْتَيْقِظُ؟</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قَارِنْ بَيْنَ السَّكَنِ فِي الْمَدِينَةِ وَالسَّكَنِ فِي الرِّيفِ.</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أَعْتَقِدُ أَنَّ ___ لِأَنَّ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قَبْلَ أَنْ أَنَامَ ___ ، وَبَعْدَمَا أَسْتَيْقِظُ ___ .</a:t>
            </a:r>
            <a:endParaRPr lang="ar-SA" sz="14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2" charset="-78"/>
                <a:ea typeface="Amiri" pitchFamily="2" charset="-78"/>
                <a:cs typeface="Amiri" pitchFamily="2" charset="-78"/>
              </a:rPr>
              <a:t>أَمَّا الْمَدِينَةُ فَهِيَ ___ ، بَيْنَمَا الرِّيفُ ___ .</a:t>
            </a:r>
            <a:endParaRPr lang="ar-SA" sz="13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رَأْيُكِ فِي الْمُوَاصَلَاتِ فِي مَدِينَتِكِ؟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do you think of the transport in your city?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أَعْتَقِدُ أَنَّهَا جَيِّدَةٌ. أَمَّا الْحَافِلَاتُ فَهِيَ رَخِيصَةٌ، بَيْنَمَا الْقِطَارُ أَسْرَعُ. مُنْذُ أَنْ فُتِحَ خَطٌّ جَدِيدٌ، أَصِلُ إِلَى الْمَدْرَسَةِ فِي عِشْرِينَ دَقِيقَةً.</a:t>
            </a:r>
            <a:endParaRPr lang="ar-SA" sz="14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 think it is good. As for the buses, they are cheap, whereas the train is faster. Since a new line opened, I get to school in twenty minutes.</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GM-CP-05 · Conjunctions and Prepositions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My view on one topic with a reason.</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aʿtaqidu anna · li-anna · baʿdamā.</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9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topic shift and a contrast.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ammā … fa- · baynamā · illā.</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130–140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 with five planned paragraph jobs.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Label every connector by function.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GM-CP-05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أَمَّا ______ فَهُوَ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As for …, it is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كُلَّ شَيْءٍ إِلَّا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everything except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أُفَضِّلُ ______ ، بَيْنَمَا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prefer …, whereas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الْوَاضِحِ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clear that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أَعْتَقِدُ أَنَّ ______ لِأَنَّ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think that … because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بَعْدَمَا أَنْهَيْتُ ______ ،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After I finished …, I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قَبْلَ أَنْ أُسَافِرَ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Before I travel, I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مُنْذُ أَنْ بَدَأْتُ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Since I started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أَعْتَقِدُ أَنَّ  ·  أَظُنُّ أَنَّ  ·  مِنَ الْوَاضِحِ أَنَّ  ·  أَمَّا … فَـ  ·  حَيْثُ  ·  إِلَّا  ·  بَيْنَمَا  ·  بَعْدَمَا  ·  قَبْلَ أَنْ  ·  مُنْذُ أَنْ  ·  بِالْإِضَافَةِ إِلَى ذَلِكَ  ·  لِذَلِكَ</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GM-CP-05 · Conjunctions and Prepositions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extended cohesive response: 130–140 words on one topic, planned as five paragraph jobs.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aʿtaqidu anna + accusative subject.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reason → result chain.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ammā … fa- topic shift.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contrast (baynamā / lākin).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time clause (baʿdamā / qabla an + subj. / mundhu an).</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وَجْهَةِ نَظَرِي</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from my point of view</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بِالْإِضَافَةِ إِلَى ذَلِكَ</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addition</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عَلَى الرَّغْمِ مِنْ ذَلِكَ</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despite that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وَمِنْ ثَمَّ</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consequently</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نَاحِيَةٍ أُخْرَى</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on the other hand</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الْخِتَامِ</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conclusion</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GM-CP-05 · Conjunctions and Prepositions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50" dirty="0">
                <a:solidFill>
                  <a:srgbClr val="1F2A37"/>
                </a:solidFill>
                <a:latin typeface="Amiri" pitchFamily="2" charset="-78"/>
                <a:ea typeface="Amiri" pitchFamily="2" charset="-78"/>
                <a:cs typeface="Amiri" pitchFamily="2" charset="-78"/>
              </a:rPr>
              <a:t>أَعْتَقِدُ أَنَّ حِمَايَةَ الْبِيئَةِ مَسْؤُولِيَّةُ الْجَمِيعِ، لِأَنَّنَا نَعِيشُ عَلَى كَوْكَبٍ وَاحِدٍ. أَمَّا الْحُكُومَاتُ فَعَلَيْهَا أَنْ تَضَعَ قَوَانِينَ قَوِيَّةً، بَيْنَمَا يَسْتَطِيعُ كُلُّ فَرْدٍ أَنْ يُغَيِّرَ عَادَاتِهِ الْيَوْمِيَّةَ. مُنْذُ أَنْ بَدَأَتْ مَدْرَسَتُنَا بِرْنَامَجَ إِعَادَةِ التَّدْوِيرِ، قَلَّتِ النُّفَايَاتُ كَثِيرًا. بِالْإِضَافَةِ إِلَى ذَلِكَ، أَصْبَحْنَا نَمْشِي إِلَى الْمَدْرَسَةِ إِلَّا فِي الْأَيَّامِ الْمُمْطِرَةِ. قَبْلَ أَنْ نَشْتَرِيَ شَيْئًا جَدِيدًا، نَسْأَلُ: هَلْ نَحْتَاجُهُ حَقًّا؟ عَلَى الرَّغْمِ مِنْ ذَلِكَ، مَا زَالَ أَمَامَنَا عَمَلٌ كَثِيرٌ، لِذَلِكَ يَجِبُ أَنْ نَتَعَاوَنَ جَمِيعًا.</a:t>
            </a:r>
            <a:endParaRPr lang="ar-SA" sz="23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believe that protecting the environment is everyone’s responsibility, because we live on one planet. As for governments, they must make strong laws, whereas every individual can change their daily habits. Since our school started a recycling programme, waste has fallen a lot. In addition, we now walk to school except on rainy days. Before we buy something new, we ask: do we really need it? Despite that, we still have a lot of work ahead, so we must all cooperate.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view (anna)</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topic shift (ammā … fa-)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contrast / exception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time clause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GM-CP-05 · Conjunctions and Prepositions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gave my view with aʿtaqidu anna.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one time clause correctly.</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ammā has its fa-.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baynamā (not ḥaythu) for contrast.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Each connector does a real job — no random links.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GM-CP-05 · Conjunctions and Prepositions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pair: ammā l-ḥāfila ___ hiya arkhaṣ.</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فَـ</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clear “whereas” contrast?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حَيْثُ</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بَيْنَمَا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final editing question?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Does each connector express the relationship I intend?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Have I used the longest possible word?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Have I removed all simple connectors?</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GM-CP-05 · Conjunctions and Prepositions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pair: ammā l-ḥāfila ___ hiya arkhaṣ.</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فَـ</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لِأَنَّ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إِلَّا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Ammā pairs with fa-.</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clear “whereas” contrast?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حَيْثُ</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بَيْنَمَا</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إِلَّا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Baynamā is the clearer contrast linker.</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final editing question?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Does each connector express the relationship I intend?</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Have I used the longest possible word?</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Have I removed all simple connectors?</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Logical accuracy is the foundation of cohesion.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GM-CP-05 · Conjunctions and Prepositions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Before GM-NUM-01: get ready at home</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Conjunctions and Prepositions · GM-CP-05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GM-NUM-01 · Numbers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وَاحِدٌ</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one</a:t>
            </a:r>
            <a:pPr indent="0" marL="0">
              <a:buNone/>
            </a:pPr>
            <a:r>
              <a:rPr lang="ar-SA" sz="1000" i="1" dirty="0">
                <a:solidFill>
                  <a:srgbClr val="5A6472"/>
                </a:solidFill>
                <a:latin typeface="Calibri" pitchFamily="34" charset="0"/>
                <a:ea typeface="Amiri" pitchFamily="2" charset="-78"/>
                <a:cs typeface="Amiri" pitchFamily="2" charset="-78"/>
              </a:rPr>
              <a:t>  ١</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خَمْسَةٌ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five</a:t>
            </a:r>
            <a:pPr indent="0" marL="0">
              <a:buNone/>
            </a:pPr>
            <a:r>
              <a:rPr lang="ar-SA" sz="1000" i="1" dirty="0">
                <a:solidFill>
                  <a:srgbClr val="5A6472"/>
                </a:solidFill>
                <a:latin typeface="Calibri" pitchFamily="34" charset="0"/>
                <a:ea typeface="Amiri" pitchFamily="2" charset="-78"/>
                <a:cs typeface="Amiri" pitchFamily="2" charset="-78"/>
              </a:rPr>
              <a:t>  ٥</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عَشَرَةٌ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ten</a:t>
            </a:r>
            <a:pPr indent="0" marL="0">
              <a:buNone/>
            </a:pPr>
            <a:r>
              <a:rPr lang="ar-SA" sz="1000" i="1" dirty="0">
                <a:solidFill>
                  <a:srgbClr val="5A6472"/>
                </a:solidFill>
                <a:latin typeface="Calibri" pitchFamily="34" charset="0"/>
                <a:ea typeface="Amiri" pitchFamily="2" charset="-78"/>
                <a:cs typeface="Amiri" pitchFamily="2" charset="-78"/>
              </a:rPr>
              <a:t>  ١٠</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عِشْرُونَ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twenty</a:t>
            </a:r>
            <a:pPr indent="0" marL="0">
              <a:buNone/>
            </a:pPr>
            <a:r>
              <a:rPr lang="ar-SA" sz="1000" i="1" dirty="0">
                <a:solidFill>
                  <a:srgbClr val="5A6472"/>
                </a:solidFill>
                <a:latin typeface="Calibri" pitchFamily="34" charset="0"/>
                <a:ea typeface="Amiri" pitchFamily="2" charset="-78"/>
                <a:cs typeface="Amiri" pitchFamily="2" charset="-78"/>
              </a:rPr>
              <a:t>  ٢٠</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مِئَةٌ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hundred</a:t>
            </a:r>
            <a:pPr indent="0" marL="0">
              <a:buNone/>
            </a:pPr>
            <a:r>
              <a:rPr lang="ar-SA" sz="1000" i="1" dirty="0">
                <a:solidFill>
                  <a:srgbClr val="5A6472"/>
                </a:solidFill>
                <a:latin typeface="Calibri" pitchFamily="34" charset="0"/>
                <a:ea typeface="Amiri" pitchFamily="2" charset="-78"/>
                <a:cs typeface="Amiri" pitchFamily="2" charset="-78"/>
              </a:rPr>
              <a:t>  ١٠٠</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Can you count to ten in Arabic? Which number words do you already know?</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وَاحِدٌ · اثْنَانِ ·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five opinion sentences with aʿtaqidu anna.</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 short paragraph with ammā … fa-, baynamā and illā.</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extended response (130–140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GM-CP-05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GM-NUM-01 · Numbers</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الْأَرْقَامُ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aʿtaqidu anna + accusative · ammā … fa- (both halves) · ḥaythu = where · baynamā = whereas · illā = except · qabla an + subjunctive · every link must do a job.</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GM-CP-05 · Clause Linkers and Paragraph Cohesion</dc:title>
  <dc:subject>PptxGenJS Presentation</dc:subject>
  <dc:creator>Al Madina Online School · Arabic Department</dc:creator>
  <cp:lastModifiedBy>Al Madina Online School · Arabic Department</cp:lastModifiedBy>
  <cp:revision>1</cp:revision>
  <dcterms:created xsi:type="dcterms:W3CDTF">2026-10-11T06:42:13Z</dcterms:created>
  <dcterms:modified xsi:type="dcterms:W3CDTF">2026-10-11T06:42:13Z</dcterms:modified>
</cp:coreProperties>
</file>