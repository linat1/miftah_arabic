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GM-CP-05 (“Clause Linkers and Paragraph Cohesion”).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أَعْتَقِدُ أَنَّ + opinion, and time clauses بَعْدَمَا + past, قَبْلَ أَنْ + subjunctive, مُنْذُ أَنْ. Develop: أَمَّا … فَـ (topic shift), حَيْثُ (where), إِلَّا (except), بَيْنَمَا (whereas). Stretch: plan a 130–140-word paragraph with five paragraph jobs (view, reason, contrast, development, result).
• Website (Cambridge Paper 4): there are no automatic marks for “advanced” linkers. One accurate complex sentence beats several memorised linkers placed unnaturally.
• Website translation correction: ḥaythu = where (in the place where) — use baynamā for “whereas”.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the GM-CP-04 prep words ʿindamā, qabla an, baʿda an, baynamā.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link has a job: view (anna), topic (ammā … fa-), contrast (baynamā), exception (illā), time (baʿdamā, qabla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“Content clauses with anna”. Qāla takes inna (not anna) — a Stretch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“Specific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“Time clauses”. Compare GM-CP-02: qabla d-dars (noun) vs qabla an adrusa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Content Clause and Specific Link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“Build a cohesive paragraph”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“Build a cohesive paragraph” signal table.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“Build a cohesive paragraph” signal table.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Content Clause, Specific Link and Time Clause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paragraph). Read it aloud once while students follow; then they hunt for today’s grammar.
Task: Website: label each connector by function, then reconstruct the paragraph plan (view, contrast, topic, time, result).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paragraph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extend spoken answers with precise links — view, topic shift, contrast,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Arabic words on one topic: online learning, transport, holidays, technology or the environment. Organise the response into a clear sequence of ideas rather than a list of sentences.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(GM-NUM-01 · Numbers) will spend class time USING this language, so students prepare it tonight — short, simple, easy to access (school guidance: “Simple, Short, Interesting, Relevant, Easy to access”). The five words prepare GM-NUM-01 (website Numeracy Mastery 01: numbers).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Clause Linkers and Paragraph Cohesion</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رَوَابِطُ الْجُمَلِ وَتَمَاسُكُ الْفِقْرَةِ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a paragraph, not a list: aʿtaqidu anna (I think that), ammā … fa- (as for … ), baynamā (whereas), illā (except), baʿdamā / qabla an (after / before). Each link must do a real job.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anna clauses; ammā … fa-, ḥaythu, illā, baynamā; time clauses; paragraph jobs.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clause linker; sort paragraph jobs;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أَعْتَقِدُ ___ التَّعَلُّمَ مُهِمٌّ.</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topic-shift frame.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السَّفَرُ بِالْقِطَارِ فَهُوَ مُرِيحٌ.</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السَّفَرُ بِالْقِطَارِ فَهُوَ.</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إِلَّا السَّفَرُ فَهُوَ.</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formal “before I leave”.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قَبْلَ مَا أَخْرُجُ</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بَعْدَ أَنْ أَخْرُجَ</a:t>
            </a:r>
            <a:endParaRPr lang="ar-SA" sz="220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قَبْلَ أَنْ أَخْرُجَ</a:t>
            </a:r>
            <a:endParaRPr lang="ar-SA" sz="220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“since I began studying”.</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إِلَّا أَنْ بَدَأْتُ</a:t>
            </a:r>
            <a:endParaRPr lang="ar-SA" sz="220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حَيْثُ بَدَأْتُ</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مُنْذُ أَنْ بَدَأْتُ الدِّرَاسَةَ</a:t>
            </a:r>
            <a:endParaRPr lang="ar-SA" sz="220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less common connectors earn automatic marks?</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range and accuracy are judged in the whole response.</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each rare connector guarantees one mark.</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if written in English too.</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أَعْتَقِدُ ___ التَّعَلُّمَ مُهِمٌّ.</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Anna introduces the content of the belief.</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topic-shift frame.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السَّفَرُ بِالْقِطَارِ فَهُوَ مُرِيحٌ.</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السَّفَرُ بِالْقِطَارِ فَهُوَ.</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إِلَّا السَّفَرُ فَهُوَ.</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Ammā introduces a topic and fa- the comment.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formal “before I leave”.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قَبْلَ مَا أَخْرُجُ</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بَعْدَ أَنْ أَخْرُجَ</a:t>
            </a:r>
            <a:endParaRPr lang="ar-SA" sz="22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قَبْلَ أَنْ أَخْرُجَ</a:t>
            </a:r>
            <a:endParaRPr lang="ar-SA" sz="22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Mundhu an introduces a starting action.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“since I began studying”.</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إِلَّا أَنْ بَدَأْتُ</a:t>
            </a:r>
            <a:endParaRPr lang="ar-SA" sz="2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حَيْثُ بَدَأْتُ</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مُنْذُ أَنْ بَدَأْتُ الدِّرَاسَةَ</a:t>
            </a:r>
            <a:endParaRPr lang="ar-SA" sz="22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and accuracy are judged across the whole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less common connectors earn automatic marks?</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range and accuracy are judged in the whole response.</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Yes; each rare connector guarantees one mark.</a:t>
            </a:r>
            <a:endParaRPr lang="en-US" sz="11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if written in English too.</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Assessment rewards well-linked sentences and controlled range, not a connector checklist.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Every link has a job: view (anna), topic (ammā … fa-), contrast (baynamā), exception (illā), time (baʿdamā, qabla an).</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أَعْتَقِدُ </a:t>
            </a:r>
            <a:pPr rtl="1" algn="ctr" indent="0" marL="0">
              <a:buNone/>
            </a:pPr>
            <a:r>
              <a:rPr lang="ar-SA" altLang="en-US" sz="2400" b="1" dirty="0">
                <a:solidFill>
                  <a:srgbClr val="0E7C86"/>
                </a:solidFill>
                <a:latin typeface="Amiri" pitchFamily="2" charset="-78"/>
                <a:cs typeface="Amiri" pitchFamily="2" charset="-78"/>
              </a:rPr>
              <a:t>أَنَّ</a:t>
            </a:r>
            <a:pPr rtl="1" algn="ctr" indent="0" marL="0">
              <a:buNone/>
            </a:pPr>
            <a:r>
              <a:rPr lang="ar-SA" altLang="en-US" sz="2400" b="1" dirty="0">
                <a:solidFill>
                  <a:srgbClr val="1B3B6F"/>
                </a:solidFill>
                <a:latin typeface="Amiri" pitchFamily="2" charset="-78"/>
                <a:cs typeface="Amiri" pitchFamily="2" charset="-78"/>
              </a:rPr>
              <a:t> … ‖ </a:t>
            </a:r>
            <a:pPr rtl="1" algn="ctr" indent="0" marL="0">
              <a:buNone/>
            </a:pPr>
            <a:r>
              <a:rPr lang="ar-SA" altLang="en-US" sz="2400" b="1" dirty="0">
                <a:solidFill>
                  <a:srgbClr val="D6336C"/>
                </a:solidFill>
                <a:latin typeface="Amiri" pitchFamily="2" charset="-78"/>
                <a:cs typeface="Amiri" pitchFamily="2" charset="-78"/>
              </a:rPr>
              <a:t>أَمَّا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فَـ</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an opinion with aʿtaqidu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Shift topic with ammā … 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ḥaythu, illā and baynamā correctly.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actions in time with baʿdamā, qabla an and mundhu 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my opinion with aʿtaqidu anna.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after I … and before I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ammā … fa- with both halves.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baynamā for “whereas”.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plan five paragraph jobs before writing.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130–140 linked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التَّمَاسُكُ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cohesion</a:t>
            </a:r>
            <a:endParaRPr lang="en-US" sz="1350" dirty="0"/>
          </a:p>
          <a:p>
            <a:pPr indent="0" marL="0">
              <a:buNone/>
            </a:pPr>
            <a:r>
              <a:rPr lang="en-US" sz="1100" i="1" dirty="0">
                <a:solidFill>
                  <a:srgbClr val="5A6472"/>
                </a:solidFill>
                <a:latin typeface="Calibri" pitchFamily="34" charset="0"/>
                <a:cs typeface="Amiri" pitchFamily="2" charset="-78"/>
              </a:rPr>
              <a:t>at-ta-mā-su-ku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رَوَابِطُ الْفِقْرَةِ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that (+ noun / pronoun)</a:t>
            </a:r>
            <a:endParaRPr lang="en-US" sz="1350" dirty="0"/>
          </a:p>
          <a:p>
            <a:pPr indent="0" marL="0">
              <a:buNone/>
            </a:pPr>
            <a:r>
              <a:rPr lang="en-US" sz="1100" i="1" dirty="0">
                <a:solidFill>
                  <a:srgbClr val="5A6472"/>
                </a:solidFill>
                <a:latin typeface="Calibri" pitchFamily="34" charset="0"/>
                <a:cs typeface="Amiri" pitchFamily="2" charset="-78"/>
              </a:rPr>
              <a:t>an-na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أَعْتَقِدُ أَنَّ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أَمَّا … فَـ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 (then)</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أَمَّا الْقِطَارُ فَهُوَ</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بَيْنَمَا يُفَضِّلُ أَخِي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except</a:t>
            </a:r>
            <a:endParaRPr lang="en-US" sz="1350" dirty="0"/>
          </a:p>
          <a:p>
            <a:pPr indent="0" marL="0">
              <a:buNone/>
            </a:pPr>
            <a:r>
              <a:rPr lang="en-US" sz="1100" i="1" dirty="0">
                <a:solidFill>
                  <a:srgbClr val="5A6472"/>
                </a:solidFill>
                <a:latin typeface="Calibri" pitchFamily="34" charset="0"/>
                <a:cs typeface="Amiri" pitchFamily="2" charset="-78"/>
              </a:rPr>
              <a:t>il-lā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كُلَّ الْمَوَادِّ إِلَّا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حَيْثُ</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(place)</a:t>
            </a:r>
            <a:endParaRPr lang="en-US" sz="1350" dirty="0"/>
          </a:p>
          <a:p>
            <a:pPr indent="0" marL="0">
              <a:buNone/>
            </a:pPr>
            <a:r>
              <a:rPr lang="en-US" sz="1100" i="1" dirty="0">
                <a:solidFill>
                  <a:srgbClr val="5A6472"/>
                </a:solidFill>
                <a:latin typeface="Calibri" pitchFamily="34" charset="0"/>
                <a:cs typeface="Amiri" pitchFamily="2" charset="-78"/>
              </a:rPr>
              <a:t>ḥay-thu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حَيْثُ تُوجَدُ الْخِدْمَاتُ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CONTENT CLAUSES WITH ANNA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think that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أَعْتَقِدُ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that …</a:t>
            </a:r>
            <a:endParaRPr lang="en-US" sz="1100" dirty="0"/>
          </a:p>
        </p:txBody>
      </p:sp>
      <p:sp>
        <p:nvSpPr>
          <p:cNvPr id="21" name="Text 18"/>
          <p:cNvSpPr txBox="1"/>
          <p:nvPr/>
        </p:nvSpPr>
        <p:spPr>
          <a:xfrm>
            <a:off x="3291840" y="2267712"/>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أَعْتَقِدُ أَنَّ التَّعَلُّمَ عَنْ بُعْدٍ مُفِيدٌ.</a:t>
            </a:r>
            <a:endParaRPr lang="ar-SA" sz="22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أَعْتَقِدُ أَنَّ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suppose that …</a:t>
            </a:r>
            <a:endParaRPr lang="en-US" sz="1100" dirty="0"/>
          </a:p>
        </p:txBody>
      </p:sp>
      <p:sp>
        <p:nvSpPr>
          <p:cNvPr id="27" name="Text 24"/>
          <p:cNvSpPr txBox="1"/>
          <p:nvPr/>
        </p:nvSpPr>
        <p:spPr>
          <a:xfrm>
            <a:off x="3291840" y="3004718"/>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أَظُنُّ أَنَّ الطَّقْسَ سَيَتَحَسَّنُ.</a:t>
            </a:r>
            <a:endParaRPr lang="ar-SA" sz="22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أَظُنُّ أَنَّ</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know that …</a:t>
            </a:r>
            <a:endParaRPr lang="en-US" sz="1100" dirty="0"/>
          </a:p>
        </p:txBody>
      </p:sp>
      <p:sp>
        <p:nvSpPr>
          <p:cNvPr id="33" name="Text 30"/>
          <p:cNvSpPr txBox="1"/>
          <p:nvPr/>
        </p:nvSpPr>
        <p:spPr>
          <a:xfrm>
            <a:off x="3291840" y="3741725"/>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أَعْرِفُ أَنَّ الِامْتِحَانَ صَعْبٌ.</a:t>
            </a:r>
            <a:endParaRPr lang="ar-SA" sz="22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أَعْرِفُ أَنَّ</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stated that …</a:t>
            </a:r>
            <a:endParaRPr lang="en-US" sz="1100" dirty="0"/>
          </a:p>
        </p:txBody>
      </p:sp>
      <p:sp>
        <p:nvSpPr>
          <p:cNvPr id="37" name="Text 34"/>
          <p:cNvSpPr txBox="1"/>
          <p:nvPr/>
        </p:nvSpPr>
        <p:spPr>
          <a:xfrm>
            <a:off x="3291840" y="4478731"/>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ذَكَرَ الْكَاتِبُ أَنَّ التِّقْنِيَّةَ مُهِمَّةٌ.</a:t>
            </a:r>
            <a:endParaRPr lang="ar-SA" sz="22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ذَكَرَ أَنَّ</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clear that …</a:t>
            </a:r>
            <a:endParaRPr lang="en-US" sz="1100" dirty="0"/>
          </a:p>
        </p:txBody>
      </p:sp>
      <p:sp>
        <p:nvSpPr>
          <p:cNvPr id="41" name="Text 38"/>
          <p:cNvSpPr txBox="1"/>
          <p:nvPr/>
        </p:nvSpPr>
        <p:spPr>
          <a:xfrm>
            <a:off x="3291840" y="5215738"/>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الْوَاضِحِ أَنَّ الْخِدْمَةَ تَحَسَّنَتْ.</a:t>
            </a:r>
            <a:endParaRPr lang="ar-SA" sz="22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الْوَاضِحِ أَنَّ</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in fully marked models the subject after anna is accusative — anna ṭ-ṭaqsa, anna d-dirāsata. With a pronoun: annahu, annanī. Full inna-family analysis comes in GM-NVS.</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SPECIFIC LINKS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link has its own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أَمَّا · حَيْثُ · إِلَّا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290779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943600" y="2267712"/>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أَمَّا الْقِطَارُ فَهُوَ أَسْرَعُ.</a:t>
            </a:r>
            <a:endParaRPr lang="ar-SA" sz="2200" dirty="0"/>
          </a:p>
        </p:txBody>
      </p:sp>
      <p:sp>
        <p:nvSpPr>
          <p:cNvPr id="21" name="Text 18"/>
          <p:cNvSpPr txBox="1"/>
          <p:nvPr/>
        </p:nvSpPr>
        <p:spPr>
          <a:xfrm>
            <a:off x="2944368" y="2267712"/>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a topic, then comment</a:t>
            </a:r>
            <a:endParaRPr lang="en-US" sz="11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 … فَـ</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943600" y="3054096"/>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أُفَضِّلُ السَّكَنَ حَيْثُ تُوجَدُ الْخِدْمَاتُ.</a:t>
            </a:r>
            <a:endParaRPr lang="ar-SA" sz="2200" dirty="0"/>
          </a:p>
        </p:txBody>
      </p:sp>
      <p:sp>
        <p:nvSpPr>
          <p:cNvPr id="27" name="Text 24"/>
          <p:cNvSpPr txBox="1"/>
          <p:nvPr/>
        </p:nvSpPr>
        <p:spPr>
          <a:xfrm>
            <a:off x="2944368" y="3054096"/>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 in the place where</a:t>
            </a:r>
            <a:endParaRPr lang="en-US" sz="11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حَيْثُ</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5943600" y="3840480"/>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كُلَّ الْمَوَادِّ إِلَّا الرِّيَاضِيَّاتِ.</a:t>
            </a:r>
            <a:endParaRPr lang="ar-SA" sz="2200" dirty="0"/>
          </a:p>
        </p:txBody>
      </p:sp>
      <p:sp>
        <p:nvSpPr>
          <p:cNvPr id="31" name="Text 28"/>
          <p:cNvSpPr txBox="1"/>
          <p:nvPr/>
        </p:nvSpPr>
        <p:spPr>
          <a:xfrm>
            <a:off x="2944368" y="3840480"/>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except</a:t>
            </a:r>
            <a:endParaRPr lang="en-US" sz="1100" dirty="0"/>
          </a:p>
        </p:txBody>
      </p:sp>
      <p:sp>
        <p:nvSpPr>
          <p:cNvPr id="32" name="Text 29"/>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إِلَّا</a:t>
            </a:r>
            <a:endParaRPr lang="ar-SA" sz="24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943600" y="4626864"/>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أُفَضِّلُ الْمَدِينَةَ، بَيْنَمَا يُفَضِّلُ أَخِي الرِّيفَ.</a:t>
            </a:r>
            <a:endParaRPr lang="ar-SA" sz="2200" dirty="0"/>
          </a:p>
        </p:txBody>
      </p:sp>
      <p:sp>
        <p:nvSpPr>
          <p:cNvPr id="37" name="Text 34"/>
          <p:cNvSpPr txBox="1"/>
          <p:nvPr/>
        </p:nvSpPr>
        <p:spPr>
          <a:xfrm>
            <a:off x="2944368" y="4626864"/>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whereas / while</a:t>
            </a:r>
            <a:endParaRPr lang="en-US" sz="11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بَيْنَمَا</a:t>
            </a:r>
            <a:endParaRPr lang="ar-SA" sz="2400" dirty="0"/>
          </a:p>
        </p:txBody>
      </p:sp>
      <p:sp>
        <p:nvSpPr>
          <p:cNvPr id="39" name="Shape 36"/>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ammā … fa- is a pair — never leave out the fa-. Ḥaythu means “where”; do not use it for English “whereas” — baynamā is the clearer contrast linker.</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TIME CLAUSES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before, since — with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رَوَابِطُ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use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217920" y="2267712"/>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بَعْدَمَا أَنْهَيْتُ وَاجِبِي، خَرَجْتُ.</a:t>
            </a:r>
            <a:endParaRPr lang="ar-SA" sz="2200" dirty="0"/>
          </a:p>
        </p:txBody>
      </p:sp>
      <p:sp>
        <p:nvSpPr>
          <p:cNvPr id="21" name="Text 18"/>
          <p:cNvSpPr txBox="1"/>
          <p:nvPr/>
        </p:nvSpPr>
        <p:spPr>
          <a:xfrm>
            <a:off x="29443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past: after an action was done</a:t>
            </a:r>
            <a:endParaRPr lang="en-US" sz="1100" dirty="0"/>
          </a:p>
        </p:txBody>
      </p:sp>
      <p:sp>
        <p:nvSpPr>
          <p:cNvPr id="22" name="Text 19"/>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بَعْدَمَا</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17920" y="3004718"/>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خَرَجْتُ بَعْدَ أَنْ أَنْهَيْتُ وَاجِبِي.</a:t>
            </a:r>
            <a:endParaRPr lang="ar-SA" sz="2200" dirty="0"/>
          </a:p>
        </p:txBody>
      </p:sp>
      <p:sp>
        <p:nvSpPr>
          <p:cNvPr id="27" name="Text 24"/>
          <p:cNvSpPr txBox="1"/>
          <p:nvPr/>
        </p:nvSpPr>
        <p:spPr>
          <a:xfrm>
            <a:off x="29443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verb: after doing</a:t>
            </a:r>
            <a:endParaRPr lang="en-US" sz="1100" dirty="0"/>
          </a:p>
        </p:txBody>
      </p:sp>
      <p:sp>
        <p:nvSpPr>
          <p:cNvPr id="28" name="Text 25"/>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بَعْدَ أَنْ</a:t>
            </a:r>
            <a:endParaRPr lang="ar-SA" sz="24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217920" y="3741725"/>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رَاجِعْ عَمَلَكَ قَبْلَ أَنْ تُسَلِّمَهُ.</a:t>
            </a:r>
            <a:endParaRPr lang="ar-SA" sz="2200" dirty="0"/>
          </a:p>
        </p:txBody>
      </p:sp>
      <p:sp>
        <p:nvSpPr>
          <p:cNvPr id="31" name="Text 28"/>
          <p:cNvSpPr txBox="1"/>
          <p:nvPr/>
        </p:nvSpPr>
        <p:spPr>
          <a:xfrm>
            <a:off x="29443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subjunctive: before doing</a:t>
            </a:r>
            <a:endParaRPr lang="en-US" sz="1100" dirty="0"/>
          </a:p>
        </p:txBody>
      </p:sp>
      <p:sp>
        <p:nvSpPr>
          <p:cNvPr id="32" name="Text 29"/>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قَبْلَ أَنْ</a:t>
            </a:r>
            <a:endParaRPr lang="ar-SA" sz="24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217920" y="4478731"/>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أَعْمَلُ هُنَا مُنْذُ عَامٍ.</a:t>
            </a:r>
            <a:endParaRPr lang="ar-SA" sz="2200" dirty="0"/>
          </a:p>
        </p:txBody>
      </p:sp>
      <p:sp>
        <p:nvSpPr>
          <p:cNvPr id="37" name="Text 34"/>
          <p:cNvSpPr txBox="1"/>
          <p:nvPr/>
        </p:nvSpPr>
        <p:spPr>
          <a:xfrm>
            <a:off x="29443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noun: since / for</a:t>
            </a:r>
            <a:endParaRPr lang="en-US" sz="1100" dirty="0"/>
          </a:p>
        </p:txBody>
      </p:sp>
      <p:sp>
        <p:nvSpPr>
          <p:cNvPr id="38" name="Text 35"/>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مُنْذُ</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217920" y="5215738"/>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تَحَسَّنَتْ لُغَتِي مُنْذُ أَنْ بَدَأْتُ التَّدَرُّبَ.</a:t>
            </a:r>
            <a:endParaRPr lang="ar-SA" sz="2200" dirty="0"/>
          </a:p>
        </p:txBody>
      </p:sp>
      <p:sp>
        <p:nvSpPr>
          <p:cNvPr id="41" name="Text 38"/>
          <p:cNvSpPr txBox="1"/>
          <p:nvPr/>
        </p:nvSpPr>
        <p:spPr>
          <a:xfrm>
            <a:off x="29443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past: since an action began</a:t>
            </a:r>
            <a:endParaRPr lang="en-US" sz="1100" dirty="0"/>
          </a:p>
        </p:txBody>
      </p:sp>
      <p:sp>
        <p:nvSpPr>
          <p:cNvPr id="42" name="Text 3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مُنْذُ أَنْ</a:t>
            </a:r>
            <a:endParaRPr lang="ar-SA" sz="24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house form: use baʿdamā / baʿda an and qabla an in formal writing (not spoken qabl mā). After qabla an the verb is subjunctive: qabla an adhhaba (GM-V-10).</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believe that sport is important.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أَعْتَقِدُ لِذَلِكَ الرِّيَاضَةُ.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أَعْتَقِدُ إِلَّا الرِّيَاضَةَ.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أَعْتَقِدُ أَنَّ الرِّيَاضَةَ مُهِمَّةٌ.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form.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أَظُنُّ أَنَّ الطَّقْسَ جَمِيلٌ.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أَظُنُّ أَنَّ الطَّقْسُ جَمِيلٌ.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أَظُنُّ أَنَّ الطَّقْسِ جَمِيلٌ.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 for online learning, it is flexible.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حَيْثُ التَّعَلُّمُ عَنْ بُعْدٍ مَرِنٌ.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التَّعَلُّمُ عَنْ بُعْدٍ فَهُوَ مَرِنٌ.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إِلَّا التَّعَلُّمُ عَنْ بُعْدٍ مَرِنٌ.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prefer the city, whereas my brother prefers the countryside.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الْمَدِينَةَ، بَيْنَمَا يُفَضِّلُ أَخِي الرِّيفَ.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الْمَدِينَةَ حَيْثُ يُفَضِّلُ أَخِي الرِّيفَ.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الْمَدِينَةَ إِلَّا أَخِي الرِّيفَ.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believe that sport is important.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أَعْتَقِدُ لِذَلِكَ الرِّيَاضَةُ.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أَعْتَقِدُ إِلَّا الرِّيَاضَةَ.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أَعْتَقِدُ أَنَّ الرِّيَاضَةَ مُهِمَّةٌ.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Anna introduces the content of the belief.</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form.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أَظُنُّ أَنَّ الطَّقْسَ جَمِيلٌ.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أَظُنُّ أَنَّ الطَّقْسُ جَمِيلٌ.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أَظُنُّ أَنَّ الطَّقْسِ جَمِيلٌ.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after anna is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 for online learning, it is flexible.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حَيْثُ التَّعَلُّمُ عَنْ بُعْدٍ مَرِنٌ.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التَّعَلُّمُ عَنْ بُعْدٍ فَهُوَ مَرِنٌ.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إِلَّا التَّعَلُّمُ عَنْ بُعْدٍ مَرِنٌ.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Ammā … fa- organises a topic and comment.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prefer the city, whereas my brother prefers the countryside.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الْمَدِينَةَ، بَيْنَمَا يُفَضِّلُ أَخِي الرِّيفَ.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الْمَدِينَةَ حَيْثُ يُفَضِّلُ أَخِي الرِّيفَ.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الْمَدِينَةَ إِلَّا أَخِي الرِّيفَ.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Baynamā expresses the contrast.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build a paragraph, job by job</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View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أَعْتَقِدُ أَنَّ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opinion.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لِأَنَّهُ</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 shift +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أَمَّا … فَـ · وَلَكِنَّهُ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Plane: fast but costly.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لِذَلِكَ</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 I prefer the train.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VIEW · RESULT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TOPIC · 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0E7C86"/>
                </a:solidFill>
                <a:latin typeface="Amiri" pitchFamily="2" charset="-78"/>
                <a:cs typeface="Amiri" pitchFamily="2" charset="-78"/>
              </a:rPr>
              <a:t>أَعْتَقِدُ أَنَّ</a:t>
            </a:r>
            <a:pPr rtl="1" algn="r" indent="0" marL="0">
              <a:lnSpc>
                <a:spcPct val="120000"/>
              </a:lnSpc>
              <a:buNone/>
            </a:pPr>
            <a:r>
              <a:rPr lang="ar-SA" altLang="en-US" sz="1650" b="1" dirty="0">
                <a:solidFill>
                  <a:srgbClr val="1B3B6F"/>
                </a:solidFill>
                <a:latin typeface="Amiri" pitchFamily="2" charset="-78"/>
                <a:cs typeface="Amiri" pitchFamily="2" charset="-78"/>
              </a:rPr>
              <a:t> السَّفَرَ مُفِيدٌ </a:t>
            </a:r>
            <a:pPr rtl="1" algn="r" indent="0" marL="0">
              <a:lnSpc>
                <a:spcPct val="120000"/>
              </a:lnSpc>
              <a:buNone/>
            </a:pPr>
            <a:r>
              <a:rPr lang="ar-SA" altLang="en-US" sz="1650" b="1" dirty="0">
                <a:solidFill>
                  <a:srgbClr val="0E7C86"/>
                </a:solidFill>
                <a:latin typeface="Amiri" pitchFamily="2" charset="-78"/>
                <a:cs typeface="Amiri" pitchFamily="2" charset="-78"/>
              </a:rPr>
              <a:t>لِأَنَّهُ</a:t>
            </a:r>
            <a:pPr rtl="1" algn="r" indent="0" marL="0">
              <a:lnSpc>
                <a:spcPct val="120000"/>
              </a:lnSpc>
              <a:buNone/>
            </a:pPr>
            <a:r>
              <a:rPr lang="ar-SA" altLang="en-US" sz="1650" b="1" dirty="0">
                <a:solidFill>
                  <a:srgbClr val="1B3B6F"/>
                </a:solidFill>
                <a:latin typeface="Amiri" pitchFamily="2" charset="-78"/>
                <a:cs typeface="Amiri" pitchFamily="2" charset="-78"/>
              </a:rPr>
              <a:t> يُعَرِّفُنَا بِثَقَافَاتٍ جَدِيدَةٍ. </a:t>
            </a:r>
            <a:pPr rtl="1" algn="r" indent="0" marL="0">
              <a:lnSpc>
                <a:spcPct val="120000"/>
              </a:lnSpc>
              <a:buNone/>
            </a:pPr>
            <a:r>
              <a:rPr lang="ar-SA" altLang="en-US" sz="1650" b="1" dirty="0">
                <a:solidFill>
                  <a:srgbClr val="D6336C"/>
                </a:solidFill>
                <a:latin typeface="Amiri" pitchFamily="2" charset="-78"/>
                <a:cs typeface="Amiri" pitchFamily="2" charset="-78"/>
              </a:rPr>
              <a:t>أَمَّا</a:t>
            </a:r>
            <a:pPr rtl="1" algn="r" indent="0" marL="0">
              <a:lnSpc>
                <a:spcPct val="120000"/>
              </a:lnSpc>
              <a:buNone/>
            </a:pPr>
            <a:r>
              <a:rPr lang="ar-SA" altLang="en-US" sz="1650" b="1" dirty="0">
                <a:solidFill>
                  <a:srgbClr val="1B3B6F"/>
                </a:solidFill>
                <a:latin typeface="Amiri" pitchFamily="2" charset="-78"/>
                <a:cs typeface="Amiri" pitchFamily="2" charset="-78"/>
              </a:rPr>
              <a:t> السَّفَرُ بِالطَّائِرَةِ </a:t>
            </a:r>
            <a:pPr rtl="1" algn="r" indent="0" marL="0">
              <a:lnSpc>
                <a:spcPct val="120000"/>
              </a:lnSpc>
              <a:buNone/>
            </a:pPr>
            <a:r>
              <a:rPr lang="ar-SA" altLang="en-US" sz="1650" b="1" dirty="0">
                <a:solidFill>
                  <a:srgbClr val="D6336C"/>
                </a:solidFill>
                <a:latin typeface="Amiri" pitchFamily="2" charset="-78"/>
                <a:cs typeface="Amiri" pitchFamily="2" charset="-78"/>
              </a:rPr>
              <a:t>فَهُوَ</a:t>
            </a:r>
            <a:pPr rtl="1" algn="r" indent="0" marL="0">
              <a:lnSpc>
                <a:spcPct val="120000"/>
              </a:lnSpc>
              <a:buNone/>
            </a:pPr>
            <a:r>
              <a:rPr lang="ar-SA" altLang="en-US" sz="1650" b="1" dirty="0">
                <a:solidFill>
                  <a:srgbClr val="1B3B6F"/>
                </a:solidFill>
                <a:latin typeface="Amiri" pitchFamily="2" charset="-78"/>
                <a:cs typeface="Amiri" pitchFamily="2" charset="-78"/>
              </a:rPr>
              <a:t> سَرِيعٌ، </a:t>
            </a:r>
            <a:pPr rtl="1" algn="r" indent="0" marL="0">
              <a:lnSpc>
                <a:spcPct val="120000"/>
              </a:lnSpc>
              <a:buNone/>
            </a:pPr>
            <a:r>
              <a:rPr lang="ar-SA" altLang="en-US" sz="1650" b="1" dirty="0">
                <a:solidFill>
                  <a:srgbClr val="D6336C"/>
                </a:solidFill>
                <a:latin typeface="Amiri" pitchFamily="2" charset="-78"/>
                <a:cs typeface="Amiri" pitchFamily="2" charset="-78"/>
              </a:rPr>
              <a:t>وَلَكِنَّهُ</a:t>
            </a:r>
            <a:pPr rtl="1" algn="r" indent="0" marL="0">
              <a:lnSpc>
                <a:spcPct val="120000"/>
              </a:lnSpc>
              <a:buNone/>
            </a:pPr>
            <a:r>
              <a:rPr lang="ar-SA" altLang="en-US" sz="1650" b="1" dirty="0">
                <a:solidFill>
                  <a:srgbClr val="1B3B6F"/>
                </a:solidFill>
                <a:latin typeface="Amiri" pitchFamily="2" charset="-78"/>
                <a:cs typeface="Amiri" pitchFamily="2" charset="-78"/>
              </a:rPr>
              <a:t> مُكْلِفٌ. </a:t>
            </a:r>
            <a:pPr rtl="1" algn="r" indent="0" marL="0">
              <a:lnSpc>
                <a:spcPct val="120000"/>
              </a:lnSpc>
              <a:buNone/>
            </a:pPr>
            <a:r>
              <a:rPr lang="ar-SA" altLang="en-US" sz="1650" b="1" dirty="0">
                <a:solidFill>
                  <a:srgbClr val="0E7C86"/>
                </a:solidFill>
                <a:latin typeface="Amiri" pitchFamily="2" charset="-78"/>
                <a:cs typeface="Amiri" pitchFamily="2" charset="-78"/>
              </a:rPr>
              <a:t>لِذَلِكَ</a:t>
            </a:r>
            <a:pPr rtl="1" algn="r" indent="0" marL="0">
              <a:lnSpc>
                <a:spcPct val="120000"/>
              </a:lnSpc>
              <a:buNone/>
            </a:pPr>
            <a:r>
              <a:rPr lang="ar-SA" altLang="en-US" sz="1650" b="1" dirty="0">
                <a:solidFill>
                  <a:srgbClr val="1B3B6F"/>
                </a:solidFill>
                <a:latin typeface="Amiri" pitchFamily="2" charset="-78"/>
                <a:cs typeface="Amiri" pitchFamily="2" charset="-78"/>
              </a:rPr>
              <a:t> أُفَضِّلُ الْقِطَارَ عِنْدَمَا يَكُونُ ذَلِكَ مُمْكِنًا.</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believe that travel is useful because it introduces us to new cultures. As for travelling by plane, it is fast, but it is expensive. So I prefer the train when that is possible.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بَعْدَمَا وَصَلْنَا إِلَى الْمَدِينَةِ، ذَهَبْنَا إِلَى الْفُنْدُقِ.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After we arrived in the city, we went to the hotel.</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ثُمَّ خَرَجْنَا حَيْثُ تُوجَدُ الْمَطَاعِمُ الشَّهِيرَةُ.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Then we went out to where the famous restaurants are.</a:t>
            </a:r>
            <a:endParaRPr lang="en-US" sz="1250" dirty="0"/>
          </a:p>
          <a:p>
            <a:pPr indent="0" marL="0">
              <a:buNone/>
            </a:pPr>
            <a:r>
              <a:rPr lang="en-US" sz="1050" i="1" dirty="0">
                <a:solidFill>
                  <a:srgbClr val="8A6D1E"/>
                </a:solidFill>
                <a:latin typeface="Calibri" pitchFamily="34" charset="0"/>
                <a:cs typeface="Amiri" pitchFamily="2" charset="-78"/>
              </a:rPr>
              <a:t>ḥaythu = where.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آكُلُ كُلَّ الْفَوَاكِهِ إِلَّا الْمَوْزَ.</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eat all fruit except bananas.</a:t>
            </a:r>
            <a:endParaRPr lang="en-US" sz="1250" dirty="0"/>
          </a:p>
          <a:p>
            <a:pPr indent="0" marL="0">
              <a:buNone/>
            </a:pPr>
            <a:r>
              <a:rPr lang="en-US" sz="1050" i="1" dirty="0">
                <a:solidFill>
                  <a:srgbClr val="8A6D1E"/>
                </a:solidFill>
                <a:latin typeface="Calibri" pitchFamily="34" charset="0"/>
                <a:cs typeface="Amiri" pitchFamily="2" charset="-78"/>
              </a:rPr>
              <a:t>illā.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رَاجِعِ الْإِجَابَةَ قَبْلَ أَنْ تُسَلِّمَهَا.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Check the answer before you hand it in.</a:t>
            </a:r>
            <a:endParaRPr lang="en-US" sz="1250" dirty="0"/>
          </a:p>
          <a:p>
            <a:pPr indent="0" marL="0">
              <a:buNone/>
            </a:pPr>
            <a:r>
              <a:rPr lang="en-US" sz="1050" i="1" dirty="0">
                <a:solidFill>
                  <a:srgbClr val="8A6D1E"/>
                </a:solidFill>
                <a:latin typeface="Calibri" pitchFamily="34" charset="0"/>
                <a:cs typeface="Amiri" pitchFamily="2" charset="-78"/>
              </a:rPr>
              <a:t>qabla an + subj.</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MAKE THE RELATIONSHIP PRECISE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clause linker?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الرَّابِطَ الْمُنَاسِبَ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7" name="Text 14"/>
          <p:cNvSpPr txBox="1"/>
          <p:nvPr/>
        </p:nvSpPr>
        <p:spPr>
          <a:xfrm>
            <a:off x="60167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Linker</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content of a belief</a:t>
            </a:r>
            <a:endParaRPr lang="en-US" sz="1100" dirty="0"/>
          </a:p>
        </p:txBody>
      </p:sp>
      <p:sp>
        <p:nvSpPr>
          <p:cNvPr id="21" name="Text 18"/>
          <p:cNvSpPr txBox="1"/>
          <p:nvPr/>
        </p:nvSpPr>
        <p:spPr>
          <a:xfrm>
            <a:off x="60350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a:t>
            </a:r>
            <a:endParaRPr lang="ar-SA" sz="24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أَعْتَقِدُ … الدِّرَاسَةَ مُفِيدَةٌ.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 comment</a:t>
            </a:r>
            <a:endParaRPr lang="en-US" sz="1100" dirty="0"/>
          </a:p>
        </p:txBody>
      </p:sp>
      <p:sp>
        <p:nvSpPr>
          <p:cNvPr id="27" name="Text 24"/>
          <p:cNvSpPr txBox="1"/>
          <p:nvPr/>
        </p:nvSpPr>
        <p:spPr>
          <a:xfrm>
            <a:off x="60350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 … فَـ</a:t>
            </a:r>
            <a:endParaRPr lang="ar-SA" sz="24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الْقِطَارُ … هُوَ مُرِيحٌ.</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33" name="Text 30"/>
          <p:cNvSpPr txBox="1"/>
          <p:nvPr/>
        </p:nvSpPr>
        <p:spPr>
          <a:xfrm>
            <a:off x="60350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حَيْثُ</a:t>
            </a:r>
            <a:endParaRPr lang="ar-SA" sz="24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 تَتَوَفَّرُ الْخِدْمَاتُ.</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exception</a:t>
            </a:r>
            <a:endParaRPr lang="en-US" sz="1100" dirty="0"/>
          </a:p>
        </p:txBody>
      </p:sp>
      <p:sp>
        <p:nvSpPr>
          <p:cNvPr id="37" name="Text 34"/>
          <p:cNvSpPr txBox="1"/>
          <p:nvPr/>
        </p:nvSpPr>
        <p:spPr>
          <a:xfrm>
            <a:off x="60350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إِلَّا</a:t>
            </a:r>
            <a:endParaRPr lang="ar-SA" sz="2400" dirty="0"/>
          </a:p>
        </p:txBody>
      </p:sp>
      <p:sp>
        <p:nvSpPr>
          <p:cNvPr id="38" name="Text 35"/>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كُلَّ الْمَوَادِّ … الرِّيَاضِيَّاتِ.</a:t>
            </a:r>
            <a:endParaRPr lang="ar-SA" sz="22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(completed)</a:t>
            </a:r>
            <a:endParaRPr lang="en-US" sz="1100" dirty="0"/>
          </a:p>
        </p:txBody>
      </p:sp>
      <p:sp>
        <p:nvSpPr>
          <p:cNvPr id="43" name="Text 40"/>
          <p:cNvSpPr txBox="1"/>
          <p:nvPr/>
        </p:nvSpPr>
        <p:spPr>
          <a:xfrm>
            <a:off x="60350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بَعْدَمَا</a:t>
            </a:r>
            <a:endParaRPr lang="ar-SA" sz="24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 أَنْهَيْتُ وَاجِبِي، خَرَجْتُ.</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(subjunctive)</a:t>
            </a:r>
            <a:endParaRPr lang="en-US" sz="1100" dirty="0"/>
          </a:p>
        </p:txBody>
      </p:sp>
      <p:sp>
        <p:nvSpPr>
          <p:cNvPr id="47" name="Text 44"/>
          <p:cNvSpPr txBox="1"/>
          <p:nvPr/>
        </p:nvSpPr>
        <p:spPr>
          <a:xfrm>
            <a:off x="60350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قَبْلَ أَنْ</a:t>
            </a:r>
            <a:endParaRPr lang="ar-SA" sz="24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رَاجِعْ عَمَلَكَ … تُسَلِّمَهُ.</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choose the clause linker that makes the paragraph relationship precise.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PARAGRAPH JOBS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job does each signal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وَظِيفَةُ الرَّابِطِ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أَعْتَقِدُ أَنَّ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وَجْهَةِ نَظَرِي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بِسَبَبِ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بَيْنَمَا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الرَّغْمِ مِنْ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بِالْإِضَافَةِ إِلَى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لِذَلِكَ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وَمِنْ ثَمَّ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View / reason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 / balance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Development / result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View / reason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أَعْتَقِدُ أَنَّ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وَجْهَةِ نَظَرِي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بِسَبَبِ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 / balance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بَيْنَمَا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الرَّغْمِ مِنْ ذَلِكَ</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Development / result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بِالْإِضَافَةِ إِلَى ذَلِكَ</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لِذَلِكَ</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وَمِنْ ثَمَّ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أَعْتَقِدُ لِأَنَّ التَّعَلُّمُ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or that?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أَمَّا الْقِطَارُ هُوَ سَرِيعٌ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is the 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أُفَضِّلُ الْمَدِينَةَ حَيْثُ أَخِي يُفَضِّلُ الرِّيفَ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Place or contrast?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أَعْتَقِدُ لِأَنَّ التَّعَلُّمُ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أَعْتَقِدُ أَنَّ التَّعَلُّمَ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Belief content uses anna, with an accusative subject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أَمَّا الْقِطَارُ هُوَ سَرِيعٌ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أَمَّا الْقِطَارُ فَهُوَ سَرِيعٌ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Ammā pairs with fa-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أُفَضِّلُ الْمَدِينَةَ حَيْثُ أَخِي يُفَضِّلُ الرِّيفَ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أُفَضِّلُ الْمَدِينَةَ، بَيْنَمَا يُفَضِّلُ أَخِي الرِّيفَ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Contrast is baynamā, not ḥaythu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CONTENT CLAUSE, SPECIFIC LINK AND TIME CLAUSE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 is clear that prices increased.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الْوَاضِحِ لِأَنَّ الْأَسْعَارُ.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الْوَاضِحِ إِلَّا الْأَسْعَارَ.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الْوَاضِحِ أَنَّ الْأَسْعَارَ ارْتَفَعَتْ.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eat all fruit except bananas.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كُلَّ الْفَوَاكِهِ حَيْثُ الْمَوْزَ.</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كُلَّ الْفَوَاكِهِ إِلَّا الْمَوْزَ.</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آكُلُ كُلَّ الْفَوَاكِهِ لِذَلِكَ الْمَوْزَ.</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Check the answer before you submit 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رَاجِعِ الْإِجَابَةَ بَعْدَمَا تُسَلِّمُهَا.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رَاجِعِ الْإِجَابَةَ قَبْلَ أَنْ تُسَلِّمَهَا.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رَاجِعِ الْإِجَابَةَ إِلَّا تُسَلِّمَهَا.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Formal form for “before I leave”.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مَا أَخْرُجُ</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أَخْرُجَ</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أَخْرُجَ</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 is clear that prices increased.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الْوَاضِحِ لِأَنَّ الْأَسْعَارُ.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الْوَاضِحِ إِلَّا الْأَسْعَارَ.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الْوَاضِحِ أَنَّ الْأَسْعَارَ ارْتَفَعَتْ.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al-wāḍiḥ anna is a useful formal frame.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eat all fruit except bananas.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 كُلَّ الْفَوَاكِهِ حَيْثُ الْمَوْزَ.</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آكُلُ كُلَّ الْفَوَاكِهِ إِلَّا الْمَوْزَ.</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آكُلُ كُلَّ الْفَوَاكِهِ لِذَلِكَ الْمَوْزَ.</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Illā introduces the exception.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Check the answer before you submit 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رَاجِعِ الْإِجَابَةَ بَعْدَمَا تُسَلِّمُهَا.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رَاجِعِ الْإِجَابَةَ قَبْلَ أَنْ تُسَلِّمَهَا.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رَاجِعِ الْإِجَابَةَ إِلَّا تُسَلِّمَهَا.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 an + subjunctive.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Formal form for “before I leave”.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مَا أَخْرُجُ</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أَخْرُجَ</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قَبْلَ أَنْ أَخْرُجَ</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 an + subjunctive is the formal target.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E6B52"/>
                </a:solidFill>
                <a:latin typeface="Calibri" pitchFamily="34" charset="0"/>
                <a:cs typeface="Amiri" pitchFamily="2" charset="-78"/>
              </a:rPr>
              <a:t>YOU DO · READ AND NOTICE · WEBSITE SKILLS WORKSHOP (TEACHER-WRITTEN PARAGRAPH)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Holidays at home or abroad?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أَعْتَقِدُ أَنَّ الْعُطْلَةَ ضَرُورِيَّةٌ لِلرَّاحَةِ. بَعْضُ النَّاسِ يُسَافِرُونَ إِلَى الْخَارِجِ، بَيْنَمَا يَبْقَى آخَرُونَ فِي بِلَادِهِمْ. أَمَّا أُسْرَتِي فَتُفَضِّلُ الرِّيفَ، حَيْثُ الْهَوَاءُ نَقِيٌّ وَالْحَيَاةُ هَادِئَةٌ. نَحْجِزُ كُلَّ شَيْءٍ قَبْلَ أَنْ نُسَافِرَ بِشَهْرٍ، وَبَعْدَمَا نَصِلُ نُطْفِئُ الْهَوَاتِفَ إِلَّا هَاتِفَ أَبِي. مُنْذُ أَنْ بَدَأْنَا هَذِهِ الْعَادَةَ، أَصْبَحَتْ عُطْلَاتُنَا أَجْمَلَ، لِذَلِكَ لَنْ نُغَيِّرَهَا.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ضَرُورِيَّةٌ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necessary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pure / clean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نَحْجِزُ</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book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نُطْفِئُ</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switch off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الْعَادَةَ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habit</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linker shows a contrast between two groups?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حَيْثُ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family prefer the countryside?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 is clean and life is calm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phone stays 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nobody’s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they arrive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 they travel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linker shows a contrast between two groups?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حَيْثُ</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بَيْنَمَا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 travel abroad, whereas others stay.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family prefer the countryside?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air is clean and life is calm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Ḥaythu l-hawāʾu naqiyy.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phone stays 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father’s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nobody’s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Illā hātifa abī.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they arrive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before they travel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day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 an nusāfira bi-shahr.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one extended, linked answer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رَأْيُكَ فِي التَّعَلُّمِ عَنْ بُعْدٍ؟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قَبْلَ أَنْ تَنَامَ، وَبَعْدَمَا تَسْتَيْقِظُ؟</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السَّكَنِ فِي الْمَدِينَةِ وَالسَّكَنِ فِي الرِّيفِ.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أَعْتَقِدُ أَنَّ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قَبْلَ أَنْ أَنَامَ ___ ، وَبَعْدَمَا أَسْتَيْقِظُ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أَمَّا الْمَدِينَةُ فَهِيَ ___ ، بَيْنَمَا الرِّيفُ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رَأْيُكِ فِي الْمُوَاصَلَاتِ فِي مَدِينَتِكِ؟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think of the transport in your city?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أَعْتَقِدُ أَنَّهَا جَيِّدَةٌ. أَمَّا الْحَافِلَاتُ فَهِيَ رَخِيصَةٌ، بَيْنَمَا الْقِطَارُ أَسْرَعُ. مُنْذُ أَنْ فُتِحَ خَطٌّ جَدِيدٌ، أَصِلُ إِلَى الْمَدْرَسَةِ فِي عِشْرِينَ دَقِيقَةً.</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think it is good. As for the buses, they are cheap, whereas the train is faster. Since a new line opened, I get to school in twenty minutes.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view on one topic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aʿtaqidu anna · li-anna · baʿdamā.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topic shift and a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ammā … fa- · baynamā · illā.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five planned paragraph jobs.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every connector by function.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______ فَهُوَ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كُلَّ شَيْءٍ إِلَّا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everything except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 بَيْنَمَا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whereas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الْوَاضِحِ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clear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أَعْتَقِدُ أَنَّ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think that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بَعْدَمَا أَنْهَيْتُ ______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I finished …,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أَنْ أُسَافِرَ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I travel,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مُنْذُ أَنْ بَدَأْتُ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Since I started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أَعْتَقِدُ أَنَّ  ·  أَظُنُّ أَنَّ  ·  مِنَ الْوَاضِحِ أَنَّ  ·  أَمَّا … فَـ  ·  حَيْثُ  ·  إِلَّا  ·  بَيْنَمَا  ·  بَعْدَمَا  ·  قَبْلَ أَنْ  ·  مُنْذُ أَنْ  ·  بِالْإِضَافَةِ إِلَى ذَلِكَ  ·  لِذَلِكَ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cohesive response: 130–140 words on one topic, planned as five paragraph jobs.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aʿtaqidu anna + accusative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reason → result chain.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ammā … fa- topic shift.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(baynamā / lākin).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time clause (baʿdamā / qabla an + subj. / mundhu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وَجْهَةِ نَظَرِي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my point of view</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بِالْإِضَافَةِ إِلَى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addition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ذَلِكَ</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despite that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وَمِنْ ثَمَّ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consequently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نَاحِيَةٍ أُخْرَى</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other hand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الْخِتَامِ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conclusion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cs typeface="Amiri" pitchFamily="2" charset="-78"/>
              </a:rPr>
              <a:t>أَعْتَقِدُ أَنَّ حِمَايَةَ الْبِيئَةِ مَسْؤُولِيَّةُ الْجَمِيعِ، لِأَنَّنَا نَعِيشُ عَلَى كَوْكَبٍ وَاحِدٍ. أَمَّا الْحُكُومَاتُ فَعَلَيْهَا أَنْ تَضَعَ قَوَانِينَ قَوِيَّةً، بَيْنَمَا يَسْتَطِيعُ كُلُّ فَرْدٍ أَنْ يُغَيِّرَ عَادَاتِهِ الْيَوْمِيَّةَ. مُنْذُ أَنْ بَدَأَتْ مَدْرَسَتُنَا بِرْنَامَجَ إِعَادَةِ التَّدْوِيرِ، قَلَّتِ النُّفَايَاتُ كَثِيرًا. بِالْإِضَافَةِ إِلَى ذَلِكَ، أَصْبَحْنَا نَمْشِي إِلَى الْمَدْرَسَةِ إِلَّا فِي الْأَيَّامِ الْمُمْطِرَةِ. قَبْلَ أَنْ نَشْتَرِيَ شَيْئًا جَدِيدًا، نَسْأَلُ: هَلْ نَحْتَاجُهُ حَقًّا؟ عَلَى الرَّغْمِ مِنْ ذَلِكَ، مَا زَالَ أَمَامَنَا عَمَلٌ كَثِيرٌ، لِذَلِكَ يَجِبُ أَنْ نَتَعَاوَنَ جَمِيعًا.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believe that protecting the environment is everyone’s responsibility, because we live on one planet. As for governments, they must make strong laws, whereas every individual can change their daily habits. Since our school started a recycling programme, waste has fallen a lot. In addition, we now walk to school except on rainy days. Before we buy something new, we ask: do we really need it? Despite that, we still have a lot of work ahead, so we must all cooperate.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view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topic shift (ammā … 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 / exception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clause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my view with aʿtaqidu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time clause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ammā has its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baynamā (not ḥaythu) for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connector does a real job — no random links.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pair: ammā l-ḥāfila ___ hiya arkhaṣ.</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 “whereas”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حَيْثُ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final editing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Does each connector express the relationship I intend?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Have I used the longest possible word?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Have I removed all simple 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pair: ammā l-ḥāfila ___ hiya arkhaṣ.</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Ammā pairs with fa-.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 “whereas”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حَيْثُ</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بَيْنَمَا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Baynamā is the clearer contrast linker.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final editing question?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Does each connector express the relationship I intend?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Have I used the longest possible word?</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Have I removed all simple 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Logical accuracy is the foundation of cohesion.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GM-NUM-01: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GM-NUM-01 · Numbers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وَاحِدٌ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one</a:t>
            </a:r>
            <a:pPr indent="0" marL="0">
              <a:buNone/>
            </a:pPr>
            <a:r>
              <a:rPr lang="en-US" sz="1000" i="1" dirty="0">
                <a:solidFill>
                  <a:srgbClr val="5A6472"/>
                </a:solidFill>
                <a:latin typeface="Calibri" pitchFamily="34" charset="0"/>
                <a:cs typeface="Amiri" pitchFamily="2" charset="-78"/>
              </a:rPr>
              <a:t>  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خَمْسَةٌ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five</a:t>
            </a:r>
            <a:pPr indent="0" marL="0">
              <a:buNone/>
            </a:pPr>
            <a:r>
              <a:rPr lang="en-US" sz="1000" i="1" dirty="0">
                <a:solidFill>
                  <a:srgbClr val="5A6472"/>
                </a:solidFill>
                <a:latin typeface="Calibri" pitchFamily="34" charset="0"/>
                <a:cs typeface="Amiri" pitchFamily="2" charset="-78"/>
              </a:rPr>
              <a:t>  ٥</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عَشَرَةٌ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ten</a:t>
            </a:r>
            <a:pPr indent="0" marL="0">
              <a:buNone/>
            </a:pPr>
            <a:r>
              <a:rPr lang="en-US" sz="1000" i="1" dirty="0">
                <a:solidFill>
                  <a:srgbClr val="5A6472"/>
                </a:solidFill>
                <a:latin typeface="Calibri" pitchFamily="34" charset="0"/>
                <a:cs typeface="Amiri" pitchFamily="2" charset="-78"/>
              </a:rPr>
              <a:t>  ١٠</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عِشْرُونَ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twenty</a:t>
            </a:r>
            <a:pPr indent="0" marL="0">
              <a:buNone/>
            </a:pPr>
            <a:r>
              <a:rPr lang="en-US" sz="1000" i="1" dirty="0">
                <a:solidFill>
                  <a:srgbClr val="5A6472"/>
                </a:solidFill>
                <a:latin typeface="Calibri" pitchFamily="34" charset="0"/>
                <a:cs typeface="Amiri" pitchFamily="2" charset="-78"/>
              </a:rPr>
              <a:t>  ٢٠</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hundred</a:t>
            </a:r>
            <a:pPr indent="0" marL="0">
              <a:buNone/>
            </a:pPr>
            <a:r>
              <a:rPr lang="en-US" sz="1000" i="1" dirty="0">
                <a:solidFill>
                  <a:srgbClr val="5A6472"/>
                </a:solidFill>
                <a:latin typeface="Calibri" pitchFamily="34" charset="0"/>
                <a:cs typeface="Amiri" pitchFamily="2" charset="-78"/>
              </a:rPr>
              <a:t>  ١٠٠</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Can you count to ten in Arabic? Which number words do you already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وَاحِدٌ · اثْنَانِ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opinion sentences with aʿtaqidu anna.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short paragraph with ammā … fa-, baynamā and illā.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extended response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GM-NUM-01 · Numbers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الْأَرْقَامُ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aʿtaqidu anna + accusative · ammā … fa- (both halves) · ḥaythu = where · baynamā = whereas · illā = except · qabla an + subjunctive · every link must do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GM-CP-05 · Clause Linkers and Paragraph Cohesion</dc:title>
  <dc:subject>PptxGenJS Presentation</dc:subject>
  <dc:creator>Al Madina Online School · Arabic Department</dc:creator>
  <cp:lastModifiedBy>Al Madina Online School · Arabic Department</cp:lastModifiedBy>
  <cp:revision>1</cp:revision>
  <dcterms:created xsi:type="dcterms:W3CDTF">2026-10-11T06:42:13Z</dcterms:created>
  <dcterms:modified xsi:type="dcterms:W3CDTF">2026-10-11T06:42:13Z</dcterms:modified>
</cp:coreProperties>
</file>