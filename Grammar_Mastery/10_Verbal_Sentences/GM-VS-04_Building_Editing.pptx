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Lst>
  <p:notesMasterIdLst>
    <p:notesMasterId r:id="rId37"/>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notesMaster" Target="notesMasters/notesMaster1.xml"/><Relationship Id="rId38" Type="http://schemas.openxmlformats.org/officeDocument/2006/relationships/presProps" Target="presProps.xml"/><Relationship Id="rId39" Type="http://schemas.openxmlformats.org/officeDocument/2006/relationships/viewProps" Target="viewProps.xml"/><Relationship Id="rId40" Type="http://schemas.openxmlformats.org/officeDocument/2006/relationships/theme" Target="theme/theme1.xml"/><Relationship Id="rId41"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Lesson map · 2–9 Do Now + answers · 9–10 Objectives · 10–13 Grammar words · 13–24 The grammar, step by step · 24–26 Quick check · 26–29 I Do · 29–38 We Do (sort, repair, practise) · 38–49 You Do (read, speak, write on your route) · 49–54 Feedback (model, self-check, exit ticket) · 54–56 Preparation.
FLEX slides are optional: use them if the class is moving quickly; otherwise the same activities are on the website for homework.
Content source: Miftah Arabic website, Mastery &amp; Revision › Grammar › Verbal Sentences › GM-VS-04 (“Building and Editing Verbal Sentences”). The Do Now, quick check, game practice, exit ticket and mastery check are the website’s own quizzes; the reading text, speaking and writing tasks are the website’s four-skills application. Explanation slides, worked examples, sorter, repair items, frames and model translations are teacher-made on the website rules and labelled in the notes.
SUPPORT FOR THIS CLASS (Arabic not yet secure; mixed levels):
• Core: build a clear VSO and SVO core and expand it with time and place; ask with hal. Develop: transform across past, present and future and negate with mā, lam, lā and lan without losing agreement. Stretch: the four-pass edit on a full paragraph, order chosen for focus and contrast (ammā … fa-), clear object pronouns.
• This lesson revises GM-VS-01 to 03: VSO = singular verb that matches gender; SVO = full agreement; non-human plurals = “she” verb.
• Website warning: variety is not random — change the order only when it improves focus, contrast or flow. Lam takes the present (jussive) form: lam yaktub, never lam kataba.
• Grammar words are always given in English AND Arabic: students should be able to name the rule, not just apply it.
• Colour code (same as all Miftah lessons): WHO = blue, MEANING = purple, ENDING = pink, PATTERN = orange, KEY WORD = teal.
• SEND “automatic doors”: lesson map, chunked tasks, worked examples before practice, cover-the-text reading and “pass” for reading aloud are built in for everyone.
ROUTES: Core (green) = students whose Arabic is not yet secure; Develop (amber) = on track; Stretch (red) = confident. Same objective for everyone — the task changes, not the goal.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The website Entry Check — GM-VS-01 roles, GM-VS-02 full agreement and GM-VS-03 verb-first agreement.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Verb first → singular verb · subject first → full agreement · questions and negatives keep the same rule.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Objectives are drawn from the website lesson purpose and its Core / Develop / Stretch routes.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WORDS (3 min). These are the words we use to TALK ABOUT the grammar. Hear → Say → See → Use:
say each term twice, class repeats, point to the example on the card, then ask “Which word means …?” (chat the number).
Core students learn the English name and recognise the Arabic; Develop/Stretch use the Arabic term when explaining a rule.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1 (2 min) — website “Choose the order for a reason”. Stretch: ammā … fa- = “as for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2 (3 min) — website “The sentence-building ladder”. Row 5 is abridged on the website (“…”); completed here. He wrote the letter because he wanted to apologise; then he sent it to his friend.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3 (2 min) — website “Transform across past, present and future”. Note lan + -a (yazūra) and lan + -ū (yazūrū — the nūn drops).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4 (3 min) — website “Questions and negation preserve the core roles”. Core: rows 1 and 3. Helping kasra: lam yaktubi ṭ-ṭullābu.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5 (2 min) — website “A four-pass editing routine”. Students copy this table into their books: it is the checklist for every writing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Order Choice, Sentence Ladder and Editor checks.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think aloud at every step: name the rule in English and Arabic as you apply it.
Website clinic draft first: waṣalū ṭ-ṭullābu thumma badaʾū d-darsu → after four passes: waṣala ṭ-ṭullābu, thumma badaʾū d-darsa. Then the website final model: point out each order choice and why.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Students copy TWO that are useful for them.
• Core: copy one and change one word. • Develop: copy two and change the noun. • Stretch: combine two into one longer sentence.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(3 min) — cover column 2. Students say which pass catches each error (1 roles · 2 order · 3 verb form · 4 expansion). Row 5 from the website Editor Check.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(3 min) — cover columns 2–3. Rows 1 and 2 from the website game. Row 6 (Stretch): subject-first negative keeps full agreement — lam yaktubna.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Editor and Sentence Ladder checks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AND NOTICE (3 min) — website reading audit (teacher-written report). Read it aloud once while students follow; then they hunt for today’s grammar.
Task: Website reading audit: underline every verb, box each named subject and draw a line from each attached object pronoun to its noun.
SEND reading strategy: cover the text and uncover one sentence at a time. Core: use the green glossary.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(3 min). Teacher-written report for the website reading audit; questions teacher-written.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 student reads the phrase aloud and names the rule (in English or Arabic).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(3 min) — website speaking transformation. Sequence: ● 10s think → ↔ 45s rehearse aloud with mic muted → ◎ two named students on open mic (warned in advance) → + ? the class types one follow-up in chat → ↺ one student summarises.
Routes: Core uses the Core prompt and stem; Develop the Develop prompt; Stretch the last prompt.
Website: say one event first in VSO, then retell it with the subject first. Explain aloud how the verb changed.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writing task: Write 120–140 Arabic words about a memorable day, school event, journey or community activity. Use deliberate sentence-order variety and accurate agreement.
LIVE FEEDBACK: students post their first two sentences in the chat after 3 minutes. Scan and correct the target rule immediately (private chat for individual corrections).
Work with the less able: stay with Core students for the first 3 minutes. SEND: chunk the Core task — “two sentences, then show me”.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built on today’s rule.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teacher model built on the website model lines, with an English translation for Core students.
Students find in the model (● 20s → ◎) the items on the chips. 
Then each student chooses ONE thing from the model to add to their own writing.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3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(GM-NVS-01 · Simple Non-Verbal Sentences) will spend class time USING this language, so students prepare it tonight — short, simple, easy to access (school guidance: “Simple, Short, Interesting, Relevant, Easy to access”). The five words prepare GM-NVS-01 (website: simple non-verbal sentences).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1.xml"/><Relationship Id="rId3" Type="http://schemas.openxmlformats.org/officeDocument/2006/relationships/notesSlide" Target="../notesSlides/notesSlide3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ea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MIFTAH GRAMMAR MASTERY  ·  VERBAL SENTENCES  ·  GM-VS-04</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GM-VS-04</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950" b="1" dirty="0">
                <a:solidFill>
                  <a:srgbClr val="FFFFFF"/>
                </a:solidFill>
                <a:latin typeface="Cambria" pitchFamily="34" charset="0"/>
                <a:cs typeface="Amiri" pitchFamily="2" charset="-78"/>
              </a:rPr>
              <a:t>Building and Editing Verbal Sentences</a:t>
            </a:r>
            <a:endParaRPr lang="en-US" sz="29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ea typeface="Amiri" pitchFamily="2" charset="-78"/>
                <a:cs typeface="Amiri" pitchFamily="2" charset="-78"/>
              </a:rPr>
              <a:t>بِنَاءُ الْجُمَلِ الْفِعْلِيَّةِ وَمُرَاجَعَتُهَا</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Put it all together: choose verb first or subject first for a reason, build a sentence one detail at a time, keep agreement through questions and negatives (hal, lam, lan) — then edit in four passes.</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GM-VS-04 · Grammar Mastery</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All pathways · revision</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Grammar › Verbal Sentences</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GM-VS-04 · Verbal Sentences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Verbal Sentences · GM-VS-04</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35</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GM-VS-04 · Verbal Sentences</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Verbal Sentences · GM-VS-04</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2" charset="-78"/>
                <a:ea typeface="Amiri" pitchFamily="2" charset="-78"/>
                <a:cs typeface="Amiri" pitchFamily="2" charset="-78"/>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Order for a reason; the ladder; time frames; questions and negatives; four-pass edit.</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2" charset="-78"/>
                <a:ea typeface="Amiri" pitchFamily="2" charset="-78"/>
                <a:cs typeface="Amiri" pitchFamily="2" charset="-78"/>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Edit the clinic drafts; question and negate; repair.</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ea typeface="Amiri" pitchFamily="2" charset="-78"/>
                <a:cs typeface="Amiri" pitchFamily="2" charset="-78"/>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ea typeface="Amiri" pitchFamily="2" charset="-78"/>
                <a:cs typeface="Amiri" pitchFamily="2" charset="-78"/>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Get ready at home for GM-NVS-01.</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2" charset="-78"/>
                <a:ea typeface="Amiri" pitchFamily="2" charset="-78"/>
                <a:cs typeface="Amiri" pitchFamily="2" charset="-78"/>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35</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GM-VS-04 · Verbal Sentences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Verbal Sentences · GM-VS-04</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Best VSO core for “The students completed the project.”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أَكْمَلُوا الطُّلَّابُ الْمَشْرُوعَ.</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أَكْمَلَ الطُّلَّابُ الْمَشْرُوعَ.</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الْمَشْرُوعُ أَكْمَلَ الطُّلَّابَ.</a:t>
            </a:r>
            <a:endParaRPr lang="ar-SA" sz="20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Best SVO core for the same meaning.</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الطُّلَّابُ أَكْمَلُوا الْمَشْرُوعَ.</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الطُّلَّابُ أَكْمَلَ الْمَشْرُوعَ.</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الطُّلَّابَ أَكْمَلُوا الْمَشْرُوعُ.</a:t>
            </a:r>
            <a:endParaRPr lang="ar-SA" sz="20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Add a manner phrase:</a:t>
            </a:r>
            <a:endParaRPr lang="en-US" sz="1200" dirty="0"/>
          </a:p>
        </p:txBody>
      </p:sp>
      <p:sp>
        <p:nvSpPr>
          <p:cNvPr id="45" name="Text 42"/>
          <p:cNvSpPr txBox="1"/>
          <p:nvPr/>
        </p:nvSpPr>
        <p:spPr>
          <a:xfrm>
            <a:off x="10044989" y="1883664"/>
            <a:ext cx="1577035"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كَتَبَتْ لَيْلَى الرِّسَالَةَ</a:t>
            </a:r>
            <a:endParaRPr lang="ar-SA" sz="1500" dirty="0"/>
          </a:p>
        </p:txBody>
      </p:sp>
      <p:sp>
        <p:nvSpPr>
          <p:cNvPr id="46" name="Shape 43"/>
          <p:cNvSpPr/>
          <p:nvPr/>
        </p:nvSpPr>
        <p:spPr>
          <a:xfrm>
            <a:off x="8278368" y="2532888"/>
            <a:ext cx="256032" cy="256032"/>
          </a:xfrm>
          <a:prstGeom prst="ellipse">
            <a:avLst/>
          </a:prstGeom>
          <a:solidFill>
            <a:srgbClr val="F4F1EA"/>
          </a:solidFill>
          <a:ln w="12700">
            <a:solidFill>
              <a:srgbClr val="F4F1EA"/>
            </a:solidFill>
            <a:prstDash val="solid"/>
          </a:ln>
        </p:spPr>
      </p:sp>
      <p:sp>
        <p:nvSpPr>
          <p:cNvPr id="47" name="Text 44"/>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8" name="Text 45"/>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كَتَبَتْ بِعِنَايَةٌ لَيْلَى الرِّسَالَةُ.</a:t>
            </a:r>
            <a:endParaRPr lang="ar-SA" sz="2050" dirty="0"/>
          </a:p>
        </p:txBody>
      </p:sp>
      <p:sp>
        <p:nvSpPr>
          <p:cNvPr id="49" name="Shape 46"/>
          <p:cNvSpPr/>
          <p:nvPr/>
        </p:nvSpPr>
        <p:spPr>
          <a:xfrm>
            <a:off x="8278368" y="2990088"/>
            <a:ext cx="256032" cy="256032"/>
          </a:xfrm>
          <a:prstGeom prst="ellipse">
            <a:avLst/>
          </a:prstGeom>
          <a:solidFill>
            <a:srgbClr val="F4F1EA"/>
          </a:solidFill>
          <a:ln w="12700">
            <a:solidFill>
              <a:srgbClr val="F4F1EA"/>
            </a:solidFill>
            <a:prstDash val="solid"/>
          </a:ln>
        </p:spPr>
      </p:sp>
      <p:sp>
        <p:nvSpPr>
          <p:cNvPr id="50" name="Text 47"/>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1" name="Text 48"/>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لَيْلَى بِعِنَايَةٍ الرِّسَالَةَ.</a:t>
            </a:r>
            <a:endParaRPr lang="ar-SA" sz="2050" dirty="0"/>
          </a:p>
        </p:txBody>
      </p:sp>
      <p:sp>
        <p:nvSpPr>
          <p:cNvPr id="52" name="Shape 49"/>
          <p:cNvSpPr/>
          <p:nvPr/>
        </p:nvSpPr>
        <p:spPr>
          <a:xfrm>
            <a:off x="8278368" y="3447288"/>
            <a:ext cx="256032" cy="256032"/>
          </a:xfrm>
          <a:prstGeom prst="ellipse">
            <a:avLst/>
          </a:prstGeom>
          <a:solidFill>
            <a:srgbClr val="F4F1EA"/>
          </a:solidFill>
          <a:ln w="12700">
            <a:solidFill>
              <a:srgbClr val="F4F1EA"/>
            </a:solidFill>
            <a:prstDash val="solid"/>
          </a:ln>
        </p:spPr>
      </p:sp>
      <p:sp>
        <p:nvSpPr>
          <p:cNvPr id="53" name="Text 50"/>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4" name="Text 51"/>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كَتَبَتْ لَيْلَى الرِّسَالَةَ بِعِنَايَةٍ.</a:t>
            </a:r>
            <a:endParaRPr lang="ar-SA" sz="2050" dirty="0"/>
          </a:p>
        </p:txBody>
      </p:sp>
      <p:sp>
        <p:nvSpPr>
          <p:cNvPr id="55" name="Shape 52"/>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585216" y="4288536"/>
            <a:ext cx="310896" cy="310896"/>
          </a:xfrm>
          <a:prstGeom prst="ellipse">
            <a:avLst/>
          </a:prstGeom>
          <a:solidFill>
            <a:srgbClr val="1B3B6F"/>
          </a:solidFill>
          <a:ln w="12700">
            <a:solidFill>
              <a:srgbClr val="1B3B6F"/>
            </a:solidFill>
            <a:prstDash val="solid"/>
          </a:ln>
        </p:spPr>
      </p:sp>
      <p:sp>
        <p:nvSpPr>
          <p:cNvPr id="57" name="Text 5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8" name="Text 55"/>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Negate the past event with </a:t>
            </a:r>
            <a:pPr algn="l" indent="0" marL="0">
              <a:buNone/>
            </a:pPr>
            <a:r>
              <a:rPr lang="ar-SA" altLang="en-US" sz="1650" b="1" dirty="0">
                <a:solidFill>
                  <a:srgbClr val="1B3B6F"/>
                </a:solidFill>
                <a:latin typeface="Amiri" pitchFamily="2" charset="-78"/>
                <a:ea typeface="Amiri" pitchFamily="2" charset="-78"/>
                <a:cs typeface="Amiri" pitchFamily="2" charset="-78"/>
              </a:rPr>
              <a:t>لَمْ</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59" name="Shape 56"/>
          <p:cNvSpPr/>
          <p:nvPr/>
        </p:nvSpPr>
        <p:spPr>
          <a:xfrm>
            <a:off x="640080" y="4873752"/>
            <a:ext cx="256032" cy="256032"/>
          </a:xfrm>
          <a:prstGeom prst="ellipse">
            <a:avLst/>
          </a:prstGeom>
          <a:solidFill>
            <a:srgbClr val="F4F1EA"/>
          </a:solidFill>
          <a:ln w="12700">
            <a:solidFill>
              <a:srgbClr val="F4F1EA"/>
            </a:solidFill>
            <a:prstDash val="solid"/>
          </a:ln>
        </p:spPr>
      </p:sp>
      <p:sp>
        <p:nvSpPr>
          <p:cNvPr id="60" name="Text 57"/>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1" name="Text 58"/>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لَمْ كَتَبَ الطَّالِبُ الرِّسَالَةَ.</a:t>
            </a:r>
            <a:endParaRPr lang="ar-SA" sz="2050" dirty="0"/>
          </a:p>
        </p:txBody>
      </p:sp>
      <p:sp>
        <p:nvSpPr>
          <p:cNvPr id="62" name="Shape 59"/>
          <p:cNvSpPr/>
          <p:nvPr/>
        </p:nvSpPr>
        <p:spPr>
          <a:xfrm>
            <a:off x="640080" y="5330952"/>
            <a:ext cx="256032" cy="256032"/>
          </a:xfrm>
          <a:prstGeom prst="ellipse">
            <a:avLst/>
          </a:prstGeom>
          <a:solidFill>
            <a:srgbClr val="F4F1EA"/>
          </a:solidFill>
          <a:ln w="12700">
            <a:solidFill>
              <a:srgbClr val="F4F1EA"/>
            </a:solidFill>
            <a:prstDash val="solid"/>
          </a:ln>
        </p:spPr>
      </p:sp>
      <p:sp>
        <p:nvSpPr>
          <p:cNvPr id="63" name="Text 60"/>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4" name="Text 61"/>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لَنْ يَكْتُبُ الطَّالِبُ الرِّسَالَةَ.</a:t>
            </a:r>
            <a:endParaRPr lang="ar-SA" sz="2050" dirty="0"/>
          </a:p>
        </p:txBody>
      </p:sp>
      <p:sp>
        <p:nvSpPr>
          <p:cNvPr id="65" name="Shape 62"/>
          <p:cNvSpPr/>
          <p:nvPr/>
        </p:nvSpPr>
        <p:spPr>
          <a:xfrm>
            <a:off x="640080" y="5788152"/>
            <a:ext cx="256032" cy="256032"/>
          </a:xfrm>
          <a:prstGeom prst="ellipse">
            <a:avLst/>
          </a:prstGeom>
          <a:solidFill>
            <a:srgbClr val="F4F1EA"/>
          </a:solidFill>
          <a:ln w="12700">
            <a:solidFill>
              <a:srgbClr val="F4F1EA"/>
            </a:solidFill>
            <a:prstDash val="solid"/>
          </a:ln>
        </p:spPr>
      </p:sp>
      <p:sp>
        <p:nvSpPr>
          <p:cNvPr id="66" name="Text 63"/>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7" name="Text 64"/>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لَمْ يَكْتُبِ الطَّالِبُ الرِّسَالَةَ.</a:t>
            </a:r>
            <a:endParaRPr lang="ar-SA" sz="2050" dirty="0"/>
          </a:p>
        </p:txBody>
      </p:sp>
      <p:sp>
        <p:nvSpPr>
          <p:cNvPr id="68" name="Shape 65"/>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9" name="Shape 66"/>
          <p:cNvSpPr/>
          <p:nvPr/>
        </p:nvSpPr>
        <p:spPr>
          <a:xfrm>
            <a:off x="4404360" y="4288536"/>
            <a:ext cx="310896" cy="310896"/>
          </a:xfrm>
          <a:prstGeom prst="ellipse">
            <a:avLst/>
          </a:prstGeom>
          <a:solidFill>
            <a:srgbClr val="1B3B6F"/>
          </a:solidFill>
          <a:ln w="12700">
            <a:solidFill>
              <a:srgbClr val="1B3B6F"/>
            </a:solidFill>
            <a:prstDash val="solid"/>
          </a:ln>
        </p:spPr>
      </p:sp>
      <p:sp>
        <p:nvSpPr>
          <p:cNvPr id="70" name="Text 67"/>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1" name="Text 68"/>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Ask a yes/no question about the event.</a:t>
            </a:r>
            <a:endParaRPr lang="en-US" sz="1250" dirty="0"/>
          </a:p>
        </p:txBody>
      </p:sp>
      <p:sp>
        <p:nvSpPr>
          <p:cNvPr id="72" name="Shape 69"/>
          <p:cNvSpPr/>
          <p:nvPr/>
        </p:nvSpPr>
        <p:spPr>
          <a:xfrm>
            <a:off x="4459224" y="4873752"/>
            <a:ext cx="256032" cy="256032"/>
          </a:xfrm>
          <a:prstGeom prst="ellipse">
            <a:avLst/>
          </a:prstGeom>
          <a:solidFill>
            <a:srgbClr val="F4F1EA"/>
          </a:solidFill>
          <a:ln w="12700">
            <a:solidFill>
              <a:srgbClr val="F4F1EA"/>
            </a:solidFill>
            <a:prstDash val="solid"/>
          </a:ln>
        </p:spPr>
      </p:sp>
      <p:sp>
        <p:nvSpPr>
          <p:cNvPr id="73" name="Text 70"/>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4" name="Text 71"/>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هَلْ كَتَبَ الطَّالِبُ الرِّسَالَةَ؟</a:t>
            </a:r>
            <a:endParaRPr lang="ar-SA" sz="2050" dirty="0"/>
          </a:p>
        </p:txBody>
      </p:sp>
      <p:sp>
        <p:nvSpPr>
          <p:cNvPr id="75" name="Shape 72"/>
          <p:cNvSpPr/>
          <p:nvPr/>
        </p:nvSpPr>
        <p:spPr>
          <a:xfrm>
            <a:off x="4459224" y="5330952"/>
            <a:ext cx="256032" cy="256032"/>
          </a:xfrm>
          <a:prstGeom prst="ellipse">
            <a:avLst/>
          </a:prstGeom>
          <a:solidFill>
            <a:srgbClr val="F4F1EA"/>
          </a:solidFill>
          <a:ln w="12700">
            <a:solidFill>
              <a:srgbClr val="F4F1EA"/>
            </a:solidFill>
            <a:prstDash val="solid"/>
          </a:ln>
        </p:spPr>
      </p:sp>
      <p:sp>
        <p:nvSpPr>
          <p:cNvPr id="76" name="Text 73"/>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7" name="Text 74"/>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مَاذَا الطَّالِبُ الرِّسَالَةَ؟</a:t>
            </a:r>
            <a:endParaRPr lang="ar-SA" sz="2050" dirty="0"/>
          </a:p>
        </p:txBody>
      </p:sp>
      <p:sp>
        <p:nvSpPr>
          <p:cNvPr id="78" name="Shape 75"/>
          <p:cNvSpPr/>
          <p:nvPr/>
        </p:nvSpPr>
        <p:spPr>
          <a:xfrm>
            <a:off x="4459224" y="5788152"/>
            <a:ext cx="256032" cy="256032"/>
          </a:xfrm>
          <a:prstGeom prst="ellipse">
            <a:avLst/>
          </a:prstGeom>
          <a:solidFill>
            <a:srgbClr val="F4F1EA"/>
          </a:solidFill>
          <a:ln w="12700">
            <a:solidFill>
              <a:srgbClr val="F4F1EA"/>
            </a:solidFill>
            <a:prstDash val="solid"/>
          </a:ln>
        </p:spPr>
      </p:sp>
      <p:sp>
        <p:nvSpPr>
          <p:cNvPr id="79" name="Text 76"/>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0" name="Text 77"/>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هَلْ الرِّسَالَةَ الطَّالِبُ؟</a:t>
            </a:r>
            <a:endParaRPr lang="ar-SA" sz="2050" dirty="0"/>
          </a:p>
        </p:txBody>
      </p:sp>
      <p:sp>
        <p:nvSpPr>
          <p:cNvPr id="81" name="Shape 78"/>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2" name="Text 79"/>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cs typeface="Amiri" pitchFamily="2" charset="-78"/>
              </a:rPr>
              <a:t>HOW TO ANSWER</a:t>
            </a:r>
            <a:endParaRPr lang="en-US" sz="1100" dirty="0"/>
          </a:p>
        </p:txBody>
      </p:sp>
      <p:sp>
        <p:nvSpPr>
          <p:cNvPr id="83" name="Text 80"/>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Work on your own in silence.</a:t>
            </a:r>
            <a:endParaRPr lang="en-US" sz="1350" dirty="0"/>
          </a:p>
          <a:p>
            <a:pPr algn="l" indent="0" marL="0">
              <a:buNone/>
            </a:pPr>
            <a:r>
              <a:rPr lang="en-US" sz="1350" dirty="0">
                <a:solidFill>
                  <a:srgbClr val="1F2A37"/>
                </a:solidFill>
                <a:latin typeface="Calibri" pitchFamily="34" charset="0"/>
                <a:cs typeface="Amiri" pitchFamily="2" charset="-78"/>
              </a:rPr>
              <a:t>When the timer ends, type in the chat:</a:t>
            </a:r>
            <a:endParaRPr lang="en-US" sz="1350" dirty="0"/>
          </a:p>
        </p:txBody>
      </p:sp>
      <p:sp>
        <p:nvSpPr>
          <p:cNvPr id="84" name="Text 81"/>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cs typeface="Amiri" pitchFamily="2" charset="-78"/>
              </a:rPr>
              <a:t>1_  2_  3_  4_  5_</a:t>
            </a:r>
            <a:endParaRPr lang="en-US" sz="1400" dirty="0"/>
          </a:p>
        </p:txBody>
      </p:sp>
      <p:sp>
        <p:nvSpPr>
          <p:cNvPr id="85" name="Text 82"/>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cs typeface="Amiri" pitchFamily="2" charset="-78"/>
              </a:rPr>
              <a:t>⏱  5 : 00</a:t>
            </a:r>
            <a:endParaRPr lang="en-US" sz="1800" dirty="0"/>
          </a:p>
        </p:txBody>
      </p:sp>
      <p:sp>
        <p:nvSpPr>
          <p:cNvPr id="86" name="Text 8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35</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GM-VS-04 · Verbal Sentences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Verbal Sentences · GM-VS-04</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Best VSO core for “The students completed the project.”</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أَكْمَلُوا الطُّلَّابُ الْمَشْرُوعَ.</a:t>
            </a:r>
            <a:endParaRPr lang="ar-SA" sz="170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أَكْمَلَ الطُّلَّابُ الْمَشْرُوعَ.</a:t>
            </a:r>
            <a:endParaRPr lang="ar-SA" sz="170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الْمَشْرُوعُ أَكْمَلَ الطُّلَّابَ.</a:t>
            </a:r>
            <a:endParaRPr lang="ar-SA" sz="170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Verb first before people → singular: akmala.</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Best SVO core for the same meaning.</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الطُّلَّابُ أَكْمَلُوا الْمَشْرُوعَ.</a:t>
            </a:r>
            <a:endParaRPr lang="ar-SA" sz="170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الطُّلَّابُ أَكْمَلَ الْمَشْرُوعَ.</a:t>
            </a:r>
            <a:endParaRPr lang="ar-SA" sz="170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الطُّلَّابَ أَكْمَلُوا الْمَشْرُوعُ.</a:t>
            </a:r>
            <a:endParaRPr lang="ar-SA" sz="170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People first → full agreement: akmalū.</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Add a manner phrase:</a:t>
            </a:r>
            <a:endParaRPr lang="en-US" sz="1200" dirty="0"/>
          </a:p>
        </p:txBody>
      </p:sp>
      <p:sp>
        <p:nvSpPr>
          <p:cNvPr id="49" name="Text 46"/>
          <p:cNvSpPr txBox="1"/>
          <p:nvPr/>
        </p:nvSpPr>
        <p:spPr>
          <a:xfrm>
            <a:off x="10044989" y="1883664"/>
            <a:ext cx="1577035"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كَتَبَتْ لَيْلَى الرِّسَالَةَ</a:t>
            </a:r>
            <a:endParaRPr lang="ar-SA" sz="1500" dirty="0"/>
          </a:p>
        </p:txBody>
      </p:sp>
      <p:sp>
        <p:nvSpPr>
          <p:cNvPr id="50" name="Shape 47"/>
          <p:cNvSpPr/>
          <p:nvPr/>
        </p:nvSpPr>
        <p:spPr>
          <a:xfrm>
            <a:off x="8278368" y="2490216"/>
            <a:ext cx="256032" cy="256032"/>
          </a:xfrm>
          <a:prstGeom prst="ellipse">
            <a:avLst/>
          </a:prstGeom>
          <a:solidFill>
            <a:srgbClr val="C9CED6"/>
          </a:solidFill>
          <a:ln w="12700">
            <a:solidFill>
              <a:srgbClr val="C9CED6"/>
            </a:solidFill>
            <a:prstDash val="solid"/>
          </a:ln>
        </p:spPr>
      </p:sp>
      <p:sp>
        <p:nvSpPr>
          <p:cNvPr id="51" name="Text 48"/>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كَتَبَتْ بِعِنَايَةٌ لَيْلَى الرِّسَالَةُ.</a:t>
            </a:r>
            <a:endParaRPr lang="ar-SA" sz="1700" dirty="0"/>
          </a:p>
        </p:txBody>
      </p:sp>
      <p:sp>
        <p:nvSpPr>
          <p:cNvPr id="53" name="Shape 50"/>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لَيْلَى بِعِنَايَةٍ الرِّسَالَةَ.</a:t>
            </a:r>
            <a:endParaRPr lang="ar-SA" sz="1700" dirty="0"/>
          </a:p>
        </p:txBody>
      </p:sp>
      <p:sp>
        <p:nvSpPr>
          <p:cNvPr id="56" name="Shape 53"/>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7" name="Shape 54"/>
          <p:cNvSpPr/>
          <p:nvPr/>
        </p:nvSpPr>
        <p:spPr>
          <a:xfrm>
            <a:off x="8278368" y="3233928"/>
            <a:ext cx="256032" cy="256032"/>
          </a:xfrm>
          <a:prstGeom prst="ellipse">
            <a:avLst/>
          </a:prstGeom>
          <a:solidFill>
            <a:srgbClr val="2E8B57"/>
          </a:solidFill>
          <a:ln w="12700">
            <a:solidFill>
              <a:srgbClr val="2E8B57"/>
            </a:solidFill>
            <a:prstDash val="solid"/>
          </a:ln>
        </p:spPr>
      </p:sp>
      <p:sp>
        <p:nvSpPr>
          <p:cNvPr id="58" name="Text 55"/>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9" name="Text 56"/>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كَتَبَتْ لَيْلَى الرِّسَالَةَ بِعِنَايَةٍ.</a:t>
            </a:r>
            <a:endParaRPr lang="ar-SA" sz="1700" dirty="0"/>
          </a:p>
        </p:txBody>
      </p:sp>
      <p:sp>
        <p:nvSpPr>
          <p:cNvPr id="60" name="Text 57"/>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Add “how” after a secure core.</a:t>
            </a:r>
            <a:endParaRPr lang="en-US" sz="1050" dirty="0"/>
          </a:p>
        </p:txBody>
      </p:sp>
      <p:sp>
        <p:nvSpPr>
          <p:cNvPr id="61" name="Shape 58"/>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59"/>
          <p:cNvSpPr/>
          <p:nvPr/>
        </p:nvSpPr>
        <p:spPr>
          <a:xfrm>
            <a:off x="585216" y="4288536"/>
            <a:ext cx="310896" cy="310896"/>
          </a:xfrm>
          <a:prstGeom prst="ellipse">
            <a:avLst/>
          </a:prstGeom>
          <a:solidFill>
            <a:srgbClr val="1B3B6F"/>
          </a:solidFill>
          <a:ln w="12700">
            <a:solidFill>
              <a:srgbClr val="1B3B6F"/>
            </a:solidFill>
            <a:prstDash val="solid"/>
          </a:ln>
        </p:spPr>
      </p:sp>
      <p:sp>
        <p:nvSpPr>
          <p:cNvPr id="63" name="Text 6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4" name="Text 61"/>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Negate the past event with </a:t>
            </a:r>
            <a:pPr algn="l" indent="0" marL="0">
              <a:buNone/>
            </a:pPr>
            <a:r>
              <a:rPr lang="ar-SA" altLang="en-US" sz="1650" b="1" dirty="0">
                <a:solidFill>
                  <a:srgbClr val="1B3B6F"/>
                </a:solidFill>
                <a:latin typeface="Amiri" pitchFamily="2" charset="-78"/>
                <a:ea typeface="Amiri" pitchFamily="2" charset="-78"/>
                <a:cs typeface="Amiri" pitchFamily="2" charset="-78"/>
              </a:rPr>
              <a:t>لَمْ</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65" name="Shape 62"/>
          <p:cNvSpPr/>
          <p:nvPr/>
        </p:nvSpPr>
        <p:spPr>
          <a:xfrm>
            <a:off x="640080" y="4831080"/>
            <a:ext cx="256032" cy="256032"/>
          </a:xfrm>
          <a:prstGeom prst="ellipse">
            <a:avLst/>
          </a:prstGeom>
          <a:solidFill>
            <a:srgbClr val="C9CED6"/>
          </a:solidFill>
          <a:ln w="12700">
            <a:solidFill>
              <a:srgbClr val="C9CED6"/>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لَمْ كَتَبَ الطَّالِبُ الرِّسَالَةَ.</a:t>
            </a:r>
            <a:endParaRPr lang="ar-SA" sz="170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لَنْ يَكْتُبُ الطَّالِبُ الرِّسَالَةَ.</a:t>
            </a:r>
            <a:endParaRPr lang="ar-SA" sz="1700" dirty="0"/>
          </a:p>
        </p:txBody>
      </p:sp>
      <p:sp>
        <p:nvSpPr>
          <p:cNvPr id="71" name="Shape 68"/>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2" name="Shape 69"/>
          <p:cNvSpPr/>
          <p:nvPr/>
        </p:nvSpPr>
        <p:spPr>
          <a:xfrm>
            <a:off x="640080" y="5574792"/>
            <a:ext cx="256032" cy="256032"/>
          </a:xfrm>
          <a:prstGeom prst="ellipse">
            <a:avLst/>
          </a:prstGeom>
          <a:solidFill>
            <a:srgbClr val="2E8B57"/>
          </a:solidFill>
          <a:ln w="12700">
            <a:solidFill>
              <a:srgbClr val="2E8B57"/>
            </a:solidFill>
            <a:prstDash val="solid"/>
          </a:ln>
        </p:spPr>
      </p:sp>
      <p:sp>
        <p:nvSpPr>
          <p:cNvPr id="73" name="Text 70"/>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4" name="Text 71"/>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لَمْ يَكْتُبِ الطَّالِبُ الرِّسَالَةَ.</a:t>
            </a:r>
            <a:endParaRPr lang="ar-SA" sz="1700" dirty="0"/>
          </a:p>
        </p:txBody>
      </p:sp>
      <p:sp>
        <p:nvSpPr>
          <p:cNvPr id="75" name="Text 72"/>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Lam + present form, past meaning.</a:t>
            </a:r>
            <a:endParaRPr lang="en-US" sz="1050" dirty="0"/>
          </a:p>
        </p:txBody>
      </p:sp>
      <p:sp>
        <p:nvSpPr>
          <p:cNvPr id="76" name="Shape 73"/>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7" name="Shape 74"/>
          <p:cNvSpPr/>
          <p:nvPr/>
        </p:nvSpPr>
        <p:spPr>
          <a:xfrm>
            <a:off x="4404360" y="4288536"/>
            <a:ext cx="310896" cy="310896"/>
          </a:xfrm>
          <a:prstGeom prst="ellipse">
            <a:avLst/>
          </a:prstGeom>
          <a:solidFill>
            <a:srgbClr val="1B3B6F"/>
          </a:solidFill>
          <a:ln w="12700">
            <a:solidFill>
              <a:srgbClr val="1B3B6F"/>
            </a:solidFill>
            <a:prstDash val="solid"/>
          </a:ln>
        </p:spPr>
      </p:sp>
      <p:sp>
        <p:nvSpPr>
          <p:cNvPr id="78" name="Text 75"/>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9" name="Text 76"/>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Ask a yes/no question about the event.</a:t>
            </a:r>
            <a:endParaRPr lang="en-US" sz="1250" dirty="0"/>
          </a:p>
        </p:txBody>
      </p:sp>
      <p:sp>
        <p:nvSpPr>
          <p:cNvPr id="80" name="Shape 77"/>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1" name="Shape 78"/>
          <p:cNvSpPr/>
          <p:nvPr/>
        </p:nvSpPr>
        <p:spPr>
          <a:xfrm>
            <a:off x="4459224" y="4831080"/>
            <a:ext cx="256032" cy="256032"/>
          </a:xfrm>
          <a:prstGeom prst="ellipse">
            <a:avLst/>
          </a:prstGeom>
          <a:solidFill>
            <a:srgbClr val="2E8B57"/>
          </a:solidFill>
          <a:ln w="12700">
            <a:solidFill>
              <a:srgbClr val="2E8B57"/>
            </a:solidFill>
            <a:prstDash val="solid"/>
          </a:ln>
        </p:spPr>
      </p:sp>
      <p:sp>
        <p:nvSpPr>
          <p:cNvPr id="82" name="Text 79"/>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3" name="Text 80"/>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هَلْ كَتَبَ الطَّالِبُ الرِّسَالَةَ؟</a:t>
            </a:r>
            <a:endParaRPr lang="ar-SA" sz="1700" dirty="0"/>
          </a:p>
        </p:txBody>
      </p:sp>
      <p:sp>
        <p:nvSpPr>
          <p:cNvPr id="84" name="Shape 81"/>
          <p:cNvSpPr/>
          <p:nvPr/>
        </p:nvSpPr>
        <p:spPr>
          <a:xfrm>
            <a:off x="4459224" y="5202936"/>
            <a:ext cx="256032" cy="256032"/>
          </a:xfrm>
          <a:prstGeom prst="ellipse">
            <a:avLst/>
          </a:prstGeom>
          <a:solidFill>
            <a:srgbClr val="C9CED6"/>
          </a:solidFill>
          <a:ln w="12700">
            <a:solidFill>
              <a:srgbClr val="C9CED6"/>
            </a:solidFill>
            <a:prstDash val="solid"/>
          </a:ln>
        </p:spPr>
      </p:sp>
      <p:sp>
        <p:nvSpPr>
          <p:cNvPr id="85" name="Text 82"/>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6" name="Text 83"/>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مَاذَا الطَّالِبُ الرِّسَالَةَ؟</a:t>
            </a:r>
            <a:endParaRPr lang="ar-SA" sz="1700" dirty="0"/>
          </a:p>
        </p:txBody>
      </p:sp>
      <p:sp>
        <p:nvSpPr>
          <p:cNvPr id="87" name="Shape 84"/>
          <p:cNvSpPr/>
          <p:nvPr/>
        </p:nvSpPr>
        <p:spPr>
          <a:xfrm>
            <a:off x="4459224" y="5574792"/>
            <a:ext cx="256032" cy="256032"/>
          </a:xfrm>
          <a:prstGeom prst="ellipse">
            <a:avLst/>
          </a:prstGeom>
          <a:solidFill>
            <a:srgbClr val="C9CED6"/>
          </a:solidFill>
          <a:ln w="12700">
            <a:solidFill>
              <a:srgbClr val="C9CED6"/>
            </a:solidFill>
            <a:prstDash val="solid"/>
          </a:ln>
        </p:spPr>
      </p:sp>
      <p:sp>
        <p:nvSpPr>
          <p:cNvPr id="88" name="Text 85"/>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9" name="Text 86"/>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هَلْ الرِّسَالَةَ الطَّالِبُ؟</a:t>
            </a:r>
            <a:endParaRPr lang="ar-SA" sz="1700" dirty="0"/>
          </a:p>
        </p:txBody>
      </p:sp>
      <p:sp>
        <p:nvSpPr>
          <p:cNvPr id="90" name="Text 87"/>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Hal goes in front of the whole sentence.</a:t>
            </a:r>
            <a:endParaRPr lang="en-US" sz="1050" dirty="0"/>
          </a:p>
        </p:txBody>
      </p:sp>
      <p:sp>
        <p:nvSpPr>
          <p:cNvPr id="91" name="Shape 88"/>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2" name="Text 89"/>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KEY IDEA FOR TODAY</a:t>
            </a:r>
            <a:endParaRPr lang="en-US" sz="1000" dirty="0"/>
          </a:p>
        </p:txBody>
      </p:sp>
      <p:sp>
        <p:nvSpPr>
          <p:cNvPr id="93" name="Text 90"/>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cs typeface="Amiri" pitchFamily="2" charset="-78"/>
              </a:rPr>
              <a:t>Verb first → singular verb · subject first → full agreement · questions and negatives keep the same rule.</a:t>
            </a:r>
            <a:endParaRPr lang="en-US" sz="1300" dirty="0"/>
          </a:p>
        </p:txBody>
      </p:sp>
      <p:sp>
        <p:nvSpPr>
          <p:cNvPr id="94" name="Text 91"/>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1950" b="1" dirty="0">
                <a:solidFill>
                  <a:srgbClr val="1B3B6F"/>
                </a:solidFill>
                <a:latin typeface="Amiri" pitchFamily="2" charset="-78"/>
                <a:ea typeface="Amiri" pitchFamily="2" charset="-78"/>
                <a:cs typeface="Amiri" pitchFamily="2" charset="-78"/>
              </a:rPr>
              <a:t>لَمْ </a:t>
            </a:r>
            <a:pPr rtl="1" algn="ctr" indent="0" marL="0">
              <a:lnSpc>
                <a:spcPct val="120000"/>
              </a:lnSpc>
              <a:buNone/>
            </a:pPr>
            <a:r>
              <a:rPr lang="ar-SA" altLang="en-US" sz="1950" b="1" dirty="0">
                <a:solidFill>
                  <a:srgbClr val="0E7C86"/>
                </a:solidFill>
                <a:latin typeface="Amiri" pitchFamily="2" charset="-78"/>
                <a:ea typeface="Amiri" pitchFamily="2" charset="-78"/>
                <a:cs typeface="Amiri" pitchFamily="2" charset="-78"/>
              </a:rPr>
              <a:t>يَكْتُبِ</a:t>
            </a:r>
            <a:pPr rtl="1" algn="ctr" indent="0" marL="0">
              <a:lnSpc>
                <a:spcPct val="120000"/>
              </a:lnSpc>
              <a:buNone/>
            </a:pPr>
            <a:r>
              <a:rPr lang="ar-SA" altLang="en-US" sz="1950" b="1" dirty="0">
                <a:solidFill>
                  <a:srgbClr val="1B3B6F"/>
                </a:solidFill>
                <a:latin typeface="Amiri" pitchFamily="2" charset="-78"/>
                <a:cs typeface="Amiri" pitchFamily="2" charset="-78"/>
              </a:rPr>
              <a:t> </a:t>
            </a:r>
            <a:pPr rtl="1" algn="ctr" indent="0" marL="0">
              <a:lnSpc>
                <a:spcPct val="120000"/>
              </a:lnSpc>
              <a:buNone/>
            </a:pPr>
            <a:r>
              <a:rPr lang="ar-SA" altLang="en-US" sz="1950" b="1" dirty="0">
                <a:solidFill>
                  <a:srgbClr val="1D5FBF"/>
                </a:solidFill>
                <a:latin typeface="Amiri" pitchFamily="2" charset="-78"/>
                <a:ea typeface="Amiri" pitchFamily="2" charset="-78"/>
                <a:cs typeface="Amiri" pitchFamily="2" charset="-78"/>
              </a:rPr>
              <a:t>الطُّلَّابُ</a:t>
            </a:r>
            <a:pPr rtl="1" algn="ctr" indent="0" marL="0">
              <a:lnSpc>
                <a:spcPct val="120000"/>
              </a:lnSpc>
              <a:buNone/>
            </a:pPr>
            <a:r>
              <a:rPr lang="ar-SA" altLang="en-US" sz="1950" b="1" dirty="0">
                <a:solidFill>
                  <a:srgbClr val="1B3B6F"/>
                </a:solidFill>
                <a:latin typeface="Amiri" pitchFamily="2" charset="-78"/>
                <a:cs typeface="Amiri" pitchFamily="2" charset="-78"/>
              </a:rPr>
              <a:t> ‖ </a:t>
            </a:r>
            <a:pPr rtl="1" algn="ctr" indent="0" marL="0">
              <a:lnSpc>
                <a:spcPct val="120000"/>
              </a:lnSpc>
              <a:buNone/>
            </a:pPr>
            <a:r>
              <a:rPr lang="ar-SA" altLang="en-US" sz="1950" b="1" dirty="0">
                <a:solidFill>
                  <a:srgbClr val="1D5FBF"/>
                </a:solidFill>
                <a:latin typeface="Amiri" pitchFamily="2" charset="-78"/>
                <a:ea typeface="Amiri" pitchFamily="2" charset="-78"/>
                <a:cs typeface="Amiri" pitchFamily="2" charset="-78"/>
              </a:rPr>
              <a:t>الطُّلَّابُ</a:t>
            </a:r>
            <a:pPr rtl="1" algn="ctr" indent="0" marL="0">
              <a:lnSpc>
                <a:spcPct val="120000"/>
              </a:lnSpc>
              <a:buNone/>
            </a:pPr>
            <a:r>
              <a:rPr lang="ar-SA" altLang="en-US" sz="1950" b="1" dirty="0">
                <a:solidFill>
                  <a:srgbClr val="1B3B6F"/>
                </a:solidFill>
                <a:latin typeface="Amiri" pitchFamily="2" charset="-78"/>
                <a:ea typeface="Amiri" pitchFamily="2" charset="-78"/>
                <a:cs typeface="Amiri" pitchFamily="2" charset="-78"/>
              </a:rPr>
              <a:t> لَمْ </a:t>
            </a:r>
            <a:pPr rtl="1" algn="ctr" indent="0" marL="0">
              <a:lnSpc>
                <a:spcPct val="120000"/>
              </a:lnSpc>
              <a:buNone/>
            </a:pPr>
            <a:r>
              <a:rPr lang="ar-SA" altLang="en-US" sz="1950" b="1" dirty="0">
                <a:solidFill>
                  <a:srgbClr val="0E7C86"/>
                </a:solidFill>
                <a:latin typeface="Amiri" pitchFamily="2" charset="-78"/>
                <a:ea typeface="Amiri" pitchFamily="2" charset="-78"/>
                <a:cs typeface="Amiri" pitchFamily="2" charset="-78"/>
              </a:rPr>
              <a:t>يَكْتُبُوا</a:t>
            </a:r>
            <a:endParaRPr lang="ar-SA" sz="19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35</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GM-VS-04 · Verbal Sentences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Verbal Sentences · GM-VS-04</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ea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Choose verb first or subject first for a reason.</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Expand a sentence one detail at a time.</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Keep agreement in questions and negatives.</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Edit a paragraph in four passes.</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build VSO and SVO cores.</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add time and place and ask with hal.</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change the time frame correctly.</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negate with lam and lan.</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edit a paragraph in four passes.</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write 120–140 words with varied order.</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35</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GM-VS-04 · Verbal Sentences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THE GRAMMAR WORDS WE WILL USE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Grammar words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مُصْطَلَحَاتُ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Verbal Sentences · GM-VS-04</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الْبِنَاءُ</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building (a sentence)</a:t>
            </a:r>
            <a:endParaRPr lang="en-US" sz="1350" dirty="0"/>
          </a:p>
          <a:p>
            <a:pPr indent="0" marL="0">
              <a:buNone/>
            </a:pPr>
            <a:r>
              <a:rPr lang="en-US" sz="1100" i="1" dirty="0">
                <a:solidFill>
                  <a:srgbClr val="5A6472"/>
                </a:solidFill>
                <a:latin typeface="Calibri" pitchFamily="34" charset="0"/>
                <a:cs typeface="Amiri" pitchFamily="2" charset="-78"/>
              </a:rPr>
              <a:t>al-bi-nā-ʾu</a:t>
            </a:r>
            <a:endParaRPr lang="en-US" sz="1350" dirty="0"/>
          </a:p>
        </p:txBody>
      </p:sp>
      <p:sp>
        <p:nvSpPr>
          <p:cNvPr id="22" name="Text 19"/>
          <p:cNvSpPr txBox="1"/>
          <p:nvPr/>
        </p:nvSpPr>
        <p:spPr>
          <a:xfrm>
            <a:off x="8238744"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ea typeface="Amiri" pitchFamily="2" charset="-78"/>
                <a:cs typeface="Amiri" pitchFamily="2" charset="-78"/>
              </a:rPr>
              <a:t>خُطْوَةً خُطْوَةً</a:t>
            </a:r>
            <a:endParaRPr lang="ar-SA" sz="1300" dirty="0"/>
          </a:p>
        </p:txBody>
      </p:sp>
      <p:sp>
        <p:nvSpPr>
          <p:cNvPr id="23" name="Shape 2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389120" y="1920240"/>
            <a:ext cx="310896" cy="310896"/>
          </a:xfrm>
          <a:prstGeom prst="ellipse">
            <a:avLst/>
          </a:prstGeom>
          <a:solidFill>
            <a:srgbClr val="F4F1EA"/>
          </a:solidFill>
          <a:ln w="12700">
            <a:solidFill>
              <a:srgbClr val="F4F1EA"/>
            </a:solidFill>
            <a:prstDash val="solid"/>
          </a:ln>
        </p:spPr>
      </p:sp>
      <p:sp>
        <p:nvSpPr>
          <p:cNvPr id="25" name="Text 2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26" name="Shape 23"/>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7" name="Text 24"/>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8" name="Text 25"/>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الْمُرَاجَعَةُ</a:t>
            </a:r>
            <a:endParaRPr lang="ar-SA" sz="3000" dirty="0"/>
          </a:p>
        </p:txBody>
      </p:sp>
      <p:sp>
        <p:nvSpPr>
          <p:cNvPr id="29" name="Text 26"/>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editing / checking</a:t>
            </a:r>
            <a:endParaRPr lang="en-US" sz="1350" dirty="0"/>
          </a:p>
          <a:p>
            <a:pPr indent="0" marL="0">
              <a:buNone/>
            </a:pPr>
            <a:r>
              <a:rPr lang="en-US" sz="1100" i="1" dirty="0">
                <a:solidFill>
                  <a:srgbClr val="5A6472"/>
                </a:solidFill>
                <a:latin typeface="Calibri" pitchFamily="34" charset="0"/>
                <a:cs typeface="Amiri" pitchFamily="2" charset="-78"/>
              </a:rPr>
              <a:t>al-mu-rā-ja-ʿa-tu</a:t>
            </a:r>
            <a:endParaRPr lang="en-US" sz="1350" dirty="0"/>
          </a:p>
        </p:txBody>
      </p:sp>
      <p:sp>
        <p:nvSpPr>
          <p:cNvPr id="30" name="Text 27"/>
          <p:cNvSpPr txBox="1"/>
          <p:nvPr/>
        </p:nvSpPr>
        <p:spPr>
          <a:xfrm>
            <a:off x="4416552"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ea typeface="Amiri" pitchFamily="2" charset="-78"/>
                <a:cs typeface="Amiri" pitchFamily="2" charset="-78"/>
              </a:rPr>
              <a:t>أَرْبَعُ مَرَاحِلَ</a:t>
            </a:r>
            <a:endParaRPr lang="ar-SA" sz="1300" dirty="0"/>
          </a:p>
        </p:txBody>
      </p:sp>
      <p:sp>
        <p:nvSpPr>
          <p:cNvPr id="31" name="Shape 28"/>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66928" y="1920240"/>
            <a:ext cx="310896" cy="310896"/>
          </a:xfrm>
          <a:prstGeom prst="ellipse">
            <a:avLst/>
          </a:prstGeom>
          <a:solidFill>
            <a:srgbClr val="F4F1EA"/>
          </a:solidFill>
          <a:ln w="12700">
            <a:solidFill>
              <a:srgbClr val="F4F1EA"/>
            </a:solidFill>
            <a:prstDash val="solid"/>
          </a:ln>
        </p:spPr>
      </p:sp>
      <p:sp>
        <p:nvSpPr>
          <p:cNvPr id="33" name="Text 30"/>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34" name="Shape 31"/>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6" name="Text 33"/>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الِاسْتِفْهَامُ</a:t>
            </a:r>
            <a:endParaRPr lang="ar-SA" sz="3000" dirty="0"/>
          </a:p>
        </p:txBody>
      </p:sp>
      <p:sp>
        <p:nvSpPr>
          <p:cNvPr id="37" name="Text 34"/>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question</a:t>
            </a:r>
            <a:endParaRPr lang="en-US" sz="1350" dirty="0"/>
          </a:p>
          <a:p>
            <a:pPr indent="0" marL="0">
              <a:buNone/>
            </a:pPr>
            <a:r>
              <a:rPr lang="ar-SA" sz="1100" i="1" dirty="0">
                <a:solidFill>
                  <a:srgbClr val="5A6472"/>
                </a:solidFill>
                <a:latin typeface="Calibri" pitchFamily="34" charset="0"/>
                <a:ea typeface="Amiri" pitchFamily="2" charset="-78"/>
                <a:cs typeface="Amiri" pitchFamily="2" charset="-78"/>
              </a:rPr>
              <a:t>al-ِs-tif-hā-mu</a:t>
            </a:r>
            <a:endParaRPr lang="en-US" sz="1350" dirty="0"/>
          </a:p>
        </p:txBody>
      </p:sp>
      <p:sp>
        <p:nvSpPr>
          <p:cNvPr id="38" name="Text 35"/>
          <p:cNvSpPr txBox="1"/>
          <p:nvPr/>
        </p:nvSpPr>
        <p:spPr>
          <a:xfrm>
            <a:off x="594360"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ea typeface="Amiri" pitchFamily="2" charset="-78"/>
                <a:cs typeface="Amiri" pitchFamily="2" charset="-78"/>
              </a:rPr>
              <a:t>هَلْ كَتَبَ …؟</a:t>
            </a:r>
            <a:endParaRPr lang="ar-SA" sz="1300" dirty="0"/>
          </a:p>
        </p:txBody>
      </p:sp>
      <p:sp>
        <p:nvSpPr>
          <p:cNvPr id="39" name="Shape 36"/>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8211312" y="4261104"/>
            <a:ext cx="310896" cy="310896"/>
          </a:xfrm>
          <a:prstGeom prst="ellipse">
            <a:avLst/>
          </a:prstGeom>
          <a:solidFill>
            <a:srgbClr val="F4F1EA"/>
          </a:solidFill>
          <a:ln w="12700">
            <a:solidFill>
              <a:srgbClr val="F4F1EA"/>
            </a:solidFill>
            <a:prstDash val="solid"/>
          </a:ln>
        </p:spPr>
      </p:sp>
      <p:sp>
        <p:nvSpPr>
          <p:cNvPr id="41" name="Text 38"/>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42" name="Shape 39"/>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3" name="Text 40"/>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4" name="Text 41"/>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النَّفْيُ</a:t>
            </a:r>
            <a:endParaRPr lang="ar-SA" sz="3000" dirty="0"/>
          </a:p>
        </p:txBody>
      </p:sp>
      <p:sp>
        <p:nvSpPr>
          <p:cNvPr id="45" name="Text 42"/>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negation</a:t>
            </a:r>
            <a:endParaRPr lang="en-US" sz="1350" dirty="0"/>
          </a:p>
          <a:p>
            <a:pPr indent="0" marL="0">
              <a:buNone/>
            </a:pPr>
            <a:r>
              <a:rPr lang="en-US" sz="1100" i="1" dirty="0">
                <a:solidFill>
                  <a:srgbClr val="5A6472"/>
                </a:solidFill>
                <a:latin typeface="Calibri" pitchFamily="34" charset="0"/>
                <a:cs typeface="Amiri" pitchFamily="2" charset="-78"/>
              </a:rPr>
              <a:t>an-naf-yu</a:t>
            </a:r>
            <a:endParaRPr lang="en-US" sz="1350" dirty="0"/>
          </a:p>
        </p:txBody>
      </p:sp>
      <p:sp>
        <p:nvSpPr>
          <p:cNvPr id="46" name="Text 43"/>
          <p:cNvSpPr txBox="1"/>
          <p:nvPr/>
        </p:nvSpPr>
        <p:spPr>
          <a:xfrm>
            <a:off x="8238744" y="5961888"/>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ea typeface="Amiri" pitchFamily="2" charset="-78"/>
                <a:cs typeface="Amiri" pitchFamily="2" charset="-78"/>
              </a:rPr>
              <a:t>مَا · لَمْ · لَا · لَنْ</a:t>
            </a:r>
            <a:endParaRPr lang="ar-SA" sz="1300" dirty="0"/>
          </a:p>
        </p:txBody>
      </p:sp>
      <p:sp>
        <p:nvSpPr>
          <p:cNvPr id="47" name="Shape 4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4389120" y="4261104"/>
            <a:ext cx="310896" cy="310896"/>
          </a:xfrm>
          <a:prstGeom prst="ellipse">
            <a:avLst/>
          </a:prstGeom>
          <a:solidFill>
            <a:srgbClr val="F4F1EA"/>
          </a:solidFill>
          <a:ln w="12700">
            <a:solidFill>
              <a:srgbClr val="F4F1EA"/>
            </a:solidFill>
            <a:prstDash val="solid"/>
          </a:ln>
        </p:spPr>
      </p:sp>
      <p:sp>
        <p:nvSpPr>
          <p:cNvPr id="49" name="Text 4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50" name="Shape 47"/>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2" name="Text 49"/>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الْمَجْزُومُ</a:t>
            </a:r>
            <a:endParaRPr lang="ar-SA" sz="3000" dirty="0"/>
          </a:p>
        </p:txBody>
      </p:sp>
      <p:sp>
        <p:nvSpPr>
          <p:cNvPr id="53" name="Text 50"/>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jussive form (after lam)</a:t>
            </a:r>
            <a:endParaRPr lang="en-US" sz="1350" dirty="0"/>
          </a:p>
          <a:p>
            <a:pPr indent="0" marL="0">
              <a:buNone/>
            </a:pPr>
            <a:r>
              <a:rPr lang="en-US" sz="1100" i="1" dirty="0">
                <a:solidFill>
                  <a:srgbClr val="5A6472"/>
                </a:solidFill>
                <a:latin typeface="Calibri" pitchFamily="34" charset="0"/>
                <a:cs typeface="Amiri" pitchFamily="2" charset="-78"/>
              </a:rPr>
              <a:t>al-maj-zū-mu</a:t>
            </a:r>
            <a:endParaRPr lang="en-US" sz="1350" dirty="0"/>
          </a:p>
        </p:txBody>
      </p:sp>
      <p:sp>
        <p:nvSpPr>
          <p:cNvPr id="54" name="Text 51"/>
          <p:cNvSpPr txBox="1"/>
          <p:nvPr/>
        </p:nvSpPr>
        <p:spPr>
          <a:xfrm>
            <a:off x="4416552" y="5961888"/>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ea typeface="Amiri" pitchFamily="2" charset="-78"/>
                <a:cs typeface="Amiri" pitchFamily="2" charset="-78"/>
              </a:rPr>
              <a:t>لَمْ يَكْتُبْ</a:t>
            </a:r>
            <a:endParaRPr lang="ar-SA" sz="1300" dirty="0"/>
          </a:p>
        </p:txBody>
      </p:sp>
      <p:sp>
        <p:nvSpPr>
          <p:cNvPr id="55" name="Shape 52"/>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566928" y="4261104"/>
            <a:ext cx="310896" cy="310896"/>
          </a:xfrm>
          <a:prstGeom prst="ellipse">
            <a:avLst/>
          </a:prstGeom>
          <a:solidFill>
            <a:srgbClr val="F4F1EA"/>
          </a:solidFill>
          <a:ln w="12700">
            <a:solidFill>
              <a:srgbClr val="F4F1EA"/>
            </a:solidFill>
            <a:prstDash val="solid"/>
          </a:ln>
        </p:spPr>
      </p:sp>
      <p:sp>
        <p:nvSpPr>
          <p:cNvPr id="57" name="Text 54"/>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58" name="Shape 55"/>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59" name="Text 56"/>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60" name="Text 57"/>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التَّنْوِيعُ</a:t>
            </a:r>
            <a:endParaRPr lang="ar-SA" sz="3000" dirty="0"/>
          </a:p>
        </p:txBody>
      </p:sp>
      <p:sp>
        <p:nvSpPr>
          <p:cNvPr id="61" name="Text 58"/>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variety (with a reason)</a:t>
            </a:r>
            <a:endParaRPr lang="en-US" sz="1350" dirty="0"/>
          </a:p>
          <a:p>
            <a:pPr indent="0" marL="0">
              <a:buNone/>
            </a:pPr>
            <a:r>
              <a:rPr lang="en-US" sz="1100" i="1" dirty="0">
                <a:solidFill>
                  <a:srgbClr val="5A6472"/>
                </a:solidFill>
                <a:latin typeface="Calibri" pitchFamily="34" charset="0"/>
                <a:cs typeface="Amiri" pitchFamily="2" charset="-78"/>
              </a:rPr>
              <a:t>at-tan-wī-ʿu</a:t>
            </a:r>
            <a:endParaRPr lang="en-US" sz="1350" dirty="0"/>
          </a:p>
        </p:txBody>
      </p:sp>
      <p:sp>
        <p:nvSpPr>
          <p:cNvPr id="62" name="Text 59"/>
          <p:cNvSpPr txBox="1"/>
          <p:nvPr/>
        </p:nvSpPr>
        <p:spPr>
          <a:xfrm>
            <a:off x="594360" y="5961888"/>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ea typeface="Amiri" pitchFamily="2" charset="-78"/>
                <a:cs typeface="Amiri" pitchFamily="2" charset="-78"/>
              </a:rPr>
              <a:t>أَمَّا … فَـ</a:t>
            </a:r>
            <a:endParaRPr lang="ar-SA" sz="130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35</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GM-VS-04 · Verbal Sentences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cs typeface="Amiri" pitchFamily="2" charset="-78"/>
              </a:rPr>
              <a:t>GRAMMAR · PART 1 · CHOOSE THE ORDER FOR A REASON (WEBSITE TABLE)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What do you want to put in focus?</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اِخْتَرِ التَّرْتِيبَ 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Verbal Sentences · GM-VS-04</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5650992" y="1810512"/>
            <a:ext cx="60076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Website model</a:t>
            </a:r>
            <a:endParaRPr lang="en-US" sz="1100" dirty="0"/>
          </a:p>
        </p:txBody>
      </p:sp>
      <p:sp>
        <p:nvSpPr>
          <p:cNvPr id="17" name="Text 14"/>
          <p:cNvSpPr txBox="1"/>
          <p:nvPr/>
        </p:nvSpPr>
        <p:spPr>
          <a:xfrm>
            <a:off x="3639312" y="1810512"/>
            <a:ext cx="18653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Opening</a:t>
            </a:r>
            <a:endParaRPr lang="en-US" sz="1100" dirty="0"/>
          </a:p>
        </p:txBody>
      </p:sp>
      <p:sp>
        <p:nvSpPr>
          <p:cNvPr id="18" name="Text 15"/>
          <p:cNvSpPr txBox="1"/>
          <p:nvPr/>
        </p:nvSpPr>
        <p:spPr>
          <a:xfrm>
            <a:off x="530352" y="1810512"/>
            <a:ext cx="29626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Purpose</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5669280" y="2267712"/>
            <a:ext cx="5971032"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فَازَ الْفَرِيقُ بِالْمُبَارَاةِ.</a:t>
            </a:r>
            <a:endParaRPr lang="ar-SA" sz="2200" dirty="0"/>
          </a:p>
        </p:txBody>
      </p:sp>
      <p:sp>
        <p:nvSpPr>
          <p:cNvPr id="21" name="Text 18"/>
          <p:cNvSpPr txBox="1"/>
          <p:nvPr/>
        </p:nvSpPr>
        <p:spPr>
          <a:xfrm>
            <a:off x="3675888" y="2267712"/>
            <a:ext cx="18288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verb first</a:t>
            </a:r>
            <a:endParaRPr lang="en-US" sz="1100" dirty="0"/>
          </a:p>
        </p:txBody>
      </p:sp>
      <p:sp>
        <p:nvSpPr>
          <p:cNvPr id="22" name="Text 19"/>
          <p:cNvSpPr txBox="1"/>
          <p:nvPr/>
        </p:nvSpPr>
        <p:spPr>
          <a:xfrm>
            <a:off x="566928" y="2267712"/>
            <a:ext cx="29260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Report a new event</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6" name="Text 23"/>
          <p:cNvSpPr txBox="1"/>
          <p:nvPr/>
        </p:nvSpPr>
        <p:spPr>
          <a:xfrm>
            <a:off x="5669280" y="3004718"/>
            <a:ext cx="5971032"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الْفَرِيقُ لَعِبَ بِمَهَارَةٍ.</a:t>
            </a:r>
            <a:endParaRPr lang="ar-SA" sz="2200" dirty="0"/>
          </a:p>
        </p:txBody>
      </p:sp>
      <p:sp>
        <p:nvSpPr>
          <p:cNvPr id="27" name="Text 24"/>
          <p:cNvSpPr txBox="1"/>
          <p:nvPr/>
        </p:nvSpPr>
        <p:spPr>
          <a:xfrm>
            <a:off x="3675888" y="3004718"/>
            <a:ext cx="18288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subject first</a:t>
            </a:r>
            <a:endParaRPr lang="en-US" sz="1100" dirty="0"/>
          </a:p>
        </p:txBody>
      </p:sp>
      <p:sp>
        <p:nvSpPr>
          <p:cNvPr id="28" name="Text 25"/>
          <p:cNvSpPr txBox="1"/>
          <p:nvPr/>
        </p:nvSpPr>
        <p:spPr>
          <a:xfrm>
            <a:off x="566928" y="3004718"/>
            <a:ext cx="29260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Keep talking about a known person</a:t>
            </a:r>
            <a:endParaRPr lang="en-US" sz="1100" dirty="0"/>
          </a:p>
        </p:txBody>
      </p:sp>
      <p:sp>
        <p:nvSpPr>
          <p:cNvPr id="29" name="Shape 26"/>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2" name="Text 29"/>
          <p:cNvSpPr txBox="1"/>
          <p:nvPr/>
        </p:nvSpPr>
        <p:spPr>
          <a:xfrm>
            <a:off x="5669280" y="3741725"/>
            <a:ext cx="5971032"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عَلِيٌّ دَرَسَ، أَمَّا أَخُوهُ فَلَعِبَ.</a:t>
            </a:r>
            <a:endParaRPr lang="ar-SA" sz="2200" dirty="0"/>
          </a:p>
        </p:txBody>
      </p:sp>
      <p:sp>
        <p:nvSpPr>
          <p:cNvPr id="33" name="Text 30"/>
          <p:cNvSpPr txBox="1"/>
          <p:nvPr/>
        </p:nvSpPr>
        <p:spPr>
          <a:xfrm>
            <a:off x="3675888" y="3741725"/>
            <a:ext cx="18288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subject first</a:t>
            </a:r>
            <a:endParaRPr lang="en-US" sz="1100" dirty="0"/>
          </a:p>
        </p:txBody>
      </p:sp>
      <p:sp>
        <p:nvSpPr>
          <p:cNvPr id="34" name="Text 31"/>
          <p:cNvSpPr txBox="1"/>
          <p:nvPr/>
        </p:nvSpPr>
        <p:spPr>
          <a:xfrm>
            <a:off x="566928" y="3741725"/>
            <a:ext cx="29260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Contrast two topics</a:t>
            </a:r>
            <a:endParaRPr lang="en-US" sz="1100" dirty="0"/>
          </a:p>
        </p:txBody>
      </p:sp>
      <p:sp>
        <p:nvSpPr>
          <p:cNvPr id="35" name="Shape 32"/>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6" name="Text 33"/>
          <p:cNvSpPr txBox="1"/>
          <p:nvPr/>
        </p:nvSpPr>
        <p:spPr>
          <a:xfrm>
            <a:off x="5669280" y="4478731"/>
            <a:ext cx="5971032"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وَصَلَ الطُّلَّابُ، ثُمَّ بَدَأَ الدَّرْسُ.</a:t>
            </a:r>
            <a:endParaRPr lang="ar-SA" sz="2200" dirty="0"/>
          </a:p>
        </p:txBody>
      </p:sp>
      <p:sp>
        <p:nvSpPr>
          <p:cNvPr id="37" name="Text 34"/>
          <p:cNvSpPr txBox="1"/>
          <p:nvPr/>
        </p:nvSpPr>
        <p:spPr>
          <a:xfrm>
            <a:off x="3675888" y="4478731"/>
            <a:ext cx="18288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often verb first</a:t>
            </a:r>
            <a:endParaRPr lang="en-US" sz="1100" dirty="0"/>
          </a:p>
        </p:txBody>
      </p:sp>
      <p:sp>
        <p:nvSpPr>
          <p:cNvPr id="38" name="Text 35"/>
          <p:cNvSpPr txBox="1"/>
          <p:nvPr/>
        </p:nvSpPr>
        <p:spPr>
          <a:xfrm>
            <a:off x="566928" y="4478731"/>
            <a:ext cx="29260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Tell a sequence</a:t>
            </a:r>
            <a:endParaRPr lang="en-US" sz="1100" dirty="0"/>
          </a:p>
        </p:txBody>
      </p:sp>
      <p:sp>
        <p:nvSpPr>
          <p:cNvPr id="39" name="Shape 36"/>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0" name="Text 37"/>
          <p:cNvSpPr txBox="1"/>
          <p:nvPr/>
        </p:nvSpPr>
        <p:spPr>
          <a:xfrm>
            <a:off x="5669280" y="5215738"/>
            <a:ext cx="5971032"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الطُّلَّابُ أَكْمَلُوا الْمَشْرُوعَ.</a:t>
            </a:r>
            <a:endParaRPr lang="ar-SA" sz="2200" dirty="0"/>
          </a:p>
        </p:txBody>
      </p:sp>
      <p:sp>
        <p:nvSpPr>
          <p:cNvPr id="41" name="Text 38"/>
          <p:cNvSpPr txBox="1"/>
          <p:nvPr/>
        </p:nvSpPr>
        <p:spPr>
          <a:xfrm>
            <a:off x="3675888" y="5215738"/>
            <a:ext cx="18288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subject first</a:t>
            </a:r>
            <a:endParaRPr lang="en-US" sz="1100" dirty="0"/>
          </a:p>
        </p:txBody>
      </p:sp>
      <p:sp>
        <p:nvSpPr>
          <p:cNvPr id="42" name="Text 39"/>
          <p:cNvSpPr txBox="1"/>
          <p:nvPr/>
        </p:nvSpPr>
        <p:spPr>
          <a:xfrm>
            <a:off x="566928" y="5215738"/>
            <a:ext cx="29260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Answer “What did they do?”</a:t>
            </a:r>
            <a:endParaRPr lang="en-US" sz="1100" dirty="0"/>
          </a:p>
        </p:txBody>
      </p:sp>
      <p:sp>
        <p:nvSpPr>
          <p:cNvPr id="43" name="Text 4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Website: variety is not random. Do not swap VSO and SVO just to look advanced — change the order when it improves focus, contrast or flow.</a:t>
            </a:r>
            <a:endParaRPr lang="en-US" sz="115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35</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GM-VS-04 · Verbal Sentences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cs typeface="Amiri" pitchFamily="2" charset="-78"/>
              </a:rPr>
              <a:t>GRAMMAR · PART 2 · THE SENTENCE-BUILDING LADDER (WEBSITE TABLE)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One secure step at a time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سُلَّمُ بِنَاءِ الْجُمْلَةِ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Verbal Sentences · GM-VS-04</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857232" y="1810512"/>
            <a:ext cx="18013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Adds</a:t>
            </a:r>
            <a:endParaRPr lang="en-US" sz="1100" dirty="0"/>
          </a:p>
        </p:txBody>
      </p:sp>
      <p:sp>
        <p:nvSpPr>
          <p:cNvPr id="17" name="Text 14"/>
          <p:cNvSpPr txBox="1"/>
          <p:nvPr/>
        </p:nvSpPr>
        <p:spPr>
          <a:xfrm>
            <a:off x="2267712" y="1810512"/>
            <a:ext cx="74432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Sentence</a:t>
            </a:r>
            <a:endParaRPr lang="en-US" sz="1100" dirty="0"/>
          </a:p>
        </p:txBody>
      </p:sp>
      <p:sp>
        <p:nvSpPr>
          <p:cNvPr id="18" name="Text 15"/>
          <p:cNvSpPr txBox="1"/>
          <p:nvPr/>
        </p:nvSpPr>
        <p:spPr>
          <a:xfrm>
            <a:off x="530352" y="1810512"/>
            <a:ext cx="15910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Step</a:t>
            </a:r>
            <a:endParaRPr lang="en-US" sz="1100" dirty="0"/>
          </a:p>
        </p:txBody>
      </p:sp>
      <p:sp>
        <p:nvSpPr>
          <p:cNvPr id="19" name="Shape 16"/>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0" name="Text 17"/>
          <p:cNvSpPr txBox="1"/>
          <p:nvPr/>
        </p:nvSpPr>
        <p:spPr>
          <a:xfrm>
            <a:off x="9893808" y="2267712"/>
            <a:ext cx="17647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V + S + O</a:t>
            </a:r>
            <a:endParaRPr lang="en-US" sz="1100" dirty="0"/>
          </a:p>
        </p:txBody>
      </p:sp>
      <p:sp>
        <p:nvSpPr>
          <p:cNvPr id="21" name="Text 18"/>
          <p:cNvSpPr txBox="1"/>
          <p:nvPr/>
        </p:nvSpPr>
        <p:spPr>
          <a:xfrm>
            <a:off x="2286000" y="2267712"/>
            <a:ext cx="7406640"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كَتَبَ الطَّالِبُ الرِّسَالَةَ.</a:t>
            </a:r>
            <a:endParaRPr lang="ar-SA" sz="2000" dirty="0"/>
          </a:p>
        </p:txBody>
      </p:sp>
      <p:sp>
        <p:nvSpPr>
          <p:cNvPr id="22" name="Text 19"/>
          <p:cNvSpPr txBox="1"/>
          <p:nvPr/>
        </p:nvSpPr>
        <p:spPr>
          <a:xfrm>
            <a:off x="566928" y="2267712"/>
            <a:ext cx="15544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 · core</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6" name="Text 23"/>
          <p:cNvSpPr txBox="1"/>
          <p:nvPr/>
        </p:nvSpPr>
        <p:spPr>
          <a:xfrm>
            <a:off x="9893808" y="2881884"/>
            <a:ext cx="17647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when?</a:t>
            </a:r>
            <a:endParaRPr lang="en-US" sz="1100" dirty="0"/>
          </a:p>
        </p:txBody>
      </p:sp>
      <p:sp>
        <p:nvSpPr>
          <p:cNvPr id="27" name="Text 24"/>
          <p:cNvSpPr txBox="1"/>
          <p:nvPr/>
        </p:nvSpPr>
        <p:spPr>
          <a:xfrm>
            <a:off x="2286000" y="2881884"/>
            <a:ext cx="7406640"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كَتَبَ الطَّالِبُ الرِّسَالَةَ أَمْسِ.</a:t>
            </a:r>
            <a:endParaRPr lang="ar-SA" sz="2000" dirty="0"/>
          </a:p>
        </p:txBody>
      </p:sp>
      <p:sp>
        <p:nvSpPr>
          <p:cNvPr id="28" name="Text 25"/>
          <p:cNvSpPr txBox="1"/>
          <p:nvPr/>
        </p:nvSpPr>
        <p:spPr>
          <a:xfrm>
            <a:off x="566928" y="2881884"/>
            <a:ext cx="15544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 · time</a:t>
            </a:r>
            <a:endParaRPr lang="en-US" sz="1100" dirty="0"/>
          </a:p>
        </p:txBody>
      </p:sp>
      <p:sp>
        <p:nvSpPr>
          <p:cNvPr id="29" name="Shape 26"/>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2" name="Text 29"/>
          <p:cNvSpPr txBox="1"/>
          <p:nvPr/>
        </p:nvSpPr>
        <p:spPr>
          <a:xfrm>
            <a:off x="9893808" y="3496056"/>
            <a:ext cx="17647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where?</a:t>
            </a:r>
            <a:endParaRPr lang="en-US" sz="1100" dirty="0"/>
          </a:p>
        </p:txBody>
      </p:sp>
      <p:sp>
        <p:nvSpPr>
          <p:cNvPr id="33" name="Text 30"/>
          <p:cNvSpPr txBox="1"/>
          <p:nvPr/>
        </p:nvSpPr>
        <p:spPr>
          <a:xfrm>
            <a:off x="2286000" y="3496056"/>
            <a:ext cx="7406640"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كَتَبَ الطَّالِبُ الرِّسَالَةَ أَمْسِ فِي الْمَكْتَبَةِ.</a:t>
            </a:r>
            <a:endParaRPr lang="ar-SA" sz="2000" dirty="0"/>
          </a:p>
        </p:txBody>
      </p:sp>
      <p:sp>
        <p:nvSpPr>
          <p:cNvPr id="34" name="Text 31"/>
          <p:cNvSpPr txBox="1"/>
          <p:nvPr/>
        </p:nvSpPr>
        <p:spPr>
          <a:xfrm>
            <a:off x="566928" y="3496056"/>
            <a:ext cx="15544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 · place</a:t>
            </a:r>
            <a:endParaRPr lang="en-US" sz="1100" dirty="0"/>
          </a:p>
        </p:txBody>
      </p:sp>
      <p:sp>
        <p:nvSpPr>
          <p:cNvPr id="35" name="Shape 32"/>
          <p:cNvSpPr/>
          <p:nvPr/>
        </p:nvSpPr>
        <p:spPr>
          <a:xfrm>
            <a:off x="11091672" y="3541776"/>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54177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38" name="Text 35"/>
          <p:cNvSpPr txBox="1"/>
          <p:nvPr/>
        </p:nvSpPr>
        <p:spPr>
          <a:xfrm>
            <a:off x="9893808" y="4110228"/>
            <a:ext cx="17647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how?</a:t>
            </a:r>
            <a:endParaRPr lang="en-US" sz="1100" dirty="0"/>
          </a:p>
        </p:txBody>
      </p:sp>
      <p:sp>
        <p:nvSpPr>
          <p:cNvPr id="39" name="Text 36"/>
          <p:cNvSpPr txBox="1"/>
          <p:nvPr/>
        </p:nvSpPr>
        <p:spPr>
          <a:xfrm>
            <a:off x="2286000" y="4110228"/>
            <a:ext cx="7406640"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كَتَبَ الطَّالِبُ الرِّسَالَةَ أَمْسِ فِي الْمَكْتَبَةِ بِعِنَايَةٍ.</a:t>
            </a:r>
            <a:endParaRPr lang="ar-SA" sz="2000" dirty="0"/>
          </a:p>
        </p:txBody>
      </p:sp>
      <p:sp>
        <p:nvSpPr>
          <p:cNvPr id="40" name="Text 37"/>
          <p:cNvSpPr txBox="1"/>
          <p:nvPr/>
        </p:nvSpPr>
        <p:spPr>
          <a:xfrm>
            <a:off x="566928" y="4110228"/>
            <a:ext cx="15544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 · manner</a:t>
            </a:r>
            <a:endParaRPr lang="en-US" sz="1100" dirty="0"/>
          </a:p>
        </p:txBody>
      </p:sp>
      <p:sp>
        <p:nvSpPr>
          <p:cNvPr id="41" name="Shape 38"/>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2" name="Text 39"/>
          <p:cNvSpPr txBox="1"/>
          <p:nvPr/>
        </p:nvSpPr>
        <p:spPr>
          <a:xfrm>
            <a:off x="9893808" y="4724400"/>
            <a:ext cx="17647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why?</a:t>
            </a:r>
            <a:endParaRPr lang="en-US" sz="1100" dirty="0"/>
          </a:p>
        </p:txBody>
      </p:sp>
      <p:sp>
        <p:nvSpPr>
          <p:cNvPr id="43" name="Text 40"/>
          <p:cNvSpPr txBox="1"/>
          <p:nvPr/>
        </p:nvSpPr>
        <p:spPr>
          <a:xfrm>
            <a:off x="2286000" y="4724400"/>
            <a:ext cx="7406640"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كَتَبَ الطَّالِبُ الرِّسَالَةَ لِأَنَّهُ أَرَادَ الِاعْتِذَارَ.</a:t>
            </a:r>
            <a:endParaRPr lang="ar-SA" sz="2000" dirty="0"/>
          </a:p>
        </p:txBody>
      </p:sp>
      <p:sp>
        <p:nvSpPr>
          <p:cNvPr id="44" name="Text 41"/>
          <p:cNvSpPr txBox="1"/>
          <p:nvPr/>
        </p:nvSpPr>
        <p:spPr>
          <a:xfrm>
            <a:off x="566928" y="4724400"/>
            <a:ext cx="15544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 · reason</a:t>
            </a:r>
            <a:endParaRPr lang="en-US" sz="1100" dirty="0"/>
          </a:p>
        </p:txBody>
      </p:sp>
      <p:sp>
        <p:nvSpPr>
          <p:cNvPr id="45" name="Shape 42"/>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46" name="Text 43"/>
          <p:cNvSpPr txBox="1"/>
          <p:nvPr/>
        </p:nvSpPr>
        <p:spPr>
          <a:xfrm>
            <a:off x="9893808" y="5338572"/>
            <a:ext cx="17647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next event</a:t>
            </a:r>
            <a:endParaRPr lang="en-US" sz="1100" dirty="0"/>
          </a:p>
        </p:txBody>
      </p:sp>
      <p:sp>
        <p:nvSpPr>
          <p:cNvPr id="47" name="Text 44"/>
          <p:cNvSpPr txBox="1"/>
          <p:nvPr/>
        </p:nvSpPr>
        <p:spPr>
          <a:xfrm>
            <a:off x="2286000" y="5338572"/>
            <a:ext cx="7406640"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ثُمَّ أَرْسَلَهَا إِلَى صَدِيقِهِ.</a:t>
            </a:r>
            <a:endParaRPr lang="ar-SA" sz="2000" dirty="0"/>
          </a:p>
        </p:txBody>
      </p:sp>
      <p:sp>
        <p:nvSpPr>
          <p:cNvPr id="48" name="Text 45"/>
          <p:cNvSpPr txBox="1"/>
          <p:nvPr/>
        </p:nvSpPr>
        <p:spPr>
          <a:xfrm>
            <a:off x="566928" y="5338572"/>
            <a:ext cx="15544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6 · link</a:t>
            </a:r>
            <a:endParaRPr lang="en-US" sz="1100" dirty="0"/>
          </a:p>
        </p:txBody>
      </p:sp>
      <p:sp>
        <p:nvSpPr>
          <p:cNvPr id="49" name="Text 4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cs typeface="Amiri" pitchFamily="2" charset="-78"/>
              </a:rPr>
              <a:t>Website object control: in arsalahā the attached -hā refers back to ar-risāla (feminine). After every new step, re-check the core: is the verb still right for its subject?</a:t>
            </a:r>
            <a:endParaRPr lang="en-US" sz="1100" dirty="0"/>
          </a:p>
        </p:txBody>
      </p:sp>
      <p:sp>
        <p:nvSpPr>
          <p:cNvPr id="50"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35</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GM-VS-04 · Verbal Sentences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cs typeface="Amiri" pitchFamily="2" charset="-78"/>
              </a:rPr>
              <a:t>GRAMMAR · PART 3 · TRANSFORM ACROSS PAST, PRESENT AND FUTURE (WEBSITE TABLE) · DEVELOP</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Change the time — rebuild the verb</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غَيِّرِ الزَّمَنَ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Verbal Sentences · GM-VS-04</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022592" y="1810512"/>
            <a:ext cx="46360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Subject first</a:t>
            </a:r>
            <a:endParaRPr lang="en-US" sz="1100" dirty="0"/>
          </a:p>
        </p:txBody>
      </p:sp>
      <p:sp>
        <p:nvSpPr>
          <p:cNvPr id="17" name="Text 14"/>
          <p:cNvSpPr txBox="1"/>
          <p:nvPr/>
        </p:nvSpPr>
        <p:spPr>
          <a:xfrm>
            <a:off x="2359152" y="1810512"/>
            <a:ext cx="4517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Verb first</a:t>
            </a:r>
            <a:endParaRPr lang="en-US" sz="1100" dirty="0"/>
          </a:p>
        </p:txBody>
      </p:sp>
      <p:sp>
        <p:nvSpPr>
          <p:cNvPr id="18" name="Text 15"/>
          <p:cNvSpPr txBox="1"/>
          <p:nvPr/>
        </p:nvSpPr>
        <p:spPr>
          <a:xfrm>
            <a:off x="530352" y="1810512"/>
            <a:ext cx="16824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Time</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7040880" y="2267712"/>
            <a:ext cx="4599432"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الطُّلَّابُ زَارُوا الْمَتْحَفَ أَمْسِ.</a:t>
            </a:r>
            <a:endParaRPr lang="ar-SA" sz="2000" dirty="0"/>
          </a:p>
        </p:txBody>
      </p:sp>
      <p:sp>
        <p:nvSpPr>
          <p:cNvPr id="21" name="Text 18"/>
          <p:cNvSpPr txBox="1"/>
          <p:nvPr/>
        </p:nvSpPr>
        <p:spPr>
          <a:xfrm>
            <a:off x="2377440" y="2267712"/>
            <a:ext cx="4480560"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زَارَ الطُّلَّابُ الْمَتْحَفَ أَمْسِ.</a:t>
            </a:r>
            <a:endParaRPr lang="ar-SA" sz="2000" dirty="0"/>
          </a:p>
        </p:txBody>
      </p:sp>
      <p:sp>
        <p:nvSpPr>
          <p:cNvPr id="22" name="Text 19"/>
          <p:cNvSpPr txBox="1"/>
          <p:nvPr/>
        </p:nvSpPr>
        <p:spPr>
          <a:xfrm>
            <a:off x="566928" y="2267712"/>
            <a:ext cx="16459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Past</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6" name="Text 23"/>
          <p:cNvSpPr txBox="1"/>
          <p:nvPr/>
        </p:nvSpPr>
        <p:spPr>
          <a:xfrm>
            <a:off x="7040880" y="3054096"/>
            <a:ext cx="4599432"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الطُّلَّابُ يَزُورُونَ الْمَتْحَفَ كُلَّ سَنَةٍ.</a:t>
            </a:r>
            <a:endParaRPr lang="ar-SA" sz="2000" dirty="0"/>
          </a:p>
        </p:txBody>
      </p:sp>
      <p:sp>
        <p:nvSpPr>
          <p:cNvPr id="27" name="Text 24"/>
          <p:cNvSpPr txBox="1"/>
          <p:nvPr/>
        </p:nvSpPr>
        <p:spPr>
          <a:xfrm>
            <a:off x="2377440" y="3054096"/>
            <a:ext cx="4480560"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يَزُورُ الطُّلَّابُ الْمَتْحَفَ كُلَّ سَنَةٍ.</a:t>
            </a:r>
            <a:endParaRPr lang="ar-SA" sz="2000" dirty="0"/>
          </a:p>
        </p:txBody>
      </p:sp>
      <p:sp>
        <p:nvSpPr>
          <p:cNvPr id="28" name="Text 25"/>
          <p:cNvSpPr txBox="1"/>
          <p:nvPr/>
        </p:nvSpPr>
        <p:spPr>
          <a:xfrm>
            <a:off x="566928" y="3054096"/>
            <a:ext cx="16459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Present / habit</a:t>
            </a:r>
            <a:endParaRPr lang="en-US" sz="1100" dirty="0"/>
          </a:p>
        </p:txBody>
      </p:sp>
      <p:sp>
        <p:nvSpPr>
          <p:cNvPr id="29" name="Shape 26"/>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2" name="Text 29"/>
          <p:cNvSpPr txBox="1"/>
          <p:nvPr/>
        </p:nvSpPr>
        <p:spPr>
          <a:xfrm>
            <a:off x="7040880" y="3840480"/>
            <a:ext cx="4599432"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الطُّلَّابُ سَيَزُورُونَ الْمَتْحَفَ غَدًا.</a:t>
            </a:r>
            <a:endParaRPr lang="ar-SA" sz="2000" dirty="0"/>
          </a:p>
        </p:txBody>
      </p:sp>
      <p:sp>
        <p:nvSpPr>
          <p:cNvPr id="33" name="Text 30"/>
          <p:cNvSpPr txBox="1"/>
          <p:nvPr/>
        </p:nvSpPr>
        <p:spPr>
          <a:xfrm>
            <a:off x="2377440" y="3840480"/>
            <a:ext cx="4480560"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سَيَزُورُ الطُّلَّابُ الْمَتْحَفَ غَدًا.</a:t>
            </a:r>
            <a:endParaRPr lang="ar-SA" sz="2000" dirty="0"/>
          </a:p>
        </p:txBody>
      </p:sp>
      <p:sp>
        <p:nvSpPr>
          <p:cNvPr id="34" name="Text 31"/>
          <p:cNvSpPr txBox="1"/>
          <p:nvPr/>
        </p:nvSpPr>
        <p:spPr>
          <a:xfrm>
            <a:off x="566928" y="3840480"/>
            <a:ext cx="16459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Future</a:t>
            </a:r>
            <a:endParaRPr lang="en-US" sz="1100" dirty="0"/>
          </a:p>
        </p:txBody>
      </p:sp>
      <p:sp>
        <p:nvSpPr>
          <p:cNvPr id="35" name="Shape 32"/>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6" name="Text 33"/>
          <p:cNvSpPr txBox="1"/>
          <p:nvPr/>
        </p:nvSpPr>
        <p:spPr>
          <a:xfrm>
            <a:off x="7040880" y="4626864"/>
            <a:ext cx="4599432"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الطُّلَّابُ لَنْ يَزُورُوا الْمَتْحَفَ غَدًا.</a:t>
            </a:r>
            <a:endParaRPr lang="ar-SA" sz="2000" dirty="0"/>
          </a:p>
        </p:txBody>
      </p:sp>
      <p:sp>
        <p:nvSpPr>
          <p:cNvPr id="37" name="Text 34"/>
          <p:cNvSpPr txBox="1"/>
          <p:nvPr/>
        </p:nvSpPr>
        <p:spPr>
          <a:xfrm>
            <a:off x="2377440" y="4626864"/>
            <a:ext cx="4480560"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لَنْ يَزُورَ الطُّلَّابُ الْمَتْحَفَ غَدًا.</a:t>
            </a:r>
            <a:endParaRPr lang="ar-SA" sz="2000" dirty="0"/>
          </a:p>
        </p:txBody>
      </p:sp>
      <p:sp>
        <p:nvSpPr>
          <p:cNvPr id="38" name="Text 35"/>
          <p:cNvSpPr txBox="1"/>
          <p:nvPr/>
        </p:nvSpPr>
        <p:spPr>
          <a:xfrm>
            <a:off x="566928" y="4626864"/>
            <a:ext cx="16459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Future negative</a:t>
            </a:r>
            <a:endParaRPr lang="en-US" sz="1100" dirty="0"/>
          </a:p>
        </p:txBody>
      </p:sp>
      <p:sp>
        <p:nvSpPr>
          <p:cNvPr id="39" name="Text 3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cs typeface="Amiri" pitchFamily="2" charset="-78"/>
              </a:rPr>
              <a:t>Website editing question: did you change only the time word, or did you also rebuild the verb for its order and subject? Column 2 stays singular; column 3 shows full agreement.</a:t>
            </a:r>
            <a:endParaRPr lang="en-US" sz="11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35</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GM-VS-04 · Verbal Sentences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83" b="1" spc="150" kern="0" dirty="0">
                <a:solidFill>
                  <a:srgbClr val="1B3B6F"/>
                </a:solidFill>
                <a:latin typeface="Calibri" pitchFamily="34" charset="0"/>
                <a:cs typeface="Amiri" pitchFamily="2" charset="-78"/>
              </a:rPr>
              <a:t>GRAMMAR · PART 4 · QUESTIONS AND NEGATION KEEP THE ROLES (WEBSITE TABLE)</a:t>
            </a:r>
            <a:endParaRPr lang="en-US" sz="983"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00" b="1" dirty="0">
                <a:solidFill>
                  <a:srgbClr val="1B3B6F"/>
                </a:solidFill>
                <a:latin typeface="Cambria" pitchFamily="34" charset="0"/>
                <a:cs typeface="Amiri" pitchFamily="2" charset="-78"/>
              </a:rPr>
              <a:t>Add hal, mā, lam, lā, lan — keep the rule</a:t>
            </a:r>
            <a:endParaRPr lang="en-US" sz="25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الِاسْتِفْهَامُ وَالنَّفْيُ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Verbal Sentences · GM-VS-04</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296912" y="1810512"/>
            <a:ext cx="43616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Subject first</a:t>
            </a:r>
            <a:endParaRPr lang="en-US" sz="1100" dirty="0"/>
          </a:p>
        </p:txBody>
      </p:sp>
      <p:sp>
        <p:nvSpPr>
          <p:cNvPr id="17" name="Text 14"/>
          <p:cNvSpPr txBox="1"/>
          <p:nvPr/>
        </p:nvSpPr>
        <p:spPr>
          <a:xfrm>
            <a:off x="2816352" y="1810512"/>
            <a:ext cx="43342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Verb first</a:t>
            </a:r>
            <a:endParaRPr lang="en-US" sz="1100" dirty="0"/>
          </a:p>
        </p:txBody>
      </p:sp>
      <p:sp>
        <p:nvSpPr>
          <p:cNvPr id="18" name="Text 15"/>
          <p:cNvSpPr txBox="1"/>
          <p:nvPr/>
        </p:nvSpPr>
        <p:spPr>
          <a:xfrm>
            <a:off x="530352" y="1810512"/>
            <a:ext cx="21396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Function</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7315200" y="2267712"/>
            <a:ext cx="4325112"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هَلِ الطُّلَّابُ كَتَبُوا التَّقْرِيرَ؟</a:t>
            </a:r>
            <a:endParaRPr lang="ar-SA" sz="2000" dirty="0"/>
          </a:p>
        </p:txBody>
      </p:sp>
      <p:sp>
        <p:nvSpPr>
          <p:cNvPr id="21" name="Text 18"/>
          <p:cNvSpPr txBox="1"/>
          <p:nvPr/>
        </p:nvSpPr>
        <p:spPr>
          <a:xfrm>
            <a:off x="2834640" y="2267712"/>
            <a:ext cx="429768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هَلْ كَتَبَ الطُّلَّابُ التَّقْرِيرَ؟</a:t>
            </a:r>
            <a:endParaRPr lang="ar-SA" sz="2000" dirty="0"/>
          </a:p>
        </p:txBody>
      </p:sp>
      <p:sp>
        <p:nvSpPr>
          <p:cNvPr id="22" name="Text 19"/>
          <p:cNvSpPr txBox="1"/>
          <p:nvPr/>
        </p:nvSpPr>
        <p:spPr>
          <a:xfrm>
            <a:off x="566928" y="2267712"/>
            <a:ext cx="21031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Yes / no question</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6" name="Text 23"/>
          <p:cNvSpPr txBox="1"/>
          <p:nvPr/>
        </p:nvSpPr>
        <p:spPr>
          <a:xfrm>
            <a:off x="7315200" y="3004718"/>
            <a:ext cx="4325112"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الطُّلَّابُ مَا كَتَبُوا التَّقْرِيرَ.</a:t>
            </a:r>
            <a:endParaRPr lang="ar-SA" sz="2000" dirty="0"/>
          </a:p>
        </p:txBody>
      </p:sp>
      <p:sp>
        <p:nvSpPr>
          <p:cNvPr id="27" name="Text 24"/>
          <p:cNvSpPr txBox="1"/>
          <p:nvPr/>
        </p:nvSpPr>
        <p:spPr>
          <a:xfrm>
            <a:off x="2834640" y="3004718"/>
            <a:ext cx="429768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مَا كَتَبَ الطُّلَّابُ التَّقْرِيرَ.</a:t>
            </a:r>
            <a:endParaRPr lang="ar-SA" sz="2000" dirty="0"/>
          </a:p>
        </p:txBody>
      </p:sp>
      <p:sp>
        <p:nvSpPr>
          <p:cNvPr id="28" name="Text 25"/>
          <p:cNvSpPr txBox="1"/>
          <p:nvPr/>
        </p:nvSpPr>
        <p:spPr>
          <a:xfrm>
            <a:off x="566928" y="3004718"/>
            <a:ext cx="21031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Past negative (mā)</a:t>
            </a:r>
            <a:endParaRPr lang="en-US" sz="1100" dirty="0"/>
          </a:p>
        </p:txBody>
      </p:sp>
      <p:sp>
        <p:nvSpPr>
          <p:cNvPr id="29" name="Shape 26"/>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0" name="Text 27"/>
          <p:cNvSpPr txBox="1"/>
          <p:nvPr/>
        </p:nvSpPr>
        <p:spPr>
          <a:xfrm>
            <a:off x="7315200" y="3741725"/>
            <a:ext cx="4325112"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الطُّلَّابُ لَمْ يَكْتُبُوا التَّقْرِيرَ.</a:t>
            </a:r>
            <a:endParaRPr lang="ar-SA" sz="2000" dirty="0"/>
          </a:p>
        </p:txBody>
      </p:sp>
      <p:sp>
        <p:nvSpPr>
          <p:cNvPr id="31" name="Text 28"/>
          <p:cNvSpPr txBox="1"/>
          <p:nvPr/>
        </p:nvSpPr>
        <p:spPr>
          <a:xfrm>
            <a:off x="2834640" y="3741725"/>
            <a:ext cx="429768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لَمْ يَكْتُبِ الطُّلَّابُ التَّقْرِيرَ.</a:t>
            </a:r>
            <a:endParaRPr lang="ar-SA" sz="2000" dirty="0"/>
          </a:p>
        </p:txBody>
      </p:sp>
      <p:sp>
        <p:nvSpPr>
          <p:cNvPr id="32" name="Text 29"/>
          <p:cNvSpPr txBox="1"/>
          <p:nvPr/>
        </p:nvSpPr>
        <p:spPr>
          <a:xfrm>
            <a:off x="566928" y="3741725"/>
            <a:ext cx="21031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Past negative (lam)</a:t>
            </a:r>
            <a:endParaRPr lang="en-US" sz="1100" dirty="0"/>
          </a:p>
        </p:txBody>
      </p:sp>
      <p:sp>
        <p:nvSpPr>
          <p:cNvPr id="33" name="Shape 30"/>
          <p:cNvSpPr/>
          <p:nvPr/>
        </p:nvSpPr>
        <p:spPr>
          <a:xfrm>
            <a:off x="11091672" y="3787445"/>
            <a:ext cx="548640" cy="182880"/>
          </a:xfrm>
          <a:prstGeom prst="roundRect">
            <a:avLst>
              <a:gd name="adj" fmla="val 50000"/>
            </a:avLst>
          </a:prstGeom>
          <a:solidFill>
            <a:srgbClr val="2E8B57"/>
          </a:solidFill>
          <a:ln w="12700">
            <a:solidFill>
              <a:srgbClr val="2E8B57"/>
            </a:solidFill>
            <a:prstDash val="solid"/>
          </a:ln>
        </p:spPr>
      </p:sp>
      <p:sp>
        <p:nvSpPr>
          <p:cNvPr id="34" name="Text 31"/>
          <p:cNvSpPr txBox="1"/>
          <p:nvPr/>
        </p:nvSpPr>
        <p:spPr>
          <a:xfrm>
            <a:off x="11091672" y="378744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5" name="Shape 32"/>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6" name="Text 33"/>
          <p:cNvSpPr txBox="1"/>
          <p:nvPr/>
        </p:nvSpPr>
        <p:spPr>
          <a:xfrm>
            <a:off x="7315200" y="4478731"/>
            <a:ext cx="4325112"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الطُّلَّابُ لَا يَكْتُبُونَ الْآنَ.</a:t>
            </a:r>
            <a:endParaRPr lang="ar-SA" sz="2000" dirty="0"/>
          </a:p>
        </p:txBody>
      </p:sp>
      <p:sp>
        <p:nvSpPr>
          <p:cNvPr id="37" name="Text 34"/>
          <p:cNvSpPr txBox="1"/>
          <p:nvPr/>
        </p:nvSpPr>
        <p:spPr>
          <a:xfrm>
            <a:off x="2834640" y="4478731"/>
            <a:ext cx="429768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لَا يَكْتُبُ الطُّلَّابُ الْآنَ.</a:t>
            </a:r>
            <a:endParaRPr lang="ar-SA" sz="2000" dirty="0"/>
          </a:p>
        </p:txBody>
      </p:sp>
      <p:sp>
        <p:nvSpPr>
          <p:cNvPr id="38" name="Text 35"/>
          <p:cNvSpPr txBox="1"/>
          <p:nvPr/>
        </p:nvSpPr>
        <p:spPr>
          <a:xfrm>
            <a:off x="566928" y="4478731"/>
            <a:ext cx="21031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Present negative (lā)</a:t>
            </a:r>
            <a:endParaRPr lang="en-US" sz="1100" dirty="0"/>
          </a:p>
        </p:txBody>
      </p:sp>
      <p:sp>
        <p:nvSpPr>
          <p:cNvPr id="39" name="Shape 36"/>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0" name="Text 37"/>
          <p:cNvSpPr txBox="1"/>
          <p:nvPr/>
        </p:nvSpPr>
        <p:spPr>
          <a:xfrm>
            <a:off x="7315200" y="5215738"/>
            <a:ext cx="4325112"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الطُّلَّابُ لَنْ يَكْتُبُوا غَدًا.</a:t>
            </a:r>
            <a:endParaRPr lang="ar-SA" sz="2000" dirty="0"/>
          </a:p>
        </p:txBody>
      </p:sp>
      <p:sp>
        <p:nvSpPr>
          <p:cNvPr id="41" name="Text 38"/>
          <p:cNvSpPr txBox="1"/>
          <p:nvPr/>
        </p:nvSpPr>
        <p:spPr>
          <a:xfrm>
            <a:off x="2834640" y="5215738"/>
            <a:ext cx="429768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لَنْ يَكْتُبَ الطُّلَّابُ غَدًا.</a:t>
            </a:r>
            <a:endParaRPr lang="ar-SA" sz="2000" dirty="0"/>
          </a:p>
        </p:txBody>
      </p:sp>
      <p:sp>
        <p:nvSpPr>
          <p:cNvPr id="42" name="Text 39"/>
          <p:cNvSpPr txBox="1"/>
          <p:nvPr/>
        </p:nvSpPr>
        <p:spPr>
          <a:xfrm>
            <a:off x="566928" y="5215738"/>
            <a:ext cx="21031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Future negative (lan)</a:t>
            </a:r>
            <a:endParaRPr lang="en-US" sz="1100" dirty="0"/>
          </a:p>
        </p:txBody>
      </p:sp>
      <p:sp>
        <p:nvSpPr>
          <p:cNvPr id="43" name="Text 4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Website warning: do not mix systems. Lam needs the present (jussive) form with a past meaning — lam yaktub = he did not write. Lam kataba is wrong.</a:t>
            </a:r>
            <a:endParaRPr lang="en-US" sz="115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35</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GM-VS-04 · Verbal Sentences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50" b="1" spc="150" kern="0" dirty="0">
                <a:solidFill>
                  <a:srgbClr val="1B3B6F"/>
                </a:solidFill>
                <a:latin typeface="Calibri" pitchFamily="34" charset="0"/>
                <a:cs typeface="Amiri" pitchFamily="2" charset="-78"/>
              </a:rPr>
              <a:t>GRAMMAR · PART 5 · THE FOUR-PASS EDITING ROUTINE (WEBSITE TABLE) · STRETCH</a:t>
            </a:r>
            <a:endParaRPr lang="en-US" sz="95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Edit one thing at a time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الْمُرَاجَعَةُ فِي أَرْبَعِ مَرَاحِلَ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Verbal Sentences · GM-VS-04</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028432" y="1810512"/>
            <a:ext cx="36301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Do</a:t>
            </a:r>
            <a:endParaRPr lang="en-US" sz="1100" dirty="0"/>
          </a:p>
        </p:txBody>
      </p:sp>
      <p:sp>
        <p:nvSpPr>
          <p:cNvPr id="17" name="Text 14"/>
          <p:cNvSpPr txBox="1"/>
          <p:nvPr/>
        </p:nvSpPr>
        <p:spPr>
          <a:xfrm>
            <a:off x="2542032" y="1810512"/>
            <a:ext cx="53400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Ask</a:t>
            </a:r>
            <a:endParaRPr lang="en-US" sz="1100" dirty="0"/>
          </a:p>
        </p:txBody>
      </p:sp>
      <p:sp>
        <p:nvSpPr>
          <p:cNvPr id="18" name="Text 15"/>
          <p:cNvSpPr txBox="1"/>
          <p:nvPr/>
        </p:nvSpPr>
        <p:spPr>
          <a:xfrm>
            <a:off x="530352" y="1810512"/>
            <a:ext cx="18653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Pass</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8065008" y="2267712"/>
            <a:ext cx="35935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mark V, S and O</a:t>
            </a:r>
            <a:endParaRPr lang="en-US" sz="1100" dirty="0"/>
          </a:p>
        </p:txBody>
      </p:sp>
      <p:sp>
        <p:nvSpPr>
          <p:cNvPr id="21" name="Text 18"/>
          <p:cNvSpPr txBox="1"/>
          <p:nvPr/>
        </p:nvSpPr>
        <p:spPr>
          <a:xfrm>
            <a:off x="2578608" y="2267712"/>
            <a:ext cx="53035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What is the verb? Who is the subject? Is there an object?</a:t>
            </a:r>
            <a:endParaRPr lang="en-US" sz="1100" dirty="0"/>
          </a:p>
        </p:txBody>
      </p:sp>
      <p:sp>
        <p:nvSpPr>
          <p:cNvPr id="22" name="Text 19"/>
          <p:cNvSpPr txBox="1"/>
          <p:nvPr/>
        </p:nvSpPr>
        <p:spPr>
          <a:xfrm>
            <a:off x="566928" y="2267712"/>
            <a:ext cx="18288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 · Roles</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6" name="Text 23"/>
          <p:cNvSpPr txBox="1"/>
          <p:nvPr/>
        </p:nvSpPr>
        <p:spPr>
          <a:xfrm>
            <a:off x="8065008" y="3054096"/>
            <a:ext cx="35935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choose full or singular agreement</a:t>
            </a:r>
            <a:endParaRPr lang="en-US" sz="1100" dirty="0"/>
          </a:p>
        </p:txBody>
      </p:sp>
      <p:sp>
        <p:nvSpPr>
          <p:cNvPr id="27" name="Text 24"/>
          <p:cNvSpPr txBox="1"/>
          <p:nvPr/>
        </p:nvSpPr>
        <p:spPr>
          <a:xfrm>
            <a:off x="2578608" y="3054096"/>
            <a:ext cx="53035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Does the subject come before or after the verb?</a:t>
            </a:r>
            <a:endParaRPr lang="en-US" sz="1100" dirty="0"/>
          </a:p>
        </p:txBody>
      </p:sp>
      <p:sp>
        <p:nvSpPr>
          <p:cNvPr id="28" name="Text 25"/>
          <p:cNvSpPr txBox="1"/>
          <p:nvPr/>
        </p:nvSpPr>
        <p:spPr>
          <a:xfrm>
            <a:off x="566928" y="3054096"/>
            <a:ext cx="18288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 · Order</a:t>
            </a:r>
            <a:endParaRPr lang="en-US" sz="1100" dirty="0"/>
          </a:p>
        </p:txBody>
      </p:sp>
      <p:sp>
        <p:nvSpPr>
          <p:cNvPr id="29" name="Shape 26"/>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2" name="Text 29"/>
          <p:cNvSpPr txBox="1"/>
          <p:nvPr/>
        </p:nvSpPr>
        <p:spPr>
          <a:xfrm>
            <a:off x="8065008" y="3840480"/>
            <a:ext cx="35935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repair prefix, suffix, end vowel</a:t>
            </a:r>
            <a:endParaRPr lang="en-US" sz="1100" dirty="0"/>
          </a:p>
        </p:txBody>
      </p:sp>
      <p:sp>
        <p:nvSpPr>
          <p:cNvPr id="33" name="Text 30"/>
          <p:cNvSpPr txBox="1"/>
          <p:nvPr/>
        </p:nvSpPr>
        <p:spPr>
          <a:xfrm>
            <a:off x="2578608" y="3840480"/>
            <a:ext cx="53035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Do person, gender, number, tense and mood fit?</a:t>
            </a:r>
            <a:endParaRPr lang="en-US" sz="1100" dirty="0"/>
          </a:p>
        </p:txBody>
      </p:sp>
      <p:sp>
        <p:nvSpPr>
          <p:cNvPr id="34" name="Text 31"/>
          <p:cNvSpPr txBox="1"/>
          <p:nvPr/>
        </p:nvSpPr>
        <p:spPr>
          <a:xfrm>
            <a:off x="566928" y="3840480"/>
            <a:ext cx="18288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 · Verb form</a:t>
            </a:r>
            <a:endParaRPr lang="en-US" sz="1100" dirty="0"/>
          </a:p>
        </p:txBody>
      </p:sp>
      <p:sp>
        <p:nvSpPr>
          <p:cNvPr id="35" name="Shape 32"/>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6" name="Text 33"/>
          <p:cNvSpPr txBox="1"/>
          <p:nvPr/>
        </p:nvSpPr>
        <p:spPr>
          <a:xfrm>
            <a:off x="8065008" y="4626864"/>
            <a:ext cx="35935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check reference and flow</a:t>
            </a:r>
            <a:endParaRPr lang="en-US" sz="1100" dirty="0"/>
          </a:p>
        </p:txBody>
      </p:sp>
      <p:sp>
        <p:nvSpPr>
          <p:cNvPr id="37" name="Text 34"/>
          <p:cNvSpPr txBox="1"/>
          <p:nvPr/>
        </p:nvSpPr>
        <p:spPr>
          <a:xfrm>
            <a:off x="2578608" y="4626864"/>
            <a:ext cx="53035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Are pronouns, prepositions, time words and links clear?</a:t>
            </a:r>
            <a:endParaRPr lang="en-US" sz="1100" dirty="0"/>
          </a:p>
        </p:txBody>
      </p:sp>
      <p:sp>
        <p:nvSpPr>
          <p:cNvPr id="38" name="Text 35"/>
          <p:cNvSpPr txBox="1"/>
          <p:nvPr/>
        </p:nvSpPr>
        <p:spPr>
          <a:xfrm>
            <a:off x="566928" y="4626864"/>
            <a:ext cx="18288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 · Expansion</a:t>
            </a:r>
            <a:endParaRPr lang="en-US" sz="1100" dirty="0"/>
          </a:p>
        </p:txBody>
      </p:sp>
      <p:sp>
        <p:nvSpPr>
          <p:cNvPr id="39" name="Text 3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cs typeface="Amiri" pitchFamily="2" charset="-78"/>
              </a:rPr>
              <a:t>Website tip: read backwards for agreement — start at the end of the sentence, find the subject, then go back to the verb. This stops you reading only for meaning.</a:t>
            </a:r>
            <a:endParaRPr lang="en-US" sz="11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35</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GM-VS-04 · Verbal Sentences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Verbal Sentences · GM-VS-04</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You have already mentioned the girls. Say what they did.</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قَدَّمَتِ الطَّالِبَاتُ الْعَرْضَ.</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قَدَّمْنَ الطَّالِبَاتُ الْعَرْضَ.</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الطَّالِبَاتُ قَدَّمْنَ الْعَرْضَ.</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Contrast Ali and Maryam.</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عَلِيٌّ كَتَبَ، أَمَّا مَرْيَمُ فَقَرَأَتْ.</a:t>
            </a:r>
            <a:endParaRPr lang="ar-SA" sz="20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كَتَبَ عَلِيٌّ مَرْيَمُ قَرَأَتْ.</a:t>
            </a:r>
            <a:endParaRPr lang="ar-SA" sz="20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عَلِيًّا كَتَبَ مَرْيَمَ.</a:t>
            </a:r>
            <a:endParaRPr lang="ar-SA" sz="20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expanded sentence remains accurate?</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قَرَأَ سَلْمَى الْمَقَالَةُ أَمْسِ.</a:t>
            </a:r>
            <a:endParaRPr lang="ar-SA" sz="20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قَرَأَتْ سَلْمَى الْمَقَالَةَ أَمْسِ بِعِنَايَةٍ.</a:t>
            </a:r>
            <a:endParaRPr lang="ar-SA" sz="20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سَلْمَى قَرَأُوا الْمَقَالَةَ.</a:t>
            </a:r>
            <a:endParaRPr lang="ar-SA" sz="20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6679692"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Repair:</a:t>
            </a:r>
            <a:endParaRPr lang="en-US" sz="1200" dirty="0"/>
          </a:p>
        </p:txBody>
      </p:sp>
      <p:sp>
        <p:nvSpPr>
          <p:cNvPr id="58" name="Text 55"/>
          <p:cNvSpPr txBox="1"/>
          <p:nvPr/>
        </p:nvSpPr>
        <p:spPr>
          <a:xfrm>
            <a:off x="9052011"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لَمْ ذَهَبَ الطُّلَّابُ.</a:t>
            </a:r>
            <a:endParaRPr lang="ar-SA" sz="1500" dirty="0"/>
          </a:p>
        </p:txBody>
      </p:sp>
      <p:sp>
        <p:nvSpPr>
          <p:cNvPr id="59" name="Shape 56"/>
          <p:cNvSpPr/>
          <p:nvPr/>
        </p:nvSpPr>
        <p:spPr>
          <a:xfrm>
            <a:off x="6368796" y="4873752"/>
            <a:ext cx="256032" cy="256032"/>
          </a:xfrm>
          <a:prstGeom prst="ellipse">
            <a:avLst/>
          </a:prstGeom>
          <a:solidFill>
            <a:srgbClr val="F4F1EA"/>
          </a:solidFill>
          <a:ln w="12700">
            <a:solidFill>
              <a:srgbClr val="F4F1EA"/>
            </a:solidFill>
            <a:prstDash val="solid"/>
          </a:ln>
        </p:spPr>
      </p:sp>
      <p:sp>
        <p:nvSpPr>
          <p:cNvPr id="60" name="Text 57"/>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1" name="Text 58"/>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لَمْ يَذْهَبِ الطُّلَّابُ.</a:t>
            </a:r>
            <a:endParaRPr lang="ar-SA" sz="2050" dirty="0"/>
          </a:p>
        </p:txBody>
      </p:sp>
      <p:sp>
        <p:nvSpPr>
          <p:cNvPr id="62" name="Shape 59"/>
          <p:cNvSpPr/>
          <p:nvPr/>
        </p:nvSpPr>
        <p:spPr>
          <a:xfrm>
            <a:off x="6368796" y="5330952"/>
            <a:ext cx="256032" cy="256032"/>
          </a:xfrm>
          <a:prstGeom prst="ellipse">
            <a:avLst/>
          </a:prstGeom>
          <a:solidFill>
            <a:srgbClr val="F4F1EA"/>
          </a:solidFill>
          <a:ln w="12700">
            <a:solidFill>
              <a:srgbClr val="F4F1EA"/>
            </a:solidFill>
            <a:prstDash val="solid"/>
          </a:ln>
        </p:spPr>
      </p:sp>
      <p:sp>
        <p:nvSpPr>
          <p:cNvPr id="63" name="Text 60"/>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4" name="Text 61"/>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لَنْ ذَهَبَ الطُّلَّابُ.</a:t>
            </a:r>
            <a:endParaRPr lang="ar-SA" sz="2050" dirty="0"/>
          </a:p>
        </p:txBody>
      </p:sp>
      <p:sp>
        <p:nvSpPr>
          <p:cNvPr id="65" name="Shape 62"/>
          <p:cNvSpPr/>
          <p:nvPr/>
        </p:nvSpPr>
        <p:spPr>
          <a:xfrm>
            <a:off x="6368796" y="5788152"/>
            <a:ext cx="256032" cy="256032"/>
          </a:xfrm>
          <a:prstGeom prst="ellipse">
            <a:avLst/>
          </a:prstGeom>
          <a:solidFill>
            <a:srgbClr val="F4F1EA"/>
          </a:solidFill>
          <a:ln w="12700">
            <a:solidFill>
              <a:srgbClr val="F4F1EA"/>
            </a:solidFill>
            <a:prstDash val="solid"/>
          </a:ln>
        </p:spPr>
      </p:sp>
      <p:sp>
        <p:nvSpPr>
          <p:cNvPr id="66" name="Text 63"/>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7" name="Text 64"/>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مَا يَذْهَبُ الطُّلَّابُ أَمْسِ.</a:t>
            </a:r>
            <a:endParaRPr lang="ar-SA" sz="2050" dirty="0"/>
          </a:p>
        </p:txBody>
      </p:sp>
      <p:sp>
        <p:nvSpPr>
          <p:cNvPr id="68" name="Text 6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35</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GM-VS-04 · Verbal Sentences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Verbal Sentences · GM-VS-04</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You have already mentioned the girls. Say what they did.</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قَدَّمَتِ الطَّالِبَاتُ الْعَرْضَ.</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قَدَّمْنَ الطَّالِبَاتُ الْعَرْضَ.</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الطَّالِبَاتُ قَدَّمْنَ الْعَرْضَ.</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Known girls as topic → subject first, full agreement.</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Contrast Ali and Maryam.</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عَلِيٌّ كَتَبَ، أَمَّا مَرْيَمُ فَقَرَأَتْ.</a:t>
            </a:r>
            <a:endParaRPr lang="ar-SA" sz="170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كَتَبَ عَلِيٌّ مَرْيَمُ قَرَأَتْ.</a:t>
            </a:r>
            <a:endParaRPr lang="ar-SA" sz="170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عَلِيًّا كَتَبَ مَرْيَمَ.</a:t>
            </a:r>
            <a:endParaRPr lang="ar-SA" sz="170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Subject-first topics make the contrast clear.</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expanded sentence remains accurate?</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قَرَأَ سَلْمَى الْمَقَالَةُ أَمْسِ.</a:t>
            </a:r>
            <a:endParaRPr lang="ar-SA" sz="1700" dirty="0"/>
          </a:p>
        </p:txBody>
      </p:sp>
      <p:sp>
        <p:nvSpPr>
          <p:cNvPr id="52" name="Shape 49"/>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640080" y="520293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قَرَأَتْ سَلْمَى الْمَقَالَةَ أَمْسِ بِعِنَايَةٍ.</a:t>
            </a:r>
            <a:endParaRPr lang="ar-SA" sz="170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سَلْمَى قَرَأُوا الْمَقَالَةَ.</a:t>
            </a:r>
            <a:endParaRPr lang="ar-SA" sz="170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core and the details are all clear.</a:t>
            </a:r>
            <a:endParaRPr lang="en-US" sz="10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6679692"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Repair:</a:t>
            </a:r>
            <a:endParaRPr lang="en-US" sz="1200" dirty="0"/>
          </a:p>
        </p:txBody>
      </p:sp>
      <p:sp>
        <p:nvSpPr>
          <p:cNvPr id="64" name="Text 61"/>
          <p:cNvSpPr txBox="1"/>
          <p:nvPr/>
        </p:nvSpPr>
        <p:spPr>
          <a:xfrm>
            <a:off x="9052011"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لَمْ ذَهَبَ الطُّلَّابُ.</a:t>
            </a:r>
            <a:endParaRPr lang="ar-SA" sz="1500" dirty="0"/>
          </a:p>
        </p:txBody>
      </p:sp>
      <p:sp>
        <p:nvSpPr>
          <p:cNvPr id="65" name="Shape 62"/>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6" name="Shape 63"/>
          <p:cNvSpPr/>
          <p:nvPr/>
        </p:nvSpPr>
        <p:spPr>
          <a:xfrm>
            <a:off x="6368796" y="4831080"/>
            <a:ext cx="256032" cy="256032"/>
          </a:xfrm>
          <a:prstGeom prst="ellipse">
            <a:avLst/>
          </a:prstGeom>
          <a:solidFill>
            <a:srgbClr val="2E8B57"/>
          </a:solidFill>
          <a:ln w="12700">
            <a:solidFill>
              <a:srgbClr val="2E8B57"/>
            </a:solidFill>
            <a:prstDash val="solid"/>
          </a:ln>
        </p:spPr>
      </p:sp>
      <p:sp>
        <p:nvSpPr>
          <p:cNvPr id="67" name="Text 64"/>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8" name="Text 65"/>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لَمْ يَذْهَبِ الطُّلَّابُ.</a:t>
            </a:r>
            <a:endParaRPr lang="ar-SA" sz="1700" dirty="0"/>
          </a:p>
        </p:txBody>
      </p:sp>
      <p:sp>
        <p:nvSpPr>
          <p:cNvPr id="69" name="Shape 66"/>
          <p:cNvSpPr/>
          <p:nvPr/>
        </p:nvSpPr>
        <p:spPr>
          <a:xfrm>
            <a:off x="6368796"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1" name="Text 68"/>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لَنْ ذَهَبَ الطُّلَّابُ.</a:t>
            </a:r>
            <a:endParaRPr lang="ar-SA" sz="1700" dirty="0"/>
          </a:p>
        </p:txBody>
      </p:sp>
      <p:sp>
        <p:nvSpPr>
          <p:cNvPr id="72" name="Shape 69"/>
          <p:cNvSpPr/>
          <p:nvPr/>
        </p:nvSpPr>
        <p:spPr>
          <a:xfrm>
            <a:off x="6368796" y="5574792"/>
            <a:ext cx="256032" cy="256032"/>
          </a:xfrm>
          <a:prstGeom prst="ellipse">
            <a:avLst/>
          </a:prstGeom>
          <a:solidFill>
            <a:srgbClr val="C9CED6"/>
          </a:solidFill>
          <a:ln w="12700">
            <a:solidFill>
              <a:srgbClr val="C9CED6"/>
            </a:solidFill>
            <a:prstDash val="solid"/>
          </a:ln>
        </p:spPr>
      </p:sp>
      <p:sp>
        <p:nvSpPr>
          <p:cNvPr id="73" name="Text 70"/>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4" name="Text 71"/>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مَا يَذْهَبُ الطُّلَّابُ أَمْسِ.</a:t>
            </a:r>
            <a:endParaRPr lang="ar-SA" sz="1700" dirty="0"/>
          </a:p>
        </p:txBody>
      </p:sp>
      <p:sp>
        <p:nvSpPr>
          <p:cNvPr id="75" name="Text 72"/>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Lam + present (jussive) form.</a:t>
            </a:r>
            <a:endParaRPr lang="en-US" sz="1050" dirty="0"/>
          </a:p>
        </p:txBody>
      </p:sp>
      <p:sp>
        <p:nvSpPr>
          <p:cNvPr id="76" name="Text 7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35</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GM-VS-04 · Verbal Sentences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50" b="1" dirty="0">
                <a:solidFill>
                  <a:srgbClr val="1B3B6F"/>
                </a:solidFill>
                <a:latin typeface="Cambria" pitchFamily="34" charset="0"/>
                <a:cs typeface="Amiri" pitchFamily="2" charset="-78"/>
              </a:rPr>
              <a:t>Watch me edit a draft in four passes</a:t>
            </a:r>
            <a:endParaRPr lang="en-US" sz="25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Verbal Sentences · GM-VS-04</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1 · Roles</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الطُّلَّابُ</a:t>
            </a:r>
            <a:endParaRPr lang="ar-SA" sz="28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Subject: boys, plural.</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2 · Order</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فِعْلٌ ثُمَّ فَاعِلٌ</a:t>
            </a:r>
            <a:endParaRPr lang="ar-SA" sz="280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Verb first → singular.</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3 · Verb form</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وَصَلَ</a:t>
            </a:r>
            <a:endParaRPr lang="ar-SA" sz="28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Repair: waṣala.</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4 · Expansion</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الدَّرْسَ</a:t>
            </a:r>
            <a:endParaRPr lang="ar-SA" sz="280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Object: -a.</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cs typeface="Amiri" pitchFamily="2" charset="-78"/>
              </a:rPr>
              <a:t>COPY THIS INTO YOUR BOOK</a:t>
            </a:r>
            <a:endParaRPr lang="en-US" sz="1200" dirty="0"/>
          </a:p>
        </p:txBody>
      </p:sp>
      <p:sp>
        <p:nvSpPr>
          <p:cNvPr id="45" name="Shape 41"/>
          <p:cNvSpPr/>
          <p:nvPr/>
        </p:nvSpPr>
        <p:spPr>
          <a:xfrm>
            <a:off x="9528048" y="4736592"/>
            <a:ext cx="914400" cy="237744"/>
          </a:xfrm>
          <a:prstGeom prst="roundRect">
            <a:avLst>
              <a:gd name="adj" fmla="val 50000"/>
            </a:avLst>
          </a:prstGeom>
          <a:solidFill>
            <a:srgbClr val="0E7C86"/>
          </a:solidFill>
          <a:ln w="12700">
            <a:solidFill>
              <a:srgbClr val="0E7C86"/>
            </a:solidFill>
            <a:prstDash val="solid"/>
          </a:ln>
        </p:spPr>
      </p:sp>
      <p:sp>
        <p:nvSpPr>
          <p:cNvPr id="46" name="Text 42"/>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VERB</a:t>
            </a:r>
            <a:endParaRPr lang="en-US" sz="800" dirty="0"/>
          </a:p>
        </p:txBody>
      </p:sp>
      <p:sp>
        <p:nvSpPr>
          <p:cNvPr id="47" name="Shape 43"/>
          <p:cNvSpPr/>
          <p:nvPr/>
        </p:nvSpPr>
        <p:spPr>
          <a:xfrm>
            <a:off x="10515600" y="4736592"/>
            <a:ext cx="914400" cy="237744"/>
          </a:xfrm>
          <a:prstGeom prst="roundRect">
            <a:avLst>
              <a:gd name="adj" fmla="val 50000"/>
            </a:avLst>
          </a:prstGeom>
          <a:solidFill>
            <a:srgbClr val="1D5FBF"/>
          </a:solidFill>
          <a:ln w="12700">
            <a:solidFill>
              <a:srgbClr val="1D5FBF"/>
            </a:solidFill>
            <a:prstDash val="solid"/>
          </a:ln>
        </p:spPr>
      </p:sp>
      <p:sp>
        <p:nvSpPr>
          <p:cNvPr id="48" name="Text 44"/>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SUBJECT</a:t>
            </a:r>
            <a:endParaRPr lang="en-US" sz="800" dirty="0"/>
          </a:p>
        </p:txBody>
      </p:sp>
      <p:sp>
        <p:nvSpPr>
          <p:cNvPr id="49" name="Text 45"/>
          <p:cNvSpPr txBox="1"/>
          <p:nvPr/>
        </p:nvSpPr>
        <p:spPr>
          <a:xfrm>
            <a:off x="685800" y="5029200"/>
            <a:ext cx="10817352" cy="731520"/>
          </a:xfrm>
          <a:prstGeom prst="rect">
            <a:avLst/>
          </a:prstGeom>
          <a:noFill/>
          <a:ln/>
        </p:spPr>
        <p:txBody>
          <a:bodyPr wrap="square" lIns="0" tIns="0" rIns="0" bIns="0" rtlCol="0" anchor="ctr"/>
          <a:lstStyle/>
          <a:p>
            <a:pPr rtl="1" algn="r" indent="0" marL="0">
              <a:lnSpc>
                <a:spcPct val="120000"/>
              </a:lnSpc>
              <a:buNone/>
            </a:pPr>
            <a:r>
              <a:rPr lang="ar-SA" altLang="en-US" sz="1400" b="1" dirty="0">
                <a:solidFill>
                  <a:srgbClr val="0E7C86"/>
                </a:solidFill>
                <a:latin typeface="Amiri" pitchFamily="2" charset="-78"/>
                <a:ea typeface="Amiri" pitchFamily="2" charset="-78"/>
                <a:cs typeface="Amiri" pitchFamily="2" charset="-78"/>
              </a:rPr>
              <a:t>بَدَأَ</a:t>
            </a:r>
            <a:pPr rtl="1" algn="r" indent="0" marL="0">
              <a:lnSpc>
                <a:spcPct val="120000"/>
              </a:lnSpc>
              <a:buNone/>
            </a:pPr>
            <a:r>
              <a:rPr lang="ar-SA" altLang="en-US" sz="1400" b="1" dirty="0">
                <a:solidFill>
                  <a:srgbClr val="1B3B6F"/>
                </a:solidFill>
                <a:latin typeface="Amiri" pitchFamily="2" charset="-78"/>
                <a:cs typeface="Amiri" pitchFamily="2" charset="-78"/>
              </a:rPr>
              <a:t> </a:t>
            </a:r>
            <a:pPr rtl="1" algn="r" indent="0" marL="0">
              <a:lnSpc>
                <a:spcPct val="120000"/>
              </a:lnSpc>
              <a:buNone/>
            </a:pPr>
            <a:r>
              <a:rPr lang="ar-SA" altLang="en-US" sz="1400" b="1" dirty="0">
                <a:solidFill>
                  <a:srgbClr val="1D5FBF"/>
                </a:solidFill>
                <a:latin typeface="Amiri" pitchFamily="2" charset="-78"/>
                <a:ea typeface="Amiri" pitchFamily="2" charset="-78"/>
                <a:cs typeface="Amiri" pitchFamily="2" charset="-78"/>
              </a:rPr>
              <a:t>الْيَوْمُ</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مُبَكِّرًا، ثُمَّ </a:t>
            </a:r>
            <a:pPr rtl="1" algn="r" indent="0" marL="0">
              <a:lnSpc>
                <a:spcPct val="120000"/>
              </a:lnSpc>
              <a:buNone/>
            </a:pPr>
            <a:r>
              <a:rPr lang="ar-SA" altLang="en-US" sz="1400" b="1" dirty="0">
                <a:solidFill>
                  <a:srgbClr val="0E7C86"/>
                </a:solidFill>
                <a:latin typeface="Amiri" pitchFamily="2" charset="-78"/>
                <a:ea typeface="Amiri" pitchFamily="2" charset="-78"/>
                <a:cs typeface="Amiri" pitchFamily="2" charset="-78"/>
              </a:rPr>
              <a:t>وَصَلَ</a:t>
            </a:r>
            <a:pPr rtl="1" algn="r" indent="0" marL="0">
              <a:lnSpc>
                <a:spcPct val="120000"/>
              </a:lnSpc>
              <a:buNone/>
            </a:pPr>
            <a:r>
              <a:rPr lang="ar-SA" altLang="en-US" sz="1400" b="1" dirty="0">
                <a:solidFill>
                  <a:srgbClr val="1B3B6F"/>
                </a:solidFill>
                <a:latin typeface="Amiri" pitchFamily="2" charset="-78"/>
                <a:cs typeface="Amiri" pitchFamily="2" charset="-78"/>
              </a:rPr>
              <a:t> </a:t>
            </a:r>
            <a:pPr rtl="1" algn="r" indent="0" marL="0">
              <a:lnSpc>
                <a:spcPct val="120000"/>
              </a:lnSpc>
              <a:buNone/>
            </a:pPr>
            <a:r>
              <a:rPr lang="ar-SA" altLang="en-US" sz="1400" b="1" dirty="0">
                <a:solidFill>
                  <a:srgbClr val="1D5FBF"/>
                </a:solidFill>
                <a:latin typeface="Amiri" pitchFamily="2" charset="-78"/>
                <a:ea typeface="Amiri" pitchFamily="2" charset="-78"/>
                <a:cs typeface="Amiri" pitchFamily="2" charset="-78"/>
              </a:rPr>
              <a:t>الطُّلَّابُ</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إِلَى الْمَدْرَسَةِ فِي السَّاعَةِ الثَّامِنَةِ. </a:t>
            </a:r>
            <a:pPr rtl="1" algn="r" indent="0" marL="0">
              <a:lnSpc>
                <a:spcPct val="120000"/>
              </a:lnSpc>
              <a:buNone/>
            </a:pPr>
            <a:r>
              <a:rPr lang="ar-SA" altLang="en-US" sz="1400" b="1" dirty="0">
                <a:solidFill>
                  <a:srgbClr val="1D5FBF"/>
                </a:solidFill>
                <a:latin typeface="Amiri" pitchFamily="2" charset="-78"/>
                <a:ea typeface="Amiri" pitchFamily="2" charset="-78"/>
                <a:cs typeface="Amiri" pitchFamily="2" charset="-78"/>
              </a:rPr>
              <a:t>الطَّالِبَاتُ</a:t>
            </a:r>
            <a:pPr rtl="1" algn="r" indent="0" marL="0">
              <a:lnSpc>
                <a:spcPct val="120000"/>
              </a:lnSpc>
              <a:buNone/>
            </a:pPr>
            <a:r>
              <a:rPr lang="ar-SA" altLang="en-US" sz="1400" b="1" dirty="0">
                <a:solidFill>
                  <a:srgbClr val="1B3B6F"/>
                </a:solidFill>
                <a:latin typeface="Amiri" pitchFamily="2" charset="-78"/>
                <a:cs typeface="Amiri" pitchFamily="2" charset="-78"/>
              </a:rPr>
              <a:t> </a:t>
            </a:r>
            <a:pPr rtl="1" algn="r" indent="0" marL="0">
              <a:lnSpc>
                <a:spcPct val="120000"/>
              </a:lnSpc>
              <a:buNone/>
            </a:pPr>
            <a:r>
              <a:rPr lang="ar-SA" altLang="en-US" sz="1400" b="1" dirty="0">
                <a:solidFill>
                  <a:srgbClr val="0E7C86"/>
                </a:solidFill>
                <a:latin typeface="Amiri" pitchFamily="2" charset="-78"/>
                <a:ea typeface="Amiri" pitchFamily="2" charset="-78"/>
                <a:cs typeface="Amiri" pitchFamily="2" charset="-78"/>
              </a:rPr>
              <a:t>جَهَّزْنَ</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الْقَاعَةَ، أَمَّا الْمُعَلِّمُونَ فَرَاجَعُوا الْخُطَّةَ. لَمْ </a:t>
            </a:r>
            <a:pPr rtl="1" algn="r" indent="0" marL="0">
              <a:lnSpc>
                <a:spcPct val="120000"/>
              </a:lnSpc>
              <a:buNone/>
            </a:pPr>
            <a:r>
              <a:rPr lang="ar-SA" altLang="en-US" sz="1400" b="1" dirty="0">
                <a:solidFill>
                  <a:srgbClr val="0E7C86"/>
                </a:solidFill>
                <a:latin typeface="Amiri" pitchFamily="2" charset="-78"/>
                <a:ea typeface="Amiri" pitchFamily="2" charset="-78"/>
                <a:cs typeface="Amiri" pitchFamily="2" charset="-78"/>
              </a:rPr>
              <a:t>تَصِلِ</a:t>
            </a:r>
            <a:pPr rtl="1" algn="r" indent="0" marL="0">
              <a:lnSpc>
                <a:spcPct val="120000"/>
              </a:lnSpc>
              <a:buNone/>
            </a:pPr>
            <a:r>
              <a:rPr lang="ar-SA" altLang="en-US" sz="1400" b="1" dirty="0">
                <a:solidFill>
                  <a:srgbClr val="1B3B6F"/>
                </a:solidFill>
                <a:latin typeface="Amiri" pitchFamily="2" charset="-78"/>
                <a:cs typeface="Amiri" pitchFamily="2" charset="-78"/>
              </a:rPr>
              <a:t> </a:t>
            </a:r>
            <a:pPr rtl="1" algn="r" indent="0" marL="0">
              <a:lnSpc>
                <a:spcPct val="120000"/>
              </a:lnSpc>
              <a:buNone/>
            </a:pPr>
            <a:r>
              <a:rPr lang="ar-SA" altLang="en-US" sz="1400" b="1" dirty="0">
                <a:solidFill>
                  <a:srgbClr val="1D5FBF"/>
                </a:solidFill>
                <a:latin typeface="Amiri" pitchFamily="2" charset="-78"/>
                <a:ea typeface="Amiri" pitchFamily="2" charset="-78"/>
                <a:cs typeface="Amiri" pitchFamily="2" charset="-78"/>
              </a:rPr>
              <a:t>الْحَافِلَاتُ</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فِي الْمَوْعِدِ، وَلَكِنَّهَا سَتَصِلُ قَرِيبًا.</a:t>
            </a:r>
            <a:endParaRPr lang="ar-SA" sz="1400" dirty="0"/>
          </a:p>
        </p:txBody>
      </p:sp>
      <p:sp>
        <p:nvSpPr>
          <p:cNvPr id="50" name="Text 46"/>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cs typeface="Amiri" pitchFamily="2" charset="-78"/>
              </a:rPr>
              <a:t>The day began early, then the students arrived at school at eight o’clock. The girls prepared the hall; as for the teachers, they reviewed the plan. The buses did not arrive on time, but they will arrive soon.</a:t>
            </a:r>
            <a:endParaRPr lang="en-US" sz="1100" dirty="0"/>
          </a:p>
        </p:txBody>
      </p:sp>
      <p:sp>
        <p:nvSpPr>
          <p:cNvPr id="51"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35</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GM-VS-04 · Verbal Sentences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MODEL SENTENCES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Verbal Sentences · GM-VS-04</a:t>
            </a:r>
            <a:endParaRPr lang="en-US" sz="850" dirty="0"/>
          </a:p>
        </p:txBody>
      </p:sp>
      <p:sp>
        <p:nvSpPr>
          <p:cNvPr id="15" name="Shape 12"/>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123694"/>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12369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572000" y="1847088"/>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فَازَ الْفَرِيقُ بِالْمُبَارَاةِ.</a:t>
            </a:r>
            <a:endParaRPr lang="ar-SA" sz="2600" dirty="0"/>
          </a:p>
        </p:txBody>
      </p:sp>
      <p:sp>
        <p:nvSpPr>
          <p:cNvPr id="19" name="Text 16"/>
          <p:cNvSpPr txBox="1"/>
          <p:nvPr/>
        </p:nvSpPr>
        <p:spPr>
          <a:xfrm>
            <a:off x="685800" y="1856232"/>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The team won the match.</a:t>
            </a:r>
            <a:endParaRPr lang="en-US" sz="1250" dirty="0"/>
          </a:p>
          <a:p>
            <a:pPr indent="0" marL="0">
              <a:buNone/>
            </a:pPr>
            <a:r>
              <a:rPr lang="en-US" sz="1050" i="1" dirty="0">
                <a:solidFill>
                  <a:srgbClr val="8A6D1E"/>
                </a:solidFill>
                <a:latin typeface="Calibri" pitchFamily="34" charset="0"/>
                <a:cs typeface="Amiri" pitchFamily="2" charset="-78"/>
              </a:rPr>
              <a:t>New event: verb first.</a:t>
            </a:r>
            <a:endParaRPr lang="en-US" sz="1250" dirty="0"/>
          </a:p>
        </p:txBody>
      </p:sp>
      <p:sp>
        <p:nvSpPr>
          <p:cNvPr id="20" name="Shape 17"/>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280410"/>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28041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572000" y="3003804"/>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عَلِيٌّ دَرَسَ، أَمَّا أَخُوهُ فَلَعِبَ.</a:t>
            </a:r>
            <a:endParaRPr lang="ar-SA" sz="2600" dirty="0"/>
          </a:p>
        </p:txBody>
      </p:sp>
      <p:sp>
        <p:nvSpPr>
          <p:cNvPr id="24" name="Text 21"/>
          <p:cNvSpPr txBox="1"/>
          <p:nvPr/>
        </p:nvSpPr>
        <p:spPr>
          <a:xfrm>
            <a:off x="685800" y="3012948"/>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Ali studied; as for his brother, he played.</a:t>
            </a:r>
            <a:endParaRPr lang="en-US" sz="1250" dirty="0"/>
          </a:p>
          <a:p>
            <a:pPr indent="0" marL="0">
              <a:buNone/>
            </a:pPr>
            <a:r>
              <a:rPr lang="en-US" sz="1050" i="1" dirty="0">
                <a:solidFill>
                  <a:srgbClr val="8A6D1E"/>
                </a:solidFill>
                <a:latin typeface="Calibri" pitchFamily="34" charset="0"/>
                <a:cs typeface="Amiri" pitchFamily="2" charset="-78"/>
              </a:rPr>
              <a:t>Contrast: subject first.</a:t>
            </a:r>
            <a:endParaRPr lang="en-US" sz="125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443712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443712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572000" y="4160520"/>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هَلْ كَتَبَ الطُّلَّابُ التَّقْرِيرَ؟</a:t>
            </a:r>
            <a:endParaRPr lang="ar-SA" sz="2600" dirty="0"/>
          </a:p>
        </p:txBody>
      </p:sp>
      <p:sp>
        <p:nvSpPr>
          <p:cNvPr id="29" name="Text 26"/>
          <p:cNvSpPr txBox="1"/>
          <p:nvPr/>
        </p:nvSpPr>
        <p:spPr>
          <a:xfrm>
            <a:off x="685800" y="4169664"/>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Did the students write the report?</a:t>
            </a:r>
            <a:endParaRPr lang="en-US" sz="1250" dirty="0"/>
          </a:p>
          <a:p>
            <a:pPr indent="0" marL="0">
              <a:buNone/>
            </a:pPr>
            <a:r>
              <a:rPr lang="en-US" sz="1050" i="1" dirty="0">
                <a:solidFill>
                  <a:srgbClr val="8A6D1E"/>
                </a:solidFill>
                <a:latin typeface="Calibri" pitchFamily="34" charset="0"/>
                <a:cs typeface="Amiri" pitchFamily="2" charset="-78"/>
              </a:rPr>
              <a:t>hal + VSO.</a:t>
            </a:r>
            <a:endParaRPr lang="en-US" sz="1250" dirty="0"/>
          </a:p>
        </p:txBody>
      </p:sp>
      <p:sp>
        <p:nvSpPr>
          <p:cNvPr id="30" name="Shape 27"/>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11201400" y="5593842"/>
            <a:ext cx="402336" cy="402336"/>
          </a:xfrm>
          <a:prstGeom prst="ellipse">
            <a:avLst/>
          </a:prstGeom>
          <a:solidFill>
            <a:srgbClr val="1B3B6F"/>
          </a:solidFill>
          <a:ln w="12700">
            <a:solidFill>
              <a:srgbClr val="1B3B6F"/>
            </a:solidFill>
            <a:prstDash val="solid"/>
          </a:ln>
        </p:spPr>
      </p:sp>
      <p:sp>
        <p:nvSpPr>
          <p:cNvPr id="32" name="Text 29"/>
          <p:cNvSpPr txBox="1"/>
          <p:nvPr/>
        </p:nvSpPr>
        <p:spPr>
          <a:xfrm>
            <a:off x="11201400" y="559384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4</a:t>
            </a:r>
            <a:endParaRPr lang="en-US" sz="1300" dirty="0"/>
          </a:p>
        </p:txBody>
      </p:sp>
      <p:sp>
        <p:nvSpPr>
          <p:cNvPr id="33" name="Text 30"/>
          <p:cNvSpPr txBox="1"/>
          <p:nvPr/>
        </p:nvSpPr>
        <p:spPr>
          <a:xfrm>
            <a:off x="4572000" y="5317236"/>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لَنْ يَزُورَ الطُّلَّابُ الْمَتْحَفَ غَدًا.</a:t>
            </a:r>
            <a:endParaRPr lang="ar-SA" sz="2600" dirty="0"/>
          </a:p>
        </p:txBody>
      </p:sp>
      <p:sp>
        <p:nvSpPr>
          <p:cNvPr id="34" name="Text 31"/>
          <p:cNvSpPr txBox="1"/>
          <p:nvPr/>
        </p:nvSpPr>
        <p:spPr>
          <a:xfrm>
            <a:off x="685800" y="5326380"/>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The students will not visit the museum tomorrow.</a:t>
            </a:r>
            <a:endParaRPr lang="en-US" sz="1250" dirty="0"/>
          </a:p>
          <a:p>
            <a:pPr indent="0" marL="0">
              <a:buNone/>
            </a:pPr>
            <a:r>
              <a:rPr lang="en-US" sz="1050" i="1" dirty="0">
                <a:solidFill>
                  <a:srgbClr val="8A6D1E"/>
                </a:solidFill>
                <a:latin typeface="Calibri" pitchFamily="34" charset="0"/>
                <a:cs typeface="Amiri" pitchFamily="2" charset="-78"/>
              </a:rPr>
              <a:t>lan + -a.</a:t>
            </a:r>
            <a:endParaRPr lang="en-US" sz="12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35</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GM-VS-04 · Verbal Sentences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INTEGRATED CLINIC (WEBSITE) · USE THE FOUR PASSES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Find the problem, name the pass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رَاجِعْ وَصَحِّحْ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Verbal Sentences · GM-VS-04</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942832" y="1810512"/>
            <a:ext cx="27157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Reason</a:t>
            </a:r>
            <a:endParaRPr lang="en-US" sz="1100" dirty="0"/>
          </a:p>
        </p:txBody>
      </p:sp>
      <p:sp>
        <p:nvSpPr>
          <p:cNvPr id="17" name="Text 14"/>
          <p:cNvSpPr txBox="1"/>
          <p:nvPr/>
        </p:nvSpPr>
        <p:spPr>
          <a:xfrm>
            <a:off x="4736592" y="1810512"/>
            <a:ext cx="40599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Improved</a:t>
            </a:r>
            <a:endParaRPr lang="en-US" sz="1100" dirty="0"/>
          </a:p>
        </p:txBody>
      </p:sp>
      <p:sp>
        <p:nvSpPr>
          <p:cNvPr id="18" name="Text 15"/>
          <p:cNvSpPr txBox="1"/>
          <p:nvPr/>
        </p:nvSpPr>
        <p:spPr>
          <a:xfrm>
            <a:off x="530352" y="1810512"/>
            <a:ext cx="40599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Draft</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8979408" y="2267712"/>
            <a:ext cx="26791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VSO singular; object -a</a:t>
            </a:r>
            <a:endParaRPr lang="en-US" sz="1100" dirty="0"/>
          </a:p>
        </p:txBody>
      </p:sp>
      <p:sp>
        <p:nvSpPr>
          <p:cNvPr id="21" name="Text 18"/>
          <p:cNvSpPr txBox="1"/>
          <p:nvPr/>
        </p:nvSpPr>
        <p:spPr>
          <a:xfrm>
            <a:off x="4754880" y="2267712"/>
            <a:ext cx="402336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وَصَلَ الطُّلَّابُ، ثُمَّ بَدَأُوا الدَّرْسَ.</a:t>
            </a:r>
            <a:endParaRPr lang="ar-SA" sz="2000" dirty="0"/>
          </a:p>
        </p:txBody>
      </p:sp>
      <p:sp>
        <p:nvSpPr>
          <p:cNvPr id="22" name="Text 19"/>
          <p:cNvSpPr txBox="1"/>
          <p:nvPr/>
        </p:nvSpPr>
        <p:spPr>
          <a:xfrm>
            <a:off x="548640" y="2267712"/>
            <a:ext cx="402336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وَصَلُوا الطُّلَّابُ ثُمَّ بَدَأُوا الدَّرْسُ.</a:t>
            </a:r>
            <a:endParaRPr lang="ar-SA" sz="20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6" name="Text 23"/>
          <p:cNvSpPr txBox="1"/>
          <p:nvPr/>
        </p:nvSpPr>
        <p:spPr>
          <a:xfrm>
            <a:off x="8979408" y="3004718"/>
            <a:ext cx="26791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SVO: full agreement</a:t>
            </a:r>
            <a:endParaRPr lang="en-US" sz="1100" dirty="0"/>
          </a:p>
        </p:txBody>
      </p:sp>
      <p:sp>
        <p:nvSpPr>
          <p:cNvPr id="27" name="Text 24"/>
          <p:cNvSpPr txBox="1"/>
          <p:nvPr/>
        </p:nvSpPr>
        <p:spPr>
          <a:xfrm>
            <a:off x="4754880" y="3004718"/>
            <a:ext cx="402336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الطَّالِبَاتُ سَيَقْرَأْنَ الْمَقَالَةَ.</a:t>
            </a:r>
            <a:endParaRPr lang="ar-SA" sz="2000" dirty="0"/>
          </a:p>
        </p:txBody>
      </p:sp>
      <p:sp>
        <p:nvSpPr>
          <p:cNvPr id="28" name="Text 25"/>
          <p:cNvSpPr txBox="1"/>
          <p:nvPr/>
        </p:nvSpPr>
        <p:spPr>
          <a:xfrm>
            <a:off x="548640" y="3004718"/>
            <a:ext cx="402336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الطَّالِبَاتُ سَيَقْرَأُ الْمَقَالَةَ.</a:t>
            </a:r>
            <a:endParaRPr lang="ar-SA" sz="2000" dirty="0"/>
          </a:p>
        </p:txBody>
      </p:sp>
      <p:sp>
        <p:nvSpPr>
          <p:cNvPr id="29" name="Shape 26"/>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2" name="Text 29"/>
          <p:cNvSpPr txBox="1"/>
          <p:nvPr/>
        </p:nvSpPr>
        <p:spPr>
          <a:xfrm>
            <a:off x="8979408" y="3741725"/>
            <a:ext cx="26791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lam + present form</a:t>
            </a:r>
            <a:endParaRPr lang="en-US" sz="1100" dirty="0"/>
          </a:p>
        </p:txBody>
      </p:sp>
      <p:sp>
        <p:nvSpPr>
          <p:cNvPr id="33" name="Text 30"/>
          <p:cNvSpPr txBox="1"/>
          <p:nvPr/>
        </p:nvSpPr>
        <p:spPr>
          <a:xfrm>
            <a:off x="4754880" y="3741725"/>
            <a:ext cx="402336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لَمْ يَكْتُبِ الْوَلَدَانِ الْوَاجِبَ.</a:t>
            </a:r>
            <a:endParaRPr lang="ar-SA" sz="2000" dirty="0"/>
          </a:p>
        </p:txBody>
      </p:sp>
      <p:sp>
        <p:nvSpPr>
          <p:cNvPr id="34" name="Text 31"/>
          <p:cNvSpPr txBox="1"/>
          <p:nvPr/>
        </p:nvSpPr>
        <p:spPr>
          <a:xfrm>
            <a:off x="548640" y="3741725"/>
            <a:ext cx="402336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لَمْ كَتَبَ الْوَلَدَانِ الْوَاجِبَ.</a:t>
            </a:r>
            <a:endParaRPr lang="ar-SA" sz="2000" dirty="0"/>
          </a:p>
        </p:txBody>
      </p:sp>
      <p:sp>
        <p:nvSpPr>
          <p:cNvPr id="35" name="Shape 32"/>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6" name="Text 33"/>
          <p:cNvSpPr txBox="1"/>
          <p:nvPr/>
        </p:nvSpPr>
        <p:spPr>
          <a:xfrm>
            <a:off x="8979408" y="4478731"/>
            <a:ext cx="26791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things: “she”</a:t>
            </a:r>
            <a:endParaRPr lang="en-US" sz="1100" dirty="0"/>
          </a:p>
        </p:txBody>
      </p:sp>
      <p:sp>
        <p:nvSpPr>
          <p:cNvPr id="37" name="Text 34"/>
          <p:cNvSpPr txBox="1"/>
          <p:nvPr/>
        </p:nvSpPr>
        <p:spPr>
          <a:xfrm>
            <a:off x="4754880" y="4478731"/>
            <a:ext cx="402336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الْحَافِلَاتُ وَصَلَتْ وَهِيَ سَرِيعَةٌ.</a:t>
            </a:r>
            <a:endParaRPr lang="ar-SA" sz="2000" dirty="0"/>
          </a:p>
        </p:txBody>
      </p:sp>
      <p:sp>
        <p:nvSpPr>
          <p:cNvPr id="38" name="Text 35"/>
          <p:cNvSpPr txBox="1"/>
          <p:nvPr/>
        </p:nvSpPr>
        <p:spPr>
          <a:xfrm>
            <a:off x="548640" y="4478731"/>
            <a:ext cx="402336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الْحَافِلَاتُ وَصَلْنَ وَهُمْ سَرِيعُونَ.</a:t>
            </a:r>
            <a:endParaRPr lang="ar-SA" sz="2000" dirty="0"/>
          </a:p>
        </p:txBody>
      </p:sp>
      <p:sp>
        <p:nvSpPr>
          <p:cNvPr id="39" name="Shape 36"/>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0" name="Text 37"/>
          <p:cNvSpPr txBox="1"/>
          <p:nvPr/>
        </p:nvSpPr>
        <p:spPr>
          <a:xfrm>
            <a:off x="8979408" y="5215738"/>
            <a:ext cx="26791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clear pronoun</a:t>
            </a:r>
            <a:endParaRPr lang="en-US" sz="1100" dirty="0"/>
          </a:p>
        </p:txBody>
      </p:sp>
      <p:sp>
        <p:nvSpPr>
          <p:cNvPr id="41" name="Text 38"/>
          <p:cNvSpPr txBox="1"/>
          <p:nvPr/>
        </p:nvSpPr>
        <p:spPr>
          <a:xfrm>
            <a:off x="4754880" y="5215738"/>
            <a:ext cx="402336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قَرَأَتْ مَرْيَمُ الرِّسَالَةَ ثُمَّ أَرْسَلَتْهَا.</a:t>
            </a:r>
            <a:endParaRPr lang="ar-SA" sz="2000" dirty="0"/>
          </a:p>
        </p:txBody>
      </p:sp>
      <p:sp>
        <p:nvSpPr>
          <p:cNvPr id="42" name="Text 39"/>
          <p:cNvSpPr txBox="1"/>
          <p:nvPr/>
        </p:nvSpPr>
        <p:spPr>
          <a:xfrm>
            <a:off x="548640" y="5215738"/>
            <a:ext cx="402336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قَرَأَتْ مَرْيَمُ الرِّسَالَةَ ثُمَّ أَرْسَلَهُ.</a:t>
            </a:r>
            <a:endParaRPr lang="ar-SA" sz="2000" dirty="0"/>
          </a:p>
        </p:txBody>
      </p:sp>
      <p:sp>
        <p:nvSpPr>
          <p:cNvPr id="43" name="Text 4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cs typeface="Amiri" pitchFamily="2" charset="-78"/>
              </a:rPr>
              <a:t>Website: use the four-pass routine and state the reason for each repair. Row 1: after waṣala ṭ-ṭullābu, the second verb carries its own plural subject — badaʾū is correct.</a:t>
            </a:r>
            <a:endParaRPr lang="en-US" sz="11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35</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GM-VS-04 · Verbal Sentences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ASK IT, DENY IT (WEBSITE QUESTIONS AND NEGATION)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Statement → question → negative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اِسْأَلْ وَانْفِ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Verbal Sentences · GM-VS-04</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936992" y="1810512"/>
            <a:ext cx="37216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Negative</a:t>
            </a:r>
            <a:endParaRPr lang="en-US" sz="1100" dirty="0"/>
          </a:p>
        </p:txBody>
      </p:sp>
      <p:sp>
        <p:nvSpPr>
          <p:cNvPr id="17" name="Text 14"/>
          <p:cNvSpPr txBox="1"/>
          <p:nvPr/>
        </p:nvSpPr>
        <p:spPr>
          <a:xfrm>
            <a:off x="4096512" y="1810512"/>
            <a:ext cx="36941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Question</a:t>
            </a:r>
            <a:endParaRPr lang="en-US" sz="1100" dirty="0"/>
          </a:p>
        </p:txBody>
      </p:sp>
      <p:sp>
        <p:nvSpPr>
          <p:cNvPr id="18" name="Text 15"/>
          <p:cNvSpPr txBox="1"/>
          <p:nvPr/>
        </p:nvSpPr>
        <p:spPr>
          <a:xfrm>
            <a:off x="530352" y="1810512"/>
            <a:ext cx="34198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Statement</a:t>
            </a:r>
            <a:endParaRPr lang="en-US" sz="1100" dirty="0"/>
          </a:p>
        </p:txBody>
      </p:sp>
      <p:sp>
        <p:nvSpPr>
          <p:cNvPr id="19" name="Shape 16"/>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0" name="Text 17"/>
          <p:cNvSpPr txBox="1"/>
          <p:nvPr/>
        </p:nvSpPr>
        <p:spPr>
          <a:xfrm>
            <a:off x="7955280" y="2267712"/>
            <a:ext cx="3685032"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لَمْ يَكْتُبِ الطُّلَّابُ التَّقْرِيرَ.</a:t>
            </a:r>
            <a:endParaRPr lang="ar-SA" sz="2000" dirty="0"/>
          </a:p>
        </p:txBody>
      </p:sp>
      <p:sp>
        <p:nvSpPr>
          <p:cNvPr id="21" name="Text 18"/>
          <p:cNvSpPr txBox="1"/>
          <p:nvPr/>
        </p:nvSpPr>
        <p:spPr>
          <a:xfrm>
            <a:off x="4114800" y="2267712"/>
            <a:ext cx="3657600"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هَلْ كَتَبَ الطُّلَّابُ التَّقْرِيرَ؟</a:t>
            </a:r>
            <a:endParaRPr lang="ar-SA" sz="2000" dirty="0"/>
          </a:p>
        </p:txBody>
      </p:sp>
      <p:sp>
        <p:nvSpPr>
          <p:cNvPr id="22" name="Text 19"/>
          <p:cNvSpPr txBox="1"/>
          <p:nvPr/>
        </p:nvSpPr>
        <p:spPr>
          <a:xfrm>
            <a:off x="548640" y="2267712"/>
            <a:ext cx="3383280"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كَتَبَ الطُّلَّابُ التَّقْرِيرَ.</a:t>
            </a:r>
            <a:endParaRPr lang="ar-SA" sz="20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6" name="Text 23"/>
          <p:cNvSpPr txBox="1"/>
          <p:nvPr/>
        </p:nvSpPr>
        <p:spPr>
          <a:xfrm>
            <a:off x="7955280" y="2881884"/>
            <a:ext cx="3685032"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لَمْ يَصِلِ الْقِطَارُ.</a:t>
            </a:r>
            <a:endParaRPr lang="ar-SA" sz="2000" dirty="0"/>
          </a:p>
        </p:txBody>
      </p:sp>
      <p:sp>
        <p:nvSpPr>
          <p:cNvPr id="27" name="Text 24"/>
          <p:cNvSpPr txBox="1"/>
          <p:nvPr/>
        </p:nvSpPr>
        <p:spPr>
          <a:xfrm>
            <a:off x="4114800" y="2881884"/>
            <a:ext cx="3657600"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هَلْ وَصَلَ الْقِطَارُ؟</a:t>
            </a:r>
            <a:endParaRPr lang="ar-SA" sz="2000" dirty="0"/>
          </a:p>
        </p:txBody>
      </p:sp>
      <p:sp>
        <p:nvSpPr>
          <p:cNvPr id="28" name="Text 25"/>
          <p:cNvSpPr txBox="1"/>
          <p:nvPr/>
        </p:nvSpPr>
        <p:spPr>
          <a:xfrm>
            <a:off x="548640" y="2881884"/>
            <a:ext cx="3383280"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وَصَلَ الْقِطَارُ.</a:t>
            </a:r>
            <a:endParaRPr lang="ar-SA" sz="2000" dirty="0"/>
          </a:p>
        </p:txBody>
      </p:sp>
      <p:sp>
        <p:nvSpPr>
          <p:cNvPr id="29" name="Shape 26"/>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2" name="Text 29"/>
          <p:cNvSpPr txBox="1"/>
          <p:nvPr/>
        </p:nvSpPr>
        <p:spPr>
          <a:xfrm>
            <a:off x="7955280" y="3496056"/>
            <a:ext cx="3685032"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لَمْ تَفْتَحِ الْبَنَاتُ الْبَابَ.</a:t>
            </a:r>
            <a:endParaRPr lang="ar-SA" sz="2000" dirty="0"/>
          </a:p>
        </p:txBody>
      </p:sp>
      <p:sp>
        <p:nvSpPr>
          <p:cNvPr id="33" name="Text 30"/>
          <p:cNvSpPr txBox="1"/>
          <p:nvPr/>
        </p:nvSpPr>
        <p:spPr>
          <a:xfrm>
            <a:off x="4114800" y="3496056"/>
            <a:ext cx="3657600"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هَلْ فَتَحَتِ الْبَنَاتُ الْبَابَ؟</a:t>
            </a:r>
            <a:endParaRPr lang="ar-SA" sz="2000" dirty="0"/>
          </a:p>
        </p:txBody>
      </p:sp>
      <p:sp>
        <p:nvSpPr>
          <p:cNvPr id="34" name="Text 31"/>
          <p:cNvSpPr txBox="1"/>
          <p:nvPr/>
        </p:nvSpPr>
        <p:spPr>
          <a:xfrm>
            <a:off x="548640" y="3496056"/>
            <a:ext cx="3383280"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فَتَحَتِ الْبَنَاتُ الْبَابَ.</a:t>
            </a:r>
            <a:endParaRPr lang="ar-SA" sz="2000" dirty="0"/>
          </a:p>
        </p:txBody>
      </p:sp>
      <p:sp>
        <p:nvSpPr>
          <p:cNvPr id="35" name="Shape 32"/>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36" name="Text 33"/>
          <p:cNvSpPr txBox="1"/>
          <p:nvPr/>
        </p:nvSpPr>
        <p:spPr>
          <a:xfrm>
            <a:off x="7955280" y="4110228"/>
            <a:ext cx="3685032"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لَا يَدْرُسُ الطُّلَّابُ الْآنَ.</a:t>
            </a:r>
            <a:endParaRPr lang="ar-SA" sz="2000" dirty="0"/>
          </a:p>
        </p:txBody>
      </p:sp>
      <p:sp>
        <p:nvSpPr>
          <p:cNvPr id="37" name="Text 34"/>
          <p:cNvSpPr txBox="1"/>
          <p:nvPr/>
        </p:nvSpPr>
        <p:spPr>
          <a:xfrm>
            <a:off x="4114800" y="4110228"/>
            <a:ext cx="3657600"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هَلْ يَدْرُسُ الطُّلَّابُ الْآنَ؟</a:t>
            </a:r>
            <a:endParaRPr lang="ar-SA" sz="2000" dirty="0"/>
          </a:p>
        </p:txBody>
      </p:sp>
      <p:sp>
        <p:nvSpPr>
          <p:cNvPr id="38" name="Text 35"/>
          <p:cNvSpPr txBox="1"/>
          <p:nvPr/>
        </p:nvSpPr>
        <p:spPr>
          <a:xfrm>
            <a:off x="548640" y="4110228"/>
            <a:ext cx="3383280"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يَدْرُسُ الطُّلَّابُ الْآنَ.</a:t>
            </a:r>
            <a:endParaRPr lang="ar-SA" sz="2000" dirty="0"/>
          </a:p>
        </p:txBody>
      </p:sp>
      <p:sp>
        <p:nvSpPr>
          <p:cNvPr id="39" name="Shape 36"/>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0" name="Text 37"/>
          <p:cNvSpPr txBox="1"/>
          <p:nvPr/>
        </p:nvSpPr>
        <p:spPr>
          <a:xfrm>
            <a:off x="7955280" y="4724400"/>
            <a:ext cx="3685032"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لَنْ يَزُورَ الطُّلَّابُ الْمَتْحَفَ.</a:t>
            </a:r>
            <a:endParaRPr lang="ar-SA" sz="2000" dirty="0"/>
          </a:p>
        </p:txBody>
      </p:sp>
      <p:sp>
        <p:nvSpPr>
          <p:cNvPr id="41" name="Text 38"/>
          <p:cNvSpPr txBox="1"/>
          <p:nvPr/>
        </p:nvSpPr>
        <p:spPr>
          <a:xfrm>
            <a:off x="4114800" y="4724400"/>
            <a:ext cx="3657600"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هَلْ سَيَزُورُ الطُّلَّابُ الْمَتْحَفَ؟</a:t>
            </a:r>
            <a:endParaRPr lang="ar-SA" sz="2000" dirty="0"/>
          </a:p>
        </p:txBody>
      </p:sp>
      <p:sp>
        <p:nvSpPr>
          <p:cNvPr id="42" name="Text 39"/>
          <p:cNvSpPr txBox="1"/>
          <p:nvPr/>
        </p:nvSpPr>
        <p:spPr>
          <a:xfrm>
            <a:off x="548640" y="4724400"/>
            <a:ext cx="3383280"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سَيَزُورُ الطُّلَّابُ الْمَتْحَفَ.</a:t>
            </a:r>
            <a:endParaRPr lang="ar-SA" sz="2000" dirty="0"/>
          </a:p>
        </p:txBody>
      </p:sp>
      <p:sp>
        <p:nvSpPr>
          <p:cNvPr id="43" name="Shape 40"/>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44" name="Text 41"/>
          <p:cNvSpPr txBox="1"/>
          <p:nvPr/>
        </p:nvSpPr>
        <p:spPr>
          <a:xfrm>
            <a:off x="7955280" y="5338572"/>
            <a:ext cx="3685032"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الطَّالِبَاتُ لَمْ يَكْتُبْنَ.</a:t>
            </a:r>
            <a:endParaRPr lang="ar-SA" sz="2000" dirty="0"/>
          </a:p>
        </p:txBody>
      </p:sp>
      <p:sp>
        <p:nvSpPr>
          <p:cNvPr id="45" name="Text 42"/>
          <p:cNvSpPr txBox="1"/>
          <p:nvPr/>
        </p:nvSpPr>
        <p:spPr>
          <a:xfrm>
            <a:off x="4114800" y="5338572"/>
            <a:ext cx="3657600"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هَلِ الطَّالِبَاتُ كَتَبْنَ؟</a:t>
            </a:r>
            <a:endParaRPr lang="ar-SA" sz="2000" dirty="0"/>
          </a:p>
        </p:txBody>
      </p:sp>
      <p:sp>
        <p:nvSpPr>
          <p:cNvPr id="46" name="Text 43"/>
          <p:cNvSpPr txBox="1"/>
          <p:nvPr/>
        </p:nvSpPr>
        <p:spPr>
          <a:xfrm>
            <a:off x="548640" y="5338572"/>
            <a:ext cx="3383280"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الطَّالِبَاتُ كَتَبْنَ.</a:t>
            </a:r>
            <a:endParaRPr lang="ar-SA" sz="2000" dirty="0"/>
          </a:p>
        </p:txBody>
      </p:sp>
      <p:sp>
        <p:nvSpPr>
          <p:cNvPr id="47" name="Text 44"/>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The particle goes in front — the verb’s agreement does not change. Past: lam + present form · present: lā · future: lan + -a.</a:t>
            </a:r>
            <a:endParaRPr lang="en-US" sz="115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35</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GM-VS-04 · Verbal Sentences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Verbal Sentences · GM-VS-04</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الطَّالِبَاتُ كَتَبَتِ التَّقْرِيرَ.</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Subject first: which agreement?</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لَمْ كَتَبَ الطَّالِبُ.</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Which verb form follows lam?</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الْكُتُبُ وَصَلْنَ.</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Are books people?</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35</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GM-VS-04 · Verbal Sentences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Verbal Sentences · GM-VS-04</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الطَّالِبَاتُ كَتَبَتِ التَّقْرِيرَ.</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الطَّالِبَاتُ كَتَبْنَ التَّقْرِيرَ.</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Girls first → full agreement (website game).</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لَمْ كَتَبَ الطَّالِبُ.</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لَمْ يَكْتُبِ الطَّالِبُ.</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Lam takes the present (jussive) form (website game).</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الْكُتُبُ وَصَلْنَ.</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الْكُتُبُ وَصَلَتْ.</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Books are things → the “she” verb (website game).</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35</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GM-VS-04 · Verbal Sentences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2F6FB0"/>
                </a:solidFill>
                <a:latin typeface="Calibri" pitchFamily="34" charset="0"/>
                <a:cs typeface="Amiri" pitchFamily="2" charset="-78"/>
              </a:rPr>
              <a:t>WE DO · GUIDED PRACTICE · WEBSITE EDITOR AND SENTENCE LADDER CHECKS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Verbal Sentences · GM-VS-04</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Repair:</a:t>
            </a:r>
            <a:endParaRPr lang="en-US" sz="1200" dirty="0"/>
          </a:p>
        </p:txBody>
      </p:sp>
      <p:sp>
        <p:nvSpPr>
          <p:cNvPr id="21" name="Text 18"/>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كَتَبُوا الطُّلَّابُ الْإِجَابَاتِ.</a:t>
            </a:r>
            <a:endParaRPr lang="ar-SA" sz="1500" dirty="0"/>
          </a:p>
        </p:txBody>
      </p:sp>
      <p:sp>
        <p:nvSpPr>
          <p:cNvPr id="22" name="Shape 19"/>
          <p:cNvSpPr/>
          <p:nvPr/>
        </p:nvSpPr>
        <p:spPr>
          <a:xfrm>
            <a:off x="640080" y="25328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4" name="Text 21"/>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الطُّلَّابُ كَتَبَ الْإِجَابَاتِ.</a:t>
            </a:r>
            <a:endParaRPr lang="ar-SA" sz="2050" dirty="0"/>
          </a:p>
        </p:txBody>
      </p:sp>
      <p:sp>
        <p:nvSpPr>
          <p:cNvPr id="25" name="Shape 22"/>
          <p:cNvSpPr/>
          <p:nvPr/>
        </p:nvSpPr>
        <p:spPr>
          <a:xfrm>
            <a:off x="640080" y="29900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7" name="Text 24"/>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كَتَبْنَ الطُّلَّابُ الْإِجَابَاتِ.</a:t>
            </a:r>
            <a:endParaRPr lang="ar-SA" sz="2050" dirty="0"/>
          </a:p>
        </p:txBody>
      </p:sp>
      <p:sp>
        <p:nvSpPr>
          <p:cNvPr id="28" name="Shape 25"/>
          <p:cNvSpPr/>
          <p:nvPr/>
        </p:nvSpPr>
        <p:spPr>
          <a:xfrm>
            <a:off x="640080" y="3447288"/>
            <a:ext cx="256032" cy="256032"/>
          </a:xfrm>
          <a:prstGeom prst="ellipse">
            <a:avLst/>
          </a:prstGeom>
          <a:solidFill>
            <a:srgbClr val="F4F1EA"/>
          </a:solidFill>
          <a:ln w="12700">
            <a:solidFill>
              <a:srgbClr val="F4F1EA"/>
            </a:solidFill>
            <a:prstDash val="solid"/>
          </a:ln>
        </p:spPr>
      </p:sp>
      <p:sp>
        <p:nvSpPr>
          <p:cNvPr id="29" name="Text 26"/>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30" name="Text 27"/>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كَتَبَ الطُّلَّابُ الْإِجَابَاتِ.</a:t>
            </a:r>
            <a:endParaRPr lang="ar-SA" sz="2050" dirty="0"/>
          </a:p>
        </p:txBody>
      </p:sp>
      <p:sp>
        <p:nvSpPr>
          <p:cNvPr id="31" name="Shape 28"/>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6313932" y="1947672"/>
            <a:ext cx="310896" cy="310896"/>
          </a:xfrm>
          <a:prstGeom prst="ellipse">
            <a:avLst/>
          </a:prstGeom>
          <a:solidFill>
            <a:srgbClr val="1B3B6F"/>
          </a:solidFill>
          <a:ln w="12700">
            <a:solidFill>
              <a:srgbClr val="1B3B6F"/>
            </a:solidFill>
            <a:prstDash val="solid"/>
          </a:ln>
        </p:spPr>
      </p:sp>
      <p:sp>
        <p:nvSpPr>
          <p:cNvPr id="33" name="Text 30"/>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4" name="Text 31"/>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Repair:</a:t>
            </a:r>
            <a:endParaRPr lang="en-US" sz="1200" dirty="0"/>
          </a:p>
        </p:txBody>
      </p:sp>
      <p:sp>
        <p:nvSpPr>
          <p:cNvPr id="35" name="Text 32"/>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الطَّالِبَاتُ قَدَّمَتِ الْعَرْضَ.</a:t>
            </a:r>
            <a:endParaRPr lang="ar-SA" sz="1500" dirty="0"/>
          </a:p>
        </p:txBody>
      </p:sp>
      <p:sp>
        <p:nvSpPr>
          <p:cNvPr id="36" name="Shape 33"/>
          <p:cNvSpPr/>
          <p:nvPr/>
        </p:nvSpPr>
        <p:spPr>
          <a:xfrm>
            <a:off x="6368796" y="2532888"/>
            <a:ext cx="256032" cy="256032"/>
          </a:xfrm>
          <a:prstGeom prst="ellipse">
            <a:avLst/>
          </a:prstGeom>
          <a:solidFill>
            <a:srgbClr val="F4F1EA"/>
          </a:solidFill>
          <a:ln w="12700">
            <a:solidFill>
              <a:srgbClr val="F4F1EA"/>
            </a:solidFill>
            <a:prstDash val="solid"/>
          </a:ln>
        </p:spPr>
      </p:sp>
      <p:sp>
        <p:nvSpPr>
          <p:cNvPr id="37" name="Text 34"/>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قَدَّمْنَ الطَّالِبَاتُ الْعَرْضَ.</a:t>
            </a:r>
            <a:endParaRPr lang="ar-SA" sz="2050" dirty="0"/>
          </a:p>
        </p:txBody>
      </p:sp>
      <p:sp>
        <p:nvSpPr>
          <p:cNvPr id="39" name="Shape 36"/>
          <p:cNvSpPr/>
          <p:nvPr/>
        </p:nvSpPr>
        <p:spPr>
          <a:xfrm>
            <a:off x="6368796" y="2990088"/>
            <a:ext cx="256032" cy="256032"/>
          </a:xfrm>
          <a:prstGeom prst="ellipse">
            <a:avLst/>
          </a:prstGeom>
          <a:solidFill>
            <a:srgbClr val="F4F1EA"/>
          </a:solidFill>
          <a:ln w="12700">
            <a:solidFill>
              <a:srgbClr val="F4F1EA"/>
            </a:solidFill>
            <a:prstDash val="solid"/>
          </a:ln>
        </p:spPr>
      </p:sp>
      <p:sp>
        <p:nvSpPr>
          <p:cNvPr id="40" name="Text 37"/>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8"/>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الطَّالِبَاتُ قَدَّمْنَ الْعَرْضَ.</a:t>
            </a:r>
            <a:endParaRPr lang="ar-SA" sz="2050" dirty="0"/>
          </a:p>
        </p:txBody>
      </p:sp>
      <p:sp>
        <p:nvSpPr>
          <p:cNvPr id="42" name="Shape 39"/>
          <p:cNvSpPr/>
          <p:nvPr/>
        </p:nvSpPr>
        <p:spPr>
          <a:xfrm>
            <a:off x="6368796" y="3447288"/>
            <a:ext cx="256032" cy="256032"/>
          </a:xfrm>
          <a:prstGeom prst="ellipse">
            <a:avLst/>
          </a:prstGeom>
          <a:solidFill>
            <a:srgbClr val="F4F1EA"/>
          </a:solidFill>
          <a:ln w="12700">
            <a:solidFill>
              <a:srgbClr val="F4F1EA"/>
            </a:solidFill>
            <a:prstDash val="solid"/>
          </a:ln>
        </p:spPr>
      </p:sp>
      <p:sp>
        <p:nvSpPr>
          <p:cNvPr id="43" name="Text 40"/>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4" name="Text 41"/>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الطَّالِبَاتُ قَدَّمُوا الْعَرْضَ.</a:t>
            </a:r>
            <a:endParaRPr lang="ar-SA" sz="2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Repair the pronoun:</a:t>
            </a:r>
            <a:endParaRPr lang="en-US" sz="1200" dirty="0"/>
          </a:p>
        </p:txBody>
      </p:sp>
      <p:sp>
        <p:nvSpPr>
          <p:cNvPr id="49" name="Text 46"/>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قَرَأَتْ مَرْيَمُ الرِّسَالَةَ ثُمَّ أَرْسَلَهُ.</a:t>
            </a:r>
            <a:endParaRPr lang="ar-SA" sz="1500" dirty="0"/>
          </a:p>
        </p:txBody>
      </p:sp>
      <p:sp>
        <p:nvSpPr>
          <p:cNvPr id="50" name="Shape 47"/>
          <p:cNvSpPr/>
          <p:nvPr/>
        </p:nvSpPr>
        <p:spPr>
          <a:xfrm>
            <a:off x="640080" y="4873752"/>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2" name="Text 49"/>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قَرَأَ مَرْيَمُ الرِّسَالَةَ ثُمَّ أَرْسَلَهُ.</a:t>
            </a:r>
            <a:endParaRPr lang="ar-SA" sz="2050" dirty="0"/>
          </a:p>
        </p:txBody>
      </p:sp>
      <p:sp>
        <p:nvSpPr>
          <p:cNvPr id="53" name="Shape 50"/>
          <p:cNvSpPr/>
          <p:nvPr/>
        </p:nvSpPr>
        <p:spPr>
          <a:xfrm>
            <a:off x="640080" y="5330952"/>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قَرَأَتْ مَرْيَمُ الرِّسَالَةَ ثُمَّ أَرْسَلَتْهَا.</a:t>
            </a:r>
            <a:endParaRPr lang="ar-SA" sz="2050" dirty="0"/>
          </a:p>
        </p:txBody>
      </p:sp>
      <p:sp>
        <p:nvSpPr>
          <p:cNvPr id="56" name="Shape 53"/>
          <p:cNvSpPr/>
          <p:nvPr/>
        </p:nvSpPr>
        <p:spPr>
          <a:xfrm>
            <a:off x="640080" y="5788152"/>
            <a:ext cx="256032" cy="256032"/>
          </a:xfrm>
          <a:prstGeom prst="ellipse">
            <a:avLst/>
          </a:prstGeom>
          <a:solidFill>
            <a:srgbClr val="F4F1EA"/>
          </a:solidFill>
          <a:ln w="12700">
            <a:solidFill>
              <a:srgbClr val="F4F1EA"/>
            </a:solidFill>
            <a:prstDash val="solid"/>
          </a:ln>
        </p:spPr>
      </p:sp>
      <p:sp>
        <p:nvSpPr>
          <p:cNvPr id="57" name="Text 5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الرِّسَالَةُ قَرَأَتْ مَرْيَمَ.</a:t>
            </a:r>
            <a:endParaRPr lang="ar-SA" sz="2050" dirty="0"/>
          </a:p>
        </p:txBody>
      </p:sp>
      <p:sp>
        <p:nvSpPr>
          <p:cNvPr id="59" name="Shape 56"/>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0" name="Shape 57"/>
          <p:cNvSpPr/>
          <p:nvPr/>
        </p:nvSpPr>
        <p:spPr>
          <a:xfrm>
            <a:off x="6313932" y="4288536"/>
            <a:ext cx="310896" cy="310896"/>
          </a:xfrm>
          <a:prstGeom prst="ellipse">
            <a:avLst/>
          </a:prstGeom>
          <a:solidFill>
            <a:srgbClr val="1B3B6F"/>
          </a:solidFill>
          <a:ln w="12700">
            <a:solidFill>
              <a:srgbClr val="1B3B6F"/>
            </a:solidFill>
            <a:prstDash val="solid"/>
          </a:ln>
        </p:spPr>
      </p:sp>
      <p:sp>
        <p:nvSpPr>
          <p:cNvPr id="61" name="Text 58"/>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2" name="Text 59"/>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addition gives a reason?</a:t>
            </a:r>
            <a:endParaRPr lang="en-US" sz="1250" dirty="0"/>
          </a:p>
        </p:txBody>
      </p:sp>
      <p:sp>
        <p:nvSpPr>
          <p:cNvPr id="63" name="Shape 60"/>
          <p:cNvSpPr/>
          <p:nvPr/>
        </p:nvSpPr>
        <p:spPr>
          <a:xfrm>
            <a:off x="6368796" y="48737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5" name="Text 62"/>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فِي الْمَدْرَسَةِ</a:t>
            </a:r>
            <a:endParaRPr lang="ar-SA" sz="2050" dirty="0"/>
          </a:p>
        </p:txBody>
      </p:sp>
      <p:sp>
        <p:nvSpPr>
          <p:cNvPr id="66" name="Shape 63"/>
          <p:cNvSpPr/>
          <p:nvPr/>
        </p:nvSpPr>
        <p:spPr>
          <a:xfrm>
            <a:off x="6368796" y="53309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8" name="Text 65"/>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بِسُرْعَةٍ</a:t>
            </a:r>
            <a:endParaRPr lang="ar-SA" sz="2050" dirty="0"/>
          </a:p>
        </p:txBody>
      </p:sp>
      <p:sp>
        <p:nvSpPr>
          <p:cNvPr id="69" name="Shape 66"/>
          <p:cNvSpPr/>
          <p:nvPr/>
        </p:nvSpPr>
        <p:spPr>
          <a:xfrm>
            <a:off x="6368796" y="5788152"/>
            <a:ext cx="256032" cy="256032"/>
          </a:xfrm>
          <a:prstGeom prst="ellipse">
            <a:avLst/>
          </a:prstGeom>
          <a:solidFill>
            <a:srgbClr val="F4F1EA"/>
          </a:solidFill>
          <a:ln w="12700">
            <a:solidFill>
              <a:srgbClr val="F4F1EA"/>
            </a:solidFill>
            <a:prstDash val="solid"/>
          </a:ln>
        </p:spPr>
      </p:sp>
      <p:sp>
        <p:nvSpPr>
          <p:cNvPr id="70" name="Text 67"/>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1" name="Text 68"/>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لِأَنَّهُ كَانَ مَرِيضًا</a:t>
            </a:r>
            <a:endParaRPr lang="ar-SA" sz="2050" dirty="0"/>
          </a:p>
        </p:txBody>
      </p:sp>
      <p:sp>
        <p:nvSpPr>
          <p:cNvPr id="72" name="Text 6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35</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GM-VS-04 · Verbal Sentences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Verbal Sentences · GM-VS-04</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Repair:</a:t>
            </a:r>
            <a:endParaRPr lang="en-US" sz="1200" dirty="0"/>
          </a:p>
        </p:txBody>
      </p:sp>
      <p:sp>
        <p:nvSpPr>
          <p:cNvPr id="21" name="Text 18"/>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كَتَبُوا الطُّلَّابُ الْإِجَابَاتِ.</a:t>
            </a:r>
            <a:endParaRPr lang="ar-SA" sz="1500" dirty="0"/>
          </a:p>
        </p:txBody>
      </p:sp>
      <p:sp>
        <p:nvSpPr>
          <p:cNvPr id="22" name="Shape 19"/>
          <p:cNvSpPr/>
          <p:nvPr/>
        </p:nvSpPr>
        <p:spPr>
          <a:xfrm>
            <a:off x="640080" y="2490216"/>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4" name="Text 21"/>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الطُّلَّابُ كَتَبَ الْإِجَابَاتِ.</a:t>
            </a:r>
            <a:endParaRPr lang="ar-SA" sz="1700" dirty="0"/>
          </a:p>
        </p:txBody>
      </p:sp>
      <p:sp>
        <p:nvSpPr>
          <p:cNvPr id="25" name="Shape 22"/>
          <p:cNvSpPr/>
          <p:nvPr/>
        </p:nvSpPr>
        <p:spPr>
          <a:xfrm>
            <a:off x="640080" y="2862072"/>
            <a:ext cx="256032" cy="256032"/>
          </a:xfrm>
          <a:prstGeom prst="ellipse">
            <a:avLst/>
          </a:prstGeom>
          <a:solidFill>
            <a:srgbClr val="C9CED6"/>
          </a:solidFill>
          <a:ln w="12700">
            <a:solidFill>
              <a:srgbClr val="C9CED6"/>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7" name="Text 24"/>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كَتَبْنَ الطُّلَّابُ الْإِجَابَاتِ.</a:t>
            </a:r>
            <a:endParaRPr lang="ar-SA" sz="1700" dirty="0"/>
          </a:p>
        </p:txBody>
      </p:sp>
      <p:sp>
        <p:nvSpPr>
          <p:cNvPr id="28" name="Shape 25"/>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9" name="Shape 26"/>
          <p:cNvSpPr/>
          <p:nvPr/>
        </p:nvSpPr>
        <p:spPr>
          <a:xfrm>
            <a:off x="640080" y="3233928"/>
            <a:ext cx="256032" cy="256032"/>
          </a:xfrm>
          <a:prstGeom prst="ellipse">
            <a:avLst/>
          </a:prstGeom>
          <a:solidFill>
            <a:srgbClr val="2E8B57"/>
          </a:solidFill>
          <a:ln w="12700">
            <a:solidFill>
              <a:srgbClr val="2E8B57"/>
            </a:solidFill>
            <a:prstDash val="solid"/>
          </a:ln>
        </p:spPr>
      </p:sp>
      <p:sp>
        <p:nvSpPr>
          <p:cNvPr id="30" name="Text 27"/>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31" name="Text 28"/>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كَتَبَ الطُّلَّابُ الْإِجَابَاتِ.</a:t>
            </a:r>
            <a:endParaRPr lang="ar-SA" sz="1700" dirty="0"/>
          </a:p>
        </p:txBody>
      </p:sp>
      <p:sp>
        <p:nvSpPr>
          <p:cNvPr id="32" name="Text 29"/>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Verb first → singular kataba.</a:t>
            </a:r>
            <a:endParaRPr lang="en-US" sz="1050" dirty="0"/>
          </a:p>
        </p:txBody>
      </p:sp>
      <p:sp>
        <p:nvSpPr>
          <p:cNvPr id="33" name="Shape 30"/>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6313932" y="1947672"/>
            <a:ext cx="310896" cy="310896"/>
          </a:xfrm>
          <a:prstGeom prst="ellipse">
            <a:avLst/>
          </a:prstGeom>
          <a:solidFill>
            <a:srgbClr val="1B3B6F"/>
          </a:solidFill>
          <a:ln w="12700">
            <a:solidFill>
              <a:srgbClr val="1B3B6F"/>
            </a:solidFill>
            <a:prstDash val="solid"/>
          </a:ln>
        </p:spPr>
      </p:sp>
      <p:sp>
        <p:nvSpPr>
          <p:cNvPr id="35" name="Text 32"/>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6" name="Text 33"/>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Repair:</a:t>
            </a:r>
            <a:endParaRPr lang="en-US" sz="1200" dirty="0"/>
          </a:p>
        </p:txBody>
      </p:sp>
      <p:sp>
        <p:nvSpPr>
          <p:cNvPr id="37" name="Text 34"/>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الطَّالِبَاتُ قَدَّمَتِ الْعَرْضَ.</a:t>
            </a:r>
            <a:endParaRPr lang="ar-SA" sz="1500" dirty="0"/>
          </a:p>
        </p:txBody>
      </p:sp>
      <p:sp>
        <p:nvSpPr>
          <p:cNvPr id="38" name="Shape 35"/>
          <p:cNvSpPr/>
          <p:nvPr/>
        </p:nvSpPr>
        <p:spPr>
          <a:xfrm>
            <a:off x="6368796" y="2490216"/>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0" name="Text 37"/>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قَدَّمْنَ الطَّالِبَاتُ الْعَرْضَ.</a:t>
            </a:r>
            <a:endParaRPr lang="ar-SA" sz="1700" dirty="0"/>
          </a:p>
        </p:txBody>
      </p:sp>
      <p:sp>
        <p:nvSpPr>
          <p:cNvPr id="41" name="Shape 38"/>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2" name="Shape 39"/>
          <p:cNvSpPr/>
          <p:nvPr/>
        </p:nvSpPr>
        <p:spPr>
          <a:xfrm>
            <a:off x="6368796" y="2862072"/>
            <a:ext cx="256032" cy="256032"/>
          </a:xfrm>
          <a:prstGeom prst="ellipse">
            <a:avLst/>
          </a:prstGeom>
          <a:solidFill>
            <a:srgbClr val="2E8B57"/>
          </a:solidFill>
          <a:ln w="12700">
            <a:solidFill>
              <a:srgbClr val="2E8B57"/>
            </a:solidFill>
            <a:prstDash val="solid"/>
          </a:ln>
        </p:spPr>
      </p:sp>
      <p:sp>
        <p:nvSpPr>
          <p:cNvPr id="43" name="Text 40"/>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4" name="Text 41"/>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الطَّالِبَاتُ قَدَّمْنَ الْعَرْضَ.</a:t>
            </a:r>
            <a:endParaRPr lang="ar-SA" sz="1700" dirty="0"/>
          </a:p>
        </p:txBody>
      </p:sp>
      <p:sp>
        <p:nvSpPr>
          <p:cNvPr id="45" name="Shape 42"/>
          <p:cNvSpPr/>
          <p:nvPr/>
        </p:nvSpPr>
        <p:spPr>
          <a:xfrm>
            <a:off x="6368796" y="3233928"/>
            <a:ext cx="256032" cy="256032"/>
          </a:xfrm>
          <a:prstGeom prst="ellipse">
            <a:avLst/>
          </a:prstGeom>
          <a:solidFill>
            <a:srgbClr val="C9CED6"/>
          </a:solidFill>
          <a:ln w="12700">
            <a:solidFill>
              <a:srgbClr val="C9CED6"/>
            </a:solidFill>
            <a:prstDash val="solid"/>
          </a:ln>
        </p:spPr>
      </p:sp>
      <p:sp>
        <p:nvSpPr>
          <p:cNvPr id="46" name="Text 43"/>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7" name="Text 44"/>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الطَّالِبَاتُ قَدَّمُوا الْعَرْضَ.</a:t>
            </a:r>
            <a:endParaRPr lang="ar-SA" sz="1700" dirty="0"/>
          </a:p>
        </p:txBody>
      </p:sp>
      <p:sp>
        <p:nvSpPr>
          <p:cNvPr id="48" name="Text 45"/>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Girls first → qaddamna.</a:t>
            </a:r>
            <a:endParaRPr lang="en-US" sz="1050" dirty="0"/>
          </a:p>
        </p:txBody>
      </p:sp>
      <p:sp>
        <p:nvSpPr>
          <p:cNvPr id="49" name="Shape 46"/>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0" name="Shape 47"/>
          <p:cNvSpPr/>
          <p:nvPr/>
        </p:nvSpPr>
        <p:spPr>
          <a:xfrm>
            <a:off x="585216" y="4288536"/>
            <a:ext cx="310896" cy="310896"/>
          </a:xfrm>
          <a:prstGeom prst="ellipse">
            <a:avLst/>
          </a:prstGeom>
          <a:solidFill>
            <a:srgbClr val="1B3B6F"/>
          </a:solidFill>
          <a:ln w="12700">
            <a:solidFill>
              <a:srgbClr val="1B3B6F"/>
            </a:solidFill>
            <a:prstDash val="solid"/>
          </a:ln>
        </p:spPr>
      </p:sp>
      <p:sp>
        <p:nvSpPr>
          <p:cNvPr id="51" name="Text 48"/>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2" name="Text 49"/>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Repair the pronoun:</a:t>
            </a:r>
            <a:endParaRPr lang="en-US" sz="1200" dirty="0"/>
          </a:p>
        </p:txBody>
      </p:sp>
      <p:sp>
        <p:nvSpPr>
          <p:cNvPr id="53" name="Text 50"/>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قَرَأَتْ مَرْيَمُ الرِّسَالَةَ ثُمَّ أَرْسَلَهُ.</a:t>
            </a:r>
            <a:endParaRPr lang="ar-SA" sz="1500" dirty="0"/>
          </a:p>
        </p:txBody>
      </p:sp>
      <p:sp>
        <p:nvSpPr>
          <p:cNvPr id="54" name="Shape 51"/>
          <p:cNvSpPr/>
          <p:nvPr/>
        </p:nvSpPr>
        <p:spPr>
          <a:xfrm>
            <a:off x="640080" y="4831080"/>
            <a:ext cx="256032" cy="256032"/>
          </a:xfrm>
          <a:prstGeom prst="ellipse">
            <a:avLst/>
          </a:prstGeom>
          <a:solidFill>
            <a:srgbClr val="C9CED6"/>
          </a:solidFill>
          <a:ln w="12700">
            <a:solidFill>
              <a:srgbClr val="C9CED6"/>
            </a:solidFill>
            <a:prstDash val="solid"/>
          </a:ln>
        </p:spPr>
      </p:sp>
      <p:sp>
        <p:nvSpPr>
          <p:cNvPr id="55" name="Text 5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6" name="Text 53"/>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قَرَأَ مَرْيَمُ الرِّسَالَةَ ثُمَّ أَرْسَلَهُ.</a:t>
            </a:r>
            <a:endParaRPr lang="ar-SA" sz="1700" dirty="0"/>
          </a:p>
        </p:txBody>
      </p:sp>
      <p:sp>
        <p:nvSpPr>
          <p:cNvPr id="57" name="Shape 54"/>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8" name="Shape 55"/>
          <p:cNvSpPr/>
          <p:nvPr/>
        </p:nvSpPr>
        <p:spPr>
          <a:xfrm>
            <a:off x="640080" y="5202936"/>
            <a:ext cx="256032" cy="256032"/>
          </a:xfrm>
          <a:prstGeom prst="ellipse">
            <a:avLst/>
          </a:prstGeom>
          <a:solidFill>
            <a:srgbClr val="2E8B57"/>
          </a:solidFill>
          <a:ln w="12700">
            <a:solidFill>
              <a:srgbClr val="2E8B57"/>
            </a:solidFill>
            <a:prstDash val="solid"/>
          </a:ln>
        </p:spPr>
      </p:sp>
      <p:sp>
        <p:nvSpPr>
          <p:cNvPr id="59" name="Text 5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60" name="Text 57"/>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قَرَأَتْ مَرْيَمُ الرِّسَالَةَ ثُمَّ أَرْسَلَتْهَا.</a:t>
            </a:r>
            <a:endParaRPr lang="ar-SA" sz="1700" dirty="0"/>
          </a:p>
        </p:txBody>
      </p:sp>
      <p:sp>
        <p:nvSpPr>
          <p:cNvPr id="61" name="Shape 58"/>
          <p:cNvSpPr/>
          <p:nvPr/>
        </p:nvSpPr>
        <p:spPr>
          <a:xfrm>
            <a:off x="640080" y="5574792"/>
            <a:ext cx="256032" cy="256032"/>
          </a:xfrm>
          <a:prstGeom prst="ellipse">
            <a:avLst/>
          </a:prstGeom>
          <a:solidFill>
            <a:srgbClr val="C9CED6"/>
          </a:solidFill>
          <a:ln w="12700">
            <a:solidFill>
              <a:srgbClr val="C9CED6"/>
            </a:solidFill>
            <a:prstDash val="solid"/>
          </a:ln>
        </p:spPr>
      </p:sp>
      <p:sp>
        <p:nvSpPr>
          <p:cNvPr id="62" name="Text 5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3" name="Text 60"/>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الرِّسَالَةُ قَرَأَتْ مَرْيَمَ.</a:t>
            </a:r>
            <a:endParaRPr lang="ar-SA" sz="1700" dirty="0"/>
          </a:p>
        </p:txBody>
      </p:sp>
      <p:sp>
        <p:nvSpPr>
          <p:cNvPr id="64" name="Text 61"/>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Maryam sent it (the letter): arsalathā.</a:t>
            </a:r>
            <a:endParaRPr lang="en-US" sz="1050" dirty="0"/>
          </a:p>
        </p:txBody>
      </p:sp>
      <p:sp>
        <p:nvSpPr>
          <p:cNvPr id="65" name="Shape 62"/>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6" name="Shape 63"/>
          <p:cNvSpPr/>
          <p:nvPr/>
        </p:nvSpPr>
        <p:spPr>
          <a:xfrm>
            <a:off x="6313932" y="4288536"/>
            <a:ext cx="310896" cy="310896"/>
          </a:xfrm>
          <a:prstGeom prst="ellipse">
            <a:avLst/>
          </a:prstGeom>
          <a:solidFill>
            <a:srgbClr val="1B3B6F"/>
          </a:solidFill>
          <a:ln w="12700">
            <a:solidFill>
              <a:srgbClr val="1B3B6F"/>
            </a:solidFill>
            <a:prstDash val="solid"/>
          </a:ln>
        </p:spPr>
      </p:sp>
      <p:sp>
        <p:nvSpPr>
          <p:cNvPr id="67" name="Text 64"/>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8" name="Text 65"/>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addition gives a reason?</a:t>
            </a:r>
            <a:endParaRPr lang="en-US" sz="1250" dirty="0"/>
          </a:p>
        </p:txBody>
      </p:sp>
      <p:sp>
        <p:nvSpPr>
          <p:cNvPr id="69" name="Shape 66"/>
          <p:cNvSpPr/>
          <p:nvPr/>
        </p:nvSpPr>
        <p:spPr>
          <a:xfrm>
            <a:off x="6368796" y="4831080"/>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1" name="Text 68"/>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فِي الْمَدْرَسَةِ</a:t>
            </a:r>
            <a:endParaRPr lang="ar-SA" sz="1700" dirty="0"/>
          </a:p>
        </p:txBody>
      </p:sp>
      <p:sp>
        <p:nvSpPr>
          <p:cNvPr id="72" name="Shape 69"/>
          <p:cNvSpPr/>
          <p:nvPr/>
        </p:nvSpPr>
        <p:spPr>
          <a:xfrm>
            <a:off x="6368796" y="5202936"/>
            <a:ext cx="256032" cy="256032"/>
          </a:xfrm>
          <a:prstGeom prst="ellipse">
            <a:avLst/>
          </a:prstGeom>
          <a:solidFill>
            <a:srgbClr val="C9CED6"/>
          </a:solidFill>
          <a:ln w="12700">
            <a:solidFill>
              <a:srgbClr val="C9CED6"/>
            </a:solidFill>
            <a:prstDash val="solid"/>
          </a:ln>
        </p:spPr>
      </p:sp>
      <p:sp>
        <p:nvSpPr>
          <p:cNvPr id="73" name="Text 70"/>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4" name="Text 71"/>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بِسُرْعَةٍ</a:t>
            </a:r>
            <a:endParaRPr lang="ar-SA" sz="1700" dirty="0"/>
          </a:p>
        </p:txBody>
      </p:sp>
      <p:sp>
        <p:nvSpPr>
          <p:cNvPr id="75" name="Shape 72"/>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6" name="Shape 73"/>
          <p:cNvSpPr/>
          <p:nvPr/>
        </p:nvSpPr>
        <p:spPr>
          <a:xfrm>
            <a:off x="6368796" y="5574792"/>
            <a:ext cx="256032" cy="256032"/>
          </a:xfrm>
          <a:prstGeom prst="ellipse">
            <a:avLst/>
          </a:prstGeom>
          <a:solidFill>
            <a:srgbClr val="2E8B57"/>
          </a:solidFill>
          <a:ln w="12700">
            <a:solidFill>
              <a:srgbClr val="2E8B57"/>
            </a:solidFill>
            <a:prstDash val="solid"/>
          </a:ln>
        </p:spPr>
      </p:sp>
      <p:sp>
        <p:nvSpPr>
          <p:cNvPr id="77" name="Text 74"/>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8" name="Text 75"/>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لِأَنَّهُ كَانَ مَرِيضًا</a:t>
            </a:r>
            <a:endParaRPr lang="ar-SA" sz="1700" dirty="0"/>
          </a:p>
        </p:txBody>
      </p:sp>
      <p:sp>
        <p:nvSpPr>
          <p:cNvPr id="79" name="Text 76"/>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Li-anna introduces a reason.</a:t>
            </a:r>
            <a:endParaRPr lang="en-US" sz="1050" dirty="0"/>
          </a:p>
        </p:txBody>
      </p:sp>
      <p:sp>
        <p:nvSpPr>
          <p:cNvPr id="80" name="Text 7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35</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GM-VS-04 · Verbal Sentences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66" b="1" spc="150" kern="0" dirty="0">
                <a:solidFill>
                  <a:srgbClr val="1E6B52"/>
                </a:solidFill>
                <a:latin typeface="Calibri" pitchFamily="34" charset="0"/>
                <a:cs typeface="Amiri" pitchFamily="2" charset="-78"/>
              </a:rPr>
              <a:t>YOU DO · READ AND NOTICE · WEBSITE READING AUDIT (TEACHER-WRITTEN REPORT)</a:t>
            </a:r>
            <a:endParaRPr lang="en-US" sz="966"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The charity sale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اِقْرَأْ وَلَاحِظْ</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Verbal Sentences · GM-VS-04</a:t>
            </a:r>
            <a:endParaRPr lang="en-US" sz="850" dirty="0"/>
          </a:p>
        </p:txBody>
      </p:sp>
      <p:sp>
        <p:nvSpPr>
          <p:cNvPr id="15" name="Shape 12"/>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600" dirty="0">
                <a:solidFill>
                  <a:srgbClr val="1F2A37"/>
                </a:solidFill>
                <a:latin typeface="Amiri" pitchFamily="2" charset="-78"/>
                <a:ea typeface="Amiri" pitchFamily="2" charset="-78"/>
                <a:cs typeface="Amiri" pitchFamily="2" charset="-78"/>
              </a:rPr>
              <a:t>فِي يَوْمِ الْأَحَدِ نَظَّمَ مَجْلِسُ الطُّلَّابِ سُوقًا خَيْرِيًّا. وَصَلَ الطُّلَّابُ مُبَكِّرًا، وَرَتَّبُوا الطَّاوِلَاتِ فِي السَّاحَةِ. الطَّالِبَاتُ صَنَعْنَ الْحَلْوَى فِي الْبَيْتِ، ثُمَّ بِعْنَهَا بِسُرْعَةٍ. أَمَّا الْأَوْلَادُ فَبَاعُوا الْكُتُبَ الْقَدِيمَةَ. لَمْ يَحْضُرِ الْمُدِيرُ فِي الصَّبَاحِ لِأَنَّهُ كَانَ فِي اجْتِمَاعٍ، وَلَكِنَّهُ زَارَ السُّوقَ بَعْدَ الظُّهْرِ وَاشْتَرَى كَعْكَةً. جَمَعَ الْمَجْلِسُ تَبَرُّعَاتٍ كَثِيرَةً، وَسَيُرْسِلُهَا إِلَى مُسْتَشْفَى الْأَطْفَالِ.</a:t>
            </a:r>
            <a:endParaRPr lang="ar-SA" sz="2600" dirty="0"/>
          </a:p>
        </p:txBody>
      </p:sp>
      <p:sp>
        <p:nvSpPr>
          <p:cNvPr id="17" name="Shape 14"/>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KEY WORDS</a:t>
            </a:r>
            <a:endParaRPr lang="en-US" sz="1000" dirty="0"/>
          </a:p>
        </p:txBody>
      </p:sp>
      <p:sp>
        <p:nvSpPr>
          <p:cNvPr id="19" name="Text 16"/>
          <p:cNvSpPr txBox="1"/>
          <p:nvPr/>
        </p:nvSpPr>
        <p:spPr>
          <a:xfrm>
            <a:off x="10102291" y="221284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نَظَّمَ</a:t>
            </a:r>
            <a:endParaRPr lang="ar-SA" sz="1600" dirty="0"/>
          </a:p>
        </p:txBody>
      </p:sp>
      <p:sp>
        <p:nvSpPr>
          <p:cNvPr id="20" name="Text 17"/>
          <p:cNvSpPr txBox="1"/>
          <p:nvPr/>
        </p:nvSpPr>
        <p:spPr>
          <a:xfrm>
            <a:off x="8851392" y="221284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organised</a:t>
            </a:r>
            <a:endParaRPr lang="en-US" sz="1050" dirty="0"/>
          </a:p>
        </p:txBody>
      </p:sp>
      <p:sp>
        <p:nvSpPr>
          <p:cNvPr id="21" name="Text 18"/>
          <p:cNvSpPr txBox="1"/>
          <p:nvPr/>
        </p:nvSpPr>
        <p:spPr>
          <a:xfrm>
            <a:off x="10102291" y="271576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سُوقًا خَيْرِيًّا</a:t>
            </a:r>
            <a:endParaRPr lang="ar-SA" sz="1600" dirty="0"/>
          </a:p>
        </p:txBody>
      </p:sp>
      <p:sp>
        <p:nvSpPr>
          <p:cNvPr id="22" name="Text 19"/>
          <p:cNvSpPr txBox="1"/>
          <p:nvPr/>
        </p:nvSpPr>
        <p:spPr>
          <a:xfrm>
            <a:off x="8851392" y="271576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a charity sale</a:t>
            </a:r>
            <a:endParaRPr lang="en-US" sz="1050" dirty="0"/>
          </a:p>
        </p:txBody>
      </p:sp>
      <p:sp>
        <p:nvSpPr>
          <p:cNvPr id="23" name="Text 20"/>
          <p:cNvSpPr txBox="1"/>
          <p:nvPr/>
        </p:nvSpPr>
        <p:spPr>
          <a:xfrm>
            <a:off x="10102291" y="321868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رَتَّبُوا</a:t>
            </a:r>
            <a:endParaRPr lang="ar-SA" sz="1600" dirty="0"/>
          </a:p>
        </p:txBody>
      </p:sp>
      <p:sp>
        <p:nvSpPr>
          <p:cNvPr id="24" name="Text 21"/>
          <p:cNvSpPr txBox="1"/>
          <p:nvPr/>
        </p:nvSpPr>
        <p:spPr>
          <a:xfrm>
            <a:off x="8851392" y="321868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they arranged</a:t>
            </a:r>
            <a:endParaRPr lang="en-US" sz="1050" dirty="0"/>
          </a:p>
        </p:txBody>
      </p:sp>
      <p:sp>
        <p:nvSpPr>
          <p:cNvPr id="25" name="Text 22"/>
          <p:cNvSpPr txBox="1"/>
          <p:nvPr/>
        </p:nvSpPr>
        <p:spPr>
          <a:xfrm>
            <a:off x="10102291" y="372160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صَنَعْنَ</a:t>
            </a:r>
            <a:endParaRPr lang="ar-SA" sz="1600" dirty="0"/>
          </a:p>
        </p:txBody>
      </p:sp>
      <p:sp>
        <p:nvSpPr>
          <p:cNvPr id="26" name="Text 23"/>
          <p:cNvSpPr txBox="1"/>
          <p:nvPr/>
        </p:nvSpPr>
        <p:spPr>
          <a:xfrm>
            <a:off x="8851392" y="372160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they (f.) made</a:t>
            </a:r>
            <a:endParaRPr lang="en-US" sz="1050" dirty="0"/>
          </a:p>
        </p:txBody>
      </p:sp>
      <p:sp>
        <p:nvSpPr>
          <p:cNvPr id="27" name="Text 24"/>
          <p:cNvSpPr txBox="1"/>
          <p:nvPr/>
        </p:nvSpPr>
        <p:spPr>
          <a:xfrm>
            <a:off x="10102291" y="422452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تَبَرُّعَاتٍ</a:t>
            </a:r>
            <a:endParaRPr lang="ar-SA" sz="1600" dirty="0"/>
          </a:p>
        </p:txBody>
      </p:sp>
      <p:sp>
        <p:nvSpPr>
          <p:cNvPr id="28" name="Text 25"/>
          <p:cNvSpPr txBox="1"/>
          <p:nvPr/>
        </p:nvSpPr>
        <p:spPr>
          <a:xfrm>
            <a:off x="8851392" y="422452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donations</a:t>
            </a:r>
            <a:endParaRPr lang="en-US" sz="1050" dirty="0"/>
          </a:p>
        </p:txBody>
      </p:sp>
      <p:sp>
        <p:nvSpPr>
          <p:cNvPr id="29" name="Text 2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35</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GM-VS-04 · Verbal Sentences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READING QUESTIONS · FIND THE GRAMMAR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notice the grammar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أَسْئِلَةُ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Verbal Sentences · GM-VS-04</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did the girls make?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tables</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sweets</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old books</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is rattabū plural after waṣala ṭ-ṭullābu?</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is a mistake</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tables are plural</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its subject is inside the verb</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-hā in sa-yursiluhā refer to?</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donations</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hospital</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cake</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did the head teacher not come in the morning?</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he was ill</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he was in a meeting</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he was selling books</a:t>
            </a:r>
            <a:endParaRPr lang="en-US" sz="1250" dirty="0"/>
          </a:p>
        </p:txBody>
      </p:sp>
      <p:sp>
        <p:nvSpPr>
          <p:cNvPr id="67" name="Shape 64"/>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68" name="Text 65"/>
          <p:cNvSpPr txBox="1"/>
          <p:nvPr/>
        </p:nvSpPr>
        <p:spPr>
          <a:xfrm>
            <a:off x="4459224"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GRAMMAR DETECTIVE</a:t>
            </a:r>
            <a:endParaRPr lang="en-US" sz="1000" dirty="0"/>
          </a:p>
        </p:txBody>
      </p:sp>
      <p:sp>
        <p:nvSpPr>
          <p:cNvPr id="69" name="Text 66"/>
          <p:cNvSpPr txBox="1"/>
          <p:nvPr/>
        </p:nvSpPr>
        <p:spPr>
          <a:xfrm>
            <a:off x="4459224"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the phrase in the text.</a:t>
            </a:r>
            <a:endParaRPr lang="en-US" sz="1250" dirty="0"/>
          </a:p>
          <a:p>
            <a:pPr algn="l" indent="0" marL="0">
              <a:buNone/>
            </a:pPr>
            <a:r>
              <a:rPr lang="en-US" sz="1250" dirty="0">
                <a:solidFill>
                  <a:srgbClr val="1F2A37"/>
                </a:solidFill>
                <a:latin typeface="Calibri" pitchFamily="34" charset="0"/>
                <a:cs typeface="Amiri" pitchFamily="2" charset="-78"/>
              </a:rPr>
              <a:t>3. Name the rule that explains it.</a:t>
            </a:r>
            <a:endParaRPr lang="en-US" sz="12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24 / 35</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GM-VS-04 · Verbal Sentences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READING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Verbal Sentences · GM-VS-04</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did the girls make?</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tables</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sweets</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old books</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Aṭ-ṭālibātu ṣanaʿna l-ḥalwā.</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is rattabū plural after waṣala ṭ-ṭullābu?</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is a mistake</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tables are plural</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its subject is inside the verb</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second verb carries its own plural subject (website clinic).</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-hā in sa-yursiluhā refer to?</a:t>
            </a:r>
            <a:endParaRPr lang="en-US" sz="1250" dirty="0"/>
          </a:p>
        </p:txBody>
      </p:sp>
      <p:sp>
        <p:nvSpPr>
          <p:cNvPr id="49" name="Shape 46"/>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490216"/>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the donations</a:t>
            </a:r>
            <a:endParaRPr lang="en-US" sz="1250" dirty="0"/>
          </a:p>
        </p:txBody>
      </p:sp>
      <p:sp>
        <p:nvSpPr>
          <p:cNvPr id="53" name="Shape 50"/>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hospital</a:t>
            </a:r>
            <a:endParaRPr lang="en-US" sz="1250" dirty="0"/>
          </a:p>
        </p:txBody>
      </p:sp>
      <p:sp>
        <p:nvSpPr>
          <p:cNvPr id="56" name="Shape 53"/>
          <p:cNvSpPr/>
          <p:nvPr/>
        </p:nvSpPr>
        <p:spPr>
          <a:xfrm>
            <a:off x="8278368"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cake</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Tabarruʿāt: non-human plural → -hā.</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did the head teacher not come in the morning?</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he was ill</a:t>
            </a:r>
            <a:endParaRPr lang="en-US" sz="1250" dirty="0"/>
          </a:p>
        </p:txBody>
      </p:sp>
      <p:sp>
        <p:nvSpPr>
          <p:cNvPr id="67" name="Shape 64"/>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68" name="Shape 65"/>
          <p:cNvSpPr/>
          <p:nvPr/>
        </p:nvSpPr>
        <p:spPr>
          <a:xfrm>
            <a:off x="640080" y="5202936"/>
            <a:ext cx="256032" cy="256032"/>
          </a:xfrm>
          <a:prstGeom prst="ellipse">
            <a:avLst/>
          </a:prstGeom>
          <a:solidFill>
            <a:srgbClr val="2E8B57"/>
          </a:solidFill>
          <a:ln w="12700">
            <a:solidFill>
              <a:srgbClr val="2E8B57"/>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he was in a meeting</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he was selling books</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Li-annahu kāna fī jtimāʿ.</a:t>
            </a:r>
            <a:endParaRPr lang="en-US" sz="1050" dirty="0"/>
          </a:p>
        </p:txBody>
      </p:sp>
      <p:sp>
        <p:nvSpPr>
          <p:cNvPr id="75" name="Shape 72"/>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6" name="Text 73"/>
          <p:cNvSpPr txBox="1"/>
          <p:nvPr/>
        </p:nvSpPr>
        <p:spPr>
          <a:xfrm>
            <a:off x="4459224"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GRAMMAR DETECTIVE</a:t>
            </a:r>
            <a:endParaRPr lang="en-US" sz="1000" dirty="0"/>
          </a:p>
        </p:txBody>
      </p:sp>
      <p:sp>
        <p:nvSpPr>
          <p:cNvPr id="77" name="Text 74"/>
          <p:cNvSpPr txBox="1"/>
          <p:nvPr/>
        </p:nvSpPr>
        <p:spPr>
          <a:xfrm>
            <a:off x="4459224"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the phrase in the text.</a:t>
            </a:r>
            <a:endParaRPr lang="en-US" sz="1250" dirty="0"/>
          </a:p>
          <a:p>
            <a:pPr algn="l" indent="0" marL="0">
              <a:buNone/>
            </a:pPr>
            <a:r>
              <a:rPr lang="en-US" sz="1250" dirty="0">
                <a:solidFill>
                  <a:srgbClr val="1F2A37"/>
                </a:solidFill>
                <a:latin typeface="Calibri" pitchFamily="34" charset="0"/>
                <a:cs typeface="Amiri" pitchFamily="2" charset="-78"/>
              </a:rPr>
              <a:t>3. Name the rule that explains it.</a:t>
            </a:r>
            <a:endParaRPr lang="en-US" sz="1250" dirty="0"/>
          </a:p>
        </p:txBody>
      </p:sp>
      <p:sp>
        <p:nvSpPr>
          <p:cNvPr id="78" name="Text 7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25 / 35</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GM-VS-04 · Verbal Sentences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Speaking: tell it twice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Verbal Sentences · GM-VS-04</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Think</a:t>
            </a:r>
            <a:endParaRPr lang="en-US" sz="1050" dirty="0"/>
          </a:p>
          <a:p>
            <a:pPr indent="0" marL="0">
              <a:buNone/>
            </a:pPr>
            <a:r>
              <a:rPr lang="en-US" sz="950" dirty="0">
                <a:solidFill>
                  <a:srgbClr val="5A6472"/>
                </a:solidFill>
                <a:latin typeface="Calibri" pitchFamily="34" charset="0"/>
                <a:cs typeface="Amiri" pitchFamily="2" charset="-78"/>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Rehearse</a:t>
            </a:r>
            <a:endParaRPr lang="en-US" sz="1050" dirty="0"/>
          </a:p>
          <a:p>
            <a:pPr indent="0" marL="0">
              <a:buNone/>
            </a:pPr>
            <a:r>
              <a:rPr lang="en-US" sz="950" dirty="0">
                <a:solidFill>
                  <a:srgbClr val="5A6472"/>
                </a:solidFill>
                <a:latin typeface="Calibri" pitchFamily="34" charset="0"/>
                <a:cs typeface="Amiri" pitchFamily="2" charset="-78"/>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Pairs share</a:t>
            </a:r>
            <a:endParaRPr lang="en-US" sz="1050" dirty="0"/>
          </a:p>
          <a:p>
            <a:pPr indent="0" marL="0">
              <a:buNone/>
            </a:pPr>
            <a:r>
              <a:rPr lang="en-US" sz="950" dirty="0">
                <a:solidFill>
                  <a:srgbClr val="5A6472"/>
                </a:solidFill>
                <a:latin typeface="Calibri" pitchFamily="34" charset="0"/>
                <a:cs typeface="Amiri" pitchFamily="2" charset="-78"/>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Build / ask</a:t>
            </a:r>
            <a:endParaRPr lang="en-US" sz="1050" dirty="0"/>
          </a:p>
          <a:p>
            <a:pPr indent="0" marL="0">
              <a:buNone/>
            </a:pPr>
            <a:r>
              <a:rPr lang="en-US" sz="950" dirty="0">
                <a:solidFill>
                  <a:srgbClr val="5A6472"/>
                </a:solidFill>
                <a:latin typeface="Calibri" pitchFamily="34" charset="0"/>
                <a:cs typeface="Amiri" pitchFamily="2" charset="-78"/>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Summarise</a:t>
            </a:r>
            <a:endParaRPr lang="en-US" sz="1050" dirty="0"/>
          </a:p>
          <a:p>
            <a:pPr indent="0" marL="0">
              <a:buNone/>
            </a:pPr>
            <a:r>
              <a:rPr lang="en-US" sz="950" dirty="0">
                <a:solidFill>
                  <a:srgbClr val="5A6472"/>
                </a:solidFill>
                <a:latin typeface="Calibri" pitchFamily="34" charset="0"/>
                <a:cs typeface="Amiri" pitchFamily="2" charset="-78"/>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مَاذَا فَعَلَ صَفُّكَ أَمْسِ؟</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قُلِ الْخَبَرَ مَرَّتَيْنِ: الْفِعْلُ أَوَّلًا، ثُمَّ الْفَاعِلُ أَوَّلًا.</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B83227"/>
          </a:solidFill>
          <a:ln w="12700">
            <a:solidFill>
              <a:srgbClr val="B83227"/>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مَاذَا حَدَثَ، وَمَاذَا لَمْ يَحْدُثْ، وَمَاذَا سَيَحْدُثُ؟</a:t>
            </a:r>
            <a:endParaRPr lang="ar-SA" sz="1800" dirty="0"/>
          </a:p>
        </p:txBody>
      </p:sp>
      <p:sp>
        <p:nvSpPr>
          <p:cNvPr id="42" name="Shape 39"/>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SENTENCE STEMS</a:t>
            </a:r>
            <a:endParaRPr lang="en-US" sz="1000" dirty="0"/>
          </a:p>
        </p:txBody>
      </p:sp>
      <p:sp>
        <p:nvSpPr>
          <p:cNvPr id="44" name="Shape 41"/>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6" name="Text 43"/>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2" charset="-78"/>
                <a:ea typeface="Amiri" pitchFamily="2" charset="-78"/>
                <a:cs typeface="Amiri" pitchFamily="2" charset="-78"/>
              </a:rPr>
              <a:t>زَارَ صَفُّنَا ___ ، وَشَاهَدْنَا ___ .</a:t>
            </a:r>
            <a:endParaRPr lang="ar-SA" sz="1600" dirty="0"/>
          </a:p>
        </p:txBody>
      </p:sp>
      <p:sp>
        <p:nvSpPr>
          <p:cNvPr id="47" name="Shape 44"/>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48" name="Text 45"/>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49" name="Text 46"/>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350" b="1" dirty="0">
                <a:solidFill>
                  <a:srgbClr val="1F2A37"/>
                </a:solidFill>
                <a:latin typeface="Amiri" pitchFamily="2" charset="-78"/>
                <a:ea typeface="Amiri" pitchFamily="2" charset="-78"/>
                <a:cs typeface="Amiri" pitchFamily="2" charset="-78"/>
              </a:rPr>
              <a:t>لَعِبَ الْأَوْلَادُ ___ . ‖ الْأَوْلَادُ لَعِبُوا ___ .</a:t>
            </a:r>
            <a:endParaRPr lang="ar-SA" sz="1350" dirty="0"/>
          </a:p>
        </p:txBody>
      </p:sp>
      <p:sp>
        <p:nvSpPr>
          <p:cNvPr id="50" name="Shape 47"/>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1" name="Text 48"/>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52" name="Text 49"/>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ea typeface="Amiri" pitchFamily="2" charset="-78"/>
                <a:cs typeface="Amiri" pitchFamily="2" charset="-78"/>
              </a:rPr>
              <a:t>لَمْ ___ ، وَلَكِنَّنَا سَوْفَ ___ .</a:t>
            </a:r>
            <a:endParaRPr lang="ar-SA" sz="1600" dirty="0"/>
          </a:p>
        </p:txBody>
      </p:sp>
      <p:sp>
        <p:nvSpPr>
          <p:cNvPr id="53" name="Shape 50"/>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54" name="Text 51"/>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cs typeface="Amiri" pitchFamily="2" charset="-78"/>
              </a:rPr>
              <a:t>MODEL (WEBSITE)</a:t>
            </a:r>
            <a:endParaRPr lang="en-US" sz="950" dirty="0"/>
          </a:p>
        </p:txBody>
      </p:sp>
      <p:sp>
        <p:nvSpPr>
          <p:cNvPr id="55" name="Shape 52"/>
          <p:cNvSpPr/>
          <p:nvPr/>
        </p:nvSpPr>
        <p:spPr>
          <a:xfrm>
            <a:off x="11274552" y="5559552"/>
            <a:ext cx="292608" cy="292608"/>
          </a:xfrm>
          <a:prstGeom prst="ellipse">
            <a:avLst/>
          </a:prstGeom>
          <a:solidFill>
            <a:srgbClr val="1E6B52"/>
          </a:solidFill>
          <a:ln w="12700">
            <a:solidFill>
              <a:srgbClr val="1E6B52"/>
            </a:solidFill>
            <a:prstDash val="solid"/>
          </a:ln>
        </p:spPr>
      </p:sp>
      <p:sp>
        <p:nvSpPr>
          <p:cNvPr id="56" name="Text 53"/>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57" name="Text 54"/>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كَيْفَ كَانَتِ الرِّحْلَةُ؟</a:t>
            </a:r>
            <a:endParaRPr lang="ar-SA" sz="1550" dirty="0"/>
          </a:p>
        </p:txBody>
      </p:sp>
      <p:sp>
        <p:nvSpPr>
          <p:cNvPr id="58" name="Text 55"/>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How was the trip?</a:t>
            </a:r>
            <a:endParaRPr lang="en-US" sz="950" dirty="0"/>
          </a:p>
        </p:txBody>
      </p:sp>
      <p:sp>
        <p:nvSpPr>
          <p:cNvPr id="59" name="Shape 56"/>
          <p:cNvSpPr/>
          <p:nvPr/>
        </p:nvSpPr>
        <p:spPr>
          <a:xfrm>
            <a:off x="11274552" y="5925312"/>
            <a:ext cx="292608" cy="292608"/>
          </a:xfrm>
          <a:prstGeom prst="ellipse">
            <a:avLst/>
          </a:prstGeom>
          <a:solidFill>
            <a:srgbClr val="1E6B52"/>
          </a:solidFill>
          <a:ln w="12700">
            <a:solidFill>
              <a:srgbClr val="1E6B52"/>
            </a:solidFill>
            <a:prstDash val="solid"/>
          </a:ln>
        </p:spPr>
      </p:sp>
      <p:sp>
        <p:nvSpPr>
          <p:cNvPr id="60" name="Text 57"/>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61" name="Text 58"/>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450" dirty="0">
                <a:solidFill>
                  <a:srgbClr val="1F2A37"/>
                </a:solidFill>
                <a:latin typeface="Amiri" pitchFamily="2" charset="-78"/>
                <a:ea typeface="Amiri" pitchFamily="2" charset="-78"/>
                <a:cs typeface="Amiri" pitchFamily="2" charset="-78"/>
              </a:rPr>
              <a:t>رَائِعَةً! زَارَ الطُّلَّابُ الْقَلْعَةَ، وَالْبَنَاتُ رَسَمْنَ صُوَرًا جَمِيلَةً. لَمْ نَزُرِ الْمَتْحَفَ لِأَنَّهُ كَانَ مُغْلَقًا، وَلَكِنَّنَا سَنَزُورُهُ فِي الشَّهْرِ الْقَادِمِ.</a:t>
            </a:r>
            <a:endParaRPr lang="ar-SA" sz="1450" dirty="0"/>
          </a:p>
        </p:txBody>
      </p:sp>
      <p:sp>
        <p:nvSpPr>
          <p:cNvPr id="62" name="Text 59"/>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750" i="1" dirty="0">
                <a:solidFill>
                  <a:srgbClr val="5A6472"/>
                </a:solidFill>
                <a:latin typeface="Calibri" pitchFamily="34" charset="0"/>
                <a:cs typeface="Amiri" pitchFamily="2" charset="-78"/>
              </a:rPr>
              <a:t>Wonderful! The students visited the castle, and the girls drew lovely pictures. We didn’t visit the museum because it was closed, but we will visit it next month.</a:t>
            </a:r>
            <a:endParaRPr lang="en-US" sz="7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26 / 35</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GM-VS-04 · Verbal Sentences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Verbal Sentences · GM-VS-04</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2" charset="-78"/>
                <a:ea typeface="Amiri" pitchFamily="2" charset="-78"/>
                <a:cs typeface="Amiri" pitchFamily="2" charset="-78"/>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cs typeface="Amiri" pitchFamily="2" charset="-78"/>
              </a:rPr>
              <a:t>6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A school event: four verb-first and two subject-first sentences.</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waṣala ṭ-ṭullābu · aṭ-ṭālibātu jahhazna.</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2" charset="-78"/>
                <a:ea typeface="Amiri" pitchFamily="2" charset="-78"/>
                <a:cs typeface="Amiri" pitchFamily="2" charset="-78"/>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cs typeface="Amiri" pitchFamily="2" charset="-78"/>
              </a:rPr>
              <a:t>9 sentences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Add a question, two negatives and the future.</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hal · lam yaḥḍur · lan yazūra.</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cs typeface="Amiri" pitchFamily="2" charset="-78"/>
              </a:rPr>
              <a:t>120–140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Website final performance with the full checklist.</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Finish with the four-pass edit.</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27 / 35</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GM-VS-04 · Verbal Sentences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Verbal Sentences · GM-VS-04</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هَلْ زَارَ ______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Did … visit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لَمْ يَحْضُرِ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 … did not attend</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عَلِيٌّ ______ ، أَمَّا أَخُوهُ فَقَدْ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Ali …; as for his brother, he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550" b="1" dirty="0">
                <a:solidFill>
                  <a:srgbClr val="1B3B6F"/>
                </a:solidFill>
                <a:latin typeface="Amiri" pitchFamily="2" charset="-78"/>
                <a:ea typeface="Amiri" pitchFamily="2" charset="-78"/>
                <a:cs typeface="Amiri" pitchFamily="2" charset="-78"/>
              </a:rPr>
              <a:t>فِي الْأُسْبُوعِ الْقَادِمِ لَنْ ______ الطُّلَّابُ ______ .</a:t>
            </a:r>
            <a:endParaRPr lang="ar-SA" sz="155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Next week the students will not …</a:t>
            </a:r>
            <a:endParaRPr lang="en-US" sz="1050" dirty="0"/>
          </a:p>
        </p:txBody>
      </p:sp>
      <p:sp>
        <p:nvSpPr>
          <p:cNvPr id="26" name="Shape 23"/>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29" name="Text 26"/>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وَصَلَ الطُّلَّابُ فِي السَّاعَةِ ______ .</a:t>
            </a:r>
            <a:endParaRPr lang="ar-SA" sz="1800" dirty="0"/>
          </a:p>
        </p:txBody>
      </p:sp>
      <p:sp>
        <p:nvSpPr>
          <p:cNvPr id="30" name="Text 27"/>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 students arrived at … o’clock</a:t>
            </a:r>
            <a:endParaRPr lang="en-US" sz="1050" dirty="0"/>
          </a:p>
        </p:txBody>
      </p:sp>
      <p:sp>
        <p:nvSpPr>
          <p:cNvPr id="31" name="Text 28"/>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جَهَّزَتِ الطَّالِبَاتُ ______ .</a:t>
            </a:r>
            <a:endParaRPr lang="ar-SA" sz="1800" dirty="0"/>
          </a:p>
        </p:txBody>
      </p:sp>
      <p:sp>
        <p:nvSpPr>
          <p:cNvPr id="32" name="Text 29"/>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 girls prepared …</a:t>
            </a:r>
            <a:endParaRPr lang="en-US" sz="1050" dirty="0"/>
          </a:p>
        </p:txBody>
      </p:sp>
      <p:sp>
        <p:nvSpPr>
          <p:cNvPr id="33" name="Text 30"/>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الْأَوْلَادُ لَعِبُوا ______ .</a:t>
            </a:r>
            <a:endParaRPr lang="ar-SA" sz="1800" dirty="0"/>
          </a:p>
        </p:txBody>
      </p:sp>
      <p:sp>
        <p:nvSpPr>
          <p:cNvPr id="34" name="Text 31"/>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 boys played …</a:t>
            </a:r>
            <a:endParaRPr lang="en-US" sz="1050" dirty="0"/>
          </a:p>
        </p:txBody>
      </p:sp>
      <p:sp>
        <p:nvSpPr>
          <p:cNvPr id="35" name="Text 32"/>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وَصَلَتِ الْحَافِلَاتُ ______ .</a:t>
            </a:r>
            <a:endParaRPr lang="ar-SA" sz="1800" dirty="0"/>
          </a:p>
        </p:txBody>
      </p:sp>
      <p:sp>
        <p:nvSpPr>
          <p:cNvPr id="36" name="Text 33"/>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 buses arrived …</a:t>
            </a:r>
            <a:endParaRPr lang="en-US" sz="1050" dirty="0"/>
          </a:p>
        </p:txBody>
      </p:sp>
      <p:sp>
        <p:nvSpPr>
          <p:cNvPr id="37" name="Shape 34"/>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Text 35"/>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39" name="Text 36"/>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هَلْ  ·  مَا  ·  لَمْ  ·  لَا  ·  لَنْ  ·  أَمَّا  ·  ثُمَّ  ·  لِأَنَّ  ·  وَلَكِنَّ  ·  أَمْسِ  ·  غَدًا  ·  بِعِنَايَةٍ  ·  فِي الْمَوْعِدِ</a:t>
            </a:r>
            <a:endParaRPr lang="ar-SA" sz="16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28 / 35</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GM-VS-04 · Verbal Sentences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Verbal Sentences · GM-VS-04</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cs typeface="Amiri" pitchFamily="2" charset="-78"/>
              </a:rPr>
              <a:t>Website final verbal-sentence performance (120–140 words): a memorable day, school event, journey or community activity.</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Six verb-first and four subject-first sentences.</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Male and female human plurals, one dual, one non-human plural.</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Past, present and future.</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One question and two negatives.</a:t>
            </a:r>
            <a:endParaRPr lang="en-US" sz="1200" dirty="0"/>
          </a:p>
        </p:txBody>
      </p:sp>
      <p:sp>
        <p:nvSpPr>
          <p:cNvPr id="23" name="Text 20"/>
          <p:cNvSpPr txBox="1"/>
          <p:nvPr/>
        </p:nvSpPr>
        <p:spPr>
          <a:xfrm>
            <a:off x="685800" y="5431536"/>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Four-pass edit completed before you hand in.</a:t>
            </a:r>
            <a:endParaRPr lang="en-US" sz="1200" dirty="0"/>
          </a:p>
        </p:txBody>
      </p:sp>
      <p:sp>
        <p:nvSpPr>
          <p:cNvPr id="24" name="Shape 21"/>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Text 22"/>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PHRASE BANK — USEFUL FOR THIS TASK</a:t>
            </a:r>
            <a:endParaRPr lang="en-US" sz="950" dirty="0"/>
          </a:p>
        </p:txBody>
      </p:sp>
      <p:sp>
        <p:nvSpPr>
          <p:cNvPr id="26" name="Text 23"/>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بَدَأَ الْيَوْمُ</a:t>
            </a:r>
            <a:endParaRPr lang="ar-SA" sz="1800" dirty="0"/>
          </a:p>
        </p:txBody>
      </p:sp>
      <p:sp>
        <p:nvSpPr>
          <p:cNvPr id="27" name="Text 24"/>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the day began</a:t>
            </a:r>
            <a:endParaRPr lang="en-US" sz="1050" dirty="0"/>
          </a:p>
        </p:txBody>
      </p:sp>
      <p:sp>
        <p:nvSpPr>
          <p:cNvPr id="28" name="Text 25"/>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فِي الْمَوْعِدِ</a:t>
            </a:r>
            <a:endParaRPr lang="ar-SA" sz="1800" dirty="0"/>
          </a:p>
        </p:txBody>
      </p:sp>
      <p:sp>
        <p:nvSpPr>
          <p:cNvPr id="29" name="Text 26"/>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on time</a:t>
            </a:r>
            <a:endParaRPr lang="en-US" sz="1050" dirty="0"/>
          </a:p>
        </p:txBody>
      </p:sp>
      <p:sp>
        <p:nvSpPr>
          <p:cNvPr id="30" name="Text 27"/>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أَمَّا … فَـ</a:t>
            </a:r>
            <a:endParaRPr lang="ar-SA" sz="1800" dirty="0"/>
          </a:p>
        </p:txBody>
      </p:sp>
      <p:sp>
        <p:nvSpPr>
          <p:cNvPr id="31" name="Text 28"/>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as for …</a:t>
            </a:r>
            <a:endParaRPr lang="en-US" sz="1050" dirty="0"/>
          </a:p>
        </p:txBody>
      </p:sp>
      <p:sp>
        <p:nvSpPr>
          <p:cNvPr id="32" name="Text 29"/>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لِأَنَّ</a:t>
            </a:r>
            <a:endParaRPr lang="ar-SA" sz="1800" dirty="0"/>
          </a:p>
        </p:txBody>
      </p:sp>
      <p:sp>
        <p:nvSpPr>
          <p:cNvPr id="33" name="Text 30"/>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because</a:t>
            </a:r>
            <a:endParaRPr lang="en-US" sz="1050" dirty="0"/>
          </a:p>
        </p:txBody>
      </p:sp>
      <p:sp>
        <p:nvSpPr>
          <p:cNvPr id="34" name="Text 31"/>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وَلَكِنَّ</a:t>
            </a:r>
            <a:endParaRPr lang="ar-SA" sz="1800" dirty="0"/>
          </a:p>
        </p:txBody>
      </p:sp>
      <p:sp>
        <p:nvSpPr>
          <p:cNvPr id="35" name="Text 32"/>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but</a:t>
            </a:r>
            <a:endParaRPr lang="en-US" sz="1050" dirty="0"/>
          </a:p>
        </p:txBody>
      </p:sp>
      <p:sp>
        <p:nvSpPr>
          <p:cNvPr id="36" name="Text 33"/>
          <p:cNvSpPr txBox="1"/>
          <p:nvPr/>
        </p:nvSpPr>
        <p:spPr>
          <a:xfrm>
            <a:off x="8412480" y="552297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فِي النِّهَايَةِ</a:t>
            </a:r>
            <a:endParaRPr lang="ar-SA" sz="1800" dirty="0"/>
          </a:p>
        </p:txBody>
      </p:sp>
      <p:sp>
        <p:nvSpPr>
          <p:cNvPr id="37" name="Text 34"/>
          <p:cNvSpPr txBox="1"/>
          <p:nvPr/>
        </p:nvSpPr>
        <p:spPr>
          <a:xfrm>
            <a:off x="6400800" y="585216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in the end</a:t>
            </a:r>
            <a:endParaRPr lang="en-US" sz="1050" dirty="0"/>
          </a:p>
        </p:txBody>
      </p:sp>
      <p:sp>
        <p:nvSpPr>
          <p:cNvPr id="38" name="Text 3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29 / 35</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GM-VS-04 · Verbal Sentences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Verbal Sentences · GM-VS-04</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200" dirty="0">
                <a:solidFill>
                  <a:srgbClr val="1F2A37"/>
                </a:solidFill>
                <a:latin typeface="Amiri" pitchFamily="2" charset="-78"/>
                <a:ea typeface="Amiri" pitchFamily="2" charset="-78"/>
                <a:cs typeface="Amiri" pitchFamily="2" charset="-78"/>
              </a:rPr>
              <a:t>كَانَ يَوْمُ الْعُلُومِ فِي مَدْرَسَتِنَا يَوْمًا لَا يُنْسَى. بَدَأَ الْيَوْمُ مُبَكِّرًا، وَوَصَلَ الطُّلَّابُ إِلَى الْمَدْرَسَةِ فِي السَّاعَةِ الثَّامِنَةِ. الطَّالِبَاتُ جَهَّزْنَ الْقَاعَةَ الْكُبْرَى، أَمَّا الْمُعَلِّمُونَ فَرَاجَعُوا الْخُطَّةَ. عَرَضَ الطُّلَّابُ تَجَارِبَهُمْ عَلَى الطَّاوِلَاتِ، وَشَرَحَتِ الطَّالِبَتَانِ الْفَائِزَتَانِ مَشْرُوعَهُمَا عَنِ الطَّاقَةِ الشَّمْسِيَّةِ. سَأَلَنِي ضَيْفٌ: هَلْ صَنَعْتُمُ الرُّوبُوتَ بِأَنْفُسِكُمْ؟ فَقُلْتُ: نَعَمْ، صَنَعْنَاهُ فِي شَهْرَيْنِ. لَمْ تَصِلِ الْحَافِلَاتُ فِي الْمَوْعِدِ، فَلَمْ يَحْضُرْ بَعْضُ الْآبَاءِ فِي الصَّبَاحِ، وَلَكِنَّهُمْ جَاؤُوا بَعْدَ الظُّهْرِ. فِي النِّهَايَةِ وَزَّعَ الْمُدِيرُ الْجَوَائِزَ، وَصَفَّقَ الْجَمِيعُ طَوِيلًا. فِي السَّنَةِ الْقَادِمَةِ سَتُشَارِكُ مَدْرَسَتُنَا فِي مُسَابَقَةٍ وَطَنِيَّةٍ، وَلَنْ نَنْسَى هَذَا الْيَوْمَ أَبَدًا.</a:t>
            </a:r>
            <a:endParaRPr lang="ar-SA" sz="22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Science Day at our school was a day to remember. The day began early, and the students arrived at school at eight o’clock. The girls prepared the main hall; as for the teachers, they reviewed the plan. The students displayed their experiments on the tables, and the two winning girls explained their project on solar energy. A guest asked me: “Did you make the robot yourselves?” I said: “Yes, we made it in two months.” The buses did not arrive on time, so some parents did not come in the morning, but they came in the afternoon. In the end the head teacher handed out the prizes, and everyone applauded for a long time. Next year our school will take part in a national competition, and we will never forget this day.</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verb first + plural subject</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subject first + full agreement</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question with hal</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negative with lam or lan</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30 / 35</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GM-VS-04 · Verbal Sentences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Verbal Sentences · GM-VS-04</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Every verb has the right subject (pass 1).</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Verb first → singular; subject first → full agreement (pass 2).</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After lam I used the present form: lam yaktub.</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My time words and verb forms match.</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Every pronoun clearly refers to one noun (pass 4).</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31 / 35</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GM-VS-04 · Verbal Sentences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Verbal Sentences · GM-VS-04</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SVO report.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الطَّالِبَاتُ فُزْنَ بِالْمُسَابَقَةِ.</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الطَّالِبَاتُ فَازَتْ بِالْمُسَابَقَةِ.</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فُزْنَ الطَّالِبَاتُ بِالْمُسَابَقَةِ.</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Transform to verb first:</a:t>
            </a:r>
            <a:endParaRPr lang="en-US" sz="1200" dirty="0"/>
          </a:p>
        </p:txBody>
      </p:sp>
      <p:sp>
        <p:nvSpPr>
          <p:cNvPr id="32" name="Text 29"/>
          <p:cNvSpPr txBox="1"/>
          <p:nvPr/>
        </p:nvSpPr>
        <p:spPr>
          <a:xfrm>
            <a:off x="6225845" y="1883664"/>
            <a:ext cx="1577035" cy="475488"/>
          </a:xfrm>
          <a:prstGeom prst="rect">
            <a:avLst/>
          </a:prstGeom>
          <a:noFill/>
          <a:ln/>
        </p:spPr>
        <p:txBody>
          <a:bodyPr wrap="square" lIns="0" tIns="0" rIns="0" bIns="0" rtlCol="0" anchor="ctr"/>
          <a:lstStyle/>
          <a:p>
            <a:pPr rtl="1" algn="r" indent="0" marL="0">
              <a:buNone/>
            </a:pPr>
            <a:r>
              <a:rPr lang="ar-SA" altLang="en-US" sz="1400" b="1" dirty="0">
                <a:solidFill>
                  <a:srgbClr val="1F2A37"/>
                </a:solidFill>
                <a:latin typeface="Amiri" pitchFamily="2" charset="-78"/>
                <a:ea typeface="Amiri" pitchFamily="2" charset="-78"/>
                <a:cs typeface="Amiri" pitchFamily="2" charset="-78"/>
              </a:rPr>
              <a:t>الْمُعَلِّمَتَانِ شَرَحَتَا الدَّرْسَ.</a:t>
            </a:r>
            <a:endParaRPr lang="ar-SA" sz="1400" dirty="0"/>
          </a:p>
        </p:txBody>
      </p:sp>
      <p:sp>
        <p:nvSpPr>
          <p:cNvPr id="33" name="Shape 30"/>
          <p:cNvSpPr/>
          <p:nvPr/>
        </p:nvSpPr>
        <p:spPr>
          <a:xfrm>
            <a:off x="4459224" y="2532888"/>
            <a:ext cx="256032" cy="256032"/>
          </a:xfrm>
          <a:prstGeom prst="ellipse">
            <a:avLst/>
          </a:prstGeom>
          <a:solidFill>
            <a:srgbClr val="F4F1EA"/>
          </a:solidFill>
          <a:ln w="12700">
            <a:solidFill>
              <a:srgbClr val="F4F1EA"/>
            </a:solidFill>
            <a:prstDash val="solid"/>
          </a:ln>
        </p:spPr>
      </p:sp>
      <p:sp>
        <p:nvSpPr>
          <p:cNvPr id="34" name="Text 31"/>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5" name="Text 32"/>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شَرَحَتَا الْمُعَلِّمَتَانِ الدَّرْسَ.</a:t>
            </a:r>
            <a:endParaRPr lang="ar-SA" sz="2050" dirty="0"/>
          </a:p>
        </p:txBody>
      </p:sp>
      <p:sp>
        <p:nvSpPr>
          <p:cNvPr id="36" name="Shape 33"/>
          <p:cNvSpPr/>
          <p:nvPr/>
        </p:nvSpPr>
        <p:spPr>
          <a:xfrm>
            <a:off x="4459224" y="2990088"/>
            <a:ext cx="256032" cy="256032"/>
          </a:xfrm>
          <a:prstGeom prst="ellipse">
            <a:avLst/>
          </a:prstGeom>
          <a:solidFill>
            <a:srgbClr val="F4F1EA"/>
          </a:solidFill>
          <a:ln w="12700">
            <a:solidFill>
              <a:srgbClr val="F4F1EA"/>
            </a:solidFill>
            <a:prstDash val="solid"/>
          </a:ln>
        </p:spPr>
      </p:sp>
      <p:sp>
        <p:nvSpPr>
          <p:cNvPr id="37" name="Text 34"/>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8" name="Text 35"/>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شَرَحَتِ الْمُعَلِّمَتَانِ الدَّرْسَ.</a:t>
            </a:r>
            <a:endParaRPr lang="ar-SA" sz="2050" dirty="0"/>
          </a:p>
        </p:txBody>
      </p:sp>
      <p:sp>
        <p:nvSpPr>
          <p:cNvPr id="39" name="Shape 36"/>
          <p:cNvSpPr/>
          <p:nvPr/>
        </p:nvSpPr>
        <p:spPr>
          <a:xfrm>
            <a:off x="4459224" y="3447288"/>
            <a:ext cx="256032" cy="256032"/>
          </a:xfrm>
          <a:prstGeom prst="ellipse">
            <a:avLst/>
          </a:prstGeom>
          <a:solidFill>
            <a:srgbClr val="F4F1EA"/>
          </a:solidFill>
          <a:ln w="12700">
            <a:solidFill>
              <a:srgbClr val="F4F1EA"/>
            </a:solidFill>
            <a:prstDash val="solid"/>
          </a:ln>
        </p:spPr>
      </p:sp>
      <p:sp>
        <p:nvSpPr>
          <p:cNvPr id="40" name="Text 37"/>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1" name="Text 38"/>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شَرَحَ الْمُعَلِّمَتَانِ الدَّرْسَ.</a:t>
            </a:r>
            <a:endParaRPr lang="ar-SA" sz="2050" dirty="0"/>
          </a:p>
        </p:txBody>
      </p:sp>
      <p:sp>
        <p:nvSpPr>
          <p:cNvPr id="42" name="Shape 39"/>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8223504" y="1947672"/>
            <a:ext cx="310896" cy="310896"/>
          </a:xfrm>
          <a:prstGeom prst="ellipse">
            <a:avLst/>
          </a:prstGeom>
          <a:solidFill>
            <a:srgbClr val="1B3B6F"/>
          </a:solidFill>
          <a:ln w="12700">
            <a:solidFill>
              <a:srgbClr val="1B3B6F"/>
            </a:solidFill>
            <a:prstDash val="solid"/>
          </a:ln>
        </p:spPr>
      </p:sp>
      <p:sp>
        <p:nvSpPr>
          <p:cNvPr id="44" name="Text 41"/>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5" name="Text 42"/>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past negation.</a:t>
            </a:r>
            <a:endParaRPr lang="en-US" sz="1250" dirty="0"/>
          </a:p>
        </p:txBody>
      </p:sp>
      <p:sp>
        <p:nvSpPr>
          <p:cNvPr id="46" name="Shape 43"/>
          <p:cNvSpPr/>
          <p:nvPr/>
        </p:nvSpPr>
        <p:spPr>
          <a:xfrm>
            <a:off x="8278368" y="2532888"/>
            <a:ext cx="256032" cy="256032"/>
          </a:xfrm>
          <a:prstGeom prst="ellipse">
            <a:avLst/>
          </a:prstGeom>
          <a:solidFill>
            <a:srgbClr val="F4F1EA"/>
          </a:solidFill>
          <a:ln w="12700">
            <a:solidFill>
              <a:srgbClr val="F4F1EA"/>
            </a:solidFill>
            <a:prstDash val="solid"/>
          </a:ln>
        </p:spPr>
      </p:sp>
      <p:sp>
        <p:nvSpPr>
          <p:cNvPr id="47" name="Text 44"/>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8" name="Text 45"/>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لَمْ يَكْتُبِ الطُّلَّابُ التَّقْرِيرَ.</a:t>
            </a:r>
            <a:endParaRPr lang="ar-SA" sz="2050" dirty="0"/>
          </a:p>
        </p:txBody>
      </p:sp>
      <p:sp>
        <p:nvSpPr>
          <p:cNvPr id="49" name="Shape 46"/>
          <p:cNvSpPr/>
          <p:nvPr/>
        </p:nvSpPr>
        <p:spPr>
          <a:xfrm>
            <a:off x="8278368" y="2990088"/>
            <a:ext cx="256032" cy="256032"/>
          </a:xfrm>
          <a:prstGeom prst="ellipse">
            <a:avLst/>
          </a:prstGeom>
          <a:solidFill>
            <a:srgbClr val="F4F1EA"/>
          </a:solidFill>
          <a:ln w="12700">
            <a:solidFill>
              <a:srgbClr val="F4F1EA"/>
            </a:solidFill>
            <a:prstDash val="solid"/>
          </a:ln>
        </p:spPr>
      </p:sp>
      <p:sp>
        <p:nvSpPr>
          <p:cNvPr id="50" name="Text 47"/>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1" name="Text 48"/>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لَمْ كَتَبَ الطُّلَّابُ التَّقْرِيرَ.</a:t>
            </a:r>
            <a:endParaRPr lang="ar-SA" sz="2050" dirty="0"/>
          </a:p>
        </p:txBody>
      </p:sp>
      <p:sp>
        <p:nvSpPr>
          <p:cNvPr id="52" name="Shape 49"/>
          <p:cNvSpPr/>
          <p:nvPr/>
        </p:nvSpPr>
        <p:spPr>
          <a:xfrm>
            <a:off x="8278368" y="3447288"/>
            <a:ext cx="256032" cy="256032"/>
          </a:xfrm>
          <a:prstGeom prst="ellipse">
            <a:avLst/>
          </a:prstGeom>
          <a:solidFill>
            <a:srgbClr val="F4F1EA"/>
          </a:solidFill>
          <a:ln w="12700">
            <a:solidFill>
              <a:srgbClr val="F4F1EA"/>
            </a:solidFill>
            <a:prstDash val="solid"/>
          </a:ln>
        </p:spPr>
      </p:sp>
      <p:sp>
        <p:nvSpPr>
          <p:cNvPr id="53" name="Text 50"/>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4" name="Text 51"/>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لَنْ يَكْتُبُ الطُّلَّابُ التَّقْرِيرَ أَمْسِ.</a:t>
            </a:r>
            <a:endParaRPr lang="ar-SA" sz="2050" dirty="0"/>
          </a:p>
        </p:txBody>
      </p:sp>
      <p:sp>
        <p:nvSpPr>
          <p:cNvPr id="55" name="Shape 52"/>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6" name="Text 53"/>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cs typeface="Amiri" pitchFamily="2" charset="-78"/>
              </a:rPr>
              <a:t>ON YOUR OWN · 2 MINUTES</a:t>
            </a:r>
            <a:endParaRPr lang="en-US" sz="1200" dirty="0"/>
          </a:p>
        </p:txBody>
      </p:sp>
      <p:sp>
        <p:nvSpPr>
          <p:cNvPr id="57" name="Text 54"/>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Answer silently. When the timer ends, type your three letters in the chat: 1_ 2_ 3_. The other end-of-lesson questions are on the website.</a:t>
            </a:r>
            <a:endParaRPr lang="en-US" sz="1250" dirty="0"/>
          </a:p>
        </p:txBody>
      </p:sp>
      <p:sp>
        <p:nvSpPr>
          <p:cNvPr id="58" name="Text 5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32 / 35</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GM-VS-04 · Verbal Sentences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Verbal Sentences · GM-VS-04</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SVO report.</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الطَّالِبَاتُ فُزْنَ بِالْمُسَابَقَةِ.</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الطَّالِبَاتُ فَازَتْ بِالْمُسَابَقَةِ.</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فُزْنَ الطَّالِبَاتُ بِالْمُسَابَقَةِ.</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Girls first → fuzna.</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Transform to verb first:</a:t>
            </a:r>
            <a:endParaRPr lang="en-US" sz="1200" dirty="0"/>
          </a:p>
        </p:txBody>
      </p:sp>
      <p:sp>
        <p:nvSpPr>
          <p:cNvPr id="34" name="Text 31"/>
          <p:cNvSpPr txBox="1"/>
          <p:nvPr/>
        </p:nvSpPr>
        <p:spPr>
          <a:xfrm>
            <a:off x="6225845" y="1883664"/>
            <a:ext cx="1577035" cy="475488"/>
          </a:xfrm>
          <a:prstGeom prst="rect">
            <a:avLst/>
          </a:prstGeom>
          <a:noFill/>
          <a:ln/>
        </p:spPr>
        <p:txBody>
          <a:bodyPr wrap="square" lIns="0" tIns="0" rIns="0" bIns="0" rtlCol="0" anchor="ctr"/>
          <a:lstStyle/>
          <a:p>
            <a:pPr rtl="1" algn="r" indent="0" marL="0">
              <a:buNone/>
            </a:pPr>
            <a:r>
              <a:rPr lang="ar-SA" altLang="en-US" sz="1400" b="1" dirty="0">
                <a:solidFill>
                  <a:srgbClr val="1F2A37"/>
                </a:solidFill>
                <a:latin typeface="Amiri" pitchFamily="2" charset="-78"/>
                <a:ea typeface="Amiri" pitchFamily="2" charset="-78"/>
                <a:cs typeface="Amiri" pitchFamily="2" charset="-78"/>
              </a:rPr>
              <a:t>الْمُعَلِّمَتَانِ شَرَحَتَا الدَّرْسَ.</a:t>
            </a:r>
            <a:endParaRPr lang="ar-SA" sz="1400" dirty="0"/>
          </a:p>
        </p:txBody>
      </p:sp>
      <p:sp>
        <p:nvSpPr>
          <p:cNvPr id="35" name="Shape 32"/>
          <p:cNvSpPr/>
          <p:nvPr/>
        </p:nvSpPr>
        <p:spPr>
          <a:xfrm>
            <a:off x="4459224" y="2532888"/>
            <a:ext cx="256032" cy="256032"/>
          </a:xfrm>
          <a:prstGeom prst="ellipse">
            <a:avLst/>
          </a:prstGeom>
          <a:solidFill>
            <a:srgbClr val="C9CED6"/>
          </a:solidFill>
          <a:ln w="12700">
            <a:solidFill>
              <a:srgbClr val="C9CED6"/>
            </a:solidFill>
            <a:prstDash val="solid"/>
          </a:ln>
        </p:spPr>
      </p:sp>
      <p:sp>
        <p:nvSpPr>
          <p:cNvPr id="36" name="Text 33"/>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شَرَحَتَا الْمُعَلِّمَتَانِ الدَّرْسَ.</a:t>
            </a:r>
            <a:endParaRPr lang="ar-SA" sz="2050" dirty="0"/>
          </a:p>
        </p:txBody>
      </p:sp>
      <p:sp>
        <p:nvSpPr>
          <p:cNvPr id="38" name="Shape 35"/>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9" name="Shape 36"/>
          <p:cNvSpPr/>
          <p:nvPr/>
        </p:nvSpPr>
        <p:spPr>
          <a:xfrm>
            <a:off x="4459224" y="2990088"/>
            <a:ext cx="256032" cy="256032"/>
          </a:xfrm>
          <a:prstGeom prst="ellipse">
            <a:avLst/>
          </a:prstGeom>
          <a:solidFill>
            <a:srgbClr val="2E8B57"/>
          </a:solidFill>
          <a:ln w="12700">
            <a:solidFill>
              <a:srgbClr val="2E8B57"/>
            </a:solidFill>
            <a:prstDash val="solid"/>
          </a:ln>
        </p:spPr>
      </p:sp>
      <p:sp>
        <p:nvSpPr>
          <p:cNvPr id="40" name="Text 37"/>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1" name="Text 38"/>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شَرَحَتِ الْمُعَلِّمَتَانِ الدَّرْسَ.</a:t>
            </a:r>
            <a:endParaRPr lang="ar-SA" sz="2050" dirty="0"/>
          </a:p>
        </p:txBody>
      </p:sp>
      <p:sp>
        <p:nvSpPr>
          <p:cNvPr id="42" name="Shape 39"/>
          <p:cNvSpPr/>
          <p:nvPr/>
        </p:nvSpPr>
        <p:spPr>
          <a:xfrm>
            <a:off x="4459224" y="3447288"/>
            <a:ext cx="256032" cy="256032"/>
          </a:xfrm>
          <a:prstGeom prst="ellipse">
            <a:avLst/>
          </a:prstGeom>
          <a:solidFill>
            <a:srgbClr val="C9CED6"/>
          </a:solidFill>
          <a:ln w="12700">
            <a:solidFill>
              <a:srgbClr val="C9CED6"/>
            </a:solidFill>
            <a:prstDash val="solid"/>
          </a:ln>
        </p:spPr>
      </p:sp>
      <p:sp>
        <p:nvSpPr>
          <p:cNvPr id="43" name="Text 40"/>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4" name="Text 41"/>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شَرَحَ الْمُعَلِّمَتَانِ الدَّرْسَ.</a:t>
            </a:r>
            <a:endParaRPr lang="ar-SA" sz="2050" dirty="0"/>
          </a:p>
        </p:txBody>
      </p:sp>
      <p:sp>
        <p:nvSpPr>
          <p:cNvPr id="45" name="Text 42"/>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Singular feminine before the dual: sharaḥat.</a:t>
            </a:r>
            <a:endParaRPr lang="en-US" sz="1050" dirty="0"/>
          </a:p>
        </p:txBody>
      </p:sp>
      <p:sp>
        <p:nvSpPr>
          <p:cNvPr id="46" name="Shape 43"/>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4"/>
          <p:cNvSpPr/>
          <p:nvPr/>
        </p:nvSpPr>
        <p:spPr>
          <a:xfrm>
            <a:off x="8223504" y="1947672"/>
            <a:ext cx="310896" cy="310896"/>
          </a:xfrm>
          <a:prstGeom prst="ellipse">
            <a:avLst/>
          </a:prstGeom>
          <a:solidFill>
            <a:srgbClr val="1B3B6F"/>
          </a:solidFill>
          <a:ln w="12700">
            <a:solidFill>
              <a:srgbClr val="1B3B6F"/>
            </a:solidFill>
            <a:prstDash val="solid"/>
          </a:ln>
        </p:spPr>
      </p:sp>
      <p:sp>
        <p:nvSpPr>
          <p:cNvPr id="48" name="Text 45"/>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9" name="Text 46"/>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past negation.</a:t>
            </a:r>
            <a:endParaRPr lang="en-US" sz="1250" dirty="0"/>
          </a:p>
        </p:txBody>
      </p:sp>
      <p:sp>
        <p:nvSpPr>
          <p:cNvPr id="50" name="Shape 47"/>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1" name="Shape 48"/>
          <p:cNvSpPr/>
          <p:nvPr/>
        </p:nvSpPr>
        <p:spPr>
          <a:xfrm>
            <a:off x="8278368" y="2532888"/>
            <a:ext cx="256032" cy="256032"/>
          </a:xfrm>
          <a:prstGeom prst="ellipse">
            <a:avLst/>
          </a:prstGeom>
          <a:solidFill>
            <a:srgbClr val="2E8B57"/>
          </a:solidFill>
          <a:ln w="12700">
            <a:solidFill>
              <a:srgbClr val="2E8B57"/>
            </a:solidFill>
            <a:prstDash val="solid"/>
          </a:ln>
        </p:spPr>
      </p:sp>
      <p:sp>
        <p:nvSpPr>
          <p:cNvPr id="52" name="Text 49"/>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3" name="Text 50"/>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لَمْ يَكْتُبِ الطُّلَّابُ التَّقْرِيرَ.</a:t>
            </a:r>
            <a:endParaRPr lang="ar-SA" sz="2050" dirty="0"/>
          </a:p>
        </p:txBody>
      </p:sp>
      <p:sp>
        <p:nvSpPr>
          <p:cNvPr id="54" name="Shape 51"/>
          <p:cNvSpPr/>
          <p:nvPr/>
        </p:nvSpPr>
        <p:spPr>
          <a:xfrm>
            <a:off x="8278368" y="2990088"/>
            <a:ext cx="256032" cy="256032"/>
          </a:xfrm>
          <a:prstGeom prst="ellipse">
            <a:avLst/>
          </a:prstGeom>
          <a:solidFill>
            <a:srgbClr val="C9CED6"/>
          </a:solidFill>
          <a:ln w="12700">
            <a:solidFill>
              <a:srgbClr val="C9CED6"/>
            </a:solidFill>
            <a:prstDash val="solid"/>
          </a:ln>
        </p:spPr>
      </p:sp>
      <p:sp>
        <p:nvSpPr>
          <p:cNvPr id="55" name="Text 52"/>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6" name="Text 53"/>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لَمْ كَتَبَ الطُّلَّابُ التَّقْرِيرَ.</a:t>
            </a:r>
            <a:endParaRPr lang="ar-SA" sz="2050" dirty="0"/>
          </a:p>
        </p:txBody>
      </p:sp>
      <p:sp>
        <p:nvSpPr>
          <p:cNvPr id="57" name="Shape 54"/>
          <p:cNvSpPr/>
          <p:nvPr/>
        </p:nvSpPr>
        <p:spPr>
          <a:xfrm>
            <a:off x="8278368" y="3447288"/>
            <a:ext cx="256032" cy="256032"/>
          </a:xfrm>
          <a:prstGeom prst="ellipse">
            <a:avLst/>
          </a:prstGeom>
          <a:solidFill>
            <a:srgbClr val="C9CED6"/>
          </a:solidFill>
          <a:ln w="12700">
            <a:solidFill>
              <a:srgbClr val="C9CED6"/>
            </a:solidFill>
            <a:prstDash val="solid"/>
          </a:ln>
        </p:spPr>
      </p:sp>
      <p:sp>
        <p:nvSpPr>
          <p:cNvPr id="58" name="Text 55"/>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9" name="Text 56"/>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لَنْ يَكْتُبُ الطُّلَّابُ التَّقْرِيرَ أَمْسِ.</a:t>
            </a:r>
            <a:endParaRPr lang="ar-SA" sz="2050" dirty="0"/>
          </a:p>
        </p:txBody>
      </p:sp>
      <p:sp>
        <p:nvSpPr>
          <p:cNvPr id="60" name="Text 57"/>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Lam + present form, past meaning.</a:t>
            </a:r>
            <a:endParaRPr lang="en-US" sz="1050" dirty="0"/>
          </a:p>
        </p:txBody>
      </p:sp>
      <p:sp>
        <p:nvSpPr>
          <p:cNvPr id="61" name="Shape 58"/>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2" name="Text 59"/>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cs typeface="Amiri" pitchFamily="2" charset="-78"/>
              </a:rPr>
              <a:t>SCORE</a:t>
            </a:r>
            <a:endParaRPr lang="en-US" sz="1200" dirty="0"/>
          </a:p>
        </p:txBody>
      </p:sp>
      <p:sp>
        <p:nvSpPr>
          <p:cNvPr id="63" name="Text 60"/>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3/3 → aim for Stretch next lesson  ·  2/3 → Develop  ·  0–1 → Core route and a quick check-in during the next Do Now.</a:t>
            </a:r>
            <a:endParaRPr lang="en-US" sz="1250" dirty="0"/>
          </a:p>
        </p:txBody>
      </p:sp>
      <p:sp>
        <p:nvSpPr>
          <p:cNvPr id="64" name="Text 6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33 / 35</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GM-VS-04 · Verbal Sentences</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cs typeface="Amiri" pitchFamily="2" charset="-78"/>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50" b="1" dirty="0">
                <a:solidFill>
                  <a:srgbClr val="1B3B6F"/>
                </a:solidFill>
                <a:latin typeface="Cambria" pitchFamily="34" charset="0"/>
                <a:cs typeface="Amiri" pitchFamily="2" charset="-78"/>
              </a:rPr>
              <a:t>Before GM-NVS-01: get ready at home</a:t>
            </a:r>
            <a:endParaRPr lang="en-US" sz="24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Verbal Sentences · GM-VS-04</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cs typeface="Amiri" pitchFamily="2" charset="-78"/>
              </a:rPr>
              <a:t>LEARN THESE 5 WORDS</a:t>
            </a:r>
            <a:endParaRPr lang="en-US" sz="1100" dirty="0"/>
          </a:p>
          <a:p>
            <a:pPr indent="0" marL="0">
              <a:buNone/>
            </a:pPr>
            <a:r>
              <a:rPr lang="en-US" sz="1000" dirty="0">
                <a:solidFill>
                  <a:srgbClr val="5A6472"/>
                </a:solidFill>
                <a:latin typeface="Calibri" pitchFamily="34" charset="0"/>
                <a:cs typeface="Amiri" pitchFamily="2" charset="-78"/>
              </a:rPr>
              <a:t>for GM-NVS-01 · Simple Non-Verbal Sentences</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الْجُمْلَةُ الِاسْمِيَّةُ</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nominal sentence (no verb)</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الْمُبْتَدَأُ</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the topic (comes first)</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الْخَبَرُ</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the comment (information about it)</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الْبَيْتُ كَبِيرٌ</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the house is big</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أَنَا طَالِبٌ</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I am a student</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cs typeface="Amiri" pitchFamily="2" charset="-78"/>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cs typeface="Amiri" pitchFamily="2" charset="-78"/>
              </a:rPr>
              <a:t>Arabic has no word for “is” in the present tense. How would you say “The weather is hot”?</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2" charset="-78"/>
                <a:ea typeface="Amiri" pitchFamily="2" charset="-78"/>
                <a:cs typeface="Amiri" pitchFamily="2" charset="-78"/>
              </a:rPr>
              <a:t>الطَّقْسُ ______ .</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Build one sentence up the six-step ladder.</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Write five statements, then turn each into a question and a negative.</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final performance (120–140 words), edited in four passes.</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34 / 35</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GM-VS-04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ea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300" b="1" dirty="0">
                <a:solidFill>
                  <a:srgbClr val="FFFFFF"/>
                </a:solidFill>
                <a:latin typeface="Cambria" pitchFamily="34" charset="0"/>
                <a:cs typeface="Amiri" pitchFamily="2" charset="-78"/>
              </a:rPr>
              <a:t>GM-NVS-01 · Simple Non-Verbal Sentences</a:t>
            </a:r>
            <a:endParaRPr lang="en-US" sz="230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ea typeface="Amiri" pitchFamily="2" charset="-78"/>
                <a:cs typeface="Amiri" pitchFamily="2" charset="-78"/>
              </a:rPr>
              <a:t>الْجُمَلُ الِاسْمِيَّةُ الْبَسِيطَةُ</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choose the order for a reason (new event → verb first; known topic or contrast → subject first) · build one step at a time · hal, mā, lam, lā, lan keep the agreement rule · lam + present form · edit in four passes: roles → order → verb form → expansion.</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Amiri" pitchFamily="2" charset="-78"/>
        <a:cs typeface="Amiri" pitchFamily="2" charset="-78"/>
        <a:font script="Arab" typeface="Amiri"/>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Amiri" pitchFamily="2" charset="-78"/>
        <a:cs typeface="Amiri" pitchFamily="2" charset="-78"/>
        <a:font script="Arab" typeface="Amir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35</Slides>
  <Notes>35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35</vt:i4>
      </vt:variant>
    </vt:vector>
  </HeadingPairs>
  <TitlesOfParts>
    <vt:vector size="3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GM-VS-04 · Building and Editing Verbal Sentences</dc:title>
  <dc:subject>PptxGenJS Presentation</dc:subject>
  <dc:creator>Al Madina Online School · Arabic Department</dc:creator>
  <cp:lastModifiedBy>Al Madina Online School · Arabic Department</cp:lastModifiedBy>
  <cp:revision>1</cp:revision>
  <dcterms:created xsi:type="dcterms:W3CDTF">2026-10-11T06:42:49Z</dcterms:created>
  <dcterms:modified xsi:type="dcterms:W3CDTF">2026-10-11T06:42:49Z</dcterms:modified>
</cp:coreProperties>
</file>