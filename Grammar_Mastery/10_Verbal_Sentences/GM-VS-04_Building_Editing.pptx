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Verbal Sentences › GM-VS-04 (“Building and Editing Verbal Sentences”).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build a clear VSO and SVO core and expand it with time and place; ask with hal. Develop: transform across past, present and future and negate with mā, lam, lā and lan without losing agreement. Stretch: the four-pass edit on a full paragraph, order chosen for focus and contrast (ammā … fa-), clear object pronouns.
• This lesson revises GM-VS-01 to 03: VSO = singular verb that matches gender; SVO = full agreement; non-human plurals = “she” verb.
• Website warning: variety is not random — change the order only when it improves focus, contrast or flow. Lam takes the present (jussive) form: lam yaktub, never lam kataba.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 GM-VS-01 roles, GM-VS-02 full agreement and GM-VS-03 verb-first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Verb first → singular verb · subject first → full agreement · questions and negatives keep the same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(2 min) — website “Choose the order for a reason”. Stretch: ammā … fa- = “as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“The sentence-building ladder”. Row 5 is abridged on the website (“…”); completed here. He wrote the letter because he wanted to apologise; then he sent it to his friend.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“Transform across past, present and future”. Note lan + -a (yazūra) and lan + -ū (yazūrū — the nūn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“Questions and negation preserve the core roles”. Core: rows 1 and 3. Helping kasra: lam yaktubi ṭ-ṭullābu.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“A four-pass editing routine”. Students copy this table into their books: it is the checklist for every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Order Choice, Sentence Ladder and Editor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clinic draft first: waṣalū ṭ-ṭullābu thumma badaʾū d-darsu → after four passes: waṣala ṭ-ṭullābu, thumma badaʾū d-darsa. Then the website final model: point out each order choice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 2. Students say which pass catches each error (1 roles · 2 order · 3 verb form · 4 expansion). Row 5 from the website Editor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columns 2–3. Rows 1 and 2 from the website game. Row 6 (Stretch): subject-first negative keeps full agreement — lam yaktubna.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Editor and Sentence Ladder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audit (teacher-written report). Read it aloud once while students follow; then they hunt for today’s grammar.
Task: Website reading audit: underline every verb, box each named subject and draw a line from each attached object pronoun to its noun.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report for the website reading audit;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transformation. Sequence: ● 10s think → ↔ 45s rehearse aloud with mic muted → ◎ two named students on open mic (warned in advance) → + ? the class types one follow-up in chat → ↺ one student summarises.
Routes: Core uses the Core prompt and stem; Develop the Develop prompt; Stretch the last prompt.
Website: say one event first in VSO, then retell it with the subject first. Explain aloud how the verb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120–140 Arabic words about a memorable day, school event, journey or community activity. Use deliberate sentence-order variety and accurate agreement.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built on the website model lines,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(GM-NVS-01 · Simple Non-Verbal Sentences) will spend class time USING this language, so students prepare it tonight — short, simple, easy to access (school guidance: “Simple, Short, Interesting, Relevant, Easy to access”). The five words prepare GM-NVS-01 (website: simple non-verbal sentences).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VERBAL SENTENCES  ·  GM-VS-04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GM-VS-04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Building and Editing Verbal Sentences</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بِنَاءُ الْجُمَلِ الْفِعْلِيَّةِ وَمُرَاجَعَتُهَا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Put it all together: choose verb first or subject first for a reason, build a sentence one detail at a time, keep agreement through questions and negatives (hal, lam, lan) — then edit in four passes.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GM-VS-04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Order for a reason; the ladder; time frames; questions and negatives; four-pass edit.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Edit the clinic drafts; question and negate;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GM-NVS-01.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VSO core for “The students completed the project.”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أَكْمَلُوا الطُّلَّابُ الْمَشْرُوعَ.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 الطُّلَّابُ الْمَشْرُوعَ.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الْمَشْرُوعُ أَكْمَلَ الطُّلَّابَ.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SVO core for the same meaning.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أَكْمَلُوا الْمَشْرُوعَ.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أَكْمَلَ الْمَشْرُوعَ.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أَكْمَلُوا الْمَشْرُوعُ.</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Add a manner phrase: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كَتَبَتْ لَيْلَى الرِّسَالَةَ</a:t>
            </a:r>
            <a:endParaRPr lang="ar-SA" sz="15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بِعِنَايَةٌ لَيْلَى الرِّسَالَةُ.</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لَيْلَى بِعِنَايَةٍ الرِّسَالَةَ.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لَيْلَى الرِّسَالَةَ بِعِنَايَةٍ.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Negate the past event with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كَتَبَ الطَّالِبُ الرِّسَالَةَ.</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يَكْتُبُ الطَّالِبُ الرِّسَالَةَ.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يَكْتُبِ الطَّالِبُ الرِّسَالَةَ.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yes/no question about the event.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كَتَبَ الطَّالِبُ الرِّسَالَةَ؟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الطَّالِبُ الرِّسَالَةَ؟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الرِّسَالَةَ الطَّالِبُ؟</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VSO core for “The students completed the project.”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أَكْمَلُوا الطُّلَّابُ الْمَشْرُوعَ.</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أَكْمَلَ الطُّلَّابُ الْمَشْرُوعَ.</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الْمَشْرُوعُ أَكْمَلَ الطُّلَّابَ.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first before people → singular: akmala.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SVO core for the same meaning.</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الطُّلَّابُ أَكْمَلُوا الْمَشْرُوعَ.</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الطُّلَّابُ أَكْمَلَ الْمَشْرُوعَ.</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الطُّلَّابَ أَكْمَلُوا الْمَشْرُوعُ.</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first → full agreement: akmalū.</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Add a manner phrase: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كَتَبَتْ لَيْلَى الرِّسَالَةَ</a:t>
            </a:r>
            <a:endParaRPr lang="ar-SA" sz="15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 بِعِنَايَةٌ لَيْلَى الرِّسَالَةُ.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لَيْلَى بِعِنَايَةٍ الرِّسَالَةَ.</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 لَيْلَى الرِّسَالَةَ بِعِنَايَةٍ.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 “how” after a secure core.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Negate the past event with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كَتَبَ الطَّالِبُ الرِّسَالَةَ.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يَكْتُبُ الطَّالِبُ الرِّسَالَةَ.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 يَكْتُبِ الطَّالِبُ الرِّسَالَةَ.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Lam + present form, past meaning.</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yes/no question about the event.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كَتَبَ الطَّالِبُ الرِّسَالَةَ؟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الطَّالِبُ الرِّسَالَةَ؟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الرِّسَالَةَ الطَّالِبُ؟</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Hal goes in front of the whole sentence.</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Verb first → singular verb · subject first → full agreement · questions and negatives keep the same rule.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لَمْ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يَكْتُبِ</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الطُّلَّابُ</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الطُّلَّابُ</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لَمْ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يَكْتُبُوا</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verb first or subject first for a reason.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Expand a sentence one detail at a time.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agreement in questions and negatives.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Edit a paragraph in four passes.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build VSO and SVO cores.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add time and place and ask with hal.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change the time frame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negate with lam and lan.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edit a paragraph in four passes.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120–140 words with varied order.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الْبِنَاءُ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building (a sentence)</a:t>
            </a:r>
            <a:endParaRPr lang="en-US" sz="1350" dirty="0"/>
          </a:p>
          <a:p>
            <a:pPr indent="0" marL="0">
              <a:buNone/>
            </a:pPr>
            <a:r>
              <a:rPr lang="en-US" sz="1100" i="1" dirty="0">
                <a:solidFill>
                  <a:srgbClr val="5A6472"/>
                </a:solidFill>
                <a:latin typeface="Calibri" pitchFamily="34" charset="0"/>
                <a:cs typeface="Amiri" pitchFamily="2" charset="-78"/>
              </a:rPr>
              <a:t>al-bi-nā-ʾu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خُطْوَةً خُطْوَةً</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الْمُرَاجَعَةُ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editing / checking</a:t>
            </a:r>
            <a:endParaRPr lang="en-US" sz="1350" dirty="0"/>
          </a:p>
          <a:p>
            <a:pPr indent="0" marL="0">
              <a:buNone/>
            </a:pPr>
            <a:r>
              <a:rPr lang="en-US" sz="1100" i="1" dirty="0">
                <a:solidFill>
                  <a:srgbClr val="5A6472"/>
                </a:solidFill>
                <a:latin typeface="Calibri" pitchFamily="34" charset="0"/>
                <a:cs typeface="Amiri" pitchFamily="2" charset="-78"/>
              </a:rPr>
              <a:t>al-mu-rā-ja-ʿa-tu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أَرْبَعُ مَرَاحِلَ</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الِاسْتِفْهَامُ</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question</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al-ِs-tif-hā-mu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هَلْ كَتَبَ …؟</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النَّفْيُ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negation</a:t>
            </a:r>
            <a:endParaRPr lang="en-US" sz="1350" dirty="0"/>
          </a:p>
          <a:p>
            <a:pPr indent="0" marL="0">
              <a:buNone/>
            </a:pPr>
            <a:r>
              <a:rPr lang="en-US" sz="1100" i="1" dirty="0">
                <a:solidFill>
                  <a:srgbClr val="5A6472"/>
                </a:solidFill>
                <a:latin typeface="Calibri" pitchFamily="34" charset="0"/>
                <a:cs typeface="Amiri" pitchFamily="2" charset="-78"/>
              </a:rPr>
              <a:t>an-naf-yu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مَا · لَمْ · لَا · لَنْ</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الْمَجْزُومُ</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jussive form (after lam)</a:t>
            </a:r>
            <a:endParaRPr lang="en-US" sz="1350" dirty="0"/>
          </a:p>
          <a:p>
            <a:pPr indent="0" marL="0">
              <a:buNone/>
            </a:pPr>
            <a:r>
              <a:rPr lang="en-US" sz="1100" i="1" dirty="0">
                <a:solidFill>
                  <a:srgbClr val="5A6472"/>
                </a:solidFill>
                <a:latin typeface="Calibri" pitchFamily="34" charset="0"/>
                <a:cs typeface="Amiri" pitchFamily="2" charset="-78"/>
              </a:rPr>
              <a:t>al-maj-zū-mu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لَمْ يَكْتُبْ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التَّنْوِيعُ</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variety (with a reason)</a:t>
            </a:r>
            <a:endParaRPr lang="en-US" sz="1350" dirty="0"/>
          </a:p>
          <a:p>
            <a:pPr indent="0" marL="0">
              <a:buNone/>
            </a:pPr>
            <a:r>
              <a:rPr lang="en-US" sz="1100" i="1" dirty="0">
                <a:solidFill>
                  <a:srgbClr val="5A6472"/>
                </a:solidFill>
                <a:latin typeface="Calibri" pitchFamily="34" charset="0"/>
                <a:cs typeface="Amiri" pitchFamily="2" charset="-78"/>
              </a:rPr>
              <a:t>at-tan-wī-ʿu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أَمَّا … فَـ</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CHOOSE THE ORDER FOR A REASON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What do you want to put in focus?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التَّرْتِيبَ 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363931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Opening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Purpose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669280" y="2267712"/>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فَازَ الْفَرِيقُ بِالْمُبَارَاةِ.</a:t>
            </a:r>
            <a:endParaRPr lang="ar-SA" sz="2200" dirty="0"/>
          </a:p>
        </p:txBody>
      </p:sp>
      <p:sp>
        <p:nvSpPr>
          <p:cNvPr id="21" name="Text 18"/>
          <p:cNvSpPr txBox="1"/>
          <p:nvPr/>
        </p:nvSpPr>
        <p:spPr>
          <a:xfrm>
            <a:off x="367588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first</a:t>
            </a:r>
            <a:endParaRPr lang="en-US" sz="1100" dirty="0"/>
          </a:p>
        </p:txBody>
      </p:sp>
      <p:sp>
        <p:nvSpPr>
          <p:cNvPr id="22" name="Text 19"/>
          <p:cNvSpPr txBox="1"/>
          <p:nvPr/>
        </p:nvSpPr>
        <p:spPr>
          <a:xfrm>
            <a:off x="5669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a new event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669280" y="3004718"/>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الْفَرِيقُ لَعِبَ بِمَهَارَةٍ.</a:t>
            </a:r>
            <a:endParaRPr lang="ar-SA" sz="2200" dirty="0"/>
          </a:p>
        </p:txBody>
      </p:sp>
      <p:sp>
        <p:nvSpPr>
          <p:cNvPr id="27" name="Text 24"/>
          <p:cNvSpPr txBox="1"/>
          <p:nvPr/>
        </p:nvSpPr>
        <p:spPr>
          <a:xfrm>
            <a:off x="367588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 first</a:t>
            </a:r>
            <a:endParaRPr lang="en-US" sz="1100" dirty="0"/>
          </a:p>
        </p:txBody>
      </p:sp>
      <p:sp>
        <p:nvSpPr>
          <p:cNvPr id="28" name="Text 25"/>
          <p:cNvSpPr txBox="1"/>
          <p:nvPr/>
        </p:nvSpPr>
        <p:spPr>
          <a:xfrm>
            <a:off x="5669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talking about a known person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669280" y="3741725"/>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عَلِيٌّ دَرَسَ، أَمَّا أَخُوهُ فَلَعِبَ.</a:t>
            </a:r>
            <a:endParaRPr lang="ar-SA" sz="2200" dirty="0"/>
          </a:p>
        </p:txBody>
      </p:sp>
      <p:sp>
        <p:nvSpPr>
          <p:cNvPr id="33" name="Text 30"/>
          <p:cNvSpPr txBox="1"/>
          <p:nvPr/>
        </p:nvSpPr>
        <p:spPr>
          <a:xfrm>
            <a:off x="367588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 first</a:t>
            </a:r>
            <a:endParaRPr lang="en-US" sz="1100" dirty="0"/>
          </a:p>
        </p:txBody>
      </p:sp>
      <p:sp>
        <p:nvSpPr>
          <p:cNvPr id="34" name="Text 31"/>
          <p:cNvSpPr txBox="1"/>
          <p:nvPr/>
        </p:nvSpPr>
        <p:spPr>
          <a:xfrm>
            <a:off x="5669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two topics</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669280" y="4478731"/>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وَصَلَ الطُّلَّابُ، ثُمَّ بَدَأَ الدَّرْسُ.</a:t>
            </a:r>
            <a:endParaRPr lang="ar-SA" sz="2200" dirty="0"/>
          </a:p>
        </p:txBody>
      </p:sp>
      <p:sp>
        <p:nvSpPr>
          <p:cNvPr id="37" name="Text 34"/>
          <p:cNvSpPr txBox="1"/>
          <p:nvPr/>
        </p:nvSpPr>
        <p:spPr>
          <a:xfrm>
            <a:off x="367588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often verb first</a:t>
            </a:r>
            <a:endParaRPr lang="en-US" sz="1100" dirty="0"/>
          </a:p>
        </p:txBody>
      </p:sp>
      <p:sp>
        <p:nvSpPr>
          <p:cNvPr id="38" name="Text 35"/>
          <p:cNvSpPr txBox="1"/>
          <p:nvPr/>
        </p:nvSpPr>
        <p:spPr>
          <a:xfrm>
            <a:off x="5669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a sequence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669280" y="5215738"/>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أَكْمَلُوا الْمَشْرُوعَ.</a:t>
            </a:r>
            <a:endParaRPr lang="ar-SA" sz="2200" dirty="0"/>
          </a:p>
        </p:txBody>
      </p:sp>
      <p:sp>
        <p:nvSpPr>
          <p:cNvPr id="41" name="Text 38"/>
          <p:cNvSpPr txBox="1"/>
          <p:nvPr/>
        </p:nvSpPr>
        <p:spPr>
          <a:xfrm>
            <a:off x="367588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 first</a:t>
            </a:r>
            <a:endParaRPr lang="en-US" sz="1100" dirty="0"/>
          </a:p>
        </p:txBody>
      </p:sp>
      <p:sp>
        <p:nvSpPr>
          <p:cNvPr id="42" name="Text 39"/>
          <p:cNvSpPr txBox="1"/>
          <p:nvPr/>
        </p:nvSpPr>
        <p:spPr>
          <a:xfrm>
            <a:off x="5669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“What did they do?”</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variety is not random. Do not swap VSO and SVO just to look advanced — change the order when it improves focus, contrast or flow.</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THE SENTENCE-BUILDING LADDER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secure step at a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بِنَاءِ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Adds</a:t>
            </a:r>
            <a:endParaRPr lang="en-US" sz="1100" dirty="0"/>
          </a:p>
        </p:txBody>
      </p:sp>
      <p:sp>
        <p:nvSpPr>
          <p:cNvPr id="17" name="Text 14"/>
          <p:cNvSpPr txBox="1"/>
          <p:nvPr/>
        </p:nvSpPr>
        <p:spPr>
          <a:xfrm>
            <a:off x="2267712" y="1810512"/>
            <a:ext cx="7443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893808" y="226771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 + S + O</a:t>
            </a:r>
            <a:endParaRPr lang="en-US" sz="1100" dirty="0"/>
          </a:p>
        </p:txBody>
      </p:sp>
      <p:sp>
        <p:nvSpPr>
          <p:cNvPr id="21" name="Text 18"/>
          <p:cNvSpPr txBox="1"/>
          <p:nvPr/>
        </p:nvSpPr>
        <p:spPr>
          <a:xfrm>
            <a:off x="2286000" y="2267712"/>
            <a:ext cx="7406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 الطَّالِبُ الرِّسَالَةَ.</a:t>
            </a:r>
            <a:endParaRPr lang="ar-SA" sz="2000" dirty="0"/>
          </a:p>
        </p:txBody>
      </p:sp>
      <p:sp>
        <p:nvSpPr>
          <p:cNvPr id="22" name="Text 19"/>
          <p:cNvSpPr txBox="1"/>
          <p:nvPr/>
        </p:nvSpPr>
        <p:spPr>
          <a:xfrm>
            <a:off x="566928" y="226771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core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893808" y="2881884"/>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a:t>
            </a:r>
            <a:endParaRPr lang="en-US" sz="1100" dirty="0"/>
          </a:p>
        </p:txBody>
      </p:sp>
      <p:sp>
        <p:nvSpPr>
          <p:cNvPr id="27" name="Text 24"/>
          <p:cNvSpPr txBox="1"/>
          <p:nvPr/>
        </p:nvSpPr>
        <p:spPr>
          <a:xfrm>
            <a:off x="2286000" y="2881884"/>
            <a:ext cx="7406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 الطَّالِبُ الرِّسَالَةَ أَمْسِ.</a:t>
            </a:r>
            <a:endParaRPr lang="ar-SA" sz="2000" dirty="0"/>
          </a:p>
        </p:txBody>
      </p:sp>
      <p:sp>
        <p:nvSpPr>
          <p:cNvPr id="28" name="Text 25"/>
          <p:cNvSpPr txBox="1"/>
          <p:nvPr/>
        </p:nvSpPr>
        <p:spPr>
          <a:xfrm>
            <a:off x="566928" y="2881884"/>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time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893808" y="3496056"/>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a:t>
            </a:r>
            <a:endParaRPr lang="en-US" sz="1100" dirty="0"/>
          </a:p>
        </p:txBody>
      </p:sp>
      <p:sp>
        <p:nvSpPr>
          <p:cNvPr id="33" name="Text 30"/>
          <p:cNvSpPr txBox="1"/>
          <p:nvPr/>
        </p:nvSpPr>
        <p:spPr>
          <a:xfrm>
            <a:off x="2286000" y="3496056"/>
            <a:ext cx="7406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 الطَّالِبُ الرِّسَالَةَ أَمْسِ فِي الْمَكْتَبَةِ.</a:t>
            </a:r>
            <a:endParaRPr lang="ar-SA" sz="2000" dirty="0"/>
          </a:p>
        </p:txBody>
      </p:sp>
      <p:sp>
        <p:nvSpPr>
          <p:cNvPr id="34" name="Text 31"/>
          <p:cNvSpPr txBox="1"/>
          <p:nvPr/>
        </p:nvSpPr>
        <p:spPr>
          <a:xfrm>
            <a:off x="566928" y="3496056"/>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place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9893808" y="4110228"/>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a:t>
            </a:r>
            <a:endParaRPr lang="en-US" sz="1100" dirty="0"/>
          </a:p>
        </p:txBody>
      </p:sp>
      <p:sp>
        <p:nvSpPr>
          <p:cNvPr id="39" name="Text 36"/>
          <p:cNvSpPr txBox="1"/>
          <p:nvPr/>
        </p:nvSpPr>
        <p:spPr>
          <a:xfrm>
            <a:off x="2286000" y="4110228"/>
            <a:ext cx="7406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 الطَّالِبُ الرِّسَالَةَ أَمْسِ فِي الْمَكْتَبَةِ بِعِنَايَةٍ.</a:t>
            </a:r>
            <a:endParaRPr lang="ar-SA" sz="2000" dirty="0"/>
          </a:p>
        </p:txBody>
      </p:sp>
      <p:sp>
        <p:nvSpPr>
          <p:cNvPr id="40" name="Text 37"/>
          <p:cNvSpPr txBox="1"/>
          <p:nvPr/>
        </p:nvSpPr>
        <p:spPr>
          <a:xfrm>
            <a:off x="566928" y="4110228"/>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manner</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9893808" y="4724400"/>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43" name="Text 40"/>
          <p:cNvSpPr txBox="1"/>
          <p:nvPr/>
        </p:nvSpPr>
        <p:spPr>
          <a:xfrm>
            <a:off x="2286000" y="4724400"/>
            <a:ext cx="7406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 الطَّالِبُ الرِّسَالَةَ لِأَنَّهُ أَرَادَ الِاعْتِذَارَ.</a:t>
            </a:r>
            <a:endParaRPr lang="ar-SA" sz="2000" dirty="0"/>
          </a:p>
        </p:txBody>
      </p:sp>
      <p:sp>
        <p:nvSpPr>
          <p:cNvPr id="44" name="Text 41"/>
          <p:cNvSpPr txBox="1"/>
          <p:nvPr/>
        </p:nvSpPr>
        <p:spPr>
          <a:xfrm>
            <a:off x="566928" y="4724400"/>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reason</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893808" y="533857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event</a:t>
            </a:r>
            <a:endParaRPr lang="en-US" sz="1100" dirty="0"/>
          </a:p>
        </p:txBody>
      </p:sp>
      <p:sp>
        <p:nvSpPr>
          <p:cNvPr id="47" name="Text 44"/>
          <p:cNvSpPr txBox="1"/>
          <p:nvPr/>
        </p:nvSpPr>
        <p:spPr>
          <a:xfrm>
            <a:off x="2286000" y="5338572"/>
            <a:ext cx="7406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ثُمَّ أَرْسَلَهَا إِلَى صَدِيقِهِ.</a:t>
            </a:r>
            <a:endParaRPr lang="ar-SA" sz="2000" dirty="0"/>
          </a:p>
        </p:txBody>
      </p:sp>
      <p:sp>
        <p:nvSpPr>
          <p:cNvPr id="48" name="Text 45"/>
          <p:cNvSpPr txBox="1"/>
          <p:nvPr/>
        </p:nvSpPr>
        <p:spPr>
          <a:xfrm>
            <a:off x="566928" y="533857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 link</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object control: in arsalahā the attached -hā refers back to ar-risāla (feminine). After every new step, re-check the core: is the verb still right for its subject?</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TRANSFORM ACROSS PAST, PRESENT AND FUTURE (WEBSITE TABLE)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Change the time — rebuild the verb</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غَيِّرِ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02259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17" name="Text 14"/>
          <p:cNvSpPr txBox="1"/>
          <p:nvPr/>
        </p:nvSpPr>
        <p:spPr>
          <a:xfrm>
            <a:off x="2359152" y="1810512"/>
            <a:ext cx="4517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040880" y="2267712"/>
            <a:ext cx="459943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زَارُوا الْمَتْحَفَ أَمْسِ.</a:t>
            </a:r>
            <a:endParaRPr lang="ar-SA" sz="2000" dirty="0"/>
          </a:p>
        </p:txBody>
      </p:sp>
      <p:sp>
        <p:nvSpPr>
          <p:cNvPr id="21" name="Text 18"/>
          <p:cNvSpPr txBox="1"/>
          <p:nvPr/>
        </p:nvSpPr>
        <p:spPr>
          <a:xfrm>
            <a:off x="2377440" y="2267712"/>
            <a:ext cx="44805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زَارَ الطُّلَّابُ الْمَتْحَفَ أَمْسِ.</a:t>
            </a:r>
            <a:endParaRPr lang="ar-SA" sz="2000" dirty="0"/>
          </a:p>
        </p:txBody>
      </p:sp>
      <p:sp>
        <p:nvSpPr>
          <p:cNvPr id="22" name="Text 19"/>
          <p:cNvSpPr txBox="1"/>
          <p:nvPr/>
        </p:nvSpPr>
        <p:spPr>
          <a:xfrm>
            <a:off x="56692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040880" y="3054096"/>
            <a:ext cx="459943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يَزُورُونَ الْمَتْحَفَ كُلَّ سَنَةٍ.</a:t>
            </a:r>
            <a:endParaRPr lang="ar-SA" sz="2000" dirty="0"/>
          </a:p>
        </p:txBody>
      </p:sp>
      <p:sp>
        <p:nvSpPr>
          <p:cNvPr id="27" name="Text 24"/>
          <p:cNvSpPr txBox="1"/>
          <p:nvPr/>
        </p:nvSpPr>
        <p:spPr>
          <a:xfrm>
            <a:off x="2377440" y="3054096"/>
            <a:ext cx="44805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يَزُورُ الطُّلَّابُ الْمَتْحَفَ كُلَّ سَنَةٍ.</a:t>
            </a:r>
            <a:endParaRPr lang="ar-SA" sz="2000" dirty="0"/>
          </a:p>
        </p:txBody>
      </p:sp>
      <p:sp>
        <p:nvSpPr>
          <p:cNvPr id="28" name="Text 25"/>
          <p:cNvSpPr txBox="1"/>
          <p:nvPr/>
        </p:nvSpPr>
        <p:spPr>
          <a:xfrm>
            <a:off x="56692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habit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040880" y="3840480"/>
            <a:ext cx="459943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سَيَزُورُونَ الْمَتْحَفَ غَدًا.</a:t>
            </a:r>
            <a:endParaRPr lang="ar-SA" sz="2000" dirty="0"/>
          </a:p>
        </p:txBody>
      </p:sp>
      <p:sp>
        <p:nvSpPr>
          <p:cNvPr id="33" name="Text 30"/>
          <p:cNvSpPr txBox="1"/>
          <p:nvPr/>
        </p:nvSpPr>
        <p:spPr>
          <a:xfrm>
            <a:off x="2377440" y="3840480"/>
            <a:ext cx="44805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سَيَزُورُ الطُّلَّابُ الْمَتْحَفَ غَدًا.</a:t>
            </a:r>
            <a:endParaRPr lang="ar-SA" sz="2000" dirty="0"/>
          </a:p>
        </p:txBody>
      </p:sp>
      <p:sp>
        <p:nvSpPr>
          <p:cNvPr id="34" name="Text 31"/>
          <p:cNvSpPr txBox="1"/>
          <p:nvPr/>
        </p:nvSpPr>
        <p:spPr>
          <a:xfrm>
            <a:off x="56692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040880" y="4626864"/>
            <a:ext cx="459943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لَنْ يَزُورُوا الْمَتْحَفَ غَدًا.</a:t>
            </a:r>
            <a:endParaRPr lang="ar-SA" sz="2000" dirty="0"/>
          </a:p>
        </p:txBody>
      </p:sp>
      <p:sp>
        <p:nvSpPr>
          <p:cNvPr id="37" name="Text 34"/>
          <p:cNvSpPr txBox="1"/>
          <p:nvPr/>
        </p:nvSpPr>
        <p:spPr>
          <a:xfrm>
            <a:off x="2377440" y="4626864"/>
            <a:ext cx="44805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لَنْ يَزُورَ الطُّلَّابُ الْمَتْحَفَ غَدًا.</a:t>
            </a:r>
            <a:endParaRPr lang="ar-SA" sz="2000" dirty="0"/>
          </a:p>
        </p:txBody>
      </p:sp>
      <p:sp>
        <p:nvSpPr>
          <p:cNvPr id="38" name="Text 35"/>
          <p:cNvSpPr txBox="1"/>
          <p:nvPr/>
        </p:nvSpPr>
        <p:spPr>
          <a:xfrm>
            <a:off x="56692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negative</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editing question: did you change only the time word, or did you also rebuild the verb for its order and subject? Column 2 stays singular; column 3 shows full agreement.</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4 · QUESTIONS AND NEGATION KEEP THE ROLES (WEBSITE TABLE)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Add hal, mā, lam, lā, lan — keep the rule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الِاسْتِفْهَامُ وَالنَّفْيُ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17" name="Text 14"/>
          <p:cNvSpPr txBox="1"/>
          <p:nvPr/>
        </p:nvSpPr>
        <p:spPr>
          <a:xfrm>
            <a:off x="2816352"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a:t>
            </a:r>
            <a:endParaRPr lang="en-US" sz="1100" dirty="0"/>
          </a:p>
        </p:txBody>
      </p:sp>
      <p:sp>
        <p:nvSpPr>
          <p:cNvPr id="18" name="Text 15"/>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315200" y="2267712"/>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الطُّلَّابُ كَتَبُوا التَّقْرِيرَ؟</a:t>
            </a:r>
            <a:endParaRPr lang="ar-SA" sz="2000" dirty="0"/>
          </a:p>
        </p:txBody>
      </p:sp>
      <p:sp>
        <p:nvSpPr>
          <p:cNvPr id="21" name="Text 18"/>
          <p:cNvSpPr txBox="1"/>
          <p:nvPr/>
        </p:nvSpPr>
        <p:spPr>
          <a:xfrm>
            <a:off x="2834640" y="2267712"/>
            <a:ext cx="4297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كَتَبَ الطُّلَّابُ التَّقْرِيرَ؟</a:t>
            </a:r>
            <a:endParaRPr lang="ar-SA" sz="2000" dirty="0"/>
          </a:p>
        </p:txBody>
      </p:sp>
      <p:sp>
        <p:nvSpPr>
          <p:cNvPr id="22" name="Text 19"/>
          <p:cNvSpPr txBox="1"/>
          <p:nvPr/>
        </p:nvSpPr>
        <p:spPr>
          <a:xfrm>
            <a:off x="56692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no question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315200" y="3004718"/>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مَا كَتَبُوا التَّقْرِيرَ.</a:t>
            </a:r>
            <a:endParaRPr lang="ar-SA" sz="2000" dirty="0"/>
          </a:p>
        </p:txBody>
      </p:sp>
      <p:sp>
        <p:nvSpPr>
          <p:cNvPr id="27" name="Text 24"/>
          <p:cNvSpPr txBox="1"/>
          <p:nvPr/>
        </p:nvSpPr>
        <p:spPr>
          <a:xfrm>
            <a:off x="2834640" y="3004718"/>
            <a:ext cx="4297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كَتَبَ الطُّلَّابُ التَّقْرِيرَ.</a:t>
            </a:r>
            <a:endParaRPr lang="ar-SA" sz="2000" dirty="0"/>
          </a:p>
        </p:txBody>
      </p:sp>
      <p:sp>
        <p:nvSpPr>
          <p:cNvPr id="28" name="Text 25"/>
          <p:cNvSpPr txBox="1"/>
          <p:nvPr/>
        </p:nvSpPr>
        <p:spPr>
          <a:xfrm>
            <a:off x="56692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negative (mā)</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7315200" y="3741725"/>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لَمْ يَكْتُبُوا التَّقْرِيرَ.</a:t>
            </a:r>
            <a:endParaRPr lang="ar-SA" sz="2000" dirty="0"/>
          </a:p>
        </p:txBody>
      </p:sp>
      <p:sp>
        <p:nvSpPr>
          <p:cNvPr id="31" name="Text 28"/>
          <p:cNvSpPr txBox="1"/>
          <p:nvPr/>
        </p:nvSpPr>
        <p:spPr>
          <a:xfrm>
            <a:off x="2834640" y="3741725"/>
            <a:ext cx="4297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 يَكْتُبِ الطُّلَّابُ التَّقْرِيرَ.</a:t>
            </a:r>
            <a:endParaRPr lang="ar-SA" sz="2000" dirty="0"/>
          </a:p>
        </p:txBody>
      </p:sp>
      <p:sp>
        <p:nvSpPr>
          <p:cNvPr id="32" name="Text 29"/>
          <p:cNvSpPr txBox="1"/>
          <p:nvPr/>
        </p:nvSpPr>
        <p:spPr>
          <a:xfrm>
            <a:off x="56692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negative (lam)</a:t>
            </a:r>
            <a:endParaRPr lang="en-US" sz="1100" dirty="0"/>
          </a:p>
        </p:txBody>
      </p:sp>
      <p:sp>
        <p:nvSpPr>
          <p:cNvPr id="33" name="Shape 3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315200" y="4478731"/>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لَا يَكْتُبُونَ الْآنَ.</a:t>
            </a:r>
            <a:endParaRPr lang="ar-SA" sz="2000" dirty="0"/>
          </a:p>
        </p:txBody>
      </p:sp>
      <p:sp>
        <p:nvSpPr>
          <p:cNvPr id="37" name="Text 34"/>
          <p:cNvSpPr txBox="1"/>
          <p:nvPr/>
        </p:nvSpPr>
        <p:spPr>
          <a:xfrm>
            <a:off x="2834640" y="4478731"/>
            <a:ext cx="4297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يَكْتُبُ الطُّلَّابُ الْآنَ.</a:t>
            </a:r>
            <a:endParaRPr lang="ar-SA" sz="2000" dirty="0"/>
          </a:p>
        </p:txBody>
      </p:sp>
      <p:sp>
        <p:nvSpPr>
          <p:cNvPr id="38" name="Text 35"/>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negative (lā)</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315200" y="5215738"/>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الطُّلَّابُ لَنْ يَكْتُبُوا غَدًا.</a:t>
            </a:r>
            <a:endParaRPr lang="ar-SA" sz="2000" dirty="0"/>
          </a:p>
        </p:txBody>
      </p:sp>
      <p:sp>
        <p:nvSpPr>
          <p:cNvPr id="41" name="Text 38"/>
          <p:cNvSpPr txBox="1"/>
          <p:nvPr/>
        </p:nvSpPr>
        <p:spPr>
          <a:xfrm>
            <a:off x="2834640" y="5215738"/>
            <a:ext cx="4297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لَنْ يَكْتُبَ الطُّلَّابُ غَدًا.</a:t>
            </a:r>
            <a:endParaRPr lang="ar-SA" sz="2000" dirty="0"/>
          </a:p>
        </p:txBody>
      </p:sp>
      <p:sp>
        <p:nvSpPr>
          <p:cNvPr id="42" name="Text 39"/>
          <p:cNvSpPr txBox="1"/>
          <p:nvPr/>
        </p:nvSpPr>
        <p:spPr>
          <a:xfrm>
            <a:off x="56692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negative (lan)</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mix systems. Lam needs the present (jussive) form with a past meaning — lam yaktub = he did not write. Lam kataba is wrong.</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5 · THE FOUR-PASS EDITING ROUTINE (WEBSITE TABLE) · STRETCH</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Edit one thing at a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الْمُرَاجَعَةُ فِي أَرْبَعِ مَرَاحِلَ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a:t>
            </a:r>
            <a:endParaRPr lang="en-US" sz="1100" dirty="0"/>
          </a:p>
        </p:txBody>
      </p:sp>
      <p:sp>
        <p:nvSpPr>
          <p:cNvPr id="17" name="Text 14"/>
          <p:cNvSpPr txBox="1"/>
          <p:nvPr/>
        </p:nvSpPr>
        <p:spPr>
          <a:xfrm>
            <a:off x="254203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65008" y="2267712"/>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 V, S and O</a:t>
            </a:r>
            <a:endParaRPr lang="en-US" sz="1100" dirty="0"/>
          </a:p>
        </p:txBody>
      </p:sp>
      <p:sp>
        <p:nvSpPr>
          <p:cNvPr id="21" name="Text 18"/>
          <p:cNvSpPr txBox="1"/>
          <p:nvPr/>
        </p:nvSpPr>
        <p:spPr>
          <a:xfrm>
            <a:off x="2578608" y="2267712"/>
            <a:ext cx="53035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verb? Who is the subject? Is there an object?</a:t>
            </a:r>
            <a:endParaRPr lang="en-US" sz="1100" dirty="0"/>
          </a:p>
        </p:txBody>
      </p:sp>
      <p:sp>
        <p:nvSpPr>
          <p:cNvPr id="22" name="Text 19"/>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Roles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65008" y="3054096"/>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full or singular agreement</a:t>
            </a:r>
            <a:endParaRPr lang="en-US" sz="1100" dirty="0"/>
          </a:p>
        </p:txBody>
      </p:sp>
      <p:sp>
        <p:nvSpPr>
          <p:cNvPr id="27" name="Text 24"/>
          <p:cNvSpPr txBox="1"/>
          <p:nvPr/>
        </p:nvSpPr>
        <p:spPr>
          <a:xfrm>
            <a:off x="2578608" y="3054096"/>
            <a:ext cx="53035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the subject come before or after the verb?</a:t>
            </a:r>
            <a:endParaRPr lang="en-US" sz="1100" dirty="0"/>
          </a:p>
        </p:txBody>
      </p:sp>
      <p:sp>
        <p:nvSpPr>
          <p:cNvPr id="28" name="Text 25"/>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Order</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065008" y="3840480"/>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repair prefix, suffix, end vowel</a:t>
            </a:r>
            <a:endParaRPr lang="en-US" sz="1100" dirty="0"/>
          </a:p>
        </p:txBody>
      </p:sp>
      <p:sp>
        <p:nvSpPr>
          <p:cNvPr id="33" name="Text 30"/>
          <p:cNvSpPr txBox="1"/>
          <p:nvPr/>
        </p:nvSpPr>
        <p:spPr>
          <a:xfrm>
            <a:off x="2578608" y="3840480"/>
            <a:ext cx="53035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person, gender, number, tense and mood fit?</a:t>
            </a:r>
            <a:endParaRPr lang="en-US" sz="1100" dirty="0"/>
          </a:p>
        </p:txBody>
      </p:sp>
      <p:sp>
        <p:nvSpPr>
          <p:cNvPr id="34" name="Text 31"/>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Verb form</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065008" y="4626864"/>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reference and flow</a:t>
            </a:r>
            <a:endParaRPr lang="en-US" sz="1100" dirty="0"/>
          </a:p>
        </p:txBody>
      </p:sp>
      <p:sp>
        <p:nvSpPr>
          <p:cNvPr id="37" name="Text 34"/>
          <p:cNvSpPr txBox="1"/>
          <p:nvPr/>
        </p:nvSpPr>
        <p:spPr>
          <a:xfrm>
            <a:off x="2578608" y="4626864"/>
            <a:ext cx="53035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pronouns, prepositions, time words and links clear?</a:t>
            </a:r>
            <a:endParaRPr lang="en-US" sz="1100" dirty="0"/>
          </a:p>
        </p:txBody>
      </p:sp>
      <p:sp>
        <p:nvSpPr>
          <p:cNvPr id="38" name="Text 35"/>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Expansion</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tip: read backwards for agreement — start at the end of the sentence, find the subject, then go back to the verb. This stops you reading only for meaning.</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have already mentioned the girls. Say what they did.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قَدَّمَتِ الطَّالِبَاتُ الْعَرْضَ.</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قَدَّمْنَ الطَّالِبَاتُ الْعَرْضَ.</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قَدَّمْنَ الْعَرْضَ.</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Ali and Maryam.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 كَتَبَ، أَمَّا مَرْيَمُ فَقَرَأَتْ.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 عَلِيٌّ مَرْيَمُ قَرَأَتْ.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عَلِيًّا كَتَبَ مَرْيَمَ.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expanded sentence remains accurate?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 سَلْمَى الْمَقَالَةُ أَمْسِ.</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 سَلْمَى الْمَقَالَةَ أَمْسِ بِعِنَايَةٍ.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سَلْمَى قَرَأُوا الْمَقَالَةَ.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لَمْ ذَهَبَ الطُّلَّابُ.</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يَذْهَبِ الطُّلَّابُ.</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ذَهَبَ الطُّلَّابُ.</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يَذْهَبُ الطُّلَّابُ أَمْسِ.</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have already mentioned the girls. Say what they did.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قَدَّمَتِ الطَّالِبَاتُ الْعَرْضَ.</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قَدَّمْنَ الطَّالِبَاتُ الْعَرْضَ.</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الطَّالِبَاتُ قَدَّمْنَ الْعَرْضَ.</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Known girls as topic → subject first, full agreement.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Ali and Maryam.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عَلِيٌّ كَتَبَ، أَمَّا مَرْيَمُ فَقَرَأَتْ.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 عَلِيٌّ مَرْيَمُ قَرَأَتْ.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عَلِيًّا كَتَبَ مَرْيَمَ.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Subject-first topics make the contrast clear.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expanded sentence remains accurate?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 سَلْمَى الْمَقَالَةُ أَمْسِ.</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قَرَأَتْ سَلْمَى الْمَقَالَةَ أَمْسِ بِعِنَايَةٍ.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سَلْمَى قَرَأُوا الْمَقَالَةَ.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core and the details are all clear.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لَمْ ذَهَبَ الطُّلَّابُ.</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 يَذْهَبِ الطُّلَّابُ.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ذَهَبَ الطُّلَّابُ.</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يَذْهَبُ الطُّلَّابُ أَمْسِ.</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Lam + present (jussive) form.</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edit a draft in four passes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Roles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الطُّلَّابُ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Subject: boys, plural.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Order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فِعْلٌ ثُمَّ فَاعِلٌ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first → singular.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Verb form</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وَصَلَ</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Repair: waṣala.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Expansion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الدَّرْسَ</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SUBJECT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بَدَأَ</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الْيَوْمُ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مُبَكِّرًا، ثُمَّ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وَصَلَ</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الطُّلَّابُ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إِلَى الْمَدْرَسَةِ فِي السَّاعَةِ الثَّامِنَةِ.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الطَّالِبَاتُ</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جَهَّزْنَ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الْقَاعَةَ، أَمَّا الْمُعَلِّمُونَ فَرَاجَعُوا الْخُطَّةَ. لَمْ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تَصِلِ</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الْحَافِلَاتُ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الْمَوْعِدِ، وَلَكِنَّهَا سَتَصِلُ قَرِيبًا.</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day began early, then the students arrived at school at eight o’clock. The girls prepared the hall; as for the teachers, they reviewed the plan. The buses did not arrive on time, but they will arrive soon.</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فَازَ الْفَرِيقُ بِالْمُبَارَاةِ.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team won the match.</a:t>
            </a:r>
            <a:endParaRPr lang="en-US" sz="1250" dirty="0"/>
          </a:p>
          <a:p>
            <a:pPr indent="0" marL="0">
              <a:buNone/>
            </a:pPr>
            <a:r>
              <a:rPr lang="en-US" sz="1050" i="1" dirty="0">
                <a:solidFill>
                  <a:srgbClr val="8A6D1E"/>
                </a:solidFill>
                <a:latin typeface="Calibri" pitchFamily="34" charset="0"/>
                <a:cs typeface="Amiri" pitchFamily="2" charset="-78"/>
              </a:rPr>
              <a:t>New event: verb first.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عَلِيٌّ دَرَسَ، أَمَّا أَخُوهُ فَلَعِبَ.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Ali studied; as for his brother, he played.</a:t>
            </a:r>
            <a:endParaRPr lang="en-US" sz="1250" dirty="0"/>
          </a:p>
          <a:p>
            <a:pPr indent="0" marL="0">
              <a:buNone/>
            </a:pPr>
            <a:r>
              <a:rPr lang="en-US" sz="1050" i="1" dirty="0">
                <a:solidFill>
                  <a:srgbClr val="8A6D1E"/>
                </a:solidFill>
                <a:latin typeface="Calibri" pitchFamily="34" charset="0"/>
                <a:cs typeface="Amiri" pitchFamily="2" charset="-78"/>
              </a:rPr>
              <a:t>Contrast: subject first.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كَتَبَ الطُّلَّابُ التَّقْرِيرَ؟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Did the students write the report?</a:t>
            </a:r>
            <a:endParaRPr lang="en-US" sz="1250" dirty="0"/>
          </a:p>
          <a:p>
            <a:pPr indent="0" marL="0">
              <a:buNone/>
            </a:pPr>
            <a:r>
              <a:rPr lang="en-US" sz="1050" i="1" dirty="0">
                <a:solidFill>
                  <a:srgbClr val="8A6D1E"/>
                </a:solidFill>
                <a:latin typeface="Calibri" pitchFamily="34" charset="0"/>
                <a:cs typeface="Amiri" pitchFamily="2" charset="-78"/>
              </a:rPr>
              <a:t>hal + VSO.</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 يَزُورَ الطُّلَّابُ الْمَتْحَفَ غَدًا.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students will not visit the museum tomorrow.</a:t>
            </a:r>
            <a:endParaRPr lang="en-US" sz="1250" dirty="0"/>
          </a:p>
          <a:p>
            <a:pPr indent="0" marL="0">
              <a:buNone/>
            </a:pPr>
            <a:r>
              <a:rPr lang="en-US" sz="1050" i="1" dirty="0">
                <a:solidFill>
                  <a:srgbClr val="8A6D1E"/>
                </a:solidFill>
                <a:latin typeface="Calibri" pitchFamily="34" charset="0"/>
                <a:cs typeface="Amiri" pitchFamily="2" charset="-78"/>
              </a:rPr>
              <a:t>lan + -a.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INTEGRATED CLINIC (WEBSITE) · USE THE FOUR PASSES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problem, name the pass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وَصَحِّحْ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Reason</a:t>
            </a:r>
            <a:endParaRPr lang="en-US" sz="1100" dirty="0"/>
          </a:p>
        </p:txBody>
      </p:sp>
      <p:sp>
        <p:nvSpPr>
          <p:cNvPr id="17" name="Text 14"/>
          <p:cNvSpPr txBox="1"/>
          <p:nvPr/>
        </p:nvSpPr>
        <p:spPr>
          <a:xfrm>
            <a:off x="47365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Improved</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Draft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979408" y="2267712"/>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VSO singular; object -a</a:t>
            </a:r>
            <a:endParaRPr lang="en-US" sz="1100" dirty="0"/>
          </a:p>
        </p:txBody>
      </p:sp>
      <p:sp>
        <p:nvSpPr>
          <p:cNvPr id="21" name="Text 18"/>
          <p:cNvSpPr txBox="1"/>
          <p:nvPr/>
        </p:nvSpPr>
        <p:spPr>
          <a:xfrm>
            <a:off x="4754880" y="2267712"/>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وَصَلَ الطُّلَّابُ، ثُمَّ بَدَأُوا الدَّرْسَ.</a:t>
            </a:r>
            <a:endParaRPr lang="ar-SA" sz="2000" dirty="0"/>
          </a:p>
        </p:txBody>
      </p:sp>
      <p:sp>
        <p:nvSpPr>
          <p:cNvPr id="22" name="Text 19"/>
          <p:cNvSpPr txBox="1"/>
          <p:nvPr/>
        </p:nvSpPr>
        <p:spPr>
          <a:xfrm>
            <a:off x="548640" y="2267712"/>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وَصَلُوا الطُّلَّابُ ثُمَّ بَدَأُوا الدَّرْسُ.</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979408" y="300471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SVO: full agreement</a:t>
            </a:r>
            <a:endParaRPr lang="en-US" sz="1100" dirty="0"/>
          </a:p>
        </p:txBody>
      </p:sp>
      <p:sp>
        <p:nvSpPr>
          <p:cNvPr id="27" name="Text 24"/>
          <p:cNvSpPr txBox="1"/>
          <p:nvPr/>
        </p:nvSpPr>
        <p:spPr>
          <a:xfrm>
            <a:off x="4754880" y="300471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الطَّالِبَاتُ سَيَقْرَأْنَ الْمَقَالَةَ.</a:t>
            </a:r>
            <a:endParaRPr lang="ar-SA" sz="2000" dirty="0"/>
          </a:p>
        </p:txBody>
      </p:sp>
      <p:sp>
        <p:nvSpPr>
          <p:cNvPr id="28" name="Text 25"/>
          <p:cNvSpPr txBox="1"/>
          <p:nvPr/>
        </p:nvSpPr>
        <p:spPr>
          <a:xfrm>
            <a:off x="548640" y="300471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الطَّالِبَاتُ سَيَقْرَأُ الْمَقَالَةَ.</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979408" y="3741725"/>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 + present form</a:t>
            </a:r>
            <a:endParaRPr lang="en-US" sz="1100" dirty="0"/>
          </a:p>
        </p:txBody>
      </p:sp>
      <p:sp>
        <p:nvSpPr>
          <p:cNvPr id="33" name="Text 30"/>
          <p:cNvSpPr txBox="1"/>
          <p:nvPr/>
        </p:nvSpPr>
        <p:spPr>
          <a:xfrm>
            <a:off x="4754880" y="3741725"/>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 يَكْتُبِ الْوَلَدَانِ الْوَاجِبَ.</a:t>
            </a:r>
            <a:endParaRPr lang="ar-SA" sz="2000" dirty="0"/>
          </a:p>
        </p:txBody>
      </p:sp>
      <p:sp>
        <p:nvSpPr>
          <p:cNvPr id="34" name="Text 31"/>
          <p:cNvSpPr txBox="1"/>
          <p:nvPr/>
        </p:nvSpPr>
        <p:spPr>
          <a:xfrm>
            <a:off x="548640" y="3741725"/>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 كَتَبَ الْوَلَدَانِ الْوَاجِبَ.</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979408" y="4478731"/>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“she”</a:t>
            </a:r>
            <a:endParaRPr lang="en-US" sz="1100" dirty="0"/>
          </a:p>
        </p:txBody>
      </p:sp>
      <p:sp>
        <p:nvSpPr>
          <p:cNvPr id="37" name="Text 34"/>
          <p:cNvSpPr txBox="1"/>
          <p:nvPr/>
        </p:nvSpPr>
        <p:spPr>
          <a:xfrm>
            <a:off x="4754880" y="4478731"/>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الْحَافِلَاتُ وَصَلَتْ وَهِيَ سَرِيعَةٌ.</a:t>
            </a:r>
            <a:endParaRPr lang="ar-SA" sz="2000" dirty="0"/>
          </a:p>
        </p:txBody>
      </p:sp>
      <p:sp>
        <p:nvSpPr>
          <p:cNvPr id="38" name="Text 35"/>
          <p:cNvSpPr txBox="1"/>
          <p:nvPr/>
        </p:nvSpPr>
        <p:spPr>
          <a:xfrm>
            <a:off x="548640" y="4478731"/>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الْحَافِلَاتُ وَصَلْنَ وَهُمْ سَرِيعُونَ.</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979408" y="521573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clear pronoun</a:t>
            </a:r>
            <a:endParaRPr lang="en-US" sz="1100" dirty="0"/>
          </a:p>
        </p:txBody>
      </p:sp>
      <p:sp>
        <p:nvSpPr>
          <p:cNvPr id="41" name="Text 38"/>
          <p:cNvSpPr txBox="1"/>
          <p:nvPr/>
        </p:nvSpPr>
        <p:spPr>
          <a:xfrm>
            <a:off x="4754880" y="521573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قَرَأَتْ مَرْيَمُ الرِّسَالَةَ ثُمَّ أَرْسَلَتْهَا.</a:t>
            </a:r>
            <a:endParaRPr lang="ar-SA" sz="2000" dirty="0"/>
          </a:p>
        </p:txBody>
      </p:sp>
      <p:sp>
        <p:nvSpPr>
          <p:cNvPr id="42" name="Text 39"/>
          <p:cNvSpPr txBox="1"/>
          <p:nvPr/>
        </p:nvSpPr>
        <p:spPr>
          <a:xfrm>
            <a:off x="548640" y="521573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قَرَأَتْ مَرْيَمُ الرِّسَالَةَ ثُمَّ أَرْسَلَهُ.</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use the four-pass routine and state the reason for each repair. Row 1: after waṣala ṭ-ṭullābu, the second verb carries its own plural subject — badaʾū is correct.</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ASK IT, DENY IT (WEBSITE QUESTIONS AND NEGATION)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Statement → question → negative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اِسْأَلْ وَانْفِ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3699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Negative</a:t>
            </a:r>
            <a:endParaRPr lang="en-US" sz="1100" dirty="0"/>
          </a:p>
        </p:txBody>
      </p:sp>
      <p:sp>
        <p:nvSpPr>
          <p:cNvPr id="17" name="Text 14"/>
          <p:cNvSpPr txBox="1"/>
          <p:nvPr/>
        </p:nvSpPr>
        <p:spPr>
          <a:xfrm>
            <a:off x="409651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Statement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955280" y="2267712"/>
            <a:ext cx="36850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 يَكْتُبِ الطُّلَّابُ التَّقْرِيرَ.</a:t>
            </a:r>
            <a:endParaRPr lang="ar-SA" sz="2000" dirty="0"/>
          </a:p>
        </p:txBody>
      </p:sp>
      <p:sp>
        <p:nvSpPr>
          <p:cNvPr id="21" name="Text 18"/>
          <p:cNvSpPr txBox="1"/>
          <p:nvPr/>
        </p:nvSpPr>
        <p:spPr>
          <a:xfrm>
            <a:off x="4114800" y="2267712"/>
            <a:ext cx="36576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كَتَبَ الطُّلَّابُ التَّقْرِيرَ؟</a:t>
            </a:r>
            <a:endParaRPr lang="ar-SA" sz="2000" dirty="0"/>
          </a:p>
        </p:txBody>
      </p:sp>
      <p:sp>
        <p:nvSpPr>
          <p:cNvPr id="22" name="Text 19"/>
          <p:cNvSpPr txBox="1"/>
          <p:nvPr/>
        </p:nvSpPr>
        <p:spPr>
          <a:xfrm>
            <a:off x="548640" y="2267712"/>
            <a:ext cx="33832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 الطُّلَّابُ التَّقْرِيرَ.</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955280" y="2881884"/>
            <a:ext cx="36850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 يَصِلِ الْقِطَارُ.</a:t>
            </a:r>
            <a:endParaRPr lang="ar-SA" sz="2000" dirty="0"/>
          </a:p>
        </p:txBody>
      </p:sp>
      <p:sp>
        <p:nvSpPr>
          <p:cNvPr id="27" name="Text 24"/>
          <p:cNvSpPr txBox="1"/>
          <p:nvPr/>
        </p:nvSpPr>
        <p:spPr>
          <a:xfrm>
            <a:off x="4114800" y="2881884"/>
            <a:ext cx="36576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وَصَلَ الْقِطَارُ؟</a:t>
            </a:r>
            <a:endParaRPr lang="ar-SA" sz="2000" dirty="0"/>
          </a:p>
        </p:txBody>
      </p:sp>
      <p:sp>
        <p:nvSpPr>
          <p:cNvPr id="28" name="Text 25"/>
          <p:cNvSpPr txBox="1"/>
          <p:nvPr/>
        </p:nvSpPr>
        <p:spPr>
          <a:xfrm>
            <a:off x="548640" y="2881884"/>
            <a:ext cx="33832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وَصَلَ الْقِطَارُ.</a:t>
            </a:r>
            <a:endParaRPr lang="ar-SA" sz="20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955280" y="3496056"/>
            <a:ext cx="36850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 تَفْتَحِ الْبَنَاتُ الْبَابَ.</a:t>
            </a:r>
            <a:endParaRPr lang="ar-SA" sz="2000" dirty="0"/>
          </a:p>
        </p:txBody>
      </p:sp>
      <p:sp>
        <p:nvSpPr>
          <p:cNvPr id="33" name="Text 30"/>
          <p:cNvSpPr txBox="1"/>
          <p:nvPr/>
        </p:nvSpPr>
        <p:spPr>
          <a:xfrm>
            <a:off x="4114800" y="3496056"/>
            <a:ext cx="36576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فَتَحَتِ الْبَنَاتُ الْبَابَ؟</a:t>
            </a:r>
            <a:endParaRPr lang="ar-SA" sz="2000" dirty="0"/>
          </a:p>
        </p:txBody>
      </p:sp>
      <p:sp>
        <p:nvSpPr>
          <p:cNvPr id="34" name="Text 31"/>
          <p:cNvSpPr txBox="1"/>
          <p:nvPr/>
        </p:nvSpPr>
        <p:spPr>
          <a:xfrm>
            <a:off x="548640" y="3496056"/>
            <a:ext cx="33832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فَتَحَتِ الْبَنَاتُ الْبَابَ.</a:t>
            </a:r>
            <a:endParaRPr lang="ar-SA" sz="20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955280" y="4110228"/>
            <a:ext cx="36850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يَدْرُسُ الطُّلَّابُ الْآنَ.</a:t>
            </a:r>
            <a:endParaRPr lang="ar-SA" sz="2000" dirty="0"/>
          </a:p>
        </p:txBody>
      </p:sp>
      <p:sp>
        <p:nvSpPr>
          <p:cNvPr id="37" name="Text 34"/>
          <p:cNvSpPr txBox="1"/>
          <p:nvPr/>
        </p:nvSpPr>
        <p:spPr>
          <a:xfrm>
            <a:off x="4114800" y="4110228"/>
            <a:ext cx="36576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يَدْرُسُ الطُّلَّابُ الْآنَ؟</a:t>
            </a:r>
            <a:endParaRPr lang="ar-SA" sz="2000" dirty="0"/>
          </a:p>
        </p:txBody>
      </p:sp>
      <p:sp>
        <p:nvSpPr>
          <p:cNvPr id="38" name="Text 35"/>
          <p:cNvSpPr txBox="1"/>
          <p:nvPr/>
        </p:nvSpPr>
        <p:spPr>
          <a:xfrm>
            <a:off x="548640" y="4110228"/>
            <a:ext cx="33832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يَدْرُسُ الطُّلَّابُ الْآنَ.</a:t>
            </a:r>
            <a:endParaRPr lang="ar-SA" sz="20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955280" y="4724400"/>
            <a:ext cx="36850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لَنْ يَزُورَ الطُّلَّابُ الْمَتْحَفَ.</a:t>
            </a:r>
            <a:endParaRPr lang="ar-SA" sz="2000" dirty="0"/>
          </a:p>
        </p:txBody>
      </p:sp>
      <p:sp>
        <p:nvSpPr>
          <p:cNvPr id="41" name="Text 38"/>
          <p:cNvSpPr txBox="1"/>
          <p:nvPr/>
        </p:nvSpPr>
        <p:spPr>
          <a:xfrm>
            <a:off x="4114800" y="4724400"/>
            <a:ext cx="36576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سَيَزُورُ الطُّلَّابُ الْمَتْحَفَ؟</a:t>
            </a:r>
            <a:endParaRPr lang="ar-SA" sz="2000" dirty="0"/>
          </a:p>
        </p:txBody>
      </p:sp>
      <p:sp>
        <p:nvSpPr>
          <p:cNvPr id="42" name="Text 39"/>
          <p:cNvSpPr txBox="1"/>
          <p:nvPr/>
        </p:nvSpPr>
        <p:spPr>
          <a:xfrm>
            <a:off x="548640" y="4724400"/>
            <a:ext cx="33832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سَيَزُورُ الطُّلَّابُ الْمَتْحَفَ.</a:t>
            </a:r>
            <a:endParaRPr lang="ar-SA" sz="20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7955280" y="5338572"/>
            <a:ext cx="36850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الطَّالِبَاتُ لَمْ يَكْتُبْنَ.</a:t>
            </a:r>
            <a:endParaRPr lang="ar-SA" sz="2000" dirty="0"/>
          </a:p>
        </p:txBody>
      </p:sp>
      <p:sp>
        <p:nvSpPr>
          <p:cNvPr id="45" name="Text 42"/>
          <p:cNvSpPr txBox="1"/>
          <p:nvPr/>
        </p:nvSpPr>
        <p:spPr>
          <a:xfrm>
            <a:off x="4114800" y="5338572"/>
            <a:ext cx="36576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الطَّالِبَاتُ كَتَبْنَ؟</a:t>
            </a:r>
            <a:endParaRPr lang="ar-SA" sz="2000" dirty="0"/>
          </a:p>
        </p:txBody>
      </p:sp>
      <p:sp>
        <p:nvSpPr>
          <p:cNvPr id="46" name="Text 43"/>
          <p:cNvSpPr txBox="1"/>
          <p:nvPr/>
        </p:nvSpPr>
        <p:spPr>
          <a:xfrm>
            <a:off x="548640" y="5338572"/>
            <a:ext cx="33832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الطَّالِبَاتُ كَتَبْنَ.</a:t>
            </a:r>
            <a:endParaRPr lang="ar-SA" sz="20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particle goes in front — the verb’s agreement does not change. Past: lam + present form · present: lā · future: lan + -a.</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الطَّالِبَاتُ كَتَبَتِ التَّقْرِيرَ.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Subject first: which agreement?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لَمْ كَتَبَ الطَّالِبُ.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verb form follows lam?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الْكُتُبُ وَصَلْنَ.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Are books people?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الطَّالِبَاتُ كَتَبَتِ التَّقْرِيرَ.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الطَّالِبَاتُ كَتَبْنَ التَّقْرِيرَ.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Girls first → full agreement (website game).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لَمْ كَتَبَ الطَّالِبُ.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لَمْ يَكْتُبِ الطَّالِبُ.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Lam takes the present (jussive) form (website game).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الْكُتُبُ وَصَلْنَ.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الْكُتُبُ وَصَلَتْ.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Books are things → the “she” verb (website game).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EDITOR AND SENTENCE LADDER CHECKS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كَتَبُوا الطُّلَّابُ الْإِجَابَاتِ.</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كَتَبَ الْإِجَابَاتِ.</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 الطُّلَّابُ الْإِجَابَاتِ.</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 الطُّلَّابُ الْإِجَابَاتِ.</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الطَّالِبَاتُ قَدَّمَتِ الْعَرْضَ.</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قَدَّمْنَ الطَّالِبَاتُ الْعَرْضَ.</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قَدَّمْنَ الْعَرْضَ.</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قَدَّمُوا الْعَرْضَ.</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pronoun:</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قَرَأَتْ مَرْيَمُ الرِّسَالَةَ ثُمَّ أَرْسَلَهُ.</a:t>
            </a:r>
            <a:endParaRPr lang="ar-SA" sz="1500" dirty="0"/>
          </a:p>
        </p:txBody>
      </p:sp>
      <p:sp>
        <p:nvSpPr>
          <p:cNvPr id="50" name="Shape 47"/>
          <p:cNvSpPr/>
          <p:nvPr/>
        </p:nvSpPr>
        <p:spPr>
          <a:xfrm>
            <a:off x="640080" y="48737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 مَرْيَمُ الرِّسَالَةَ ثُمَّ أَرْسَلَهُ.</a:t>
            </a:r>
            <a:endParaRPr lang="ar-SA" sz="2050" dirty="0"/>
          </a:p>
        </p:txBody>
      </p:sp>
      <p:sp>
        <p:nvSpPr>
          <p:cNvPr id="53" name="Shape 50"/>
          <p:cNvSpPr/>
          <p:nvPr/>
        </p:nvSpPr>
        <p:spPr>
          <a:xfrm>
            <a:off x="640080" y="53309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 مَرْيَمُ الرِّسَالَةَ ثُمَّ أَرْسَلَتْهَا.</a:t>
            </a:r>
            <a:endParaRPr lang="ar-SA" sz="2050" dirty="0"/>
          </a:p>
        </p:txBody>
      </p:sp>
      <p:sp>
        <p:nvSpPr>
          <p:cNvPr id="56" name="Shape 53"/>
          <p:cNvSpPr/>
          <p:nvPr/>
        </p:nvSpPr>
        <p:spPr>
          <a:xfrm>
            <a:off x="640080" y="57881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الرِّسَالَةُ قَرَأَتْ مَرْيَمَ.</a:t>
            </a:r>
            <a:endParaRPr lang="ar-SA" sz="2050" dirty="0"/>
          </a:p>
        </p:txBody>
      </p:sp>
      <p:sp>
        <p:nvSpPr>
          <p:cNvPr id="59" name="Shape 56"/>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6313932"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addition gives a reason?</a:t>
            </a:r>
            <a:endParaRPr lang="en-US" sz="125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الْمَدْرَسَةِ</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بِسُرْعَةٍ</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كَانَ مَرِيضًا</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كَتَبُوا الطُّلَّابُ الْإِجَابَاتِ.</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الطُّلَّابُ كَتَبَ الْإِجَابَاتِ.</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كَتَبْنَ الطُّلَّابُ الْإِجَابَاتِ.</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 الطُّلَّابُ الْإِجَابَاتِ.</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first → singular kataba.</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الطَّالِبَاتُ قَدَّمَتِ الْعَرْضَ.</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قَدَّمْنَ الطَّالِبَاتُ الْعَرْضَ.</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الطَّالِبَاتُ قَدَّمْنَ الْعَرْضَ.</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الطَّالِبَاتُ قَدَّمُوا الْعَرْضَ.</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Girls first → qaddamna.</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2" name="Text 49"/>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pronoun:</a:t>
            </a:r>
            <a:endParaRPr lang="en-US" sz="1200" dirty="0"/>
          </a:p>
        </p:txBody>
      </p:sp>
      <p:sp>
        <p:nvSpPr>
          <p:cNvPr id="53" name="Text 50"/>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قَرَأَتْ مَرْيَمُ الرِّسَالَةَ ثُمَّ أَرْسَلَهُ.</a:t>
            </a:r>
            <a:endParaRPr lang="ar-SA" sz="1500" dirty="0"/>
          </a:p>
        </p:txBody>
      </p:sp>
      <p:sp>
        <p:nvSpPr>
          <p:cNvPr id="54" name="Shape 51"/>
          <p:cNvSpPr/>
          <p:nvPr/>
        </p:nvSpPr>
        <p:spPr>
          <a:xfrm>
            <a:off x="640080" y="483108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6" name="Text 53"/>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 مَرْيَمُ الرِّسَالَةَ ثُمَّ أَرْسَلَهُ.</a:t>
            </a:r>
            <a:endParaRPr lang="ar-SA" sz="1700" dirty="0"/>
          </a:p>
        </p:txBody>
      </p:sp>
      <p:sp>
        <p:nvSpPr>
          <p:cNvPr id="57" name="Shape 54"/>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640080" y="5202936"/>
            <a:ext cx="256032" cy="256032"/>
          </a:xfrm>
          <a:prstGeom prst="ellipse">
            <a:avLst/>
          </a:prstGeom>
          <a:solidFill>
            <a:srgbClr val="2E8B57"/>
          </a:solidFill>
          <a:ln w="12700">
            <a:solidFill>
              <a:srgbClr val="2E8B57"/>
            </a:solidFill>
            <a:prstDash val="solid"/>
          </a:ln>
        </p:spPr>
      </p:sp>
      <p:sp>
        <p:nvSpPr>
          <p:cNvPr id="59" name="Text 5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0" name="Text 57"/>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قَرَأَتْ مَرْيَمُ الرِّسَالَةَ ثُمَّ أَرْسَلَتْهَا.</a:t>
            </a:r>
            <a:endParaRPr lang="ar-SA" sz="1700" dirty="0"/>
          </a:p>
        </p:txBody>
      </p:sp>
      <p:sp>
        <p:nvSpPr>
          <p:cNvPr id="61" name="Shape 58"/>
          <p:cNvSpPr/>
          <p:nvPr/>
        </p:nvSpPr>
        <p:spPr>
          <a:xfrm>
            <a:off x="640080" y="557479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3" name="Text 60"/>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الرِّسَالَةُ قَرَأَتْ مَرْيَمَ.</a:t>
            </a:r>
            <a:endParaRPr lang="ar-SA" sz="1700" dirty="0"/>
          </a:p>
        </p:txBody>
      </p:sp>
      <p:sp>
        <p:nvSpPr>
          <p:cNvPr id="64" name="Text 61"/>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sent it (the letter): arsalathā.</a:t>
            </a:r>
            <a:endParaRPr lang="en-US" sz="1050" dirty="0"/>
          </a:p>
        </p:txBody>
      </p:sp>
      <p:sp>
        <p:nvSpPr>
          <p:cNvPr id="65" name="Shape 6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6313932"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8" name="Text 6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addition gives a reason?</a:t>
            </a:r>
            <a:endParaRPr lang="en-US" sz="125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الْمَدْرَسَةِ</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بِسُرْعَةٍ</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 كَانَ مَرِيضًا</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 introduces a reason.</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E6B52"/>
                </a:solidFill>
                <a:latin typeface="Calibri" pitchFamily="34" charset="0"/>
                <a:cs typeface="Amiri" pitchFamily="2" charset="-78"/>
              </a:rPr>
              <a:t>YOU DO · READ AND NOTICE · WEBSITE READING AUDIT (TEACHER-WRITTEN REPORT)</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charity sale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يَوْمِ الْأَحَدِ نَظَّمَ مَجْلِسُ الطُّلَّابِ سُوقًا خَيْرِيًّا. وَصَلَ الطُّلَّابُ مُبَكِّرًا، وَرَتَّبُوا الطَّاوِلَاتِ فِي السَّاحَةِ. الطَّالِبَاتُ صَنَعْنَ الْحَلْوَى فِي الْبَيْتِ، ثُمَّ بِعْنَهَا بِسُرْعَةٍ. أَمَّا الْأَوْلَادُ فَبَاعُوا الْكُتُبَ الْقَدِيمَةَ. لَمْ يَحْضُرِ الْمُدِيرُ فِي الصَّبَاحِ لِأَنَّهُ كَانَ فِي اجْتِمَاعٍ، وَلَكِنَّهُ زَارَ السُّوقَ بَعْدَ الظُّهْرِ وَاشْتَرَى كَعْكَةً. جَمَعَ الْمَجْلِسُ تَبَرُّعَاتٍ كَثِيرَةً، وَسَيُرْسِلُهَا إِلَى مُسْتَشْفَى الْأَطْفَالِ.</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نَظَّمَ</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organised</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سُوقًا خَيْرِيًّا</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charity sale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رَتَّبُوا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arranged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صَنَعْنَ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(f.) made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تَبَرُّعَاتٍ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donations</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girls make?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tables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sweets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books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rattabū plural after waṣala ṭ-ṭullābu?</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tables are plural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subject is inside the verb</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-hā in sa-yursiluhā refer to?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donations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hospital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cake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head teacher not come in the morning?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was ill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was in a meeting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was selling books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girls make?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tables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sweets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books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Aṭ-ṭālibātu ṣanaʿna l-ḥalwā.</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rattabū plural after waṣala ṭ-ṭullābu?</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tables are plural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its subject is inside the verb</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second verb carries its own plural subject (website clinic).</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-hā in sa-yursiluhā refer to?</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donations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hospital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cake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Tabarruʿāt: non-human plural → -hā.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head teacher not come in the morning?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was ill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was in a meeting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was selling books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Li-annahu kāna fī jtimāʿ.</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tell it twice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 صَفُّكَ أَمْسِ؟</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 الْخَبَرَ مَرَّتَيْنِ: الْفِعْلُ أَوَّلًا، ثُمَّ الْفَاعِلُ أَوَّلًا.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حَدَثَ، وَمَاذَا لَمْ يَحْدُثْ، وَمَاذَا سَيَحْدُثُ؟</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زَارَ صَفُّنَا ___ ، وَشَاهَدْنَا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لَعِبَ الْأَوْلَادُ ___ . ‖ الْأَوْلَادُ لَعِبُوا ___ .</a:t>
            </a:r>
            <a:endParaRPr lang="ar-SA" sz="13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لَمْ ___ ، وَلَكِنَّنَا سَوْفَ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كَانَتِ الرِّحْلَةُ؟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was the trip?</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رَائِعَةً! زَارَ الطُّلَّابُ الْقَلْعَةَ، وَالْبَنَاتُ رَسَمْنَ صُوَرًا جَمِيلَةً. لَمْ نَزُرِ الْمَتْحَفَ لِأَنَّهُ كَانَ مُغْلَقًا، وَلَكِنَّنَا سَنَزُورُهُ فِي الشَّهْرِ الْقَادِمِ.</a:t>
            </a:r>
            <a:endParaRPr lang="ar-SA" sz="14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Wonderful! The students visited the castle, and the girls drew lovely pictures. We didn’t visit the museum because it was closed, but we will visit it next month.</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school event: four verb-first and two subject-first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waṣala ṭ-ṭullābu · aṭ-ṭālibātu jahhazna.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9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question, two negatives and the future.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hal · lam yaḥḍur · lan yazūra.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final performance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Finish with the four-pass edit.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زَارَ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Did … visit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يَحْضُرِ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did not attend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عَلِيٌّ ______ ، أَمَّا أَخُوهُ فَقَدْ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Ali …; as for his brother, he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الْأُسْبُوعِ الْقَادِمِ لَنْ ______ الطُّلَّابُ ______ .</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week the students will not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 الطُّلَّابُ فِي السَّاعَةِ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arrived at … o’clock</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جَهَّزَتِ الطَّالِبَاتُ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girls prepared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الْأَوْلَادُ لَعِبُوا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boys played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وَصَلَتِ الْحَافِلَاتُ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buses arrived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هَلْ  ·  مَا  ·  لَمْ  ·  لَا  ·  لَنْ  ·  أَمَّا  ·  ثُمَّ  ·  لِأَنَّ  ·  وَلَكِنَّ  ·  أَمْسِ  ·  غَدًا  ·  بِعِنَايَةٍ  ·  فِي الْمَوْعِدِ</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final verbal-sentence performance (120–140 words): a memorable day, school event, journey or community activity.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verb-first and four subject-first sentences.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Male and female human plurals, one dual, one non-human plural.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question and two negatives.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Four-pass edit completed before you hand in.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بَدَأَ الْيَوْمُ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day began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الْمَوْعِدِ</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time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 فَـ</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كَانَ يَوْمُ الْعُلُومِ فِي مَدْرَسَتِنَا يَوْمًا لَا يُنْسَى. بَدَأَ الْيَوْمُ مُبَكِّرًا، وَوَصَلَ الطُّلَّابُ إِلَى الْمَدْرَسَةِ فِي السَّاعَةِ الثَّامِنَةِ. الطَّالِبَاتُ جَهَّزْنَ الْقَاعَةَ الْكُبْرَى، أَمَّا الْمُعَلِّمُونَ فَرَاجَعُوا الْخُطَّةَ. عَرَضَ الطُّلَّابُ تَجَارِبَهُمْ عَلَى الطَّاوِلَاتِ، وَشَرَحَتِ الطَّالِبَتَانِ الْفَائِزَتَانِ مَشْرُوعَهُمَا عَنِ الطَّاقَةِ الشَّمْسِيَّةِ. سَأَلَنِي ضَيْفٌ: هَلْ صَنَعْتُمُ الرُّوبُوتَ بِأَنْفُسِكُمْ؟ فَقُلْتُ: نَعَمْ، صَنَعْنَاهُ فِي شَهْرَيْنِ. لَمْ تَصِلِ الْحَافِلَاتُ فِي الْمَوْعِدِ، فَلَمْ يَحْضُرْ بَعْضُ الْآبَاءِ فِي الصَّبَاحِ، وَلَكِنَّهُمْ جَاؤُوا بَعْدَ الظُّهْرِ. فِي النِّهَايَةِ وَزَّعَ الْمُدِيرُ الْجَوَائِزَ، وَصَفَّقَ الْجَمِيعُ طَوِيلًا. فِي السَّنَةِ الْقَادِمَةِ سَتُشَارِكُ مَدْرَسَتُنَا فِي مُسَابَقَةٍ وَطَنِيَّةٍ، وَلَنْ نَنْسَى هَذَا الْيَوْمَ أَبَدًا.</a:t>
            </a:r>
            <a:endParaRPr lang="ar-SA" sz="22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Science Day at our school was a day to remember. The day began early, and the students arrived at school at eight o’clock. The girls prepared the main hall; as for the teachers, they reviewed the plan. The students displayed their experiments on the tables, and the two winning girls explained their project on solar energy. A guest asked me: “Did you make the robot yourselves?” I said: “Yes, we made it in two months.” The buses did not arrive on time, so some parents did not come in the morning, but they came in the afternoon. In the end the head teacher handed out the prizes, and everyone applauded for a long time. Next year our school will take part in a national competition, and we will never forget this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verb first + plural subject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subject first + full agreement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question with hal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negative with lam or lan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has the right subject (pass 1).</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Verb first → singular; subject first → full agreement (pass 2).</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lam I used the present form: lam yaktub.</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time words and verb forms match.</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pronoun clearly refers to one noun (pass 4).</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SVO report.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فُزْنَ بِالْمُسَابَقَةِ.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فَازَتْ بِالْمُسَابَقَةِ.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فُزْنَ الطَّالِبَاتُ بِالْمُسَابَقَةِ.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Transform to verb first:</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الْمُعَلِّمَتَانِ شَرَحَتَا الدَّرْسَ.</a:t>
            </a:r>
            <a:endParaRPr lang="ar-SA" sz="14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شَرَحَتَا الْمُعَلِّمَتَانِ الدَّرْسَ.</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شَرَحَتِ الْمُعَلِّمَتَانِ الدَّرْسَ.</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 الْمُعَلِّمَتَانِ الدَّرْسَ.</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negation.</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يَكْتُبِ الطُّلَّابُ التَّقْرِيرَ.</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كَتَبَ الطُّلَّابُ التَّقْرِيرَ.</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يَكْتُبُ الطُّلَّابُ التَّقْرِيرَ أَمْسِ.</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SVO report.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الطَّالِبَاتُ فُزْنَ بِالْمُسَابَقَةِ.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الطَّالِبَاتُ فَازَتْ بِالْمُسَابَقَةِ.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فُزْنَ الطَّالِبَاتُ بِالْمُسَابَقَةِ.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Girls first → fuzna.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Transform to verb first:</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الْمُعَلِّمَتَانِ شَرَحَتَا الدَّرْسَ.</a:t>
            </a:r>
            <a:endParaRPr lang="ar-SA" sz="14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شَرَحَتَا الْمُعَلِّمَتَانِ الدَّرْسَ.</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شَرَحَتِ الْمُعَلِّمَتَانِ الدَّرْسَ.</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شَرَحَ الْمُعَلِّمَتَانِ الدَّرْسَ.</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feminine before the dual: sharaḥat.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negation.</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لَمْ يَكْتُبِ الطُّلَّابُ التَّقْرِيرَ.</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لَمْ كَتَبَ الطُّلَّابُ التَّقْرِيرَ.</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 يَكْتُبُ الطُّلَّابُ التَّقْرِيرَ أَمْسِ.</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Lam + present form, past meaning.</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GM-VS-04 · 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GM-NVS-01: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GM-NVS-01 · Simple Non-Verbal Sentences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الْجُمْلَةُ الِاسْمِيَّةُ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nominal sentence (no verb)</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الْمُبْتَدَأُ</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topic (comes first)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الْخَبَرُ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comment (information about it)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الْبَيْتُ كَبِيرٌ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house is big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طَالِبٌ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am a student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Arabic has no word for “is” in the present tense. How would you say “The weather is hot”?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الطَّقْسُ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Build one sentence up the six-step ladder.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statements, then turn each into a question and a negative.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final performance (120–140 words), edited in four passes.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GM-VS-04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GM-NVS-01 · Simple Non-Verbal Sentences</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الْجُمَلُ الِاسْمِيَّةُ الْبَسِيطَةُ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choose the order for a reason (new event → verb first; known topic or contrast → subject first) · build one step at a time · hal, mā, lam, lā, lan keep the agreement rule · lam + present form · edit in four passes: roles → order → verb form → expansion.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GM-VS-04 · Building and Editing Verbal Sentences</dc:title>
  <dc:subject>PptxGenJS Presentation</dc:subject>
  <dc:creator>Al Madina Online School · Arabic Department</dc:creator>
  <cp:lastModifiedBy>Al Madina Online School · Arabic Department</cp:lastModifiedBy>
  <cp:revision>1</cp:revision>
  <dcterms:created xsi:type="dcterms:W3CDTF">2026-10-11T06:42:49Z</dcterms:created>
  <dcterms:modified xsi:type="dcterms:W3CDTF">2026-10-11T06:42:49Z</dcterms:modified>
</cp:coreProperties>
</file>