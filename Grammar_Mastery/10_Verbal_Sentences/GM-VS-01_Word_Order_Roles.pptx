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Verbal Sentences › GM-VS-01 (“Word Order and Sentence Roles”).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find the verb, the subject (-u) and the object (-a) in short verb-first sentences; know that some verbs need no object (nāma ṭ-ṭifl). Develop: turn VSO into SVO and back (singular subjects only today) and choose the order for the question asked. Stretch: hidden subjects (katabtu, katabnāhā), two objects (aʿṭā … kitāban) and fronted time phrases (amsi kataba …).
• Website warning: SVO is not a free swap — with dual and plural subjects the verb changes. Keep today’s transformations singular; Lessons 2–3 teach the agreement contrast.
• Colour code used all through the Verbal Sentences area: teal = verb, blue = subject, pink = object. Recycles GM-V past / present / future verbs and GM-PRO attached pronouns.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GM-V past-tense verbs and the GM-PRO subject endings -tu, -nā.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three questions: What happened? (verb) · Who did it? (subject, usually -u) · What received it? (object, usually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three core roles” + its four examples. Say each sentence; students point: verb — subject — object. Core: rows 1–3. Row 5 (Stretch): the teacher gave the student a book — two objects, both with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“Verb first”. Point out katabati ṭ-ṭāliba: the -t takes a kasra to join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“Subject first” + focus table; last row from the website Focus Check. Core students recognise SVO; Develop students choose it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“The subject may be inside the verb”. Stretch: katabtuhā packs verb + subject + object into one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“Expanding the sentence”. Reason row teacher-completed (the website row is cut off): “because he misses his grandfather”.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Role Check and VSO Builder.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Built from the website skills-workshop lines. Think aloud: verb first = what happened; “the students” first = the focus is on them (and their verb ends in -ū — Lesson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columns 2–4; students call out each role. Core: rows 1–3; Stretch: sāʿadtuhā = I helped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cover column 2; students say the SVO version aloud. Website Focus Check: SVO is acceptable; the analysis and agreement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Each pair has the same meaning — only the focus changes. Ask: which would you use to answer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Each pair has the same meaning — only the focus changes. Ask: which would you use to answer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Role, VSO Builder, Focus and Expansion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account). Read it aloud once while students follow; then they hunt for today’s grammar.
Task: Website: underline each verb once and circle its subject. Find one sentence with the subject first and one with a hidden subject.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skills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an action clearly, then change the order to put the emphasis on the event or on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70–90 Arabic words about something that happened at home, at school or on a journey. Use both verb-first and subject-first sentences on purpose.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built on the website model lines,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(GM-VS-02 · Subject-First Full Agreement) will spend class time USING this language, so students prepare it tonight — short, simple, easy to access (school guidance: “Simple, Short, Interesting, Relevant, Easy to access”). The five words prepare GM-VS-02 (website: subject-first full agreement).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VERBAL SENTENCES  ·  GM-VS-01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GM-VS-01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00" b="1" dirty="0">
                <a:solidFill>
                  <a:srgbClr val="FFFFFF"/>
                </a:solidFill>
                <a:latin typeface="Cambria" pitchFamily="34" charset="0"/>
                <a:ea typeface="Cambria" pitchFamily="34" charset="-122"/>
                <a:cs typeface="Cambria" pitchFamily="34" charset="-120"/>
              </a:rPr>
              <a:t>Word Order and Sentence Roles</a:t>
            </a:r>
            <a:endParaRPr lang="en-US" sz="35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تَرْتِيبُ الْجُمْلَةِ الْفِعْلِيَّةِ وَأَرْكَانُهَا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Every verbal sentence has a verb (what happened), a subject (who did it) and often an object (what received it): kataba ṭ-ṭālibu r-risālata. Verb first tells the event; subject first puts the person in focus.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GM-VS-01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Three roles; verb first; subject first; hidden subject; expanding.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Label the roles; turn it round; sort VSO / SVO;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GM-VS-02.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the 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الرِّسَالَةَ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performs the action: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شَرِبَتْ مَرْيَمُ الْمَاءَ</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شَرِبَتْ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receives the action:</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قَرَأَ أَحْمَدُ الْكِتَابَ</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أَحْمَدُ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الْكِتَابَ</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begins with the verb?</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كَتَبَ الْوَاجِبَ.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الْوَاجِبُ طَوِيلٌ.</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الطَّالِبُ الْوَاجِبَ.</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already tells us “I wrote”?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 الطَّالِبُ</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a:t>
            </a:r>
            <a:endParaRPr lang="ar-SA" sz="2050" dirty="0"/>
          </a:p>
        </p:txBody>
      </p:sp>
      <p:sp>
        <p:nvSpPr>
          <p:cNvPr id="83" name="Shape 80"/>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4" name="Text 81"/>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5" name="Text 82"/>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6" name="Text 83"/>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7" name="Text 84"/>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word is the 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الطَّالِبُ الرِّسَالَةَ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الرِّسَالَةَ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Kataba is the action — what happened.</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Who performs the action: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شَرِبَتْ مَرْيَمُ الْمَاءَ</a:t>
            </a:r>
            <a:endParaRPr lang="ar-SA" sz="15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مَرْيَمُ</a:t>
            </a:r>
            <a:endParaRPr lang="ar-SA" sz="170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الْمَاءَ</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شَرِبَتْ</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did the drinking — she is the subject.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receives the action:</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قَرَأَ أَحْمَدُ الْكِتَابَ</a:t>
            </a:r>
            <a:endParaRPr lang="ar-SA" sz="15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أَحْمَدُ</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a:t>
            </a:r>
            <a:endParaRPr lang="ar-SA" sz="1700" dirty="0"/>
          </a:p>
        </p:txBody>
      </p:sp>
      <p:sp>
        <p:nvSpPr>
          <p:cNvPr id="58"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الْكِتَابَ</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book is what was read — the object.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begins with the verb?</a:t>
            </a:r>
            <a:endParaRPr lang="en-US" sz="125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 كَتَبَ الْوَاجِبَ.</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الْوَاجِبُ طَوِيلٌ.</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 الطَّالِبُ الْوَاجِبَ.</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one starts with the verb: VSO.</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already tells us “I wrote”?</a:t>
            </a:r>
            <a:endParaRPr lang="en-US" sz="1250" dirty="0"/>
          </a:p>
        </p:txBody>
      </p:sp>
      <p:sp>
        <p:nvSpPr>
          <p:cNvPr id="82"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86"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 الطَّالِبُ</a:t>
            </a:r>
            <a:endParaRPr lang="ar-SA" sz="1700" dirty="0"/>
          </a:p>
        </p:txBody>
      </p:sp>
      <p:sp>
        <p:nvSpPr>
          <p:cNvPr id="89"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الطَّالِبُ</a:t>
            </a:r>
            <a:endParaRPr lang="ar-SA" sz="1700" dirty="0"/>
          </a:p>
        </p:txBody>
      </p:sp>
      <p:sp>
        <p:nvSpPr>
          <p:cNvPr id="92"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-tu already means “I”.</a:t>
            </a:r>
            <a:endParaRPr lang="en-US" sz="1050" dirty="0"/>
          </a:p>
        </p:txBody>
      </p:sp>
      <p:sp>
        <p:nvSpPr>
          <p:cNvPr id="93" name="Shape 90"/>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5" name="Text 92"/>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Ask three questions: What happened? (verb) · Who did it? (subject, usually -u) · What received it? (object, usually -a).</a:t>
            </a:r>
            <a:endParaRPr lang="en-US" sz="1300" dirty="0"/>
          </a:p>
        </p:txBody>
      </p:sp>
      <p:sp>
        <p:nvSpPr>
          <p:cNvPr id="96" name="Text 93"/>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الطَّالِبُ</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D6336C"/>
                </a:solidFill>
                <a:latin typeface="Amiri" pitchFamily="34" charset="0"/>
                <a:ea typeface="Amiri" pitchFamily="34" charset="-122"/>
                <a:cs typeface="Amiri" pitchFamily="34" charset="-120"/>
              </a:rPr>
              <a:t>الرِّسَالَةَ</a:t>
            </a:r>
            <a:endParaRPr lang="ar-SA" sz="24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Find the verb, subject and object.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formal verb-first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the subject first for focus.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Expand the core with time, place and manner.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find the verb, subject and object.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build three VSO sentences.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turn VSO into SVO and back.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choose the order that fits the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hidden subjects and fronted time phrases.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70–90 words with both orders.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الْجُمْلَةُ الْفِعْلِيَّةُ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verbal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al-jum-la-tu al-fiʿ-liy-ya-tu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الطَّالِبُ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verb — what happened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يَكْتُبُ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الْفَاعِلُ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 who did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al-fā-ʿi-lu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الْمَفْعُولُ بِهِ</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object — what received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al-maf-ʿū-lu bi-hi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الرِّسَالَةَ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الضَّمِيرُ الْمُسْتَتِرُ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hidden in the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aḍ-ḍa-mī-ru al-mus-ta-ti-ru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كَتَبْتُ · كَتَبْنَا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التَّقْدِيمُ</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putting first (for focus)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at-taq-dī-mu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الطَّالِبُ 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THE THREE ROLES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happened? Who?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أَرْكَانُ الْجُمْلَةِ الْفِعْلِيَّةِ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 · what received it?</a:t>
            </a:r>
            <a:endParaRPr lang="en-US" sz="1100" dirty="0"/>
          </a:p>
        </p:txBody>
      </p:sp>
      <p:sp>
        <p:nvSpPr>
          <p:cNvPr id="17" name="Text 14"/>
          <p:cNvSpPr txBox="1"/>
          <p:nvPr/>
        </p:nvSpPr>
        <p:spPr>
          <a:xfrm>
            <a:off x="6931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 who did it?</a:t>
            </a:r>
            <a:endParaRPr lang="en-US" sz="1100" dirty="0"/>
          </a:p>
        </p:txBody>
      </p:sp>
      <p:sp>
        <p:nvSpPr>
          <p:cNvPr id="18" name="Text 15"/>
          <p:cNvSpPr txBox="1"/>
          <p:nvPr/>
        </p:nvSpPr>
        <p:spPr>
          <a:xfrm>
            <a:off x="4553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what happened?</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الْوَاجِبَ</a:t>
            </a:r>
            <a:endParaRPr lang="ar-SA" sz="2400" dirty="0"/>
          </a:p>
        </p:txBody>
      </p:sp>
      <p:sp>
        <p:nvSpPr>
          <p:cNvPr id="22" name="Text 19"/>
          <p:cNvSpPr txBox="1"/>
          <p:nvPr/>
        </p:nvSpPr>
        <p:spPr>
          <a:xfrm>
            <a:off x="69494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a:t>
            </a:r>
            <a:endParaRPr lang="ar-SA" sz="2400" dirty="0"/>
          </a:p>
        </p:txBody>
      </p:sp>
      <p:sp>
        <p:nvSpPr>
          <p:cNvPr id="23" name="Text 20"/>
          <p:cNvSpPr txBox="1"/>
          <p:nvPr/>
        </p:nvSpPr>
        <p:spPr>
          <a:xfrm>
            <a:off x="457200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a:t>
            </a:r>
            <a:endParaRPr lang="ar-SA" sz="2400" dirty="0"/>
          </a:p>
        </p:txBody>
      </p:sp>
      <p:sp>
        <p:nvSpPr>
          <p:cNvPr id="24" name="Text 21"/>
          <p:cNvSpPr txBox="1"/>
          <p:nvPr/>
        </p:nvSpPr>
        <p:spPr>
          <a:xfrm>
            <a:off x="54864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الْوَاجِبَ.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النَّافِذَةَ</a:t>
            </a:r>
            <a:endParaRPr lang="ar-SA" sz="2400" dirty="0"/>
          </a:p>
        </p:txBody>
      </p:sp>
      <p:sp>
        <p:nvSpPr>
          <p:cNvPr id="29" name="Text 26"/>
          <p:cNvSpPr txBox="1"/>
          <p:nvPr/>
        </p:nvSpPr>
        <p:spPr>
          <a:xfrm>
            <a:off x="69494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سَلْمَى</a:t>
            </a:r>
            <a:endParaRPr lang="ar-SA" sz="2400" dirty="0"/>
          </a:p>
        </p:txBody>
      </p:sp>
      <p:sp>
        <p:nvSpPr>
          <p:cNvPr id="30" name="Text 27"/>
          <p:cNvSpPr txBox="1"/>
          <p:nvPr/>
        </p:nvSpPr>
        <p:spPr>
          <a:xfrm>
            <a:off x="457200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فَتَحَتْ</a:t>
            </a:r>
            <a:endParaRPr lang="ar-SA" sz="2400" dirty="0"/>
          </a:p>
        </p:txBody>
      </p:sp>
      <p:sp>
        <p:nvSpPr>
          <p:cNvPr id="31" name="Text 28"/>
          <p:cNvSpPr txBox="1"/>
          <p:nvPr/>
        </p:nvSpPr>
        <p:spPr>
          <a:xfrm>
            <a:off x="54864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فَتَحَتْ سَلْمَى النَّافِذَةَ.</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none needed</a:t>
            </a:r>
            <a:endParaRPr lang="en-US" sz="1100" dirty="0"/>
          </a:p>
        </p:txBody>
      </p:sp>
      <p:sp>
        <p:nvSpPr>
          <p:cNvPr id="36" name="Text 33"/>
          <p:cNvSpPr txBox="1"/>
          <p:nvPr/>
        </p:nvSpPr>
        <p:spPr>
          <a:xfrm>
            <a:off x="69494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الطِّفْلُ</a:t>
            </a:r>
            <a:endParaRPr lang="ar-SA" sz="2400" dirty="0"/>
          </a:p>
        </p:txBody>
      </p:sp>
      <p:sp>
        <p:nvSpPr>
          <p:cNvPr id="37" name="Text 34"/>
          <p:cNvSpPr txBox="1"/>
          <p:nvPr/>
        </p:nvSpPr>
        <p:spPr>
          <a:xfrm>
            <a:off x="457200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نَامَ</a:t>
            </a:r>
            <a:endParaRPr lang="ar-SA" sz="2400" dirty="0"/>
          </a:p>
        </p:txBody>
      </p:sp>
      <p:sp>
        <p:nvSpPr>
          <p:cNvPr id="38" name="Text 35"/>
          <p:cNvSpPr txBox="1"/>
          <p:nvPr/>
        </p:nvSpPr>
        <p:spPr>
          <a:xfrm>
            <a:off x="54864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نَامَ الطِّفْلُ.</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none needed</a:t>
            </a:r>
            <a:endParaRPr lang="en-US" sz="1100" dirty="0"/>
          </a:p>
        </p:txBody>
      </p:sp>
      <p:sp>
        <p:nvSpPr>
          <p:cNvPr id="43" name="Text 40"/>
          <p:cNvSpPr txBox="1"/>
          <p:nvPr/>
        </p:nvSpPr>
        <p:spPr>
          <a:xfrm>
            <a:off x="69677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hidden: we</a:t>
            </a:r>
            <a:endParaRPr lang="en-US" sz="1100" dirty="0"/>
          </a:p>
        </p:txBody>
      </p:sp>
      <p:sp>
        <p:nvSpPr>
          <p:cNvPr id="44" name="Text 41"/>
          <p:cNvSpPr txBox="1"/>
          <p:nvPr/>
        </p:nvSpPr>
        <p:spPr>
          <a:xfrm>
            <a:off x="457200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سَافَرْنَا</a:t>
            </a:r>
            <a:endParaRPr lang="ar-SA" sz="2400" dirty="0"/>
          </a:p>
        </p:txBody>
      </p:sp>
      <p:sp>
        <p:nvSpPr>
          <p:cNvPr id="45" name="Text 42"/>
          <p:cNvSpPr txBox="1"/>
          <p:nvPr/>
        </p:nvSpPr>
        <p:spPr>
          <a:xfrm>
            <a:off x="54864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سَافَرْنَا أَمْسِ.</a:t>
            </a:r>
            <a:endParaRPr lang="ar-SA" sz="22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objects</a:t>
            </a:r>
            <a:endParaRPr lang="en-US" sz="1100" dirty="0"/>
          </a:p>
        </p:txBody>
      </p:sp>
      <p:sp>
        <p:nvSpPr>
          <p:cNvPr id="48" name="Text 45"/>
          <p:cNvSpPr txBox="1"/>
          <p:nvPr/>
        </p:nvSpPr>
        <p:spPr>
          <a:xfrm>
            <a:off x="69494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a:t>
            </a:r>
            <a:endParaRPr lang="ar-SA" sz="2400" dirty="0"/>
          </a:p>
        </p:txBody>
      </p:sp>
      <p:sp>
        <p:nvSpPr>
          <p:cNvPr id="49" name="Text 46"/>
          <p:cNvSpPr txBox="1"/>
          <p:nvPr/>
        </p:nvSpPr>
        <p:spPr>
          <a:xfrm>
            <a:off x="457200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أَعْطَى</a:t>
            </a:r>
            <a:endParaRPr lang="ar-SA" sz="2400" dirty="0"/>
          </a:p>
        </p:txBody>
      </p:sp>
      <p:sp>
        <p:nvSpPr>
          <p:cNvPr id="50" name="Text 47"/>
          <p:cNvSpPr txBox="1"/>
          <p:nvPr/>
        </p:nvSpPr>
        <p:spPr>
          <a:xfrm>
            <a:off x="548640" y="521573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أَعْطَى الْمُعَلِّمُ الطَّالِبَ كِتَابًا.</a:t>
            </a:r>
            <a:endParaRPr lang="ar-SA" sz="22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Ending clue: the subject usually ends in -u (ḍamma) and the object in -a (fatḥa). Not every verb needs an object — nāma (slept) and safara (travelled) are complete with a subject alone.</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VERB FIRST — THE FORMAL VSO PATTERN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 subject ·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ثُمَّ الْفَاعِلُ ثُمَّ الْمَفْعُولُ بِهِ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35915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 + S + O</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99248" y="2267712"/>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wrote the letter.</a:t>
            </a:r>
            <a:endParaRPr lang="en-US" sz="1100" dirty="0"/>
          </a:p>
        </p:txBody>
      </p:sp>
      <p:sp>
        <p:nvSpPr>
          <p:cNvPr id="21" name="Text 18"/>
          <p:cNvSpPr txBox="1"/>
          <p:nvPr/>
        </p:nvSpPr>
        <p:spPr>
          <a:xfrm>
            <a:off x="2377440" y="2267712"/>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 الطَّالِبُ الرِّسَالَةَ.</a:t>
            </a:r>
            <a:endParaRPr lang="ar-SA" sz="24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99248" y="300471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writes / is writing the letter.</a:t>
            </a:r>
            <a:endParaRPr lang="en-US" sz="1100" dirty="0"/>
          </a:p>
        </p:txBody>
      </p:sp>
      <p:sp>
        <p:nvSpPr>
          <p:cNvPr id="27" name="Text 24"/>
          <p:cNvSpPr txBox="1"/>
          <p:nvPr/>
        </p:nvSpPr>
        <p:spPr>
          <a:xfrm>
            <a:off x="2377440" y="3004718"/>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يَكْتُبُ الطَّالِبُ الرِّسَالَةَ.</a:t>
            </a:r>
            <a:endParaRPr lang="ar-SA" sz="24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99248" y="3741725"/>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will write the letter.</a:t>
            </a:r>
            <a:endParaRPr lang="en-US" sz="1100" dirty="0"/>
          </a:p>
        </p:txBody>
      </p:sp>
      <p:sp>
        <p:nvSpPr>
          <p:cNvPr id="33" name="Text 30"/>
          <p:cNvSpPr txBox="1"/>
          <p:nvPr/>
        </p:nvSpPr>
        <p:spPr>
          <a:xfrm>
            <a:off x="2377440" y="3741725"/>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سَيَكْتُبُ الطَّالِبُ الرِّسَالَةَ.</a:t>
            </a:r>
            <a:endParaRPr lang="ar-SA" sz="2400" dirty="0"/>
          </a:p>
        </p:txBody>
      </p:sp>
      <p:sp>
        <p:nvSpPr>
          <p:cNvPr id="34" name="Text 31"/>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699248" y="4478731"/>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(f.) wrote the letter.</a:t>
            </a:r>
            <a:endParaRPr lang="en-US" sz="1100" dirty="0"/>
          </a:p>
        </p:txBody>
      </p:sp>
      <p:sp>
        <p:nvSpPr>
          <p:cNvPr id="39" name="Text 36"/>
          <p:cNvSpPr txBox="1"/>
          <p:nvPr/>
        </p:nvSpPr>
        <p:spPr>
          <a:xfrm>
            <a:off x="2377440" y="4478731"/>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 الطَّالِبَةُ الرِّسَالَةَ.</a:t>
            </a:r>
            <a:endParaRPr lang="ar-SA" sz="2400" dirty="0"/>
          </a:p>
        </p:txBody>
      </p:sp>
      <p:sp>
        <p:nvSpPr>
          <p:cNvPr id="40" name="Text 37"/>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(f.)</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99248" y="5215738"/>
            <a:ext cx="39593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 (f.) is writing the letter.</a:t>
            </a:r>
            <a:endParaRPr lang="en-US" sz="1100" dirty="0"/>
          </a:p>
        </p:txBody>
      </p:sp>
      <p:sp>
        <p:nvSpPr>
          <p:cNvPr id="43" name="Text 40"/>
          <p:cNvSpPr txBox="1"/>
          <p:nvPr/>
        </p:nvSpPr>
        <p:spPr>
          <a:xfrm>
            <a:off x="2377440" y="5215738"/>
            <a:ext cx="51206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 الطَّالِبَةُ الرِّسَالَةَ.</a:t>
            </a:r>
            <a:endParaRPr lang="ar-SA" sz="2400" dirty="0"/>
          </a:p>
        </p:txBody>
      </p:sp>
      <p:sp>
        <p:nvSpPr>
          <p:cNvPr id="44" name="Text 41"/>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(f.)</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focus: verb-first order presents the EVENT first. It is the natural order for stories, news and answers to “What happened?”. A feminine subject needs a feminine verb: katabat, taktubu.</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3 · SUBJECT FIRST AND FOCUS (WEBSITE TABLE)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Which word comes first? It depends on the question</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نُقَدِّمُ؟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285232" y="1810512"/>
            <a:ext cx="6373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Natural answer</a:t>
            </a:r>
            <a:endParaRPr lang="en-US" sz="1100" dirty="0"/>
          </a:p>
        </p:txBody>
      </p:sp>
      <p:sp>
        <p:nvSpPr>
          <p:cNvPr id="17" name="Text 14"/>
          <p:cNvSpPr txBox="1"/>
          <p:nvPr/>
        </p:nvSpPr>
        <p:spPr>
          <a:xfrm>
            <a:off x="3273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Focus</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 context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303520" y="2267712"/>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a:t>
            </a:r>
            <a:endParaRPr lang="ar-SA" sz="2200" dirty="0"/>
          </a:p>
        </p:txBody>
      </p:sp>
      <p:sp>
        <p:nvSpPr>
          <p:cNvPr id="21" name="Text 18"/>
          <p:cNvSpPr txBox="1"/>
          <p:nvPr/>
        </p:nvSpPr>
        <p:spPr>
          <a:xfrm>
            <a:off x="33101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event</a:t>
            </a:r>
            <a:endParaRPr lang="en-US" sz="11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happened?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303520" y="3004718"/>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 كَتَبَ الرِّسَالَةَ.</a:t>
            </a:r>
            <a:endParaRPr lang="ar-SA" sz="2200" dirty="0"/>
          </a:p>
        </p:txBody>
      </p:sp>
      <p:sp>
        <p:nvSpPr>
          <p:cNvPr id="27" name="Text 24"/>
          <p:cNvSpPr txBox="1"/>
          <p:nvPr/>
        </p:nvSpPr>
        <p:spPr>
          <a:xfrm>
            <a:off x="33101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a:t>
            </a:r>
            <a:endParaRPr lang="en-US" sz="11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did the student do?</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303520" y="3741725"/>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مَرْيَمُ قَرَأَتِ الرِّسَالَةَ.</a:t>
            </a:r>
            <a:endParaRPr lang="ar-SA" sz="2200" dirty="0"/>
          </a:p>
        </p:txBody>
      </p:sp>
      <p:sp>
        <p:nvSpPr>
          <p:cNvPr id="33" name="Text 30"/>
          <p:cNvSpPr txBox="1"/>
          <p:nvPr/>
        </p:nvSpPr>
        <p:spPr>
          <a:xfrm>
            <a:off x="33101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Maryam</a:t>
            </a:r>
            <a:endParaRPr lang="en-US" sz="11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And Maryam?</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303520" y="4478731"/>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بَدَأَ الِاجْتِمَاعُ فِي الْمَدْرَسَةِ.</a:t>
            </a:r>
            <a:endParaRPr lang="ar-SA" sz="2200" dirty="0"/>
          </a:p>
        </p:txBody>
      </p:sp>
      <p:sp>
        <p:nvSpPr>
          <p:cNvPr id="37" name="Text 34"/>
          <p:cNvSpPr txBox="1"/>
          <p:nvPr/>
        </p:nvSpPr>
        <p:spPr>
          <a:xfrm>
            <a:off x="33101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event</a:t>
            </a:r>
            <a:endParaRPr lang="en-US" sz="11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happened at school?</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303520" y="5215738"/>
            <a:ext cx="633679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عَلِيٌّ دَرَسَ، وَلَكِنَّ أَخَاهُ لَمْ يَدْرُسْ.</a:t>
            </a:r>
            <a:endParaRPr lang="ar-SA" sz="2200" dirty="0"/>
          </a:p>
        </p:txBody>
      </p:sp>
      <p:sp>
        <p:nvSpPr>
          <p:cNvPr id="41" name="Text 38"/>
          <p:cNvSpPr txBox="1"/>
          <p:nvPr/>
        </p:nvSpPr>
        <p:spPr>
          <a:xfrm>
            <a:off x="33101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 not his brother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when the noun comes first, Arabic grammar calls it a nominal sentence whose predicate is a verbal clause. In practice we call it SVO. Warning: with two or more people the verb changes when the subject comes first (Lessons 2–3).</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4 · THE SUBJECT CAN HIDE INSIDE THE VERB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No separate “I” needed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الْفَاعِلُ فِي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Hidden subject</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687568" y="2267712"/>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wrote</a:t>
            </a:r>
            <a:endParaRPr lang="en-US" sz="1100" dirty="0"/>
          </a:p>
        </p:txBody>
      </p:sp>
      <p:sp>
        <p:nvSpPr>
          <p:cNvPr id="21" name="Text 18"/>
          <p:cNvSpPr txBox="1"/>
          <p:nvPr/>
        </p:nvSpPr>
        <p:spPr>
          <a:xfrm>
            <a:off x="3291840" y="226771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a:t>
            </a:r>
            <a:endParaRPr lang="ar-SA" sz="26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687568" y="2881884"/>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wrote</a:t>
            </a:r>
            <a:endParaRPr lang="en-US" sz="1100" dirty="0"/>
          </a:p>
        </p:txBody>
      </p:sp>
      <p:sp>
        <p:nvSpPr>
          <p:cNvPr id="27" name="Text 24"/>
          <p:cNvSpPr txBox="1"/>
          <p:nvPr/>
        </p:nvSpPr>
        <p:spPr>
          <a:xfrm>
            <a:off x="3291840" y="2881884"/>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نَحْنُ</a:t>
            </a:r>
            <a:endParaRPr lang="ar-SA" sz="26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كَتَبْنَا</a:t>
            </a:r>
            <a:endParaRPr lang="ar-SA" sz="26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687568" y="3496056"/>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 wrote</a:t>
            </a:r>
            <a:endParaRPr lang="en-US" sz="1100" dirty="0"/>
          </a:p>
        </p:txBody>
      </p:sp>
      <p:sp>
        <p:nvSpPr>
          <p:cNvPr id="33" name="Text 30"/>
          <p:cNvSpPr txBox="1"/>
          <p:nvPr/>
        </p:nvSpPr>
        <p:spPr>
          <a:xfrm>
            <a:off x="3291840" y="3496056"/>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أَنْتِ</a:t>
            </a:r>
            <a:endParaRPr lang="ar-SA" sz="26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a:t>
            </a:r>
            <a:endParaRPr lang="ar-SA" sz="26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5687568" y="4110228"/>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mixed) wrote</a:t>
            </a:r>
            <a:endParaRPr lang="en-US" sz="1100" dirty="0"/>
          </a:p>
        </p:txBody>
      </p:sp>
      <p:sp>
        <p:nvSpPr>
          <p:cNvPr id="37" name="Text 34"/>
          <p:cNvSpPr txBox="1"/>
          <p:nvPr/>
        </p:nvSpPr>
        <p:spPr>
          <a:xfrm>
            <a:off x="3291840" y="4110228"/>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هُمْ</a:t>
            </a:r>
            <a:endParaRPr lang="ar-SA" sz="2600" dirty="0"/>
          </a:p>
        </p:txBody>
      </p:sp>
      <p:sp>
        <p:nvSpPr>
          <p:cNvPr id="38" name="Text 35"/>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كَتَبُوا</a:t>
            </a:r>
            <a:endParaRPr lang="ar-SA" sz="26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5687568" y="4724400"/>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(f.) wrote</a:t>
            </a:r>
            <a:endParaRPr lang="en-US" sz="1100" dirty="0"/>
          </a:p>
        </p:txBody>
      </p:sp>
      <p:sp>
        <p:nvSpPr>
          <p:cNvPr id="41" name="Text 38"/>
          <p:cNvSpPr txBox="1"/>
          <p:nvPr/>
        </p:nvSpPr>
        <p:spPr>
          <a:xfrm>
            <a:off x="3291840" y="4724400"/>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هُنَّ</a:t>
            </a:r>
            <a:endParaRPr lang="ar-SA" sz="2600" dirty="0"/>
          </a:p>
        </p:txBody>
      </p:sp>
      <p:sp>
        <p:nvSpPr>
          <p:cNvPr id="42" name="Text 39"/>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كَتَبْنَ</a:t>
            </a:r>
            <a:endParaRPr lang="ar-SA" sz="26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5687568" y="5338572"/>
            <a:ext cx="5971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wrote it — the ending -hā is the object</a:t>
            </a:r>
            <a:endParaRPr lang="en-US" sz="1100" dirty="0"/>
          </a:p>
        </p:txBody>
      </p:sp>
      <p:sp>
        <p:nvSpPr>
          <p:cNvPr id="45" name="Text 42"/>
          <p:cNvSpPr txBox="1"/>
          <p:nvPr/>
        </p:nvSpPr>
        <p:spPr>
          <a:xfrm>
            <a:off x="3291840" y="5338572"/>
            <a:ext cx="219456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أَنَا</a:t>
            </a:r>
            <a:endParaRPr lang="ar-SA" sz="2600" dirty="0"/>
          </a:p>
        </p:txBody>
      </p:sp>
      <p:sp>
        <p:nvSpPr>
          <p:cNvPr id="46" name="Text 43"/>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كَتَبْتُهَا</a:t>
            </a:r>
            <a:endParaRPr lang="ar-SA" sz="26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add anā, naḥnu or hum before every verb just because English needs “I”, “we”, “they”. Use the pronoun only for emphasis or contrast.</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5 · EXPANDING THE CORE (WEBSITE TABLE)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Add details — keep the core clear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وَسِّعِ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17" name="Text 14"/>
          <p:cNvSpPr txBox="1"/>
          <p:nvPr/>
        </p:nvSpPr>
        <p:spPr>
          <a:xfrm>
            <a:off x="23591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Detail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a:t>
            </a:r>
            <a:endParaRPr lang="en-US" sz="1100" dirty="0"/>
          </a:p>
        </p:txBody>
      </p:sp>
      <p:sp>
        <p:nvSpPr>
          <p:cNvPr id="21" name="Text 18"/>
          <p:cNvSpPr txBox="1"/>
          <p:nvPr/>
        </p:nvSpPr>
        <p:spPr>
          <a:xfrm>
            <a:off x="2377440" y="2267712"/>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 أَمْسِ.</a:t>
            </a:r>
            <a:endParaRPr lang="ar-SA" sz="22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(set the scene)</a:t>
            </a:r>
            <a:endParaRPr lang="en-US" sz="1100" dirty="0"/>
          </a:p>
        </p:txBody>
      </p:sp>
      <p:sp>
        <p:nvSpPr>
          <p:cNvPr id="27" name="Text 24"/>
          <p:cNvSpPr txBox="1"/>
          <p:nvPr/>
        </p:nvSpPr>
        <p:spPr>
          <a:xfrm>
            <a:off x="2377440" y="300471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أَمْسِ كَتَبَ الطَّالِبُ الرِّسَالَةَ.</a:t>
            </a:r>
            <a:endParaRPr lang="ar-SA" sz="22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Time first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where?</a:t>
            </a:r>
            <a:endParaRPr lang="en-US" sz="1100" dirty="0"/>
          </a:p>
        </p:txBody>
      </p:sp>
      <p:sp>
        <p:nvSpPr>
          <p:cNvPr id="31" name="Text 28"/>
          <p:cNvSpPr txBox="1"/>
          <p:nvPr/>
        </p:nvSpPr>
        <p:spPr>
          <a:xfrm>
            <a:off x="2377440" y="3741725"/>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 فِي الْمَكْتَبَةِ.</a:t>
            </a:r>
            <a:endParaRPr lang="ar-SA" sz="22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a:t>
            </a:r>
            <a:endParaRPr lang="en-US" sz="1100" dirty="0"/>
          </a:p>
        </p:txBody>
      </p:sp>
      <p:sp>
        <p:nvSpPr>
          <p:cNvPr id="37" name="Text 34"/>
          <p:cNvSpPr txBox="1"/>
          <p:nvPr/>
        </p:nvSpPr>
        <p:spPr>
          <a:xfrm>
            <a:off x="2377440" y="4478731"/>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 بِعِنَايَةٍ.</a:t>
            </a:r>
            <a:endParaRPr lang="ar-SA" sz="22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Manner</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a:t>
            </a:r>
            <a:endParaRPr lang="en-US" sz="1100" dirty="0"/>
          </a:p>
        </p:txBody>
      </p:sp>
      <p:sp>
        <p:nvSpPr>
          <p:cNvPr id="41" name="Text 38"/>
          <p:cNvSpPr txBox="1"/>
          <p:nvPr/>
        </p:nvSpPr>
        <p:spPr>
          <a:xfrm>
            <a:off x="2377440" y="5215738"/>
            <a:ext cx="6766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 الطَّالِبُ الرِّسَالَةَ لِأَنَّهُ مُشْتَاقٌ إِلَى جَدِّهِ.</a:t>
            </a:r>
            <a:endParaRPr lang="ar-SA" sz="22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Reason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sentence ladder: start with kataba ṭ-ṭālibu r-risālata, then add ONE accurate detail at a time. Time and place phrases can move; the verb–subject–object core stays together.</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subject:</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زَارَتْ لَيْلَى الْمَتْحَفَ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الْمَتْحَفَ</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object:</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أَكَلَ الْوَلَدُ التُّفَّاحَةَ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التُّفَّاحَةَ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الْوَلَدُ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Build “The girl opens the door.”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يَفْتَحُ الْبِنْتُ الْبَابَ.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تَفْتَحُ الْبِنْتُ الْبَابَ.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الْبَابُ تَفْتَحُ الْبِنْتَ.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is the subject:</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كَتَبْتُهَا</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the ending -tu</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the ending -hā</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subject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subject:</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زَارَتْ لَيْلَى الْمَتْحَفَ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الْمَتْحَفَ</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Laylā did the visiting.</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Identify the object:</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أَكَلَ الْوَلَدُ التُّفَّاحَةَ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التُّفَّاحَةَ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الْوَلَدُ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apple was eaten — it receives the action.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Build “The girl opens the door.”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يَفْتَحُ الْبِنْتُ الْبَابَ.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تَفْتَحُ الْبِنْتُ الْبَابَ.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الْبَابُ تَفْتَحُ الْبِنْتَ.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girl needs the feminine verb taftaḥu.</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is the subject:</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كَتَبْتُهَا</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inside the ending -tu</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inside the ending -hā</a:t>
            </a:r>
            <a:endParaRPr lang="en-US" sz="125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subject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 I (subject); -hā = it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label a short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قَابَلَتْ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What happened? She met.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سَلْمَى</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met? Salmā.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Object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صَدِيقَتَهَا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Whom? Her friend: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Focus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الطُّلَّابُ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Put the students first.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SUBJECT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وَصَلَتْ</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سَلْمَى</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إِلَى الْمَدْرَسَةِ مُبَكِّرًا، ثُمَّ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قَابَلَتْ</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صَدِيقَتَهَا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بَدَأَ</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الدَّرْسُ</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فِي السَّاعَةِ الثَّامِنَةِ.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الطُّلَّابُ</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اسْتَمَعُوا</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إِلَى الْمُعَلِّمَةِ بِعِنَايَةٍ، وَبَعْدَ الدَّرْسِ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كَتَبَتْ</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سَلْمَى</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الْوَاجِبَ</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Salmā arrived at school early, then she met her friend. The lesson began at eight o’clock. The students listened to the teacher carefully, and after the lesson Salmā wrote her homework.</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فَتَحَتْ سَلْمَى النَّافِذَةَ.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Salmā opened the window.</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 + S + O.</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نَامَ الطِّفْلُ.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child slept.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 object needed.</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سَافَرْنَا أَمْسِ.</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travelled yesterday.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Subject inside: -nā.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أَعْطَى الْمُعَلِّمُ الطَّالِبَ كِتَابًا.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teacher gave the student a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Two objects.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LABEL THE ROLES (WEBSITE GAME AND FINAL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subject, object — or none?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حَدِّدِ الْأَرْكَانَ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Object</a:t>
            </a:r>
            <a:endParaRPr lang="en-US" sz="1100" dirty="0"/>
          </a:p>
        </p:txBody>
      </p:sp>
      <p:sp>
        <p:nvSpPr>
          <p:cNvPr id="17" name="Text 14"/>
          <p:cNvSpPr txBox="1"/>
          <p:nvPr/>
        </p:nvSpPr>
        <p:spPr>
          <a:xfrm>
            <a:off x="69311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18" name="Text 15"/>
          <p:cNvSpPr txBox="1"/>
          <p:nvPr/>
        </p:nvSpPr>
        <p:spPr>
          <a:xfrm>
            <a:off x="4553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26880" y="2267712"/>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الْبَابَ</a:t>
            </a:r>
            <a:endParaRPr lang="ar-SA" sz="2400" dirty="0"/>
          </a:p>
        </p:txBody>
      </p:sp>
      <p:sp>
        <p:nvSpPr>
          <p:cNvPr id="22" name="Text 19"/>
          <p:cNvSpPr txBox="1"/>
          <p:nvPr/>
        </p:nvSpPr>
        <p:spPr>
          <a:xfrm>
            <a:off x="694944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الْحَارِسُ</a:t>
            </a:r>
            <a:endParaRPr lang="ar-SA" sz="2400" dirty="0"/>
          </a:p>
        </p:txBody>
      </p:sp>
      <p:sp>
        <p:nvSpPr>
          <p:cNvPr id="23" name="Text 20"/>
          <p:cNvSpPr txBox="1"/>
          <p:nvPr/>
        </p:nvSpPr>
        <p:spPr>
          <a:xfrm>
            <a:off x="457200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أَغْلَقَ</a:t>
            </a:r>
            <a:endParaRPr lang="ar-SA" sz="2400" dirty="0"/>
          </a:p>
        </p:txBody>
      </p:sp>
      <p:sp>
        <p:nvSpPr>
          <p:cNvPr id="24" name="Text 21"/>
          <p:cNvSpPr txBox="1"/>
          <p:nvPr/>
        </p:nvSpPr>
        <p:spPr>
          <a:xfrm>
            <a:off x="54864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أَغْلَقَ الْحَارِسُ الْبَابَ.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26880" y="2881884"/>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الْخَبَرَ</a:t>
            </a:r>
            <a:endParaRPr lang="ar-SA" sz="2400" dirty="0"/>
          </a:p>
        </p:txBody>
      </p:sp>
      <p:sp>
        <p:nvSpPr>
          <p:cNvPr id="29" name="Text 26"/>
          <p:cNvSpPr txBox="1"/>
          <p:nvPr/>
        </p:nvSpPr>
        <p:spPr>
          <a:xfrm>
            <a:off x="694944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مَرْيَمُ</a:t>
            </a:r>
            <a:endParaRPr lang="ar-SA" sz="2400" dirty="0"/>
          </a:p>
        </p:txBody>
      </p:sp>
      <p:sp>
        <p:nvSpPr>
          <p:cNvPr id="30" name="Text 27"/>
          <p:cNvSpPr txBox="1"/>
          <p:nvPr/>
        </p:nvSpPr>
        <p:spPr>
          <a:xfrm>
            <a:off x="457200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قَرَأَتْ</a:t>
            </a:r>
            <a:endParaRPr lang="ar-SA" sz="2400" dirty="0"/>
          </a:p>
        </p:txBody>
      </p:sp>
      <p:sp>
        <p:nvSpPr>
          <p:cNvPr id="31" name="Text 28"/>
          <p:cNvSpPr txBox="1"/>
          <p:nvPr/>
        </p:nvSpPr>
        <p:spPr>
          <a:xfrm>
            <a:off x="54864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مَرْيَمُ الْخَبَرَ.</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26880" y="3496056"/>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الْفِلْمَ</a:t>
            </a:r>
            <a:endParaRPr lang="ar-SA" sz="2400" dirty="0"/>
          </a:p>
        </p:txBody>
      </p:sp>
      <p:sp>
        <p:nvSpPr>
          <p:cNvPr id="36" name="Text 33"/>
          <p:cNvSpPr txBox="1"/>
          <p:nvPr/>
        </p:nvSpPr>
        <p:spPr>
          <a:xfrm>
            <a:off x="694944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الطِّفْلُ</a:t>
            </a:r>
            <a:endParaRPr lang="ar-SA" sz="2400" dirty="0"/>
          </a:p>
        </p:txBody>
      </p:sp>
      <p:sp>
        <p:nvSpPr>
          <p:cNvPr id="37" name="Text 34"/>
          <p:cNvSpPr txBox="1"/>
          <p:nvPr/>
        </p:nvSpPr>
        <p:spPr>
          <a:xfrm>
            <a:off x="457200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شَاهَدَ</a:t>
            </a:r>
            <a:endParaRPr lang="ar-SA" sz="2400" dirty="0"/>
          </a:p>
        </p:txBody>
      </p:sp>
      <p:sp>
        <p:nvSpPr>
          <p:cNvPr id="38" name="Text 35"/>
          <p:cNvSpPr txBox="1"/>
          <p:nvPr/>
        </p:nvSpPr>
        <p:spPr>
          <a:xfrm>
            <a:off x="54864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شَاهَدَ الطِّفْلُ الْفِلْمَ.</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none</a:t>
            </a:r>
            <a:endParaRPr lang="en-US" sz="1100" dirty="0"/>
          </a:p>
        </p:txBody>
      </p:sp>
      <p:sp>
        <p:nvSpPr>
          <p:cNvPr id="43" name="Text 40"/>
          <p:cNvSpPr txBox="1"/>
          <p:nvPr/>
        </p:nvSpPr>
        <p:spPr>
          <a:xfrm>
            <a:off x="694944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الْوَلَدُ</a:t>
            </a:r>
            <a:endParaRPr lang="ar-SA" sz="2400" dirty="0"/>
          </a:p>
        </p:txBody>
      </p:sp>
      <p:sp>
        <p:nvSpPr>
          <p:cNvPr id="44" name="Text 41"/>
          <p:cNvSpPr txBox="1"/>
          <p:nvPr/>
        </p:nvSpPr>
        <p:spPr>
          <a:xfrm>
            <a:off x="457200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خَرَجَ</a:t>
            </a:r>
            <a:endParaRPr lang="ar-SA" sz="2400" dirty="0"/>
          </a:p>
        </p:txBody>
      </p:sp>
      <p:sp>
        <p:nvSpPr>
          <p:cNvPr id="45" name="Text 42"/>
          <p:cNvSpPr txBox="1"/>
          <p:nvPr/>
        </p:nvSpPr>
        <p:spPr>
          <a:xfrm>
            <a:off x="54864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خَرَجَ الْوَلَدُ.</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326880" y="4724400"/>
            <a:ext cx="23134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الْمَقَالَةَ</a:t>
            </a:r>
            <a:endParaRPr lang="ar-SA" sz="2400" dirty="0"/>
          </a:p>
        </p:txBody>
      </p:sp>
      <p:sp>
        <p:nvSpPr>
          <p:cNvPr id="48" name="Text 45"/>
          <p:cNvSpPr txBox="1"/>
          <p:nvPr/>
        </p:nvSpPr>
        <p:spPr>
          <a:xfrm>
            <a:off x="694944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هِنْدٌ</a:t>
            </a:r>
            <a:endParaRPr lang="ar-SA" sz="2400" dirty="0"/>
          </a:p>
        </p:txBody>
      </p:sp>
      <p:sp>
        <p:nvSpPr>
          <p:cNvPr id="49" name="Text 46"/>
          <p:cNvSpPr txBox="1"/>
          <p:nvPr/>
        </p:nvSpPr>
        <p:spPr>
          <a:xfrm>
            <a:off x="457200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كَتَبَتْ</a:t>
            </a:r>
            <a:endParaRPr lang="ar-SA" sz="2400" dirty="0"/>
          </a:p>
        </p:txBody>
      </p:sp>
      <p:sp>
        <p:nvSpPr>
          <p:cNvPr id="50" name="Text 47"/>
          <p:cNvSpPr txBox="1"/>
          <p:nvPr/>
        </p:nvSpPr>
        <p:spPr>
          <a:xfrm>
            <a:off x="54864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كَتَبَتْ هِنْدٌ الْمَقَالَةَ.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her (-hā)</a:t>
            </a:r>
            <a:endParaRPr lang="en-US" sz="1100" dirty="0"/>
          </a:p>
        </p:txBody>
      </p:sp>
      <p:sp>
        <p:nvSpPr>
          <p:cNvPr id="53" name="Text 50"/>
          <p:cNvSpPr txBox="1"/>
          <p:nvPr/>
        </p:nvSpPr>
        <p:spPr>
          <a:xfrm>
            <a:off x="69677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hidden: I</a:t>
            </a:r>
            <a:endParaRPr lang="en-US" sz="1100" dirty="0"/>
          </a:p>
        </p:txBody>
      </p:sp>
      <p:sp>
        <p:nvSpPr>
          <p:cNvPr id="54" name="Text 51"/>
          <p:cNvSpPr txBox="1"/>
          <p:nvPr/>
        </p:nvSpPr>
        <p:spPr>
          <a:xfrm>
            <a:off x="457200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سَاعَدْتُ</a:t>
            </a:r>
            <a:endParaRPr lang="ar-SA" sz="2400" dirty="0"/>
          </a:p>
        </p:txBody>
      </p:sp>
      <p:sp>
        <p:nvSpPr>
          <p:cNvPr id="55" name="Text 52"/>
          <p:cNvSpPr txBox="1"/>
          <p:nvPr/>
        </p:nvSpPr>
        <p:spPr>
          <a:xfrm>
            <a:off x="54864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سَاعَدْتُهَا.</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Strategy (website): find the action first, then ask who did it and what received it. Never assume the first noun is the subject — check the endings.</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TURN IT ROUND (WEBSITE DEVELOP) · SINGULAR SUBJECTS ONLY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Same meaning, new focus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قَدِّمِ 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p>
        </p:txBody>
      </p:sp>
      <p:sp>
        <p:nvSpPr>
          <p:cNvPr id="17" name="Text 14"/>
          <p:cNvSpPr txBox="1"/>
          <p:nvPr/>
        </p:nvSpPr>
        <p:spPr>
          <a:xfrm>
            <a:off x="519379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 first (person)</a:t>
            </a:r>
            <a:endParaRPr lang="en-US" sz="1100" dirty="0"/>
          </a:p>
        </p:txBody>
      </p:sp>
      <p:sp>
        <p:nvSpPr>
          <p:cNvPr id="18" name="Text 15"/>
          <p:cNvSpPr txBox="1"/>
          <p:nvPr/>
        </p:nvSpPr>
        <p:spPr>
          <a:xfrm>
            <a:off x="530352" y="1810512"/>
            <a:ext cx="4517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first (event)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same verb</a:t>
            </a:r>
            <a:endParaRPr lang="en-US" sz="1100" dirty="0"/>
          </a:p>
        </p:txBody>
      </p:sp>
      <p:sp>
        <p:nvSpPr>
          <p:cNvPr id="21" name="Text 18"/>
          <p:cNvSpPr txBox="1"/>
          <p:nvPr/>
        </p:nvSpPr>
        <p:spPr>
          <a:xfrm>
            <a:off x="5212080" y="2267712"/>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الْمُعَلِّمُ شَرَحَ الدَّرْسَ.</a:t>
            </a:r>
            <a:endParaRPr lang="ar-SA" sz="2200" dirty="0"/>
          </a:p>
        </p:txBody>
      </p:sp>
      <p:sp>
        <p:nvSpPr>
          <p:cNvPr id="22" name="Text 19"/>
          <p:cNvSpPr txBox="1"/>
          <p:nvPr/>
        </p:nvSpPr>
        <p:spPr>
          <a:xfrm>
            <a:off x="548640" y="2267712"/>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شَرَحَ الْمُعَلِّمُ الدَّرْسَ.</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object</a:t>
            </a:r>
            <a:endParaRPr lang="en-US" sz="1100" dirty="0"/>
          </a:p>
        </p:txBody>
      </p:sp>
      <p:sp>
        <p:nvSpPr>
          <p:cNvPr id="27" name="Text 24"/>
          <p:cNvSpPr txBox="1"/>
          <p:nvPr/>
        </p:nvSpPr>
        <p:spPr>
          <a:xfrm>
            <a:off x="5212080" y="300471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الْقِطَارُ وَصَلَ مُبَكِّرًا.</a:t>
            </a:r>
            <a:endParaRPr lang="ar-SA" sz="2200" dirty="0"/>
          </a:p>
        </p:txBody>
      </p:sp>
      <p:sp>
        <p:nvSpPr>
          <p:cNvPr id="28" name="Text 25"/>
          <p:cNvSpPr txBox="1"/>
          <p:nvPr/>
        </p:nvSpPr>
        <p:spPr>
          <a:xfrm>
            <a:off x="548640" y="300471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وَصَلَ الْقِطَارُ مُبَكِّرًا.</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linking -i</a:t>
            </a:r>
            <a:endParaRPr lang="en-US" sz="1100" dirty="0"/>
          </a:p>
        </p:txBody>
      </p:sp>
      <p:sp>
        <p:nvSpPr>
          <p:cNvPr id="33" name="Text 30"/>
          <p:cNvSpPr txBox="1"/>
          <p:nvPr/>
        </p:nvSpPr>
        <p:spPr>
          <a:xfrm>
            <a:off x="5212080" y="3741725"/>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مَرْيَمُ قَرَأَتِ الْكِتَابَ.</a:t>
            </a:r>
            <a:endParaRPr lang="ar-SA" sz="2200" dirty="0"/>
          </a:p>
        </p:txBody>
      </p:sp>
      <p:sp>
        <p:nvSpPr>
          <p:cNvPr id="34" name="Text 31"/>
          <p:cNvSpPr txBox="1"/>
          <p:nvPr/>
        </p:nvSpPr>
        <p:spPr>
          <a:xfrm>
            <a:off x="548640" y="3741725"/>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قَرَأَتْ مَرْيَمُ الْكِتَابَ.</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37" name="Text 34"/>
          <p:cNvSpPr txBox="1"/>
          <p:nvPr/>
        </p:nvSpPr>
        <p:spPr>
          <a:xfrm>
            <a:off x="5212080" y="4478731"/>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سَارَةُ زَارَتْ جَدَّتَهَا.</a:t>
            </a:r>
            <a:endParaRPr lang="ar-SA" sz="2200" dirty="0"/>
          </a:p>
        </p:txBody>
      </p:sp>
      <p:sp>
        <p:nvSpPr>
          <p:cNvPr id="38" name="Text 35"/>
          <p:cNvSpPr txBox="1"/>
          <p:nvPr/>
        </p:nvSpPr>
        <p:spPr>
          <a:xfrm>
            <a:off x="548640" y="4478731"/>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زَارَتْ سَارَةُ جَدَّتَهَا.</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preposition</a:t>
            </a:r>
            <a:endParaRPr lang="en-US" sz="1100" dirty="0"/>
          </a:p>
        </p:txBody>
      </p:sp>
      <p:sp>
        <p:nvSpPr>
          <p:cNvPr id="41" name="Text 38"/>
          <p:cNvSpPr txBox="1"/>
          <p:nvPr/>
        </p:nvSpPr>
        <p:spPr>
          <a:xfrm>
            <a:off x="5212080" y="521573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الطَّالِبُ أَجَابَ عَنِ السُّؤَالِ.</a:t>
            </a:r>
            <a:endParaRPr lang="ar-SA" sz="2200" dirty="0"/>
          </a:p>
        </p:txBody>
      </p:sp>
      <p:sp>
        <p:nvSpPr>
          <p:cNvPr id="42" name="Text 39"/>
          <p:cNvSpPr txBox="1"/>
          <p:nvPr/>
        </p:nvSpPr>
        <p:spPr>
          <a:xfrm>
            <a:off x="548640" y="5215738"/>
            <a:ext cx="4480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أَجَابَ الطَّالِبُ عَنِ السُّؤَالِ.</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ONE person, only the order changes. With two or more people the verb ending changes too — that is next lesson’s job.</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WHICH WORD COMES FIRST?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Verb first or subject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الْفِعْلُ أَوَّلًا أَمِ الْفَاعِلُ؟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نَامَ الطِّفْلُ.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فَتَحَ عَلِيٌّ الْبَابَ.</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شَرِبَتْ هِنْدٌ الْمَاءَ.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أَخِي.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الطِّفْلُ نَامَ.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عَلِيٌّ فَتَحَ الْبَابَ.</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هِنْدٌ شَرِبَتِ الْمَاءَ.</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 يَلْعَبُ.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Verb first (VSO)</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Subject first (SVO)</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Verb first (VSO)</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نَامَ الطِّفْلُ.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فَتَحَ عَلِيٌّ الْبَابَ.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شَرِبَتْ هِنْدٌ الْمَاءَ.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يَلْعَبُ أَخِي.</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Subject first (SVO)</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الطِّفْلُ نَامَ.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عَلِيٌّ فَتَحَ الْبَابَ.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هِنْدٌ شَرِبَتِ الْمَاءَ.</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 يَلْعَبُ.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كَتَبَ الْوَاجِبُ الطَّالِبَ.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did the writing?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الطَّالِبُ كَتَبَتِ الرِّسَالَةَ.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student male or female?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كَتَبَ الرِّسَالَةَ.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ending means “I”?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كَتَبَ الْوَاجِبُ الطَّالِبَ.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 الطَّالِبُ الْوَاجِبَ.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student does the writing (-u); the homework receives it (-a).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الطَّالِبُ كَتَبَتِ الرِّسَالَةَ.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الطَّالِبُ كَتَبَ الرِّسَالَةَ.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masculine subject needs a masculine verb.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كَتَبَ الرِّسَالَةَ.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كَتَبْتُ الرِّسَالَةَ.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lives in the ending -tu — no separate anā needed.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ea typeface="Calibri" pitchFamily="34" charset="-122"/>
                <a:cs typeface="Calibri" pitchFamily="34" charset="-120"/>
              </a:rPr>
              <a:t>WE DO · GUIDED PRACTICE · WEBSITE ROLE, VSO BUILDER, FOCUS AND EXPANSION CHECKS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no direct object?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الْأُسْرَةُ الْخَبَرَ.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شَاهَدَتِ الْأُسْرَةُ الْفِلْمَ.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جَلَسَتِ الْأُسْرَةُ.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Build “The teacher explained the lesson.”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 الدَّرْسَ شَرَحَ.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 الْمُعَلِّمُ الدَّرْسَ.</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الدَّرْسُ شَرَحَ الْمُعَلِّمَ.</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contrasting Ali with his brother. Best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 عَلِيٌّ، وَلَكِنَّ أَخَاهُ لَمْ يَدْرُسْ.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دَرَسَ، وَلَكِنَّ أَخَاهُ لَمْ يَدْرُسْ.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 الدَّرْسُ عَلِيًّا.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the core roles clear?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 الرِّسَالَةُ سَارَةَ قَرَأَتْ.</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 الرِّسَالَةُ سَارَةَ.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الصَّبَاحِ قَرَأَتْ سَارَةُ الرِّسَالَةَ بِهُدُوءٍ.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no direct object?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الْأُسْرَةُ الْخَبَرَ.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شَاهَدَتِ الْأُسْرَةُ الْفِلْمَ.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جَلَسَتِ الْأُسْرَةُ.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Jalasa (sat) is complete with a subject alone.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Build “The teacher explained the lesson.”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 الدَّرْسَ شَرَحَ.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شَرَحَ الْمُعَلِّمُ الدَّرْسَ.</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الدَّرْسُ شَرَحَ الْمُعَلِّمَ.</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subject, object.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contrasting Ali with his brother. Best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 عَلِيٌّ، وَلَكِنَّ أَخَاهُ لَمْ يَدْرُسْ.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دَرَسَ، وَلَكِنَّ أَخَاهُ لَمْ يَدْرُسْ.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 الدَّرْسُ عَلِيًّا.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Ali first makes him the topic of the contrast.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the core roles clear?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الصَّبَاحِ الرِّسَالَةُ سَارَةَ قَرَأَتْ.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 الرِّسَالَةُ سَارَةَ.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الصَّبَاحِ قَرَأَتْ سَارَةُ الرِّسَالَةَ بِهُدُوءٍ.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 verb + subject + object + manner: clear.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E6B52"/>
                </a:solidFill>
                <a:latin typeface="Calibri" pitchFamily="34" charset="0"/>
                <a:ea typeface="Calibri" pitchFamily="34" charset="-122"/>
                <a:cs typeface="Calibri" pitchFamily="34" charset="-120"/>
              </a:rPr>
              <a:t>YOU DO · READ AND NOTICE · WEBSITE SKILLS WORKSHOP (TEACHER-WRITTEN ACCOUNT)</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trip to the museum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الصَّبَاحِ رَكِبَ الصَّفُّ الْحَافِلَةَ إِلَى الْمَتْحَفِ. قَادَ السَّائِقُ الْحَافِلَةَ بِهُدُوءٍ. فِي الْمَتْحَفِ شَرَحَتِ الْمُرْشِدَةُ تَارِيخَ الْمَدِينَةِ. سَأَلَ يُوسُفُ سُؤَالًا ذَكِيًّا، فَأَجَابَتِ الْمُرْشِدَةُ عَنْهُ. وَمَرْيَمُ رَسَمَتْ صُورَةً لِلْقَصْرِ الْقَدِيمِ. ثُمَّ أَكَلْنَا الْغَدَاءَ فِي الْحَدِيقَةِ، وَرَجَعْنَا إِلَى الْمَدْرَسَةِ فِي السَّاعَةِ الثَّالِثَةِ.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الْحَافِلَةَ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bus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قَادَ</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drove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الْمُرْشِدَةُ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guide (f.)</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رَسَمَتْ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drew</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الْقَصْرِ</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palace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drove the bus?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driver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Yūsuf</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explain?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سُؤَالًا ذَكِيًّا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صُورَةً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تَارِيخَ الْمَدِينَةِ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puts the person first?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وَمَرْيَمُ رَسَمَتْ صُورَةً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سَأَلَ يُوسُفُ سُؤَالًا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قَادَ السَّائِقُ الْحَافِلَةَ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hidden subject in akalnā?</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drove the bus?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driver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Yūsuf</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Qāda s-sāʾiqu l-ḥāfilata.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guide explain?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سُؤَالًا ذَكِيًّا</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صُورَةً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تَارِيخَ الْمَدِينَةِ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of sharaḥat.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puts the person first?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وَمَرْيَمُ رَسَمَتْ صُورَةً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سَأَلَ يُوسُفُ سُؤَالًا</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قَادَ السَّائِقُ الْحَافِلَةَ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Maryam comes before her verb: SVO.</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the hidden subject in akalnā?</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ending -nā =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tell what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حَدَثَ فِي الْمَدْرَسَةِ الْيَوْمَ؟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بَيْنَكَ وَبَيْنَ أَخِيكَ أَوْ صَدِيقِكَ.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أَمْسِ قَرَأْتُ ___ ، وَأَكَلْتُ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بَدَأَ ___ ، ثُمَّ شَرَحَ الْمُعَلِّمُ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وَلَكِنَّ أَخِي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حَدَثَ فِي الْمَدْرَسَةِ الْيَوْمَ؟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happened at school today?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بَدَأَ الِاجْتِمَاعُ مُبَكِّرًا، وَتَكَلَّمَ الْمُدِيرُ عَنِ الرِّحْلَةِ. أَنَا أُفَضِّلُ الْقِرَاءَةَ، وَلَكِنَّ أَخِي يُفَضِّلُ الرِّحْلَاتِ!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The assembly started early, and the head teacher talked about the trip. I prefer reading, but my brother prefers trips!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Your morning, each sentence starting with a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istayqaẓtu · akaltu · dhahabtu.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subject-first sentences and two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akhī laʿiba … · fataḥat ummī l-bāba.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70–90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event account: 4 VSO, 2 SVO, 3 objects, time / place / manner.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Label V, S and O above three sentences.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زَارَ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 visited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شَرَحَتِ الْمُعَلِّمَةُ ______ بِعِنَايَةٍ.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teacher (f.) explained … carefully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______ ، وَلَكِنِّي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 but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الْمَكْتَبَةِ كَتَبْتُ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library I wrote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اِسْتَيْقَظْتُ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أَكَلْتُ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ate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فَتَحَ أَبِي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opened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أُخْتِي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read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  قَرَأَ  ·  فَتَحَ  ·  زَارَ  ·  شَرَحَ  ·  أَكَلَ  ·  الرِّسَالَةَ  ·  الْبَابَ  ·  الدَّرْسَ  ·  أَمْسِ  ·  فِي الصَّبَاحِ  ·  بِعِنَايَةٍ  ·  بِسُرْعَةٍ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event account (70–90 words): something that happened at home, at school or on a journey — with both orders used deliberately.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verb-first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subject-first sentences (for focus or contrast).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clear objects ending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Time, place and manner details.</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V, S and O labelled above three sentences.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الصَّبَاحِ</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بِعِنَايَةٍ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carefully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بِسُرْعَةٍ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quickly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وَلَكِنَّ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مُبَكِّرًا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early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وَصَلْتُ إِلَى الْمَدْرَسَةِ مُبَكِّرًا يَوْمَ الِاثْنَيْنِ. بَدَأَ الدَّرْسُ الْأَوَّلُ فِي السَّاعَةِ الثَّامِنَةِ، وَالطُّلَّابُ اسْتَمَعُوا بِعِنَايَةٍ. شَرَحَتِ الْمُعَلِّمَةُ الدَّرْسَ بِوُضُوحٍ، ثُمَّ كَتَبْنَا الْأَسْئِلَةَ فِي دَفَاتِرِنَا. فِي الِاسْتِرَاحَةِ أَكَلْتُ شَطِيرَةً مَعَ صَدِيقِي. صَدِيقِي نَسِيَ طَعَامَهُ، فَأَعْطَيْتُهُ نِصْفَ شَطِيرَتِي. بَعْدَ الظُّهْرِ لَعِبَ فَرِيقُنَا مُبَارَاةً قَوِيَّةً، وَسَجَّلَ أَخِي هَدَفًا جَمِيلًا. رَجَعْنَا إِلَى الْبَيْتِ مَسْرُورِينَ.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arrived at school early on Monday. The first lesson began at eight o’clock, and the students listened carefully. The teacher explained the lesson clearly, then we wrote the questions in our exercise books. At break I ate a sandwich with my friend. My friend had forgotten his food, so I gave him half my sandwich. In the afternoon our team played a hard match, and my brother scored a beautiful goal. We went home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verb-first sentence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subject-first sentence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 ending in -a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hidden subject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sentence has a verb, and I can point to its subject.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objects end in -a (fatḥa).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subject-first order on purpose, for focus.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Feminine subjects have feminine verbs.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add anā / naḥnu before every verb.</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standard VSO?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شَرَحَتِ الْمُعَلِّمَةُ الْقَاعِدَةَ.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الْمُعَلِّمَةُ شَرَحَتِ الْقَاعِدَةَ.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الْقَاعِدَةُ شَرَحَتِ الْمُعَلِّمَةَ.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foregrounds the student?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أَجَابَ الطَّالِبُ عَنِ السُّؤَالِ.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الطَّالِبُ أَجَابَ عَنِ السُّؤَالِ.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السُّؤَالُ أَجَابَ الطَّالِبَ.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helped 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سَاعَدَتْنِي.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سَاعَدْنَاهَا.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standard VSO?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شَرَحَتِ الْمُعَلِّمَةُ الْقَاعِدَةَ.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الْمُعَلِّمَةُ شَرَحَتِ الْقَاعِدَةَ.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الْقَاعِدَةُ شَرَحَتِ الْمُعَلِّمَةَ.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then subject, then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foregrounds the student?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أَجَابَ الطَّالِبُ عَنِ السُّؤَالِ.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الطَّالِبُ أَجَابَ عَنِ السُّؤَالِ.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السُّؤَالُ أَجَابَ الطَّالِبَ.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student comes first: he is the topic.</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helped her”?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سَاعَدْتُهَا.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سَاعَدَتْنِي.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سَاعَدْنَاهَا.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-tu = I and -hā = her.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GM-VS-01 · 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Before GM-VS-02: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Verbal Sentences · GM-VS-01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GM-VS-02 · Subject-First Full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الطَّالِبَانِ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two students (m.)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الطُّلَّابُ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students (m.)</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الطَّالِبَاتُ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students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كَتَبُوا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(m.) wrote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(f.) wrote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When the students come FIRST, the verb changes to match them. How do you think “The students wrote the letter” ends?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الطُّلَّابُ ______ الرِّسَالَةَ.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verb-first sentences about your weekend and label V, S and O.</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your five sentences subject first (singular subjects only).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event account (70–90 words) with both orders.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GM-VS-01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GM-VS-02 · Subject-First Full Agreement</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الْمُطَابَقَةُ الْكَامِلَةُ عِنْدَ تَقَدُّمِ الْفَاعِلِ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verb = what happened · subject = who did it (-u) · object = what received it (-a) · verb first tells the event, subject first puts the person in focus · the subject can hide inside the verb (katabtu, katabnā).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GM-VS-01 · Word Order and Sentence Roles</dc:title>
  <dc:subject>PptxGenJS Presentation</dc:subject>
  <dc:creator>Al Madina Online School · Arabic Department</dc:creator>
  <cp:lastModifiedBy>Al Madina Online School · Arabic Department</cp:lastModifiedBy>
  <cp:revision>1</cp:revision>
  <dcterms:created xsi:type="dcterms:W3CDTF">2026-10-04T06:13:42Z</dcterms:created>
  <dcterms:modified xsi:type="dcterms:W3CDTF">2026-10-04T06:13:42Z</dcterms:modified>
</cp:coreProperties>
</file>