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Verbal Sentences › GM-VS-01 (“Word Order and Sentence Roles”).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find the verb, the subject (-u) and the object (-a) in short verb-first sentences; know that some verbs need no object (nāma ṭ-ṭifl). Develop: turn VSO into SVO and back (singular subjects only today) and choose the order for the question asked. Stretch: hidden subjects (katabtu, katabnāhā), two objects (aʿṭā … kitāban) and fronted time phrases (amsi kataba …).
• Website warning: SVO is not a free swap — with dual and plural subjects the verb changes. Keep today’s transformations singular; Lessons 2–3 teach the agreement contrast.
• Colour code used all through the Verbal Sentences area: teal = verb, blue = subject, pink = object. Recycles GM-V past / present / future verbs and GM-PRO attached pronouns.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1–5) — GM-V past-tense verbs and the GM-PRO subject endings -tu, -nā.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Ask three questions: What happened? (verb) · Who did it? (subject, usually -u) · What received it? (object, usually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(4 min) — website “The three core roles” + its four examples. Say each sentence; students point: verb — subject — object. Core: rows 1–3. Row 5 (Stretch): the teacher gave the student a book — two objects, both with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(2 min) — website “Verb first”. Point out katabati ṭ-ṭāliba: the -t takes a kasra to join 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“Subject first” + focus table; last row from the website Focus Check. Core students recognise SVO; Develop students choose it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(2 min) — website “The subject may be inside the verb”. Stretch: katabtuhā packs verb + subject + object into one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5 (2 min) — website “Expanding the sentence”. Reason row teacher-completed (the website row is cut off): “because he misses his grandfather”.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Role Check and VSO Builder.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Built from the website skills-workshop lines. Think aloud: verb first = what happened; “the students” first = the focus is on them (and their verb ends in -ū — Lesson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cover columns 2–4; students call out each role. Core: rows 1–3; Stretch: sāʿadtuhā = I helped 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cover column 2; students say the SVO version aloud. Website Focus Check: SVO is acceptable; the analysis and agreement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Each pair has the same meaning — only the focus changes. Ask: which would you use to answer “What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Each pair has the same meaning — only the focus changes. Ask: which would you use to answer “What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Role, VSO Builder, Focus and Expansion checks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skills workshop (teacher-written account). Read it aloud once while students follow; then they hunt for today’s grammar.
Task: Website: underline each verb once and circle its subject. Find one sentence with the subject first and one with a hidden subject.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account for the website skills workshop;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skills workshop. Sequence: ● 10s think → ↔ 45s rehearse aloud with mic muted → ◎ two named students on open mic (warned in advance) → + ? the class types one follow-up in chat → ↺ one student summarises.
Routes: Core uses the Core prompt and stem; Develop the Develop prompt; Stretch the last prompt.
Website: describe an action clearly, then change the order to put the emphasis on the event or on the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70–90 Arabic words about something that happened at home, at school or on a journey. Use both verb-first and subject-first sentences on purpose.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built on the website model lines,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(GM-VS-02 · Subject-First Full Agreement) will spend class time USING this language, so students prepare it tonight — short, simple, easy to access (school guidance: “Simple, Short, Interesting, Relevant, Easy to access”). The five words prepare GM-VS-02 (website: subject-first full agreement).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VERBAL SENTENCES  ·  GM-VS-01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GM-VS-01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500" b="1" dirty="0">
                <a:solidFill>
                  <a:srgbClr val="FFFFFF"/>
                </a:solidFill>
                <a:latin typeface="Cambria" pitchFamily="34" charset="0"/>
                <a:cs typeface="Amiri" pitchFamily="2" charset="-78"/>
              </a:rPr>
              <a:t>Word Order and Sentence Roles</a:t>
            </a:r>
            <a:endParaRPr lang="en-US" sz="35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تَرْتِيبُ الْجُمْلَةِ الْفِعْلِيَّةِ وَأَرْكَانُهَا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Every verbal sentence has a verb (what happened), a subject (who did it) and often an object (what received it): kataba ṭ-ṭālibu r-risālata. Verb first tells the event; subject first puts the person in focus.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GM-VS-01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Verbal Sentences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Three roles; verb first; subject first; hidden subject; expanding.</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Label the roles; turn it round; sort VSO / SVO;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GM-VS-02.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word is the verb:</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كَتَبَ الطَّالِبُ الرِّسَالَةَ</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الطَّالِبُ</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كَتَبَ</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الرِّسَالَةَ</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Who performs the action:</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شَرِبَتْ مَرْيَمُ الْمَاءَ</a:t>
            </a:r>
            <a:endParaRPr lang="ar-SA" sz="15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مَرْيَمُ</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الْمَاءَ</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شَرِبَتْ</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receives the action:</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قَرَأَ أَحْمَدُ الْكِتَابَ</a:t>
            </a:r>
            <a:endParaRPr lang="ar-SA" sz="15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أَحْمَدُ</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قَرَأَ</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الْكِتَابَ</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begins with the verb?</a:t>
            </a:r>
            <a:endParaRPr lang="en-US" sz="125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الطَّالِبُ كَتَبَ الْوَاجِبَ.</a:t>
            </a:r>
            <a:endParaRPr lang="ar-SA" sz="20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الْوَاجِبُ طَوِيلٌ.</a:t>
            </a:r>
            <a:endParaRPr lang="ar-SA" sz="20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كَتَبَ الطَّالِبُ الْوَاجِبَ.</a:t>
            </a:r>
            <a:endParaRPr lang="ar-SA" sz="20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already tells us “I wrote”?</a:t>
            </a:r>
            <a:endParaRPr lang="en-US" sz="125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كَتَبْتُ</a:t>
            </a:r>
            <a:endParaRPr lang="ar-SA" sz="205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كَتَبَ الطَّالِبُ</a:t>
            </a:r>
            <a:endParaRPr lang="ar-SA" sz="205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الطَّالِبُ</a:t>
            </a:r>
            <a:endParaRPr lang="ar-SA" sz="2050" dirty="0"/>
          </a:p>
        </p:txBody>
      </p:sp>
      <p:sp>
        <p:nvSpPr>
          <p:cNvPr id="83" name="Shape 80"/>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4" name="Text 81"/>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5" name="Text 82"/>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6" name="Text 83"/>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7" name="Text 84"/>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word is the verb:</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كَتَبَ الطَّالِبُ الرِّسَالَةَ</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الطَّالِبُ</a:t>
            </a:r>
            <a:endParaRPr lang="ar-SA" sz="1700" dirty="0"/>
          </a:p>
        </p:txBody>
      </p:sp>
      <p:sp>
        <p:nvSpPr>
          <p:cNvPr id="23" name="Shape 20"/>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1"/>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كَتَبَ</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الرِّسَالَةَ</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Kataba is the action — what happened.</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Who performs the action:</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شَرِبَتْ مَرْيَمُ الْمَاءَ</a:t>
            </a:r>
            <a:endParaRPr lang="ar-SA" sz="1500" dirty="0"/>
          </a:p>
        </p:txBody>
      </p:sp>
      <p:sp>
        <p:nvSpPr>
          <p:cNvPr id="36"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مَرْيَمُ</a:t>
            </a:r>
            <a:endParaRPr lang="ar-SA" sz="1700" dirty="0"/>
          </a:p>
        </p:txBody>
      </p:sp>
      <p:sp>
        <p:nvSpPr>
          <p:cNvPr id="40"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الْمَاءَ</a:t>
            </a:r>
            <a:endParaRPr lang="ar-SA" sz="1700" dirty="0"/>
          </a:p>
        </p:txBody>
      </p:sp>
      <p:sp>
        <p:nvSpPr>
          <p:cNvPr id="43"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شَرِبَتْ</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Maryam did the drinking — she is the subject.</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receives the action:</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قَرَأَ أَحْمَدُ الْكِتَابَ</a:t>
            </a:r>
            <a:endParaRPr lang="ar-SA" sz="1500" dirty="0"/>
          </a:p>
        </p:txBody>
      </p:sp>
      <p:sp>
        <p:nvSpPr>
          <p:cNvPr id="52"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أَحْمَدُ</a:t>
            </a:r>
            <a:endParaRPr lang="ar-SA" sz="170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قَرَأَ</a:t>
            </a:r>
            <a:endParaRPr lang="ar-SA" sz="1700" dirty="0"/>
          </a:p>
        </p:txBody>
      </p:sp>
      <p:sp>
        <p:nvSpPr>
          <p:cNvPr id="58" name="Shape 55"/>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9" name="Shape 56"/>
          <p:cNvSpPr/>
          <p:nvPr/>
        </p:nvSpPr>
        <p:spPr>
          <a:xfrm>
            <a:off x="8278368" y="3233928"/>
            <a:ext cx="256032" cy="256032"/>
          </a:xfrm>
          <a:prstGeom prst="ellipse">
            <a:avLst/>
          </a:prstGeom>
          <a:solidFill>
            <a:srgbClr val="2E8B57"/>
          </a:solidFill>
          <a:ln w="12700">
            <a:solidFill>
              <a:srgbClr val="2E8B57"/>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الْكِتَابَ</a:t>
            </a:r>
            <a:endParaRPr lang="ar-SA" sz="170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book is what was read — the object.</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begins with the verb?</a:t>
            </a:r>
            <a:endParaRPr lang="en-US" sz="1250" dirty="0"/>
          </a:p>
        </p:txBody>
      </p:sp>
      <p:sp>
        <p:nvSpPr>
          <p:cNvPr id="67"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الطَّالِبُ كَتَبَ الْوَاجِبَ.</a:t>
            </a:r>
            <a:endParaRPr lang="ar-SA" sz="1700" dirty="0"/>
          </a:p>
        </p:txBody>
      </p:sp>
      <p:sp>
        <p:nvSpPr>
          <p:cNvPr id="70"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الْوَاجِبُ طَوِيلٌ.</a:t>
            </a:r>
            <a:endParaRPr lang="ar-SA" sz="1700" dirty="0"/>
          </a:p>
        </p:txBody>
      </p:sp>
      <p:sp>
        <p:nvSpPr>
          <p:cNvPr id="73"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كَتَبَ الطَّالِبُ الْوَاجِبَ.</a:t>
            </a:r>
            <a:endParaRPr lang="ar-SA" sz="1700" dirty="0"/>
          </a:p>
        </p:txBody>
      </p:sp>
      <p:sp>
        <p:nvSpPr>
          <p:cNvPr id="77"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This one starts with the verb: VSO.</a:t>
            </a:r>
            <a:endParaRPr lang="en-US" sz="1050" dirty="0"/>
          </a:p>
        </p:txBody>
      </p:sp>
      <p:sp>
        <p:nvSpPr>
          <p:cNvPr id="78"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80"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1" name="Text 7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already tells us “I wrote”?</a:t>
            </a:r>
            <a:endParaRPr lang="en-US" sz="1250" dirty="0"/>
          </a:p>
        </p:txBody>
      </p:sp>
      <p:sp>
        <p:nvSpPr>
          <p:cNvPr id="82" name="Shape 79"/>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4831080"/>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5" name="Text 8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كَتَبْتُ</a:t>
            </a:r>
            <a:endParaRPr lang="ar-SA" sz="1700" dirty="0"/>
          </a:p>
        </p:txBody>
      </p:sp>
      <p:sp>
        <p:nvSpPr>
          <p:cNvPr id="86"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8" name="Text 85"/>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كَتَبَ الطَّالِبُ</a:t>
            </a:r>
            <a:endParaRPr lang="ar-SA" sz="1700" dirty="0"/>
          </a:p>
        </p:txBody>
      </p:sp>
      <p:sp>
        <p:nvSpPr>
          <p:cNvPr id="89" name="Shape 86"/>
          <p:cNvSpPr/>
          <p:nvPr/>
        </p:nvSpPr>
        <p:spPr>
          <a:xfrm>
            <a:off x="4459224" y="5574792"/>
            <a:ext cx="256032" cy="256032"/>
          </a:xfrm>
          <a:prstGeom prst="ellipse">
            <a:avLst/>
          </a:prstGeom>
          <a:solidFill>
            <a:srgbClr val="C9CED6"/>
          </a:solidFill>
          <a:ln w="12700">
            <a:solidFill>
              <a:srgbClr val="C9CED6"/>
            </a:solidFill>
            <a:prstDash val="solid"/>
          </a:ln>
        </p:spPr>
      </p:sp>
      <p:sp>
        <p:nvSpPr>
          <p:cNvPr id="90"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1" name="Text 88"/>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الطَّالِبُ</a:t>
            </a:r>
            <a:endParaRPr lang="ar-SA" sz="1700" dirty="0"/>
          </a:p>
        </p:txBody>
      </p:sp>
      <p:sp>
        <p:nvSpPr>
          <p:cNvPr id="92"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ending -tu already means “I”.</a:t>
            </a:r>
            <a:endParaRPr lang="en-US" sz="1050" dirty="0"/>
          </a:p>
        </p:txBody>
      </p:sp>
      <p:sp>
        <p:nvSpPr>
          <p:cNvPr id="93" name="Shape 90"/>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4" name="Text 91"/>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5" name="Text 92"/>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Ask three questions: What happened? (verb) · Who did it? (subject, usually -u) · What received it? (object, usually -a).</a:t>
            </a:r>
            <a:endParaRPr lang="en-US" sz="1300" dirty="0"/>
          </a:p>
        </p:txBody>
      </p:sp>
      <p:sp>
        <p:nvSpPr>
          <p:cNvPr id="96" name="Text 93"/>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كَتَبَ</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1D5FBF"/>
                </a:solidFill>
                <a:latin typeface="Amiri" pitchFamily="2" charset="-78"/>
                <a:cs typeface="Amiri" pitchFamily="2" charset="-78"/>
              </a:rPr>
              <a:t>الطَّالِبُ</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D6336C"/>
                </a:solidFill>
                <a:latin typeface="Amiri" pitchFamily="2" charset="-78"/>
                <a:cs typeface="Amiri" pitchFamily="2" charset="-78"/>
              </a:rPr>
              <a:t>الرِّسَالَةَ</a:t>
            </a:r>
            <a:endParaRPr lang="ar-SA" sz="240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Find the verb, subject and object.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Build a formal verb-first sentence.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Put the subject first for focus.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Expand the core with time, place and manner.</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find the verb, subject and object.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build three VSO sentences.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turn VSO into SVO and back.</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choose the order that fits the question.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hidden subjects and fronted time phrases.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70–90 words with both orders.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الْجُمْلَةُ الْفِعْلِيَّةُ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verbal sentence</a:t>
            </a:r>
            <a:endParaRPr lang="en-US" sz="1350" dirty="0"/>
          </a:p>
          <a:p>
            <a:pPr indent="0" marL="0">
              <a:buNone/>
            </a:pPr>
            <a:r>
              <a:rPr lang="en-US" sz="1100" i="1" dirty="0">
                <a:solidFill>
                  <a:srgbClr val="5A6472"/>
                </a:solidFill>
                <a:latin typeface="Calibri" pitchFamily="34" charset="0"/>
                <a:cs typeface="Amiri" pitchFamily="2" charset="-78"/>
              </a:rPr>
              <a:t>al-jum-la-tu al-fiʿ-liy-ya-tu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كَتَبَ الطَّالِبُ</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الْفِعْلُ</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verb — what happened</a:t>
            </a:r>
            <a:endParaRPr lang="en-US" sz="1350" dirty="0"/>
          </a:p>
          <a:p>
            <a:pPr indent="0" marL="0">
              <a:buNone/>
            </a:pPr>
            <a:r>
              <a:rPr lang="en-US" sz="1100" i="1" dirty="0">
                <a:solidFill>
                  <a:srgbClr val="5A6472"/>
                </a:solidFill>
                <a:latin typeface="Calibri" pitchFamily="34" charset="0"/>
                <a:cs typeface="Amiri" pitchFamily="2" charset="-78"/>
              </a:rPr>
              <a:t>al-fiʿ-lu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كَتَبَ · يَكْتُبُ</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الْفَاعِلُ</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subject — who did it</a:t>
            </a:r>
            <a:endParaRPr lang="en-US" sz="1350" dirty="0"/>
          </a:p>
          <a:p>
            <a:pPr indent="0" marL="0">
              <a:buNone/>
            </a:pPr>
            <a:r>
              <a:rPr lang="en-US" sz="1100" i="1" dirty="0">
                <a:solidFill>
                  <a:srgbClr val="5A6472"/>
                </a:solidFill>
                <a:latin typeface="Calibri" pitchFamily="34" charset="0"/>
                <a:cs typeface="Amiri" pitchFamily="2" charset="-78"/>
              </a:rPr>
              <a:t>al-fā-ʿi-lu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الطَّالِبُ</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الْمَفْعُولُ بِهِ</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object — what received it</a:t>
            </a:r>
            <a:endParaRPr lang="en-US" sz="1350" dirty="0"/>
          </a:p>
          <a:p>
            <a:pPr indent="0" marL="0">
              <a:buNone/>
            </a:pPr>
            <a:r>
              <a:rPr lang="en-US" sz="1100" i="1" dirty="0">
                <a:solidFill>
                  <a:srgbClr val="5A6472"/>
                </a:solidFill>
                <a:latin typeface="Calibri" pitchFamily="34" charset="0"/>
                <a:cs typeface="Amiri" pitchFamily="2" charset="-78"/>
              </a:rPr>
              <a:t>al-maf-ʿū-lu bi-hi</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الرِّسَالَةَ</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الضَّمِيرُ الْمُسْتَتِرُ</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subject hidden in the verb</a:t>
            </a:r>
            <a:endParaRPr lang="en-US" sz="1350" dirty="0"/>
          </a:p>
          <a:p>
            <a:pPr indent="0" marL="0">
              <a:buNone/>
            </a:pPr>
            <a:r>
              <a:rPr lang="en-US" sz="1100" i="1" dirty="0">
                <a:solidFill>
                  <a:srgbClr val="5A6472"/>
                </a:solidFill>
                <a:latin typeface="Calibri" pitchFamily="34" charset="0"/>
                <a:cs typeface="Amiri" pitchFamily="2" charset="-78"/>
              </a:rPr>
              <a:t>aḍ-ḍa-mī-ru al-mus-ta-ti-ru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كَتَبْتُ · كَتَبْنَا</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التَّقْدِيمُ</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putting first (for focus)</a:t>
            </a:r>
            <a:endParaRPr lang="en-US" sz="1350" dirty="0"/>
          </a:p>
          <a:p>
            <a:pPr indent="0" marL="0">
              <a:buNone/>
            </a:pPr>
            <a:r>
              <a:rPr lang="en-US" sz="1100" i="1" dirty="0">
                <a:solidFill>
                  <a:srgbClr val="5A6472"/>
                </a:solidFill>
                <a:latin typeface="Calibri" pitchFamily="34" charset="0"/>
                <a:cs typeface="Amiri" pitchFamily="2" charset="-78"/>
              </a:rPr>
              <a:t>at-taq-dī-mu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الطَّالِبُ كَتَبَ</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THE THREE ROLES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happened? Who? What?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أَرْكَانُ الْجُمْلَةِ الْفِعْلِيَّةِ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Object · what received it?</a:t>
            </a:r>
            <a:endParaRPr lang="en-US" sz="1100" dirty="0"/>
          </a:p>
        </p:txBody>
      </p:sp>
      <p:sp>
        <p:nvSpPr>
          <p:cNvPr id="17" name="Text 14"/>
          <p:cNvSpPr txBox="1"/>
          <p:nvPr/>
        </p:nvSpPr>
        <p:spPr>
          <a:xfrm>
            <a:off x="69311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Subject · who did it?</a:t>
            </a:r>
            <a:endParaRPr lang="en-US" sz="1100" dirty="0"/>
          </a:p>
        </p:txBody>
      </p:sp>
      <p:sp>
        <p:nvSpPr>
          <p:cNvPr id="18" name="Text 15"/>
          <p:cNvSpPr txBox="1"/>
          <p:nvPr/>
        </p:nvSpPr>
        <p:spPr>
          <a:xfrm>
            <a:off x="455371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 what happened?</a:t>
            </a:r>
            <a:endParaRPr lang="en-US" sz="1100" dirty="0"/>
          </a:p>
        </p:txBody>
      </p:sp>
      <p:sp>
        <p:nvSpPr>
          <p:cNvPr id="19" name="Text 16"/>
          <p:cNvSpPr txBox="1"/>
          <p:nvPr/>
        </p:nvSpPr>
        <p:spPr>
          <a:xfrm>
            <a:off x="53035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326880" y="2267712"/>
            <a:ext cx="23134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الْوَاجِبَ</a:t>
            </a:r>
            <a:endParaRPr lang="ar-SA" sz="2400" dirty="0"/>
          </a:p>
        </p:txBody>
      </p:sp>
      <p:sp>
        <p:nvSpPr>
          <p:cNvPr id="22" name="Text 19"/>
          <p:cNvSpPr txBox="1"/>
          <p:nvPr/>
        </p:nvSpPr>
        <p:spPr>
          <a:xfrm>
            <a:off x="6949440" y="2267712"/>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الطَّالِبُ</a:t>
            </a:r>
            <a:endParaRPr lang="ar-SA" sz="2400" dirty="0"/>
          </a:p>
        </p:txBody>
      </p:sp>
      <p:sp>
        <p:nvSpPr>
          <p:cNvPr id="23" name="Text 20"/>
          <p:cNvSpPr txBox="1"/>
          <p:nvPr/>
        </p:nvSpPr>
        <p:spPr>
          <a:xfrm>
            <a:off x="4572000" y="2267712"/>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كَتَبَ</a:t>
            </a:r>
            <a:endParaRPr lang="ar-SA" sz="2400" dirty="0"/>
          </a:p>
        </p:txBody>
      </p:sp>
      <p:sp>
        <p:nvSpPr>
          <p:cNvPr id="24" name="Text 21"/>
          <p:cNvSpPr txBox="1"/>
          <p:nvPr/>
        </p:nvSpPr>
        <p:spPr>
          <a:xfrm>
            <a:off x="548640" y="2267712"/>
            <a:ext cx="38404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كَتَبَ الطَّالِبُ الْوَاجِبَ.</a:t>
            </a:r>
            <a:endParaRPr lang="ar-SA" sz="22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326880" y="3004718"/>
            <a:ext cx="23134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النَّافِذَةَ</a:t>
            </a:r>
            <a:endParaRPr lang="ar-SA" sz="2400" dirty="0"/>
          </a:p>
        </p:txBody>
      </p:sp>
      <p:sp>
        <p:nvSpPr>
          <p:cNvPr id="29" name="Text 26"/>
          <p:cNvSpPr txBox="1"/>
          <p:nvPr/>
        </p:nvSpPr>
        <p:spPr>
          <a:xfrm>
            <a:off x="6949440" y="300471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سَلْمَى</a:t>
            </a:r>
            <a:endParaRPr lang="ar-SA" sz="2400" dirty="0"/>
          </a:p>
        </p:txBody>
      </p:sp>
      <p:sp>
        <p:nvSpPr>
          <p:cNvPr id="30" name="Text 27"/>
          <p:cNvSpPr txBox="1"/>
          <p:nvPr/>
        </p:nvSpPr>
        <p:spPr>
          <a:xfrm>
            <a:off x="4572000" y="300471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فَتَحَتْ</a:t>
            </a:r>
            <a:endParaRPr lang="ar-SA" sz="2400" dirty="0"/>
          </a:p>
        </p:txBody>
      </p:sp>
      <p:sp>
        <p:nvSpPr>
          <p:cNvPr id="31" name="Text 28"/>
          <p:cNvSpPr txBox="1"/>
          <p:nvPr/>
        </p:nvSpPr>
        <p:spPr>
          <a:xfrm>
            <a:off x="548640" y="3004718"/>
            <a:ext cx="38404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فَتَحَتْ سَلْمَى النَّافِذَةَ.</a:t>
            </a:r>
            <a:endParaRPr lang="ar-SA" sz="22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none needed</a:t>
            </a:r>
            <a:endParaRPr lang="en-US" sz="1100" dirty="0"/>
          </a:p>
        </p:txBody>
      </p:sp>
      <p:sp>
        <p:nvSpPr>
          <p:cNvPr id="36" name="Text 33"/>
          <p:cNvSpPr txBox="1"/>
          <p:nvPr/>
        </p:nvSpPr>
        <p:spPr>
          <a:xfrm>
            <a:off x="6949440" y="3741725"/>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الطِّفْلُ</a:t>
            </a:r>
            <a:endParaRPr lang="ar-SA" sz="2400" dirty="0"/>
          </a:p>
        </p:txBody>
      </p:sp>
      <p:sp>
        <p:nvSpPr>
          <p:cNvPr id="37" name="Text 34"/>
          <p:cNvSpPr txBox="1"/>
          <p:nvPr/>
        </p:nvSpPr>
        <p:spPr>
          <a:xfrm>
            <a:off x="4572000" y="3741725"/>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نَامَ</a:t>
            </a:r>
            <a:endParaRPr lang="ar-SA" sz="2400" dirty="0"/>
          </a:p>
        </p:txBody>
      </p:sp>
      <p:sp>
        <p:nvSpPr>
          <p:cNvPr id="38" name="Text 35"/>
          <p:cNvSpPr txBox="1"/>
          <p:nvPr/>
        </p:nvSpPr>
        <p:spPr>
          <a:xfrm>
            <a:off x="548640" y="3741725"/>
            <a:ext cx="38404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نَامَ الطِّفْلُ.</a:t>
            </a:r>
            <a:endParaRPr lang="ar-SA" sz="22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none needed</a:t>
            </a:r>
            <a:endParaRPr lang="en-US" sz="1100" dirty="0"/>
          </a:p>
        </p:txBody>
      </p:sp>
      <p:sp>
        <p:nvSpPr>
          <p:cNvPr id="43" name="Text 40"/>
          <p:cNvSpPr txBox="1"/>
          <p:nvPr/>
        </p:nvSpPr>
        <p:spPr>
          <a:xfrm>
            <a:off x="696772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hidden: we</a:t>
            </a:r>
            <a:endParaRPr lang="en-US" sz="1100" dirty="0"/>
          </a:p>
        </p:txBody>
      </p:sp>
      <p:sp>
        <p:nvSpPr>
          <p:cNvPr id="44" name="Text 41"/>
          <p:cNvSpPr txBox="1"/>
          <p:nvPr/>
        </p:nvSpPr>
        <p:spPr>
          <a:xfrm>
            <a:off x="4572000" y="4478731"/>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سَافَرْنَا</a:t>
            </a:r>
            <a:endParaRPr lang="ar-SA" sz="2400" dirty="0"/>
          </a:p>
        </p:txBody>
      </p:sp>
      <p:sp>
        <p:nvSpPr>
          <p:cNvPr id="45" name="Text 42"/>
          <p:cNvSpPr txBox="1"/>
          <p:nvPr/>
        </p:nvSpPr>
        <p:spPr>
          <a:xfrm>
            <a:off x="548640" y="4478731"/>
            <a:ext cx="38404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سَافَرْنَا أَمْسِ.</a:t>
            </a:r>
            <a:endParaRPr lang="ar-SA" sz="22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objects</a:t>
            </a:r>
            <a:endParaRPr lang="en-US" sz="1100" dirty="0"/>
          </a:p>
        </p:txBody>
      </p:sp>
      <p:sp>
        <p:nvSpPr>
          <p:cNvPr id="48" name="Text 45"/>
          <p:cNvSpPr txBox="1"/>
          <p:nvPr/>
        </p:nvSpPr>
        <p:spPr>
          <a:xfrm>
            <a:off x="6949440" y="521573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الْمُعَلِّمُ</a:t>
            </a:r>
            <a:endParaRPr lang="ar-SA" sz="2400" dirty="0"/>
          </a:p>
        </p:txBody>
      </p:sp>
      <p:sp>
        <p:nvSpPr>
          <p:cNvPr id="49" name="Text 46"/>
          <p:cNvSpPr txBox="1"/>
          <p:nvPr/>
        </p:nvSpPr>
        <p:spPr>
          <a:xfrm>
            <a:off x="4572000" y="521573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أَعْطَى</a:t>
            </a:r>
            <a:endParaRPr lang="ar-SA" sz="2400" dirty="0"/>
          </a:p>
        </p:txBody>
      </p:sp>
      <p:sp>
        <p:nvSpPr>
          <p:cNvPr id="50" name="Text 47"/>
          <p:cNvSpPr txBox="1"/>
          <p:nvPr/>
        </p:nvSpPr>
        <p:spPr>
          <a:xfrm>
            <a:off x="548640" y="5215738"/>
            <a:ext cx="38404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أَعْطَى الْمُعَلِّمُ الطَّالِبَ كِتَابًا.</a:t>
            </a:r>
            <a:endParaRPr lang="ar-SA" sz="22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Ending clue: the subject usually ends in -u (ḍamma) and the object in -a (fatḥa). Not every verb needs an object — nāma (slept) and safara (travelled) are complete with a subject alone.</a:t>
            </a:r>
            <a:endParaRPr lang="en-US" sz="110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VERB FIRST — THE FORMAL VSO PATTERN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Verb · subject · object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الْفِعْلُ ثُمَّ الْفَاعِلُ ثُمَّ الْمَفْعُولُ بِهِ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6267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2359152" y="1810512"/>
            <a:ext cx="5157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 + S + O</a:t>
            </a:r>
            <a:endParaRPr lang="en-US" sz="1100" dirty="0"/>
          </a:p>
        </p:txBody>
      </p:sp>
      <p:sp>
        <p:nvSpPr>
          <p:cNvPr id="18" name="Text 15"/>
          <p:cNvSpPr txBox="1"/>
          <p:nvPr/>
        </p:nvSpPr>
        <p:spPr>
          <a:xfrm>
            <a:off x="53035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Time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699248" y="2267712"/>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student wrote the letter.</a:t>
            </a:r>
            <a:endParaRPr lang="en-US" sz="1100" dirty="0"/>
          </a:p>
        </p:txBody>
      </p:sp>
      <p:sp>
        <p:nvSpPr>
          <p:cNvPr id="21" name="Text 18"/>
          <p:cNvSpPr txBox="1"/>
          <p:nvPr/>
        </p:nvSpPr>
        <p:spPr>
          <a:xfrm>
            <a:off x="2377440" y="2267712"/>
            <a:ext cx="51206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كَتَبَ الطَّالِبُ الرِّسَالَةَ.</a:t>
            </a:r>
            <a:endParaRPr lang="ar-SA" sz="2400" dirty="0"/>
          </a:p>
        </p:txBody>
      </p:sp>
      <p:sp>
        <p:nvSpPr>
          <p:cNvPr id="22" name="Text 19"/>
          <p:cNvSpPr txBox="1"/>
          <p:nvPr/>
        </p:nvSpPr>
        <p:spPr>
          <a:xfrm>
            <a:off x="566928" y="2267712"/>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699248" y="3004718"/>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student writes / is writing the letter.</a:t>
            </a:r>
            <a:endParaRPr lang="en-US" sz="1100" dirty="0"/>
          </a:p>
        </p:txBody>
      </p:sp>
      <p:sp>
        <p:nvSpPr>
          <p:cNvPr id="27" name="Text 24"/>
          <p:cNvSpPr txBox="1"/>
          <p:nvPr/>
        </p:nvSpPr>
        <p:spPr>
          <a:xfrm>
            <a:off x="2377440" y="3004718"/>
            <a:ext cx="51206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يَكْتُبُ الطَّالِبُ الرِّسَالَةَ.</a:t>
            </a:r>
            <a:endParaRPr lang="ar-SA" sz="2400" dirty="0"/>
          </a:p>
        </p:txBody>
      </p:sp>
      <p:sp>
        <p:nvSpPr>
          <p:cNvPr id="28" name="Text 25"/>
          <p:cNvSpPr txBox="1"/>
          <p:nvPr/>
        </p:nvSpPr>
        <p:spPr>
          <a:xfrm>
            <a:off x="566928" y="300471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699248" y="3741725"/>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student will write the letter.</a:t>
            </a:r>
            <a:endParaRPr lang="en-US" sz="1100" dirty="0"/>
          </a:p>
        </p:txBody>
      </p:sp>
      <p:sp>
        <p:nvSpPr>
          <p:cNvPr id="33" name="Text 30"/>
          <p:cNvSpPr txBox="1"/>
          <p:nvPr/>
        </p:nvSpPr>
        <p:spPr>
          <a:xfrm>
            <a:off x="2377440" y="3741725"/>
            <a:ext cx="51206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سَيَكْتُبُ الطَّالِبُ الرِّسَالَةَ.</a:t>
            </a:r>
            <a:endParaRPr lang="ar-SA" sz="2400" dirty="0"/>
          </a:p>
        </p:txBody>
      </p:sp>
      <p:sp>
        <p:nvSpPr>
          <p:cNvPr id="34" name="Text 31"/>
          <p:cNvSpPr txBox="1"/>
          <p:nvPr/>
        </p:nvSpPr>
        <p:spPr>
          <a:xfrm>
            <a:off x="566928" y="3741725"/>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699248" y="4478731"/>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student (f.) wrote the letter.</a:t>
            </a:r>
            <a:endParaRPr lang="en-US" sz="1100" dirty="0"/>
          </a:p>
        </p:txBody>
      </p:sp>
      <p:sp>
        <p:nvSpPr>
          <p:cNvPr id="39" name="Text 36"/>
          <p:cNvSpPr txBox="1"/>
          <p:nvPr/>
        </p:nvSpPr>
        <p:spPr>
          <a:xfrm>
            <a:off x="2377440" y="4478731"/>
            <a:ext cx="51206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كَتَبَتِ الطَّالِبَةُ الرِّسَالَةَ.</a:t>
            </a:r>
            <a:endParaRPr lang="ar-SA" sz="2400" dirty="0"/>
          </a:p>
        </p:txBody>
      </p:sp>
      <p:sp>
        <p:nvSpPr>
          <p:cNvPr id="40" name="Text 37"/>
          <p:cNvSpPr txBox="1"/>
          <p:nvPr/>
        </p:nvSpPr>
        <p:spPr>
          <a:xfrm>
            <a:off x="566928" y="4478731"/>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(f.)</a:t>
            </a:r>
            <a:endParaRPr lang="en-US" sz="11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7699248" y="5215738"/>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student (f.) is writing the letter.</a:t>
            </a:r>
            <a:endParaRPr lang="en-US" sz="1100" dirty="0"/>
          </a:p>
        </p:txBody>
      </p:sp>
      <p:sp>
        <p:nvSpPr>
          <p:cNvPr id="43" name="Text 40"/>
          <p:cNvSpPr txBox="1"/>
          <p:nvPr/>
        </p:nvSpPr>
        <p:spPr>
          <a:xfrm>
            <a:off x="2377440" y="5215738"/>
            <a:ext cx="51206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تَكْتُبُ الطَّالِبَةُ الرِّسَالَةَ.</a:t>
            </a:r>
            <a:endParaRPr lang="ar-SA" sz="2400" dirty="0"/>
          </a:p>
        </p:txBody>
      </p:sp>
      <p:sp>
        <p:nvSpPr>
          <p:cNvPr id="44" name="Text 41"/>
          <p:cNvSpPr txBox="1"/>
          <p:nvPr/>
        </p:nvSpPr>
        <p:spPr>
          <a:xfrm>
            <a:off x="566928" y="521573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(f.)</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focus: verb-first order presents the EVENT first. It is the natural order for stories, news and answers to “What happened?”. A feminine subject needs a feminine verb: katabat, taktubu.</a:t>
            </a:r>
            <a:endParaRPr lang="en-US" sz="110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3 · SUBJECT FIRST AND FOCUS (WEBSITE TABLE)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Which word comes first? It depends on the question</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مَاذَا نُقَدِّمُ؟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285232" y="1810512"/>
            <a:ext cx="6373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Natural answer</a:t>
            </a:r>
            <a:endParaRPr lang="en-US" sz="1100" dirty="0"/>
          </a:p>
        </p:txBody>
      </p:sp>
      <p:sp>
        <p:nvSpPr>
          <p:cNvPr id="17" name="Text 14"/>
          <p:cNvSpPr txBox="1"/>
          <p:nvPr/>
        </p:nvSpPr>
        <p:spPr>
          <a:xfrm>
            <a:off x="32735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Focus</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 context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5303520" y="2267712"/>
            <a:ext cx="633679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كَتَبَ الطَّالِبُ الرِّسَالَةَ.</a:t>
            </a:r>
            <a:endParaRPr lang="ar-SA" sz="2200" dirty="0"/>
          </a:p>
        </p:txBody>
      </p:sp>
      <p:sp>
        <p:nvSpPr>
          <p:cNvPr id="21" name="Text 18"/>
          <p:cNvSpPr txBox="1"/>
          <p:nvPr/>
        </p:nvSpPr>
        <p:spPr>
          <a:xfrm>
            <a:off x="3310128" y="2267712"/>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event</a:t>
            </a:r>
            <a:endParaRPr lang="en-US" sz="1100" dirty="0"/>
          </a:p>
        </p:txBody>
      </p:sp>
      <p:sp>
        <p:nvSpPr>
          <p:cNvPr id="22" name="Text 19"/>
          <p:cNvSpPr txBox="1"/>
          <p:nvPr/>
        </p:nvSpPr>
        <p:spPr>
          <a:xfrm>
            <a:off x="56692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happened?</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5303520" y="3004718"/>
            <a:ext cx="633679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الطَّالِبُ كَتَبَ الرِّسَالَةَ.</a:t>
            </a:r>
            <a:endParaRPr lang="ar-SA" sz="2200" dirty="0"/>
          </a:p>
        </p:txBody>
      </p:sp>
      <p:sp>
        <p:nvSpPr>
          <p:cNvPr id="27" name="Text 24"/>
          <p:cNvSpPr txBox="1"/>
          <p:nvPr/>
        </p:nvSpPr>
        <p:spPr>
          <a:xfrm>
            <a:off x="3310128" y="300471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student</a:t>
            </a:r>
            <a:endParaRPr lang="en-US" sz="1100" dirty="0"/>
          </a:p>
        </p:txBody>
      </p:sp>
      <p:sp>
        <p:nvSpPr>
          <p:cNvPr id="28" name="Text 25"/>
          <p:cNvSpPr txBox="1"/>
          <p:nvPr/>
        </p:nvSpPr>
        <p:spPr>
          <a:xfrm>
            <a:off x="56692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the student do?</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5303520" y="3741725"/>
            <a:ext cx="633679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مَرْيَمُ قَرَأَتِ الرِّسَالَةَ.</a:t>
            </a:r>
            <a:endParaRPr lang="ar-SA" sz="2200" dirty="0"/>
          </a:p>
        </p:txBody>
      </p:sp>
      <p:sp>
        <p:nvSpPr>
          <p:cNvPr id="33" name="Text 30"/>
          <p:cNvSpPr txBox="1"/>
          <p:nvPr/>
        </p:nvSpPr>
        <p:spPr>
          <a:xfrm>
            <a:off x="3310128" y="3741725"/>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Maryam</a:t>
            </a:r>
            <a:endParaRPr lang="en-US" sz="1100" dirty="0"/>
          </a:p>
        </p:txBody>
      </p:sp>
      <p:sp>
        <p:nvSpPr>
          <p:cNvPr id="34" name="Text 31"/>
          <p:cNvSpPr txBox="1"/>
          <p:nvPr/>
        </p:nvSpPr>
        <p:spPr>
          <a:xfrm>
            <a:off x="56692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Maryam?</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5303520" y="4478731"/>
            <a:ext cx="633679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بَدَأَ الِاجْتِمَاعُ فِي الْمَدْرَسَةِ.</a:t>
            </a:r>
            <a:endParaRPr lang="ar-SA" sz="2200" dirty="0"/>
          </a:p>
        </p:txBody>
      </p:sp>
      <p:sp>
        <p:nvSpPr>
          <p:cNvPr id="37" name="Text 34"/>
          <p:cNvSpPr txBox="1"/>
          <p:nvPr/>
        </p:nvSpPr>
        <p:spPr>
          <a:xfrm>
            <a:off x="3310128" y="4478731"/>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event</a:t>
            </a:r>
            <a:endParaRPr lang="en-US" sz="1100" dirty="0"/>
          </a:p>
        </p:txBody>
      </p:sp>
      <p:sp>
        <p:nvSpPr>
          <p:cNvPr id="38" name="Text 35"/>
          <p:cNvSpPr txBox="1"/>
          <p:nvPr/>
        </p:nvSpPr>
        <p:spPr>
          <a:xfrm>
            <a:off x="56692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happened at school?</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5303520" y="5215738"/>
            <a:ext cx="633679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عَلِيٌّ دَرَسَ، وَلَكِنَّ أَخَاهُ لَمْ يَدْرُسْ.</a:t>
            </a:r>
            <a:endParaRPr lang="ar-SA" sz="2200" dirty="0"/>
          </a:p>
        </p:txBody>
      </p:sp>
      <p:sp>
        <p:nvSpPr>
          <p:cNvPr id="41" name="Text 38"/>
          <p:cNvSpPr txBox="1"/>
          <p:nvPr/>
        </p:nvSpPr>
        <p:spPr>
          <a:xfrm>
            <a:off x="3310128" y="521573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contrast</a:t>
            </a:r>
            <a:endParaRPr lang="en-US" sz="1100" dirty="0"/>
          </a:p>
        </p:txBody>
      </p:sp>
      <p:sp>
        <p:nvSpPr>
          <p:cNvPr id="42" name="Text 39"/>
          <p:cNvSpPr txBox="1"/>
          <p:nvPr/>
        </p:nvSpPr>
        <p:spPr>
          <a:xfrm>
            <a:off x="56692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Ali, not his brother</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when the noun comes first, Arabic grammar calls it a nominal sentence whose predicate is a verbal clause. In practice we call it SVO. Warning: with two or more people the verb changes when the subject comes first (Lessons 2–3).</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4 · THE SUBJECT CAN HIDE INSIDE THE VERB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No separate “I” needed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الْفَاعِلُ فِي الْفِعْلِ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65099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32735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Hidden subject</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5687568" y="2267712"/>
            <a:ext cx="59710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wrote</a:t>
            </a:r>
            <a:endParaRPr lang="en-US" sz="1100" dirty="0"/>
          </a:p>
        </p:txBody>
      </p:sp>
      <p:sp>
        <p:nvSpPr>
          <p:cNvPr id="21" name="Text 18"/>
          <p:cNvSpPr txBox="1"/>
          <p:nvPr/>
        </p:nvSpPr>
        <p:spPr>
          <a:xfrm>
            <a:off x="3291840" y="2267712"/>
            <a:ext cx="21945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أَنَا</a:t>
            </a:r>
            <a:endParaRPr lang="ar-SA" sz="2600" dirty="0"/>
          </a:p>
        </p:txBody>
      </p:sp>
      <p:sp>
        <p:nvSpPr>
          <p:cNvPr id="22" name="Text 19"/>
          <p:cNvSpPr txBox="1"/>
          <p:nvPr/>
        </p:nvSpPr>
        <p:spPr>
          <a:xfrm>
            <a:off x="548640" y="2267712"/>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كَتَبْتُ</a:t>
            </a:r>
            <a:endParaRPr lang="ar-SA" sz="2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5687568" y="2881884"/>
            <a:ext cx="59710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wrote</a:t>
            </a:r>
            <a:endParaRPr lang="en-US" sz="1100" dirty="0"/>
          </a:p>
        </p:txBody>
      </p:sp>
      <p:sp>
        <p:nvSpPr>
          <p:cNvPr id="27" name="Text 24"/>
          <p:cNvSpPr txBox="1"/>
          <p:nvPr/>
        </p:nvSpPr>
        <p:spPr>
          <a:xfrm>
            <a:off x="3291840" y="2881884"/>
            <a:ext cx="21945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نَحْنُ</a:t>
            </a:r>
            <a:endParaRPr lang="ar-SA" sz="2600" dirty="0"/>
          </a:p>
        </p:txBody>
      </p:sp>
      <p:sp>
        <p:nvSpPr>
          <p:cNvPr id="28" name="Text 25"/>
          <p:cNvSpPr txBox="1"/>
          <p:nvPr/>
        </p:nvSpPr>
        <p:spPr>
          <a:xfrm>
            <a:off x="548640" y="2881884"/>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كَتَبْنَا</a:t>
            </a:r>
            <a:endParaRPr lang="ar-SA" sz="26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5687568" y="3496056"/>
            <a:ext cx="59710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(f.) wrote</a:t>
            </a:r>
            <a:endParaRPr lang="en-US" sz="1100" dirty="0"/>
          </a:p>
        </p:txBody>
      </p:sp>
      <p:sp>
        <p:nvSpPr>
          <p:cNvPr id="33" name="Text 30"/>
          <p:cNvSpPr txBox="1"/>
          <p:nvPr/>
        </p:nvSpPr>
        <p:spPr>
          <a:xfrm>
            <a:off x="3291840" y="3496056"/>
            <a:ext cx="21945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أَنْتِ</a:t>
            </a:r>
            <a:endParaRPr lang="ar-SA" sz="2600" dirty="0"/>
          </a:p>
        </p:txBody>
      </p:sp>
      <p:sp>
        <p:nvSpPr>
          <p:cNvPr id="34" name="Text 31"/>
          <p:cNvSpPr txBox="1"/>
          <p:nvPr/>
        </p:nvSpPr>
        <p:spPr>
          <a:xfrm>
            <a:off x="548640" y="3496056"/>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كَتَبْتِ</a:t>
            </a:r>
            <a:endParaRPr lang="ar-SA" sz="26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5687568" y="4110228"/>
            <a:ext cx="59710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(m. / mixed) wrote</a:t>
            </a:r>
            <a:endParaRPr lang="en-US" sz="1100" dirty="0"/>
          </a:p>
        </p:txBody>
      </p:sp>
      <p:sp>
        <p:nvSpPr>
          <p:cNvPr id="37" name="Text 34"/>
          <p:cNvSpPr txBox="1"/>
          <p:nvPr/>
        </p:nvSpPr>
        <p:spPr>
          <a:xfrm>
            <a:off x="3291840" y="4110228"/>
            <a:ext cx="21945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هُمْ</a:t>
            </a:r>
            <a:endParaRPr lang="ar-SA" sz="2600" dirty="0"/>
          </a:p>
        </p:txBody>
      </p:sp>
      <p:sp>
        <p:nvSpPr>
          <p:cNvPr id="38" name="Text 35"/>
          <p:cNvSpPr txBox="1"/>
          <p:nvPr/>
        </p:nvSpPr>
        <p:spPr>
          <a:xfrm>
            <a:off x="548640" y="4110228"/>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كَتَبُوا</a:t>
            </a:r>
            <a:endParaRPr lang="ar-SA" sz="260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5687568" y="4724400"/>
            <a:ext cx="59710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(f.) wrote</a:t>
            </a:r>
            <a:endParaRPr lang="en-US" sz="1100" dirty="0"/>
          </a:p>
        </p:txBody>
      </p:sp>
      <p:sp>
        <p:nvSpPr>
          <p:cNvPr id="41" name="Text 38"/>
          <p:cNvSpPr txBox="1"/>
          <p:nvPr/>
        </p:nvSpPr>
        <p:spPr>
          <a:xfrm>
            <a:off x="3291840" y="4724400"/>
            <a:ext cx="21945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هُنَّ</a:t>
            </a:r>
            <a:endParaRPr lang="ar-SA" sz="2600" dirty="0"/>
          </a:p>
        </p:txBody>
      </p:sp>
      <p:sp>
        <p:nvSpPr>
          <p:cNvPr id="42" name="Text 39"/>
          <p:cNvSpPr txBox="1"/>
          <p:nvPr/>
        </p:nvSpPr>
        <p:spPr>
          <a:xfrm>
            <a:off x="548640" y="4724400"/>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كَتَبْنَ</a:t>
            </a:r>
            <a:endParaRPr lang="ar-SA" sz="2600" dirty="0"/>
          </a:p>
        </p:txBody>
      </p:sp>
      <p:sp>
        <p:nvSpPr>
          <p:cNvPr id="43" name="Shape 4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4" name="Text 41"/>
          <p:cNvSpPr txBox="1"/>
          <p:nvPr/>
        </p:nvSpPr>
        <p:spPr>
          <a:xfrm>
            <a:off x="5687568" y="5338572"/>
            <a:ext cx="59710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wrote it — the ending -hā is the object</a:t>
            </a:r>
            <a:endParaRPr lang="en-US" sz="1100" dirty="0"/>
          </a:p>
        </p:txBody>
      </p:sp>
      <p:sp>
        <p:nvSpPr>
          <p:cNvPr id="45" name="Text 42"/>
          <p:cNvSpPr txBox="1"/>
          <p:nvPr/>
        </p:nvSpPr>
        <p:spPr>
          <a:xfrm>
            <a:off x="3291840" y="5338572"/>
            <a:ext cx="21945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أَنَا</a:t>
            </a:r>
            <a:endParaRPr lang="ar-SA" sz="2600" dirty="0"/>
          </a:p>
        </p:txBody>
      </p:sp>
      <p:sp>
        <p:nvSpPr>
          <p:cNvPr id="46" name="Text 43"/>
          <p:cNvSpPr txBox="1"/>
          <p:nvPr/>
        </p:nvSpPr>
        <p:spPr>
          <a:xfrm>
            <a:off x="548640" y="5338572"/>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كَتَبْتُهَا</a:t>
            </a:r>
            <a:endParaRPr lang="ar-SA" sz="26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warning: do not add anā, naḥnu or hum before every verb just because English needs “I”, “we”, “they”. Use the pronoun only for emphasis or contrast.</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5 · EXPANDING THE CORE (WEBSITE TABLE)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Add details — keep the core clear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وَسِّعِ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Answers</a:t>
            </a:r>
            <a:endParaRPr lang="en-US" sz="1100" dirty="0"/>
          </a:p>
        </p:txBody>
      </p:sp>
      <p:sp>
        <p:nvSpPr>
          <p:cNvPr id="17" name="Text 14"/>
          <p:cNvSpPr txBox="1"/>
          <p:nvPr/>
        </p:nvSpPr>
        <p:spPr>
          <a:xfrm>
            <a:off x="2359152" y="1810512"/>
            <a:ext cx="6803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a:t>
            </a:r>
            <a:endParaRPr lang="en-US" sz="1100" dirty="0"/>
          </a:p>
        </p:txBody>
      </p:sp>
      <p:sp>
        <p:nvSpPr>
          <p:cNvPr id="18" name="Text 15"/>
          <p:cNvSpPr txBox="1"/>
          <p:nvPr/>
        </p:nvSpPr>
        <p:spPr>
          <a:xfrm>
            <a:off x="53035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Detail</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a:t>
            </a:r>
            <a:endParaRPr lang="en-US" sz="1100" dirty="0"/>
          </a:p>
        </p:txBody>
      </p:sp>
      <p:sp>
        <p:nvSpPr>
          <p:cNvPr id="21" name="Text 18"/>
          <p:cNvSpPr txBox="1"/>
          <p:nvPr/>
        </p:nvSpPr>
        <p:spPr>
          <a:xfrm>
            <a:off x="2377440" y="2267712"/>
            <a:ext cx="6766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كَتَبَ الطَّالِبُ الرِّسَالَةَ أَمْسِ.</a:t>
            </a:r>
            <a:endParaRPr lang="ar-SA" sz="2200" dirty="0"/>
          </a:p>
        </p:txBody>
      </p:sp>
      <p:sp>
        <p:nvSpPr>
          <p:cNvPr id="22" name="Text 19"/>
          <p:cNvSpPr txBox="1"/>
          <p:nvPr/>
        </p:nvSpPr>
        <p:spPr>
          <a:xfrm>
            <a:off x="566928" y="2267712"/>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Time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(set the scene)</a:t>
            </a:r>
            <a:endParaRPr lang="en-US" sz="1100" dirty="0"/>
          </a:p>
        </p:txBody>
      </p:sp>
      <p:sp>
        <p:nvSpPr>
          <p:cNvPr id="27" name="Text 24"/>
          <p:cNvSpPr txBox="1"/>
          <p:nvPr/>
        </p:nvSpPr>
        <p:spPr>
          <a:xfrm>
            <a:off x="2377440" y="3004718"/>
            <a:ext cx="6766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أَمْسِ كَتَبَ الطَّالِبُ الرِّسَالَةَ.</a:t>
            </a:r>
            <a:endParaRPr lang="ar-SA" sz="2200" dirty="0"/>
          </a:p>
        </p:txBody>
      </p:sp>
      <p:sp>
        <p:nvSpPr>
          <p:cNvPr id="28" name="Text 25"/>
          <p:cNvSpPr txBox="1"/>
          <p:nvPr/>
        </p:nvSpPr>
        <p:spPr>
          <a:xfrm>
            <a:off x="566928" y="300471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Time first</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a:t>
            </a:r>
            <a:endParaRPr lang="en-US" sz="1100" dirty="0"/>
          </a:p>
        </p:txBody>
      </p:sp>
      <p:sp>
        <p:nvSpPr>
          <p:cNvPr id="31" name="Text 28"/>
          <p:cNvSpPr txBox="1"/>
          <p:nvPr/>
        </p:nvSpPr>
        <p:spPr>
          <a:xfrm>
            <a:off x="2377440" y="3741725"/>
            <a:ext cx="6766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كَتَبَ الطَّالِبُ الرِّسَالَةَ فِي الْمَكْتَبَةِ.</a:t>
            </a:r>
            <a:endParaRPr lang="ar-SA" sz="2200" dirty="0"/>
          </a:p>
        </p:txBody>
      </p:sp>
      <p:sp>
        <p:nvSpPr>
          <p:cNvPr id="32" name="Text 29"/>
          <p:cNvSpPr txBox="1"/>
          <p:nvPr/>
        </p:nvSpPr>
        <p:spPr>
          <a:xfrm>
            <a:off x="566928" y="3741725"/>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Place</a:t>
            </a:r>
            <a:endParaRPr lang="en-US" sz="1100" dirty="0"/>
          </a:p>
        </p:txBody>
      </p:sp>
      <p:sp>
        <p:nvSpPr>
          <p:cNvPr id="33" name="Shape 3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a:t>
            </a:r>
            <a:endParaRPr lang="en-US" sz="1100" dirty="0"/>
          </a:p>
        </p:txBody>
      </p:sp>
      <p:sp>
        <p:nvSpPr>
          <p:cNvPr id="37" name="Text 34"/>
          <p:cNvSpPr txBox="1"/>
          <p:nvPr/>
        </p:nvSpPr>
        <p:spPr>
          <a:xfrm>
            <a:off x="2377440" y="4478731"/>
            <a:ext cx="6766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كَتَبَ الطَّالِبُ الرِّسَالَةَ بِعِنَايَةٍ.</a:t>
            </a:r>
            <a:endParaRPr lang="ar-SA" sz="2200" dirty="0"/>
          </a:p>
        </p:txBody>
      </p:sp>
      <p:sp>
        <p:nvSpPr>
          <p:cNvPr id="38" name="Text 35"/>
          <p:cNvSpPr txBox="1"/>
          <p:nvPr/>
        </p:nvSpPr>
        <p:spPr>
          <a:xfrm>
            <a:off x="566928" y="4478731"/>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Manner</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a:t>
            </a:r>
            <a:endParaRPr lang="en-US" sz="1100" dirty="0"/>
          </a:p>
        </p:txBody>
      </p:sp>
      <p:sp>
        <p:nvSpPr>
          <p:cNvPr id="41" name="Text 38"/>
          <p:cNvSpPr txBox="1"/>
          <p:nvPr/>
        </p:nvSpPr>
        <p:spPr>
          <a:xfrm>
            <a:off x="2377440" y="5215738"/>
            <a:ext cx="6766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كَتَبَ الطَّالِبُ الرِّسَالَةَ لِأَنَّهُ مُشْتَاقٌ إِلَى جَدِّهِ.</a:t>
            </a:r>
            <a:endParaRPr lang="ar-SA" sz="2200" dirty="0"/>
          </a:p>
        </p:txBody>
      </p:sp>
      <p:sp>
        <p:nvSpPr>
          <p:cNvPr id="42" name="Text 39"/>
          <p:cNvSpPr txBox="1"/>
          <p:nvPr/>
        </p:nvSpPr>
        <p:spPr>
          <a:xfrm>
            <a:off x="566928" y="521573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Reason</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sentence ladder: start with kataba ṭ-ṭālibu r-risālata, then add ONE accurate detail at a time. Time and place phrases can move; the verb–subject–object core stays together.</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Identify the subject:</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زَارَتْ لَيْلَى الْمَتْحَفَ</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الْمَتْحَفَ</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زَارَتْ</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لَيْلَى</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Identify the object:</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أَكَلَ الْوَلَدُ التُّفَّاحَةَ</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التُّفَّاحَةَ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الْوَلَدُ</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أَكَلَ</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Build “The girl opens the door.”</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يَفْتَحُ الْبِنْتُ الْبَابَ.</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تَفْتَحُ الْبِنْتُ الْبَابَ.</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الْبَابُ تَفْتَحُ الْبِنْتَ.</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Where is the subject:</a:t>
            </a:r>
            <a:endParaRPr lang="en-US" sz="1200" dirty="0"/>
          </a:p>
        </p:txBody>
      </p:sp>
      <p:sp>
        <p:nvSpPr>
          <p:cNvPr id="60" name="Text 57"/>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كَتَبْتُهَا</a:t>
            </a:r>
            <a:endParaRPr lang="ar-SA" sz="150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inside the ending -tu</a:t>
            </a:r>
            <a:endParaRPr lang="en-US" sz="12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inside the ending -hā</a:t>
            </a:r>
            <a:endParaRPr lang="en-US" sz="12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is no subject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Identify the subject:</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زَارَتْ لَيْلَى الْمَتْحَفَ</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الْمَتْحَفَ</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زَارَتْ</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لَيْلَى</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Laylā did the visiting.</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Identify the object:</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أَكَلَ الْوَلَدُ التُّفَّاحَةَ</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التُّفَّاحَةَ</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الْوَلَدُ</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أَكَلَ</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apple was eaten — it receives the action.</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Build “The girl opens the door.”</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يَفْتَحُ الْبِنْتُ الْبَابَ.</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تَفْتَحُ الْبِنْتُ الْبَابَ.</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الْبَابُ تَفْتَحُ الْبِنْتَ.</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girl needs the feminine verb taftaḥu.</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Where is the subject:</a:t>
            </a:r>
            <a:endParaRPr lang="en-US" sz="1200" dirty="0"/>
          </a:p>
        </p:txBody>
      </p:sp>
      <p:sp>
        <p:nvSpPr>
          <p:cNvPr id="66" name="Text 63"/>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كَتَبْتُهَا</a:t>
            </a:r>
            <a:endParaRPr lang="ar-SA" sz="1500" dirty="0"/>
          </a:p>
        </p:txBody>
      </p:sp>
      <p:sp>
        <p:nvSpPr>
          <p:cNvPr id="67" name="Shape 64"/>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4831080"/>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inside the ending -tu</a:t>
            </a:r>
            <a:endParaRPr lang="en-US" sz="125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inside the ending -hā</a:t>
            </a:r>
            <a:endParaRPr lang="en-US" sz="1250" dirty="0"/>
          </a:p>
        </p:txBody>
      </p:sp>
      <p:sp>
        <p:nvSpPr>
          <p:cNvPr id="74" name="Shape 71"/>
          <p:cNvSpPr/>
          <p:nvPr/>
        </p:nvSpPr>
        <p:spPr>
          <a:xfrm>
            <a:off x="6368796" y="5574792"/>
            <a:ext cx="256032" cy="256032"/>
          </a:xfrm>
          <a:prstGeom prst="ellipse">
            <a:avLst/>
          </a:prstGeom>
          <a:solidFill>
            <a:srgbClr val="C9CED6"/>
          </a:solidFill>
          <a:ln w="12700">
            <a:solidFill>
              <a:srgbClr val="C9CED6"/>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is no subject</a:t>
            </a:r>
            <a:endParaRPr lang="en-US" sz="125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-tu = I (subject); -hā = it (object).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label a short story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Verb</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قَابَلَتْ</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What happened? She met.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Subject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سَلْمَى</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Who met? Salmā.</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Object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صَدِيقَتَهَا</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Whom? Her friend: -a.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Focus</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الطُّلَّابُ</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Put the students first.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VERB</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SUBJECT</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OBJECT</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500" b="1" dirty="0">
                <a:solidFill>
                  <a:srgbClr val="0E7C86"/>
                </a:solidFill>
                <a:latin typeface="Amiri" pitchFamily="2" charset="-78"/>
                <a:cs typeface="Amiri" pitchFamily="2" charset="-78"/>
              </a:rPr>
              <a:t>وَصَلَتْ</a:t>
            </a:r>
            <a:pPr rtl="1" algn="r" indent="0" marL="0">
              <a:lnSpc>
                <a:spcPct val="120000"/>
              </a:lnSpc>
              <a:buNone/>
            </a:pPr>
            <a:r>
              <a:rPr lang="ar-SA" altLang="en-US" sz="1500" b="1" dirty="0">
                <a:solidFill>
                  <a:srgbClr val="1B3B6F"/>
                </a:solidFill>
                <a:latin typeface="Amiri" pitchFamily="2" charset="-78"/>
                <a:cs typeface="Amiri" pitchFamily="2" charset="-78"/>
              </a:rPr>
              <a:t> </a:t>
            </a:r>
            <a:pPr rtl="1" algn="r" indent="0" marL="0">
              <a:lnSpc>
                <a:spcPct val="120000"/>
              </a:lnSpc>
              <a:buNone/>
            </a:pPr>
            <a:r>
              <a:rPr lang="ar-SA" altLang="en-US" sz="1500" b="1" dirty="0">
                <a:solidFill>
                  <a:srgbClr val="1D5FBF"/>
                </a:solidFill>
                <a:latin typeface="Amiri" pitchFamily="2" charset="-78"/>
                <a:cs typeface="Amiri" pitchFamily="2" charset="-78"/>
              </a:rPr>
              <a:t>سَلْمَى</a:t>
            </a:r>
            <a:pPr rtl="1" algn="r" indent="0" marL="0">
              <a:lnSpc>
                <a:spcPct val="120000"/>
              </a:lnSpc>
              <a:buNone/>
            </a:pPr>
            <a:r>
              <a:rPr lang="ar-SA" altLang="en-US" sz="1500" b="1" dirty="0">
                <a:solidFill>
                  <a:srgbClr val="1B3B6F"/>
                </a:solidFill>
                <a:latin typeface="Amiri" pitchFamily="2" charset="-78"/>
                <a:cs typeface="Amiri" pitchFamily="2" charset="-78"/>
              </a:rPr>
              <a:t> إِلَى الْمَدْرَسَةِ مُبَكِّرًا، ثُمَّ </a:t>
            </a:r>
            <a:pPr rtl="1" algn="r" indent="0" marL="0">
              <a:lnSpc>
                <a:spcPct val="120000"/>
              </a:lnSpc>
              <a:buNone/>
            </a:pPr>
            <a:r>
              <a:rPr lang="ar-SA" altLang="en-US" sz="1500" b="1" dirty="0">
                <a:solidFill>
                  <a:srgbClr val="0E7C86"/>
                </a:solidFill>
                <a:latin typeface="Amiri" pitchFamily="2" charset="-78"/>
                <a:cs typeface="Amiri" pitchFamily="2" charset="-78"/>
              </a:rPr>
              <a:t>قَابَلَتْ</a:t>
            </a:r>
            <a:pPr rtl="1" algn="r" indent="0" marL="0">
              <a:lnSpc>
                <a:spcPct val="120000"/>
              </a:lnSpc>
              <a:buNone/>
            </a:pPr>
            <a:r>
              <a:rPr lang="ar-SA" altLang="en-US" sz="1500" b="1" dirty="0">
                <a:solidFill>
                  <a:srgbClr val="1B3B6F"/>
                </a:solidFill>
                <a:latin typeface="Amiri" pitchFamily="2" charset="-78"/>
                <a:cs typeface="Amiri" pitchFamily="2" charset="-78"/>
              </a:rPr>
              <a:t> </a:t>
            </a:r>
            <a:pPr rtl="1" algn="r" indent="0" marL="0">
              <a:lnSpc>
                <a:spcPct val="120000"/>
              </a:lnSpc>
              <a:buNone/>
            </a:pPr>
            <a:r>
              <a:rPr lang="ar-SA" altLang="en-US" sz="1500" b="1" dirty="0">
                <a:solidFill>
                  <a:srgbClr val="D6336C"/>
                </a:solidFill>
                <a:latin typeface="Amiri" pitchFamily="2" charset="-78"/>
                <a:cs typeface="Amiri" pitchFamily="2" charset="-78"/>
              </a:rPr>
              <a:t>صَدِيقَتَهَا</a:t>
            </a:r>
            <a:pPr rtl="1" algn="r" indent="0" marL="0">
              <a:lnSpc>
                <a:spcPct val="120000"/>
              </a:lnSpc>
              <a:buNone/>
            </a:pPr>
            <a:r>
              <a:rPr lang="ar-SA" altLang="en-US" sz="1500" b="1" dirty="0">
                <a:solidFill>
                  <a:srgbClr val="1B3B6F"/>
                </a:solidFill>
                <a:latin typeface="Amiri" pitchFamily="2" charset="-78"/>
                <a:cs typeface="Amiri" pitchFamily="2" charset="-78"/>
              </a:rPr>
              <a:t>. </a:t>
            </a:r>
            <a:pPr rtl="1" algn="r" indent="0" marL="0">
              <a:lnSpc>
                <a:spcPct val="120000"/>
              </a:lnSpc>
              <a:buNone/>
            </a:pPr>
            <a:r>
              <a:rPr lang="ar-SA" altLang="en-US" sz="1500" b="1" dirty="0">
                <a:solidFill>
                  <a:srgbClr val="0E7C86"/>
                </a:solidFill>
                <a:latin typeface="Amiri" pitchFamily="2" charset="-78"/>
                <a:cs typeface="Amiri" pitchFamily="2" charset="-78"/>
              </a:rPr>
              <a:t>بَدَأَ</a:t>
            </a:r>
            <a:pPr rtl="1" algn="r" indent="0" marL="0">
              <a:lnSpc>
                <a:spcPct val="120000"/>
              </a:lnSpc>
              <a:buNone/>
            </a:pPr>
            <a:r>
              <a:rPr lang="ar-SA" altLang="en-US" sz="1500" b="1" dirty="0">
                <a:solidFill>
                  <a:srgbClr val="1B3B6F"/>
                </a:solidFill>
                <a:latin typeface="Amiri" pitchFamily="2" charset="-78"/>
                <a:cs typeface="Amiri" pitchFamily="2" charset="-78"/>
              </a:rPr>
              <a:t> </a:t>
            </a:r>
            <a:pPr rtl="1" algn="r" indent="0" marL="0">
              <a:lnSpc>
                <a:spcPct val="120000"/>
              </a:lnSpc>
              <a:buNone/>
            </a:pPr>
            <a:r>
              <a:rPr lang="ar-SA" altLang="en-US" sz="1500" b="1" dirty="0">
                <a:solidFill>
                  <a:srgbClr val="1D5FBF"/>
                </a:solidFill>
                <a:latin typeface="Amiri" pitchFamily="2" charset="-78"/>
                <a:cs typeface="Amiri" pitchFamily="2" charset="-78"/>
              </a:rPr>
              <a:t>الدَّرْسُ</a:t>
            </a:r>
            <a:pPr rtl="1" algn="r" indent="0" marL="0">
              <a:lnSpc>
                <a:spcPct val="120000"/>
              </a:lnSpc>
              <a:buNone/>
            </a:pPr>
            <a:r>
              <a:rPr lang="ar-SA" altLang="en-US" sz="1500" b="1" dirty="0">
                <a:solidFill>
                  <a:srgbClr val="1B3B6F"/>
                </a:solidFill>
                <a:latin typeface="Amiri" pitchFamily="2" charset="-78"/>
                <a:cs typeface="Amiri" pitchFamily="2" charset="-78"/>
              </a:rPr>
              <a:t> فِي السَّاعَةِ الثَّامِنَةِ. </a:t>
            </a:r>
            <a:pPr rtl="1" algn="r" indent="0" marL="0">
              <a:lnSpc>
                <a:spcPct val="120000"/>
              </a:lnSpc>
              <a:buNone/>
            </a:pPr>
            <a:r>
              <a:rPr lang="ar-SA" altLang="en-US" sz="1500" b="1" dirty="0">
                <a:solidFill>
                  <a:srgbClr val="1D5FBF"/>
                </a:solidFill>
                <a:latin typeface="Amiri" pitchFamily="2" charset="-78"/>
                <a:cs typeface="Amiri" pitchFamily="2" charset="-78"/>
              </a:rPr>
              <a:t>الطُّلَّابُ</a:t>
            </a:r>
            <a:pPr rtl="1" algn="r" indent="0" marL="0">
              <a:lnSpc>
                <a:spcPct val="120000"/>
              </a:lnSpc>
              <a:buNone/>
            </a:pPr>
            <a:r>
              <a:rPr lang="ar-SA" altLang="en-US" sz="1500" b="1" dirty="0">
                <a:solidFill>
                  <a:srgbClr val="1B3B6F"/>
                </a:solidFill>
                <a:latin typeface="Amiri" pitchFamily="2" charset="-78"/>
                <a:cs typeface="Amiri" pitchFamily="2" charset="-78"/>
              </a:rPr>
              <a:t> </a:t>
            </a:r>
            <a:pPr rtl="1" algn="r" indent="0" marL="0">
              <a:lnSpc>
                <a:spcPct val="120000"/>
              </a:lnSpc>
              <a:buNone/>
            </a:pPr>
            <a:r>
              <a:rPr lang="ar-SA" altLang="en-US" sz="1500" b="1" dirty="0">
                <a:solidFill>
                  <a:srgbClr val="0E7C86"/>
                </a:solidFill>
                <a:latin typeface="Amiri" pitchFamily="2" charset="-78"/>
                <a:cs typeface="Amiri" pitchFamily="2" charset="-78"/>
              </a:rPr>
              <a:t>اسْتَمَعُوا</a:t>
            </a:r>
            <a:pPr rtl="1" algn="r" indent="0" marL="0">
              <a:lnSpc>
                <a:spcPct val="120000"/>
              </a:lnSpc>
              <a:buNone/>
            </a:pPr>
            <a:r>
              <a:rPr lang="ar-SA" altLang="en-US" sz="1500" b="1" dirty="0">
                <a:solidFill>
                  <a:srgbClr val="1B3B6F"/>
                </a:solidFill>
                <a:latin typeface="Amiri" pitchFamily="2" charset="-78"/>
                <a:cs typeface="Amiri" pitchFamily="2" charset="-78"/>
              </a:rPr>
              <a:t> إِلَى الْمُعَلِّمَةِ بِعِنَايَةٍ، وَبَعْدَ الدَّرْسِ </a:t>
            </a:r>
            <a:pPr rtl="1" algn="r" indent="0" marL="0">
              <a:lnSpc>
                <a:spcPct val="120000"/>
              </a:lnSpc>
              <a:buNone/>
            </a:pPr>
            <a:r>
              <a:rPr lang="ar-SA" altLang="en-US" sz="1500" b="1" dirty="0">
                <a:solidFill>
                  <a:srgbClr val="0E7C86"/>
                </a:solidFill>
                <a:latin typeface="Amiri" pitchFamily="2" charset="-78"/>
                <a:cs typeface="Amiri" pitchFamily="2" charset="-78"/>
              </a:rPr>
              <a:t>كَتَبَتْ</a:t>
            </a:r>
            <a:pPr rtl="1" algn="r" indent="0" marL="0">
              <a:lnSpc>
                <a:spcPct val="120000"/>
              </a:lnSpc>
              <a:buNone/>
            </a:pPr>
            <a:r>
              <a:rPr lang="ar-SA" altLang="en-US" sz="1500" b="1" dirty="0">
                <a:solidFill>
                  <a:srgbClr val="1B3B6F"/>
                </a:solidFill>
                <a:latin typeface="Amiri" pitchFamily="2" charset="-78"/>
                <a:cs typeface="Amiri" pitchFamily="2" charset="-78"/>
              </a:rPr>
              <a:t> </a:t>
            </a:r>
            <a:pPr rtl="1" algn="r" indent="0" marL="0">
              <a:lnSpc>
                <a:spcPct val="120000"/>
              </a:lnSpc>
              <a:buNone/>
            </a:pPr>
            <a:r>
              <a:rPr lang="ar-SA" altLang="en-US" sz="1500" b="1" dirty="0">
                <a:solidFill>
                  <a:srgbClr val="1D5FBF"/>
                </a:solidFill>
                <a:latin typeface="Amiri" pitchFamily="2" charset="-78"/>
                <a:cs typeface="Amiri" pitchFamily="2" charset="-78"/>
              </a:rPr>
              <a:t>سَلْمَى</a:t>
            </a:r>
            <a:pPr rtl="1" algn="r" indent="0" marL="0">
              <a:lnSpc>
                <a:spcPct val="120000"/>
              </a:lnSpc>
              <a:buNone/>
            </a:pPr>
            <a:r>
              <a:rPr lang="ar-SA" altLang="en-US" sz="1500" b="1" dirty="0">
                <a:solidFill>
                  <a:srgbClr val="1B3B6F"/>
                </a:solidFill>
                <a:latin typeface="Amiri" pitchFamily="2" charset="-78"/>
                <a:cs typeface="Amiri" pitchFamily="2" charset="-78"/>
              </a:rPr>
              <a:t> </a:t>
            </a:r>
            <a:pPr rtl="1" algn="r" indent="0" marL="0">
              <a:lnSpc>
                <a:spcPct val="120000"/>
              </a:lnSpc>
              <a:buNone/>
            </a:pPr>
            <a:r>
              <a:rPr lang="ar-SA" altLang="en-US" sz="1500" b="1" dirty="0">
                <a:solidFill>
                  <a:srgbClr val="D6336C"/>
                </a:solidFill>
                <a:latin typeface="Amiri" pitchFamily="2" charset="-78"/>
                <a:cs typeface="Amiri" pitchFamily="2" charset="-78"/>
              </a:rPr>
              <a:t>الْوَاجِبَ</a:t>
            </a:r>
            <a:pPr rtl="1" algn="r" indent="0" marL="0">
              <a:lnSpc>
                <a:spcPct val="120000"/>
              </a:lnSpc>
              <a:buNone/>
            </a:pPr>
            <a:r>
              <a:rPr lang="ar-SA" altLang="en-US" sz="1500" b="1" dirty="0">
                <a:solidFill>
                  <a:srgbClr val="1B3B6F"/>
                </a:solidFill>
                <a:latin typeface="Amiri" pitchFamily="2" charset="-78"/>
                <a:cs typeface="Amiri" pitchFamily="2" charset="-78"/>
              </a:rPr>
              <a:t>.</a:t>
            </a:r>
            <a:endParaRPr lang="ar-SA" sz="15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Salmā arrived at school early, then she met her friend. The lesson began at eight o’clock. The students listened to the teacher carefully, and after the lesson Salmā wrote her homework.</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فَتَحَتْ سَلْمَى النَّافِذَةَ.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Salmā opened the window.</a:t>
            </a:r>
            <a:endParaRPr lang="en-US" sz="1250" dirty="0"/>
          </a:p>
          <a:p>
            <a:pPr indent="0" marL="0">
              <a:buNone/>
            </a:pPr>
            <a:r>
              <a:rPr lang="en-US" sz="1050" i="1" dirty="0">
                <a:solidFill>
                  <a:srgbClr val="8A6D1E"/>
                </a:solidFill>
                <a:latin typeface="Calibri" pitchFamily="34" charset="0"/>
                <a:cs typeface="Amiri" pitchFamily="2" charset="-78"/>
              </a:rPr>
              <a:t>V + S + O.</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نَامَ الطِّفْلُ.</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child slept.</a:t>
            </a:r>
            <a:endParaRPr lang="en-US" sz="1250" dirty="0"/>
          </a:p>
          <a:p>
            <a:pPr indent="0" marL="0">
              <a:buNone/>
            </a:pPr>
            <a:r>
              <a:rPr lang="en-US" sz="1050" i="1" dirty="0">
                <a:solidFill>
                  <a:srgbClr val="8A6D1E"/>
                </a:solidFill>
                <a:latin typeface="Calibri" pitchFamily="34" charset="0"/>
                <a:cs typeface="Amiri" pitchFamily="2" charset="-78"/>
              </a:rPr>
              <a:t>No object needed.</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سَافَرْنَا أَمْسِ.</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travelled yesterday.</a:t>
            </a:r>
            <a:endParaRPr lang="en-US" sz="1250" dirty="0"/>
          </a:p>
          <a:p>
            <a:pPr indent="0" marL="0">
              <a:buNone/>
            </a:pPr>
            <a:r>
              <a:rPr lang="en-US" sz="1050" i="1" dirty="0">
                <a:solidFill>
                  <a:srgbClr val="8A6D1E"/>
                </a:solidFill>
                <a:latin typeface="Calibri" pitchFamily="34" charset="0"/>
                <a:cs typeface="Amiri" pitchFamily="2" charset="-78"/>
              </a:rPr>
              <a:t>Subject inside: -nā.</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أَعْطَى الْمُعَلِّمُ الطَّالِبَ كِتَابًا.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teacher gave the student a book.</a:t>
            </a:r>
            <a:endParaRPr lang="en-US" sz="1250" dirty="0"/>
          </a:p>
          <a:p>
            <a:pPr indent="0" marL="0">
              <a:buNone/>
            </a:pPr>
            <a:r>
              <a:rPr lang="en-US" sz="1050" i="1" dirty="0">
                <a:solidFill>
                  <a:srgbClr val="8A6D1E"/>
                </a:solidFill>
                <a:latin typeface="Calibri" pitchFamily="34" charset="0"/>
                <a:cs typeface="Amiri" pitchFamily="2" charset="-78"/>
              </a:rPr>
              <a:t>Two objects.</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LABEL THE ROLES (WEBSITE GAME AND FINAL CHECK)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Verb, subject, object — or none?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حَدِّدِ الْأَرْكَانَ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Object</a:t>
            </a:r>
            <a:endParaRPr lang="en-US" sz="1100" dirty="0"/>
          </a:p>
        </p:txBody>
      </p:sp>
      <p:sp>
        <p:nvSpPr>
          <p:cNvPr id="17" name="Text 14"/>
          <p:cNvSpPr txBox="1"/>
          <p:nvPr/>
        </p:nvSpPr>
        <p:spPr>
          <a:xfrm>
            <a:off x="69311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Subject</a:t>
            </a:r>
            <a:endParaRPr lang="en-US" sz="1100" dirty="0"/>
          </a:p>
        </p:txBody>
      </p:sp>
      <p:sp>
        <p:nvSpPr>
          <p:cNvPr id="18" name="Text 15"/>
          <p:cNvSpPr txBox="1"/>
          <p:nvPr/>
        </p:nvSpPr>
        <p:spPr>
          <a:xfrm>
            <a:off x="455371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9" name="Text 16"/>
          <p:cNvSpPr txBox="1"/>
          <p:nvPr/>
        </p:nvSpPr>
        <p:spPr>
          <a:xfrm>
            <a:off x="53035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9326880" y="2267712"/>
            <a:ext cx="231343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الْبَابَ</a:t>
            </a:r>
            <a:endParaRPr lang="ar-SA" sz="2400" dirty="0"/>
          </a:p>
        </p:txBody>
      </p:sp>
      <p:sp>
        <p:nvSpPr>
          <p:cNvPr id="22" name="Text 19"/>
          <p:cNvSpPr txBox="1"/>
          <p:nvPr/>
        </p:nvSpPr>
        <p:spPr>
          <a:xfrm>
            <a:off x="6949440" y="226771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الْحَارِسُ</a:t>
            </a:r>
            <a:endParaRPr lang="ar-SA" sz="2400" dirty="0"/>
          </a:p>
        </p:txBody>
      </p:sp>
      <p:sp>
        <p:nvSpPr>
          <p:cNvPr id="23" name="Text 20"/>
          <p:cNvSpPr txBox="1"/>
          <p:nvPr/>
        </p:nvSpPr>
        <p:spPr>
          <a:xfrm>
            <a:off x="4572000" y="226771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أَغْلَقَ</a:t>
            </a:r>
            <a:endParaRPr lang="ar-SA" sz="2400" dirty="0"/>
          </a:p>
        </p:txBody>
      </p:sp>
      <p:sp>
        <p:nvSpPr>
          <p:cNvPr id="24" name="Text 21"/>
          <p:cNvSpPr txBox="1"/>
          <p:nvPr/>
        </p:nvSpPr>
        <p:spPr>
          <a:xfrm>
            <a:off x="548640" y="2267712"/>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أَغْلَقَ الْحَارِسُ الْبَابَ.</a:t>
            </a:r>
            <a:endParaRPr lang="ar-SA" sz="22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9326880" y="2881884"/>
            <a:ext cx="231343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الْخَبَرَ</a:t>
            </a:r>
            <a:endParaRPr lang="ar-SA" sz="2400" dirty="0"/>
          </a:p>
        </p:txBody>
      </p:sp>
      <p:sp>
        <p:nvSpPr>
          <p:cNvPr id="29" name="Text 26"/>
          <p:cNvSpPr txBox="1"/>
          <p:nvPr/>
        </p:nvSpPr>
        <p:spPr>
          <a:xfrm>
            <a:off x="6949440" y="2881884"/>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مَرْيَمُ</a:t>
            </a:r>
            <a:endParaRPr lang="ar-SA" sz="2400" dirty="0"/>
          </a:p>
        </p:txBody>
      </p:sp>
      <p:sp>
        <p:nvSpPr>
          <p:cNvPr id="30" name="Text 27"/>
          <p:cNvSpPr txBox="1"/>
          <p:nvPr/>
        </p:nvSpPr>
        <p:spPr>
          <a:xfrm>
            <a:off x="4572000" y="2881884"/>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قَرَأَتْ</a:t>
            </a:r>
            <a:endParaRPr lang="ar-SA" sz="2400" dirty="0"/>
          </a:p>
        </p:txBody>
      </p:sp>
      <p:sp>
        <p:nvSpPr>
          <p:cNvPr id="31" name="Text 28"/>
          <p:cNvSpPr txBox="1"/>
          <p:nvPr/>
        </p:nvSpPr>
        <p:spPr>
          <a:xfrm>
            <a:off x="548640" y="2881884"/>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قَرَأَتْ مَرْيَمُ الْخَبَرَ.</a:t>
            </a:r>
            <a:endParaRPr lang="ar-SA" sz="22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9326880" y="3496056"/>
            <a:ext cx="231343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الْفِلْمَ</a:t>
            </a:r>
            <a:endParaRPr lang="ar-SA" sz="2400" dirty="0"/>
          </a:p>
        </p:txBody>
      </p:sp>
      <p:sp>
        <p:nvSpPr>
          <p:cNvPr id="36" name="Text 33"/>
          <p:cNvSpPr txBox="1"/>
          <p:nvPr/>
        </p:nvSpPr>
        <p:spPr>
          <a:xfrm>
            <a:off x="6949440" y="3496056"/>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الطِّفْلُ</a:t>
            </a:r>
            <a:endParaRPr lang="ar-SA" sz="2400" dirty="0"/>
          </a:p>
        </p:txBody>
      </p:sp>
      <p:sp>
        <p:nvSpPr>
          <p:cNvPr id="37" name="Text 34"/>
          <p:cNvSpPr txBox="1"/>
          <p:nvPr/>
        </p:nvSpPr>
        <p:spPr>
          <a:xfrm>
            <a:off x="4572000" y="3496056"/>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شَاهَدَ</a:t>
            </a:r>
            <a:endParaRPr lang="ar-SA" sz="2400" dirty="0"/>
          </a:p>
        </p:txBody>
      </p:sp>
      <p:sp>
        <p:nvSpPr>
          <p:cNvPr id="38" name="Text 35"/>
          <p:cNvSpPr txBox="1"/>
          <p:nvPr/>
        </p:nvSpPr>
        <p:spPr>
          <a:xfrm>
            <a:off x="548640" y="3496056"/>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شَاهَدَ الطِّفْلُ الْفِلْمَ.</a:t>
            </a:r>
            <a:endParaRPr lang="ar-SA" sz="22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9345168" y="4110228"/>
            <a:ext cx="23134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none</a:t>
            </a:r>
            <a:endParaRPr lang="en-US" sz="1100" dirty="0"/>
          </a:p>
        </p:txBody>
      </p:sp>
      <p:sp>
        <p:nvSpPr>
          <p:cNvPr id="43" name="Text 40"/>
          <p:cNvSpPr txBox="1"/>
          <p:nvPr/>
        </p:nvSpPr>
        <p:spPr>
          <a:xfrm>
            <a:off x="6949440" y="4110228"/>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الْوَلَدُ</a:t>
            </a:r>
            <a:endParaRPr lang="ar-SA" sz="2400" dirty="0"/>
          </a:p>
        </p:txBody>
      </p:sp>
      <p:sp>
        <p:nvSpPr>
          <p:cNvPr id="44" name="Text 41"/>
          <p:cNvSpPr txBox="1"/>
          <p:nvPr/>
        </p:nvSpPr>
        <p:spPr>
          <a:xfrm>
            <a:off x="4572000" y="4110228"/>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خَرَجَ</a:t>
            </a:r>
            <a:endParaRPr lang="ar-SA" sz="2400" dirty="0"/>
          </a:p>
        </p:txBody>
      </p:sp>
      <p:sp>
        <p:nvSpPr>
          <p:cNvPr id="45" name="Text 42"/>
          <p:cNvSpPr txBox="1"/>
          <p:nvPr/>
        </p:nvSpPr>
        <p:spPr>
          <a:xfrm>
            <a:off x="548640" y="4110228"/>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خَرَجَ الْوَلَدُ.</a:t>
            </a:r>
            <a:endParaRPr lang="ar-SA" sz="22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9326880" y="4724400"/>
            <a:ext cx="231343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الْمَقَالَةَ</a:t>
            </a:r>
            <a:endParaRPr lang="ar-SA" sz="2400" dirty="0"/>
          </a:p>
        </p:txBody>
      </p:sp>
      <p:sp>
        <p:nvSpPr>
          <p:cNvPr id="48" name="Text 45"/>
          <p:cNvSpPr txBox="1"/>
          <p:nvPr/>
        </p:nvSpPr>
        <p:spPr>
          <a:xfrm>
            <a:off x="6949440" y="4724400"/>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هِنْدٌ</a:t>
            </a:r>
            <a:endParaRPr lang="ar-SA" sz="2400" dirty="0"/>
          </a:p>
        </p:txBody>
      </p:sp>
      <p:sp>
        <p:nvSpPr>
          <p:cNvPr id="49" name="Text 46"/>
          <p:cNvSpPr txBox="1"/>
          <p:nvPr/>
        </p:nvSpPr>
        <p:spPr>
          <a:xfrm>
            <a:off x="4572000" y="4724400"/>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كَتَبَتْ</a:t>
            </a:r>
            <a:endParaRPr lang="ar-SA" sz="2400" dirty="0"/>
          </a:p>
        </p:txBody>
      </p:sp>
      <p:sp>
        <p:nvSpPr>
          <p:cNvPr id="50" name="Text 47"/>
          <p:cNvSpPr txBox="1"/>
          <p:nvPr/>
        </p:nvSpPr>
        <p:spPr>
          <a:xfrm>
            <a:off x="548640" y="4724400"/>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كَتَبَتْ هِنْدٌ الْمَقَالَةَ.</a:t>
            </a:r>
            <a:endParaRPr lang="ar-SA" sz="22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9345168" y="5338572"/>
            <a:ext cx="23134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her (-hā)</a:t>
            </a:r>
            <a:endParaRPr lang="en-US" sz="1100" dirty="0"/>
          </a:p>
        </p:txBody>
      </p:sp>
      <p:sp>
        <p:nvSpPr>
          <p:cNvPr id="53" name="Text 50"/>
          <p:cNvSpPr txBox="1"/>
          <p:nvPr/>
        </p:nvSpPr>
        <p:spPr>
          <a:xfrm>
            <a:off x="696772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hidden: I</a:t>
            </a:r>
            <a:endParaRPr lang="en-US" sz="1100" dirty="0"/>
          </a:p>
        </p:txBody>
      </p:sp>
      <p:sp>
        <p:nvSpPr>
          <p:cNvPr id="54" name="Text 51"/>
          <p:cNvSpPr txBox="1"/>
          <p:nvPr/>
        </p:nvSpPr>
        <p:spPr>
          <a:xfrm>
            <a:off x="4572000" y="533857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سَاعَدْتُ</a:t>
            </a:r>
            <a:endParaRPr lang="ar-SA" sz="2400" dirty="0"/>
          </a:p>
        </p:txBody>
      </p:sp>
      <p:sp>
        <p:nvSpPr>
          <p:cNvPr id="55" name="Text 52"/>
          <p:cNvSpPr txBox="1"/>
          <p:nvPr/>
        </p:nvSpPr>
        <p:spPr>
          <a:xfrm>
            <a:off x="548640" y="5338572"/>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سَاعَدْتُهَا.</a:t>
            </a:r>
            <a:endParaRPr lang="ar-SA" sz="22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Strategy (website): find the action first, then ask who did it and what received it. Never assume the first noun is the subject — check the endings.</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TURN IT ROUND (WEBSITE DEVELOP) · SINGULAR SUBJECTS ONLY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Same meaning, new focus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قَدِّمِ الْفَاعِلَ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857232" y="1810512"/>
            <a:ext cx="1801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Watch</a:t>
            </a:r>
            <a:endParaRPr lang="en-US" sz="1100" dirty="0"/>
          </a:p>
        </p:txBody>
      </p:sp>
      <p:sp>
        <p:nvSpPr>
          <p:cNvPr id="17" name="Text 14"/>
          <p:cNvSpPr txBox="1"/>
          <p:nvPr/>
        </p:nvSpPr>
        <p:spPr>
          <a:xfrm>
            <a:off x="5193792" y="1810512"/>
            <a:ext cx="4517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Subject first (person)</a:t>
            </a:r>
            <a:endParaRPr lang="en-US" sz="1100" dirty="0"/>
          </a:p>
        </p:txBody>
      </p:sp>
      <p:sp>
        <p:nvSpPr>
          <p:cNvPr id="18" name="Text 15"/>
          <p:cNvSpPr txBox="1"/>
          <p:nvPr/>
        </p:nvSpPr>
        <p:spPr>
          <a:xfrm>
            <a:off x="530352" y="1810512"/>
            <a:ext cx="4517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first (event)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893808" y="2267712"/>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same verb</a:t>
            </a:r>
            <a:endParaRPr lang="en-US" sz="1100" dirty="0"/>
          </a:p>
        </p:txBody>
      </p:sp>
      <p:sp>
        <p:nvSpPr>
          <p:cNvPr id="21" name="Text 18"/>
          <p:cNvSpPr txBox="1"/>
          <p:nvPr/>
        </p:nvSpPr>
        <p:spPr>
          <a:xfrm>
            <a:off x="5212080" y="2267712"/>
            <a:ext cx="4480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الْمُعَلِّمُ شَرَحَ الدَّرْسَ.</a:t>
            </a:r>
            <a:endParaRPr lang="ar-SA" sz="2200" dirty="0"/>
          </a:p>
        </p:txBody>
      </p:sp>
      <p:sp>
        <p:nvSpPr>
          <p:cNvPr id="22" name="Text 19"/>
          <p:cNvSpPr txBox="1"/>
          <p:nvPr/>
        </p:nvSpPr>
        <p:spPr>
          <a:xfrm>
            <a:off x="548640" y="2267712"/>
            <a:ext cx="4480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شَرَحَ الْمُعَلِّمُ الدَّرْسَ.</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893808" y="3004718"/>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object</a:t>
            </a:r>
            <a:endParaRPr lang="en-US" sz="1100" dirty="0"/>
          </a:p>
        </p:txBody>
      </p:sp>
      <p:sp>
        <p:nvSpPr>
          <p:cNvPr id="27" name="Text 24"/>
          <p:cNvSpPr txBox="1"/>
          <p:nvPr/>
        </p:nvSpPr>
        <p:spPr>
          <a:xfrm>
            <a:off x="5212080" y="3004718"/>
            <a:ext cx="4480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الْقِطَارُ وَصَلَ مُبَكِّرًا.</a:t>
            </a:r>
            <a:endParaRPr lang="ar-SA" sz="2200" dirty="0"/>
          </a:p>
        </p:txBody>
      </p:sp>
      <p:sp>
        <p:nvSpPr>
          <p:cNvPr id="28" name="Text 25"/>
          <p:cNvSpPr txBox="1"/>
          <p:nvPr/>
        </p:nvSpPr>
        <p:spPr>
          <a:xfrm>
            <a:off x="548640" y="3004718"/>
            <a:ext cx="4480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وَصَلَ الْقِطَارُ مُبَكِّرًا.</a:t>
            </a:r>
            <a:endParaRPr lang="ar-SA" sz="22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893808" y="3741725"/>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linking -i</a:t>
            </a:r>
            <a:endParaRPr lang="en-US" sz="1100" dirty="0"/>
          </a:p>
        </p:txBody>
      </p:sp>
      <p:sp>
        <p:nvSpPr>
          <p:cNvPr id="33" name="Text 30"/>
          <p:cNvSpPr txBox="1"/>
          <p:nvPr/>
        </p:nvSpPr>
        <p:spPr>
          <a:xfrm>
            <a:off x="5212080" y="3741725"/>
            <a:ext cx="4480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مَرْيَمُ قَرَأَتِ الْكِتَابَ.</a:t>
            </a:r>
            <a:endParaRPr lang="ar-SA" sz="2200" dirty="0"/>
          </a:p>
        </p:txBody>
      </p:sp>
      <p:sp>
        <p:nvSpPr>
          <p:cNvPr id="34" name="Text 31"/>
          <p:cNvSpPr txBox="1"/>
          <p:nvPr/>
        </p:nvSpPr>
        <p:spPr>
          <a:xfrm>
            <a:off x="548640" y="3741725"/>
            <a:ext cx="4480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قَرَأَتْ مَرْيَمُ الْكِتَابَ.</a:t>
            </a:r>
            <a:endParaRPr lang="ar-SA" sz="22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9893808" y="4478731"/>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a:t>
            </a:r>
            <a:endParaRPr lang="en-US" sz="1100" dirty="0"/>
          </a:p>
        </p:txBody>
      </p:sp>
      <p:sp>
        <p:nvSpPr>
          <p:cNvPr id="37" name="Text 34"/>
          <p:cNvSpPr txBox="1"/>
          <p:nvPr/>
        </p:nvSpPr>
        <p:spPr>
          <a:xfrm>
            <a:off x="5212080" y="4478731"/>
            <a:ext cx="4480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سَارَةُ زَارَتْ جَدَّتَهَا.</a:t>
            </a:r>
            <a:endParaRPr lang="ar-SA" sz="2200" dirty="0"/>
          </a:p>
        </p:txBody>
      </p:sp>
      <p:sp>
        <p:nvSpPr>
          <p:cNvPr id="38" name="Text 35"/>
          <p:cNvSpPr txBox="1"/>
          <p:nvPr/>
        </p:nvSpPr>
        <p:spPr>
          <a:xfrm>
            <a:off x="548640" y="4478731"/>
            <a:ext cx="4480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زَارَتْ سَارَةُ جَدَّتَهَا.</a:t>
            </a:r>
            <a:endParaRPr lang="ar-SA" sz="22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9893808" y="5215738"/>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preposition</a:t>
            </a:r>
            <a:endParaRPr lang="en-US" sz="1100" dirty="0"/>
          </a:p>
        </p:txBody>
      </p:sp>
      <p:sp>
        <p:nvSpPr>
          <p:cNvPr id="41" name="Text 38"/>
          <p:cNvSpPr txBox="1"/>
          <p:nvPr/>
        </p:nvSpPr>
        <p:spPr>
          <a:xfrm>
            <a:off x="5212080" y="5215738"/>
            <a:ext cx="4480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الطَّالِبُ أَجَابَ عَنِ السُّؤَالِ.</a:t>
            </a:r>
            <a:endParaRPr lang="ar-SA" sz="2200" dirty="0"/>
          </a:p>
        </p:txBody>
      </p:sp>
      <p:sp>
        <p:nvSpPr>
          <p:cNvPr id="42" name="Text 39"/>
          <p:cNvSpPr txBox="1"/>
          <p:nvPr/>
        </p:nvSpPr>
        <p:spPr>
          <a:xfrm>
            <a:off x="548640" y="5215738"/>
            <a:ext cx="4480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أَجَابَ الطَّالِبُ عَنِ السُّؤَالِ.</a:t>
            </a:r>
            <a:endParaRPr lang="ar-SA" sz="22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With ONE person, only the order changes. With two or more people the verb ending changes too — that is next lesson’s job.</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WHICH WORD COMES FIRST?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Verb first or subject first?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الْفِعْلُ أَوَّلًا أَمِ الْفَاعِلُ؟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نَامَ الطِّفْلُ.</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فَتَحَ عَلِيٌّ الْبَابَ.</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شَرِبَتْ هِنْدٌ الْمَاءَ.</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يَلْعَبُ أَخِي.</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الطِّفْلُ نَامَ.</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عَلِيٌّ فَتَحَ الْبَابَ.</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هِنْدٌ شَرِبَتِ الْمَاءَ.</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أَخِي يَلْعَبُ.</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Verb first (VSO)</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Subject first (SVO)</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Verb first (VSO)</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نَامَ الطِّفْلُ.</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فَتَحَ عَلِيٌّ الْبَابَ.</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شَرِبَتْ هِنْدٌ الْمَاءَ.</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يَلْعَبُ أَخِي.</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Subject first (SVO)</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الطِّفْلُ نَامَ.</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عَلِيٌّ فَتَحَ الْبَابَ.</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هِنْدٌ شَرِبَتِ الْمَاءَ.</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أَخِي يَلْعَبُ.</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كَتَبَ الْوَاجِبُ الطَّالِبَ.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did the writing?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الطَّالِبُ كَتَبَتِ الرِّسَالَةَ.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the student male or female?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أَنَا كَتَبَ الرِّسَالَةَ.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ending means “I”?</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كَتَبَ الْوَاجِبُ الطَّالِبَ.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كَتَبَ الطَّالِبُ الْوَاجِبَ.</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student does the writing (-u); the homework receives it (-a).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الطَّالِبُ كَتَبَتِ الرِّسَالَةَ.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الطَّالِبُ كَتَبَ الرِّسَالَةَ.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masculine subject needs a masculine verb.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أَنَا كَتَبَ الرِّسَالَةَ.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كَتَبْتُ الرِّسَالَةَ.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 lives in the ending -tu — no separate anā needed.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2F6FB0"/>
                </a:solidFill>
                <a:latin typeface="Calibri" pitchFamily="34" charset="0"/>
                <a:cs typeface="Amiri" pitchFamily="2" charset="-78"/>
              </a:rPr>
              <a:t>WE DO · GUIDED PRACTICE · WEBSITE ROLE, VSO BUILDER, FOCUS AND EXPANSION CHECKS</a:t>
            </a:r>
            <a:endParaRPr lang="en-US" sz="874"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has no direct object?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قَرَأَتِ الْأُسْرَةُ الْخَبَرَ.</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شَاهَدَتِ الْأُسْرَةُ الْفِلْمَ.</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جَلَسَتِ الْأُسْرَةُ.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Build “The teacher explained the lesson.”</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الْمُعَلِّمُ الدَّرْسَ شَرَحَ.</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شَرَحَ الْمُعَلِّمُ الدَّرْسَ.</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الدَّرْسُ شَرَحَ الْمُعَلِّمَ.</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are contrasting Ali with his brother. Best opening?</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دَرَسَ عَلِيٌّ، وَلَكِنَّ أَخَاهُ لَمْ يَدْرُسْ.</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عَلِيٌّ دَرَسَ، وَلَكِنَّ أَخَاهُ لَمْ يَدْرُسْ.</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دَرَسَ الدَّرْسُ عَلِيًّا.</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keeps the core roles clear?</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الصَّبَاحِ الرِّسَالَةُ سَارَةَ قَرَأَتْ.</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قَرَأَتِ الرِّسَالَةُ سَارَةَ.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الصَّبَاحِ قَرَأَتْ سَارَةُ الرِّسَالَةَ بِهُدُوءٍ.</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has no direct object?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قَرَأَتِ الْأُسْرَةُ الْخَبَرَ.</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شَاهَدَتِ الْأُسْرَةُ الْفِلْمَ.</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جَلَسَتِ الْأُسْرَةُ.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Jalasa (sat) is complete with a subject alone.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Build “The teacher explained the lesson.”</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الْمُعَلِّمُ الدَّرْسَ شَرَحَ.</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شَرَحَ الْمُعَلِّمُ الدَّرْسَ.</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الدَّرْسُ شَرَحَ الْمُعَلِّمَ.</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Verb, subject, object.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are contrasting Ali with his brother. Best opening?</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دَرَسَ عَلِيٌّ، وَلَكِنَّ أَخَاهُ لَمْ يَدْرُسْ.</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عَلِيٌّ دَرَسَ، وَلَكِنَّ أَخَاهُ لَمْ يَدْرُسْ.</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دَرَسَ الدَّرْسُ عَلِيًّا.</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Ali first makes him the topic of the contrast.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keeps the core roles clear?</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الصَّبَاحِ الرِّسَالَةُ سَارَةَ قَرَأَتْ.</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قَرَأَتِ الرِّسَالَةُ سَارَةَ.</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الصَّبَاحِ قَرَأَتْ سَارَةُ الرِّسَالَةَ بِهُدُوءٍ.</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Time + verb + subject + object + manner: clear.</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1E6B52"/>
                </a:solidFill>
                <a:latin typeface="Calibri" pitchFamily="34" charset="0"/>
                <a:cs typeface="Amiri" pitchFamily="2" charset="-78"/>
              </a:rPr>
              <a:t>YOU DO · READ AND NOTICE · WEBSITE SKILLS WORKSHOP (TEACHER-WRITTEN ACCOUNT)</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trip to the museum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فِي الصَّبَاحِ رَكِبَ الصَّفُّ الْحَافِلَةَ إِلَى الْمَتْحَفِ. قَادَ السَّائِقُ الْحَافِلَةَ بِهُدُوءٍ. فِي الْمَتْحَفِ شَرَحَتِ الْمُرْشِدَةُ تَارِيخَ الْمَدِينَةِ. سَأَلَ يُوسُفُ سُؤَالًا ذَكِيًّا، فَأَجَابَتِ الْمُرْشِدَةُ عَنْهُ. وَمَرْيَمُ رَسَمَتْ صُورَةً لِلْقَصْرِ الْقَدِيمِ. ثُمَّ أَكَلْنَا الْغَدَاءَ فِي الْحَدِيقَةِ، وَرَجَعْنَا إِلَى الْمَدْرَسَةِ فِي السَّاعَةِ الثَّالِثَةِ.</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الْحَافِلَةَ</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bus</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قَادَ</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 drove</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الْمُرْشِدَةُ</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guide (f.)</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رَسَمَتْ</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drew</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الْقَصْرِ</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palace</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drove the bus?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guide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driver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Yūsuf</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guide explain?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سُؤَالًا ذَكِيًّا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صُورَةً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تَارِيخَ الْمَدِينَةِ</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puts the person first?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وَمَرْيَمُ رَسَمَتْ صُورَةً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سَأَلَ يُوسُفُ سُؤَالًا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قَادَ السَّائِقُ الْحَافِلَةَ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the hidden subject in akalnā?</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drove the bus?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guide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driver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Yūsuf</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Qāda s-sāʾiqu l-ḥāfilata.</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guide explain?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سُؤَالًا ذَكِيًّا</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صُورَةً</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تَارِيخَ الْمَدِينَةِ</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object of sharaḥat.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puts the person first?</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وَمَرْيَمُ رَسَمَتْ صُورَةً</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سَأَلَ يُوسُفُ سُؤَالًا</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قَادَ السَّائِقُ الْحَافِلَةَ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Maryam comes before her verb: SVO.</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the hidden subject in akalnā?</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ending -nā = we.</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tell what happened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فَعَلْتَ أَمْسِ؟</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حَدَثَ فِي الْمَدْرَسَةِ الْيَوْمَ؟</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قَارِنْ بَيْنَكَ وَبَيْنَ أَخِيكَ أَوْ صَدِيقِكَ.</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أَمْسِ قَرَأْتُ ___ ، وَأَكَلْتُ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بَدَأَ ___ ، ثُمَّ شَرَحَ الْمُعَلِّمُ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أَنَا ___ ، وَلَكِنَّ أَخِي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مَاذَا حَدَثَ فِي الْمَدْرَسَةِ الْيَوْمَ؟</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happened at school today?</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بَدَأَ الِاجْتِمَاعُ مُبَكِّرًا، وَتَكَلَّمَ الْمُدِيرُ عَنِ الرِّحْلَةِ. أَنَا أُفَضِّلُ الْقِرَاءَةَ، وَلَكِنَّ أَخِي يُفَضِّلُ الرِّحْلَاتِ!</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The assembly started early, and the head teacher talked about the trip. I prefer reading, but my brother prefers trips!</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Your morning, each sentence starting with a verb.</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istayqaẓtu · akaltu · dhahabtu.</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two subject-first sentences and two objects.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akhī laʿiba … · fataḥat ummī l-bāba.</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70–90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event account: 4 VSO, 2 SVO, 3 objects, time / place / manner.</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Label V, S and O above three sentences.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أَمْسِ زَارَ ______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Yesterday … visited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شَرَحَتِ الْمُعَلِّمَةُ ______ بِعِنَايَةٍ.</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teacher (f.) explained … carefully</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أَخِي ______ ، وَلَكِنِّي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brother …, but I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الْمَكْتَبَةِ كَتَبْتُ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library I wrote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اِسْتَيْقَظْتُ فِي السَّاعَةِ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woke up at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أَكَلْتُ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ate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فَتَحَ أَبِي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father opened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قَرَأَتْ أُخْتِي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sister read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كَتَبَ  ·  قَرَأَ  ·  فَتَحَ  ·  زَارَ  ·  شَرَحَ  ·  أَكَلَ  ·  الرِّسَالَةَ  ·  الْبَابَ  ·  الدَّرْسَ  ·  أَمْسِ  ·  فِي الصَّبَاحِ  ·  بِعِنَايَةٍ  ·  بِسُرْعَةٍ</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event account (70–90 words): something that happened at home, at school or on a journey — with both orders used deliberately.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four verb-first sentences.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subject-first sentences (for focus or contrast).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clear objects ending in -a.</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Time, place and manner details.</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V, S and O labelled above three sentences.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الصَّبَاحِ</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morning</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بَعْدَ ذَلِكَ</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after that</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بِعِنَايَةٍ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carefully</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بِسُرْعَةٍ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quickly</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وَلَكِنَّ</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مُبَكِّرًا</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early</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وَصَلْتُ إِلَى الْمَدْرَسَةِ مُبَكِّرًا يَوْمَ الِاثْنَيْنِ. بَدَأَ الدَّرْسُ الْأَوَّلُ فِي السَّاعَةِ الثَّامِنَةِ، وَالطُّلَّابُ اسْتَمَعُوا بِعِنَايَةٍ. شَرَحَتِ الْمُعَلِّمَةُ الدَّرْسَ بِوُضُوحٍ، ثُمَّ كَتَبْنَا الْأَسْئِلَةَ فِي دَفَاتِرِنَا. فِي الِاسْتِرَاحَةِ أَكَلْتُ شَطِيرَةً مَعَ صَدِيقِي. صَدِيقِي نَسِيَ طَعَامَهُ، فَأَعْطَيْتُهُ نِصْفَ شَطِيرَتِي. بَعْدَ الظُّهْرِ لَعِبَ فَرِيقُنَا مُبَارَاةً قَوِيَّةً، وَسَجَّلَ أَخِي هَدَفًا جَمِيلًا. رَجَعْنَا إِلَى الْبَيْتِ مَسْرُورِينَ.</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arrived at school early on Monday. The first lesson began at eight o’clock, and the students listened carefully. The teacher explained the lesson clearly, then we wrote the questions in our exercise books. At break I ate a sandwich with my friend. My friend had forgotten his food, so I gave him half my sandwich. In the afternoon our team played a hard match, and my brother scored a beautiful goal. We went home happy.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verb-first sentence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subject-first sentence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object ending in -a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hidden subject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sentence has a verb, and I can point to its subject.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objects end in -a (fatḥa).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subject-first order on purpose, for focus.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Feminine subjects have feminine verbs.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did not add anā / naḥnu before every verb.</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standard VSO?</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شَرَحَتِ الْمُعَلِّمَةُ الْقَاعِدَةَ.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الْمُعَلِّمَةُ شَرَحَتِ الْقَاعِدَةَ.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الْقَاعِدَةُ شَرَحَتِ الْمُعَلِّمَةَ.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foregrounds the student?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أَجَابَ الطَّالِبُ عَنِ السُّؤَالِ.</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الطَّالِبُ أَجَابَ عَنِ السُّؤَالِ.</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السُّؤَالُ أَجَابَ الطَّالِبَ.</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“I helped her”?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سَاعَدْتُهَا.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سَاعَدَتْنِي.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سَاعَدْنَاهَا.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standard VSO?</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شَرَحَتِ الْمُعَلِّمَةُ الْقَاعِدَةَ.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الْمُعَلِّمَةُ شَرَحَتِ الْقَاعِدَةَ.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الْقَاعِدَةُ شَرَحَتِ الْمُعَلِّمَةَ.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Verb first, then subject, then object.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foregrounds the student?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أَجَابَ الطَّالِبُ عَنِ السُّؤَالِ.</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الطَّالِبُ أَجَابَ عَنِ السُّؤَالِ.</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السُّؤَالُ أَجَابَ الطَّالِبَ.</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student comes first: he is the topic.</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“I helped her”?</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سَاعَدْتُهَا.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سَاعَدَتْنِي.</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سَاعَدْنَاهَا.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-tu = I and -hā = her.</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GM-VS-01 · Verbal Sentences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Before GM-VS-02: get ready at home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Verbal Sentences · GM-VS-01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GM-VS-02 · Subject-First Full Agreement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الطَّالِبَانِ</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two students (m.)</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الطُّلَّابُ</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students (m.)</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الطَّالِبَاتُ</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students (f.)</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كَتَبُوا</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they (m.) wrote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كَتَبْنَ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they (f.) wrote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When the students come FIRST, the verb changes to match them. How do you think “The students wrote the letter” ends?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الطُّلَّابُ ______ الرِّسَالَةَ.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verb-first sentences about your weekend and label V, S and O.</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Rewrite your five sentences subject first (singular subjects only).</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event account (70–90 words) with both orders.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37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GM-VS-01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GM-VS-02 · Subject-First Full Agreement</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الْمُطَابَقَةُ الْكَامِلَةُ عِنْدَ تَقَدُّمِ الْفَاعِلِ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verb = what happened · subject = who did it (-u) · object = what received it (-a) · verb first tells the event, subject first puts the person in focus · the subject can hide inside the verb (katabtu, katabnā).</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GM-VS-01 · Word Order and Sentence Roles</dc:title>
  <dc:subject>PptxGenJS Presentation</dc:subject>
  <dc:creator>Al Madina Online School · Arabic Department</dc:creator>
  <cp:lastModifiedBy>Al Madina Online School · Arabic Department</cp:lastModifiedBy>
  <cp:revision>1</cp:revision>
  <dcterms:created xsi:type="dcterms:W3CDTF">2026-10-11T06:42:48Z</dcterms:created>
  <dcterms:modified xsi:type="dcterms:W3CDTF">2026-10-11T06:42:48Z</dcterms:modified>
</cp:coreProperties>
</file>