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GM-VS-02 (“Subject-First Full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masculine and feminine singular (kataba · katabat) and the past plural -ū. Develop: the full family — dual -ā / -atā, feminine plural -na — in past, present and future (yaktubūna, yaktubna, sa-yaktubāni). Stretch: the non-human plural exception (al-ḥawāsību taʿmalu) and coordinated subjects (ʿAlī wa-Aḥmadu dhahabā).
• Website memory line: subject first → full agreement. Ask three questions about the subject: who (person)? male or female (gender)? one, two or more (number)?
• Watch the feminine plural present: aṭ-ṭālibātu YAktubna (yā’, not tā’). Recycles GM-V-05/06 past and present endings and GM-VS-01 roles.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GM-VS-01 subject-first order and GM-V past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Subject first → the verb copies who, gender and number. Non-human plurals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core subject-first rule”. Point at each verb ending and ask: how does the verb know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“Past-tense full agreement”. Core: rows 1, 2 and 5. Choral drill: say subject + verb down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“Present-tense” and “Future” sections. Trap: the feminine plural present starts with ya- (yaktubna), not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“The essential exception” (last row from the website Human or Non-Human check). Ask: is it a person? If not → the “she”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“Coordinated human subjects”. Row 4 is very useful for writing: anā wa-ukhtī → naḥnu → -nā.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Present and Human or Non-Human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extended. The last sentence is the exception: pictures are not people → sa-taẓharu.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2–4 and build the grid together, one column at a time. Core: rows 1, 2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say a verb for each: al-muʿallimātu dakhalna · as-sayyārātu dakhalat (website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say a verb for each: al-muʿallimātu dakhalna · as-sayyārātu dakhalat (website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Present and Human or Non-Human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report). Read it aloud once while students follow; then they hunt for today’s grammar.
Task: Website: circle each subject and underline its verb. Label each pair: one, two, group (m.), group (f.) or 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what different people and groups did, do and will do without confusing singular and plural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describing what one person, two people and several groups did, do and will do in a school project.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(GM-VS-03 · Verb-First Agreement) will spend class time USING this language, so students prepare it tonight — short, simple, easy to access (school guidance: “Simple, Short, Interesting, Relevant, Easy to access”). The five phrases prepare GM-VS-03 (website: verb-first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VERBAL SENTENCES  ·  GM-VS-02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Subject-First Full Agreement</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الْمُطَابَقَةُ الْكَامِلَةُ عِنْدَ تَقَدُّمِ الْفَاعِلِ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When people come first, the verb copies them completely: aṭ-ṭullābu katabū, aṭ-ṭālibātu katabna, aṭ-ṭālibāni katabā. One exception: non-human plurals take a feminine singular verb — al-ḥāfilātu waṣalat.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features; past family; present and future family; non-human exception; pairs.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verb, six subjects; human or not?;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 ___ الْوَاجِبَ.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كَتَبُوا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الطَّالِبَةُ ___ الْوَاجِبَ.</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الطَّالِبَانِ ___ الْوَاجِبَ.</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كَتَبُوا</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الطَّالِبَاتُ ___ الْوَاجِبَ.</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كَتَبُوا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الْحَافِلَاتُ ___ مُبَكِّرًا.</a:t>
            </a:r>
            <a:endParaRPr lang="ar-SA" sz="15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وَصَلُوا</a:t>
            </a:r>
            <a:endParaRPr lang="ar-SA" sz="2050" dirty="0"/>
          </a:p>
        </p:txBody>
      </p:sp>
      <p:sp>
        <p:nvSpPr>
          <p:cNvPr id="85" name="Shape 82"/>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7" name="Text 84"/>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8" name="Text 85"/>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9" name="Text 86"/>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 ___ الْوَاجِبَ.</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كَتَبُوا</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boy: kataba.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الطَّالِبَةُ ___ الْوَاجِبَ.</a:t>
            </a:r>
            <a:endParaRPr lang="ar-SA" sz="15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كَتَبْنَ</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girl: katabat.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الطَّالِبَانِ ___ الْوَاجِبَ.</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كَتَبُوا</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كَتَبَا</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boys: katabā.</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الطَّالِبَاتُ ___ الْوَاجِبَ.</a:t>
            </a:r>
            <a:endParaRPr lang="ar-SA" sz="15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كَتَبُوا</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كَتَبْنَ</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girls: katabna.</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الْحَافِلَاتُ ___ مُبَكِّرًا.</a:t>
            </a:r>
            <a:endParaRPr lang="ar-SA" sz="15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وَصَلَتْ</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وَصَلْنَ</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وَصَلُوا</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Buses are not people: feminine singular.</a:t>
            </a:r>
            <a:endParaRPr lang="en-US" sz="1050" dirty="0"/>
          </a:p>
        </p:txBody>
      </p:sp>
      <p:sp>
        <p:nvSpPr>
          <p:cNvPr id="95" name="Shape 92"/>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7" name="Text 94"/>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Subject first → the verb copies who, gender and number. Non-human plurals → feminine singular.</a:t>
            </a:r>
            <a:endParaRPr lang="en-US" sz="1300" dirty="0"/>
          </a:p>
        </p:txBody>
      </p:sp>
      <p:sp>
        <p:nvSpPr>
          <p:cNvPr id="98" name="Text 95"/>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D5FBF"/>
                </a:solidFill>
                <a:latin typeface="Amiri" pitchFamily="2" charset="-78"/>
                <a:ea typeface="Amiri" pitchFamily="2" charset="-78"/>
                <a:cs typeface="Amiri" pitchFamily="2" charset="-78"/>
              </a:rPr>
              <a:t>الطُّلَّابُ</a:t>
            </a:r>
            <a:pPr rtl="1" algn="ctr" indent="0" marL="0">
              <a:lnSpc>
                <a:spcPct val="120000"/>
              </a:lnSpc>
              <a:buNone/>
            </a:pPr>
            <a:r>
              <a:rPr lang="ar-SA" altLang="en-US" sz="2300" b="1" dirty="0">
                <a:solidFill>
                  <a:srgbClr val="1B3B6F"/>
                </a:solidFill>
                <a:latin typeface="Amiri" pitchFamily="2" charset="-78"/>
                <a:cs typeface="Amiri" pitchFamily="2" charset="-78"/>
              </a:rPr>
              <a:t>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كَتَبُوا</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1D5FBF"/>
                </a:solidFill>
                <a:latin typeface="Amiri" pitchFamily="2" charset="-78"/>
                <a:ea typeface="Amiri" pitchFamily="2" charset="-78"/>
                <a:cs typeface="Amiri" pitchFamily="2" charset="-78"/>
              </a:rPr>
              <a:t>الْحَافِلَاتُ</a:t>
            </a:r>
            <a:pPr rtl="1" algn="ctr" indent="0" marL="0">
              <a:lnSpc>
                <a:spcPct val="120000"/>
              </a:lnSpc>
              <a:buNone/>
            </a:pPr>
            <a:r>
              <a:rPr lang="ar-SA" altLang="en-US" sz="2300" b="1" dirty="0">
                <a:solidFill>
                  <a:srgbClr val="1B3B6F"/>
                </a:solidFill>
                <a:latin typeface="Amiri" pitchFamily="2" charset="-78"/>
                <a:cs typeface="Amiri" pitchFamily="2" charset="-78"/>
              </a:rPr>
              <a:t>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وَصَلَتْ</a:t>
            </a:r>
            <a:endParaRPr lang="ar-SA" sz="23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the verb to a singular subject.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dual and plural verb endings.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 in past, present and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Treat non-human plurals as feminine singular.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match kataba / katabat to one person.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aṭ-ṭullābu katabū.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all six past endings.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agree in the present and future.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non-human plural rule.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group report with paired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 the verb copies the subject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الطُّلَّابُ كَتَبُوا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الْمُفْرَدُ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 (one)</a:t>
            </a:r>
            <a:endParaRPr lang="en-US" sz="1350" dirty="0"/>
          </a:p>
          <a:p>
            <a:pPr indent="0" marL="0">
              <a:buNone/>
            </a:pPr>
            <a:r>
              <a:rPr lang="en-US" sz="1100" i="1" dirty="0">
                <a:solidFill>
                  <a:srgbClr val="5A6472"/>
                </a:solidFill>
                <a:latin typeface="Calibri" pitchFamily="34" charset="0"/>
                <a:cs typeface="Amiri" pitchFamily="2" charset="-78"/>
              </a:rPr>
              <a:t>al-muf-ra-du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الْمُثَنَّى</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(two)</a:t>
            </a:r>
            <a:endParaRPr lang="en-US" sz="1350" dirty="0"/>
          </a:p>
          <a:p>
            <a:pPr indent="0" marL="0">
              <a:buNone/>
            </a:pPr>
            <a:r>
              <a:rPr lang="en-US" sz="1100" i="1" dirty="0">
                <a:solidFill>
                  <a:srgbClr val="5A6472"/>
                </a:solidFill>
                <a:latin typeface="Calibri" pitchFamily="34" charset="0"/>
                <a:cs typeface="Amiri" pitchFamily="2" charset="-78"/>
              </a:rPr>
              <a:t>al-mu-than-nā</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الطَّالِبَانِ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الْجَمْعُ</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plural (three or more)</a:t>
            </a:r>
            <a:endParaRPr lang="en-US" sz="1350" dirty="0"/>
          </a:p>
          <a:p>
            <a:pPr indent="0" marL="0">
              <a:buNone/>
            </a:pPr>
            <a:r>
              <a:rPr lang="en-US" sz="1100" i="1" dirty="0">
                <a:solidFill>
                  <a:srgbClr val="5A6472"/>
                </a:solidFill>
                <a:latin typeface="Calibri" pitchFamily="34" charset="0"/>
                <a:cs typeface="Amiri" pitchFamily="2" charset="-78"/>
              </a:rPr>
              <a:t>al-jam-ʿu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الطُّلَّابُ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الْمُذَكَّرُ · الْمُؤَنَّثُ</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 · feminine</a:t>
            </a:r>
            <a:endParaRPr lang="en-US" sz="1350" dirty="0"/>
          </a:p>
          <a:p>
            <a:pPr indent="0" marL="0">
              <a:buNone/>
            </a:pPr>
            <a:r>
              <a:rPr lang="en-US" sz="1100" i="1" dirty="0">
                <a:solidFill>
                  <a:srgbClr val="5A6472"/>
                </a:solidFill>
                <a:latin typeface="Calibri" pitchFamily="34" charset="0"/>
                <a:cs typeface="Amiri" pitchFamily="2" charset="-78"/>
              </a:rPr>
              <a:t>al-mu-dhak-ka-ru · al-mu-ʾan-na-thu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كَتَبَتْ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غَيْرِ الْعَاقِلِ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 plural</a:t>
            </a:r>
            <a:endParaRPr lang="en-US" sz="1350" dirty="0"/>
          </a:p>
          <a:p>
            <a:pPr indent="0" marL="0">
              <a:buNone/>
            </a:pPr>
            <a:r>
              <a:rPr lang="en-US" sz="1100" i="1" dirty="0">
                <a:solidFill>
                  <a:srgbClr val="5A6472"/>
                </a:solidFill>
                <a:latin typeface="Calibri" pitchFamily="34" charset="0"/>
                <a:cs typeface="Amiri" pitchFamily="2" charset="-78"/>
              </a:rPr>
              <a:t>jam-ʿu ghay-ri al-ʿā-qi-li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الْكُتُبُ وَصَلَتْ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CORE SUBJECT-FIRST RULE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Male or female? How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الْفَاعِلُ أَوَّلًا: مُطَابَقَةٌ 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about the subject</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 كَتَبْتُ الرِّسَالَةَ.</a:t>
            </a:r>
            <a:endParaRPr lang="ar-SA" sz="2400" dirty="0"/>
          </a:p>
        </p:txBody>
      </p:sp>
      <p:sp>
        <p:nvSpPr>
          <p:cNvPr id="21" name="Text 18"/>
          <p:cNvSpPr txBox="1"/>
          <p:nvPr/>
        </p:nvSpPr>
        <p:spPr>
          <a:xfrm>
            <a:off x="276148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we, he, she, they?</a:t>
            </a:r>
            <a:endParaRPr lang="en-US" sz="11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الطَّالِبَةُ كَتَبَتِ الرِّسَالَةَ.</a:t>
            </a:r>
            <a:endParaRPr lang="ar-SA" sz="2400" dirty="0"/>
          </a:p>
        </p:txBody>
      </p:sp>
      <p:sp>
        <p:nvSpPr>
          <p:cNvPr id="27" name="Text 24"/>
          <p:cNvSpPr txBox="1"/>
          <p:nvPr/>
        </p:nvSpPr>
        <p:spPr>
          <a:xfrm>
            <a:off x="276148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or feminine?</a:t>
            </a:r>
            <a:endParaRPr lang="en-US" sz="11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Gender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الطَّالِبَتَانِ كَتَبَتَا الرِّسَالَةَ.</a:t>
            </a:r>
            <a:endParaRPr lang="ar-SA" sz="2400" dirty="0"/>
          </a:p>
        </p:txBody>
      </p:sp>
      <p:sp>
        <p:nvSpPr>
          <p:cNvPr id="33" name="Text 30"/>
          <p:cNvSpPr txBox="1"/>
          <p:nvPr/>
        </p:nvSpPr>
        <p:spPr>
          <a:xfrm>
            <a:off x="276148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two or more?</a:t>
            </a:r>
            <a:endParaRPr lang="en-US" sz="11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two</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كَتَبُوا الرِّسَالَةَ.</a:t>
            </a:r>
            <a:endParaRPr lang="ar-SA" sz="2400" dirty="0"/>
          </a:p>
        </p:txBody>
      </p:sp>
      <p:sp>
        <p:nvSpPr>
          <p:cNvPr id="37" name="Text 34"/>
          <p:cNvSpPr txBox="1"/>
          <p:nvPr/>
        </p:nvSpPr>
        <p:spPr>
          <a:xfrm>
            <a:off x="276148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 mixed group?</a:t>
            </a:r>
            <a:endParaRPr lang="en-US" sz="11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group (m.)</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 كَتَبْنَ الرِّسَالَةَ.</a:t>
            </a:r>
            <a:endParaRPr lang="ar-SA" sz="2400" dirty="0"/>
          </a:p>
        </p:txBody>
      </p:sp>
      <p:sp>
        <p:nvSpPr>
          <p:cNvPr id="43" name="Text 40"/>
          <p:cNvSpPr txBox="1"/>
          <p:nvPr/>
        </p:nvSpPr>
        <p:spPr>
          <a:xfrm>
            <a:off x="276148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girls only?</a:t>
            </a:r>
            <a:endParaRPr lang="en-US" sz="1100" dirty="0"/>
          </a:p>
        </p:txBody>
      </p:sp>
      <p:sp>
        <p:nvSpPr>
          <p:cNvPr id="44" name="Text 41"/>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group (f.)</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memory line: subject first means FULL agreement — the verb shows the person, the gender and the number of the subject that came before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PAST-TENSE FULL AGREEMENT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subjects, six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102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8" name="Text 15"/>
          <p:cNvSpPr txBox="1"/>
          <p:nvPr/>
        </p:nvSpPr>
        <p:spPr>
          <a:xfrm>
            <a:off x="30906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967728" y="2267712"/>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(m.) wrote.</a:t>
            </a:r>
            <a:endParaRPr lang="en-US" sz="1100" dirty="0"/>
          </a:p>
        </p:txBody>
      </p:sp>
      <p:sp>
        <p:nvSpPr>
          <p:cNvPr id="22" name="Text 19"/>
          <p:cNvSpPr txBox="1"/>
          <p:nvPr/>
        </p:nvSpPr>
        <p:spPr>
          <a:xfrm>
            <a:off x="5138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Text 20"/>
          <p:cNvSpPr txBox="1"/>
          <p:nvPr/>
        </p:nvSpPr>
        <p:spPr>
          <a:xfrm>
            <a:off x="3108960" y="226771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a:t>
            </a:r>
            <a:endParaRPr lang="ar-SA" sz="26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967728" y="2881884"/>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(f.) wrote.</a:t>
            </a:r>
            <a:endParaRPr lang="en-US" sz="1100" dirty="0"/>
          </a:p>
        </p:txBody>
      </p:sp>
      <p:sp>
        <p:nvSpPr>
          <p:cNvPr id="29" name="Text 26"/>
          <p:cNvSpPr txBox="1"/>
          <p:nvPr/>
        </p:nvSpPr>
        <p:spPr>
          <a:xfrm>
            <a:off x="5138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a:t>
            </a:r>
            <a:endParaRPr lang="en-US" sz="1100" dirty="0"/>
          </a:p>
        </p:txBody>
      </p:sp>
      <p:sp>
        <p:nvSpPr>
          <p:cNvPr id="30" name="Text 27"/>
          <p:cNvSpPr txBox="1"/>
          <p:nvPr/>
        </p:nvSpPr>
        <p:spPr>
          <a:xfrm>
            <a:off x="3108960" y="2881884"/>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a:t>
            </a:r>
            <a:endParaRPr lang="ar-SA" sz="26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967728" y="3496056"/>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students (m.) wrote.</a:t>
            </a:r>
            <a:endParaRPr lang="en-US" sz="1100" dirty="0"/>
          </a:p>
        </p:txBody>
      </p:sp>
      <p:sp>
        <p:nvSpPr>
          <p:cNvPr id="36" name="Text 33"/>
          <p:cNvSpPr txBox="1"/>
          <p:nvPr/>
        </p:nvSpPr>
        <p:spPr>
          <a:xfrm>
            <a:off x="5138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a:t>
            </a:r>
            <a:endParaRPr lang="en-US" sz="1100" dirty="0"/>
          </a:p>
        </p:txBody>
      </p:sp>
      <p:sp>
        <p:nvSpPr>
          <p:cNvPr id="37" name="Text 34"/>
          <p:cNvSpPr txBox="1"/>
          <p:nvPr/>
        </p:nvSpPr>
        <p:spPr>
          <a:xfrm>
            <a:off x="3108960" y="3496056"/>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كَتَبَا</a:t>
            </a:r>
            <a:endParaRPr lang="ar-SA" sz="26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967728" y="4110228"/>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students (f.) wrote.</a:t>
            </a:r>
            <a:endParaRPr lang="en-US" sz="1100" dirty="0"/>
          </a:p>
        </p:txBody>
      </p:sp>
      <p:sp>
        <p:nvSpPr>
          <p:cNvPr id="41" name="Text 38"/>
          <p:cNvSpPr txBox="1"/>
          <p:nvPr/>
        </p:nvSpPr>
        <p:spPr>
          <a:xfrm>
            <a:off x="5138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-atā</a:t>
            </a:r>
            <a:endParaRPr lang="en-US" sz="1100" dirty="0"/>
          </a:p>
        </p:txBody>
      </p:sp>
      <p:sp>
        <p:nvSpPr>
          <p:cNvPr id="42" name="Text 39"/>
          <p:cNvSpPr txBox="1"/>
          <p:nvPr/>
        </p:nvSpPr>
        <p:spPr>
          <a:xfrm>
            <a:off x="3108960" y="4110228"/>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كَتَبَتَا</a:t>
            </a:r>
            <a:endParaRPr lang="ar-SA" sz="2600" dirty="0"/>
          </a:p>
        </p:txBody>
      </p:sp>
      <p:sp>
        <p:nvSpPr>
          <p:cNvPr id="43" name="Text 40"/>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967728" y="4724400"/>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(m. / mixed) wrote.</a:t>
            </a:r>
            <a:endParaRPr lang="en-US" sz="1100" dirty="0"/>
          </a:p>
        </p:txBody>
      </p:sp>
      <p:sp>
        <p:nvSpPr>
          <p:cNvPr id="46" name="Text 43"/>
          <p:cNvSpPr txBox="1"/>
          <p:nvPr/>
        </p:nvSpPr>
        <p:spPr>
          <a:xfrm>
            <a:off x="5138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a:t>
            </a:r>
            <a:endParaRPr lang="en-US" sz="1100" dirty="0"/>
          </a:p>
        </p:txBody>
      </p:sp>
      <p:sp>
        <p:nvSpPr>
          <p:cNvPr id="47" name="Text 44"/>
          <p:cNvSpPr txBox="1"/>
          <p:nvPr/>
        </p:nvSpPr>
        <p:spPr>
          <a:xfrm>
            <a:off x="3108960" y="4724400"/>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كَتَبُوا</a:t>
            </a:r>
            <a:endParaRPr lang="ar-SA" sz="2600" dirty="0"/>
          </a:p>
        </p:txBody>
      </p:sp>
      <p:sp>
        <p:nvSpPr>
          <p:cNvPr id="48" name="Text 45"/>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967728" y="5338572"/>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(f.) wrote.</a:t>
            </a:r>
            <a:endParaRPr lang="en-US" sz="1100" dirty="0"/>
          </a:p>
        </p:txBody>
      </p:sp>
      <p:sp>
        <p:nvSpPr>
          <p:cNvPr id="53" name="Text 50"/>
          <p:cNvSpPr txBox="1"/>
          <p:nvPr/>
        </p:nvSpPr>
        <p:spPr>
          <a:xfrm>
            <a:off x="5138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a:t>
            </a:r>
            <a:endParaRPr lang="en-US" sz="1100" dirty="0"/>
          </a:p>
        </p:txBody>
      </p:sp>
      <p:sp>
        <p:nvSpPr>
          <p:cNvPr id="54" name="Text 51"/>
          <p:cNvSpPr txBox="1"/>
          <p:nvPr/>
        </p:nvSpPr>
        <p:spPr>
          <a:xfrm>
            <a:off x="3108960" y="533857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كَتَبْنَ</a:t>
            </a:r>
            <a:endParaRPr lang="ar-SA" sz="2600" dirty="0"/>
          </a:p>
        </p:txBody>
      </p:sp>
      <p:sp>
        <p:nvSpPr>
          <p:cNvPr id="55" name="Text 52"/>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connected reading: in aṭ-ṭālibatu katabati l-wājiba a helping kasra is heard on the -t before al-. It is still the feminine singular ending. The silent alif in katabū is written, not pronounced.</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PRESENT AND FUTURE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Prefix + suffix — and add sa- for the future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الْمُضَارِعُ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a:t>
            </a:r>
            <a:endParaRPr lang="en-US" sz="1100" dirty="0"/>
          </a:p>
        </p:txBody>
      </p:sp>
      <p:sp>
        <p:nvSpPr>
          <p:cNvPr id="18" name="Text 15"/>
          <p:cNvSpPr txBox="1"/>
          <p:nvPr/>
        </p:nvSpPr>
        <p:spPr>
          <a:xfrm>
            <a:off x="30906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writes · will write</a:t>
            </a:r>
            <a:endParaRPr lang="en-US" sz="1100" dirty="0"/>
          </a:p>
        </p:txBody>
      </p:sp>
      <p:sp>
        <p:nvSpPr>
          <p:cNvPr id="22" name="Text 19"/>
          <p:cNvSpPr txBox="1"/>
          <p:nvPr/>
        </p:nvSpPr>
        <p:spPr>
          <a:xfrm>
            <a:off x="56692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سَيَكْتُبُ</a:t>
            </a:r>
            <a:endParaRPr lang="ar-SA" sz="2600" dirty="0"/>
          </a:p>
        </p:txBody>
      </p:sp>
      <p:sp>
        <p:nvSpPr>
          <p:cNvPr id="23" name="Text 20"/>
          <p:cNvSpPr txBox="1"/>
          <p:nvPr/>
        </p:nvSpPr>
        <p:spPr>
          <a:xfrm>
            <a:off x="310896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a:t>
            </a:r>
            <a:endParaRPr lang="ar-SA" sz="26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writes · will write</a:t>
            </a:r>
            <a:endParaRPr lang="en-US" sz="1100" dirty="0"/>
          </a:p>
        </p:txBody>
      </p:sp>
      <p:sp>
        <p:nvSpPr>
          <p:cNvPr id="29" name="Text 26"/>
          <p:cNvSpPr txBox="1"/>
          <p:nvPr/>
        </p:nvSpPr>
        <p:spPr>
          <a:xfrm>
            <a:off x="56692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سَتَكْتُبُ</a:t>
            </a:r>
            <a:endParaRPr lang="ar-SA" sz="2600" dirty="0"/>
          </a:p>
        </p:txBody>
      </p:sp>
      <p:sp>
        <p:nvSpPr>
          <p:cNvPr id="30" name="Text 27"/>
          <p:cNvSpPr txBox="1"/>
          <p:nvPr/>
        </p:nvSpPr>
        <p:spPr>
          <a:xfrm>
            <a:off x="310896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a:t>
            </a:r>
            <a:endParaRPr lang="ar-SA" sz="26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(m.) write</a:t>
            </a:r>
            <a:endParaRPr lang="en-US" sz="1100" dirty="0"/>
          </a:p>
        </p:txBody>
      </p:sp>
      <p:sp>
        <p:nvSpPr>
          <p:cNvPr id="36" name="Text 33"/>
          <p:cNvSpPr txBox="1"/>
          <p:nvPr/>
        </p:nvSpPr>
        <p:spPr>
          <a:xfrm>
            <a:off x="56692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سَيَكْتُبَانِ</a:t>
            </a:r>
            <a:endParaRPr lang="ar-SA" sz="2600" dirty="0"/>
          </a:p>
        </p:txBody>
      </p:sp>
      <p:sp>
        <p:nvSpPr>
          <p:cNvPr id="37" name="Text 34"/>
          <p:cNvSpPr txBox="1"/>
          <p:nvPr/>
        </p:nvSpPr>
        <p:spPr>
          <a:xfrm>
            <a:off x="310896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يَكْتُبَانِ</a:t>
            </a:r>
            <a:endParaRPr lang="ar-SA" sz="26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(f.) write</a:t>
            </a:r>
            <a:endParaRPr lang="en-US" sz="1100" dirty="0"/>
          </a:p>
        </p:txBody>
      </p:sp>
      <p:sp>
        <p:nvSpPr>
          <p:cNvPr id="41" name="Text 38"/>
          <p:cNvSpPr txBox="1"/>
          <p:nvPr/>
        </p:nvSpPr>
        <p:spPr>
          <a:xfrm>
            <a:off x="56692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سَتَكْتُبَانِ</a:t>
            </a:r>
            <a:endParaRPr lang="ar-SA" sz="2600" dirty="0"/>
          </a:p>
        </p:txBody>
      </p:sp>
      <p:sp>
        <p:nvSpPr>
          <p:cNvPr id="42" name="Text 39"/>
          <p:cNvSpPr txBox="1"/>
          <p:nvPr/>
        </p:nvSpPr>
        <p:spPr>
          <a:xfrm>
            <a:off x="310896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تَكْتُبَانِ</a:t>
            </a:r>
            <a:endParaRPr lang="ar-SA" sz="2600" dirty="0"/>
          </a:p>
        </p:txBody>
      </p:sp>
      <p:sp>
        <p:nvSpPr>
          <p:cNvPr id="43" name="Text 40"/>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mixed) write</a:t>
            </a:r>
            <a:endParaRPr lang="en-US" sz="1100" dirty="0"/>
          </a:p>
        </p:txBody>
      </p:sp>
      <p:sp>
        <p:nvSpPr>
          <p:cNvPr id="46" name="Text 43"/>
          <p:cNvSpPr txBox="1"/>
          <p:nvPr/>
        </p:nvSpPr>
        <p:spPr>
          <a:xfrm>
            <a:off x="56692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سَيَكْتُبُونَ</a:t>
            </a:r>
            <a:endParaRPr lang="ar-SA" sz="2600" dirty="0"/>
          </a:p>
        </p:txBody>
      </p:sp>
      <p:sp>
        <p:nvSpPr>
          <p:cNvPr id="47" name="Text 44"/>
          <p:cNvSpPr txBox="1"/>
          <p:nvPr/>
        </p:nvSpPr>
        <p:spPr>
          <a:xfrm>
            <a:off x="310896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يَكْتُبُونَ</a:t>
            </a:r>
            <a:endParaRPr lang="ar-SA" sz="2600" dirty="0"/>
          </a:p>
        </p:txBody>
      </p:sp>
      <p:sp>
        <p:nvSpPr>
          <p:cNvPr id="48" name="Text 45"/>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(f.) write</a:t>
            </a:r>
            <a:endParaRPr lang="en-US" sz="1100" dirty="0"/>
          </a:p>
        </p:txBody>
      </p:sp>
      <p:sp>
        <p:nvSpPr>
          <p:cNvPr id="53" name="Text 50"/>
          <p:cNvSpPr txBox="1"/>
          <p:nvPr/>
        </p:nvSpPr>
        <p:spPr>
          <a:xfrm>
            <a:off x="56692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سَيَكْتُبْنَ</a:t>
            </a:r>
            <a:endParaRPr lang="ar-SA" sz="2600" dirty="0"/>
          </a:p>
        </p:txBody>
      </p:sp>
      <p:sp>
        <p:nvSpPr>
          <p:cNvPr id="54" name="Text 51"/>
          <p:cNvSpPr txBox="1"/>
          <p:nvPr/>
        </p:nvSpPr>
        <p:spPr>
          <a:xfrm>
            <a:off x="310896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يَكْتُبْنَ</a:t>
            </a:r>
            <a:endParaRPr lang="ar-SA" sz="2600" dirty="0"/>
          </a:p>
        </p:txBody>
      </p:sp>
      <p:sp>
        <p:nvSpPr>
          <p:cNvPr id="55" name="Text 52"/>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future simply adds sa- (or sawfa) to the agreeing present: aṭ-ṭālibātu sawfa yaktubna. Two jobs for ta-: taktubu = “she writes” or “you write” — the subject tells you which.</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THE ESSENTIAL EXCEPTION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Things, not people: feminine singular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7667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Complete model</a:t>
            </a:r>
            <a:endParaRPr lang="en-US" sz="1100" dirty="0"/>
          </a:p>
        </p:txBody>
      </p:sp>
      <p:sp>
        <p:nvSpPr>
          <p:cNvPr id="17" name="Text 14"/>
          <p:cNvSpPr txBox="1"/>
          <p:nvPr/>
        </p:nvSpPr>
        <p:spPr>
          <a:xfrm>
            <a:off x="3182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Non-human plural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394960" y="2267712"/>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الْحَافِلَاتُ وَصَلَتْ مُبَكِّرًا.</a:t>
            </a:r>
            <a:endParaRPr lang="ar-SA" sz="2200" dirty="0"/>
          </a:p>
        </p:txBody>
      </p:sp>
      <p:sp>
        <p:nvSpPr>
          <p:cNvPr id="21" name="Text 18"/>
          <p:cNvSpPr txBox="1"/>
          <p:nvPr/>
        </p:nvSpPr>
        <p:spPr>
          <a:xfrm>
            <a:off x="32004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a:t>
            </a:r>
            <a:endParaRPr lang="ar-SA" sz="24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الْحَافِلَاتُ</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394960" y="3004718"/>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الْكُتُبُ وَصَلَتْ أَمْسِ.</a:t>
            </a:r>
            <a:endParaRPr lang="ar-SA" sz="2200" dirty="0"/>
          </a:p>
        </p:txBody>
      </p:sp>
      <p:sp>
        <p:nvSpPr>
          <p:cNvPr id="27" name="Text 24"/>
          <p:cNvSpPr txBox="1"/>
          <p:nvPr/>
        </p:nvSpPr>
        <p:spPr>
          <a:xfrm>
            <a:off x="32004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a:t>
            </a:r>
            <a:endParaRPr lang="ar-SA" sz="24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الْكُتُبُ</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394960" y="3741725"/>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الْمَدَارِسُ تَفْتَحُ أَبْوَابَهَا صَبَاحًا.</a:t>
            </a:r>
            <a:endParaRPr lang="ar-SA" sz="2200" dirty="0"/>
          </a:p>
        </p:txBody>
      </p:sp>
      <p:sp>
        <p:nvSpPr>
          <p:cNvPr id="33" name="Text 30"/>
          <p:cNvSpPr txBox="1"/>
          <p:nvPr/>
        </p:nvSpPr>
        <p:spPr>
          <a:xfrm>
            <a:off x="32004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تَفْتَحُ</a:t>
            </a:r>
            <a:endParaRPr lang="ar-SA" sz="24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الْمَدَارِسُ</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394960" y="4478731"/>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السَّيَّارَاتُ سَتَتَوَقَّفُ هُنَا.</a:t>
            </a:r>
            <a:endParaRPr lang="ar-SA" sz="2200" dirty="0"/>
          </a:p>
        </p:txBody>
      </p:sp>
      <p:sp>
        <p:nvSpPr>
          <p:cNvPr id="37" name="Text 34"/>
          <p:cNvSpPr txBox="1"/>
          <p:nvPr/>
        </p:nvSpPr>
        <p:spPr>
          <a:xfrm>
            <a:off x="32004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سَتَتَوَقَّفُ</a:t>
            </a:r>
            <a:endParaRPr lang="ar-SA" sz="24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السَّيَّارَاتُ</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394960" y="5215738"/>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الْحَوَاسِيبُ تَعْمَلُ بِسُرْعَةٍ.</a:t>
            </a:r>
            <a:endParaRPr lang="ar-SA" sz="2200" dirty="0"/>
          </a:p>
        </p:txBody>
      </p:sp>
      <p:sp>
        <p:nvSpPr>
          <p:cNvPr id="41" name="Text 38"/>
          <p:cNvSpPr txBox="1"/>
          <p:nvPr/>
        </p:nvSpPr>
        <p:spPr>
          <a:xfrm>
            <a:off x="32004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تَعْمَلُ</a:t>
            </a:r>
            <a:endParaRPr lang="ar-SA" sz="24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الْحَوَاسِيبُ</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do not overapply plural agreement. Al-ḥāfilātu waṣalna treats buses like a group of women. Buses, books, schools and cars take the “she” verb: waṣalat, taftaḥu.</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5 · COORDINATED SUBJECTS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names first = a group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الْفَاعِلُ الْمَعْطُوفُ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7" name="Text 14"/>
          <p:cNvSpPr txBox="1"/>
          <p:nvPr/>
        </p:nvSpPr>
        <p:spPr>
          <a:xfrm>
            <a:off x="32735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93808" y="2267712"/>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(m.)</a:t>
            </a:r>
            <a:endParaRPr lang="en-US" sz="1100" dirty="0"/>
          </a:p>
        </p:txBody>
      </p:sp>
      <p:sp>
        <p:nvSpPr>
          <p:cNvPr id="21" name="Text 18"/>
          <p:cNvSpPr txBox="1"/>
          <p:nvPr/>
        </p:nvSpPr>
        <p:spPr>
          <a:xfrm>
            <a:off x="3291840" y="2267712"/>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عَلِيٌّ وَأَحْمَدُ ذَهَبَا إِلَى السُّوقِ.</a:t>
            </a:r>
            <a:endParaRPr lang="ar-SA" sz="24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boys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93808" y="3054096"/>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(f.)</a:t>
            </a:r>
            <a:endParaRPr lang="en-US" sz="1100" dirty="0"/>
          </a:p>
        </p:txBody>
      </p:sp>
      <p:sp>
        <p:nvSpPr>
          <p:cNvPr id="27" name="Text 24"/>
          <p:cNvSpPr txBox="1"/>
          <p:nvPr/>
        </p:nvSpPr>
        <p:spPr>
          <a:xfrm>
            <a:off x="3291840" y="3054096"/>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مَرْيَمُ وَلَيْلَى ذَهَبَتَا إِلَى السُّوقِ.</a:t>
            </a:r>
            <a:endParaRPr lang="ar-SA" sz="24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girls</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893808" y="3840480"/>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mixed: -ū</a:t>
            </a:r>
            <a:endParaRPr lang="en-US" sz="1100" dirty="0"/>
          </a:p>
        </p:txBody>
      </p:sp>
      <p:sp>
        <p:nvSpPr>
          <p:cNvPr id="31" name="Text 28"/>
          <p:cNvSpPr txBox="1"/>
          <p:nvPr/>
        </p:nvSpPr>
        <p:spPr>
          <a:xfrm>
            <a:off x="3291840" y="3840480"/>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وَالطَّالِبَاتُ شَارَكُوا فِي الْمَشْرُوعِ.</a:t>
            </a:r>
            <a:endParaRPr lang="ar-SA" sz="24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and girls</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893808" y="4626864"/>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-nā</a:t>
            </a:r>
            <a:endParaRPr lang="en-US" sz="1100" dirty="0"/>
          </a:p>
        </p:txBody>
      </p:sp>
      <p:sp>
        <p:nvSpPr>
          <p:cNvPr id="35" name="Text 32"/>
          <p:cNvSpPr txBox="1"/>
          <p:nvPr/>
        </p:nvSpPr>
        <p:spPr>
          <a:xfrm>
            <a:off x="3291840" y="4626864"/>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 وَأُخْتِي ذَهَبْنَا إِلَى الْمَكْتَبَةِ.</a:t>
            </a:r>
            <a:endParaRPr lang="ar-SA" sz="24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and my sister</a:t>
            </a:r>
            <a:endParaRPr lang="en-US" sz="11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exam-safe strategy: put the whole group first, then use clear full agreement. A mixed group of men and women takes the masculine plural.</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الْمُعَلِّمَتَانِ ___ الدَّرْسَ.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شَرَحَتَا</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الْبَنَاتُ ___ إِلَى الْمَلْعَبِ.</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الطَّالِبَتَانِ ___ الْعَرَبِيَّةَ.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السَّيَّارَاتُ ___ الْمَدِينَةَ.</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دَخَلَتْ</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دَخَلْنَ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دَخَلُوا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الْمُعَلِّمَتَانِ ___ الدَّرْسَ.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شَرَحْنَ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شَرَحَتَا</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female teachers: sharaḥatā.</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الْبَنَاتُ ___ إِلَى الْمَلْعَبِ.</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ذَهَبْنَ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girls: dhahabna.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الطَّالِبَتَانِ ___ الْعَرَبِيَّةَ.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girls: ta- … -āni.</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السَّيَّارَاتُ ___ الْمَدِينَةَ.</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دَخَلَتْ</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دَخَلْنَ</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دَخَلُوا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Cars are not people: feminine singular.</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match the verb to the subject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الطَّالِبَتَانِ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People? Yes.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many?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اثْنَتَانِ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-tāni = two.</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Gender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مُؤَنَّثٌ</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girls.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كَتَبَتَا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dual: -atā.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AGREEING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D5FBF"/>
                </a:solidFill>
                <a:latin typeface="Amiri" pitchFamily="2" charset="-78"/>
                <a:ea typeface="Amiri" pitchFamily="2" charset="-78"/>
                <a:cs typeface="Amiri" pitchFamily="2" charset="-78"/>
              </a:rPr>
              <a:t>الطَّالِبَةُ</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ea typeface="Amiri" pitchFamily="2" charset="-78"/>
                <a:cs typeface="Amiri" pitchFamily="2" charset="-78"/>
              </a:rPr>
              <a:t>جَمَعَتِ</a:t>
            </a:r>
            <a:pPr rtl="1" algn="r" indent="0" marL="0">
              <a:buNone/>
            </a:pPr>
            <a:r>
              <a:rPr lang="ar-SA" altLang="en-US" sz="1800" b="1" dirty="0">
                <a:solidFill>
                  <a:srgbClr val="1B3B6F"/>
                </a:solidFill>
                <a:latin typeface="Amiri" pitchFamily="2" charset="-78"/>
                <a:ea typeface="Amiri" pitchFamily="2" charset="-78"/>
                <a:cs typeface="Amiri" pitchFamily="2" charset="-78"/>
              </a:rPr>
              <a:t> الْمَعْلُومَاتِ. </a:t>
            </a:r>
            <a:pPr rtl="1" algn="r" indent="0" marL="0">
              <a:buNone/>
            </a:pPr>
            <a:r>
              <a:rPr lang="ar-SA" altLang="en-US" sz="1800" b="1" dirty="0">
                <a:solidFill>
                  <a:srgbClr val="1D5FBF"/>
                </a:solidFill>
                <a:latin typeface="Amiri" pitchFamily="2" charset="-78"/>
                <a:ea typeface="Amiri" pitchFamily="2" charset="-78"/>
                <a:cs typeface="Amiri" pitchFamily="2" charset="-78"/>
              </a:rPr>
              <a:t>الطَّالِبَتَانِ</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ea typeface="Amiri" pitchFamily="2" charset="-78"/>
                <a:cs typeface="Amiri" pitchFamily="2" charset="-78"/>
              </a:rPr>
              <a:t>كَتَبَتَا</a:t>
            </a:r>
            <a:pPr rtl="1" algn="r" indent="0" marL="0">
              <a:buNone/>
            </a:pPr>
            <a:r>
              <a:rPr lang="ar-SA" altLang="en-US" sz="1800" b="1" dirty="0">
                <a:solidFill>
                  <a:srgbClr val="1B3B6F"/>
                </a:solidFill>
                <a:latin typeface="Amiri" pitchFamily="2" charset="-78"/>
                <a:ea typeface="Amiri" pitchFamily="2" charset="-78"/>
                <a:cs typeface="Amiri" pitchFamily="2" charset="-78"/>
              </a:rPr>
              <a:t> التَّقْرِيرَ. </a:t>
            </a:r>
            <a:pPr rtl="1" algn="r" indent="0" marL="0">
              <a:buNone/>
            </a:pPr>
            <a:r>
              <a:rPr lang="ar-SA" altLang="en-US" sz="1800" b="1" dirty="0">
                <a:solidFill>
                  <a:srgbClr val="1D5FBF"/>
                </a:solidFill>
                <a:latin typeface="Amiri" pitchFamily="2" charset="-78"/>
                <a:ea typeface="Amiri" pitchFamily="2" charset="-78"/>
                <a:cs typeface="Amiri" pitchFamily="2" charset="-78"/>
              </a:rPr>
              <a:t>الطُّلَّابُ</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ea typeface="Amiri" pitchFamily="2" charset="-78"/>
                <a:cs typeface="Amiri" pitchFamily="2" charset="-78"/>
              </a:rPr>
              <a:t>صَمَّمُوا</a:t>
            </a:r>
            <a:pPr rtl="1" algn="r" indent="0" marL="0">
              <a:buNone/>
            </a:pPr>
            <a:r>
              <a:rPr lang="ar-SA" altLang="en-US" sz="1800" b="1" dirty="0">
                <a:solidFill>
                  <a:srgbClr val="1B3B6F"/>
                </a:solidFill>
                <a:latin typeface="Amiri" pitchFamily="2" charset="-78"/>
                <a:ea typeface="Amiri" pitchFamily="2" charset="-78"/>
                <a:cs typeface="Amiri" pitchFamily="2" charset="-78"/>
              </a:rPr>
              <a:t> الْمُلْصَقَ. </a:t>
            </a:r>
            <a:pPr rtl="1" algn="r" indent="0" marL="0">
              <a:buNone/>
            </a:pPr>
            <a:r>
              <a:rPr lang="ar-SA" altLang="en-US" sz="1800" b="1" dirty="0">
                <a:solidFill>
                  <a:srgbClr val="1D5FBF"/>
                </a:solidFill>
                <a:latin typeface="Amiri" pitchFamily="2" charset="-78"/>
                <a:ea typeface="Amiri" pitchFamily="2" charset="-78"/>
                <a:cs typeface="Amiri" pitchFamily="2" charset="-78"/>
              </a:rPr>
              <a:t>الطَّالِبَاتُ</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ea typeface="Amiri" pitchFamily="2" charset="-78"/>
                <a:cs typeface="Amiri" pitchFamily="2" charset="-78"/>
              </a:rPr>
              <a:t>يُرَاجِعْنَ</a:t>
            </a:r>
            <a:pPr rtl="1" algn="r" indent="0" marL="0">
              <a:buNone/>
            </a:pPr>
            <a:r>
              <a:rPr lang="ar-SA" altLang="en-US" sz="1800" b="1" dirty="0">
                <a:solidFill>
                  <a:srgbClr val="1B3B6F"/>
                </a:solidFill>
                <a:latin typeface="Amiri" pitchFamily="2" charset="-78"/>
                <a:ea typeface="Amiri" pitchFamily="2" charset="-78"/>
                <a:cs typeface="Amiri" pitchFamily="2" charset="-78"/>
              </a:rPr>
              <a:t> النَّصَّ الْآنَ. </a:t>
            </a:r>
            <a:pPr rtl="1" algn="r" indent="0" marL="0">
              <a:buNone/>
            </a:pPr>
            <a:r>
              <a:rPr lang="ar-SA" altLang="en-US" sz="1800" b="1" dirty="0">
                <a:solidFill>
                  <a:srgbClr val="1D5FBF"/>
                </a:solidFill>
                <a:latin typeface="Amiri" pitchFamily="2" charset="-78"/>
                <a:ea typeface="Amiri" pitchFamily="2" charset="-78"/>
                <a:cs typeface="Amiri" pitchFamily="2" charset="-78"/>
              </a:rPr>
              <a:t>الصُّوَرُ</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ea typeface="Amiri" pitchFamily="2" charset="-78"/>
                <a:cs typeface="Amiri" pitchFamily="2" charset="-78"/>
              </a:rPr>
              <a:t>سَتَظْهَرُ</a:t>
            </a:r>
            <a:pPr rtl="1" algn="r" indent="0" marL="0">
              <a:buNone/>
            </a:pPr>
            <a:r>
              <a:rPr lang="ar-SA" altLang="en-US" sz="1800" b="1" dirty="0">
                <a:solidFill>
                  <a:srgbClr val="1B3B6F"/>
                </a:solidFill>
                <a:latin typeface="Amiri" pitchFamily="2" charset="-78"/>
                <a:ea typeface="Amiri" pitchFamily="2" charset="-78"/>
                <a:cs typeface="Amiri" pitchFamily="2" charset="-78"/>
              </a:rPr>
              <a:t> فِي الْعَرْضِ.</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 (f.) collected the information. The two students (f.) wrote the report. The students designed the poster. The female students are reviewing the text now. The pictures will appear in the presentation.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الْمُعَلِّمَانِ شَرَحَا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two teachers explained the lesson.</a:t>
            </a:r>
            <a:endParaRPr lang="en-US" sz="1250" dirty="0"/>
          </a:p>
          <a:p>
            <a:pPr indent="0" marL="0">
              <a:buNone/>
            </a:pPr>
            <a:r>
              <a:rPr lang="en-US" sz="1050" i="1" dirty="0">
                <a:solidFill>
                  <a:srgbClr val="8A6D1E"/>
                </a:solidFill>
                <a:latin typeface="Calibri" pitchFamily="34" charset="0"/>
                <a:cs typeface="Amiri" pitchFamily="2" charset="-78"/>
              </a:rPr>
              <a:t>Dual: -ā.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الْبَنَاتُ ذَهَبْنَ إِلَى الْمَلْعَبِ.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girls went to the playground.</a:t>
            </a:r>
            <a:endParaRPr lang="en-US" sz="1250" dirty="0"/>
          </a:p>
          <a:p>
            <a:pPr indent="0" marL="0">
              <a:buNone/>
            </a:pPr>
            <a:r>
              <a:rPr lang="en-US" sz="1050" i="1" dirty="0">
                <a:solidFill>
                  <a:srgbClr val="8A6D1E"/>
                </a:solidFill>
                <a:latin typeface="Calibri" pitchFamily="34" charset="0"/>
                <a:cs typeface="Amiri" pitchFamily="2" charset="-78"/>
              </a:rPr>
              <a:t>Female group: -na.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الْأَطِبَّاءُ يَعْمَلُونَ فِي الْمُسْتَشْفَى.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doctors work in the hospital.</a:t>
            </a:r>
            <a:endParaRPr lang="en-US" sz="1250" dirty="0"/>
          </a:p>
          <a:p>
            <a:pPr indent="0" marL="0">
              <a:buNone/>
            </a:pPr>
            <a:r>
              <a:rPr lang="en-US" sz="1050" i="1" dirty="0">
                <a:solidFill>
                  <a:srgbClr val="8A6D1E"/>
                </a:solidFill>
                <a:latin typeface="Calibri" pitchFamily="34" charset="0"/>
                <a:cs typeface="Amiri" pitchFamily="2" charset="-78"/>
              </a:rPr>
              <a:t>Group: -ūna.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الْحَوَاسِيبُ تَعْمَلُ بِسُرْعَةٍ.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computers work quickly.</a:t>
            </a:r>
            <a:endParaRPr lang="en-US" sz="1250" dirty="0"/>
          </a:p>
          <a:p>
            <a:pPr indent="0" marL="0">
              <a:buNone/>
            </a:pPr>
            <a:r>
              <a:rPr lang="en-US" sz="1050" i="1" dirty="0">
                <a:solidFill>
                  <a:srgbClr val="8A6D1E"/>
                </a:solidFill>
                <a:latin typeface="Calibri" pitchFamily="34" charset="0"/>
                <a:cs typeface="Amiri" pitchFamily="2" charset="-78"/>
              </a:rPr>
              <a:t>Things: “she” form.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ONE VERB, SIX SUBJECTS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understood?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فَهِمَ · يَفْهَمُ · سَيَفْهَمُ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a:t>
            </a:r>
            <a:endParaRPr lang="en-US" sz="1100" dirty="0"/>
          </a:p>
        </p:txBody>
      </p:sp>
      <p:sp>
        <p:nvSpPr>
          <p:cNvPr id="17" name="Text 14"/>
          <p:cNvSpPr txBox="1"/>
          <p:nvPr/>
        </p:nvSpPr>
        <p:spPr>
          <a:xfrm>
            <a:off x="61081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3364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869680" y="2267712"/>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سَيَفْهَمُ</a:t>
            </a:r>
            <a:endParaRPr lang="ar-SA" sz="2600" dirty="0"/>
          </a:p>
        </p:txBody>
      </p:sp>
      <p:sp>
        <p:nvSpPr>
          <p:cNvPr id="22" name="Text 19"/>
          <p:cNvSpPr txBox="1"/>
          <p:nvPr/>
        </p:nvSpPr>
        <p:spPr>
          <a:xfrm>
            <a:off x="61264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يَفْهَمُ</a:t>
            </a:r>
            <a:endParaRPr lang="ar-SA" sz="2600" dirty="0"/>
          </a:p>
        </p:txBody>
      </p:sp>
      <p:sp>
        <p:nvSpPr>
          <p:cNvPr id="23" name="Text 20"/>
          <p:cNvSpPr txBox="1"/>
          <p:nvPr/>
        </p:nvSpPr>
        <p:spPr>
          <a:xfrm>
            <a:off x="33832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فَهِمَ</a:t>
            </a:r>
            <a:endParaRPr lang="ar-SA" sz="2600" dirty="0"/>
          </a:p>
        </p:txBody>
      </p:sp>
      <p:sp>
        <p:nvSpPr>
          <p:cNvPr id="24" name="Text 21"/>
          <p:cNvSpPr txBox="1"/>
          <p:nvPr/>
        </p:nvSpPr>
        <p:spPr>
          <a:xfrm>
            <a:off x="548640" y="2267712"/>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869680" y="2881884"/>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سَتَفْهَمُ</a:t>
            </a:r>
            <a:endParaRPr lang="ar-SA" sz="2600" dirty="0"/>
          </a:p>
        </p:txBody>
      </p:sp>
      <p:sp>
        <p:nvSpPr>
          <p:cNvPr id="29" name="Text 26"/>
          <p:cNvSpPr txBox="1"/>
          <p:nvPr/>
        </p:nvSpPr>
        <p:spPr>
          <a:xfrm>
            <a:off x="61264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تَفْهَمُ</a:t>
            </a:r>
            <a:endParaRPr lang="ar-SA" sz="2600" dirty="0"/>
          </a:p>
        </p:txBody>
      </p:sp>
      <p:sp>
        <p:nvSpPr>
          <p:cNvPr id="30" name="Text 27"/>
          <p:cNvSpPr txBox="1"/>
          <p:nvPr/>
        </p:nvSpPr>
        <p:spPr>
          <a:xfrm>
            <a:off x="33832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فَهِمَتْ</a:t>
            </a:r>
            <a:endParaRPr lang="ar-SA" sz="2600" dirty="0"/>
          </a:p>
        </p:txBody>
      </p:sp>
      <p:sp>
        <p:nvSpPr>
          <p:cNvPr id="31" name="Text 28"/>
          <p:cNvSpPr txBox="1"/>
          <p:nvPr/>
        </p:nvSpPr>
        <p:spPr>
          <a:xfrm>
            <a:off x="548640" y="2881884"/>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869680" y="3496056"/>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سَيَفْهَمَانِ</a:t>
            </a:r>
            <a:endParaRPr lang="ar-SA" sz="2600" dirty="0"/>
          </a:p>
        </p:txBody>
      </p:sp>
      <p:sp>
        <p:nvSpPr>
          <p:cNvPr id="36" name="Text 33"/>
          <p:cNvSpPr txBox="1"/>
          <p:nvPr/>
        </p:nvSpPr>
        <p:spPr>
          <a:xfrm>
            <a:off x="61264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يَفْهَمَانِ</a:t>
            </a:r>
            <a:endParaRPr lang="ar-SA" sz="2600" dirty="0"/>
          </a:p>
        </p:txBody>
      </p:sp>
      <p:sp>
        <p:nvSpPr>
          <p:cNvPr id="37" name="Text 34"/>
          <p:cNvSpPr txBox="1"/>
          <p:nvPr/>
        </p:nvSpPr>
        <p:spPr>
          <a:xfrm>
            <a:off x="33832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فَهِمَا</a:t>
            </a:r>
            <a:endParaRPr lang="ar-SA" sz="2600" dirty="0"/>
          </a:p>
        </p:txBody>
      </p:sp>
      <p:sp>
        <p:nvSpPr>
          <p:cNvPr id="38" name="Text 35"/>
          <p:cNvSpPr txBox="1"/>
          <p:nvPr/>
        </p:nvSpPr>
        <p:spPr>
          <a:xfrm>
            <a:off x="548640" y="3496056"/>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869680" y="4110228"/>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سَتَفْهَمَانِ</a:t>
            </a:r>
            <a:endParaRPr lang="ar-SA" sz="2600" dirty="0"/>
          </a:p>
        </p:txBody>
      </p:sp>
      <p:sp>
        <p:nvSpPr>
          <p:cNvPr id="41" name="Text 38"/>
          <p:cNvSpPr txBox="1"/>
          <p:nvPr/>
        </p:nvSpPr>
        <p:spPr>
          <a:xfrm>
            <a:off x="61264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تَفْهَمَانِ</a:t>
            </a:r>
            <a:endParaRPr lang="ar-SA" sz="2600" dirty="0"/>
          </a:p>
        </p:txBody>
      </p:sp>
      <p:sp>
        <p:nvSpPr>
          <p:cNvPr id="42" name="Text 39"/>
          <p:cNvSpPr txBox="1"/>
          <p:nvPr/>
        </p:nvSpPr>
        <p:spPr>
          <a:xfrm>
            <a:off x="33832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فَهِمَتَا</a:t>
            </a:r>
            <a:endParaRPr lang="ar-SA" sz="2600" dirty="0"/>
          </a:p>
        </p:txBody>
      </p:sp>
      <p:sp>
        <p:nvSpPr>
          <p:cNvPr id="43" name="Text 40"/>
          <p:cNvSpPr txBox="1"/>
          <p:nvPr/>
        </p:nvSpPr>
        <p:spPr>
          <a:xfrm>
            <a:off x="548640" y="4110228"/>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869680" y="4724400"/>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سَيَفْهَمُونَ</a:t>
            </a:r>
            <a:endParaRPr lang="ar-SA" sz="2600" dirty="0"/>
          </a:p>
        </p:txBody>
      </p:sp>
      <p:sp>
        <p:nvSpPr>
          <p:cNvPr id="46" name="Text 43"/>
          <p:cNvSpPr txBox="1"/>
          <p:nvPr/>
        </p:nvSpPr>
        <p:spPr>
          <a:xfrm>
            <a:off x="61264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يَفْهَمُونَ</a:t>
            </a:r>
            <a:endParaRPr lang="ar-SA" sz="2600" dirty="0"/>
          </a:p>
        </p:txBody>
      </p:sp>
      <p:sp>
        <p:nvSpPr>
          <p:cNvPr id="47" name="Text 44"/>
          <p:cNvSpPr txBox="1"/>
          <p:nvPr/>
        </p:nvSpPr>
        <p:spPr>
          <a:xfrm>
            <a:off x="33832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فَهِمُوا</a:t>
            </a:r>
            <a:endParaRPr lang="ar-SA" sz="2600" dirty="0"/>
          </a:p>
        </p:txBody>
      </p:sp>
      <p:sp>
        <p:nvSpPr>
          <p:cNvPr id="48" name="Text 45"/>
          <p:cNvSpPr txBox="1"/>
          <p:nvPr/>
        </p:nvSpPr>
        <p:spPr>
          <a:xfrm>
            <a:off x="548640" y="4724400"/>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869680" y="5338572"/>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سَيَفْهَمْنَ</a:t>
            </a:r>
            <a:endParaRPr lang="ar-SA" sz="2600" dirty="0"/>
          </a:p>
        </p:txBody>
      </p:sp>
      <p:sp>
        <p:nvSpPr>
          <p:cNvPr id="53" name="Text 50"/>
          <p:cNvSpPr txBox="1"/>
          <p:nvPr/>
        </p:nvSpPr>
        <p:spPr>
          <a:xfrm>
            <a:off x="61264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يَفْهَمْنَ</a:t>
            </a:r>
            <a:endParaRPr lang="ar-SA" sz="2600" dirty="0"/>
          </a:p>
        </p:txBody>
      </p:sp>
      <p:sp>
        <p:nvSpPr>
          <p:cNvPr id="54" name="Text 51"/>
          <p:cNvSpPr txBox="1"/>
          <p:nvPr/>
        </p:nvSpPr>
        <p:spPr>
          <a:xfrm>
            <a:off x="33832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فَهِمْنَ</a:t>
            </a:r>
            <a:endParaRPr lang="ar-SA" sz="2600" dirty="0"/>
          </a:p>
        </p:txBody>
      </p:sp>
      <p:sp>
        <p:nvSpPr>
          <p:cNvPr id="55" name="Text 52"/>
          <p:cNvSpPr txBox="1"/>
          <p:nvPr/>
        </p:nvSpPr>
        <p:spPr>
          <a:xfrm>
            <a:off x="548640" y="5338572"/>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paper route: three columns — past, present, future. Put each subject in a row and write the fully agreeing verb beside it.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WEBSITE HUMAN OR NON-HUMAN?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عَاقِلٌ أَمْ غَيْرُ 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الْمُعَلِّمَاتُ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الْأَطِبَّاءُ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الْبَنَاتُ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الْأَوْلَادُ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الْحَوَاسِيبُ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الْمَدَارِسُ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 plural verb</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 “she” verb</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 plural verb</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الْمُعَلِّمَاتُ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الْأَطِبَّاءُ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الْبَنَاتُ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الْأَوْلَادُ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 “she” verb</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الْحَوَاسِيبُ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الْمَدَارِسُ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الطُّلَّابُ كَتَبَ الْوَاجِبَ.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student or many?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الطَّالِبَاتُ يَكْتُبُونَ.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Boys or girls?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الْحَافِلَاتُ وَصَلْنَ مُبَكِّرًا.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buses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الطُّلَّابُ كَتَبَ الْوَاجِبَ.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الطُّلَّابُ كَتَبُوا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first, so the verb must be plural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الطَّالِبَاتُ يَكْتُبُونَ.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الطَّالِبَاتُ يَكْتُبْنَ.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group of girls needs -na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الْحَافِلَاتُ وَصَلْنَ مُبَكِّرًا.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الْحَافِلَاتُ وَصَلَتْ مُبَكِّرًا.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Buses are not people: feminine singular (website warning).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PRESENT AND HUMAN OR NON-HUMAN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الطَّالِبَاتُ ___ الْعَرَبِيَّةَ.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يَدْرُسُونَ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fully agreeing?</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يَشْرَحُ.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يَشْرَحُونَ.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تَشْرَحُ.</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الْأَطِبَّاءُ ___ فِي الْمُسْتَشْفَى.</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يَعْمَلُونَ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الْحَوَاسِيبُ ___ بِسُرْعَةٍ.</a:t>
            </a:r>
            <a:endParaRPr lang="ar-SA" sz="15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الطَّالِبَاتُ ___ الْعَرَبِيَّةَ.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يَدْرُسُونَ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يَدْرُسْنَ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present: ya- … -na.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fully agreeing?</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 يَشْرَحُ.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الْمُعَلِّمُونَ يَشْرَحُونَ.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 تَشْرَحُ.</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teachers first → yashraḥūna.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الْأَطِبَّاءُ ___ فِي الْمُسْتَشْفَى.</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يَعْمَلُونَ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تَعْمَلُ</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Doctors are people: yaʿmalūna.</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الْحَوَاسِيبُ ___ بِسُرْعَةٍ.</a:t>
            </a:r>
            <a:endParaRPr lang="ar-SA" sz="15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تَعْمَلُ</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Computers are things: taʿmalu.</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SKILLS WORKSHOP (TEACHER-WRITTEN REPORT)</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project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صَفُّنَا يَعْمَلُ عَلَى مَشْرُوعٍ عَنِ الْبِيئَةِ. الْمُعَلِّمَةُ قَسَّمَتْنَا إِلَى مَجْمُوعَاتٍ. يُوسُفُ وَآدَمُ صَوَّرَا الْحَدِيقَةَ، وَالْبَنَاتُ كَتَبْنَ الْأَسْئِلَةَ. الْأَوْلَادُ يَجْمَعُونَ الْمَعْلُومَاتِ الْآنَ، وَأَنَا وَصَدِيقَتِي نُرَاجِعُ التَّقْرِيرَ. الصُّوَرُ جَمِيلَةٌ، وَالْحَوَاسِيبُ تَعْمَلُ بِسُرْعَةٍ. فِي الْأُسْبُوعِ الْقَادِمِ الْمَجْمُوعَاتُ سَتُقَدِّمُ عُرُوضَهَا، وَالْمُدِيرُ سَيَحْضُرُ.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قَسَّمَتْنَا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divided 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مَجْمُوعَاتٍ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groups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صَوَّرَا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two of them photographed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نُرَاجِعُ</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review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عُرُوضَهَا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presentations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photographed the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 and Ādam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ṣawwarā and not ṣawwara?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boy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things, not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boys: dual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agrees with a group of girls?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يَجْمَعُونَ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taʿmalu with al-ḥawāsību?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computers are female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things take the “she” verb</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photographed the garden?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girls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Yūsuf and Ādam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Yūsufu wa-Ādamu ṣawwarā.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ṣawwarā and not ṣawwara?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boy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things, not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boys: dual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named boys first → dual -ā.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agrees with a group of girls?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يَجْمَعُونَ</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تَعْمَلُ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Al-banātu katabna.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taʿmalu with al-ḥawāsību?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computers are female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things take the “she” verb</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who did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أُخْتُكَ أَمْسِ؟ وَمَاذَا فَعَلَ أَخُوكَ؟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يَفْعَلُ أَصْدِقَاؤُكَ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مَشْرُوعًا جَمَاعِيًّا: مَاذَا فَعَلَ كُلُّ شَخْصٍ؟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أُخْتِي ___ أَمْسِ، وَأَخِي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أَصْدِقَائِي ___ بَعْدَ الْمَدْرَسَةِ.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وَ___ ___ ، وَالْبَنَاتُ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يَسِيرُ مَشْرُوعُكُمْ؟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is your project going?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جَيِّدًا! الْبَنَاتُ كَتَبْنَ الْأَسْئِلَةَ، وَالْأَوْلَادُ يَجْمَعُونَ الصُّوَرَ. أَنَا وَأَحْمَدُ سَنُقَدِّمُ الْعَرْضَ يَوْمَ الْخَمِيسِ.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Well! The girls wrote the questions, and the boys are collecting the pictures. Aḥmad and I will give the presentation on Thursday.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One person and two people: what they did.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akhī kataba · ukhtī katabat · al-waladāni katabā.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groups in the past, present and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-ū · -na · -ūna ·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progress report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Every subject before its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الْأَوْلَادُ يَجْمَعُونَ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boys are collecting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الْبَنَاتُ سَيَكْتُبْنَ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will write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الصُّوَرُ سَتَظْهَرُ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pictures will appear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وَصَدِيقِي رَاجَعْنَا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and I reviewed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wrote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قَرَأَتْ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read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الْوَلَدَانِ لَعِبَا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boys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الْبِنْتَانِ رَسَمَتَا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girls drew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  ·  كَتَبَتْ  ·  كَتَبَا  ·  كَتَبَتَا  ·  كَتَبُوا  ·  كَتَبْنَ  ·  يَكْتُبُونَ  ·  يَكْتُبْنَ  ·  سَيَكْتُبُونَ  ·  وَصَلَتْ  ·  تَعْمَلُ  ·  التَّقْرِيرَ  ·  الْعَرْضَ</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group progress report (80–100 words): what people did, do and will do in a school project.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masculine and one feminine singular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male / mixed group and one female group.</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non-human plural subjects (“she”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subject placed before its verb.</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جَمَعَ الْمَعْلُومَاتِ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collected the information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كَتَبَ التَّقْرِيرَ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wrote the report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صَمَّمَ مُلْصَقًا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designed a poster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رَاجَعَ النَّصَّ</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reviewed the text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عَرْضًا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gave a presentation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الْقَادِمِ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week</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نَعْمَلُ هَذَا الشَّهْرَ عَلَى مَشْرُوعٍ عَنْ تَارِيخِ مَدِينَتِنَا. الْمُعَلِّمُ شَرَحَ الْفِكْرَةَ فِي الْأُسْبُوعِ الْأَوَّلِ، وَمَرْيَمُ جَمَعَتِ الْمَعْلُومَاتِ مِنَ الْمَكْتَبَةِ. سَعِيدٌ وَيُوسُفُ زَارَا الْمَتْحَفَ وَصَوَّرَا الْمَبَانِيَ الْقَدِيمَةَ. الْآنَ الْبَنَاتُ يَكْتُبْنَ التَّقْرِيرَ، وَالْأَوْلَادُ يُصَمِّمُونَ الْمُلْصَقَاتِ. الصُّوَرُ وَصَلَتْ أَمْسِ، وَالْحَوَاسِيبُ تَعْمَلُ جَيِّدًا. فِي الْأُسْبُوعِ الْقَادِمِ الطُّلَّابُ سَيُقَدِّمُونَ الْعَرْضَ أَمَامَ الْمُدِيرِ، وَالْمُدِيرُ سَيَكْتُبُ رَأْيَهُ.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month we are working on a project about the history of our city. The teacher explained the idea in the first week, and Maryam collected the information from the library. Saʿīd and Yūsuf visited the museum and photographed the old buildings. Now the girls are writing the report and the boys are designing the posters. The pictures arrived yesterday, and the computers are working well. Next week the students will give the presentation in front of the head teacher, and the head teacher will write his opinion.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singular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female-group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 + “she”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boy → kataba; one girl → katabat.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group of boys (or mixed) → -ū / -ūna.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people → -ā / -atā /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group of girls → -na (yaktubna, not taktubna).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in the plural → the “she”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الْبَنَاتُ ___ الْبَابَ.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فَتَحُوا</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الْمَدَارِسُ ___ أَبْوَابَهَا.</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يَفْتَحُونَ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تَفْتَحُ</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يَفْتَحْنَ</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الْمُعَلِّمُونَ وَالْمُعَلِّمَاتُ ___ فِي الِاجْتِمَاعِ.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شَارَكُوا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a:t>
            </a:r>
            <a:endParaRPr lang="ar-SA" sz="2050" dirty="0"/>
          </a:p>
        </p:txBody>
      </p:sp>
      <p:sp>
        <p:nvSpPr>
          <p:cNvPr id="57" name="Shape 54"/>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9" name="Text 56"/>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الْبَنَاتُ ___ الْبَابَ.</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فَتَحْنَ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فَتَحَتْ</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فَتَحُوا</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girls first → fataḥna.</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الْمَدَارِسُ ___ أَبْوَابَهَا.</a:t>
            </a:r>
            <a:endParaRPr lang="ar-SA" sz="15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يَفْتَحُونَ</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تَفْتَحُ</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يَفْتَحْنَ</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Schools are things → taftaḥu.</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الْمُعَلِّمُونَ وَالْمُعَلِّمَاتُ ___ فِي الِاجْتِمَاعِ.</a:t>
            </a:r>
            <a:endParaRPr lang="ar-SA" sz="1000" dirty="0"/>
          </a:p>
        </p:txBody>
      </p:sp>
      <p:sp>
        <p:nvSpPr>
          <p:cNvPr id="52" name="Shape 49"/>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5328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شَارَكُوا</a:t>
            </a:r>
            <a:endParaRPr lang="ar-SA" sz="2050" dirty="0"/>
          </a:p>
        </p:txBody>
      </p:sp>
      <p:sp>
        <p:nvSpPr>
          <p:cNvPr id="56" name="Shape 53"/>
          <p:cNvSpPr/>
          <p:nvPr/>
        </p:nvSpPr>
        <p:spPr>
          <a:xfrm>
            <a:off x="8278368" y="29900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شَارَكْنَ</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شَارَكَ</a:t>
            </a:r>
            <a:endParaRPr lang="ar-SA" sz="2050" dirty="0"/>
          </a:p>
        </p:txBody>
      </p:sp>
      <p:sp>
        <p:nvSpPr>
          <p:cNvPr id="62" name="Text 59"/>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mixed group → masculine plural shārakū.</a:t>
            </a:r>
            <a:endParaRPr lang="en-US" sz="1050" dirty="0"/>
          </a:p>
        </p:txBody>
      </p:sp>
      <p:sp>
        <p:nvSpPr>
          <p:cNvPr id="63" name="Shape 60"/>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5" name="Text 62"/>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GM-VS-03: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GM-VS-03 · Verb-First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 الطُّلَّابُ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wrote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كَتَبَتِ الطَّالِبَاتُ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(f.) wrote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ذَهَبَ الْوَلَدَانِ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two boys went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يَدْرُسُ الطُّلَّابُ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study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وَصَلَتِ الْحَافِلَاتُ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buses arrived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when the verb comes FIRST, it stays singular even for many people. What do you notice about kataba ṭ-ṭullābu?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الطُّلَّابُ الرِّسَالَةَ.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six past forms of dhahaba with their subjects (website table).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Fill a past / present / future grid for darasa with six subjects.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group progress report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GM-VS-03 · Verb-First Agreement</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الْمُطَابَقَةُ عِنْدَ تَقَدُّمِ الْفِعْلِ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subject first → full agreement · kataba · katabat · katabā · katabatā · katabū · katabna · present: yaktubūna / yaktubna · future = sa- + present · non-human plurals → the “she” verb (al-kutubu waṣalat).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GM-VS-02 · Subject-First Full Agreement</dc:title>
  <dc:subject>PptxGenJS Presentation</dc:subject>
  <dc:creator>Al Madina Online School · Arabic Department</dc:creator>
  <cp:lastModifiedBy>Al Madina Online School · Arabic Department</cp:lastModifiedBy>
  <cp:revision>1</cp:revision>
  <dcterms:created xsi:type="dcterms:W3CDTF">2026-10-11T06:42:48Z</dcterms:created>
  <dcterms:modified xsi:type="dcterms:W3CDTF">2026-10-11T06:42:48Z</dcterms:modified>
</cp:coreProperties>
</file>