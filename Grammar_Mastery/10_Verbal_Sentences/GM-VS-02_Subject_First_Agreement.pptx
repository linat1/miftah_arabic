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Verbal Sentences › GM-VS-02 (“Subject-First Full Agreement”).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masculine and feminine singular (kataba · katabat) and the past plural -ū. Develop: the full family — dual -ā / -atā, feminine plural -na — in past, present and future (yaktubūna, yaktubna, sa-yaktubāni). Stretch: the non-human plural exception (al-ḥawāsību taʿmalu) and coordinated subjects (ʿAlī wa-Aḥmadu dhahabā).
• Website memory line: subject first → full agreement. Ask three questions about the subject: who (person)? male or female (gender)? one, two or more (number)?
• Watch the feminine plural present: aṭ-ṭālibātu YAktubna (yā’, not tā’). Recycles GM-V-05/06 past and present endings and GM-VS-01 roles.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GM-VS-01 subject-first order and GM-V past endings.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Subject first → the verb copies who, gender and number. Non-human plurals → feminine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core subject-first rule”. Point at each verb ending and ask: how does the verb know who did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“Past-tense full agreement”. Core: rows 1, 2 and 5. Choral drill: say subject + verb down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“Present-tense” and “Future” sections. Trap: the feminine plural present starts with ya- (yaktubna), not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website “The essential exception” (last row from the website Human or Non-Human check). Ask: is it a person? If not → the “she”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“Coordinated human subjects”. Row 4 is very useful for writing: anā wa-ukhtī → naḥnu → -nā.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Past, Present and Human or Non-Human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skills-workshop model, extended. The last sentence is the exception: pictures are not people → sa-taẓharu.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cover columns 2–4 and build the grid together, one column at a time. Core: rows 1, 2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Then say a verb for each: al-muʿallimātu dakhalna · as-sayyārātu dakhalat (website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Then say a verb for each: al-muʿallimātu dakhalna · as-sayyārātu dakhalat (website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Present and Human or Non-Human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report). Read it aloud once while students follow; then they hunt for today’s grammar.
Task: Website: circle each subject and underline its verb. Label each pair: one, two, group (m.), group (f.) or things.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report for the website skills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skills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describe what different people and groups did, do and will do without confusing singular and plural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80–100 Arabic words describing what one person, two people and several groups did, do and will do in a school project.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(GM-VS-03 · Verb-First Agreement) will spend class time USING this language, so students prepare it tonight — short, simple, easy to access (school guidance: “Simple, Short, Interesting, Relevant, Easy to access”). The five phrases prepare GM-VS-03 (website: verb-first agreement).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VERBAL SENTENCES  ·  GM-VS-02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GM-VS-02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cs typeface="Amiri" pitchFamily="2" charset="-78"/>
              </a:rPr>
              <a:t>Subject-First Full Agreement</a:t>
            </a:r>
            <a:endParaRPr lang="en-US" sz="36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الْمُطَابَقَةُ الْكَامِلَةُ عِنْدَ تَقَدُّمِ الْفَاعِلِ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When people come first, the verb copies them completely: aṭ-ṭullābu katabū, aṭ-ṭālibātu katabna, aṭ-ṭālibāni katabā. One exception: non-human plurals take a feminine singular verb — al-ḥāfilātu waṣalat.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GM-VS-02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Verbal Sentences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features; past family; present and future family; non-human exception; pairs.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One verb, six subjects; human or not?;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GM-VS-03.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 ___ الْوَاجِبَ.</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كَتَبُوا</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الطَّالِبَةُ ___ الْوَاجِبَ.</a:t>
            </a:r>
            <a:endParaRPr lang="ar-SA" sz="15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الطَّالِبَانِ ___ الْوَاجِبَ.</a:t>
            </a:r>
            <a:endParaRPr lang="ar-SA"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كَتَبُوا</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كَتَبَا</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الطَّالِبَاتُ ___ الْوَاجِبَ.</a:t>
            </a:r>
            <a:endParaRPr lang="ar-SA" sz="15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كَتَبُوا</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كَتَبْنَ</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الْحَافِلَاتُ ___ مُبَكِّرًا.</a:t>
            </a:r>
            <a:endParaRPr lang="ar-SA" sz="15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وَصَلَتْ</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وَصَلْنَ</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وَصَلُوا</a:t>
            </a:r>
            <a:endParaRPr lang="ar-SA" sz="2050" dirty="0"/>
          </a:p>
        </p:txBody>
      </p:sp>
      <p:sp>
        <p:nvSpPr>
          <p:cNvPr id="85" name="Shape 82"/>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7" name="Text 84"/>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8" name="Text 85"/>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9" name="Text 86"/>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 ___ الْوَاجِبَ.</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كَتَبُوا</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boy: kataba.</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الطَّالِبَةُ ___ الْوَاجِبَ.</a:t>
            </a:r>
            <a:endParaRPr lang="ar-SA" sz="150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كَتَبَتْ</a:t>
            </a:r>
            <a:endParaRPr lang="ar-SA" sz="170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كَتَبْنَ</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girl: katabat.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الطَّالِبَانِ ___ الْوَاجِبَ.</a:t>
            </a:r>
            <a:endParaRPr lang="ar-SA" sz="15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كَتَبُوا</a:t>
            </a:r>
            <a:endParaRPr lang="ar-SA" sz="1700" dirty="0"/>
          </a:p>
        </p:txBody>
      </p:sp>
      <p:sp>
        <p:nvSpPr>
          <p:cNvPr id="58"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كَتَبَا</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boys: katabā.</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الطَّالِبَاتُ ___ الْوَاجِبَ.</a:t>
            </a:r>
            <a:endParaRPr lang="ar-SA" sz="15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a:t>
            </a:r>
            <a:endParaRPr lang="ar-SA" sz="170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كَتَبُوا</a:t>
            </a:r>
            <a:endParaRPr lang="ar-SA" sz="170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كَتَبْنَ</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group of girls: katabna.</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الْحَافِلَاتُ ___ مُبَكِّرًا.</a:t>
            </a:r>
            <a:endParaRPr lang="ar-SA" sz="15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وَصَلَتْ</a:t>
            </a:r>
            <a:endParaRPr lang="ar-SA" sz="170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وَصَلْنَ</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وَصَلُوا</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Buses are not people: feminine singular.</a:t>
            </a:r>
            <a:endParaRPr lang="en-US" sz="1050" dirty="0"/>
          </a:p>
        </p:txBody>
      </p:sp>
      <p:sp>
        <p:nvSpPr>
          <p:cNvPr id="95" name="Shape 92"/>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7" name="Text 94"/>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Subject first → the verb copies who, gender and number. Non-human plurals → feminine singular.</a:t>
            </a:r>
            <a:endParaRPr lang="en-US" sz="1300" dirty="0"/>
          </a:p>
        </p:txBody>
      </p:sp>
      <p:sp>
        <p:nvSpPr>
          <p:cNvPr id="98" name="Text 95"/>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300" b="1" dirty="0">
                <a:solidFill>
                  <a:srgbClr val="1D5FBF"/>
                </a:solidFill>
                <a:latin typeface="Amiri" pitchFamily="2" charset="-78"/>
                <a:ea typeface="Amiri" pitchFamily="2" charset="-78"/>
                <a:cs typeface="Amiri" pitchFamily="2" charset="-78"/>
              </a:rPr>
              <a:t>الطُّلَّابُ</a:t>
            </a:r>
            <a:pPr rtl="1" algn="ctr" indent="0" marL="0">
              <a:lnSpc>
                <a:spcPct val="120000"/>
              </a:lnSpc>
              <a:buNone/>
            </a:pPr>
            <a:r>
              <a:rPr lang="ar-SA" altLang="en-US" sz="2300" b="1" dirty="0">
                <a:solidFill>
                  <a:srgbClr val="1B3B6F"/>
                </a:solidFill>
                <a:latin typeface="Amiri" pitchFamily="2" charset="-78"/>
                <a:cs typeface="Amiri" pitchFamily="2" charset="-78"/>
              </a:rPr>
              <a:t> </a:t>
            </a:r>
            <a:pPr rtl="1" algn="ctr" indent="0" marL="0">
              <a:lnSpc>
                <a:spcPct val="120000"/>
              </a:lnSpc>
              <a:buNone/>
            </a:pPr>
            <a:r>
              <a:rPr lang="ar-SA" altLang="en-US" sz="2300" b="1" dirty="0">
                <a:solidFill>
                  <a:srgbClr val="0E7C86"/>
                </a:solidFill>
                <a:latin typeface="Amiri" pitchFamily="2" charset="-78"/>
                <a:ea typeface="Amiri" pitchFamily="2" charset="-78"/>
                <a:cs typeface="Amiri" pitchFamily="2" charset="-78"/>
              </a:rPr>
              <a:t>كَتَبُوا</a:t>
            </a:r>
            <a:pPr rtl="1" algn="ctr" indent="0" marL="0">
              <a:lnSpc>
                <a:spcPct val="120000"/>
              </a:lnSpc>
              <a:buNone/>
            </a:pPr>
            <a:r>
              <a:rPr lang="ar-SA" altLang="en-US" sz="2300" b="1" dirty="0">
                <a:solidFill>
                  <a:srgbClr val="1B3B6F"/>
                </a:solidFill>
                <a:latin typeface="Amiri" pitchFamily="2" charset="-78"/>
                <a:cs typeface="Amiri" pitchFamily="2" charset="-78"/>
              </a:rPr>
              <a:t> ‖ </a:t>
            </a:r>
            <a:pPr rtl="1" algn="ctr" indent="0" marL="0">
              <a:lnSpc>
                <a:spcPct val="120000"/>
              </a:lnSpc>
              <a:buNone/>
            </a:pPr>
            <a:r>
              <a:rPr lang="ar-SA" altLang="en-US" sz="2300" b="1" dirty="0">
                <a:solidFill>
                  <a:srgbClr val="1D5FBF"/>
                </a:solidFill>
                <a:latin typeface="Amiri" pitchFamily="2" charset="-78"/>
                <a:ea typeface="Amiri" pitchFamily="2" charset="-78"/>
                <a:cs typeface="Amiri" pitchFamily="2" charset="-78"/>
              </a:rPr>
              <a:t>الْحَافِلَاتُ</a:t>
            </a:r>
            <a:pPr rtl="1" algn="ctr" indent="0" marL="0">
              <a:lnSpc>
                <a:spcPct val="120000"/>
              </a:lnSpc>
              <a:buNone/>
            </a:pPr>
            <a:r>
              <a:rPr lang="ar-SA" altLang="en-US" sz="2300" b="1" dirty="0">
                <a:solidFill>
                  <a:srgbClr val="1B3B6F"/>
                </a:solidFill>
                <a:latin typeface="Amiri" pitchFamily="2" charset="-78"/>
                <a:cs typeface="Amiri" pitchFamily="2" charset="-78"/>
              </a:rPr>
              <a:t> </a:t>
            </a:r>
            <a:pPr rtl="1" algn="ctr" indent="0" marL="0">
              <a:lnSpc>
                <a:spcPct val="120000"/>
              </a:lnSpc>
              <a:buNone/>
            </a:pPr>
            <a:r>
              <a:rPr lang="ar-SA" altLang="en-US" sz="2300" b="1" dirty="0">
                <a:solidFill>
                  <a:srgbClr val="0E7C86"/>
                </a:solidFill>
                <a:latin typeface="Amiri" pitchFamily="2" charset="-78"/>
                <a:ea typeface="Amiri" pitchFamily="2" charset="-78"/>
                <a:cs typeface="Amiri" pitchFamily="2" charset="-78"/>
              </a:rPr>
              <a:t>وَصَلَتْ</a:t>
            </a:r>
            <a:endParaRPr lang="ar-SA" sz="230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Match the verb to a singular subject.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dual and plural verb endings.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Agree in past, present and future.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Treat non-human plurals as feminine singular.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match kataba / katabat to one person.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aṭ-ṭullābu katabū.</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all six past endings.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agree in the present and future.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the non-human plural rule.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group report with paired subjects.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الْمُطَابَقَةُ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agreement — the verb copies the subject</a:t>
            </a:r>
            <a:endParaRPr lang="en-US" sz="1350" dirty="0"/>
          </a:p>
          <a:p>
            <a:pPr indent="0" marL="0">
              <a:buNone/>
            </a:pPr>
            <a:r>
              <a:rPr lang="en-US" sz="1100" i="1" dirty="0">
                <a:solidFill>
                  <a:srgbClr val="5A6472"/>
                </a:solidFill>
                <a:latin typeface="Calibri" pitchFamily="34" charset="0"/>
                <a:cs typeface="Amiri" pitchFamily="2" charset="-78"/>
              </a:rPr>
              <a:t>al-mu-ṭā-ba-qa-tu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الطُّلَّابُ كَتَبُوا</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الْمُفْرَدُ</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singular (one)</a:t>
            </a:r>
            <a:endParaRPr lang="en-US" sz="1350" dirty="0"/>
          </a:p>
          <a:p>
            <a:pPr indent="0" marL="0">
              <a:buNone/>
            </a:pPr>
            <a:r>
              <a:rPr lang="en-US" sz="1100" i="1" dirty="0">
                <a:solidFill>
                  <a:srgbClr val="5A6472"/>
                </a:solidFill>
                <a:latin typeface="Calibri" pitchFamily="34" charset="0"/>
                <a:cs typeface="Amiri" pitchFamily="2" charset="-78"/>
              </a:rPr>
              <a:t>al-muf-ra-du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الطَّالِبُ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الْمُثَنَّى</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dual (two)</a:t>
            </a:r>
            <a:endParaRPr lang="en-US" sz="1350" dirty="0"/>
          </a:p>
          <a:p>
            <a:pPr indent="0" marL="0">
              <a:buNone/>
            </a:pPr>
            <a:r>
              <a:rPr lang="en-US" sz="1100" i="1" dirty="0">
                <a:solidFill>
                  <a:srgbClr val="5A6472"/>
                </a:solidFill>
                <a:latin typeface="Calibri" pitchFamily="34" charset="0"/>
                <a:cs typeface="Amiri" pitchFamily="2" charset="-78"/>
              </a:rPr>
              <a:t>al-mu-than-nā</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الطَّالِبَانِ</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الْجَمْعُ</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plural (three or more)</a:t>
            </a:r>
            <a:endParaRPr lang="en-US" sz="1350" dirty="0"/>
          </a:p>
          <a:p>
            <a:pPr indent="0" marL="0">
              <a:buNone/>
            </a:pPr>
            <a:r>
              <a:rPr lang="en-US" sz="1100" i="1" dirty="0">
                <a:solidFill>
                  <a:srgbClr val="5A6472"/>
                </a:solidFill>
                <a:latin typeface="Calibri" pitchFamily="34" charset="0"/>
                <a:cs typeface="Amiri" pitchFamily="2" charset="-78"/>
              </a:rPr>
              <a:t>al-jam-ʿu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الطُّلَّابُ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الْمُذَكَّرُ · الْمُؤَنَّثُ</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masculine · feminine</a:t>
            </a:r>
            <a:endParaRPr lang="en-US" sz="1350" dirty="0"/>
          </a:p>
          <a:p>
            <a:pPr indent="0" marL="0">
              <a:buNone/>
            </a:pPr>
            <a:r>
              <a:rPr lang="en-US" sz="1100" i="1" dirty="0">
                <a:solidFill>
                  <a:srgbClr val="5A6472"/>
                </a:solidFill>
                <a:latin typeface="Calibri" pitchFamily="34" charset="0"/>
                <a:cs typeface="Amiri" pitchFamily="2" charset="-78"/>
              </a:rPr>
              <a:t>al-mu-dhak-ka-ru · al-mu-ʾan-na-thu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 · كَتَبَتْ</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 غَيْرِ الْعَاقِلِ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non-human plural</a:t>
            </a:r>
            <a:endParaRPr lang="en-US" sz="1350" dirty="0"/>
          </a:p>
          <a:p>
            <a:pPr indent="0" marL="0">
              <a:buNone/>
            </a:pPr>
            <a:r>
              <a:rPr lang="en-US" sz="1100" i="1" dirty="0">
                <a:solidFill>
                  <a:srgbClr val="5A6472"/>
                </a:solidFill>
                <a:latin typeface="Calibri" pitchFamily="34" charset="0"/>
                <a:cs typeface="Amiri" pitchFamily="2" charset="-78"/>
              </a:rPr>
              <a:t>jam-ʿu ghay-ri al-ʿā-qi-li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الْكُتُبُ وَصَلَتْ</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CORE SUBJECT-FIRST RULE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Male or female? How many?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الْفَاعِلُ أَوَّلًا: مُطَابَقَةٌ كَامِلَةٌ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 about the subject</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Feature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669280" y="2267712"/>
            <a:ext cx="59710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 كَتَبْتُ الرِّسَالَةَ.</a:t>
            </a:r>
            <a:endParaRPr lang="ar-SA" sz="2400" dirty="0"/>
          </a:p>
        </p:txBody>
      </p:sp>
      <p:sp>
        <p:nvSpPr>
          <p:cNvPr id="21" name="Text 18"/>
          <p:cNvSpPr txBox="1"/>
          <p:nvPr/>
        </p:nvSpPr>
        <p:spPr>
          <a:xfrm>
            <a:off x="276148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we, he, she, they?</a:t>
            </a:r>
            <a:endParaRPr lang="en-US" sz="11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669280" y="3004718"/>
            <a:ext cx="59710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الطَّالِبَةُ كَتَبَتِ الرِّسَالَةَ.</a:t>
            </a:r>
            <a:endParaRPr lang="ar-SA" sz="2400" dirty="0"/>
          </a:p>
        </p:txBody>
      </p:sp>
      <p:sp>
        <p:nvSpPr>
          <p:cNvPr id="27" name="Text 24"/>
          <p:cNvSpPr txBox="1"/>
          <p:nvPr/>
        </p:nvSpPr>
        <p:spPr>
          <a:xfrm>
            <a:off x="276148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or feminine?</a:t>
            </a:r>
            <a:endParaRPr lang="en-US" sz="11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Gender</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669280" y="3741725"/>
            <a:ext cx="59710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الطَّالِبَتَانِ كَتَبَتَا الرِّسَالَةَ.</a:t>
            </a:r>
            <a:endParaRPr lang="ar-SA" sz="2400" dirty="0"/>
          </a:p>
        </p:txBody>
      </p:sp>
      <p:sp>
        <p:nvSpPr>
          <p:cNvPr id="33" name="Text 30"/>
          <p:cNvSpPr txBox="1"/>
          <p:nvPr/>
        </p:nvSpPr>
        <p:spPr>
          <a:xfrm>
            <a:off x="276148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two or more?</a:t>
            </a:r>
            <a:endParaRPr lang="en-US" sz="1100" dirty="0"/>
          </a:p>
        </p:txBody>
      </p:sp>
      <p:sp>
        <p:nvSpPr>
          <p:cNvPr id="34" name="Text 31"/>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two</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5669280" y="4478731"/>
            <a:ext cx="59710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الطُّلَّابُ كَتَبُوا الرِّسَالَةَ.</a:t>
            </a:r>
            <a:endParaRPr lang="ar-SA" sz="2400" dirty="0"/>
          </a:p>
        </p:txBody>
      </p:sp>
      <p:sp>
        <p:nvSpPr>
          <p:cNvPr id="37" name="Text 34"/>
          <p:cNvSpPr txBox="1"/>
          <p:nvPr/>
        </p:nvSpPr>
        <p:spPr>
          <a:xfrm>
            <a:off x="276148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boys / mixed group?</a:t>
            </a:r>
            <a:endParaRPr lang="en-US" sz="1100" dirty="0"/>
          </a:p>
        </p:txBody>
      </p:sp>
      <p:sp>
        <p:nvSpPr>
          <p:cNvPr id="38" name="Text 35"/>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group (m.)</a:t>
            </a:r>
            <a:endParaRPr lang="en-US" sz="11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5669280" y="5215738"/>
            <a:ext cx="59710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الطَّالِبَاتُ كَتَبْنَ الرِّسَالَةَ.</a:t>
            </a:r>
            <a:endParaRPr lang="ar-SA" sz="2400" dirty="0"/>
          </a:p>
        </p:txBody>
      </p:sp>
      <p:sp>
        <p:nvSpPr>
          <p:cNvPr id="43" name="Text 40"/>
          <p:cNvSpPr txBox="1"/>
          <p:nvPr/>
        </p:nvSpPr>
        <p:spPr>
          <a:xfrm>
            <a:off x="276148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girls only?</a:t>
            </a:r>
            <a:endParaRPr lang="en-US" sz="1100" dirty="0"/>
          </a:p>
        </p:txBody>
      </p:sp>
      <p:sp>
        <p:nvSpPr>
          <p:cNvPr id="44" name="Text 41"/>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group (f.)</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memory line: subject first means FULL agreement — the verb shows the person, the gender and the number of the subject that came before it.</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PAST-TENSE FULL AGREEMENT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subjects, six endings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102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8" name="Text 15"/>
          <p:cNvSpPr txBox="1"/>
          <p:nvPr/>
        </p:nvSpPr>
        <p:spPr>
          <a:xfrm>
            <a:off x="309067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first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6967728" y="2267712"/>
            <a:ext cx="4690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(m.) wrote.</a:t>
            </a:r>
            <a:endParaRPr lang="en-US" sz="1100" dirty="0"/>
          </a:p>
        </p:txBody>
      </p:sp>
      <p:sp>
        <p:nvSpPr>
          <p:cNvPr id="22" name="Text 19"/>
          <p:cNvSpPr txBox="1"/>
          <p:nvPr/>
        </p:nvSpPr>
        <p:spPr>
          <a:xfrm>
            <a:off x="5138928" y="226771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Text 20"/>
          <p:cNvSpPr txBox="1"/>
          <p:nvPr/>
        </p:nvSpPr>
        <p:spPr>
          <a:xfrm>
            <a:off x="3108960" y="2267712"/>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a:t>
            </a:r>
            <a:endParaRPr lang="ar-SA" sz="2600" dirty="0"/>
          </a:p>
        </p:txBody>
      </p:sp>
      <p:sp>
        <p:nvSpPr>
          <p:cNvPr id="24" name="Text 21"/>
          <p:cNvSpPr txBox="1"/>
          <p:nvPr/>
        </p:nvSpPr>
        <p:spPr>
          <a:xfrm>
            <a:off x="54864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6967728" y="2881884"/>
            <a:ext cx="4690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(f.) wrote.</a:t>
            </a:r>
            <a:endParaRPr lang="en-US" sz="1100" dirty="0"/>
          </a:p>
        </p:txBody>
      </p:sp>
      <p:sp>
        <p:nvSpPr>
          <p:cNvPr id="29" name="Text 26"/>
          <p:cNvSpPr txBox="1"/>
          <p:nvPr/>
        </p:nvSpPr>
        <p:spPr>
          <a:xfrm>
            <a:off x="5138928" y="2881884"/>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a:t>
            </a:r>
            <a:endParaRPr lang="en-US" sz="1100" dirty="0"/>
          </a:p>
        </p:txBody>
      </p:sp>
      <p:sp>
        <p:nvSpPr>
          <p:cNvPr id="30" name="Text 27"/>
          <p:cNvSpPr txBox="1"/>
          <p:nvPr/>
        </p:nvSpPr>
        <p:spPr>
          <a:xfrm>
            <a:off x="3108960" y="2881884"/>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كَتَبَتْ</a:t>
            </a:r>
            <a:endParaRPr lang="ar-SA" sz="2600" dirty="0"/>
          </a:p>
        </p:txBody>
      </p:sp>
      <p:sp>
        <p:nvSpPr>
          <p:cNvPr id="31" name="Text 28"/>
          <p:cNvSpPr txBox="1"/>
          <p:nvPr/>
        </p:nvSpPr>
        <p:spPr>
          <a:xfrm>
            <a:off x="54864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الطَّالِبَةُ</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6967728" y="3496056"/>
            <a:ext cx="4690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students (m.) wrote.</a:t>
            </a:r>
            <a:endParaRPr lang="en-US" sz="1100" dirty="0"/>
          </a:p>
        </p:txBody>
      </p:sp>
      <p:sp>
        <p:nvSpPr>
          <p:cNvPr id="36" name="Text 33"/>
          <p:cNvSpPr txBox="1"/>
          <p:nvPr/>
        </p:nvSpPr>
        <p:spPr>
          <a:xfrm>
            <a:off x="5138928" y="3496056"/>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a:t>
            </a:r>
            <a:endParaRPr lang="en-US" sz="1100" dirty="0"/>
          </a:p>
        </p:txBody>
      </p:sp>
      <p:sp>
        <p:nvSpPr>
          <p:cNvPr id="37" name="Text 34"/>
          <p:cNvSpPr txBox="1"/>
          <p:nvPr/>
        </p:nvSpPr>
        <p:spPr>
          <a:xfrm>
            <a:off x="3108960" y="3496056"/>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كَتَبَا</a:t>
            </a:r>
            <a:endParaRPr lang="ar-SA" sz="2600" dirty="0"/>
          </a:p>
        </p:txBody>
      </p:sp>
      <p:sp>
        <p:nvSpPr>
          <p:cNvPr id="38" name="Text 35"/>
          <p:cNvSpPr txBox="1"/>
          <p:nvPr/>
        </p:nvSpPr>
        <p:spPr>
          <a:xfrm>
            <a:off x="54864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الطَّالِبَانِ</a:t>
            </a:r>
            <a:endParaRPr lang="ar-SA" sz="24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6967728" y="4110228"/>
            <a:ext cx="4690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students (f.) wrote.</a:t>
            </a:r>
            <a:endParaRPr lang="en-US" sz="1100" dirty="0"/>
          </a:p>
        </p:txBody>
      </p:sp>
      <p:sp>
        <p:nvSpPr>
          <p:cNvPr id="41" name="Text 38"/>
          <p:cNvSpPr txBox="1"/>
          <p:nvPr/>
        </p:nvSpPr>
        <p:spPr>
          <a:xfrm>
            <a:off x="5138928" y="4110228"/>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-atā</a:t>
            </a:r>
            <a:endParaRPr lang="en-US" sz="1100" dirty="0"/>
          </a:p>
        </p:txBody>
      </p:sp>
      <p:sp>
        <p:nvSpPr>
          <p:cNvPr id="42" name="Text 39"/>
          <p:cNvSpPr txBox="1"/>
          <p:nvPr/>
        </p:nvSpPr>
        <p:spPr>
          <a:xfrm>
            <a:off x="3108960" y="4110228"/>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كَتَبَتَا</a:t>
            </a:r>
            <a:endParaRPr lang="ar-SA" sz="2600" dirty="0"/>
          </a:p>
        </p:txBody>
      </p:sp>
      <p:sp>
        <p:nvSpPr>
          <p:cNvPr id="43" name="Text 40"/>
          <p:cNvSpPr txBox="1"/>
          <p:nvPr/>
        </p:nvSpPr>
        <p:spPr>
          <a:xfrm>
            <a:off x="54864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الطَّالِبَتَانِ</a:t>
            </a:r>
            <a:endParaRPr lang="ar-SA" sz="24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6967728" y="4724400"/>
            <a:ext cx="4690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(m. / mixed) wrote.</a:t>
            </a:r>
            <a:endParaRPr lang="en-US" sz="1100" dirty="0"/>
          </a:p>
        </p:txBody>
      </p:sp>
      <p:sp>
        <p:nvSpPr>
          <p:cNvPr id="46" name="Text 43"/>
          <p:cNvSpPr txBox="1"/>
          <p:nvPr/>
        </p:nvSpPr>
        <p:spPr>
          <a:xfrm>
            <a:off x="5138928" y="4724400"/>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-ū</a:t>
            </a:r>
            <a:endParaRPr lang="en-US" sz="1100" dirty="0"/>
          </a:p>
        </p:txBody>
      </p:sp>
      <p:sp>
        <p:nvSpPr>
          <p:cNvPr id="47" name="Text 44"/>
          <p:cNvSpPr txBox="1"/>
          <p:nvPr/>
        </p:nvSpPr>
        <p:spPr>
          <a:xfrm>
            <a:off x="3108960" y="4724400"/>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كَتَبُوا</a:t>
            </a:r>
            <a:endParaRPr lang="ar-SA" sz="2600" dirty="0"/>
          </a:p>
        </p:txBody>
      </p:sp>
      <p:sp>
        <p:nvSpPr>
          <p:cNvPr id="48" name="Text 45"/>
          <p:cNvSpPr txBox="1"/>
          <p:nvPr/>
        </p:nvSpPr>
        <p:spPr>
          <a:xfrm>
            <a:off x="54864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الطُّلَّابُ</a:t>
            </a:r>
            <a:endParaRPr lang="ar-SA" sz="2400" dirty="0"/>
          </a:p>
        </p:txBody>
      </p:sp>
      <p:sp>
        <p:nvSpPr>
          <p:cNvPr id="49" name="Shape 46"/>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6967728" y="5338572"/>
            <a:ext cx="4690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(f.) wrote.</a:t>
            </a:r>
            <a:endParaRPr lang="en-US" sz="1100" dirty="0"/>
          </a:p>
        </p:txBody>
      </p:sp>
      <p:sp>
        <p:nvSpPr>
          <p:cNvPr id="53" name="Text 50"/>
          <p:cNvSpPr txBox="1"/>
          <p:nvPr/>
        </p:nvSpPr>
        <p:spPr>
          <a:xfrm>
            <a:off x="5138928" y="533857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a:t>
            </a:r>
            <a:endParaRPr lang="en-US" sz="1100" dirty="0"/>
          </a:p>
        </p:txBody>
      </p:sp>
      <p:sp>
        <p:nvSpPr>
          <p:cNvPr id="54" name="Text 51"/>
          <p:cNvSpPr txBox="1"/>
          <p:nvPr/>
        </p:nvSpPr>
        <p:spPr>
          <a:xfrm>
            <a:off x="3108960" y="5338572"/>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كَتَبْنَ</a:t>
            </a:r>
            <a:endParaRPr lang="ar-SA" sz="2600" dirty="0"/>
          </a:p>
        </p:txBody>
      </p:sp>
      <p:sp>
        <p:nvSpPr>
          <p:cNvPr id="55" name="Text 52"/>
          <p:cNvSpPr txBox="1"/>
          <p:nvPr/>
        </p:nvSpPr>
        <p:spPr>
          <a:xfrm>
            <a:off x="54864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الطَّالِبَاتُ</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connected reading: in aṭ-ṭālibatu katabati l-wājiba a helping kasra is heard on the -t before al-. It is still the feminine singular ending. The silent alif in katabū is written, not pronounced.</a:t>
            </a:r>
            <a:endParaRPr lang="en-US" sz="11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PRESENT AND FUTURE (WEBSITE TABLES)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Prefix + suffix — and add sa- for the future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الْمُضَارِعُ وَالْمُسْتَقْبَلُ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6509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Future</a:t>
            </a:r>
            <a:endParaRPr lang="en-US" sz="1100" dirty="0"/>
          </a:p>
        </p:txBody>
      </p:sp>
      <p:sp>
        <p:nvSpPr>
          <p:cNvPr id="18" name="Text 15"/>
          <p:cNvSpPr txBox="1"/>
          <p:nvPr/>
        </p:nvSpPr>
        <p:spPr>
          <a:xfrm>
            <a:off x="309067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first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writes · will write</a:t>
            </a:r>
            <a:endParaRPr lang="en-US" sz="1100" dirty="0"/>
          </a:p>
        </p:txBody>
      </p:sp>
      <p:sp>
        <p:nvSpPr>
          <p:cNvPr id="22" name="Text 19"/>
          <p:cNvSpPr txBox="1"/>
          <p:nvPr/>
        </p:nvSpPr>
        <p:spPr>
          <a:xfrm>
            <a:off x="5669280" y="226771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سَيَكْتُبُ</a:t>
            </a:r>
            <a:endParaRPr lang="ar-SA" sz="2600" dirty="0"/>
          </a:p>
        </p:txBody>
      </p:sp>
      <p:sp>
        <p:nvSpPr>
          <p:cNvPr id="23" name="Text 20"/>
          <p:cNvSpPr txBox="1"/>
          <p:nvPr/>
        </p:nvSpPr>
        <p:spPr>
          <a:xfrm>
            <a:off x="3108960" y="2267712"/>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يَكْتُبُ</a:t>
            </a:r>
            <a:endParaRPr lang="ar-SA" sz="2600" dirty="0"/>
          </a:p>
        </p:txBody>
      </p:sp>
      <p:sp>
        <p:nvSpPr>
          <p:cNvPr id="24" name="Text 21"/>
          <p:cNvSpPr txBox="1"/>
          <p:nvPr/>
        </p:nvSpPr>
        <p:spPr>
          <a:xfrm>
            <a:off x="54864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writes · will write</a:t>
            </a:r>
            <a:endParaRPr lang="en-US" sz="1100" dirty="0"/>
          </a:p>
        </p:txBody>
      </p:sp>
      <p:sp>
        <p:nvSpPr>
          <p:cNvPr id="29" name="Text 26"/>
          <p:cNvSpPr txBox="1"/>
          <p:nvPr/>
        </p:nvSpPr>
        <p:spPr>
          <a:xfrm>
            <a:off x="5669280" y="2881884"/>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سَتَكْتُبُ</a:t>
            </a:r>
            <a:endParaRPr lang="ar-SA" sz="2600" dirty="0"/>
          </a:p>
        </p:txBody>
      </p:sp>
      <p:sp>
        <p:nvSpPr>
          <p:cNvPr id="30" name="Text 27"/>
          <p:cNvSpPr txBox="1"/>
          <p:nvPr/>
        </p:nvSpPr>
        <p:spPr>
          <a:xfrm>
            <a:off x="3108960" y="2881884"/>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تَكْتُبُ</a:t>
            </a:r>
            <a:endParaRPr lang="ar-SA" sz="2600" dirty="0"/>
          </a:p>
        </p:txBody>
      </p:sp>
      <p:sp>
        <p:nvSpPr>
          <p:cNvPr id="31" name="Text 28"/>
          <p:cNvSpPr txBox="1"/>
          <p:nvPr/>
        </p:nvSpPr>
        <p:spPr>
          <a:xfrm>
            <a:off x="54864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الطَّالِبَةُ</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(m.) write</a:t>
            </a:r>
            <a:endParaRPr lang="en-US" sz="1100" dirty="0"/>
          </a:p>
        </p:txBody>
      </p:sp>
      <p:sp>
        <p:nvSpPr>
          <p:cNvPr id="36" name="Text 33"/>
          <p:cNvSpPr txBox="1"/>
          <p:nvPr/>
        </p:nvSpPr>
        <p:spPr>
          <a:xfrm>
            <a:off x="5669280" y="3496056"/>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سَيَكْتُبَانِ</a:t>
            </a:r>
            <a:endParaRPr lang="ar-SA" sz="2600" dirty="0"/>
          </a:p>
        </p:txBody>
      </p:sp>
      <p:sp>
        <p:nvSpPr>
          <p:cNvPr id="37" name="Text 34"/>
          <p:cNvSpPr txBox="1"/>
          <p:nvPr/>
        </p:nvSpPr>
        <p:spPr>
          <a:xfrm>
            <a:off x="3108960" y="3496056"/>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يَكْتُبَانِ</a:t>
            </a:r>
            <a:endParaRPr lang="ar-SA" sz="2600" dirty="0"/>
          </a:p>
        </p:txBody>
      </p:sp>
      <p:sp>
        <p:nvSpPr>
          <p:cNvPr id="38" name="Text 35"/>
          <p:cNvSpPr txBox="1"/>
          <p:nvPr/>
        </p:nvSpPr>
        <p:spPr>
          <a:xfrm>
            <a:off x="54864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الطَّالِبَانِ</a:t>
            </a:r>
            <a:endParaRPr lang="ar-SA" sz="24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(f.) write</a:t>
            </a:r>
            <a:endParaRPr lang="en-US" sz="1100" dirty="0"/>
          </a:p>
        </p:txBody>
      </p:sp>
      <p:sp>
        <p:nvSpPr>
          <p:cNvPr id="41" name="Text 38"/>
          <p:cNvSpPr txBox="1"/>
          <p:nvPr/>
        </p:nvSpPr>
        <p:spPr>
          <a:xfrm>
            <a:off x="5669280" y="4110228"/>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سَتَكْتُبَانِ</a:t>
            </a:r>
            <a:endParaRPr lang="ar-SA" sz="2600" dirty="0"/>
          </a:p>
        </p:txBody>
      </p:sp>
      <p:sp>
        <p:nvSpPr>
          <p:cNvPr id="42" name="Text 39"/>
          <p:cNvSpPr txBox="1"/>
          <p:nvPr/>
        </p:nvSpPr>
        <p:spPr>
          <a:xfrm>
            <a:off x="3108960" y="4110228"/>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تَكْتُبَانِ</a:t>
            </a:r>
            <a:endParaRPr lang="ar-SA" sz="2600" dirty="0"/>
          </a:p>
        </p:txBody>
      </p:sp>
      <p:sp>
        <p:nvSpPr>
          <p:cNvPr id="43" name="Text 40"/>
          <p:cNvSpPr txBox="1"/>
          <p:nvPr/>
        </p:nvSpPr>
        <p:spPr>
          <a:xfrm>
            <a:off x="54864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الطَّالِبَتَانِ</a:t>
            </a:r>
            <a:endParaRPr lang="ar-SA" sz="24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 / mixed) write</a:t>
            </a:r>
            <a:endParaRPr lang="en-US" sz="1100" dirty="0"/>
          </a:p>
        </p:txBody>
      </p:sp>
      <p:sp>
        <p:nvSpPr>
          <p:cNvPr id="46" name="Text 43"/>
          <p:cNvSpPr txBox="1"/>
          <p:nvPr/>
        </p:nvSpPr>
        <p:spPr>
          <a:xfrm>
            <a:off x="5669280" y="4724400"/>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سَيَكْتُبُونَ</a:t>
            </a:r>
            <a:endParaRPr lang="ar-SA" sz="2600" dirty="0"/>
          </a:p>
        </p:txBody>
      </p:sp>
      <p:sp>
        <p:nvSpPr>
          <p:cNvPr id="47" name="Text 44"/>
          <p:cNvSpPr txBox="1"/>
          <p:nvPr/>
        </p:nvSpPr>
        <p:spPr>
          <a:xfrm>
            <a:off x="3108960" y="4724400"/>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يَكْتُبُونَ</a:t>
            </a:r>
            <a:endParaRPr lang="ar-SA" sz="2600" dirty="0"/>
          </a:p>
        </p:txBody>
      </p:sp>
      <p:sp>
        <p:nvSpPr>
          <p:cNvPr id="48" name="Text 45"/>
          <p:cNvSpPr txBox="1"/>
          <p:nvPr/>
        </p:nvSpPr>
        <p:spPr>
          <a:xfrm>
            <a:off x="54864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الطُّلَّابُ</a:t>
            </a:r>
            <a:endParaRPr lang="ar-SA" sz="2400" dirty="0"/>
          </a:p>
        </p:txBody>
      </p:sp>
      <p:sp>
        <p:nvSpPr>
          <p:cNvPr id="49" name="Shape 46"/>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(f.) write</a:t>
            </a:r>
            <a:endParaRPr lang="en-US" sz="1100" dirty="0"/>
          </a:p>
        </p:txBody>
      </p:sp>
      <p:sp>
        <p:nvSpPr>
          <p:cNvPr id="53" name="Text 50"/>
          <p:cNvSpPr txBox="1"/>
          <p:nvPr/>
        </p:nvSpPr>
        <p:spPr>
          <a:xfrm>
            <a:off x="5669280" y="533857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سَيَكْتُبْنَ</a:t>
            </a:r>
            <a:endParaRPr lang="ar-SA" sz="2600" dirty="0"/>
          </a:p>
        </p:txBody>
      </p:sp>
      <p:sp>
        <p:nvSpPr>
          <p:cNvPr id="54" name="Text 51"/>
          <p:cNvSpPr txBox="1"/>
          <p:nvPr/>
        </p:nvSpPr>
        <p:spPr>
          <a:xfrm>
            <a:off x="3108960" y="5338572"/>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يَكْتُبْنَ</a:t>
            </a:r>
            <a:endParaRPr lang="ar-SA" sz="2600" dirty="0"/>
          </a:p>
        </p:txBody>
      </p:sp>
      <p:sp>
        <p:nvSpPr>
          <p:cNvPr id="55" name="Text 52"/>
          <p:cNvSpPr txBox="1"/>
          <p:nvPr/>
        </p:nvSpPr>
        <p:spPr>
          <a:xfrm>
            <a:off x="54864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الطَّالِبَاتُ</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the future simply adds sa- (or sawfa) to the agreeing present: aṭ-ṭālibātu sawfa yaktubna. Two jobs for ta-: taktubu = “she writes” or “you write” — the subject tells you which.</a:t>
            </a:r>
            <a:endParaRPr lang="en-US" sz="11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4 · THE ESSENTIAL EXCEPTION (WEBSITE TABLE)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Things, not people: feminine singular</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جَمْعُ غَيْرِ الْعَاقِلِ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376672" y="1810512"/>
            <a:ext cx="6281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Complete model</a:t>
            </a:r>
            <a:endParaRPr lang="en-US" sz="1100" dirty="0"/>
          </a:p>
        </p:txBody>
      </p:sp>
      <p:sp>
        <p:nvSpPr>
          <p:cNvPr id="17" name="Text 14"/>
          <p:cNvSpPr txBox="1"/>
          <p:nvPr/>
        </p:nvSpPr>
        <p:spPr>
          <a:xfrm>
            <a:off x="31821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8" name="Text 15"/>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Non-human plural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394960" y="2267712"/>
            <a:ext cx="62453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الْحَافِلَاتُ وَصَلَتْ مُبَكِّرًا.</a:t>
            </a:r>
            <a:endParaRPr lang="ar-SA" sz="2200" dirty="0"/>
          </a:p>
        </p:txBody>
      </p:sp>
      <p:sp>
        <p:nvSpPr>
          <p:cNvPr id="21" name="Text 18"/>
          <p:cNvSpPr txBox="1"/>
          <p:nvPr/>
        </p:nvSpPr>
        <p:spPr>
          <a:xfrm>
            <a:off x="320040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وَصَلَتْ</a:t>
            </a:r>
            <a:endParaRPr lang="ar-SA" sz="2400" dirty="0"/>
          </a:p>
        </p:txBody>
      </p:sp>
      <p:sp>
        <p:nvSpPr>
          <p:cNvPr id="22" name="Text 19"/>
          <p:cNvSpPr txBox="1"/>
          <p:nvPr/>
        </p:nvSpPr>
        <p:spPr>
          <a:xfrm>
            <a:off x="548640" y="2267712"/>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الْحَافِلَاتُ</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394960" y="3004718"/>
            <a:ext cx="62453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الْكُتُبُ وَصَلَتْ أَمْسِ.</a:t>
            </a:r>
            <a:endParaRPr lang="ar-SA" sz="2200" dirty="0"/>
          </a:p>
        </p:txBody>
      </p:sp>
      <p:sp>
        <p:nvSpPr>
          <p:cNvPr id="27" name="Text 24"/>
          <p:cNvSpPr txBox="1"/>
          <p:nvPr/>
        </p:nvSpPr>
        <p:spPr>
          <a:xfrm>
            <a:off x="320040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وَصَلَتْ</a:t>
            </a:r>
            <a:endParaRPr lang="ar-SA" sz="2400" dirty="0"/>
          </a:p>
        </p:txBody>
      </p:sp>
      <p:sp>
        <p:nvSpPr>
          <p:cNvPr id="28" name="Text 25"/>
          <p:cNvSpPr txBox="1"/>
          <p:nvPr/>
        </p:nvSpPr>
        <p:spPr>
          <a:xfrm>
            <a:off x="548640" y="3004718"/>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الْكُتُبُ</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394960" y="3741725"/>
            <a:ext cx="62453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الْمَدَارِسُ تَفْتَحُ أَبْوَابَهَا صَبَاحًا.</a:t>
            </a:r>
            <a:endParaRPr lang="ar-SA" sz="2200" dirty="0"/>
          </a:p>
        </p:txBody>
      </p:sp>
      <p:sp>
        <p:nvSpPr>
          <p:cNvPr id="33" name="Text 30"/>
          <p:cNvSpPr txBox="1"/>
          <p:nvPr/>
        </p:nvSpPr>
        <p:spPr>
          <a:xfrm>
            <a:off x="320040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تَفْتَحُ</a:t>
            </a:r>
            <a:endParaRPr lang="ar-SA" sz="2400" dirty="0"/>
          </a:p>
        </p:txBody>
      </p:sp>
      <p:sp>
        <p:nvSpPr>
          <p:cNvPr id="34" name="Text 31"/>
          <p:cNvSpPr txBox="1"/>
          <p:nvPr/>
        </p:nvSpPr>
        <p:spPr>
          <a:xfrm>
            <a:off x="548640" y="3741725"/>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الْمَدَارِسُ</a:t>
            </a:r>
            <a:endParaRPr lang="ar-SA" sz="24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5394960" y="4478731"/>
            <a:ext cx="62453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السَّيَّارَاتُ سَتَتَوَقَّفُ هُنَا.</a:t>
            </a:r>
            <a:endParaRPr lang="ar-SA" sz="2200" dirty="0"/>
          </a:p>
        </p:txBody>
      </p:sp>
      <p:sp>
        <p:nvSpPr>
          <p:cNvPr id="37" name="Text 34"/>
          <p:cNvSpPr txBox="1"/>
          <p:nvPr/>
        </p:nvSpPr>
        <p:spPr>
          <a:xfrm>
            <a:off x="320040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سَتَتَوَقَّفُ</a:t>
            </a:r>
            <a:endParaRPr lang="ar-SA" sz="2400" dirty="0"/>
          </a:p>
        </p:txBody>
      </p:sp>
      <p:sp>
        <p:nvSpPr>
          <p:cNvPr id="38" name="Text 35"/>
          <p:cNvSpPr txBox="1"/>
          <p:nvPr/>
        </p:nvSpPr>
        <p:spPr>
          <a:xfrm>
            <a:off x="548640" y="4478731"/>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السَّيَّارَاتُ</a:t>
            </a:r>
            <a:endParaRPr lang="ar-SA" sz="24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5394960" y="5215738"/>
            <a:ext cx="62453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الْحَوَاسِيبُ تَعْمَلُ بِسُرْعَةٍ.</a:t>
            </a:r>
            <a:endParaRPr lang="ar-SA" sz="2200" dirty="0"/>
          </a:p>
        </p:txBody>
      </p:sp>
      <p:sp>
        <p:nvSpPr>
          <p:cNvPr id="41" name="Text 38"/>
          <p:cNvSpPr txBox="1"/>
          <p:nvPr/>
        </p:nvSpPr>
        <p:spPr>
          <a:xfrm>
            <a:off x="320040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تَعْمَلُ</a:t>
            </a:r>
            <a:endParaRPr lang="ar-SA" sz="2400" dirty="0"/>
          </a:p>
        </p:txBody>
      </p:sp>
      <p:sp>
        <p:nvSpPr>
          <p:cNvPr id="42" name="Text 39"/>
          <p:cNvSpPr txBox="1"/>
          <p:nvPr/>
        </p:nvSpPr>
        <p:spPr>
          <a:xfrm>
            <a:off x="548640" y="5215738"/>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الْحَوَاسِيبُ</a:t>
            </a:r>
            <a:endParaRPr lang="ar-SA" sz="24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warning: do not overapply plural agreement. Al-ḥāfilātu waṣalna treats buses like a group of women. Buses, books, schools and cars take the “she” verb: waṣalat, taftaḥu.</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5 · COORDINATED SUBJECTS (WEBSITE)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names first = a group verb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الْفَاعِلُ الْمَعْطُوفُ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7" name="Text 14"/>
          <p:cNvSpPr txBox="1"/>
          <p:nvPr/>
        </p:nvSpPr>
        <p:spPr>
          <a:xfrm>
            <a:off x="327355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893808" y="2267712"/>
            <a:ext cx="1764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(m.)</a:t>
            </a:r>
            <a:endParaRPr lang="en-US" sz="1100" dirty="0"/>
          </a:p>
        </p:txBody>
      </p:sp>
      <p:sp>
        <p:nvSpPr>
          <p:cNvPr id="21" name="Text 18"/>
          <p:cNvSpPr txBox="1"/>
          <p:nvPr/>
        </p:nvSpPr>
        <p:spPr>
          <a:xfrm>
            <a:off x="3291840" y="2267712"/>
            <a:ext cx="6400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عَلِيٌّ وَأَحْمَدُ ذَهَبَا إِلَى السُّوقِ.</a:t>
            </a:r>
            <a:endParaRPr lang="ar-SA" sz="2400" dirty="0"/>
          </a:p>
        </p:txBody>
      </p:sp>
      <p:sp>
        <p:nvSpPr>
          <p:cNvPr id="22" name="Text 19"/>
          <p:cNvSpPr txBox="1"/>
          <p:nvPr/>
        </p:nvSpPr>
        <p:spPr>
          <a:xfrm>
            <a:off x="56692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boys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893808" y="3054096"/>
            <a:ext cx="1764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(f.)</a:t>
            </a:r>
            <a:endParaRPr lang="en-US" sz="1100" dirty="0"/>
          </a:p>
        </p:txBody>
      </p:sp>
      <p:sp>
        <p:nvSpPr>
          <p:cNvPr id="27" name="Text 24"/>
          <p:cNvSpPr txBox="1"/>
          <p:nvPr/>
        </p:nvSpPr>
        <p:spPr>
          <a:xfrm>
            <a:off x="3291840" y="3054096"/>
            <a:ext cx="6400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مَرْيَمُ وَلَيْلَى ذَهَبَتَا إِلَى السُّوقِ.</a:t>
            </a:r>
            <a:endParaRPr lang="ar-SA" sz="2400" dirty="0"/>
          </a:p>
        </p:txBody>
      </p:sp>
      <p:sp>
        <p:nvSpPr>
          <p:cNvPr id="28" name="Text 25"/>
          <p:cNvSpPr txBox="1"/>
          <p:nvPr/>
        </p:nvSpPr>
        <p:spPr>
          <a:xfrm>
            <a:off x="56692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girls</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9893808" y="3840480"/>
            <a:ext cx="1764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mixed: -ū</a:t>
            </a:r>
            <a:endParaRPr lang="en-US" sz="1100" dirty="0"/>
          </a:p>
        </p:txBody>
      </p:sp>
      <p:sp>
        <p:nvSpPr>
          <p:cNvPr id="31" name="Text 28"/>
          <p:cNvSpPr txBox="1"/>
          <p:nvPr/>
        </p:nvSpPr>
        <p:spPr>
          <a:xfrm>
            <a:off x="3291840" y="3840480"/>
            <a:ext cx="6400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الطُّلَّابُ وَالطَّالِبَاتُ شَارَكُوا فِي الْمَشْرُوعِ.</a:t>
            </a:r>
            <a:endParaRPr lang="ar-SA" sz="2400" dirty="0"/>
          </a:p>
        </p:txBody>
      </p:sp>
      <p:sp>
        <p:nvSpPr>
          <p:cNvPr id="32" name="Text 29"/>
          <p:cNvSpPr txBox="1"/>
          <p:nvPr/>
        </p:nvSpPr>
        <p:spPr>
          <a:xfrm>
            <a:off x="56692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boys and girls</a:t>
            </a:r>
            <a:endParaRPr lang="en-US" sz="11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9893808" y="4626864"/>
            <a:ext cx="1764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-nā</a:t>
            </a:r>
            <a:endParaRPr lang="en-US" sz="1100" dirty="0"/>
          </a:p>
        </p:txBody>
      </p:sp>
      <p:sp>
        <p:nvSpPr>
          <p:cNvPr id="35" name="Text 32"/>
          <p:cNvSpPr txBox="1"/>
          <p:nvPr/>
        </p:nvSpPr>
        <p:spPr>
          <a:xfrm>
            <a:off x="3291840" y="4626864"/>
            <a:ext cx="6400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 وَأُخْتِي ذَهَبْنَا إِلَى الْمَكْتَبَةِ.</a:t>
            </a:r>
            <a:endParaRPr lang="ar-SA" sz="2400" dirty="0"/>
          </a:p>
        </p:txBody>
      </p:sp>
      <p:sp>
        <p:nvSpPr>
          <p:cNvPr id="36" name="Text 33"/>
          <p:cNvSpPr txBox="1"/>
          <p:nvPr/>
        </p:nvSpPr>
        <p:spPr>
          <a:xfrm>
            <a:off x="566928"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 and my sister</a:t>
            </a:r>
            <a:endParaRPr lang="en-US" sz="1100" dirty="0"/>
          </a:p>
        </p:txBody>
      </p:sp>
      <p:sp>
        <p:nvSpPr>
          <p:cNvPr id="37" name="Shape 34"/>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exam-safe strategy: put the whole group first, then use clear full agreement. A mixed group of men and women takes the masculine plural.</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الْمُعَلِّمَتَانِ ___ الدَّرْسَ.</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شَرَحَتْ</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شَرَحَتَا</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الْبَنَاتُ ___ إِلَى الْمَلْعَبِ.</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ذَهَبْنَ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ذَهَبَتْ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ذَهَبُوا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الطَّالِبَتَانِ ___ الْعَرَبِيَّةَ.</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يَدْرُسَانِ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تَدْرُسَانِ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تَدْرُسْنَ</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السَّيَّارَاتُ ___ الْمَدِينَةَ.</a:t>
            </a:r>
            <a:endParaRPr lang="ar-SA" sz="15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دَخَلَتْ</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دَخَلْنَ</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دَخَلُوا</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الْمُعَلِّمَتَانِ ___ الدَّرْسَ.</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شَرَحَتْ</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شَرَحْنَ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شَرَحَتَا</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female teachers: sharaḥatā.</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الْبَنَاتُ ___ إِلَى الْمَلْعَبِ.</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ذَهَبْنَ</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ذَهَبَتْ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ذَهَبُوا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group of girls: dhahabna.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الطَّالِبَتَانِ ___ الْعَرَبِيَّةَ.</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يَدْرُسَانِ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تَدْرُسَانِ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تَدْرُسْنَ</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girls: ta- … -āni.</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السَّيَّارَاتُ ___ الْمَدِينَةَ.</a:t>
            </a:r>
            <a:endParaRPr lang="ar-SA" sz="1500" dirty="0"/>
          </a:p>
        </p:txBody>
      </p:sp>
      <p:sp>
        <p:nvSpPr>
          <p:cNvPr id="68" name="Shape 65"/>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368796"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دَخَلَتْ</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دَخَلْنَ</a:t>
            </a:r>
            <a:endParaRPr lang="ar-SA" sz="1700" dirty="0"/>
          </a:p>
        </p:txBody>
      </p:sp>
      <p:sp>
        <p:nvSpPr>
          <p:cNvPr id="75" name="Shape 72"/>
          <p:cNvSpPr/>
          <p:nvPr/>
        </p:nvSpPr>
        <p:spPr>
          <a:xfrm>
            <a:off x="6368796"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دَخَلُوا</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Cars are not people: feminine singular.</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Watch me match the verb to the subject</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Subject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الطَّالِبَتَانِ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People? Yes.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many?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اثْنَتَانِ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-tāni = two.</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Gender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مُؤَنَّثٌ</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girls.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كَتَبَتَا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dual: -atā.</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SUBJECT</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AGREEING VERB</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800" b="1" dirty="0">
                <a:solidFill>
                  <a:srgbClr val="1D5FBF"/>
                </a:solidFill>
                <a:latin typeface="Amiri" pitchFamily="2" charset="-78"/>
                <a:ea typeface="Amiri" pitchFamily="2" charset="-78"/>
                <a:cs typeface="Amiri" pitchFamily="2" charset="-78"/>
              </a:rPr>
              <a:t>الطَّالِبَةُ</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0E7C86"/>
                </a:solidFill>
                <a:latin typeface="Amiri" pitchFamily="2" charset="-78"/>
                <a:ea typeface="Amiri" pitchFamily="2" charset="-78"/>
                <a:cs typeface="Amiri" pitchFamily="2" charset="-78"/>
              </a:rPr>
              <a:t>جَمَعَتِ</a:t>
            </a:r>
            <a:pPr rtl="1" algn="r" indent="0" marL="0">
              <a:buNone/>
            </a:pPr>
            <a:r>
              <a:rPr lang="ar-SA" altLang="en-US" sz="1800" b="1" dirty="0">
                <a:solidFill>
                  <a:srgbClr val="1B3B6F"/>
                </a:solidFill>
                <a:latin typeface="Amiri" pitchFamily="2" charset="-78"/>
                <a:ea typeface="Amiri" pitchFamily="2" charset="-78"/>
                <a:cs typeface="Amiri" pitchFamily="2" charset="-78"/>
              </a:rPr>
              <a:t> الْمَعْلُومَاتِ. </a:t>
            </a:r>
            <a:pPr rtl="1" algn="r" indent="0" marL="0">
              <a:buNone/>
            </a:pPr>
            <a:r>
              <a:rPr lang="ar-SA" altLang="en-US" sz="1800" b="1" dirty="0">
                <a:solidFill>
                  <a:srgbClr val="1D5FBF"/>
                </a:solidFill>
                <a:latin typeface="Amiri" pitchFamily="2" charset="-78"/>
                <a:ea typeface="Amiri" pitchFamily="2" charset="-78"/>
                <a:cs typeface="Amiri" pitchFamily="2" charset="-78"/>
              </a:rPr>
              <a:t>الطَّالِبَتَانِ</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0E7C86"/>
                </a:solidFill>
                <a:latin typeface="Amiri" pitchFamily="2" charset="-78"/>
                <a:ea typeface="Amiri" pitchFamily="2" charset="-78"/>
                <a:cs typeface="Amiri" pitchFamily="2" charset="-78"/>
              </a:rPr>
              <a:t>كَتَبَتَا</a:t>
            </a:r>
            <a:pPr rtl="1" algn="r" indent="0" marL="0">
              <a:buNone/>
            </a:pPr>
            <a:r>
              <a:rPr lang="ar-SA" altLang="en-US" sz="1800" b="1" dirty="0">
                <a:solidFill>
                  <a:srgbClr val="1B3B6F"/>
                </a:solidFill>
                <a:latin typeface="Amiri" pitchFamily="2" charset="-78"/>
                <a:ea typeface="Amiri" pitchFamily="2" charset="-78"/>
                <a:cs typeface="Amiri" pitchFamily="2" charset="-78"/>
              </a:rPr>
              <a:t> التَّقْرِيرَ. </a:t>
            </a:r>
            <a:pPr rtl="1" algn="r" indent="0" marL="0">
              <a:buNone/>
            </a:pPr>
            <a:r>
              <a:rPr lang="ar-SA" altLang="en-US" sz="1800" b="1" dirty="0">
                <a:solidFill>
                  <a:srgbClr val="1D5FBF"/>
                </a:solidFill>
                <a:latin typeface="Amiri" pitchFamily="2" charset="-78"/>
                <a:ea typeface="Amiri" pitchFamily="2" charset="-78"/>
                <a:cs typeface="Amiri" pitchFamily="2" charset="-78"/>
              </a:rPr>
              <a:t>الطُّلَّابُ</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0E7C86"/>
                </a:solidFill>
                <a:latin typeface="Amiri" pitchFamily="2" charset="-78"/>
                <a:ea typeface="Amiri" pitchFamily="2" charset="-78"/>
                <a:cs typeface="Amiri" pitchFamily="2" charset="-78"/>
              </a:rPr>
              <a:t>صَمَّمُوا</a:t>
            </a:r>
            <a:pPr rtl="1" algn="r" indent="0" marL="0">
              <a:buNone/>
            </a:pPr>
            <a:r>
              <a:rPr lang="ar-SA" altLang="en-US" sz="1800" b="1" dirty="0">
                <a:solidFill>
                  <a:srgbClr val="1B3B6F"/>
                </a:solidFill>
                <a:latin typeface="Amiri" pitchFamily="2" charset="-78"/>
                <a:ea typeface="Amiri" pitchFamily="2" charset="-78"/>
                <a:cs typeface="Amiri" pitchFamily="2" charset="-78"/>
              </a:rPr>
              <a:t> الْمُلْصَقَ. </a:t>
            </a:r>
            <a:pPr rtl="1" algn="r" indent="0" marL="0">
              <a:buNone/>
            </a:pPr>
            <a:r>
              <a:rPr lang="ar-SA" altLang="en-US" sz="1800" b="1" dirty="0">
                <a:solidFill>
                  <a:srgbClr val="1D5FBF"/>
                </a:solidFill>
                <a:latin typeface="Amiri" pitchFamily="2" charset="-78"/>
                <a:ea typeface="Amiri" pitchFamily="2" charset="-78"/>
                <a:cs typeface="Amiri" pitchFamily="2" charset="-78"/>
              </a:rPr>
              <a:t>الطَّالِبَاتُ</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0E7C86"/>
                </a:solidFill>
                <a:latin typeface="Amiri" pitchFamily="2" charset="-78"/>
                <a:ea typeface="Amiri" pitchFamily="2" charset="-78"/>
                <a:cs typeface="Amiri" pitchFamily="2" charset="-78"/>
              </a:rPr>
              <a:t>يُرَاجِعْنَ</a:t>
            </a:r>
            <a:pPr rtl="1" algn="r" indent="0" marL="0">
              <a:buNone/>
            </a:pPr>
            <a:r>
              <a:rPr lang="ar-SA" altLang="en-US" sz="1800" b="1" dirty="0">
                <a:solidFill>
                  <a:srgbClr val="1B3B6F"/>
                </a:solidFill>
                <a:latin typeface="Amiri" pitchFamily="2" charset="-78"/>
                <a:ea typeface="Amiri" pitchFamily="2" charset="-78"/>
                <a:cs typeface="Amiri" pitchFamily="2" charset="-78"/>
              </a:rPr>
              <a:t> النَّصَّ الْآنَ. </a:t>
            </a:r>
            <a:pPr rtl="1" algn="r" indent="0" marL="0">
              <a:buNone/>
            </a:pPr>
            <a:r>
              <a:rPr lang="ar-SA" altLang="en-US" sz="1800" b="1" dirty="0">
                <a:solidFill>
                  <a:srgbClr val="1D5FBF"/>
                </a:solidFill>
                <a:latin typeface="Amiri" pitchFamily="2" charset="-78"/>
                <a:ea typeface="Amiri" pitchFamily="2" charset="-78"/>
                <a:cs typeface="Amiri" pitchFamily="2" charset="-78"/>
              </a:rPr>
              <a:t>الصُّوَرُ</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0E7C86"/>
                </a:solidFill>
                <a:latin typeface="Amiri" pitchFamily="2" charset="-78"/>
                <a:ea typeface="Amiri" pitchFamily="2" charset="-78"/>
                <a:cs typeface="Amiri" pitchFamily="2" charset="-78"/>
              </a:rPr>
              <a:t>سَتَظْهَرُ</a:t>
            </a:r>
            <a:pPr rtl="1" algn="r" indent="0" marL="0">
              <a:buNone/>
            </a:pPr>
            <a:r>
              <a:rPr lang="ar-SA" altLang="en-US" sz="1800" b="1" dirty="0">
                <a:solidFill>
                  <a:srgbClr val="1B3B6F"/>
                </a:solidFill>
                <a:latin typeface="Amiri" pitchFamily="2" charset="-78"/>
                <a:ea typeface="Amiri" pitchFamily="2" charset="-78"/>
                <a:cs typeface="Amiri" pitchFamily="2" charset="-78"/>
              </a:rPr>
              <a:t> فِي الْعَرْضِ.</a:t>
            </a:r>
            <a:endParaRPr lang="ar-SA" sz="18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student (f.) collected the information. The two students (f.) wrote the report. The students designed the poster. The female students are reviewing the text now. The pictures will appear in the presentation.</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الْمُعَلِّمَانِ شَرَحَا الدَّرْسَ.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two teachers explained the lesson.</a:t>
            </a:r>
            <a:endParaRPr lang="en-US" sz="1250" dirty="0"/>
          </a:p>
          <a:p>
            <a:pPr indent="0" marL="0">
              <a:buNone/>
            </a:pPr>
            <a:r>
              <a:rPr lang="en-US" sz="1050" i="1" dirty="0">
                <a:solidFill>
                  <a:srgbClr val="8A6D1E"/>
                </a:solidFill>
                <a:latin typeface="Calibri" pitchFamily="34" charset="0"/>
                <a:cs typeface="Amiri" pitchFamily="2" charset="-78"/>
              </a:rPr>
              <a:t>Dual: -ā.</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الْبَنَاتُ ذَهَبْنَ إِلَى الْمَلْعَبِ.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girls went to the playground.</a:t>
            </a:r>
            <a:endParaRPr lang="en-US" sz="1250" dirty="0"/>
          </a:p>
          <a:p>
            <a:pPr indent="0" marL="0">
              <a:buNone/>
            </a:pPr>
            <a:r>
              <a:rPr lang="en-US" sz="1050" i="1" dirty="0">
                <a:solidFill>
                  <a:srgbClr val="8A6D1E"/>
                </a:solidFill>
                <a:latin typeface="Calibri" pitchFamily="34" charset="0"/>
                <a:cs typeface="Amiri" pitchFamily="2" charset="-78"/>
              </a:rPr>
              <a:t>Female group: -na.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الْأَطِبَّاءُ يَعْمَلُونَ فِي الْمُسْتَشْفَى.</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doctors work in the hospital.</a:t>
            </a:r>
            <a:endParaRPr lang="en-US" sz="1250" dirty="0"/>
          </a:p>
          <a:p>
            <a:pPr indent="0" marL="0">
              <a:buNone/>
            </a:pPr>
            <a:r>
              <a:rPr lang="en-US" sz="1050" i="1" dirty="0">
                <a:solidFill>
                  <a:srgbClr val="8A6D1E"/>
                </a:solidFill>
                <a:latin typeface="Calibri" pitchFamily="34" charset="0"/>
                <a:cs typeface="Amiri" pitchFamily="2" charset="-78"/>
              </a:rPr>
              <a:t>Group: -ūna.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الْحَوَاسِيبُ تَعْمَلُ بِسُرْعَةٍ.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computers work quickly.</a:t>
            </a:r>
            <a:endParaRPr lang="en-US" sz="1250" dirty="0"/>
          </a:p>
          <a:p>
            <a:pPr indent="0" marL="0">
              <a:buNone/>
            </a:pPr>
            <a:r>
              <a:rPr lang="en-US" sz="1050" i="1" dirty="0">
                <a:solidFill>
                  <a:srgbClr val="8A6D1E"/>
                </a:solidFill>
                <a:latin typeface="Calibri" pitchFamily="34" charset="0"/>
                <a:cs typeface="Amiri" pitchFamily="2" charset="-78"/>
              </a:rPr>
              <a:t>Things: “she” form.</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ONE VERB, SIX SUBJECTS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understood?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فَهِمَ · يَفْهَمُ · سَيَفْهَمُ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5139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Future</a:t>
            </a:r>
            <a:endParaRPr lang="en-US" sz="1100" dirty="0"/>
          </a:p>
        </p:txBody>
      </p:sp>
      <p:sp>
        <p:nvSpPr>
          <p:cNvPr id="17" name="Text 14"/>
          <p:cNvSpPr txBox="1"/>
          <p:nvPr/>
        </p:nvSpPr>
        <p:spPr>
          <a:xfrm>
            <a:off x="61081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33649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688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first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869680" y="2267712"/>
            <a:ext cx="277063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سَيَفْهَمُ</a:t>
            </a:r>
            <a:endParaRPr lang="ar-SA" sz="2600" dirty="0"/>
          </a:p>
        </p:txBody>
      </p:sp>
      <p:sp>
        <p:nvSpPr>
          <p:cNvPr id="22" name="Text 19"/>
          <p:cNvSpPr txBox="1"/>
          <p:nvPr/>
        </p:nvSpPr>
        <p:spPr>
          <a:xfrm>
            <a:off x="6126480" y="226771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يَفْهَمُ</a:t>
            </a:r>
            <a:endParaRPr lang="ar-SA" sz="2600" dirty="0"/>
          </a:p>
        </p:txBody>
      </p:sp>
      <p:sp>
        <p:nvSpPr>
          <p:cNvPr id="23" name="Text 20"/>
          <p:cNvSpPr txBox="1"/>
          <p:nvPr/>
        </p:nvSpPr>
        <p:spPr>
          <a:xfrm>
            <a:off x="3383280" y="226771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فَهِمَ</a:t>
            </a:r>
            <a:endParaRPr lang="ar-SA" sz="2600" dirty="0"/>
          </a:p>
        </p:txBody>
      </p:sp>
      <p:sp>
        <p:nvSpPr>
          <p:cNvPr id="24" name="Text 21"/>
          <p:cNvSpPr txBox="1"/>
          <p:nvPr/>
        </p:nvSpPr>
        <p:spPr>
          <a:xfrm>
            <a:off x="548640" y="2267712"/>
            <a:ext cx="2651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869680" y="2881884"/>
            <a:ext cx="277063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سَتَفْهَمُ</a:t>
            </a:r>
            <a:endParaRPr lang="ar-SA" sz="2600" dirty="0"/>
          </a:p>
        </p:txBody>
      </p:sp>
      <p:sp>
        <p:nvSpPr>
          <p:cNvPr id="29" name="Text 26"/>
          <p:cNvSpPr txBox="1"/>
          <p:nvPr/>
        </p:nvSpPr>
        <p:spPr>
          <a:xfrm>
            <a:off x="6126480" y="2881884"/>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تَفْهَمُ</a:t>
            </a:r>
            <a:endParaRPr lang="ar-SA" sz="2600" dirty="0"/>
          </a:p>
        </p:txBody>
      </p:sp>
      <p:sp>
        <p:nvSpPr>
          <p:cNvPr id="30" name="Text 27"/>
          <p:cNvSpPr txBox="1"/>
          <p:nvPr/>
        </p:nvSpPr>
        <p:spPr>
          <a:xfrm>
            <a:off x="3383280" y="2881884"/>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فَهِمَتْ</a:t>
            </a:r>
            <a:endParaRPr lang="ar-SA" sz="2600" dirty="0"/>
          </a:p>
        </p:txBody>
      </p:sp>
      <p:sp>
        <p:nvSpPr>
          <p:cNvPr id="31" name="Text 28"/>
          <p:cNvSpPr txBox="1"/>
          <p:nvPr/>
        </p:nvSpPr>
        <p:spPr>
          <a:xfrm>
            <a:off x="548640" y="2881884"/>
            <a:ext cx="2651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الطَّالِبَةُ</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869680" y="3496056"/>
            <a:ext cx="277063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سَيَفْهَمَانِ</a:t>
            </a:r>
            <a:endParaRPr lang="ar-SA" sz="2600" dirty="0"/>
          </a:p>
        </p:txBody>
      </p:sp>
      <p:sp>
        <p:nvSpPr>
          <p:cNvPr id="36" name="Text 33"/>
          <p:cNvSpPr txBox="1"/>
          <p:nvPr/>
        </p:nvSpPr>
        <p:spPr>
          <a:xfrm>
            <a:off x="6126480" y="3496056"/>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يَفْهَمَانِ</a:t>
            </a:r>
            <a:endParaRPr lang="ar-SA" sz="2600" dirty="0"/>
          </a:p>
        </p:txBody>
      </p:sp>
      <p:sp>
        <p:nvSpPr>
          <p:cNvPr id="37" name="Text 34"/>
          <p:cNvSpPr txBox="1"/>
          <p:nvPr/>
        </p:nvSpPr>
        <p:spPr>
          <a:xfrm>
            <a:off x="3383280" y="3496056"/>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فَهِمَا</a:t>
            </a:r>
            <a:endParaRPr lang="ar-SA" sz="2600" dirty="0"/>
          </a:p>
        </p:txBody>
      </p:sp>
      <p:sp>
        <p:nvSpPr>
          <p:cNvPr id="38" name="Text 35"/>
          <p:cNvSpPr txBox="1"/>
          <p:nvPr/>
        </p:nvSpPr>
        <p:spPr>
          <a:xfrm>
            <a:off x="548640" y="3496056"/>
            <a:ext cx="2651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الطَّالِبَانِ</a:t>
            </a:r>
            <a:endParaRPr lang="ar-SA" sz="24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869680" y="4110228"/>
            <a:ext cx="277063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سَتَفْهَمَانِ</a:t>
            </a:r>
            <a:endParaRPr lang="ar-SA" sz="2600" dirty="0"/>
          </a:p>
        </p:txBody>
      </p:sp>
      <p:sp>
        <p:nvSpPr>
          <p:cNvPr id="41" name="Text 38"/>
          <p:cNvSpPr txBox="1"/>
          <p:nvPr/>
        </p:nvSpPr>
        <p:spPr>
          <a:xfrm>
            <a:off x="6126480" y="4110228"/>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تَفْهَمَانِ</a:t>
            </a:r>
            <a:endParaRPr lang="ar-SA" sz="2600" dirty="0"/>
          </a:p>
        </p:txBody>
      </p:sp>
      <p:sp>
        <p:nvSpPr>
          <p:cNvPr id="42" name="Text 39"/>
          <p:cNvSpPr txBox="1"/>
          <p:nvPr/>
        </p:nvSpPr>
        <p:spPr>
          <a:xfrm>
            <a:off x="3383280" y="4110228"/>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فَهِمَتَا</a:t>
            </a:r>
            <a:endParaRPr lang="ar-SA" sz="2600" dirty="0"/>
          </a:p>
        </p:txBody>
      </p:sp>
      <p:sp>
        <p:nvSpPr>
          <p:cNvPr id="43" name="Text 40"/>
          <p:cNvSpPr txBox="1"/>
          <p:nvPr/>
        </p:nvSpPr>
        <p:spPr>
          <a:xfrm>
            <a:off x="548640" y="4110228"/>
            <a:ext cx="2651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الطَّالِبَتَانِ</a:t>
            </a:r>
            <a:endParaRPr lang="ar-SA" sz="24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8869680" y="4724400"/>
            <a:ext cx="277063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سَيَفْهَمُونَ</a:t>
            </a:r>
            <a:endParaRPr lang="ar-SA" sz="2600" dirty="0"/>
          </a:p>
        </p:txBody>
      </p:sp>
      <p:sp>
        <p:nvSpPr>
          <p:cNvPr id="46" name="Text 43"/>
          <p:cNvSpPr txBox="1"/>
          <p:nvPr/>
        </p:nvSpPr>
        <p:spPr>
          <a:xfrm>
            <a:off x="6126480" y="4724400"/>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يَفْهَمُونَ</a:t>
            </a:r>
            <a:endParaRPr lang="ar-SA" sz="2600" dirty="0"/>
          </a:p>
        </p:txBody>
      </p:sp>
      <p:sp>
        <p:nvSpPr>
          <p:cNvPr id="47" name="Text 44"/>
          <p:cNvSpPr txBox="1"/>
          <p:nvPr/>
        </p:nvSpPr>
        <p:spPr>
          <a:xfrm>
            <a:off x="3383280" y="4724400"/>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فَهِمُوا</a:t>
            </a:r>
            <a:endParaRPr lang="ar-SA" sz="2600" dirty="0"/>
          </a:p>
        </p:txBody>
      </p:sp>
      <p:sp>
        <p:nvSpPr>
          <p:cNvPr id="48" name="Text 45"/>
          <p:cNvSpPr txBox="1"/>
          <p:nvPr/>
        </p:nvSpPr>
        <p:spPr>
          <a:xfrm>
            <a:off x="548640" y="4724400"/>
            <a:ext cx="2651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الطُّلَّابُ</a:t>
            </a:r>
            <a:endParaRPr lang="ar-SA" sz="2400" dirty="0"/>
          </a:p>
        </p:txBody>
      </p:sp>
      <p:sp>
        <p:nvSpPr>
          <p:cNvPr id="49" name="Shape 46"/>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869680" y="5338572"/>
            <a:ext cx="277063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سَيَفْهَمْنَ</a:t>
            </a:r>
            <a:endParaRPr lang="ar-SA" sz="2600" dirty="0"/>
          </a:p>
        </p:txBody>
      </p:sp>
      <p:sp>
        <p:nvSpPr>
          <p:cNvPr id="53" name="Text 50"/>
          <p:cNvSpPr txBox="1"/>
          <p:nvPr/>
        </p:nvSpPr>
        <p:spPr>
          <a:xfrm>
            <a:off x="6126480" y="533857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يَفْهَمْنَ</a:t>
            </a:r>
            <a:endParaRPr lang="ar-SA" sz="2600" dirty="0"/>
          </a:p>
        </p:txBody>
      </p:sp>
      <p:sp>
        <p:nvSpPr>
          <p:cNvPr id="54" name="Text 51"/>
          <p:cNvSpPr txBox="1"/>
          <p:nvPr/>
        </p:nvSpPr>
        <p:spPr>
          <a:xfrm>
            <a:off x="3383280" y="533857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فَهِمْنَ</a:t>
            </a:r>
            <a:endParaRPr lang="ar-SA" sz="2600" dirty="0"/>
          </a:p>
        </p:txBody>
      </p:sp>
      <p:sp>
        <p:nvSpPr>
          <p:cNvPr id="55" name="Text 52"/>
          <p:cNvSpPr txBox="1"/>
          <p:nvPr/>
        </p:nvSpPr>
        <p:spPr>
          <a:xfrm>
            <a:off x="548640" y="5338572"/>
            <a:ext cx="2651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الطَّالِبَاتُ</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paper route: three columns — past, present, future. Put each subject in a row and write the fully agreeing verb beside it.</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WEBSITE HUMAN OR NON-HUMAN?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or things?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عَاقِلٌ أَمْ غَيْرُ 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الْمُعَلِّمَاتُ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الْأَطِبَّاءُ</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الْبَنَاتُ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الْأَوْلَادُ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السَّيَّارَاتُ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الْحَوَاسِيبُ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الْمَدَارِسُ</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الْكُتُبُ</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People → plural verb</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Things → “she” verb</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People → plural verb</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الْمُعَلِّمَاتُ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الْأَطِبَّاءُ</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الْبَنَاتُ</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الْأَوْلَادُ</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Things → “she” verb</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السَّيَّارَاتُ</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الْحَوَاسِيبُ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الْمَدَارِسُ</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الْكُتُبُ</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الطُّلَّابُ كَتَبَ الْوَاجِبَ.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student or many?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الطَّالِبَاتُ يَكْتُبُونَ.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Boys or girls?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الْحَافِلَاتُ وَصَلْنَ مُبَكِّرًا.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Are buses people?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الطُّلَّابُ كَتَبَ الْوَاجِبَ.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الطُّلَّابُ كَتَبُوا الْوَاجِبَ.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People first, so the verb must be plural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الطَّالِبَاتُ يَكْتُبُونَ.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الطَّالِبَاتُ يَكْتُبْنَ.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group of girls needs -na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الْحَافِلَاتُ وَصَلْنَ مُبَكِّرًا.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الْحَافِلَاتُ وَصَلَتْ مُبَكِّرًا.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Buses are not people: feminine singular (website warning).</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PRESENT AND HUMAN OR NON-HUMAN CHECKS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الطَّالِبَاتُ ___ الْعَرَبِيَّةَ.</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يَدْرُسُونَ</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يَدْرُسْنَ</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fully agreeing?</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الْمُعَلِّمُونَ يَشْرَحُ.</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الْمُعَلِّمُونَ يَشْرَحُونَ.</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الْمُعَلِّمُونَ تَشْرَحُ.</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الْأَطِبَّاءُ ___ فِي الْمُسْتَشْفَى.</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يَعْمَلُونَ</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تَعْمَلُ</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2" name="Text 59"/>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الْحَوَاسِيبُ ___ بِسُرْعَةٍ.</a:t>
            </a:r>
            <a:endParaRPr lang="ar-SA" sz="1500" dirty="0"/>
          </a:p>
        </p:txBody>
      </p:sp>
      <p:sp>
        <p:nvSpPr>
          <p:cNvPr id="63" name="Shape 60"/>
          <p:cNvSpPr/>
          <p:nvPr/>
        </p:nvSpPr>
        <p:spPr>
          <a:xfrm>
            <a:off x="6368796"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يَعْمَلُونَ</a:t>
            </a:r>
            <a:endParaRPr lang="ar-SA" sz="2050" dirty="0"/>
          </a:p>
        </p:txBody>
      </p:sp>
      <p:sp>
        <p:nvSpPr>
          <p:cNvPr id="66" name="Shape 63"/>
          <p:cNvSpPr/>
          <p:nvPr/>
        </p:nvSpPr>
        <p:spPr>
          <a:xfrm>
            <a:off x="6368796"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يَعْمَلْنَ</a:t>
            </a:r>
            <a:endParaRPr lang="ar-SA" sz="2050" dirty="0"/>
          </a:p>
        </p:txBody>
      </p:sp>
      <p:sp>
        <p:nvSpPr>
          <p:cNvPr id="69" name="Shape 66"/>
          <p:cNvSpPr/>
          <p:nvPr/>
        </p:nvSpPr>
        <p:spPr>
          <a:xfrm>
            <a:off x="6368796"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1" name="Text 68"/>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تَعْمَلُ</a:t>
            </a:r>
            <a:endParaRPr lang="ar-SA" sz="2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الطَّالِبَاتُ ___ الْعَرَبِيَّةَ.</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تَدْرُسُ</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يَدْرُسُونَ</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يَدْرُسْنَ</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Girls, present: ya- … -na.</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fully agreeing?</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الْمُعَلِّمُونَ يَشْرَحُ.</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الْمُعَلِّمُونَ يَشْرَحُونَ.</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الْمُعَلِّمُونَ تَشْرَحُ.</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group of teachers first → yashraḥūna.</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الْأَطِبَّاءُ ___ فِي الْمُسْتَشْفَى.</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يَعْمَلُ</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يَعْمَلُونَ</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تَعْمَلُ</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Doctors are people: yaʿmalūna.</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7" name="Text 6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8" name="Text 6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الْحَوَاسِيبُ ___ بِسُرْعَةٍ.</a:t>
            </a:r>
            <a:endParaRPr lang="ar-SA" sz="1500" dirty="0"/>
          </a:p>
        </p:txBody>
      </p:sp>
      <p:sp>
        <p:nvSpPr>
          <p:cNvPr id="69" name="Shape 66"/>
          <p:cNvSpPr/>
          <p:nvPr/>
        </p:nvSpPr>
        <p:spPr>
          <a:xfrm>
            <a:off x="6368796" y="4831080"/>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يَعْمَلُونَ</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يَعْمَلْنَ</a:t>
            </a:r>
            <a:endParaRPr lang="ar-SA" sz="1700" dirty="0"/>
          </a:p>
        </p:txBody>
      </p:sp>
      <p:sp>
        <p:nvSpPr>
          <p:cNvPr id="75" name="Shape 72"/>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6" name="Shape 73"/>
          <p:cNvSpPr/>
          <p:nvPr/>
        </p:nvSpPr>
        <p:spPr>
          <a:xfrm>
            <a:off x="6368796" y="5574792"/>
            <a:ext cx="256032" cy="256032"/>
          </a:xfrm>
          <a:prstGeom prst="ellipse">
            <a:avLst/>
          </a:prstGeom>
          <a:solidFill>
            <a:srgbClr val="2E8B57"/>
          </a:solidFill>
          <a:ln w="12700">
            <a:solidFill>
              <a:srgbClr val="2E8B57"/>
            </a:solidFill>
            <a:prstDash val="solid"/>
          </a:ln>
        </p:spPr>
      </p:sp>
      <p:sp>
        <p:nvSpPr>
          <p:cNvPr id="77" name="Text 7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8" name="Text 75"/>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تَعْمَلُ</a:t>
            </a:r>
            <a:endParaRPr lang="ar-SA" sz="1700" dirty="0"/>
          </a:p>
        </p:txBody>
      </p:sp>
      <p:sp>
        <p:nvSpPr>
          <p:cNvPr id="79" name="Text 76"/>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Computers are things: taʿmalu.</a:t>
            </a:r>
            <a:endParaRPr lang="en-US" sz="1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YOU DO · READ AND NOTICE · WEBSITE SKILLS WORKSHOP (TEACHER-WRITTEN REPORT)</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project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صَفُّنَا يَعْمَلُ عَلَى مَشْرُوعٍ عَنِ الْبِيئَةِ. الْمُعَلِّمَةُ قَسَّمَتْنَا إِلَى مَجْمُوعَاتٍ. يُوسُفُ وَآدَمُ صَوَّرَا الْحَدِيقَةَ، وَالْبَنَاتُ كَتَبْنَ الْأَسْئِلَةَ. الْأَوْلَادُ يَجْمَعُونَ الْمَعْلُومَاتِ الْآنَ، وَأَنَا وَصَدِيقَتِي نُرَاجِعُ التَّقْرِيرَ. الصُّوَرُ جَمِيلَةٌ، وَالْحَوَاسِيبُ تَعْمَلُ بِسُرْعَةٍ. فِي الْأُسْبُوعِ الْقَادِمِ الْمَجْمُوعَاتُ سَتُقَدِّمُ عُرُوضَهَا، وَالْمُدِيرُ سَيَحْضُرُ.</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قَسَّمَتْنَا</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divided us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مَجْمُوعَاتٍ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groups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صَوَّرَا</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two of them photographed</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نُرَاجِعُ</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review</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عُرُوضَهَا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their presentations</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photographed the garden?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girls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Yūsuf and Ādam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ṣawwarā and not ṣawwara?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boy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things, not people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boys: dual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agrees with a group of girls?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يَجْمَعُونَ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تَعْمَلُ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taʿmalu with al-ḥawāsību?</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computers are female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things take the “she” verb</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photographed the garden?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girls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Yūsuf and Ādam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teacher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Yūsufu wa-Ādamu ṣawwarā.</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ṣawwarā and not ṣawwara?</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boy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things, not people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boys: dual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named boys first → dual -ā.</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agrees with a group of girls?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كَتَبْنَ</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يَجْمَعُونَ</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تَعْمَلُ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Al-banātu katabna.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taʿmalu with al-ḥawāsību?</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computers are female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things take the “she” verb</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feminine singular.</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who did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فَعَلَتْ أُخْتُكَ أَمْسِ؟ وَمَاذَا فَعَلَ أَخُوكَ؟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يَفْعَلُ أَصْدِقَاؤُكَ بَعْدَ الْمَدْرَسَةِ؟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مَشْرُوعًا جَمَاعِيًّا: مَاذَا فَعَلَ كُلُّ شَخْصٍ؟</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أُخْتِي ___ أَمْسِ، وَأَخِي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أَصْدِقَائِي ___ بَعْدَ الْمَدْرَسَةِ.</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أَنَا وَ___ ___ ، وَالْبَنَاتُ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يَسِيرُ مَشْرُوعُكُمْ؟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is your project going?</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جَيِّدًا! الْبَنَاتُ كَتَبْنَ الْأَسْئِلَةَ، وَالْأَوْلَادُ يَجْمَعُونَ الصُّوَرَ. أَنَا وَأَحْمَدُ سَنُقَدِّمُ الْعَرْضَ يَوْمَ الْخَمِيسِ.</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Well! The girls wrote the questions, and the boys are collecting the pictures. Aḥmad and I will give the presentation on Thursday.</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One person and two people: what they did.</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akhī kataba · ukhtī katabat · al-waladāni katabā.</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groups in the past, present and future.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-ū · -na · -ūna · sa-.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progress report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Every subject before its verb.</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الْأَوْلَادُ يَجْمَعُونَ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boys are collecting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الْبَنَاتُ سَيَكْتُبْنَ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girls will write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الصُّوَرُ سَتَظْهَرُ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pictures will appear in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وَصَدِيقِي رَاجَعْنَا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and I reviewed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 كَتَبَ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wrote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قَرَأَتْ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read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الْوَلَدَانِ لَعِبَا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two boys played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الْبِنْتَانِ رَسَمَتَا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two girls drew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كَتَبَ  ·  كَتَبَتْ  ·  كَتَبَا  ·  كَتَبَتَا  ·  كَتَبُوا  ·  كَتَبْنَ  ·  يَكْتُبُونَ  ·  يَكْتُبْنَ  ·  سَيَكْتُبُونَ  ·  وَصَلَتْ  ·  تَعْمَلُ  ·  التَّقْرِيرَ  ·  الْعَرْضَ</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group progress report (80–100 words): what people did, do and will do in a school project.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masculine and one feminine singular subject.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subject.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male / mixed group and one female group.</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non-human plural subjects (“she” verb).</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subject placed before its verb.</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جَمَعَ الْمَعْلُومَاتِ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collected the information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كَتَبَ التَّقْرِيرَ</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wrote the report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صَمَّمَ مُلْصَقًا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designed a poster</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رَاجَعَ النَّصَّ</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reviewed the text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قَدَّمَ عَرْضًا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gave a presentation</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الْقَادِمِ</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week</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نَعْمَلُ هَذَا الشَّهْرَ عَلَى مَشْرُوعٍ عَنْ تَارِيخِ مَدِينَتِنَا. الْمُعَلِّمُ شَرَحَ الْفِكْرَةَ فِي الْأُسْبُوعِ الْأَوَّلِ، وَمَرْيَمُ جَمَعَتِ الْمَعْلُومَاتِ مِنَ الْمَكْتَبَةِ. سَعِيدٌ وَيُوسُفُ زَارَا الْمَتْحَفَ وَصَوَّرَا الْمَبَانِيَ الْقَدِيمَةَ. الْآنَ الْبَنَاتُ يَكْتُبْنَ التَّقْرِيرَ، وَالْأَوْلَادُ يُصَمِّمُونَ الْمُلْصَقَاتِ. الصُّوَرُ وَصَلَتْ أَمْسِ، وَالْحَوَاسِيبُ تَعْمَلُ جَيِّدًا. فِي الْأُسْبُوعِ الْقَادِمِ الطُّلَّابُ سَيُقَدِّمُونَ الْعَرْضَ أَمَامَ الْمُدِيرِ، وَالْمُدِيرُ سَيَكْتُبُ رَأْيَهُ.</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month we are working on a project about the history of our city. The teacher explained the idea in the first week, and Maryam collected the information from the library. Saʿīd and Yūsuf visited the museum and photographed the old buildings. Now the girls are writing the report and the boys are designing the posters. The pictures arrived yesterday, and the computers are working well. Next week the students will give the presentation in front of the head teacher, and the head teacher will write his opinion.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singular verb</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dual verb</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female-group verb</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non-human plural + “she” verb</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One boy → kataba; one girl → katabat.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 group of boys (or mixed) → -ū / -ūna.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Two people → -ā / -atā / -āni.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 group of girls → -na (yaktubna, not taktubna).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Things in the plural → the “she” verb.</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الْبَنَاتُ ___ الْبَابَ.</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فَتَحْنَ</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فَتَحَتْ</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فَتَحُوا</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الْمَدَارِسُ ___ أَبْوَابَهَا.</a:t>
            </a:r>
            <a:endParaRPr lang="ar-SA" sz="15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يَفْتَحُونَ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تَفْتَحُ</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يَفْتَحْنَ</a:t>
            </a:r>
            <a:endParaRPr lang="ar-SA" sz="2050" dirty="0"/>
          </a:p>
        </p:txBody>
      </p:sp>
      <p:sp>
        <p:nvSpPr>
          <p:cNvPr id="43" name="Shape 40"/>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الْمُعَلِّمُونَ وَالْمُعَلِّمَاتُ ___ فِي الِاجْتِمَاعِ.</a:t>
            </a:r>
            <a:endParaRPr lang="ar-SA" sz="10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شَارَكُوا</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شَارَكْنَ</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شَارَكَ</a:t>
            </a:r>
            <a:endParaRPr lang="ar-SA" sz="2050" dirty="0"/>
          </a:p>
        </p:txBody>
      </p:sp>
      <p:sp>
        <p:nvSpPr>
          <p:cNvPr id="57" name="Shape 54"/>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9" name="Text 56"/>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الْبَنَاتُ ___ الْبَابَ.</a:t>
            </a:r>
            <a:endParaRPr lang="ar-SA" sz="15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فَتَحْنَ</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فَتَحَتْ</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فَتَحُوا</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group of girls first → fataḥna.</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الْمَدَارِسُ ___ أَبْوَابَهَا.</a:t>
            </a:r>
            <a:endParaRPr lang="ar-SA" sz="150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يَفْتَحُونَ</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تَفْتَحُ</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يَفْتَحْنَ</a:t>
            </a:r>
            <a:endParaRPr lang="ar-SA" sz="2050" dirty="0"/>
          </a:p>
        </p:txBody>
      </p:sp>
      <p:sp>
        <p:nvSpPr>
          <p:cNvPr id="46" name="Text 43"/>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Schools are things → taftaḥu.</a:t>
            </a:r>
            <a:endParaRPr lang="en-US" sz="1050" dirty="0"/>
          </a:p>
        </p:txBody>
      </p:sp>
      <p:sp>
        <p:nvSpPr>
          <p:cNvPr id="47" name="Shape 44"/>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الْمُعَلِّمُونَ وَالْمُعَلِّمَاتُ ___ فِي الِاجْتِمَاعِ.</a:t>
            </a:r>
            <a:endParaRPr lang="ar-SA" sz="1000" dirty="0"/>
          </a:p>
        </p:txBody>
      </p:sp>
      <p:sp>
        <p:nvSpPr>
          <p:cNvPr id="52" name="Shape 49"/>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53288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شَارَكُوا</a:t>
            </a:r>
            <a:endParaRPr lang="ar-SA" sz="2050" dirty="0"/>
          </a:p>
        </p:txBody>
      </p:sp>
      <p:sp>
        <p:nvSpPr>
          <p:cNvPr id="56" name="Shape 53"/>
          <p:cNvSpPr/>
          <p:nvPr/>
        </p:nvSpPr>
        <p:spPr>
          <a:xfrm>
            <a:off x="8278368" y="29900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شَارَكْنَ</a:t>
            </a:r>
            <a:endParaRPr lang="ar-SA" sz="2050" dirty="0"/>
          </a:p>
        </p:txBody>
      </p:sp>
      <p:sp>
        <p:nvSpPr>
          <p:cNvPr id="59" name="Shape 56"/>
          <p:cNvSpPr/>
          <p:nvPr/>
        </p:nvSpPr>
        <p:spPr>
          <a:xfrm>
            <a:off x="8278368" y="34472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شَارَكَ</a:t>
            </a:r>
            <a:endParaRPr lang="ar-SA" sz="2050" dirty="0"/>
          </a:p>
        </p:txBody>
      </p:sp>
      <p:sp>
        <p:nvSpPr>
          <p:cNvPr id="62" name="Text 59"/>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mixed group → masculine plural shārakū.</a:t>
            </a:r>
            <a:endParaRPr lang="en-US" sz="1050" dirty="0"/>
          </a:p>
        </p:txBody>
      </p:sp>
      <p:sp>
        <p:nvSpPr>
          <p:cNvPr id="63" name="Shape 60"/>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5" name="Text 62"/>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GM-VS-02 · Verbal Sentences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GM-VS-03: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GM-VS-03 · Verb-First Agreement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 الطُّلَّابُ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students wrote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كَتَبَتِ الطَّالِبَاتُ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students (f.) wrote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ذَهَبَ الْوَلَدَانِ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two boys went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يَدْرُسُ الطُّلَّابُ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students study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وَصَلَتِ الْحَافِلَاتُ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buses arrived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when the verb comes FIRST, it stays singular even for many people. What do you notice about kataba ṭ-ṭullābu?</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______ الطُّلَّابُ الرِّسَالَةَ.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six past forms of dhahaba with their subjects (website table).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Fill a past / present / future grid for darasa with six subjects.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group progress report (80–100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GM-VS-02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GM-VS-03 · Verb-First Agreement</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الْمُطَابَقَةُ عِنْدَ تَقَدُّمِ الْفِعْلِ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subject first → full agreement · kataba · katabat · katabā · katabatā · katabū · katabna · present: yaktubūna / yaktubna · future = sa- + present · non-human plurals → the “she” verb (al-kutubu waṣalat).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GM-VS-02 · Subject-First Full Agreement</dc:title>
  <dc:subject>PptxGenJS Presentation</dc:subject>
  <dc:creator>Al Madina Online School · Arabic Department</dc:creator>
  <cp:lastModifiedBy>Al Madina Online School · Arabic Department</cp:lastModifiedBy>
  <cp:revision>1</cp:revision>
  <dcterms:created xsi:type="dcterms:W3CDTF">2026-10-11T06:42:48Z</dcterms:created>
  <dcterms:modified xsi:type="dcterms:W3CDTF">2026-10-11T06:42:48Z</dcterms:modified>
</cp:coreProperties>
</file>