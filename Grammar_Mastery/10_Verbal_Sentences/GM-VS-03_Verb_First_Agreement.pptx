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Verbal Sentences › GM-VS-03 (“Verb-First Agreement”).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kataba before boys (one, two or many) and katabat before girls (one, two or many). Develop: present and future — yaktubu ṭ-ṭullābu, taktubu ṭ-ṭālibātu, sa-taktubu — and turning SVO into VSO. Stretch: the helping kasra (katabati ṭ-ṭālibātu), non-human plurals and explaining each change.
• Website memory line: verb first → singular in number, matching in gender. Website warning: never transform by moving words only — recalculate the verb.
• Register note (website): some modern and dialect-influenced writing uses full agreement in VSO, but the formal exam-safe target is the singular verb. Builds directly on GM-VS-02 (subject-first full agreement).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 GM-VS-02 full agreement (katabū, katabna) and GM-VS-01 VSO order.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Verb first → singular verb that still shows gender. Subject first → full agreement (Lesson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“The formal VSO agreement rule”. Register note: full-agreement VSO occurs in some modern and dialect-influenced writing, but the exam-safe target is the singular verb.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 website “Past-tense VSO” + “Reading feminine VSO accurately”. Choral: read column 1, then column 2, and say the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“Present-tense VSO” and “Future VSO”. Core: rows 3–4. Ask: which letter shows the gender? (ya- / 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4 (3 min) — website “The contrast at a glance” + “Non-human plurals”. Website warning: do not transform by moving words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Past VSO and Present VSO checks.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skills-workshop model, extended. Every teal verb is singular — check: which ones are feminine,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cover column 2. Row 2 is the website Final Mastery transformation; row 6 uses the website game verb (sāfara).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For each “needs repair” card, students say the correct form: dhahaba l-awlādu · al-awlādu dhahabū · waṣalati l-banātu · yalʿabu l-awlādu.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For each “needs repair” card, students say the correct form: dhahaba l-awlādu · al-awlādu dhahabū · waṣalati l-banātu · yalʿabu l-awlādu.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Present VSO and Final Mastery checks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skills workshop (teacher-written report). Read it aloud once while students follow; then they hunt for today’s grammar.
Task: Website reading audit: underline every verb that comes before a plural subject. Is each one singular? Which ones are feminine?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report for the website reading audit;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skills workshop. Sequence: ● 10s think → ↔ 45s rehearse aloud with mic muted → ◎ two named students on open mic (warned in advance) → + ? the class types one follow-up in chat → ↺ one student summarises.
Routes: Core uses the Core prompt and stem; Develop the Develop prompt; Stretch the last prompt.
Website: narrate events in formal VSO without copying the plural ending from a subject that follows the verb.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80–100 Arabic words reporting a school event, match, trip or celebration. Begin at least six sentences with a verb.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(GM-VS-04 · Building and Editing Verbal Sentences) will spend class time USING this language, so students prepare it tonight — short, simple, easy to access (school guidance: “Simple, Short, Interesting, Relevant, Easy to access”). The five words prepare GM-VS-04 (website: building and editing verbal sentences — questions, negation, contrast).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MIFTAH GRAMMAR MASTERY  ·  VERBAL SENTENCES  ·  GM-VS-03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GM-VS-03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Verb-First Agreement</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الْمُطَابَقَةُ عِنْدَ تَقَدُّمِ الْفِعْلِ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When the verb comes FIRST, it stays singular — even for two or many people — but it still shows masculine or feminine: kataba ṭ-ṭullābu (the students wrote), katabati ṭ-ṭālibātu (the female students wrote).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GM-VS-03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Grammar › Verbal Sentences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GM-VS-03 · Verbal Sentences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GM-VS-03 · 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The VSO rule; past; present and future; the contrast table.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Turn it round; correct or repair; fix the clinic sentences.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GM-VS-04.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GM-VS-03 · 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(verb first): ___ </a:t>
            </a:r>
            <a:pPr algn="l" indent="0" marL="0">
              <a:buNone/>
            </a:pPr>
            <a:r>
              <a:rPr lang="ar-SA" altLang="en-US" sz="1650" b="1" dirty="0">
                <a:solidFill>
                  <a:srgbClr val="1B3B6F"/>
                </a:solidFill>
                <a:latin typeface="Amiri" pitchFamily="34" charset="0"/>
                <a:ea typeface="Amiri" pitchFamily="34" charset="-122"/>
                <a:cs typeface="Amiri" pitchFamily="34" charset="-120"/>
              </a:rPr>
              <a:t>الطُّلَّابُ الْوَاجِبَ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كَتَبُوا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كَتَبْنَ</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(verb first): ___ </a:t>
            </a:r>
            <a:pPr algn="l" indent="0" marL="0">
              <a:buNone/>
            </a:pPr>
            <a:r>
              <a:rPr lang="ar-SA" altLang="en-US" sz="1650" b="1" dirty="0">
                <a:solidFill>
                  <a:srgbClr val="1B3B6F"/>
                </a:solidFill>
                <a:latin typeface="Amiri" pitchFamily="34" charset="0"/>
                <a:ea typeface="Amiri" pitchFamily="34" charset="-122"/>
                <a:cs typeface="Amiri" pitchFamily="34" charset="-120"/>
              </a:rPr>
              <a:t>الطَّالِبَاتُ الْوَاجِبَ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كَتَبَتْ</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كَتَبُوا</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(verb first): ___ </a:t>
            </a:r>
            <a:pPr algn="l" indent="0" marL="0">
              <a:buNone/>
            </a:pPr>
            <a:r>
              <a:rPr lang="ar-SA" altLang="en-US" sz="1650" b="1" dirty="0">
                <a:solidFill>
                  <a:srgbClr val="1B3B6F"/>
                </a:solidFill>
                <a:latin typeface="Amiri" pitchFamily="34" charset="0"/>
                <a:ea typeface="Amiri" pitchFamily="34" charset="-122"/>
                <a:cs typeface="Amiri" pitchFamily="34" charset="-120"/>
              </a:rPr>
              <a:t>الطَّالِبَانِ الْوَاجِبَ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كَتَبُوا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order requires full plural agreement?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 الطُّلَّابُ.</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كَتَبَتِ الطَّالِبَاتُ.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الطُّلَّابُ كَتَبُوا.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remains matched in verb-first order?</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Gender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Plural number only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object’s definiteness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GM-VS-03 · 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(verb first): ___ </a:t>
            </a:r>
            <a:pPr algn="l" indent="0" marL="0">
              <a:buNone/>
            </a:pPr>
            <a:r>
              <a:rPr lang="ar-SA" altLang="en-US" sz="1650" b="1" dirty="0">
                <a:solidFill>
                  <a:srgbClr val="1B3B6F"/>
                </a:solidFill>
                <a:latin typeface="Amiri" pitchFamily="34" charset="0"/>
                <a:ea typeface="Amiri" pitchFamily="34" charset="-122"/>
                <a:cs typeface="Amiri" pitchFamily="34" charset="-120"/>
              </a:rPr>
              <a:t>الطُّلَّابُ الْوَاجِبَ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كَتَبُوا</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كَتَبَ</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كَتَبْنَ</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Verb first → singular: kataba.</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(verb first): ___ </a:t>
            </a:r>
            <a:pPr algn="l" indent="0" marL="0">
              <a:buNone/>
            </a:pPr>
            <a:r>
              <a:rPr lang="ar-SA" altLang="en-US" sz="1650" b="1" dirty="0">
                <a:solidFill>
                  <a:srgbClr val="1B3B6F"/>
                </a:solidFill>
                <a:latin typeface="Amiri" pitchFamily="34" charset="0"/>
                <a:ea typeface="Amiri" pitchFamily="34" charset="-122"/>
                <a:cs typeface="Amiri" pitchFamily="34" charset="-120"/>
              </a:rPr>
              <a:t>الطَّالِبَاتُ الْوَاجِبَ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كَتَبَتْ</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كَتَبْنَ</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كَتَبُوا</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Singular, but feminine: katabat.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(verb first): ___ </a:t>
            </a:r>
            <a:pPr algn="l" indent="0" marL="0">
              <a:buNone/>
            </a:pPr>
            <a:r>
              <a:rPr lang="ar-SA" altLang="en-US" sz="1650" b="1" dirty="0">
                <a:solidFill>
                  <a:srgbClr val="1B3B6F"/>
                </a:solidFill>
                <a:latin typeface="Amiri" pitchFamily="34" charset="0"/>
                <a:ea typeface="Amiri" pitchFamily="34" charset="-122"/>
                <a:cs typeface="Amiri" pitchFamily="34" charset="-120"/>
              </a:rPr>
              <a:t>الطَّالِبَانِ الْوَاجِبَ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كَتَبَا</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كَتَبُوا</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كَتَبَ</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Two boys after the verb → kataba.</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order requires full plural agreement?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كَتَبَ الطُّلَّابُ.</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كَتَبَتِ الطَّالِبَاتُ.</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الطُّلَّابُ كَتَبُوا.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People FIRST → full plural agreement.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remains matched in verb-first order?</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Gender</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Plural number only</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object’s definiteness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Gender stays; the plural ending goes.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Verb first → singular verb that still shows gender. Subject first → full agreement (Lesson 2).</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كَتَبَ</a:t>
            </a:r>
            <a:pPr rtl="1" algn="ctr" indent="0" marL="0">
              <a:buNone/>
            </a:pPr>
            <a:r>
              <a:rPr lang="ar-SA" altLang="en-US" sz="2400" b="1" dirty="0">
                <a:solidFill>
                  <a:srgbClr val="1B3B6F"/>
                </a:solidFill>
                <a:latin typeface="Amiri" pitchFamily="34" charset="0"/>
                <a:ea typeface="Amiri" pitchFamily="34" charset="-122"/>
                <a:cs typeface="Amiri" pitchFamily="34" charset="-120"/>
              </a:rPr>
              <a:t> </a:t>
            </a:r>
            <a:pPr rtl="1" algn="ctr" indent="0" marL="0">
              <a:buNone/>
            </a:pPr>
            <a:r>
              <a:rPr lang="ar-SA" altLang="en-US" sz="2400" b="1" dirty="0">
                <a:solidFill>
                  <a:srgbClr val="1D5FBF"/>
                </a:solidFill>
                <a:latin typeface="Amiri" pitchFamily="34" charset="0"/>
                <a:ea typeface="Amiri" pitchFamily="34" charset="-122"/>
                <a:cs typeface="Amiri" pitchFamily="34" charset="-120"/>
              </a:rPr>
              <a:t>الطُّلَّابُ</a:t>
            </a:r>
            <a:pPr rtl="1" algn="ctr" indent="0" marL="0">
              <a:buNone/>
            </a:pPr>
            <a:r>
              <a:rPr lang="ar-SA" altLang="en-US" sz="2400" b="1" dirty="0">
                <a:solidFill>
                  <a:srgbClr val="1B3B6F"/>
                </a:solidFill>
                <a:latin typeface="Amiri" pitchFamily="34" charset="0"/>
                <a:ea typeface="Amiri" pitchFamily="34" charset="-122"/>
                <a:cs typeface="Amiri" pitchFamily="34" charset="-120"/>
              </a:rPr>
              <a:t> ‖ </a:t>
            </a:r>
            <a:pPr rtl="1" algn="ctr" indent="0" marL="0">
              <a:buNone/>
            </a:pPr>
            <a:r>
              <a:rPr lang="ar-SA" altLang="en-US" sz="2400" b="1" dirty="0">
                <a:solidFill>
                  <a:srgbClr val="1D5FBF"/>
                </a:solidFill>
                <a:latin typeface="Amiri" pitchFamily="34" charset="0"/>
                <a:ea typeface="Amiri" pitchFamily="34" charset="-122"/>
                <a:cs typeface="Amiri" pitchFamily="34" charset="-120"/>
              </a:rPr>
              <a:t>الطُّلَّابُ</a:t>
            </a:r>
            <a:pPr rtl="1" algn="ctr" indent="0" marL="0">
              <a:buNone/>
            </a:pPr>
            <a:r>
              <a:rPr lang="ar-SA" altLang="en-US" sz="2400" b="1" dirty="0">
                <a:solidFill>
                  <a:srgbClr val="1B3B6F"/>
                </a:solidFill>
                <a:latin typeface="Amiri" pitchFamily="34" charset="0"/>
                <a:ea typeface="Amiri" pitchFamily="34" charset="-122"/>
                <a:cs typeface="Amiri" pitchFamily="34" charset="-120"/>
              </a:rPr>
              <a:t> </a:t>
            </a:r>
            <a:pPr rtl="1" algn="ctr" indent="0" marL="0">
              <a:buNone/>
            </a:pPr>
            <a:r>
              <a:rPr lang="ar-SA" altLang="en-US" sz="2400" b="1" dirty="0">
                <a:solidFill>
                  <a:srgbClr val="0E7C86"/>
                </a:solidFill>
                <a:latin typeface="Amiri" pitchFamily="34" charset="0"/>
                <a:ea typeface="Amiri" pitchFamily="34" charset="-122"/>
                <a:cs typeface="Amiri" pitchFamily="34" charset="-120"/>
              </a:rPr>
              <a:t>كَتَبُوا</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GM-VS-03 · Verbal Sentences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Keep the verb singular when it comes first.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Keep the verb’s gender correct.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the rule in past, present and future.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Change the verb when I change the order.</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write kataba ṭ-ṭullābu.</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write katabati ṭ-ṭālibātu.</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use yaktubu / taktubu before groups.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turn SVO into VSO and fix the verb.</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explain each change.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write a verb-first report of 80–100 words.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GM-VS-03 · 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تَقَدُّمُ الْفِعْلِ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verb comes first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ta-qad-du-mu al-fiʿ-li</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كَتَبَ الطُّلَّابُ</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مُفْرَدٌ فِي الْعَدَدِ</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singular in number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muf-ra-dun fī al-ʿa-da-di</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كَتَبَ · لَا كَتَبُوا</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مُطَابِقٌ فِي الْجِنْسِ</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matching in gender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mu-ṭā-bi-qun fī al-jin-si</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كَتَبَتِ الطَّالِبَاتُ</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الْمُطَابَقَةُ الْكَامِلَةُ</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full agreement (subject first)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al-mu-ṭā-ba-qa-tu al-kā-mi-la-tu</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الطُّلَّابُ كَتَبُوا</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الْكَسْرَةُ الْمُسَاعِدَةُ</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helping kasra on -t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al-kas-ra-tu al-mu-sā-ʿi-da-tu</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كَتَبَتِ الطَّالِبَةُ</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التَّحْوِيلُ</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transforming (changing the order)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at-taḥ-wī-lu</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حَوِّلِ الْجُمْلَةَ</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GM-VS-03 · 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1 · THE FORMAL VSO RULE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ea typeface="Cambria" pitchFamily="34" charset="-122"/>
                <a:cs typeface="Cambria" pitchFamily="34" charset="-120"/>
              </a:rPr>
              <a:t>Verb first: one verb for one, two or many</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650" b="1" dirty="0">
                <a:solidFill>
                  <a:srgbClr val="8A6D1E"/>
                </a:solidFill>
                <a:latin typeface="Amiri" pitchFamily="34" charset="0"/>
                <a:ea typeface="Amiri" pitchFamily="34" charset="-122"/>
                <a:cs typeface="Amiri" pitchFamily="34" charset="-120"/>
              </a:rPr>
              <a:t>الْفِعْلُ أَوَّلًا: مُفْرَدٌ مُطَابِقٌ فِي الْجِنْسِ</a:t>
            </a:r>
            <a:endParaRPr lang="ar-SA" sz="265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857232" y="1810512"/>
            <a:ext cx="1801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 is…</a:t>
            </a:r>
            <a:endParaRPr lang="en-US" sz="1100" dirty="0"/>
          </a:p>
        </p:txBody>
      </p:sp>
      <p:sp>
        <p:nvSpPr>
          <p:cNvPr id="17" name="Text 14"/>
          <p:cNvSpPr txBox="1"/>
          <p:nvPr/>
        </p:nvSpPr>
        <p:spPr>
          <a:xfrm>
            <a:off x="565099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Website model</a:t>
            </a:r>
            <a:endParaRPr lang="en-US" sz="1100" dirty="0"/>
          </a:p>
        </p:txBody>
      </p:sp>
      <p:sp>
        <p:nvSpPr>
          <p:cNvPr id="18" name="Text 15"/>
          <p:cNvSpPr txBox="1"/>
          <p:nvPr/>
        </p:nvSpPr>
        <p:spPr>
          <a:xfrm>
            <a:off x="363931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a:t>
            </a:r>
            <a:endParaRPr lang="en-US" sz="1100" dirty="0"/>
          </a:p>
        </p:txBody>
      </p:sp>
      <p:sp>
        <p:nvSpPr>
          <p:cNvPr id="19" name="Text 16"/>
          <p:cNvSpPr txBox="1"/>
          <p:nvPr/>
        </p:nvSpPr>
        <p:spPr>
          <a:xfrm>
            <a:off x="530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Subject after the verb</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9893808" y="2267712"/>
            <a:ext cx="17647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 singular</a:t>
            </a:r>
            <a:endParaRPr lang="en-US" sz="1100" dirty="0"/>
          </a:p>
        </p:txBody>
      </p:sp>
      <p:sp>
        <p:nvSpPr>
          <p:cNvPr id="22" name="Text 19"/>
          <p:cNvSpPr txBox="1"/>
          <p:nvPr/>
        </p:nvSpPr>
        <p:spPr>
          <a:xfrm>
            <a:off x="5669280" y="2267712"/>
            <a:ext cx="40233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كَتَبَ الطَّالِبُ.</a:t>
            </a:r>
            <a:endParaRPr lang="ar-SA" sz="2400" dirty="0"/>
          </a:p>
        </p:txBody>
      </p:sp>
      <p:sp>
        <p:nvSpPr>
          <p:cNvPr id="23" name="Text 20"/>
          <p:cNvSpPr txBox="1"/>
          <p:nvPr/>
        </p:nvSpPr>
        <p:spPr>
          <a:xfrm>
            <a:off x="3657600" y="2267712"/>
            <a:ext cx="18288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كَتَبَ</a:t>
            </a:r>
            <a:endParaRPr lang="ar-SA" sz="2600" dirty="0"/>
          </a:p>
        </p:txBody>
      </p:sp>
      <p:sp>
        <p:nvSpPr>
          <p:cNvPr id="24" name="Text 21"/>
          <p:cNvSpPr txBox="1"/>
          <p:nvPr/>
        </p:nvSpPr>
        <p:spPr>
          <a:xfrm>
            <a:off x="566928" y="2267712"/>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one boy</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9893808" y="2881884"/>
            <a:ext cx="17647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 singular</a:t>
            </a:r>
            <a:endParaRPr lang="en-US" sz="1100" dirty="0"/>
          </a:p>
        </p:txBody>
      </p:sp>
      <p:sp>
        <p:nvSpPr>
          <p:cNvPr id="29" name="Text 26"/>
          <p:cNvSpPr txBox="1"/>
          <p:nvPr/>
        </p:nvSpPr>
        <p:spPr>
          <a:xfrm>
            <a:off x="5669280" y="2881884"/>
            <a:ext cx="40233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كَتَبَ الطَّالِبَانِ.</a:t>
            </a:r>
            <a:endParaRPr lang="ar-SA" sz="2400" dirty="0"/>
          </a:p>
        </p:txBody>
      </p:sp>
      <p:sp>
        <p:nvSpPr>
          <p:cNvPr id="30" name="Text 27"/>
          <p:cNvSpPr txBox="1"/>
          <p:nvPr/>
        </p:nvSpPr>
        <p:spPr>
          <a:xfrm>
            <a:off x="3657600" y="2881884"/>
            <a:ext cx="18288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كَتَبَ</a:t>
            </a:r>
            <a:endParaRPr lang="ar-SA" sz="2600" dirty="0"/>
          </a:p>
        </p:txBody>
      </p:sp>
      <p:sp>
        <p:nvSpPr>
          <p:cNvPr id="31" name="Text 28"/>
          <p:cNvSpPr txBox="1"/>
          <p:nvPr/>
        </p:nvSpPr>
        <p:spPr>
          <a:xfrm>
            <a:off x="566928" y="2881884"/>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two boys</a:t>
            </a:r>
            <a:endParaRPr lang="en-US" sz="1100" dirty="0"/>
          </a:p>
        </p:txBody>
      </p:sp>
      <p:sp>
        <p:nvSpPr>
          <p:cNvPr id="32" name="Shape 29"/>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3" name="Text 30"/>
          <p:cNvSpPr txBox="1"/>
          <p:nvPr/>
        </p:nvSpPr>
        <p:spPr>
          <a:xfrm>
            <a:off x="9893808" y="3496056"/>
            <a:ext cx="17647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 singular</a:t>
            </a:r>
            <a:endParaRPr lang="en-US" sz="1100" dirty="0"/>
          </a:p>
        </p:txBody>
      </p:sp>
      <p:sp>
        <p:nvSpPr>
          <p:cNvPr id="34" name="Text 31"/>
          <p:cNvSpPr txBox="1"/>
          <p:nvPr/>
        </p:nvSpPr>
        <p:spPr>
          <a:xfrm>
            <a:off x="5669280" y="3496056"/>
            <a:ext cx="40233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كَتَبَ الطُّلَّابُ.</a:t>
            </a:r>
            <a:endParaRPr lang="ar-SA" sz="2400" dirty="0"/>
          </a:p>
        </p:txBody>
      </p:sp>
      <p:sp>
        <p:nvSpPr>
          <p:cNvPr id="35" name="Text 32"/>
          <p:cNvSpPr txBox="1"/>
          <p:nvPr/>
        </p:nvSpPr>
        <p:spPr>
          <a:xfrm>
            <a:off x="3657600" y="3496056"/>
            <a:ext cx="18288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كَتَبَ</a:t>
            </a:r>
            <a:endParaRPr lang="ar-SA" sz="2600" dirty="0"/>
          </a:p>
        </p:txBody>
      </p:sp>
      <p:sp>
        <p:nvSpPr>
          <p:cNvPr id="36" name="Text 33"/>
          <p:cNvSpPr txBox="1"/>
          <p:nvPr/>
        </p:nvSpPr>
        <p:spPr>
          <a:xfrm>
            <a:off x="566928" y="3496056"/>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boys / mixed group</a:t>
            </a:r>
            <a:endParaRPr lang="en-US" sz="1100" dirty="0"/>
          </a:p>
        </p:txBody>
      </p:sp>
      <p:sp>
        <p:nvSpPr>
          <p:cNvPr id="37" name="Shape 34"/>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9" name="Shape 36"/>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9893808" y="4110228"/>
            <a:ext cx="17647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 singular</a:t>
            </a:r>
            <a:endParaRPr lang="en-US" sz="1100" dirty="0"/>
          </a:p>
        </p:txBody>
      </p:sp>
      <p:sp>
        <p:nvSpPr>
          <p:cNvPr id="41" name="Text 38"/>
          <p:cNvSpPr txBox="1"/>
          <p:nvPr/>
        </p:nvSpPr>
        <p:spPr>
          <a:xfrm>
            <a:off x="5669280" y="4110228"/>
            <a:ext cx="40233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كَتَبَتِ الطَّالِبَةُ.</a:t>
            </a:r>
            <a:endParaRPr lang="ar-SA" sz="2400" dirty="0"/>
          </a:p>
        </p:txBody>
      </p:sp>
      <p:sp>
        <p:nvSpPr>
          <p:cNvPr id="42" name="Text 39"/>
          <p:cNvSpPr txBox="1"/>
          <p:nvPr/>
        </p:nvSpPr>
        <p:spPr>
          <a:xfrm>
            <a:off x="3657600" y="4110228"/>
            <a:ext cx="18288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كَتَبَتْ</a:t>
            </a:r>
            <a:endParaRPr lang="ar-SA" sz="2600" dirty="0"/>
          </a:p>
        </p:txBody>
      </p:sp>
      <p:sp>
        <p:nvSpPr>
          <p:cNvPr id="43" name="Text 40"/>
          <p:cNvSpPr txBox="1"/>
          <p:nvPr/>
        </p:nvSpPr>
        <p:spPr>
          <a:xfrm>
            <a:off x="566928" y="4110228"/>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one girl</a:t>
            </a:r>
            <a:endParaRPr lang="en-US" sz="1100" dirty="0"/>
          </a:p>
        </p:txBody>
      </p:sp>
      <p:sp>
        <p:nvSpPr>
          <p:cNvPr id="44" name="Shape 41"/>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9893808" y="4724400"/>
            <a:ext cx="17647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 singular</a:t>
            </a:r>
            <a:endParaRPr lang="en-US" sz="1100" dirty="0"/>
          </a:p>
        </p:txBody>
      </p:sp>
      <p:sp>
        <p:nvSpPr>
          <p:cNvPr id="48" name="Text 45"/>
          <p:cNvSpPr txBox="1"/>
          <p:nvPr/>
        </p:nvSpPr>
        <p:spPr>
          <a:xfrm>
            <a:off x="5669280" y="4724400"/>
            <a:ext cx="40233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كَتَبَتِ الطَّالِبَتَانِ.</a:t>
            </a:r>
            <a:endParaRPr lang="ar-SA" sz="2400" dirty="0"/>
          </a:p>
        </p:txBody>
      </p:sp>
      <p:sp>
        <p:nvSpPr>
          <p:cNvPr id="49" name="Text 46"/>
          <p:cNvSpPr txBox="1"/>
          <p:nvPr/>
        </p:nvSpPr>
        <p:spPr>
          <a:xfrm>
            <a:off x="3657600" y="4724400"/>
            <a:ext cx="18288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كَتَبَتْ</a:t>
            </a:r>
            <a:endParaRPr lang="ar-SA" sz="2600" dirty="0"/>
          </a:p>
        </p:txBody>
      </p:sp>
      <p:sp>
        <p:nvSpPr>
          <p:cNvPr id="50" name="Text 47"/>
          <p:cNvSpPr txBox="1"/>
          <p:nvPr/>
        </p:nvSpPr>
        <p:spPr>
          <a:xfrm>
            <a:off x="566928" y="4724400"/>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two girls</a:t>
            </a:r>
            <a:endParaRPr lang="en-US" sz="11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9893808" y="5338572"/>
            <a:ext cx="17647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 singular</a:t>
            </a:r>
            <a:endParaRPr lang="en-US" sz="1100" dirty="0"/>
          </a:p>
        </p:txBody>
      </p:sp>
      <p:sp>
        <p:nvSpPr>
          <p:cNvPr id="53" name="Text 50"/>
          <p:cNvSpPr txBox="1"/>
          <p:nvPr/>
        </p:nvSpPr>
        <p:spPr>
          <a:xfrm>
            <a:off x="5669280" y="5338572"/>
            <a:ext cx="40233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كَتَبَتِ الطَّالِبَاتُ.</a:t>
            </a:r>
            <a:endParaRPr lang="ar-SA" sz="2400" dirty="0"/>
          </a:p>
        </p:txBody>
      </p:sp>
      <p:sp>
        <p:nvSpPr>
          <p:cNvPr id="54" name="Text 51"/>
          <p:cNvSpPr txBox="1"/>
          <p:nvPr/>
        </p:nvSpPr>
        <p:spPr>
          <a:xfrm>
            <a:off x="3657600" y="5338572"/>
            <a:ext cx="18288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كَتَبَتْ</a:t>
            </a:r>
            <a:endParaRPr lang="ar-SA" sz="2600" dirty="0"/>
          </a:p>
        </p:txBody>
      </p:sp>
      <p:sp>
        <p:nvSpPr>
          <p:cNvPr id="55" name="Text 52"/>
          <p:cNvSpPr txBox="1"/>
          <p:nvPr/>
        </p:nvSpPr>
        <p:spPr>
          <a:xfrm>
            <a:off x="566928" y="5338572"/>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group of girls</a:t>
            </a:r>
            <a:endParaRPr lang="en-US" sz="1100" dirty="0"/>
          </a:p>
        </p:txBody>
      </p:sp>
      <p:sp>
        <p:nvSpPr>
          <p:cNvPr id="56" name="Shape 53"/>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8" name="Text 5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memory line: verb first → singular in number, matching in gender. Only TWO past forms to choose from: kataba for boys, katabat for girls.</a:t>
            </a:r>
            <a:endParaRPr lang="en-US" sz="115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GM-VS-03 · 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2 · PAST-TENSE VSO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ea typeface="Cambria" pitchFamily="34" charset="-122"/>
                <a:cs typeface="Cambria" pitchFamily="34" charset="-120"/>
              </a:rPr>
              <a:t>Move the verb — drop the number ending</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الْمَاضِي: مِنَ الِاسْمِ إِلَى الْفِعْلِ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Change</a:t>
            </a:r>
            <a:endParaRPr lang="en-US" sz="1100" dirty="0"/>
          </a:p>
        </p:txBody>
      </p:sp>
      <p:sp>
        <p:nvSpPr>
          <p:cNvPr id="17" name="Text 14"/>
          <p:cNvSpPr txBox="1"/>
          <p:nvPr/>
        </p:nvSpPr>
        <p:spPr>
          <a:xfrm>
            <a:off x="4462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 first (today)</a:t>
            </a:r>
            <a:endParaRPr lang="en-US" sz="1100" dirty="0"/>
          </a:p>
        </p:txBody>
      </p:sp>
      <p:sp>
        <p:nvSpPr>
          <p:cNvPr id="18" name="Text 15"/>
          <p:cNvSpPr txBox="1"/>
          <p:nvPr/>
        </p:nvSpPr>
        <p:spPr>
          <a:xfrm>
            <a:off x="53035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Subject first (Lesson 2)</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3076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drop -ā</a:t>
            </a:r>
            <a:endParaRPr lang="en-US" sz="1100" dirty="0"/>
          </a:p>
        </p:txBody>
      </p:sp>
      <p:sp>
        <p:nvSpPr>
          <p:cNvPr id="21" name="Text 18"/>
          <p:cNvSpPr txBox="1"/>
          <p:nvPr/>
        </p:nvSpPr>
        <p:spPr>
          <a:xfrm>
            <a:off x="4480560" y="2267712"/>
            <a:ext cx="37490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كَتَبَ الطَّالِبَانِ.</a:t>
            </a:r>
            <a:endParaRPr lang="ar-SA" sz="2400" dirty="0"/>
          </a:p>
        </p:txBody>
      </p:sp>
      <p:sp>
        <p:nvSpPr>
          <p:cNvPr id="22" name="Text 19"/>
          <p:cNvSpPr txBox="1"/>
          <p:nvPr/>
        </p:nvSpPr>
        <p:spPr>
          <a:xfrm>
            <a:off x="548640" y="2267712"/>
            <a:ext cx="37490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الطَّالِبَانِ كَتَبَا.</a:t>
            </a:r>
            <a:endParaRPr lang="ar-SA" sz="24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843076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drop -ā, keep -t</a:t>
            </a:r>
            <a:endParaRPr lang="en-US" sz="1100" dirty="0"/>
          </a:p>
        </p:txBody>
      </p:sp>
      <p:sp>
        <p:nvSpPr>
          <p:cNvPr id="25" name="Text 22"/>
          <p:cNvSpPr txBox="1"/>
          <p:nvPr/>
        </p:nvSpPr>
        <p:spPr>
          <a:xfrm>
            <a:off x="4480560" y="3054096"/>
            <a:ext cx="37490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كَتَبَتِ الطَّالِبَتَانِ.</a:t>
            </a:r>
            <a:endParaRPr lang="ar-SA" sz="2400" dirty="0"/>
          </a:p>
        </p:txBody>
      </p:sp>
      <p:sp>
        <p:nvSpPr>
          <p:cNvPr id="26" name="Text 23"/>
          <p:cNvSpPr txBox="1"/>
          <p:nvPr/>
        </p:nvSpPr>
        <p:spPr>
          <a:xfrm>
            <a:off x="548640" y="3054096"/>
            <a:ext cx="37490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الطَّالِبَتَانِ كَتَبَتَا.</a:t>
            </a:r>
            <a:endParaRPr lang="ar-SA" sz="24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8430768" y="3840480"/>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drop -ū</a:t>
            </a:r>
            <a:endParaRPr lang="en-US" sz="1100" dirty="0"/>
          </a:p>
        </p:txBody>
      </p:sp>
      <p:sp>
        <p:nvSpPr>
          <p:cNvPr id="29" name="Text 26"/>
          <p:cNvSpPr txBox="1"/>
          <p:nvPr/>
        </p:nvSpPr>
        <p:spPr>
          <a:xfrm>
            <a:off x="4480560" y="3840480"/>
            <a:ext cx="37490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كَتَبَ الطُّلَّابُ.</a:t>
            </a:r>
            <a:endParaRPr lang="ar-SA" sz="2400" dirty="0"/>
          </a:p>
        </p:txBody>
      </p:sp>
      <p:sp>
        <p:nvSpPr>
          <p:cNvPr id="30" name="Text 27"/>
          <p:cNvSpPr txBox="1"/>
          <p:nvPr/>
        </p:nvSpPr>
        <p:spPr>
          <a:xfrm>
            <a:off x="548640" y="3840480"/>
            <a:ext cx="37490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الطُّلَّابُ كَتَبُوا.</a:t>
            </a:r>
            <a:endParaRPr lang="ar-SA" sz="2400" dirty="0"/>
          </a:p>
        </p:txBody>
      </p:sp>
      <p:sp>
        <p:nvSpPr>
          <p:cNvPr id="31" name="Shape 28"/>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4" name="Text 31"/>
          <p:cNvSpPr txBox="1"/>
          <p:nvPr/>
        </p:nvSpPr>
        <p:spPr>
          <a:xfrm>
            <a:off x="8430768" y="4626864"/>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-na becomes -t</a:t>
            </a:r>
            <a:endParaRPr lang="en-US" sz="1100" dirty="0"/>
          </a:p>
        </p:txBody>
      </p:sp>
      <p:sp>
        <p:nvSpPr>
          <p:cNvPr id="35" name="Text 32"/>
          <p:cNvSpPr txBox="1"/>
          <p:nvPr/>
        </p:nvSpPr>
        <p:spPr>
          <a:xfrm>
            <a:off x="4480560" y="4626864"/>
            <a:ext cx="37490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كَتَبَتِ الطَّالِبَاتُ.</a:t>
            </a:r>
            <a:endParaRPr lang="ar-SA" sz="2400" dirty="0"/>
          </a:p>
        </p:txBody>
      </p:sp>
      <p:sp>
        <p:nvSpPr>
          <p:cNvPr id="36" name="Text 33"/>
          <p:cNvSpPr txBox="1"/>
          <p:nvPr/>
        </p:nvSpPr>
        <p:spPr>
          <a:xfrm>
            <a:off x="548640" y="4626864"/>
            <a:ext cx="37490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الطَّالِبَاتُ كَتَبْنَ.</a:t>
            </a:r>
            <a:endParaRPr lang="ar-SA" sz="2400" dirty="0"/>
          </a:p>
        </p:txBody>
      </p:sp>
      <p:sp>
        <p:nvSpPr>
          <p:cNvPr id="37" name="Shape 34"/>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Website reading tip: the feminine -t is silent (katabat), but before al- a helping kasra is heard: katabati ṭ-ṭālibātu. Do not invent a new ending — the rule is unchanged.</a:t>
            </a:r>
            <a:endParaRPr lang="en-US" sz="11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GM-VS-03 · 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PART 3 · PRESENT AND FUTURE VSO (WEBSITE TABLES)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ea typeface="Cambria" pitchFamily="34" charset="-122"/>
                <a:cs typeface="Cambria" pitchFamily="34" charset="-120"/>
              </a:rPr>
              <a:t>The prefix shows gender; the suffix disappears</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الْمُضَارِعُ وَالْمُسْتَقْبَلُ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 first: future</a:t>
            </a:r>
            <a:endParaRPr lang="en-US" sz="1100" dirty="0"/>
          </a:p>
        </p:txBody>
      </p:sp>
      <p:sp>
        <p:nvSpPr>
          <p:cNvPr id="17" name="Text 14"/>
          <p:cNvSpPr txBox="1"/>
          <p:nvPr/>
        </p:nvSpPr>
        <p:spPr>
          <a:xfrm>
            <a:off x="4187952"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 first: present</a:t>
            </a:r>
            <a:endParaRPr lang="en-US" sz="1100" dirty="0"/>
          </a:p>
        </p:txBody>
      </p:sp>
      <p:sp>
        <p:nvSpPr>
          <p:cNvPr id="18" name="Text 15"/>
          <p:cNvSpPr txBox="1"/>
          <p:nvPr/>
        </p:nvSpPr>
        <p:spPr>
          <a:xfrm>
            <a:off x="530352"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Subject first</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863840" y="2267712"/>
            <a:ext cx="377647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سَيَكْتُبُ الطَّالِبَانِ.</a:t>
            </a:r>
            <a:endParaRPr lang="ar-SA" sz="2200" dirty="0"/>
          </a:p>
        </p:txBody>
      </p:sp>
      <p:sp>
        <p:nvSpPr>
          <p:cNvPr id="21" name="Text 18"/>
          <p:cNvSpPr txBox="1"/>
          <p:nvPr/>
        </p:nvSpPr>
        <p:spPr>
          <a:xfrm>
            <a:off x="4206240" y="2267712"/>
            <a:ext cx="347472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يَكْتُبُ الطَّالِبَانِ.</a:t>
            </a:r>
            <a:endParaRPr lang="ar-SA" sz="2200" dirty="0"/>
          </a:p>
        </p:txBody>
      </p:sp>
      <p:sp>
        <p:nvSpPr>
          <p:cNvPr id="22" name="Text 19"/>
          <p:cNvSpPr txBox="1"/>
          <p:nvPr/>
        </p:nvSpPr>
        <p:spPr>
          <a:xfrm>
            <a:off x="548640" y="2267712"/>
            <a:ext cx="347472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الطَّالِبَانِ يَكْتُبَانِ.</a:t>
            </a:r>
            <a:endParaRPr lang="ar-SA" sz="22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863840" y="3054096"/>
            <a:ext cx="377647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سَتَكْتُبُ الطَّالِبَتَانِ.</a:t>
            </a:r>
            <a:endParaRPr lang="ar-SA" sz="2200" dirty="0"/>
          </a:p>
        </p:txBody>
      </p:sp>
      <p:sp>
        <p:nvSpPr>
          <p:cNvPr id="25" name="Text 22"/>
          <p:cNvSpPr txBox="1"/>
          <p:nvPr/>
        </p:nvSpPr>
        <p:spPr>
          <a:xfrm>
            <a:off x="4206240" y="3054096"/>
            <a:ext cx="347472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تَكْتُبُ الطَّالِبَتَانِ.</a:t>
            </a:r>
            <a:endParaRPr lang="ar-SA" sz="2200" dirty="0"/>
          </a:p>
        </p:txBody>
      </p:sp>
      <p:sp>
        <p:nvSpPr>
          <p:cNvPr id="26" name="Text 23"/>
          <p:cNvSpPr txBox="1"/>
          <p:nvPr/>
        </p:nvSpPr>
        <p:spPr>
          <a:xfrm>
            <a:off x="548640" y="3054096"/>
            <a:ext cx="347472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الطَّالِبَتَانِ تَكْتُبَانِ.</a:t>
            </a:r>
            <a:endParaRPr lang="ar-SA" sz="22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863840" y="3840480"/>
            <a:ext cx="377647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سَيَكْتُبُ الطُّلَّابُ.</a:t>
            </a:r>
            <a:endParaRPr lang="ar-SA" sz="2200" dirty="0"/>
          </a:p>
        </p:txBody>
      </p:sp>
      <p:sp>
        <p:nvSpPr>
          <p:cNvPr id="29" name="Text 26"/>
          <p:cNvSpPr txBox="1"/>
          <p:nvPr/>
        </p:nvSpPr>
        <p:spPr>
          <a:xfrm>
            <a:off x="4206240" y="3840480"/>
            <a:ext cx="347472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يَكْتُبُ الطُّلَّابُ.</a:t>
            </a:r>
            <a:endParaRPr lang="ar-SA" sz="2200" dirty="0"/>
          </a:p>
        </p:txBody>
      </p:sp>
      <p:sp>
        <p:nvSpPr>
          <p:cNvPr id="30" name="Text 27"/>
          <p:cNvSpPr txBox="1"/>
          <p:nvPr/>
        </p:nvSpPr>
        <p:spPr>
          <a:xfrm>
            <a:off x="548640" y="3840480"/>
            <a:ext cx="347472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الطُّلَّابُ يَكْتُبُونَ.</a:t>
            </a:r>
            <a:endParaRPr lang="ar-SA" sz="2200" dirty="0"/>
          </a:p>
        </p:txBody>
      </p:sp>
      <p:sp>
        <p:nvSpPr>
          <p:cNvPr id="31" name="Shape 28"/>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4" name="Text 31"/>
          <p:cNvSpPr txBox="1"/>
          <p:nvPr/>
        </p:nvSpPr>
        <p:spPr>
          <a:xfrm>
            <a:off x="7863840" y="4626864"/>
            <a:ext cx="377647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سَتَكْتُبُ الطَّالِبَاتُ.</a:t>
            </a:r>
            <a:endParaRPr lang="ar-SA" sz="2200" dirty="0"/>
          </a:p>
        </p:txBody>
      </p:sp>
      <p:sp>
        <p:nvSpPr>
          <p:cNvPr id="35" name="Text 32"/>
          <p:cNvSpPr txBox="1"/>
          <p:nvPr/>
        </p:nvSpPr>
        <p:spPr>
          <a:xfrm>
            <a:off x="4206240" y="4626864"/>
            <a:ext cx="347472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تَكْتُبُ الطَّالِبَاتُ.</a:t>
            </a:r>
            <a:endParaRPr lang="ar-SA" sz="2200" dirty="0"/>
          </a:p>
        </p:txBody>
      </p:sp>
      <p:sp>
        <p:nvSpPr>
          <p:cNvPr id="36" name="Text 33"/>
          <p:cNvSpPr txBox="1"/>
          <p:nvPr/>
        </p:nvSpPr>
        <p:spPr>
          <a:xfrm>
            <a:off x="548640" y="4626864"/>
            <a:ext cx="347472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الطَّالِبَاتُ يَكْتُبْنَ.</a:t>
            </a:r>
            <a:endParaRPr lang="ar-SA" sz="2200" dirty="0"/>
          </a:p>
        </p:txBody>
      </p:sp>
      <p:sp>
        <p:nvSpPr>
          <p:cNvPr id="37" name="Shape 34"/>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Website: before a group of girls use taktubu (the “she” form), NOT yaktubna. The future adds sa- to the singular present. With lan: lan yaktuba ṭ-ṭullābu · lan taktuba ṭ-ṭālibātu.</a:t>
            </a:r>
            <a:endParaRPr lang="en-US" sz="11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GM-VS-03 · 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PART 4 · THE CONTRAST AT A GLANCE (WEBSITE TABLE)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ea typeface="Cambria" pitchFamily="34" charset="-122"/>
                <a:cs typeface="Cambria" pitchFamily="34" charset="-120"/>
              </a:rPr>
              <a:t>Change the order — recalculate the verb</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الْمُقَارَنَةُ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662672" y="1810512"/>
            <a:ext cx="3995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 first</a:t>
            </a:r>
            <a:endParaRPr lang="en-US" sz="1100" dirty="0"/>
          </a:p>
        </p:txBody>
      </p:sp>
      <p:sp>
        <p:nvSpPr>
          <p:cNvPr id="17" name="Text 14"/>
          <p:cNvSpPr txBox="1"/>
          <p:nvPr/>
        </p:nvSpPr>
        <p:spPr>
          <a:xfrm>
            <a:off x="3547872" y="1810512"/>
            <a:ext cx="3968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Subject first</a:t>
            </a:r>
            <a:endParaRPr lang="en-US" sz="1100" dirty="0"/>
          </a:p>
        </p:txBody>
      </p:sp>
      <p:sp>
        <p:nvSpPr>
          <p:cNvPr id="18" name="Text 15"/>
          <p:cNvSpPr txBox="1"/>
          <p:nvPr/>
        </p:nvSpPr>
        <p:spPr>
          <a:xfrm>
            <a:off x="530352"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680960" y="2267712"/>
            <a:ext cx="3959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وَصَلَ الْوَلَدَانِ.</a:t>
            </a:r>
            <a:endParaRPr lang="ar-SA" sz="2400" dirty="0"/>
          </a:p>
        </p:txBody>
      </p:sp>
      <p:sp>
        <p:nvSpPr>
          <p:cNvPr id="21" name="Text 18"/>
          <p:cNvSpPr txBox="1"/>
          <p:nvPr/>
        </p:nvSpPr>
        <p:spPr>
          <a:xfrm>
            <a:off x="3566160" y="2267712"/>
            <a:ext cx="39319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الْوَلَدَانِ وَصَلَا.</a:t>
            </a:r>
            <a:endParaRPr lang="ar-SA" sz="2400" dirty="0"/>
          </a:p>
        </p:txBody>
      </p:sp>
      <p:sp>
        <p:nvSpPr>
          <p:cNvPr id="22" name="Text 19"/>
          <p:cNvSpPr txBox="1"/>
          <p:nvPr/>
        </p:nvSpPr>
        <p:spPr>
          <a:xfrm>
            <a:off x="566928" y="2267712"/>
            <a:ext cx="28346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two boys arrived.</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680960" y="3004718"/>
            <a:ext cx="3959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وَصَلَتِ الْبِنْتَانِ.</a:t>
            </a:r>
            <a:endParaRPr lang="ar-SA" sz="2400" dirty="0"/>
          </a:p>
        </p:txBody>
      </p:sp>
      <p:sp>
        <p:nvSpPr>
          <p:cNvPr id="25" name="Text 22"/>
          <p:cNvSpPr txBox="1"/>
          <p:nvPr/>
        </p:nvSpPr>
        <p:spPr>
          <a:xfrm>
            <a:off x="3566160" y="3004718"/>
            <a:ext cx="39319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الْبِنْتَانِ وَصَلَتَا.</a:t>
            </a:r>
            <a:endParaRPr lang="ar-SA" sz="2400" dirty="0"/>
          </a:p>
        </p:txBody>
      </p:sp>
      <p:sp>
        <p:nvSpPr>
          <p:cNvPr id="26" name="Text 23"/>
          <p:cNvSpPr txBox="1"/>
          <p:nvPr/>
        </p:nvSpPr>
        <p:spPr>
          <a:xfrm>
            <a:off x="566928" y="3004718"/>
            <a:ext cx="28346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two girls arrived.</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680960" y="3741725"/>
            <a:ext cx="3959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وَصَلَ الْأَوْلَادُ.</a:t>
            </a:r>
            <a:endParaRPr lang="ar-SA" sz="2400" dirty="0"/>
          </a:p>
        </p:txBody>
      </p:sp>
      <p:sp>
        <p:nvSpPr>
          <p:cNvPr id="29" name="Text 26"/>
          <p:cNvSpPr txBox="1"/>
          <p:nvPr/>
        </p:nvSpPr>
        <p:spPr>
          <a:xfrm>
            <a:off x="3566160" y="3741725"/>
            <a:ext cx="39319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الْأَوْلَادُ وَصَلُوا.</a:t>
            </a:r>
            <a:endParaRPr lang="ar-SA" sz="2400" dirty="0"/>
          </a:p>
        </p:txBody>
      </p:sp>
      <p:sp>
        <p:nvSpPr>
          <p:cNvPr id="30" name="Text 27"/>
          <p:cNvSpPr txBox="1"/>
          <p:nvPr/>
        </p:nvSpPr>
        <p:spPr>
          <a:xfrm>
            <a:off x="566928" y="3741725"/>
            <a:ext cx="28346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boys arrived.</a:t>
            </a:r>
            <a:endParaRPr lang="en-US" sz="1100" dirty="0"/>
          </a:p>
        </p:txBody>
      </p:sp>
      <p:sp>
        <p:nvSpPr>
          <p:cNvPr id="31" name="Shape 28"/>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7680960" y="4478731"/>
            <a:ext cx="3959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وَصَلَتِ الْبَنَاتُ.</a:t>
            </a:r>
            <a:endParaRPr lang="ar-SA" sz="2400" dirty="0"/>
          </a:p>
        </p:txBody>
      </p:sp>
      <p:sp>
        <p:nvSpPr>
          <p:cNvPr id="35" name="Text 32"/>
          <p:cNvSpPr txBox="1"/>
          <p:nvPr/>
        </p:nvSpPr>
        <p:spPr>
          <a:xfrm>
            <a:off x="3566160" y="4478731"/>
            <a:ext cx="39319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الْبَنَاتُ وَصَلْنَ.</a:t>
            </a:r>
            <a:endParaRPr lang="ar-SA" sz="2400" dirty="0"/>
          </a:p>
        </p:txBody>
      </p:sp>
      <p:sp>
        <p:nvSpPr>
          <p:cNvPr id="36" name="Text 33"/>
          <p:cNvSpPr txBox="1"/>
          <p:nvPr/>
        </p:nvSpPr>
        <p:spPr>
          <a:xfrm>
            <a:off x="566928" y="4478731"/>
            <a:ext cx="28346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girls arrived.</a:t>
            </a:r>
            <a:endParaRPr lang="en-US" sz="1100" dirty="0"/>
          </a:p>
        </p:txBody>
      </p:sp>
      <p:sp>
        <p:nvSpPr>
          <p:cNvPr id="37" name="Shape 34"/>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7680960" y="5215738"/>
            <a:ext cx="3959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وَصَلَتِ الْحَافِلَاتُ.</a:t>
            </a:r>
            <a:endParaRPr lang="ar-SA" sz="2400" dirty="0"/>
          </a:p>
        </p:txBody>
      </p:sp>
      <p:sp>
        <p:nvSpPr>
          <p:cNvPr id="41" name="Text 38"/>
          <p:cNvSpPr txBox="1"/>
          <p:nvPr/>
        </p:nvSpPr>
        <p:spPr>
          <a:xfrm>
            <a:off x="3566160" y="5215738"/>
            <a:ext cx="39319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الْحَافِلَاتُ وَصَلَتْ.</a:t>
            </a:r>
            <a:endParaRPr lang="ar-SA" sz="2400" dirty="0"/>
          </a:p>
        </p:txBody>
      </p:sp>
      <p:sp>
        <p:nvSpPr>
          <p:cNvPr id="42" name="Text 39"/>
          <p:cNvSpPr txBox="1"/>
          <p:nvPr/>
        </p:nvSpPr>
        <p:spPr>
          <a:xfrm>
            <a:off x="566928" y="5215738"/>
            <a:ext cx="28346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buses arrived.</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Website useful contrast: with PEOPLE, the order changes the verb. With THINGS (non-human plurals) both orders give the same “she” verb, because both rules point to waṣalat.</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GM-VS-03 · 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الْمُعَلِّمُونَ الدَّرْسَ</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شَرَحُوا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شَرَحْنَ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شَرَحَ</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الْمُعَلِّمَاتُ الدَّرْسَ</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شَرَحَتْ</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شَرَحْنَ</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شَرَحُوا</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 </a:t>
            </a:r>
            <a:pPr algn="l" indent="0" marL="0">
              <a:buNone/>
            </a:pPr>
            <a:r>
              <a:rPr lang="ar-SA" altLang="en-US" sz="1650" b="1" dirty="0">
                <a:solidFill>
                  <a:srgbClr val="1B3B6F"/>
                </a:solidFill>
                <a:latin typeface="Amiri" pitchFamily="34" charset="0"/>
                <a:ea typeface="Amiri" pitchFamily="34" charset="-122"/>
                <a:cs typeface="Amiri" pitchFamily="34" charset="-120"/>
              </a:rPr>
              <a:t>الْبِنْتَانِ الْبَابَ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فَتَحَتَا</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فَتَحَتْ</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فَتَحْنَ</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 </a:t>
            </a:r>
            <a:pPr algn="l" indent="0" marL="0">
              <a:buNone/>
            </a:pPr>
            <a:r>
              <a:rPr lang="ar-SA" altLang="en-US" sz="1650" b="1" dirty="0">
                <a:solidFill>
                  <a:srgbClr val="1B3B6F"/>
                </a:solidFill>
                <a:latin typeface="Amiri" pitchFamily="34" charset="0"/>
                <a:ea typeface="Amiri" pitchFamily="34" charset="-122"/>
                <a:cs typeface="Amiri" pitchFamily="34" charset="-120"/>
              </a:rPr>
              <a:t>الطَّالِبَاتُ فِي الْمَكْتَبَةِ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تَدْرُسُ</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يَدْرُسْنَ</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يَدْرُسُونَ</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GM-VS-03 · 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الْمُعَلِّمُونَ الدَّرْسَ</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شَرَحُوا</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شَرَحْنَ</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شَرَحَ</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Teachers (m.) after the verb → sharaḥa.</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الْمُعَلِّمَاتُ الدَّرْسَ</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شَرَحَتْ</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شَرَحْنَ</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شَرَحُوا</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Female teachers after the verb → sharaḥat.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 </a:t>
            </a:r>
            <a:pPr algn="l" indent="0" marL="0">
              <a:buNone/>
            </a:pPr>
            <a:r>
              <a:rPr lang="ar-SA" altLang="en-US" sz="1650" b="1" dirty="0">
                <a:solidFill>
                  <a:srgbClr val="1B3B6F"/>
                </a:solidFill>
                <a:latin typeface="Amiri" pitchFamily="34" charset="0"/>
                <a:ea typeface="Amiri" pitchFamily="34" charset="-122"/>
                <a:cs typeface="Amiri" pitchFamily="34" charset="-120"/>
              </a:rPr>
              <a:t>الْبِنْتَانِ الْبَابَ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فَتَحَتَا</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فَتَحَتْ</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فَتَحْنَ</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Two girls after the verb → fataḥat.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 </a:t>
            </a:r>
            <a:pPr algn="l" indent="0" marL="0">
              <a:buNone/>
            </a:pPr>
            <a:r>
              <a:rPr lang="ar-SA" altLang="en-US" sz="1650" b="1" dirty="0">
                <a:solidFill>
                  <a:srgbClr val="1B3B6F"/>
                </a:solidFill>
                <a:latin typeface="Amiri" pitchFamily="34" charset="0"/>
                <a:ea typeface="Amiri" pitchFamily="34" charset="-122"/>
                <a:cs typeface="Amiri" pitchFamily="34" charset="-120"/>
              </a:rPr>
              <a:t>الطَّالِبَاتُ فِي الْمَكْتَبَةِ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تَدْرُسُ</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يَدْرُسْنَ</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يَدْرُسُونَ</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Girls after the verb → tadrusu.</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GM-VS-03 · 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turn SVO into VSO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Subject first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الطَّالِبَاتُ كَتَبْنَ</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Full agreement: -na.</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Number</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مُفْرَدٌ</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Verb first: one form.</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Gender</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مُؤَنَّثٌ</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Girls: keep -t.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Verb first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كَتَبَتِ الطَّالِبَاتُ</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Singular, feminine.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SINGULAR VERB</a:t>
            </a:r>
            <a:endParaRPr lang="en-US" sz="800" dirty="0"/>
          </a:p>
        </p:txBody>
      </p:sp>
      <p:sp>
        <p:nvSpPr>
          <p:cNvPr id="47" name="Shape 43"/>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SUBJECT</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0E7C86"/>
                </a:solidFill>
                <a:latin typeface="Amiri" pitchFamily="34" charset="0"/>
                <a:ea typeface="Amiri" pitchFamily="34" charset="-122"/>
                <a:cs typeface="Amiri" pitchFamily="34" charset="-120"/>
              </a:rPr>
              <a:t>بَدَأَ</a:t>
            </a:r>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550" b="1" dirty="0">
                <a:solidFill>
                  <a:srgbClr val="1D5FBF"/>
                </a:solidFill>
                <a:latin typeface="Amiri" pitchFamily="34" charset="0"/>
                <a:ea typeface="Amiri" pitchFamily="34" charset="-122"/>
                <a:cs typeface="Amiri" pitchFamily="34" charset="-120"/>
              </a:rPr>
              <a:t>الطُّلَّابُ</a:t>
            </a:r>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 النَّشَاطَ مُبَكِّرًا، ثُمَّ </a:t>
            </a:r>
            <a:pPr rtl="1" algn="r" indent="0" marL="0">
              <a:lnSpc>
                <a:spcPct val="120000"/>
              </a:lnSpc>
              <a:buNone/>
            </a:pPr>
            <a:r>
              <a:rPr lang="ar-SA" altLang="en-US" sz="1550" b="1" dirty="0">
                <a:solidFill>
                  <a:srgbClr val="0E7C86"/>
                </a:solidFill>
                <a:latin typeface="Amiri" pitchFamily="34" charset="0"/>
                <a:ea typeface="Amiri" pitchFamily="34" charset="-122"/>
                <a:cs typeface="Amiri" pitchFamily="34" charset="-120"/>
              </a:rPr>
              <a:t>جَهَّزَتِ</a:t>
            </a:r>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550" b="1" dirty="0">
                <a:solidFill>
                  <a:srgbClr val="1D5FBF"/>
                </a:solidFill>
                <a:latin typeface="Amiri" pitchFamily="34" charset="0"/>
                <a:ea typeface="Amiri" pitchFamily="34" charset="-122"/>
                <a:cs typeface="Amiri" pitchFamily="34" charset="-120"/>
              </a:rPr>
              <a:t>الطَّالِبَاتُ</a:t>
            </a:r>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 الْقَاعَةَ. </a:t>
            </a:r>
            <a:pPr rtl="1" algn="r" indent="0" marL="0">
              <a:lnSpc>
                <a:spcPct val="120000"/>
              </a:lnSpc>
              <a:buNone/>
            </a:pPr>
            <a:r>
              <a:rPr lang="ar-SA" altLang="en-US" sz="1550" b="1" dirty="0">
                <a:solidFill>
                  <a:srgbClr val="0E7C86"/>
                </a:solidFill>
                <a:latin typeface="Amiri" pitchFamily="34" charset="0"/>
                <a:ea typeface="Amiri" pitchFamily="34" charset="-122"/>
                <a:cs typeface="Amiri" pitchFamily="34" charset="-120"/>
              </a:rPr>
              <a:t>وَصَلَتِ</a:t>
            </a:r>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550" b="1" dirty="0">
                <a:solidFill>
                  <a:srgbClr val="1D5FBF"/>
                </a:solidFill>
                <a:latin typeface="Amiri" pitchFamily="34" charset="0"/>
                <a:ea typeface="Amiri" pitchFamily="34" charset="-122"/>
                <a:cs typeface="Amiri" pitchFamily="34" charset="-120"/>
              </a:rPr>
              <a:t>الْحَافِلَاتُ</a:t>
            </a:r>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 فِي السَّاعَةِ التَّاسِعَةِ. </a:t>
            </a:r>
            <a:pPr rtl="1" algn="r" indent="0" marL="0">
              <a:lnSpc>
                <a:spcPct val="120000"/>
              </a:lnSpc>
              <a:buNone/>
            </a:pPr>
            <a:r>
              <a:rPr lang="ar-SA" altLang="en-US" sz="1550" b="1" dirty="0">
                <a:solidFill>
                  <a:srgbClr val="0E7C86"/>
                </a:solidFill>
                <a:latin typeface="Amiri" pitchFamily="34" charset="0"/>
                <a:ea typeface="Amiri" pitchFamily="34" charset="-122"/>
                <a:cs typeface="Amiri" pitchFamily="34" charset="-120"/>
              </a:rPr>
              <a:t>لَعِبَ</a:t>
            </a:r>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550" b="1" dirty="0">
                <a:solidFill>
                  <a:srgbClr val="1D5FBF"/>
                </a:solidFill>
                <a:latin typeface="Amiri" pitchFamily="34" charset="0"/>
                <a:ea typeface="Amiri" pitchFamily="34" charset="-122"/>
                <a:cs typeface="Amiri" pitchFamily="34" charset="-120"/>
              </a:rPr>
              <a:t>الْفَرِيقَانِ</a:t>
            </a:r>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 مُبَارَاةً قَوِيَّةً. غَدًا </a:t>
            </a:r>
            <a:pPr rtl="1" algn="r" indent="0" marL="0">
              <a:lnSpc>
                <a:spcPct val="120000"/>
              </a:lnSpc>
              <a:buNone/>
            </a:pPr>
            <a:r>
              <a:rPr lang="ar-SA" altLang="en-US" sz="1550" b="1" dirty="0">
                <a:solidFill>
                  <a:srgbClr val="0E7C86"/>
                </a:solidFill>
                <a:latin typeface="Amiri" pitchFamily="34" charset="0"/>
                <a:ea typeface="Amiri" pitchFamily="34" charset="-122"/>
                <a:cs typeface="Amiri" pitchFamily="34" charset="-120"/>
              </a:rPr>
              <a:t>سَيُقَدِّمُ</a:t>
            </a:r>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550" b="1" dirty="0">
                <a:solidFill>
                  <a:srgbClr val="1D5FBF"/>
                </a:solidFill>
                <a:latin typeface="Amiri" pitchFamily="34" charset="0"/>
                <a:ea typeface="Amiri" pitchFamily="34" charset="-122"/>
                <a:cs typeface="Amiri" pitchFamily="34" charset="-120"/>
              </a:rPr>
              <a:t>الْمُعَلِّمُونَ</a:t>
            </a:r>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 الْجَوَائِزَ.</a:t>
            </a:r>
            <a:endParaRPr lang="ar-SA" sz="155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The students started the activity early, then the girls prepared the hall. The buses arrived at nine o’clock. The two teams played a hard match. Tomorrow the teachers will present the prizes.</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GM-VS-03 · 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GM-VS-03</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شَرَحَ الْمُعَلِّمُونَ الدَّرْسَ.</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teachers explained the lesson.</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Plural subject, singular verb.</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شَرَحَتِ الْمُعَلِّمَاتُ الدَّرْسَ.</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female teachers explained the lesson.</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Feminine singular.</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تَدْرُسُ الطَّالِبَاتُ فِي الْمَكْتَبَةِ.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female students study in the library.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ta-, not -na.</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سَيَعْمَلُ الْمُهَنْدِسُونَ هُنَا.</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engineers will work here.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sa- + singular.</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GM-VS-03 · Verbal Sentences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TURN IT ROUND (WEBSITE PAPER ROUTE)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Move the subject, fix the verb</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حَوِّلْ إِلَى جُمْلَةٍ فِعْلِيَّةٍ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942832" y="1810512"/>
            <a:ext cx="2715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Change</a:t>
            </a:r>
            <a:endParaRPr lang="en-US" sz="1100" dirty="0"/>
          </a:p>
        </p:txBody>
      </p:sp>
      <p:sp>
        <p:nvSpPr>
          <p:cNvPr id="17" name="Text 14"/>
          <p:cNvSpPr txBox="1"/>
          <p:nvPr/>
        </p:nvSpPr>
        <p:spPr>
          <a:xfrm>
            <a:off x="473659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 first</a:t>
            </a:r>
            <a:endParaRPr lang="en-US" sz="1100" dirty="0"/>
          </a:p>
        </p:txBody>
      </p:sp>
      <p:sp>
        <p:nvSpPr>
          <p:cNvPr id="18" name="Text 15"/>
          <p:cNvSpPr txBox="1"/>
          <p:nvPr/>
        </p:nvSpPr>
        <p:spPr>
          <a:xfrm>
            <a:off x="53035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Subject first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979408" y="2267712"/>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drop -ā</a:t>
            </a:r>
            <a:endParaRPr lang="en-US" sz="1100" dirty="0"/>
          </a:p>
        </p:txBody>
      </p:sp>
      <p:sp>
        <p:nvSpPr>
          <p:cNvPr id="21" name="Text 18"/>
          <p:cNvSpPr txBox="1"/>
          <p:nvPr/>
        </p:nvSpPr>
        <p:spPr>
          <a:xfrm>
            <a:off x="4754880" y="2267712"/>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ذَهَبَ الْوَلَدَانِ.</a:t>
            </a:r>
            <a:endParaRPr lang="ar-SA" sz="2200" dirty="0"/>
          </a:p>
        </p:txBody>
      </p:sp>
      <p:sp>
        <p:nvSpPr>
          <p:cNvPr id="22" name="Text 19"/>
          <p:cNvSpPr txBox="1"/>
          <p:nvPr/>
        </p:nvSpPr>
        <p:spPr>
          <a:xfrm>
            <a:off x="548640" y="2267712"/>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الْوَلَدَانِ ذَهَبَا.</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979408" y="2881884"/>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drop -ū</a:t>
            </a:r>
            <a:endParaRPr lang="en-US" sz="1100" dirty="0"/>
          </a:p>
        </p:txBody>
      </p:sp>
      <p:sp>
        <p:nvSpPr>
          <p:cNvPr id="27" name="Text 24"/>
          <p:cNvSpPr txBox="1"/>
          <p:nvPr/>
        </p:nvSpPr>
        <p:spPr>
          <a:xfrm>
            <a:off x="4754880" y="2881884"/>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فَازَ الطُّلَّابُ بِالْمُبَارَاةِ.</a:t>
            </a:r>
            <a:endParaRPr lang="ar-SA" sz="2200" dirty="0"/>
          </a:p>
        </p:txBody>
      </p:sp>
      <p:sp>
        <p:nvSpPr>
          <p:cNvPr id="28" name="Text 25"/>
          <p:cNvSpPr txBox="1"/>
          <p:nvPr/>
        </p:nvSpPr>
        <p:spPr>
          <a:xfrm>
            <a:off x="548640" y="2881884"/>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الطُّلَّابُ فَازُوا بِالْمُبَارَاةِ.</a:t>
            </a:r>
            <a:endParaRPr lang="ar-SA" sz="22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979408" y="3496056"/>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-na becomes -t</a:t>
            </a:r>
            <a:endParaRPr lang="en-US" sz="1100" dirty="0"/>
          </a:p>
        </p:txBody>
      </p:sp>
      <p:sp>
        <p:nvSpPr>
          <p:cNvPr id="33" name="Text 30"/>
          <p:cNvSpPr txBox="1"/>
          <p:nvPr/>
        </p:nvSpPr>
        <p:spPr>
          <a:xfrm>
            <a:off x="4754880" y="3496056"/>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شَارَكَتِ الطَّالِبَاتُ فِي الْحَفْلِ.</a:t>
            </a:r>
            <a:endParaRPr lang="ar-SA" sz="2200" dirty="0"/>
          </a:p>
        </p:txBody>
      </p:sp>
      <p:sp>
        <p:nvSpPr>
          <p:cNvPr id="34" name="Text 31"/>
          <p:cNvSpPr txBox="1"/>
          <p:nvPr/>
        </p:nvSpPr>
        <p:spPr>
          <a:xfrm>
            <a:off x="548640" y="3496056"/>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الطَّالِبَاتُ شَارَكْنَ فِي الْحَفْلِ.</a:t>
            </a:r>
            <a:endParaRPr lang="ar-SA" sz="22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979408" y="4110228"/>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drop -ā, keep -t</a:t>
            </a:r>
            <a:endParaRPr lang="en-US" sz="1100" dirty="0"/>
          </a:p>
        </p:txBody>
      </p:sp>
      <p:sp>
        <p:nvSpPr>
          <p:cNvPr id="39" name="Text 36"/>
          <p:cNvSpPr txBox="1"/>
          <p:nvPr/>
        </p:nvSpPr>
        <p:spPr>
          <a:xfrm>
            <a:off x="4754880" y="4110228"/>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رَسَمَتِ الْبِنْتَانِ صُورَةً.</a:t>
            </a:r>
            <a:endParaRPr lang="ar-SA" sz="2200" dirty="0"/>
          </a:p>
        </p:txBody>
      </p:sp>
      <p:sp>
        <p:nvSpPr>
          <p:cNvPr id="40" name="Text 37"/>
          <p:cNvSpPr txBox="1"/>
          <p:nvPr/>
        </p:nvSpPr>
        <p:spPr>
          <a:xfrm>
            <a:off x="548640" y="4110228"/>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الْبِنْتَانِ رَسَمَتَا صُورَةً.</a:t>
            </a:r>
            <a:endParaRPr lang="ar-SA" sz="22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8979408" y="4724400"/>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drop -ūna</a:t>
            </a:r>
            <a:endParaRPr lang="en-US" sz="1100" dirty="0"/>
          </a:p>
        </p:txBody>
      </p:sp>
      <p:sp>
        <p:nvSpPr>
          <p:cNvPr id="43" name="Text 40"/>
          <p:cNvSpPr txBox="1"/>
          <p:nvPr/>
        </p:nvSpPr>
        <p:spPr>
          <a:xfrm>
            <a:off x="4754880" y="4724400"/>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يَشْرَحُ الْمُعَلِّمُونَ الدَّرْسَ.</a:t>
            </a:r>
            <a:endParaRPr lang="ar-SA" sz="2200" dirty="0"/>
          </a:p>
        </p:txBody>
      </p:sp>
      <p:sp>
        <p:nvSpPr>
          <p:cNvPr id="44" name="Text 41"/>
          <p:cNvSpPr txBox="1"/>
          <p:nvPr/>
        </p:nvSpPr>
        <p:spPr>
          <a:xfrm>
            <a:off x="548640" y="4724400"/>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الْمُعَلِّمُونَ يَشْرَحُونَ الدَّرْسَ.</a:t>
            </a:r>
            <a:endParaRPr lang="ar-SA" sz="22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8979408" y="5338572"/>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ya- … -na becomes ta-</a:t>
            </a:r>
            <a:endParaRPr lang="en-US" sz="1100" dirty="0"/>
          </a:p>
        </p:txBody>
      </p:sp>
      <p:sp>
        <p:nvSpPr>
          <p:cNvPr id="47" name="Text 44"/>
          <p:cNvSpPr txBox="1"/>
          <p:nvPr/>
        </p:nvSpPr>
        <p:spPr>
          <a:xfrm>
            <a:off x="4754880" y="5338572"/>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سَتُسَافِرُ الطَّالِبَاتُ غَدًا.</a:t>
            </a:r>
            <a:endParaRPr lang="ar-SA" sz="2200" dirty="0"/>
          </a:p>
        </p:txBody>
      </p:sp>
      <p:sp>
        <p:nvSpPr>
          <p:cNvPr id="48" name="Text 45"/>
          <p:cNvSpPr txBox="1"/>
          <p:nvPr/>
        </p:nvSpPr>
        <p:spPr>
          <a:xfrm>
            <a:off x="548640" y="5338572"/>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الطَّالِبَاتُ سَيُسَافِرْنَ غَدًا.</a:t>
            </a:r>
            <a:endParaRPr lang="ar-SA" sz="22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paper route: draw an arrow showing every dual or plural ending you removed. Then read the new sentence aloud.</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GM-VS-03 · Verbal Sentences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 OR REPAIR? (WEBSITE CLINIC ROUTINE)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Name the order, then check the verb</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صَحِيحٌ أَمْ يَحْتَاجُ إِلَى تَصْحِيحٍ؟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GM-VS-03</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ذَهَبَ الْأَوْلَادُ.</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الْأَوْلَادُ ذَهَبُوا.</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وَصَلَتِ الْبَنَاتُ.</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يَلْعَبُ الْأَوْلَادُ.</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ذَهَبُوا الْأَوْلَادُ.</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الْأَوْلَادُ ذَهَبَ.</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وَصَلْنَ الْبَنَاتُ.</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يَلْعَبُونَ الْأَوْلَادُ.</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Correct</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Needs repair</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GM-VS-03 · Verbal Sentences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GM-VS-03</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Correct</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ذَهَبَ الْأَوْلَادُ.</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الْأَوْلَادُ ذَهَبُوا.</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وَصَلَتِ الْبَنَاتُ.</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يَلْعَبُ الْأَوْلَادُ.</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Needs repair</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ذَهَبُوا الْأَوْلَادُ.</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الْأَوْلَادُ ذَهَبَ.</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وَصَلْنَ الْبَنَاتُ.</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يَلْعَبُونَ الْأَوْلَادُ.</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GM-VS-03 · Verbal Sentences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كَتَبُوا الطُّلَّابُ الْوَاجِبَ.</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Which comes first: verb or subject?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كَتَبْنَ الطَّالِبَاتُ الْوَاجِبَ.</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Girls: which singular form?</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يَدْرُسْنَ الطَّالِبَاتُ الْآنَ.</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Present “she” form?</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GM-VS-03 · 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كَتَبُوا الطُّلَّابُ الْوَاجِبَ.</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كَتَبَ الطُّلَّابُ الْوَاجِبَ.</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Verb first → singular verb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كَتَبْنَ الطَّالِبَاتُ الْوَاجِبَ.</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كَتَبَتِ الطَّالِبَاتُ الْوَاجِبَ.</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Verb first → feminine singular (website clinic).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يَدْرُسْنَ الطَّالِبَاتُ الْآنَ.</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تَدْرُسُ الطَّالِبَاتُ الْآنَ.</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Present before girls → ta- “she” form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GM-VS-03 · 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GUIDED PRACTICE · WEBSITE PRESENT VSO AND FINAL MASTERY CHECKS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 </a:t>
            </a:r>
            <a:pPr algn="l" indent="0" marL="0">
              <a:buNone/>
            </a:pPr>
            <a:r>
              <a:rPr lang="ar-SA" altLang="en-US" sz="1650" b="1" dirty="0">
                <a:solidFill>
                  <a:srgbClr val="1B3B6F"/>
                </a:solidFill>
                <a:latin typeface="Amiri" pitchFamily="34" charset="0"/>
                <a:ea typeface="Amiri" pitchFamily="34" charset="-122"/>
                <a:cs typeface="Amiri" pitchFamily="34" charset="-120"/>
              </a:rPr>
              <a:t>الطُّلَّابُ فِي الْمَكْتَبَةِ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يَدْرُسُونَ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تَدْرُسُ</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يَدْرُسُ</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الْمُعَلِّمَتَانِ الْعَرَبِيَّةَ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تُدَرِّسَانِ</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تُدَرِّسُ</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يُدَرِّسُ</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formal VSO?</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يَعْمَلُونَ الْمُهَنْدِسُونَ هُنَا.</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يَعْمَلُ الْمُهَنْدِسُونَ هُنَا.</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تَعْمَلُ الْمُهَنْدِسُونَ هُنَا.</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Transform to verb first:</a:t>
            </a:r>
            <a:endParaRPr lang="en-US" sz="1200" dirty="0"/>
          </a:p>
        </p:txBody>
      </p:sp>
      <p:sp>
        <p:nvSpPr>
          <p:cNvPr id="60" name="Text 57"/>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الطُّلَّابُ فَازُوا بِالْمُبَارَاةِ.</a:t>
            </a:r>
            <a:endParaRPr lang="ar-SA" sz="150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فَازُوا الطُّلَّابُ بِالْمُبَارَاةِ.</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فَازَتِ الطُّلَّابُ بِالْمُبَارَاةِ.</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فَازَ الطُّلَّابُ بِالْمُبَارَاةِ.</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GM-VS-03 · 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 </a:t>
            </a:r>
            <a:pPr algn="l" indent="0" marL="0">
              <a:buNone/>
            </a:pPr>
            <a:r>
              <a:rPr lang="ar-SA" altLang="en-US" sz="1650" b="1" dirty="0">
                <a:solidFill>
                  <a:srgbClr val="1B3B6F"/>
                </a:solidFill>
                <a:latin typeface="Amiri" pitchFamily="34" charset="0"/>
                <a:ea typeface="Amiri" pitchFamily="34" charset="-122"/>
                <a:cs typeface="Amiri" pitchFamily="34" charset="-120"/>
              </a:rPr>
              <a:t>الطُّلَّابُ فِي الْمَكْتَبَةِ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يَدْرُسُونَ</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تَدْرُسُ</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يَدْرُسُ</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Boys after the verb → yadrusu.</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الْمُعَلِّمَتَانِ الْعَرَبِيَّةَ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تُدَرِّسَانِ</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تُدَرِّسُ</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يُدَرِّسُ</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Two female teachers after the verb → tudarrisu.</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formal VSO?</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يَعْمَلُونَ الْمُهَنْدِسُونَ هُنَا.</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يَعْمَلُ الْمُهَنْدِسُونَ هُنَا.</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تَعْمَلُ الْمُهَنْدِسُونَ هُنَا.</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Singular masculine verb before a group of men.</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Transform to verb first:</a:t>
            </a:r>
            <a:endParaRPr lang="en-US" sz="1200" dirty="0"/>
          </a:p>
        </p:txBody>
      </p:sp>
      <p:sp>
        <p:nvSpPr>
          <p:cNvPr id="66" name="Text 63"/>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الطُّلَّابُ فَازُوا بِالْمُبَارَاةِ.</a:t>
            </a:r>
            <a:endParaRPr lang="ar-SA" sz="150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فَازُوا الطُّلَّابُ بِالْمُبَارَاةِ.</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فَازَتِ الطُّلَّابُ بِالْمُبَارَاةِ.</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فَازَ الطُّلَّابُ بِالْمُبَارَاةِ.</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Move the subject and recalculate: fāza.</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GM-VS-03 · 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E6B52"/>
                </a:solidFill>
                <a:latin typeface="Calibri" pitchFamily="34" charset="0"/>
                <a:ea typeface="Calibri" pitchFamily="34" charset="-122"/>
                <a:cs typeface="Calibri" pitchFamily="34" charset="-120"/>
              </a:rPr>
              <a:t>YOU DO · READ AND NOTICE · WEBSITE SKILLS WORKSHOP (TEACHER-WRITTEN REPORT)</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sports day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GM-VS-03</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يَوْمَ الْخَمِيسِ أَقَامَتْ مَدْرَسَتُنَا يَوْمًا رِيَاضِيًّا. وَصَلَتِ الْحَافِلَاتُ فِي السَّاعَةِ الثَّامِنَةِ، وَنَزَلَ الطُّلَّابُ إِلَى الْمَلْعَبِ. جَهَّزَتِ الْمُعَلِّمَاتُ الْمَاءَ وَالْفَوَاكِهَ، وَرَفَعَ الْأَوْلَادُ الْأَعْلَامَ. فِي السِّبَاقِ الْأَوَّلِ فَازَ الْفَرِيقُ الْأَزْرَقُ، ثُمَّ فَازَتِ الْبَنَاتُ فِي كُرَةِ السَّلَّةِ. شَجَّعَ الْآبَاءُ اللَّاعِبِينَ بِحَمَاسٍ. فِي النِّهَايَةِ وَزَّعَ الْمُدِيرُ الْجَوَائِزَ، وَسَيَكْتُبُ الطُّلَّابُ تَقْرِيرًا عَنِ الْيَوْمِ.</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يَوْمًا رِيَاضِيًّا</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sports day</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نَزَلَ</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went down / out</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الْأَعْلَامَ</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flags</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السِّبَاقِ</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race</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شَجَّعَ</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cheered on</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GM-VS-03 · 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female teachers prepare?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flags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water and fruit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prizes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it nazala ṭ-ṭullābu, not nazalū?</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one student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a mistake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verb first: singular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comes before a group of girls?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فَازَتِ</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رَفَعَ</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شَجَّعَ</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the students do?</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hand out prizes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write a report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run a race</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GM-VS-03 · 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female teachers prepare?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flags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water and fruit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prizes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Jahhazati l-muʿallimātu l-māʾa wa-l-fawākiha.</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it nazala ṭ-ṭullābu, not nazalū?</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one student</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a mistake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verb first: singular</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verb comes before the plural subject.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comes before a group of girls?</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فَازَتِ</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رَفَعَ</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شَجَّعَ</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Fāzati l-banātu: feminine singular.</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the students do?</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hand out prizes</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write a report</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run a race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Sa-yaktubu ṭ-ṭullābu taqrīran.</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GM-VS-03 · 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Speaking: report the event, verb first</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فَعَلَ الطُّلَّابُ فِي الرِّحْلَةِ؟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فَعَلَتِ الْبَنَاتُ فِي الْحَفْلِ؟</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أَخْبِرْنَا عَنْ مُبَارَاةٍ: مَاذَا حَدَثَ؟</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D5FBF"/>
                </a:solidFill>
                <a:latin typeface="Amiri" pitchFamily="34" charset="0"/>
                <a:ea typeface="Amiri" pitchFamily="34" charset="-122"/>
                <a:cs typeface="Amiri" pitchFamily="34" charset="-120"/>
              </a:rPr>
              <a:t>زَارَ الطُّلَّابُ ___ ، وَأَكَلَ الطُّلَّابُ ___ .</a:t>
            </a:r>
            <a:endParaRPr lang="ar-SA" sz="155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قَدَّمَتِ الْبَنَاتُ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لَعِبَ ___ ، ثُمَّ فَازَ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مَاذَا حَدَثَ فِي الْحَفْلِ أَمْسِ؟</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happened at the celebration yesterday?</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وَصَلَ الضُّيُوفُ مُبَكِّرًا، وَأَلْقَتِ الطَّالِبَاتُ قَصِيدَةً جَمِيلَةً. بَعْدَ ذَلِكَ وَزَّعَ الْمُعَلِّمُونَ الْهَدَايَا.</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The guests arrived early, and the girls recited a lovely poem. After that the teachers handed out the gifts.</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35</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GM-VS-03 · 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 trip: what the students did — verb first.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zāra ṭ-ṭullābu · akala ṭ-ṭullābu.</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7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a group of girls, two people and the future.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zārati ṭ-ṭālibātu · sa-yazūru.</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80–100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event-first report with the full checklist.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Check every verb-first form is singular.</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35</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GM-VS-03 · 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وَصَلَتِ الْحَافِلَاتُ فِي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buses arrived at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تَدْرُسُ الطَّالِبَاتُ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girls are studying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غَدًا سَيُقَدِّمُ الطُّلَّابُ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Tomorrow the students will present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فَازَتِ الْبِنْتَانِ فِي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two girls won in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زَارَ الطُّلَّابُ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students visited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رَسَمَتِ الْبَنَاتُ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girls drew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شَرَحَ الْمُعَلِّمُونَ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teachers explained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لَعِبَ الْوَلَدَانِ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two boys played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ذَهَبَ  ·  ذَهَبَتْ  ·  زَارَ  ·  زَارَتْ  ·  يَدْرُسُ  ·  تَدْرُسُ  ·  سَيُقَدِّمُ  ·  سَتُقَدِّمُ  ·  الطُّلَّابُ  ·  الطَّالِبَاتُ  ·  الْوَلَدَانِ  ·  الْبِنْتَانِ  ·  الْحَافِلَاتُ</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35</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GM-VS-03 · 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Website event-first report (80–100 words): a school event, match, trip or celebration, with at least six sentences beginning with a verb.</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Two male / mixed plural subjects after verbs.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Two female plural subjects after verbs.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dual subject.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non-human plural.</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Two time frames — and every verb-first form singular.</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وَصَلَ الضُّيُوفُ</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guests arrived</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بَدَأَ الْحَفْلُ</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celebration began</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صَفَّقَ الْحُضُورُ</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audience applauded</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فَازَ الْفَرِيقُ</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team won</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وَزَّعَ الْجَوَائِزَ</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handed out the prizes</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النِّهَايَةِ</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in the end</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35</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GM-VS-03 · Verbal Sentences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أَقَامَتْ مَدْرَسَتُنَا حَفْلًا كَبِيرًا فِي نِهَايَةِ الْفَصْلِ. وَصَلَ الضُّيُوفُ فِي السَّاعَةِ الْعَاشِرَةِ، وَجَلَسَ الْآبَاءُ فِي الصُّفُوفِ الْأُولَى. بَدَأَ الْحَفْلُ بِتِلَاوَةِ الْقُرْآنِ، ثُمَّ أَلْقَتِ الطَّالِبَاتُ قَصِيدَةً عَنِ الْوَطَنِ. قَدَّمَ الطُّلَّابُ مَسْرَحِيَّةً مُضْحِكَةً، وَصَفَّقَ الْحُضُورُ طَوِيلًا. بَعْدَ ذَلِكَ وَزَّعَتِ الْمُعَلِّمَتَانِ الْجَدِيدَتَانِ الْهَدَايَا. وَصَلَتِ الْحَافِلَاتُ فِي السَّاعَةِ الثَّانِيَةِ، وَرَجَعَ الطُّلَّابُ إِلَى بُيُوتِهِمْ مَسْرُورِينَ. فِي الْأُسْبُوعِ الْقَادِمِ سَيَكْتُبُ الطُّلَّابُ مَقَالَاتٍ عَنِ الْحَفْلِ، وَسَتَنْشُرُهَا الْمَدْرَسَةُ فِي مَجَلَّتِهَا.</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Our school held a big celebration at the end of term. The guests arrived at ten o’clock, and the parents sat in the front rows. The celebration began with a recitation of the Qur’an, then the girls recited a poem about the homeland. The boys performed a funny play, and the audience applauded for a long time. After that the two new teachers (f.) handed out the gifts. The buses arrived at two o’clock, and the students went home happy. Next week the students will write articles about the celebration, and the school will publish them in its magazine.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singular verb + male plural</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feminine verb + female plural</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verb + dual subject</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non-human plural</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35</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GM-VS-03 · Verbal Sentences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Every verb before a plural subject is singular.</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Verbs before girls end in -t (or start with ta-).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taktubu, not yaktubna, before a group of girls.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When I moved a subject, I recalculated the verb.</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read the helping kasra aloud: katabati ṭ-ṭālibātu.</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35</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GM-VS-03 · Verbal Sentences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 </a:t>
            </a:r>
            <a:pPr algn="l" indent="0" marL="0">
              <a:buNone/>
            </a:pPr>
            <a:r>
              <a:rPr lang="ar-SA" altLang="en-US" sz="1650" b="1" dirty="0">
                <a:solidFill>
                  <a:srgbClr val="1B3B6F"/>
                </a:solidFill>
                <a:latin typeface="Amiri" pitchFamily="34" charset="0"/>
                <a:ea typeface="Amiri" pitchFamily="34" charset="-122"/>
                <a:cs typeface="Amiri" pitchFamily="34" charset="-120"/>
              </a:rPr>
              <a:t>الطَّالِبَاتُ الآنَ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تَكْتُبُ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يَكْتُبْنَ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يَكْتُبُونَ</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 </a:t>
            </a:r>
            <a:pPr algn="l" indent="0" marL="0">
              <a:buNone/>
            </a:pPr>
            <a:r>
              <a:rPr lang="ar-SA" altLang="en-US" sz="1650" b="1" dirty="0">
                <a:solidFill>
                  <a:srgbClr val="1B3B6F"/>
                </a:solidFill>
                <a:latin typeface="Amiri" pitchFamily="34" charset="0"/>
                <a:ea typeface="Amiri" pitchFamily="34" charset="-122"/>
                <a:cs typeface="Amiri" pitchFamily="34" charset="-120"/>
              </a:rPr>
              <a:t>الطَّالِبَاتُ غَدًا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سَيَكْتُبْنَ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سَتَكْتُبُ</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سَيَكْتُبُونَ</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Transform to subject first:</a:t>
            </a:r>
            <a:endParaRPr lang="en-US" sz="1200" dirty="0"/>
          </a:p>
        </p:txBody>
      </p:sp>
      <p:sp>
        <p:nvSpPr>
          <p:cNvPr id="45" name="Text 42"/>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شَارَكَتِ الطَّالِبَاتُ.</a:t>
            </a:r>
            <a:endParaRPr lang="ar-SA" sz="150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الطَّالِبَاتُ شَارَكْنَ.</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الطَّالِبَاتُ شَارَكَتْ.</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الطَّالِبَاتُ شَارَكُوا.</a:t>
            </a:r>
            <a:endParaRPr lang="ar-SA" sz="2050" dirty="0"/>
          </a:p>
        </p:txBody>
      </p:sp>
      <p:sp>
        <p:nvSpPr>
          <p:cNvPr id="55" name="Shape 52"/>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7" name="Text 54"/>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35</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GM-VS-03 · Verbal Sentences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 </a:t>
            </a:r>
            <a:pPr algn="l" indent="0" marL="0">
              <a:buNone/>
            </a:pPr>
            <a:r>
              <a:rPr lang="ar-SA" altLang="en-US" sz="1650" b="1" dirty="0">
                <a:solidFill>
                  <a:srgbClr val="1B3B6F"/>
                </a:solidFill>
                <a:latin typeface="Amiri" pitchFamily="34" charset="0"/>
                <a:ea typeface="Amiri" pitchFamily="34" charset="-122"/>
                <a:cs typeface="Amiri" pitchFamily="34" charset="-120"/>
              </a:rPr>
              <a:t>الطَّالِبَاتُ الآنَ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تَكْتُبُ</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يَكْتُبْنَ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يَكْتُبُونَ</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Girls after the verb → taktubu.</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 </a:t>
            </a:r>
            <a:pPr algn="l" indent="0" marL="0">
              <a:buNone/>
            </a:pPr>
            <a:r>
              <a:rPr lang="ar-SA" altLang="en-US" sz="1650" b="1" dirty="0">
                <a:solidFill>
                  <a:srgbClr val="1B3B6F"/>
                </a:solidFill>
                <a:latin typeface="Amiri" pitchFamily="34" charset="0"/>
                <a:ea typeface="Amiri" pitchFamily="34" charset="-122"/>
                <a:cs typeface="Amiri" pitchFamily="34" charset="-120"/>
              </a:rPr>
              <a:t>الطَّالِبَاتُ غَدًا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سَيَكْتُبْنَ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سَتَكْتُبُ</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سَيَكْتُبُونَ</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Future VSO: sa- + feminine singular.</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Transform to subject first:</a:t>
            </a:r>
            <a:endParaRPr lang="en-US" sz="1200" dirty="0"/>
          </a:p>
        </p:txBody>
      </p:sp>
      <p:sp>
        <p:nvSpPr>
          <p:cNvPr id="49" name="Text 46"/>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شَارَكَتِ الطَّالِبَاتُ.</a:t>
            </a:r>
            <a:endParaRPr lang="ar-SA" sz="1500" dirty="0"/>
          </a:p>
        </p:txBody>
      </p:sp>
      <p:sp>
        <p:nvSpPr>
          <p:cNvPr id="50" name="Shape 47"/>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1" name="Shape 48"/>
          <p:cNvSpPr/>
          <p:nvPr/>
        </p:nvSpPr>
        <p:spPr>
          <a:xfrm>
            <a:off x="8278368" y="2532888"/>
            <a:ext cx="256032" cy="256032"/>
          </a:xfrm>
          <a:prstGeom prst="ellipse">
            <a:avLst/>
          </a:prstGeom>
          <a:solidFill>
            <a:srgbClr val="2E8B57"/>
          </a:solidFill>
          <a:ln w="12700">
            <a:solidFill>
              <a:srgbClr val="2E8B57"/>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الطَّالِبَاتُ شَارَكْنَ.</a:t>
            </a:r>
            <a:endParaRPr lang="ar-SA" sz="2050" dirty="0"/>
          </a:p>
        </p:txBody>
      </p:sp>
      <p:sp>
        <p:nvSpPr>
          <p:cNvPr id="54" name="Shape 51"/>
          <p:cNvSpPr/>
          <p:nvPr/>
        </p:nvSpPr>
        <p:spPr>
          <a:xfrm>
            <a:off x="8278368" y="2990088"/>
            <a:ext cx="256032" cy="256032"/>
          </a:xfrm>
          <a:prstGeom prst="ellipse">
            <a:avLst/>
          </a:prstGeom>
          <a:solidFill>
            <a:srgbClr val="C9CED6"/>
          </a:solidFill>
          <a:ln w="12700">
            <a:solidFill>
              <a:srgbClr val="C9CED6"/>
            </a:solidFill>
            <a:prstDash val="solid"/>
          </a:ln>
        </p:spPr>
      </p:sp>
      <p:sp>
        <p:nvSpPr>
          <p:cNvPr id="55" name="Text 52"/>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الطَّالِبَاتُ شَارَكَتْ.</a:t>
            </a:r>
            <a:endParaRPr lang="ar-SA" sz="2050" dirty="0"/>
          </a:p>
        </p:txBody>
      </p:sp>
      <p:sp>
        <p:nvSpPr>
          <p:cNvPr id="57" name="Shape 54"/>
          <p:cNvSpPr/>
          <p:nvPr/>
        </p:nvSpPr>
        <p:spPr>
          <a:xfrm>
            <a:off x="8278368" y="3447288"/>
            <a:ext cx="256032" cy="256032"/>
          </a:xfrm>
          <a:prstGeom prst="ellipse">
            <a:avLst/>
          </a:prstGeom>
          <a:solidFill>
            <a:srgbClr val="C9CED6"/>
          </a:solidFill>
          <a:ln w="12700">
            <a:solidFill>
              <a:srgbClr val="C9CED6"/>
            </a:solidFill>
            <a:prstDash val="solid"/>
          </a:ln>
        </p:spPr>
      </p:sp>
      <p:sp>
        <p:nvSpPr>
          <p:cNvPr id="58" name="Text 55"/>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الطَّالِبَاتُ شَارَكُوا.</a:t>
            </a:r>
            <a:endParaRPr lang="ar-SA" sz="2050" dirty="0"/>
          </a:p>
        </p:txBody>
      </p:sp>
      <p:sp>
        <p:nvSpPr>
          <p:cNvPr id="60" name="Text 57"/>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Girls FIRST → full agreement: shārakna.</a:t>
            </a:r>
            <a:endParaRPr lang="en-US" sz="1050" dirty="0"/>
          </a:p>
        </p:txBody>
      </p:sp>
      <p:sp>
        <p:nvSpPr>
          <p:cNvPr id="61" name="Shape 58"/>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2" name="Text 59"/>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3" name="Text 60"/>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35</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GM-VS-03 · Verbal Sentences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Before GM-VS-04: get ready at home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GM-VS-04 · Building and Editing Verbal Sentences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هَلْ</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yes / no question word</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مَا</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did not (+ past verb)</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لَمْ</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did not (+ present form)</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will not</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أَمَّا … فَـ</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as for … (contrast)</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Questions and negatives keep the same roles. How would you say “The students did not write the report”, verb first?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لَمْ ______ الطُّلَّابُ التَّقْرِيرَ.</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six verb-first sentences: three with boys, three with girls.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Turn the six sentences round (subject first) and fix every verb.</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event-first report (80–100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35</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GM-VS-03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000" b="1" dirty="0">
                <a:solidFill>
                  <a:srgbClr val="FFFFFF"/>
                </a:solidFill>
                <a:latin typeface="Cambria" pitchFamily="34" charset="0"/>
                <a:ea typeface="Cambria" pitchFamily="34" charset="-122"/>
                <a:cs typeface="Cambria" pitchFamily="34" charset="-120"/>
              </a:rPr>
              <a:t>GM-VS-04 · Building and Editing Verbal Sentences</a:t>
            </a:r>
            <a:endParaRPr lang="en-US" sz="20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بِنَاءُ الْجُمَلِ الْفِعْلِيَّةِ وَمُرَاجَعَتُهَا</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verb first → singular in number, matching in gender · kataba ṭ-ṭullābu · katabati ṭ-ṭālibātu · present: yaktubu / taktubu (never yaktubna before the subject) · subject first → full agreement · move the subject = recalculate the verb.</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GM-VS-03 · Verb-First Agreement</dc:title>
  <dc:subject>PptxGenJS Presentation</dc:subject>
  <dc:creator>Al Madina Online School · Arabic Department</dc:creator>
  <cp:lastModifiedBy>Al Madina Online School · Arabic Department</cp:lastModifiedBy>
  <cp:revision>1</cp:revision>
  <dcterms:created xsi:type="dcterms:W3CDTF">2026-10-04T06:19:11Z</dcterms:created>
  <dcterms:modified xsi:type="dcterms:W3CDTF">2026-10-04T06:19:11Z</dcterms:modified>
</cp:coreProperties>
</file>