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GM-VS-03 (“Verb-First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kataba before boys (one, two or many) and katabat before girls (one, two or many). Develop: present and future — yaktubu ṭ-ṭullābu, taktubu ṭ-ṭālibātu, sa-taktubu — and turning SVO into VSO. Stretch: the helping kasra (katabati ṭ-ṭālibātu), non-human plurals and explaining each change.
• Website memory line: verb first → singular in number, matching in gender. Website warning: never transform by moving words only — recalculate the verb.
• Register note (website): some modern and dialect-influenced writing uses full agreement in VSO, but the formal exam-safe target is the singular verb. Builds directly on GM-VS-02 (subject-first full agreement).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GM-VS-02 full agreement (katabū, katabna) and GM-VS-01 VSO order.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Verb first → singular verb that still shows gender. Subject first → full agreement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formal VSO agreement rule”. Register note: full-agreement VSO occurs in some modern and dialect-influenced writing, but the exam-safe target is the singular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“Past-tense VSO” + “Reading feminine VSO accurately”. Choral: read column 1, then column 2, and say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“Present-tense VSO” and “Future VSO”. Core: rows 3–4. Ask: which letter shows the gender? (ya-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“The contrast at a glance” + “Non-human plurals”. Website warning: do not transform by moving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VSO and Present VSO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extended. Every teal verb is singular — check: which ones are feminine,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Row 2 is the website Final Mastery transformation; row 6 uses the website game verb (sāfara).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“needs repair” card, students say the correct form: dhahaba l-awlādu · al-awlādu dhahabū · waṣalati l-banātu · yalʿabu l-awlādu.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“needs repair” card, students say the correct form: dhahaba l-awlādu · al-awlādu dhahabū · waṣalati l-banātu · yalʿabu l-awlādu.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Present VSO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report). Read it aloud once while students follow; then they hunt for today’s grammar.
Task: Website reading audit: underline every verb that comes before a plural subject. Is each one singular? Which ones are feminine?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reading audit;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narrate events in formal VSO without copying the plural ending from a subject that follows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reporting a school event, match, trip or celebration. Begin at least six sentences with a verb.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(GM-VS-04 · Building and Editing Verbal Sentences) will spend class time USING this language, so students prepare it tonight — short, simple, easy to access (school guidance: “Simple, Short, Interesting, Relevant, Easy to access”). The five words prepare GM-VS-04 (website: building and editing verbal sentences — questions, negation,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VERBAL SENTENCES  ·  GM-VS-03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Verb-First Agreement</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الْمُطَابَقَةُ عِنْدَ تَقَدُّمِ الْفِعْلِ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When the verb comes FIRST, it stays singular — even for two or many people — but it still shows masculine or feminine: kataba ṭ-ṭullābu (the students wrote), katabati ṭ-ṭālibātu (the female students wrote).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VSO rule; past; present and future; the contrast table.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Turn it round; correct or repair; fix the clinic sentences.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GM-VS-04.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ea typeface="Amiri" pitchFamily="2" charset="-78"/>
                <a:cs typeface="Amiri" pitchFamily="2" charset="-78"/>
              </a:rPr>
              <a:t>الطُّلَّابُ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الطَّالِبَانِ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 requires full plural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الطُّلَّابُ.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الطَّالِبَاتُ.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remains matched in verb-first order?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Plural number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object’s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ea typeface="Amiri" pitchFamily="2" charset="-78"/>
                <a:cs typeface="Amiri" pitchFamily="2" charset="-78"/>
              </a:rPr>
              <a:t>الطُّلَّابُ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كَتَبُوا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singular: kataba.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but feminine: katabat.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الطَّالِبَانِ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boys after the verb → kataba.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 requires full plural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 الطُّلَّابُ.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 الطَّالِبَاتُ.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الطُّلَّابُ 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FIRST → full plural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remains matched in verb-first order?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Gender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Plural number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object’s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Gender stays; the plural ending goes.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Verb first → singular verb that still shows gender. Subject first → full agreement (Lesson 2).</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كَتَبَ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ea typeface="Amiri" pitchFamily="2" charset="-78"/>
                <a:cs typeface="Amiri" pitchFamily="2" charset="-78"/>
              </a:rPr>
              <a:t>الطُّلَّابُ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الطُّلَّابُ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كَتَبُوا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verb singular when it comes first.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verb’s gender correct.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rule in past, present and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the verb when I change the order.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kataba ṭ-ṭullābu.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katabati ṭ-ṭālibātu.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yaktubu / taktubu before groups.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turn SVO into VSO and fix the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each 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verb-first report of 80–100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تَقَدُّمُ الْفِعْلِ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verb comes first</a:t>
            </a:r>
            <a:endParaRPr lang="en-US" sz="1350" dirty="0"/>
          </a:p>
          <a:p>
            <a:pPr indent="0" marL="0">
              <a:buNone/>
            </a:pPr>
            <a:r>
              <a:rPr lang="en-US" sz="1100" i="1" dirty="0">
                <a:solidFill>
                  <a:srgbClr val="5A6472"/>
                </a:solidFill>
                <a:latin typeface="Calibri" pitchFamily="34" charset="0"/>
                <a:cs typeface="Amiri" pitchFamily="2" charset="-78"/>
              </a:rPr>
              <a:t>ta-qad-du-mu al-fiʿ-li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الطُّلَّابُ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مُفْرَدٌ فِي الْعَدَدِ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 in number</a:t>
            </a:r>
            <a:endParaRPr lang="en-US" sz="1350" dirty="0"/>
          </a:p>
          <a:p>
            <a:pPr indent="0" marL="0">
              <a:buNone/>
            </a:pPr>
            <a:r>
              <a:rPr lang="en-US" sz="1100" i="1" dirty="0">
                <a:solidFill>
                  <a:srgbClr val="5A6472"/>
                </a:solidFill>
                <a:latin typeface="Calibri" pitchFamily="34" charset="0"/>
                <a:cs typeface="Amiri" pitchFamily="2" charset="-78"/>
              </a:rPr>
              <a:t>muf-ra-dun fī al-ʿa-da-di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لَا كَتَبُوا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 فِي الْجِنْسِ</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matching in gender</a:t>
            </a:r>
            <a:endParaRPr lang="en-US" sz="1350" dirty="0"/>
          </a:p>
          <a:p>
            <a:pPr indent="0" marL="0">
              <a:buNone/>
            </a:pPr>
            <a:r>
              <a:rPr lang="en-US" sz="1100" i="1" dirty="0">
                <a:solidFill>
                  <a:srgbClr val="5A6472"/>
                </a:solidFill>
                <a:latin typeface="Calibri" pitchFamily="34" charset="0"/>
                <a:cs typeface="Amiri" pitchFamily="2" charset="-78"/>
              </a:rPr>
              <a:t>mu-ṭā-bi-qun fī al-jin-si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كَتَبَتِ الطَّالِبَاتُ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 الْكَامِلَةُ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full agreement (subject first)</a:t>
            </a:r>
            <a:endParaRPr lang="en-US" sz="1350" dirty="0"/>
          </a:p>
          <a:p>
            <a:pPr indent="0" marL="0">
              <a:buNone/>
            </a:pPr>
            <a:r>
              <a:rPr lang="en-US" sz="1100" i="1" dirty="0">
                <a:solidFill>
                  <a:srgbClr val="5A6472"/>
                </a:solidFill>
                <a:latin typeface="Calibri" pitchFamily="34" charset="0"/>
                <a:cs typeface="Amiri" pitchFamily="2" charset="-78"/>
              </a:rPr>
              <a:t>al-mu-ṭā-ba-qa-tu al-kā-mi-la-tu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الطُّلَّابُ كَتَبُوا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الْكَسْرَةُ الْمُسَاعِدَةُ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helping kasra on -t</a:t>
            </a:r>
            <a:endParaRPr lang="en-US" sz="1350" dirty="0"/>
          </a:p>
          <a:p>
            <a:pPr indent="0" marL="0">
              <a:buNone/>
            </a:pPr>
            <a:r>
              <a:rPr lang="en-US" sz="1100" i="1" dirty="0">
                <a:solidFill>
                  <a:srgbClr val="5A6472"/>
                </a:solidFill>
                <a:latin typeface="Calibri" pitchFamily="34" charset="0"/>
                <a:cs typeface="Amiri" pitchFamily="2" charset="-78"/>
              </a:rPr>
              <a:t>al-kas-ra-tu al-mu-sā-ʿi-da-tu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كَتَبَتِ الطَّالِبَةُ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التَّحْوِيلُ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transforming (changing the order)</a:t>
            </a:r>
            <a:endParaRPr lang="en-US" sz="1350" dirty="0"/>
          </a:p>
          <a:p>
            <a:pPr indent="0" marL="0">
              <a:buNone/>
            </a:pPr>
            <a:r>
              <a:rPr lang="en-US" sz="1100" i="1" dirty="0">
                <a:solidFill>
                  <a:srgbClr val="5A6472"/>
                </a:solidFill>
                <a:latin typeface="Calibri" pitchFamily="34" charset="0"/>
                <a:cs typeface="Amiri" pitchFamily="2" charset="-78"/>
              </a:rPr>
              <a:t>at-taḥ-wī-lu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حَوِّلِ الْجُمْلَةَ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FORMAL VSO RULE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Verb first: one verb for one, two or many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الْفِعْلُ أَوَّلًا: مُفْرَدٌ مُطَابِقٌ فِي الْجِنْسِ</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is…</a:t>
            </a:r>
            <a:endParaRPr lang="en-US" sz="1100" dirty="0"/>
          </a:p>
        </p:txBody>
      </p:sp>
      <p:sp>
        <p:nvSpPr>
          <p:cNvPr id="17" name="Text 14"/>
          <p:cNvSpPr txBox="1"/>
          <p:nvPr/>
        </p:nvSpPr>
        <p:spPr>
          <a:xfrm>
            <a:off x="56509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36393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after the 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singular</a:t>
            </a:r>
            <a:endParaRPr lang="en-US" sz="1100" dirty="0"/>
          </a:p>
        </p:txBody>
      </p:sp>
      <p:sp>
        <p:nvSpPr>
          <p:cNvPr id="22" name="Text 19"/>
          <p:cNvSpPr txBox="1"/>
          <p:nvPr/>
        </p:nvSpPr>
        <p:spPr>
          <a:xfrm>
            <a:off x="56692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الطَّالِبُ.</a:t>
            </a:r>
            <a:endParaRPr lang="ar-SA" sz="2400" dirty="0"/>
          </a:p>
        </p:txBody>
      </p:sp>
      <p:sp>
        <p:nvSpPr>
          <p:cNvPr id="23" name="Text 20"/>
          <p:cNvSpPr txBox="1"/>
          <p:nvPr/>
        </p:nvSpPr>
        <p:spPr>
          <a:xfrm>
            <a:off x="3657600" y="226771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a:t>
            </a:r>
            <a:endParaRPr lang="ar-SA" sz="2600" dirty="0"/>
          </a:p>
        </p:txBody>
      </p:sp>
      <p:sp>
        <p:nvSpPr>
          <p:cNvPr id="24" name="Text 21"/>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singular</a:t>
            </a:r>
            <a:endParaRPr lang="en-US" sz="1100" dirty="0"/>
          </a:p>
        </p:txBody>
      </p:sp>
      <p:sp>
        <p:nvSpPr>
          <p:cNvPr id="29" name="Text 26"/>
          <p:cNvSpPr txBox="1"/>
          <p:nvPr/>
        </p:nvSpPr>
        <p:spPr>
          <a:xfrm>
            <a:off x="56692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الطَّالِبَانِ.</a:t>
            </a:r>
            <a:endParaRPr lang="ar-SA" sz="2400" dirty="0"/>
          </a:p>
        </p:txBody>
      </p:sp>
      <p:sp>
        <p:nvSpPr>
          <p:cNvPr id="30" name="Text 27"/>
          <p:cNvSpPr txBox="1"/>
          <p:nvPr/>
        </p:nvSpPr>
        <p:spPr>
          <a:xfrm>
            <a:off x="3657600" y="2881884"/>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a:t>
            </a:r>
            <a:endParaRPr lang="ar-SA" sz="2600" dirty="0"/>
          </a:p>
        </p:txBody>
      </p:sp>
      <p:sp>
        <p:nvSpPr>
          <p:cNvPr id="31" name="Text 28"/>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boys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singular</a:t>
            </a:r>
            <a:endParaRPr lang="en-US" sz="1100" dirty="0"/>
          </a:p>
        </p:txBody>
      </p:sp>
      <p:sp>
        <p:nvSpPr>
          <p:cNvPr id="34" name="Text 31"/>
          <p:cNvSpPr txBox="1"/>
          <p:nvPr/>
        </p:nvSpPr>
        <p:spPr>
          <a:xfrm>
            <a:off x="56692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الطُّلَّابُ.</a:t>
            </a:r>
            <a:endParaRPr lang="ar-SA" sz="2400" dirty="0"/>
          </a:p>
        </p:txBody>
      </p:sp>
      <p:sp>
        <p:nvSpPr>
          <p:cNvPr id="35" name="Text 32"/>
          <p:cNvSpPr txBox="1"/>
          <p:nvPr/>
        </p:nvSpPr>
        <p:spPr>
          <a:xfrm>
            <a:off x="3657600" y="3496056"/>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a:t>
            </a:r>
            <a:endParaRPr lang="ar-SA" sz="2600" dirty="0"/>
          </a:p>
        </p:txBody>
      </p:sp>
      <p:sp>
        <p:nvSpPr>
          <p:cNvPr id="36" name="Text 33"/>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 mixed group</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a:t>
            </a:r>
            <a:endParaRPr lang="en-US" sz="1100" dirty="0"/>
          </a:p>
        </p:txBody>
      </p:sp>
      <p:sp>
        <p:nvSpPr>
          <p:cNvPr id="41" name="Text 38"/>
          <p:cNvSpPr txBox="1"/>
          <p:nvPr/>
        </p:nvSpPr>
        <p:spPr>
          <a:xfrm>
            <a:off x="56692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الطَّالِبَةُ.</a:t>
            </a:r>
            <a:endParaRPr lang="ar-SA" sz="2400" dirty="0"/>
          </a:p>
        </p:txBody>
      </p:sp>
      <p:sp>
        <p:nvSpPr>
          <p:cNvPr id="42" name="Text 39"/>
          <p:cNvSpPr txBox="1"/>
          <p:nvPr/>
        </p:nvSpPr>
        <p:spPr>
          <a:xfrm>
            <a:off x="3657600" y="4110228"/>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a:t>
            </a:r>
            <a:endParaRPr lang="ar-SA" sz="2600" dirty="0"/>
          </a:p>
        </p:txBody>
      </p:sp>
      <p:sp>
        <p:nvSpPr>
          <p:cNvPr id="43" name="Text 40"/>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girl</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a:t>
            </a:r>
            <a:endParaRPr lang="en-US" sz="1100" dirty="0"/>
          </a:p>
        </p:txBody>
      </p:sp>
      <p:sp>
        <p:nvSpPr>
          <p:cNvPr id="48" name="Text 45"/>
          <p:cNvSpPr txBox="1"/>
          <p:nvPr/>
        </p:nvSpPr>
        <p:spPr>
          <a:xfrm>
            <a:off x="56692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الطَّالِبَتَانِ.</a:t>
            </a:r>
            <a:endParaRPr lang="ar-SA" sz="2400" dirty="0"/>
          </a:p>
        </p:txBody>
      </p:sp>
      <p:sp>
        <p:nvSpPr>
          <p:cNvPr id="49" name="Text 46"/>
          <p:cNvSpPr txBox="1"/>
          <p:nvPr/>
        </p:nvSpPr>
        <p:spPr>
          <a:xfrm>
            <a:off x="3657600" y="4724400"/>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a:t>
            </a:r>
            <a:endParaRPr lang="ar-SA" sz="2600" dirty="0"/>
          </a:p>
        </p:txBody>
      </p:sp>
      <p:sp>
        <p:nvSpPr>
          <p:cNvPr id="50" name="Text 47"/>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girls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a:t>
            </a:r>
            <a:endParaRPr lang="en-US" sz="1100" dirty="0"/>
          </a:p>
        </p:txBody>
      </p:sp>
      <p:sp>
        <p:nvSpPr>
          <p:cNvPr id="53" name="Text 50"/>
          <p:cNvSpPr txBox="1"/>
          <p:nvPr/>
        </p:nvSpPr>
        <p:spPr>
          <a:xfrm>
            <a:off x="56692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الطَّالِبَاتُ.</a:t>
            </a:r>
            <a:endParaRPr lang="ar-SA" sz="2400" dirty="0"/>
          </a:p>
        </p:txBody>
      </p:sp>
      <p:sp>
        <p:nvSpPr>
          <p:cNvPr id="54" name="Text 51"/>
          <p:cNvSpPr txBox="1"/>
          <p:nvPr/>
        </p:nvSpPr>
        <p:spPr>
          <a:xfrm>
            <a:off x="3657600" y="533857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a:t>
            </a:r>
            <a:endParaRPr lang="ar-SA" sz="2600" dirty="0"/>
          </a:p>
        </p:txBody>
      </p:sp>
      <p:sp>
        <p:nvSpPr>
          <p:cNvPr id="55" name="Text 52"/>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group of girls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memory line: verb first → singular in number, matching in gender. Only TWO past forms to choose from: kataba for boys, katabat for girls.</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PAST-TENSE VSO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Move the verb — drop the number ending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مِنَ الِاسْمِ إِلَى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4462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 (today)</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 (Lesson 2)</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a:t>
            </a:r>
            <a:endParaRPr lang="en-US" sz="1100" dirty="0"/>
          </a:p>
        </p:txBody>
      </p:sp>
      <p:sp>
        <p:nvSpPr>
          <p:cNvPr id="21" name="Text 18"/>
          <p:cNvSpPr txBox="1"/>
          <p:nvPr/>
        </p:nvSpPr>
        <p:spPr>
          <a:xfrm>
            <a:off x="4480560" y="2267712"/>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الطَّالِبَانِ.</a:t>
            </a:r>
            <a:endParaRPr lang="ar-SA" sz="24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الطَّالِبَانِ كَتَبَا.</a:t>
            </a:r>
            <a:endParaRPr lang="ar-SA" sz="24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 keep -t</a:t>
            </a:r>
            <a:endParaRPr lang="en-US" sz="1100" dirty="0"/>
          </a:p>
        </p:txBody>
      </p:sp>
      <p:sp>
        <p:nvSpPr>
          <p:cNvPr id="25" name="Text 22"/>
          <p:cNvSpPr txBox="1"/>
          <p:nvPr/>
        </p:nvSpPr>
        <p:spPr>
          <a:xfrm>
            <a:off x="4480560" y="3054096"/>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الطَّالِبَتَانِ.</a:t>
            </a:r>
            <a:endParaRPr lang="ar-SA" sz="24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الطَّالِبَتَانِ كَتَبَتَا.</a:t>
            </a:r>
            <a:endParaRPr lang="ar-SA" sz="24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-ū</a:t>
            </a:r>
            <a:endParaRPr lang="en-US" sz="1100" dirty="0"/>
          </a:p>
        </p:txBody>
      </p:sp>
      <p:sp>
        <p:nvSpPr>
          <p:cNvPr id="29" name="Text 26"/>
          <p:cNvSpPr txBox="1"/>
          <p:nvPr/>
        </p:nvSpPr>
        <p:spPr>
          <a:xfrm>
            <a:off x="4480560" y="3840480"/>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الطُّلَّابُ.</a:t>
            </a:r>
            <a:endParaRPr lang="ar-SA" sz="24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كَتَبُوا.</a:t>
            </a:r>
            <a:endParaRPr lang="ar-SA" sz="24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becomes -t</a:t>
            </a:r>
            <a:endParaRPr lang="en-US" sz="1100" dirty="0"/>
          </a:p>
        </p:txBody>
      </p:sp>
      <p:sp>
        <p:nvSpPr>
          <p:cNvPr id="35" name="Text 32"/>
          <p:cNvSpPr txBox="1"/>
          <p:nvPr/>
        </p:nvSpPr>
        <p:spPr>
          <a:xfrm>
            <a:off x="4480560" y="4626864"/>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الطَّالِبَاتُ.</a:t>
            </a:r>
            <a:endParaRPr lang="ar-SA" sz="2400" dirty="0"/>
          </a:p>
        </p:txBody>
      </p:sp>
      <p:sp>
        <p:nvSpPr>
          <p:cNvPr id="36" name="Text 33"/>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 كَتَبْنَ.</a:t>
            </a:r>
            <a:endParaRPr lang="ar-SA" sz="24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reading tip: the feminine -t is silent (katabat), but before al- a helping kasra is heard: katabati ṭ-ṭālibātu. Do not invent a new ending — the rule is unchanged.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PRESENT AND FUTURE VSO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The prefix shows gender; the suffix disappears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الْمُضَارِعُ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 future</a:t>
            </a:r>
            <a:endParaRPr lang="en-US" sz="1100" dirty="0"/>
          </a:p>
        </p:txBody>
      </p:sp>
      <p:sp>
        <p:nvSpPr>
          <p:cNvPr id="17" name="Text 14"/>
          <p:cNvSpPr txBox="1"/>
          <p:nvPr/>
        </p:nvSpPr>
        <p:spPr>
          <a:xfrm>
            <a:off x="41879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 present</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سَيَكْتُبُ الطَّالِبَانِ.</a:t>
            </a:r>
            <a:endParaRPr lang="ar-SA" sz="2200" dirty="0"/>
          </a:p>
        </p:txBody>
      </p:sp>
      <p:sp>
        <p:nvSpPr>
          <p:cNvPr id="21" name="Text 18"/>
          <p:cNvSpPr txBox="1"/>
          <p:nvPr/>
        </p:nvSpPr>
        <p:spPr>
          <a:xfrm>
            <a:off x="4206240" y="2267712"/>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يَكْتُبُ الطَّالِبَانِ.</a:t>
            </a:r>
            <a:endParaRPr lang="ar-SA" sz="2200" dirty="0"/>
          </a:p>
        </p:txBody>
      </p:sp>
      <p:sp>
        <p:nvSpPr>
          <p:cNvPr id="22" name="Text 19"/>
          <p:cNvSpPr txBox="1"/>
          <p:nvPr/>
        </p:nvSpPr>
        <p:spPr>
          <a:xfrm>
            <a:off x="548640" y="2267712"/>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الطَّالِبَانِ يَكْتُبَانِ.</a:t>
            </a:r>
            <a:endParaRPr lang="ar-SA" sz="22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سَتَكْتُبُ الطَّالِبَتَانِ.</a:t>
            </a:r>
            <a:endParaRPr lang="ar-SA" sz="2200" dirty="0"/>
          </a:p>
        </p:txBody>
      </p:sp>
      <p:sp>
        <p:nvSpPr>
          <p:cNvPr id="25" name="Text 22"/>
          <p:cNvSpPr txBox="1"/>
          <p:nvPr/>
        </p:nvSpPr>
        <p:spPr>
          <a:xfrm>
            <a:off x="4206240" y="3054096"/>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تَكْتُبُ الطَّالِبَتَانِ.</a:t>
            </a:r>
            <a:endParaRPr lang="ar-SA" sz="2200" dirty="0"/>
          </a:p>
        </p:txBody>
      </p:sp>
      <p:sp>
        <p:nvSpPr>
          <p:cNvPr id="26" name="Text 23"/>
          <p:cNvSpPr txBox="1"/>
          <p:nvPr/>
        </p:nvSpPr>
        <p:spPr>
          <a:xfrm>
            <a:off x="548640" y="3054096"/>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الطَّالِبَتَانِ تَكْتُبَانِ.</a:t>
            </a:r>
            <a:endParaRPr lang="ar-SA" sz="22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سَيَكْتُبُ الطُّلَّابُ.</a:t>
            </a:r>
            <a:endParaRPr lang="ar-SA" sz="2200" dirty="0"/>
          </a:p>
        </p:txBody>
      </p:sp>
      <p:sp>
        <p:nvSpPr>
          <p:cNvPr id="29" name="Text 26"/>
          <p:cNvSpPr txBox="1"/>
          <p:nvPr/>
        </p:nvSpPr>
        <p:spPr>
          <a:xfrm>
            <a:off x="4206240" y="3840480"/>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يَكْتُبُ الطُّلَّابُ.</a:t>
            </a:r>
            <a:endParaRPr lang="ar-SA" sz="2200" dirty="0"/>
          </a:p>
        </p:txBody>
      </p:sp>
      <p:sp>
        <p:nvSpPr>
          <p:cNvPr id="30" name="Text 27"/>
          <p:cNvSpPr txBox="1"/>
          <p:nvPr/>
        </p:nvSpPr>
        <p:spPr>
          <a:xfrm>
            <a:off x="548640" y="3840480"/>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يَكْتُبُونَ.</a:t>
            </a:r>
            <a:endParaRPr lang="ar-SA" sz="22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سَتَكْتُبُ الطَّالِبَاتُ.</a:t>
            </a:r>
            <a:endParaRPr lang="ar-SA" sz="2200" dirty="0"/>
          </a:p>
        </p:txBody>
      </p:sp>
      <p:sp>
        <p:nvSpPr>
          <p:cNvPr id="35" name="Text 32"/>
          <p:cNvSpPr txBox="1"/>
          <p:nvPr/>
        </p:nvSpPr>
        <p:spPr>
          <a:xfrm>
            <a:off x="4206240" y="4626864"/>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تَكْتُبُ الطَّالِبَاتُ.</a:t>
            </a:r>
            <a:endParaRPr lang="ar-SA" sz="2200" dirty="0"/>
          </a:p>
        </p:txBody>
      </p:sp>
      <p:sp>
        <p:nvSpPr>
          <p:cNvPr id="36" name="Text 33"/>
          <p:cNvSpPr txBox="1"/>
          <p:nvPr/>
        </p:nvSpPr>
        <p:spPr>
          <a:xfrm>
            <a:off x="548640" y="4626864"/>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الطَّالِبَاتُ يَكْتُبْنَ.</a:t>
            </a:r>
            <a:endParaRPr lang="ar-SA" sz="22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before a group of girls use taktubu (the “she” form), NOT yaktubna. The future adds sa- to the singular present. With lan: lan yaktuba ṭ-ṭullābu · lan taktuba ṭ-ṭālibātu.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THE CONTRAST AT A GLANCE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Change the order — recalculate the verb</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7" name="Text 14"/>
          <p:cNvSpPr txBox="1"/>
          <p:nvPr/>
        </p:nvSpPr>
        <p:spPr>
          <a:xfrm>
            <a:off x="3547872"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 الْوَلَدَانِ.</a:t>
            </a:r>
            <a:endParaRPr lang="ar-SA" sz="2400" dirty="0"/>
          </a:p>
        </p:txBody>
      </p:sp>
      <p:sp>
        <p:nvSpPr>
          <p:cNvPr id="21" name="Text 18"/>
          <p:cNvSpPr txBox="1"/>
          <p:nvPr/>
        </p:nvSpPr>
        <p:spPr>
          <a:xfrm>
            <a:off x="3566160"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الْوَلَدَانِ وَصَلَا.</a:t>
            </a:r>
            <a:endParaRPr lang="ar-SA" sz="2400" dirty="0"/>
          </a:p>
        </p:txBody>
      </p:sp>
      <p:sp>
        <p:nvSpPr>
          <p:cNvPr id="22" name="Text 19"/>
          <p:cNvSpPr txBox="1"/>
          <p:nvPr/>
        </p:nvSpPr>
        <p:spPr>
          <a:xfrm>
            <a:off x="56692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boys arrived.</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 الْبِنْتَانِ.</a:t>
            </a:r>
            <a:endParaRPr lang="ar-SA" sz="2400" dirty="0"/>
          </a:p>
        </p:txBody>
      </p:sp>
      <p:sp>
        <p:nvSpPr>
          <p:cNvPr id="25" name="Text 22"/>
          <p:cNvSpPr txBox="1"/>
          <p:nvPr/>
        </p:nvSpPr>
        <p:spPr>
          <a:xfrm>
            <a:off x="3566160"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الْبِنْتَانِ وَصَلَتَا.</a:t>
            </a:r>
            <a:endParaRPr lang="ar-SA" sz="2400" dirty="0"/>
          </a:p>
        </p:txBody>
      </p:sp>
      <p:sp>
        <p:nvSpPr>
          <p:cNvPr id="26" name="Text 23"/>
          <p:cNvSpPr txBox="1"/>
          <p:nvPr/>
        </p:nvSpPr>
        <p:spPr>
          <a:xfrm>
            <a:off x="56692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girls arrived.</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 الْأَوْلَادُ.</a:t>
            </a:r>
            <a:endParaRPr lang="ar-SA" sz="2400" dirty="0"/>
          </a:p>
        </p:txBody>
      </p:sp>
      <p:sp>
        <p:nvSpPr>
          <p:cNvPr id="29" name="Text 26"/>
          <p:cNvSpPr txBox="1"/>
          <p:nvPr/>
        </p:nvSpPr>
        <p:spPr>
          <a:xfrm>
            <a:off x="3566160"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الْأَوْلَادُ وَصَلُوا.</a:t>
            </a:r>
            <a:endParaRPr lang="ar-SA" sz="2400" dirty="0"/>
          </a:p>
        </p:txBody>
      </p:sp>
      <p:sp>
        <p:nvSpPr>
          <p:cNvPr id="30" name="Text 27"/>
          <p:cNvSpPr txBox="1"/>
          <p:nvPr/>
        </p:nvSpPr>
        <p:spPr>
          <a:xfrm>
            <a:off x="56692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boys arrived.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 الْبَنَاتُ.</a:t>
            </a:r>
            <a:endParaRPr lang="ar-SA" sz="2400" dirty="0"/>
          </a:p>
        </p:txBody>
      </p:sp>
      <p:sp>
        <p:nvSpPr>
          <p:cNvPr id="35" name="Text 32"/>
          <p:cNvSpPr txBox="1"/>
          <p:nvPr/>
        </p:nvSpPr>
        <p:spPr>
          <a:xfrm>
            <a:off x="3566160"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الْبَنَاتُ وَصَلْنَ.</a:t>
            </a:r>
            <a:endParaRPr lang="ar-SA" sz="2400" dirty="0"/>
          </a:p>
        </p:txBody>
      </p:sp>
      <p:sp>
        <p:nvSpPr>
          <p:cNvPr id="36" name="Text 33"/>
          <p:cNvSpPr txBox="1"/>
          <p:nvPr/>
        </p:nvSpPr>
        <p:spPr>
          <a:xfrm>
            <a:off x="56692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girls arrived.</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 الْحَافِلَاتُ.</a:t>
            </a:r>
            <a:endParaRPr lang="ar-SA" sz="2400" dirty="0"/>
          </a:p>
        </p:txBody>
      </p:sp>
      <p:sp>
        <p:nvSpPr>
          <p:cNvPr id="41" name="Text 38"/>
          <p:cNvSpPr txBox="1"/>
          <p:nvPr/>
        </p:nvSpPr>
        <p:spPr>
          <a:xfrm>
            <a:off x="3566160"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الْحَافِلَاتُ وَصَلَتْ.</a:t>
            </a:r>
            <a:endParaRPr lang="ar-SA" sz="2400" dirty="0"/>
          </a:p>
        </p:txBody>
      </p:sp>
      <p:sp>
        <p:nvSpPr>
          <p:cNvPr id="42" name="Text 39"/>
          <p:cNvSpPr txBox="1"/>
          <p:nvPr/>
        </p:nvSpPr>
        <p:spPr>
          <a:xfrm>
            <a:off x="56692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buses arrived.</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useful contrast: with PEOPLE, the order changes the verb. With THINGS (non-human plurals) both orders give the same “she” verb, because both rules point to waṣalat.</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الْمُعَلِّمُونَ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الْمُعَلِّمَاتُ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الْبِنْتَانِ الْبَابَ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فَتَحَتَا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الْمُعَلِّمُونَ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شَرَحُوا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شَرَحْنَ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شَرَحَ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Teachers (m.) after the verb → sharaḥa.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الْمُعَلِّمَاتُ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شَرَحَتْ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شَرَحْنَ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شَرَحُوا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teachers after the verb → sharaḥat.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الْبِنْتَانِ الْبَابَ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فَتَحَتَا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فَتَحَتْ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girls after the verb → fataḥat.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after the verb → tadrusu.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turn SVO into VSO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 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الطَّالِبَاتُ كَتَبْنَ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Full agreement: -na.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مُفْرَدٌ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first: one form.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Gender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مُؤَنَّثٌ</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Girls: keep -t.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first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كَتَبَتِ الطَّالِبَاتُ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Singular, feminine.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SINGULAR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بَدَأَ</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الطُّلَّابُ</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النَّشَاطَ مُبَكِّرًا، ثُمَّ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جَهَّزَتِ</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الطَّالِبَاتُ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الْقَاعَةَ.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وَصَلَتِ</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الْحَافِلَاتُ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فِي السَّاعَةِ التَّاسِعَةِ.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لَعِبَ</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الْفَرِيقَانِ</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مُبَارَاةً قَوِيَّةً. غَدًا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سَيُقَدِّمُ</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الْمُعَلِّمُونَ</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الْجَوَائِزَ.</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students started the activity early, then the girls prepared the hall. The buses arrived at nine o’clock. The two teams played a hard match. Tomorrow the teachers will present the prizes.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شَرَحَ الْمُعَلِّمُونَ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teachers explained the lesson.</a:t>
            </a:r>
            <a:endParaRPr lang="en-US" sz="1250" dirty="0"/>
          </a:p>
          <a:p>
            <a:pPr indent="0" marL="0">
              <a:buNone/>
            </a:pPr>
            <a:r>
              <a:rPr lang="en-US" sz="1050" i="1" dirty="0">
                <a:solidFill>
                  <a:srgbClr val="8A6D1E"/>
                </a:solidFill>
                <a:latin typeface="Calibri" pitchFamily="34" charset="0"/>
                <a:cs typeface="Amiri" pitchFamily="2" charset="-78"/>
              </a:rPr>
              <a:t>Plural subject, singular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شَرَحَتِ الْمُعَلِّمَاتُ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teachers explained the lesson.</a:t>
            </a:r>
            <a:endParaRPr lang="en-US" sz="1250" dirty="0"/>
          </a:p>
          <a:p>
            <a:pPr indent="0" marL="0">
              <a:buNone/>
            </a:pPr>
            <a:r>
              <a:rPr lang="en-US" sz="1050" i="1" dirty="0">
                <a:solidFill>
                  <a:srgbClr val="8A6D1E"/>
                </a:solidFill>
                <a:latin typeface="Calibri" pitchFamily="34" charset="0"/>
                <a:cs typeface="Amiri" pitchFamily="2" charset="-78"/>
              </a:rPr>
              <a:t>Feminine singular.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تَدْرُسُ الطَّالِبَاتُ فِي الْمَكْتَبَةِ.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study in the library.</a:t>
            </a:r>
            <a:endParaRPr lang="en-US" sz="1250" dirty="0"/>
          </a:p>
          <a:p>
            <a:pPr indent="0" marL="0">
              <a:buNone/>
            </a:pPr>
            <a:r>
              <a:rPr lang="en-US" sz="1050" i="1" dirty="0">
                <a:solidFill>
                  <a:srgbClr val="8A6D1E"/>
                </a:solidFill>
                <a:latin typeface="Calibri" pitchFamily="34" charset="0"/>
                <a:cs typeface="Amiri" pitchFamily="2" charset="-78"/>
              </a:rPr>
              <a:t>ta-, not -na.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سَيَعْمَلُ الْمُهَنْدِسُونَ هُنَا.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engineers will work here.</a:t>
            </a:r>
            <a:endParaRPr lang="en-US" sz="1250" dirty="0"/>
          </a:p>
          <a:p>
            <a:pPr indent="0" marL="0">
              <a:buNone/>
            </a:pPr>
            <a:r>
              <a:rPr lang="en-US" sz="1050" i="1" dirty="0">
                <a:solidFill>
                  <a:srgbClr val="8A6D1E"/>
                </a:solidFill>
                <a:latin typeface="Calibri" pitchFamily="34" charset="0"/>
                <a:cs typeface="Amiri" pitchFamily="2" charset="-78"/>
              </a:rPr>
              <a:t>sa- + singular.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TURN IT ROUND (WEBSITE PAPER ROUTE)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Move the subject, fix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جُمْلَةٍ فِعْلِيَّةٍ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a:t>
            </a:r>
            <a:endParaRPr lang="en-US" sz="1100" dirty="0"/>
          </a:p>
        </p:txBody>
      </p:sp>
      <p:sp>
        <p:nvSpPr>
          <p:cNvPr id="21" name="Text 18"/>
          <p:cNvSpPr txBox="1"/>
          <p:nvPr/>
        </p:nvSpPr>
        <p:spPr>
          <a:xfrm>
            <a:off x="475488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 الْوَلَدَانِ.</a:t>
            </a:r>
            <a:endParaRPr lang="ar-SA" sz="2200" dirty="0"/>
          </a:p>
        </p:txBody>
      </p:sp>
      <p:sp>
        <p:nvSpPr>
          <p:cNvPr id="22" name="Text 19"/>
          <p:cNvSpPr txBox="1"/>
          <p:nvPr/>
        </p:nvSpPr>
        <p:spPr>
          <a:xfrm>
            <a:off x="54864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الْوَلَدَانِ ذَهَبَا.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-ū</a:t>
            </a:r>
            <a:endParaRPr lang="en-US" sz="1100" dirty="0"/>
          </a:p>
        </p:txBody>
      </p:sp>
      <p:sp>
        <p:nvSpPr>
          <p:cNvPr id="27" name="Text 24"/>
          <p:cNvSpPr txBox="1"/>
          <p:nvPr/>
        </p:nvSpPr>
        <p:spPr>
          <a:xfrm>
            <a:off x="475488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فَازَ الطُّلَّابُ بِالْمُبَارَاةِ.</a:t>
            </a:r>
            <a:endParaRPr lang="ar-SA" sz="2200" dirty="0"/>
          </a:p>
        </p:txBody>
      </p:sp>
      <p:sp>
        <p:nvSpPr>
          <p:cNvPr id="28" name="Text 25"/>
          <p:cNvSpPr txBox="1"/>
          <p:nvPr/>
        </p:nvSpPr>
        <p:spPr>
          <a:xfrm>
            <a:off x="54864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فَازُوا بِالْمُبَارَاةِ.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becomes -t</a:t>
            </a:r>
            <a:endParaRPr lang="en-US" sz="1100" dirty="0"/>
          </a:p>
        </p:txBody>
      </p:sp>
      <p:sp>
        <p:nvSpPr>
          <p:cNvPr id="33" name="Text 30"/>
          <p:cNvSpPr txBox="1"/>
          <p:nvPr/>
        </p:nvSpPr>
        <p:spPr>
          <a:xfrm>
            <a:off x="475488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شَارَكَتِ الطَّالِبَاتُ فِي الْحَفْلِ.</a:t>
            </a:r>
            <a:endParaRPr lang="ar-SA" sz="2200" dirty="0"/>
          </a:p>
        </p:txBody>
      </p:sp>
      <p:sp>
        <p:nvSpPr>
          <p:cNvPr id="34" name="Text 31"/>
          <p:cNvSpPr txBox="1"/>
          <p:nvPr/>
        </p:nvSpPr>
        <p:spPr>
          <a:xfrm>
            <a:off x="54864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الطَّالِبَاتُ شَارَكْنَ فِي الْحَفْلِ.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 keep -t</a:t>
            </a:r>
            <a:endParaRPr lang="en-US" sz="1100" dirty="0"/>
          </a:p>
        </p:txBody>
      </p:sp>
      <p:sp>
        <p:nvSpPr>
          <p:cNvPr id="39" name="Text 36"/>
          <p:cNvSpPr txBox="1"/>
          <p:nvPr/>
        </p:nvSpPr>
        <p:spPr>
          <a:xfrm>
            <a:off x="475488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رَسَمَتِ الْبِنْتَانِ صُورَةً.</a:t>
            </a:r>
            <a:endParaRPr lang="ar-SA" sz="2200" dirty="0"/>
          </a:p>
        </p:txBody>
      </p:sp>
      <p:sp>
        <p:nvSpPr>
          <p:cNvPr id="40" name="Text 37"/>
          <p:cNvSpPr txBox="1"/>
          <p:nvPr/>
        </p:nvSpPr>
        <p:spPr>
          <a:xfrm>
            <a:off x="54864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الْبِنْتَانِ رَسَمَتَا صُورَةً.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-ūna</a:t>
            </a:r>
            <a:endParaRPr lang="en-US" sz="1100" dirty="0"/>
          </a:p>
        </p:txBody>
      </p:sp>
      <p:sp>
        <p:nvSpPr>
          <p:cNvPr id="43" name="Text 40"/>
          <p:cNvSpPr txBox="1"/>
          <p:nvPr/>
        </p:nvSpPr>
        <p:spPr>
          <a:xfrm>
            <a:off x="475488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يَشْرَحُ الْمُعَلِّمُونَ الدَّرْسَ.</a:t>
            </a:r>
            <a:endParaRPr lang="ar-SA" sz="2200" dirty="0"/>
          </a:p>
        </p:txBody>
      </p:sp>
      <p:sp>
        <p:nvSpPr>
          <p:cNvPr id="44" name="Text 41"/>
          <p:cNvSpPr txBox="1"/>
          <p:nvPr/>
        </p:nvSpPr>
        <p:spPr>
          <a:xfrm>
            <a:off x="54864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الْمُعَلِّمُونَ يَشْرَحُونَ الدَّرْسَ.</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-na becomes ta-</a:t>
            </a:r>
            <a:endParaRPr lang="en-US" sz="1100" dirty="0"/>
          </a:p>
        </p:txBody>
      </p:sp>
      <p:sp>
        <p:nvSpPr>
          <p:cNvPr id="47" name="Text 44"/>
          <p:cNvSpPr txBox="1"/>
          <p:nvPr/>
        </p:nvSpPr>
        <p:spPr>
          <a:xfrm>
            <a:off x="475488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سَتُسَافِرُ الطَّالِبَاتُ غَدًا.</a:t>
            </a:r>
            <a:endParaRPr lang="ar-SA" sz="2200" dirty="0"/>
          </a:p>
        </p:txBody>
      </p:sp>
      <p:sp>
        <p:nvSpPr>
          <p:cNvPr id="48" name="Text 45"/>
          <p:cNvSpPr txBox="1"/>
          <p:nvPr/>
        </p:nvSpPr>
        <p:spPr>
          <a:xfrm>
            <a:off x="54864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الطَّالِبَاتُ سَيُسَافِرْنَ غَدًا.</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paper route: draw an arrow showing every dual or plural ending you removed. Then read the new sentence aloud.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 OR REPAIR? (WEBSITE CLINIC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Name the order, then check the verb</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صَحِيحٌ أَمْ يَحْتَاجُ إِلَى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 الْأَوْلَادُ.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الْأَوْلَادُ ذَهَبُوا.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وَصَلَتِ الْبَنَاتُ.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 الْأَوْلَادُ.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ذَهَبُوا الْأَوْلَادُ.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الْأَوْلَادُ ذَهَبَ.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وَصَلْنَ الْبَنَاتُ.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يَلْعَبُونَ الْأَوْلَادُ.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 الْأَوْلَادُ.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الْأَوْلَادُ ذَهَبُوا.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وَصَلَتِ الْبَنَاتُ.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 الْأَوْلَادُ.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ذَهَبُوا الْأَوْلَادُ.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الْأَوْلَادُ ذَهَبَ.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وَصَلْنَ الْبَنَاتُ.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يَلْعَبُونَ الْأَوْلَادُ.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كَتَبُوا الطُّلَّابُ الْوَاجِبَ.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comes first: verb or subject?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كَتَبْنَ الطَّالِبَاتُ الْوَاجِبَ.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Girls: which singular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يَدْرُسْنَ الطَّالِبَاتُ الْآنَ.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Present “she”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كَتَبُوا الطُّلَّابُ الْوَاجِبَ.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كَتَبَ الطُّلَّابُ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 first → singular verb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كَتَبْنَ الطَّالِبَاتُ الْوَاجِبَ.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كَتَبَتِ الطَّالِبَاتُ الْوَاجِبَ.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 first → feminine singular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يَدْرُسْنَ الطَّالِبَاتُ الْآنَ.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تَدْرُسُ الطَّالِبَاتُ الْآنَ.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Present before girls → ta- “she” form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PRESENT VSO AND FINAL MASTERY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الطُّلَّابُ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الْمُعَلِّمَتَانِ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formal VSO?</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يَعْمَلُونَ الْمُهَنْدِسُونَ هُنَا.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 الْمُهَنْدِسُونَ هُنَا.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 الْمُهَنْدِسُونَ هُنَا.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الطُّلَّابُ فَازُوا بِالْمُبَارَاةِ.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فَازُوا الطُّلَّابُ بِالْمُبَارَاةِ.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فَازَتِ الطُّلَّابُ بِالْمُبَارَاةِ.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الطُّلَّابُ بِالْمُبَارَاةِ.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الطُّلَّابُ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يَدْرُسُ</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Boys after the verb → yadrusu.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الْمُعَلِّمَتَانِ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female teachers after the verb → tudarrisu.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formal VSO?</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يَعْمَلُونَ الْمُهَنْدِسُونَ هُنَا.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يَعْمَلُ الْمُهَنْدِسُونَ هُنَا.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تَعْمَلُ الْمُهَنْدِسُونَ هُنَا.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masculine verb before a group of men.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الطُّلَّابُ فَازُوا بِالْمُبَارَاةِ.</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فَازُوا الطُّلَّابُ بِالْمُبَارَاةِ.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فَازَتِ الطُّلَّابُ بِالْمُبَارَاةِ.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 الطُّلَّابُ بِالْمُبَارَاةِ.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the subject and recalculate: fāza.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SKILLS WORKSHOP (TEACHER-WRITTEN REPORT)</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sports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يَوْمَ الْخَمِيسِ أَقَامَتْ مَدْرَسَتُنَا يَوْمًا رِيَاضِيًّا. وَصَلَتِ الْحَافِلَاتُ فِي السَّاعَةِ الثَّامِنَةِ، وَنَزَلَ الطُّلَّابُ إِلَى الْمَلْعَبِ. جَهَّزَتِ الْمُعَلِّمَاتُ الْمَاءَ وَالْفَوَاكِهَ، وَرَفَعَ الْأَوْلَادُ الْأَعْلَامَ. فِي السِّبَاقِ الْأَوَّلِ فَازَ الْفَرِيقُ الْأَزْرَقُ، ثُمَّ فَازَتِ الْبَنَاتُ فِي كُرَةِ السَّلَّةِ. شَجَّعَ الْآبَاءُ اللَّاعِبِينَ بِحَمَاسٍ. فِي النِّهَايَةِ وَزَّعَ الْمُدِيرُ الْجَوَائِزَ، وَسَيَكْتُبُ الطُّلَّابُ تَقْرِيرًا عَنِ الْيَوْمِ.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يَوْمًا رِيَاضِيًّا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sports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نَزَلَ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went down / out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الْأَعْلَامَ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flags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السِّبَاقِ</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race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شَجَّعَ</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cheered on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female teachers prepare?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fruit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prizes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nazala ṭ-ṭullābu, not nazalū?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student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verb first: singular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comes before a group of girls?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رَفَعَ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شَجَّعَ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students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 out prizes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a report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run a race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female teachers prepare?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flags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fruit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prizes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Jahhazati l-muʿallimātu l-māʾa wa-l-fawākiha.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nazala ṭ-ṭullābu, not nazalū?</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student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verb first: singular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comes before the plural subject.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comes before a group of girls?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رَفَعَ</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شَجَّعَ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Fāzati l-banātu: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students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 out prizes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report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run a race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Sa-yaktubu ṭ-ṭullābu taqrīran.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report the event, verb first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 الطُّلَّابُ فِي الرِّحْلَةِ؟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الْبَنَاتُ فِي الْحَفْلِ؟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أَخْبِرْنَا عَنْ مُبَارَاةٍ: مَاذَا 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زَارَ الطُّلَّابُ ___ ، وَأَكَلَ الطُّلَّابُ ___ .</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قَدَّمَتِ الْبَنَاتُ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لَعِبَ ___ ، ثُمَّ فَازَ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حَدَثَ فِي الْحَفْلِ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happened at the celebration yesterday?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وَصَلَ الضُّيُوفُ مُبَكِّرًا، وَأَلْقَتِ الطَّالِبَاتُ قَصِيدَةً جَمِيلَةً. بَعْدَ ذَلِكَ وَزَّعَ الْمُعَلِّمُونَ الْهَدَايَا.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guests arrived early, and the girls recited a lovely poem. After that the teachers handed out the gifts.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trip: what the students did — verb first.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zāra ṭ-ṭullābu · akala ṭ-ṭullābu.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group of girls, two people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zārati ṭ-ṭālibātu · sa-yazūru.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event-first report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every verb-first form is singular.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الْحَافِلَاتُ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buses arrived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تَدْرُسُ الطَّالِبَاتُ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are studying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سَيُقَدِّمُ الطُّلَّابُ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the students will present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فَازَتِ الْبِنْتَانِ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girls won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زَارَ الطُّلَّابُ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visited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رَسَمَتِ الْبَنَاتُ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drew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شَرَحَ الْمُعَلِّمُونَ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explained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لَعِبَ الْوَلَدَانِ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boys played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ذَهَبَ  ·  ذَهَبَتْ  ·  زَارَ  ·  زَارَتْ  ·  يَدْرُسُ  ·  تَدْرُسُ  ·  سَيُقَدِّمُ  ·  سَتُقَدِّمُ  ·  الطُّلَّابُ  ·  الطَّالِبَاتُ  ·  الْوَلَدَانِ  ·  الْبِنْتَانِ  ·  الْحَافِلَاتُ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event-first report (80–100 words): a school event, match, trip or celebration, with at least six sentences beginning with a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male / mixed plural subjects after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female plural subjects after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subject.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time frames — and every verb-first form singular.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 الضُّيُوفُ</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guests arrived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 الْحَفْلُ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celebration began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صَفَّقَ الْحُضُورُ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audience applauded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الْفَرِيقُ</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team won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وَزَّعَ الْجَوَائِزَ</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handed out the prizes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أَقَامَتْ مَدْرَسَتُنَا حَفْلًا كَبِيرًا فِي نِهَايَةِ الْفَصْلِ. وَصَلَ الضُّيُوفُ فِي السَّاعَةِ الْعَاشِرَةِ، وَجَلَسَ الْآبَاءُ فِي الصُّفُوفِ الْأُولَى. بَدَأَ الْحَفْلُ بِتِلَاوَةِ الْقُرْآنِ، ثُمَّ أَلْقَتِ الطَّالِبَاتُ قَصِيدَةً عَنِ الْوَطَنِ. قَدَّمَ الطُّلَّابُ مَسْرَحِيَّةً مُضْحِكَةً، وَصَفَّقَ الْحُضُورُ طَوِيلًا. بَعْدَ ذَلِكَ وَزَّعَتِ الْمُعَلِّمَتَانِ الْجَدِيدَتَانِ الْهَدَايَا. وَصَلَتِ الْحَافِلَاتُ فِي السَّاعَةِ الثَّانِيَةِ، وَرَجَعَ الطُّلَّابُ إِلَى بُيُوتِهِمْ مَسْرُورِينَ. فِي الْأُسْبُوعِ الْقَادِمِ سَيَكْتُبُ الطُّلَّابُ مَقَالَاتٍ عَنِ الْحَفْلِ، وَسَتَنْشُرُهَا الْمَدْرَسَةُ فِي مَجَلَّتِهَا.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held a big celebration at the end of term. The guests arrived at ten o’clock, and the parents sat in the front rows. The celebration began with a recitation of the Qur’an, then the girls recited a poem about the homeland. The boys performed a funny play, and the audience applauded for a long time. After that the two new teachers (f.) handed out the gifts. The buses arrived at two o’clock, and the students went home happy. Next week the students will write articles about the celebration, and the school will publish them in its magazine.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singular verb + male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verb + female plural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 + dual subject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before a plural subject is singular.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before girls end in -t (or start with ta-).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taktubu, not yaktubna, before a group of girls.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When I moved a subject, I recalculated the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the helping kasra aloud: katabati ṭ-ṭālibātu.</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الآنَ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يَكْتُبُونَ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غَدًا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سَيَكْتُبْنَ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subject first:</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شَارَكَتِ الطَّالِبَاتُ.</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شَارَكْنَ.</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شَارَكَتْ.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شَارَكُوا.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الآنَ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يَكْتُبْنَ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يَكْتُبُونَ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after the verb → taktubu.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 غَدًا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سَيَكْتُبْنَ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سَتَكْتُبُ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VSO: sa-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subject first: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شَارَكَتِ الطَّالِبَاتُ.</a:t>
            </a:r>
            <a:endParaRPr lang="ar-SA" sz="15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الطَّالِبَاتُ شَارَكْنَ.</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الطَّالِبَاتُ شَارَكَتْ.</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الطَّالِبَاتُ شَارَكُوا.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FIRST → full agreement: shārakna.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GM-VS-04: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GM-VS-04 · Building and Editing Verbal Sentences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 / no question word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past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present form)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 فَـ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for … (contrast)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Questions and negatives keep the same roles. How would you say “The students did not write the report”, verb first?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لَمْ ______ الطُّلَّابُ التَّقْرِيرَ.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verb-first sentences: three with boys, three with girls.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Turn the six sentences round (subject first) and fix every verb.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event-first report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GM-VS-04 · Building and Editing Verbal Sentences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بِنَاءُ الْجُمَلِ الْفِعْلِيَّةِ وَمُرَاجَعَتُهَا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verb first → singular in number, matching in gender · kataba ṭ-ṭullābu · katabati ṭ-ṭālibātu · present: yaktubu / taktubu (never yaktubna before the subject) · subject first → full agreement · move the subject = recalculate the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GM-VS-03 · Verb-First Agreement</dc:title>
  <dc:subject>PptxGenJS Presentation</dc:subject>
  <dc:creator>Al Madina Online School · Arabic Department</dc:creator>
  <cp:lastModifiedBy>Al Madina Online School · Arabic Department</cp:lastModifiedBy>
  <cp:revision>1</cp:revision>
  <dcterms:created xsi:type="dcterms:W3CDTF">2026-10-11T06:42:49Z</dcterms:created>
  <dcterms:modified xsi:type="dcterms:W3CDTF">2026-10-11T06:42:49Z</dcterms:modified>
</cp:coreProperties>
</file>