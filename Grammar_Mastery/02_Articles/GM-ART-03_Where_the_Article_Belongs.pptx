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Articles › GM-ART-03 (“Where the Article Belongs”).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possessive suffixes block الـ; the first noun of an iḍāfa never takes الـ; spell connected speech in full. Develop: two- and three-noun chains; وَالـ · بِالـ · لِلـ; names and titles. Stretch: adjective targets after iḍāfa; pronunciation elision vs written contraction; fixed expressions.
• Mastery question (website): WHAT is making this expression definite — and does that route allow the visible article on this noun?
• This lesson completes the Articles area (GM-ART-01 to 03). The Cambridge article editor at the end is a good assessment piece.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Boundary Entry Check (questions 1–5) — it mixes correct forms that look different, retrieving GM-ART-01 and GM-ART-02.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Ask: HOW does the listener know which one? Article · name · suffix · iḍāfa · demonstrative.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(1 of 2)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(2 of 2)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PART 1 (3 min) — website section “Five routes to a definite expression”. Website: “Do not ask only, ‘Can I see الـ?’ Ask, ‘How is the listener able to identify this noun?’”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(3 min) — website section “Possessive suffixes block the article”.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PART 3 (3 min) — website section “Idāfa has a protected first position”. Compare بَابُ الْمَدْرَسَةِ الْجَدِيدَةِ = the door of the NEW SCHOOL.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PART 4 (2 min) — website table “Attached particles, spelling and pronunciation”. Only لِـ + الـ changes the spelling: لِلطَّالِبِ · لِلشَّمْسِ.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5 (2 min) — website sections “Proper names and titles” and “Generic and fixed expressions”. Safe exam practice: copy the spelling of a name from the question. Avoid word-for-word transfer from English “the”.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mini-check 1 “Name the route”.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From the website reading workshop. Label each noun aloud: ART · NAME · SUFFIX · IḌĀFA · DEMONSTRATIVE (website paper-route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website game “Boundary Patrol” as a whole-class sort. Students type A, S, N or I for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website game “Boundary Patrol” as a whole-class sort. Students type A, S, N or I for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(3 min) — website article editor. Show the draft first (cover the table): اِسْمِي الْمَرْيَمُ، وَأَسْكُنُ فِي قَاهِرَةَ. هٰذَا الْبَيْتِي الْجَدِيدُ. فِي الصَّبَاحِ أَذْهَبُ إِلَى لْمَدْرَسَةِ. أُحِبُّ الْمَكْتَبَةَ الْمَدْرَسَةِ الْكَبِيرَةُ، وَأَقْرَأُ فِيهَا الْكِتَابِي الْمُفَضَّلَ.
Students find the errors in pairs (chat DM), then reveal the table. Website corrected version: اِسْمِي مَرْيَمُ، وَأَسْكُنُ فِي الْقَاهِرَةِ. هٰذَا بَيْتِي الْجَدِيدُ. فِي الصَّبَاحِ أَذْهَبُ إِلَى الْمَدْرَسَةِ. أُحِبُّ مَكْتَبَةَ الْمَدْرَسَةِ الْكَبِيرَةَ، وَأَقْرَأُ فِيهَا كِتَابِي الْمُفَضَّلَ.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mini-check 4 “Spelling or pronunciation?”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READ AND NOTICE (3 min) — website reading workshop. Read it aloud once while students follow; then they hunt for today’s grammar.
Task: Website: circle every visible article, box every possessive suffix, and bracket each iḍāfa chain.
SEND reading strategy: cover the text and uncover one sentence at a time. Core: use the green glossary.
Website listening — read twice: الطَّالِبَةُ: هٰذِهِ حَقِيبَتِي الزَّرْقَاءُ، وَلٰكِنَّ كِتَابَ الْعَرَبِيَّةِ لَيْسَ فِيهَا. الْمُوَظَّفَةُ: هَلْ هٰذَا كِتَابُكِ؟ الطَّالِبَةُ: نَعَمْ، هٰذَا كِتَابِي الْجَدِيدُ. وَهٰذَا قَلَمُ صَدِيقَتِي. (questions 4 and 5 on the next slide refer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Website reading and listening evidence questions 1, 2, 3, 4 and 6 (the listening items use the lost-property script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(3 min) — website speaking studio. Sequence: ● 10s think → ↔ 45s rehearse aloud with mic muted → ◎ two named students on open mic (warned in advance) → + ? the class types one follow-up in chat → ↺ one student summarises.
Routes: Core uses the Core prompt and stem; Develop the Develop prompt; Stretch the last prompt.
Website role-play: finding and returning objects. Include a demonstrative (هٰذِهِ الْحَقِيبَةُ), a possessive suffix (حَقِيبَتِي), an iḍāfa (كِتَابُ الطَّالِبَةِ), a question (هَلْ هٰذَا قَلَمُكِ؟) and one corrected misunderstanding. Use real objects on camera. To a boy: كِتَابُكَ · قَلَمُكَ.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writing task: My day and my places (80–90 words): three nouns with الـ; three possessive suffixes without الـ; two iḍāfa; one proper name with an established article and one without; one attached particle (وَالـ · بِالـ · لِلـ); two fixed expressions.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teacher model on the website writing workshop (≈ 70 words), with an English translation for Core students.
Students find in the model (● 20s → ◎) the items on the chips. Suffix: أُسْرَتِي · بَيْتُنَا · أَخِي · مُعَلِّمِي · دَرْسَهُ. Iḍāfa: مَسْجِدِ الْحَيِّ · مَكْتَبَةِ الْمَدِينَةِ. Names: يُوسُفُ (no الـ) · الْمَغْرِبِ (with الـ) · الْأُسْتَاذُ أَحْمَدُ. Particles: بِالْحَافِلَةِ · وَالْقِصَصَ · لِلْمُعَلِّمِ. Fixed: أُمَارِسُ الرِّيَاضَةَ.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12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MASTERY CHECK (FLEX) — the rest of the website final check, for fast finishers or homework. Website guidance: below 70% repeat the mini-check; 70–89% replay the game; 90%+ move on and revisit in 3–7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(GM-N-01 · Noun Gender) will spend class time USING this language, so students prepare it tonight — short, simple, easy to access (school guidance: “Simple, Short, Interesting, Relevant, Easy to access”). The five words prepare GM-N-01 (website Nouns lesson 1: noun gender).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ARTICLES  ·  GM-ART-03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GM-ART-03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Where the Article Belongs</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مَوَاضِعُ «الـ» وَحُدُودُ اسْتِعْمَالِهَا</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Move beyond “add </a:t>
            </a:r>
            <a:pPr algn="l" indent="0" marL="0">
              <a:buNone/>
            </a:pPr>
            <a:r>
              <a:rPr lang="ar-SA" altLang="en-US" sz="1800" dirty="0">
                <a:solidFill>
                  <a:srgbClr val="C6D2E6"/>
                </a:solidFill>
                <a:latin typeface="Amiri" pitchFamily="2" charset="-78"/>
                <a:ea typeface="Amiri" pitchFamily="2" charset="-78"/>
                <a:cs typeface="Amiri" pitchFamily="2" charset="-78"/>
              </a:rPr>
              <a:t>الـ</a:t>
            </a:r>
            <a:pPr algn="l" indent="0" marL="0">
              <a:buNone/>
            </a:pPr>
            <a:r>
              <a:rPr lang="en-US" sz="1400" dirty="0">
                <a:solidFill>
                  <a:srgbClr val="C6D2E6"/>
                </a:solidFill>
                <a:latin typeface="Calibri" pitchFamily="34" charset="0"/>
                <a:cs typeface="Amiri" pitchFamily="2" charset="-78"/>
              </a:rPr>
              <a:t> for the”: five routes make a noun definite (</a:t>
            </a:r>
            <a:pPr algn="l" indent="0" marL="0">
              <a:buNone/>
            </a:pPr>
            <a:r>
              <a:rPr lang="ar-SA" altLang="en-US" sz="1800" dirty="0">
                <a:solidFill>
                  <a:srgbClr val="C6D2E6"/>
                </a:solidFill>
                <a:latin typeface="Amiri" pitchFamily="2" charset="-78"/>
                <a:ea typeface="Amiri" pitchFamily="2" charset="-78"/>
                <a:cs typeface="Amiri" pitchFamily="2" charset="-78"/>
              </a:rPr>
              <a:t>الْكِتَابُ</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مَرْيَمُ</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كِتَابُهَا</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كِتَابُ الطَّالِبَةِ</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هٰذَا الْكِتَابُ</a:t>
            </a:r>
            <a:pPr algn="l" indent="0" marL="0">
              <a:buNone/>
            </a:pPr>
            <a:r>
              <a:rPr lang="en-US" sz="1400" dirty="0">
                <a:solidFill>
                  <a:srgbClr val="C6D2E6"/>
                </a:solidFill>
                <a:latin typeface="Calibri" pitchFamily="34" charset="0"/>
                <a:cs typeface="Amiri" pitchFamily="2" charset="-78"/>
              </a:rPr>
              <a:t>) — and </a:t>
            </a:r>
            <a:pPr algn="l" indent="0" marL="0">
              <a:buNone/>
            </a:pPr>
            <a:r>
              <a:rPr lang="ar-SA" altLang="en-US" sz="1800" dirty="0">
                <a:solidFill>
                  <a:srgbClr val="C6D2E6"/>
                </a:solidFill>
                <a:latin typeface="Amiri" pitchFamily="2" charset="-78"/>
                <a:ea typeface="Amiri" pitchFamily="2" charset="-78"/>
                <a:cs typeface="Amiri" pitchFamily="2" charset="-78"/>
              </a:rPr>
              <a:t>الـ</a:t>
            </a:r>
            <a:pPr algn="l" indent="0" marL="0">
              <a:buNone/>
            </a:pPr>
            <a:r>
              <a:rPr lang="en-US" sz="1400" dirty="0">
                <a:solidFill>
                  <a:srgbClr val="C6D2E6"/>
                </a:solidFill>
                <a:latin typeface="Calibri" pitchFamily="34" charset="0"/>
                <a:cs typeface="Amiri" pitchFamily="2" charset="-78"/>
              </a:rPr>
              <a:t> is never added to a suffixed noun or the first noun of an iḍāfa.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GM-ART-03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Articles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GM-ART-03 · Articles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GM-ART-03 · Articles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Five routes to definiteness; suffix and iḍāfa boundaries; particles; names; fixed expressions.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Name the route, edit a draft, test spelling vs pronunciation.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GM-N-01.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GM-ART-03 · Articles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book”.</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الْكِتَابِي</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الْكِتَابُ ي</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student’s book”.</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 الطَّالِبِ</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الْكِتَابُ الطَّالِبِ</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 الطَّالِبُ</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standard spelling of “in the school”.</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فِلْمَدْرَسَةِ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لْمَدْرَسَةِ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الْمَدْرَسَةِ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Combine </a:t>
            </a:r>
            <a:pPr algn="l" indent="0" marL="0">
              <a:buNone/>
            </a:pPr>
            <a:r>
              <a:rPr lang="ar-SA" altLang="en-US" sz="1650" b="1" dirty="0">
                <a:solidFill>
                  <a:srgbClr val="1B3B6F"/>
                </a:solidFill>
                <a:latin typeface="Amiri" pitchFamily="2" charset="-78"/>
                <a:ea typeface="Amiri" pitchFamily="2" charset="-78"/>
                <a:cs typeface="Amiri" pitchFamily="2" charset="-78"/>
              </a:rPr>
              <a:t>لِـ</a:t>
            </a:r>
            <a:pPr algn="l" indent="0" marL="0">
              <a:buNone/>
            </a:pPr>
            <a:r>
              <a:rPr lang="en-US" sz="1250" b="1" dirty="0">
                <a:solidFill>
                  <a:srgbClr val="1B3B6F"/>
                </a:solidFill>
                <a:latin typeface="Calibri" pitchFamily="34" charset="0"/>
                <a:cs typeface="Amiri" pitchFamily="2" charset="-78"/>
              </a:rPr>
              <a:t> + </a:t>
            </a:r>
            <a:pPr algn="l" indent="0" marL="0">
              <a:buNone/>
            </a:pPr>
            <a:r>
              <a:rPr lang="ar-SA" altLang="en-US" sz="1650" b="1" dirty="0">
                <a:solidFill>
                  <a:srgbClr val="1B3B6F"/>
                </a:solidFill>
                <a:latin typeface="Amiri" pitchFamily="2" charset="-78"/>
                <a:ea typeface="Amiri" pitchFamily="2" charset="-78"/>
                <a:cs typeface="Amiri" pitchFamily="2" charset="-78"/>
              </a:rPr>
              <a:t>الْبَيْتِ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لِالْبَيْتِ</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 لْبَيْتِ</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لِلْبَيْتِ</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proper name is conventionally written with </a:t>
            </a:r>
            <a:pPr algn="l" indent="0" marL="0">
              <a:buNone/>
            </a:pPr>
            <a:r>
              <a:rPr lang="ar-SA" altLang="en-US" sz="1650" b="1" dirty="0">
                <a:solidFill>
                  <a:srgbClr val="1B3B6F"/>
                </a:solidFill>
                <a:latin typeface="Amiri" pitchFamily="2" charset="-78"/>
                <a:ea typeface="Amiri" pitchFamily="2" charset="-78"/>
                <a:cs typeface="Amiri" pitchFamily="2" charset="-78"/>
              </a:rPr>
              <a:t>الـ</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الْقَاهِرَةُ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مَرْيَمُ</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أَحْمَدُ</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GM-ART-03 · Articles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book”.</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الْكِتَابِي</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كِتَابِي</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الْكِتَابُ ي</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possessive suffix </a:t>
            </a:r>
            <a:pPr algn="l" indent="0" marL="0">
              <a:buNone/>
            </a:pPr>
            <a:r>
              <a:rPr lang="ar-SA" altLang="en-US" sz="1350" dirty="0">
                <a:solidFill>
                  <a:srgbClr val="8A6D1E"/>
                </a:solidFill>
                <a:latin typeface="Amiri" pitchFamily="2" charset="-78"/>
                <a:ea typeface="Amiri" pitchFamily="2" charset="-78"/>
                <a:cs typeface="Amiri" pitchFamily="2" charset="-78"/>
              </a:rPr>
              <a:t>ـي</a:t>
            </a:r>
            <a:pPr algn="l" indent="0" marL="0">
              <a:buNone/>
            </a:pPr>
            <a:r>
              <a:rPr lang="en-US" sz="1050" i="1" dirty="0">
                <a:solidFill>
                  <a:srgbClr val="8A6D1E"/>
                </a:solidFill>
                <a:latin typeface="Calibri" pitchFamily="34" charset="0"/>
                <a:cs typeface="Amiri" pitchFamily="2" charset="-78"/>
              </a:rPr>
              <a:t> already identifies the owner and makes the noun definite.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student’s book”.</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كِتَابُ الطَّالِبِ</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الْكِتَابُ الطَّالِبِ</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كِتَابٌ الطَّالِبُ</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In idāfa, the first noun has neither </a:t>
            </a:r>
            <a:pPr algn="l" indent="0" marL="0">
              <a:buNone/>
            </a:pPr>
            <a:r>
              <a:rPr lang="ar-SA" altLang="en-US" sz="1350" dirty="0">
                <a:solidFill>
                  <a:srgbClr val="8A6D1E"/>
                </a:solidFill>
                <a:latin typeface="Amiri" pitchFamily="2" charset="-78"/>
                <a:ea typeface="Amiri" pitchFamily="2" charset="-78"/>
                <a:cs typeface="Amiri" pitchFamily="2" charset="-78"/>
              </a:rPr>
              <a:t>الـ</a:t>
            </a:r>
            <a:pPr algn="l" indent="0" marL="0">
              <a:buNone/>
            </a:pPr>
            <a:r>
              <a:rPr lang="en-US" sz="1050" i="1" dirty="0">
                <a:solidFill>
                  <a:srgbClr val="8A6D1E"/>
                </a:solidFill>
                <a:latin typeface="Calibri" pitchFamily="34" charset="0"/>
                <a:cs typeface="Amiri" pitchFamily="2" charset="-78"/>
              </a:rPr>
              <a:t> nor tanwīn.</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standard spelling of “in the school”.</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فِلْمَدْرَسَةِ</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لْمَدْرَسَةِ</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 الْمَدْرَسَةِ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Hamzat al-waṣl affects connected pronunciation, not normal word separation in writing.</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Combine </a:t>
            </a:r>
            <a:pPr algn="l" indent="0" marL="0">
              <a:buNone/>
            </a:pPr>
            <a:r>
              <a:rPr lang="ar-SA" altLang="en-US" sz="1650" b="1" dirty="0">
                <a:solidFill>
                  <a:srgbClr val="1B3B6F"/>
                </a:solidFill>
                <a:latin typeface="Amiri" pitchFamily="2" charset="-78"/>
                <a:ea typeface="Amiri" pitchFamily="2" charset="-78"/>
                <a:cs typeface="Amiri" pitchFamily="2" charset="-78"/>
              </a:rPr>
              <a:t>لِـ</a:t>
            </a:r>
            <a:pPr algn="l" indent="0" marL="0">
              <a:buNone/>
            </a:pPr>
            <a:r>
              <a:rPr lang="en-US" sz="1250" b="1" dirty="0">
                <a:solidFill>
                  <a:srgbClr val="1B3B6F"/>
                </a:solidFill>
                <a:latin typeface="Calibri" pitchFamily="34" charset="0"/>
                <a:cs typeface="Amiri" pitchFamily="2" charset="-78"/>
              </a:rPr>
              <a:t> + </a:t>
            </a:r>
            <a:pPr algn="l" indent="0" marL="0">
              <a:buNone/>
            </a:pPr>
            <a:r>
              <a:rPr lang="ar-SA" altLang="en-US" sz="1650" b="1" dirty="0">
                <a:solidFill>
                  <a:srgbClr val="1B3B6F"/>
                </a:solidFill>
                <a:latin typeface="Amiri" pitchFamily="2" charset="-78"/>
                <a:ea typeface="Amiri" pitchFamily="2" charset="-78"/>
                <a:cs typeface="Amiri" pitchFamily="2" charset="-78"/>
              </a:rPr>
              <a:t>الْبَيْتِ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لِالْبَيْتِ</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 لْبَيْتِ</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لِلْبَيْتِ</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This is a genuine spelling contraction: the article’s alif is omitted after the prefixed lām.</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proper name is conventionally written with </a:t>
            </a:r>
            <a:pPr algn="l" indent="0" marL="0">
              <a:buNone/>
            </a:pPr>
            <a:r>
              <a:rPr lang="ar-SA" altLang="en-US" sz="1650" b="1" dirty="0">
                <a:solidFill>
                  <a:srgbClr val="1B3B6F"/>
                </a:solidFill>
                <a:latin typeface="Amiri" pitchFamily="2" charset="-78"/>
                <a:ea typeface="Amiri" pitchFamily="2" charset="-78"/>
                <a:cs typeface="Amiri" pitchFamily="2" charset="-78"/>
              </a:rPr>
              <a:t>الـ</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الْقَاهِرَةُ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مَرْيَمُ</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أَحْمَدُ</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the established form of each name; do not create a universal rule for all names.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Ask: HOW does the listener know which one? Article · name · suffix · iḍāfa · demonstrative.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الْكِتَابُ · مَرْيَمُ ·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كِتَابُهَا</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كِتَابُ الطَّالِبَةِ · هٰذَا الْكِتَابُ</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GM-ART-03 · Articles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Identify the five routes to a definite expression.</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Never add </a:t>
            </a:r>
            <a:pPr algn="l" indent="0" marL="0">
              <a:buNone/>
            </a:pPr>
            <a:r>
              <a:rPr lang="ar-SA" altLang="en-US" sz="1700" dirty="0">
                <a:solidFill>
                  <a:srgbClr val="1F2A37"/>
                </a:solidFill>
                <a:latin typeface="Amiri" pitchFamily="2" charset="-78"/>
                <a:ea typeface="Amiri" pitchFamily="2" charset="-78"/>
                <a:cs typeface="Amiri" pitchFamily="2" charset="-78"/>
              </a:rPr>
              <a:t>الـ</a:t>
            </a:r>
            <a:pPr algn="l" indent="0" marL="0">
              <a:buNone/>
            </a:pPr>
            <a:r>
              <a:rPr lang="en-US" sz="1300" dirty="0">
                <a:solidFill>
                  <a:srgbClr val="1F2A37"/>
                </a:solidFill>
                <a:latin typeface="Calibri" pitchFamily="34" charset="0"/>
                <a:cs typeface="Amiri" pitchFamily="2" charset="-78"/>
              </a:rPr>
              <a:t> to a suffixed noun or the first noun of an iḍāfa.</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attached particles (</a:t>
            </a:r>
            <a:pPr algn="l" indent="0" marL="0">
              <a:buNone/>
            </a:pPr>
            <a:r>
              <a:rPr lang="ar-SA" altLang="en-US" sz="1700" dirty="0">
                <a:solidFill>
                  <a:srgbClr val="1F2A37"/>
                </a:solidFill>
                <a:latin typeface="Amiri" pitchFamily="2" charset="-78"/>
                <a:ea typeface="Amiri" pitchFamily="2" charset="-78"/>
                <a:cs typeface="Amiri" pitchFamily="2" charset="-78"/>
              </a:rPr>
              <a:t>وَالـ</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بِالـ</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لِلـ</a:t>
            </a:r>
            <a:pPr algn="l" indent="0" marL="0">
              <a:buNone/>
            </a:pPr>
            <a:r>
              <a:rPr lang="en-US" sz="1300" dirty="0">
                <a:solidFill>
                  <a:srgbClr val="1F2A37"/>
                </a:solidFill>
                <a:latin typeface="Calibri" pitchFamily="34" charset="0"/>
                <a:cs typeface="Amiri" pitchFamily="2" charset="-78"/>
              </a:rPr>
              <a:t>) in standard spelling.</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names, titles and fixed expressions in their established form.</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write </a:t>
            </a:r>
            <a:pPr algn="l" indent="0" marL="0">
              <a:buNone/>
            </a:pPr>
            <a:r>
              <a:rPr lang="ar-SA" altLang="en-US" sz="1700" b="1" dirty="0">
                <a:solidFill>
                  <a:srgbClr val="2E8B57"/>
                </a:solidFill>
                <a:latin typeface="Amiri" pitchFamily="2" charset="-78"/>
                <a:ea typeface="Amiri" pitchFamily="2" charset="-78"/>
                <a:cs typeface="Amiri" pitchFamily="2" charset="-78"/>
              </a:rPr>
              <a:t>كِتَابِي</a:t>
            </a:r>
            <a:pPr algn="l" indent="0" marL="0">
              <a:buNone/>
            </a:pPr>
            <a:r>
              <a:rPr lang="en-US" sz="1300" b="1" dirty="0">
                <a:solidFill>
                  <a:srgbClr val="2E8B57"/>
                </a:solidFill>
                <a:latin typeface="Calibri" pitchFamily="34" charset="0"/>
                <a:cs typeface="Amiri" pitchFamily="2" charset="-78"/>
              </a:rPr>
              <a:t>, never </a:t>
            </a:r>
            <a:pPr algn="l" indent="0" marL="0">
              <a:buNone/>
            </a:pPr>
            <a:r>
              <a:rPr lang="ar-SA" altLang="en-US" sz="1700" b="1" dirty="0">
                <a:solidFill>
                  <a:srgbClr val="2E8B57"/>
                </a:solidFill>
                <a:latin typeface="Amiri" pitchFamily="2" charset="-78"/>
                <a:ea typeface="Amiri" pitchFamily="2" charset="-78"/>
                <a:cs typeface="Amiri" pitchFamily="2" charset="-78"/>
              </a:rPr>
              <a:t>الْكِتَابِي</a:t>
            </a:r>
            <a:pPr algn="l" indent="0" marL="0">
              <a:buNone/>
            </a:pPr>
            <a:r>
              <a:rPr lang="en-US" sz="1300" b="1" dirty="0">
                <a:solidFill>
                  <a:srgbClr val="2E8B57"/>
                </a:solidFill>
                <a:latin typeface="Calibri" pitchFamily="34" charset="0"/>
                <a:cs typeface="Amiri" pitchFamily="2" charset="-78"/>
              </a:rPr>
              <a:t>.</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write </a:t>
            </a:r>
            <a:pPr algn="l" indent="0" marL="0">
              <a:buNone/>
            </a:pPr>
            <a:r>
              <a:rPr lang="ar-SA" altLang="en-US" sz="1700" b="1" dirty="0">
                <a:solidFill>
                  <a:srgbClr val="2E8B57"/>
                </a:solidFill>
                <a:latin typeface="Amiri" pitchFamily="2" charset="-78"/>
                <a:ea typeface="Amiri" pitchFamily="2" charset="-78"/>
                <a:cs typeface="Amiri" pitchFamily="2" charset="-78"/>
              </a:rPr>
              <a:t>بَابُ الْمَدْرَسَةِ</a:t>
            </a:r>
            <a:pPr algn="l" indent="0" marL="0">
              <a:buNone/>
            </a:pPr>
            <a:r>
              <a:rPr lang="en-US" sz="1300" b="1" dirty="0">
                <a:solidFill>
                  <a:srgbClr val="2E8B57"/>
                </a:solidFill>
                <a:latin typeface="Calibri" pitchFamily="34" charset="0"/>
                <a:cs typeface="Amiri" pitchFamily="2" charset="-78"/>
              </a:rPr>
              <a:t>, never </a:t>
            </a:r>
            <a:pPr algn="l" indent="0" marL="0">
              <a:buNone/>
            </a:pPr>
            <a:r>
              <a:rPr lang="ar-SA" altLang="en-US" sz="1700" b="1" dirty="0">
                <a:solidFill>
                  <a:srgbClr val="2E8B57"/>
                </a:solidFill>
                <a:latin typeface="Amiri" pitchFamily="2" charset="-78"/>
                <a:ea typeface="Amiri" pitchFamily="2" charset="-78"/>
                <a:cs typeface="Amiri" pitchFamily="2" charset="-78"/>
              </a:rPr>
              <a:t>الْبَابُ الْمَدْرَسَةِ</a:t>
            </a:r>
            <a:pPr algn="l" indent="0" marL="0">
              <a:buNone/>
            </a:pPr>
            <a:r>
              <a:rPr lang="en-US" sz="1300" b="1" dirty="0">
                <a:solidFill>
                  <a:srgbClr val="2E8B57"/>
                </a:solidFill>
                <a:latin typeface="Calibri" pitchFamily="34" charset="0"/>
                <a:cs typeface="Amiri" pitchFamily="2" charset="-78"/>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build a three-noun iḍāfa chain.</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combine </a:t>
            </a:r>
            <a:pPr algn="l" indent="0" marL="0">
              <a:buNone/>
            </a:pPr>
            <a:r>
              <a:rPr lang="ar-SA" altLang="en-US" sz="1700" b="1" dirty="0">
                <a:solidFill>
                  <a:srgbClr val="C9780A"/>
                </a:solidFill>
                <a:latin typeface="Amiri" pitchFamily="2" charset="-78"/>
                <a:ea typeface="Amiri" pitchFamily="2" charset="-78"/>
                <a:cs typeface="Amiri" pitchFamily="2" charset="-78"/>
              </a:rPr>
              <a:t>لِـ</a:t>
            </a:r>
            <a:pPr algn="l" indent="0" marL="0">
              <a:buNone/>
            </a:pPr>
            <a:r>
              <a:rPr lang="en-US" sz="1300" b="1" dirty="0">
                <a:solidFill>
                  <a:srgbClr val="C9780A"/>
                </a:solidFill>
                <a:latin typeface="Calibri" pitchFamily="34" charset="0"/>
                <a:cs typeface="Amiri" pitchFamily="2" charset="-78"/>
              </a:rPr>
              <a:t> + </a:t>
            </a:r>
            <a:pPr algn="l" indent="0" marL="0">
              <a:buNone/>
            </a:pPr>
            <a:r>
              <a:rPr lang="ar-SA" altLang="en-US" sz="1700" b="1" dirty="0">
                <a:solidFill>
                  <a:srgbClr val="C9780A"/>
                </a:solidFill>
                <a:latin typeface="Amiri" pitchFamily="2" charset="-78"/>
                <a:ea typeface="Amiri" pitchFamily="2" charset="-78"/>
                <a:cs typeface="Amiri" pitchFamily="2" charset="-78"/>
              </a:rPr>
              <a:t>الْبَيْتِ</a:t>
            </a:r>
            <a:pPr algn="l" indent="0" marL="0">
              <a:buNone/>
            </a:pPr>
            <a:r>
              <a:rPr lang="en-US" sz="1300" b="1" dirty="0">
                <a:solidFill>
                  <a:srgbClr val="C9780A"/>
                </a:solidFill>
                <a:latin typeface="Calibri" pitchFamily="34" charset="0"/>
                <a:cs typeface="Amiri" pitchFamily="2" charset="-78"/>
              </a:rPr>
              <a:t> = </a:t>
            </a:r>
            <a:pPr algn="l" indent="0" marL="0">
              <a:buNone/>
            </a:pPr>
            <a:r>
              <a:rPr lang="ar-SA" altLang="en-US" sz="1700" b="1" dirty="0">
                <a:solidFill>
                  <a:srgbClr val="C9780A"/>
                </a:solidFill>
                <a:latin typeface="Amiri" pitchFamily="2" charset="-78"/>
                <a:ea typeface="Amiri" pitchFamily="2" charset="-78"/>
                <a:cs typeface="Amiri" pitchFamily="2" charset="-78"/>
              </a:rPr>
              <a:t>لِلْبَيْتِ</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name the route for every definite noun.</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edit a paragraph for article errors.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GM-ART-03 · Articles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 (1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مُضَافٌ</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first noun of an iḍāfa</a:t>
            </a:r>
            <a:endParaRPr lang="en-US" sz="1350" dirty="0"/>
          </a:p>
          <a:p>
            <a:pPr indent="0" marL="0">
              <a:buNone/>
            </a:pPr>
            <a:r>
              <a:rPr lang="en-US" sz="1100" i="1" dirty="0">
                <a:solidFill>
                  <a:srgbClr val="5A6472"/>
                </a:solidFill>
                <a:latin typeface="Calibri" pitchFamily="34" charset="0"/>
                <a:cs typeface="Amiri" pitchFamily="2" charset="-78"/>
              </a:rPr>
              <a:t>mu-ḍā-fun</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no </a:t>
            </a:r>
            <a:pPr algn="l" indent="0" marL="0">
              <a:buNone/>
            </a:pPr>
            <a:r>
              <a:rPr lang="ar-SA" altLang="en-US" sz="1300" dirty="0">
                <a:solidFill>
                  <a:srgbClr val="8A6D1E"/>
                </a:solidFill>
                <a:latin typeface="Amiri" pitchFamily="2" charset="-78"/>
                <a:ea typeface="Amiri" pitchFamily="2" charset="-78"/>
                <a:cs typeface="Amiri" pitchFamily="2" charset="-78"/>
              </a:rPr>
              <a:t>الـ</a:t>
            </a:r>
            <a:pPr algn="l" indent="0" marL="0">
              <a:buNone/>
            </a:pPr>
            <a:r>
              <a:rPr lang="en-US" sz="1000" i="1" dirty="0">
                <a:solidFill>
                  <a:srgbClr val="8A6D1E"/>
                </a:solidFill>
                <a:latin typeface="Calibri" pitchFamily="34" charset="0"/>
                <a:cs typeface="Amiri" pitchFamily="2" charset="-78"/>
              </a:rPr>
              <a:t>, no tanwīn: </a:t>
            </a:r>
            <a:pPr algn="l" indent="0" marL="0">
              <a:buNone/>
            </a:pPr>
            <a:r>
              <a:rPr lang="ar-SA" altLang="en-US" sz="1300" dirty="0">
                <a:solidFill>
                  <a:srgbClr val="8A6D1E"/>
                </a:solidFill>
                <a:latin typeface="Amiri" pitchFamily="2" charset="-78"/>
                <a:ea typeface="Amiri" pitchFamily="2" charset="-78"/>
                <a:cs typeface="Amiri" pitchFamily="2" charset="-78"/>
              </a:rPr>
              <a:t>بَابُ</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مُضَافٌ إِلَيْهِ</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second noun of an iḍāfa</a:t>
            </a:r>
            <a:endParaRPr lang="en-US" sz="1350" dirty="0"/>
          </a:p>
          <a:p>
            <a:pPr indent="0" marL="0">
              <a:buNone/>
            </a:pPr>
            <a:r>
              <a:rPr lang="en-US" sz="1100" i="1" dirty="0">
                <a:solidFill>
                  <a:srgbClr val="5A6472"/>
                </a:solidFill>
                <a:latin typeface="Calibri" pitchFamily="34" charset="0"/>
                <a:cs typeface="Amiri" pitchFamily="2" charset="-78"/>
              </a:rPr>
              <a:t>mu-ḍā-fun i-lay-hi</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genitive: </a:t>
            </a:r>
            <a:pPr algn="l" indent="0" marL="0">
              <a:buNone/>
            </a:pPr>
            <a:r>
              <a:rPr lang="ar-SA" altLang="en-US" sz="1300" dirty="0">
                <a:solidFill>
                  <a:srgbClr val="8A6D1E"/>
                </a:solidFill>
                <a:latin typeface="Amiri" pitchFamily="2" charset="-78"/>
                <a:ea typeface="Amiri" pitchFamily="2" charset="-78"/>
                <a:cs typeface="Amiri" pitchFamily="2" charset="-78"/>
              </a:rPr>
              <a:t>الْمَدْرَسَةِ</a:t>
            </a:r>
            <a:endParaRPr lang="en-US" sz="10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ضَمِيرٌ مُتَّصِلٌ</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attached (possessive) pronoun</a:t>
            </a:r>
            <a:endParaRPr lang="en-US" sz="1350" dirty="0"/>
          </a:p>
          <a:p>
            <a:pPr indent="0" marL="0">
              <a:buNone/>
            </a:pPr>
            <a:r>
              <a:rPr lang="en-US" sz="1100" i="1" dirty="0">
                <a:solidFill>
                  <a:srgbClr val="5A6472"/>
                </a:solidFill>
                <a:latin typeface="Calibri" pitchFamily="34" charset="0"/>
                <a:cs typeface="Amiri" pitchFamily="2" charset="-78"/>
              </a:rPr>
              <a:t>ḍa-mī-run mut-ta-ṣi-lun</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ـِي · ـُكَ · ـُهَا · ـُنَا</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اِسْمُ عَلَمٍ</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proper name</a:t>
            </a:r>
            <a:endParaRPr lang="en-US" sz="1350" dirty="0"/>
          </a:p>
          <a:p>
            <a:pPr indent="0" marL="0">
              <a:buNone/>
            </a:pPr>
            <a:r>
              <a:rPr lang="en-US" sz="1100" i="1" dirty="0">
                <a:solidFill>
                  <a:srgbClr val="5A6472"/>
                </a:solidFill>
                <a:latin typeface="Calibri" pitchFamily="34" charset="0"/>
                <a:cs typeface="Amiri" pitchFamily="2" charset="-78"/>
              </a:rPr>
              <a:t>is-mu ʿa-la-min</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مَرْيَمُ · الْقَاهِرَةُ</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لَقَبٌ</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title</a:t>
            </a:r>
            <a:endParaRPr lang="en-US" sz="1350" dirty="0"/>
          </a:p>
          <a:p>
            <a:pPr indent="0" marL="0">
              <a:buNone/>
            </a:pPr>
            <a:r>
              <a:rPr lang="en-US" sz="1100" i="1" dirty="0">
                <a:solidFill>
                  <a:srgbClr val="5A6472"/>
                </a:solidFill>
                <a:latin typeface="Calibri" pitchFamily="34" charset="0"/>
                <a:cs typeface="Amiri" pitchFamily="2" charset="-78"/>
              </a:rPr>
              <a:t>la-qa-bun</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الْأُسْتَاذُ · الدُّكْتُورَةُ</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حَرْفُ جَرٍّ</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preposition</a:t>
            </a:r>
            <a:endParaRPr lang="en-US" sz="1350" dirty="0"/>
          </a:p>
          <a:p>
            <a:pPr indent="0" marL="0">
              <a:buNone/>
            </a:pPr>
            <a:r>
              <a:rPr lang="en-US" sz="1100" i="1" dirty="0">
                <a:solidFill>
                  <a:srgbClr val="5A6472"/>
                </a:solidFill>
                <a:latin typeface="Calibri" pitchFamily="34" charset="0"/>
                <a:cs typeface="Amiri" pitchFamily="2" charset="-78"/>
              </a:rPr>
              <a:t>ḥar-fu jar-rin</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بِـ · لِـ · فِي · مَعَ</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GM-ART-03 · Articles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 (2 OF 2)</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حَرْفُ عَطْفٍ</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conjunction</a:t>
            </a:r>
            <a:endParaRPr lang="en-US" sz="1350" dirty="0"/>
          </a:p>
          <a:p>
            <a:pPr indent="0" marL="0">
              <a:buNone/>
            </a:pPr>
            <a:r>
              <a:rPr lang="en-US" sz="1100" i="1" dirty="0">
                <a:solidFill>
                  <a:srgbClr val="5A6472"/>
                </a:solidFill>
                <a:latin typeface="Calibri" pitchFamily="34" charset="0"/>
                <a:cs typeface="Amiri" pitchFamily="2" charset="-78"/>
              </a:rPr>
              <a:t>ḥar-fu ʿaṭ-fin</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وَ · فَـ</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6" name="Text 23"/>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تَعْبِيرٌ ثَابِتٌ</a:t>
            </a:r>
            <a:endParaRPr lang="ar-SA" sz="3000" dirty="0"/>
          </a:p>
        </p:txBody>
      </p:sp>
      <p:sp>
        <p:nvSpPr>
          <p:cNvPr id="27" name="Text 24"/>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fixed expression</a:t>
            </a:r>
            <a:endParaRPr lang="en-US" sz="1350" dirty="0"/>
          </a:p>
          <a:p>
            <a:pPr indent="0" marL="0">
              <a:buNone/>
            </a:pPr>
            <a:r>
              <a:rPr lang="en-US" sz="1100" i="1" dirty="0">
                <a:solidFill>
                  <a:srgbClr val="5A6472"/>
                </a:solidFill>
                <a:latin typeface="Calibri" pitchFamily="34" charset="0"/>
                <a:cs typeface="Amiri" pitchFamily="2" charset="-78"/>
              </a:rPr>
              <a:t>taʿ-bī-run thā-bi-tun</a:t>
            </a:r>
            <a:endParaRPr lang="en-US" sz="1350" dirty="0"/>
          </a:p>
        </p:txBody>
      </p:sp>
      <p:sp>
        <p:nvSpPr>
          <p:cNvPr id="28" name="Text 25"/>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أُحِبُّ الْقِرَاءَةَ</a:t>
            </a:r>
            <a:endParaRPr lang="ar-SA" sz="130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GM-ART-03 · Articles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66" b="1" spc="150" kern="0" dirty="0">
                <a:solidFill>
                  <a:srgbClr val="1B3B6F"/>
                </a:solidFill>
                <a:latin typeface="Calibri" pitchFamily="34" charset="0"/>
                <a:cs typeface="Amiri" pitchFamily="2" charset="-78"/>
              </a:rPr>
              <a:t>GRAMMAR · PART 1 · FIVE ROUTES TO A DEFINITE EXPRESSION (WEBSITE SECTION)</a:t>
            </a:r>
            <a:endParaRPr lang="en-US" sz="966"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Five ways a noun becomes definite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خَمْسُ طُرُقٍ إِلَى الْمَعْرِفَةِ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942832" y="1810512"/>
            <a:ext cx="2715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How do we know which one?</a:t>
            </a:r>
            <a:endParaRPr lang="en-US" sz="1100" dirty="0"/>
          </a:p>
        </p:txBody>
      </p:sp>
      <p:sp>
        <p:nvSpPr>
          <p:cNvPr id="17" name="Text 14"/>
          <p:cNvSpPr txBox="1"/>
          <p:nvPr/>
        </p:nvSpPr>
        <p:spPr>
          <a:xfrm>
            <a:off x="656539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2907792"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9" name="Text 16"/>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8979408" y="2267712"/>
            <a:ext cx="2679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visibly marked by </a:t>
            </a:r>
            <a:pPr algn="l" indent="0" marL="0">
              <a:buNone/>
            </a:pPr>
            <a:r>
              <a:rPr lang="ar-SA" altLang="en-US" sz="1450" dirty="0">
                <a:solidFill>
                  <a:srgbClr val="5A6472"/>
                </a:solidFill>
                <a:latin typeface="Amiri" pitchFamily="2" charset="-78"/>
                <a:ea typeface="Amiri" pitchFamily="2" charset="-78"/>
                <a:cs typeface="Amiri" pitchFamily="2" charset="-78"/>
              </a:rPr>
              <a:t>الـ</a:t>
            </a:r>
            <a:endParaRPr lang="en-US" sz="1100" dirty="0"/>
          </a:p>
        </p:txBody>
      </p:sp>
      <p:sp>
        <p:nvSpPr>
          <p:cNvPr id="22" name="Text 19"/>
          <p:cNvSpPr txBox="1"/>
          <p:nvPr/>
        </p:nvSpPr>
        <p:spPr>
          <a:xfrm>
            <a:off x="660196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book</a:t>
            </a:r>
            <a:endParaRPr lang="en-US" sz="1100" dirty="0"/>
          </a:p>
        </p:txBody>
      </p:sp>
      <p:sp>
        <p:nvSpPr>
          <p:cNvPr id="23" name="Text 20"/>
          <p:cNvSpPr txBox="1"/>
          <p:nvPr/>
        </p:nvSpPr>
        <p:spPr>
          <a:xfrm>
            <a:off x="2926080" y="2267712"/>
            <a:ext cx="34747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الْكِتَابُ</a:t>
            </a:r>
            <a:endParaRPr lang="ar-SA" sz="2600" dirty="0"/>
          </a:p>
        </p:txBody>
      </p:sp>
      <p:sp>
        <p:nvSpPr>
          <p:cNvPr id="24" name="Text 21"/>
          <p:cNvSpPr txBox="1"/>
          <p:nvPr/>
        </p:nvSpPr>
        <p:spPr>
          <a:xfrm>
            <a:off x="56692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the article</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8979408" y="2881884"/>
            <a:ext cx="2679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named person</a:t>
            </a:r>
            <a:endParaRPr lang="en-US" sz="1100" dirty="0"/>
          </a:p>
        </p:txBody>
      </p:sp>
      <p:sp>
        <p:nvSpPr>
          <p:cNvPr id="29" name="Text 26"/>
          <p:cNvSpPr txBox="1"/>
          <p:nvPr/>
        </p:nvSpPr>
        <p:spPr>
          <a:xfrm>
            <a:off x="660196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Maryam</a:t>
            </a:r>
            <a:endParaRPr lang="en-US" sz="1100" dirty="0"/>
          </a:p>
        </p:txBody>
      </p:sp>
      <p:sp>
        <p:nvSpPr>
          <p:cNvPr id="30" name="Text 27"/>
          <p:cNvSpPr txBox="1"/>
          <p:nvPr/>
        </p:nvSpPr>
        <p:spPr>
          <a:xfrm>
            <a:off x="2926080" y="2881884"/>
            <a:ext cx="34747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مَرْيَمُ</a:t>
            </a:r>
            <a:endParaRPr lang="ar-SA" sz="2600" dirty="0"/>
          </a:p>
        </p:txBody>
      </p:sp>
      <p:sp>
        <p:nvSpPr>
          <p:cNvPr id="31" name="Text 28"/>
          <p:cNvSpPr txBox="1"/>
          <p:nvPr/>
        </p:nvSpPr>
        <p:spPr>
          <a:xfrm>
            <a:off x="56692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a proper name</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8979408" y="3496056"/>
            <a:ext cx="2679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owner is specified</a:t>
            </a:r>
            <a:endParaRPr lang="en-US" sz="1100" dirty="0"/>
          </a:p>
        </p:txBody>
      </p:sp>
      <p:sp>
        <p:nvSpPr>
          <p:cNvPr id="36" name="Text 33"/>
          <p:cNvSpPr txBox="1"/>
          <p:nvPr/>
        </p:nvSpPr>
        <p:spPr>
          <a:xfrm>
            <a:off x="660196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her book</a:t>
            </a:r>
            <a:endParaRPr lang="en-US" sz="1100" dirty="0"/>
          </a:p>
        </p:txBody>
      </p:sp>
      <p:sp>
        <p:nvSpPr>
          <p:cNvPr id="37" name="Text 34"/>
          <p:cNvSpPr txBox="1"/>
          <p:nvPr/>
        </p:nvSpPr>
        <p:spPr>
          <a:xfrm>
            <a:off x="2926080" y="3496056"/>
            <a:ext cx="34747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كِتَابُهَا</a:t>
            </a:r>
            <a:endParaRPr lang="ar-SA" sz="2600" dirty="0"/>
          </a:p>
        </p:txBody>
      </p:sp>
      <p:sp>
        <p:nvSpPr>
          <p:cNvPr id="38" name="Text 35"/>
          <p:cNvSpPr txBox="1"/>
          <p:nvPr/>
        </p:nvSpPr>
        <p:spPr>
          <a:xfrm>
            <a:off x="56692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a suffix</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8979408" y="4110228"/>
            <a:ext cx="2679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last noun is definite</a:t>
            </a:r>
            <a:endParaRPr lang="en-US" sz="1100" dirty="0"/>
          </a:p>
        </p:txBody>
      </p:sp>
      <p:sp>
        <p:nvSpPr>
          <p:cNvPr id="43" name="Text 40"/>
          <p:cNvSpPr txBox="1"/>
          <p:nvPr/>
        </p:nvSpPr>
        <p:spPr>
          <a:xfrm>
            <a:off x="660196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student’s book</a:t>
            </a:r>
            <a:endParaRPr lang="en-US" sz="1100" dirty="0"/>
          </a:p>
        </p:txBody>
      </p:sp>
      <p:sp>
        <p:nvSpPr>
          <p:cNvPr id="44" name="Text 41"/>
          <p:cNvSpPr txBox="1"/>
          <p:nvPr/>
        </p:nvSpPr>
        <p:spPr>
          <a:xfrm>
            <a:off x="2926080" y="4110228"/>
            <a:ext cx="34747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كِتَابُ الطَّالِبَةِ</a:t>
            </a:r>
            <a:endParaRPr lang="ar-SA" sz="2600" dirty="0"/>
          </a:p>
        </p:txBody>
      </p:sp>
      <p:sp>
        <p:nvSpPr>
          <p:cNvPr id="45" name="Text 42"/>
          <p:cNvSpPr txBox="1"/>
          <p:nvPr/>
        </p:nvSpPr>
        <p:spPr>
          <a:xfrm>
            <a:off x="56692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definite iḍāfa</a:t>
            </a:r>
            <a:endParaRPr lang="en-US" sz="1100" dirty="0"/>
          </a:p>
        </p:txBody>
      </p:sp>
      <p:sp>
        <p:nvSpPr>
          <p:cNvPr id="46" name="Shape 43"/>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7" name="Text 44"/>
          <p:cNvSpPr txBox="1"/>
          <p:nvPr/>
        </p:nvSpPr>
        <p:spPr>
          <a:xfrm>
            <a:off x="8979408" y="4724400"/>
            <a:ext cx="2679192" cy="559308"/>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هٰذَا</a:t>
            </a:r>
            <a:pPr algn="l" indent="0" marL="0">
              <a:buNone/>
            </a:pPr>
            <a:r>
              <a:rPr lang="en-US" sz="1100" dirty="0">
                <a:solidFill>
                  <a:srgbClr val="5A6472"/>
                </a:solidFill>
                <a:latin typeface="Calibri" pitchFamily="34" charset="0"/>
                <a:cs typeface="Amiri" pitchFamily="2" charset="-78"/>
              </a:rPr>
              <a:t> points to it</a:t>
            </a:r>
            <a:endParaRPr lang="en-US" sz="1100" dirty="0"/>
          </a:p>
        </p:txBody>
      </p:sp>
      <p:sp>
        <p:nvSpPr>
          <p:cNvPr id="48" name="Text 45"/>
          <p:cNvSpPr txBox="1"/>
          <p:nvPr/>
        </p:nvSpPr>
        <p:spPr>
          <a:xfrm>
            <a:off x="660196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book</a:t>
            </a:r>
            <a:endParaRPr lang="en-US" sz="1100" dirty="0"/>
          </a:p>
        </p:txBody>
      </p:sp>
      <p:sp>
        <p:nvSpPr>
          <p:cNvPr id="49" name="Text 46"/>
          <p:cNvSpPr txBox="1"/>
          <p:nvPr/>
        </p:nvSpPr>
        <p:spPr>
          <a:xfrm>
            <a:off x="2926080" y="4724400"/>
            <a:ext cx="34747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هٰذَا الْكِتَابُ</a:t>
            </a:r>
            <a:endParaRPr lang="ar-SA" sz="2600" dirty="0"/>
          </a:p>
        </p:txBody>
      </p:sp>
      <p:sp>
        <p:nvSpPr>
          <p:cNvPr id="50" name="Text 47"/>
          <p:cNvSpPr txBox="1"/>
          <p:nvPr/>
        </p:nvSpPr>
        <p:spPr>
          <a:xfrm>
            <a:off x="56692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demonstrative</a:t>
            </a:r>
            <a:endParaRPr lang="en-US" sz="11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8979408" y="5338572"/>
            <a:ext cx="2679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last noun indefinite</a:t>
            </a:r>
            <a:endParaRPr lang="en-US" sz="1100" dirty="0"/>
          </a:p>
        </p:txBody>
      </p:sp>
      <p:sp>
        <p:nvSpPr>
          <p:cNvPr id="53" name="Text 50"/>
          <p:cNvSpPr txBox="1"/>
          <p:nvPr/>
        </p:nvSpPr>
        <p:spPr>
          <a:xfrm>
            <a:off x="660196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student’s book</a:t>
            </a:r>
            <a:endParaRPr lang="en-US" sz="1100" dirty="0"/>
          </a:p>
        </p:txBody>
      </p:sp>
      <p:sp>
        <p:nvSpPr>
          <p:cNvPr id="54" name="Text 51"/>
          <p:cNvSpPr txBox="1"/>
          <p:nvPr/>
        </p:nvSpPr>
        <p:spPr>
          <a:xfrm>
            <a:off x="2926080" y="5338572"/>
            <a:ext cx="34747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كِتَابُ طَالِبَةٍ</a:t>
            </a:r>
            <a:endParaRPr lang="ar-SA" sz="2600" dirty="0"/>
          </a:p>
        </p:txBody>
      </p:sp>
      <p:sp>
        <p:nvSpPr>
          <p:cNvPr id="55" name="Text 52"/>
          <p:cNvSpPr txBox="1"/>
          <p:nvPr/>
        </p:nvSpPr>
        <p:spPr>
          <a:xfrm>
            <a:off x="56692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not definite</a:t>
            </a:r>
            <a:endParaRPr lang="en-US" sz="11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Definiteness test (website): can the expression identify a specific person, object, place or idea? Then ask which route does it.</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GM-ART-03 · Articles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50" b="1" spc="150" kern="0" dirty="0">
                <a:solidFill>
                  <a:srgbClr val="1B3B6F"/>
                </a:solidFill>
                <a:latin typeface="Calibri" pitchFamily="34" charset="0"/>
                <a:cs typeface="Amiri" pitchFamily="2" charset="-78"/>
              </a:rPr>
              <a:t>GRAMMAR · PART 2 · POSSESSIVE SUFFIXES BLOCK THE ARTICLE (WEBSITE SECTION)</a:t>
            </a:r>
            <a:endParaRPr lang="en-US" sz="95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A suffix and </a:t>
            </a:r>
            <a:pPr algn="l" indent="0" marL="0">
              <a:buNone/>
            </a:pPr>
            <a:r>
              <a:rPr lang="ar-SA" altLang="en-US" sz="3600" b="1" dirty="0">
                <a:solidFill>
                  <a:srgbClr val="1B3B6F"/>
                </a:solidFill>
                <a:latin typeface="Amiri" pitchFamily="2" charset="-78"/>
                <a:ea typeface="Amiri" pitchFamily="2" charset="-78"/>
                <a:cs typeface="Amiri" pitchFamily="2" charset="-78"/>
              </a:rPr>
              <a:t>الـ</a:t>
            </a:r>
            <a:pPr algn="l" indent="0" marL="0">
              <a:buNone/>
            </a:pPr>
            <a:r>
              <a:rPr lang="en-US" sz="2750" b="1" dirty="0">
                <a:solidFill>
                  <a:srgbClr val="1B3B6F"/>
                </a:solidFill>
                <a:latin typeface="Cambria" pitchFamily="34" charset="0"/>
                <a:cs typeface="Amiri" pitchFamily="2" charset="-78"/>
              </a:rPr>
              <a:t> never share a noun</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الضَّمَائِرُ الْمُتَّصِلَةُ وَ«الـ»</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GM-ART-03</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RULE, STEP BY STEP</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 possessive suffix (my, your, her, our …) already makes the noun definite — first example.</a:t>
            </a:r>
            <a:endParaRPr lang="en-US" sz="1300" dirty="0"/>
          </a:p>
        </p:txBody>
      </p:sp>
      <p:sp>
        <p:nvSpPr>
          <p:cNvPr id="20" name="Shape 17"/>
          <p:cNvSpPr/>
          <p:nvPr/>
        </p:nvSpPr>
        <p:spPr>
          <a:xfrm>
            <a:off x="658368" y="2885846"/>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288584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77611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So the noun cannot ALSO take </a:t>
            </a:r>
            <a:pPr algn="l" indent="0" marL="0">
              <a:buNone/>
            </a:pPr>
            <a:r>
              <a:rPr lang="ar-SA" altLang="en-US" sz="1700" dirty="0">
                <a:solidFill>
                  <a:srgbClr val="1F2A37"/>
                </a:solidFill>
                <a:latin typeface="Amiri" pitchFamily="2" charset="-78"/>
                <a:ea typeface="Amiri" pitchFamily="2" charset="-78"/>
                <a:cs typeface="Amiri" pitchFamily="2" charset="-78"/>
              </a:rPr>
              <a:t>الـ</a:t>
            </a:r>
            <a:pPr algn="l" indent="0" marL="0">
              <a:buNone/>
            </a:pPr>
            <a:r>
              <a:rPr lang="en-US" sz="1300" dirty="0">
                <a:solidFill>
                  <a:srgbClr val="1F2A37"/>
                </a:solidFill>
                <a:latin typeface="Calibri" pitchFamily="34" charset="0"/>
                <a:cs typeface="Amiri" pitchFamily="2" charset="-78"/>
              </a:rPr>
              <a:t>: the two compete for the same job.</a:t>
            </a:r>
            <a:endParaRPr lang="en-US" sz="1300" dirty="0"/>
          </a:p>
        </p:txBody>
      </p:sp>
      <p:sp>
        <p:nvSpPr>
          <p:cNvPr id="23" name="Shape 20"/>
          <p:cNvSpPr/>
          <p:nvPr/>
        </p:nvSpPr>
        <p:spPr>
          <a:xfrm>
            <a:off x="658368" y="3485693"/>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485693"/>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375965"/>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adjective still needs its own decision: an attributive adjective is definite (second example).</a:t>
            </a:r>
            <a:endParaRPr lang="en-US" sz="1300" dirty="0"/>
          </a:p>
        </p:txBody>
      </p:sp>
      <p:sp>
        <p:nvSpPr>
          <p:cNvPr id="26" name="Shape 23"/>
          <p:cNvSpPr/>
          <p:nvPr/>
        </p:nvSpPr>
        <p:spPr>
          <a:xfrm>
            <a:off x="658368" y="4085539"/>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085539"/>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3975811"/>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 predicate adjective stays indefinite (third example).</a:t>
            </a:r>
            <a:endParaRPr lang="en-US" sz="1300" dirty="0"/>
          </a:p>
        </p:txBody>
      </p:sp>
      <p:sp>
        <p:nvSpPr>
          <p:cNvPr id="29" name="Shape 26"/>
          <p:cNvSpPr/>
          <p:nvPr/>
        </p:nvSpPr>
        <p:spPr>
          <a:xfrm>
            <a:off x="658368" y="4685386"/>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58368" y="468538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5</a:t>
            </a:r>
            <a:endParaRPr lang="en-US" sz="1100" dirty="0"/>
          </a:p>
        </p:txBody>
      </p:sp>
      <p:sp>
        <p:nvSpPr>
          <p:cNvPr id="31" name="Text 28"/>
          <p:cNvSpPr txBox="1"/>
          <p:nvPr/>
        </p:nvSpPr>
        <p:spPr>
          <a:xfrm>
            <a:off x="1078992" y="457565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Website warning: do not repair one error by creating another — removing </a:t>
            </a:r>
            <a:pPr algn="l" indent="0" marL="0">
              <a:buNone/>
            </a:pPr>
            <a:r>
              <a:rPr lang="ar-SA" altLang="en-US" sz="1700" dirty="0">
                <a:solidFill>
                  <a:srgbClr val="1F2A37"/>
                </a:solidFill>
                <a:latin typeface="Amiri" pitchFamily="2" charset="-78"/>
                <a:ea typeface="Amiri" pitchFamily="2" charset="-78"/>
                <a:cs typeface="Amiri" pitchFamily="2" charset="-78"/>
              </a:rPr>
              <a:t>الـ</a:t>
            </a:r>
            <a:pPr algn="l" indent="0" marL="0">
              <a:buNone/>
            </a:pPr>
            <a:r>
              <a:rPr lang="en-US" sz="1300" dirty="0">
                <a:solidFill>
                  <a:srgbClr val="1F2A37"/>
                </a:solidFill>
                <a:latin typeface="Calibri" pitchFamily="34" charset="0"/>
                <a:cs typeface="Amiri" pitchFamily="2" charset="-78"/>
              </a:rPr>
              <a:t> from the noun does not remove it from the adjective.</a:t>
            </a:r>
            <a:endParaRPr lang="en-US" sz="1300" dirty="0"/>
          </a:p>
        </p:txBody>
      </p:sp>
      <p:sp>
        <p:nvSpPr>
          <p:cNvPr id="32" name="Shape 29"/>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Text 30"/>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WORKED EXAMPLES</a:t>
            </a:r>
            <a:endParaRPr lang="en-US" sz="1000" dirty="0"/>
          </a:p>
        </p:txBody>
      </p:sp>
      <p:sp>
        <p:nvSpPr>
          <p:cNvPr id="34" name="Text 31"/>
          <p:cNvSpPr txBox="1"/>
          <p:nvPr/>
        </p:nvSpPr>
        <p:spPr>
          <a:xfrm>
            <a:off x="6949440" y="2194560"/>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كِتَابِي · كِتَابُكَ · كِتَابُهَا · كِتَابُنَا</a:t>
            </a:r>
            <a:endParaRPr lang="ar-SA" sz="1950" dirty="0"/>
          </a:p>
        </p:txBody>
      </p:sp>
      <p:sp>
        <p:nvSpPr>
          <p:cNvPr id="35" name="Text 32"/>
          <p:cNvSpPr txBox="1"/>
          <p:nvPr/>
        </p:nvSpPr>
        <p:spPr>
          <a:xfrm>
            <a:off x="6949440" y="2619573"/>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my · your · her · our book</a:t>
            </a:r>
            <a:endParaRPr lang="en-US" sz="1100" dirty="0"/>
          </a:p>
        </p:txBody>
      </p:sp>
      <p:sp>
        <p:nvSpPr>
          <p:cNvPr id="36" name="Shape 33"/>
          <p:cNvSpPr/>
          <p:nvPr/>
        </p:nvSpPr>
        <p:spPr>
          <a:xfrm>
            <a:off x="6995160" y="2935224"/>
            <a:ext cx="4553712" cy="0"/>
          </a:xfrm>
          <a:prstGeom prst="line">
            <a:avLst/>
          </a:prstGeom>
          <a:noFill/>
          <a:ln w="9525">
            <a:solidFill>
              <a:srgbClr val="E4DCCB"/>
            </a:solidFill>
            <a:prstDash val="dash"/>
          </a:ln>
        </p:spPr>
      </p:sp>
      <p:sp>
        <p:nvSpPr>
          <p:cNvPr id="37" name="Text 34"/>
          <p:cNvSpPr txBox="1"/>
          <p:nvPr/>
        </p:nvSpPr>
        <p:spPr>
          <a:xfrm>
            <a:off x="6949440" y="2953512"/>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كِتَابِي الْجَدِيدُ</a:t>
            </a:r>
            <a:endParaRPr lang="ar-SA" sz="1950" dirty="0"/>
          </a:p>
        </p:txBody>
      </p:sp>
      <p:sp>
        <p:nvSpPr>
          <p:cNvPr id="38" name="Text 35"/>
          <p:cNvSpPr txBox="1"/>
          <p:nvPr/>
        </p:nvSpPr>
        <p:spPr>
          <a:xfrm>
            <a:off x="6949440" y="3378525"/>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my new book  ·  phrase</a:t>
            </a:r>
            <a:endParaRPr lang="en-US" sz="1100" dirty="0"/>
          </a:p>
        </p:txBody>
      </p:sp>
      <p:sp>
        <p:nvSpPr>
          <p:cNvPr id="39" name="Shape 36"/>
          <p:cNvSpPr/>
          <p:nvPr/>
        </p:nvSpPr>
        <p:spPr>
          <a:xfrm>
            <a:off x="6995160" y="3694176"/>
            <a:ext cx="4553712" cy="0"/>
          </a:xfrm>
          <a:prstGeom prst="line">
            <a:avLst/>
          </a:prstGeom>
          <a:noFill/>
          <a:ln w="9525">
            <a:solidFill>
              <a:srgbClr val="E4DCCB"/>
            </a:solidFill>
            <a:prstDash val="dash"/>
          </a:ln>
        </p:spPr>
      </p:sp>
      <p:sp>
        <p:nvSpPr>
          <p:cNvPr id="40" name="Text 37"/>
          <p:cNvSpPr txBox="1"/>
          <p:nvPr/>
        </p:nvSpPr>
        <p:spPr>
          <a:xfrm>
            <a:off x="6949440" y="3712464"/>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كِتَابِي جَدِيدٌ.</a:t>
            </a:r>
            <a:endParaRPr lang="ar-SA" sz="1950" dirty="0"/>
          </a:p>
        </p:txBody>
      </p:sp>
      <p:sp>
        <p:nvSpPr>
          <p:cNvPr id="41" name="Text 38"/>
          <p:cNvSpPr txBox="1"/>
          <p:nvPr/>
        </p:nvSpPr>
        <p:spPr>
          <a:xfrm>
            <a:off x="6949440" y="4137477"/>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My book is new.  ·  sentence</a:t>
            </a:r>
            <a:endParaRPr lang="en-US" sz="1100" dirty="0"/>
          </a:p>
        </p:txBody>
      </p:sp>
      <p:sp>
        <p:nvSpPr>
          <p:cNvPr id="42" name="Shape 39"/>
          <p:cNvSpPr/>
          <p:nvPr/>
        </p:nvSpPr>
        <p:spPr>
          <a:xfrm>
            <a:off x="6995160" y="4453128"/>
            <a:ext cx="4553712" cy="0"/>
          </a:xfrm>
          <a:prstGeom prst="line">
            <a:avLst/>
          </a:prstGeom>
          <a:noFill/>
          <a:ln w="9525">
            <a:solidFill>
              <a:srgbClr val="E4DCCB"/>
            </a:solidFill>
            <a:prstDash val="dash"/>
          </a:ln>
        </p:spPr>
      </p:sp>
      <p:sp>
        <p:nvSpPr>
          <p:cNvPr id="43" name="Text 40"/>
          <p:cNvSpPr txBox="1"/>
          <p:nvPr/>
        </p:nvSpPr>
        <p:spPr>
          <a:xfrm>
            <a:off x="6949440" y="4471416"/>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مَدْرَسَتُنَا الْحَدِيثَةُ</a:t>
            </a:r>
            <a:endParaRPr lang="ar-SA" sz="1950" dirty="0"/>
          </a:p>
        </p:txBody>
      </p:sp>
      <p:sp>
        <p:nvSpPr>
          <p:cNvPr id="44" name="Text 41"/>
          <p:cNvSpPr txBox="1"/>
          <p:nvPr/>
        </p:nvSpPr>
        <p:spPr>
          <a:xfrm>
            <a:off x="6949440" y="4896429"/>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our modern school  ·  not </a:t>
            </a:r>
            <a:pPr algn="ctr" indent="0" marL="0">
              <a:buNone/>
            </a:pPr>
            <a:r>
              <a:rPr lang="ar-SA" altLang="en-US" sz="1450" dirty="0">
                <a:solidFill>
                  <a:srgbClr val="5A6472"/>
                </a:solidFill>
                <a:latin typeface="Amiri" pitchFamily="2" charset="-78"/>
                <a:ea typeface="Amiri" pitchFamily="2" charset="-78"/>
                <a:cs typeface="Amiri" pitchFamily="2" charset="-78"/>
              </a:rPr>
              <a:t>الْمَدْرَسَتُنَا</a:t>
            </a:r>
            <a:endParaRPr lang="en-US" sz="1100" dirty="0"/>
          </a:p>
        </p:txBody>
      </p:sp>
      <p:sp>
        <p:nvSpPr>
          <p:cNvPr id="45" name="Shape 42"/>
          <p:cNvSpPr/>
          <p:nvPr/>
        </p:nvSpPr>
        <p:spPr>
          <a:xfrm>
            <a:off x="457200" y="5394960"/>
            <a:ext cx="11274552" cy="914400"/>
          </a:xfrm>
          <a:prstGeom prst="roundRect">
            <a:avLst>
              <a:gd name="adj" fmla="val 8000"/>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B83227"/>
                </a:solidFill>
                <a:latin typeface="Calibri" pitchFamily="34" charset="0"/>
                <a:cs typeface="Amiri" pitchFamily="2" charset="-78"/>
              </a:rPr>
              <a:t>WATCH OUT</a:t>
            </a:r>
            <a:endParaRPr lang="en-US" sz="1100" dirty="0"/>
          </a:p>
        </p:txBody>
      </p:sp>
      <p:sp>
        <p:nvSpPr>
          <p:cNvPr id="47" name="Text 44"/>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Forms to reject (website): </a:t>
            </a:r>
            <a:pPr algn="l" indent="0" marL="0">
              <a:buNone/>
            </a:pPr>
            <a:r>
              <a:rPr lang="ar-SA" altLang="en-US" sz="1650" dirty="0">
                <a:solidFill>
                  <a:srgbClr val="1F2A37"/>
                </a:solidFill>
                <a:latin typeface="Amiri" pitchFamily="2" charset="-78"/>
                <a:ea typeface="Amiri" pitchFamily="2" charset="-78"/>
                <a:cs typeface="Amiri" pitchFamily="2" charset="-78"/>
              </a:rPr>
              <a:t>الْكِتَابِي</a:t>
            </a:r>
            <a:pPr algn="l" indent="0" marL="0">
              <a:buNone/>
            </a:pPr>
            <a:r>
              <a:rPr lang="en-US" sz="1250" dirty="0">
                <a:solidFill>
                  <a:srgbClr val="1F2A37"/>
                </a:solidFill>
                <a:latin typeface="Calibri" pitchFamily="34" charset="0"/>
                <a:cs typeface="Amiri" pitchFamily="2" charset="-78"/>
              </a:rPr>
              <a:t> · </a:t>
            </a:r>
            <a:pPr algn="l" indent="0" marL="0">
              <a:buNone/>
            </a:pPr>
            <a:r>
              <a:rPr lang="ar-SA" altLang="en-US" sz="1650" dirty="0">
                <a:solidFill>
                  <a:srgbClr val="1F2A37"/>
                </a:solidFill>
                <a:latin typeface="Amiri" pitchFamily="2" charset="-78"/>
                <a:ea typeface="Amiri" pitchFamily="2" charset="-78"/>
                <a:cs typeface="Amiri" pitchFamily="2" charset="-78"/>
              </a:rPr>
              <a:t>الْبَيْتُنَا</a:t>
            </a:r>
            <a:pPr algn="l" indent="0" marL="0">
              <a:buNone/>
            </a:pPr>
            <a:r>
              <a:rPr lang="en-US" sz="1250" dirty="0">
                <a:solidFill>
                  <a:srgbClr val="1F2A37"/>
                </a:solidFill>
                <a:latin typeface="Calibri" pitchFamily="34" charset="0"/>
                <a:cs typeface="Amiri" pitchFamily="2" charset="-78"/>
              </a:rPr>
              <a:t> · </a:t>
            </a:r>
            <a:pPr algn="l" indent="0" marL="0">
              <a:buNone/>
            </a:pPr>
            <a:r>
              <a:rPr lang="ar-SA" altLang="en-US" sz="1650" dirty="0">
                <a:solidFill>
                  <a:srgbClr val="1F2A37"/>
                </a:solidFill>
                <a:latin typeface="Amiri" pitchFamily="2" charset="-78"/>
                <a:ea typeface="Amiri" pitchFamily="2" charset="-78"/>
                <a:cs typeface="Amiri" pitchFamily="2" charset="-78"/>
              </a:rPr>
              <a:t>الْمَدْرَسَتُهُمْ</a:t>
            </a:r>
            <a:pPr algn="l" indent="0" marL="0">
              <a:buNone/>
            </a:pPr>
            <a:r>
              <a:rPr lang="en-US" sz="1250" dirty="0">
                <a:solidFill>
                  <a:srgbClr val="1F2A37"/>
                </a:solidFill>
                <a:latin typeface="Calibri" pitchFamily="34" charset="0"/>
                <a:cs typeface="Amiri" pitchFamily="2" charset="-78"/>
              </a:rPr>
              <a:t> — never put </a:t>
            </a:r>
            <a:pPr algn="l" indent="0" marL="0">
              <a:buNone/>
            </a:pPr>
            <a:r>
              <a:rPr lang="ar-SA" altLang="en-US" sz="1650" dirty="0">
                <a:solidFill>
                  <a:srgbClr val="1F2A37"/>
                </a:solidFill>
                <a:latin typeface="Amiri" pitchFamily="2" charset="-78"/>
                <a:ea typeface="Amiri" pitchFamily="2" charset="-78"/>
                <a:cs typeface="Amiri" pitchFamily="2" charset="-78"/>
              </a:rPr>
              <a:t>الـ</a:t>
            </a:r>
            <a:pPr algn="l" indent="0" marL="0">
              <a:buNone/>
            </a:pPr>
            <a:r>
              <a:rPr lang="en-US" sz="1250" dirty="0">
                <a:solidFill>
                  <a:srgbClr val="1F2A37"/>
                </a:solidFill>
                <a:latin typeface="Calibri" pitchFamily="34" charset="0"/>
                <a:cs typeface="Amiri" pitchFamily="2" charset="-78"/>
              </a:rPr>
              <a:t> before a noun that already carries a possessive ending.</a:t>
            </a:r>
            <a:endParaRPr lang="en-US" sz="12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GM-ART-03 · Articles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66" b="1" spc="150" kern="0" dirty="0">
                <a:solidFill>
                  <a:srgbClr val="1B3B6F"/>
                </a:solidFill>
                <a:latin typeface="Calibri" pitchFamily="34" charset="0"/>
                <a:cs typeface="Amiri" pitchFamily="2" charset="-78"/>
              </a:rPr>
              <a:t>GRAMMAR · PART 3 · IḌĀFA HAS A PROTECTED FIRST POSITION (WEBSITE SECTION)</a:t>
            </a:r>
            <a:endParaRPr lang="en-US" sz="966"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first noun of an iḍāfa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الْمُضَافُ وَالْمُضَافُ إِلَيْهِ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GM-ART-03</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RULE, STEP BY STEP</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An iḍāfa joins two nouns to show possession or association (first example: the school door).</a:t>
            </a:r>
            <a:endParaRPr lang="en-US" sz="1300" dirty="0"/>
          </a:p>
        </p:txBody>
      </p:sp>
      <p:sp>
        <p:nvSpPr>
          <p:cNvPr id="20" name="Shape 17"/>
          <p:cNvSpPr/>
          <p:nvPr/>
        </p:nvSpPr>
        <p:spPr>
          <a:xfrm>
            <a:off x="658368" y="2885846"/>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288584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77611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Rule 1: the first noun (muḍāf) takes NO </a:t>
            </a:r>
            <a:pPr algn="l" indent="0" marL="0">
              <a:buNone/>
            </a:pPr>
            <a:r>
              <a:rPr lang="ar-SA" altLang="en-US" sz="1700" dirty="0">
                <a:solidFill>
                  <a:srgbClr val="1F2A37"/>
                </a:solidFill>
                <a:latin typeface="Amiri" pitchFamily="2" charset="-78"/>
                <a:ea typeface="Amiri" pitchFamily="2" charset="-78"/>
                <a:cs typeface="Amiri" pitchFamily="2" charset="-78"/>
              </a:rPr>
              <a:t>الـ</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3" name="Shape 20"/>
          <p:cNvSpPr/>
          <p:nvPr/>
        </p:nvSpPr>
        <p:spPr>
          <a:xfrm>
            <a:off x="658368" y="3485693"/>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485693"/>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375965"/>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Rule 2: the first noun takes NO tanwīn either.</a:t>
            </a:r>
            <a:endParaRPr lang="en-US" sz="1300" dirty="0"/>
          </a:p>
        </p:txBody>
      </p:sp>
      <p:sp>
        <p:nvSpPr>
          <p:cNvPr id="26" name="Shape 23"/>
          <p:cNvSpPr/>
          <p:nvPr/>
        </p:nvSpPr>
        <p:spPr>
          <a:xfrm>
            <a:off x="658368" y="4085539"/>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085539"/>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3975811"/>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LAST noun decides: definite last noun = definite chain; indefinite last noun = indefinite chain.</a:t>
            </a:r>
            <a:endParaRPr lang="en-US" sz="1300" dirty="0"/>
          </a:p>
        </p:txBody>
      </p:sp>
      <p:sp>
        <p:nvSpPr>
          <p:cNvPr id="29" name="Shape 26"/>
          <p:cNvSpPr/>
          <p:nvPr/>
        </p:nvSpPr>
        <p:spPr>
          <a:xfrm>
            <a:off x="658368" y="4685386"/>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58368" y="468538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5</a:t>
            </a:r>
            <a:endParaRPr lang="en-US" sz="1100" dirty="0"/>
          </a:p>
        </p:txBody>
      </p:sp>
      <p:sp>
        <p:nvSpPr>
          <p:cNvPr id="31" name="Text 28"/>
          <p:cNvSpPr txBox="1"/>
          <p:nvPr/>
        </p:nvSpPr>
        <p:spPr>
          <a:xfrm>
            <a:off x="1078992" y="457565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In longer chains, only the final noun can carry </a:t>
            </a:r>
            <a:pPr algn="l" indent="0" marL="0">
              <a:buNone/>
            </a:pPr>
            <a:r>
              <a:rPr lang="ar-SA" altLang="en-US" sz="1700" dirty="0">
                <a:solidFill>
                  <a:srgbClr val="1F2A37"/>
                </a:solidFill>
                <a:latin typeface="Amiri" pitchFamily="2" charset="-78"/>
                <a:ea typeface="Amiri" pitchFamily="2" charset="-78"/>
                <a:cs typeface="Amiri" pitchFamily="2" charset="-78"/>
              </a:rPr>
              <a:t>الـ</a:t>
            </a:r>
            <a:pPr algn="l" indent="0" marL="0">
              <a:buNone/>
            </a:pPr>
            <a:r>
              <a:rPr lang="en-US" sz="1300" dirty="0">
                <a:solidFill>
                  <a:srgbClr val="1F2A37"/>
                </a:solidFill>
                <a:latin typeface="Calibri" pitchFamily="34" charset="0"/>
                <a:cs typeface="Amiri" pitchFamily="2" charset="-78"/>
              </a:rPr>
              <a:t> (third example).</a:t>
            </a:r>
            <a:endParaRPr lang="en-US" sz="1300" dirty="0"/>
          </a:p>
        </p:txBody>
      </p:sp>
      <p:sp>
        <p:nvSpPr>
          <p:cNvPr id="32" name="Shape 29"/>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Text 30"/>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WORKED EXAMPLES</a:t>
            </a:r>
            <a:endParaRPr lang="en-US" sz="1000" dirty="0"/>
          </a:p>
        </p:txBody>
      </p:sp>
      <p:sp>
        <p:nvSpPr>
          <p:cNvPr id="34" name="Text 31"/>
          <p:cNvSpPr txBox="1"/>
          <p:nvPr/>
        </p:nvSpPr>
        <p:spPr>
          <a:xfrm>
            <a:off x="6949440" y="2194560"/>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بَابُ الْمَدْرَسَةِ</a:t>
            </a:r>
            <a:endParaRPr lang="ar-SA" sz="1950" dirty="0"/>
          </a:p>
        </p:txBody>
      </p:sp>
      <p:sp>
        <p:nvSpPr>
          <p:cNvPr id="35" name="Text 32"/>
          <p:cNvSpPr txBox="1"/>
          <p:nvPr/>
        </p:nvSpPr>
        <p:spPr>
          <a:xfrm>
            <a:off x="6949440" y="2619573"/>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school door</a:t>
            </a:r>
            <a:endParaRPr lang="en-US" sz="1100" dirty="0"/>
          </a:p>
        </p:txBody>
      </p:sp>
      <p:sp>
        <p:nvSpPr>
          <p:cNvPr id="36" name="Shape 33"/>
          <p:cNvSpPr/>
          <p:nvPr/>
        </p:nvSpPr>
        <p:spPr>
          <a:xfrm>
            <a:off x="6995160" y="2935224"/>
            <a:ext cx="4553712" cy="0"/>
          </a:xfrm>
          <a:prstGeom prst="line">
            <a:avLst/>
          </a:prstGeom>
          <a:noFill/>
          <a:ln w="9525">
            <a:solidFill>
              <a:srgbClr val="E4DCCB"/>
            </a:solidFill>
            <a:prstDash val="dash"/>
          </a:ln>
        </p:spPr>
      </p:sp>
      <p:sp>
        <p:nvSpPr>
          <p:cNvPr id="37" name="Text 34"/>
          <p:cNvSpPr txBox="1"/>
          <p:nvPr/>
        </p:nvSpPr>
        <p:spPr>
          <a:xfrm>
            <a:off x="6949440" y="2953512"/>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بَابُ مَدْرَسَةٍ</a:t>
            </a:r>
            <a:endParaRPr lang="ar-SA" sz="1950" dirty="0"/>
          </a:p>
        </p:txBody>
      </p:sp>
      <p:sp>
        <p:nvSpPr>
          <p:cNvPr id="38" name="Text 35"/>
          <p:cNvSpPr txBox="1"/>
          <p:nvPr/>
        </p:nvSpPr>
        <p:spPr>
          <a:xfrm>
            <a:off x="6949440" y="3378525"/>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school door</a:t>
            </a:r>
            <a:endParaRPr lang="en-US" sz="1100" dirty="0"/>
          </a:p>
        </p:txBody>
      </p:sp>
      <p:sp>
        <p:nvSpPr>
          <p:cNvPr id="39" name="Shape 36"/>
          <p:cNvSpPr/>
          <p:nvPr/>
        </p:nvSpPr>
        <p:spPr>
          <a:xfrm>
            <a:off x="6995160" y="3694176"/>
            <a:ext cx="4553712" cy="0"/>
          </a:xfrm>
          <a:prstGeom prst="line">
            <a:avLst/>
          </a:prstGeom>
          <a:noFill/>
          <a:ln w="9525">
            <a:solidFill>
              <a:srgbClr val="E4DCCB"/>
            </a:solidFill>
            <a:prstDash val="dash"/>
          </a:ln>
        </p:spPr>
      </p:sp>
      <p:sp>
        <p:nvSpPr>
          <p:cNvPr id="40" name="Text 37"/>
          <p:cNvSpPr txBox="1"/>
          <p:nvPr/>
        </p:nvSpPr>
        <p:spPr>
          <a:xfrm>
            <a:off x="6949440" y="3712464"/>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مَكْتَبُ مُدِيرِ الْمَدْرَسَةِ</a:t>
            </a:r>
            <a:endParaRPr lang="ar-SA" sz="1950" dirty="0"/>
          </a:p>
        </p:txBody>
      </p:sp>
      <p:sp>
        <p:nvSpPr>
          <p:cNvPr id="41" name="Text 38"/>
          <p:cNvSpPr txBox="1"/>
          <p:nvPr/>
        </p:nvSpPr>
        <p:spPr>
          <a:xfrm>
            <a:off x="6949440" y="4137477"/>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school headteacher’s office</a:t>
            </a:r>
            <a:endParaRPr lang="en-US" sz="1100" dirty="0"/>
          </a:p>
        </p:txBody>
      </p:sp>
      <p:sp>
        <p:nvSpPr>
          <p:cNvPr id="42" name="Shape 39"/>
          <p:cNvSpPr/>
          <p:nvPr/>
        </p:nvSpPr>
        <p:spPr>
          <a:xfrm>
            <a:off x="6995160" y="4453128"/>
            <a:ext cx="4553712" cy="0"/>
          </a:xfrm>
          <a:prstGeom prst="line">
            <a:avLst/>
          </a:prstGeom>
          <a:noFill/>
          <a:ln w="9525">
            <a:solidFill>
              <a:srgbClr val="E4DCCB"/>
            </a:solidFill>
            <a:prstDash val="dash"/>
          </a:ln>
        </p:spPr>
      </p:sp>
      <p:sp>
        <p:nvSpPr>
          <p:cNvPr id="43" name="Text 40"/>
          <p:cNvSpPr txBox="1"/>
          <p:nvPr/>
        </p:nvSpPr>
        <p:spPr>
          <a:xfrm>
            <a:off x="6949440" y="4471416"/>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بَابُ الْمَدْرَسَةِ الْجَدِيدُ</a:t>
            </a:r>
            <a:endParaRPr lang="ar-SA" sz="1950" dirty="0"/>
          </a:p>
        </p:txBody>
      </p:sp>
      <p:sp>
        <p:nvSpPr>
          <p:cNvPr id="44" name="Text 41"/>
          <p:cNvSpPr txBox="1"/>
          <p:nvPr/>
        </p:nvSpPr>
        <p:spPr>
          <a:xfrm>
            <a:off x="6949440" y="4896429"/>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school’s new door  ·  masculine → the door</a:t>
            </a:r>
            <a:endParaRPr lang="en-US" sz="1100" dirty="0"/>
          </a:p>
        </p:txBody>
      </p:sp>
      <p:sp>
        <p:nvSpPr>
          <p:cNvPr id="45" name="Shape 42"/>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REMEMBER</a:t>
            </a:r>
            <a:endParaRPr lang="en-US" sz="1100" dirty="0"/>
          </a:p>
        </p:txBody>
      </p:sp>
      <p:sp>
        <p:nvSpPr>
          <p:cNvPr id="47" name="Text 44"/>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Editing sequence (website): find the chain → protect the first noun → check the last noun → find which noun each adjective describes.</a:t>
            </a:r>
            <a:endParaRPr lang="en-US" sz="12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GM-ART-03 · Articles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 PART 4 · ATTACHED PARTICLES: SPELLING OR PRONUNCIATION? (WEBSITE TABLE)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Particles that join the article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الْحُرُوفُ الْمُتَّصِلَةُ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happens?</a:t>
            </a:r>
            <a:endParaRPr lang="en-US" sz="1100" dirty="0"/>
          </a:p>
        </p:txBody>
      </p:sp>
      <p:sp>
        <p:nvSpPr>
          <p:cNvPr id="17" name="Text 14"/>
          <p:cNvSpPr txBox="1"/>
          <p:nvPr/>
        </p:nvSpPr>
        <p:spPr>
          <a:xfrm>
            <a:off x="565099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290779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Written form</a:t>
            </a:r>
            <a:endParaRPr lang="en-US" sz="1100" dirty="0"/>
          </a:p>
        </p:txBody>
      </p:sp>
      <p:sp>
        <p:nvSpPr>
          <p:cNvPr id="19" name="Text 16"/>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Combination</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065008" y="2267712"/>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attaches; </a:t>
            </a:r>
            <a:pPr algn="l" indent="0" marL="0">
              <a:buNone/>
            </a:pPr>
            <a:r>
              <a:rPr lang="ar-SA" altLang="en-US" sz="1450" dirty="0">
                <a:solidFill>
                  <a:srgbClr val="5A6472"/>
                </a:solidFill>
                <a:latin typeface="Amiri" pitchFamily="2" charset="-78"/>
                <a:ea typeface="Amiri" pitchFamily="2" charset="-78"/>
                <a:cs typeface="Amiri" pitchFamily="2" charset="-78"/>
              </a:rPr>
              <a:t>الـ</a:t>
            </a:r>
            <a:pPr algn="l" indent="0" marL="0">
              <a:buNone/>
            </a:pPr>
            <a:r>
              <a:rPr lang="en-US" sz="1100" dirty="0">
                <a:solidFill>
                  <a:srgbClr val="5A6472"/>
                </a:solidFill>
                <a:latin typeface="Calibri" pitchFamily="34" charset="0"/>
                <a:cs typeface="Amiri" pitchFamily="2" charset="-78"/>
              </a:rPr>
              <a:t> stays in full</a:t>
            </a:r>
            <a:endParaRPr lang="en-US" sz="1100" dirty="0"/>
          </a:p>
        </p:txBody>
      </p:sp>
      <p:sp>
        <p:nvSpPr>
          <p:cNvPr id="22" name="Text 19"/>
          <p:cNvSpPr txBox="1"/>
          <p:nvPr/>
        </p:nvSpPr>
        <p:spPr>
          <a:xfrm>
            <a:off x="568756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the house</a:t>
            </a:r>
            <a:endParaRPr lang="en-US" sz="1100" dirty="0"/>
          </a:p>
        </p:txBody>
      </p:sp>
      <p:sp>
        <p:nvSpPr>
          <p:cNvPr id="23" name="Text 20"/>
          <p:cNvSpPr txBox="1"/>
          <p:nvPr/>
        </p:nvSpPr>
        <p:spPr>
          <a:xfrm>
            <a:off x="2926080" y="2267712"/>
            <a:ext cx="256032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وَالْبَيْتُ</a:t>
            </a:r>
            <a:endParaRPr lang="ar-SA" sz="2600" dirty="0"/>
          </a:p>
        </p:txBody>
      </p:sp>
      <p:sp>
        <p:nvSpPr>
          <p:cNvPr id="24" name="Text 21"/>
          <p:cNvSpPr txBox="1"/>
          <p:nvPr/>
        </p:nvSpPr>
        <p:spPr>
          <a:xfrm>
            <a:off x="56692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wa + al-bayt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065008" y="3004718"/>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attaches; </a:t>
            </a:r>
            <a:pPr algn="l" indent="0" marL="0">
              <a:buNone/>
            </a:pPr>
            <a:r>
              <a:rPr lang="ar-SA" altLang="en-US" sz="1450" dirty="0">
                <a:solidFill>
                  <a:srgbClr val="5A6472"/>
                </a:solidFill>
                <a:latin typeface="Amiri" pitchFamily="2" charset="-78"/>
                <a:ea typeface="Amiri" pitchFamily="2" charset="-78"/>
                <a:cs typeface="Amiri" pitchFamily="2" charset="-78"/>
              </a:rPr>
              <a:t>الـ</a:t>
            </a:r>
            <a:pPr algn="l" indent="0" marL="0">
              <a:buNone/>
            </a:pPr>
            <a:r>
              <a:rPr lang="en-US" sz="1100" dirty="0">
                <a:solidFill>
                  <a:srgbClr val="5A6472"/>
                </a:solidFill>
                <a:latin typeface="Calibri" pitchFamily="34" charset="0"/>
                <a:cs typeface="Amiri" pitchFamily="2" charset="-78"/>
              </a:rPr>
              <a:t> stays in full</a:t>
            </a:r>
            <a:endParaRPr lang="en-US" sz="1100" dirty="0"/>
          </a:p>
        </p:txBody>
      </p:sp>
      <p:sp>
        <p:nvSpPr>
          <p:cNvPr id="29" name="Text 26"/>
          <p:cNvSpPr txBox="1"/>
          <p:nvPr/>
        </p:nvSpPr>
        <p:spPr>
          <a:xfrm>
            <a:off x="568756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 / as for the house</a:t>
            </a:r>
            <a:endParaRPr lang="en-US" sz="1100" dirty="0"/>
          </a:p>
        </p:txBody>
      </p:sp>
      <p:sp>
        <p:nvSpPr>
          <p:cNvPr id="30" name="Text 27"/>
          <p:cNvSpPr txBox="1"/>
          <p:nvPr/>
        </p:nvSpPr>
        <p:spPr>
          <a:xfrm>
            <a:off x="2926080" y="3004718"/>
            <a:ext cx="256032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فَالْبَيْتُ</a:t>
            </a:r>
            <a:endParaRPr lang="ar-SA" sz="2600" dirty="0"/>
          </a:p>
        </p:txBody>
      </p:sp>
      <p:sp>
        <p:nvSpPr>
          <p:cNvPr id="31" name="Text 28"/>
          <p:cNvSpPr txBox="1"/>
          <p:nvPr/>
        </p:nvSpPr>
        <p:spPr>
          <a:xfrm>
            <a:off x="56692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 + al-bayt</a:t>
            </a:r>
            <a:endParaRPr lang="en-US" sz="1100" dirty="0"/>
          </a:p>
        </p:txBody>
      </p:sp>
      <p:sp>
        <p:nvSpPr>
          <p:cNvPr id="32" name="Shape 29"/>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3" name="Text 30"/>
          <p:cNvSpPr txBox="1"/>
          <p:nvPr/>
        </p:nvSpPr>
        <p:spPr>
          <a:xfrm>
            <a:off x="8065008" y="3741725"/>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attaches; </a:t>
            </a:r>
            <a:pPr algn="l" indent="0" marL="0">
              <a:buNone/>
            </a:pPr>
            <a:r>
              <a:rPr lang="ar-SA" altLang="en-US" sz="1450" dirty="0">
                <a:solidFill>
                  <a:srgbClr val="5A6472"/>
                </a:solidFill>
                <a:latin typeface="Amiri" pitchFamily="2" charset="-78"/>
                <a:ea typeface="Amiri" pitchFamily="2" charset="-78"/>
                <a:cs typeface="Amiri" pitchFamily="2" charset="-78"/>
              </a:rPr>
              <a:t>الـ</a:t>
            </a:r>
            <a:pPr algn="l" indent="0" marL="0">
              <a:buNone/>
            </a:pPr>
            <a:r>
              <a:rPr lang="en-US" sz="1100" dirty="0">
                <a:solidFill>
                  <a:srgbClr val="5A6472"/>
                </a:solidFill>
                <a:latin typeface="Calibri" pitchFamily="34" charset="0"/>
                <a:cs typeface="Amiri" pitchFamily="2" charset="-78"/>
              </a:rPr>
              <a:t> stays in full</a:t>
            </a:r>
            <a:endParaRPr lang="en-US" sz="1100" dirty="0"/>
          </a:p>
        </p:txBody>
      </p:sp>
      <p:sp>
        <p:nvSpPr>
          <p:cNvPr id="34" name="Text 31"/>
          <p:cNvSpPr txBox="1"/>
          <p:nvPr/>
        </p:nvSpPr>
        <p:spPr>
          <a:xfrm>
            <a:off x="568756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 by the house</a:t>
            </a:r>
            <a:endParaRPr lang="en-US" sz="1100" dirty="0"/>
          </a:p>
        </p:txBody>
      </p:sp>
      <p:sp>
        <p:nvSpPr>
          <p:cNvPr id="35" name="Text 32"/>
          <p:cNvSpPr txBox="1"/>
          <p:nvPr/>
        </p:nvSpPr>
        <p:spPr>
          <a:xfrm>
            <a:off x="2926080" y="3741725"/>
            <a:ext cx="256032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بِالْبَيْتِ</a:t>
            </a:r>
            <a:endParaRPr lang="ar-SA" sz="2600" dirty="0"/>
          </a:p>
        </p:txBody>
      </p:sp>
      <p:sp>
        <p:nvSpPr>
          <p:cNvPr id="36" name="Text 33"/>
          <p:cNvSpPr txBox="1"/>
          <p:nvPr/>
        </p:nvSpPr>
        <p:spPr>
          <a:xfrm>
            <a:off x="56692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 + al-bayt</a:t>
            </a:r>
            <a:endParaRPr lang="en-US" sz="1100" dirty="0"/>
          </a:p>
        </p:txBody>
      </p:sp>
      <p:sp>
        <p:nvSpPr>
          <p:cNvPr id="37" name="Shape 34"/>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065008" y="4478731"/>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alif of </a:t>
            </a:r>
            <a:pPr algn="l" indent="0" marL="0">
              <a:buNone/>
            </a:pPr>
            <a:r>
              <a:rPr lang="ar-SA" altLang="en-US" sz="1450" dirty="0">
                <a:solidFill>
                  <a:srgbClr val="5A6472"/>
                </a:solidFill>
                <a:latin typeface="Amiri" pitchFamily="2" charset="-78"/>
                <a:ea typeface="Amiri" pitchFamily="2" charset="-78"/>
                <a:cs typeface="Amiri" pitchFamily="2" charset="-78"/>
              </a:rPr>
              <a:t>الـ</a:t>
            </a:r>
            <a:pPr algn="l" indent="0" marL="0">
              <a:buNone/>
            </a:pPr>
            <a:r>
              <a:rPr lang="en-US" sz="1100" dirty="0">
                <a:solidFill>
                  <a:srgbClr val="5A6472"/>
                </a:solidFill>
                <a:latin typeface="Calibri" pitchFamily="34" charset="0"/>
                <a:cs typeface="Amiri" pitchFamily="2" charset="-78"/>
              </a:rPr>
              <a:t> is DROPPED</a:t>
            </a:r>
            <a:endParaRPr lang="en-US" sz="1100" dirty="0"/>
          </a:p>
        </p:txBody>
      </p:sp>
      <p:sp>
        <p:nvSpPr>
          <p:cNvPr id="41" name="Text 38"/>
          <p:cNvSpPr txBox="1"/>
          <p:nvPr/>
        </p:nvSpPr>
        <p:spPr>
          <a:xfrm>
            <a:off x="568756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 the house</a:t>
            </a:r>
            <a:endParaRPr lang="en-US" sz="1100" dirty="0"/>
          </a:p>
        </p:txBody>
      </p:sp>
      <p:sp>
        <p:nvSpPr>
          <p:cNvPr id="42" name="Text 39"/>
          <p:cNvSpPr txBox="1"/>
          <p:nvPr/>
        </p:nvSpPr>
        <p:spPr>
          <a:xfrm>
            <a:off x="2926080" y="4478731"/>
            <a:ext cx="256032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لِلْبَيْتِ</a:t>
            </a:r>
            <a:endParaRPr lang="ar-SA" sz="2600" dirty="0"/>
          </a:p>
        </p:txBody>
      </p:sp>
      <p:sp>
        <p:nvSpPr>
          <p:cNvPr id="43" name="Text 40"/>
          <p:cNvSpPr txBox="1"/>
          <p:nvPr/>
        </p:nvSpPr>
        <p:spPr>
          <a:xfrm>
            <a:off x="56692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 + al-bayt</a:t>
            </a:r>
            <a:endParaRPr lang="en-US" sz="1100" dirty="0"/>
          </a:p>
        </p:txBody>
      </p:sp>
      <p:sp>
        <p:nvSpPr>
          <p:cNvPr id="44" name="Shape 41"/>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8065008" y="5215738"/>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words; vowel dropped only in speech</a:t>
            </a:r>
            <a:endParaRPr lang="en-US" sz="1100" dirty="0"/>
          </a:p>
        </p:txBody>
      </p:sp>
      <p:sp>
        <p:nvSpPr>
          <p:cNvPr id="48" name="Text 45"/>
          <p:cNvSpPr txBox="1"/>
          <p:nvPr/>
        </p:nvSpPr>
        <p:spPr>
          <a:xfrm>
            <a:off x="568756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the house</a:t>
            </a:r>
            <a:endParaRPr lang="en-US" sz="1100" dirty="0"/>
          </a:p>
        </p:txBody>
      </p:sp>
      <p:sp>
        <p:nvSpPr>
          <p:cNvPr id="49" name="Text 46"/>
          <p:cNvSpPr txBox="1"/>
          <p:nvPr/>
        </p:nvSpPr>
        <p:spPr>
          <a:xfrm>
            <a:off x="2926080" y="5215738"/>
            <a:ext cx="256032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فِي الْبَيْتِ</a:t>
            </a:r>
            <a:endParaRPr lang="ar-SA" sz="2600" dirty="0"/>
          </a:p>
        </p:txBody>
      </p:sp>
      <p:sp>
        <p:nvSpPr>
          <p:cNvPr id="50" name="Text 47"/>
          <p:cNvSpPr txBox="1"/>
          <p:nvPr/>
        </p:nvSpPr>
        <p:spPr>
          <a:xfrm>
            <a:off x="56692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fī + al-bayt</a:t>
            </a:r>
            <a:endParaRPr lang="en-US" sz="11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Three separate processes (website): a particle may attach in writing · hamzat al-waṣl loses its vowel in speech · the lām may assimilate before a sun letter.</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GM-ART-03 · Articles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20" b="1" spc="150" kern="0" dirty="0">
                <a:solidFill>
                  <a:srgbClr val="1B3B6F"/>
                </a:solidFill>
                <a:latin typeface="Calibri" pitchFamily="34" charset="0"/>
                <a:cs typeface="Amiri" pitchFamily="2" charset="-78"/>
              </a:rPr>
              <a:t>GRAMMAR · PART 5 · NAMES, TITLES AND FIXED EXPRESSIONS (WEBSITE SECTIONS) · STRETCH</a:t>
            </a:r>
            <a:endParaRPr lang="en-US" sz="82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Established forms and fixed chunks</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الْأَعْلَامُ وَالتَّعَابِيرُ الثَّابِتَةُ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685800" cy="274320"/>
          </a:xfrm>
          <a:prstGeom prst="roundRect">
            <a:avLst>
              <a:gd name="adj" fmla="val 50000"/>
            </a:avLst>
          </a:prstGeom>
          <a:solidFill>
            <a:srgbClr val="1E6B52"/>
          </a:solidFill>
          <a:ln w="12700">
            <a:solidFill>
              <a:srgbClr val="1E6B52"/>
            </a:solidFill>
            <a:prstDash val="solid"/>
          </a:ln>
        </p:spPr>
      </p:sp>
      <p:sp>
        <p:nvSpPr>
          <p:cNvPr id="17" name="Text 14"/>
          <p:cNvSpPr txBox="1"/>
          <p:nvPr/>
        </p:nvSpPr>
        <p:spPr>
          <a:xfrm>
            <a:off x="8232648" y="1920240"/>
            <a:ext cx="685800" cy="274320"/>
          </a:xfrm>
          <a:prstGeom prst="rect">
            <a:avLst/>
          </a:prstGeom>
          <a:noFill/>
          <a:ln/>
        </p:spPr>
        <p:txBody>
          <a:bodyPr wrap="square" lIns="0" tIns="0" rIns="0" bIns="0" rtlCol="0" anchor="ctr"/>
          <a:lstStyle/>
          <a:p>
            <a:pPr algn="ctr" indent="0" marL="0">
              <a:buNone/>
            </a:pPr>
            <a:r>
              <a:rPr lang="ar-SA" sz="850" b="1" spc="100" kern="0" dirty="0">
                <a:solidFill>
                  <a:srgbClr val="FFFFFF"/>
                </a:solidFill>
                <a:latin typeface="Calibri" pitchFamily="34" charset="0"/>
                <a:ea typeface="Amiri" pitchFamily="2" charset="-78"/>
                <a:cs typeface="Amiri" pitchFamily="2" charset="-78"/>
              </a:rPr>
              <a:t>NO الـ</a:t>
            </a:r>
            <a:endParaRPr lang="en-US" sz="850" dirty="0"/>
          </a:p>
        </p:txBody>
      </p:sp>
      <p:sp>
        <p:nvSpPr>
          <p:cNvPr id="18" name="Text 15"/>
          <p:cNvSpPr txBox="1"/>
          <p:nvPr/>
        </p:nvSpPr>
        <p:spPr>
          <a:xfrm>
            <a:off x="8964168" y="1874520"/>
            <a:ext cx="26304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أَسْمَاءٌ بِدُونِ «الـ»</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مَرْيَمُ · أَحْمَدُ · دِمَشْقُ</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never </a:t>
            </a:r>
            <a:pPr algn="ctr" indent="0" marL="0">
              <a:buNone/>
            </a:pPr>
            <a:r>
              <a:rPr lang="ar-SA" altLang="en-US" sz="1550" dirty="0">
                <a:solidFill>
                  <a:srgbClr val="5A6472"/>
                </a:solidFill>
                <a:latin typeface="Amiri" pitchFamily="2" charset="-78"/>
                <a:ea typeface="Amiri" pitchFamily="2" charset="-78"/>
                <a:cs typeface="Amiri" pitchFamily="2" charset="-78"/>
              </a:rPr>
              <a:t>الْمَرْيَمُ</a:t>
            </a:r>
            <a:pPr algn="ctr" indent="0" marL="0">
              <a:buNone/>
            </a:pPr>
            <a:r>
              <a:rPr lang="en-US" sz="1200" i="1" dirty="0">
                <a:solidFill>
                  <a:srgbClr val="5A6472"/>
                </a:solidFill>
                <a:latin typeface="Calibri" pitchFamily="34" charset="0"/>
                <a:cs typeface="Amiri" pitchFamily="2" charset="-78"/>
              </a:rPr>
              <a:t> or </a:t>
            </a:r>
            <a:pPr algn="ctr" indent="0" marL="0">
              <a:buNone/>
            </a:pPr>
            <a:r>
              <a:rPr lang="ar-SA" altLang="en-US" sz="1550" dirty="0">
                <a:solidFill>
                  <a:srgbClr val="5A6472"/>
                </a:solidFill>
                <a:latin typeface="Amiri" pitchFamily="2" charset="-78"/>
                <a:ea typeface="Amiri" pitchFamily="2" charset="-78"/>
                <a:cs typeface="Amiri" pitchFamily="2" charset="-78"/>
              </a:rPr>
              <a:t>الْأَحْمَدُ</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Also: </a:t>
            </a:r>
            <a:pPr algn="l" indent="0" marL="0">
              <a:buNone/>
            </a:pPr>
            <a:r>
              <a:rPr lang="ar-SA" altLang="en-US" sz="1450" dirty="0">
                <a:solidFill>
                  <a:srgbClr val="1F2A37"/>
                </a:solidFill>
                <a:latin typeface="Amiri" pitchFamily="2" charset="-78"/>
                <a:ea typeface="Amiri" pitchFamily="2" charset="-78"/>
                <a:cs typeface="Amiri" pitchFamily="2" charset="-78"/>
              </a:rPr>
              <a:t>لَيْلَى</a:t>
            </a:r>
            <a:pPr algn="l" indent="0" marL="0">
              <a:buNone/>
            </a:pPr>
            <a:r>
              <a:rPr lang="en-US" sz="1100" dirty="0">
                <a:solidFill>
                  <a:srgbClr val="1F2A37"/>
                </a:solidFill>
                <a:latin typeface="Calibri" pitchFamily="34" charset="0"/>
                <a:cs typeface="Amiri" pitchFamily="2" charset="-78"/>
              </a:rPr>
              <a:t> · </a:t>
            </a:r>
            <a:pPr algn="l" indent="0" marL="0">
              <a:buNone/>
            </a:pPr>
            <a:r>
              <a:rPr lang="ar-SA" altLang="en-US" sz="1450" dirty="0">
                <a:solidFill>
                  <a:srgbClr val="1F2A37"/>
                </a:solidFill>
                <a:latin typeface="Amiri" pitchFamily="2" charset="-78"/>
                <a:ea typeface="Amiri" pitchFamily="2" charset="-78"/>
                <a:cs typeface="Amiri" pitchFamily="2" charset="-78"/>
              </a:rPr>
              <a:t>لَنْدَنُ</a:t>
            </a:r>
            <a:pPr algn="l" indent="0" marL="0">
              <a:buNone/>
            </a:pPr>
            <a:r>
              <a:rPr lang="en-US" sz="1100" dirty="0">
                <a:solidFill>
                  <a:srgbClr val="1F2A37"/>
                </a:solidFill>
                <a:latin typeface="Calibri" pitchFamily="34" charset="0"/>
                <a:cs typeface="Amiri" pitchFamily="2" charset="-78"/>
              </a:rPr>
              <a: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82296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822960" cy="274320"/>
          </a:xfrm>
          <a:prstGeom prst="rect">
            <a:avLst/>
          </a:prstGeom>
          <a:noFill/>
          <a:ln/>
        </p:spPr>
        <p:txBody>
          <a:bodyPr wrap="square" lIns="0" tIns="0" rIns="0" bIns="0" rtlCol="0" anchor="ctr"/>
          <a:lstStyle/>
          <a:p>
            <a:pPr algn="ctr" indent="0" marL="0">
              <a:buNone/>
            </a:pPr>
            <a:r>
              <a:rPr lang="ar-SA" sz="850" b="1" spc="100" kern="0" dirty="0">
                <a:solidFill>
                  <a:srgbClr val="FFFFFF"/>
                </a:solidFill>
                <a:latin typeface="Calibri" pitchFamily="34" charset="0"/>
                <a:ea typeface="Amiri" pitchFamily="2" charset="-78"/>
                <a:cs typeface="Amiri" pitchFamily="2" charset="-78"/>
              </a:rPr>
              <a:t>WITH الـ</a:t>
            </a:r>
            <a:endParaRPr lang="en-US" sz="850" dirty="0"/>
          </a:p>
        </p:txBody>
      </p:sp>
      <p:sp>
        <p:nvSpPr>
          <p:cNvPr id="26" name="Text 23"/>
          <p:cNvSpPr txBox="1"/>
          <p:nvPr/>
        </p:nvSpPr>
        <p:spPr>
          <a:xfrm>
            <a:off x="5282184" y="1874520"/>
            <a:ext cx="24932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أَسْمَاءٌ بِـ«الـ»</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الْقَاهِرَةُ · الْجَزَائِرُ</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never remove the article from these names</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Also: </a:t>
            </a:r>
            <a:pPr algn="l" indent="0" marL="0">
              <a:buNone/>
            </a:pPr>
            <a:r>
              <a:rPr lang="ar-SA" altLang="en-US" sz="1450" dirty="0">
                <a:solidFill>
                  <a:srgbClr val="1F2A37"/>
                </a:solidFill>
                <a:latin typeface="Amiri" pitchFamily="2" charset="-78"/>
                <a:ea typeface="Amiri" pitchFamily="2" charset="-78"/>
                <a:cs typeface="Amiri" pitchFamily="2" charset="-78"/>
              </a:rPr>
              <a:t>الْمَغْرِبُ</a:t>
            </a:r>
            <a:pPr algn="l" indent="0" marL="0">
              <a:buNone/>
            </a:pPr>
            <a:r>
              <a:rPr lang="en-US" sz="1100" dirty="0">
                <a:solidFill>
                  <a:srgbClr val="1F2A37"/>
                </a:solidFill>
                <a:latin typeface="Calibri" pitchFamily="34" charset="0"/>
                <a:cs typeface="Amiri" pitchFamily="2" charset="-78"/>
              </a:rPr>
              <a:t> · </a:t>
            </a:r>
            <a:pPr algn="l" indent="0" marL="0">
              <a:buNone/>
            </a:pPr>
            <a:r>
              <a:rPr lang="ar-SA" altLang="en-US" sz="1450" dirty="0">
                <a:solidFill>
                  <a:srgbClr val="1F2A37"/>
                </a:solidFill>
                <a:latin typeface="Amiri" pitchFamily="2" charset="-78"/>
                <a:ea typeface="Amiri" pitchFamily="2" charset="-78"/>
                <a:cs typeface="Amiri" pitchFamily="2" charset="-78"/>
              </a:rPr>
              <a:t>السُّودَانُ</a:t>
            </a:r>
            <a:pPr algn="l" indent="0" marL="0">
              <a:buNone/>
            </a:pPr>
            <a:r>
              <a:rPr lang="en-US" sz="1100" dirty="0">
                <a:solidFill>
                  <a:srgbClr val="1F2A37"/>
                </a:solidFill>
                <a:latin typeface="Calibri" pitchFamily="34" charset="0"/>
                <a:cs typeface="Amiri" pitchFamily="2" charset="-78"/>
              </a:rPr>
              <a: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09728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0972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FIXED CHUNKS</a:t>
            </a:r>
            <a:endParaRPr lang="en-US" sz="850" dirty="0"/>
          </a:p>
        </p:txBody>
      </p:sp>
      <p:sp>
        <p:nvSpPr>
          <p:cNvPr id="34" name="Text 31"/>
          <p:cNvSpPr txBox="1"/>
          <p:nvPr/>
        </p:nvSpPr>
        <p:spPr>
          <a:xfrm>
            <a:off x="1737360" y="1874520"/>
            <a:ext cx="22189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تَعَابِيرُ ثَابِتَةٌ</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أُحِبُّ الْقِرَاءَةَ</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like reading — Arabic uses </a:t>
            </a:r>
            <a:pPr algn="ctr" indent="0" marL="0">
              <a:buNone/>
            </a:pPr>
            <a:r>
              <a:rPr lang="ar-SA" altLang="en-US" sz="1550" dirty="0">
                <a:solidFill>
                  <a:srgbClr val="5A6472"/>
                </a:solidFill>
                <a:latin typeface="Amiri" pitchFamily="2" charset="-78"/>
                <a:ea typeface="Amiri" pitchFamily="2" charset="-78"/>
                <a:cs typeface="Amiri" pitchFamily="2" charset="-78"/>
              </a:rPr>
              <a:t>الـ</a:t>
            </a:r>
            <a:pPr algn="ctr" indent="0" marL="0">
              <a:buNone/>
            </a:pPr>
            <a:r>
              <a:rPr lang="en-US" sz="1200" i="1" dirty="0">
                <a:solidFill>
                  <a:srgbClr val="5A6472"/>
                </a:solidFill>
                <a:latin typeface="Calibri" pitchFamily="34" charset="0"/>
                <a:cs typeface="Amiri" pitchFamily="2" charset="-78"/>
              </a:rPr>
              <a:t> here</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ea typeface="Amiri" pitchFamily="2" charset="-78"/>
                <a:cs typeface="Amiri" pitchFamily="2" charset="-78"/>
              </a:rPr>
              <a:t>أُمَارِسُ الرِّيَاضَةَ · أَتَكَلَّمُ الْعَرَبِيَّةَ.</a:t>
            </a:r>
            <a:endParaRPr lang="ar-SA" sz="14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Titles take </a:t>
            </a:r>
            <a:pPr algn="l" indent="0" marL="0">
              <a:buNone/>
            </a:pPr>
            <a:r>
              <a:rPr lang="ar-SA" altLang="en-US" sz="1500" dirty="0">
                <a:solidFill>
                  <a:srgbClr val="1F2A37"/>
                </a:solidFill>
                <a:latin typeface="Amiri" pitchFamily="2" charset="-78"/>
                <a:ea typeface="Amiri" pitchFamily="2" charset="-78"/>
                <a:cs typeface="Amiri" pitchFamily="2" charset="-78"/>
              </a:rPr>
              <a:t>الـ</a:t>
            </a:r>
            <a:pPr algn="l" indent="0" marL="0">
              <a:buNone/>
            </a:pPr>
            <a:r>
              <a:rPr lang="en-US" sz="1150" dirty="0">
                <a:solidFill>
                  <a:srgbClr val="1F2A37"/>
                </a:solidFill>
                <a:latin typeface="Calibri" pitchFamily="34" charset="0"/>
                <a:cs typeface="Amiri" pitchFamily="2" charset="-78"/>
              </a:rPr>
              <a:t>; the personal name does not change.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الْأُسْتَاذُ أَحْمَدُ</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300" b="1" dirty="0">
                <a:solidFill>
                  <a:srgbClr val="B83227"/>
                </a:solidFill>
                <a:latin typeface="Amiri" pitchFamily="2" charset="-78"/>
                <a:ea typeface="Amiri" pitchFamily="2" charset="-78"/>
                <a:cs typeface="Amiri" pitchFamily="2" charset="-78"/>
              </a:rPr>
              <a:t>الْأُسْتَاذُ الْأَحْمَدُ</a:t>
            </a:r>
            <a:endParaRPr lang="ar-SA" sz="23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GM-ART-03 · Articles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makes </a:t>
            </a:r>
            <a:pPr algn="l" indent="0" marL="0">
              <a:buNone/>
            </a:pPr>
            <a:r>
              <a:rPr lang="ar-SA" altLang="en-US" sz="1650" b="1" dirty="0">
                <a:solidFill>
                  <a:srgbClr val="1B3B6F"/>
                </a:solidFill>
                <a:latin typeface="Amiri" pitchFamily="2" charset="-78"/>
                <a:ea typeface="Amiri" pitchFamily="2" charset="-78"/>
                <a:cs typeface="Amiri" pitchFamily="2" charset="-78"/>
              </a:rPr>
              <a:t>الْمَنْزِلُ</a:t>
            </a:r>
            <a:pPr algn="l" indent="0" marL="0">
              <a:buNone/>
            </a:pPr>
            <a:r>
              <a:rPr lang="en-US" sz="1250" b="1" dirty="0">
                <a:solidFill>
                  <a:srgbClr val="1B3B6F"/>
                </a:solidFill>
                <a:latin typeface="Calibri" pitchFamily="34" charset="0"/>
                <a:cs typeface="Amiri" pitchFamily="2" charset="-78"/>
              </a:rPr>
              <a:t> definite?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suffix</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idāfa</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article</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makes </a:t>
            </a:r>
            <a:pPr algn="l" indent="0" marL="0">
              <a:buNone/>
            </a:pPr>
            <a:r>
              <a:rPr lang="ar-SA" altLang="en-US" sz="1650" b="1" dirty="0">
                <a:solidFill>
                  <a:srgbClr val="1B3B6F"/>
                </a:solidFill>
                <a:latin typeface="Amiri" pitchFamily="2" charset="-78"/>
                <a:ea typeface="Amiri" pitchFamily="2" charset="-78"/>
                <a:cs typeface="Amiri" pitchFamily="2" charset="-78"/>
              </a:rPr>
              <a:t>مَدْرَسَتُنَا</a:t>
            </a:r>
            <a:pPr algn="l" indent="0" marL="0">
              <a:buNone/>
            </a:pPr>
            <a:r>
              <a:rPr lang="en-US" sz="1250" b="1" dirty="0">
                <a:solidFill>
                  <a:srgbClr val="1B3B6F"/>
                </a:solidFill>
                <a:latin typeface="Calibri" pitchFamily="34" charset="0"/>
                <a:cs typeface="Amiri" pitchFamily="2" charset="-78"/>
              </a:rPr>
              <a:t> definite?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possessive suffix</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article</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proper name</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makes </a:t>
            </a:r>
            <a:pPr algn="l" indent="0" marL="0">
              <a:buNone/>
            </a:pPr>
            <a:r>
              <a:rPr lang="ar-SA" altLang="en-US" sz="1650" b="1" dirty="0">
                <a:solidFill>
                  <a:srgbClr val="1B3B6F"/>
                </a:solidFill>
                <a:latin typeface="Amiri" pitchFamily="2" charset="-78"/>
                <a:ea typeface="Amiri" pitchFamily="2" charset="-78"/>
                <a:cs typeface="Amiri" pitchFamily="2" charset="-78"/>
              </a:rPr>
              <a:t>لَيْلَى</a:t>
            </a:r>
            <a:pPr algn="l" indent="0" marL="0">
              <a:buNone/>
            </a:pPr>
            <a:r>
              <a:rPr lang="en-US" sz="1250" b="1" dirty="0">
                <a:solidFill>
                  <a:srgbClr val="1B3B6F"/>
                </a:solidFill>
                <a:latin typeface="Calibri" pitchFamily="34" charset="0"/>
                <a:cs typeface="Amiri" pitchFamily="2" charset="-78"/>
              </a:rPr>
              <a:t> definite?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article</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proper name</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tanwīn</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makes </a:t>
            </a:r>
            <a:pPr algn="l" indent="0" marL="0">
              <a:buNone/>
            </a:pPr>
            <a:r>
              <a:rPr lang="ar-SA" altLang="en-US" sz="1650" b="1" dirty="0">
                <a:solidFill>
                  <a:srgbClr val="1B3B6F"/>
                </a:solidFill>
                <a:latin typeface="Amiri" pitchFamily="2" charset="-78"/>
                <a:ea typeface="Amiri" pitchFamily="2" charset="-78"/>
                <a:cs typeface="Amiri" pitchFamily="2" charset="-78"/>
              </a:rPr>
              <a:t>بَابُ الْفَصْلِ</a:t>
            </a:r>
            <a:pPr algn="l" indent="0" marL="0">
              <a:buNone/>
            </a:pPr>
            <a:r>
              <a:rPr lang="en-US" sz="1250" b="1" dirty="0">
                <a:solidFill>
                  <a:srgbClr val="1B3B6F"/>
                </a:solidFill>
                <a:latin typeface="Calibri" pitchFamily="34" charset="0"/>
                <a:cs typeface="Amiri" pitchFamily="2" charset="-78"/>
              </a:rPr>
              <a:t> definite?</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final noun in idāfa is definite</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first noun has </a:t>
            </a:r>
            <a:pPr algn="l" indent="0" marL="0">
              <a:buNone/>
            </a:pPr>
            <a:r>
              <a:rPr lang="ar-SA" altLang="en-US" sz="1650" dirty="0">
                <a:solidFill>
                  <a:srgbClr val="1F2A37"/>
                </a:solidFill>
                <a:latin typeface="Amiri" pitchFamily="2" charset="-78"/>
                <a:ea typeface="Amiri" pitchFamily="2" charset="-78"/>
                <a:cs typeface="Amiri" pitchFamily="2" charset="-78"/>
              </a:rPr>
              <a:t>الـ</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first noun has tanwīn</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GM-ART-03 · Articles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makes </a:t>
            </a:r>
            <a:pPr algn="l" indent="0" marL="0">
              <a:buNone/>
            </a:pPr>
            <a:r>
              <a:rPr lang="ar-SA" altLang="en-US" sz="1650" b="1" dirty="0">
                <a:solidFill>
                  <a:srgbClr val="1B3B6F"/>
                </a:solidFill>
                <a:latin typeface="Amiri" pitchFamily="2" charset="-78"/>
                <a:ea typeface="Amiri" pitchFamily="2" charset="-78"/>
                <a:cs typeface="Amiri" pitchFamily="2" charset="-78"/>
              </a:rPr>
              <a:t>الْمَنْزِلُ</a:t>
            </a:r>
            <a:pPr algn="l" indent="0" marL="0">
              <a:buNone/>
            </a:pPr>
            <a:r>
              <a:rPr lang="en-US" sz="1250" b="1" dirty="0">
                <a:solidFill>
                  <a:srgbClr val="1B3B6F"/>
                </a:solidFill>
                <a:latin typeface="Calibri" pitchFamily="34" charset="0"/>
                <a:cs typeface="Amiri" pitchFamily="2" charset="-78"/>
              </a:rPr>
              <a:t> definite?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suffix</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idāfa</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article</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visible article </a:t>
            </a:r>
            <a:pPr algn="l" indent="0" marL="0">
              <a:buNone/>
            </a:pPr>
            <a:r>
              <a:rPr lang="ar-SA" altLang="en-US" sz="1350" dirty="0">
                <a:solidFill>
                  <a:srgbClr val="8A6D1E"/>
                </a:solidFill>
                <a:latin typeface="Amiri" pitchFamily="2" charset="-78"/>
                <a:ea typeface="Amiri" pitchFamily="2" charset="-78"/>
                <a:cs typeface="Amiri" pitchFamily="2" charset="-78"/>
              </a:rPr>
              <a:t>الـ</a:t>
            </a:r>
            <a:pPr algn="l" indent="0" marL="0">
              <a:buNone/>
            </a:pPr>
            <a:r>
              <a:rPr lang="en-US" sz="1050" i="1" dirty="0">
                <a:solidFill>
                  <a:srgbClr val="8A6D1E"/>
                </a:solidFill>
                <a:latin typeface="Calibri" pitchFamily="34" charset="0"/>
                <a:cs typeface="Amiri" pitchFamily="2" charset="-78"/>
              </a:rPr>
              <a:t> marks the noun as definite.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makes </a:t>
            </a:r>
            <a:pPr algn="l" indent="0" marL="0">
              <a:buNone/>
            </a:pPr>
            <a:r>
              <a:rPr lang="ar-SA" altLang="en-US" sz="1650" b="1" dirty="0">
                <a:solidFill>
                  <a:srgbClr val="1B3B6F"/>
                </a:solidFill>
                <a:latin typeface="Amiri" pitchFamily="2" charset="-78"/>
                <a:ea typeface="Amiri" pitchFamily="2" charset="-78"/>
                <a:cs typeface="Amiri" pitchFamily="2" charset="-78"/>
              </a:rPr>
              <a:t>مَدْرَسَتُنَا</a:t>
            </a:r>
            <a:pPr algn="l" indent="0" marL="0">
              <a:buNone/>
            </a:pPr>
            <a:r>
              <a:rPr lang="en-US" sz="1250" b="1" dirty="0">
                <a:solidFill>
                  <a:srgbClr val="1B3B6F"/>
                </a:solidFill>
                <a:latin typeface="Calibri" pitchFamily="34" charset="0"/>
                <a:cs typeface="Amiri" pitchFamily="2" charset="-78"/>
              </a:rPr>
              <a:t> definite?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possessive suffix</a:t>
            </a:r>
            <a:endParaRPr lang="en-US" sz="125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article</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proper name</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suffix </a:t>
            </a:r>
            <a:pPr algn="l" indent="0" marL="0">
              <a:buNone/>
            </a:pPr>
            <a:r>
              <a:rPr lang="ar-SA" altLang="en-US" sz="1350" dirty="0">
                <a:solidFill>
                  <a:srgbClr val="8A6D1E"/>
                </a:solidFill>
                <a:latin typeface="Amiri" pitchFamily="2" charset="-78"/>
                <a:ea typeface="Amiri" pitchFamily="2" charset="-78"/>
                <a:cs typeface="Amiri" pitchFamily="2" charset="-78"/>
              </a:rPr>
              <a:t>ـنَا</a:t>
            </a:r>
            <a:pPr algn="l" indent="0" marL="0">
              <a:buNone/>
            </a:pPr>
            <a:r>
              <a:rPr lang="en-US" sz="1050" i="1" dirty="0">
                <a:solidFill>
                  <a:srgbClr val="8A6D1E"/>
                </a:solidFill>
                <a:latin typeface="Calibri" pitchFamily="34" charset="0"/>
                <a:cs typeface="Amiri" pitchFamily="2" charset="-78"/>
              </a:rPr>
              <a:t> identifies the owner: our school.</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makes </a:t>
            </a:r>
            <a:pPr algn="l" indent="0" marL="0">
              <a:buNone/>
            </a:pPr>
            <a:r>
              <a:rPr lang="ar-SA" altLang="en-US" sz="1650" b="1" dirty="0">
                <a:solidFill>
                  <a:srgbClr val="1B3B6F"/>
                </a:solidFill>
                <a:latin typeface="Amiri" pitchFamily="2" charset="-78"/>
                <a:ea typeface="Amiri" pitchFamily="2" charset="-78"/>
                <a:cs typeface="Amiri" pitchFamily="2" charset="-78"/>
              </a:rPr>
              <a:t>لَيْلَى</a:t>
            </a:r>
            <a:pPr algn="l" indent="0" marL="0">
              <a:buNone/>
            </a:pPr>
            <a:r>
              <a:rPr lang="en-US" sz="1250" b="1" dirty="0">
                <a:solidFill>
                  <a:srgbClr val="1B3B6F"/>
                </a:solidFill>
                <a:latin typeface="Calibri" pitchFamily="34" charset="0"/>
                <a:cs typeface="Amiri" pitchFamily="2" charset="-78"/>
              </a:rPr>
              <a:t> definite?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article</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proper name</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tanwīn</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proper name identifies a named person without needing the article.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makes </a:t>
            </a:r>
            <a:pPr algn="l" indent="0" marL="0">
              <a:buNone/>
            </a:pPr>
            <a:r>
              <a:rPr lang="ar-SA" altLang="en-US" sz="1650" b="1" dirty="0">
                <a:solidFill>
                  <a:srgbClr val="1B3B6F"/>
                </a:solidFill>
                <a:latin typeface="Amiri" pitchFamily="2" charset="-78"/>
                <a:ea typeface="Amiri" pitchFamily="2" charset="-78"/>
                <a:cs typeface="Amiri" pitchFamily="2" charset="-78"/>
              </a:rPr>
              <a:t>بَابُ الْفَصْلِ</a:t>
            </a:r>
            <a:pPr algn="l" indent="0" marL="0">
              <a:buNone/>
            </a:pPr>
            <a:r>
              <a:rPr lang="en-US" sz="1250" b="1" dirty="0">
                <a:solidFill>
                  <a:srgbClr val="1B3B6F"/>
                </a:solidFill>
                <a:latin typeface="Calibri" pitchFamily="34" charset="0"/>
                <a:cs typeface="Amiri" pitchFamily="2" charset="-78"/>
              </a:rPr>
              <a:t> definite?</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final noun in idāfa is definite</a:t>
            </a:r>
            <a:endParaRPr lang="en-US" sz="125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first noun has </a:t>
            </a:r>
            <a:pPr algn="l" indent="0" marL="0">
              <a:buNone/>
            </a:pPr>
            <a:r>
              <a:rPr lang="ar-SA" altLang="en-US" sz="1650" dirty="0">
                <a:solidFill>
                  <a:srgbClr val="9AA1AB"/>
                </a:solidFill>
                <a:latin typeface="Amiri" pitchFamily="2" charset="-78"/>
                <a:ea typeface="Amiri" pitchFamily="2" charset="-78"/>
                <a:cs typeface="Amiri" pitchFamily="2" charset="-78"/>
              </a:rPr>
              <a:t>الـ</a:t>
            </a:r>
            <a:endParaRPr lang="en-US" sz="125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first noun has tanwīn</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definite second term makes the complete idāfa definite.</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GM-ART-03 · Articles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Watch me label every definite noun</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Name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سَلْمَى</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Route: NAME — no </a:t>
            </a:r>
            <a:pPr algn="l" indent="0" marL="0">
              <a:buNone/>
            </a:pPr>
            <a:r>
              <a:rPr lang="ar-SA" altLang="en-US" sz="1500" dirty="0">
                <a:solidFill>
                  <a:srgbClr val="1F2A37"/>
                </a:solidFill>
                <a:latin typeface="Amiri" pitchFamily="2" charset="-78"/>
                <a:ea typeface="Amiri" pitchFamily="2" charset="-78"/>
                <a:cs typeface="Amiri" pitchFamily="2" charset="-78"/>
              </a:rPr>
              <a:t>الـ</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City</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الْقَاهِرَةِ</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Established name WITH </a:t>
            </a:r>
            <a:pPr algn="l" indent="0" marL="0">
              <a:buNone/>
            </a:pPr>
            <a:r>
              <a:rPr lang="ar-SA" altLang="en-US" sz="1500" dirty="0">
                <a:solidFill>
                  <a:srgbClr val="1F2A37"/>
                </a:solidFill>
                <a:latin typeface="Amiri" pitchFamily="2" charset="-78"/>
                <a:ea typeface="Amiri" pitchFamily="2" charset="-78"/>
                <a:cs typeface="Amiri" pitchFamily="2" charset="-78"/>
              </a:rPr>
              <a:t>الـ</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Suffix</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بَيْتُنَا الْجَدِيدُ</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SUFFIX: noun without </a:t>
            </a:r>
            <a:pPr algn="l" indent="0" marL="0">
              <a:buNone/>
            </a:pPr>
            <a:r>
              <a:rPr lang="ar-SA" altLang="en-US" sz="1500" dirty="0">
                <a:solidFill>
                  <a:srgbClr val="1F2A37"/>
                </a:solidFill>
                <a:latin typeface="Amiri" pitchFamily="2" charset="-78"/>
                <a:ea typeface="Amiri" pitchFamily="2" charset="-78"/>
                <a:cs typeface="Amiri" pitchFamily="2" charset="-78"/>
              </a:rPr>
              <a:t>الـ</a:t>
            </a:r>
            <a:pPr algn="l" indent="0" marL="0">
              <a:buNone/>
            </a:pPr>
            <a:r>
              <a:rPr lang="en-US" sz="1150" dirty="0">
                <a:solidFill>
                  <a:srgbClr val="1F2A37"/>
                </a:solidFill>
                <a:latin typeface="Calibri" pitchFamily="34" charset="0"/>
                <a:cs typeface="Amiri" pitchFamily="2" charset="-78"/>
              </a:rPr>
              <a:t>; adjective with.</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Iḍāfa</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مَحَطَّةِ الْحَافِلَاتِ</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First noun protected.</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SUFFIX / NAME</a:t>
            </a:r>
            <a:endParaRPr lang="en-US" sz="800" dirty="0"/>
          </a:p>
        </p:txBody>
      </p:sp>
      <p:sp>
        <p:nvSpPr>
          <p:cNvPr id="47" name="Shape 43"/>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IḌĀFA</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اِسْمِي </a:t>
            </a:r>
            <a:pPr rtl="1" algn="r" indent="0" marL="0">
              <a:buNone/>
            </a:pPr>
            <a:r>
              <a:rPr lang="ar-SA" altLang="en-US" sz="2600" b="1" dirty="0">
                <a:solidFill>
                  <a:srgbClr val="0E7C86"/>
                </a:solidFill>
                <a:latin typeface="Amiri" pitchFamily="2" charset="-78"/>
                <a:ea typeface="Amiri" pitchFamily="2" charset="-78"/>
                <a:cs typeface="Amiri" pitchFamily="2" charset="-78"/>
              </a:rPr>
              <a:t>سَلْمَى</a:t>
            </a:r>
            <a:pPr rtl="1" algn="r" indent="0" marL="0">
              <a:buNone/>
            </a:pPr>
            <a:r>
              <a:rPr lang="ar-SA" altLang="en-US" sz="2600" b="1" dirty="0">
                <a:solidFill>
                  <a:srgbClr val="1B3B6F"/>
                </a:solidFill>
                <a:latin typeface="Amiri" pitchFamily="2" charset="-78"/>
                <a:ea typeface="Amiri" pitchFamily="2" charset="-78"/>
                <a:cs typeface="Amiri" pitchFamily="2" charset="-78"/>
              </a:rPr>
              <a:t>، وَأَسْكُنُ فِي الْقَاهِرَةِ. </a:t>
            </a:r>
            <a:pPr rtl="1" algn="r" indent="0" marL="0">
              <a:buNone/>
            </a:pPr>
            <a:r>
              <a:rPr lang="ar-SA" altLang="en-US" sz="2600" b="1" dirty="0">
                <a:solidFill>
                  <a:srgbClr val="0E7C86"/>
                </a:solidFill>
                <a:latin typeface="Amiri" pitchFamily="2" charset="-78"/>
                <a:ea typeface="Amiri" pitchFamily="2" charset="-78"/>
                <a:cs typeface="Amiri" pitchFamily="2" charset="-78"/>
              </a:rPr>
              <a:t>بَيْتُنَا</a:t>
            </a:r>
            <a:pPr rtl="1" algn="r" indent="0" marL="0">
              <a:buNone/>
            </a:pPr>
            <a:r>
              <a:rPr lang="ar-SA" altLang="en-US" sz="2600" b="1" dirty="0">
                <a:solidFill>
                  <a:srgbClr val="1B3B6F"/>
                </a:solidFill>
                <a:latin typeface="Amiri" pitchFamily="2" charset="-78"/>
                <a:ea typeface="Amiri" pitchFamily="2" charset="-78"/>
                <a:cs typeface="Amiri" pitchFamily="2" charset="-78"/>
              </a:rPr>
              <a:t> الْجَدِيدُ قَرِيبٌ مِنْ </a:t>
            </a:r>
            <a:pPr rtl="1" algn="r" indent="0" marL="0">
              <a:buNone/>
            </a:pPr>
            <a:r>
              <a:rPr lang="ar-SA" altLang="en-US" sz="2600" b="1" dirty="0">
                <a:solidFill>
                  <a:srgbClr val="1D5FBF"/>
                </a:solidFill>
                <a:latin typeface="Amiri" pitchFamily="2" charset="-78"/>
                <a:ea typeface="Amiri" pitchFamily="2" charset="-78"/>
                <a:cs typeface="Amiri" pitchFamily="2" charset="-78"/>
              </a:rPr>
              <a:t>مَحَطَّةِ الْحَافِلَاتِ</a:t>
            </a:r>
            <a:pPr rtl="1" algn="r" indent="0" marL="0">
              <a:buNone/>
            </a:pPr>
            <a:r>
              <a:rPr lang="ar-SA" altLang="en-US" sz="2600" b="1" dirty="0">
                <a:solidFill>
                  <a:srgbClr val="1B3B6F"/>
                </a:solidFill>
                <a:latin typeface="Amiri" pitchFamily="2" charset="-78"/>
                <a:cs typeface="Amiri" pitchFamily="2" charset="-78"/>
              </a:rPr>
              <a:t>.</a:t>
            </a:r>
            <a:endParaRPr lang="ar-SA" sz="26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My name is Salma, and I live in Cairo. Our new house is near the bus station.</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GM-ART-03 · Articles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هٰذِهِ حَقِيبَتِي الزَّرْقَاءُ.</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This is my blue bag.</a:t>
            </a:r>
            <a:endParaRPr lang="en-US" sz="1250" dirty="0"/>
          </a:p>
          <a:p>
            <a:pPr indent="0" marL="0">
              <a:buNone/>
            </a:pPr>
            <a:r>
              <a:rPr lang="en-US" sz="1050" i="1" dirty="0">
                <a:solidFill>
                  <a:srgbClr val="8A6D1E"/>
                </a:solidFill>
                <a:latin typeface="Calibri" pitchFamily="34" charset="0"/>
                <a:cs typeface="Amiri" pitchFamily="2" charset="-78"/>
              </a:rPr>
              <a:t>Suffix + definite adjective.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هَلْ هٰذَا كِتَابُكِ؟</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Is this your book? (to a girl)</a:t>
            </a:r>
            <a:endParaRPr lang="en-US" sz="1250" dirty="0"/>
          </a:p>
          <a:p>
            <a:pPr indent="0" marL="0">
              <a:buNone/>
            </a:pPr>
            <a:r>
              <a:rPr lang="en-US" sz="1050" i="1" dirty="0">
                <a:solidFill>
                  <a:srgbClr val="8A6D1E"/>
                </a:solidFill>
                <a:latin typeface="Calibri" pitchFamily="34" charset="0"/>
                <a:cs typeface="Amiri" pitchFamily="2" charset="-78"/>
              </a:rPr>
              <a:t>Demonstrative + suffixed noun.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هٰذَا قَلَمُ صَدِيقَتِي.</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This is my friend’s pen.</a:t>
            </a:r>
            <a:endParaRPr lang="en-US" sz="1250" dirty="0"/>
          </a:p>
          <a:p>
            <a:pPr indent="0" marL="0">
              <a:buNone/>
            </a:pPr>
            <a:r>
              <a:rPr lang="en-US" sz="1050" i="1" dirty="0">
                <a:solidFill>
                  <a:srgbClr val="8A6D1E"/>
                </a:solidFill>
                <a:latin typeface="Calibri" pitchFamily="34" charset="0"/>
                <a:cs typeface="Amiri" pitchFamily="2" charset="-78"/>
              </a:rPr>
              <a:t>Iḍāfa ending in a suffix.</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أُمَارِسُ الرِّيَاضَةَ فِي مَلْعَبِ الْحَيِّ.</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do sport at the neighbourhood pitch.</a:t>
            </a:r>
            <a:endParaRPr lang="en-US" sz="1250" dirty="0"/>
          </a:p>
          <a:p>
            <a:pPr indent="0" marL="0">
              <a:buNone/>
            </a:pPr>
            <a:r>
              <a:rPr lang="en-US" sz="1050" i="1" dirty="0">
                <a:solidFill>
                  <a:srgbClr val="8A6D1E"/>
                </a:solidFill>
                <a:latin typeface="Calibri" pitchFamily="34" charset="0"/>
                <a:cs typeface="Amiri" pitchFamily="2" charset="-78"/>
              </a:rPr>
              <a:t>Fixed chunk + iḍāfa.</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GM-ART-03 · Articles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NAME THE ROUTE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makes it definite?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الْمَنْزِلُ</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مَدْرَسَتُنَا</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لَيْلَى</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بَابُ الْفَصْلِ</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الْحَدِيقَةُ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قَلَمُكَ</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أَحْمَدُ</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مَكْتَبَةُ الْمَدْرَسَةِ</a:t>
            </a:r>
            <a:endParaRPr lang="ar-SA" sz="1800" dirty="0"/>
          </a:p>
        </p:txBody>
      </p:sp>
      <p:sp>
        <p:nvSpPr>
          <p:cNvPr id="31" name="Shape 28"/>
          <p:cNvSpPr/>
          <p:nvPr/>
        </p:nvSpPr>
        <p:spPr>
          <a:xfrm>
            <a:off x="9050274" y="3017520"/>
            <a:ext cx="2681478" cy="3291840"/>
          </a:xfrm>
          <a:prstGeom prst="roundRect">
            <a:avLst>
              <a:gd name="adj" fmla="val 2728"/>
            </a:avLst>
          </a:prstGeom>
          <a:solidFill>
            <a:srgbClr val="EEF3FA"/>
          </a:solidFill>
          <a:ln w="9525">
            <a:solidFill>
              <a:srgbClr val="C9D6EA"/>
            </a:solidFill>
            <a:prstDash val="solid"/>
          </a:ln>
        </p:spPr>
      </p:sp>
      <p:sp>
        <p:nvSpPr>
          <p:cNvPr id="32" name="Shape 29"/>
          <p:cNvSpPr/>
          <p:nvPr/>
        </p:nvSpPr>
        <p:spPr>
          <a:xfrm>
            <a:off x="9187434" y="3127248"/>
            <a:ext cx="2407158"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9187434"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the article</a:t>
            </a:r>
            <a:endParaRPr lang="en-US" sz="950" dirty="0"/>
          </a:p>
        </p:txBody>
      </p:sp>
      <p:sp>
        <p:nvSpPr>
          <p:cNvPr id="34" name="Shape 31"/>
          <p:cNvSpPr/>
          <p:nvPr/>
        </p:nvSpPr>
        <p:spPr>
          <a:xfrm>
            <a:off x="6185916" y="3017520"/>
            <a:ext cx="2681478" cy="3291840"/>
          </a:xfrm>
          <a:prstGeom prst="roundRect">
            <a:avLst>
              <a:gd name="adj" fmla="val 2728"/>
            </a:avLst>
          </a:prstGeom>
          <a:solidFill>
            <a:srgbClr val="EEF3FA"/>
          </a:solidFill>
          <a:ln w="9525">
            <a:solidFill>
              <a:srgbClr val="C9D6EA"/>
            </a:solidFill>
            <a:prstDash val="solid"/>
          </a:ln>
        </p:spPr>
      </p:sp>
      <p:sp>
        <p:nvSpPr>
          <p:cNvPr id="35" name="Shape 32"/>
          <p:cNvSpPr/>
          <p:nvPr/>
        </p:nvSpPr>
        <p:spPr>
          <a:xfrm>
            <a:off x="6323076" y="3127248"/>
            <a:ext cx="2407158"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6323076"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a suffix</a:t>
            </a:r>
            <a:endParaRPr lang="en-US" sz="950" dirty="0"/>
          </a:p>
        </p:txBody>
      </p:sp>
      <p:sp>
        <p:nvSpPr>
          <p:cNvPr id="37" name="Shape 34"/>
          <p:cNvSpPr/>
          <p:nvPr/>
        </p:nvSpPr>
        <p:spPr>
          <a:xfrm>
            <a:off x="3321558" y="3017520"/>
            <a:ext cx="2681478" cy="3291840"/>
          </a:xfrm>
          <a:prstGeom prst="roundRect">
            <a:avLst>
              <a:gd name="adj" fmla="val 2728"/>
            </a:avLst>
          </a:prstGeom>
          <a:solidFill>
            <a:srgbClr val="EEF3FA"/>
          </a:solidFill>
          <a:ln w="9525">
            <a:solidFill>
              <a:srgbClr val="C9D6EA"/>
            </a:solidFill>
            <a:prstDash val="solid"/>
          </a:ln>
        </p:spPr>
      </p:sp>
      <p:sp>
        <p:nvSpPr>
          <p:cNvPr id="38" name="Shape 35"/>
          <p:cNvSpPr/>
          <p:nvPr/>
        </p:nvSpPr>
        <p:spPr>
          <a:xfrm>
            <a:off x="3458718" y="3127248"/>
            <a:ext cx="2407158"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3458718"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a name</a:t>
            </a:r>
            <a:endParaRPr lang="en-US" sz="950" dirty="0"/>
          </a:p>
        </p:txBody>
      </p:sp>
      <p:sp>
        <p:nvSpPr>
          <p:cNvPr id="40" name="Shape 37"/>
          <p:cNvSpPr/>
          <p:nvPr/>
        </p:nvSpPr>
        <p:spPr>
          <a:xfrm>
            <a:off x="457200" y="3017520"/>
            <a:ext cx="2681478" cy="3291840"/>
          </a:xfrm>
          <a:prstGeom prst="roundRect">
            <a:avLst>
              <a:gd name="adj" fmla="val 2728"/>
            </a:avLst>
          </a:prstGeom>
          <a:solidFill>
            <a:srgbClr val="EEF3FA"/>
          </a:solidFill>
          <a:ln w="9525">
            <a:solidFill>
              <a:srgbClr val="C9D6EA"/>
            </a:solidFill>
            <a:prstDash val="solid"/>
          </a:ln>
        </p:spPr>
      </p:sp>
      <p:sp>
        <p:nvSpPr>
          <p:cNvPr id="41" name="Shape 38"/>
          <p:cNvSpPr/>
          <p:nvPr/>
        </p:nvSpPr>
        <p:spPr>
          <a:xfrm>
            <a:off x="594360" y="3127248"/>
            <a:ext cx="2407158" cy="310896"/>
          </a:xfrm>
          <a:prstGeom prst="roundRect">
            <a:avLst>
              <a:gd name="adj" fmla="val 50000"/>
            </a:avLst>
          </a:prstGeom>
          <a:solidFill>
            <a:srgbClr val="2F6FB0"/>
          </a:solidFill>
          <a:ln w="12700">
            <a:solidFill>
              <a:srgbClr val="2F6FB0"/>
            </a:solidFill>
            <a:prstDash val="solid"/>
          </a:ln>
        </p:spPr>
      </p:sp>
      <p:sp>
        <p:nvSpPr>
          <p:cNvPr id="42" name="Text 39"/>
          <p:cNvSpPr txBox="1"/>
          <p:nvPr/>
        </p:nvSpPr>
        <p:spPr>
          <a:xfrm>
            <a:off x="594360" y="3127248"/>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4 · iḍāfa</a:t>
            </a:r>
            <a:endParaRPr lang="en-US" sz="9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GM-ART-03 · Articles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GM-ART-03</a:t>
            </a:r>
            <a:endParaRPr lang="en-US" sz="850" dirty="0"/>
          </a:p>
        </p:txBody>
      </p:sp>
      <p:sp>
        <p:nvSpPr>
          <p:cNvPr id="15" name="Shape 12"/>
          <p:cNvSpPr/>
          <p:nvPr/>
        </p:nvSpPr>
        <p:spPr>
          <a:xfrm>
            <a:off x="9050274" y="1810512"/>
            <a:ext cx="2681478" cy="4498848"/>
          </a:xfrm>
          <a:prstGeom prst="roundRect">
            <a:avLst>
              <a:gd name="adj" fmla="val 2728"/>
            </a:avLst>
          </a:prstGeom>
          <a:solidFill>
            <a:srgbClr val="EEF3FA"/>
          </a:solidFill>
          <a:ln w="9525">
            <a:solidFill>
              <a:srgbClr val="C9D6EA"/>
            </a:solidFill>
            <a:prstDash val="solid"/>
          </a:ln>
        </p:spPr>
      </p:sp>
      <p:sp>
        <p:nvSpPr>
          <p:cNvPr id="16" name="Shape 13"/>
          <p:cNvSpPr/>
          <p:nvPr/>
        </p:nvSpPr>
        <p:spPr>
          <a:xfrm>
            <a:off x="9187434" y="1920240"/>
            <a:ext cx="2407158"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9187434"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the article</a:t>
            </a:r>
            <a:endParaRPr lang="en-US" sz="950" dirty="0"/>
          </a:p>
        </p:txBody>
      </p:sp>
      <p:sp>
        <p:nvSpPr>
          <p:cNvPr id="18" name="Shape 15"/>
          <p:cNvSpPr/>
          <p:nvPr/>
        </p:nvSpPr>
        <p:spPr>
          <a:xfrm>
            <a:off x="9187434" y="2377440"/>
            <a:ext cx="2407158"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9278874"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الْمَنْزِلُ</a:t>
            </a:r>
            <a:endParaRPr lang="ar-SA" sz="1800" dirty="0"/>
          </a:p>
        </p:txBody>
      </p:sp>
      <p:sp>
        <p:nvSpPr>
          <p:cNvPr id="20" name="Shape 17"/>
          <p:cNvSpPr/>
          <p:nvPr/>
        </p:nvSpPr>
        <p:spPr>
          <a:xfrm>
            <a:off x="9187434" y="2889504"/>
            <a:ext cx="2407158"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9278874"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الْحَدِيقَةُ</a:t>
            </a:r>
            <a:endParaRPr lang="ar-SA" sz="1800" dirty="0"/>
          </a:p>
        </p:txBody>
      </p:sp>
      <p:sp>
        <p:nvSpPr>
          <p:cNvPr id="22" name="Shape 19"/>
          <p:cNvSpPr/>
          <p:nvPr/>
        </p:nvSpPr>
        <p:spPr>
          <a:xfrm>
            <a:off x="6185916" y="1810512"/>
            <a:ext cx="2681478" cy="4498848"/>
          </a:xfrm>
          <a:prstGeom prst="roundRect">
            <a:avLst>
              <a:gd name="adj" fmla="val 2728"/>
            </a:avLst>
          </a:prstGeom>
          <a:solidFill>
            <a:srgbClr val="EEF3FA"/>
          </a:solidFill>
          <a:ln w="9525">
            <a:solidFill>
              <a:srgbClr val="C9D6EA"/>
            </a:solidFill>
            <a:prstDash val="solid"/>
          </a:ln>
        </p:spPr>
      </p:sp>
      <p:sp>
        <p:nvSpPr>
          <p:cNvPr id="23" name="Shape 20"/>
          <p:cNvSpPr/>
          <p:nvPr/>
        </p:nvSpPr>
        <p:spPr>
          <a:xfrm>
            <a:off x="6323076" y="1920240"/>
            <a:ext cx="2407158" cy="310896"/>
          </a:xfrm>
          <a:prstGeom prst="roundRect">
            <a:avLst>
              <a:gd name="adj" fmla="val 50000"/>
            </a:avLst>
          </a:prstGeom>
          <a:solidFill>
            <a:srgbClr val="2F6FB0"/>
          </a:solidFill>
          <a:ln w="12700">
            <a:solidFill>
              <a:srgbClr val="2F6FB0"/>
            </a:solidFill>
            <a:prstDash val="solid"/>
          </a:ln>
        </p:spPr>
      </p:sp>
      <p:sp>
        <p:nvSpPr>
          <p:cNvPr id="24" name="Text 21"/>
          <p:cNvSpPr txBox="1"/>
          <p:nvPr/>
        </p:nvSpPr>
        <p:spPr>
          <a:xfrm>
            <a:off x="6323076"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a suffix</a:t>
            </a:r>
            <a:endParaRPr lang="en-US" sz="950" dirty="0"/>
          </a:p>
        </p:txBody>
      </p:sp>
      <p:sp>
        <p:nvSpPr>
          <p:cNvPr id="25" name="Shape 22"/>
          <p:cNvSpPr/>
          <p:nvPr/>
        </p:nvSpPr>
        <p:spPr>
          <a:xfrm>
            <a:off x="6323076" y="2377440"/>
            <a:ext cx="2407158" cy="438912"/>
          </a:xfrm>
          <a:prstGeom prst="roundRect">
            <a:avLst>
              <a:gd name="adj" fmla="val 12500"/>
            </a:avLst>
          </a:prstGeom>
          <a:solidFill>
            <a:srgbClr val="FFF4DC"/>
          </a:solidFill>
          <a:ln w="9525">
            <a:solidFill>
              <a:srgbClr val="E6C98A"/>
            </a:solidFill>
            <a:prstDash val="solid"/>
          </a:ln>
        </p:spPr>
      </p:sp>
      <p:sp>
        <p:nvSpPr>
          <p:cNvPr id="26" name="Text 23"/>
          <p:cNvSpPr txBox="1"/>
          <p:nvPr/>
        </p:nvSpPr>
        <p:spPr>
          <a:xfrm>
            <a:off x="6414516"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مَدْرَسَتُنَا</a:t>
            </a:r>
            <a:endParaRPr lang="ar-SA" sz="1800" dirty="0"/>
          </a:p>
        </p:txBody>
      </p:sp>
      <p:sp>
        <p:nvSpPr>
          <p:cNvPr id="27" name="Shape 24"/>
          <p:cNvSpPr/>
          <p:nvPr/>
        </p:nvSpPr>
        <p:spPr>
          <a:xfrm>
            <a:off x="6323076" y="2889504"/>
            <a:ext cx="2407158"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6414516"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قَلَمُكَ</a:t>
            </a:r>
            <a:endParaRPr lang="ar-SA" sz="1800" dirty="0"/>
          </a:p>
        </p:txBody>
      </p:sp>
      <p:sp>
        <p:nvSpPr>
          <p:cNvPr id="29" name="Shape 26"/>
          <p:cNvSpPr/>
          <p:nvPr/>
        </p:nvSpPr>
        <p:spPr>
          <a:xfrm>
            <a:off x="3321558" y="1810512"/>
            <a:ext cx="2681478" cy="4498848"/>
          </a:xfrm>
          <a:prstGeom prst="roundRect">
            <a:avLst>
              <a:gd name="adj" fmla="val 2728"/>
            </a:avLst>
          </a:prstGeom>
          <a:solidFill>
            <a:srgbClr val="EEF3FA"/>
          </a:solidFill>
          <a:ln w="9525">
            <a:solidFill>
              <a:srgbClr val="C9D6EA"/>
            </a:solidFill>
            <a:prstDash val="solid"/>
          </a:ln>
        </p:spPr>
      </p:sp>
      <p:sp>
        <p:nvSpPr>
          <p:cNvPr id="30" name="Shape 27"/>
          <p:cNvSpPr/>
          <p:nvPr/>
        </p:nvSpPr>
        <p:spPr>
          <a:xfrm>
            <a:off x="3458718" y="1920240"/>
            <a:ext cx="2407158" cy="310896"/>
          </a:xfrm>
          <a:prstGeom prst="roundRect">
            <a:avLst>
              <a:gd name="adj" fmla="val 50000"/>
            </a:avLst>
          </a:prstGeom>
          <a:solidFill>
            <a:srgbClr val="2F6FB0"/>
          </a:solidFill>
          <a:ln w="12700">
            <a:solidFill>
              <a:srgbClr val="2F6FB0"/>
            </a:solidFill>
            <a:prstDash val="solid"/>
          </a:ln>
        </p:spPr>
      </p:sp>
      <p:sp>
        <p:nvSpPr>
          <p:cNvPr id="31" name="Text 28"/>
          <p:cNvSpPr txBox="1"/>
          <p:nvPr/>
        </p:nvSpPr>
        <p:spPr>
          <a:xfrm>
            <a:off x="3458718"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a name</a:t>
            </a:r>
            <a:endParaRPr lang="en-US" sz="950" dirty="0"/>
          </a:p>
        </p:txBody>
      </p:sp>
      <p:sp>
        <p:nvSpPr>
          <p:cNvPr id="32" name="Shape 29"/>
          <p:cNvSpPr/>
          <p:nvPr/>
        </p:nvSpPr>
        <p:spPr>
          <a:xfrm>
            <a:off x="3458718" y="2377440"/>
            <a:ext cx="2407158" cy="438912"/>
          </a:xfrm>
          <a:prstGeom prst="roundRect">
            <a:avLst>
              <a:gd name="adj" fmla="val 12500"/>
            </a:avLst>
          </a:prstGeom>
          <a:solidFill>
            <a:srgbClr val="FFF4DC"/>
          </a:solidFill>
          <a:ln w="9525">
            <a:solidFill>
              <a:srgbClr val="E6C98A"/>
            </a:solidFill>
            <a:prstDash val="solid"/>
          </a:ln>
        </p:spPr>
      </p:sp>
      <p:sp>
        <p:nvSpPr>
          <p:cNvPr id="33" name="Text 30"/>
          <p:cNvSpPr txBox="1"/>
          <p:nvPr/>
        </p:nvSpPr>
        <p:spPr>
          <a:xfrm>
            <a:off x="3550158"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لَيْلَى</a:t>
            </a:r>
            <a:endParaRPr lang="ar-SA" sz="1800" dirty="0"/>
          </a:p>
        </p:txBody>
      </p:sp>
      <p:sp>
        <p:nvSpPr>
          <p:cNvPr id="34" name="Shape 31"/>
          <p:cNvSpPr/>
          <p:nvPr/>
        </p:nvSpPr>
        <p:spPr>
          <a:xfrm>
            <a:off x="3458718" y="2889504"/>
            <a:ext cx="2407158"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3550158"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أَحْمَدُ</a:t>
            </a:r>
            <a:endParaRPr lang="ar-SA" sz="1800" dirty="0"/>
          </a:p>
        </p:txBody>
      </p:sp>
      <p:sp>
        <p:nvSpPr>
          <p:cNvPr id="36" name="Shape 33"/>
          <p:cNvSpPr/>
          <p:nvPr/>
        </p:nvSpPr>
        <p:spPr>
          <a:xfrm>
            <a:off x="457200" y="1810512"/>
            <a:ext cx="2681478" cy="4498848"/>
          </a:xfrm>
          <a:prstGeom prst="roundRect">
            <a:avLst>
              <a:gd name="adj" fmla="val 2728"/>
            </a:avLst>
          </a:prstGeom>
          <a:solidFill>
            <a:srgbClr val="EEF3FA"/>
          </a:solidFill>
          <a:ln w="9525">
            <a:solidFill>
              <a:srgbClr val="C9D6EA"/>
            </a:solidFill>
            <a:prstDash val="solid"/>
          </a:ln>
        </p:spPr>
      </p:sp>
      <p:sp>
        <p:nvSpPr>
          <p:cNvPr id="37" name="Shape 34"/>
          <p:cNvSpPr/>
          <p:nvPr/>
        </p:nvSpPr>
        <p:spPr>
          <a:xfrm>
            <a:off x="594360" y="1920240"/>
            <a:ext cx="2407158"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594360" y="1920240"/>
            <a:ext cx="2407158"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4 · iḍāfa</a:t>
            </a:r>
            <a:endParaRPr lang="en-US" sz="950" dirty="0"/>
          </a:p>
        </p:txBody>
      </p:sp>
      <p:sp>
        <p:nvSpPr>
          <p:cNvPr id="39" name="Shape 36"/>
          <p:cNvSpPr/>
          <p:nvPr/>
        </p:nvSpPr>
        <p:spPr>
          <a:xfrm>
            <a:off x="594360" y="2377440"/>
            <a:ext cx="2407158" cy="438912"/>
          </a:xfrm>
          <a:prstGeom prst="roundRect">
            <a:avLst>
              <a:gd name="adj" fmla="val 12500"/>
            </a:avLst>
          </a:prstGeom>
          <a:solidFill>
            <a:srgbClr val="FFF4DC"/>
          </a:solidFill>
          <a:ln w="9525">
            <a:solidFill>
              <a:srgbClr val="E6C98A"/>
            </a:solidFill>
            <a:prstDash val="solid"/>
          </a:ln>
        </p:spPr>
      </p:sp>
      <p:sp>
        <p:nvSpPr>
          <p:cNvPr id="40" name="Text 37"/>
          <p:cNvSpPr txBox="1"/>
          <p:nvPr/>
        </p:nvSpPr>
        <p:spPr>
          <a:xfrm>
            <a:off x="685800" y="2377440"/>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بَابُ الْفَصْلِ</a:t>
            </a:r>
            <a:endParaRPr lang="ar-SA" sz="1800" dirty="0"/>
          </a:p>
        </p:txBody>
      </p:sp>
      <p:sp>
        <p:nvSpPr>
          <p:cNvPr id="41" name="Shape 38"/>
          <p:cNvSpPr/>
          <p:nvPr/>
        </p:nvSpPr>
        <p:spPr>
          <a:xfrm>
            <a:off x="594360" y="2889504"/>
            <a:ext cx="2407158" cy="438912"/>
          </a:xfrm>
          <a:prstGeom prst="roundRect">
            <a:avLst>
              <a:gd name="adj" fmla="val 12500"/>
            </a:avLst>
          </a:prstGeom>
          <a:solidFill>
            <a:srgbClr val="FFF4DC"/>
          </a:solidFill>
          <a:ln w="9525">
            <a:solidFill>
              <a:srgbClr val="E6C98A"/>
            </a:solidFill>
            <a:prstDash val="solid"/>
          </a:ln>
        </p:spPr>
      </p:sp>
      <p:sp>
        <p:nvSpPr>
          <p:cNvPr id="42" name="Text 39"/>
          <p:cNvSpPr txBox="1"/>
          <p:nvPr/>
        </p:nvSpPr>
        <p:spPr>
          <a:xfrm>
            <a:off x="685800" y="2889504"/>
            <a:ext cx="222427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مَكْتَبَةُ الْمَدْرَسَةِ</a:t>
            </a:r>
            <a:endParaRPr lang="ar-SA" sz="180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GM-ART-03 · Articles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“CAMBRIDGE ARTICLE EDITOR”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Edit the draft: five article errors</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مُرَاجِعُ «الـ»</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382512" y="1810512"/>
            <a:ext cx="52760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Reason (website)</a:t>
            </a:r>
            <a:endParaRPr lang="en-US" sz="1100" dirty="0"/>
          </a:p>
        </p:txBody>
      </p:sp>
      <p:sp>
        <p:nvSpPr>
          <p:cNvPr id="17" name="Text 14"/>
          <p:cNvSpPr txBox="1"/>
          <p:nvPr/>
        </p:nvSpPr>
        <p:spPr>
          <a:xfrm>
            <a:off x="345643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Repair</a:t>
            </a:r>
            <a:endParaRPr lang="en-US" sz="1100" dirty="0"/>
          </a:p>
        </p:txBody>
      </p:sp>
      <p:sp>
        <p:nvSpPr>
          <p:cNvPr id="18" name="Text 15"/>
          <p:cNvSpPr txBox="1"/>
          <p:nvPr/>
        </p:nvSpPr>
        <p:spPr>
          <a:xfrm>
            <a:off x="5303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Error in the draft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6419088" y="2267712"/>
            <a:ext cx="5239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personal name does not take the article.</a:t>
            </a:r>
            <a:endParaRPr lang="en-US" sz="1100" dirty="0"/>
          </a:p>
        </p:txBody>
      </p:sp>
      <p:sp>
        <p:nvSpPr>
          <p:cNvPr id="21" name="Text 18"/>
          <p:cNvSpPr txBox="1"/>
          <p:nvPr/>
        </p:nvSpPr>
        <p:spPr>
          <a:xfrm>
            <a:off x="3474720" y="2267712"/>
            <a:ext cx="27432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مَرْيَمُ</a:t>
            </a:r>
            <a:endParaRPr lang="ar-SA" sz="2200" dirty="0"/>
          </a:p>
        </p:txBody>
      </p:sp>
      <p:sp>
        <p:nvSpPr>
          <p:cNvPr id="22" name="Text 19"/>
          <p:cNvSpPr txBox="1"/>
          <p:nvPr/>
        </p:nvSpPr>
        <p:spPr>
          <a:xfrm>
            <a:off x="548640" y="2267712"/>
            <a:ext cx="27432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الْمَرْيَمُ</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6419088" y="2881884"/>
            <a:ext cx="5239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city name includes </a:t>
            </a:r>
            <a:pPr algn="l" indent="0" marL="0">
              <a:buNone/>
            </a:pPr>
            <a:r>
              <a:rPr lang="ar-SA" altLang="en-US" sz="1450" dirty="0">
                <a:solidFill>
                  <a:srgbClr val="5A6472"/>
                </a:solidFill>
                <a:latin typeface="Amiri" pitchFamily="2" charset="-78"/>
                <a:ea typeface="Amiri" pitchFamily="2" charset="-78"/>
                <a:cs typeface="Amiri" pitchFamily="2" charset="-78"/>
              </a:rPr>
              <a:t>الـ</a:t>
            </a:r>
            <a:pPr algn="l" indent="0" marL="0">
              <a:buNone/>
            </a:pPr>
            <a:r>
              <a:rPr lang="en-US" sz="1100" dirty="0">
                <a:solidFill>
                  <a:srgbClr val="5A6472"/>
                </a:solidFill>
                <a:latin typeface="Calibri" pitchFamily="34" charset="0"/>
                <a:cs typeface="Amiri" pitchFamily="2" charset="-78"/>
              </a:rPr>
              <a:t>; genitive after </a:t>
            </a:r>
            <a:pPr algn="l" indent="0" marL="0">
              <a:buNone/>
            </a:pPr>
            <a:r>
              <a:rPr lang="ar-SA" altLang="en-US" sz="1450" dirty="0">
                <a:solidFill>
                  <a:srgbClr val="5A6472"/>
                </a:solidFill>
                <a:latin typeface="Amiri" pitchFamily="2" charset="-78"/>
                <a:ea typeface="Amiri" pitchFamily="2" charset="-78"/>
                <a:cs typeface="Amiri" pitchFamily="2" charset="-78"/>
              </a:rPr>
              <a:t>فِي</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27" name="Text 24"/>
          <p:cNvSpPr txBox="1"/>
          <p:nvPr/>
        </p:nvSpPr>
        <p:spPr>
          <a:xfrm>
            <a:off x="3474720" y="2881884"/>
            <a:ext cx="27432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فِي الْقَاهِرَةِ</a:t>
            </a:r>
            <a:endParaRPr lang="ar-SA" sz="2200" dirty="0"/>
          </a:p>
        </p:txBody>
      </p:sp>
      <p:sp>
        <p:nvSpPr>
          <p:cNvPr id="28" name="Text 25"/>
          <p:cNvSpPr txBox="1"/>
          <p:nvPr/>
        </p:nvSpPr>
        <p:spPr>
          <a:xfrm>
            <a:off x="548640" y="2881884"/>
            <a:ext cx="27432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فِي قَاهِرَةَ</a:t>
            </a:r>
            <a:endParaRPr lang="ar-SA" sz="22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6419088" y="3496056"/>
            <a:ext cx="5239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suffix blocks the article.</a:t>
            </a:r>
            <a:endParaRPr lang="en-US" sz="1100" dirty="0"/>
          </a:p>
        </p:txBody>
      </p:sp>
      <p:sp>
        <p:nvSpPr>
          <p:cNvPr id="33" name="Text 30"/>
          <p:cNvSpPr txBox="1"/>
          <p:nvPr/>
        </p:nvSpPr>
        <p:spPr>
          <a:xfrm>
            <a:off x="3474720" y="3496056"/>
            <a:ext cx="27432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هٰذَا بَيْتِي</a:t>
            </a:r>
            <a:endParaRPr lang="ar-SA" sz="2200" dirty="0"/>
          </a:p>
        </p:txBody>
      </p:sp>
      <p:sp>
        <p:nvSpPr>
          <p:cNvPr id="34" name="Text 31"/>
          <p:cNvSpPr txBox="1"/>
          <p:nvPr/>
        </p:nvSpPr>
        <p:spPr>
          <a:xfrm>
            <a:off x="548640" y="3496056"/>
            <a:ext cx="27432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هٰذَا الْبَيْتِي</a:t>
            </a:r>
            <a:endParaRPr lang="ar-SA" sz="22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6419088" y="4110228"/>
            <a:ext cx="5239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the article in full.</a:t>
            </a:r>
            <a:endParaRPr lang="en-US" sz="1100" dirty="0"/>
          </a:p>
        </p:txBody>
      </p:sp>
      <p:sp>
        <p:nvSpPr>
          <p:cNvPr id="39" name="Text 36"/>
          <p:cNvSpPr txBox="1"/>
          <p:nvPr/>
        </p:nvSpPr>
        <p:spPr>
          <a:xfrm>
            <a:off x="3474720" y="4110228"/>
            <a:ext cx="27432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إِلَى الْمَدْرَسَةِ</a:t>
            </a:r>
            <a:endParaRPr lang="ar-SA" sz="2200" dirty="0"/>
          </a:p>
        </p:txBody>
      </p:sp>
      <p:sp>
        <p:nvSpPr>
          <p:cNvPr id="40" name="Text 37"/>
          <p:cNvSpPr txBox="1"/>
          <p:nvPr/>
        </p:nvSpPr>
        <p:spPr>
          <a:xfrm>
            <a:off x="548640" y="4110228"/>
            <a:ext cx="27432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إِلَى لْمَدْرَسَةِ</a:t>
            </a:r>
            <a:endParaRPr lang="ar-SA" sz="22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6419088" y="4724400"/>
            <a:ext cx="5239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first iḍāfa noun takes no </a:t>
            </a:r>
            <a:pPr algn="l" indent="0" marL="0">
              <a:buNone/>
            </a:pPr>
            <a:r>
              <a:rPr lang="ar-SA" altLang="en-US" sz="1450" dirty="0">
                <a:solidFill>
                  <a:srgbClr val="5A6472"/>
                </a:solidFill>
                <a:latin typeface="Amiri" pitchFamily="2" charset="-78"/>
                <a:ea typeface="Amiri" pitchFamily="2" charset="-78"/>
                <a:cs typeface="Amiri" pitchFamily="2" charset="-78"/>
              </a:rPr>
              <a:t>الـ</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3" name="Text 40"/>
          <p:cNvSpPr txBox="1"/>
          <p:nvPr/>
        </p:nvSpPr>
        <p:spPr>
          <a:xfrm>
            <a:off x="3474720" y="4724400"/>
            <a:ext cx="27432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مَكْتَبَةَ الْمَدْرَسَةِ</a:t>
            </a:r>
            <a:endParaRPr lang="ar-SA" sz="2200" dirty="0"/>
          </a:p>
        </p:txBody>
      </p:sp>
      <p:sp>
        <p:nvSpPr>
          <p:cNvPr id="44" name="Text 41"/>
          <p:cNvSpPr txBox="1"/>
          <p:nvPr/>
        </p:nvSpPr>
        <p:spPr>
          <a:xfrm>
            <a:off x="548640" y="4724400"/>
            <a:ext cx="27432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الْمَكْتَبَةَ الْمَدْرَسَةِ</a:t>
            </a:r>
            <a:endParaRPr lang="ar-SA" sz="22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6419088" y="5338572"/>
            <a:ext cx="5239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Suffix on the noun; </a:t>
            </a:r>
            <a:pPr algn="l" indent="0" marL="0">
              <a:buNone/>
            </a:pPr>
            <a:r>
              <a:rPr lang="ar-SA" altLang="en-US" sz="1450" dirty="0">
                <a:solidFill>
                  <a:srgbClr val="5A6472"/>
                </a:solidFill>
                <a:latin typeface="Amiri" pitchFamily="2" charset="-78"/>
                <a:ea typeface="Amiri" pitchFamily="2" charset="-78"/>
                <a:cs typeface="Amiri" pitchFamily="2" charset="-78"/>
              </a:rPr>
              <a:t>الـ</a:t>
            </a:r>
            <a:pPr algn="l" indent="0" marL="0">
              <a:buNone/>
            </a:pPr>
            <a:r>
              <a:rPr lang="en-US" sz="1100" dirty="0">
                <a:solidFill>
                  <a:srgbClr val="5A6472"/>
                </a:solidFill>
                <a:latin typeface="Calibri" pitchFamily="34" charset="0"/>
                <a:cs typeface="Amiri" pitchFamily="2" charset="-78"/>
              </a:rPr>
              <a:t> stays on the adjective.</a:t>
            </a:r>
            <a:endParaRPr lang="en-US" sz="1100" dirty="0"/>
          </a:p>
        </p:txBody>
      </p:sp>
      <p:sp>
        <p:nvSpPr>
          <p:cNvPr id="47" name="Text 44"/>
          <p:cNvSpPr txBox="1"/>
          <p:nvPr/>
        </p:nvSpPr>
        <p:spPr>
          <a:xfrm>
            <a:off x="3474720" y="5338572"/>
            <a:ext cx="27432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كِتَابِي الْمُفَضَّلَ</a:t>
            </a:r>
            <a:endParaRPr lang="ar-SA" sz="2200" dirty="0"/>
          </a:p>
        </p:txBody>
      </p:sp>
      <p:sp>
        <p:nvSpPr>
          <p:cNvPr id="48" name="Text 45"/>
          <p:cNvSpPr txBox="1"/>
          <p:nvPr/>
        </p:nvSpPr>
        <p:spPr>
          <a:xfrm>
            <a:off x="548640" y="5338572"/>
            <a:ext cx="27432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الْكِتَابِي الْمُفَضَّلَ</a:t>
            </a:r>
            <a:endParaRPr lang="ar-SA" sz="22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Five-question editing scan (website): Is it specific? → What makes it definite? → Is </a:t>
            </a:r>
            <a:pPr algn="l" indent="0" marL="0">
              <a:buNone/>
            </a:pPr>
            <a:r>
              <a:rPr lang="ar-SA" altLang="en-US" sz="1500" b="1" dirty="0">
                <a:solidFill>
                  <a:srgbClr val="1B3B6F"/>
                </a:solidFill>
                <a:latin typeface="Amiri" pitchFamily="2" charset="-78"/>
                <a:ea typeface="Amiri" pitchFamily="2" charset="-78"/>
                <a:cs typeface="Amiri" pitchFamily="2" charset="-78"/>
              </a:rPr>
              <a:t>الـ</a:t>
            </a:r>
            <a:pPr algn="l" indent="0" marL="0">
              <a:buNone/>
            </a:pPr>
            <a:r>
              <a:rPr lang="en-US" sz="1150" b="1" dirty="0">
                <a:solidFill>
                  <a:srgbClr val="1B3B6F"/>
                </a:solidFill>
                <a:latin typeface="Calibri" pitchFamily="34" charset="0"/>
                <a:cs typeface="Amiri" pitchFamily="2" charset="-78"/>
              </a:rPr>
              <a:t> allowed? → Does the adjective match? → Is the spelling standard?</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GM-ART-03 · Articles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الْمَدْرَسَتُنَا الْحَدِيثَةُ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Suffix AND </a:t>
            </a:r>
            <a:pPr algn="l" indent="0" marL="0">
              <a:buNone/>
            </a:pPr>
            <a:r>
              <a:rPr lang="ar-SA" altLang="en-US" sz="1700" dirty="0">
                <a:solidFill>
                  <a:srgbClr val="5A6472"/>
                </a:solidFill>
                <a:latin typeface="Amiri" pitchFamily="2" charset="-78"/>
                <a:ea typeface="Amiri" pitchFamily="2" charset="-78"/>
                <a:cs typeface="Amiri" pitchFamily="2" charset="-78"/>
              </a:rPr>
              <a:t>الـ</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الْغُرْفَةُ الْفُنْدُقِ</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First noun of an iḍāfa?</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لِالْمُعَلِّمِ</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li- plus al- =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GM-ART-03 · Articles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الْمَدْرَسَتُنَا الْحَدِيثَةُ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مَدْرَسَتُنَا الْحَدِيثَةُ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Remove </a:t>
            </a:r>
            <a:pPr algn="l" indent="0" marL="0">
              <a:buNone/>
            </a:pPr>
            <a:r>
              <a:rPr lang="ar-SA" altLang="en-US" sz="1500" b="1" dirty="0">
                <a:solidFill>
                  <a:srgbClr val="1B3B6F"/>
                </a:solidFill>
                <a:latin typeface="Amiri" pitchFamily="2" charset="-78"/>
                <a:ea typeface="Amiri" pitchFamily="2" charset="-78"/>
                <a:cs typeface="Amiri" pitchFamily="2" charset="-78"/>
              </a:rPr>
              <a:t>الـ</a:t>
            </a:r>
            <a:pPr algn="l" indent="0" marL="0">
              <a:buNone/>
            </a:pPr>
            <a:r>
              <a:rPr lang="en-US" sz="1150" b="1" dirty="0">
                <a:solidFill>
                  <a:srgbClr val="1B3B6F"/>
                </a:solidFill>
                <a:latin typeface="Calibri" pitchFamily="34" charset="0"/>
                <a:cs typeface="Amiri" pitchFamily="2" charset="-78"/>
              </a:rPr>
              <a:t> from the suffixed noun — keep it on the adjective.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الْغُرْفَةُ الْفُنْدُقِ</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غُرْفَةُ الْفُنْدُقِ</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first noun of an iḍāfa takes no </a:t>
            </a:r>
            <a:pPr algn="l" indent="0" marL="0">
              <a:buNone/>
            </a:pPr>
            <a:r>
              <a:rPr lang="ar-SA" altLang="en-US" sz="1500" b="1" dirty="0">
                <a:solidFill>
                  <a:srgbClr val="1B3B6F"/>
                </a:solidFill>
                <a:latin typeface="Amiri" pitchFamily="2" charset="-78"/>
                <a:ea typeface="Amiri" pitchFamily="2" charset="-78"/>
                <a:cs typeface="Amiri" pitchFamily="2" charset="-78"/>
              </a:rPr>
              <a:t>الـ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لِالْمُعَلِّمِ</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لِلْمُعَلِّمِ</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li-, the alif of al- is dropped in writing.</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GM-ART-03 · Articles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WE DO · GUIDED PRACTICE · WEBSITE MINI-CHECK 4 “SPELLING OR PRONUNCIATION?”</a:t>
            </a:r>
            <a:endParaRPr lang="en-US" sz="934"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Combine </a:t>
            </a:r>
            <a:pPr algn="l" indent="0" marL="0">
              <a:buNone/>
            </a:pPr>
            <a:r>
              <a:rPr lang="ar-SA" altLang="en-US" sz="1650" b="1" dirty="0">
                <a:solidFill>
                  <a:srgbClr val="1B3B6F"/>
                </a:solidFill>
                <a:latin typeface="Amiri" pitchFamily="2" charset="-78"/>
                <a:ea typeface="Amiri" pitchFamily="2" charset="-78"/>
                <a:cs typeface="Amiri" pitchFamily="2" charset="-78"/>
              </a:rPr>
              <a:t>وَ</a:t>
            </a:r>
            <a:pPr algn="l" indent="0" marL="0">
              <a:buNone/>
            </a:pPr>
            <a:r>
              <a:rPr lang="en-US" sz="1250" b="1" dirty="0">
                <a:solidFill>
                  <a:srgbClr val="1B3B6F"/>
                </a:solidFill>
                <a:latin typeface="Calibri" pitchFamily="34" charset="0"/>
                <a:cs typeface="Amiri" pitchFamily="2" charset="-78"/>
              </a:rPr>
              <a:t> + </a:t>
            </a:r>
            <a:pPr algn="l" indent="0" marL="0">
              <a:buNone/>
            </a:pPr>
            <a:r>
              <a:rPr lang="ar-SA" altLang="en-US" sz="1650" b="1" dirty="0">
                <a:solidFill>
                  <a:srgbClr val="1B3B6F"/>
                </a:solidFill>
                <a:latin typeface="Amiri" pitchFamily="2" charset="-78"/>
                <a:ea typeface="Amiri" pitchFamily="2" charset="-78"/>
                <a:cs typeface="Amiri" pitchFamily="2" charset="-78"/>
              </a:rPr>
              <a:t>الْمَدْرَسَةُ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وَلْمَدْرَسَةُ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 لْمَدْرَسَةُ</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وَالْمَدْرَسَةُ</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Combine </a:t>
            </a:r>
            <a:pPr algn="l" indent="0" marL="0">
              <a:buNone/>
            </a:pPr>
            <a:r>
              <a:rPr lang="ar-SA" altLang="en-US" sz="1650" b="1" dirty="0">
                <a:solidFill>
                  <a:srgbClr val="1B3B6F"/>
                </a:solidFill>
                <a:latin typeface="Amiri" pitchFamily="2" charset="-78"/>
                <a:ea typeface="Amiri" pitchFamily="2" charset="-78"/>
                <a:cs typeface="Amiri" pitchFamily="2" charset="-78"/>
              </a:rPr>
              <a:t>بِـ</a:t>
            </a:r>
            <a:pPr algn="l" indent="0" marL="0">
              <a:buNone/>
            </a:pPr>
            <a:r>
              <a:rPr lang="en-US" sz="1250" b="1" dirty="0">
                <a:solidFill>
                  <a:srgbClr val="1B3B6F"/>
                </a:solidFill>
                <a:latin typeface="Calibri" pitchFamily="34" charset="0"/>
                <a:cs typeface="Amiri" pitchFamily="2" charset="-78"/>
              </a:rPr>
              <a:t> + </a:t>
            </a:r>
            <a:pPr algn="l" indent="0" marL="0">
              <a:buNone/>
            </a:pPr>
            <a:r>
              <a:rPr lang="ar-SA" altLang="en-US" sz="1650" b="1" dirty="0">
                <a:solidFill>
                  <a:srgbClr val="1B3B6F"/>
                </a:solidFill>
                <a:latin typeface="Amiri" pitchFamily="2" charset="-78"/>
                <a:ea typeface="Amiri" pitchFamily="2" charset="-78"/>
                <a:cs typeface="Amiri" pitchFamily="2" charset="-78"/>
              </a:rPr>
              <a:t>الْحَافِلَةِ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بِلْحَافِلَةِ</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بِالْحَافِلَةِ</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 الْحَافِلَةِ</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Combine </a:t>
            </a:r>
            <a:pPr algn="l" indent="0" marL="0">
              <a:buNone/>
            </a:pPr>
            <a:r>
              <a:rPr lang="ar-SA" altLang="en-US" sz="1650" b="1" dirty="0">
                <a:solidFill>
                  <a:srgbClr val="1B3B6F"/>
                </a:solidFill>
                <a:latin typeface="Amiri" pitchFamily="2" charset="-78"/>
                <a:ea typeface="Amiri" pitchFamily="2" charset="-78"/>
                <a:cs typeface="Amiri" pitchFamily="2" charset="-78"/>
              </a:rPr>
              <a:t>لِـ</a:t>
            </a:r>
            <a:pPr algn="l" indent="0" marL="0">
              <a:buNone/>
            </a:pPr>
            <a:r>
              <a:rPr lang="en-US" sz="1250" b="1" dirty="0">
                <a:solidFill>
                  <a:srgbClr val="1B3B6F"/>
                </a:solidFill>
                <a:latin typeface="Calibri" pitchFamily="34" charset="0"/>
                <a:cs typeface="Amiri" pitchFamily="2" charset="-78"/>
              </a:rPr>
              <a:t> + </a:t>
            </a:r>
            <a:pPr algn="l" indent="0" marL="0">
              <a:buNone/>
            </a:pPr>
            <a:r>
              <a:rPr lang="ar-SA" altLang="en-US" sz="1650" b="1" dirty="0">
                <a:solidFill>
                  <a:srgbClr val="1B3B6F"/>
                </a:solidFill>
                <a:latin typeface="Amiri" pitchFamily="2" charset="-78"/>
                <a:ea typeface="Amiri" pitchFamily="2" charset="-78"/>
                <a:cs typeface="Amiri" pitchFamily="2" charset="-78"/>
              </a:rPr>
              <a:t>الْمُعَلِّمِ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لِالْمُعَلِّمِ</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لِلْمُعَلِّمِ</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 الْمُعَلِّمِ</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should “with the teacher” be written?</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مَعَلْمُعَلِّمِ</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 لْمُعَلِّمِ</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 الْمُعَلِّمِ</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GM-ART-03 · Articles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Combine </a:t>
            </a:r>
            <a:pPr algn="l" indent="0" marL="0">
              <a:buNone/>
            </a:pPr>
            <a:r>
              <a:rPr lang="ar-SA" altLang="en-US" sz="1650" b="1" dirty="0">
                <a:solidFill>
                  <a:srgbClr val="1B3B6F"/>
                </a:solidFill>
                <a:latin typeface="Amiri" pitchFamily="2" charset="-78"/>
                <a:ea typeface="Amiri" pitchFamily="2" charset="-78"/>
                <a:cs typeface="Amiri" pitchFamily="2" charset="-78"/>
              </a:rPr>
              <a:t>وَ</a:t>
            </a:r>
            <a:pPr algn="l" indent="0" marL="0">
              <a:buNone/>
            </a:pPr>
            <a:r>
              <a:rPr lang="en-US" sz="1250" b="1" dirty="0">
                <a:solidFill>
                  <a:srgbClr val="1B3B6F"/>
                </a:solidFill>
                <a:latin typeface="Calibri" pitchFamily="34" charset="0"/>
                <a:cs typeface="Amiri" pitchFamily="2" charset="-78"/>
              </a:rPr>
              <a:t> + </a:t>
            </a:r>
            <a:pPr algn="l" indent="0" marL="0">
              <a:buNone/>
            </a:pPr>
            <a:r>
              <a:rPr lang="ar-SA" altLang="en-US" sz="1650" b="1" dirty="0">
                <a:solidFill>
                  <a:srgbClr val="1B3B6F"/>
                </a:solidFill>
                <a:latin typeface="Amiri" pitchFamily="2" charset="-78"/>
                <a:ea typeface="Amiri" pitchFamily="2" charset="-78"/>
                <a:cs typeface="Amiri" pitchFamily="2" charset="-78"/>
              </a:rPr>
              <a:t>الْمَدْرَسَةُ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وَلْمَدْرَسَةُ</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 لْمَدْرَسَةُ</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وَالْمَدْرَسَةُ</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وَ</a:t>
            </a:r>
            <a:pPr algn="l" indent="0" marL="0">
              <a:buNone/>
            </a:pPr>
            <a:r>
              <a:rPr lang="en-US" sz="1050" i="1" dirty="0">
                <a:solidFill>
                  <a:srgbClr val="8A6D1E"/>
                </a:solidFill>
                <a:latin typeface="Calibri" pitchFamily="34" charset="0"/>
                <a:cs typeface="Amiri" pitchFamily="2" charset="-78"/>
              </a:rPr>
              <a:t> attaches, but the article remains written.</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Combine </a:t>
            </a:r>
            <a:pPr algn="l" indent="0" marL="0">
              <a:buNone/>
            </a:pPr>
            <a:r>
              <a:rPr lang="ar-SA" altLang="en-US" sz="1650" b="1" dirty="0">
                <a:solidFill>
                  <a:srgbClr val="1B3B6F"/>
                </a:solidFill>
                <a:latin typeface="Amiri" pitchFamily="2" charset="-78"/>
                <a:ea typeface="Amiri" pitchFamily="2" charset="-78"/>
                <a:cs typeface="Amiri" pitchFamily="2" charset="-78"/>
              </a:rPr>
              <a:t>بِـ</a:t>
            </a:r>
            <a:pPr algn="l" indent="0" marL="0">
              <a:buNone/>
            </a:pPr>
            <a:r>
              <a:rPr lang="en-US" sz="1250" b="1" dirty="0">
                <a:solidFill>
                  <a:srgbClr val="1B3B6F"/>
                </a:solidFill>
                <a:latin typeface="Calibri" pitchFamily="34" charset="0"/>
                <a:cs typeface="Amiri" pitchFamily="2" charset="-78"/>
              </a:rPr>
              <a:t> + </a:t>
            </a:r>
            <a:pPr algn="l" indent="0" marL="0">
              <a:buNone/>
            </a:pPr>
            <a:r>
              <a:rPr lang="ar-SA" altLang="en-US" sz="1650" b="1" dirty="0">
                <a:solidFill>
                  <a:srgbClr val="1B3B6F"/>
                </a:solidFill>
                <a:latin typeface="Amiri" pitchFamily="2" charset="-78"/>
                <a:ea typeface="Amiri" pitchFamily="2" charset="-78"/>
                <a:cs typeface="Amiri" pitchFamily="2" charset="-78"/>
              </a:rPr>
              <a:t>الْحَافِلَةِ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بِلْحَافِلَةِ</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بِالْحَافِلَةِ</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 الْحَافِلَةِ</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attaches directly before the fully written article.</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Combine </a:t>
            </a:r>
            <a:pPr algn="l" indent="0" marL="0">
              <a:buNone/>
            </a:pPr>
            <a:r>
              <a:rPr lang="ar-SA" altLang="en-US" sz="1650" b="1" dirty="0">
                <a:solidFill>
                  <a:srgbClr val="1B3B6F"/>
                </a:solidFill>
                <a:latin typeface="Amiri" pitchFamily="2" charset="-78"/>
                <a:ea typeface="Amiri" pitchFamily="2" charset="-78"/>
                <a:cs typeface="Amiri" pitchFamily="2" charset="-78"/>
              </a:rPr>
              <a:t>لِـ</a:t>
            </a:r>
            <a:pPr algn="l" indent="0" marL="0">
              <a:buNone/>
            </a:pPr>
            <a:r>
              <a:rPr lang="en-US" sz="1250" b="1" dirty="0">
                <a:solidFill>
                  <a:srgbClr val="1B3B6F"/>
                </a:solidFill>
                <a:latin typeface="Calibri" pitchFamily="34" charset="0"/>
                <a:cs typeface="Amiri" pitchFamily="2" charset="-78"/>
              </a:rPr>
              <a:t> + </a:t>
            </a:r>
            <a:pPr algn="l" indent="0" marL="0">
              <a:buNone/>
            </a:pPr>
            <a:r>
              <a:rPr lang="ar-SA" altLang="en-US" sz="1650" b="1" dirty="0">
                <a:solidFill>
                  <a:srgbClr val="1B3B6F"/>
                </a:solidFill>
                <a:latin typeface="Amiri" pitchFamily="2" charset="-78"/>
                <a:ea typeface="Amiri" pitchFamily="2" charset="-78"/>
                <a:cs typeface="Amiri" pitchFamily="2" charset="-78"/>
              </a:rPr>
              <a:t>الْمُعَلِّمِ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لِالْمُعَلِّمِ</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لِلْمُعَلِّمِ</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 الْمُعَلِّمِ</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prefixed lām triggers written omission of the article’s alif.</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should “with the teacher” be written?</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مَعَلْمُعَلِّمِ</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 لْمُعَلِّمِ</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مَعَ الْمُعَلِّمِ</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article vowel is not heard in connection, but both words remain fully written.</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GM-ART-03 · Articles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 AND NOTICE · WEBSITE READING WORKSHOP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message from Cairo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GM-ART-03</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اِسْمِي سَلْمَى، وَأَسْكُنُ فِي الْقَاهِرَةِ مَعَ أُسْرَتِي. بَيْتُنَا الْجَدِيدُ قَرِيبٌ مِنْ مَحَطَّةِ الْحَافِلَاتِ. فِي الصَّبَاحِ أَذْهَبُ إِلَى مَدْرَسَةِ الْبَنَاتِ مَعَ صَدِيقَتِي. أُحِبُّ مَكْتَبَةَ الْمَدْرَسَةِ؛ فَهِيَ هَادِئَةٌ وَفِيهَا كُتُبٌ مُفِيدَةٌ. بَعْدَ الدِّرَاسَةِ أُمَارِسُ الرِّيَاضَةَ فِي مَلْعَبِ الْحَيِّ.</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أُسْرَتِي</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my family</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مَحَطَّةِ الْحَافِلَاتِ</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bus station</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مَدْرَسَةِ الْبَنَاتِ</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girls’ school</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صَدِيقَتِي</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my friend (f.)</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مَكْتَبَةَ الْمَدْرَسَةِ</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school library</a:t>
            </a:r>
            <a:endParaRPr lang="en-US" sz="1050" dirty="0"/>
          </a:p>
        </p:txBody>
      </p:sp>
      <p:sp>
        <p:nvSpPr>
          <p:cNvPr id="29" name="Text 26"/>
          <p:cNvSpPr txBox="1"/>
          <p:nvPr/>
        </p:nvSpPr>
        <p:spPr>
          <a:xfrm>
            <a:off x="10102291" y="47274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بَعْدَ الدِّرَاسَةِ</a:t>
            </a:r>
            <a:endParaRPr lang="ar-SA" sz="1600" dirty="0"/>
          </a:p>
        </p:txBody>
      </p:sp>
      <p:sp>
        <p:nvSpPr>
          <p:cNvPr id="30" name="Text 27"/>
          <p:cNvSpPr txBox="1"/>
          <p:nvPr/>
        </p:nvSpPr>
        <p:spPr>
          <a:xfrm>
            <a:off x="8851392" y="47274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after studying</a:t>
            </a:r>
            <a:endParaRPr lang="en-US" sz="1050" dirty="0"/>
          </a:p>
        </p:txBody>
      </p:sp>
      <p:sp>
        <p:nvSpPr>
          <p:cNvPr id="31" name="Text 28"/>
          <p:cNvSpPr txBox="1"/>
          <p:nvPr/>
        </p:nvSpPr>
        <p:spPr>
          <a:xfrm>
            <a:off x="10102291" y="52303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مَلْعَبِ الْحَيِّ</a:t>
            </a:r>
            <a:endParaRPr lang="ar-SA" sz="1600" dirty="0"/>
          </a:p>
        </p:txBody>
      </p:sp>
      <p:sp>
        <p:nvSpPr>
          <p:cNvPr id="32" name="Text 29"/>
          <p:cNvSpPr txBox="1"/>
          <p:nvPr/>
        </p:nvSpPr>
        <p:spPr>
          <a:xfrm>
            <a:off x="8851392" y="52303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local pitch</a:t>
            </a:r>
            <a:endParaRPr lang="en-US" sz="10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GM-ART-03 · Articles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a:t>
            </a:r>
            <a:pPr algn="l" indent="0" marL="0">
              <a:buNone/>
            </a:pPr>
            <a:r>
              <a:rPr lang="ar-SA" altLang="en-US" sz="1650" b="1" dirty="0">
                <a:solidFill>
                  <a:srgbClr val="1B3B6F"/>
                </a:solidFill>
                <a:latin typeface="Amiri" pitchFamily="2" charset="-78"/>
                <a:ea typeface="Amiri" pitchFamily="2" charset="-78"/>
                <a:cs typeface="Amiri" pitchFamily="2" charset="-78"/>
              </a:rPr>
              <a:t>بَيْتُنَا</a:t>
            </a:r>
            <a:pPr algn="l" indent="0" marL="0">
              <a:buNone/>
            </a:pPr>
            <a:r>
              <a:rPr lang="en-US" sz="1250" b="1" dirty="0">
                <a:solidFill>
                  <a:srgbClr val="1B3B6F"/>
                </a:solidFill>
                <a:latin typeface="Calibri" pitchFamily="34" charset="0"/>
                <a:cs typeface="Amiri" pitchFamily="2" charset="-78"/>
              </a:rPr>
              <a:t> not begin with </a:t>
            </a:r>
            <a:pPr algn="l" indent="0" marL="0">
              <a:buNone/>
            </a:pPr>
            <a:r>
              <a:rPr lang="ar-SA" altLang="en-US" sz="1650" b="1" dirty="0">
                <a:solidFill>
                  <a:srgbClr val="1B3B6F"/>
                </a:solidFill>
                <a:latin typeface="Amiri" pitchFamily="2" charset="-78"/>
                <a:ea typeface="Amiri" pitchFamily="2" charset="-78"/>
                <a:cs typeface="Amiri" pitchFamily="2" charset="-78"/>
              </a:rPr>
              <a:t>الـ</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because it is indefinite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because the possessive suffix already makes it definite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because </a:t>
            </a:r>
            <a:pPr algn="l" indent="0" marL="0">
              <a:buNone/>
            </a:pPr>
            <a:r>
              <a:rPr lang="ar-SA" altLang="en-US" sz="1650" dirty="0">
                <a:solidFill>
                  <a:srgbClr val="1F2A37"/>
                </a:solidFill>
                <a:latin typeface="Amiri" pitchFamily="2" charset="-78"/>
                <a:ea typeface="Amiri" pitchFamily="2" charset="-78"/>
                <a:cs typeface="Amiri" pitchFamily="2" charset="-78"/>
              </a:rPr>
              <a:t>بَيْت</a:t>
            </a:r>
            <a:pPr algn="l" indent="0" marL="0">
              <a:buNone/>
            </a:pPr>
            <a:r>
              <a:rPr lang="en-US" sz="1250" dirty="0">
                <a:solidFill>
                  <a:srgbClr val="1F2A37"/>
                </a:solidFill>
                <a:latin typeface="Calibri" pitchFamily="34" charset="0"/>
                <a:cs typeface="Amiri" pitchFamily="2" charset="-78"/>
              </a:rPr>
              <a:t> never takes an article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an idāfa in the reading?</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الْقَاهِرَةِ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 مُفِيدَةٌ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مَحَطَّةِ الْحَافِلَاتِ</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a:t>
            </a:r>
            <a:pPr algn="l" indent="0" marL="0">
              <a:buNone/>
            </a:pPr>
            <a:r>
              <a:rPr lang="ar-SA" altLang="en-US" sz="1650" b="1" dirty="0">
                <a:solidFill>
                  <a:srgbClr val="1B3B6F"/>
                </a:solidFill>
                <a:latin typeface="Amiri" pitchFamily="2" charset="-78"/>
                <a:ea typeface="Amiri" pitchFamily="2" charset="-78"/>
                <a:cs typeface="Amiri" pitchFamily="2" charset="-78"/>
              </a:rPr>
              <a:t>الْحَيِّ</a:t>
            </a:r>
            <a:pPr algn="l" indent="0" marL="0">
              <a:buNone/>
            </a:pPr>
            <a:r>
              <a:rPr lang="en-US" sz="1250" b="1" dirty="0">
                <a:solidFill>
                  <a:srgbClr val="1B3B6F"/>
                </a:solidFill>
                <a:latin typeface="Calibri" pitchFamily="34" charset="0"/>
                <a:cs typeface="Amiri" pitchFamily="2" charset="-78"/>
              </a:rPr>
              <a:t> definite?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ends an idāfa and carries the article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has a possessive suffix</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personal name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the listening, </a:t>
            </a:r>
            <a:pPr algn="l" indent="0" marL="0">
              <a:buNone/>
            </a:pPr>
            <a:r>
              <a:rPr lang="ar-SA" altLang="en-US" sz="1650" b="1" dirty="0">
                <a:solidFill>
                  <a:srgbClr val="1B3B6F"/>
                </a:solidFill>
                <a:latin typeface="Amiri" pitchFamily="2" charset="-78"/>
                <a:ea typeface="Amiri" pitchFamily="2" charset="-78"/>
                <a:cs typeface="Amiri" pitchFamily="2" charset="-78"/>
              </a:rPr>
              <a:t>حَقِيبَتِي الزَّرْقَاءُ</a:t>
            </a:r>
            <a:pPr algn="l" indent="0" marL="0">
              <a:buNone/>
            </a:pPr>
            <a:r>
              <a:rPr lang="en-US" sz="1250" b="1" dirty="0">
                <a:solidFill>
                  <a:srgbClr val="1B3B6F"/>
                </a:solidFill>
                <a:latin typeface="Calibri" pitchFamily="34" charset="0"/>
                <a:cs typeface="Amiri" pitchFamily="2" charset="-78"/>
              </a:rPr>
              <a:t> means: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bag is blue.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blue bag</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blue bag is mine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expression contains a demonstrative plus a suffixed noun?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كِتَابُكِ</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كِتَابِي الْجَدِيدُ</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قَلَمُ صَدِيقَتِي</a:t>
            </a:r>
            <a:endParaRPr lang="ar-SA" sz="20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GM-ART-03 · Articles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a:t>
            </a:r>
            <a:pPr algn="l" indent="0" marL="0">
              <a:buNone/>
            </a:pPr>
            <a:r>
              <a:rPr lang="ar-SA" altLang="en-US" sz="1650" b="1" dirty="0">
                <a:solidFill>
                  <a:srgbClr val="1B3B6F"/>
                </a:solidFill>
                <a:latin typeface="Amiri" pitchFamily="2" charset="-78"/>
                <a:ea typeface="Amiri" pitchFamily="2" charset="-78"/>
                <a:cs typeface="Amiri" pitchFamily="2" charset="-78"/>
              </a:rPr>
              <a:t>بَيْتُنَا</a:t>
            </a:r>
            <a:pPr algn="l" indent="0" marL="0">
              <a:buNone/>
            </a:pPr>
            <a:r>
              <a:rPr lang="en-US" sz="1250" b="1" dirty="0">
                <a:solidFill>
                  <a:srgbClr val="1B3B6F"/>
                </a:solidFill>
                <a:latin typeface="Calibri" pitchFamily="34" charset="0"/>
                <a:cs typeface="Amiri" pitchFamily="2" charset="-78"/>
              </a:rPr>
              <a:t> not begin with </a:t>
            </a:r>
            <a:pPr algn="l" indent="0" marL="0">
              <a:buNone/>
            </a:pPr>
            <a:r>
              <a:rPr lang="ar-SA" altLang="en-US" sz="1650" b="1" dirty="0">
                <a:solidFill>
                  <a:srgbClr val="1B3B6F"/>
                </a:solidFill>
                <a:latin typeface="Amiri" pitchFamily="2" charset="-78"/>
                <a:ea typeface="Amiri" pitchFamily="2" charset="-78"/>
                <a:cs typeface="Amiri" pitchFamily="2" charset="-78"/>
              </a:rPr>
              <a:t>الـ</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because it is indefinite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because the possessive suffix already makes it definite</a:t>
            </a:r>
            <a:endParaRPr lang="en-US" sz="11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because </a:t>
            </a:r>
            <a:pPr algn="l" indent="0" marL="0">
              <a:buNone/>
            </a:pPr>
            <a:r>
              <a:rPr lang="ar-SA" altLang="en-US" sz="1650" dirty="0">
                <a:solidFill>
                  <a:srgbClr val="9AA1AB"/>
                </a:solidFill>
                <a:latin typeface="Amiri" pitchFamily="2" charset="-78"/>
                <a:ea typeface="Amiri" pitchFamily="2" charset="-78"/>
                <a:cs typeface="Amiri" pitchFamily="2" charset="-78"/>
              </a:rPr>
              <a:t>بَيْت</a:t>
            </a:r>
            <a:pPr algn="l" indent="0" marL="0">
              <a:buNone/>
            </a:pPr>
            <a:r>
              <a:rPr lang="en-US" sz="1250" dirty="0">
                <a:solidFill>
                  <a:srgbClr val="9AA1AB"/>
                </a:solidFill>
                <a:latin typeface="Calibri" pitchFamily="34" charset="0"/>
                <a:cs typeface="Amiri" pitchFamily="2" charset="-78"/>
              </a:rPr>
              <a:t> never takes an article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attached pronoun </a:t>
            </a:r>
            <a:pPr algn="l" indent="0" marL="0">
              <a:buNone/>
            </a:pPr>
            <a:r>
              <a:rPr lang="ar-SA" altLang="en-US" sz="1350" dirty="0">
                <a:solidFill>
                  <a:srgbClr val="8A6D1E"/>
                </a:solidFill>
                <a:latin typeface="Amiri" pitchFamily="2" charset="-78"/>
                <a:ea typeface="Amiri" pitchFamily="2" charset="-78"/>
                <a:cs typeface="Amiri" pitchFamily="2" charset="-78"/>
              </a:rPr>
              <a:t>ـنَا</a:t>
            </a:r>
            <a:pPr algn="l" indent="0" marL="0">
              <a:buNone/>
            </a:pPr>
            <a:r>
              <a:rPr lang="en-US" sz="1050" i="1" dirty="0">
                <a:solidFill>
                  <a:srgbClr val="8A6D1E"/>
                </a:solidFill>
                <a:latin typeface="Calibri" pitchFamily="34" charset="0"/>
                <a:cs typeface="Amiri" pitchFamily="2" charset="-78"/>
              </a:rPr>
              <a:t> identifies the owner.</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an idāfa in the reading?</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الْقَاهِرَةِ</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 مُفِيدَةٌ</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مَحَطَّةِ الْحَافِلَاتِ</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مَحَطَّةِ</a:t>
            </a:r>
            <a:pPr algn="l" indent="0" marL="0">
              <a:buNone/>
            </a:pPr>
            <a:r>
              <a:rPr lang="en-US" sz="1050" i="1" dirty="0">
                <a:solidFill>
                  <a:srgbClr val="8A6D1E"/>
                </a:solidFill>
                <a:latin typeface="Calibri" pitchFamily="34" charset="0"/>
                <a:cs typeface="Amiri" pitchFamily="2" charset="-78"/>
              </a:rPr>
              <a:t> is the protected first noun; </a:t>
            </a:r>
            <a:pPr algn="l" indent="0" marL="0">
              <a:buNone/>
            </a:pPr>
            <a:r>
              <a:rPr lang="ar-SA" altLang="en-US" sz="1350" dirty="0">
                <a:solidFill>
                  <a:srgbClr val="8A6D1E"/>
                </a:solidFill>
                <a:latin typeface="Amiri" pitchFamily="2" charset="-78"/>
                <a:ea typeface="Amiri" pitchFamily="2" charset="-78"/>
                <a:cs typeface="Amiri" pitchFamily="2" charset="-78"/>
              </a:rPr>
              <a:t>الْحَافِلَاتِ</a:t>
            </a:r>
            <a:pPr algn="l" indent="0" marL="0">
              <a:buNone/>
            </a:pPr>
            <a:r>
              <a:rPr lang="en-US" sz="1050" i="1" dirty="0">
                <a:solidFill>
                  <a:srgbClr val="8A6D1E"/>
                </a:solidFill>
                <a:latin typeface="Calibri" pitchFamily="34" charset="0"/>
                <a:cs typeface="Amiri" pitchFamily="2" charset="-78"/>
              </a:rPr>
              <a:t> is the second term.</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a:t>
            </a:r>
            <a:pPr algn="l" indent="0" marL="0">
              <a:buNone/>
            </a:pPr>
            <a:r>
              <a:rPr lang="ar-SA" altLang="en-US" sz="1650" b="1" dirty="0">
                <a:solidFill>
                  <a:srgbClr val="1B3B6F"/>
                </a:solidFill>
                <a:latin typeface="Amiri" pitchFamily="2" charset="-78"/>
                <a:ea typeface="Amiri" pitchFamily="2" charset="-78"/>
                <a:cs typeface="Amiri" pitchFamily="2" charset="-78"/>
              </a:rPr>
              <a:t>الْحَيِّ</a:t>
            </a:r>
            <a:pPr algn="l" indent="0" marL="0">
              <a:buNone/>
            </a:pPr>
            <a:r>
              <a:rPr lang="en-US" sz="1250" b="1" dirty="0">
                <a:solidFill>
                  <a:srgbClr val="1B3B6F"/>
                </a:solidFill>
                <a:latin typeface="Calibri" pitchFamily="34" charset="0"/>
                <a:cs typeface="Amiri" pitchFamily="2" charset="-78"/>
              </a:rPr>
              <a:t> definite?</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ends an idāfa and carries the article</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has a possessive suffix</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personal name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In </a:t>
            </a:r>
            <a:pPr algn="l" indent="0" marL="0">
              <a:buNone/>
            </a:pPr>
            <a:r>
              <a:rPr lang="ar-SA" altLang="en-US" sz="1350" dirty="0">
                <a:solidFill>
                  <a:srgbClr val="8A6D1E"/>
                </a:solidFill>
                <a:latin typeface="Amiri" pitchFamily="2" charset="-78"/>
                <a:ea typeface="Amiri" pitchFamily="2" charset="-78"/>
                <a:cs typeface="Amiri" pitchFamily="2" charset="-78"/>
              </a:rPr>
              <a:t>مَلْعَبِ الْحَيِّ</a:t>
            </a:r>
            <a:pPr algn="l" indent="0" marL="0">
              <a:buNone/>
            </a:pPr>
            <a:r>
              <a:rPr lang="en-US" sz="1050" i="1" dirty="0">
                <a:solidFill>
                  <a:srgbClr val="8A6D1E"/>
                </a:solidFill>
                <a:latin typeface="Calibri" pitchFamily="34" charset="0"/>
                <a:cs typeface="Amiri" pitchFamily="2" charset="-78"/>
              </a:rPr>
              <a:t>, the final definite term makes the idāfa specific.</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the listening, </a:t>
            </a:r>
            <a:pPr algn="l" indent="0" marL="0">
              <a:buNone/>
            </a:pPr>
            <a:r>
              <a:rPr lang="ar-SA" altLang="en-US" sz="1650" b="1" dirty="0">
                <a:solidFill>
                  <a:srgbClr val="1B3B6F"/>
                </a:solidFill>
                <a:latin typeface="Amiri" pitchFamily="2" charset="-78"/>
                <a:ea typeface="Amiri" pitchFamily="2" charset="-78"/>
                <a:cs typeface="Amiri" pitchFamily="2" charset="-78"/>
              </a:rPr>
              <a:t>حَقِيبَتِي الزَّرْقَاءُ</a:t>
            </a:r>
            <a:pPr algn="l" indent="0" marL="0">
              <a:buNone/>
            </a:pPr>
            <a:r>
              <a:rPr lang="en-US" sz="1250" b="1" dirty="0">
                <a:solidFill>
                  <a:srgbClr val="1B3B6F"/>
                </a:solidFill>
                <a:latin typeface="Calibri" pitchFamily="34" charset="0"/>
                <a:cs typeface="Amiri" pitchFamily="2" charset="-78"/>
              </a:rPr>
              <a:t> means:</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My bag is blue.</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my blue bag</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blue bag is mine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suffix makes the noun definite; the attributive adjective therefore takes </a:t>
            </a:r>
            <a:pPr algn="l" indent="0" marL="0">
              <a:buNone/>
            </a:pPr>
            <a:r>
              <a:rPr lang="ar-SA" altLang="en-US" sz="1350" dirty="0">
                <a:solidFill>
                  <a:srgbClr val="8A6D1E"/>
                </a:solidFill>
                <a:latin typeface="Amiri" pitchFamily="2" charset="-78"/>
                <a:ea typeface="Amiri" pitchFamily="2" charset="-78"/>
                <a:cs typeface="Amiri" pitchFamily="2" charset="-78"/>
              </a:rPr>
              <a:t>الـ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expression contains a demonstrative plus a suffixed noun?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هَذَا كِتَابُكِ</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كِتَابِي الْجَدِيدُ</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قَلَمُ صَدِيقَتِي</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هَذَا</a:t>
            </a:r>
            <a:pPr algn="l" indent="0" marL="0">
              <a:buNone/>
            </a:pPr>
            <a:r>
              <a:rPr lang="en-US" sz="1050" i="1" dirty="0">
                <a:solidFill>
                  <a:srgbClr val="8A6D1E"/>
                </a:solidFill>
                <a:latin typeface="Calibri" pitchFamily="34" charset="0"/>
                <a:cs typeface="Amiri" pitchFamily="2" charset="-78"/>
              </a:rPr>
              <a:t> points to the already definite suffixed noun </a:t>
            </a:r>
            <a:pPr algn="l" indent="0" marL="0">
              <a:buNone/>
            </a:pPr>
            <a:r>
              <a:rPr lang="ar-SA" altLang="en-US" sz="1350" dirty="0">
                <a:solidFill>
                  <a:srgbClr val="8A6D1E"/>
                </a:solidFill>
                <a:latin typeface="Amiri" pitchFamily="2" charset="-78"/>
                <a:ea typeface="Amiri" pitchFamily="2" charset="-78"/>
                <a:cs typeface="Amiri" pitchFamily="2" charset="-78"/>
              </a:rPr>
              <a:t>كِتَابُكِ</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GM-ART-03 · Articles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Speaking: the school property desk</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هٰذِهِ حَقِيبَتُكَ؟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هٰذَا كِتَابُ الطَّالِبَةِ؟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شَيْئًا ضَائِعًا: لِمَنْ هُوَ؟ وَمَا لَوْنُهُ؟</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D5FBF"/>
                </a:solidFill>
                <a:latin typeface="Amiri" pitchFamily="2" charset="-78"/>
                <a:ea typeface="Amiri" pitchFamily="2" charset="-78"/>
                <a:cs typeface="Amiri" pitchFamily="2" charset="-78"/>
              </a:rPr>
              <a:t>نَعَمْ، هٰذِهِ حَقِيبَتِي. / لَا، لَيْسَتْ حَقِيبَتِي.</a:t>
            </a:r>
            <a:endParaRPr lang="ar-SA" sz="15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لَا، هٰذَا كِتَابُ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هٰذَا ___ صَدِيقِي، وَلَوْنُهُ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هَلْ هٰذَا كِتَابُكِ؟</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Is this your book?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نَعَمْ، هٰذَا كِتَابِي الْجَدِيدُ، وَهٰذَا قَلَمُ صَدِيقَتِي.</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Yes, this is my new book, and this is my friend’s pen.</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GM-ART-03 · Articles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Three sentences with my / our (suffix) and three with </a:t>
            </a:r>
            <a:pPr algn="l" indent="0" marL="0">
              <a:buNone/>
            </a:pPr>
            <a:r>
              <a:rPr lang="ar-SA" altLang="en-US" sz="1800" b="1" dirty="0">
                <a:solidFill>
                  <a:srgbClr val="1F2A37"/>
                </a:solidFill>
                <a:latin typeface="Amiri" pitchFamily="2" charset="-78"/>
                <a:ea typeface="Amiri" pitchFamily="2" charset="-78"/>
                <a:cs typeface="Amiri" pitchFamily="2" charset="-78"/>
              </a:rPr>
              <a:t>الـ</a:t>
            </a:r>
            <a:pPr algn="l" indent="0" marL="0">
              <a:buNone/>
            </a:pPr>
            <a:r>
              <a:rPr lang="en-US" sz="1400" b="1" dirty="0">
                <a:solidFill>
                  <a:srgbClr val="1F2A37"/>
                </a:solidFill>
                <a:latin typeface="Calibri" pitchFamily="34" charset="0"/>
                <a:cs typeface="Amiri" pitchFamily="2" charset="-78"/>
              </a:rPr>
              <a: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Check: no الـ on any noun with ـِي · ـُنَا.</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50–60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two iḍāfa and one particle (</a:t>
            </a:r>
            <a:pPr algn="l" indent="0" marL="0">
              <a:buNone/>
            </a:pPr>
            <a:r>
              <a:rPr lang="ar-SA" altLang="en-US" sz="1800" b="1" dirty="0">
                <a:solidFill>
                  <a:srgbClr val="1F2A37"/>
                </a:solidFill>
                <a:latin typeface="Amiri" pitchFamily="2" charset="-78"/>
                <a:ea typeface="Amiri" pitchFamily="2" charset="-78"/>
                <a:cs typeface="Amiri" pitchFamily="2" charset="-78"/>
              </a:rPr>
              <a:t>بِالـ</a:t>
            </a:r>
            <a:pPr algn="l" indent="0" marL="0">
              <a:buNone/>
            </a:pPr>
            <a:r>
              <a:rPr lang="en-US" sz="1400" b="1" dirty="0">
                <a:solidFill>
                  <a:srgbClr val="1F2A37"/>
                </a:solidFill>
                <a:latin typeface="Calibri" pitchFamily="34" charset="0"/>
                <a:cs typeface="Amiri" pitchFamily="2" charset="-78"/>
              </a:rPr>
              <a:t> or </a:t>
            </a:r>
            <a:pPr algn="l" indent="0" marL="0">
              <a:buNone/>
            </a:pPr>
            <a:r>
              <a:rPr lang="ar-SA" altLang="en-US" sz="1800" b="1" dirty="0">
                <a:solidFill>
                  <a:srgbClr val="1F2A37"/>
                </a:solidFill>
                <a:latin typeface="Amiri" pitchFamily="2" charset="-78"/>
                <a:ea typeface="Amiri" pitchFamily="2" charset="-78"/>
                <a:cs typeface="Amiri" pitchFamily="2" charset="-78"/>
              </a:rPr>
              <a:t>لِلـ</a:t>
            </a:r>
            <a:pPr algn="l" indent="0" marL="0">
              <a:buNone/>
            </a:pPr>
            <a:r>
              <a:rPr lang="en-US" sz="1400" b="1" dirty="0">
                <a:solidFill>
                  <a:srgbClr val="1F2A37"/>
                </a:solidFill>
                <a:latin typeface="Calibri" pitchFamily="34" charset="0"/>
                <a:cs typeface="Amiri" pitchFamily="2" charset="-78"/>
              </a:rPr>
              <a: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Protect the first noun; drop the alif only after لِـ.</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80–90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The website writing workshop with all six features.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Label every noun: ART · NAME · SUFFIX · IḌĀFA · DEM.</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GM-ART-03 · Articles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قَرِيبٌ مِنْ مَحَطَّةِ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near the … station</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مَكْتَبَةَ الْمَدْرَسَةِ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the school library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أَذْهَبُ بِالْحَافِلَةِ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go by bus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الْكِتَابُ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book is for the teacher.</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اِسْمِي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name is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أَسْكُنُ فِي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live in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بَيْتُنَا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Our house is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أَذْهَبُ إِلَى الْمَدْرَسَةِ مَعَ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go to school with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بَيْتِي  ·  بَيْتُنَا  ·  أُسْرَتِي  ·  صَدِيقَتِي  ·  مَدْرَسَةُ الْبَنَاتِ  ·  مَكْتَبَةُ الْمَدْرَسَةِ  ·  بِالْحَافِلَةِ  ·  لِلْمُعَلِّمِ  ·  وَالْمَكْتَبَةُ  ·  الْقَاهِرَةُ  ·  أُحِبُّ الْقِرَاءَةَ  ·  أُمَارِسُ الرِّيَاضَةَ</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GM-ART-03 · Articles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writing workshop — My day and my places (80–90 words).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ordinary nouns with </a:t>
            </a:r>
            <a:pPr algn="l" indent="0" marL="0">
              <a:buNone/>
            </a:pPr>
            <a:r>
              <a:rPr lang="ar-SA" altLang="en-US" sz="1550" dirty="0">
                <a:solidFill>
                  <a:srgbClr val="1F2A37"/>
                </a:solidFill>
                <a:latin typeface="Amiri" pitchFamily="2" charset="-78"/>
                <a:ea typeface="Amiri" pitchFamily="2" charset="-78"/>
                <a:cs typeface="Amiri" pitchFamily="2" charset="-78"/>
              </a:rPr>
              <a:t>الـ</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possessive suffixes without </a:t>
            </a:r>
            <a:pPr algn="l" indent="0" marL="0">
              <a:buNone/>
            </a:pPr>
            <a:r>
              <a:rPr lang="ar-SA" altLang="en-US" sz="1550" dirty="0">
                <a:solidFill>
                  <a:srgbClr val="1F2A37"/>
                </a:solidFill>
                <a:latin typeface="Amiri" pitchFamily="2" charset="-78"/>
                <a:ea typeface="Amiri" pitchFamily="2" charset="-78"/>
                <a:cs typeface="Amiri" pitchFamily="2" charset="-78"/>
              </a:rPr>
              <a:t>الـ</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iḍāfa constructions.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name with an established </a:t>
            </a:r>
            <a:pPr algn="l" indent="0" marL="0">
              <a:buNone/>
            </a:pPr>
            <a:r>
              <a:rPr lang="ar-SA" altLang="en-US" sz="1550" dirty="0">
                <a:solidFill>
                  <a:srgbClr val="1F2A37"/>
                </a:solidFill>
                <a:latin typeface="Amiri" pitchFamily="2" charset="-78"/>
                <a:ea typeface="Amiri" pitchFamily="2" charset="-78"/>
                <a:cs typeface="Amiri" pitchFamily="2" charset="-78"/>
              </a:rPr>
              <a:t>الـ</a:t>
            </a:r>
            <a:pPr algn="l" indent="0" marL="0">
              <a:buNone/>
            </a:pPr>
            <a:r>
              <a:rPr lang="en-US" sz="1200" dirty="0">
                <a:solidFill>
                  <a:srgbClr val="1F2A37"/>
                </a:solidFill>
                <a:latin typeface="Calibri" pitchFamily="34" charset="0"/>
                <a:cs typeface="Amiri" pitchFamily="2" charset="-78"/>
              </a:rPr>
              <a:t> and one without.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attached particle (</a:t>
            </a:r>
            <a:pPr algn="l" indent="0" marL="0">
              <a:buNone/>
            </a:pPr>
            <a:r>
              <a:rPr lang="ar-SA" altLang="en-US" sz="1550" dirty="0">
                <a:solidFill>
                  <a:srgbClr val="1F2A37"/>
                </a:solidFill>
                <a:latin typeface="Amiri" pitchFamily="2" charset="-78"/>
                <a:ea typeface="Amiri" pitchFamily="2" charset="-78"/>
                <a:cs typeface="Amiri" pitchFamily="2" charset="-78"/>
              </a:rPr>
              <a:t>وَالـ</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بِالـ</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لِلـ</a:t>
            </a:r>
            <a:pPr algn="l" indent="0" marL="0">
              <a:buNone/>
            </a:pPr>
            <a:r>
              <a:rPr lang="en-US" sz="1200" dirty="0">
                <a:solidFill>
                  <a:srgbClr val="1F2A37"/>
                </a:solidFill>
                <a:latin typeface="Calibri" pitchFamily="34" charset="0"/>
                <a:cs typeface="Amiri" pitchFamily="2" charset="-78"/>
              </a:rPr>
              <a:t>) and two fixed expressions.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مَحَطَّةُ الْحَافِلَاتِ</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bus station</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مَدْرَسَةُ الْبَنَاتِ</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girls’ school</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بِالْحَافِلَةِ</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by bus</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لِلْمُعَلِّمِ</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for the teacher</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الْقِرَاءَةَ</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like reading</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أَتَكَلَّمُ الْعَرَبِيَّةَ</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speak Arabic</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GM-ART-03 · Articles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اِسْمِي يُوسُفُ، وَأَسْكُنُ فِي الْمَغْرِبِ مَعَ أُسْرَتِي. بَيْتُنَا قَرِيبٌ مِنْ مَسْجِدِ الْحَيِّ. فِي الصَّبَاحِ أَذْهَبُ بِالْحَافِلَةِ إِلَى الْمَدْرَسَةِ مَعَ أَخِي. مُعَلِّمِي هُوَ الْأُسْتَاذُ أَحْمَدُ، وَأُحِبُّ دَرْسَهُ. بَعْدَ الدِّرَاسَةِ أَذْهَبُ إِلَى مَكْتَبَةِ الْمَدِينَةِ، وَأَقْرَأُ الْكُتُبَ وَالْقِصَصَ. فِي الْمَسَاءِ أُمَارِسُ الرِّيَاضَةَ، ثُمَّ أَكْتُبُ رِسَالَةً لِلْمُعَلِّمِ.</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name is Yusuf, and I live in Morocco with my family. Our house is near the neighbourhood mosque. In the morning I go to school by bus with my brother. My teacher is Mr Ahmad, and I like his lesson. After school I go to the city library and read books and stories. In the evening I do sport, then I write a message for the teacher.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suffixes: no الـ</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iḍāfa</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names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بِالـ · لِلـ · وَالـ</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GM-ART-03 · Articles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No noun has both </a:t>
            </a:r>
            <a:pPr algn="l" indent="0" marL="0">
              <a:buNone/>
            </a:pPr>
            <a:r>
              <a:rPr lang="ar-SA" altLang="en-US" sz="1700" dirty="0">
                <a:solidFill>
                  <a:srgbClr val="1F2A37"/>
                </a:solidFill>
                <a:latin typeface="Amiri" pitchFamily="2" charset="-78"/>
                <a:ea typeface="Amiri" pitchFamily="2" charset="-78"/>
                <a:cs typeface="Amiri" pitchFamily="2" charset="-78"/>
              </a:rPr>
              <a:t>الـ</a:t>
            </a:r>
            <a:pPr algn="l" indent="0" marL="0">
              <a:buNone/>
            </a:pPr>
            <a:r>
              <a:rPr lang="en-US" sz="1300" dirty="0">
                <a:solidFill>
                  <a:srgbClr val="1F2A37"/>
                </a:solidFill>
                <a:latin typeface="Calibri" pitchFamily="34" charset="0"/>
                <a:cs typeface="Amiri" pitchFamily="2" charset="-78"/>
              </a:rPr>
              <a:t> and a suffix.</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The first noun of each iḍāfa has no </a:t>
            </a:r>
            <a:pPr algn="l" indent="0" marL="0">
              <a:buNone/>
            </a:pPr>
            <a:r>
              <a:rPr lang="ar-SA" altLang="en-US" sz="1700" dirty="0">
                <a:solidFill>
                  <a:srgbClr val="1F2A37"/>
                </a:solidFill>
                <a:latin typeface="Amiri" pitchFamily="2" charset="-78"/>
                <a:ea typeface="Amiri" pitchFamily="2" charset="-78"/>
                <a:cs typeface="Amiri" pitchFamily="2" charset="-78"/>
              </a:rPr>
              <a:t>الـ</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dropped the alif only after </a:t>
            </a:r>
            <a:pPr algn="l" indent="0" marL="0">
              <a:buNone/>
            </a:pPr>
            <a:r>
              <a:rPr lang="ar-SA" altLang="en-US" sz="1700" dirty="0">
                <a:solidFill>
                  <a:srgbClr val="1F2A37"/>
                </a:solidFill>
                <a:latin typeface="Amiri" pitchFamily="2" charset="-78"/>
                <a:ea typeface="Amiri" pitchFamily="2" charset="-78"/>
                <a:cs typeface="Amiri" pitchFamily="2" charset="-78"/>
              </a:rPr>
              <a:t>لِـ</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names are in their established form.</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label every definite noun by route.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GM-ART-03 · Articles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“our old school”.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مَدْرَسَتُنَا الْقَدِيمَةُ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الْمَدْرَسَتُنَا الْقَدِيمَةُ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مَدْرَسَتُنَا قَدِيمَةٌ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university library”.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الْمَكْتَبَةُ الْجَامِعَةِ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مَكْتَبَةُ الْجَامِعَةِ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مَكْتَبَةٌ الْجَامِعَةُ</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Combine </a:t>
            </a:r>
            <a:pPr algn="l" indent="0" marL="0">
              <a:buNone/>
            </a:pPr>
            <a:r>
              <a:rPr lang="ar-SA" altLang="en-US" sz="1650" b="1" dirty="0">
                <a:solidFill>
                  <a:srgbClr val="1B3B6F"/>
                </a:solidFill>
                <a:latin typeface="Amiri" pitchFamily="2" charset="-78"/>
                <a:ea typeface="Amiri" pitchFamily="2" charset="-78"/>
                <a:cs typeface="Amiri" pitchFamily="2" charset="-78"/>
              </a:rPr>
              <a:t>لِـ</a:t>
            </a:r>
            <a:pPr algn="l" indent="0" marL="0">
              <a:buNone/>
            </a:pPr>
            <a:r>
              <a:rPr lang="en-US" sz="1250" b="1" dirty="0">
                <a:solidFill>
                  <a:srgbClr val="1B3B6F"/>
                </a:solidFill>
                <a:latin typeface="Calibri" pitchFamily="34" charset="0"/>
                <a:cs typeface="Amiri" pitchFamily="2" charset="-78"/>
              </a:rPr>
              <a:t> + </a:t>
            </a:r>
            <a:pPr algn="l" indent="0" marL="0">
              <a:buNone/>
            </a:pPr>
            <a:r>
              <a:rPr lang="ar-SA" altLang="en-US" sz="1650" b="1" dirty="0">
                <a:solidFill>
                  <a:srgbClr val="1B3B6F"/>
                </a:solidFill>
                <a:latin typeface="Amiri" pitchFamily="2" charset="-78"/>
                <a:ea typeface="Amiri" pitchFamily="2" charset="-78"/>
                <a:cs typeface="Amiri" pitchFamily="2" charset="-78"/>
              </a:rPr>
              <a:t>الطَّالِبِ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لِلطَّالِبِ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لِالطَّالِبِ</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 الطَّالِبِ</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GM-ART-03 · Articles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“our old school”.</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مَدْرَسَتُنَا الْقَدِيمَةُ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الْمَدْرَسَتُنَا الْقَدِيمَةُ</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مَدْرَسَتُنَا قَدِيمَةٌ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Suffix on the noun; article on the attributive adjective.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university library”.</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الْمَكْتَبَةُ الْجَامِعَةِ</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مَكْتَبَةُ الْجَامِعَةِ</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مَكْتَبَةٌ الْجَامِعَةُ</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definite final term makes the idāfa definite.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Combine </a:t>
            </a:r>
            <a:pPr algn="l" indent="0" marL="0">
              <a:buNone/>
            </a:pPr>
            <a:r>
              <a:rPr lang="ar-SA" altLang="en-US" sz="1650" b="1" dirty="0">
                <a:solidFill>
                  <a:srgbClr val="1B3B6F"/>
                </a:solidFill>
                <a:latin typeface="Amiri" pitchFamily="2" charset="-78"/>
                <a:ea typeface="Amiri" pitchFamily="2" charset="-78"/>
                <a:cs typeface="Amiri" pitchFamily="2" charset="-78"/>
              </a:rPr>
              <a:t>لِـ</a:t>
            </a:r>
            <a:pPr algn="l" indent="0" marL="0">
              <a:buNone/>
            </a:pPr>
            <a:r>
              <a:rPr lang="en-US" sz="1250" b="1" dirty="0">
                <a:solidFill>
                  <a:srgbClr val="1B3B6F"/>
                </a:solidFill>
                <a:latin typeface="Calibri" pitchFamily="34" charset="0"/>
                <a:cs typeface="Amiri" pitchFamily="2" charset="-78"/>
              </a:rPr>
              <a:t> + </a:t>
            </a:r>
            <a:pPr algn="l" indent="0" marL="0">
              <a:buNone/>
            </a:pPr>
            <a:r>
              <a:rPr lang="ar-SA" altLang="en-US" sz="1650" b="1" dirty="0">
                <a:solidFill>
                  <a:srgbClr val="1B3B6F"/>
                </a:solidFill>
                <a:latin typeface="Amiri" pitchFamily="2" charset="-78"/>
                <a:ea typeface="Amiri" pitchFamily="2" charset="-78"/>
                <a:cs typeface="Amiri" pitchFamily="2" charset="-78"/>
              </a:rPr>
              <a:t>الطَّالِبِ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لِلطَّالِبِ</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لِالطَّالِبِ</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 الطَّالِبِ</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article’s alif is omitted in the written contraction.</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GM-ART-03 · Articles</a:t>
            </a:r>
            <a:endParaRPr lang="en-US" sz="950" dirty="0"/>
          </a:p>
        </p:txBody>
      </p:sp>
      <p:sp>
        <p:nvSpPr>
          <p:cNvPr id="8" name="Shape 6"/>
          <p:cNvSpPr/>
          <p:nvPr/>
        </p:nvSpPr>
        <p:spPr>
          <a:xfrm>
            <a:off x="7388352" y="274320"/>
            <a:ext cx="1371600"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EXTENSION · WEBSITE MASTERY CHECK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Mastery check</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اِخْتِبَارُ الإِتْقَانِ</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“Our school is old.”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مَدْرَسَتُنَا الْقَدِيمَةُ.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مَدْرَسَتُنَا قَدِيمَةٌ.</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الْمَدْرَسَتُنَا قَدِيمَةٌ.</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university library”.</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مَكْتَبَةُ جَامِعَةٍ</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مَكْتَبَةٌ جَامِعَةٍ</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الْمَكْتَبَةُ جَامِعَةٍ</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new university library”.</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مَكْتَبَةُ الْجَامِعَةِ الْجَدِيدَةِ</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الْمَكْتَبَةُ الْجَامِعَةِ الْجَدِيدَةُ</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مَكْتَبَةُ الْجَامِعَةِ الْجَدِيدَةُ</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standard spelling after </a:t>
            </a:r>
            <a:pPr algn="l" indent="0" marL="0">
              <a:buNone/>
            </a:pPr>
            <a:r>
              <a:rPr lang="ar-SA" altLang="en-US" sz="1650" b="1" dirty="0">
                <a:solidFill>
                  <a:srgbClr val="1B3B6F"/>
                </a:solidFill>
                <a:latin typeface="Amiri" pitchFamily="2" charset="-78"/>
                <a:ea typeface="Amiri" pitchFamily="2" charset="-78"/>
                <a:cs typeface="Amiri" pitchFamily="2" charset="-78"/>
              </a:rPr>
              <a:t>فِي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فِشَّارِعِ</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لْشَّارِعِ</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الشَّارِعِ</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name should not lose its article?</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الْجَزَائِرُ</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مَرْيَمُ</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أَحْمَدُ</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“Mr Ahmad”.</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أُسْتَاذُ الْأَحْمَدِ</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الْأُسْتَاذُ أَحْمَدُ</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الْأُسْتَاذُ الْأَحْمَدُ</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39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GM-ART-03 · Articles</a:t>
            </a:r>
            <a:endParaRPr lang="en-US" sz="950" dirty="0"/>
          </a:p>
        </p:txBody>
      </p:sp>
      <p:sp>
        <p:nvSpPr>
          <p:cNvPr id="8" name="Shape 6"/>
          <p:cNvSpPr/>
          <p:nvPr/>
        </p:nvSpPr>
        <p:spPr>
          <a:xfrm>
            <a:off x="7388352" y="274320"/>
            <a:ext cx="1371600"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EXTENSION · MASTERY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Mastery check: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GM-ART-03</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“Our school is old.”</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مَدْرَسَتُنَا الْقَدِيمَةُ.</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مَدْرَسَتُنَا قَدِيمَةٌ.</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الْمَدْرَسَتُنَا قَدِيمَةٌ.</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predicate adjective is indefinite.</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university library”.</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مَكْتَبَةُ جَامِعَةٍ</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مَكْتَبَةٌ جَامِعَةٍ</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الْمَكْتَبَةُ جَامِعَةٍ</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Indefinite idāfa: first noun no article or tanwīn; final term indefinite.</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new university library”.</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مَكْتَبَةُ الْجَامِعَةِ الْجَدِيدَةِ</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الْمَكْتَبَةُ الْجَامِعَةِ الْجَدِيدَةُ</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مَكْتَبَةُ الْجَامِعَةِ الْجَدِيدَةُ</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Nominative </a:t>
            </a:r>
            <a:pPr algn="l" indent="0" marL="0">
              <a:buNone/>
            </a:pPr>
            <a:r>
              <a:rPr lang="ar-SA" altLang="en-US" sz="1350" dirty="0">
                <a:solidFill>
                  <a:srgbClr val="8A6D1E"/>
                </a:solidFill>
                <a:latin typeface="Amiri" pitchFamily="2" charset="-78"/>
                <a:ea typeface="Amiri" pitchFamily="2" charset="-78"/>
                <a:cs typeface="Amiri" pitchFamily="2" charset="-78"/>
              </a:rPr>
              <a:t>الْجَدِيدَةُ</a:t>
            </a:r>
            <a:pPr algn="l" indent="0" marL="0">
              <a:buNone/>
            </a:pPr>
            <a:r>
              <a:rPr lang="en-US" sz="1050" i="1" dirty="0">
                <a:solidFill>
                  <a:srgbClr val="8A6D1E"/>
                </a:solidFill>
                <a:latin typeface="Calibri" pitchFamily="34" charset="0"/>
                <a:cs typeface="Amiri" pitchFamily="2" charset="-78"/>
              </a:rPr>
              <a:t> describes the first noun </a:t>
            </a:r>
            <a:pPr algn="l" indent="0" marL="0">
              <a:buNone/>
            </a:pPr>
            <a:r>
              <a:rPr lang="ar-SA" altLang="en-US" sz="1350" dirty="0">
                <a:solidFill>
                  <a:srgbClr val="8A6D1E"/>
                </a:solidFill>
                <a:latin typeface="Amiri" pitchFamily="2" charset="-78"/>
                <a:ea typeface="Amiri" pitchFamily="2" charset="-78"/>
                <a:cs typeface="Amiri" pitchFamily="2" charset="-78"/>
              </a:rPr>
              <a:t>مَكْتَبَةُ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standard spelling after </a:t>
            </a:r>
            <a:pPr algn="l" indent="0" marL="0">
              <a:buNone/>
            </a:pPr>
            <a:r>
              <a:rPr lang="ar-SA" altLang="en-US" sz="1650" b="1" dirty="0">
                <a:solidFill>
                  <a:srgbClr val="1B3B6F"/>
                </a:solidFill>
                <a:latin typeface="Amiri" pitchFamily="2" charset="-78"/>
                <a:ea typeface="Amiri" pitchFamily="2" charset="-78"/>
                <a:cs typeface="Amiri" pitchFamily="2" charset="-78"/>
              </a:rPr>
              <a:t>فِي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فِشَّارِعِ</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لْشَّارِعِ</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 الشَّارِعِ</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Write both words fully; connected pronunciation and sun-letter assimilation do not license phonetic spelling.</a:t>
            </a:r>
            <a:endParaRPr lang="en-US" sz="100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name should not lose its article?</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الْجَزَائِرُ</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مَرْيَمُ</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أَحْمَدُ</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established country name </a:t>
            </a:r>
            <a:pPr algn="l" indent="0" marL="0">
              <a:buNone/>
            </a:pPr>
            <a:r>
              <a:rPr lang="ar-SA" altLang="en-US" sz="1350" dirty="0">
                <a:solidFill>
                  <a:srgbClr val="8A6D1E"/>
                </a:solidFill>
                <a:latin typeface="Amiri" pitchFamily="2" charset="-78"/>
                <a:ea typeface="Amiri" pitchFamily="2" charset="-78"/>
                <a:cs typeface="Amiri" pitchFamily="2" charset="-78"/>
              </a:rPr>
              <a:t>الْجَزَائِرُ</a:t>
            </a:r>
            <a:pPr algn="l" indent="0" marL="0">
              <a:buNone/>
            </a:pPr>
            <a:r>
              <a:rPr lang="en-US" sz="1050" i="1" dirty="0">
                <a:solidFill>
                  <a:srgbClr val="8A6D1E"/>
                </a:solidFill>
                <a:latin typeface="Calibri" pitchFamily="34" charset="0"/>
                <a:cs typeface="Amiri" pitchFamily="2" charset="-78"/>
              </a:rPr>
              <a:t> includes the article.</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“Mr Ahmad”.</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أُسْتَاذُ الْأَحْمَدِ</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الْأُسْتَاذُ أَحْمَدُ</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الْأُسْتَاذُ الْأَحْمَدُ</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title is definite; the personal name keeps its established form.</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39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GM-ART-03 · Articles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Before GM-N-01: get ready at home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Articles · GM-ART-03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GM-N-01 · Noun Gender</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مُذَكَّرٌ</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masculine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مُؤَنَّثٌ</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feminine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تَاءٌ مَرْبُوطَةٌ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ar-SA" sz="1200" b="1" dirty="0">
                <a:solidFill>
                  <a:srgbClr val="1F2A37"/>
                </a:solidFill>
                <a:latin typeface="Calibri" pitchFamily="34" charset="0"/>
                <a:ea typeface="Amiri" pitchFamily="2" charset="-78"/>
                <a:cs typeface="Amiri" pitchFamily="2" charset="-78"/>
              </a:rPr>
              <a:t>tāʾ marbūṭa (ة)</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أَلِفٌ مَقْصُورَةٌ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ar-SA" sz="1200" b="1" dirty="0">
                <a:solidFill>
                  <a:srgbClr val="1F2A37"/>
                </a:solidFill>
                <a:latin typeface="Calibri" pitchFamily="34" charset="0"/>
                <a:ea typeface="Amiri" pitchFamily="2" charset="-78"/>
                <a:cs typeface="Amiri" pitchFamily="2" charset="-78"/>
              </a:rPr>
              <a:t>final alif (ى)</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مُؤَنَّثٌ مَعْنَوِيٌّ</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feminine by meaning</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Sort these into masculine and feminine: </a:t>
            </a:r>
            <a:pPr algn="l" indent="0" marL="0">
              <a:buNone/>
            </a:pPr>
            <a:r>
              <a:rPr lang="ar-SA" altLang="en-US" sz="1350" dirty="0">
                <a:solidFill>
                  <a:srgbClr val="1F2A37"/>
                </a:solidFill>
                <a:latin typeface="Amiri" pitchFamily="2" charset="-78"/>
                <a:ea typeface="Amiri" pitchFamily="2" charset="-78"/>
                <a:cs typeface="Amiri" pitchFamily="2" charset="-78"/>
              </a:rPr>
              <a:t>مَدْرَسَةٌ</a:t>
            </a:r>
            <a:pPr algn="l" indent="0" marL="0">
              <a:buNone/>
            </a:pPr>
            <a:r>
              <a:rPr lang="en-US" sz="1050" dirty="0">
                <a:solidFill>
                  <a:srgbClr val="1F2A37"/>
                </a:solidFill>
                <a:latin typeface="Calibri" pitchFamily="34" charset="0"/>
                <a:cs typeface="Amiri" pitchFamily="2" charset="-78"/>
              </a:rPr>
              <a:t> · </a:t>
            </a:r>
            <a:pPr algn="l" indent="0" marL="0">
              <a:buNone/>
            </a:pPr>
            <a:r>
              <a:rPr lang="ar-SA" altLang="en-US" sz="1350" dirty="0">
                <a:solidFill>
                  <a:srgbClr val="1F2A37"/>
                </a:solidFill>
                <a:latin typeface="Amiri" pitchFamily="2" charset="-78"/>
                <a:ea typeface="Amiri" pitchFamily="2" charset="-78"/>
                <a:cs typeface="Amiri" pitchFamily="2" charset="-78"/>
              </a:rPr>
              <a:t>بَيْتٌ</a:t>
            </a:r>
            <a:pPr algn="l" indent="0" marL="0">
              <a:buNone/>
            </a:pPr>
            <a:r>
              <a:rPr lang="en-US" sz="1050" dirty="0">
                <a:solidFill>
                  <a:srgbClr val="1F2A37"/>
                </a:solidFill>
                <a:latin typeface="Calibri" pitchFamily="34" charset="0"/>
                <a:cs typeface="Amiri" pitchFamily="2" charset="-78"/>
              </a:rPr>
              <a:t> · </a:t>
            </a:r>
            <a:pPr algn="l" indent="0" marL="0">
              <a:buNone/>
            </a:pPr>
            <a:r>
              <a:rPr lang="ar-SA" altLang="en-US" sz="1350" dirty="0">
                <a:solidFill>
                  <a:srgbClr val="1F2A37"/>
                </a:solidFill>
                <a:latin typeface="Amiri" pitchFamily="2" charset="-78"/>
                <a:ea typeface="Amiri" pitchFamily="2" charset="-78"/>
                <a:cs typeface="Amiri" pitchFamily="2" charset="-78"/>
              </a:rPr>
              <a:t>أُمٌّ</a:t>
            </a:r>
            <a:pPr algn="l" indent="0" marL="0">
              <a:buNone/>
            </a:pPr>
            <a:r>
              <a:rPr lang="en-US" sz="1050" dirty="0">
                <a:solidFill>
                  <a:srgbClr val="1F2A37"/>
                </a:solidFill>
                <a:latin typeface="Calibri" pitchFamily="34" charset="0"/>
                <a:cs typeface="Amiri" pitchFamily="2" charset="-78"/>
              </a:rPr>
              <a:t> · </a:t>
            </a:r>
            <a:pPr algn="l" indent="0" marL="0">
              <a:buNone/>
            </a:pPr>
            <a:r>
              <a:rPr lang="ar-SA" altLang="en-US" sz="1350" dirty="0">
                <a:solidFill>
                  <a:srgbClr val="1F2A37"/>
                </a:solidFill>
                <a:latin typeface="Amiri" pitchFamily="2" charset="-78"/>
                <a:ea typeface="Amiri" pitchFamily="2" charset="-78"/>
                <a:cs typeface="Amiri" pitchFamily="2" charset="-78"/>
              </a:rPr>
              <a:t>شَمْسٌ</a:t>
            </a:r>
            <a:pPr algn="l" indent="0" marL="0">
              <a:buNone/>
            </a:pPr>
            <a:r>
              <a:rPr lang="en-US" sz="1050" dirty="0">
                <a:solidFill>
                  <a:srgbClr val="1F2A37"/>
                </a:solidFill>
                <a:latin typeface="Calibri" pitchFamily="34" charset="0"/>
                <a:cs typeface="Amiri" pitchFamily="2" charset="-78"/>
              </a:rPr>
              <a:t> · </a:t>
            </a:r>
            <a:pPr algn="l" indent="0" marL="0">
              <a:buNone/>
            </a:pPr>
            <a:r>
              <a:rPr lang="ar-SA" altLang="en-US" sz="1350" dirty="0">
                <a:solidFill>
                  <a:srgbClr val="1F2A37"/>
                </a:solidFill>
                <a:latin typeface="Amiri" pitchFamily="2" charset="-78"/>
                <a:ea typeface="Amiri" pitchFamily="2" charset="-78"/>
                <a:cs typeface="Amiri" pitchFamily="2" charset="-78"/>
              </a:rPr>
              <a:t>كِتَابٌ</a:t>
            </a:r>
            <a:pPr algn="l" indent="0" marL="0">
              <a:buNone/>
            </a:pPr>
            <a:r>
              <a:rPr lang="en-US" sz="1050" dirty="0">
                <a:solidFill>
                  <a:srgbClr val="1F2A37"/>
                </a:solidFill>
                <a:latin typeface="Calibri" pitchFamily="34" charset="0"/>
                <a:cs typeface="Amiri" pitchFamily="2" charset="-78"/>
              </a:rPr>
              <a: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مُذَكَّرٌ: ______ · مُؤَنَّثٌ: ______</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five suffixed nouns + adjective (</a:t>
            </a:r>
            <a:pPr algn="l" indent="0" marL="0">
              <a:buNone/>
            </a:pPr>
            <a:r>
              <a:rPr lang="ar-SA" altLang="en-US" sz="1550" dirty="0">
                <a:solidFill>
                  <a:srgbClr val="1F2A37"/>
                </a:solidFill>
                <a:latin typeface="Amiri" pitchFamily="2" charset="-78"/>
                <a:ea typeface="Amiri" pitchFamily="2" charset="-78"/>
                <a:cs typeface="Amiri" pitchFamily="2" charset="-78"/>
              </a:rPr>
              <a:t>كِتَابِي الْجَدِيدُ</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Redo website mini-checks 3 and 5; write three iḍāfa chains.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workshop (80–90 words) and the Articles mastery check.</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39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GM-ART-03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GM-N-01 · Noun Gender</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جِنْسُ الِاسْمِ: الْمُذَكَّرُ وَالْمُؤَنَّثُ</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five routes to definite · suffix or </a:t>
            </a:r>
            <a:pPr algn="l" indent="0" marL="0">
              <a:buNone/>
            </a:pPr>
            <a:r>
              <a:rPr lang="ar-SA" altLang="en-US" sz="1700" b="1" dirty="0">
                <a:solidFill>
                  <a:srgbClr val="FFFFFF"/>
                </a:solidFill>
                <a:latin typeface="Amiri" pitchFamily="2" charset="-78"/>
                <a:ea typeface="Amiri" pitchFamily="2" charset="-78"/>
                <a:cs typeface="Amiri" pitchFamily="2" charset="-78"/>
              </a:rPr>
              <a:t>الـ</a:t>
            </a:r>
            <a:pPr algn="l" indent="0" marL="0">
              <a:buNone/>
            </a:pPr>
            <a:r>
              <a:rPr lang="en-US" sz="1300" b="1" dirty="0">
                <a:solidFill>
                  <a:srgbClr val="FFFFFF"/>
                </a:solidFill>
                <a:latin typeface="Calibri" pitchFamily="34" charset="0"/>
                <a:cs typeface="Amiri" pitchFamily="2" charset="-78"/>
              </a:rPr>
              <a:t> — never both · the first noun of an iḍāfa is protected · only </a:t>
            </a:r>
            <a:pPr algn="l" indent="0" marL="0">
              <a:buNone/>
            </a:pPr>
            <a:r>
              <a:rPr lang="ar-SA" altLang="en-US" sz="1700" b="1" dirty="0">
                <a:solidFill>
                  <a:srgbClr val="FFFFFF"/>
                </a:solidFill>
                <a:latin typeface="Amiri" pitchFamily="2" charset="-78"/>
                <a:ea typeface="Amiri" pitchFamily="2" charset="-78"/>
                <a:cs typeface="Amiri" pitchFamily="2" charset="-78"/>
              </a:rPr>
              <a:t>لِـ</a:t>
            </a:r>
            <a:pPr algn="l" indent="0" marL="0">
              <a:buNone/>
            </a:pPr>
            <a:r>
              <a:rPr lang="en-US" sz="1300" b="1" dirty="0">
                <a:solidFill>
                  <a:srgbClr val="FFFFFF"/>
                </a:solidFill>
                <a:latin typeface="Calibri" pitchFamily="34" charset="0"/>
                <a:cs typeface="Amiri" pitchFamily="2" charset="-78"/>
              </a:rPr>
              <a:t> drops the alif of </a:t>
            </a:r>
            <a:pPr algn="l" indent="0" marL="0">
              <a:buNone/>
            </a:pPr>
            <a:r>
              <a:rPr lang="ar-SA" altLang="en-US" sz="1700" b="1" dirty="0">
                <a:solidFill>
                  <a:srgbClr val="FFFFFF"/>
                </a:solidFill>
                <a:latin typeface="Amiri" pitchFamily="2" charset="-78"/>
                <a:ea typeface="Amiri" pitchFamily="2" charset="-78"/>
                <a:cs typeface="Amiri" pitchFamily="2" charset="-78"/>
              </a:rPr>
              <a:t>الـ</a:t>
            </a:r>
            <a:pPr algn="l" indent="0" marL="0">
              <a:buNone/>
            </a:pPr>
            <a:r>
              <a:rPr lang="en-US" sz="1300" b="1" dirty="0">
                <a:solidFill>
                  <a:srgbClr val="FFFFFF"/>
                </a:solidFill>
                <a:latin typeface="Calibri" pitchFamily="34" charset="0"/>
                <a:cs typeface="Amiri" pitchFamily="2" charset="-78"/>
              </a:rPr>
              <a: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GM-ART-03 · Where the Article Belongs</dc:title>
  <dc:subject>PptxGenJS Presentation</dc:subject>
  <dc:creator>Al Madina Online School · Arabic Department</dc:creator>
  <cp:lastModifiedBy>Al Madina Online School · Arabic Department</cp:lastModifiedBy>
  <cp:revision>1</cp:revision>
  <dcterms:created xsi:type="dcterms:W3CDTF">2026-10-11T06:42:08Z</dcterms:created>
  <dcterms:modified xsi:type="dcterms:W3CDTF">2026-10-11T06:42:08Z</dcterms:modified>
</cp:coreProperties>
</file>