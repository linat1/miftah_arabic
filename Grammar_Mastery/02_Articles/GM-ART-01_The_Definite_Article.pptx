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Articles › GM-ART-01 (“The Definite Article”).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a noun vs the noun (كِتَابٌ / الْكِتَابُ) and sorting sun and moon letters. Develop: noun–adjective definiteness, phrase vs sentence. Stretch: hamzat al-waṣl in connected speech and where الـ must NOT be added (كِتَابِي · بَابُ الْمَدْرَسَةِ · names).
• URDU / QUR’AN BRIDGE: students already pronounce this correctly in names and recitation — عَبْدُ الرَّحْمٰنِ (Abdur-Raḥmān), الرَّحْمٰنِ الرَّحِيمِ, الشَّمْسُ in Sūrat ash-Shams: the lām is silent and the next letter doubles. That is a SUN letter. اَلْحَمْدُ, الْقَمَرُ: the lām is heard — a MOON letter.
• The golden rule of this lesson: pronounce naturally, spell in full.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Entry Check (questions 1–5). It is diagnostic: wrong answers tell you which explanation slide needs the most time today.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Ask one question: am I naming ANY one (indefinite) or a PARTICULAR, known one (definite)?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(1 of 2)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Teach the first six now; نَكِرَةٌ and مَعْرِفَةٌ are the two words students must use all lesson (“Is it nakira or maʿrifa?”). Tanwīn and shadda are revision (FLEX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(2 of 2)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Teach the first six now; نَكِرَةٌ and مَعْرِفَةٌ are the two words students must use all lesson (“Is it nakira or maʿrifa?”). Tanwīn and shadda are revision (FLEX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section “Definite or indefinite?”. Website: “The article is not decoration: it tells the reader whether the noun is specific or non-specific.”
Check: hold up a pen — قَلَمٌ (a pen). Now “THE pen I am holding” — الْقَلَمُ. Students chat “n” (nakira) or “m” (maʿrifa) for five quick nouns.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(2 min) — website table “From noun to noun phrase”. Read each pair aloud. Ask: “Is it complete? Can I put a full stop after it?” This prepares GM-ART-02 (agreement in definiteness).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 min) — website section “Sun and moon letters”. Website correction: الشَّمْسُ is pronounced approximately ash-shamsu (short opening vowel), not “āsh-shams”.
Bridge: عَبْدُ الرَّحْمٰنِ, الرَّحِيمِ — students already assimilate ر. Choral: الشَّمْسُ / الْقَمَرُ, then five words — class shows ☀ (hand open) or ☾ (fist)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3b (2 min). Cover the left column for Develop/Stretch: they read the Arabic and say the pronunciation. Core read the transliteration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(3 min) — website section “Hamzat al-waṣl and connected speech”. Model each pair slowly, then naturally. Website: “Connected pronunciation is never an instruction to delete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5 (2 min) — website section “Where the article does — and does not — belong”. Website: “The safest rule is not ‘add الـ whenever English has the’.”
Proper-name precision (website): “Do not use الـ with proper nouns” is too broad — do not INVENT an article; learn the established form (الْجَزَائِرُ, الْأُرْدُنُّ · مَرْيَمُ, يُوسُفُ).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mini-check “meaning and structure”, questions 1, 2, 3 and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Say aloud at each step: “Is it new or known? Sun or moon? Am I connecting it?” Point out السَّبْتِ (sun letter) and الْمَدْرَسَةِ (moon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Say each word aloud first. Students type “S” or “M” for each card in order (S M S M …), then check. Ask: “How does the vowelling help?” (shadda = sun · sukūn = moon).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Say each word aloud first. Students type “S” or “M” for each card in order (S M S M …), then check. Ask: “How does the vowelling help?” (shadda = sun · sukūn = moon).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mini-check “connect but do not respell”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reading workshop. Read it aloud once while students follow; then they hunt for today’s grammar.
Task: Underline every noun that appears first WITHOUT الـ, then circle where it comes back WITH الـ (website: “a noun may first appear indefinitely because it is new, then return with الـ because it is now known”).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Website reading check (5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speaking studio. Sequence: ● 10s think → ↔ 45s rehearse aloud with mic muted → ◎ two named students on open mic (warned in advance) → + ? the class types one follow-up in chat → ↺ one student summarises.
Routes: Core uses the Core prompt and stem; Develop the Develop prompt; Stretch the last prompt.
Website checklist for speaking: one sun-letter noun · one moon-letter noun · connect a preposition naturally · answer أَيْنَ الْمَكَانُ؟ To a girl: حَيِّكِ · صِفِيهِ · صِفِي.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Writing workshop — My local area: write 7–10 connected sentences; introduce at least three places indefinitely, then refer back to them definitely; include one definite noun–adjective phrase and one complete nominal sentence.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task, with an English translation for Core students.
Students find in the model (● 20s → ◎) the items on the chips. Answers: مَسْجِدٌ / سُوقٌ / مَكْتَبَةٌ → الْمَسْجِدُ / السُّوقُ / الْمَكْتَبَةُ · الْمَكْتَبَةُ الْجَدِيدَةُ · السُّوقُ, الشَّارِعِ, السَّبْتِ (sun).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10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MASTERY CHECK (FLEX) — the rest of the website final check, for fast finishers or homework. Website guidance: below 70% repeat the mini-check; 70–89% replay the game; 90%+ move on and revisit in 3–7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(GM-ART-02 · Definiteness and Adjective Agreement) will spend class time USING this language, so students prepare it tonight — short, simple, easy to access (school guidance: “Simple, Short, Interesting, Relevant, Easy to access”). The five words are the grammar terms of GM-ART-02 (website Articles lesson 2).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ARTICLES  ·  GM-ART-01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GM-ART-01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The Definite Article</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أَدَاةُ التَّعْرِيفِ «الـ»</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Decide whether a noun is definite or indefinite (</a:t>
            </a:r>
            <a:pPr algn="l" indent="0" marL="0">
              <a:buNone/>
            </a:pPr>
            <a:r>
              <a:rPr lang="ar-SA" altLang="en-US" sz="1800" dirty="0">
                <a:solidFill>
                  <a:srgbClr val="C6D2E6"/>
                </a:solidFill>
                <a:latin typeface="Amiri" pitchFamily="2" charset="-78"/>
                <a:cs typeface="Amiri" pitchFamily="2" charset="-78"/>
              </a:rPr>
              <a:t>كِتَابٌ</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cs typeface="Amiri" pitchFamily="2" charset="-78"/>
              </a:rPr>
              <a:t>الْكِتَابُ</a:t>
            </a:r>
            <a:pPr algn="l" indent="0" marL="0">
              <a:buNone/>
            </a:pPr>
            <a:r>
              <a:rPr lang="en-US" sz="1400" dirty="0">
                <a:solidFill>
                  <a:srgbClr val="C6D2E6"/>
                </a:solidFill>
                <a:latin typeface="Calibri" pitchFamily="34" charset="0"/>
                <a:cs typeface="Amiri" pitchFamily="2" charset="-78"/>
              </a:rPr>
              <a:t>), pronounce </a:t>
            </a:r>
            <a:pPr algn="l" indent="0" marL="0">
              <a:buNone/>
            </a:pPr>
            <a:r>
              <a:rPr lang="ar-SA" altLang="en-US" sz="1800" dirty="0">
                <a:solidFill>
                  <a:srgbClr val="C6D2E6"/>
                </a:solidFill>
                <a:latin typeface="Amiri" pitchFamily="2" charset="-78"/>
                <a:cs typeface="Amiri" pitchFamily="2" charset="-78"/>
              </a:rPr>
              <a:t>الـ</a:t>
            </a:r>
            <a:pPr algn="l" indent="0" marL="0">
              <a:buNone/>
            </a:pPr>
            <a:r>
              <a:rPr lang="en-US" sz="1400" dirty="0">
                <a:solidFill>
                  <a:srgbClr val="C6D2E6"/>
                </a:solidFill>
                <a:latin typeface="Calibri" pitchFamily="34" charset="0"/>
                <a:cs typeface="Amiri" pitchFamily="2" charset="-78"/>
              </a:rPr>
              <a:t> correctly with sun and moon letters (</a:t>
            </a:r>
            <a:pPr algn="l" indent="0" marL="0">
              <a:buNone/>
            </a:pPr>
            <a:r>
              <a:rPr lang="ar-SA" altLang="en-US" sz="1800" dirty="0">
                <a:solidFill>
                  <a:srgbClr val="C6D2E6"/>
                </a:solidFill>
                <a:latin typeface="Amiri" pitchFamily="2" charset="-78"/>
                <a:cs typeface="Amiri" pitchFamily="2" charset="-78"/>
              </a:rPr>
              <a:t>الشَّمْسُ</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cs typeface="Amiri" pitchFamily="2" charset="-78"/>
              </a:rPr>
              <a:t>الْقَمَرُ</a:t>
            </a:r>
            <a:pPr algn="l" indent="0" marL="0">
              <a:buNone/>
            </a:pPr>
            <a:r>
              <a:rPr lang="en-US" sz="1400" dirty="0">
                <a:solidFill>
                  <a:srgbClr val="C6D2E6"/>
                </a:solidFill>
                <a:latin typeface="Calibri" pitchFamily="34" charset="0"/>
                <a:cs typeface="Amiri" pitchFamily="2" charset="-78"/>
              </a:rPr>
              <a:t>), connect it in speech (</a:t>
            </a:r>
            <a:pPr algn="l" indent="0" marL="0">
              <a:buNone/>
            </a:pPr>
            <a:r>
              <a:rPr lang="ar-SA" altLang="en-US" sz="1800" dirty="0">
                <a:solidFill>
                  <a:srgbClr val="C6D2E6"/>
                </a:solidFill>
                <a:latin typeface="Amiri" pitchFamily="2" charset="-78"/>
                <a:cs typeface="Amiri" pitchFamily="2" charset="-78"/>
              </a:rPr>
              <a:t>فِي الْبَيْتِ</a:t>
            </a:r>
            <a:pPr algn="l" indent="0" marL="0">
              <a:buNone/>
            </a:pPr>
            <a:r>
              <a:rPr lang="en-US" sz="1400" dirty="0">
                <a:solidFill>
                  <a:srgbClr val="C6D2E6"/>
                </a:solidFill>
                <a:latin typeface="Calibri" pitchFamily="34" charset="0"/>
                <a:cs typeface="Amiri" pitchFamily="2" charset="-78"/>
              </a:rPr>
              <a:t>) — and always spell it in full.</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GM-ART-01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Articles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GM-ART-01 · Articles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GM-ART-01 · Articles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A or the? Sun and moon letters. Connected speech. Where </a:t>
            </a:r>
            <a:pPr algn="ctr" indent="0" marL="0">
              <a:buNone/>
            </a:pPr>
            <a:r>
              <a:rPr lang="ar-SA" altLang="en-US" sz="1550" dirty="0">
                <a:solidFill>
                  <a:srgbClr val="1F2A37"/>
                </a:solidFill>
                <a:latin typeface="Amiri" pitchFamily="2" charset="-78"/>
                <a:cs typeface="Amiri" pitchFamily="2" charset="-78"/>
              </a:rPr>
              <a:t>الـ</a:t>
            </a:r>
            <a:pPr algn="ctr" indent="0" marL="0">
              <a:buNone/>
            </a:pPr>
            <a:r>
              <a:rPr lang="en-US" sz="1200" dirty="0">
                <a:solidFill>
                  <a:srgbClr val="1F2A37"/>
                </a:solidFill>
                <a:latin typeface="Calibri" pitchFamily="34" charset="0"/>
                <a:cs typeface="Amiri" pitchFamily="2" charset="-78"/>
              </a:rPr>
              <a:t> belongs.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sun and moon letters, repair spelling slips, practise connected speech.</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GM-ART-02.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GM-ART-01 · Articles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“the book”?</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كِتَابٌ</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الْكِتَابُ</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كِتَابُ</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Arabic normally expresses “a/an” by: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using no separate article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adding </a:t>
            </a:r>
            <a:pPr algn="l" indent="0" marL="0">
              <a:buNone/>
            </a:pPr>
            <a:r>
              <a:rPr lang="ar-SA" altLang="en-US" sz="1650" dirty="0">
                <a:solidFill>
                  <a:srgbClr val="1F2A37"/>
                </a:solidFill>
                <a:latin typeface="Amiri" pitchFamily="2" charset="-78"/>
                <a:cs typeface="Amiri" pitchFamily="2" charset="-78"/>
              </a:rPr>
              <a:t>الـ</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adding </a:t>
            </a:r>
            <a:pPr algn="l" indent="0" marL="0">
              <a:buNone/>
            </a:pPr>
            <a:r>
              <a:rPr lang="ar-SA" altLang="en-US" sz="1650" dirty="0">
                <a:solidFill>
                  <a:srgbClr val="1F2A37"/>
                </a:solidFill>
                <a:latin typeface="Amiri" pitchFamily="2" charset="-78"/>
                <a:cs typeface="Amiri" pitchFamily="2" charset="-78"/>
              </a:rPr>
              <a:t>بِـ</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begins with a sun letter?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الْقَلَمُ</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الْبَيْتُ</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الشَّمْسُ</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should “in the house” be written?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فِلْبَيْتِ</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لْبَيْتِ</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الْبَيْتِ</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“the new school” as one noun phrase?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الْمَدْرَسَةُ الْجَدِيدَةُ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الْمَدْرَسَةُ جَدِيدَةٌ</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مَدْرَسَةٌ الْجَدِيدَةُ</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GM-ART-01 · Articles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“the book”?</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كِتَابٌ</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الْكِتَابُ</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كِتَابُ</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الْكِتَابُ</a:t>
            </a:r>
            <a:pPr algn="l" indent="0" marL="0">
              <a:buNone/>
            </a:pPr>
            <a:r>
              <a:rPr lang="en-US" sz="1050" i="1" dirty="0">
                <a:solidFill>
                  <a:srgbClr val="8A6D1E"/>
                </a:solidFill>
                <a:latin typeface="Calibri" pitchFamily="34" charset="0"/>
                <a:cs typeface="Amiri" pitchFamily="2" charset="-78"/>
              </a:rPr>
              <a:t> is definite because it begins with </a:t>
            </a:r>
            <a:pPr algn="l" indent="0" marL="0">
              <a:buNone/>
            </a:pPr>
            <a:r>
              <a:rPr lang="ar-SA" altLang="en-US" sz="1350" dirty="0">
                <a:solidFill>
                  <a:srgbClr val="8A6D1E"/>
                </a:solidFill>
                <a:latin typeface="Amiri" pitchFamily="2" charset="-78"/>
                <a:cs typeface="Amiri" pitchFamily="2" charset="-78"/>
              </a:rPr>
              <a:t>الـ</a:t>
            </a:r>
            <a:pPr algn="l" indent="0" marL="0">
              <a:buNone/>
            </a:pPr>
            <a:r>
              <a:rPr lang="en-US" sz="1050" i="1" dirty="0">
                <a:solidFill>
                  <a:srgbClr val="8A6D1E"/>
                </a:solidFill>
                <a:latin typeface="Calibri" pitchFamily="34" charset="0"/>
                <a:cs typeface="Amiri" pitchFamily="2" charset="-78"/>
              </a:rPr>
              <a:t> .</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Arabic normally expresses “a/an” by:</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using no separate article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adding </a:t>
            </a:r>
            <a:pPr algn="l" indent="0" marL="0">
              <a:buNone/>
            </a:pPr>
            <a:r>
              <a:rPr lang="ar-SA" altLang="en-US" sz="1650" dirty="0">
                <a:solidFill>
                  <a:srgbClr val="9AA1AB"/>
                </a:solidFill>
                <a:latin typeface="Amiri" pitchFamily="2" charset="-78"/>
                <a:cs typeface="Amiri" pitchFamily="2" charset="-78"/>
              </a:rPr>
              <a:t>الـ</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adding </a:t>
            </a:r>
            <a:pPr algn="l" indent="0" marL="0">
              <a:buNone/>
            </a:pPr>
            <a:r>
              <a:rPr lang="ar-SA" altLang="en-US" sz="1650" dirty="0">
                <a:solidFill>
                  <a:srgbClr val="9AA1AB"/>
                </a:solidFill>
                <a:latin typeface="Amiri" pitchFamily="2" charset="-78"/>
                <a:cs typeface="Amiri" pitchFamily="2" charset="-78"/>
              </a:rPr>
              <a:t>بِـ</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900" i="1" dirty="0">
                <a:solidFill>
                  <a:srgbClr val="8A6D1E"/>
                </a:solidFill>
                <a:latin typeface="Calibri" pitchFamily="34" charset="0"/>
                <a:cs typeface="Amiri" pitchFamily="2" charset="-78"/>
              </a:rPr>
              <a:t>Arabic has no separate equivalent of English “a/an”. In a fully supported model, tanwīn may also signal indefiniteness.</a:t>
            </a:r>
            <a:endParaRPr lang="en-US" sz="90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begins with a sun letter?</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الْقَلَمُ</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الْبَيْتُ</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الشَّمْسُ</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ش</a:t>
            </a:r>
            <a:pPr algn="l" indent="0" marL="0">
              <a:buNone/>
            </a:pPr>
            <a:r>
              <a:rPr lang="en-US" sz="1050" i="1" dirty="0">
                <a:solidFill>
                  <a:srgbClr val="8A6D1E"/>
                </a:solidFill>
                <a:latin typeface="Calibri" pitchFamily="34" charset="0"/>
                <a:cs typeface="Amiri" pitchFamily="2" charset="-78"/>
              </a:rPr>
              <a:t> is a sun letter. The lām sound assimilates and </a:t>
            </a:r>
            <a:pPr algn="l" indent="0" marL="0">
              <a:buNone/>
            </a:pPr>
            <a:r>
              <a:rPr lang="ar-SA" altLang="en-US" sz="1350" dirty="0">
                <a:solidFill>
                  <a:srgbClr val="8A6D1E"/>
                </a:solidFill>
                <a:latin typeface="Amiri" pitchFamily="2" charset="-78"/>
                <a:cs typeface="Amiri" pitchFamily="2" charset="-78"/>
              </a:rPr>
              <a:t>ش</a:t>
            </a:r>
            <a:pPr algn="l" indent="0" marL="0">
              <a:buNone/>
            </a:pPr>
            <a:r>
              <a:rPr lang="en-US" sz="1050" i="1" dirty="0">
                <a:solidFill>
                  <a:srgbClr val="8A6D1E"/>
                </a:solidFill>
                <a:latin typeface="Calibri" pitchFamily="34" charset="0"/>
                <a:cs typeface="Amiri" pitchFamily="2" charset="-78"/>
              </a:rPr>
              <a:t> is pronounced with shadda.</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should “in the house” be written?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فِلْبَيْتِ</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لْبَيْتِ</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فِي الْبَيْتِ</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Write every word fully. Connected pronunciation never licenses phonetic spelling in formal writing.</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“the new school” as one noun phrase?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الْمَدْرَسَةُ الْجَدِيدَةُ</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الْمَدْرَسَةُ جَدِيدَةٌ</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مَدْرَسَةٌ الْجَدِيدَةُ</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An attributive adjective matches its noun in definiteness: both words take </a:t>
            </a:r>
            <a:pPr algn="l" indent="0" marL="0">
              <a:buNone/>
            </a:pPr>
            <a:r>
              <a:rPr lang="ar-SA" altLang="en-US" sz="1350" dirty="0">
                <a:solidFill>
                  <a:srgbClr val="8A6D1E"/>
                </a:solidFill>
                <a:latin typeface="Amiri" pitchFamily="2" charset="-78"/>
                <a:cs typeface="Amiri" pitchFamily="2" charset="-78"/>
              </a:rPr>
              <a:t>الـ</a:t>
            </a:r>
            <a:pPr algn="l" indent="0" marL="0">
              <a:buNone/>
            </a:pPr>
            <a:r>
              <a:rPr lang="en-US" sz="1050" i="1" dirty="0">
                <a:solidFill>
                  <a:srgbClr val="8A6D1E"/>
                </a:solidFill>
                <a:latin typeface="Calibri" pitchFamily="34" charset="0"/>
                <a:cs typeface="Amiri" pitchFamily="2" charset="-78"/>
              </a:rPr>
              <a:t> .</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Ask one question: am I naming ANY one (indefinite) or a PARTICULAR, known one (definite)?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algn="ctr" indent="0" marL="0">
              <a:buNone/>
            </a:pPr>
            <a:r>
              <a:rPr lang="ar-SA" altLang="en-US" sz="3100" b="1" dirty="0">
                <a:solidFill>
                  <a:srgbClr val="1B3B6F"/>
                </a:solidFill>
                <a:latin typeface="Amiri" pitchFamily="2" charset="-78"/>
                <a:cs typeface="Amiri" pitchFamily="2" charset="-78"/>
              </a:rPr>
              <a:t>بَيْتٌ</a:t>
            </a:r>
            <a:pPr algn="ctr" indent="0" marL="0">
              <a:buNone/>
            </a:pPr>
            <a:r>
              <a:rPr lang="en-US" sz="2400" b="1" dirty="0">
                <a:solidFill>
                  <a:srgbClr val="1B3B6F"/>
                </a:solidFill>
                <a:latin typeface="Calibri" pitchFamily="34" charset="0"/>
                <a:cs typeface="Amiri" pitchFamily="2" charset="-78"/>
              </a:rPr>
              <a:t> = a house  ‖  </a:t>
            </a:r>
            <a:pPr algn="ctr" indent="0" marL="0">
              <a:buNone/>
            </a:pPr>
            <a:r>
              <a:rPr lang="ar-SA" altLang="en-US" sz="3100" b="1" dirty="0">
                <a:solidFill>
                  <a:srgbClr val="1B3B6F"/>
                </a:solidFill>
                <a:latin typeface="Amiri" pitchFamily="2" charset="-78"/>
                <a:cs typeface="Amiri" pitchFamily="2" charset="-78"/>
              </a:rPr>
              <a:t>الْبَيْتُ</a:t>
            </a:r>
            <a:pPr algn="ctr" indent="0" marL="0">
              <a:buNone/>
            </a:pPr>
            <a:r>
              <a:rPr lang="en-US" sz="2400" b="1" dirty="0">
                <a:solidFill>
                  <a:srgbClr val="1B3B6F"/>
                </a:solidFill>
                <a:latin typeface="Calibri" pitchFamily="34" charset="0"/>
                <a:cs typeface="Amiri" pitchFamily="2" charset="-78"/>
              </a:rPr>
              <a:t> = the house</a:t>
            </a:r>
            <a:endParaRPr lang="en-US"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GM-ART-01 · Articles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Distinguish a definite noun from an indefinite one.</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Pronounce </a:t>
            </a:r>
            <a:pPr algn="l" indent="0" marL="0">
              <a:buNone/>
            </a:pPr>
            <a:r>
              <a:rPr lang="ar-SA" altLang="en-US" sz="1700" dirty="0">
                <a:solidFill>
                  <a:srgbClr val="1F2A37"/>
                </a:solidFill>
                <a:latin typeface="Amiri" pitchFamily="2" charset="-78"/>
                <a:cs typeface="Amiri" pitchFamily="2" charset="-78"/>
              </a:rPr>
              <a:t>الـ</a:t>
            </a:r>
            <a:pPr algn="l" indent="0" marL="0">
              <a:buNone/>
            </a:pPr>
            <a:r>
              <a:rPr lang="en-US" sz="1300" dirty="0">
                <a:solidFill>
                  <a:srgbClr val="1F2A37"/>
                </a:solidFill>
                <a:latin typeface="Calibri" pitchFamily="34" charset="0"/>
                <a:cs typeface="Amiri" pitchFamily="2" charset="-78"/>
              </a:rPr>
              <a:t> correctly with sun and moon letters.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Explain why the spelling of </a:t>
            </a:r>
            <a:pPr algn="l" indent="0" marL="0">
              <a:buNone/>
            </a:pPr>
            <a:r>
              <a:rPr lang="ar-SA" altLang="en-US" sz="1700" dirty="0">
                <a:solidFill>
                  <a:srgbClr val="1F2A37"/>
                </a:solidFill>
                <a:latin typeface="Amiri" pitchFamily="2" charset="-78"/>
                <a:cs typeface="Amiri" pitchFamily="2" charset="-78"/>
              </a:rPr>
              <a:t>الـ</a:t>
            </a:r>
            <a:pPr algn="l" indent="0" marL="0">
              <a:buNone/>
            </a:pPr>
            <a:r>
              <a:rPr lang="en-US" sz="1300" dirty="0">
                <a:solidFill>
                  <a:srgbClr val="1F2A37"/>
                </a:solidFill>
                <a:latin typeface="Calibri" pitchFamily="34" charset="0"/>
                <a:cs typeface="Amiri" pitchFamily="2" charset="-78"/>
              </a:rPr>
              <a:t> never changes in connected speech.</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Know where </a:t>
            </a:r>
            <a:pPr algn="l" indent="0" marL="0">
              <a:buNone/>
            </a:pPr>
            <a:r>
              <a:rPr lang="ar-SA" altLang="en-US" sz="1700" dirty="0">
                <a:solidFill>
                  <a:srgbClr val="1F2A37"/>
                </a:solidFill>
                <a:latin typeface="Amiri" pitchFamily="2" charset="-78"/>
                <a:cs typeface="Amiri" pitchFamily="2" charset="-78"/>
              </a:rPr>
              <a:t>الـ</a:t>
            </a:r>
            <a:pPr algn="l" indent="0" marL="0">
              <a:buNone/>
            </a:pPr>
            <a:r>
              <a:rPr lang="en-US" sz="1300" dirty="0">
                <a:solidFill>
                  <a:srgbClr val="1F2A37"/>
                </a:solidFill>
                <a:latin typeface="Calibri" pitchFamily="34" charset="0"/>
                <a:cs typeface="Amiri" pitchFamily="2" charset="-78"/>
              </a:rPr>
              <a:t> belongs — and where it must not be added.</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tell </a:t>
            </a:r>
            <a:pPr algn="l" indent="0" marL="0">
              <a:buNone/>
            </a:pPr>
            <a:r>
              <a:rPr lang="ar-SA" altLang="en-US" sz="1700" b="1" dirty="0">
                <a:solidFill>
                  <a:srgbClr val="2E8B57"/>
                </a:solidFill>
                <a:latin typeface="Amiri" pitchFamily="2" charset="-78"/>
                <a:cs typeface="Amiri" pitchFamily="2" charset="-78"/>
              </a:rPr>
              <a:t>كِتَابٌ</a:t>
            </a:r>
            <a:pPr algn="l" indent="0" marL="0">
              <a:buNone/>
            </a:pPr>
            <a:r>
              <a:rPr lang="en-US" sz="1300" b="1" dirty="0">
                <a:solidFill>
                  <a:srgbClr val="2E8B57"/>
                </a:solidFill>
                <a:latin typeface="Calibri" pitchFamily="34" charset="0"/>
                <a:cs typeface="Amiri" pitchFamily="2" charset="-78"/>
              </a:rPr>
              <a:t> (a book) from </a:t>
            </a:r>
            <a:pPr algn="l" indent="0" marL="0">
              <a:buNone/>
            </a:pPr>
            <a:r>
              <a:rPr lang="ar-SA" altLang="en-US" sz="1700" b="1" dirty="0">
                <a:solidFill>
                  <a:srgbClr val="2E8B57"/>
                </a:solidFill>
                <a:latin typeface="Amiri" pitchFamily="2" charset="-78"/>
                <a:cs typeface="Amiri" pitchFamily="2" charset="-78"/>
              </a:rPr>
              <a:t>الْكِتَابُ</a:t>
            </a:r>
            <a:pPr algn="l" indent="0" marL="0">
              <a:buNone/>
            </a:pPr>
            <a:r>
              <a:rPr lang="en-US" sz="1300" b="1" dirty="0">
                <a:solidFill>
                  <a:srgbClr val="2E8B57"/>
                </a:solidFill>
                <a:latin typeface="Calibri" pitchFamily="34" charset="0"/>
                <a:cs typeface="Amiri" pitchFamily="2" charset="-78"/>
              </a:rPr>
              <a:t> (the book).</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sort nouns into sun and moon letters.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make a noun and its adjective match in definiteness.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tell a phrase from a sentence.</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explain hamzat al-waṣl in connected speech.</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say where </a:t>
            </a:r>
            <a:pPr algn="l" indent="0" marL="0">
              <a:buNone/>
            </a:pPr>
            <a:r>
              <a:rPr lang="ar-SA" altLang="en-US" sz="1700" b="1" dirty="0">
                <a:solidFill>
                  <a:srgbClr val="B83227"/>
                </a:solidFill>
                <a:latin typeface="Amiri" pitchFamily="2" charset="-78"/>
                <a:cs typeface="Amiri" pitchFamily="2" charset="-78"/>
              </a:rPr>
              <a:t>الـ</a:t>
            </a:r>
            <a:pPr algn="l" indent="0" marL="0">
              <a:buNone/>
            </a:pPr>
            <a:r>
              <a:rPr lang="en-US" sz="1300" b="1" dirty="0">
                <a:solidFill>
                  <a:srgbClr val="B83227"/>
                </a:solidFill>
                <a:latin typeface="Calibri" pitchFamily="34" charset="0"/>
                <a:cs typeface="Amiri" pitchFamily="2" charset="-78"/>
              </a:rPr>
              <a:t> does not belong (</a:t>
            </a:r>
            <a:pPr algn="l" indent="0" marL="0">
              <a:buNone/>
            </a:pPr>
            <a:r>
              <a:rPr lang="ar-SA" altLang="en-US" sz="1700" b="1" dirty="0">
                <a:solidFill>
                  <a:srgbClr val="B83227"/>
                </a:solidFill>
                <a:latin typeface="Amiri" pitchFamily="2" charset="-78"/>
                <a:cs typeface="Amiri" pitchFamily="2" charset="-78"/>
              </a:rPr>
              <a:t>كِتَابِي</a:t>
            </a:r>
            <a:pPr algn="l" indent="0" marL="0">
              <a:buNone/>
            </a:pPr>
            <a:r>
              <a:rPr lang="en-US" sz="1300" b="1" dirty="0">
                <a:solidFill>
                  <a:srgbClr val="B83227"/>
                </a:solidFill>
                <a:latin typeface="Calibri" pitchFamily="34" charset="0"/>
                <a:cs typeface="Amiri" pitchFamily="2" charset="-78"/>
              </a:rPr>
              <a:t> · names · iḍāfa).</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GM-ART-01 · Articles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 (1 OF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نَكِرَةٌ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indefinite noun (a / an)</a:t>
            </a:r>
            <a:endParaRPr lang="en-US" sz="1350" dirty="0"/>
          </a:p>
          <a:p>
            <a:pPr indent="0" marL="0">
              <a:buNone/>
            </a:pPr>
            <a:r>
              <a:rPr lang="en-US" sz="1100" i="1" dirty="0">
                <a:solidFill>
                  <a:srgbClr val="5A6472"/>
                </a:solidFill>
                <a:latin typeface="Calibri" pitchFamily="34" charset="0"/>
                <a:cs typeface="Amiri" pitchFamily="2" charset="-78"/>
              </a:rPr>
              <a:t>na-ki-ra-tun</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e.g. </a:t>
            </a:r>
            <a:pPr algn="l" indent="0" marL="0">
              <a:buNone/>
            </a:pPr>
            <a:r>
              <a:rPr lang="ar-SA" altLang="en-US" sz="1300" dirty="0">
                <a:solidFill>
                  <a:srgbClr val="8A6D1E"/>
                </a:solidFill>
                <a:latin typeface="Amiri" pitchFamily="2" charset="-78"/>
                <a:cs typeface="Amiri" pitchFamily="2" charset="-78"/>
              </a:rPr>
              <a:t>كِتَابٌ</a:t>
            </a:r>
            <a:pPr algn="l" indent="0" marL="0">
              <a:buNone/>
            </a:pPr>
            <a:r>
              <a:rPr lang="en-US" sz="1000" i="1" dirty="0">
                <a:solidFill>
                  <a:srgbClr val="8A6D1E"/>
                </a:solidFill>
                <a:latin typeface="Calibri" pitchFamily="34" charset="0"/>
                <a:cs typeface="Amiri" pitchFamily="2" charset="-78"/>
              </a:rPr>
              <a:t> — a book</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مَعْرِفَةٌ</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definite noun (the)</a:t>
            </a:r>
            <a:endParaRPr lang="en-US" sz="1350" dirty="0"/>
          </a:p>
          <a:p>
            <a:pPr indent="0" marL="0">
              <a:buNone/>
            </a:pPr>
            <a:r>
              <a:rPr lang="en-US" sz="1100" i="1" dirty="0">
                <a:solidFill>
                  <a:srgbClr val="5A6472"/>
                </a:solidFill>
                <a:latin typeface="Calibri" pitchFamily="34" charset="0"/>
                <a:cs typeface="Amiri" pitchFamily="2" charset="-78"/>
              </a:rPr>
              <a:t>maʿ-ri-fa-tun</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e.g. </a:t>
            </a:r>
            <a:pPr algn="l" indent="0" marL="0">
              <a:buNone/>
            </a:pPr>
            <a:r>
              <a:rPr lang="ar-SA" altLang="en-US" sz="1300" dirty="0">
                <a:solidFill>
                  <a:srgbClr val="8A6D1E"/>
                </a:solidFill>
                <a:latin typeface="Amiri" pitchFamily="2" charset="-78"/>
                <a:cs typeface="Amiri" pitchFamily="2" charset="-78"/>
              </a:rPr>
              <a:t>الْكِتَابُ</a:t>
            </a:r>
            <a:pPr algn="l" indent="0" marL="0">
              <a:buNone/>
            </a:pPr>
            <a:r>
              <a:rPr lang="en-US" sz="1000" i="1" dirty="0">
                <a:solidFill>
                  <a:srgbClr val="8A6D1E"/>
                </a:solidFill>
                <a:latin typeface="Calibri" pitchFamily="34" charset="0"/>
                <a:cs typeface="Amiri" pitchFamily="2" charset="-78"/>
              </a:rPr>
              <a:t> — the book</a:t>
            </a:r>
            <a:endParaRPr lang="en-US" sz="10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أَدَاةُ التَّعْرِيفِ</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definite article (al-)</a:t>
            </a:r>
            <a:endParaRPr lang="en-US" sz="1350" dirty="0"/>
          </a:p>
          <a:p>
            <a:pPr indent="0" marL="0">
              <a:buNone/>
            </a:pPr>
            <a:r>
              <a:rPr lang="en-US" sz="1100" i="1" dirty="0">
                <a:solidFill>
                  <a:srgbClr val="5A6472"/>
                </a:solidFill>
                <a:latin typeface="Calibri" pitchFamily="34" charset="0"/>
                <a:cs typeface="Amiri" pitchFamily="2" charset="-78"/>
              </a:rPr>
              <a:t>a-dā-tu at-taʿ-rī-fi</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joined to the noun: </a:t>
            </a:r>
            <a:pPr algn="l" indent="0" marL="0">
              <a:buNone/>
            </a:pPr>
            <a:r>
              <a:rPr lang="ar-SA" altLang="en-US" sz="1300" dirty="0">
                <a:solidFill>
                  <a:srgbClr val="8A6D1E"/>
                </a:solidFill>
                <a:latin typeface="Amiri" pitchFamily="2" charset="-78"/>
                <a:cs typeface="Amiri" pitchFamily="2" charset="-78"/>
              </a:rPr>
              <a:t>الـ</a:t>
            </a:r>
            <a:endParaRPr lang="en-US" sz="10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الْحُرُوفُ الشَّمْسِيَّةُ</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sun letters</a:t>
            </a:r>
            <a:endParaRPr lang="en-US" sz="1350" dirty="0"/>
          </a:p>
          <a:p>
            <a:pPr indent="0" marL="0">
              <a:buNone/>
            </a:pPr>
            <a:r>
              <a:rPr lang="en-US" sz="1100" i="1" dirty="0">
                <a:solidFill>
                  <a:srgbClr val="5A6472"/>
                </a:solidFill>
                <a:latin typeface="Calibri" pitchFamily="34" charset="0"/>
                <a:cs typeface="Amiri" pitchFamily="2" charset="-78"/>
              </a:rPr>
              <a:t>al-ḥu-rū-fu ash-sham-siy-ya-tu</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lām silent: </a:t>
            </a:r>
            <a:pPr algn="l" indent="0" marL="0">
              <a:buNone/>
            </a:pPr>
            <a:r>
              <a:rPr lang="ar-SA" altLang="en-US" sz="1300" dirty="0">
                <a:solidFill>
                  <a:srgbClr val="8A6D1E"/>
                </a:solidFill>
                <a:latin typeface="Amiri" pitchFamily="2" charset="-78"/>
                <a:cs typeface="Amiri" pitchFamily="2" charset="-78"/>
              </a:rPr>
              <a:t>الشَّمْسُ</a:t>
            </a:r>
            <a:endParaRPr lang="en-US" sz="10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الْحُرُوفُ الْقَمَرِيَّةُ</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moon letters</a:t>
            </a:r>
            <a:endParaRPr lang="en-US" sz="1350" dirty="0"/>
          </a:p>
          <a:p>
            <a:pPr indent="0" marL="0">
              <a:buNone/>
            </a:pPr>
            <a:r>
              <a:rPr lang="en-US" sz="1100" i="1" dirty="0">
                <a:solidFill>
                  <a:srgbClr val="5A6472"/>
                </a:solidFill>
                <a:latin typeface="Calibri" pitchFamily="34" charset="0"/>
                <a:cs typeface="Amiri" pitchFamily="2" charset="-78"/>
              </a:rPr>
              <a:t>al-ḥu-rū-fu al-qa-ma-riy-ya-tu</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lām heard: </a:t>
            </a:r>
            <a:pPr algn="l" indent="0" marL="0">
              <a:buNone/>
            </a:pPr>
            <a:r>
              <a:rPr lang="ar-SA" altLang="en-US" sz="1300" dirty="0">
                <a:solidFill>
                  <a:srgbClr val="8A6D1E"/>
                </a:solidFill>
                <a:latin typeface="Amiri" pitchFamily="2" charset="-78"/>
                <a:cs typeface="Amiri" pitchFamily="2" charset="-78"/>
              </a:rPr>
              <a:t>الْقَمَرُ</a:t>
            </a:r>
            <a:endParaRPr lang="en-US" sz="10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هَمْزَةُ الْوَصْلِ</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connecting hamza</a:t>
            </a:r>
            <a:endParaRPr lang="en-US" sz="1350" dirty="0"/>
          </a:p>
          <a:p>
            <a:pPr indent="0" marL="0">
              <a:buNone/>
            </a:pPr>
            <a:r>
              <a:rPr lang="en-US" sz="1100" i="1" dirty="0">
                <a:solidFill>
                  <a:srgbClr val="5A6472"/>
                </a:solidFill>
                <a:latin typeface="Calibri" pitchFamily="34" charset="0"/>
                <a:cs typeface="Amiri" pitchFamily="2" charset="-78"/>
              </a:rPr>
              <a:t>ham-za-tu al-waṣ-li</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its vowel is heard only after a pause</a:t>
            </a:r>
            <a:endParaRPr lang="en-US" sz="10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GM-ART-01 · Articles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 (2 OF 2)</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مُصْطَلَحَاتُ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تَنْوِينٌ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nunation (-un · -an · -in)</a:t>
            </a:r>
            <a:endParaRPr lang="en-US" sz="1350" dirty="0"/>
          </a:p>
          <a:p>
            <a:pPr indent="0" marL="0">
              <a:buNone/>
            </a:pPr>
            <a:r>
              <a:rPr lang="en-US" sz="1100" i="1" dirty="0">
                <a:solidFill>
                  <a:srgbClr val="5A6472"/>
                </a:solidFill>
                <a:latin typeface="Calibri" pitchFamily="34" charset="0"/>
                <a:cs typeface="Amiri" pitchFamily="2" charset="-78"/>
              </a:rPr>
              <a:t>tan-wī-nun</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only on indefinite nouns: </a:t>
            </a:r>
            <a:pPr algn="l" indent="0" marL="0">
              <a:buNone/>
            </a:pPr>
            <a:r>
              <a:rPr lang="ar-SA" altLang="en-US" sz="1300" dirty="0">
                <a:solidFill>
                  <a:srgbClr val="8A6D1E"/>
                </a:solidFill>
                <a:latin typeface="Amiri" pitchFamily="2" charset="-78"/>
                <a:cs typeface="Amiri" pitchFamily="2" charset="-78"/>
              </a:rPr>
              <a:t>كِتَابٌ</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6" name="Text 23"/>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شَدَّةٌ</a:t>
            </a:r>
            <a:endParaRPr lang="ar-SA" sz="3000" dirty="0"/>
          </a:p>
        </p:txBody>
      </p:sp>
      <p:sp>
        <p:nvSpPr>
          <p:cNvPr id="27" name="Text 24"/>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shadda (doubling mark)</a:t>
            </a:r>
            <a:endParaRPr lang="en-US" sz="1350" dirty="0"/>
          </a:p>
          <a:p>
            <a:pPr indent="0" marL="0">
              <a:buNone/>
            </a:pPr>
            <a:r>
              <a:rPr lang="en-US" sz="1100" i="1" dirty="0">
                <a:solidFill>
                  <a:srgbClr val="5A6472"/>
                </a:solidFill>
                <a:latin typeface="Calibri" pitchFamily="34" charset="0"/>
                <a:cs typeface="Amiri" pitchFamily="2" charset="-78"/>
              </a:rPr>
              <a:t>shad-da-tun</a:t>
            </a:r>
            <a:endParaRPr lang="en-US" sz="1350" dirty="0"/>
          </a:p>
        </p:txBody>
      </p:sp>
      <p:sp>
        <p:nvSpPr>
          <p:cNvPr id="28" name="Text 25"/>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doubles the sun letter: </a:t>
            </a:r>
            <a:pPr algn="l" indent="0" marL="0">
              <a:buNone/>
            </a:pPr>
            <a:r>
              <a:rPr lang="ar-SA" altLang="en-US" sz="1300" dirty="0">
                <a:solidFill>
                  <a:srgbClr val="8A6D1E"/>
                </a:solidFill>
                <a:latin typeface="Amiri" pitchFamily="2" charset="-78"/>
                <a:cs typeface="Amiri" pitchFamily="2" charset="-78"/>
              </a:rPr>
              <a:t>الشَّمْسُ</a:t>
            </a:r>
            <a:endParaRPr lang="en-US" sz="100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GM-ART-01 · Articles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1 · DEFINITE OR INDEFINITE? (WEBSITE SECTION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book — or THE book?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مَعْرِفَةٌ أَمْ نَكِرَةٌ؟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GM-ART-01</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THE RULE, STEP BY STEP</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Start with MEANING: are you naming any one of something (indefinite) or a particular, known one (definite)?</a:t>
            </a:r>
            <a:endParaRPr lang="en-US" sz="1300" dirty="0"/>
          </a:p>
        </p:txBody>
      </p:sp>
      <p:sp>
        <p:nvSpPr>
          <p:cNvPr id="20" name="Shape 17"/>
          <p:cNvSpPr/>
          <p:nvPr/>
        </p:nvSpPr>
        <p:spPr>
          <a:xfrm>
            <a:off x="658368" y="2885846"/>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288584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77611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Indefinite: Arabic has NO word for “a / an”. The noun stands alone; in vowelled text it usually ends in tanwīn: </a:t>
            </a:r>
            <a:pPr algn="l" indent="0" marL="0">
              <a:buNone/>
            </a:pPr>
            <a:r>
              <a:rPr lang="ar-SA" altLang="en-US" sz="1700" dirty="0">
                <a:solidFill>
                  <a:srgbClr val="1F2A37"/>
                </a:solidFill>
                <a:latin typeface="Amiri" pitchFamily="2" charset="-78"/>
                <a:cs typeface="Amiri" pitchFamily="2" charset="-78"/>
              </a:rPr>
              <a:t>كِتَابٌ</a:t>
            </a:r>
            <a:pPr algn="l" indent="0" marL="0">
              <a:buNone/>
            </a:pPr>
            <a:r>
              <a:rPr lang="en-US" sz="1300" dirty="0">
                <a:solidFill>
                  <a:srgbClr val="1F2A37"/>
                </a:solidFill>
                <a:latin typeface="Calibri" pitchFamily="34" charset="0"/>
                <a:cs typeface="Amiri" pitchFamily="2" charset="-78"/>
              </a:rPr>
              <a:t> (kitābun).</a:t>
            </a:r>
            <a:endParaRPr lang="en-US" sz="1300" dirty="0"/>
          </a:p>
        </p:txBody>
      </p:sp>
      <p:sp>
        <p:nvSpPr>
          <p:cNvPr id="23" name="Shape 20"/>
          <p:cNvSpPr/>
          <p:nvPr/>
        </p:nvSpPr>
        <p:spPr>
          <a:xfrm>
            <a:off x="658368" y="3485693"/>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485693"/>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375965"/>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Definite: add </a:t>
            </a:r>
            <a:pPr algn="l" indent="0" marL="0">
              <a:buNone/>
            </a:pPr>
            <a:r>
              <a:rPr lang="ar-SA" altLang="en-US" sz="1700" dirty="0">
                <a:solidFill>
                  <a:srgbClr val="1F2A37"/>
                </a:solidFill>
                <a:latin typeface="Amiri" pitchFamily="2" charset="-78"/>
                <a:cs typeface="Amiri" pitchFamily="2" charset="-78"/>
              </a:rPr>
              <a:t>الـ</a:t>
            </a:r>
            <a:pPr algn="l" indent="0" marL="0">
              <a:buNone/>
            </a:pPr>
            <a:r>
              <a:rPr lang="en-US" sz="1300" dirty="0">
                <a:solidFill>
                  <a:srgbClr val="1F2A37"/>
                </a:solidFill>
                <a:latin typeface="Calibri" pitchFamily="34" charset="0"/>
                <a:cs typeface="Amiri" pitchFamily="2" charset="-78"/>
              </a:rPr>
              <a:t> to the front of the noun — joined, with no space or hyphen: </a:t>
            </a:r>
            <a:pPr algn="l" indent="0" marL="0">
              <a:buNone/>
            </a:pPr>
            <a:r>
              <a:rPr lang="ar-SA" altLang="en-US" sz="1700" dirty="0">
                <a:solidFill>
                  <a:srgbClr val="1F2A37"/>
                </a:solidFill>
                <a:latin typeface="Amiri" pitchFamily="2" charset="-78"/>
                <a:cs typeface="Amiri" pitchFamily="2" charset="-78"/>
              </a:rPr>
              <a:t>الْكِتَابُ</a:t>
            </a:r>
            <a:pPr algn="l" indent="0" marL="0">
              <a:buNone/>
            </a:pPr>
            <a:r>
              <a:rPr lang="en-US" sz="1300" dirty="0">
                <a:solidFill>
                  <a:srgbClr val="1F2A37"/>
                </a:solidFill>
                <a:latin typeface="Calibri" pitchFamily="34" charset="0"/>
                <a:cs typeface="Amiri" pitchFamily="2" charset="-78"/>
              </a:rPr>
              <a:t> (al-kitābu).</a:t>
            </a:r>
            <a:endParaRPr lang="en-US" sz="1300" dirty="0"/>
          </a:p>
        </p:txBody>
      </p:sp>
      <p:sp>
        <p:nvSpPr>
          <p:cNvPr id="26" name="Shape 23"/>
          <p:cNvSpPr/>
          <p:nvPr/>
        </p:nvSpPr>
        <p:spPr>
          <a:xfrm>
            <a:off x="658368" y="4085539"/>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085539"/>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3975811"/>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 noun never has BOTH </a:t>
            </a:r>
            <a:pPr algn="l" indent="0" marL="0">
              <a:buNone/>
            </a:pPr>
            <a:r>
              <a:rPr lang="ar-SA" altLang="en-US" sz="1700" dirty="0">
                <a:solidFill>
                  <a:srgbClr val="1F2A37"/>
                </a:solidFill>
                <a:latin typeface="Amiri" pitchFamily="2" charset="-78"/>
                <a:cs typeface="Amiri" pitchFamily="2" charset="-78"/>
              </a:rPr>
              <a:t>الـ</a:t>
            </a:r>
            <a:pPr algn="l" indent="0" marL="0">
              <a:buNone/>
            </a:pPr>
            <a:r>
              <a:rPr lang="en-US" sz="1300" dirty="0">
                <a:solidFill>
                  <a:srgbClr val="1F2A37"/>
                </a:solidFill>
                <a:latin typeface="Calibri" pitchFamily="34" charset="0"/>
                <a:cs typeface="Amiri" pitchFamily="2" charset="-78"/>
              </a:rPr>
              <a:t> and tanwīn: once </a:t>
            </a:r>
            <a:pPr algn="l" indent="0" marL="0">
              <a:buNone/>
            </a:pPr>
            <a:r>
              <a:rPr lang="ar-SA" altLang="en-US" sz="1700" dirty="0">
                <a:solidFill>
                  <a:srgbClr val="1F2A37"/>
                </a:solidFill>
                <a:latin typeface="Amiri" pitchFamily="2" charset="-78"/>
                <a:cs typeface="Amiri" pitchFamily="2" charset="-78"/>
              </a:rPr>
              <a:t>الـ</a:t>
            </a:r>
            <a:pPr algn="l" indent="0" marL="0">
              <a:buNone/>
            </a:pPr>
            <a:r>
              <a:rPr lang="en-US" sz="1300" dirty="0">
                <a:solidFill>
                  <a:srgbClr val="1F2A37"/>
                </a:solidFill>
                <a:latin typeface="Calibri" pitchFamily="34" charset="0"/>
                <a:cs typeface="Amiri" pitchFamily="2" charset="-78"/>
              </a:rPr>
              <a:t> is added, the tanwīn goes.</a:t>
            </a:r>
            <a:endParaRPr lang="en-US" sz="1300" dirty="0"/>
          </a:p>
        </p:txBody>
      </p:sp>
      <p:sp>
        <p:nvSpPr>
          <p:cNvPr id="29" name="Shape 26"/>
          <p:cNvSpPr/>
          <p:nvPr/>
        </p:nvSpPr>
        <p:spPr>
          <a:xfrm>
            <a:off x="658368" y="4685386"/>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58368" y="468538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5</a:t>
            </a:r>
            <a:endParaRPr lang="en-US" sz="1100" dirty="0"/>
          </a:p>
        </p:txBody>
      </p:sp>
      <p:sp>
        <p:nvSpPr>
          <p:cNvPr id="31" name="Text 28"/>
          <p:cNvSpPr txBox="1"/>
          <p:nvPr/>
        </p:nvSpPr>
        <p:spPr>
          <a:xfrm>
            <a:off x="1078992" y="457565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In a text, a new noun usually appears first WITHOUT </a:t>
            </a:r>
            <a:pPr algn="l" indent="0" marL="0">
              <a:buNone/>
            </a:pPr>
            <a:r>
              <a:rPr lang="ar-SA" altLang="en-US" sz="1700" dirty="0">
                <a:solidFill>
                  <a:srgbClr val="1F2A37"/>
                </a:solidFill>
                <a:latin typeface="Amiri" pitchFamily="2" charset="-78"/>
                <a:cs typeface="Amiri" pitchFamily="2" charset="-78"/>
              </a:rPr>
              <a:t>الـ</a:t>
            </a:r>
            <a:pPr algn="l" indent="0" marL="0">
              <a:buNone/>
            </a:pPr>
            <a:r>
              <a:rPr lang="en-US" sz="1300" dirty="0">
                <a:solidFill>
                  <a:srgbClr val="1F2A37"/>
                </a:solidFill>
                <a:latin typeface="Calibri" pitchFamily="34" charset="0"/>
                <a:cs typeface="Amiri" pitchFamily="2" charset="-78"/>
              </a:rPr>
              <a:t>; when it comes back, the reader knows it, so it takes </a:t>
            </a:r>
            <a:pPr algn="l" indent="0" marL="0">
              <a:buNone/>
            </a:pPr>
            <a:r>
              <a:rPr lang="ar-SA" altLang="en-US" sz="1700" dirty="0">
                <a:solidFill>
                  <a:srgbClr val="1F2A37"/>
                </a:solidFill>
                <a:latin typeface="Amiri" pitchFamily="2" charset="-78"/>
                <a:cs typeface="Amiri" pitchFamily="2" charset="-78"/>
              </a:rPr>
              <a:t>الـ</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2" name="Shape 29"/>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Text 30"/>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WORKED EXAMPLES</a:t>
            </a:r>
            <a:endParaRPr lang="en-US" sz="1000" dirty="0"/>
          </a:p>
        </p:txBody>
      </p:sp>
      <p:sp>
        <p:nvSpPr>
          <p:cNvPr id="34" name="Text 31"/>
          <p:cNvSpPr txBox="1"/>
          <p:nvPr/>
        </p:nvSpPr>
        <p:spPr>
          <a:xfrm>
            <a:off x="6949440" y="2194560"/>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بَيْتٌ</a:t>
            </a:r>
            <a:endParaRPr lang="ar-SA" sz="1950" dirty="0"/>
          </a:p>
        </p:txBody>
      </p:sp>
      <p:sp>
        <p:nvSpPr>
          <p:cNvPr id="35" name="Text 32"/>
          <p:cNvSpPr txBox="1"/>
          <p:nvPr/>
        </p:nvSpPr>
        <p:spPr>
          <a:xfrm>
            <a:off x="6949440" y="2619573"/>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house  ·  any house — indefinite</a:t>
            </a:r>
            <a:endParaRPr lang="en-US" sz="1100" dirty="0"/>
          </a:p>
        </p:txBody>
      </p:sp>
      <p:sp>
        <p:nvSpPr>
          <p:cNvPr id="36" name="Shape 33"/>
          <p:cNvSpPr/>
          <p:nvPr/>
        </p:nvSpPr>
        <p:spPr>
          <a:xfrm>
            <a:off x="6995160" y="2935224"/>
            <a:ext cx="4553712" cy="0"/>
          </a:xfrm>
          <a:prstGeom prst="line">
            <a:avLst/>
          </a:prstGeom>
          <a:noFill/>
          <a:ln w="9525">
            <a:solidFill>
              <a:srgbClr val="E4DCCB"/>
            </a:solidFill>
            <a:prstDash val="dash"/>
          </a:ln>
        </p:spPr>
      </p:sp>
      <p:sp>
        <p:nvSpPr>
          <p:cNvPr id="37" name="Text 34"/>
          <p:cNvSpPr txBox="1"/>
          <p:nvPr/>
        </p:nvSpPr>
        <p:spPr>
          <a:xfrm>
            <a:off x="6949440" y="2953512"/>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الْبَيْتُ</a:t>
            </a:r>
            <a:endParaRPr lang="ar-SA" sz="1950" dirty="0"/>
          </a:p>
        </p:txBody>
      </p:sp>
      <p:sp>
        <p:nvSpPr>
          <p:cNvPr id="38" name="Text 35"/>
          <p:cNvSpPr txBox="1"/>
          <p:nvPr/>
        </p:nvSpPr>
        <p:spPr>
          <a:xfrm>
            <a:off x="6949440" y="3378525"/>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house  ·  a known house — definite</a:t>
            </a:r>
            <a:endParaRPr lang="en-US" sz="1100" dirty="0"/>
          </a:p>
        </p:txBody>
      </p:sp>
      <p:sp>
        <p:nvSpPr>
          <p:cNvPr id="39" name="Shape 36"/>
          <p:cNvSpPr/>
          <p:nvPr/>
        </p:nvSpPr>
        <p:spPr>
          <a:xfrm>
            <a:off x="6995160" y="3694176"/>
            <a:ext cx="4553712" cy="0"/>
          </a:xfrm>
          <a:prstGeom prst="line">
            <a:avLst/>
          </a:prstGeom>
          <a:noFill/>
          <a:ln w="9525">
            <a:solidFill>
              <a:srgbClr val="E4DCCB"/>
            </a:solidFill>
            <a:prstDash val="dash"/>
          </a:ln>
        </p:spPr>
      </p:sp>
      <p:sp>
        <p:nvSpPr>
          <p:cNvPr id="40" name="Text 37"/>
          <p:cNvSpPr txBox="1"/>
          <p:nvPr/>
        </p:nvSpPr>
        <p:spPr>
          <a:xfrm>
            <a:off x="6949440" y="3712464"/>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فِي الْمَدِينَةِ مَدْرَسَةٌ.</a:t>
            </a:r>
            <a:endParaRPr lang="ar-SA" sz="1950" dirty="0"/>
          </a:p>
        </p:txBody>
      </p:sp>
      <p:sp>
        <p:nvSpPr>
          <p:cNvPr id="41" name="Text 38"/>
          <p:cNvSpPr txBox="1"/>
          <p:nvPr/>
        </p:nvSpPr>
        <p:spPr>
          <a:xfrm>
            <a:off x="6949440" y="4137477"/>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In the city there is a school.  ·  new → indefinite</a:t>
            </a:r>
            <a:endParaRPr lang="en-US" sz="1100" dirty="0"/>
          </a:p>
        </p:txBody>
      </p:sp>
      <p:sp>
        <p:nvSpPr>
          <p:cNvPr id="42" name="Shape 39"/>
          <p:cNvSpPr/>
          <p:nvPr/>
        </p:nvSpPr>
        <p:spPr>
          <a:xfrm>
            <a:off x="6995160" y="4453128"/>
            <a:ext cx="4553712" cy="0"/>
          </a:xfrm>
          <a:prstGeom prst="line">
            <a:avLst/>
          </a:prstGeom>
          <a:noFill/>
          <a:ln w="9525">
            <a:solidFill>
              <a:srgbClr val="E4DCCB"/>
            </a:solidFill>
            <a:prstDash val="dash"/>
          </a:ln>
        </p:spPr>
      </p:sp>
      <p:sp>
        <p:nvSpPr>
          <p:cNvPr id="43" name="Text 40"/>
          <p:cNvSpPr txBox="1"/>
          <p:nvPr/>
        </p:nvSpPr>
        <p:spPr>
          <a:xfrm>
            <a:off x="6949440" y="4471416"/>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الْمَدْرَسَةُ قَرِيبَةٌ.</a:t>
            </a:r>
            <a:endParaRPr lang="ar-SA" sz="1950" dirty="0"/>
          </a:p>
        </p:txBody>
      </p:sp>
      <p:sp>
        <p:nvSpPr>
          <p:cNvPr id="44" name="Text 41"/>
          <p:cNvSpPr txBox="1"/>
          <p:nvPr/>
        </p:nvSpPr>
        <p:spPr>
          <a:xfrm>
            <a:off x="6949440" y="4896429"/>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school is near.  ·  known → definite</a:t>
            </a:r>
            <a:endParaRPr lang="en-US" sz="1100" dirty="0"/>
          </a:p>
        </p:txBody>
      </p:sp>
      <p:sp>
        <p:nvSpPr>
          <p:cNvPr id="45" name="Shape 42"/>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REMEMBER</a:t>
            </a:r>
            <a:endParaRPr lang="en-US" sz="1100" dirty="0"/>
          </a:p>
        </p:txBody>
      </p:sp>
      <p:sp>
        <p:nvSpPr>
          <p:cNvPr id="47" name="Text 44"/>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Tanwīn (</a:t>
            </a:r>
            <a:pPr algn="l" indent="0" marL="0">
              <a:buNone/>
            </a:pPr>
            <a:r>
              <a:rPr lang="ar-SA" altLang="en-US" sz="1650" dirty="0">
                <a:solidFill>
                  <a:srgbClr val="1F2A37"/>
                </a:solidFill>
                <a:latin typeface="Amiri" pitchFamily="2" charset="-78"/>
                <a:cs typeface="Amiri" pitchFamily="2" charset="-78"/>
              </a:rPr>
              <a:t>ـٌ ـً ـٍ</a:t>
            </a:r>
            <a:pPr algn="l" indent="0" marL="0">
              <a:buNone/>
            </a:pPr>
            <a:r>
              <a:rPr lang="en-US" sz="1250" dirty="0">
                <a:solidFill>
                  <a:srgbClr val="1F2A37"/>
                </a:solidFill>
                <a:latin typeface="Calibri" pitchFamily="34" charset="0"/>
                <a:cs typeface="Amiri" pitchFamily="2" charset="-78"/>
              </a:rPr>
              <a:t>) is an ending, not a separate word for “a”. In normal unvowelled writing it often disappears, but the noun is still indefinite.</a:t>
            </a:r>
            <a:endParaRPr lang="en-US" sz="12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GM-ART-01 · Articles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2 · PHRASE OR SENTENCE?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Same words — a phrase or a sentence?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مِنَ الِاسْمِ إِلَى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479792" y="1810512"/>
            <a:ext cx="41788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notice</a:t>
            </a:r>
            <a:endParaRPr lang="en-US" sz="1100" dirty="0"/>
          </a:p>
        </p:txBody>
      </p:sp>
      <p:sp>
        <p:nvSpPr>
          <p:cNvPr id="17" name="Text 14"/>
          <p:cNvSpPr txBox="1"/>
          <p:nvPr/>
        </p:nvSpPr>
        <p:spPr>
          <a:xfrm>
            <a:off x="345643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a:t>
            </a:r>
            <a:endParaRPr lang="en-US" sz="1100" dirty="0"/>
          </a:p>
        </p:txBody>
      </p:sp>
      <p:sp>
        <p:nvSpPr>
          <p:cNvPr id="18" name="Text 15"/>
          <p:cNvSpPr txBox="1"/>
          <p:nvPr/>
        </p:nvSpPr>
        <p:spPr>
          <a:xfrm>
            <a:off x="5303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516368" y="2267712"/>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Phrase: both words indefinite.</a:t>
            </a:r>
            <a:endParaRPr lang="en-US" sz="1100" dirty="0"/>
          </a:p>
        </p:txBody>
      </p:sp>
      <p:sp>
        <p:nvSpPr>
          <p:cNvPr id="21" name="Text 18"/>
          <p:cNvSpPr txBox="1"/>
          <p:nvPr/>
        </p:nvSpPr>
        <p:spPr>
          <a:xfrm>
            <a:off x="3474720" y="2267712"/>
            <a:ext cx="38404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مَدْرَسَةٌ جَدِيدَةٌ</a:t>
            </a:r>
            <a:endParaRPr lang="ar-SA" sz="2400" dirty="0"/>
          </a:p>
        </p:txBody>
      </p:sp>
      <p:sp>
        <p:nvSpPr>
          <p:cNvPr id="22" name="Text 19"/>
          <p:cNvSpPr txBox="1"/>
          <p:nvPr/>
        </p:nvSpPr>
        <p:spPr>
          <a:xfrm>
            <a:off x="566928" y="2267712"/>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new school</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7516368" y="3004718"/>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Phrase: both words definite.</a:t>
            </a:r>
            <a:endParaRPr lang="en-US" sz="1100" dirty="0"/>
          </a:p>
        </p:txBody>
      </p:sp>
      <p:sp>
        <p:nvSpPr>
          <p:cNvPr id="27" name="Text 24"/>
          <p:cNvSpPr txBox="1"/>
          <p:nvPr/>
        </p:nvSpPr>
        <p:spPr>
          <a:xfrm>
            <a:off x="3474720" y="3004718"/>
            <a:ext cx="38404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الْمَدْرَسَةُ الْجَدِيدَةُ</a:t>
            </a:r>
            <a:endParaRPr lang="ar-SA" sz="2400" dirty="0"/>
          </a:p>
        </p:txBody>
      </p:sp>
      <p:sp>
        <p:nvSpPr>
          <p:cNvPr id="28" name="Text 25"/>
          <p:cNvSpPr txBox="1"/>
          <p:nvPr/>
        </p:nvSpPr>
        <p:spPr>
          <a:xfrm>
            <a:off x="566928" y="3004718"/>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new school</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7516368" y="3741725"/>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Sentence: definite subject + indefinite predicate.</a:t>
            </a:r>
            <a:endParaRPr lang="en-US" sz="1100" dirty="0"/>
          </a:p>
        </p:txBody>
      </p:sp>
      <p:sp>
        <p:nvSpPr>
          <p:cNvPr id="33" name="Text 30"/>
          <p:cNvSpPr txBox="1"/>
          <p:nvPr/>
        </p:nvSpPr>
        <p:spPr>
          <a:xfrm>
            <a:off x="3474720" y="3741725"/>
            <a:ext cx="38404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الْمَدْرَسَةُ جَدِيدَةٌ.</a:t>
            </a:r>
            <a:endParaRPr lang="ar-SA" sz="2400" dirty="0"/>
          </a:p>
        </p:txBody>
      </p:sp>
      <p:sp>
        <p:nvSpPr>
          <p:cNvPr id="34" name="Text 31"/>
          <p:cNvSpPr txBox="1"/>
          <p:nvPr/>
        </p:nvSpPr>
        <p:spPr>
          <a:xfrm>
            <a:off x="566928" y="3741725"/>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school is new.</a:t>
            </a:r>
            <a:endParaRPr lang="en-US" sz="11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7516368" y="4478731"/>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Phrase (we still need a verb or a predicate).</a:t>
            </a:r>
            <a:endParaRPr lang="en-US" sz="1100" dirty="0"/>
          </a:p>
        </p:txBody>
      </p:sp>
      <p:sp>
        <p:nvSpPr>
          <p:cNvPr id="39" name="Text 36"/>
          <p:cNvSpPr txBox="1"/>
          <p:nvPr/>
        </p:nvSpPr>
        <p:spPr>
          <a:xfrm>
            <a:off x="3474720" y="4478731"/>
            <a:ext cx="38404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الْبَيْتُ الْكَبِيرُ</a:t>
            </a:r>
            <a:endParaRPr lang="ar-SA" sz="2400" dirty="0"/>
          </a:p>
        </p:txBody>
      </p:sp>
      <p:sp>
        <p:nvSpPr>
          <p:cNvPr id="40" name="Text 37"/>
          <p:cNvSpPr txBox="1"/>
          <p:nvPr/>
        </p:nvSpPr>
        <p:spPr>
          <a:xfrm>
            <a:off x="566928" y="4478731"/>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big house</a:t>
            </a:r>
            <a:endParaRPr lang="en-US" sz="1100" dirty="0"/>
          </a:p>
        </p:txBody>
      </p:sp>
      <p:sp>
        <p:nvSpPr>
          <p:cNvPr id="41" name="Shape 3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2" name="Text 39"/>
          <p:cNvSpPr txBox="1"/>
          <p:nvPr/>
        </p:nvSpPr>
        <p:spPr>
          <a:xfrm>
            <a:off x="7516368" y="5215738"/>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complete sentence — no word for “is”.</a:t>
            </a:r>
            <a:endParaRPr lang="en-US" sz="1100" dirty="0"/>
          </a:p>
        </p:txBody>
      </p:sp>
      <p:sp>
        <p:nvSpPr>
          <p:cNvPr id="43" name="Text 40"/>
          <p:cNvSpPr txBox="1"/>
          <p:nvPr/>
        </p:nvSpPr>
        <p:spPr>
          <a:xfrm>
            <a:off x="3474720" y="5215738"/>
            <a:ext cx="38404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الْبَيْتُ كَبِيرٌ.</a:t>
            </a:r>
            <a:endParaRPr lang="ar-SA" sz="2400" dirty="0"/>
          </a:p>
        </p:txBody>
      </p:sp>
      <p:sp>
        <p:nvSpPr>
          <p:cNvPr id="44" name="Text 41"/>
          <p:cNvSpPr txBox="1"/>
          <p:nvPr/>
        </p:nvSpPr>
        <p:spPr>
          <a:xfrm>
            <a:off x="566928" y="5215738"/>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house is big.</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الـ</a:t>
            </a:r>
            <a:pPr algn="l" indent="0" marL="0">
              <a:buNone/>
            </a:pPr>
            <a:r>
              <a:rPr lang="en-US" sz="1150" b="1" dirty="0">
                <a:solidFill>
                  <a:srgbClr val="1B3B6F"/>
                </a:solidFill>
                <a:latin typeface="Calibri" pitchFamily="34" charset="0"/>
                <a:cs typeface="Amiri" pitchFamily="2" charset="-78"/>
              </a:rPr>
              <a:t> on the adjective decides it: </a:t>
            </a:r>
            <a:pPr algn="l" indent="0" marL="0">
              <a:buNone/>
            </a:pPr>
            <a:r>
              <a:rPr lang="ar-SA" altLang="en-US" sz="1500" b="1" dirty="0">
                <a:solidFill>
                  <a:srgbClr val="1B3B6F"/>
                </a:solidFill>
                <a:latin typeface="Amiri" pitchFamily="2" charset="-78"/>
                <a:cs typeface="Amiri" pitchFamily="2" charset="-78"/>
              </a:rPr>
              <a:t>الْبَيْتُ الْكَبِيرُ</a:t>
            </a:r>
            <a:pPr algn="l" indent="0" marL="0">
              <a:buNone/>
            </a:pPr>
            <a:r>
              <a:rPr lang="en-US" sz="1150" b="1" dirty="0">
                <a:solidFill>
                  <a:srgbClr val="1B3B6F"/>
                </a:solidFill>
                <a:latin typeface="Calibri" pitchFamily="34" charset="0"/>
                <a:cs typeface="Amiri" pitchFamily="2" charset="-78"/>
              </a:rPr>
              <a:t> = the big house · </a:t>
            </a:r>
            <a:pPr algn="l" indent="0" marL="0">
              <a:buNone/>
            </a:pPr>
            <a:r>
              <a:rPr lang="ar-SA" altLang="en-US" sz="1500" b="1" dirty="0">
                <a:solidFill>
                  <a:srgbClr val="1B3B6F"/>
                </a:solidFill>
                <a:latin typeface="Amiri" pitchFamily="2" charset="-78"/>
                <a:cs typeface="Amiri" pitchFamily="2" charset="-78"/>
              </a:rPr>
              <a:t>الْبَيْتُ كَبِيرٌ</a:t>
            </a:r>
            <a:pPr algn="l" indent="0" marL="0">
              <a:buNone/>
            </a:pPr>
            <a:r>
              <a:rPr lang="en-US" sz="1150" b="1" dirty="0">
                <a:solidFill>
                  <a:srgbClr val="1B3B6F"/>
                </a:solidFill>
                <a:latin typeface="Calibri" pitchFamily="34" charset="0"/>
                <a:cs typeface="Amiri" pitchFamily="2" charset="-78"/>
              </a:rPr>
              <a:t> = The house is big.</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GM-ART-01 · Articles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3 · SUN AND MOON LETTERS (WEBSITE SECTION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lām: silent or heard?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الشَّمْسِيَّةُ وَالْقَمَرِيَّةُ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GM-ART-01</a:t>
            </a:r>
            <a:endParaRPr lang="en-US" sz="850" dirty="0"/>
          </a:p>
        </p:txBody>
      </p:sp>
      <p:sp>
        <p:nvSpPr>
          <p:cNvPr id="15" name="Shape 12"/>
          <p:cNvSpPr/>
          <p:nvPr/>
        </p:nvSpPr>
        <p:spPr>
          <a:xfrm>
            <a:off x="6185916" y="1810512"/>
            <a:ext cx="5545836"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323076" y="1920240"/>
            <a:ext cx="1371600" cy="274320"/>
          </a:xfrm>
          <a:prstGeom prst="roundRect">
            <a:avLst>
              <a:gd name="adj" fmla="val 50000"/>
            </a:avLst>
          </a:prstGeom>
          <a:solidFill>
            <a:srgbClr val="C77700"/>
          </a:solidFill>
          <a:ln w="12700">
            <a:solidFill>
              <a:srgbClr val="C77700"/>
            </a:solidFill>
            <a:prstDash val="solid"/>
          </a:ln>
        </p:spPr>
      </p:sp>
      <p:sp>
        <p:nvSpPr>
          <p:cNvPr id="17" name="Text 14"/>
          <p:cNvSpPr txBox="1"/>
          <p:nvPr/>
        </p:nvSpPr>
        <p:spPr>
          <a:xfrm>
            <a:off x="6323076"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SUN · 14 LETTERS</a:t>
            </a:r>
            <a:endParaRPr lang="en-US" sz="850" dirty="0"/>
          </a:p>
        </p:txBody>
      </p:sp>
      <p:sp>
        <p:nvSpPr>
          <p:cNvPr id="18" name="Text 15"/>
          <p:cNvSpPr txBox="1"/>
          <p:nvPr/>
        </p:nvSpPr>
        <p:spPr>
          <a:xfrm>
            <a:off x="7740396" y="1874520"/>
            <a:ext cx="3854196"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ت ث د ذ ر ز س ش ص ض ط ظ ل ن</a:t>
            </a:r>
            <a:endParaRPr lang="ar-SA" sz="1600" dirty="0"/>
          </a:p>
        </p:txBody>
      </p:sp>
      <p:sp>
        <p:nvSpPr>
          <p:cNvPr id="19" name="Text 16"/>
          <p:cNvSpPr txBox="1"/>
          <p:nvPr/>
        </p:nvSpPr>
        <p:spPr>
          <a:xfrm>
            <a:off x="6323076" y="2286000"/>
            <a:ext cx="5271516"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الشَّمْسُ</a:t>
            </a:r>
            <a:endParaRPr lang="ar-SA" sz="3200" dirty="0"/>
          </a:p>
        </p:txBody>
      </p:sp>
      <p:sp>
        <p:nvSpPr>
          <p:cNvPr id="20" name="Text 17"/>
          <p:cNvSpPr txBox="1"/>
          <p:nvPr/>
        </p:nvSpPr>
        <p:spPr>
          <a:xfrm>
            <a:off x="6323076" y="3364992"/>
            <a:ext cx="5271516"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ash-shamsu — the lām is silent; the next letter doubles (shadda)</a:t>
            </a:r>
            <a:endParaRPr lang="en-US" sz="1200" dirty="0"/>
          </a:p>
        </p:txBody>
      </p:sp>
      <p:sp>
        <p:nvSpPr>
          <p:cNvPr id="21" name="Shape 18"/>
          <p:cNvSpPr/>
          <p:nvPr/>
        </p:nvSpPr>
        <p:spPr>
          <a:xfrm>
            <a:off x="6295644" y="3913632"/>
            <a:ext cx="5326380"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6387084" y="3950208"/>
            <a:ext cx="5143500"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Tongue-tip letters: say the word and feel the tip of your tongue.</a:t>
            </a:r>
            <a:endParaRPr lang="en-US" sz="1100" dirty="0"/>
          </a:p>
        </p:txBody>
      </p:sp>
      <p:sp>
        <p:nvSpPr>
          <p:cNvPr id="23" name="Shape 20"/>
          <p:cNvSpPr/>
          <p:nvPr/>
        </p:nvSpPr>
        <p:spPr>
          <a:xfrm>
            <a:off x="457200" y="1810512"/>
            <a:ext cx="5545836"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594360" y="1920240"/>
            <a:ext cx="1440180" cy="274320"/>
          </a:xfrm>
          <a:prstGeom prst="roundRect">
            <a:avLst>
              <a:gd name="adj" fmla="val 50000"/>
            </a:avLst>
          </a:prstGeom>
          <a:solidFill>
            <a:srgbClr val="1D5FBF"/>
          </a:solidFill>
          <a:ln w="12700">
            <a:solidFill>
              <a:srgbClr val="1D5FBF"/>
            </a:solidFill>
            <a:prstDash val="solid"/>
          </a:ln>
        </p:spPr>
      </p:sp>
      <p:sp>
        <p:nvSpPr>
          <p:cNvPr id="25" name="Text 22"/>
          <p:cNvSpPr txBox="1"/>
          <p:nvPr/>
        </p:nvSpPr>
        <p:spPr>
          <a:xfrm>
            <a:off x="594360"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MOON · 14 LETTERS</a:t>
            </a:r>
            <a:endParaRPr lang="en-US" sz="850" dirty="0"/>
          </a:p>
        </p:txBody>
      </p:sp>
      <p:sp>
        <p:nvSpPr>
          <p:cNvPr id="26" name="Text 23"/>
          <p:cNvSpPr txBox="1"/>
          <p:nvPr/>
        </p:nvSpPr>
        <p:spPr>
          <a:xfrm>
            <a:off x="2080260" y="1874520"/>
            <a:ext cx="3785616"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ا ب ج ح خ ع غ ف ق ك م هـ و ي</a:t>
            </a:r>
            <a:endParaRPr lang="ar-SA" sz="1600" dirty="0"/>
          </a:p>
        </p:txBody>
      </p:sp>
      <p:sp>
        <p:nvSpPr>
          <p:cNvPr id="27" name="Text 24"/>
          <p:cNvSpPr txBox="1"/>
          <p:nvPr/>
        </p:nvSpPr>
        <p:spPr>
          <a:xfrm>
            <a:off x="594360" y="2286000"/>
            <a:ext cx="5271516"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الْقَمَرُ</a:t>
            </a:r>
            <a:endParaRPr lang="ar-SA" sz="3200" dirty="0"/>
          </a:p>
        </p:txBody>
      </p:sp>
      <p:sp>
        <p:nvSpPr>
          <p:cNvPr id="28" name="Text 25"/>
          <p:cNvSpPr txBox="1"/>
          <p:nvPr/>
        </p:nvSpPr>
        <p:spPr>
          <a:xfrm>
            <a:off x="594360" y="3364992"/>
            <a:ext cx="5271516"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al-qamaru — the lām is heard (it carries sukūn)</a:t>
            </a:r>
            <a:endParaRPr lang="en-US" sz="1200" dirty="0"/>
          </a:p>
        </p:txBody>
      </p:sp>
      <p:sp>
        <p:nvSpPr>
          <p:cNvPr id="29" name="Shape 26"/>
          <p:cNvSpPr/>
          <p:nvPr/>
        </p:nvSpPr>
        <p:spPr>
          <a:xfrm>
            <a:off x="566928" y="3913632"/>
            <a:ext cx="5326380"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658368" y="3950208"/>
            <a:ext cx="5143500"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Say al- clearly, then the letter.</a:t>
            </a:r>
            <a:endParaRPr lang="en-US" sz="1100" dirty="0"/>
          </a:p>
        </p:txBody>
      </p:sp>
      <p:sp>
        <p:nvSpPr>
          <p:cNvPr id="31" name="Shape 28"/>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33" name="Text 30"/>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The spelling of </a:t>
            </a:r>
            <a:pPr algn="l" indent="0" marL="0">
              <a:buNone/>
            </a:pPr>
            <a:r>
              <a:rPr lang="ar-SA" altLang="en-US" sz="1500" dirty="0">
                <a:solidFill>
                  <a:srgbClr val="1F2A37"/>
                </a:solidFill>
                <a:latin typeface="Amiri" pitchFamily="2" charset="-78"/>
                <a:cs typeface="Amiri" pitchFamily="2" charset="-78"/>
              </a:rPr>
              <a:t>الـ</a:t>
            </a:r>
            <a:pPr algn="l" indent="0" marL="0">
              <a:buNone/>
            </a:pPr>
            <a:r>
              <a:rPr lang="en-US" sz="1150" dirty="0">
                <a:solidFill>
                  <a:srgbClr val="1F2A37"/>
                </a:solidFill>
                <a:latin typeface="Calibri" pitchFamily="34" charset="0"/>
                <a:cs typeface="Amiri" pitchFamily="2" charset="-78"/>
              </a:rPr>
              <a:t> never changes — only the sound of the lām.</a:t>
            </a:r>
            <a:endParaRPr lang="en-US" sz="1150" dirty="0"/>
          </a:p>
        </p:txBody>
      </p:sp>
      <p:sp>
        <p:nvSpPr>
          <p:cNvPr id="34" name="Text 31"/>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الشَّمْسُ</a:t>
            </a:r>
            <a:endParaRPr lang="ar-SA" sz="2600" dirty="0"/>
          </a:p>
        </p:txBody>
      </p:sp>
      <p:sp>
        <p:nvSpPr>
          <p:cNvPr id="35" name="Text 32"/>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6" name="Text 33"/>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cs typeface="Amiri" pitchFamily="2" charset="-78"/>
              </a:rPr>
              <a:t>اَشَّمْسُ</a:t>
            </a:r>
            <a:endParaRPr lang="ar-SA" sz="2600" dirty="0"/>
          </a:p>
        </p:txBody>
      </p:sp>
      <p:sp>
        <p:nvSpPr>
          <p:cNvPr id="37" name="Shape 34"/>
          <p:cNvSpPr/>
          <p:nvPr/>
        </p:nvSpPr>
        <p:spPr>
          <a:xfrm>
            <a:off x="8138160" y="5669280"/>
            <a:ext cx="1371600" cy="0"/>
          </a:xfrm>
          <a:prstGeom prst="line">
            <a:avLst/>
          </a:prstGeom>
          <a:noFill/>
          <a:ln w="25400">
            <a:solidFill>
              <a:srgbClr val="B83227"/>
            </a:solidFill>
            <a:prstDash val="solid"/>
          </a:ln>
        </p:spPr>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GM-ART-01 · Articles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88" b="1" spc="150" kern="0" dirty="0">
                <a:solidFill>
                  <a:srgbClr val="1B3B6F"/>
                </a:solidFill>
                <a:latin typeface="Calibri" pitchFamily="34" charset="0"/>
                <a:cs typeface="Amiri" pitchFamily="2" charset="-78"/>
              </a:rPr>
              <a:t>GRAMMAR · PART 3 · HEAR THE DIFFERENCE (WEBSITE TABLE “WHAT EXACTLY CHANGES?”)</a:t>
            </a:r>
            <a:endParaRPr lang="en-US" sz="888"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then sort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كَيْفَ نَنْطِقُهَا؟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479792" y="1810512"/>
            <a:ext cx="41788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Letter after </a:t>
            </a:r>
            <a:pPr algn="ctr" indent="0" marL="0">
              <a:buNone/>
            </a:pPr>
            <a:r>
              <a:rPr lang="ar-SA" altLang="en-US" sz="1450" b="1" dirty="0">
                <a:solidFill>
                  <a:srgbClr val="FFFFFF"/>
                </a:solidFill>
                <a:latin typeface="Amiri" pitchFamily="2" charset="-78"/>
                <a:cs typeface="Amiri" pitchFamily="2" charset="-78"/>
              </a:rPr>
              <a:t>الـ</a:t>
            </a:r>
            <a:endParaRPr lang="en-US" sz="1100" dirty="0"/>
          </a:p>
        </p:txBody>
      </p:sp>
      <p:sp>
        <p:nvSpPr>
          <p:cNvPr id="17" name="Text 14"/>
          <p:cNvSpPr txBox="1"/>
          <p:nvPr/>
        </p:nvSpPr>
        <p:spPr>
          <a:xfrm>
            <a:off x="345643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Word</a:t>
            </a:r>
            <a:endParaRPr lang="en-US" sz="1100" dirty="0"/>
          </a:p>
        </p:txBody>
      </p:sp>
      <p:sp>
        <p:nvSpPr>
          <p:cNvPr id="18" name="Text 15"/>
          <p:cNvSpPr txBox="1"/>
          <p:nvPr/>
        </p:nvSpPr>
        <p:spPr>
          <a:xfrm>
            <a:off x="5303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Pronounced</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516368" y="2267712"/>
            <a:ext cx="4142232" cy="559308"/>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cs typeface="Amiri" pitchFamily="2" charset="-78"/>
              </a:rPr>
              <a:t>ق</a:t>
            </a:r>
            <a:pPr algn="l" indent="0" marL="0">
              <a:buNone/>
            </a:pPr>
            <a:r>
              <a:rPr lang="en-US" sz="1100" dirty="0">
                <a:solidFill>
                  <a:srgbClr val="5A6472"/>
                </a:solidFill>
                <a:latin typeface="Calibri" pitchFamily="34" charset="0"/>
                <a:cs typeface="Amiri" pitchFamily="2" charset="-78"/>
              </a:rPr>
              <a:t> — moon: lām heard</a:t>
            </a:r>
            <a:endParaRPr lang="en-US" sz="1100" dirty="0"/>
          </a:p>
        </p:txBody>
      </p:sp>
      <p:sp>
        <p:nvSpPr>
          <p:cNvPr id="21" name="Text 18"/>
          <p:cNvSpPr txBox="1"/>
          <p:nvPr/>
        </p:nvSpPr>
        <p:spPr>
          <a:xfrm>
            <a:off x="3474720" y="2267712"/>
            <a:ext cx="384048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الْقَلَمُ</a:t>
            </a:r>
            <a:endParaRPr lang="ar-SA" sz="2600" dirty="0"/>
          </a:p>
        </p:txBody>
      </p:sp>
      <p:sp>
        <p:nvSpPr>
          <p:cNvPr id="22" name="Text 19"/>
          <p:cNvSpPr txBox="1"/>
          <p:nvPr/>
        </p:nvSpPr>
        <p:spPr>
          <a:xfrm>
            <a:off x="566928" y="226771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al-qalamu</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7516368" y="2881884"/>
            <a:ext cx="4142232" cy="559308"/>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cs typeface="Amiri" pitchFamily="2" charset="-78"/>
              </a:rPr>
              <a:t>ط</a:t>
            </a:r>
            <a:pPr algn="l" indent="0" marL="0">
              <a:buNone/>
            </a:pPr>
            <a:r>
              <a:rPr lang="en-US" sz="1100" dirty="0">
                <a:solidFill>
                  <a:srgbClr val="5A6472"/>
                </a:solidFill>
                <a:latin typeface="Calibri" pitchFamily="34" charset="0"/>
                <a:cs typeface="Amiri" pitchFamily="2" charset="-78"/>
              </a:rPr>
              <a:t> — sun: lām silent, </a:t>
            </a:r>
            <a:pPr algn="l" indent="0" marL="0">
              <a:buNone/>
            </a:pPr>
            <a:r>
              <a:rPr lang="ar-SA" altLang="en-US" sz="1450" dirty="0">
                <a:solidFill>
                  <a:srgbClr val="5A6472"/>
                </a:solidFill>
                <a:latin typeface="Amiri" pitchFamily="2" charset="-78"/>
                <a:cs typeface="Amiri" pitchFamily="2" charset="-78"/>
              </a:rPr>
              <a:t>ط</a:t>
            </a:r>
            <a:pPr algn="l" indent="0" marL="0">
              <a:buNone/>
            </a:pPr>
            <a:r>
              <a:rPr lang="en-US" sz="1100" dirty="0">
                <a:solidFill>
                  <a:srgbClr val="5A6472"/>
                </a:solidFill>
                <a:latin typeface="Calibri" pitchFamily="34" charset="0"/>
                <a:cs typeface="Amiri" pitchFamily="2" charset="-78"/>
              </a:rPr>
              <a:t> doubled</a:t>
            </a:r>
            <a:endParaRPr lang="en-US" sz="1100" dirty="0"/>
          </a:p>
        </p:txBody>
      </p:sp>
      <p:sp>
        <p:nvSpPr>
          <p:cNvPr id="27" name="Text 24"/>
          <p:cNvSpPr txBox="1"/>
          <p:nvPr/>
        </p:nvSpPr>
        <p:spPr>
          <a:xfrm>
            <a:off x="3474720" y="2881884"/>
            <a:ext cx="384048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الطَّالِبُ</a:t>
            </a:r>
            <a:endParaRPr lang="ar-SA" sz="2600" dirty="0"/>
          </a:p>
        </p:txBody>
      </p:sp>
      <p:sp>
        <p:nvSpPr>
          <p:cNvPr id="28" name="Text 25"/>
          <p:cNvSpPr txBox="1"/>
          <p:nvPr/>
        </p:nvSpPr>
        <p:spPr>
          <a:xfrm>
            <a:off x="566928" y="2881884"/>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aṭ-ṭālibu</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7516368" y="3496056"/>
            <a:ext cx="4142232" cy="559308"/>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cs typeface="Amiri" pitchFamily="2" charset="-78"/>
              </a:rPr>
              <a:t>ب</a:t>
            </a:r>
            <a:pPr algn="l" indent="0" marL="0">
              <a:buNone/>
            </a:pPr>
            <a:r>
              <a:rPr lang="en-US" sz="1100" dirty="0">
                <a:solidFill>
                  <a:srgbClr val="5A6472"/>
                </a:solidFill>
                <a:latin typeface="Calibri" pitchFamily="34" charset="0"/>
                <a:cs typeface="Amiri" pitchFamily="2" charset="-78"/>
              </a:rPr>
              <a:t> — moon</a:t>
            </a:r>
            <a:endParaRPr lang="en-US" sz="1100" dirty="0"/>
          </a:p>
        </p:txBody>
      </p:sp>
      <p:sp>
        <p:nvSpPr>
          <p:cNvPr id="33" name="Text 30"/>
          <p:cNvSpPr txBox="1"/>
          <p:nvPr/>
        </p:nvSpPr>
        <p:spPr>
          <a:xfrm>
            <a:off x="3474720" y="3496056"/>
            <a:ext cx="384048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الْبَيْتُ</a:t>
            </a:r>
            <a:endParaRPr lang="ar-SA" sz="2600" dirty="0"/>
          </a:p>
        </p:txBody>
      </p:sp>
      <p:sp>
        <p:nvSpPr>
          <p:cNvPr id="34" name="Text 31"/>
          <p:cNvSpPr txBox="1"/>
          <p:nvPr/>
        </p:nvSpPr>
        <p:spPr>
          <a:xfrm>
            <a:off x="566928" y="3496056"/>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al-baytu</a:t>
            </a:r>
            <a:endParaRPr lang="en-US" sz="1100" dirty="0"/>
          </a:p>
        </p:txBody>
      </p:sp>
      <p:sp>
        <p:nvSpPr>
          <p:cNvPr id="35" name="Shape 3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6" name="Text 33"/>
          <p:cNvSpPr txBox="1"/>
          <p:nvPr/>
        </p:nvSpPr>
        <p:spPr>
          <a:xfrm>
            <a:off x="7516368" y="4110228"/>
            <a:ext cx="4142232" cy="559308"/>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cs typeface="Amiri" pitchFamily="2" charset="-78"/>
              </a:rPr>
              <a:t>س</a:t>
            </a:r>
            <a:pPr algn="l" indent="0" marL="0">
              <a:buNone/>
            </a:pPr>
            <a:r>
              <a:rPr lang="en-US" sz="1100" dirty="0">
                <a:solidFill>
                  <a:srgbClr val="5A6472"/>
                </a:solidFill>
                <a:latin typeface="Calibri" pitchFamily="34" charset="0"/>
                <a:cs typeface="Amiri" pitchFamily="2" charset="-78"/>
              </a:rPr>
              <a:t> — sun</a:t>
            </a:r>
            <a:endParaRPr lang="en-US" sz="1100" dirty="0"/>
          </a:p>
        </p:txBody>
      </p:sp>
      <p:sp>
        <p:nvSpPr>
          <p:cNvPr id="37" name="Text 34"/>
          <p:cNvSpPr txBox="1"/>
          <p:nvPr/>
        </p:nvSpPr>
        <p:spPr>
          <a:xfrm>
            <a:off x="3474720" y="4110228"/>
            <a:ext cx="384048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السَّاعَةُ</a:t>
            </a:r>
            <a:endParaRPr lang="ar-SA" sz="2600" dirty="0"/>
          </a:p>
        </p:txBody>
      </p:sp>
      <p:sp>
        <p:nvSpPr>
          <p:cNvPr id="38" name="Text 35"/>
          <p:cNvSpPr txBox="1"/>
          <p:nvPr/>
        </p:nvSpPr>
        <p:spPr>
          <a:xfrm>
            <a:off x="566928" y="4110228"/>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as-sāʿatu</a:t>
            </a:r>
            <a:endParaRPr lang="en-US" sz="1100" dirty="0"/>
          </a:p>
        </p:txBody>
      </p:sp>
      <p:sp>
        <p:nvSpPr>
          <p:cNvPr id="39" name="Shape 36"/>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0" name="Text 37"/>
          <p:cNvSpPr txBox="1"/>
          <p:nvPr/>
        </p:nvSpPr>
        <p:spPr>
          <a:xfrm>
            <a:off x="7516368" y="4724400"/>
            <a:ext cx="4142232" cy="559308"/>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cs typeface="Amiri" pitchFamily="2" charset="-78"/>
              </a:rPr>
              <a:t>ن</a:t>
            </a:r>
            <a:pPr algn="l" indent="0" marL="0">
              <a:buNone/>
            </a:pPr>
            <a:r>
              <a:rPr lang="en-US" sz="1100" dirty="0">
                <a:solidFill>
                  <a:srgbClr val="5A6472"/>
                </a:solidFill>
                <a:latin typeface="Calibri" pitchFamily="34" charset="0"/>
                <a:cs typeface="Amiri" pitchFamily="2" charset="-78"/>
              </a:rPr>
              <a:t> — sun</a:t>
            </a:r>
            <a:endParaRPr lang="en-US" sz="1100" dirty="0"/>
          </a:p>
        </p:txBody>
      </p:sp>
      <p:sp>
        <p:nvSpPr>
          <p:cNvPr id="41" name="Text 38"/>
          <p:cNvSpPr txBox="1"/>
          <p:nvPr/>
        </p:nvSpPr>
        <p:spPr>
          <a:xfrm>
            <a:off x="3474720" y="4724400"/>
            <a:ext cx="384048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النَّهْرُ</a:t>
            </a:r>
            <a:endParaRPr lang="ar-SA" sz="2600" dirty="0"/>
          </a:p>
        </p:txBody>
      </p:sp>
      <p:sp>
        <p:nvSpPr>
          <p:cNvPr id="42" name="Text 39"/>
          <p:cNvSpPr txBox="1"/>
          <p:nvPr/>
        </p:nvSpPr>
        <p:spPr>
          <a:xfrm>
            <a:off x="566928" y="4724400"/>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an-nahru</a:t>
            </a:r>
            <a:endParaRPr lang="en-US" sz="1100" dirty="0"/>
          </a:p>
        </p:txBody>
      </p:sp>
      <p:sp>
        <p:nvSpPr>
          <p:cNvPr id="43" name="Shape 40"/>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4" name="Text 41"/>
          <p:cNvSpPr txBox="1"/>
          <p:nvPr/>
        </p:nvSpPr>
        <p:spPr>
          <a:xfrm>
            <a:off x="7516368" y="5338572"/>
            <a:ext cx="4142232" cy="559308"/>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cs typeface="Amiri" pitchFamily="2" charset="-78"/>
              </a:rPr>
              <a:t>هـ</a:t>
            </a:r>
            <a:pPr algn="l" indent="0" marL="0">
              <a:buNone/>
            </a:pPr>
            <a:r>
              <a:rPr lang="en-US" sz="1100" dirty="0">
                <a:solidFill>
                  <a:srgbClr val="5A6472"/>
                </a:solidFill>
                <a:latin typeface="Calibri" pitchFamily="34" charset="0"/>
                <a:cs typeface="Amiri" pitchFamily="2" charset="-78"/>
              </a:rPr>
              <a:t> — moon</a:t>
            </a:r>
            <a:endParaRPr lang="en-US" sz="1100" dirty="0"/>
          </a:p>
        </p:txBody>
      </p:sp>
      <p:sp>
        <p:nvSpPr>
          <p:cNvPr id="45" name="Text 42"/>
          <p:cNvSpPr txBox="1"/>
          <p:nvPr/>
        </p:nvSpPr>
        <p:spPr>
          <a:xfrm>
            <a:off x="3474720" y="5338572"/>
            <a:ext cx="384048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الْهَوَاءُ</a:t>
            </a:r>
            <a:endParaRPr lang="ar-SA" sz="2600" dirty="0"/>
          </a:p>
        </p:txBody>
      </p:sp>
      <p:sp>
        <p:nvSpPr>
          <p:cNvPr id="46" name="Text 43"/>
          <p:cNvSpPr txBox="1"/>
          <p:nvPr/>
        </p:nvSpPr>
        <p:spPr>
          <a:xfrm>
            <a:off x="566928" y="533857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al-hawāʾu</a:t>
            </a:r>
            <a:endParaRPr lang="en-US" sz="1100" dirty="0"/>
          </a:p>
        </p:txBody>
      </p:sp>
      <p:sp>
        <p:nvSpPr>
          <p:cNvPr id="47" name="Text 4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Fully vowelled text shows you: sukūn on the lām = moon letter · shadda on the next letter = sun letter.</a:t>
            </a:r>
            <a:endParaRPr lang="en-US" sz="11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GM-ART-01 · Articles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50" b="1" spc="150" kern="0" dirty="0">
                <a:solidFill>
                  <a:srgbClr val="1B3B6F"/>
                </a:solidFill>
                <a:latin typeface="Calibri" pitchFamily="34" charset="0"/>
                <a:cs typeface="Amiri" pitchFamily="2" charset="-78"/>
              </a:rPr>
              <a:t>GRAMMAR · PART 4 · HAMZAT AL-WAṢL AND CONNECTED SPEECH (WEBSITE SECTION 3)</a:t>
            </a:r>
            <a:endParaRPr lang="en-US" sz="95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Connect in speech — spell in full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هَمْزَةُ الْوَصْلِ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GM-ART-01</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THE RULE, STEP BY STEP</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The alif of </a:t>
            </a:r>
            <a:pPr algn="l" indent="0" marL="0">
              <a:buNone/>
            </a:pPr>
            <a:r>
              <a:rPr lang="ar-SA" altLang="en-US" sz="1700" dirty="0">
                <a:solidFill>
                  <a:srgbClr val="1F2A37"/>
                </a:solidFill>
                <a:latin typeface="Amiri" pitchFamily="2" charset="-78"/>
                <a:cs typeface="Amiri" pitchFamily="2" charset="-78"/>
              </a:rPr>
              <a:t>الـ</a:t>
            </a:r>
            <a:pPr algn="l" indent="0" marL="0">
              <a:buNone/>
            </a:pPr>
            <a:r>
              <a:rPr lang="en-US" sz="1300" dirty="0">
                <a:solidFill>
                  <a:srgbClr val="1F2A37"/>
                </a:solidFill>
                <a:latin typeface="Calibri" pitchFamily="34" charset="0"/>
                <a:cs typeface="Amiri" pitchFamily="2" charset="-78"/>
              </a:rPr>
              <a:t> carries hamzat al-waṣl: a helping vowel used only to START speaking.</a:t>
            </a:r>
            <a:endParaRPr lang="en-US" sz="1300" dirty="0"/>
          </a:p>
        </p:txBody>
      </p:sp>
      <p:sp>
        <p:nvSpPr>
          <p:cNvPr id="20" name="Shape 17"/>
          <p:cNvSpPr/>
          <p:nvPr/>
        </p:nvSpPr>
        <p:spPr>
          <a:xfrm>
            <a:off x="658368" y="2885846"/>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288584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77611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After a pause, say it: </a:t>
            </a:r>
            <a:pPr algn="l" indent="0" marL="0">
              <a:buNone/>
            </a:pPr>
            <a:r>
              <a:rPr lang="ar-SA" altLang="en-US" sz="1700" dirty="0">
                <a:solidFill>
                  <a:srgbClr val="1F2A37"/>
                </a:solidFill>
                <a:latin typeface="Amiri" pitchFamily="2" charset="-78"/>
                <a:cs typeface="Amiri" pitchFamily="2" charset="-78"/>
              </a:rPr>
              <a:t>الْبَيْتُ كَبِيرٌ</a:t>
            </a:r>
            <a:pPr algn="l" indent="0" marL="0">
              <a:buNone/>
            </a:pPr>
            <a:r>
              <a:rPr lang="en-US" sz="1300" dirty="0">
                <a:solidFill>
                  <a:srgbClr val="1F2A37"/>
                </a:solidFill>
                <a:latin typeface="Calibri" pitchFamily="34" charset="0"/>
                <a:cs typeface="Amiri" pitchFamily="2" charset="-78"/>
              </a:rPr>
              <a:t> = al-baytu kabīrun.</a:t>
            </a:r>
            <a:endParaRPr lang="en-US" sz="1300" dirty="0"/>
          </a:p>
        </p:txBody>
      </p:sp>
      <p:sp>
        <p:nvSpPr>
          <p:cNvPr id="23" name="Shape 20"/>
          <p:cNvSpPr/>
          <p:nvPr/>
        </p:nvSpPr>
        <p:spPr>
          <a:xfrm>
            <a:off x="658368" y="3485693"/>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485693"/>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375965"/>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After another word, the helping vowel is not pronounced: </a:t>
            </a:r>
            <a:pPr algn="l" indent="0" marL="0">
              <a:buNone/>
            </a:pPr>
            <a:r>
              <a:rPr lang="ar-SA" altLang="en-US" sz="1700" dirty="0">
                <a:solidFill>
                  <a:srgbClr val="1F2A37"/>
                </a:solidFill>
                <a:latin typeface="Amiri" pitchFamily="2" charset="-78"/>
                <a:cs typeface="Amiri" pitchFamily="2" charset="-78"/>
              </a:rPr>
              <a:t>فِي الْبَيْتِ</a:t>
            </a:r>
            <a:pPr algn="l" indent="0" marL="0">
              <a:buNone/>
            </a:pPr>
            <a:r>
              <a:rPr lang="en-US" sz="1300" dirty="0">
                <a:solidFill>
                  <a:srgbClr val="1F2A37"/>
                </a:solidFill>
                <a:latin typeface="Calibri" pitchFamily="34" charset="0"/>
                <a:cs typeface="Amiri" pitchFamily="2" charset="-78"/>
              </a:rPr>
              <a:t> = fī l-bayti · </a:t>
            </a:r>
            <a:pPr algn="l" indent="0" marL="0">
              <a:buNone/>
            </a:pPr>
            <a:r>
              <a:rPr lang="ar-SA" altLang="en-US" sz="1700" dirty="0">
                <a:solidFill>
                  <a:srgbClr val="1F2A37"/>
                </a:solidFill>
                <a:latin typeface="Amiri" pitchFamily="2" charset="-78"/>
                <a:cs typeface="Amiri" pitchFamily="2" charset="-78"/>
              </a:rPr>
              <a:t>إِلَى الْمَدْرَسَةِ</a:t>
            </a:r>
            <a:pPr algn="l" indent="0" marL="0">
              <a:buNone/>
            </a:pPr>
            <a:r>
              <a:rPr lang="en-US" sz="1300" dirty="0">
                <a:solidFill>
                  <a:srgbClr val="1F2A37"/>
                </a:solidFill>
                <a:latin typeface="Calibri" pitchFamily="34" charset="0"/>
                <a:cs typeface="Amiri" pitchFamily="2" charset="-78"/>
              </a:rPr>
              <a:t> = ilā l-madrasati.</a:t>
            </a:r>
            <a:endParaRPr lang="en-US" sz="1300" dirty="0"/>
          </a:p>
        </p:txBody>
      </p:sp>
      <p:sp>
        <p:nvSpPr>
          <p:cNvPr id="26" name="Shape 23"/>
          <p:cNvSpPr/>
          <p:nvPr/>
        </p:nvSpPr>
        <p:spPr>
          <a:xfrm>
            <a:off x="658368" y="4085539"/>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085539"/>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3975811"/>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Both changes can happen at once: </a:t>
            </a:r>
            <a:pPr algn="l" indent="0" marL="0">
              <a:buNone/>
            </a:pPr>
            <a:r>
              <a:rPr lang="ar-SA" altLang="en-US" sz="1700" dirty="0">
                <a:solidFill>
                  <a:srgbClr val="1F2A37"/>
                </a:solidFill>
                <a:latin typeface="Amiri" pitchFamily="2" charset="-78"/>
                <a:cs typeface="Amiri" pitchFamily="2" charset="-78"/>
              </a:rPr>
              <a:t>فِي الشَّارِعِ</a:t>
            </a:r>
            <a:pPr algn="l" indent="0" marL="0">
              <a:buNone/>
            </a:pPr>
            <a:r>
              <a:rPr lang="en-US" sz="1300" dirty="0">
                <a:solidFill>
                  <a:srgbClr val="1F2A37"/>
                </a:solidFill>
                <a:latin typeface="Calibri" pitchFamily="34" charset="0"/>
                <a:cs typeface="Amiri" pitchFamily="2" charset="-78"/>
              </a:rPr>
              <a:t> = fī sh-shāriʿi (vowel dropped AND lām assimilated).</a:t>
            </a:r>
            <a:endParaRPr lang="en-US" sz="1300" dirty="0"/>
          </a:p>
        </p:txBody>
      </p:sp>
      <p:sp>
        <p:nvSpPr>
          <p:cNvPr id="29" name="Shape 26"/>
          <p:cNvSpPr/>
          <p:nvPr/>
        </p:nvSpPr>
        <p:spPr>
          <a:xfrm>
            <a:off x="658368" y="4685386"/>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58368" y="468538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5</a:t>
            </a:r>
            <a:endParaRPr lang="en-US" sz="1100" dirty="0"/>
          </a:p>
        </p:txBody>
      </p:sp>
      <p:sp>
        <p:nvSpPr>
          <p:cNvPr id="31" name="Text 28"/>
          <p:cNvSpPr txBox="1"/>
          <p:nvPr/>
        </p:nvSpPr>
        <p:spPr>
          <a:xfrm>
            <a:off x="1078992" y="457565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Pronounce naturally — but ALWAYS write every letter of both words, even the ones you do not hear.</a:t>
            </a:r>
            <a:endParaRPr lang="en-US" sz="1300" dirty="0"/>
          </a:p>
        </p:txBody>
      </p:sp>
      <p:sp>
        <p:nvSpPr>
          <p:cNvPr id="32" name="Shape 29"/>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Text 30"/>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WORKED EXAMPLES</a:t>
            </a:r>
            <a:endParaRPr lang="en-US" sz="1000" dirty="0"/>
          </a:p>
        </p:txBody>
      </p:sp>
      <p:sp>
        <p:nvSpPr>
          <p:cNvPr id="34" name="Text 31"/>
          <p:cNvSpPr txBox="1"/>
          <p:nvPr/>
        </p:nvSpPr>
        <p:spPr>
          <a:xfrm>
            <a:off x="6949440" y="2194560"/>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الْبَيْتُ كَبِيرٌ.</a:t>
            </a:r>
            <a:endParaRPr lang="ar-SA" sz="1950" dirty="0"/>
          </a:p>
        </p:txBody>
      </p:sp>
      <p:sp>
        <p:nvSpPr>
          <p:cNvPr id="35" name="Text 32"/>
          <p:cNvSpPr txBox="1"/>
          <p:nvPr/>
        </p:nvSpPr>
        <p:spPr>
          <a:xfrm>
            <a:off x="6949440" y="2619573"/>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al-baytu kabīrun  ·  after a pause</a:t>
            </a:r>
            <a:endParaRPr lang="en-US" sz="1100" dirty="0"/>
          </a:p>
        </p:txBody>
      </p:sp>
      <p:sp>
        <p:nvSpPr>
          <p:cNvPr id="36" name="Shape 33"/>
          <p:cNvSpPr/>
          <p:nvPr/>
        </p:nvSpPr>
        <p:spPr>
          <a:xfrm>
            <a:off x="6995160" y="2935224"/>
            <a:ext cx="4553712" cy="0"/>
          </a:xfrm>
          <a:prstGeom prst="line">
            <a:avLst/>
          </a:prstGeom>
          <a:noFill/>
          <a:ln w="9525">
            <a:solidFill>
              <a:srgbClr val="E4DCCB"/>
            </a:solidFill>
            <a:prstDash val="dash"/>
          </a:ln>
        </p:spPr>
      </p:sp>
      <p:sp>
        <p:nvSpPr>
          <p:cNvPr id="37" name="Text 34"/>
          <p:cNvSpPr txBox="1"/>
          <p:nvPr/>
        </p:nvSpPr>
        <p:spPr>
          <a:xfrm>
            <a:off x="6949440" y="2953512"/>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فِي الْبَيْتِ</a:t>
            </a:r>
            <a:endParaRPr lang="ar-SA" sz="1950" dirty="0"/>
          </a:p>
        </p:txBody>
      </p:sp>
      <p:sp>
        <p:nvSpPr>
          <p:cNvPr id="38" name="Text 35"/>
          <p:cNvSpPr txBox="1"/>
          <p:nvPr/>
        </p:nvSpPr>
        <p:spPr>
          <a:xfrm>
            <a:off x="6949440" y="3378525"/>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fī l-bayti  ·  connected</a:t>
            </a:r>
            <a:endParaRPr lang="en-US" sz="1100" dirty="0"/>
          </a:p>
        </p:txBody>
      </p:sp>
      <p:sp>
        <p:nvSpPr>
          <p:cNvPr id="39" name="Shape 36"/>
          <p:cNvSpPr/>
          <p:nvPr/>
        </p:nvSpPr>
        <p:spPr>
          <a:xfrm>
            <a:off x="6995160" y="3694176"/>
            <a:ext cx="4553712" cy="0"/>
          </a:xfrm>
          <a:prstGeom prst="line">
            <a:avLst/>
          </a:prstGeom>
          <a:noFill/>
          <a:ln w="9525">
            <a:solidFill>
              <a:srgbClr val="E4DCCB"/>
            </a:solidFill>
            <a:prstDash val="dash"/>
          </a:ln>
        </p:spPr>
      </p:sp>
      <p:sp>
        <p:nvSpPr>
          <p:cNvPr id="40" name="Text 37"/>
          <p:cNvSpPr txBox="1"/>
          <p:nvPr/>
        </p:nvSpPr>
        <p:spPr>
          <a:xfrm>
            <a:off x="6949440" y="3712464"/>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وَالشَّمْسُ</a:t>
            </a:r>
            <a:endParaRPr lang="ar-SA" sz="1950" dirty="0"/>
          </a:p>
        </p:txBody>
      </p:sp>
      <p:sp>
        <p:nvSpPr>
          <p:cNvPr id="41" name="Text 38"/>
          <p:cNvSpPr txBox="1"/>
          <p:nvPr/>
        </p:nvSpPr>
        <p:spPr>
          <a:xfrm>
            <a:off x="6949440" y="4137477"/>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wa-sh-shamsu  ·  connected + sun letter</a:t>
            </a:r>
            <a:endParaRPr lang="en-US" sz="1100" dirty="0"/>
          </a:p>
        </p:txBody>
      </p:sp>
      <p:sp>
        <p:nvSpPr>
          <p:cNvPr id="42" name="Shape 39"/>
          <p:cNvSpPr/>
          <p:nvPr/>
        </p:nvSpPr>
        <p:spPr>
          <a:xfrm>
            <a:off x="6995160" y="4453128"/>
            <a:ext cx="4553712" cy="0"/>
          </a:xfrm>
          <a:prstGeom prst="line">
            <a:avLst/>
          </a:prstGeom>
          <a:noFill/>
          <a:ln w="9525">
            <a:solidFill>
              <a:srgbClr val="E4DCCB"/>
            </a:solidFill>
            <a:prstDash val="dash"/>
          </a:ln>
        </p:spPr>
      </p:sp>
      <p:sp>
        <p:nvSpPr>
          <p:cNvPr id="43" name="Text 40"/>
          <p:cNvSpPr txBox="1"/>
          <p:nvPr/>
        </p:nvSpPr>
        <p:spPr>
          <a:xfrm>
            <a:off x="6949440" y="4471416"/>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مَعَ الْمُعَلِّمَةِ</a:t>
            </a:r>
            <a:endParaRPr lang="ar-SA" sz="1950" dirty="0"/>
          </a:p>
        </p:txBody>
      </p:sp>
      <p:sp>
        <p:nvSpPr>
          <p:cNvPr id="44" name="Text 41"/>
          <p:cNvSpPr txBox="1"/>
          <p:nvPr/>
        </p:nvSpPr>
        <p:spPr>
          <a:xfrm>
            <a:off x="6949440" y="4896429"/>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maʿa l-muʿallimati  ·  connected</a:t>
            </a:r>
            <a:endParaRPr lang="en-US" sz="1100" dirty="0"/>
          </a:p>
        </p:txBody>
      </p:sp>
      <p:sp>
        <p:nvSpPr>
          <p:cNvPr id="45" name="Shape 42"/>
          <p:cNvSpPr/>
          <p:nvPr/>
        </p:nvSpPr>
        <p:spPr>
          <a:xfrm>
            <a:off x="457200" y="5394960"/>
            <a:ext cx="11274552" cy="914400"/>
          </a:xfrm>
          <a:prstGeom prst="roundRect">
            <a:avLst>
              <a:gd name="adj" fmla="val 8000"/>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B83227"/>
                </a:solidFill>
                <a:latin typeface="Calibri" pitchFamily="34" charset="0"/>
                <a:cs typeface="Amiri" pitchFamily="2" charset="-78"/>
              </a:rPr>
              <a:t>WATCH OUT</a:t>
            </a:r>
            <a:endParaRPr lang="en-US" sz="1100" dirty="0"/>
          </a:p>
        </p:txBody>
      </p:sp>
      <p:sp>
        <p:nvSpPr>
          <p:cNvPr id="47" name="Text 44"/>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Pronounce naturally; spell conventionally. Cambridge writing expects standard spelling — never write words the way they sound when joined.</a:t>
            </a:r>
            <a:endParaRPr lang="en-US" sz="12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GM-ART-01 · Articles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dirty="0">
                <a:solidFill>
                  <a:srgbClr val="1B3B6F"/>
                </a:solidFill>
                <a:latin typeface="Calibri" pitchFamily="34" charset="0"/>
                <a:cs typeface="Amiri" pitchFamily="2" charset="-78"/>
              </a:rPr>
              <a:t>GRAMMAR · PART 5 · WHERE </a:t>
            </a:r>
            <a:pPr algn="l" indent="0" marL="0">
              <a:buNone/>
            </a:pPr>
            <a:r>
              <a:rPr lang="ar-SA" altLang="en-US" sz="1050" b="1" dirty="0">
                <a:solidFill>
                  <a:srgbClr val="1B3B6F"/>
                </a:solidFill>
                <a:latin typeface="Amiri" pitchFamily="2" charset="-78"/>
                <a:cs typeface="Amiri" pitchFamily="2" charset="-78"/>
              </a:rPr>
              <a:t>الـ</a:t>
            </a:r>
            <a:pPr algn="l" indent="0" marL="0">
              <a:buNone/>
            </a:pPr>
            <a:r>
              <a:rPr lang="en-US" sz="800" b="1" dirty="0">
                <a:solidFill>
                  <a:srgbClr val="1B3B6F"/>
                </a:solidFill>
                <a:latin typeface="Calibri" pitchFamily="34" charset="0"/>
                <a:cs typeface="Amiri" pitchFamily="2" charset="-78"/>
              </a:rPr>
              <a:t> DOES — AND DOES NOT — BELONG (WEBSITE SECTION 4)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Do not add </a:t>
            </a:r>
            <a:pPr algn="l" indent="0" marL="0">
              <a:buNone/>
            </a:pPr>
            <a:r>
              <a:rPr lang="ar-SA" altLang="en-US" sz="3650" b="1" dirty="0">
                <a:solidFill>
                  <a:srgbClr val="1B3B6F"/>
                </a:solidFill>
                <a:latin typeface="Amiri" pitchFamily="2" charset="-78"/>
                <a:cs typeface="Amiri" pitchFamily="2" charset="-78"/>
              </a:rPr>
              <a:t>الـ</a:t>
            </a:r>
            <a:pPr algn="l" indent="0" marL="0">
              <a:buNone/>
            </a:pPr>
            <a:r>
              <a:rPr lang="en-US" sz="2800" b="1" dirty="0">
                <a:solidFill>
                  <a:srgbClr val="1B3B6F"/>
                </a:solidFill>
                <a:latin typeface="Cambria" pitchFamily="34" charset="0"/>
                <a:cs typeface="Amiri" pitchFamily="2" charset="-78"/>
              </a:rPr>
              <a:t> mechanically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مَوَاضِعُ «الـ» وَحُدُودُهَا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GM-ART-01</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754380" cy="274320"/>
          </a:xfrm>
          <a:prstGeom prst="roundRect">
            <a:avLst>
              <a:gd name="adj" fmla="val 50000"/>
            </a:avLst>
          </a:prstGeom>
          <a:solidFill>
            <a:srgbClr val="1E6B52"/>
          </a:solidFill>
          <a:ln w="12700">
            <a:solidFill>
              <a:srgbClr val="1E6B52"/>
            </a:solidFill>
            <a:prstDash val="solid"/>
          </a:ln>
        </p:spPr>
      </p:sp>
      <p:sp>
        <p:nvSpPr>
          <p:cNvPr id="17" name="Text 14"/>
          <p:cNvSpPr txBox="1"/>
          <p:nvPr/>
        </p:nvSpPr>
        <p:spPr>
          <a:xfrm>
            <a:off x="8232648" y="1920240"/>
            <a:ext cx="7543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MY BOOK</a:t>
            </a:r>
            <a:endParaRPr lang="en-US" sz="850" dirty="0"/>
          </a:p>
        </p:txBody>
      </p:sp>
      <p:sp>
        <p:nvSpPr>
          <p:cNvPr id="18" name="Text 15"/>
          <p:cNvSpPr txBox="1"/>
          <p:nvPr/>
        </p:nvSpPr>
        <p:spPr>
          <a:xfrm>
            <a:off x="9032748" y="1874520"/>
            <a:ext cx="25618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كِتَابِي</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كِتَابِي</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my book — the ending </a:t>
            </a:r>
            <a:pPr algn="ctr" indent="0" marL="0">
              <a:buNone/>
            </a:pPr>
            <a:r>
              <a:rPr lang="ar-SA" altLang="en-US" sz="1550" dirty="0">
                <a:solidFill>
                  <a:srgbClr val="5A6472"/>
                </a:solidFill>
                <a:latin typeface="Amiri" pitchFamily="2" charset="-78"/>
                <a:cs typeface="Amiri" pitchFamily="2" charset="-78"/>
              </a:rPr>
              <a:t>ـِي</a:t>
            </a:r>
            <a:pPr algn="ctr" indent="0" marL="0">
              <a:buNone/>
            </a:pPr>
            <a:r>
              <a:rPr lang="en-US" sz="1200" i="1" dirty="0">
                <a:solidFill>
                  <a:srgbClr val="5A6472"/>
                </a:solidFill>
                <a:latin typeface="Calibri" pitchFamily="34" charset="0"/>
                <a:cs typeface="Amiri" pitchFamily="2" charset="-78"/>
              </a:rPr>
              <a:t> already makes it definite</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Never </a:t>
            </a:r>
            <a:pPr algn="l" indent="0" marL="0">
              <a:buNone/>
            </a:pPr>
            <a:r>
              <a:rPr lang="ar-SA" altLang="en-US" sz="1450" dirty="0">
                <a:solidFill>
                  <a:srgbClr val="1F2A37"/>
                </a:solidFill>
                <a:latin typeface="Amiri" pitchFamily="2" charset="-78"/>
                <a:cs typeface="Amiri" pitchFamily="2" charset="-78"/>
              </a:rPr>
              <a:t>الْكِتَابِي</a:t>
            </a:r>
            <a:pPr algn="l" indent="0" marL="0">
              <a:buNone/>
            </a:pPr>
            <a:r>
              <a:rPr lang="en-US" sz="1100" dirty="0">
                <a:solidFill>
                  <a:srgbClr val="1F2A37"/>
                </a:solidFill>
                <a:latin typeface="Calibri" pitchFamily="34" charset="0"/>
                <a:cs typeface="Amiri" pitchFamily="2" charset="-78"/>
              </a:rPr>
              <a:t>.</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617220" cy="274320"/>
          </a:xfrm>
          <a:prstGeom prst="roundRect">
            <a:avLst>
              <a:gd name="adj" fmla="val 50000"/>
            </a:avLst>
          </a:prstGeom>
          <a:solidFill>
            <a:srgbClr val="1D5FBF"/>
          </a:solidFill>
          <a:ln w="12700">
            <a:solidFill>
              <a:srgbClr val="1D5FBF"/>
            </a:solidFill>
            <a:prstDash val="solid"/>
          </a:ln>
        </p:spPr>
      </p:sp>
      <p:sp>
        <p:nvSpPr>
          <p:cNvPr id="25" name="Text 22"/>
          <p:cNvSpPr txBox="1"/>
          <p:nvPr/>
        </p:nvSpPr>
        <p:spPr>
          <a:xfrm>
            <a:off x="4413504" y="1920240"/>
            <a:ext cx="6172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IḌĀFA</a:t>
            </a:r>
            <a:endParaRPr lang="en-US" sz="850" dirty="0"/>
          </a:p>
        </p:txBody>
      </p:sp>
      <p:sp>
        <p:nvSpPr>
          <p:cNvPr id="26" name="Text 23"/>
          <p:cNvSpPr txBox="1"/>
          <p:nvPr/>
        </p:nvSpPr>
        <p:spPr>
          <a:xfrm>
            <a:off x="5076444" y="1874520"/>
            <a:ext cx="26990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بَابُ الْمَدْرَسَةِ</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بَابُ الْمَدْرَسَةِ</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school door — no </a:t>
            </a:r>
            <a:pPr algn="ctr" indent="0" marL="0">
              <a:buNone/>
            </a:pPr>
            <a:r>
              <a:rPr lang="ar-SA" altLang="en-US" sz="1550" dirty="0">
                <a:solidFill>
                  <a:srgbClr val="5A6472"/>
                </a:solidFill>
                <a:latin typeface="Amiri" pitchFamily="2" charset="-78"/>
                <a:cs typeface="Amiri" pitchFamily="2" charset="-78"/>
              </a:rPr>
              <a:t>الـ</a:t>
            </a:r>
            <a:pPr algn="ctr" indent="0" marL="0">
              <a:buNone/>
            </a:pPr>
            <a:r>
              <a:rPr lang="en-US" sz="1200" i="1" dirty="0">
                <a:solidFill>
                  <a:srgbClr val="5A6472"/>
                </a:solidFill>
                <a:latin typeface="Calibri" pitchFamily="34" charset="0"/>
                <a:cs typeface="Amiri" pitchFamily="2" charset="-78"/>
              </a:rPr>
              <a:t> on the first noun</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Only the LAST noun takes </a:t>
            </a:r>
            <a:pPr algn="l" indent="0" marL="0">
              <a:buNone/>
            </a:pPr>
            <a:r>
              <a:rPr lang="ar-SA" altLang="en-US" sz="1450" dirty="0">
                <a:solidFill>
                  <a:srgbClr val="1F2A37"/>
                </a:solidFill>
                <a:latin typeface="Amiri" pitchFamily="2" charset="-78"/>
                <a:cs typeface="Amiri" pitchFamily="2" charset="-78"/>
              </a:rPr>
              <a:t>الـ</a:t>
            </a:r>
            <a:pPr algn="l" indent="0" marL="0">
              <a:buNone/>
            </a:pPr>
            <a:r>
              <a:rPr lang="en-US" sz="1100" dirty="0">
                <a:solidFill>
                  <a:srgbClr val="1F2A37"/>
                </a:solidFill>
                <a:latin typeface="Calibri" pitchFamily="34" charset="0"/>
                <a:cs typeface="Amiri" pitchFamily="2" charset="-78"/>
              </a:rPr>
              <a:t>.</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61722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6172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NAMES</a:t>
            </a:r>
            <a:endParaRPr lang="en-US" sz="850" dirty="0"/>
          </a:p>
        </p:txBody>
      </p:sp>
      <p:sp>
        <p:nvSpPr>
          <p:cNvPr id="34" name="Text 31"/>
          <p:cNvSpPr txBox="1"/>
          <p:nvPr/>
        </p:nvSpPr>
        <p:spPr>
          <a:xfrm>
            <a:off x="1257300" y="1874520"/>
            <a:ext cx="26990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مَرْيَمُ · الْقَاهِرَةُ</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مَرْيَمُ · الْقَاهِرَةُ</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Maryam (no </a:t>
            </a:r>
            <a:pPr algn="ctr" indent="0" marL="0">
              <a:buNone/>
            </a:pPr>
            <a:r>
              <a:rPr lang="ar-SA" altLang="en-US" sz="1550" dirty="0">
                <a:solidFill>
                  <a:srgbClr val="5A6472"/>
                </a:solidFill>
                <a:latin typeface="Amiri" pitchFamily="2" charset="-78"/>
                <a:cs typeface="Amiri" pitchFamily="2" charset="-78"/>
              </a:rPr>
              <a:t>الـ</a:t>
            </a:r>
            <a:pPr algn="ctr" indent="0" marL="0">
              <a:buNone/>
            </a:pPr>
            <a:r>
              <a:rPr lang="en-US" sz="1200" i="1" dirty="0">
                <a:solidFill>
                  <a:srgbClr val="5A6472"/>
                </a:solidFill>
                <a:latin typeface="Calibri" pitchFamily="34" charset="0"/>
                <a:cs typeface="Amiri" pitchFamily="2" charset="-78"/>
              </a:rPr>
              <a:t>) · Cairo (always with </a:t>
            </a:r>
            <a:pPr algn="ctr" indent="0" marL="0">
              <a:buNone/>
            </a:pPr>
            <a:r>
              <a:rPr lang="ar-SA" altLang="en-US" sz="1550" dirty="0">
                <a:solidFill>
                  <a:srgbClr val="5A6472"/>
                </a:solidFill>
                <a:latin typeface="Amiri" pitchFamily="2" charset="-78"/>
                <a:cs typeface="Amiri" pitchFamily="2" charset="-78"/>
              </a:rPr>
              <a:t>الـ</a:t>
            </a:r>
            <a:pPr algn="ctr" indent="0" marL="0">
              <a:buNone/>
            </a:pPr>
            <a:r>
              <a:rPr lang="en-US" sz="1200" i="1" dirty="0">
                <a:solidFill>
                  <a:srgbClr val="5A6472"/>
                </a:solidFill>
                <a:latin typeface="Calibri" pitchFamily="34" charset="0"/>
                <a:cs typeface="Amiri" pitchFamily="2" charset="-78"/>
              </a:rPr>
              <a:t>)</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Learn each name as it is.</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idāfa preview: the first noun never takes </a:t>
            </a:r>
            <a:pPr algn="l" indent="0" marL="0">
              <a:buNone/>
            </a:pPr>
            <a:r>
              <a:rPr lang="ar-SA" altLang="en-US" sz="1500" dirty="0">
                <a:solidFill>
                  <a:srgbClr val="1F2A37"/>
                </a:solidFill>
                <a:latin typeface="Amiri" pitchFamily="2" charset="-78"/>
                <a:cs typeface="Amiri" pitchFamily="2" charset="-78"/>
              </a:rPr>
              <a:t>الـ</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بَابُ الْمَدْرَسَةِ</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500" b="1" dirty="0">
                <a:solidFill>
                  <a:srgbClr val="B83227"/>
                </a:solidFill>
                <a:latin typeface="Amiri" pitchFamily="2" charset="-78"/>
                <a:cs typeface="Amiri" pitchFamily="2" charset="-78"/>
              </a:rPr>
              <a:t>الْبَابُ الْمَدْرَسَةِ</a:t>
            </a:r>
            <a:endParaRPr lang="ar-SA" sz="25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GM-ART-01 · Articles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large city”.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الْمَدِينَةُ الْكَبِيرَةُ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الْمَدِينَةُ كَبِيرَةٌ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مَدِينَةٌ كَبِيرَةٌ</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large city”.</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الْمَدِينَةُ الْكَبِيرَةُ</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مَدِينَةٌ كَبِيرَةٌ</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الْمَدِينَةُ كَبِيرَةٌ</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city is large.”</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الْمَدِينَةُ الْكَبِيرَةُ.</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الْمَدِينَةُ كَبِيرَةٌ.</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مَدِينَةٌ الْكَبِيرَةُ.</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one complete noun phrase?</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الطَّالِبُ الْمُجْتَهِدُ</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الطَّالِبُ مُجْتَهِدٌ</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طَالِبٌ الْمُجْتَهِدُ</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GM-ART-01 · Articles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large city”.</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الْمَدِينَةُ الْكَبِيرَةُ</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الْمَدِينَةُ كَبِيرَةٌ</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مَدِينَةٌ كَبِيرَةٌ</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words are indefinite and agree in gender.</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large city”.</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الْمَدِينَةُ الْكَبِيرَةُ</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مَدِينَةٌ كَبِيرَةٌ</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الْمَدِينَةُ كَبِيرَةٌ</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adjective describes the noun inside one definite phrase, so both take </a:t>
            </a:r>
            <a:pPr algn="l" indent="0" marL="0">
              <a:buNone/>
            </a:pPr>
            <a:r>
              <a:rPr lang="ar-SA" altLang="en-US" sz="1350" dirty="0">
                <a:solidFill>
                  <a:srgbClr val="8A6D1E"/>
                </a:solidFill>
                <a:latin typeface="Amiri" pitchFamily="2" charset="-78"/>
                <a:cs typeface="Amiri" pitchFamily="2" charset="-78"/>
              </a:rPr>
              <a:t>الـ</a:t>
            </a:r>
            <a:pPr algn="l" indent="0" marL="0">
              <a:buNone/>
            </a:pPr>
            <a:r>
              <a:rPr lang="en-US" sz="1050" i="1" dirty="0">
                <a:solidFill>
                  <a:srgbClr val="8A6D1E"/>
                </a:solidFill>
                <a:latin typeface="Calibri" pitchFamily="34" charset="0"/>
                <a:cs typeface="Amiri" pitchFamily="2" charset="-78"/>
              </a:rPr>
              <a:t> .</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city is large.”</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الْمَدِينَةُ الْكَبِيرَةُ.</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الْمَدِينَةُ كَبِيرَةٌ.</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مَدِينَةٌ الْكَبِيرَةُ.</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indefinite adjective is the predicate: it tells us something about the definite subject.</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one complete noun phrase?</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الطَّالِبُ الْمُجْتَهِدُ</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الطَّالِبُ مُجْتَهِدٌ</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طَالِبٌ الْمُجْتَهِدُ</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is “the hardworking student”; the second is the sentence “The student is hardworking.”</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GM-ART-01 · Articles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decide: </a:t>
            </a:r>
            <a:pPr algn="l" indent="0" marL="0">
              <a:buNone/>
            </a:pPr>
            <a:r>
              <a:rPr lang="ar-SA" altLang="en-US" sz="3650" b="1" dirty="0">
                <a:solidFill>
                  <a:srgbClr val="1B3B6F"/>
                </a:solidFill>
                <a:latin typeface="Amiri" pitchFamily="2" charset="-78"/>
                <a:cs typeface="Amiri" pitchFamily="2" charset="-78"/>
              </a:rPr>
              <a:t>الـ</a:t>
            </a:r>
            <a:pPr algn="l" indent="0" marL="0">
              <a:buNone/>
            </a:pPr>
            <a:r>
              <a:rPr lang="en-US" sz="2800" b="1" dirty="0">
                <a:solidFill>
                  <a:srgbClr val="1B3B6F"/>
                </a:solidFill>
                <a:latin typeface="Cambria" pitchFamily="34" charset="0"/>
                <a:cs typeface="Amiri" pitchFamily="2" charset="-78"/>
              </a:rPr>
              <a:t> or not?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New?</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مَكْتَبَةٌ</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First mention → indefinite.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Known?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الْمَكْتَبَةُ</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Back again → add </a:t>
            </a:r>
            <a:pPr algn="l" indent="0" marL="0">
              <a:buNone/>
            </a:pPr>
            <a:r>
              <a:rPr lang="ar-SA" altLang="en-US" sz="1500" dirty="0">
                <a:solidFill>
                  <a:srgbClr val="1F2A37"/>
                </a:solidFill>
                <a:latin typeface="Amiri" pitchFamily="2" charset="-78"/>
                <a:cs typeface="Amiri" pitchFamily="2" charset="-78"/>
              </a:rPr>
              <a:t>الـ</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Connect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إِلَى الْمَكْتَبَةِ</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ilā l-maktabati; write in full.</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Match</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الْمَكْتَبَةُ الْعَامَّةُ</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Adjective definite too.</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INDEFINITE</a:t>
            </a:r>
            <a:endParaRPr lang="en-US" sz="800" dirty="0"/>
          </a:p>
        </p:txBody>
      </p:sp>
      <p:sp>
        <p:nvSpPr>
          <p:cNvPr id="47" name="Shape 43"/>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DEFINITE</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فِي حَيِّي </a:t>
            </a:r>
            <a:pPr rtl="1" algn="r" indent="0" marL="0">
              <a:buNone/>
            </a:pPr>
            <a:r>
              <a:rPr lang="ar-SA" altLang="en-US" sz="2600" b="1" dirty="0">
                <a:solidFill>
                  <a:srgbClr val="D6336C"/>
                </a:solidFill>
                <a:latin typeface="Amiri" pitchFamily="2" charset="-78"/>
                <a:cs typeface="Amiri" pitchFamily="2" charset="-78"/>
              </a:rPr>
              <a:t>مَكْتَبَةٌ</a:t>
            </a:r>
            <a:pPr rtl="1" algn="r" indent="0" marL="0">
              <a:buNone/>
            </a:pPr>
            <a:r>
              <a:rPr lang="ar-SA" altLang="en-US" sz="2600" b="1" dirty="0">
                <a:solidFill>
                  <a:srgbClr val="1B3B6F"/>
                </a:solidFill>
                <a:latin typeface="Amiri" pitchFamily="2" charset="-78"/>
                <a:cs typeface="Amiri" pitchFamily="2" charset="-78"/>
              </a:rPr>
              <a:t> </a:t>
            </a:r>
            <a:pPr rtl="1" algn="r" indent="0" marL="0">
              <a:buNone/>
            </a:pPr>
            <a:r>
              <a:rPr lang="ar-SA" altLang="en-US" sz="2600" b="1" dirty="0">
                <a:solidFill>
                  <a:srgbClr val="D6336C"/>
                </a:solidFill>
                <a:latin typeface="Amiri" pitchFamily="2" charset="-78"/>
                <a:cs typeface="Amiri" pitchFamily="2" charset="-78"/>
              </a:rPr>
              <a:t>عَامَّةٌ</a:t>
            </a:r>
            <a:pPr rtl="1" algn="r" indent="0" marL="0">
              <a:buNone/>
            </a:pPr>
            <a:r>
              <a:rPr lang="ar-SA" altLang="en-US" sz="2600" b="1" dirty="0">
                <a:solidFill>
                  <a:srgbClr val="1B3B6F"/>
                </a:solidFill>
                <a:latin typeface="Amiri" pitchFamily="2" charset="-78"/>
                <a:cs typeface="Amiri" pitchFamily="2" charset="-78"/>
              </a:rPr>
              <a:t>. </a:t>
            </a:r>
            <a:pPr rtl="1" algn="r" indent="0" marL="0">
              <a:buNone/>
            </a:pPr>
            <a:r>
              <a:rPr lang="ar-SA" altLang="en-US" sz="2600" b="1" dirty="0">
                <a:solidFill>
                  <a:srgbClr val="0E7C86"/>
                </a:solidFill>
                <a:latin typeface="Amiri" pitchFamily="2" charset="-78"/>
                <a:cs typeface="Amiri" pitchFamily="2" charset="-78"/>
              </a:rPr>
              <a:t>الْمَكْتَبَةُ</a:t>
            </a:r>
            <a:pPr rtl="1" algn="r" indent="0" marL="0">
              <a:buNone/>
            </a:pPr>
            <a:r>
              <a:rPr lang="ar-SA" altLang="en-US" sz="2600" b="1" dirty="0">
                <a:solidFill>
                  <a:srgbClr val="1B3B6F"/>
                </a:solidFill>
                <a:latin typeface="Amiri" pitchFamily="2" charset="-78"/>
                <a:cs typeface="Amiri" pitchFamily="2" charset="-78"/>
              </a:rPr>
              <a:t> قَرِيبَةٌ مِنَ </a:t>
            </a:r>
            <a:pPr rtl="1" algn="r" indent="0" marL="0">
              <a:buNone/>
            </a:pPr>
            <a:r>
              <a:rPr lang="ar-SA" altLang="en-US" sz="2600" b="1" dirty="0">
                <a:solidFill>
                  <a:srgbClr val="0E7C86"/>
                </a:solidFill>
                <a:latin typeface="Amiri" pitchFamily="2" charset="-78"/>
                <a:cs typeface="Amiri" pitchFamily="2" charset="-78"/>
              </a:rPr>
              <a:t>الْمَدْرَسَةِ</a:t>
            </a:r>
            <a:pPr rtl="1" algn="r" indent="0" marL="0">
              <a:buNone/>
            </a:pPr>
            <a:r>
              <a:rPr lang="ar-SA" altLang="en-US" sz="2600" b="1" dirty="0">
                <a:solidFill>
                  <a:srgbClr val="1B3B6F"/>
                </a:solidFill>
                <a:latin typeface="Amiri" pitchFamily="2" charset="-78"/>
                <a:cs typeface="Amiri" pitchFamily="2" charset="-78"/>
              </a:rPr>
              <a:t>، وَأَذْهَبُ إِلَى </a:t>
            </a:r>
            <a:pPr rtl="1" algn="r" indent="0" marL="0">
              <a:buNone/>
            </a:pPr>
            <a:r>
              <a:rPr lang="ar-SA" altLang="en-US" sz="2600" b="1" dirty="0">
                <a:solidFill>
                  <a:srgbClr val="0E7C86"/>
                </a:solidFill>
                <a:latin typeface="Amiri" pitchFamily="2" charset="-78"/>
                <a:cs typeface="Amiri" pitchFamily="2" charset="-78"/>
              </a:rPr>
              <a:t>الْمَكْتَبَةِ</a:t>
            </a:r>
            <a:pPr rtl="1" algn="r" indent="0" marL="0">
              <a:buNone/>
            </a:pPr>
            <a:r>
              <a:rPr lang="ar-SA" altLang="en-US" sz="2600" b="1" dirty="0">
                <a:solidFill>
                  <a:srgbClr val="1B3B6F"/>
                </a:solidFill>
                <a:latin typeface="Amiri" pitchFamily="2" charset="-78"/>
                <a:cs typeface="Amiri" pitchFamily="2" charset="-78"/>
              </a:rPr>
              <a:t> يَوْمَ </a:t>
            </a:r>
            <a:pPr rtl="1" algn="r" indent="0" marL="0">
              <a:buNone/>
            </a:pPr>
            <a:r>
              <a:rPr lang="ar-SA" altLang="en-US" sz="2600" b="1" dirty="0">
                <a:solidFill>
                  <a:srgbClr val="0E7C86"/>
                </a:solidFill>
                <a:latin typeface="Amiri" pitchFamily="2" charset="-78"/>
                <a:cs typeface="Amiri" pitchFamily="2" charset="-78"/>
              </a:rPr>
              <a:t>السَّبْتِ</a:t>
            </a:r>
            <a:pPr rtl="1" algn="r" indent="0" marL="0">
              <a:buNone/>
            </a:pPr>
            <a:r>
              <a:rPr lang="ar-SA" altLang="en-US" sz="2600" b="1" dirty="0">
                <a:solidFill>
                  <a:srgbClr val="1B3B6F"/>
                </a:solidFill>
                <a:latin typeface="Amiri" pitchFamily="2" charset="-78"/>
                <a:cs typeface="Amiri" pitchFamily="2" charset="-78"/>
              </a:rPr>
              <a:t>.</a:t>
            </a:r>
            <a:endParaRPr lang="ar-SA" sz="26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In my neighbourhood there is a public library. The library is near the school, and I go to the library on Saturday.</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GM-ART-01 · Articles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GM-ART-01</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فِي الْمَدِينَةِ مَدْرَسَةٌ جَدِيدَةٌ.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In the city there is a new school.</a:t>
            </a:r>
            <a:endParaRPr lang="en-US" sz="1250" dirty="0"/>
          </a:p>
          <a:p>
            <a:pPr indent="0" marL="0">
              <a:buNone/>
            </a:pPr>
            <a:r>
              <a:rPr lang="en-US" sz="1050" i="1" dirty="0">
                <a:solidFill>
                  <a:srgbClr val="8A6D1E"/>
                </a:solidFill>
                <a:latin typeface="Calibri" pitchFamily="34" charset="0"/>
                <a:cs typeface="Amiri" pitchFamily="2" charset="-78"/>
              </a:rPr>
              <a:t>New information: indefinite.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الْمَدْرَسَةُ قَرِيبَةٌ مِنْ بَيْتِي.</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school is near my house.</a:t>
            </a:r>
            <a:endParaRPr lang="en-US" sz="1250" dirty="0"/>
          </a:p>
          <a:p>
            <a:pPr indent="0" marL="0">
              <a:buNone/>
            </a:pPr>
            <a:r>
              <a:rPr lang="en-US" sz="1050" i="1" dirty="0">
                <a:solidFill>
                  <a:srgbClr val="8A6D1E"/>
                </a:solidFill>
                <a:latin typeface="Calibri" pitchFamily="34" charset="0"/>
                <a:cs typeface="Amiri" pitchFamily="2" charset="-78"/>
              </a:rPr>
              <a:t>Back again: definite · بَيْتِي has no الـ.</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أَذْهَبُ إِلَى السُّوقِ يَوْمَ السَّبْتِ.</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go to the market on Saturday.</a:t>
            </a:r>
            <a:endParaRPr lang="en-US" sz="1250" dirty="0"/>
          </a:p>
          <a:p>
            <a:pPr indent="0" marL="0">
              <a:buNone/>
            </a:pPr>
            <a:r>
              <a:rPr lang="en-US" sz="1050" i="1" dirty="0">
                <a:solidFill>
                  <a:srgbClr val="8A6D1E"/>
                </a:solidFill>
                <a:latin typeface="Calibri" pitchFamily="34" charset="0"/>
                <a:cs typeface="Amiri" pitchFamily="2" charset="-78"/>
              </a:rPr>
              <a:t>Two sun letters: as-sūqi · as-sabti.</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الْبَيْتُ الْكَبِيرُ فِي الشَّارِعِ.</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big house is in the street.</a:t>
            </a:r>
            <a:endParaRPr lang="en-US" sz="1250" dirty="0"/>
          </a:p>
          <a:p>
            <a:pPr indent="0" marL="0">
              <a:buNone/>
            </a:pPr>
            <a:r>
              <a:rPr lang="en-US" sz="1050" i="1" dirty="0">
                <a:solidFill>
                  <a:srgbClr val="8A6D1E"/>
                </a:solidFill>
                <a:latin typeface="Calibri" pitchFamily="34" charset="0"/>
                <a:cs typeface="Amiri" pitchFamily="2" charset="-78"/>
              </a:rPr>
              <a:t>A definite phrase + connected speech.</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GM-ART-01 · Articles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SUN OR MOON?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Sun letter or moon letter?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الشَّمْسُ</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الْقَمَرُ</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النَّهْرُ</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الْبَابُ</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الدَّرْسُ</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الْجَبَلُ</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الصَّفُّ</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الْكِتَابُ</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الرَّجُلُ</a:t>
            </a:r>
            <a:endParaRPr lang="ar-SA" sz="1800" dirty="0"/>
          </a:p>
        </p:txBody>
      </p:sp>
      <p:sp>
        <p:nvSpPr>
          <p:cNvPr id="33" name="Shape 30"/>
          <p:cNvSpPr/>
          <p:nvPr/>
        </p:nvSpPr>
        <p:spPr>
          <a:xfrm>
            <a:off x="6163056"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254496"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الْوَلَدُ</a:t>
            </a:r>
            <a:endParaRPr lang="ar-SA" sz="1800" dirty="0"/>
          </a:p>
        </p:txBody>
      </p:sp>
      <p:sp>
        <p:nvSpPr>
          <p:cNvPr id="35" name="Shape 32"/>
          <p:cNvSpPr/>
          <p:nvPr/>
        </p:nvSpPr>
        <p:spPr>
          <a:xfrm>
            <a:off x="6185916" y="3529584"/>
            <a:ext cx="5545836" cy="2779776"/>
          </a:xfrm>
          <a:prstGeom prst="roundRect">
            <a:avLst>
              <a:gd name="adj" fmla="val 2632"/>
            </a:avLst>
          </a:prstGeom>
          <a:solidFill>
            <a:srgbClr val="EEF3FA"/>
          </a:solidFill>
          <a:ln w="9525">
            <a:solidFill>
              <a:srgbClr val="C9D6EA"/>
            </a:solidFill>
            <a:prstDash val="solid"/>
          </a:ln>
        </p:spPr>
      </p:sp>
      <p:sp>
        <p:nvSpPr>
          <p:cNvPr id="36" name="Shape 33"/>
          <p:cNvSpPr/>
          <p:nvPr/>
        </p:nvSpPr>
        <p:spPr>
          <a:xfrm>
            <a:off x="6323076" y="3639312"/>
            <a:ext cx="5271516" cy="310896"/>
          </a:xfrm>
          <a:prstGeom prst="roundRect">
            <a:avLst>
              <a:gd name="adj" fmla="val 50000"/>
            </a:avLst>
          </a:prstGeom>
          <a:solidFill>
            <a:srgbClr val="2F6FB0"/>
          </a:solidFill>
          <a:ln w="12700">
            <a:solidFill>
              <a:srgbClr val="2F6FB0"/>
            </a:solidFill>
            <a:prstDash val="solid"/>
          </a:ln>
        </p:spPr>
      </p:sp>
      <p:sp>
        <p:nvSpPr>
          <p:cNvPr id="37" name="Text 34"/>
          <p:cNvSpPr txBox="1"/>
          <p:nvPr/>
        </p:nvSpPr>
        <p:spPr>
          <a:xfrm>
            <a:off x="6323076" y="3639312"/>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Sun letter (lām silent)</a:t>
            </a:r>
            <a:endParaRPr lang="en-US" sz="950" dirty="0"/>
          </a:p>
        </p:txBody>
      </p:sp>
      <p:sp>
        <p:nvSpPr>
          <p:cNvPr id="38" name="Shape 35"/>
          <p:cNvSpPr/>
          <p:nvPr/>
        </p:nvSpPr>
        <p:spPr>
          <a:xfrm>
            <a:off x="457200" y="3529584"/>
            <a:ext cx="5545836" cy="2779776"/>
          </a:xfrm>
          <a:prstGeom prst="roundRect">
            <a:avLst>
              <a:gd name="adj" fmla="val 2632"/>
            </a:avLst>
          </a:prstGeom>
          <a:solidFill>
            <a:srgbClr val="EEF3FA"/>
          </a:solidFill>
          <a:ln w="9525">
            <a:solidFill>
              <a:srgbClr val="C9D6EA"/>
            </a:solidFill>
            <a:prstDash val="solid"/>
          </a:ln>
        </p:spPr>
      </p:sp>
      <p:sp>
        <p:nvSpPr>
          <p:cNvPr id="39" name="Shape 36"/>
          <p:cNvSpPr/>
          <p:nvPr/>
        </p:nvSpPr>
        <p:spPr>
          <a:xfrm>
            <a:off x="594360" y="3639312"/>
            <a:ext cx="5271516" cy="310896"/>
          </a:xfrm>
          <a:prstGeom prst="roundRect">
            <a:avLst>
              <a:gd name="adj" fmla="val 50000"/>
            </a:avLst>
          </a:prstGeom>
          <a:solidFill>
            <a:srgbClr val="2F6FB0"/>
          </a:solidFill>
          <a:ln w="12700">
            <a:solidFill>
              <a:srgbClr val="2F6FB0"/>
            </a:solidFill>
            <a:prstDash val="solid"/>
          </a:ln>
        </p:spPr>
      </p:sp>
      <p:sp>
        <p:nvSpPr>
          <p:cNvPr id="40" name="Text 37"/>
          <p:cNvSpPr txBox="1"/>
          <p:nvPr/>
        </p:nvSpPr>
        <p:spPr>
          <a:xfrm>
            <a:off x="594360" y="3639312"/>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Moon letter (lām heard)</a:t>
            </a:r>
            <a:endParaRPr lang="en-US" sz="9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GM-ART-01 · Articles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GM-ART-01</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Sun letter (lām silent)</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الشَّمْسُ</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النَّهْرُ</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الدَّرْسُ</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الصَّفُّ</a:t>
            </a:r>
            <a:endParaRPr lang="ar-SA" sz="1800" dirty="0"/>
          </a:p>
        </p:txBody>
      </p:sp>
      <p:sp>
        <p:nvSpPr>
          <p:cNvPr id="26" name="Shape 23"/>
          <p:cNvSpPr/>
          <p:nvPr/>
        </p:nvSpPr>
        <p:spPr>
          <a:xfrm>
            <a:off x="6323076" y="4425696"/>
            <a:ext cx="5271516" cy="438912"/>
          </a:xfrm>
          <a:prstGeom prst="roundRect">
            <a:avLst>
              <a:gd name="adj" fmla="val 12500"/>
            </a:avLst>
          </a:prstGeom>
          <a:solidFill>
            <a:srgbClr val="FFF4DC"/>
          </a:solidFill>
          <a:ln w="9525">
            <a:solidFill>
              <a:srgbClr val="E6C98A"/>
            </a:solidFill>
            <a:prstDash val="solid"/>
          </a:ln>
        </p:spPr>
      </p:sp>
      <p:sp>
        <p:nvSpPr>
          <p:cNvPr id="27" name="Text 24"/>
          <p:cNvSpPr txBox="1"/>
          <p:nvPr/>
        </p:nvSpPr>
        <p:spPr>
          <a:xfrm>
            <a:off x="6414516" y="4425696"/>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الرَّجُلُ</a:t>
            </a:r>
            <a:endParaRPr lang="ar-SA" sz="1800" dirty="0"/>
          </a:p>
        </p:txBody>
      </p:sp>
      <p:sp>
        <p:nvSpPr>
          <p:cNvPr id="28" name="Shape 25"/>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9" name="Shape 26"/>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30" name="Text 27"/>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Moon letter (lām heard)</a:t>
            </a:r>
            <a:endParaRPr lang="en-US" sz="950" dirty="0"/>
          </a:p>
        </p:txBody>
      </p:sp>
      <p:sp>
        <p:nvSpPr>
          <p:cNvPr id="31" name="Shape 28"/>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الْقَمَرُ</a:t>
            </a:r>
            <a:endParaRPr lang="ar-SA" sz="1800" dirty="0"/>
          </a:p>
        </p:txBody>
      </p:sp>
      <p:sp>
        <p:nvSpPr>
          <p:cNvPr id="33" name="Shape 30"/>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الْبَابُ</a:t>
            </a:r>
            <a:endParaRPr lang="ar-SA" sz="1800" dirty="0"/>
          </a:p>
        </p:txBody>
      </p:sp>
      <p:sp>
        <p:nvSpPr>
          <p:cNvPr id="35" name="Shape 32"/>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الْجَبَلُ</a:t>
            </a:r>
            <a:endParaRPr lang="ar-SA" sz="1800" dirty="0"/>
          </a:p>
        </p:txBody>
      </p:sp>
      <p:sp>
        <p:nvSpPr>
          <p:cNvPr id="37" name="Shape 34"/>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8" name="Text 35"/>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الْكِتَابُ</a:t>
            </a:r>
            <a:endParaRPr lang="ar-SA" sz="1800" dirty="0"/>
          </a:p>
        </p:txBody>
      </p:sp>
      <p:sp>
        <p:nvSpPr>
          <p:cNvPr id="39" name="Shape 36"/>
          <p:cNvSpPr/>
          <p:nvPr/>
        </p:nvSpPr>
        <p:spPr>
          <a:xfrm>
            <a:off x="594360" y="4425696"/>
            <a:ext cx="5271516" cy="438912"/>
          </a:xfrm>
          <a:prstGeom prst="roundRect">
            <a:avLst>
              <a:gd name="adj" fmla="val 12500"/>
            </a:avLst>
          </a:prstGeom>
          <a:solidFill>
            <a:srgbClr val="FFF4DC"/>
          </a:solidFill>
          <a:ln w="9525">
            <a:solidFill>
              <a:srgbClr val="E6C98A"/>
            </a:solidFill>
            <a:prstDash val="solid"/>
          </a:ln>
        </p:spPr>
      </p:sp>
      <p:sp>
        <p:nvSpPr>
          <p:cNvPr id="40" name="Text 37"/>
          <p:cNvSpPr txBox="1"/>
          <p:nvPr/>
        </p:nvSpPr>
        <p:spPr>
          <a:xfrm>
            <a:off x="685800" y="4425696"/>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الْوَلَدُ</a:t>
            </a:r>
            <a:endParaRPr lang="ar-SA" sz="180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GM-ART-01 · Articles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أَنَا فِلْبَيْتِ.</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Write what you hear?</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مَدْرَسَةٌ الْجَدِيدَةُ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Do noun and adjective match?</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هٰذَا الْكِتَابِي.</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Does “my” need </a:t>
            </a:r>
            <a:pPr algn="l" indent="0" marL="0">
              <a:buNone/>
            </a:pPr>
            <a:r>
              <a:rPr lang="ar-SA" altLang="en-US" sz="1700" dirty="0">
                <a:solidFill>
                  <a:srgbClr val="5A6472"/>
                </a:solidFill>
                <a:latin typeface="Amiri" pitchFamily="2" charset="-78"/>
                <a:cs typeface="Amiri" pitchFamily="2" charset="-78"/>
              </a:rPr>
              <a:t>الـ</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GM-ART-01 · Articles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أَنَا فِلْبَيْتِ.</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أَنَا فِي الْبَيْتِ.</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Say fī l-bayti, but write every letter.</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مَدْرَسَةٌ الْجَدِيدَةُ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الْمَدْرَسَةُ الْجَدِيدَةُ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Noun and adjective match: both definite.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هٰذَا الْكِتَابِي.</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هٰذَا كِتَابِي.</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my (</a:t>
            </a:r>
            <a:pPr algn="l" indent="0" marL="0">
              <a:buNone/>
            </a:pPr>
            <a:r>
              <a:rPr lang="ar-SA" altLang="en-US" sz="1500" b="1" dirty="0">
                <a:solidFill>
                  <a:srgbClr val="1B3B6F"/>
                </a:solidFill>
                <a:latin typeface="Amiri" pitchFamily="2" charset="-78"/>
                <a:cs typeface="Amiri" pitchFamily="2" charset="-78"/>
              </a:rPr>
              <a:t>ـِي</a:t>
            </a:r>
            <a:pPr algn="l" indent="0" marL="0">
              <a:buNone/>
            </a:pPr>
            <a:r>
              <a:rPr lang="en-US" sz="1150" b="1" dirty="0">
                <a:solidFill>
                  <a:srgbClr val="1B3B6F"/>
                </a:solidFill>
                <a:latin typeface="Calibri" pitchFamily="34" charset="0"/>
                <a:cs typeface="Amiri" pitchFamily="2" charset="-78"/>
              </a:rPr>
              <a:t>) already makes the noun definite.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GM-ART-01 · Articles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66" b="1" spc="150" kern="0" dirty="0">
                <a:solidFill>
                  <a:srgbClr val="2F6FB0"/>
                </a:solidFill>
                <a:latin typeface="Calibri" pitchFamily="34" charset="0"/>
                <a:cs typeface="Amiri" pitchFamily="2" charset="-78"/>
              </a:rPr>
              <a:t>WE DO · GUIDED PRACTICE · WEBSITE MINI-CHECK “CONNECT BUT DO NOT RESPELL”</a:t>
            </a:r>
            <a:endParaRPr lang="en-US" sz="966"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Select the correct formal spelling.</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إِلَلْمَطْعَمِ</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 لْمَطْعَمِ</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 الْمَطْعَمِ</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elided in connected speech?</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entire article</a:t>
            </a:r>
            <a:endParaRPr lang="en-US" sz="12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initial vowel of hamzat al-waṣl</a:t>
            </a:r>
            <a:endParaRPr lang="en-US" sz="12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final letter of the preceding word</a:t>
            </a:r>
            <a:endParaRPr lang="en-US" sz="12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cs typeface="Amiri" pitchFamily="2" charset="-78"/>
              </a:rPr>
              <a:t>فِي الشَّارِعِ</a:t>
            </a:r>
            <a:pPr algn="l" indent="0" marL="0">
              <a:buNone/>
            </a:pPr>
            <a:r>
              <a:rPr lang="en-US" sz="1250" b="1" dirty="0">
                <a:solidFill>
                  <a:srgbClr val="1B3B6F"/>
                </a:solidFill>
                <a:latin typeface="Calibri" pitchFamily="34" charset="0"/>
                <a:cs typeface="Amiri" pitchFamily="2" charset="-78"/>
              </a:rPr>
              <a:t> , what happens?</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spelling deletion</a:t>
            </a:r>
            <a:endParaRPr lang="en-US" sz="12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vowel elision and sun-letter assimilation</a:t>
            </a:r>
            <a:endParaRPr lang="en-US" sz="12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changes in pronunciation</a:t>
            </a:r>
            <a:endParaRPr lang="en-US" sz="12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principle should guide IGCSE writing?</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Spell exactly as connected speech sounds.</a:t>
            </a:r>
            <a:endParaRPr lang="en-US" sz="12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Remove </a:t>
            </a:r>
            <a:pPr algn="l" indent="0" marL="0">
              <a:buNone/>
            </a:pPr>
            <a:r>
              <a:rPr lang="ar-SA" altLang="en-US" sz="1650" dirty="0">
                <a:solidFill>
                  <a:srgbClr val="1F2A37"/>
                </a:solidFill>
                <a:latin typeface="Amiri" pitchFamily="2" charset="-78"/>
                <a:cs typeface="Amiri" pitchFamily="2" charset="-78"/>
              </a:rPr>
              <a:t>ال</a:t>
            </a:r>
            <a:pPr algn="l" indent="0" marL="0">
              <a:buNone/>
            </a:pPr>
            <a:r>
              <a:rPr lang="en-US" sz="1250" dirty="0">
                <a:solidFill>
                  <a:srgbClr val="1F2A37"/>
                </a:solidFill>
                <a:latin typeface="Calibri" pitchFamily="34" charset="0"/>
                <a:cs typeface="Amiri" pitchFamily="2" charset="-78"/>
              </a:rPr>
              <a:t> after every preposition.</a:t>
            </a:r>
            <a:endParaRPr lang="en-US" sz="12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Pronounce naturally; spell conventionally.</a:t>
            </a:r>
            <a:endParaRPr lang="en-US" sz="12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GM-ART-01 · Articles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Select the correct formal spelling.</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إِلَلْمَطْعَمِ</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إِلَى لْمَطْعَمِ</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إِلَى الْمَطْعَمِ</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words remain fully written even though the vowel of hamzat al-waṣl is not pronounced in connection.</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elided in connected speech?</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entire article</a:t>
            </a:r>
            <a:endParaRPr lang="en-US" sz="125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initial vowel of hamzat al-waṣl</a:t>
            </a:r>
            <a:endParaRPr lang="en-US" sz="125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final letter of the preceding word</a:t>
            </a:r>
            <a:endParaRPr lang="en-US" sz="125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article remains grammatically present; only the initial helping vowel is not pronounced.</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cs typeface="Amiri" pitchFamily="2" charset="-78"/>
              </a:rPr>
              <a:t>فِي الشَّارِعِ</a:t>
            </a:r>
            <a:pPr algn="l" indent="0" marL="0">
              <a:buNone/>
            </a:pPr>
            <a:r>
              <a:rPr lang="en-US" sz="1250" b="1" dirty="0">
                <a:solidFill>
                  <a:srgbClr val="1B3B6F"/>
                </a:solidFill>
                <a:latin typeface="Calibri" pitchFamily="34" charset="0"/>
                <a:cs typeface="Amiri" pitchFamily="2" charset="-78"/>
              </a:rPr>
              <a:t> , what happens?</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spelling deletion</a:t>
            </a:r>
            <a:endParaRPr lang="en-US" sz="125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vowel elision and sun-letter assimilation</a:t>
            </a:r>
            <a:endParaRPr lang="en-US" sz="125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changes in pronunciation</a:t>
            </a:r>
            <a:endParaRPr lang="en-US" sz="125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Connected speech removes the article's initial vowel; </a:t>
            </a:r>
            <a:pPr algn="l" indent="0" marL="0">
              <a:buNone/>
            </a:pPr>
            <a:r>
              <a:rPr lang="ar-SA" altLang="en-US" sz="1350" dirty="0">
                <a:solidFill>
                  <a:srgbClr val="8A6D1E"/>
                </a:solidFill>
                <a:latin typeface="Amiri" pitchFamily="2" charset="-78"/>
                <a:cs typeface="Amiri" pitchFamily="2" charset="-78"/>
              </a:rPr>
              <a:t>ش</a:t>
            </a:r>
            <a:pPr algn="l" indent="0" marL="0">
              <a:buNone/>
            </a:pPr>
            <a:r>
              <a:rPr lang="en-US" sz="1050" i="1" dirty="0">
                <a:solidFill>
                  <a:srgbClr val="8A6D1E"/>
                </a:solidFill>
                <a:latin typeface="Calibri" pitchFamily="34" charset="0"/>
                <a:cs typeface="Amiri" pitchFamily="2" charset="-78"/>
              </a:rPr>
              <a:t> also triggers lām assimilation.</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principle should guide IGCSE writing?</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Spell exactly as connected speech sounds.</a:t>
            </a:r>
            <a:endParaRPr lang="en-US" sz="125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Remove </a:t>
            </a:r>
            <a:pPr algn="l" indent="0" marL="0">
              <a:buNone/>
            </a:pPr>
            <a:r>
              <a:rPr lang="ar-SA" altLang="en-US" sz="1650" dirty="0">
                <a:solidFill>
                  <a:srgbClr val="9AA1AB"/>
                </a:solidFill>
                <a:latin typeface="Amiri" pitchFamily="2" charset="-78"/>
                <a:cs typeface="Amiri" pitchFamily="2" charset="-78"/>
              </a:rPr>
              <a:t>ال</a:t>
            </a:r>
            <a:pPr algn="l" indent="0" marL="0">
              <a:buNone/>
            </a:pPr>
            <a:r>
              <a:rPr lang="en-US" sz="1250" dirty="0">
                <a:solidFill>
                  <a:srgbClr val="9AA1AB"/>
                </a:solidFill>
                <a:latin typeface="Calibri" pitchFamily="34" charset="0"/>
                <a:cs typeface="Amiri" pitchFamily="2" charset="-78"/>
              </a:rPr>
              <a:t> after every preposition.</a:t>
            </a:r>
            <a:endParaRPr lang="en-US" sz="125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Pronounce naturally; spell conventionally.</a:t>
            </a:r>
            <a:endParaRPr lang="en-US" sz="125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Cambridge expects standard written Arabic, not phonetic respelling.</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GM-ART-01 · Articles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 AND NOTICE · WEBSITE READING WORKSHOP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city: new and known places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GM-ART-01</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أَسْكُنُ فِي مَدِينَةٍ كَبِيرَةٍ. فِي الْمَدِينَةِ مَدْرَسَةٌ جَدِيدَةٌ وَمَكْتَبَةٌ عَامَّةٌ. الْمَدْرَسَةُ قَرِيبَةٌ مِنْ بَيْتِي، وَالْمَكْتَبَةُ فِي وَسَطِ الْمَدِينَةِ. أَذْهَبُ إِلَى الْمَكْتَبَةِ يَوْمَ السَّبْتِ لِأَقْرَأَ الْكُتُبَ الْعَرَبِيَّةَ.</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أَسْكُنُ</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live</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مَدِينَةٍ كَبِيرَةٍ</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big city</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مَكْتَبَةٌ عَامَّةٌ</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public library</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قَرِيبَةٌ مِنْ</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near</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فِي وَسَطِ</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 the centre of</a:t>
            </a:r>
            <a:endParaRPr lang="en-US" sz="1050" dirty="0"/>
          </a:p>
        </p:txBody>
      </p:sp>
      <p:sp>
        <p:nvSpPr>
          <p:cNvPr id="29" name="Text 26"/>
          <p:cNvSpPr txBox="1"/>
          <p:nvPr/>
        </p:nvSpPr>
        <p:spPr>
          <a:xfrm>
            <a:off x="10102291" y="47274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يَوْمَ السَّبْتِ</a:t>
            </a:r>
            <a:endParaRPr lang="ar-SA" sz="1600" dirty="0"/>
          </a:p>
        </p:txBody>
      </p:sp>
      <p:sp>
        <p:nvSpPr>
          <p:cNvPr id="30" name="Text 27"/>
          <p:cNvSpPr txBox="1"/>
          <p:nvPr/>
        </p:nvSpPr>
        <p:spPr>
          <a:xfrm>
            <a:off x="8851392" y="47274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on Saturday</a:t>
            </a:r>
            <a:endParaRPr lang="en-US" sz="1050" dirty="0"/>
          </a:p>
        </p:txBody>
      </p:sp>
      <p:sp>
        <p:nvSpPr>
          <p:cNvPr id="31" name="Text 28"/>
          <p:cNvSpPr txBox="1"/>
          <p:nvPr/>
        </p:nvSpPr>
        <p:spPr>
          <a:xfrm>
            <a:off x="10102291" y="52303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لِأَقْرَأَ</a:t>
            </a:r>
            <a:endParaRPr lang="ar-SA" sz="1600" dirty="0"/>
          </a:p>
        </p:txBody>
      </p:sp>
      <p:sp>
        <p:nvSpPr>
          <p:cNvPr id="32" name="Text 29"/>
          <p:cNvSpPr txBox="1"/>
          <p:nvPr/>
        </p:nvSpPr>
        <p:spPr>
          <a:xfrm>
            <a:off x="8851392" y="52303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to read</a:t>
            </a:r>
            <a:endParaRPr lang="en-US" sz="10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GM-ART-01 · Articles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a:t>
            </a:r>
            <a:pPr algn="l" indent="0" marL="0">
              <a:buNone/>
            </a:pPr>
            <a:r>
              <a:rPr lang="ar-SA" altLang="en-US" sz="1650" b="1" dirty="0">
                <a:solidFill>
                  <a:srgbClr val="1B3B6F"/>
                </a:solidFill>
                <a:latin typeface="Amiri" pitchFamily="2" charset="-78"/>
                <a:cs typeface="Amiri" pitchFamily="2" charset="-78"/>
              </a:rPr>
              <a:t>مَدِينَةٍ</a:t>
            </a:r>
            <a:pPr algn="l" indent="0" marL="0">
              <a:buNone/>
            </a:pPr>
            <a:r>
              <a:rPr lang="en-US" sz="1250" b="1" dirty="0">
                <a:solidFill>
                  <a:srgbClr val="1B3B6F"/>
                </a:solidFill>
                <a:latin typeface="Calibri" pitchFamily="34" charset="0"/>
                <a:cs typeface="Amiri" pitchFamily="2" charset="-78"/>
              </a:rPr>
              <a:t> indefinite at first?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Cities can never be definite.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city is being introduced for the first time.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follows </a:t>
            </a:r>
            <a:pPr algn="l" indent="0" marL="0">
              <a:buNone/>
            </a:pPr>
            <a:r>
              <a:rPr lang="ar-SA" altLang="en-US" sz="1650" dirty="0">
                <a:solidFill>
                  <a:srgbClr val="1F2A37"/>
                </a:solidFill>
                <a:latin typeface="Amiri" pitchFamily="2" charset="-78"/>
                <a:cs typeface="Amiri" pitchFamily="2" charset="-78"/>
              </a:rPr>
              <a:t>فِي</a:t>
            </a:r>
            <a:pPr algn="l" indent="0" marL="0">
              <a:buNone/>
            </a:pPr>
            <a:r>
              <a:rPr lang="en-US" sz="1250" dirty="0">
                <a:solidFill>
                  <a:srgbClr val="1F2A37"/>
                </a:solidFill>
                <a:latin typeface="Calibri" pitchFamily="34" charset="0"/>
                <a:cs typeface="Amiri" pitchFamily="2" charset="-78"/>
              </a:rPr>
              <a: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text later say </a:t>
            </a:r>
            <a:pPr algn="l" indent="0" marL="0">
              <a:buNone/>
            </a:pPr>
            <a:r>
              <a:rPr lang="ar-SA" altLang="en-US" sz="1650" b="1" dirty="0">
                <a:solidFill>
                  <a:srgbClr val="1B3B6F"/>
                </a:solidFill>
                <a:latin typeface="Amiri" pitchFamily="2" charset="-78"/>
                <a:cs typeface="Amiri" pitchFamily="2" charset="-78"/>
              </a:rPr>
              <a:t>الْمَدِينَةِ</a:t>
            </a:r>
            <a:pPr algn="l" indent="0" marL="0">
              <a:buNone/>
            </a:pPr>
            <a:r>
              <a:rPr lang="en-US" sz="1250" b="1" dirty="0">
                <a:solidFill>
                  <a:srgbClr val="1B3B6F"/>
                </a:solidFill>
                <a:latin typeface="Calibri" pitchFamily="34" charset="0"/>
                <a:cs typeface="Amiri" pitchFamily="2" charset="-78"/>
              </a:rPr>
              <a:t> ?</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repeated noun must be plural.</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article means “in”.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now refers back to the city already introduced.</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“a new school”?</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مَدْرَسَةٌ جَدِيدَةٌ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الْمَدْرَسَةُ قَرِيبَةٌ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الْكُتُبُ الْعَرَبِيَّةُ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contains sun-letter assimilation?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الْمَدِينَةِ</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يَوْمَ السَّبْتِ</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 الْمَكْتَبَةِ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a:t>
            </a:r>
            <a:pPr algn="l" indent="0" marL="0">
              <a:buNone/>
            </a:pPr>
            <a:r>
              <a:rPr lang="ar-SA" altLang="en-US" sz="1650" b="1" dirty="0">
                <a:solidFill>
                  <a:srgbClr val="1B3B6F"/>
                </a:solidFill>
                <a:latin typeface="Amiri" pitchFamily="2" charset="-78"/>
                <a:cs typeface="Amiri" pitchFamily="2" charset="-78"/>
              </a:rPr>
              <a:t>كُتُبِي</a:t>
            </a:r>
            <a:pPr algn="l" indent="0" marL="0">
              <a:buNone/>
            </a:pPr>
            <a:r>
              <a:rPr lang="en-US" sz="1250" b="1" dirty="0">
                <a:solidFill>
                  <a:srgbClr val="1B3B6F"/>
                </a:solidFill>
                <a:latin typeface="Calibri" pitchFamily="34" charset="0"/>
                <a:cs typeface="Amiri" pitchFamily="2" charset="-78"/>
              </a:rPr>
              <a:t> not used in the final phrase?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meaning is “the Arabic books”, not “my books”.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Possessive suffixes cannot attach to nouns.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article means “my”.</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GM-ART-01 · Articles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a:t>
            </a:r>
            <a:pPr algn="l" indent="0" marL="0">
              <a:buNone/>
            </a:pPr>
            <a:r>
              <a:rPr lang="ar-SA" altLang="en-US" sz="1650" b="1" dirty="0">
                <a:solidFill>
                  <a:srgbClr val="1B3B6F"/>
                </a:solidFill>
                <a:latin typeface="Amiri" pitchFamily="2" charset="-78"/>
                <a:cs typeface="Amiri" pitchFamily="2" charset="-78"/>
              </a:rPr>
              <a:t>مَدِينَةٍ</a:t>
            </a:r>
            <a:pPr algn="l" indent="0" marL="0">
              <a:buNone/>
            </a:pPr>
            <a:r>
              <a:rPr lang="en-US" sz="1250" b="1" dirty="0">
                <a:solidFill>
                  <a:srgbClr val="1B3B6F"/>
                </a:solidFill>
                <a:latin typeface="Calibri" pitchFamily="34" charset="0"/>
                <a:cs typeface="Amiri" pitchFamily="2" charset="-78"/>
              </a:rPr>
              <a:t> indefinite at first?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Cities can never be definite.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city is being introduced for the first time.</a:t>
            </a:r>
            <a:endParaRPr lang="en-US" sz="11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follows </a:t>
            </a:r>
            <a:pPr algn="l" indent="0" marL="0">
              <a:buNone/>
            </a:pPr>
            <a:r>
              <a:rPr lang="ar-SA" altLang="en-US" sz="1650" dirty="0">
                <a:solidFill>
                  <a:srgbClr val="9AA1AB"/>
                </a:solidFill>
                <a:latin typeface="Amiri" pitchFamily="2" charset="-78"/>
                <a:cs typeface="Amiri" pitchFamily="2" charset="-78"/>
              </a:rPr>
              <a:t>فِي</a:t>
            </a:r>
            <a:pPr algn="l" indent="0" marL="0">
              <a:buNone/>
            </a:pPr>
            <a:r>
              <a:rPr lang="en-US" sz="1250" dirty="0">
                <a:solidFill>
                  <a:srgbClr val="9AA1AB"/>
                </a:solidFill>
                <a:latin typeface="Calibri" pitchFamily="34" charset="0"/>
                <a:cs typeface="Amiri" pitchFamily="2" charset="-78"/>
              </a:rPr>
              <a: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New, non-specific information is often introduced indefinitely.</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text later say </a:t>
            </a:r>
            <a:pPr algn="l" indent="0" marL="0">
              <a:buNone/>
            </a:pPr>
            <a:r>
              <a:rPr lang="ar-SA" altLang="en-US" sz="1650" b="1" dirty="0">
                <a:solidFill>
                  <a:srgbClr val="1B3B6F"/>
                </a:solidFill>
                <a:latin typeface="Amiri" pitchFamily="2" charset="-78"/>
                <a:cs typeface="Amiri" pitchFamily="2" charset="-78"/>
              </a:rPr>
              <a:t>الْمَدِينَةِ</a:t>
            </a:r>
            <a:pPr algn="l" indent="0" marL="0">
              <a:buNone/>
            </a:pPr>
            <a:r>
              <a:rPr lang="en-US" sz="1250" b="1" dirty="0">
                <a:solidFill>
                  <a:srgbClr val="1B3B6F"/>
                </a:solidFill>
                <a:latin typeface="Calibri" pitchFamily="34" charset="0"/>
                <a:cs typeface="Amiri" pitchFamily="2" charset="-78"/>
              </a:rPr>
              <a:t> ?</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repeated noun must be plural.</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article means “in”.</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It now refers back to the city already introduced.</a:t>
            </a:r>
            <a:endParaRPr lang="en-US" sz="11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reader now knows which city is meant.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“a new school”?</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مَدْرَسَةٌ جَدِيدَةٌ</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الْمَدْرَسَةُ قَرِيبَةٌ</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الْكُتُبُ الْعَرَبِيَّةُ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noun and adjective are indefinite.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contains sun-letter assimilation?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الْمَدِينَةِ</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يَوْمَ السَّبْتِ</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إِلَى الْمَكْتَبَةِ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س</a:t>
            </a:r>
            <a:pPr algn="l" indent="0" marL="0">
              <a:buNone/>
            </a:pPr>
            <a:r>
              <a:rPr lang="en-US" sz="1050" i="1" dirty="0">
                <a:solidFill>
                  <a:srgbClr val="8A6D1E"/>
                </a:solidFill>
                <a:latin typeface="Calibri" pitchFamily="34" charset="0"/>
                <a:cs typeface="Amiri" pitchFamily="2" charset="-78"/>
              </a:rPr>
              <a:t> is a sun letter: as-sabti.</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a:t>
            </a:r>
            <a:pPr algn="l" indent="0" marL="0">
              <a:buNone/>
            </a:pPr>
            <a:r>
              <a:rPr lang="ar-SA" altLang="en-US" sz="1650" b="1" dirty="0">
                <a:solidFill>
                  <a:srgbClr val="1B3B6F"/>
                </a:solidFill>
                <a:latin typeface="Amiri" pitchFamily="2" charset="-78"/>
                <a:cs typeface="Amiri" pitchFamily="2" charset="-78"/>
              </a:rPr>
              <a:t>كُتُبِي</a:t>
            </a:r>
            <a:pPr algn="l" indent="0" marL="0">
              <a:buNone/>
            </a:pPr>
            <a:r>
              <a:rPr lang="en-US" sz="1250" b="1" dirty="0">
                <a:solidFill>
                  <a:srgbClr val="1B3B6F"/>
                </a:solidFill>
                <a:latin typeface="Calibri" pitchFamily="34" charset="0"/>
                <a:cs typeface="Amiri" pitchFamily="2" charset="-78"/>
              </a:rPr>
              <a:t> not used in the final phrase?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meaning is “the Arabic books”, not “my books”.</a:t>
            </a:r>
            <a:endParaRPr lang="en-US" sz="11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Possessive suffixes cannot attach to nouns.</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article means “my”.</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الْكُتُبَ الْعَرَبِيَّةَ</a:t>
            </a:r>
            <a:pPr algn="l" indent="0" marL="0">
              <a:buNone/>
            </a:pPr>
            <a:r>
              <a:rPr lang="en-US" sz="1050" i="1" dirty="0">
                <a:solidFill>
                  <a:srgbClr val="8A6D1E"/>
                </a:solidFill>
                <a:latin typeface="Calibri" pitchFamily="34" charset="0"/>
                <a:cs typeface="Amiri" pitchFamily="2" charset="-78"/>
              </a:rPr>
              <a:t> is a definite noun–adjective phrase.</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GM-ART-01 · Articles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Speaking: introduce a place, then refer back</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فِي حَيِّكَ؟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أَيْنَ الْمَكَانُ؟ صِفْهُ.</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صِفْ حَيَّكَ: ثَلَاثَةُ أَمَاكِنَ وَصِفَةٌ لِكُلِّ مَكَانٍ.</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فِي حَيِّي ___ وَ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الْمَكْتَبَةُ قَرِيبَةٌ مِنْ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الْمَسْجِدُ الْكَبِيرُ فِي ___ ، وَالسُّوقُ ___ .</a:t>
            </a:r>
            <a:endParaRPr lang="ar-SA" sz="15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مَاذَا فِي حَيِّكَ؟</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in your neighbourhood?</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فِي حَيِّي مَكْتَبَةٌ وَسُوقٌ. الْمَكْتَبَةُ قَرِيبَةٌ، وَالسُّوقُ كَبِيرٌ.</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There is a library and a market. The library is near; the market is big.</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GM-ART-01 · Articles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Introduce three places without </a:t>
            </a:r>
            <a:pPr algn="l" indent="0" marL="0">
              <a:buNone/>
            </a:pPr>
            <a:r>
              <a:rPr lang="ar-SA" altLang="en-US" sz="1800" b="1" dirty="0">
                <a:solidFill>
                  <a:srgbClr val="1F2A37"/>
                </a:solidFill>
                <a:latin typeface="Amiri" pitchFamily="2" charset="-78"/>
                <a:cs typeface="Amiri" pitchFamily="2" charset="-78"/>
              </a:rPr>
              <a:t>الـ</a:t>
            </a:r>
            <a:pPr algn="l" indent="0" marL="0">
              <a:buNone/>
            </a:pPr>
            <a:r>
              <a:rPr lang="en-US" sz="1400" b="1" dirty="0">
                <a:solidFill>
                  <a:srgbClr val="1F2A37"/>
                </a:solidFill>
                <a:latin typeface="Calibri" pitchFamily="34" charset="0"/>
                <a:cs typeface="Amiri" pitchFamily="2" charset="-78"/>
              </a:rPr>
              <a:t>, then refer back to two of them with </a:t>
            </a:r>
            <a:pPr algn="l" indent="0" marL="0">
              <a:buNone/>
            </a:pPr>
            <a:r>
              <a:rPr lang="ar-SA" altLang="en-US" sz="1800" b="1" dirty="0">
                <a:solidFill>
                  <a:srgbClr val="1F2A37"/>
                </a:solidFill>
                <a:latin typeface="Amiri" pitchFamily="2" charset="-78"/>
                <a:cs typeface="Amiri" pitchFamily="2" charset="-78"/>
              </a:rPr>
              <a:t>الـ</a:t>
            </a:r>
            <a:pPr algn="l" indent="0" marL="0">
              <a:buNone/>
            </a:pPr>
            <a:r>
              <a:rPr lang="en-US" sz="1400" b="1" dirty="0">
                <a:solidFill>
                  <a:srgbClr val="1F2A37"/>
                </a:solidFill>
                <a:latin typeface="Calibri" pitchFamily="34" charset="0"/>
                <a:cs typeface="Amiri" pitchFamily="2" charset="-78"/>
              </a:rPr>
              <a: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Use the Core frames. Circle every الـ you write and check it is spelled in full.</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7–8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one definite phrase (</a:t>
            </a:r>
            <a:pPr algn="l" indent="0" marL="0">
              <a:buNone/>
            </a:pPr>
            <a:r>
              <a:rPr lang="ar-SA" altLang="en-US" sz="1800" b="1" dirty="0">
                <a:solidFill>
                  <a:srgbClr val="1F2A37"/>
                </a:solidFill>
                <a:latin typeface="Amiri" pitchFamily="2" charset="-78"/>
                <a:cs typeface="Amiri" pitchFamily="2" charset="-78"/>
              </a:rPr>
              <a:t>الْحَدِيقَةُ الْكَبِيرَةُ</a:t>
            </a:r>
            <a:pPr algn="l" indent="0" marL="0">
              <a:buNone/>
            </a:pPr>
            <a:r>
              <a:rPr lang="en-US" sz="1400" b="1" dirty="0">
                <a:solidFill>
                  <a:srgbClr val="1F2A37"/>
                </a:solidFill>
                <a:latin typeface="Calibri" pitchFamily="34" charset="0"/>
                <a:cs typeface="Amiri" pitchFamily="2" charset="-78"/>
              </a:rPr>
              <a:t>) and one complete sentence (</a:t>
            </a:r>
            <a:pPr algn="l" indent="0" marL="0">
              <a:buNone/>
            </a:pPr>
            <a:r>
              <a:rPr lang="ar-SA" altLang="en-US" sz="1800" b="1" dirty="0">
                <a:solidFill>
                  <a:srgbClr val="1F2A37"/>
                </a:solidFill>
                <a:latin typeface="Amiri" pitchFamily="2" charset="-78"/>
                <a:cs typeface="Amiri" pitchFamily="2" charset="-78"/>
              </a:rPr>
              <a:t>الْحَدِيقَةُ كَبِيرَةٌ</a:t>
            </a:r>
            <a:pPr algn="l" indent="0" marL="0">
              <a:buNone/>
            </a:pPr>
            <a:r>
              <a:rPr lang="en-US" sz="1400" b="1" dirty="0">
                <a:solidFill>
                  <a:srgbClr val="1F2A37"/>
                </a:solidFill>
                <a:latin typeface="Calibri" pitchFamily="34" charset="0"/>
                <a:cs typeface="Amiri" pitchFamily="2" charset="-78"/>
              </a:rPr>
              <a:t>).</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Phrase = both words definite. Sentence = definite + indefinite.</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7–10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The website task “My local area”, with one sun-letter and one moon-letter noun.</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Then mark each الـ as sun or moon and read your text aloud with connected speech.</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GM-ART-01 · Articles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الْحَدِيقَةُ الْكَبِيرَةُ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big park is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الْمَدْرَسَةُ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school is … (new)</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أَذْهَبُ إِلَى ______ يَوْمَ السَّبْتِ.</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go to … on Saturday.</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______ فِي الشَّارِعِ.</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in the street.</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حَيِّي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area there is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وَفِيهِ أَيْضًا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There is also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الْمَكْتَبَةُ قَرِيبَةٌ مِنْ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library is near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السُّوقُ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market is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400" b="1" dirty="0">
                <a:solidFill>
                  <a:srgbClr val="1B3B6F"/>
                </a:solidFill>
                <a:latin typeface="Amiri" pitchFamily="2" charset="-78"/>
                <a:cs typeface="Amiri" pitchFamily="2" charset="-78"/>
              </a:rPr>
              <a:t>مَدْرَسَةٌ / الْمَدْرَسَةُ  ·  مَكْتَبَةٌ / الْمَكْتَبَةُ  ·  سُوقٌ / السُّوقُ  ·  حَدِيقَةٌ / الْحَدِيقَةُ  ·  مَسْجِدٌ / الْمَسْجِدُ  ·  شَارِعٌ / الشَّارِعُ  ·  كَبِيرٌ  ·  جَدِيدٌ  ·  قَرِيبٌ مِنْ  ·  بَعِيدٌ عَنْ  ·  فِي وَسَطِ  ·  يَوْمَ السَّبْتِ</a:t>
            </a:r>
            <a:endParaRPr lang="ar-SA" sz="14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GM-ART-01 · Articles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7–10 connected sentences about your local area (</a:t>
            </a:r>
            <a:pPr algn="l" indent="0" marL="0">
              <a:buNone/>
            </a:pPr>
            <a:r>
              <a:rPr lang="ar-SA" altLang="en-US" sz="1750" b="1" dirty="0">
                <a:solidFill>
                  <a:srgbClr val="1F2A37"/>
                </a:solidFill>
                <a:latin typeface="Amiri" pitchFamily="2" charset="-78"/>
                <a:cs typeface="Amiri" pitchFamily="2" charset="-78"/>
              </a:rPr>
              <a:t>حَيِّي</a:t>
            </a:r>
            <a:pPr algn="l" indent="0" marL="0">
              <a:buNone/>
            </a:pPr>
            <a:r>
              <a:rPr lang="en-US" sz="1350" b="1" dirty="0">
                <a:solidFill>
                  <a:srgbClr val="1F2A37"/>
                </a:solidFill>
                <a:latin typeface="Calibri" pitchFamily="34" charset="0"/>
                <a:cs typeface="Amiri" pitchFamily="2" charset="-78"/>
              </a:rPr>
              <a:t>). Introduce at least three places indefinitely, then refer back to them definitely.</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Three places introduced without </a:t>
            </a:r>
            <a:pPr algn="l" indent="0" marL="0">
              <a:buNone/>
            </a:pPr>
            <a:r>
              <a:rPr lang="ar-SA" altLang="en-US" sz="1550" dirty="0">
                <a:solidFill>
                  <a:srgbClr val="1F2A37"/>
                </a:solidFill>
                <a:latin typeface="Amiri" pitchFamily="2" charset="-78"/>
                <a:cs typeface="Amiri" pitchFamily="2" charset="-78"/>
              </a:rPr>
              <a:t>الـ</a:t>
            </a:r>
            <a:pPr algn="l" indent="0" marL="0">
              <a:buNone/>
            </a:pPr>
            <a:r>
              <a:rPr lang="en-US" sz="1200" dirty="0">
                <a:solidFill>
                  <a:srgbClr val="1F2A37"/>
                </a:solidFill>
                <a:latin typeface="Calibri" pitchFamily="34" charset="0"/>
                <a:cs typeface="Amiri" pitchFamily="2" charset="-78"/>
              </a:rPr>
              <a:t>, then referred back to with </a:t>
            </a:r>
            <a:pPr algn="l" indent="0" marL="0">
              <a:buNone/>
            </a:pPr>
            <a:r>
              <a:rPr lang="ar-SA" altLang="en-US" sz="1550" dirty="0">
                <a:solidFill>
                  <a:srgbClr val="1F2A37"/>
                </a:solidFill>
                <a:latin typeface="Amiri" pitchFamily="2" charset="-78"/>
                <a:cs typeface="Amiri" pitchFamily="2" charset="-78"/>
              </a:rPr>
              <a:t>الـ</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definite noun–adjective phrase (</a:t>
            </a:r>
            <a:pPr algn="l" indent="0" marL="0">
              <a:buNone/>
            </a:pPr>
            <a:r>
              <a:rPr lang="ar-SA" altLang="en-US" sz="1550" dirty="0">
                <a:solidFill>
                  <a:srgbClr val="1F2A37"/>
                </a:solidFill>
                <a:latin typeface="Amiri" pitchFamily="2" charset="-78"/>
                <a:cs typeface="Amiri" pitchFamily="2" charset="-78"/>
              </a:rPr>
              <a:t>الْبَيْتُ الْكَبِيرُ</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complete nominal sentence (</a:t>
            </a:r>
            <a:pPr algn="l" indent="0" marL="0">
              <a:buNone/>
            </a:pPr>
            <a:r>
              <a:rPr lang="ar-SA" altLang="en-US" sz="1550" dirty="0">
                <a:solidFill>
                  <a:srgbClr val="1F2A37"/>
                </a:solidFill>
                <a:latin typeface="Amiri" pitchFamily="2" charset="-78"/>
                <a:cs typeface="Amiri" pitchFamily="2" charset="-78"/>
              </a:rPr>
              <a:t>الْبَيْتُ كَبِيرٌ</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sun-letter noun and one moon-letter noun.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a:t>
            </a:r>
            <a:pPr algn="l" indent="0" marL="0">
              <a:buNone/>
            </a:pPr>
            <a:r>
              <a:rPr lang="ar-SA" altLang="en-US" sz="1550" dirty="0">
                <a:solidFill>
                  <a:srgbClr val="1F2A37"/>
                </a:solidFill>
                <a:latin typeface="Amiri" pitchFamily="2" charset="-78"/>
                <a:cs typeface="Amiri" pitchFamily="2" charset="-78"/>
              </a:rPr>
              <a:t>الـ</a:t>
            </a:r>
            <a:pPr algn="l" indent="0" marL="0">
              <a:buNone/>
            </a:pPr>
            <a:r>
              <a:rPr lang="en-US" sz="1200" dirty="0">
                <a:solidFill>
                  <a:srgbClr val="1F2A37"/>
                </a:solidFill>
                <a:latin typeface="Calibri" pitchFamily="34" charset="0"/>
                <a:cs typeface="Amiri" pitchFamily="2" charset="-78"/>
              </a:rPr>
              <a:t> written in full after </a:t>
            </a:r>
            <a:pPr algn="l" indent="0" marL="0">
              <a:buNone/>
            </a:pPr>
            <a:r>
              <a:rPr lang="ar-SA" altLang="en-US" sz="1550" dirty="0">
                <a:solidFill>
                  <a:srgbClr val="1F2A37"/>
                </a:solidFill>
                <a:latin typeface="Amiri" pitchFamily="2" charset="-78"/>
                <a:cs typeface="Amiri" pitchFamily="2" charset="-78"/>
              </a:rPr>
              <a:t>فِي / إِلَى / مَعَ</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وَسَطِ الْمَدِينَةِ</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centre of the city</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قَرِيبٌ مِنَ الْمَحَطَّةِ</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near the station</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أَشْتَرِي مِنَ السُّوقِ</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buy from the market</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يَوْمَ السَّبْتِ</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 Saturday</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الْمَسْجِدُ الْكَبِيرُ</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big mosque</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لِأَقْرَأَ الْكُتُبَ</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to read the books</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GM-ART-01 · Articles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أَسْكُنُ فِي حَيٍّ هَادِئٍ. فِي الْحَيِّ مَسْجِدٌ كَبِيرٌ وَسُوقٌ صَغِيرٌ وَمَكْتَبَةٌ جَدِيدَةٌ. الْمَسْجِدُ قَرِيبٌ مِنْ بَيْتِي، وَالسُّوقُ فِي الشَّارِعِ الرَّئِيسِيِّ. أَشْتَرِي مِنَ السُّوقِ الْخُبْزَ وَالْفَاكِهَةَ. الْمَكْتَبَةُ الْجَدِيدَةُ جَمِيلَةٌ، وَأَذْهَبُ إِلَيْهَا يَوْمَ السَّبْتِ لِأَقْرَأَ الْكُتُبَ الْعَرَبِيَّةَ.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live in a quiet neighbourhood. In the neighbourhood there is a big mosque, a small market and a new library. The mosque is near my house, and the market is on the main street. I buy bread and fruit from the market. The new library is beautiful, and I go to it on Saturday to read Arabic books.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new: no الـ</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known: الـ</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definite phrase</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sun-letter noun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39</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GM-ART-01 · Articles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introduced new places without </a:t>
            </a:r>
            <a:pPr algn="l" indent="0" marL="0">
              <a:buNone/>
            </a:pPr>
            <a:r>
              <a:rPr lang="ar-SA" altLang="en-US" sz="1700" dirty="0">
                <a:solidFill>
                  <a:srgbClr val="1F2A37"/>
                </a:solidFill>
                <a:latin typeface="Amiri" pitchFamily="2" charset="-78"/>
                <a:cs typeface="Amiri" pitchFamily="2" charset="-78"/>
              </a:rPr>
              <a:t>الـ</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t>
            </a:r>
            <a:pPr algn="l" indent="0" marL="0">
              <a:buNone/>
            </a:pPr>
            <a:r>
              <a:rPr lang="ar-SA" altLang="en-US" sz="1700" dirty="0">
                <a:solidFill>
                  <a:srgbClr val="1F2A37"/>
                </a:solidFill>
                <a:latin typeface="Amiri" pitchFamily="2" charset="-78"/>
                <a:cs typeface="Amiri" pitchFamily="2" charset="-78"/>
              </a:rPr>
              <a:t>الـ</a:t>
            </a:r>
            <a:pPr algn="l" indent="0" marL="0">
              <a:buNone/>
            </a:pPr>
            <a:r>
              <a:rPr lang="en-US" sz="1300" dirty="0">
                <a:solidFill>
                  <a:srgbClr val="1F2A37"/>
                </a:solidFill>
                <a:latin typeface="Calibri" pitchFamily="34" charset="0"/>
                <a:cs typeface="Amiri" pitchFamily="2" charset="-78"/>
              </a:rPr>
              <a:t> in full after </a:t>
            </a:r>
            <a:pPr algn="l" indent="0" marL="0">
              <a:buNone/>
            </a:pPr>
            <a:r>
              <a:rPr lang="ar-SA" altLang="en-US" sz="1700" dirty="0">
                <a:solidFill>
                  <a:srgbClr val="1F2A37"/>
                </a:solidFill>
                <a:latin typeface="Amiri" pitchFamily="2" charset="-78"/>
                <a:cs typeface="Amiri" pitchFamily="2" charset="-78"/>
              </a:rPr>
              <a:t>فِي</a:t>
            </a:r>
            <a:pPr algn="l" indent="0" marL="0">
              <a:buNone/>
            </a:pPr>
            <a:r>
              <a:rPr lang="en-US" sz="1300" dirty="0">
                <a:solidFill>
                  <a:srgbClr val="1F2A37"/>
                </a:solidFill>
                <a:latin typeface="Calibri" pitchFamily="34" charset="0"/>
                <a:cs typeface="Amiri" pitchFamily="2" charset="-78"/>
              </a:rPr>
              <a:t> and </a:t>
            </a:r>
            <a:pPr algn="l" indent="0" marL="0">
              <a:buNone/>
            </a:pPr>
            <a:r>
              <a:rPr lang="ar-SA" altLang="en-US" sz="1700" dirty="0">
                <a:solidFill>
                  <a:srgbClr val="1F2A37"/>
                </a:solidFill>
                <a:latin typeface="Amiri" pitchFamily="2" charset="-78"/>
                <a:cs typeface="Amiri" pitchFamily="2" charset="-78"/>
              </a:rPr>
              <a:t>إِلَى</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noun and adjective match in definiteness.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one phrase AND one sentence.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say which of my nouns begin with a sun letter.</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GM-ART-01 · Articles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beautiful garden”.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الْحَدِيقَةُ الْجَمِيلَةُ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حَدِيقَةٌ جَمِيلَةٌ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الْحَدِيقَةُ جَمِيلَةٌ</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begins with a sun letter?</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الْهَوَاءُ</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النَّهْرُ</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الْجَبَلُ</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student's book”.</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كِتَابُ الطَّالِبِ</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الْكِتَابُ الطَّالِبِ</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كِتَابٌ الطَّالِبُ</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GM-ART-01 · Articles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beautiful garden”.</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الْحَدِيقَةُ الْجَمِيلَةُ</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حَدِيقَةٌ جَمِيلَةٌ</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الْحَدِيقَةُ جَمِيلَةٌ</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Definite attributive phrase: both words are definite.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begins with a sun letter?</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الْهَوَاءُ</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النَّهْرُ</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الْجَبَلُ</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ن</a:t>
            </a:r>
            <a:pPr algn="l" indent="0" marL="0">
              <a:buNone/>
            </a:pPr>
            <a:r>
              <a:rPr lang="en-US" sz="1050" i="1" dirty="0">
                <a:solidFill>
                  <a:srgbClr val="8A6D1E"/>
                </a:solidFill>
                <a:latin typeface="Calibri" pitchFamily="34" charset="0"/>
                <a:cs typeface="Amiri" pitchFamily="2" charset="-78"/>
              </a:rPr>
              <a:t> is a sun letter: an-nahru.</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student's book”.</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كِتَابُ الطَّالِبِ</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الْكِتَابُ الطَّالِبِ</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كِتَابٌ الطَّالِبُ</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Idāfa: no </a:t>
            </a:r>
            <a:pPr algn="l" indent="0" marL="0">
              <a:buNone/>
            </a:pPr>
            <a:r>
              <a:rPr lang="ar-SA" altLang="en-US" sz="1350" dirty="0">
                <a:solidFill>
                  <a:srgbClr val="8A6D1E"/>
                </a:solidFill>
                <a:latin typeface="Amiri" pitchFamily="2" charset="-78"/>
                <a:cs typeface="Amiri" pitchFamily="2" charset="-78"/>
              </a:rPr>
              <a:t>الـ</a:t>
            </a:r>
            <a:pPr algn="l" indent="0" marL="0">
              <a:buNone/>
            </a:pPr>
            <a:r>
              <a:rPr lang="en-US" sz="1050" i="1" dirty="0">
                <a:solidFill>
                  <a:srgbClr val="8A6D1E"/>
                </a:solidFill>
                <a:latin typeface="Calibri" pitchFamily="34" charset="0"/>
                <a:cs typeface="Amiri" pitchFamily="2" charset="-78"/>
              </a:rPr>
              <a:t> or tanwīn on the first noun.</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39</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GM-ART-01 · Articles</a:t>
            </a:r>
            <a:endParaRPr lang="en-US" sz="950" dirty="0"/>
          </a:p>
        </p:txBody>
      </p:sp>
      <p:sp>
        <p:nvSpPr>
          <p:cNvPr id="8" name="Shape 6"/>
          <p:cNvSpPr/>
          <p:nvPr/>
        </p:nvSpPr>
        <p:spPr>
          <a:xfrm>
            <a:off x="7388352" y="274320"/>
            <a:ext cx="1371600"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EXTENSION · WEBSITE MASTERY CHECK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Mastery check</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اِخْتِبَارُ الإِتْقَانِ</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beautiful garden”.</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الْحَدِيقَةُ الْجَمِيلَةُ</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حَدِيقَةٌ جَمِيلَةٌ</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الْحَدِيقَةُ جَمِيلَةٌ</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garden is beautiful.”</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الْحَدِيقَةُ جَمِيلَةٌ.</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الْحَدِيقَةُ الْجَمِيلَةُ.</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حَدِيقَةٌ الْجَمِيلَةُ.</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begins with a moon letter?</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السَّمَكُ</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الطَّعَامُ</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الْهَوَاءُ</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Correct writing after </a:t>
            </a:r>
            <a:pPr algn="l" indent="0" marL="0">
              <a:buNone/>
            </a:pPr>
            <a:r>
              <a:rPr lang="ar-SA" altLang="en-US" sz="1650" b="1" dirty="0">
                <a:solidFill>
                  <a:srgbClr val="1B3B6F"/>
                </a:solidFill>
                <a:latin typeface="Amiri" pitchFamily="2" charset="-78"/>
                <a:cs typeface="Amiri" pitchFamily="2" charset="-78"/>
              </a:rPr>
              <a:t>مَعَ</a:t>
            </a:r>
            <a:pPr algn="l" indent="0" marL="0">
              <a:buNone/>
            </a:pPr>
            <a:r>
              <a:rPr lang="en-US" sz="1250" b="1" dirty="0">
                <a:solidFill>
                  <a:srgbClr val="1B3B6F"/>
                </a:solidFill>
                <a:latin typeface="Calibri" pitchFamily="34" charset="0"/>
                <a:cs typeface="Amiri" pitchFamily="2" charset="-78"/>
              </a:rPr>
              <a:t> :</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مَعَلْمُعَلِّمَةِ</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مَعَ لْمُعَلِّمَةِ</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مَعَ الْمُعَلِّمَةِ</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hamzat al-waṣl do?</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Its initial vowel is heard at a start but not in connected speech.</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deletes the whole article after every vowel.</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makes every following letter a sun letter.</a:t>
            </a:r>
            <a:endParaRPr lang="en-US" sz="12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principle for names.</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Add </a:t>
            </a:r>
            <a:pPr algn="l" indent="0" marL="0">
              <a:buNone/>
            </a:pPr>
            <a:r>
              <a:rPr lang="ar-SA" altLang="en-US" sz="1650" dirty="0">
                <a:solidFill>
                  <a:srgbClr val="1F2A37"/>
                </a:solidFill>
                <a:latin typeface="Amiri" pitchFamily="2" charset="-78"/>
                <a:cs typeface="Amiri" pitchFamily="2" charset="-78"/>
              </a:rPr>
              <a:t>ال</a:t>
            </a:r>
            <a:pPr algn="l" indent="0" marL="0">
              <a:buNone/>
            </a:pPr>
            <a:r>
              <a:rPr lang="en-US" sz="1250" dirty="0">
                <a:solidFill>
                  <a:srgbClr val="1F2A37"/>
                </a:solidFill>
                <a:latin typeface="Calibri" pitchFamily="34" charset="0"/>
                <a:cs typeface="Amiri" pitchFamily="2" charset="-78"/>
              </a:rPr>
              <a:t> to every city and person.</a:t>
            </a:r>
            <a:endParaRPr lang="en-US" sz="12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Use the established form; some names contain </a:t>
            </a:r>
            <a:pPr algn="l" indent="0" marL="0">
              <a:buNone/>
            </a:pPr>
            <a:r>
              <a:rPr lang="ar-SA" altLang="en-US" sz="1650" dirty="0">
                <a:solidFill>
                  <a:srgbClr val="1F2A37"/>
                </a:solidFill>
                <a:latin typeface="Amiri" pitchFamily="2" charset="-78"/>
                <a:cs typeface="Amiri" pitchFamily="2" charset="-78"/>
              </a:rPr>
              <a:t>ال</a:t>
            </a:r>
            <a:pPr algn="l" indent="0" marL="0">
              <a:buNone/>
            </a:pPr>
            <a:r>
              <a:rPr lang="en-US" sz="1250" dirty="0">
                <a:solidFill>
                  <a:srgbClr val="1F2A37"/>
                </a:solidFill>
                <a:latin typeface="Calibri" pitchFamily="34" charset="0"/>
                <a:cs typeface="Amiri" pitchFamily="2" charset="-78"/>
              </a:rPr>
              <a:t>.</a:t>
            </a:r>
            <a:endParaRPr lang="en-US" sz="12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Delete </a:t>
            </a:r>
            <a:pPr algn="l" indent="0" marL="0">
              <a:buNone/>
            </a:pPr>
            <a:r>
              <a:rPr lang="ar-SA" altLang="en-US" sz="1650" dirty="0">
                <a:solidFill>
                  <a:srgbClr val="1F2A37"/>
                </a:solidFill>
                <a:latin typeface="Amiri" pitchFamily="2" charset="-78"/>
                <a:cs typeface="Amiri" pitchFamily="2" charset="-78"/>
              </a:rPr>
              <a:t>ال</a:t>
            </a:r>
            <a:pPr algn="l" indent="0" marL="0">
              <a:buNone/>
            </a:pPr>
            <a:r>
              <a:rPr lang="en-US" sz="1250" dirty="0">
                <a:solidFill>
                  <a:srgbClr val="1F2A37"/>
                </a:solidFill>
                <a:latin typeface="Calibri" pitchFamily="34" charset="0"/>
                <a:cs typeface="Amiri" pitchFamily="2" charset="-78"/>
              </a:rPr>
              <a:t> from every proper noun.</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39</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GM-ART-01 · Articles</a:t>
            </a:r>
            <a:endParaRPr lang="en-US" sz="950" dirty="0"/>
          </a:p>
        </p:txBody>
      </p:sp>
      <p:sp>
        <p:nvSpPr>
          <p:cNvPr id="8" name="Shape 6"/>
          <p:cNvSpPr/>
          <p:nvPr/>
        </p:nvSpPr>
        <p:spPr>
          <a:xfrm>
            <a:off x="7388352" y="274320"/>
            <a:ext cx="1371600"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EXTENSION · MASTERY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Mastery check: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GM-ART-01</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beautiful garden”.</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الْحَدِيقَةُ الْجَمِيلَةُ</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حَدِيقَةٌ جَمِيلَةٌ</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الْحَدِيقَةُ جَمِيلَةٌ</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Indefinite noun phrase: neither word takes </a:t>
            </a:r>
            <a:pPr algn="l" indent="0" marL="0">
              <a:buNone/>
            </a:pPr>
            <a:r>
              <a:rPr lang="ar-SA" altLang="en-US" sz="1350" dirty="0">
                <a:solidFill>
                  <a:srgbClr val="8A6D1E"/>
                </a:solidFill>
                <a:latin typeface="Amiri" pitchFamily="2" charset="-78"/>
                <a:cs typeface="Amiri" pitchFamily="2" charset="-78"/>
              </a:rPr>
              <a:t>الـ</a:t>
            </a:r>
            <a:pPr algn="l" indent="0" marL="0">
              <a:buNone/>
            </a:pPr>
            <a:r>
              <a:rPr lang="en-US" sz="1050" i="1" dirty="0">
                <a:solidFill>
                  <a:srgbClr val="8A6D1E"/>
                </a:solidFill>
                <a:latin typeface="Calibri" pitchFamily="34" charset="0"/>
                <a:cs typeface="Amiri" pitchFamily="2" charset="-78"/>
              </a:rPr>
              <a:t> .</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garden is beautiful.”</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الْحَدِيقَةُ جَمِيلَةٌ.</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الْحَدِيقَةُ الْجَمِيلَةُ.</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حَدِيقَةٌ الْجَمِيلَةُ.</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Definite subject + indefinite predicate creates a complete nominal sentence.</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begins with a moon letter?</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السَّمَكُ</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الطَّعَامُ</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الْهَوَاءُ</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هـ</a:t>
            </a:r>
            <a:pPr algn="l" indent="0" marL="0">
              <a:buNone/>
            </a:pPr>
            <a:r>
              <a:rPr lang="en-US" sz="1050" i="1" dirty="0">
                <a:solidFill>
                  <a:srgbClr val="8A6D1E"/>
                </a:solidFill>
                <a:latin typeface="Calibri" pitchFamily="34" charset="0"/>
                <a:cs typeface="Amiri" pitchFamily="2" charset="-78"/>
              </a:rPr>
              <a:t> is a moon letter: al-hawāʾu.</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Correct writing after </a:t>
            </a:r>
            <a:pPr algn="l" indent="0" marL="0">
              <a:buNone/>
            </a:pPr>
            <a:r>
              <a:rPr lang="ar-SA" altLang="en-US" sz="1650" b="1" dirty="0">
                <a:solidFill>
                  <a:srgbClr val="1B3B6F"/>
                </a:solidFill>
                <a:latin typeface="Amiri" pitchFamily="2" charset="-78"/>
                <a:cs typeface="Amiri" pitchFamily="2" charset="-78"/>
              </a:rPr>
              <a:t>مَعَ</a:t>
            </a:r>
            <a:pPr algn="l" indent="0" marL="0">
              <a:buNone/>
            </a:pPr>
            <a:r>
              <a:rPr lang="en-US" sz="1250" b="1" dirty="0">
                <a:solidFill>
                  <a:srgbClr val="1B3B6F"/>
                </a:solidFill>
                <a:latin typeface="Calibri" pitchFamily="34" charset="0"/>
                <a:cs typeface="Amiri" pitchFamily="2" charset="-78"/>
              </a:rPr>
              <a:t> :</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مَعَلْمُعَلِّمَةِ</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مَعَ لْمُعَلِّمَةِ</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مَعَ الْمُعَلِّمَةِ</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Write the article fully; pronounce it in connection.</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hamzat al-waṣl do?</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Its initial vowel is heard at a start but not in connected speech.</a:t>
            </a:r>
            <a:endParaRPr lang="en-US" sz="115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It deletes the whole article after every vowel.</a:t>
            </a:r>
            <a:endParaRPr lang="en-US" sz="115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It makes every following letter a sun letter.</a:t>
            </a:r>
            <a:endParaRPr lang="en-US" sz="115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helping vowel enables a start and drops in connection.</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principle for names.</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Add </a:t>
            </a:r>
            <a:pPr algn="l" indent="0" marL="0">
              <a:buNone/>
            </a:pPr>
            <a:r>
              <a:rPr lang="ar-SA" altLang="en-US" sz="1650" dirty="0">
                <a:solidFill>
                  <a:srgbClr val="9AA1AB"/>
                </a:solidFill>
                <a:latin typeface="Amiri" pitchFamily="2" charset="-78"/>
                <a:cs typeface="Amiri" pitchFamily="2" charset="-78"/>
              </a:rPr>
              <a:t>ال</a:t>
            </a:r>
            <a:pPr algn="l" indent="0" marL="0">
              <a:buNone/>
            </a:pPr>
            <a:r>
              <a:rPr lang="en-US" sz="1250" dirty="0">
                <a:solidFill>
                  <a:srgbClr val="9AA1AB"/>
                </a:solidFill>
                <a:latin typeface="Calibri" pitchFamily="34" charset="0"/>
                <a:cs typeface="Amiri" pitchFamily="2" charset="-78"/>
              </a:rPr>
              <a:t> to every city and person.</a:t>
            </a:r>
            <a:endParaRPr lang="en-US" sz="125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Use the established form; some names contain </a:t>
            </a:r>
            <a:pPr algn="l" indent="0" marL="0">
              <a:buNone/>
            </a:pPr>
            <a:r>
              <a:rPr lang="ar-SA" altLang="en-US" sz="1500" b="1" dirty="0">
                <a:solidFill>
                  <a:srgbClr val="1F2A37"/>
                </a:solidFill>
                <a:latin typeface="Amiri" pitchFamily="2" charset="-78"/>
                <a:cs typeface="Amiri" pitchFamily="2" charset="-78"/>
              </a:rPr>
              <a:t>ال</a:t>
            </a:r>
            <a:pPr algn="l" indent="0" marL="0">
              <a:buNone/>
            </a:pPr>
            <a:r>
              <a:rPr lang="en-US" sz="1150" b="1" dirty="0">
                <a:solidFill>
                  <a:srgbClr val="1F2A37"/>
                </a:solidFill>
                <a:latin typeface="Calibri" pitchFamily="34" charset="0"/>
                <a:cs typeface="Amiri" pitchFamily="2" charset="-78"/>
              </a:rPr>
              <a:t>.</a:t>
            </a:r>
            <a:endParaRPr lang="en-US" sz="115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Delete </a:t>
            </a:r>
            <a:pPr algn="l" indent="0" marL="0">
              <a:buNone/>
            </a:pPr>
            <a:r>
              <a:rPr lang="ar-SA" altLang="en-US" sz="1650" dirty="0">
                <a:solidFill>
                  <a:srgbClr val="9AA1AB"/>
                </a:solidFill>
                <a:latin typeface="Amiri" pitchFamily="2" charset="-78"/>
                <a:cs typeface="Amiri" pitchFamily="2" charset="-78"/>
              </a:rPr>
              <a:t>ال</a:t>
            </a:r>
            <a:pPr algn="l" indent="0" marL="0">
              <a:buNone/>
            </a:pPr>
            <a:r>
              <a:rPr lang="en-US" sz="1250" dirty="0">
                <a:solidFill>
                  <a:srgbClr val="9AA1AB"/>
                </a:solidFill>
                <a:latin typeface="Calibri" pitchFamily="34" charset="0"/>
                <a:cs typeface="Amiri" pitchFamily="2" charset="-78"/>
              </a:rPr>
              <a:t> from every proper noun.</a:t>
            </a:r>
            <a:endParaRPr lang="en-US" sz="125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Definiteness in names is lexical and conventional.</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39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GM-ART-01 · Articles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Before GM-ART-02: get ready at home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GM-ART-02 · Definiteness and Adjective Agreement</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نَعْتٌ / صِفَةٌ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adjective</a:t>
            </a:r>
            <a:pPr indent="0" marL="0">
              <a:buNone/>
            </a:pPr>
            <a:r>
              <a:rPr lang="en-US" sz="1000" i="1" dirty="0">
                <a:solidFill>
                  <a:srgbClr val="5A6472"/>
                </a:solidFill>
                <a:latin typeface="Calibri" pitchFamily="34" charset="0"/>
                <a:cs typeface="Amiri" pitchFamily="2" charset="-78"/>
              </a:rPr>
              <a:t>  pl. نُعُوتٌ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مَنْعُوتٌ</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noun described</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مُطَابَقَةٌ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agreement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مُبْتَدَأٌ</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subject of a nominal sentence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خَبَرٌ</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predicate</a:t>
            </a:r>
            <a:pPr indent="0" marL="0">
              <a:buNone/>
            </a:pPr>
            <a:r>
              <a:rPr lang="en-US" sz="1000" i="1" dirty="0">
                <a:solidFill>
                  <a:srgbClr val="5A6472"/>
                </a:solidFill>
                <a:latin typeface="Calibri" pitchFamily="34" charset="0"/>
                <a:cs typeface="Amiri" pitchFamily="2" charset="-78"/>
              </a:rPr>
              <a:t>  pl. أَخْبَارٌ</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Write a phrase and a sentence about your bag: “the new bag” and “The bag is new.”</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الْحَقِيبَةُ الْجَدِيدَةُ · الْحَقِيبَةُ جَدِيدَةٌ</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the 14 sun letters; sort ten nouns from your exercise book into sun and moon.</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five phrase / sentence pairs (</a:t>
            </a:r>
            <a:pPr algn="l" indent="0" marL="0">
              <a:buNone/>
            </a:pPr>
            <a:r>
              <a:rPr lang="ar-SA" altLang="en-US" sz="1550" dirty="0">
                <a:solidFill>
                  <a:srgbClr val="1F2A37"/>
                </a:solidFill>
                <a:latin typeface="Amiri" pitchFamily="2" charset="-78"/>
                <a:cs typeface="Amiri" pitchFamily="2" charset="-78"/>
              </a:rPr>
              <a:t>الْبَيْتُ الْكَبِيرُ</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cs typeface="Amiri" pitchFamily="2" charset="-78"/>
              </a:rPr>
              <a:t>الْبَيْتُ كَبِيرٌ</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Finish the website writing task (7–10 sentences) and redo the website mastery check.</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39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GM-ART-01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50" b="1" dirty="0">
                <a:solidFill>
                  <a:srgbClr val="FFFFFF"/>
                </a:solidFill>
                <a:latin typeface="Cambria" pitchFamily="34" charset="0"/>
                <a:cs typeface="Amiri" pitchFamily="2" charset="-78"/>
              </a:rPr>
              <a:t>GM-ART-02 · Definiteness and Adjective Agreement</a:t>
            </a:r>
            <a:endParaRPr lang="en-US" sz="18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مُطَابَقَةُ النَّعْتِ فِي التَّعْرِيفِ وَالتَّنْكِيرِ</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new → no </a:t>
            </a:r>
            <a:pPr algn="l" indent="0" marL="0">
              <a:buNone/>
            </a:pPr>
            <a:r>
              <a:rPr lang="ar-SA" altLang="en-US" sz="1700" b="1" dirty="0">
                <a:solidFill>
                  <a:srgbClr val="FFFFFF"/>
                </a:solidFill>
                <a:latin typeface="Amiri" pitchFamily="2" charset="-78"/>
                <a:cs typeface="Amiri" pitchFamily="2" charset="-78"/>
              </a:rPr>
              <a:t>الـ</a:t>
            </a:r>
            <a:pPr algn="l" indent="0" marL="0">
              <a:buNone/>
            </a:pPr>
            <a:r>
              <a:rPr lang="en-US" sz="1300" b="1" dirty="0">
                <a:solidFill>
                  <a:srgbClr val="FFFFFF"/>
                </a:solidFill>
                <a:latin typeface="Calibri" pitchFamily="34" charset="0"/>
                <a:cs typeface="Amiri" pitchFamily="2" charset="-78"/>
              </a:rPr>
              <a:t> · known → </a:t>
            </a:r>
            <a:pPr algn="l" indent="0" marL="0">
              <a:buNone/>
            </a:pPr>
            <a:r>
              <a:rPr lang="ar-SA" altLang="en-US" sz="1700" b="1" dirty="0">
                <a:solidFill>
                  <a:srgbClr val="FFFFFF"/>
                </a:solidFill>
                <a:latin typeface="Amiri" pitchFamily="2" charset="-78"/>
                <a:cs typeface="Amiri" pitchFamily="2" charset="-78"/>
              </a:rPr>
              <a:t>الـ</a:t>
            </a:r>
            <a:pPr algn="l" indent="0" marL="0">
              <a:buNone/>
            </a:pPr>
            <a:r>
              <a:rPr lang="en-US" sz="1300" b="1" dirty="0">
                <a:solidFill>
                  <a:srgbClr val="FFFFFF"/>
                </a:solidFill>
                <a:latin typeface="Calibri" pitchFamily="34" charset="0"/>
                <a:cs typeface="Amiri" pitchFamily="2" charset="-78"/>
              </a:rPr>
              <a:t> · sun letters swallow the lām · pronounce naturally, spell in full.</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GM-ART-01 · The Definite Article</dc:title>
  <dc:subject>PptxGenJS Presentation</dc:subject>
  <dc:creator>Al Madina Online School · Arabic Department</dc:creator>
  <cp:lastModifiedBy>Al Madina Online School · Arabic Department</cp:lastModifiedBy>
  <cp:revision>1</cp:revision>
  <dcterms:created xsi:type="dcterms:W3CDTF">2026-10-11T06:42:07Z</dcterms:created>
  <dcterms:modified xsi:type="dcterms:W3CDTF">2026-10-11T06:42:07Z</dcterms:modified>
</cp:coreProperties>
</file>