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Articles › GM-ART-01 (“The Definite Article”).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a noun vs the noun (كِتَابٌ / الْكِتَابُ) and sorting sun and moon letters. Develop: noun–adjective definiteness, phrase vs sentence. Stretch: hamzat al-waṣl in connected speech and where الـ must NOT be added (كِتَابِي · بَابُ الْمَدْرَسَةِ · names).
• URDU / QUR’AN BRIDGE: students already pronounce this correctly in names and recitation — عَبْدُ الرَّحْمٰنِ (Abdur-Raḥmān), الرَّحْمٰنِ الرَّحِيمِ, الشَّمْسُ in Sūrat ash-Shams: the lām is silent and the next letter doubles. That is a SUN letter. اَلْحَمْدُ, الْقَمَرُ: the lām is heard — a MOON letter.
• The golden rule of this lesson: pronounce naturally, spell in full.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It is diagnostic: wrong answers tell you which explanation slide needs the most time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one question: am I naming ANY one (indefinite) or a PARTICULAR, known one (definite)?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Teach the first six now; نَكِرَةٌ and مَعْرِفَةٌ are the two words students must use all lesson (“Is it nakira or maʿrifa?”). Tanwīn and shadda are revision (FLEX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Teach the first six now; نَكِرَةٌ and مَعْرِفَةٌ are the two words students must use all lesson (“Is it nakira or maʿrifa?”). Tanwīn and shadda are revision (FLEX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“Definite or indefinite?”. Website: “The article is not decoration: it tells the reader whether the noun is specific or non-specific.”
Check: hold up a pen — قَلَمٌ (a pen). Now “THE pen I am holding” — الْقَلَمُ. Students chat “n” (nakira) or “m” (maʿrifa) for five quick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table “From noun to noun phrase”. Read each pair aloud. Ask: “Is it complete? Can I put a full stop after it?” This prepares GM-ART-02 (agreement in definiteness).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section “Sun and moon letters”. Website correction: الشَّمْسُ is pronounced approximately ash-shamsu (short opening vowel), not “āsh-shams”.
Bridge: عَبْدُ الرَّحْمٰنِ, الرَّحِيمِ — students already assimilate ر. Choral: الشَّمْسُ / الْقَمَرُ, then five words — class shows ☀ (hand open) or ☾ (fist)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3b (2 min). Cover the left column for Develop/Stretch: they read the Arabic and say the pronunciation. Core read the transliteration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section “Hamzat al-waṣl and connected speech”. Model each pair slowly, then naturally. Website: “Connected pronunciation is never an instruction to delete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section “Where the article does — and does not — belong”. Website: “The safest rule is not ‘add الـ whenever English has the’.”
Proper-name precision (website): “Do not use الـ with proper nouns” is too broad — do not INVENT an article; learn the established form (الْجَزَائِرُ, الْأُرْدُنُّ · مَرْيَمُ, يُوسُفُ).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“meaning and structure”,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Say aloud at each step: “Is it new or known? Sun or moon? Am I connecting it?” Point out السَّبْتِ (sun letter) and الْمَدْرَسَةِ (moon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Say each word aloud first. Students type “S” or “M” for each card in order (S M S M …), then check. Ask: “How does the vowelling help?” (shadda = sun · sukūn =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Say each word aloud first. Students type “S” or “M” for each card in order (S M S M …), then check. Ask: “How does the vowelling help?” (shadda = sun · sukūn =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“connect but do not respell”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Read it aloud once while students follow; then they hunt for today’s grammar.
Task: Underline every noun that appears first WITHOUT الـ, then circle where it comes back WITH الـ (website: “a noun may first appear indefinitely because it is new, then return with الـ because it is now known”).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check (5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checklist for speaking: one sun-letter noun · one moon-letter noun · connect a preposition naturally · answer أَيْنَ الْمَكَانُ؟ To a girl: حَيِّكِ · صِفِيهِ · صِفِي.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Writing workshop — My local area: write 7–10 connected sentences; introduce at least three places indefinitely, then refer back to them definitely; include one definite noun–adjective phrase and one complete nominal sentence.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Answers: مَسْجِدٌ / سُوقٌ / مَكْتَبَةٌ → الْمَسْجِدُ / السُّوقُ / الْمَكْتَبَةُ · الْمَكْتَبَةُ الْجَدِيدَةُ · السُّوقُ, الشَّارِعِ, السَّبْتِ (sun).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(GM-ART-02 · Definiteness and Adjective Agreement) will spend class time USING this language, so students prepare it tonight — short, simple, easy to access (school guidance: “Simple, Short, Interesting, Relevant, Easy to access”). The five words are the grammar terms of GM-ART-02 (website Articles lesson 2).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ARTICLES  ·  GM-ART-01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GM-ART-01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The Definite Article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أَدَاةُ التَّعْرِيفِ «الـ»</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Decide whether a noun is definite or indefinite (</a:t>
            </a:r>
            <a:pPr algn="l" indent="0" marL="0">
              <a:buNone/>
            </a:pPr>
            <a:r>
              <a:rPr lang="ar-SA" altLang="en-US" sz="1800" dirty="0">
                <a:solidFill>
                  <a:srgbClr val="C6D2E6"/>
                </a:solidFill>
                <a:latin typeface="Amiri" pitchFamily="34" charset="0"/>
                <a:ea typeface="Amiri" pitchFamily="34" charset="-122"/>
                <a:cs typeface="Amiri" pitchFamily="34" charset="-120"/>
              </a:rPr>
              <a:t>كِتَابٌ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الْكِتَابُ</a:t>
            </a:r>
            <a:pPr algn="l" indent="0" marL="0">
              <a:buNone/>
            </a:pPr>
            <a:r>
              <a:rPr lang="en-US" sz="1400" dirty="0">
                <a:solidFill>
                  <a:srgbClr val="C6D2E6"/>
                </a:solidFill>
                <a:latin typeface="Calibri" pitchFamily="34" charset="0"/>
                <a:ea typeface="Calibri" pitchFamily="34" charset="-122"/>
                <a:cs typeface="Calibri" pitchFamily="34" charset="-120"/>
              </a:rPr>
              <a:t>), pronounce </a:t>
            </a:r>
            <a:pPr algn="l" indent="0" marL="0">
              <a:buNone/>
            </a:pPr>
            <a:r>
              <a:rPr lang="ar-SA" altLang="en-US" sz="1800" dirty="0">
                <a:solidFill>
                  <a:srgbClr val="C6D2E6"/>
                </a:solidFill>
                <a:latin typeface="Amiri" pitchFamily="34" charset="0"/>
                <a:ea typeface="Amiri" pitchFamily="34" charset="-122"/>
                <a:cs typeface="Amiri" pitchFamily="34" charset="-120"/>
              </a:rPr>
              <a:t>الـ</a:t>
            </a:r>
            <a:pPr algn="l" indent="0" marL="0">
              <a:buNone/>
            </a:pPr>
            <a:r>
              <a:rPr lang="en-US" sz="1400" dirty="0">
                <a:solidFill>
                  <a:srgbClr val="C6D2E6"/>
                </a:solidFill>
                <a:latin typeface="Calibri" pitchFamily="34" charset="0"/>
                <a:ea typeface="Calibri" pitchFamily="34" charset="-122"/>
                <a:cs typeface="Calibri" pitchFamily="34" charset="-120"/>
              </a:rPr>
              <a:t> correctly with sun and moon letters (</a:t>
            </a:r>
            <a:pPr algn="l" indent="0" marL="0">
              <a:buNone/>
            </a:pPr>
            <a:r>
              <a:rPr lang="ar-SA" altLang="en-US" sz="1800" dirty="0">
                <a:solidFill>
                  <a:srgbClr val="C6D2E6"/>
                </a:solidFill>
                <a:latin typeface="Amiri" pitchFamily="34" charset="0"/>
                <a:ea typeface="Amiri" pitchFamily="34" charset="-122"/>
                <a:cs typeface="Amiri" pitchFamily="34" charset="-120"/>
              </a:rPr>
              <a:t>الشَّمْسُ</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الْقَمَرُ</a:t>
            </a:r>
            <a:pPr algn="l" indent="0" marL="0">
              <a:buNone/>
            </a:pPr>
            <a:r>
              <a:rPr lang="en-US" sz="1400" dirty="0">
                <a:solidFill>
                  <a:srgbClr val="C6D2E6"/>
                </a:solidFill>
                <a:latin typeface="Calibri" pitchFamily="34" charset="0"/>
                <a:ea typeface="Calibri" pitchFamily="34" charset="-122"/>
                <a:cs typeface="Calibri" pitchFamily="34" charset="-120"/>
              </a:rPr>
              <a:t>), connect it in speech (</a:t>
            </a:r>
            <a:pPr algn="l" indent="0" marL="0">
              <a:buNone/>
            </a:pPr>
            <a:r>
              <a:rPr lang="ar-SA" altLang="en-US" sz="1800" dirty="0">
                <a:solidFill>
                  <a:srgbClr val="C6D2E6"/>
                </a:solidFill>
                <a:latin typeface="Amiri" pitchFamily="34" charset="0"/>
                <a:ea typeface="Amiri" pitchFamily="34" charset="-122"/>
                <a:cs typeface="Amiri" pitchFamily="34" charset="-120"/>
              </a:rPr>
              <a:t>فِي الْبَيْتِ</a:t>
            </a:r>
            <a:pPr algn="l" indent="0" marL="0">
              <a:buNone/>
            </a:pPr>
            <a:r>
              <a:rPr lang="en-US" sz="1400" dirty="0">
                <a:solidFill>
                  <a:srgbClr val="C6D2E6"/>
                </a:solidFill>
                <a:latin typeface="Calibri" pitchFamily="34" charset="0"/>
                <a:ea typeface="Calibri" pitchFamily="34" charset="-122"/>
                <a:cs typeface="Calibri" pitchFamily="34" charset="-120"/>
              </a:rPr>
              <a:t>) — and always spell it in full.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GM-ART-01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Articles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 or the? Sun and moon letters. Connected speech. Where </a:t>
            </a:r>
            <a:pPr algn="ctr" indent="0" marL="0">
              <a:buNone/>
            </a:pPr>
            <a:r>
              <a:rPr lang="ar-SA" altLang="en-US" sz="1550" dirty="0">
                <a:solidFill>
                  <a:srgbClr val="1F2A37"/>
                </a:solidFill>
                <a:latin typeface="Amiri" pitchFamily="34" charset="0"/>
                <a:ea typeface="Amiri" pitchFamily="34" charset="-122"/>
                <a:cs typeface="Amiri" pitchFamily="34" charset="-120"/>
              </a:rPr>
              <a:t>الـ</a:t>
            </a:r>
            <a:pPr algn="ctr" indent="0" marL="0">
              <a:buNone/>
            </a:pPr>
            <a:r>
              <a:rPr lang="en-US" sz="1200" dirty="0">
                <a:solidFill>
                  <a:srgbClr val="1F2A37"/>
                </a:solidFill>
                <a:latin typeface="Calibri" pitchFamily="34" charset="0"/>
                <a:ea typeface="Calibri" pitchFamily="34" charset="-122"/>
                <a:cs typeface="Calibri" pitchFamily="34" charset="-120"/>
              </a:rPr>
              <a:t> belongs.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sun and moon letters, repair spelling slips, practise connected speech.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GM-ART-02.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Arabic normally expresses “a/an” by: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no separate article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adding </a:t>
            </a:r>
            <a:pPr algn="l" indent="0" marL="0">
              <a:buNone/>
            </a:pPr>
            <a:r>
              <a:rPr lang="ar-SA" altLang="en-US" sz="1650" dirty="0">
                <a:solidFill>
                  <a:srgbClr val="1F2A37"/>
                </a:solidFill>
                <a:latin typeface="Amiri" pitchFamily="34" charset="0"/>
                <a:ea typeface="Amiri" pitchFamily="34" charset="-122"/>
                <a:cs typeface="Amiri" pitchFamily="34" charset="-120"/>
              </a:rPr>
              <a:t>الـ</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adding </a:t>
            </a:r>
            <a:pPr algn="l" indent="0" marL="0">
              <a:buNone/>
            </a:pPr>
            <a:r>
              <a:rPr lang="ar-SA" altLang="en-US" sz="1650" dirty="0">
                <a:solidFill>
                  <a:srgbClr val="1F2A37"/>
                </a:solidFill>
                <a:latin typeface="Amiri" pitchFamily="34" charset="0"/>
                <a:ea typeface="Amiri" pitchFamily="34" charset="-122"/>
                <a:cs typeface="Amiri" pitchFamily="34" charset="-120"/>
              </a:rPr>
              <a:t>بِـ</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sun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“in the house” be written?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فِلْبَيْتِ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لْبَيْتِ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new school” as one noun phrase?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الْجَدِيدَةُ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جَدِيدَةٌ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 الْجَدِيدَةُ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الْكِتَابُ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الْكِتَابُ</a:t>
            </a:r>
            <a:pPr algn="l" indent="0" marL="0">
              <a:buNone/>
            </a:pPr>
            <a:r>
              <a:rPr lang="en-US" sz="1050" i="1" dirty="0">
                <a:solidFill>
                  <a:srgbClr val="8A6D1E"/>
                </a:solidFill>
                <a:latin typeface="Calibri" pitchFamily="34" charset="0"/>
                <a:ea typeface="Calibri" pitchFamily="34" charset="-122"/>
                <a:cs typeface="Calibri" pitchFamily="34" charset="-120"/>
              </a:rPr>
              <a:t> is definite because it begins with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Arabic normally expresses “a/an” by: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using no separate article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adding </a:t>
            </a:r>
            <a:pPr algn="l" indent="0" marL="0">
              <a:buNone/>
            </a:pPr>
            <a:r>
              <a:rPr lang="ar-SA" altLang="en-US" sz="1650" dirty="0">
                <a:solidFill>
                  <a:srgbClr val="9AA1AB"/>
                </a:solidFill>
                <a:latin typeface="Amiri" pitchFamily="34" charset="0"/>
                <a:ea typeface="Amiri" pitchFamily="34" charset="-122"/>
                <a:cs typeface="Amiri" pitchFamily="34" charset="-120"/>
              </a:rPr>
              <a:t>الـ</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adding </a:t>
            </a:r>
            <a:pPr algn="l" indent="0" marL="0">
              <a:buNone/>
            </a:pPr>
            <a:r>
              <a:rPr lang="ar-SA" altLang="en-US" sz="1650" dirty="0">
                <a:solidFill>
                  <a:srgbClr val="9AA1AB"/>
                </a:solidFill>
                <a:latin typeface="Amiri" pitchFamily="34" charset="0"/>
                <a:ea typeface="Amiri" pitchFamily="34" charset="-122"/>
                <a:cs typeface="Amiri" pitchFamily="34" charset="-120"/>
              </a:rPr>
              <a:t>بِـ</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ea typeface="Calibri" pitchFamily="34" charset="-122"/>
                <a:cs typeface="Calibri" pitchFamily="34" charset="-120"/>
              </a:rPr>
              <a:t>Arabic has no separate equivalent of English “a/an”. In a fully supported model, tanwīn may also signal indefiniteness.</a:t>
            </a:r>
            <a:endParaRPr lang="en-US" sz="9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sun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الشَّمْسُ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a:t>
            </a:r>
            <a:pPr algn="l" indent="0" marL="0">
              <a:buNone/>
            </a:pPr>
            <a:r>
              <a:rPr lang="en-US" sz="1050" i="1" dirty="0">
                <a:solidFill>
                  <a:srgbClr val="8A6D1E"/>
                </a:solidFill>
                <a:latin typeface="Calibri" pitchFamily="34" charset="0"/>
                <a:ea typeface="Calibri" pitchFamily="34" charset="-122"/>
                <a:cs typeface="Calibri" pitchFamily="34" charset="-120"/>
              </a:rPr>
              <a:t> is a sun letter. The lām sound assimilates and </a:t>
            </a:r>
            <a:pPr algn="l" indent="0" marL="0">
              <a:buNone/>
            </a:pPr>
            <a:r>
              <a:rPr lang="ar-SA" altLang="en-US" sz="1350" dirty="0">
                <a:solidFill>
                  <a:srgbClr val="8A6D1E"/>
                </a:solidFill>
                <a:latin typeface="Amiri" pitchFamily="34" charset="0"/>
                <a:ea typeface="Amiri" pitchFamily="34" charset="-122"/>
                <a:cs typeface="Amiri" pitchFamily="34" charset="-120"/>
              </a:rPr>
              <a:t>ش</a:t>
            </a:r>
            <a:pPr algn="l" indent="0" marL="0">
              <a:buNone/>
            </a:pPr>
            <a:r>
              <a:rPr lang="en-US" sz="1050" i="1" dirty="0">
                <a:solidFill>
                  <a:srgbClr val="8A6D1E"/>
                </a:solidFill>
                <a:latin typeface="Calibri" pitchFamily="34" charset="0"/>
                <a:ea typeface="Calibri" pitchFamily="34" charset="-122"/>
                <a:cs typeface="Calibri" pitchFamily="34" charset="-120"/>
              </a:rPr>
              <a:t> is pronounced with shadda.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“in the house” be written?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فِلْبَيْتِ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لْبَيْتِ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الْبَيْتِ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Write every word fully. Connected pronunciation never licenses phonetic spelling in formal writing.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new school” as one noun phrase?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الْمَدْرَسَةُ الْجَدِيدَةُ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جَدِيدَةٌ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 الْجَدِيدَةُ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attributive adjective matches its noun in definiteness: both words take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Ask one question: am I naming ANY one (indefinite) or a PARTICULAR, known one (definite)?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3100" b="1" dirty="0">
                <a:solidFill>
                  <a:srgbClr val="1B3B6F"/>
                </a:solidFill>
                <a:latin typeface="Amiri" pitchFamily="34" charset="0"/>
                <a:ea typeface="Amiri" pitchFamily="34" charset="-122"/>
                <a:cs typeface="Amiri" pitchFamily="34" charset="-120"/>
              </a:rPr>
              <a:t>بَيْتٌ</a:t>
            </a:r>
            <a:pPr algn="ctr" indent="0" marL="0">
              <a:buNone/>
            </a:pPr>
            <a:r>
              <a:rPr lang="en-US" sz="2400" b="1" dirty="0">
                <a:solidFill>
                  <a:srgbClr val="1B3B6F"/>
                </a:solidFill>
                <a:latin typeface="Calibri" pitchFamily="34" charset="0"/>
                <a:ea typeface="Calibri" pitchFamily="34" charset="-122"/>
                <a:cs typeface="Calibri" pitchFamily="34" charset="-120"/>
              </a:rPr>
              <a:t> = a house  ‖  </a:t>
            </a:r>
            <a:pPr algn="ctr" indent="0" marL="0">
              <a:buNone/>
            </a:pPr>
            <a:r>
              <a:rPr lang="ar-SA" altLang="en-US" sz="3100" b="1" dirty="0">
                <a:solidFill>
                  <a:srgbClr val="1B3B6F"/>
                </a:solidFill>
                <a:latin typeface="Amiri" pitchFamily="34" charset="0"/>
                <a:ea typeface="Amiri" pitchFamily="34" charset="-122"/>
                <a:cs typeface="Amiri" pitchFamily="34" charset="-120"/>
              </a:rPr>
              <a:t>الْبَيْتُ</a:t>
            </a:r>
            <a:pPr algn="ctr" indent="0" marL="0">
              <a:buNone/>
            </a:pPr>
            <a:r>
              <a:rPr lang="en-US" sz="2400" b="1" dirty="0">
                <a:solidFill>
                  <a:srgbClr val="1B3B6F"/>
                </a:solidFill>
                <a:latin typeface="Calibri" pitchFamily="34" charset="0"/>
                <a:ea typeface="Calibri" pitchFamily="34" charset="-122"/>
                <a:cs typeface="Calibri" pitchFamily="34" charset="-120"/>
              </a:rPr>
              <a:t> = the house</a:t>
            </a:r>
            <a:endParaRPr lang="en-US"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a definite noun from an indefinite one.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Pronounce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correctly with sun and moon letters.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why the spelling of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never changes in connected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Know where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belongs — and where it must not be added.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tell </a:t>
            </a:r>
            <a:pPr algn="l" indent="0" marL="0">
              <a:buNone/>
            </a:pPr>
            <a:r>
              <a:rPr lang="ar-SA" altLang="en-US" sz="1700" b="1" dirty="0">
                <a:solidFill>
                  <a:srgbClr val="2E8B57"/>
                </a:solidFill>
                <a:latin typeface="Amiri" pitchFamily="34" charset="0"/>
                <a:ea typeface="Amiri" pitchFamily="34" charset="-122"/>
                <a:cs typeface="Amiri" pitchFamily="34" charset="-120"/>
              </a:rPr>
              <a:t>كِتَابٌ</a:t>
            </a:r>
            <a:pPr algn="l" indent="0" marL="0">
              <a:buNone/>
            </a:pPr>
            <a:r>
              <a:rPr lang="en-US" sz="1300" b="1" dirty="0">
                <a:solidFill>
                  <a:srgbClr val="2E8B57"/>
                </a:solidFill>
                <a:latin typeface="Calibri" pitchFamily="34" charset="0"/>
                <a:ea typeface="Calibri" pitchFamily="34" charset="-122"/>
                <a:cs typeface="Calibri" pitchFamily="34" charset="-120"/>
              </a:rPr>
              <a:t> (a book) from </a:t>
            </a:r>
            <a:pPr algn="l" indent="0" marL="0">
              <a:buNone/>
            </a:pPr>
            <a:r>
              <a:rPr lang="ar-SA" altLang="en-US" sz="1700" b="1" dirty="0">
                <a:solidFill>
                  <a:srgbClr val="2E8B57"/>
                </a:solidFill>
                <a:latin typeface="Amiri" pitchFamily="34" charset="0"/>
                <a:ea typeface="Amiri" pitchFamily="34" charset="-122"/>
                <a:cs typeface="Amiri" pitchFamily="34" charset="-120"/>
              </a:rPr>
              <a:t>الْكِتَابُ</a:t>
            </a:r>
            <a:pPr algn="l" indent="0" marL="0">
              <a:buNone/>
            </a:pPr>
            <a:r>
              <a:rPr lang="en-US" sz="1300" b="1" dirty="0">
                <a:solidFill>
                  <a:srgbClr val="2E8B57"/>
                </a:solidFill>
                <a:latin typeface="Calibri" pitchFamily="34" charset="0"/>
                <a:ea typeface="Calibri" pitchFamily="34" charset="-122"/>
                <a:cs typeface="Calibri" pitchFamily="34" charset="-120"/>
              </a:rPr>
              <a:t> (the book).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sort nouns into sun and moon letters.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noun and its adjective match in definiteness.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 phrase from a sentence.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hamzat al-waṣl in connected speech.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where </a:t>
            </a:r>
            <a:pPr algn="l" indent="0" marL="0">
              <a:buNone/>
            </a:pPr>
            <a:r>
              <a:rPr lang="ar-SA" altLang="en-US" sz="1700" b="1" dirty="0">
                <a:solidFill>
                  <a:srgbClr val="B83227"/>
                </a:solidFill>
                <a:latin typeface="Amiri" pitchFamily="34" charset="0"/>
                <a:ea typeface="Amiri" pitchFamily="34" charset="-122"/>
                <a:cs typeface="Amiri" pitchFamily="34" charset="-120"/>
              </a:rPr>
              <a:t>الـ</a:t>
            </a:r>
            <a:pPr algn="l" indent="0" marL="0">
              <a:buNone/>
            </a:pPr>
            <a:r>
              <a:rPr lang="en-US" sz="1300" b="1" dirty="0">
                <a:solidFill>
                  <a:srgbClr val="B83227"/>
                </a:solidFill>
                <a:latin typeface="Calibri" pitchFamily="34" charset="0"/>
                <a:ea typeface="Calibri" pitchFamily="34" charset="-122"/>
                <a:cs typeface="Calibri" pitchFamily="34" charset="-120"/>
              </a:rPr>
              <a:t> does not belong (</a:t>
            </a:r>
            <a:pPr algn="l" indent="0" marL="0">
              <a:buNone/>
            </a:pPr>
            <a:r>
              <a:rPr lang="ar-SA" altLang="en-US" sz="1700" b="1" dirty="0">
                <a:solidFill>
                  <a:srgbClr val="B83227"/>
                </a:solidFill>
                <a:latin typeface="Amiri" pitchFamily="34" charset="0"/>
                <a:ea typeface="Amiri" pitchFamily="34" charset="-122"/>
                <a:cs typeface="Amiri" pitchFamily="34" charset="-120"/>
              </a:rPr>
              <a:t>كِتَابِي</a:t>
            </a:r>
            <a:pPr algn="l" indent="0" marL="0">
              <a:buNone/>
            </a:pPr>
            <a:r>
              <a:rPr lang="en-US" sz="1300" b="1" dirty="0">
                <a:solidFill>
                  <a:srgbClr val="B83227"/>
                </a:solidFill>
                <a:latin typeface="Calibri" pitchFamily="34" charset="0"/>
                <a:ea typeface="Calibri" pitchFamily="34" charset="-122"/>
                <a:cs typeface="Calibri" pitchFamily="34" charset="-120"/>
              </a:rPr>
              <a:t> · names · iḍāfa).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indefinite noun (a /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na-ki-ra-tun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e.g. </a:t>
            </a:r>
            <a:pPr algn="l" indent="0" marL="0">
              <a:buNone/>
            </a:pPr>
            <a:r>
              <a:rPr lang="ar-SA" altLang="en-US" sz="1300" dirty="0">
                <a:solidFill>
                  <a:srgbClr val="8A6D1E"/>
                </a:solidFill>
                <a:latin typeface="Amiri" pitchFamily="34" charset="0"/>
                <a:ea typeface="Amiri" pitchFamily="34" charset="-122"/>
                <a:cs typeface="Amiri" pitchFamily="34" charset="-120"/>
              </a:rPr>
              <a:t>كِتَابٌ</a:t>
            </a:r>
            <a:pPr algn="l" indent="0" marL="0">
              <a:buNone/>
            </a:pPr>
            <a:r>
              <a:rPr lang="en-US" sz="1000" i="1" dirty="0">
                <a:solidFill>
                  <a:srgbClr val="8A6D1E"/>
                </a:solidFill>
                <a:latin typeface="Calibri" pitchFamily="34" charset="0"/>
                <a:ea typeface="Calibri" pitchFamily="34" charset="-122"/>
                <a:cs typeface="Calibri" pitchFamily="34" charset="-120"/>
              </a:rPr>
              <a:t> — a book</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مَعْرِفَةٌ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definite noun (the)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maʿ-ri-fa-tun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e.g. </a:t>
            </a:r>
            <a:pPr algn="l" indent="0" marL="0">
              <a:buNone/>
            </a:pPr>
            <a:r>
              <a:rPr lang="ar-SA" altLang="en-US" sz="1300" dirty="0">
                <a:solidFill>
                  <a:srgbClr val="8A6D1E"/>
                </a:solidFill>
                <a:latin typeface="Amiri" pitchFamily="34" charset="0"/>
                <a:ea typeface="Amiri" pitchFamily="34" charset="-122"/>
                <a:cs typeface="Amiri" pitchFamily="34" charset="-120"/>
              </a:rPr>
              <a:t>الْكِتَابُ</a:t>
            </a:r>
            <a:pPr algn="l" indent="0" marL="0">
              <a:buNone/>
            </a:pPr>
            <a:r>
              <a:rPr lang="en-US" sz="1000" i="1" dirty="0">
                <a:solidFill>
                  <a:srgbClr val="8A6D1E"/>
                </a:solidFill>
                <a:latin typeface="Calibri" pitchFamily="34" charset="0"/>
                <a:ea typeface="Calibri" pitchFamily="34" charset="-122"/>
                <a:cs typeface="Calibri" pitchFamily="34" charset="-120"/>
              </a:rPr>
              <a:t> — the book</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أَدَاةُ التَّعْرِيفِ</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definite article (al-)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a-dā-tu at-taʿ-rī-fi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joined to the noun: </a:t>
            </a:r>
            <a:pPr algn="l" indent="0" marL="0">
              <a:buNone/>
            </a:pPr>
            <a:r>
              <a:rPr lang="ar-SA" altLang="en-US" sz="1300" dirty="0">
                <a:solidFill>
                  <a:srgbClr val="8A6D1E"/>
                </a:solidFill>
                <a:latin typeface="Amiri" pitchFamily="34" charset="0"/>
                <a:ea typeface="Amiri" pitchFamily="34" charset="-122"/>
                <a:cs typeface="Amiri" pitchFamily="34" charset="-120"/>
              </a:rPr>
              <a:t>الـ</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الْحُرُوفُ الشَّمْسِيَّةُ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 letters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al-ḥu-rū-fu ash-sham-siy-ya-tu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lām silent: </a:t>
            </a:r>
            <a:pPr algn="l" indent="0" marL="0">
              <a:buNone/>
            </a:pPr>
            <a:r>
              <a:rPr lang="ar-SA" altLang="en-US" sz="1300" dirty="0">
                <a:solidFill>
                  <a:srgbClr val="8A6D1E"/>
                </a:solidFill>
                <a:latin typeface="Amiri" pitchFamily="34" charset="0"/>
                <a:ea typeface="Amiri" pitchFamily="34" charset="-122"/>
                <a:cs typeface="Amiri" pitchFamily="34" charset="-120"/>
              </a:rPr>
              <a:t>الشَّمْسُ</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الْحُرُوفُ الْقَمَرِيَّةُ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moon letters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al-ḥu-rū-fu al-qa-ma-riy-ya-tu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lām heard: </a:t>
            </a:r>
            <a:pPr algn="l" indent="0" marL="0">
              <a:buNone/>
            </a:pPr>
            <a:r>
              <a:rPr lang="ar-SA" altLang="en-US" sz="1300" dirty="0">
                <a:solidFill>
                  <a:srgbClr val="8A6D1E"/>
                </a:solidFill>
                <a:latin typeface="Amiri" pitchFamily="34" charset="0"/>
                <a:ea typeface="Amiri" pitchFamily="34" charset="-122"/>
                <a:cs typeface="Amiri" pitchFamily="34" charset="-120"/>
              </a:rPr>
              <a:t>الْقَمَرُ</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هَمْزَةُ الْوَصْلِ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connecting hamza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ham-za-tu al-waṣ-li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its vowel is heard only after a pause</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nunation (-un · -an ·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tan-wī-nun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only on indefinite nouns: </a:t>
            </a:r>
            <a:pPr algn="l" indent="0" marL="0">
              <a:buNone/>
            </a:pPr>
            <a:r>
              <a:rPr lang="ar-SA" altLang="en-US" sz="1300" dirty="0">
                <a:solidFill>
                  <a:srgbClr val="8A6D1E"/>
                </a:solidFill>
                <a:latin typeface="Amiri" pitchFamily="34" charset="0"/>
                <a:ea typeface="Amiri" pitchFamily="34" charset="-122"/>
                <a:cs typeface="Amiri" pitchFamily="34" charset="-120"/>
              </a:rPr>
              <a:t>كِتَابٌ</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شَدَّةٌ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shadda (doubling mark)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shad-da-tun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doubles the sun letter: </a:t>
            </a:r>
            <a:pPr algn="l" indent="0" marL="0">
              <a:buNone/>
            </a:pPr>
            <a:r>
              <a:rPr lang="ar-SA" altLang="en-US" sz="1300" dirty="0">
                <a:solidFill>
                  <a:srgbClr val="8A6D1E"/>
                </a:solidFill>
                <a:latin typeface="Amiri" pitchFamily="34" charset="0"/>
                <a:ea typeface="Amiri" pitchFamily="34" charset="-122"/>
                <a:cs typeface="Amiri" pitchFamily="34" charset="-120"/>
              </a:rPr>
              <a:t>الشَّمْسُ</a:t>
            </a:r>
            <a:endParaRPr lang="en-US" sz="10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DEFINITE OR INDEFINITE? (WEBSITE SECTION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book — or THE book?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مَعْرِفَةٌ أَمْ نَكِرَةٌ؟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Start with MEANING: are you naming any one of something (indefinite) or a particular, known one (definite)?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Indefinite: Arabic has NO word for “a / an”. The noun stands alone; in vowelled text it usually ends in tanwīn: </a:t>
            </a:r>
            <a:pPr algn="l" indent="0" marL="0">
              <a:buNone/>
            </a:pPr>
            <a:r>
              <a:rPr lang="ar-SA" altLang="en-US" sz="1700" dirty="0">
                <a:solidFill>
                  <a:srgbClr val="1F2A37"/>
                </a:solidFill>
                <a:latin typeface="Amiri" pitchFamily="34" charset="0"/>
                <a:ea typeface="Amiri" pitchFamily="34" charset="-122"/>
                <a:cs typeface="Amiri" pitchFamily="34" charset="-120"/>
              </a:rPr>
              <a:t>كِتَابٌ</a:t>
            </a:r>
            <a:pPr algn="l" indent="0" marL="0">
              <a:buNone/>
            </a:pPr>
            <a:r>
              <a:rPr lang="en-US" sz="1300" dirty="0">
                <a:solidFill>
                  <a:srgbClr val="1F2A37"/>
                </a:solidFill>
                <a:latin typeface="Calibri" pitchFamily="34" charset="0"/>
                <a:ea typeface="Calibri" pitchFamily="34" charset="-122"/>
                <a:cs typeface="Calibri" pitchFamily="34" charset="-120"/>
              </a:rPr>
              <a:t> (kitābun).</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Definite: add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to the front of the noun — joined, with no space or hyphen: </a:t>
            </a:r>
            <a:pPr algn="l" indent="0" marL="0">
              <a:buNone/>
            </a:pPr>
            <a:r>
              <a:rPr lang="ar-SA" altLang="en-US" sz="1700" dirty="0">
                <a:solidFill>
                  <a:srgbClr val="1F2A37"/>
                </a:solidFill>
                <a:latin typeface="Amiri" pitchFamily="34" charset="0"/>
                <a:ea typeface="Amiri" pitchFamily="34" charset="-122"/>
                <a:cs typeface="Amiri" pitchFamily="34" charset="-120"/>
              </a:rPr>
              <a:t>الْكِتَابُ</a:t>
            </a:r>
            <a:pPr algn="l" indent="0" marL="0">
              <a:buNone/>
            </a:pPr>
            <a:r>
              <a:rPr lang="en-US" sz="1300" dirty="0">
                <a:solidFill>
                  <a:srgbClr val="1F2A37"/>
                </a:solidFill>
                <a:latin typeface="Calibri" pitchFamily="34" charset="0"/>
                <a:ea typeface="Calibri" pitchFamily="34" charset="-122"/>
                <a:cs typeface="Calibri" pitchFamily="34" charset="-120"/>
              </a:rPr>
              <a:t> (al-kitābu).</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noun never has BOTH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and tanwīn: write </a:t>
            </a:r>
            <a:pPr algn="l" indent="0" marL="0">
              <a:buNone/>
            </a:pPr>
            <a:r>
              <a:rPr lang="ar-SA" altLang="en-US" sz="1700" dirty="0">
                <a:solidFill>
                  <a:srgbClr val="1F2A37"/>
                </a:solidFill>
                <a:latin typeface="Amiri" pitchFamily="34" charset="0"/>
                <a:ea typeface="Amiri" pitchFamily="34" charset="-122"/>
                <a:cs typeface="Amiri" pitchFamily="34" charset="-120"/>
              </a:rPr>
              <a:t>الْكِتَابُ</a:t>
            </a:r>
            <a:pPr algn="l" indent="0" marL="0">
              <a:buNone/>
            </a:pPr>
            <a:r>
              <a:rPr lang="en-US" sz="1300" dirty="0">
                <a:solidFill>
                  <a:srgbClr val="1F2A37"/>
                </a:solidFill>
                <a:latin typeface="Calibri" pitchFamily="34" charset="0"/>
                <a:ea typeface="Calibri" pitchFamily="34" charset="-122"/>
                <a:cs typeface="Calibri" pitchFamily="34" charset="-120"/>
              </a:rPr>
              <a:t>, not </a:t>
            </a:r>
            <a:pPr algn="l" indent="0" marL="0">
              <a:buNone/>
            </a:pPr>
            <a:r>
              <a:rPr lang="ar-SA" altLang="en-US" sz="1700" dirty="0">
                <a:solidFill>
                  <a:srgbClr val="1F2A37"/>
                </a:solidFill>
                <a:latin typeface="Amiri" pitchFamily="34" charset="0"/>
                <a:ea typeface="Amiri" pitchFamily="34" charset="-122"/>
                <a:cs typeface="Amiri" pitchFamily="34" charset="-120"/>
              </a:rPr>
              <a:t>الْكِتَابٌ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 a text, a new noun usually appears first WITHOUT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when it comes back, the reader knows it, so it takes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بَيْتٌ</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house  ·  any house — indefinite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الْبَيْتُ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house  ·  a known house — definite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الْمَدِينَةِ مَدْرَسَةٌ.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In the city there is a school.  ·  new → indefinite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الْمَدْرَسَةُ قَرِيبَةٌ.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school is near.  ·  known → definite</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Tanwīn (</a:t>
            </a:r>
            <a:pPr algn="l" indent="0" marL="0">
              <a:buNone/>
            </a:pPr>
            <a:r>
              <a:rPr lang="ar-SA" altLang="en-US" sz="1650" dirty="0">
                <a:solidFill>
                  <a:srgbClr val="1F2A37"/>
                </a:solidFill>
                <a:latin typeface="Amiri" pitchFamily="34" charset="0"/>
                <a:ea typeface="Amiri" pitchFamily="34" charset="-122"/>
                <a:cs typeface="Amiri" pitchFamily="34" charset="-120"/>
              </a:rPr>
              <a:t>ـٌ ـً ـٍ</a:t>
            </a:r>
            <a:pPr algn="l" indent="0" marL="0">
              <a:buNone/>
            </a:pPr>
            <a:r>
              <a:rPr lang="en-US" sz="1250" dirty="0">
                <a:solidFill>
                  <a:srgbClr val="1F2A37"/>
                </a:solidFill>
                <a:latin typeface="Calibri" pitchFamily="34" charset="0"/>
                <a:ea typeface="Calibri" pitchFamily="34" charset="-122"/>
                <a:cs typeface="Calibri" pitchFamily="34" charset="-120"/>
              </a:rPr>
              <a:t>) is an ending, not a separate word for “a”. In normal unvowelled writing it often disappears, but the noun is still indefinite.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PHRASE OR SENTENCE?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Same words — a phrase or a sentence?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الِاسْمِ إِلَى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notice</a:t>
            </a:r>
            <a:endParaRPr lang="en-US" sz="1100" dirty="0"/>
          </a:p>
        </p:txBody>
      </p:sp>
      <p:sp>
        <p:nvSpPr>
          <p:cNvPr id="17" name="Text 14"/>
          <p:cNvSpPr txBox="1"/>
          <p:nvPr/>
        </p:nvSpPr>
        <p:spPr>
          <a:xfrm>
            <a:off x="34564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both words indefinite.</a:t>
            </a:r>
            <a:endParaRPr lang="en-US" sz="1100" dirty="0"/>
          </a:p>
        </p:txBody>
      </p:sp>
      <p:sp>
        <p:nvSpPr>
          <p:cNvPr id="21" name="Text 18"/>
          <p:cNvSpPr txBox="1"/>
          <p:nvPr/>
        </p:nvSpPr>
        <p:spPr>
          <a:xfrm>
            <a:off x="347472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 جَدِيدَةٌ</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new school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both words definite.</a:t>
            </a:r>
            <a:endParaRPr lang="en-US" sz="1100" dirty="0"/>
          </a:p>
        </p:txBody>
      </p:sp>
      <p:sp>
        <p:nvSpPr>
          <p:cNvPr id="27" name="Text 24"/>
          <p:cNvSpPr txBox="1"/>
          <p:nvPr/>
        </p:nvSpPr>
        <p:spPr>
          <a:xfrm>
            <a:off x="347472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الْمَدْرَسَةُ الْجَدِيدَةُ</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new school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Sentence: definite subject + indefinite predicate.</a:t>
            </a:r>
            <a:endParaRPr lang="en-US" sz="1100" dirty="0"/>
          </a:p>
        </p:txBody>
      </p:sp>
      <p:sp>
        <p:nvSpPr>
          <p:cNvPr id="33" name="Text 30"/>
          <p:cNvSpPr txBox="1"/>
          <p:nvPr/>
        </p:nvSpPr>
        <p:spPr>
          <a:xfrm>
            <a:off x="347472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الْمَدْرَسَةُ جَدِيدَةٌ.</a:t>
            </a:r>
            <a:endParaRPr lang="ar-SA" sz="24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 is new.</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(we still need a verb or a predicate).</a:t>
            </a:r>
            <a:endParaRPr lang="en-US" sz="1100" dirty="0"/>
          </a:p>
        </p:txBody>
      </p:sp>
      <p:sp>
        <p:nvSpPr>
          <p:cNvPr id="39" name="Text 36"/>
          <p:cNvSpPr txBox="1"/>
          <p:nvPr/>
        </p:nvSpPr>
        <p:spPr>
          <a:xfrm>
            <a:off x="347472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الْبَيْتُ الْكَبِيرُ</a:t>
            </a:r>
            <a:endParaRPr lang="ar-SA" sz="24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big house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complete sentence — no word for “is”.</a:t>
            </a:r>
            <a:endParaRPr lang="en-US" sz="1100" dirty="0"/>
          </a:p>
        </p:txBody>
      </p:sp>
      <p:sp>
        <p:nvSpPr>
          <p:cNvPr id="43" name="Text 40"/>
          <p:cNvSpPr txBox="1"/>
          <p:nvPr/>
        </p:nvSpPr>
        <p:spPr>
          <a:xfrm>
            <a:off x="347472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الْبَيْتُ كَبِيرٌ.</a:t>
            </a:r>
            <a:endParaRPr lang="ar-SA" sz="2400" dirty="0"/>
          </a:p>
        </p:txBody>
      </p:sp>
      <p:sp>
        <p:nvSpPr>
          <p:cNvPr id="44" name="Text 41"/>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is big.</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 on the adjective decides it: </a:t>
            </a:r>
            <a:pPr algn="l" indent="0" marL="0">
              <a:buNone/>
            </a:pPr>
            <a:r>
              <a:rPr lang="ar-SA" altLang="en-US" sz="1500" b="1" dirty="0">
                <a:solidFill>
                  <a:srgbClr val="1B3B6F"/>
                </a:solidFill>
                <a:latin typeface="Amiri" pitchFamily="34" charset="0"/>
                <a:ea typeface="Amiri" pitchFamily="34" charset="-122"/>
                <a:cs typeface="Amiri" pitchFamily="34" charset="-120"/>
              </a:rPr>
              <a:t>الْبَيْتُ الْكَبِيرُ</a:t>
            </a:r>
            <a:pPr algn="l" indent="0" marL="0">
              <a:buNone/>
            </a:pPr>
            <a:r>
              <a:rPr lang="en-US" sz="1150" b="1" dirty="0">
                <a:solidFill>
                  <a:srgbClr val="1B3B6F"/>
                </a:solidFill>
                <a:latin typeface="Calibri" pitchFamily="34" charset="0"/>
                <a:ea typeface="Calibri" pitchFamily="34" charset="-122"/>
                <a:cs typeface="Calibri" pitchFamily="34" charset="-120"/>
              </a:rPr>
              <a:t> = the big house · </a:t>
            </a:r>
            <a:pPr algn="l" indent="0" marL="0">
              <a:buNone/>
            </a:pPr>
            <a:r>
              <a:rPr lang="ar-SA" altLang="en-US" sz="1500" b="1" dirty="0">
                <a:solidFill>
                  <a:srgbClr val="1B3B6F"/>
                </a:solidFill>
                <a:latin typeface="Amiri" pitchFamily="34" charset="0"/>
                <a:ea typeface="Amiri" pitchFamily="34" charset="-122"/>
                <a:cs typeface="Amiri" pitchFamily="34" charset="-120"/>
              </a:rPr>
              <a:t>الْبَيْتُ كَبِيرٌ</a:t>
            </a:r>
            <a:pPr algn="l" indent="0" marL="0">
              <a:buNone/>
            </a:pPr>
            <a:r>
              <a:rPr lang="en-US" sz="1150" b="1" dirty="0">
                <a:solidFill>
                  <a:srgbClr val="1B3B6F"/>
                </a:solidFill>
                <a:latin typeface="Calibri" pitchFamily="34" charset="0"/>
                <a:ea typeface="Calibri" pitchFamily="34" charset="-122"/>
                <a:cs typeface="Calibri" pitchFamily="34" charset="-120"/>
              </a:rPr>
              <a:t> = The house is big.</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SUN AND MOON LETTERS (WEBSITE SECTION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lām: silent or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الشَّمْسِيَّةُ وَالْقَمَرِيَّةُ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6185916" y="1810512"/>
            <a:ext cx="5545836"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323076" y="1920240"/>
            <a:ext cx="1371600" cy="274320"/>
          </a:xfrm>
          <a:prstGeom prst="roundRect">
            <a:avLst>
              <a:gd name="adj" fmla="val 50000"/>
            </a:avLst>
          </a:prstGeom>
          <a:solidFill>
            <a:srgbClr val="C77700"/>
          </a:solidFill>
          <a:ln w="12700">
            <a:solidFill>
              <a:srgbClr val="C77700"/>
            </a:solidFill>
            <a:prstDash val="solid"/>
          </a:ln>
        </p:spPr>
      </p:sp>
      <p:sp>
        <p:nvSpPr>
          <p:cNvPr id="17" name="Text 14"/>
          <p:cNvSpPr txBox="1"/>
          <p:nvPr/>
        </p:nvSpPr>
        <p:spPr>
          <a:xfrm>
            <a:off x="6323076"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SUN · 14 LETTERS</a:t>
            </a:r>
            <a:endParaRPr lang="en-US" sz="850" dirty="0"/>
          </a:p>
        </p:txBody>
      </p:sp>
      <p:sp>
        <p:nvSpPr>
          <p:cNvPr id="18" name="Text 15"/>
          <p:cNvSpPr txBox="1"/>
          <p:nvPr/>
        </p:nvSpPr>
        <p:spPr>
          <a:xfrm>
            <a:off x="7740396" y="1874520"/>
            <a:ext cx="385419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 ث د ذ ر ز س ش ص ض ط ظ ل ن</a:t>
            </a:r>
            <a:endParaRPr lang="ar-SA" sz="1600" dirty="0"/>
          </a:p>
        </p:txBody>
      </p:sp>
      <p:sp>
        <p:nvSpPr>
          <p:cNvPr id="19" name="Text 16"/>
          <p:cNvSpPr txBox="1"/>
          <p:nvPr/>
        </p:nvSpPr>
        <p:spPr>
          <a:xfrm>
            <a:off x="6323076" y="2286000"/>
            <a:ext cx="5271516"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الشَّمْسُ</a:t>
            </a:r>
            <a:endParaRPr lang="ar-SA" sz="3200" dirty="0"/>
          </a:p>
        </p:txBody>
      </p:sp>
      <p:sp>
        <p:nvSpPr>
          <p:cNvPr id="20" name="Text 17"/>
          <p:cNvSpPr txBox="1"/>
          <p:nvPr/>
        </p:nvSpPr>
        <p:spPr>
          <a:xfrm>
            <a:off x="6323076" y="3364992"/>
            <a:ext cx="5271516"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ash-shamsu — the lām is silent; the next letter doubles (shadda)</a:t>
            </a:r>
            <a:endParaRPr lang="en-US" sz="1200" dirty="0"/>
          </a:p>
        </p:txBody>
      </p:sp>
      <p:sp>
        <p:nvSpPr>
          <p:cNvPr id="21" name="Shape 18"/>
          <p:cNvSpPr/>
          <p:nvPr/>
        </p:nvSpPr>
        <p:spPr>
          <a:xfrm>
            <a:off x="6295644" y="3913632"/>
            <a:ext cx="5326380"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6387084" y="3950208"/>
            <a:ext cx="5143500"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Tongue-tip letters: say the word and feel the tip of your tongue.</a:t>
            </a:r>
            <a:endParaRPr lang="en-US" sz="1100" dirty="0"/>
          </a:p>
        </p:txBody>
      </p:sp>
      <p:sp>
        <p:nvSpPr>
          <p:cNvPr id="23" name="Shape 20"/>
          <p:cNvSpPr/>
          <p:nvPr/>
        </p:nvSpPr>
        <p:spPr>
          <a:xfrm>
            <a:off x="457200" y="1810512"/>
            <a:ext cx="5545836"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594360"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MOON · 14 LETTERS</a:t>
            </a:r>
            <a:endParaRPr lang="en-US" sz="850" dirty="0"/>
          </a:p>
        </p:txBody>
      </p:sp>
      <p:sp>
        <p:nvSpPr>
          <p:cNvPr id="26" name="Text 23"/>
          <p:cNvSpPr txBox="1"/>
          <p:nvPr/>
        </p:nvSpPr>
        <p:spPr>
          <a:xfrm>
            <a:off x="2080260" y="1874520"/>
            <a:ext cx="378561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 ب ج ح خ ع غ ف ق ك م هـ و ي</a:t>
            </a:r>
            <a:endParaRPr lang="ar-SA" sz="1600" dirty="0"/>
          </a:p>
        </p:txBody>
      </p:sp>
      <p:sp>
        <p:nvSpPr>
          <p:cNvPr id="27" name="Text 24"/>
          <p:cNvSpPr txBox="1"/>
          <p:nvPr/>
        </p:nvSpPr>
        <p:spPr>
          <a:xfrm>
            <a:off x="594360" y="2286000"/>
            <a:ext cx="5271516"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الْقَمَرُ</a:t>
            </a:r>
            <a:endParaRPr lang="ar-SA" sz="3200" dirty="0"/>
          </a:p>
        </p:txBody>
      </p:sp>
      <p:sp>
        <p:nvSpPr>
          <p:cNvPr id="28" name="Text 25"/>
          <p:cNvSpPr txBox="1"/>
          <p:nvPr/>
        </p:nvSpPr>
        <p:spPr>
          <a:xfrm>
            <a:off x="594360" y="3364992"/>
            <a:ext cx="5271516"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al-qamaru — the lām is heard (it carries sukūn)</a:t>
            </a:r>
            <a:endParaRPr lang="en-US" sz="1200" dirty="0"/>
          </a:p>
        </p:txBody>
      </p:sp>
      <p:sp>
        <p:nvSpPr>
          <p:cNvPr id="29" name="Shape 26"/>
          <p:cNvSpPr/>
          <p:nvPr/>
        </p:nvSpPr>
        <p:spPr>
          <a:xfrm>
            <a:off x="566928" y="3913632"/>
            <a:ext cx="5326380"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658368" y="3950208"/>
            <a:ext cx="5143500"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Say al- clearly, then the letter.</a:t>
            </a:r>
            <a:endParaRPr lang="en-US" sz="1100" dirty="0"/>
          </a:p>
        </p:txBody>
      </p:sp>
      <p:sp>
        <p:nvSpPr>
          <p:cNvPr id="31" name="Shape 2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33" name="Text 3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spelling of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 never changes — only the sound of the lām.</a:t>
            </a:r>
            <a:endParaRPr lang="en-US" sz="1150" dirty="0"/>
          </a:p>
        </p:txBody>
      </p:sp>
      <p:sp>
        <p:nvSpPr>
          <p:cNvPr id="34" name="Text 3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الشَّمْسُ</a:t>
            </a:r>
            <a:endParaRPr lang="ar-SA" sz="2600" dirty="0"/>
          </a:p>
        </p:txBody>
      </p:sp>
      <p:sp>
        <p:nvSpPr>
          <p:cNvPr id="35" name="Text 3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6" name="Text 3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اَشَّمْسُ</a:t>
            </a:r>
            <a:endParaRPr lang="ar-SA" sz="2600" dirty="0"/>
          </a:p>
        </p:txBody>
      </p:sp>
      <p:sp>
        <p:nvSpPr>
          <p:cNvPr id="37" name="Shape 34"/>
          <p:cNvSpPr/>
          <p:nvPr/>
        </p:nvSpPr>
        <p:spPr>
          <a:xfrm>
            <a:off x="8138160" y="5669280"/>
            <a:ext cx="1371600" cy="0"/>
          </a:xfrm>
          <a:prstGeom prst="line">
            <a:avLst/>
          </a:prstGeom>
          <a:noFill/>
          <a:ln w="25400">
            <a:solidFill>
              <a:srgbClr val="B83227"/>
            </a:solidFill>
            <a:prstDash val="solid"/>
          </a:ln>
        </p:spPr>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 PART 3 · HEAR THE DIFFERENCE (WEBSITE TABLE “WHAT EXACTLY CHANGES?”)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Say it, then 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كَيْفَ نَنْطِقُهَا؟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 after </a:t>
            </a:r>
            <a:pPr algn="ctr" indent="0" marL="0">
              <a:buNone/>
            </a:pPr>
            <a:r>
              <a:rPr lang="ar-SA" altLang="en-US" sz="1450" b="1" dirty="0">
                <a:solidFill>
                  <a:srgbClr val="FFFFFF"/>
                </a:solidFill>
                <a:latin typeface="Amiri" pitchFamily="34" charset="0"/>
                <a:ea typeface="Amiri" pitchFamily="34" charset="-122"/>
                <a:cs typeface="Amiri" pitchFamily="34" charset="-120"/>
              </a:rPr>
              <a:t>الـ</a:t>
            </a:r>
            <a:endParaRPr lang="en-US" sz="1100" dirty="0"/>
          </a:p>
        </p:txBody>
      </p:sp>
      <p:sp>
        <p:nvSpPr>
          <p:cNvPr id="17" name="Text 14"/>
          <p:cNvSpPr txBox="1"/>
          <p:nvPr/>
        </p:nvSpPr>
        <p:spPr>
          <a:xfrm>
            <a:off x="34564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Pronounced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516368" y="2267712"/>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ق</a:t>
            </a:r>
            <a:pPr algn="l" indent="0" marL="0">
              <a:buNone/>
            </a:pPr>
            <a:r>
              <a:rPr lang="en-US" sz="1100" dirty="0">
                <a:solidFill>
                  <a:srgbClr val="5A6472"/>
                </a:solidFill>
                <a:latin typeface="Calibri" pitchFamily="34" charset="0"/>
                <a:ea typeface="Calibri" pitchFamily="34" charset="-122"/>
                <a:cs typeface="Calibri" pitchFamily="34" charset="-120"/>
              </a:rPr>
              <a:t> — moon: lām heard</a:t>
            </a:r>
            <a:endParaRPr lang="en-US" sz="1100" dirty="0"/>
          </a:p>
        </p:txBody>
      </p:sp>
      <p:sp>
        <p:nvSpPr>
          <p:cNvPr id="21" name="Text 18"/>
          <p:cNvSpPr txBox="1"/>
          <p:nvPr/>
        </p:nvSpPr>
        <p:spPr>
          <a:xfrm>
            <a:off x="3474720" y="2267712"/>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الْقَلَمُ</a:t>
            </a:r>
            <a:endParaRPr lang="ar-SA" sz="26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al-qalamu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516368" y="2881884"/>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ط</a:t>
            </a:r>
            <a:pPr algn="l" indent="0" marL="0">
              <a:buNone/>
            </a:pPr>
            <a:r>
              <a:rPr lang="en-US" sz="1100" dirty="0">
                <a:solidFill>
                  <a:srgbClr val="5A6472"/>
                </a:solidFill>
                <a:latin typeface="Calibri" pitchFamily="34" charset="0"/>
                <a:ea typeface="Calibri" pitchFamily="34" charset="-122"/>
                <a:cs typeface="Calibri" pitchFamily="34" charset="-120"/>
              </a:rPr>
              <a:t> — sun: lām silent, </a:t>
            </a:r>
            <a:pPr algn="l" indent="0" marL="0">
              <a:buNone/>
            </a:pPr>
            <a:r>
              <a:rPr lang="ar-SA" altLang="en-US" sz="1450" dirty="0">
                <a:solidFill>
                  <a:srgbClr val="5A6472"/>
                </a:solidFill>
                <a:latin typeface="Amiri" pitchFamily="34" charset="0"/>
                <a:ea typeface="Amiri" pitchFamily="34" charset="-122"/>
                <a:cs typeface="Amiri" pitchFamily="34" charset="-120"/>
              </a:rPr>
              <a:t>ط</a:t>
            </a:r>
            <a:pPr algn="l" indent="0" marL="0">
              <a:buNone/>
            </a:pPr>
            <a:r>
              <a:rPr lang="en-US" sz="1100" dirty="0">
                <a:solidFill>
                  <a:srgbClr val="5A6472"/>
                </a:solidFill>
                <a:latin typeface="Calibri" pitchFamily="34" charset="0"/>
                <a:ea typeface="Calibri" pitchFamily="34" charset="-122"/>
                <a:cs typeface="Calibri" pitchFamily="34" charset="-120"/>
              </a:rPr>
              <a:t> doubled</a:t>
            </a:r>
            <a:endParaRPr lang="en-US" sz="1100" dirty="0"/>
          </a:p>
        </p:txBody>
      </p:sp>
      <p:sp>
        <p:nvSpPr>
          <p:cNvPr id="27" name="Text 24"/>
          <p:cNvSpPr txBox="1"/>
          <p:nvPr/>
        </p:nvSpPr>
        <p:spPr>
          <a:xfrm>
            <a:off x="3474720" y="2881884"/>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الطَّالِبُ</a:t>
            </a:r>
            <a:endParaRPr lang="ar-SA" sz="26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aṭ-ṭālibu</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516368" y="3496056"/>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ب</a:t>
            </a:r>
            <a:pPr algn="l" indent="0" marL="0">
              <a:buNone/>
            </a:pPr>
            <a:r>
              <a:rPr lang="en-US" sz="1100" dirty="0">
                <a:solidFill>
                  <a:srgbClr val="5A6472"/>
                </a:solidFill>
                <a:latin typeface="Calibri" pitchFamily="34" charset="0"/>
                <a:ea typeface="Calibri" pitchFamily="34" charset="-122"/>
                <a:cs typeface="Calibri" pitchFamily="34" charset="-120"/>
              </a:rPr>
              <a:t> — moon</a:t>
            </a:r>
            <a:endParaRPr lang="en-US" sz="1100" dirty="0"/>
          </a:p>
        </p:txBody>
      </p:sp>
      <p:sp>
        <p:nvSpPr>
          <p:cNvPr id="33" name="Text 30"/>
          <p:cNvSpPr txBox="1"/>
          <p:nvPr/>
        </p:nvSpPr>
        <p:spPr>
          <a:xfrm>
            <a:off x="3474720" y="3496056"/>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الْبَيْتُ</a:t>
            </a:r>
            <a:endParaRPr lang="ar-SA" sz="26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al-baytu</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516368" y="4110228"/>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س</a:t>
            </a:r>
            <a:pPr algn="l" indent="0" marL="0">
              <a:buNone/>
            </a:pPr>
            <a:r>
              <a:rPr lang="en-US" sz="1100" dirty="0">
                <a:solidFill>
                  <a:srgbClr val="5A6472"/>
                </a:solidFill>
                <a:latin typeface="Calibri" pitchFamily="34" charset="0"/>
                <a:ea typeface="Calibri" pitchFamily="34" charset="-122"/>
                <a:cs typeface="Calibri" pitchFamily="34" charset="-120"/>
              </a:rPr>
              <a:t> — sun</a:t>
            </a:r>
            <a:endParaRPr lang="en-US" sz="1100" dirty="0"/>
          </a:p>
        </p:txBody>
      </p:sp>
      <p:sp>
        <p:nvSpPr>
          <p:cNvPr id="37" name="Text 34"/>
          <p:cNvSpPr txBox="1"/>
          <p:nvPr/>
        </p:nvSpPr>
        <p:spPr>
          <a:xfrm>
            <a:off x="3474720" y="4110228"/>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السَّاعَةُ</a:t>
            </a:r>
            <a:endParaRPr lang="ar-SA" sz="2600" dirty="0"/>
          </a:p>
        </p:txBody>
      </p:sp>
      <p:sp>
        <p:nvSpPr>
          <p:cNvPr id="38" name="Text 35"/>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as-sāʿatu</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516368" y="4724400"/>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ن</a:t>
            </a:r>
            <a:pPr algn="l" indent="0" marL="0">
              <a:buNone/>
            </a:pPr>
            <a:r>
              <a:rPr lang="en-US" sz="1100" dirty="0">
                <a:solidFill>
                  <a:srgbClr val="5A6472"/>
                </a:solidFill>
                <a:latin typeface="Calibri" pitchFamily="34" charset="0"/>
                <a:ea typeface="Calibri" pitchFamily="34" charset="-122"/>
                <a:cs typeface="Calibri" pitchFamily="34" charset="-120"/>
              </a:rPr>
              <a:t> — sun</a:t>
            </a:r>
            <a:endParaRPr lang="en-US" sz="1100" dirty="0"/>
          </a:p>
        </p:txBody>
      </p:sp>
      <p:sp>
        <p:nvSpPr>
          <p:cNvPr id="41" name="Text 38"/>
          <p:cNvSpPr txBox="1"/>
          <p:nvPr/>
        </p:nvSpPr>
        <p:spPr>
          <a:xfrm>
            <a:off x="3474720" y="4724400"/>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النَّهْرُ</a:t>
            </a:r>
            <a:endParaRPr lang="ar-SA" sz="2600" dirty="0"/>
          </a:p>
        </p:txBody>
      </p:sp>
      <p:sp>
        <p:nvSpPr>
          <p:cNvPr id="42" name="Text 39"/>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an-nahru</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516368" y="5338572"/>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هـ</a:t>
            </a:r>
            <a:pPr algn="l" indent="0" marL="0">
              <a:buNone/>
            </a:pPr>
            <a:r>
              <a:rPr lang="en-US" sz="1100" dirty="0">
                <a:solidFill>
                  <a:srgbClr val="5A6472"/>
                </a:solidFill>
                <a:latin typeface="Calibri" pitchFamily="34" charset="0"/>
                <a:ea typeface="Calibri" pitchFamily="34" charset="-122"/>
                <a:cs typeface="Calibri" pitchFamily="34" charset="-120"/>
              </a:rPr>
              <a:t> — moon</a:t>
            </a:r>
            <a:endParaRPr lang="en-US" sz="1100" dirty="0"/>
          </a:p>
        </p:txBody>
      </p:sp>
      <p:sp>
        <p:nvSpPr>
          <p:cNvPr id="45" name="Text 42"/>
          <p:cNvSpPr txBox="1"/>
          <p:nvPr/>
        </p:nvSpPr>
        <p:spPr>
          <a:xfrm>
            <a:off x="3474720" y="5338572"/>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الْهَوَاءُ</a:t>
            </a:r>
            <a:endParaRPr lang="ar-SA" sz="2600" dirty="0"/>
          </a:p>
        </p:txBody>
      </p:sp>
      <p:sp>
        <p:nvSpPr>
          <p:cNvPr id="46" name="Text 43"/>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al-hawāʾu</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Fully vowelled text shows you: sukūn on the lām = moon letter · shadda on the next letter = sun letter.</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4 · HAMZAT AL-WAṢL AND CONNECTED SPEECH (WEBSITE SECTION 3)</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 in speech — spell in full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هَمْزَةُ الْوَصْلِ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alif of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carries hamzat al-waṣl: a helping vowel used only to START speaking.</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After a pause, say it: </a:t>
            </a:r>
            <a:pPr algn="l" indent="0" marL="0">
              <a:buNone/>
            </a:pPr>
            <a:r>
              <a:rPr lang="ar-SA" altLang="en-US" sz="1700" dirty="0">
                <a:solidFill>
                  <a:srgbClr val="1F2A37"/>
                </a:solidFill>
                <a:latin typeface="Amiri" pitchFamily="34" charset="0"/>
                <a:ea typeface="Amiri" pitchFamily="34" charset="-122"/>
                <a:cs typeface="Amiri" pitchFamily="34" charset="-120"/>
              </a:rPr>
              <a:t>الْبَيْتُ كَبِيرٌ</a:t>
            </a:r>
            <a:pPr algn="l" indent="0" marL="0">
              <a:buNone/>
            </a:pPr>
            <a:r>
              <a:rPr lang="en-US" sz="1300" dirty="0">
                <a:solidFill>
                  <a:srgbClr val="1F2A37"/>
                </a:solidFill>
                <a:latin typeface="Calibri" pitchFamily="34" charset="0"/>
                <a:ea typeface="Calibri" pitchFamily="34" charset="-122"/>
                <a:cs typeface="Calibri" pitchFamily="34" charset="-120"/>
              </a:rPr>
              <a:t> = al-baytu kabīrun.</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After another word, the helping vowel is not pronounced: </a:t>
            </a:r>
            <a:pPr algn="l" indent="0" marL="0">
              <a:buNone/>
            </a:pPr>
            <a:r>
              <a:rPr lang="ar-SA" altLang="en-US" sz="1700" dirty="0">
                <a:solidFill>
                  <a:srgbClr val="1F2A37"/>
                </a:solidFill>
                <a:latin typeface="Amiri" pitchFamily="34" charset="0"/>
                <a:ea typeface="Amiri" pitchFamily="34" charset="-122"/>
                <a:cs typeface="Amiri" pitchFamily="34" charset="-120"/>
              </a:rPr>
              <a:t>فِي الْبَيْتِ</a:t>
            </a:r>
            <a:pPr algn="l" indent="0" marL="0">
              <a:buNone/>
            </a:pPr>
            <a:r>
              <a:rPr lang="en-US" sz="1300" dirty="0">
                <a:solidFill>
                  <a:srgbClr val="1F2A37"/>
                </a:solidFill>
                <a:latin typeface="Calibri" pitchFamily="34" charset="0"/>
                <a:ea typeface="Calibri" pitchFamily="34" charset="-122"/>
                <a:cs typeface="Calibri" pitchFamily="34" charset="-120"/>
              </a:rPr>
              <a:t> = fī l-bayti · </a:t>
            </a:r>
            <a:pPr algn="l" indent="0" marL="0">
              <a:buNone/>
            </a:pPr>
            <a:r>
              <a:rPr lang="ar-SA" altLang="en-US" sz="1700" dirty="0">
                <a:solidFill>
                  <a:srgbClr val="1F2A37"/>
                </a:solidFill>
                <a:latin typeface="Amiri" pitchFamily="34" charset="0"/>
                <a:ea typeface="Amiri" pitchFamily="34" charset="-122"/>
                <a:cs typeface="Amiri" pitchFamily="34" charset="-120"/>
              </a:rPr>
              <a:t>إِلَى الْمَدْرَسَةِ</a:t>
            </a:r>
            <a:pPr algn="l" indent="0" marL="0">
              <a:buNone/>
            </a:pPr>
            <a:r>
              <a:rPr lang="en-US" sz="1300" dirty="0">
                <a:solidFill>
                  <a:srgbClr val="1F2A37"/>
                </a:solidFill>
                <a:latin typeface="Calibri" pitchFamily="34" charset="0"/>
                <a:ea typeface="Calibri" pitchFamily="34" charset="-122"/>
                <a:cs typeface="Calibri" pitchFamily="34" charset="-120"/>
              </a:rPr>
              <a:t> = ilā l-madrasati.</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Both changes can happen at once: </a:t>
            </a:r>
            <a:pPr algn="l" indent="0" marL="0">
              <a:buNone/>
            </a:pPr>
            <a:r>
              <a:rPr lang="ar-SA" altLang="en-US" sz="1700" dirty="0">
                <a:solidFill>
                  <a:srgbClr val="1F2A37"/>
                </a:solidFill>
                <a:latin typeface="Amiri" pitchFamily="34" charset="0"/>
                <a:ea typeface="Amiri" pitchFamily="34" charset="-122"/>
                <a:cs typeface="Amiri" pitchFamily="34" charset="-120"/>
              </a:rPr>
              <a:t>فِي الشَّارِعِ</a:t>
            </a:r>
            <a:pPr algn="l" indent="0" marL="0">
              <a:buNone/>
            </a:pPr>
            <a:r>
              <a:rPr lang="en-US" sz="1300" dirty="0">
                <a:solidFill>
                  <a:srgbClr val="1F2A37"/>
                </a:solidFill>
                <a:latin typeface="Calibri" pitchFamily="34" charset="0"/>
                <a:ea typeface="Calibri" pitchFamily="34" charset="-122"/>
                <a:cs typeface="Calibri" pitchFamily="34" charset="-120"/>
              </a:rPr>
              <a:t> = fī sh-shāriʿi (vowel dropped AND lām assimilated).</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Pronounce naturally — but ALWAYS write every letter: </a:t>
            </a:r>
            <a:pPr algn="l" indent="0" marL="0">
              <a:buNone/>
            </a:pPr>
            <a:r>
              <a:rPr lang="ar-SA" altLang="en-US" sz="1700" dirty="0">
                <a:solidFill>
                  <a:srgbClr val="1F2A37"/>
                </a:solidFill>
                <a:latin typeface="Amiri" pitchFamily="34" charset="0"/>
                <a:ea typeface="Amiri" pitchFamily="34" charset="-122"/>
                <a:cs typeface="Amiri" pitchFamily="34" charset="-120"/>
              </a:rPr>
              <a:t>فِي الْبَيْتِ</a:t>
            </a:r>
            <a:pPr algn="l" indent="0" marL="0">
              <a:buNone/>
            </a:pPr>
            <a:r>
              <a:rPr lang="en-US" sz="1300" dirty="0">
                <a:solidFill>
                  <a:srgbClr val="1F2A37"/>
                </a:solidFill>
                <a:latin typeface="Calibri" pitchFamily="34" charset="0"/>
                <a:ea typeface="Calibri" pitchFamily="34" charset="-122"/>
                <a:cs typeface="Calibri" pitchFamily="34" charset="-120"/>
              </a:rPr>
              <a:t>, never </a:t>
            </a:r>
            <a:pPr algn="l" indent="0" marL="0">
              <a:buNone/>
            </a:pPr>
            <a:r>
              <a:rPr lang="ar-SA" altLang="en-US" sz="1700" dirty="0">
                <a:solidFill>
                  <a:srgbClr val="1F2A37"/>
                </a:solidFill>
                <a:latin typeface="Amiri" pitchFamily="34" charset="0"/>
                <a:ea typeface="Amiri" pitchFamily="34" charset="-122"/>
                <a:cs typeface="Amiri" pitchFamily="34" charset="-120"/>
              </a:rPr>
              <a:t>فِلْبَيْتِ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الْبَيْتُ كَبِيرٌ.</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al-baytu kabīrun  ·  after a pause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الْبَيْتِ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fī l-bayti  ·  connected</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وَالشَّمْسُ</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wa-sh-shamsu  ·  connected + sun letter</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مَعَ الْمُعَلِّمَةِ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maʿa l-muʿallimati  ·  connected</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Pronounce naturally; spell conventionally. Cambridge writing expects standard spelling — never write what you hear (</a:t>
            </a:r>
            <a:pPr algn="l" indent="0" marL="0">
              <a:buNone/>
            </a:pPr>
            <a:r>
              <a:rPr lang="ar-SA" altLang="en-US" sz="1650" dirty="0">
                <a:solidFill>
                  <a:srgbClr val="1F2A37"/>
                </a:solidFill>
                <a:latin typeface="Amiri" pitchFamily="34" charset="0"/>
                <a:ea typeface="Amiri" pitchFamily="34" charset="-122"/>
                <a:cs typeface="Amiri" pitchFamily="34" charset="-120"/>
              </a:rPr>
              <a:t>فِلْبَيْتِ</a:t>
            </a:r>
            <a:pPr algn="l" indent="0" marL="0">
              <a:buNone/>
            </a:pPr>
            <a:r>
              <a:rPr lang="en-US" sz="1250" dirty="0">
                <a:solidFill>
                  <a:srgbClr val="1F2A37"/>
                </a:solidFill>
                <a:latin typeface="Calibri" pitchFamily="34" charset="0"/>
                <a:ea typeface="Calibri" pitchFamily="34" charset="-122"/>
                <a:cs typeface="Calibri" pitchFamily="34" charset="-120"/>
              </a:rPr>
              <a:t> ✗).</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dirty="0">
                <a:solidFill>
                  <a:srgbClr val="1B3B6F"/>
                </a:solidFill>
                <a:latin typeface="Calibri" pitchFamily="34" charset="0"/>
                <a:ea typeface="Calibri" pitchFamily="34" charset="-122"/>
                <a:cs typeface="Calibri" pitchFamily="34" charset="-120"/>
              </a:rPr>
              <a:t>GRAMMAR · PART 5 · WHERE </a:t>
            </a:r>
            <a:pPr algn="l" indent="0" marL="0">
              <a:buNone/>
            </a:pPr>
            <a:r>
              <a:rPr lang="ar-SA" altLang="en-US" sz="1050" b="1" dirty="0">
                <a:solidFill>
                  <a:srgbClr val="1B3B6F"/>
                </a:solidFill>
                <a:latin typeface="Amiri" pitchFamily="34" charset="0"/>
                <a:ea typeface="Amiri" pitchFamily="34" charset="-122"/>
                <a:cs typeface="Amiri" pitchFamily="34" charset="-120"/>
              </a:rPr>
              <a:t>الـ</a:t>
            </a:r>
            <a:pPr algn="l" indent="0" marL="0">
              <a:buNone/>
            </a:pPr>
            <a:r>
              <a:rPr lang="en-US" sz="800" b="1" dirty="0">
                <a:solidFill>
                  <a:srgbClr val="1B3B6F"/>
                </a:solidFill>
                <a:latin typeface="Calibri" pitchFamily="34" charset="0"/>
                <a:ea typeface="Calibri" pitchFamily="34" charset="-122"/>
                <a:cs typeface="Calibri" pitchFamily="34" charset="-120"/>
              </a:rPr>
              <a:t> DOES — AND DOES NOT — BELONG (WEBSITE SECTION 4)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 not add </a:t>
            </a:r>
            <a:pPr algn="l" indent="0" marL="0">
              <a:buNone/>
            </a:pPr>
            <a:r>
              <a:rPr lang="ar-SA" altLang="en-US" sz="3650" b="1" dirty="0">
                <a:solidFill>
                  <a:srgbClr val="1B3B6F"/>
                </a:solidFill>
                <a:latin typeface="Amiri" pitchFamily="34" charset="0"/>
                <a:ea typeface="Amiri" pitchFamily="34" charset="-122"/>
                <a:cs typeface="Amiri" pitchFamily="34" charset="-120"/>
              </a:rPr>
              <a:t>الـ</a:t>
            </a:r>
            <a:pPr algn="l" indent="0" marL="0">
              <a:buNone/>
            </a:pPr>
            <a:r>
              <a:rPr lang="en-US" sz="2800" b="1" dirty="0">
                <a:solidFill>
                  <a:srgbClr val="1B3B6F"/>
                </a:solidFill>
                <a:latin typeface="Cambria" pitchFamily="34" charset="0"/>
                <a:ea typeface="Cambria" pitchFamily="34" charset="-122"/>
                <a:cs typeface="Cambria" pitchFamily="34" charset="-120"/>
              </a:rPr>
              <a:t> mechanically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مَوَاضِعُ «الـ» وَحُدُودُهَا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MY BOOK</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كِتَابِي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كِتَابِي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book — the ending </a:t>
            </a:r>
            <a:pPr algn="ctr" indent="0" marL="0">
              <a:buNone/>
            </a:pPr>
            <a:r>
              <a:rPr lang="ar-SA" altLang="en-US" sz="1550" dirty="0">
                <a:solidFill>
                  <a:srgbClr val="5A6472"/>
                </a:solidFill>
                <a:latin typeface="Amiri" pitchFamily="34" charset="0"/>
                <a:ea typeface="Amiri" pitchFamily="34" charset="-122"/>
                <a:cs typeface="Amiri" pitchFamily="34" charset="-120"/>
              </a:rPr>
              <a:t>ـِي</a:t>
            </a:r>
            <a:pPr algn="ctr" indent="0" marL="0">
              <a:buNone/>
            </a:pPr>
            <a:r>
              <a:rPr lang="en-US" sz="1200" i="1" dirty="0">
                <a:solidFill>
                  <a:srgbClr val="5A6472"/>
                </a:solidFill>
                <a:latin typeface="Calibri" pitchFamily="34" charset="0"/>
                <a:ea typeface="Calibri" pitchFamily="34" charset="-122"/>
                <a:cs typeface="Calibri" pitchFamily="34" charset="-120"/>
              </a:rPr>
              <a:t> already makes it definite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a:t>
            </a:r>
            <a:pPr algn="l" indent="0" marL="0">
              <a:buNone/>
            </a:pPr>
            <a:r>
              <a:rPr lang="ar-SA" altLang="en-US" sz="1450" dirty="0">
                <a:solidFill>
                  <a:srgbClr val="1F2A37"/>
                </a:solidFill>
                <a:latin typeface="Amiri" pitchFamily="34" charset="0"/>
                <a:ea typeface="Amiri" pitchFamily="34" charset="-122"/>
                <a:cs typeface="Amiri" pitchFamily="34" charset="-120"/>
              </a:rPr>
              <a:t>الْكِتَابِي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IḌĀFA</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بَابُ الْمَدْرَسَةِ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بَابُ الْمَدْرَسَةِ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school door — no </a:t>
            </a:r>
            <a:pPr algn="ctr" indent="0" marL="0">
              <a:buNone/>
            </a:pPr>
            <a:r>
              <a:rPr lang="ar-SA" altLang="en-US" sz="1550" dirty="0">
                <a:solidFill>
                  <a:srgbClr val="5A6472"/>
                </a:solidFill>
                <a:latin typeface="Amiri" pitchFamily="34" charset="0"/>
                <a:ea typeface="Amiri" pitchFamily="34" charset="-122"/>
                <a:cs typeface="Amiri" pitchFamily="34" charset="-120"/>
              </a:rPr>
              <a:t>الـ</a:t>
            </a:r>
            <a:pPr algn="ctr" indent="0" marL="0">
              <a:buNone/>
            </a:pPr>
            <a:r>
              <a:rPr lang="en-US" sz="1200" i="1" dirty="0">
                <a:solidFill>
                  <a:srgbClr val="5A6472"/>
                </a:solidFill>
                <a:latin typeface="Calibri" pitchFamily="34" charset="0"/>
                <a:ea typeface="Calibri" pitchFamily="34" charset="-122"/>
                <a:cs typeface="Calibri" pitchFamily="34" charset="-120"/>
              </a:rPr>
              <a:t> on the first noun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Only the LAST noun takes </a:t>
            </a:r>
            <a:pPr algn="l" indent="0" marL="0">
              <a:buNone/>
            </a:pPr>
            <a:r>
              <a:rPr lang="ar-SA" altLang="en-US" sz="1450" dirty="0">
                <a:solidFill>
                  <a:srgbClr val="1F2A37"/>
                </a:solidFill>
                <a:latin typeface="Amiri" pitchFamily="34" charset="0"/>
                <a:ea typeface="Amiri" pitchFamily="34" charset="-122"/>
                <a:cs typeface="Amiri" pitchFamily="34" charset="-120"/>
              </a:rPr>
              <a:t>الـ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NAMES</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مَرْيَمُ · الْقَاهِرَةُ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مَرْيَمُ · الْقَاهِرَةُ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Maryam (no </a:t>
            </a:r>
            <a:pPr algn="ctr" indent="0" marL="0">
              <a:buNone/>
            </a:pPr>
            <a:r>
              <a:rPr lang="ar-SA" altLang="en-US" sz="1550" dirty="0">
                <a:solidFill>
                  <a:srgbClr val="5A6472"/>
                </a:solidFill>
                <a:latin typeface="Amiri" pitchFamily="34" charset="0"/>
                <a:ea typeface="Amiri" pitchFamily="34" charset="-122"/>
                <a:cs typeface="Amiri" pitchFamily="34" charset="-120"/>
              </a:rPr>
              <a:t>الـ</a:t>
            </a:r>
            <a:pPr algn="ctr" indent="0" marL="0">
              <a:buNone/>
            </a:pPr>
            <a:r>
              <a:rPr lang="en-US" sz="1200" i="1" dirty="0">
                <a:solidFill>
                  <a:srgbClr val="5A6472"/>
                </a:solidFill>
                <a:latin typeface="Calibri" pitchFamily="34" charset="0"/>
                <a:ea typeface="Calibri" pitchFamily="34" charset="-122"/>
                <a:cs typeface="Calibri" pitchFamily="34" charset="-120"/>
              </a:rPr>
              <a:t>) · Cairo (always with </a:t>
            </a:r>
            <a:pPr algn="ctr" indent="0" marL="0">
              <a:buNone/>
            </a:pPr>
            <a:r>
              <a:rPr lang="ar-SA" altLang="en-US" sz="1550" dirty="0">
                <a:solidFill>
                  <a:srgbClr val="5A6472"/>
                </a:solidFill>
                <a:latin typeface="Amiri" pitchFamily="34" charset="0"/>
                <a:ea typeface="Amiri" pitchFamily="34" charset="-122"/>
                <a:cs typeface="Amiri" pitchFamily="34" charset="-120"/>
              </a:rPr>
              <a:t>الـ</a:t>
            </a:r>
            <a:pPr algn="ctr" indent="0" marL="0">
              <a:buNone/>
            </a:pPr>
            <a:r>
              <a:rPr lang="en-US" sz="1200" i="1" dirty="0">
                <a:solidFill>
                  <a:srgbClr val="5A6472"/>
                </a:solidFill>
                <a:latin typeface="Calibri" pitchFamily="34" charset="0"/>
                <a:ea typeface="Calibri" pitchFamily="34" charset="-122"/>
                <a:cs typeface="Calibri" pitchFamily="34" charset="-120"/>
              </a:rPr>
              <a: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Learn each name as it is.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idāfa preview: the first noun never takes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بَابُ الْمَدْرَسَةِ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الْبَابُ الْمَدْرَسَةِ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large 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الْكَبِيرَةُ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كَبِيرَةٌ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كَبِيرَةٌ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large city”.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الْكَبِيرَةُ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كَبِيرَةٌ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كَبِيرَةٌ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city is large.”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الْكَبِيرَةُ.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كَبِيرَةٌ.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الْكَبِيرَةُ.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one complete noun phrase?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 الْمُجْتَهِدُ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 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 الْمُجْتَهِدُ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large city”.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الْكَبِيرَةُ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كَبِيرَةٌ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مَدِينَةٌ كَبِيرَةٌ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words are indefinite and agree in gender.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large city”.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الْكَبِيرَةُ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مَدِينَةٌ كَبِيرَةٌ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كَبِيرَةٌ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describes the noun inside one definite phrase, so both take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city is large.”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الْكَبِيرَةُ.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كَبِيرَةٌ.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مَدِينَةٌ الْكَبِيرَةُ.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indefinite adjective is the predicate: it tells us something about the definite subject.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one complete noun phrase?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 الْمُجْتَهِدُ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 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 الْمُجْتَهِدُ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“the hardworking student”; the second is the sentence “The student is hardworking.”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decide: </a:t>
            </a:r>
            <a:pPr algn="l" indent="0" marL="0">
              <a:buNone/>
            </a:pPr>
            <a:r>
              <a:rPr lang="ar-SA" altLang="en-US" sz="3650" b="1" dirty="0">
                <a:solidFill>
                  <a:srgbClr val="1B3B6F"/>
                </a:solidFill>
                <a:latin typeface="Amiri" pitchFamily="34" charset="0"/>
                <a:ea typeface="Amiri" pitchFamily="34" charset="-122"/>
                <a:cs typeface="Amiri" pitchFamily="34" charset="-120"/>
              </a:rPr>
              <a:t>الـ</a:t>
            </a:r>
            <a:pPr algn="l" indent="0" marL="0">
              <a:buNone/>
            </a:pPr>
            <a:r>
              <a:rPr lang="en-US" sz="2800" b="1" dirty="0">
                <a:solidFill>
                  <a:srgbClr val="1B3B6F"/>
                </a:solidFill>
                <a:latin typeface="Cambria" pitchFamily="34" charset="0"/>
                <a:ea typeface="Cambria" pitchFamily="34" charset="-122"/>
                <a:cs typeface="Cambria" pitchFamily="34" charset="-120"/>
              </a:rPr>
              <a:t>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مَكْتَبَةٌ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First mention → indefinite.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Known?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الْمَكْتَبَةُ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Back again → add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Connect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إِلَى الْمَكْتَبَةِ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Say ilā l-maktabati; write in full.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Match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الْمَكْتَبَةُ الْعَامَّةُ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Adjective definite too.</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INDEFINITE</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DEFINITE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حَيِّي </a:t>
            </a:r>
            <a:pPr rtl="1" algn="r" indent="0" marL="0">
              <a:buNone/>
            </a:pPr>
            <a:r>
              <a:rPr lang="ar-SA" altLang="en-US" sz="2600" b="1" dirty="0">
                <a:solidFill>
                  <a:srgbClr val="D6336C"/>
                </a:solidFill>
                <a:latin typeface="Amiri" pitchFamily="34" charset="0"/>
                <a:ea typeface="Amiri" pitchFamily="34" charset="-122"/>
                <a:cs typeface="Amiri" pitchFamily="34" charset="-120"/>
              </a:rPr>
              <a:t>مَكْتَبَةٌ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عَامَّةٌ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الْمَكْتَبَةُ</a:t>
            </a:r>
            <a:pPr rtl="1" algn="r" indent="0" marL="0">
              <a:buNone/>
            </a:pPr>
            <a:r>
              <a:rPr lang="ar-SA" altLang="en-US" sz="2600" b="1" dirty="0">
                <a:solidFill>
                  <a:srgbClr val="1B3B6F"/>
                </a:solidFill>
                <a:latin typeface="Amiri" pitchFamily="34" charset="0"/>
                <a:ea typeface="Amiri" pitchFamily="34" charset="-122"/>
                <a:cs typeface="Amiri" pitchFamily="34" charset="-120"/>
              </a:rPr>
              <a:t> قَرِيبَةٌ مِنَ </a:t>
            </a:r>
            <a:pPr rtl="1" algn="r" indent="0" marL="0">
              <a:buNone/>
            </a:pPr>
            <a:r>
              <a:rPr lang="ar-SA" altLang="en-US" sz="2600" b="1" dirty="0">
                <a:solidFill>
                  <a:srgbClr val="0E7C86"/>
                </a:solidFill>
                <a:latin typeface="Amiri" pitchFamily="34" charset="0"/>
                <a:ea typeface="Amiri" pitchFamily="34" charset="-122"/>
                <a:cs typeface="Amiri" pitchFamily="34" charset="-120"/>
              </a:rPr>
              <a:t>الْمَدْرَسَةِ</a:t>
            </a:r>
            <a:pPr rtl="1" algn="r" indent="0" marL="0">
              <a:buNone/>
            </a:pPr>
            <a:r>
              <a:rPr lang="ar-SA" altLang="en-US" sz="2600" b="1" dirty="0">
                <a:solidFill>
                  <a:srgbClr val="1B3B6F"/>
                </a:solidFill>
                <a:latin typeface="Amiri" pitchFamily="34" charset="0"/>
                <a:ea typeface="Amiri" pitchFamily="34" charset="-122"/>
                <a:cs typeface="Amiri" pitchFamily="34" charset="-120"/>
              </a:rPr>
              <a:t>، وَأَذْهَبُ إِلَى </a:t>
            </a:r>
            <a:pPr rtl="1" algn="r" indent="0" marL="0">
              <a:buNone/>
            </a:pPr>
            <a:r>
              <a:rPr lang="ar-SA" altLang="en-US" sz="2600" b="1" dirty="0">
                <a:solidFill>
                  <a:srgbClr val="0E7C86"/>
                </a:solidFill>
                <a:latin typeface="Amiri" pitchFamily="34" charset="0"/>
                <a:ea typeface="Amiri" pitchFamily="34" charset="-122"/>
                <a:cs typeface="Amiri" pitchFamily="34" charset="-120"/>
              </a:rPr>
              <a:t>الْمَكْتَبَةِ</a:t>
            </a:r>
            <a:pPr rtl="1" algn="r" indent="0" marL="0">
              <a:buNone/>
            </a:pPr>
            <a:r>
              <a:rPr lang="ar-SA" altLang="en-US" sz="2600" b="1" dirty="0">
                <a:solidFill>
                  <a:srgbClr val="1B3B6F"/>
                </a:solidFill>
                <a:latin typeface="Amiri" pitchFamily="34" charset="0"/>
                <a:ea typeface="Amiri" pitchFamily="34" charset="-122"/>
                <a:cs typeface="Amiri" pitchFamily="34" charset="-120"/>
              </a:rPr>
              <a:t> يَوْمَ </a:t>
            </a:r>
            <a:pPr rtl="1" algn="r" indent="0" marL="0">
              <a:buNone/>
            </a:pPr>
            <a:r>
              <a:rPr lang="ar-SA" altLang="en-US" sz="2600" b="1" dirty="0">
                <a:solidFill>
                  <a:srgbClr val="0E7C86"/>
                </a:solidFill>
                <a:latin typeface="Amiri" pitchFamily="34" charset="0"/>
                <a:ea typeface="Amiri" pitchFamily="34" charset="-122"/>
                <a:cs typeface="Amiri" pitchFamily="34" charset="-120"/>
              </a:rPr>
              <a:t>السَّبْتِ</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In my neighbourhood there is a public library. The library is near the school, and I go to the library on Saturday.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الْمَدِينَةِ مَدْرَسَةٌ جَدِيدَةٌ.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the city there is a new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New information: indefinite.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الْمَدْرَسَةُ قَرِيبَةٌ مِنْ بَيْتِي.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is near my house.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Back again: definite · بَيْتِي has no الـ.</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السُّوقِ يَوْمَ السَّبْتِ.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the market on Saturday.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sun letters: as-sūqi · as-sabti.</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الْبَيْتُ الْكَبِيرُ فِي الشَّارِعِ.</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big house is in the street.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definite phrase + connected speech.</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SUN OR MOON?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Sun letter or moon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الشَّمْسُ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النَّهْرُ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الدَّرْسُ</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الْجَبَلُ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الصَّفُّ</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الْكِتَابُ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الرَّجُلُ</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الْوَلَدُ</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Sun letter (lām silent)</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Moon letter (lām heard)</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Sun letter (lām silent)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الشَّمْسُ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النَّهْرُ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الدَّرْسُ</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الصَّفُّ</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الرَّجُلُ</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Moon letter (lām heard)</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الْقَمَرُ</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الْبَابُ</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الْجَبَلُ</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الْكِتَابُ</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الْوَلَدُ</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فِلْبَيْتِ.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Write what you hear?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مَدْرَسَةٌ الْجَدِيدَةُ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 noun and adjective match?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الْكِتَابِي.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“my” need </a:t>
            </a:r>
            <a:pPr algn="l" indent="0" marL="0">
              <a:buNone/>
            </a:pPr>
            <a:r>
              <a:rPr lang="ar-SA" altLang="en-US" sz="1700" dirty="0">
                <a:solidFill>
                  <a:srgbClr val="5A6472"/>
                </a:solidFill>
                <a:latin typeface="Amiri" pitchFamily="34" charset="0"/>
                <a:ea typeface="Amiri" pitchFamily="34" charset="-122"/>
                <a:cs typeface="Amiri" pitchFamily="34" charset="-120"/>
              </a:rPr>
              <a:t>الـ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فِلْبَيْتِ.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فِي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Say fī l-bayti, but write every letter.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مَدْرَسَةٌ الْجَدِيدَةُ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الْمَدْرَسَةُ الْجَدِيدَةُ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Noun and adjective match: both definite.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الْكِتَابِي.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كِتَابِي.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my (</a:t>
            </a:r>
            <a:pPr algn="l" indent="0" marL="0">
              <a:buNone/>
            </a:pPr>
            <a:r>
              <a:rPr lang="ar-SA" altLang="en-US" sz="1500" b="1" dirty="0">
                <a:solidFill>
                  <a:srgbClr val="1B3B6F"/>
                </a:solidFill>
                <a:latin typeface="Amiri" pitchFamily="34" charset="0"/>
                <a:ea typeface="Amiri" pitchFamily="34" charset="-122"/>
                <a:cs typeface="Amiri" pitchFamily="34" charset="-120"/>
              </a:rPr>
              <a:t>ـِي</a:t>
            </a:r>
            <a:pPr algn="l" indent="0" marL="0">
              <a:buNone/>
            </a:pPr>
            <a:r>
              <a:rPr lang="en-US" sz="1150" b="1" dirty="0">
                <a:solidFill>
                  <a:srgbClr val="1B3B6F"/>
                </a:solidFill>
                <a:latin typeface="Calibri" pitchFamily="34" charset="0"/>
                <a:ea typeface="Calibri" pitchFamily="34" charset="-122"/>
                <a:cs typeface="Calibri" pitchFamily="34" charset="-120"/>
              </a:rPr>
              <a:t>) already makes the noun definite.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ea typeface="Calibri" pitchFamily="34" charset="-122"/>
                <a:cs typeface="Calibri" pitchFamily="34" charset="-120"/>
              </a:rPr>
              <a:t>WE DO · GUIDED PRACTICE · WEBSITE MINI-CHECK “CONNECT BUT DO NOT RESPELL”</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correct formal spelling.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إِلَلْمَطْعَمِ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لْمَطْعَمِ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الْمَطْعَمِ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elided in connected speech?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entire article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initial vowel of hamzat al-waṣl</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letter of the preceding word</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فِي الشَّارِعِ</a:t>
            </a:r>
            <a:pPr algn="l" indent="0" marL="0">
              <a:buNone/>
            </a:pPr>
            <a:r>
              <a:rPr lang="en-US" sz="1250" b="1" dirty="0">
                <a:solidFill>
                  <a:srgbClr val="1B3B6F"/>
                </a:solidFill>
                <a:latin typeface="Calibri" pitchFamily="34" charset="0"/>
                <a:ea typeface="Calibri" pitchFamily="34" charset="-122"/>
                <a:cs typeface="Calibri" pitchFamily="34" charset="-120"/>
              </a:rPr>
              <a:t> , what happens?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spelling deletion</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vowel elision and sun-letter assimilation</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changes in pronunciation</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should guide IGCSE writing?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 exactly as connected speech sounds.</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Remove </a:t>
            </a:r>
            <a:pPr algn="l" indent="0" marL="0">
              <a:buNone/>
            </a:pPr>
            <a:r>
              <a:rPr lang="ar-SA" altLang="en-US" sz="1650" dirty="0">
                <a:solidFill>
                  <a:srgbClr val="1F2A37"/>
                </a:solidFill>
                <a:latin typeface="Amiri" pitchFamily="34" charset="0"/>
                <a:ea typeface="Amiri" pitchFamily="34" charset="-122"/>
                <a:cs typeface="Amiri" pitchFamily="34" charset="-120"/>
              </a:rPr>
              <a:t>ال</a:t>
            </a:r>
            <a:pPr algn="l" indent="0" marL="0">
              <a:buNone/>
            </a:pPr>
            <a:r>
              <a:rPr lang="en-US" sz="1250" dirty="0">
                <a:solidFill>
                  <a:srgbClr val="1F2A37"/>
                </a:solidFill>
                <a:latin typeface="Calibri" pitchFamily="34" charset="0"/>
                <a:ea typeface="Calibri" pitchFamily="34" charset="-122"/>
                <a:cs typeface="Calibri" pitchFamily="34" charset="-120"/>
              </a:rPr>
              <a:t> after every preposition.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Pronounce naturally; spell conventionally.</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correct formal spelling.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إِلَلْمَطْعَمِ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لْمَطْعَمِ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 الْمَطْعَمِ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words remain fully written even though the vowel of hamzat al-waṣl is not pronounced in connection.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elided in connected speech?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entire article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initial vowel of hamzat al-waṣl</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final letter of the preceding word</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article remains grammatically present; only the initial helping vowel is not pronounced.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فِي الشَّارِعِ</a:t>
            </a:r>
            <a:pPr algn="l" indent="0" marL="0">
              <a:buNone/>
            </a:pPr>
            <a:r>
              <a:rPr lang="en-US" sz="1250" b="1" dirty="0">
                <a:solidFill>
                  <a:srgbClr val="1B3B6F"/>
                </a:solidFill>
                <a:latin typeface="Calibri" pitchFamily="34" charset="0"/>
                <a:ea typeface="Calibri" pitchFamily="34" charset="-122"/>
                <a:cs typeface="Calibri" pitchFamily="34" charset="-120"/>
              </a:rPr>
              <a:t> , what happens?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spelling deletion</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vowel elision and sun-letter assimilation</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changes in pronunciation</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Connected speech removes the article's initial vowel; </a:t>
            </a:r>
            <a:pPr algn="l" indent="0" marL="0">
              <a:buNone/>
            </a:pPr>
            <a:r>
              <a:rPr lang="ar-SA" altLang="en-US" sz="1350" dirty="0">
                <a:solidFill>
                  <a:srgbClr val="8A6D1E"/>
                </a:solidFill>
                <a:latin typeface="Amiri" pitchFamily="34" charset="0"/>
                <a:ea typeface="Amiri" pitchFamily="34" charset="-122"/>
                <a:cs typeface="Amiri" pitchFamily="34" charset="-120"/>
              </a:rPr>
              <a:t>ش</a:t>
            </a:r>
            <a:pPr algn="l" indent="0" marL="0">
              <a:buNone/>
            </a:pPr>
            <a:r>
              <a:rPr lang="en-US" sz="1050" i="1" dirty="0">
                <a:solidFill>
                  <a:srgbClr val="8A6D1E"/>
                </a:solidFill>
                <a:latin typeface="Calibri" pitchFamily="34" charset="0"/>
                <a:ea typeface="Calibri" pitchFamily="34" charset="-122"/>
                <a:cs typeface="Calibri" pitchFamily="34" charset="-120"/>
              </a:rPr>
              <a:t> also triggers lām assimilation.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should guide IGCSE writing?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Spell exactly as connected speech sounds.</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Remove </a:t>
            </a:r>
            <a:pPr algn="l" indent="0" marL="0">
              <a:buNone/>
            </a:pPr>
            <a:r>
              <a:rPr lang="ar-SA" altLang="en-US" sz="1650" dirty="0">
                <a:solidFill>
                  <a:srgbClr val="9AA1AB"/>
                </a:solidFill>
                <a:latin typeface="Amiri" pitchFamily="34" charset="0"/>
                <a:ea typeface="Amiri" pitchFamily="34" charset="-122"/>
                <a:cs typeface="Amiri" pitchFamily="34" charset="-120"/>
              </a:rPr>
              <a:t>ال</a:t>
            </a:r>
            <a:pPr algn="l" indent="0" marL="0">
              <a:buNone/>
            </a:pPr>
            <a:r>
              <a:rPr lang="en-US" sz="1250" dirty="0">
                <a:solidFill>
                  <a:srgbClr val="9AA1AB"/>
                </a:solidFill>
                <a:latin typeface="Calibri" pitchFamily="34" charset="0"/>
                <a:ea typeface="Calibri" pitchFamily="34" charset="-122"/>
                <a:cs typeface="Calibri" pitchFamily="34" charset="-120"/>
              </a:rPr>
              <a:t> after every preposition.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Pronounce naturally; spell conventionally.</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Cambridge expects standard written Arabic, not phonetic respelling.</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city: new and known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مَدِينَةٍ كَبِيرَةٍ. فِي الْمَدِينَةِ مَدْرَسَةٌ جَدِيدَةٌ وَمَكْتَبَةٌ عَامَّةٌ. الْمَدْرَسَةُ قَرِيبَةٌ مِنْ بَيْتِي، وَالْمَكْتَبَةُ فِي وَسَطِ الْمَدِينَةِ. أَذْهَبُ إِلَى الْمَكْتَبَةِ يَوْمَ السَّبْتِ لِأَقْرَأَ الْكُتُبَ الْعَرَبِيَّةَ.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live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مَدِينَةٍ كَبِيرَةٍ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big city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مَكْتَبَةٌ عَامَّةٌ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public library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قَرِيبَةٌ مِنْ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near</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وَسَطِ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the centre of</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السَّبْتِ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Saturday</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لِأَقْرَأَ</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read</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مَدِينَةٍ</a:t>
            </a:r>
            <a:pPr algn="l" indent="0" marL="0">
              <a:buNone/>
            </a:pPr>
            <a:r>
              <a:rPr lang="en-US" sz="1250" b="1" dirty="0">
                <a:solidFill>
                  <a:srgbClr val="1B3B6F"/>
                </a:solidFill>
                <a:latin typeface="Calibri" pitchFamily="34" charset="0"/>
                <a:ea typeface="Calibri" pitchFamily="34" charset="-122"/>
                <a:cs typeface="Calibri" pitchFamily="34" charset="-120"/>
              </a:rPr>
              <a:t> indefinite at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can never be definite.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is being introduced for the first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follows </a:t>
            </a:r>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text later say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repeated noun must be plural.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article means “in”.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now refers back to the city already introduced.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 new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 جَدِيدَةٌ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قَرِيبَةٌ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الْعَرَبِيَّةُ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contains sun-letter assimilation?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الْمَدِينَةِ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السَّبْتِ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الْمَكْتَبَةِ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كُتُبِي</a:t>
            </a:r>
            <a:pPr algn="l" indent="0" marL="0">
              <a:buNone/>
            </a:pPr>
            <a:r>
              <a:rPr lang="en-US" sz="1250" b="1" dirty="0">
                <a:solidFill>
                  <a:srgbClr val="1B3B6F"/>
                </a:solidFill>
                <a:latin typeface="Calibri" pitchFamily="34" charset="0"/>
                <a:ea typeface="Calibri" pitchFamily="34" charset="-122"/>
                <a:cs typeface="Calibri" pitchFamily="34" charset="-120"/>
              </a:rPr>
              <a:t> not used in the final phrase?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meaning is “the Arabic books”, not “my books”.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Possessive suffixes cannot attach to nouns.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article means “my”.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مَدِينَةٍ</a:t>
            </a:r>
            <a:pPr algn="l" indent="0" marL="0">
              <a:buNone/>
            </a:pPr>
            <a:r>
              <a:rPr lang="en-US" sz="1250" b="1" dirty="0">
                <a:solidFill>
                  <a:srgbClr val="1B3B6F"/>
                </a:solidFill>
                <a:latin typeface="Calibri" pitchFamily="34" charset="0"/>
                <a:ea typeface="Calibri" pitchFamily="34" charset="-122"/>
                <a:cs typeface="Calibri" pitchFamily="34" charset="-120"/>
              </a:rPr>
              <a:t> indefinite at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Cities can never be definite.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city is being introduced for the first time.</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follows </a:t>
            </a:r>
            <a:pPr algn="l" indent="0" marL="0">
              <a:buNone/>
            </a:pPr>
            <a:r>
              <a:rPr lang="ar-SA" altLang="en-US" sz="1650" dirty="0">
                <a:solidFill>
                  <a:srgbClr val="9AA1AB"/>
                </a:solidFill>
                <a:latin typeface="Amiri" pitchFamily="34" charset="0"/>
                <a:ea typeface="Amiri" pitchFamily="34" charset="-122"/>
                <a:cs typeface="Amiri" pitchFamily="34" charset="-120"/>
              </a:rPr>
              <a:t>فِي</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New, non-specific information is often introduced indefinitely.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text later say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repeated noun must be plural.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article means “in”.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now refers back to the city already introduced.</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reader now knows which city is meant.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 new school”?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مَدْرَسَةٌ جَدِيدَةٌ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قَرِيبَةٌ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 الْعَرَبِيَّةُ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noun and adjective are indefinite.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contains sun-letter assimilation?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الْمَدِينَةِ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 السَّبْتِ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الْمَكْتَبَةِ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a:t>
            </a:r>
            <a:pPr algn="l" indent="0" marL="0">
              <a:buNone/>
            </a:pPr>
            <a:r>
              <a:rPr lang="en-US" sz="1050" i="1" dirty="0">
                <a:solidFill>
                  <a:srgbClr val="8A6D1E"/>
                </a:solidFill>
                <a:latin typeface="Calibri" pitchFamily="34" charset="0"/>
                <a:ea typeface="Calibri" pitchFamily="34" charset="-122"/>
                <a:cs typeface="Calibri" pitchFamily="34" charset="-120"/>
              </a:rPr>
              <a:t> is a sun letter: as-sabti.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كُتُبِي</a:t>
            </a:r>
            <a:pPr algn="l" indent="0" marL="0">
              <a:buNone/>
            </a:pPr>
            <a:r>
              <a:rPr lang="en-US" sz="1250" b="1" dirty="0">
                <a:solidFill>
                  <a:srgbClr val="1B3B6F"/>
                </a:solidFill>
                <a:latin typeface="Calibri" pitchFamily="34" charset="0"/>
                <a:ea typeface="Calibri" pitchFamily="34" charset="-122"/>
                <a:cs typeface="Calibri" pitchFamily="34" charset="-120"/>
              </a:rPr>
              <a:t> not used in the final phrase?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meaning is “the Arabic books”, not “my books”.</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Possessive suffixes cannot attach to nouns.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article means “my”.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الْكُتُبَ الْعَرَبِيَّةَ</a:t>
            </a:r>
            <a:pPr algn="l" indent="0" marL="0">
              <a:buNone/>
            </a:pPr>
            <a:r>
              <a:rPr lang="en-US" sz="1050" i="1" dirty="0">
                <a:solidFill>
                  <a:srgbClr val="8A6D1E"/>
                </a:solidFill>
                <a:latin typeface="Calibri" pitchFamily="34" charset="0"/>
                <a:ea typeface="Calibri" pitchFamily="34" charset="-122"/>
                <a:cs typeface="Calibri" pitchFamily="34" charset="-120"/>
              </a:rPr>
              <a:t> is a definite noun–adjective phrase.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Speaking: introduce a place, then refer back</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حَيِّكَ؟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الْمَكَانُ؟ صِفْهُ.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حَيَّكَ: ثَلَاثَةُ أَمَاكِنَ وَصِفَةٌ لِكُلِّ مَكَانٍ.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حَيِّي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الْمَكْتَبَةُ قَرِيبَةٌ مِنْ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الْمَسْجِدُ الْكَبِيرُ فِي ___ ، وَالسُّوقُ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فِي حَيِّكَ؟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in your neighbourhood?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حَيِّي مَكْتَبَةٌ وَسُوقٌ. الْمَكْتَبَةُ قَرِيبَةٌ، وَالسُّوقُ كَبِيرٌ.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There is a library and a market. The library is near; the market is big.</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Introduce three places without </a:t>
            </a:r>
            <a:pPr algn="l" indent="0" marL="0">
              <a:buNone/>
            </a:pPr>
            <a:r>
              <a:rPr lang="ar-SA" altLang="en-US" sz="1800" b="1" dirty="0">
                <a:solidFill>
                  <a:srgbClr val="1F2A37"/>
                </a:solidFill>
                <a:latin typeface="Amiri" pitchFamily="34" charset="0"/>
                <a:ea typeface="Amiri" pitchFamily="34" charset="-122"/>
                <a:cs typeface="Amiri" pitchFamily="34" charset="-120"/>
              </a:rPr>
              <a:t>الـ</a:t>
            </a:r>
            <a:pPr algn="l" indent="0" marL="0">
              <a:buNone/>
            </a:pPr>
            <a:r>
              <a:rPr lang="en-US" sz="1400" b="1" dirty="0">
                <a:solidFill>
                  <a:srgbClr val="1F2A37"/>
                </a:solidFill>
                <a:latin typeface="Calibri" pitchFamily="34" charset="0"/>
                <a:ea typeface="Calibri" pitchFamily="34" charset="-122"/>
                <a:cs typeface="Calibri" pitchFamily="34" charset="-120"/>
              </a:rPr>
              <a:t>, then refer back to two of them with </a:t>
            </a:r>
            <a:pPr algn="l" indent="0" marL="0">
              <a:buNone/>
            </a:pPr>
            <a:r>
              <a:rPr lang="ar-SA" altLang="en-US" sz="1800" b="1" dirty="0">
                <a:solidFill>
                  <a:srgbClr val="1F2A37"/>
                </a:solidFill>
                <a:latin typeface="Amiri" pitchFamily="34" charset="0"/>
                <a:ea typeface="Amiri" pitchFamily="34" charset="-122"/>
                <a:cs typeface="Amiri" pitchFamily="34" charset="-120"/>
              </a:rPr>
              <a:t>الـ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Core frames. Circle every الـ you write and check it is spelled in full.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one definite phrase (</a:t>
            </a:r>
            <a:pPr algn="l" indent="0" marL="0">
              <a:buNone/>
            </a:pPr>
            <a:r>
              <a:rPr lang="ar-SA" altLang="en-US" sz="1800" b="1" dirty="0">
                <a:solidFill>
                  <a:srgbClr val="1F2A37"/>
                </a:solidFill>
                <a:latin typeface="Amiri" pitchFamily="34" charset="0"/>
                <a:ea typeface="Amiri" pitchFamily="34" charset="-122"/>
                <a:cs typeface="Amiri" pitchFamily="34" charset="-120"/>
              </a:rPr>
              <a:t>الْحَدِيقَةُ الْكَبِيرَةُ</a:t>
            </a:r>
            <a:pPr algn="l" indent="0" marL="0">
              <a:buNone/>
            </a:pPr>
            <a:r>
              <a:rPr lang="en-US" sz="1400" b="1" dirty="0">
                <a:solidFill>
                  <a:srgbClr val="1F2A37"/>
                </a:solidFill>
                <a:latin typeface="Calibri" pitchFamily="34" charset="0"/>
                <a:ea typeface="Calibri" pitchFamily="34" charset="-122"/>
                <a:cs typeface="Calibri" pitchFamily="34" charset="-120"/>
              </a:rPr>
              <a:t>) and one complete sentence (</a:t>
            </a:r>
            <a:pPr algn="l" indent="0" marL="0">
              <a:buNone/>
            </a:pPr>
            <a:r>
              <a:rPr lang="ar-SA" altLang="en-US" sz="1800" b="1" dirty="0">
                <a:solidFill>
                  <a:srgbClr val="1F2A37"/>
                </a:solidFill>
                <a:latin typeface="Amiri" pitchFamily="34" charset="0"/>
                <a:ea typeface="Amiri" pitchFamily="34" charset="-122"/>
                <a:cs typeface="Amiri" pitchFamily="34" charset="-120"/>
              </a:rPr>
              <a:t>الْحَدِيقَةُ كَبِيرَةٌ</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Phrase = both words definite. Sentence = definite + indefinite.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The website task “My local area”, with one sun-letter and one moon-letter noun.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mark each الـ as sun or moon and read your text aloud with connected speech.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الْحَدِيقَةُ الْكَبِيرَةُ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big park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الْمَدْرَسَةُ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school is … (new)</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______ يَوْمَ السَّبْتِ.</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 on Saturday.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فِي الشَّارِعِ.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in the street.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حَيِّي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area there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وَفِيهِ أَيْضًا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also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الْمَكْتَبَةُ قَرِيبَةٌ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library is near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السُّوقُ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market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مَدْرَسَةٌ / الْمَدْرَسَةُ  ·  مَكْتَبَةٌ / الْمَكْتَبَةُ  ·  سُوقٌ / السُّوقُ  ·  حَدِيقَةٌ / الْحَدِيقَةُ  ·  مَسْجِدٌ / الْمَسْجِدُ  ·  شَارِعٌ / الشَّارِعُ  ·  كَبِيرٌ  ·  جَدِيدٌ  ·  قَرِيبٌ مِنْ  ·  بَعِيدٌ عَنْ  ·  فِي وَسَطِ  ·  يَوْمَ السَّبْتِ</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7–10 connected sentences about your local area (</a:t>
            </a:r>
            <a:pPr algn="l" indent="0" marL="0">
              <a:buNone/>
            </a:pPr>
            <a:r>
              <a:rPr lang="ar-SA" altLang="en-US" sz="1750" b="1" dirty="0">
                <a:solidFill>
                  <a:srgbClr val="1F2A37"/>
                </a:solidFill>
                <a:latin typeface="Amiri" pitchFamily="34" charset="0"/>
                <a:ea typeface="Amiri" pitchFamily="34" charset="-122"/>
                <a:cs typeface="Amiri" pitchFamily="34" charset="-120"/>
              </a:rPr>
              <a:t>حَيِّي</a:t>
            </a:r>
            <a:pPr algn="l" indent="0" marL="0">
              <a:buNone/>
            </a:pPr>
            <a:r>
              <a:rPr lang="en-US" sz="1350" b="1" dirty="0">
                <a:solidFill>
                  <a:srgbClr val="1F2A37"/>
                </a:solidFill>
                <a:latin typeface="Calibri" pitchFamily="34" charset="0"/>
                <a:ea typeface="Calibri" pitchFamily="34" charset="-122"/>
                <a:cs typeface="Calibri" pitchFamily="34" charset="-120"/>
              </a:rPr>
              <a:t>). Introduce at least three places indefinitely, then refer back to them definitely.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places introduced without </a:t>
            </a:r>
            <a:pPr algn="l" indent="0" marL="0">
              <a:buNone/>
            </a:pPr>
            <a:r>
              <a:rPr lang="ar-SA" altLang="en-US" sz="1550" dirty="0">
                <a:solidFill>
                  <a:srgbClr val="1F2A37"/>
                </a:solidFill>
                <a:latin typeface="Amiri" pitchFamily="34" charset="0"/>
                <a:ea typeface="Amiri" pitchFamily="34" charset="-122"/>
                <a:cs typeface="Amiri" pitchFamily="34" charset="-120"/>
              </a:rPr>
              <a:t>الـ</a:t>
            </a:r>
            <a:pPr algn="l" indent="0" marL="0">
              <a:buNone/>
            </a:pPr>
            <a:r>
              <a:rPr lang="en-US" sz="1200" dirty="0">
                <a:solidFill>
                  <a:srgbClr val="1F2A37"/>
                </a:solidFill>
                <a:latin typeface="Calibri" pitchFamily="34" charset="0"/>
                <a:ea typeface="Calibri" pitchFamily="34" charset="-122"/>
                <a:cs typeface="Calibri" pitchFamily="34" charset="-120"/>
              </a:rPr>
              <a:t>, then referred back to with </a:t>
            </a:r>
            <a:pPr algn="l" indent="0" marL="0">
              <a:buNone/>
            </a:pPr>
            <a:r>
              <a:rPr lang="ar-SA" altLang="en-US" sz="1550" dirty="0">
                <a:solidFill>
                  <a:srgbClr val="1F2A37"/>
                </a:solidFill>
                <a:latin typeface="Amiri" pitchFamily="34" charset="0"/>
                <a:ea typeface="Amiri" pitchFamily="34" charset="-122"/>
                <a:cs typeface="Amiri" pitchFamily="34" charset="-120"/>
              </a:rPr>
              <a:t>الـ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definite noun–adjective phrase (</a:t>
            </a:r>
            <a:pPr algn="l" indent="0" marL="0">
              <a:buNone/>
            </a:pPr>
            <a:r>
              <a:rPr lang="ar-SA" altLang="en-US" sz="1550" dirty="0">
                <a:solidFill>
                  <a:srgbClr val="1F2A37"/>
                </a:solidFill>
                <a:latin typeface="Amiri" pitchFamily="34" charset="0"/>
                <a:ea typeface="Amiri" pitchFamily="34" charset="-122"/>
                <a:cs typeface="Amiri" pitchFamily="34" charset="-120"/>
              </a:rPr>
              <a:t>الْبَيْتُ الْكَبِيرُ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complete nominal sentence (</a:t>
            </a:r>
            <a:pPr algn="l" indent="0" marL="0">
              <a:buNone/>
            </a:pPr>
            <a:r>
              <a:rPr lang="ar-SA" altLang="en-US" sz="1550" dirty="0">
                <a:solidFill>
                  <a:srgbClr val="1F2A37"/>
                </a:solidFill>
                <a:latin typeface="Amiri" pitchFamily="34" charset="0"/>
                <a:ea typeface="Amiri" pitchFamily="34" charset="-122"/>
                <a:cs typeface="Amiri" pitchFamily="34" charset="-120"/>
              </a:rPr>
              <a:t>الْبَيْتُ كَبِيرٌ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sun-letter noun and one moon-letter 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a:t>
            </a:r>
            <a:pPr algn="l" indent="0" marL="0">
              <a:buNone/>
            </a:pPr>
            <a:r>
              <a:rPr lang="ar-SA" altLang="en-US" sz="1550" dirty="0">
                <a:solidFill>
                  <a:srgbClr val="1F2A37"/>
                </a:solidFill>
                <a:latin typeface="Amiri" pitchFamily="34" charset="0"/>
                <a:ea typeface="Amiri" pitchFamily="34" charset="-122"/>
                <a:cs typeface="Amiri" pitchFamily="34" charset="-120"/>
              </a:rPr>
              <a:t>الـ</a:t>
            </a:r>
            <a:pPr algn="l" indent="0" marL="0">
              <a:buNone/>
            </a:pPr>
            <a:r>
              <a:rPr lang="en-US" sz="1200" dirty="0">
                <a:solidFill>
                  <a:srgbClr val="1F2A37"/>
                </a:solidFill>
                <a:latin typeface="Calibri" pitchFamily="34" charset="0"/>
                <a:ea typeface="Calibri" pitchFamily="34" charset="-122"/>
                <a:cs typeface="Calibri" pitchFamily="34" charset="-120"/>
              </a:rPr>
              <a:t> written in full after </a:t>
            </a:r>
            <a:pPr algn="l" indent="0" marL="0">
              <a:buNone/>
            </a:pPr>
            <a:r>
              <a:rPr lang="ar-SA" altLang="en-US" sz="1550" dirty="0">
                <a:solidFill>
                  <a:srgbClr val="1F2A37"/>
                </a:solidFill>
                <a:latin typeface="Amiri" pitchFamily="34" charset="0"/>
                <a:ea typeface="Amiri" pitchFamily="34" charset="-122"/>
                <a:cs typeface="Amiri" pitchFamily="34" charset="-120"/>
              </a:rPr>
              <a:t>فِي / إِلَى / مَعَ</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وَسَطِ الْمَدِينَةِ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centre of the city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قَرِيبٌ مِنَ الْمَحَطَّةِ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near the station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أَشْتَرِي مِنَ السُّوقِ</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buy from the market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السَّبْتِ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Saturday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الْمَسْجِدُ الْكَبِيرُ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big mosque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لِأَقْرَأَ الْكُتُبَ</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read the books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حَيٍّ هَادِئٍ. فِي الْحَيِّ مَسْجِدٌ كَبِيرٌ وَسُوقٌ صَغِيرٌ وَمَكْتَبَةٌ جَدِيدَةٌ. الْمَسْجِدُ قَرِيبٌ مِنْ بَيْتِي، وَالسُّوقُ فِي الشَّارِعِ الرَّئِيسِيِّ. أَشْتَرِي مِنَ السُّوقِ الْخُبْزَ وَالْفَاكِهَةَ. الْمَكْتَبَةُ الْجَدِيدَةُ جَمِيلَةٌ، وَأَذْهَبُ إِلَيْهَا يَوْمَ السَّبْتِ لِأَقْرَأَ الْكُتُبَ الْعَرَبِيَّةَ.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quiet neighbourhood. In the neighbourhood there is a big mosque, a small market and a new library. The mosque is near my house, and the market is on the main street. I buy bread and fruit from the market. The new library is beautiful, and I go to it on Saturday to read Arabic books.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new: no الـ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known: الـ</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definite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sun-letter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introduced new places without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in full after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noun and adjective match in definiteness.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one phrase AND one sentence.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which of my nouns begin with a sun letter.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beautiful garden”.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الْجَمِيلَةُ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حَدِيقَةٌ جَمِيلَةٌ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جَمِيلَةٌ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sun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الْهَوَاءُ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الطَّالِبِ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beautiful garden”.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الْحَدِيقَةُ الْجَمِيلَةُ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حَدِيقَةٌ جَمِيلَةٌ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الْحَدِيقَةُ جَمِيلَةٌ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attributive phrase: both words are definite.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sun letter?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الْهَوَاءُ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النَّهْرُ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is a sun letter: an-nahru.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الْكِتَابُ الطَّالِبِ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كِتَابٌ الطَّالِبُ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Idāfa: no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or tanwīn on the first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beautiful garden”.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الْجَمِيلَةُ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حَدِيقَةٌ جَمِيلَةٌ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جَمِيلَةٌ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garden is beautiful.”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جَمِيلَةٌ.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الْحَدِيقَةُ الْجَمِيلَةُ.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حَدِيقَةٌ الْجَمِيلَةُ.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moon letter?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السَّمَكُ</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الطَّعَامُ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الْهَوَاءُ</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writing after </a:t>
            </a:r>
            <a:pPr algn="l" indent="0" marL="0">
              <a:buNone/>
            </a:pPr>
            <a:r>
              <a:rPr lang="ar-SA" altLang="en-US" sz="1650" b="1" dirty="0">
                <a:solidFill>
                  <a:srgbClr val="1B3B6F"/>
                </a:solidFill>
                <a:latin typeface="Amiri" pitchFamily="34" charset="0"/>
                <a:ea typeface="Amiri" pitchFamily="34" charset="-122"/>
                <a:cs typeface="Amiri" pitchFamily="34" charset="-120"/>
              </a:rPr>
              <a:t>مَعَ</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مَعَلْمُعَلِّمَةِ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لْمُعَلِّمَةِ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الْمُعَلِّمَةِ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hamzat al-waṣl do?</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initial vowel is heard at a start but not in connected speech.</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deletes the whole article after every vowel.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every following letter a sun letter.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principle for names.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 </a:t>
            </a:r>
            <a:pPr algn="l" indent="0" marL="0">
              <a:buNone/>
            </a:pPr>
            <a:r>
              <a:rPr lang="ar-SA" altLang="en-US" sz="1650" dirty="0">
                <a:solidFill>
                  <a:srgbClr val="1F2A37"/>
                </a:solidFill>
                <a:latin typeface="Amiri" pitchFamily="34" charset="0"/>
                <a:ea typeface="Amiri" pitchFamily="34" charset="-122"/>
                <a:cs typeface="Amiri" pitchFamily="34" charset="-120"/>
              </a:rPr>
              <a:t>ال</a:t>
            </a:r>
            <a:pPr algn="l" indent="0" marL="0">
              <a:buNone/>
            </a:pPr>
            <a:r>
              <a:rPr lang="en-US" sz="1250" dirty="0">
                <a:solidFill>
                  <a:srgbClr val="1F2A37"/>
                </a:solidFill>
                <a:latin typeface="Calibri" pitchFamily="34" charset="0"/>
                <a:ea typeface="Calibri" pitchFamily="34" charset="-122"/>
                <a:cs typeface="Calibri" pitchFamily="34" charset="-120"/>
              </a:rPr>
              <a:t> to every city and person.</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 the established form; some names contain </a:t>
            </a:r>
            <a:pPr algn="l" indent="0" marL="0">
              <a:buNone/>
            </a:pPr>
            <a:r>
              <a:rPr lang="ar-SA" altLang="en-US" sz="1650" dirty="0">
                <a:solidFill>
                  <a:srgbClr val="1F2A37"/>
                </a:solidFill>
                <a:latin typeface="Amiri" pitchFamily="34" charset="0"/>
                <a:ea typeface="Amiri" pitchFamily="34" charset="-122"/>
                <a:cs typeface="Amiri" pitchFamily="34" charset="-120"/>
              </a:rPr>
              <a:t>ال</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Delete </a:t>
            </a:r>
            <a:pPr algn="l" indent="0" marL="0">
              <a:buNone/>
            </a:pPr>
            <a:r>
              <a:rPr lang="ar-SA" altLang="en-US" sz="1650" dirty="0">
                <a:solidFill>
                  <a:srgbClr val="1F2A37"/>
                </a:solidFill>
                <a:latin typeface="Amiri" pitchFamily="34" charset="0"/>
                <a:ea typeface="Amiri" pitchFamily="34" charset="-122"/>
                <a:cs typeface="Amiri" pitchFamily="34" charset="-120"/>
              </a:rPr>
              <a:t>ال</a:t>
            </a:r>
            <a:pPr algn="l" indent="0" marL="0">
              <a:buNone/>
            </a:pPr>
            <a:r>
              <a:rPr lang="en-US" sz="1250" dirty="0">
                <a:solidFill>
                  <a:srgbClr val="1F2A37"/>
                </a:solidFill>
                <a:latin typeface="Calibri" pitchFamily="34" charset="0"/>
                <a:ea typeface="Calibri" pitchFamily="34" charset="-122"/>
                <a:cs typeface="Calibri" pitchFamily="34" charset="-120"/>
              </a:rPr>
              <a:t> from every proper noun.</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beautiful garden”.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الْحَدِيقَةُ الْجَمِيلَةُ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حَدِيقَةٌ جَمِيلَةٌ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الْحَدِيقَةُ جَمِيلَةٌ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noun phrase: neither word takes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garden is beautiful.”</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الْحَدِيقَةُ جَمِيلَةٌ.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الْحَدِيقَةُ الْجَمِيلَةُ.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حَدِيقَةٌ الْجَمِيلَةُ.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subject + indefinite predicate creates a complete nominal sentence.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begins with a moon letter?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السَّمَكُ</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الطَّعَامُ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الْهَوَاءُ</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هـ</a:t>
            </a:r>
            <a:pPr algn="l" indent="0" marL="0">
              <a:buNone/>
            </a:pPr>
            <a:r>
              <a:rPr lang="en-US" sz="1050" i="1" dirty="0">
                <a:solidFill>
                  <a:srgbClr val="8A6D1E"/>
                </a:solidFill>
                <a:latin typeface="Calibri" pitchFamily="34" charset="0"/>
                <a:ea typeface="Calibri" pitchFamily="34" charset="-122"/>
                <a:cs typeface="Calibri" pitchFamily="34" charset="-120"/>
              </a:rPr>
              <a:t> is a moon letter: al-hawāʾu.</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writing after </a:t>
            </a:r>
            <a:pPr algn="l" indent="0" marL="0">
              <a:buNone/>
            </a:pPr>
            <a:r>
              <a:rPr lang="ar-SA" altLang="en-US" sz="1650" b="1" dirty="0">
                <a:solidFill>
                  <a:srgbClr val="1B3B6F"/>
                </a:solidFill>
                <a:latin typeface="Amiri" pitchFamily="34" charset="0"/>
                <a:ea typeface="Amiri" pitchFamily="34" charset="-122"/>
                <a:cs typeface="Amiri" pitchFamily="34" charset="-120"/>
              </a:rPr>
              <a:t>مَعَ</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مَعَلْمُعَلِّمَةِ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لْمُعَلِّمَةِ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الْمُعَلِّمَةِ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Write the article fully; pronounce it in connection.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hamzat al-waṣl do?</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Its initial vowel is heard at a start but not in connected speech.</a:t>
            </a:r>
            <a:endParaRPr lang="en-US" sz="11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deletes the whole article after every vowel.</a:t>
            </a:r>
            <a:endParaRPr lang="en-US" sz="11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makes every following letter a sun letter.</a:t>
            </a:r>
            <a:endParaRPr lang="en-US" sz="11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helping vowel enables a start and drops in connection.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principle for names.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Add </a:t>
            </a:r>
            <a:pPr algn="l" indent="0" marL="0">
              <a:buNone/>
            </a:pPr>
            <a:r>
              <a:rPr lang="ar-SA" altLang="en-US" sz="1650" dirty="0">
                <a:solidFill>
                  <a:srgbClr val="9AA1AB"/>
                </a:solidFill>
                <a:latin typeface="Amiri" pitchFamily="34" charset="0"/>
                <a:ea typeface="Amiri" pitchFamily="34" charset="-122"/>
                <a:cs typeface="Amiri" pitchFamily="34" charset="-120"/>
              </a:rPr>
              <a:t>ال</a:t>
            </a:r>
            <a:pPr algn="l" indent="0" marL="0">
              <a:buNone/>
            </a:pPr>
            <a:r>
              <a:rPr lang="en-US" sz="1250" dirty="0">
                <a:solidFill>
                  <a:srgbClr val="9AA1AB"/>
                </a:solidFill>
                <a:latin typeface="Calibri" pitchFamily="34" charset="0"/>
                <a:ea typeface="Calibri" pitchFamily="34" charset="-122"/>
                <a:cs typeface="Calibri" pitchFamily="34" charset="-120"/>
              </a:rPr>
              <a:t> to every city and person.</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Use the established form; some names contain </a:t>
            </a:r>
            <a:pPr algn="l" indent="0" marL="0">
              <a:buNone/>
            </a:pPr>
            <a:r>
              <a:rPr lang="ar-SA" altLang="en-US" sz="1500" b="1" dirty="0">
                <a:solidFill>
                  <a:srgbClr val="1F2A37"/>
                </a:solidFill>
                <a:latin typeface="Amiri" pitchFamily="34" charset="0"/>
                <a:ea typeface="Amiri" pitchFamily="34" charset="-122"/>
                <a:cs typeface="Amiri" pitchFamily="34" charset="-120"/>
              </a:rPr>
              <a:t>ال</a:t>
            </a:r>
            <a:pPr algn="l" indent="0" marL="0">
              <a:buNone/>
            </a:pPr>
            <a:r>
              <a:rPr lang="en-US" sz="1150" b="1" dirty="0">
                <a:solidFill>
                  <a:srgbClr val="1F2A37"/>
                </a:solidFill>
                <a:latin typeface="Calibri" pitchFamily="34" charset="0"/>
                <a:ea typeface="Calibri" pitchFamily="34" charset="-122"/>
                <a:cs typeface="Calibri" pitchFamily="34" charset="-120"/>
              </a:rPr>
              <a:t>.</a:t>
            </a:r>
            <a:endParaRPr lang="en-US" sz="11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Delete </a:t>
            </a:r>
            <a:pPr algn="l" indent="0" marL="0">
              <a:buNone/>
            </a:pPr>
            <a:r>
              <a:rPr lang="ar-SA" altLang="en-US" sz="1650" dirty="0">
                <a:solidFill>
                  <a:srgbClr val="9AA1AB"/>
                </a:solidFill>
                <a:latin typeface="Amiri" pitchFamily="34" charset="0"/>
                <a:ea typeface="Amiri" pitchFamily="34" charset="-122"/>
                <a:cs typeface="Amiri" pitchFamily="34" charset="-120"/>
              </a:rPr>
              <a:t>ال</a:t>
            </a:r>
            <a:pPr algn="l" indent="0" marL="0">
              <a:buNone/>
            </a:pPr>
            <a:r>
              <a:rPr lang="en-US" sz="1250" dirty="0">
                <a:solidFill>
                  <a:srgbClr val="9AA1AB"/>
                </a:solidFill>
                <a:latin typeface="Calibri" pitchFamily="34" charset="0"/>
                <a:ea typeface="Calibri" pitchFamily="34" charset="-122"/>
                <a:cs typeface="Calibri" pitchFamily="34" charset="-120"/>
              </a:rPr>
              <a:t> from every proper noun.</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Definiteness in names is lexical and conventional.</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39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GM-ART-01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GM-ART-02: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GM-ART-02 · Definiteness and Adjective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نَعْتٌ / صِفَةٌ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adjective</a:t>
            </a:r>
            <a:pPr indent="0" marL="0">
              <a:buNone/>
            </a:pPr>
            <a:r>
              <a:rPr lang="en-US" sz="1000" i="1" dirty="0">
                <a:solidFill>
                  <a:srgbClr val="5A6472"/>
                </a:solidFill>
                <a:latin typeface="Calibri" pitchFamily="34" charset="0"/>
                <a:ea typeface="Calibri" pitchFamily="34" charset="-122"/>
                <a:cs typeface="Calibri" pitchFamily="34" charset="-120"/>
              </a:rPr>
              <a:t>  pl. نُعُوتٌ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مَنْعُوتٌ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noun described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مُطَابَقَةٌ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agreement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مُبْتَدَأٌ</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subject of a nominal sentence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خَبَرٌ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predicate</a:t>
            </a:r>
            <a:pPr indent="0" marL="0">
              <a:buNone/>
            </a:pPr>
            <a:r>
              <a:rPr lang="en-US" sz="1000" i="1" dirty="0">
                <a:solidFill>
                  <a:srgbClr val="5A6472"/>
                </a:solidFill>
                <a:latin typeface="Calibri" pitchFamily="34" charset="0"/>
                <a:ea typeface="Calibri" pitchFamily="34" charset="-122"/>
                <a:cs typeface="Calibri" pitchFamily="34" charset="-120"/>
              </a:rPr>
              <a:t>  pl. أَخْبَارٌ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a phrase and a sentence about your bag: “the new bag” and “The bag is new.”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الْحَقِيبَةُ الْجَدِيدَةُ · الْحَقِيبَةُ جَدِيدَةٌ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14 sun letters; sort ten nouns from your exercise book into sun and moon.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phrase / sentence pairs (</a:t>
            </a:r>
            <a:pPr algn="l" indent="0" marL="0">
              <a:buNone/>
            </a:pPr>
            <a:r>
              <a:rPr lang="ar-SA" altLang="en-US" sz="1550" dirty="0">
                <a:solidFill>
                  <a:srgbClr val="1F2A37"/>
                </a:solidFill>
                <a:latin typeface="Amiri" pitchFamily="34" charset="0"/>
                <a:ea typeface="Amiri" pitchFamily="34" charset="-122"/>
                <a:cs typeface="Amiri" pitchFamily="34" charset="-120"/>
              </a:rPr>
              <a:t>الْبَيْتُ الْكَبِيرُ</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الْبَيْتُ كَبِيرٌ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website writing task (7–10 sentences) and redo the website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GM-ART-01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GM-ART-02 · Definiteness and Adjective Agreement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مُطَابَقَةُ النَّعْتِ فِي التَّعْرِيفِ وَالتَّنْكِيرِ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new → no </a:t>
            </a:r>
            <a:pPr algn="l" indent="0" marL="0">
              <a:buNone/>
            </a:pPr>
            <a:r>
              <a:rPr lang="ar-SA" altLang="en-US" sz="1700" b="1" dirty="0">
                <a:solidFill>
                  <a:srgbClr val="FFFFFF"/>
                </a:solidFill>
                <a:latin typeface="Amiri" pitchFamily="34" charset="0"/>
                <a:ea typeface="Amiri" pitchFamily="34" charset="-122"/>
                <a:cs typeface="Amiri" pitchFamily="34" charset="-120"/>
              </a:rPr>
              <a:t>الـ</a:t>
            </a:r>
            <a:pPr algn="l" indent="0" marL="0">
              <a:buNone/>
            </a:pPr>
            <a:r>
              <a:rPr lang="en-US" sz="1300" b="1" dirty="0">
                <a:solidFill>
                  <a:srgbClr val="FFFFFF"/>
                </a:solidFill>
                <a:latin typeface="Calibri" pitchFamily="34" charset="0"/>
                <a:ea typeface="Calibri" pitchFamily="34" charset="-122"/>
                <a:cs typeface="Calibri" pitchFamily="34" charset="-120"/>
              </a:rPr>
              <a:t> · known → </a:t>
            </a:r>
            <a:pPr algn="l" indent="0" marL="0">
              <a:buNone/>
            </a:pPr>
            <a:r>
              <a:rPr lang="ar-SA" altLang="en-US" sz="1700" b="1" dirty="0">
                <a:solidFill>
                  <a:srgbClr val="FFFFFF"/>
                </a:solidFill>
                <a:latin typeface="Amiri" pitchFamily="34" charset="0"/>
                <a:ea typeface="Amiri" pitchFamily="34" charset="-122"/>
                <a:cs typeface="Amiri" pitchFamily="34" charset="-120"/>
              </a:rPr>
              <a:t>الـ</a:t>
            </a:r>
            <a:pPr algn="l" indent="0" marL="0">
              <a:buNone/>
            </a:pPr>
            <a:r>
              <a:rPr lang="en-US" sz="1300" b="1" dirty="0">
                <a:solidFill>
                  <a:srgbClr val="FFFFFF"/>
                </a:solidFill>
                <a:latin typeface="Calibri" pitchFamily="34" charset="0"/>
                <a:ea typeface="Calibri" pitchFamily="34" charset="-122"/>
                <a:cs typeface="Calibri" pitchFamily="34" charset="-120"/>
              </a:rPr>
              <a:t> · sun letters swallow the lām · pronounce naturally, spell in full.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GM-ART-01 · The Definite Article</dc:title>
  <dc:subject>PptxGenJS Presentation</dc:subject>
  <dc:creator>Al Madina Online School · Arabic Department</dc:creator>
  <cp:lastModifiedBy>Al Madina Online School · Arabic Department</cp:lastModifiedBy>
  <cp:revision>1</cp:revision>
  <dcterms:created xsi:type="dcterms:W3CDTF">2026-10-03T15:33:35Z</dcterms:created>
  <dcterms:modified xsi:type="dcterms:W3CDTF">2026-10-03T15:33:35Z</dcterms:modified>
</cp:coreProperties>
</file>