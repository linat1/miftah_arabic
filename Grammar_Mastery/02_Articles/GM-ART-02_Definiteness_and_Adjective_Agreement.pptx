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notesMasterIdLst>
    <p:notesMasterId r:id="rId4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notesMaster" Target="notesMasters/notesMaster1.xml"/><Relationship Id="rId45" Type="http://schemas.openxmlformats.org/officeDocument/2006/relationships/presProps" Target="presProps.xml"/><Relationship Id="rId46" Type="http://schemas.openxmlformats.org/officeDocument/2006/relationships/viewProps" Target="viewProps.xml"/><Relationship Id="rId47" Type="http://schemas.openxmlformats.org/officeDocument/2006/relationships/theme" Target="theme/theme1.xml"/><Relationship Id="rId4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GM-ART-02 (“Definiteness and Adjective Agreement”).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gender and definiteness agreement; phrase vs sentence. Develop: demonstratives; human vs non-human plurals; two adjectives. Stretch: definite without الـ (كِتَابِي · names · iḍāfa) and matching case endings.
• The one question for the whole lesson (website “mastery question”): is the adjective INSIDE the phrase (it copies الـ) or is it SAYING something new about the noun (predicate, no الـ)?
• Arabic has no written “is” in the present: definiteness does the job. English speakers (and Urdu speakers, who add “hai”) often look for a missing verb — reassure them.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Agreement Entry Check (questions 1–5). Questions 1–3 retrieve GM-ART-01 (phrase vs sentence).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Both definite = one phrase (the small house). Definite + indefinite = a sentence (The house is 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Use مَنْعُوتٌ / نَعْتٌ and مُبْتَدَأٌ / خَبَرٌ in pairs: “In the phrase, the naʿt copies the manʿūt. In the sentence, the khabar tells us about the mubtadaʾ.”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Use مَنْعُوتٌ / نَعْتٌ and مُبْتَدَأٌ / خَبَرٌ in pairs: “In the phrase, the naʿt copies the manʿūt. In the sentence, the khabar tells us about the mubtadaʾ.”</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section “The four agreement decisions”. Hold up a mirror metaphor: whatever the noun “wears” (ة, الـ, plural ending), the adjective wears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1b (2 min) — website table. Cover the adjective column: students predict it from the noun.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section “Phrase or complete sentence?”. Arabic creates the contrast without a written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(2 min) — website section “Demonstratives change the pattern”.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section “Human and non-human plurals”. Definiteness still matches in every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5 (2 min) — website section “A noun can be definite without الـ”. The adjective matches GRAMMATICAL definiteness, not just the letters at the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1 “Make every feature match”,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From the website reading workshop. Point out مَكْتَبَةٌ هَادِئَةٌ: an INDEFINITE phrase (both indefinite) — still a phrase, because both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for each card. Ask for each: “Do noun and adjective match in definiteness?” (website mini-check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Students type P or S for each card. Ask for each: “Do noun and adjective match in definiteness?” (website mini-check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(3 min) — website listening workshop. Read the script aloud twice; students answer the website evidence questions 4–6.
SCRIPT: أَسْكُنُ فِي شَقَّةٍ صَغِيرَةٍ، وَلٰكِنَّ الشَّقَّةَ مُرِيحَةٌ. غُرْفَتِي الْجَدِيدَةُ مُضِيئَةٌ، وَنَوَافِذُهَا الْكَبِيرَةُ تُطِلُّ عَلَى حَدِيقَةٍ جَمِيلَةٍ. فِي الْحَدِيقَةِ أَشْجَارٌ طَوِيلَةٌ وَزُهُورٌ مُلَوَّنَةٌ.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Website script; teacher translation.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phrase (identifies) or sentence (completes a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4 “Plural agreement”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reading workshop. Read it aloud once while students follow; then they hunt for today’s grammar.
Task: Website: underline complete noun phrases once and predicate adjectives twice before answering.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evidence questions 1–3, plus one teacher-written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studio: choose three objects or places; identify with a demonstrative (هٰذَا الْكِتَابُ); add an attributive adjective (هٰذَا الْكِتَابُ الْمُفِيدُ); then make a sentence (هٰذَا الْكِتَابُ مُفِيدٌ); extend with a reason. Use real objects on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Describe a place (80–90 words): three definite noun–adjective phrases; three nominal sentences with indefinite predicate adjectives; one demonstrative contrast; one human and one non-human plural; one noun made definite by a suffix or iḍāfa.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for the website writing workshop (≈ 70 words), with an English translation for Core students.
Students find in the model (● 20s → ◎) the items on the chips. Non-human plural: مَدَارِسُ حَدِيثَةٌ · حَدَائِقُ وَاسِعَةٌ · الْأَسْوَاقُ مُزْدَحِمَةٌ. Human plural: الْمُوَظَّفُونَ الْمُتَعَاوِنُونَ. Suffix: مَدِينَتِي الْجَمِيلَةُ. Iḍāfa: بَابُ الْمَسْجِدِ الْقَدِيمُ (masculine → the door).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12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(GM-ART-03 · Where the Article Belongs) will spend class time USING this language, so students prepare it tonight — short, simple, easy to access (school guidance: “Simple, Short, Interesting, Relevant, Easy to access”). The five words prepare GM-ART-03 (website Articles lesson 3: where the article belongs).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ARTICLES  ·  GM-ART-02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GM-ART-02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cs typeface="Amiri" pitchFamily="2" charset="-78"/>
              </a:rPr>
              <a:t>Definiteness and Adjective Agreement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مُطَابَقَةُ النَّعْتِ فِي التَّعْرِيفِ وَالتَّنْكِيرِ</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Make an adjective mirror its noun in gender, number, definiteness (and case) — and use definiteness to tell a phrase from a sentence: </a:t>
            </a:r>
            <a:pPr algn="l" indent="0" marL="0">
              <a:buNone/>
            </a:pPr>
            <a:r>
              <a:rPr lang="ar-SA" altLang="en-US" sz="1800" dirty="0">
                <a:solidFill>
                  <a:srgbClr val="C6D2E6"/>
                </a:solidFill>
                <a:latin typeface="Amiri" pitchFamily="2" charset="-78"/>
                <a:ea typeface="Amiri" pitchFamily="2" charset="-78"/>
                <a:cs typeface="Amiri" pitchFamily="2" charset="-78"/>
              </a:rPr>
              <a:t>الْمَدْرَسَةُ الْجَدِيدَةُ</a:t>
            </a:r>
            <a:pPr algn="l" indent="0" marL="0">
              <a:buNone/>
            </a:pPr>
            <a:r>
              <a:rPr lang="en-US" sz="1400" dirty="0">
                <a:solidFill>
                  <a:srgbClr val="C6D2E6"/>
                </a:solidFill>
                <a:latin typeface="Calibri" pitchFamily="34" charset="0"/>
                <a:cs typeface="Amiri" pitchFamily="2" charset="-78"/>
              </a:rPr>
              <a:t> (the new school) · </a:t>
            </a:r>
            <a:pPr algn="l" indent="0" marL="0">
              <a:buNone/>
            </a:pPr>
            <a:r>
              <a:rPr lang="ar-SA" altLang="en-US" sz="1800" dirty="0">
                <a:solidFill>
                  <a:srgbClr val="C6D2E6"/>
                </a:solidFill>
                <a:latin typeface="Amiri" pitchFamily="2" charset="-78"/>
                <a:ea typeface="Amiri" pitchFamily="2" charset="-78"/>
                <a:cs typeface="Amiri" pitchFamily="2" charset="-78"/>
              </a:rPr>
              <a:t>الْمَدْرَسَةُ جَدِيدَةٌ</a:t>
            </a:r>
            <a:pPr algn="l" indent="0" marL="0">
              <a:buNone/>
            </a:pPr>
            <a:r>
              <a:rPr lang="en-US" sz="1400" dirty="0">
                <a:solidFill>
                  <a:srgbClr val="C6D2E6"/>
                </a:solidFill>
                <a:latin typeface="Calibri" pitchFamily="34" charset="0"/>
                <a:cs typeface="Amiri" pitchFamily="2" charset="-78"/>
              </a:rPr>
              <a:t> (The school is new).</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GM-ART-02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42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Four agreement decisions; phrase or sentence; demonstratives; plurals; definite without </a:t>
            </a:r>
            <a:pPr algn="ctr" indent="0" marL="0">
              <a:buNone/>
            </a:pPr>
            <a:r>
              <a:rPr lang="ar-SA" altLang="en-US" sz="1550" dirty="0">
                <a:solidFill>
                  <a:srgbClr val="1F2A37"/>
                </a:solidFill>
                <a:latin typeface="Amiri" pitchFamily="2" charset="-78"/>
                <a:ea typeface="Amiri" pitchFamily="2" charset="-78"/>
                <a:cs typeface="Amiri" pitchFamily="2" charset="-78"/>
              </a:rPr>
              <a:t>الـ</a:t>
            </a:r>
            <a:pPr algn="ctr" indent="0" marL="0">
              <a:buNone/>
            </a:pPr>
            <a:r>
              <a:rPr lang="en-US" sz="1200" dirty="0">
                <a:solidFill>
                  <a:srgbClr val="1F2A37"/>
                </a:solidFill>
                <a:latin typeface="Calibri" pitchFamily="34" charset="0"/>
                <a:cs typeface="Amiri" pitchFamily="2" charset="-78"/>
              </a:rPr>
              <a:t>.</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phrase or sentence, fix agreement errors, test plurals and demonstratives.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GM-ART-03.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42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small house”.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الصَّغِيرُ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صَغِيرٌ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صَغِيرٌ</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house”.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الصَّغِيرُ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صَغِيرٌ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صَغِيرٌ</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is small.”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الصَّغِيرُ.</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بَيْتٌ الصَّغِيرُ.</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صَغِيرٌ.</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car”.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السَّيَّارَةُ الْجَدِيدُ</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الْجَدِيدَةُ</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السَّيَّارَةُ الْجَدِيدَةُ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correctly describes the non-human plural </a:t>
            </a:r>
            <a:pPr algn="l" indent="0" marL="0">
              <a:buNone/>
            </a:pPr>
            <a:r>
              <a:rPr lang="ar-SA" altLang="en-US" sz="1650" b="1" dirty="0">
                <a:solidFill>
                  <a:srgbClr val="1B3B6F"/>
                </a:solidFill>
                <a:latin typeface="Amiri" pitchFamily="2" charset="-78"/>
                <a:ea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الْجَدِيدَةُ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الْجَدِيدُونَ</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الْجَدِيدَاتُ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42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small house”.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الصَّغِيرُ</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بَيْتٌ صَغِيرٌ</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صَغِيرٌ</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 and attributive adjective are indefinite.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small house”.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الْبَيْتُ الصَّغِيرُ</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صَغِيرٌ</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صَغِيرٌ</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definite because they form one noun phrase.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house is small.”</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الصَّغِيرُ.</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بَيْتٌ الصَّغِيرُ.</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الْبَيْتُ صَغِيرٌ.</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definite noun is the subject; the indefinite adjective is the predicate.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new car”.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السَّيَّارَةُ الْجَدِيدُ</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الْجَدِيدَةُ</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السَّيَّارَةُ الْجَدِيدَةُ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سَيَّارَة</a:t>
            </a:r>
            <a:pPr algn="l" indent="0" marL="0">
              <a:buNone/>
            </a:pPr>
            <a:r>
              <a:rPr lang="en-US" sz="1050" i="1" dirty="0">
                <a:solidFill>
                  <a:srgbClr val="8A6D1E"/>
                </a:solidFill>
                <a:latin typeface="Calibri" pitchFamily="34" charset="0"/>
                <a:cs typeface="Amiri" pitchFamily="2" charset="-78"/>
              </a:rPr>
              <a:t> is feminine, so its adjective is feminine and equally definite.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adjective correctly describes the non-human plural </a:t>
            </a:r>
            <a:pPr algn="l" indent="0" marL="0">
              <a:buNone/>
            </a:pPr>
            <a:r>
              <a:rPr lang="ar-SA" altLang="en-US" sz="1650" b="1" dirty="0">
                <a:solidFill>
                  <a:srgbClr val="1B3B6F"/>
                </a:solidFill>
                <a:latin typeface="Amiri" pitchFamily="2" charset="-78"/>
                <a:ea typeface="Amiri" pitchFamily="2" charset="-78"/>
                <a:cs typeface="Amiri" pitchFamily="2" charset="-78"/>
              </a:rPr>
              <a:t>الْكُتُبُ</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الْجَدِيدَةُ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الْجَدِيدُونَ</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الْجَدِيدَاتُ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non-human plural normally takes a feminine singular adjective.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Both definite = one phrase (the small house). Definite + indefinite = a sentence (The house is small).</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2" charset="-78"/>
                <a:ea typeface="Amiri" pitchFamily="2" charset="-78"/>
                <a:cs typeface="Amiri" pitchFamily="2" charset="-78"/>
              </a:rPr>
              <a:t>الْبَيْتُ الصَّغِيرُ</a:t>
            </a:r>
            <a:pPr rtl="1" algn="ctr" indent="0" marL="0">
              <a:buNone/>
            </a:pPr>
            <a:r>
              <a:rPr lang="ar-SA" altLang="en-US" sz="2400" b="1" dirty="0">
                <a:solidFill>
                  <a:srgbClr val="1B3B6F"/>
                </a:solidFill>
                <a:latin typeface="Amiri" pitchFamily="2" charset="-78"/>
                <a:ea typeface="Amiri" pitchFamily="2" charset="-78"/>
                <a:cs typeface="Amiri" pitchFamily="2" charset="-78"/>
              </a:rPr>
              <a:t> ‖ الْبَيْتُ </a:t>
            </a:r>
            <a:pPr rtl="1" algn="ctr" indent="0" marL="0">
              <a:buNone/>
            </a:pPr>
            <a:r>
              <a:rPr lang="ar-SA" altLang="en-US" sz="2400" b="1" dirty="0">
                <a:solidFill>
                  <a:srgbClr val="D6336C"/>
                </a:solidFill>
                <a:latin typeface="Amiri" pitchFamily="2" charset="-78"/>
                <a:ea typeface="Amiri" pitchFamily="2" charset="-78"/>
                <a:cs typeface="Amiri" pitchFamily="2" charset="-78"/>
              </a:rPr>
              <a:t>صَغِيرٌ</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42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Make an adjective agree with its noun in gender, number and definiteness.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Tell a noun phrase from a complete nominal sentence.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Use demonstratives and plural agreement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Recognise nouns that are definite without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match an adjective in gender and definiteness.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t>
            </a:r>
            <a:pPr algn="l" indent="0" marL="0">
              <a:buNone/>
            </a:pPr>
            <a:r>
              <a:rPr lang="ar-SA" altLang="en-US" sz="1700" b="1" dirty="0">
                <a:solidFill>
                  <a:srgbClr val="2E8B57"/>
                </a:solidFill>
                <a:latin typeface="Amiri" pitchFamily="2" charset="-78"/>
                <a:ea typeface="Amiri" pitchFamily="2" charset="-78"/>
                <a:cs typeface="Amiri" pitchFamily="2" charset="-78"/>
              </a:rPr>
              <a:t>الْبَيْتُ الْكَبِيرُ</a:t>
            </a:r>
            <a:pPr algn="l" indent="0" marL="0">
              <a:buNone/>
            </a:pPr>
            <a:r>
              <a:rPr lang="en-US" sz="1300" b="1" dirty="0">
                <a:solidFill>
                  <a:srgbClr val="2E8B57"/>
                </a:solidFill>
                <a:latin typeface="Calibri" pitchFamily="34" charset="0"/>
                <a:cs typeface="Amiri" pitchFamily="2" charset="-78"/>
              </a:rPr>
              <a:t> from </a:t>
            </a:r>
            <a:pPr algn="l" indent="0" marL="0">
              <a:buNone/>
            </a:pPr>
            <a:r>
              <a:rPr lang="ar-SA" altLang="en-US" sz="1700" b="1" dirty="0">
                <a:solidFill>
                  <a:srgbClr val="2E8B57"/>
                </a:solidFill>
                <a:latin typeface="Amiri" pitchFamily="2" charset="-78"/>
                <a:ea typeface="Amiri" pitchFamily="2" charset="-78"/>
                <a:cs typeface="Amiri" pitchFamily="2" charset="-78"/>
              </a:rPr>
              <a:t>الْبَيْتُ كَبِيرٌ</a:t>
            </a:r>
            <a:pPr algn="l" indent="0" marL="0">
              <a:buNone/>
            </a:pPr>
            <a:r>
              <a:rPr lang="en-US" sz="1300" b="1" dirty="0">
                <a:solidFill>
                  <a:srgbClr val="2E8B57"/>
                </a:solidFill>
                <a:latin typeface="Calibri" pitchFamily="34" charset="0"/>
                <a:cs typeface="Amiri" pitchFamily="2" charset="-78"/>
              </a:rPr>
              <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a:t>
            </a:r>
            <a:pPr algn="l" indent="0" marL="0">
              <a:buNone/>
            </a:pPr>
            <a:r>
              <a:rPr lang="ar-SA" altLang="en-US" sz="1700" b="1" dirty="0">
                <a:solidFill>
                  <a:srgbClr val="C9780A"/>
                </a:solidFill>
                <a:latin typeface="Amiri" pitchFamily="2" charset="-78"/>
                <a:ea typeface="Amiri" pitchFamily="2" charset="-78"/>
                <a:cs typeface="Amiri" pitchFamily="2" charset="-78"/>
              </a:rPr>
              <a:t>هٰذَا / هٰذِهِ</a:t>
            </a:r>
            <a:pPr algn="l" indent="0" marL="0">
              <a:buNone/>
            </a:pPr>
            <a:r>
              <a:rPr lang="en-US" sz="1300" b="1" dirty="0">
                <a:solidFill>
                  <a:srgbClr val="C9780A"/>
                </a:solidFill>
                <a:latin typeface="Calibri" pitchFamily="34" charset="0"/>
                <a:cs typeface="Amiri" pitchFamily="2" charset="-78"/>
              </a:rPr>
              <a:t> with and without </a:t>
            </a:r>
            <a:pPr algn="l" indent="0" marL="0">
              <a:buNone/>
            </a:pPr>
            <a:r>
              <a:rPr lang="ar-SA" altLang="en-US" sz="1700" b="1" dirty="0">
                <a:solidFill>
                  <a:srgbClr val="C9780A"/>
                </a:solidFill>
                <a:latin typeface="Amiri" pitchFamily="2" charset="-78"/>
                <a:ea typeface="Amiri" pitchFamily="2" charset="-78"/>
                <a:cs typeface="Amiri" pitchFamily="2" charset="-78"/>
              </a:rPr>
              <a:t>الـ</a:t>
            </a:r>
            <a:pPr algn="l" indent="0" marL="0">
              <a:buNone/>
            </a:pPr>
            <a:r>
              <a:rPr lang="en-US" sz="1300" b="1" dirty="0">
                <a:solidFill>
                  <a:srgbClr val="C9780A"/>
                </a:solidFill>
                <a:latin typeface="Calibri" pitchFamily="34" charset="0"/>
                <a:cs typeface="Amiri" pitchFamily="2" charset="-78"/>
              </a:rPr>
              <a:t>.</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choose the adjective for human and non-human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adjectives after </a:t>
            </a:r>
            <a:pPr algn="l" indent="0" marL="0">
              <a:buNone/>
            </a:pPr>
            <a:r>
              <a:rPr lang="ar-SA" altLang="en-US" sz="1700" b="1" dirty="0">
                <a:solidFill>
                  <a:srgbClr val="B83227"/>
                </a:solidFill>
                <a:latin typeface="Amiri" pitchFamily="2" charset="-78"/>
                <a:ea typeface="Amiri" pitchFamily="2" charset="-78"/>
                <a:cs typeface="Amiri" pitchFamily="2" charset="-78"/>
              </a:rPr>
              <a:t>كِتَابِي</a:t>
            </a:r>
            <a:pPr algn="l" indent="0" marL="0">
              <a:buNone/>
            </a:pPr>
            <a:r>
              <a:rPr lang="en-US" sz="1300" b="1" dirty="0">
                <a:solidFill>
                  <a:srgbClr val="B83227"/>
                </a:solidFill>
                <a:latin typeface="Calibri" pitchFamily="34" charset="0"/>
                <a:cs typeface="Amiri" pitchFamily="2" charset="-78"/>
              </a:rPr>
              <a:t>, names and iḍāfa.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match case endings (</a:t>
            </a:r>
            <a:pPr algn="l" indent="0" marL="0">
              <a:buNone/>
            </a:pPr>
            <a:r>
              <a:rPr lang="ar-SA" altLang="en-US" sz="1700" b="1" dirty="0">
                <a:solidFill>
                  <a:srgbClr val="B83227"/>
                </a:solidFill>
                <a:latin typeface="Amiri" pitchFamily="2" charset="-78"/>
                <a:ea typeface="Amiri" pitchFamily="2" charset="-78"/>
                <a:cs typeface="Amiri" pitchFamily="2" charset="-78"/>
              </a:rPr>
              <a:t>فِي الْبَيْتِ الْكَبِيرِ</a:t>
            </a:r>
            <a:pPr algn="l" indent="0" marL="0">
              <a:buNone/>
            </a:pPr>
            <a:r>
              <a:rPr lang="en-US" sz="1300" b="1" dirty="0">
                <a:solidFill>
                  <a:srgbClr val="B83227"/>
                </a:solidFill>
                <a:latin typeface="Calibri" pitchFamily="34" charset="0"/>
                <a:cs typeface="Amiri" pitchFamily="2" charset="-78"/>
              </a:rPr>
              <a:t>).</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42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نَعْتٌ</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adjective (describing word)</a:t>
            </a:r>
            <a:endParaRPr lang="en-US" sz="1350" dirty="0"/>
          </a:p>
          <a:p>
            <a:pPr indent="0" marL="0">
              <a:buNone/>
            </a:pPr>
            <a:r>
              <a:rPr lang="en-US" sz="1100" i="1" dirty="0">
                <a:solidFill>
                  <a:srgbClr val="5A6472"/>
                </a:solidFill>
                <a:latin typeface="Calibri" pitchFamily="34" charset="0"/>
                <a:cs typeface="Amiri" pitchFamily="2" charset="-78"/>
              </a:rPr>
              <a:t>naʿ-tun</a:t>
            </a:r>
            <a:endParaRPr lang="en-US" sz="1350" dirty="0"/>
          </a:p>
        </p:txBody>
      </p:sp>
      <p:sp>
        <p:nvSpPr>
          <p:cNvPr id="22" name="Shape 19"/>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4" name="Text 21"/>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نُعُوتٌ</a:t>
            </a:r>
            <a:endParaRPr lang="ar-SA" sz="15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0" name="Text 27"/>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مَنْعُوتٌ</a:t>
            </a:r>
            <a:endParaRPr lang="ar-SA" sz="3000" dirty="0"/>
          </a:p>
        </p:txBody>
      </p:sp>
      <p:sp>
        <p:nvSpPr>
          <p:cNvPr id="31" name="Text 28"/>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noun being described</a:t>
            </a:r>
            <a:endParaRPr lang="en-US" sz="1350" dirty="0"/>
          </a:p>
          <a:p>
            <a:pPr indent="0" marL="0">
              <a:buNone/>
            </a:pPr>
            <a:r>
              <a:rPr lang="en-US" sz="1100" i="1" dirty="0">
                <a:solidFill>
                  <a:srgbClr val="5A6472"/>
                </a:solidFill>
                <a:latin typeface="Calibri" pitchFamily="34" charset="0"/>
                <a:cs typeface="Amiri" pitchFamily="2" charset="-78"/>
              </a:rPr>
              <a:t>man-ʿū-tun</a:t>
            </a:r>
            <a:endParaRPr lang="en-US" sz="1350" dirty="0"/>
          </a:p>
        </p:txBody>
      </p:sp>
      <p:sp>
        <p:nvSpPr>
          <p:cNvPr id="32" name="Text 29"/>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ar-SA" altLang="en-US" sz="1300" dirty="0">
                <a:solidFill>
                  <a:srgbClr val="8A6D1E"/>
                </a:solidFill>
                <a:latin typeface="Amiri" pitchFamily="2" charset="-78"/>
                <a:ea typeface="Amiri" pitchFamily="2" charset="-78"/>
                <a:cs typeface="Amiri" pitchFamily="2" charset="-78"/>
              </a:rPr>
              <a:t>الْبَيْتُ</a:t>
            </a:r>
            <a:pPr algn="l" indent="0" marL="0">
              <a:buNone/>
            </a:pPr>
            <a:r>
              <a:rPr lang="en-US" sz="1000" i="1" dirty="0">
                <a:solidFill>
                  <a:srgbClr val="8A6D1E"/>
                </a:solidFill>
                <a:latin typeface="Calibri" pitchFamily="34" charset="0"/>
                <a:cs typeface="Amiri" pitchFamily="2" charset="-78"/>
              </a:rPr>
              <a:t> in </a:t>
            </a:r>
            <a:pPr algn="l" indent="0" marL="0">
              <a:buNone/>
            </a:pPr>
            <a:r>
              <a:rPr lang="ar-SA" altLang="en-US" sz="1300" dirty="0">
                <a:solidFill>
                  <a:srgbClr val="8A6D1E"/>
                </a:solidFill>
                <a:latin typeface="Amiri" pitchFamily="2" charset="-78"/>
                <a:ea typeface="Amiri" pitchFamily="2" charset="-78"/>
                <a:cs typeface="Amiri" pitchFamily="2" charset="-78"/>
              </a:rPr>
              <a:t>الْبَيْتُ الْكَبِيرُ</a:t>
            </a:r>
            <a:endParaRPr lang="en-US" sz="1000" dirty="0"/>
          </a:p>
        </p:txBody>
      </p:sp>
      <p:sp>
        <p:nvSpPr>
          <p:cNvPr id="33" name="Shape 3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566928"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6" name="Shape 3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8" name="Text 3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مُطَابَقَةٌ</a:t>
            </a:r>
            <a:endParaRPr lang="ar-SA" sz="3000" dirty="0"/>
          </a:p>
        </p:txBody>
      </p:sp>
      <p:sp>
        <p:nvSpPr>
          <p:cNvPr id="39" name="Text 3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agreement (matching)</a:t>
            </a:r>
            <a:endParaRPr lang="en-US" sz="1350" dirty="0"/>
          </a:p>
          <a:p>
            <a:pPr indent="0" marL="0">
              <a:buNone/>
            </a:pPr>
            <a:r>
              <a:rPr lang="en-US" sz="1100" i="1" dirty="0">
                <a:solidFill>
                  <a:srgbClr val="5A6472"/>
                </a:solidFill>
                <a:latin typeface="Calibri" pitchFamily="34" charset="0"/>
                <a:cs typeface="Amiri" pitchFamily="2" charset="-78"/>
              </a:rPr>
              <a:t>mu-ṭā-ba-qa-tun</a:t>
            </a:r>
            <a:endParaRPr lang="en-US" sz="1350" dirty="0"/>
          </a:p>
        </p:txBody>
      </p:sp>
      <p:sp>
        <p:nvSpPr>
          <p:cNvPr id="40" name="Text 37"/>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gender · number · definiteness · case</a:t>
            </a:r>
            <a:endParaRPr lang="en-US" sz="1000" dirty="0"/>
          </a:p>
        </p:txBody>
      </p:sp>
      <p:sp>
        <p:nvSpPr>
          <p:cNvPr id="41" name="Shape 3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11312"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4" name="Shape 4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مُبْتَدَأٌ</a:t>
            </a:r>
            <a:endParaRPr lang="ar-SA" sz="3000" dirty="0"/>
          </a:p>
        </p:txBody>
      </p:sp>
      <p:sp>
        <p:nvSpPr>
          <p:cNvPr id="47" name="Text 4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subject of a nominal sentence</a:t>
            </a:r>
            <a:endParaRPr lang="en-US" sz="1350" dirty="0"/>
          </a:p>
          <a:p>
            <a:pPr indent="0" marL="0">
              <a:buNone/>
            </a:pPr>
            <a:r>
              <a:rPr lang="en-US" sz="1100" i="1" dirty="0">
                <a:solidFill>
                  <a:srgbClr val="5A6472"/>
                </a:solidFill>
                <a:latin typeface="Calibri" pitchFamily="34" charset="0"/>
                <a:cs typeface="Amiri" pitchFamily="2" charset="-78"/>
              </a:rPr>
              <a:t>mub-ta-da-ʾun</a:t>
            </a:r>
            <a:endParaRPr lang="en-US" sz="1350" dirty="0"/>
          </a:p>
        </p:txBody>
      </p:sp>
      <p:sp>
        <p:nvSpPr>
          <p:cNvPr id="48" name="Text 45"/>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usually definite</a:t>
            </a:r>
            <a:endParaRPr lang="en-US" sz="1000" dirty="0"/>
          </a:p>
        </p:txBody>
      </p:sp>
      <p:sp>
        <p:nvSpPr>
          <p:cNvPr id="49" name="Shape 4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4389120"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2" name="Shape 49"/>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4" name="Text 51"/>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خَبَرٌ</a:t>
            </a:r>
            <a:endParaRPr lang="ar-SA" sz="3000" dirty="0"/>
          </a:p>
        </p:txBody>
      </p:sp>
      <p:sp>
        <p:nvSpPr>
          <p:cNvPr id="55" name="Text 52"/>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predicate (what is said about it)</a:t>
            </a:r>
            <a:endParaRPr lang="en-US" sz="1350" dirty="0"/>
          </a:p>
          <a:p>
            <a:pPr indent="0" marL="0">
              <a:buNone/>
            </a:pPr>
            <a:r>
              <a:rPr lang="en-US" sz="1100" i="1" dirty="0">
                <a:solidFill>
                  <a:srgbClr val="5A6472"/>
                </a:solidFill>
                <a:latin typeface="Calibri" pitchFamily="34" charset="0"/>
                <a:cs typeface="Amiri" pitchFamily="2" charset="-78"/>
              </a:rPr>
              <a:t>kha-ba-run</a:t>
            </a:r>
            <a:endParaRPr lang="en-US" sz="1350" dirty="0"/>
          </a:p>
        </p:txBody>
      </p:sp>
      <p:sp>
        <p:nvSpPr>
          <p:cNvPr id="56" name="Text 53"/>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usually indefinite</a:t>
            </a:r>
            <a:endParaRPr lang="en-US" sz="1000" dirty="0"/>
          </a:p>
        </p:txBody>
      </p:sp>
      <p:sp>
        <p:nvSpPr>
          <p:cNvPr id="57" name="Shape 54"/>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66928"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0" name="Shape 57"/>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2" name="Text 59"/>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اِسْمُ الْإِشَارَةِ</a:t>
            </a:r>
            <a:endParaRPr lang="ar-SA" sz="3000" dirty="0"/>
          </a:p>
        </p:txBody>
      </p:sp>
      <p:sp>
        <p:nvSpPr>
          <p:cNvPr id="63" name="Text 60"/>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demonstrative (this / these)</a:t>
            </a:r>
            <a:endParaRPr lang="en-US" sz="1350" dirty="0"/>
          </a:p>
          <a:p>
            <a:pPr indent="0" marL="0">
              <a:buNone/>
            </a:pPr>
            <a:r>
              <a:rPr lang="en-US" sz="1100" i="1" dirty="0">
                <a:solidFill>
                  <a:srgbClr val="5A6472"/>
                </a:solidFill>
                <a:latin typeface="Calibri" pitchFamily="34" charset="0"/>
                <a:cs typeface="Amiri" pitchFamily="2" charset="-78"/>
              </a:rPr>
              <a:t>is-mu al-i-shā-ra-ti</a:t>
            </a:r>
            <a:endParaRPr lang="en-US" sz="1350" dirty="0"/>
          </a:p>
        </p:txBody>
      </p:sp>
      <p:sp>
        <p:nvSpPr>
          <p:cNvPr id="64" name="Text 61"/>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هٰذَا · هٰذِهِ · هٰؤُلَاءِ</a:t>
            </a:r>
            <a:endParaRPr lang="ar-SA" sz="130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42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عَاقِلٌ</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human (rational)</a:t>
            </a:r>
            <a:endParaRPr lang="en-US" sz="1350" dirty="0"/>
          </a:p>
          <a:p>
            <a:pPr indent="0" marL="0">
              <a:buNone/>
            </a:pPr>
            <a:r>
              <a:rPr lang="en-US" sz="1100" i="1" dirty="0">
                <a:solidFill>
                  <a:srgbClr val="5A6472"/>
                </a:solidFill>
                <a:latin typeface="Calibri" pitchFamily="34" charset="0"/>
                <a:cs typeface="Amiri" pitchFamily="2" charset="-78"/>
              </a:rPr>
              <a:t>ʿā-qi-lun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طُلَّابٌ · مُعَلِّمَاتٌ</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غَيْرُ عَاقِلٍ</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non-human (things, animals)</a:t>
            </a:r>
            <a:endParaRPr lang="en-US" sz="1350" dirty="0"/>
          </a:p>
          <a:p>
            <a:pPr indent="0" marL="0">
              <a:buNone/>
            </a:pPr>
            <a:r>
              <a:rPr lang="en-US" sz="1100" i="1" dirty="0">
                <a:solidFill>
                  <a:srgbClr val="5A6472"/>
                </a:solidFill>
                <a:latin typeface="Calibri" pitchFamily="34" charset="0"/>
                <a:cs typeface="Amiri" pitchFamily="2" charset="-78"/>
              </a:rPr>
              <a:t>ghay-ru ʿā-qi-lin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2" charset="-78"/>
                <a:ea typeface="Amiri" pitchFamily="2" charset="-78"/>
                <a:cs typeface="Amiri" pitchFamily="2" charset="-78"/>
              </a:rPr>
              <a:t>كُتُبٌ · مَدَارِسُ</a:t>
            </a:r>
            <a:endParaRPr lang="ar-SA" sz="13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42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THE FOUR AGREEMENT DECISIONS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adjective is a mirror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أَرْبَعَةُ أَوْجُهٍ لِلْمُطَابَقَةِ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An Arabic adjective normally comes AFTER its noun and copies key information from it.</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Gender: a masculine noun takes a masculine adjective; a feminine noun takes a feminine adjective.</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Number: for people, the adjective matches singular, dual or plural.</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Definiteness: inside one phrase, an indefinite noun takes an indefinite adjective; a definite noun takes a definite adjective.</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Case (Stretch): when endings are shown, noun and adjective share -u, -a or -i.</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وَلَدٌ مُجْتَهِدٌ · بِنْتٌ مُجْتَهِدَةٌ</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gender</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طَالِبَانِ مُجْتَهِدَانِ · طُلَّابٌ مُجْتَهِدُونَ</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number (people)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كِتَابٌ مُفِيدٌ · الْكِتَابُ الْمُفِيدُ</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definiteness</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الْبَيْتِ الْكَبِيرِ</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case: both genitive after </a:t>
            </a:r>
            <a:pPr algn="ctr" indent="0" marL="0">
              <a:buNone/>
            </a:pPr>
            <a:r>
              <a:rPr lang="ar-SA" altLang="en-US" sz="1450" dirty="0">
                <a:solidFill>
                  <a:srgbClr val="5A6472"/>
                </a:solidFill>
                <a:latin typeface="Amiri" pitchFamily="2" charset="-78"/>
                <a:ea typeface="Amiri" pitchFamily="2" charset="-78"/>
                <a:cs typeface="Amiri" pitchFamily="2" charset="-78"/>
              </a:rPr>
              <a:t>فِي</a:t>
            </a:r>
            <a:pPr algn="ctr" indent="0" marL="0">
              <a:buNone/>
            </a:pPr>
            <a:r>
              <a:rPr lang="en-US" sz="1100" i="1" dirty="0">
                <a:solidFill>
                  <a:srgbClr val="5A6472"/>
                </a:solidFill>
                <a:latin typeface="Calibri" pitchFamily="34" charset="0"/>
                <a:cs typeface="Amiri" pitchFamily="2" charset="-78"/>
              </a:rPr>
              <a:t>  ·  Stretch</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Order of thought (website): identify the noun → decide its meaning and form → make the adjective copy the relevant features.</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42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1 · WHAT MATCHES?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Noun + adjective: every feature matches</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مَاذَا يَتَطَابَقُ؟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845552" y="1810512"/>
            <a:ext cx="3813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matches?</a:t>
            </a:r>
            <a:endParaRPr lang="en-US" sz="1100" dirty="0"/>
          </a:p>
        </p:txBody>
      </p:sp>
      <p:sp>
        <p:nvSpPr>
          <p:cNvPr id="17" name="Text 14"/>
          <p:cNvSpPr txBox="1"/>
          <p:nvPr/>
        </p:nvSpPr>
        <p:spPr>
          <a:xfrm>
            <a:off x="546811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8" name="Text 15"/>
          <p:cNvSpPr txBox="1"/>
          <p:nvPr/>
        </p:nvSpPr>
        <p:spPr>
          <a:xfrm>
            <a:off x="32735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7882128" y="2267712"/>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 singular · indefinite</a:t>
            </a:r>
            <a:endParaRPr lang="en-US" sz="1100" dirty="0"/>
          </a:p>
        </p:txBody>
      </p:sp>
      <p:sp>
        <p:nvSpPr>
          <p:cNvPr id="22" name="Text 19"/>
          <p:cNvSpPr txBox="1"/>
          <p:nvPr/>
        </p:nvSpPr>
        <p:spPr>
          <a:xfrm>
            <a:off x="5486400" y="2267712"/>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طَوِيلٌ</a:t>
            </a:r>
            <a:endParaRPr lang="ar-SA" sz="2400" dirty="0"/>
          </a:p>
        </p:txBody>
      </p:sp>
      <p:sp>
        <p:nvSpPr>
          <p:cNvPr id="23" name="Text 20"/>
          <p:cNvSpPr txBox="1"/>
          <p:nvPr/>
        </p:nvSpPr>
        <p:spPr>
          <a:xfrm>
            <a:off x="3291840" y="2267712"/>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وَلَدٌ</a:t>
            </a:r>
            <a:endParaRPr lang="ar-SA" sz="2400" dirty="0"/>
          </a:p>
        </p:txBody>
      </p:sp>
      <p:sp>
        <p:nvSpPr>
          <p:cNvPr id="24" name="Text 21"/>
          <p:cNvSpPr txBox="1"/>
          <p:nvPr/>
        </p:nvSpPr>
        <p:spPr>
          <a:xfrm>
            <a:off x="566928" y="2267712"/>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tall boy</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882128" y="3054096"/>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singular · definite</a:t>
            </a:r>
            <a:endParaRPr lang="en-US" sz="1100" dirty="0"/>
          </a:p>
        </p:txBody>
      </p:sp>
      <p:sp>
        <p:nvSpPr>
          <p:cNvPr id="29" name="Text 26"/>
          <p:cNvSpPr txBox="1"/>
          <p:nvPr/>
        </p:nvSpPr>
        <p:spPr>
          <a:xfrm>
            <a:off x="5486400" y="3054096"/>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الطَّوِيلَةُ</a:t>
            </a:r>
            <a:endParaRPr lang="ar-SA" sz="2400" dirty="0"/>
          </a:p>
        </p:txBody>
      </p:sp>
      <p:sp>
        <p:nvSpPr>
          <p:cNvPr id="30" name="Text 27"/>
          <p:cNvSpPr txBox="1"/>
          <p:nvPr/>
        </p:nvSpPr>
        <p:spPr>
          <a:xfrm>
            <a:off x="3291840" y="3054096"/>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الْبِنْتُ</a:t>
            </a:r>
            <a:endParaRPr lang="ar-SA" sz="2400" dirty="0"/>
          </a:p>
        </p:txBody>
      </p:sp>
      <p:sp>
        <p:nvSpPr>
          <p:cNvPr id="31" name="Text 28"/>
          <p:cNvSpPr txBox="1"/>
          <p:nvPr/>
        </p:nvSpPr>
        <p:spPr>
          <a:xfrm>
            <a:off x="566928" y="3054096"/>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tall girl</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7882128" y="3840480"/>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masculine · dual · indefinite</a:t>
            </a:r>
            <a:endParaRPr lang="en-US" sz="1100" dirty="0"/>
          </a:p>
        </p:txBody>
      </p:sp>
      <p:sp>
        <p:nvSpPr>
          <p:cNvPr id="36" name="Text 33"/>
          <p:cNvSpPr txBox="1"/>
          <p:nvPr/>
        </p:nvSpPr>
        <p:spPr>
          <a:xfrm>
            <a:off x="5486400" y="3840480"/>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مُفِيدَانِ</a:t>
            </a:r>
            <a:endParaRPr lang="ar-SA" sz="2400" dirty="0"/>
          </a:p>
        </p:txBody>
      </p:sp>
      <p:sp>
        <p:nvSpPr>
          <p:cNvPr id="37" name="Text 34"/>
          <p:cNvSpPr txBox="1"/>
          <p:nvPr/>
        </p:nvSpPr>
        <p:spPr>
          <a:xfrm>
            <a:off x="3291840" y="3840480"/>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كِتَابَانِ</a:t>
            </a:r>
            <a:endParaRPr lang="ar-SA" sz="2400" dirty="0"/>
          </a:p>
        </p:txBody>
      </p:sp>
      <p:sp>
        <p:nvSpPr>
          <p:cNvPr id="38" name="Text 35"/>
          <p:cNvSpPr txBox="1"/>
          <p:nvPr/>
        </p:nvSpPr>
        <p:spPr>
          <a:xfrm>
            <a:off x="566928" y="3840480"/>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useful books</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7882128" y="4626864"/>
            <a:ext cx="37764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 plural (human) · definite</a:t>
            </a:r>
            <a:endParaRPr lang="en-US" sz="1100" dirty="0"/>
          </a:p>
        </p:txBody>
      </p:sp>
      <p:sp>
        <p:nvSpPr>
          <p:cNvPr id="41" name="Text 38"/>
          <p:cNvSpPr txBox="1"/>
          <p:nvPr/>
        </p:nvSpPr>
        <p:spPr>
          <a:xfrm>
            <a:off x="5486400" y="4626864"/>
            <a:ext cx="219456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الْمُجْتَهِدَاتُ</a:t>
            </a:r>
            <a:endParaRPr lang="ar-SA" sz="2400" dirty="0"/>
          </a:p>
        </p:txBody>
      </p:sp>
      <p:sp>
        <p:nvSpPr>
          <p:cNvPr id="42" name="Text 39"/>
          <p:cNvSpPr txBox="1"/>
          <p:nvPr/>
        </p:nvSpPr>
        <p:spPr>
          <a:xfrm>
            <a:off x="3291840" y="4626864"/>
            <a:ext cx="2011680"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الطَّالِبَاتُ</a:t>
            </a:r>
            <a:endParaRPr lang="ar-SA" sz="2400" dirty="0"/>
          </a:p>
        </p:txBody>
      </p:sp>
      <p:sp>
        <p:nvSpPr>
          <p:cNvPr id="43" name="Text 40"/>
          <p:cNvSpPr txBox="1"/>
          <p:nvPr/>
        </p:nvSpPr>
        <p:spPr>
          <a:xfrm>
            <a:off x="566928" y="4626864"/>
            <a:ext cx="25603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hardworking female students</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Read the table right to left in Arabic: noun first, then the adjective copies it.</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42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2 · PHRASE OR COMPLETE SENTENCE? (WEBSITE SECTION)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Definiteness decides: phrase or sentence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تَرْكِيبٌ أَمْ 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Why?</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065008" y="226771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both indefinite.</a:t>
            </a:r>
            <a:endParaRPr lang="en-US" sz="1100" dirty="0"/>
          </a:p>
        </p:txBody>
      </p:sp>
      <p:sp>
        <p:nvSpPr>
          <p:cNvPr id="21" name="Text 18"/>
          <p:cNvSpPr txBox="1"/>
          <p:nvPr/>
        </p:nvSpPr>
        <p:spPr>
          <a:xfrm>
            <a:off x="3840480" y="226771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كَبِيرٌ</a:t>
            </a:r>
            <a:endParaRPr lang="ar-SA" sz="2400" dirty="0"/>
          </a:p>
        </p:txBody>
      </p:sp>
      <p:sp>
        <p:nvSpPr>
          <p:cNvPr id="22" name="Text 19"/>
          <p:cNvSpPr txBox="1"/>
          <p:nvPr/>
        </p:nvSpPr>
        <p:spPr>
          <a:xfrm>
            <a:off x="566928" y="226771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large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065008" y="2881884"/>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both definite.</a:t>
            </a:r>
            <a:endParaRPr lang="en-US" sz="1100" dirty="0"/>
          </a:p>
        </p:txBody>
      </p:sp>
      <p:sp>
        <p:nvSpPr>
          <p:cNvPr id="27" name="Text 24"/>
          <p:cNvSpPr txBox="1"/>
          <p:nvPr/>
        </p:nvSpPr>
        <p:spPr>
          <a:xfrm>
            <a:off x="3840480" y="2881884"/>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الْكَبِيرُ</a:t>
            </a:r>
            <a:endParaRPr lang="ar-SA" sz="2400" dirty="0"/>
          </a:p>
        </p:txBody>
      </p:sp>
      <p:sp>
        <p:nvSpPr>
          <p:cNvPr id="28" name="Text 25"/>
          <p:cNvSpPr txBox="1"/>
          <p:nvPr/>
        </p:nvSpPr>
        <p:spPr>
          <a:xfrm>
            <a:off x="566928" y="2881884"/>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large house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065008" y="3496056"/>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Sentence: definite + indefinite.</a:t>
            </a:r>
            <a:endParaRPr lang="en-US" sz="1100" dirty="0"/>
          </a:p>
        </p:txBody>
      </p:sp>
      <p:sp>
        <p:nvSpPr>
          <p:cNvPr id="33" name="Text 30"/>
          <p:cNvSpPr txBox="1"/>
          <p:nvPr/>
        </p:nvSpPr>
        <p:spPr>
          <a:xfrm>
            <a:off x="3840480" y="3496056"/>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كَبِيرٌ.</a:t>
            </a:r>
            <a:endParaRPr lang="ar-SA" sz="2400" dirty="0"/>
          </a:p>
        </p:txBody>
      </p:sp>
      <p:sp>
        <p:nvSpPr>
          <p:cNvPr id="34" name="Text 31"/>
          <p:cNvSpPr txBox="1"/>
          <p:nvPr/>
        </p:nvSpPr>
        <p:spPr>
          <a:xfrm>
            <a:off x="566928" y="3496056"/>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is large.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065008" y="4110228"/>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Two adjectives, both matching.</a:t>
            </a:r>
            <a:endParaRPr lang="en-US" sz="1100" dirty="0"/>
          </a:p>
        </p:txBody>
      </p:sp>
      <p:sp>
        <p:nvSpPr>
          <p:cNvPr id="39" name="Text 36"/>
          <p:cNvSpPr txBox="1"/>
          <p:nvPr/>
        </p:nvSpPr>
        <p:spPr>
          <a:xfrm>
            <a:off x="3840480" y="4110228"/>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بَيْتٌ كَبِيرٌ وَجَمِيلٌ</a:t>
            </a:r>
            <a:endParaRPr lang="ar-SA" sz="2400" dirty="0"/>
          </a:p>
        </p:txBody>
      </p:sp>
      <p:sp>
        <p:nvSpPr>
          <p:cNvPr id="40" name="Text 37"/>
          <p:cNvSpPr txBox="1"/>
          <p:nvPr/>
        </p:nvSpPr>
        <p:spPr>
          <a:xfrm>
            <a:off x="566928" y="4110228"/>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large and beautiful house</a:t>
            </a:r>
            <a:endParaRPr lang="en-US" sz="11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065008" y="4724400"/>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Each adjective matches the noun.</a:t>
            </a:r>
            <a:endParaRPr lang="en-US" sz="1100" dirty="0"/>
          </a:p>
        </p:txBody>
      </p:sp>
      <p:sp>
        <p:nvSpPr>
          <p:cNvPr id="43" name="Text 40"/>
          <p:cNvSpPr txBox="1"/>
          <p:nvPr/>
        </p:nvSpPr>
        <p:spPr>
          <a:xfrm>
            <a:off x="3840480" y="4724400"/>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الْجَدِيدَةُ الْكَبِيرَةُ</a:t>
            </a:r>
            <a:endParaRPr lang="ar-SA" sz="2400" dirty="0"/>
          </a:p>
        </p:txBody>
      </p:sp>
      <p:sp>
        <p:nvSpPr>
          <p:cNvPr id="44" name="Text 41"/>
          <p:cNvSpPr txBox="1"/>
          <p:nvPr/>
        </p:nvSpPr>
        <p:spPr>
          <a:xfrm>
            <a:off x="566928" y="4724400"/>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large new school</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065008" y="5338572"/>
            <a:ext cx="3593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Both predicates stay indefinite.</a:t>
            </a:r>
            <a:endParaRPr lang="en-US" sz="1100" dirty="0"/>
          </a:p>
        </p:txBody>
      </p:sp>
      <p:sp>
        <p:nvSpPr>
          <p:cNvPr id="47" name="Text 44"/>
          <p:cNvSpPr txBox="1"/>
          <p:nvPr/>
        </p:nvSpPr>
        <p:spPr>
          <a:xfrm>
            <a:off x="3840480" y="5338572"/>
            <a:ext cx="40233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جَدِيدَةٌ وَكَبِيرَةٌ.</a:t>
            </a:r>
            <a:endParaRPr lang="ar-SA" sz="2400" dirty="0"/>
          </a:p>
        </p:txBody>
      </p:sp>
      <p:sp>
        <p:nvSpPr>
          <p:cNvPr id="48" name="Text 45"/>
          <p:cNvSpPr txBox="1"/>
          <p:nvPr/>
        </p:nvSpPr>
        <p:spPr>
          <a:xfrm>
            <a:off x="566928" y="5338572"/>
            <a:ext cx="31089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is new and large.</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warning: do not use the full stop as your only clue — analyse definiteness first.</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42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cs typeface="Amiri" pitchFamily="2" charset="-78"/>
              </a:rPr>
              <a:t>GRAMMAR · PART 3 · DEMONSTRATIVES CHANGE THE PATTERN (WEBSITE SECTION) · DEVELOP</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“This is a house” or “this house”?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أَسْمَاءُ الْإِشَارَةِ وَالتَّعْرِيفُ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028432" y="1810512"/>
            <a:ext cx="3630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follows </a:t>
            </a:r>
            <a:pPr algn="ctr" indent="0" marL="0">
              <a:buNone/>
            </a:pPr>
            <a:r>
              <a:rPr lang="ar-SA" altLang="en-US" sz="1450" b="1" dirty="0">
                <a:solidFill>
                  <a:srgbClr val="FFFFFF"/>
                </a:solidFill>
                <a:latin typeface="Amiri" pitchFamily="2" charset="-78"/>
                <a:ea typeface="Amiri" pitchFamily="2" charset="-78"/>
                <a:cs typeface="Amiri" pitchFamily="2" charset="-78"/>
              </a:rPr>
              <a:t>هٰذَا</a:t>
            </a:r>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7" name="Text 14"/>
          <p:cNvSpPr txBox="1"/>
          <p:nvPr/>
        </p:nvSpPr>
        <p:spPr>
          <a:xfrm>
            <a:off x="382219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065008" y="2267712"/>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 indefinite noun → a sentence</a:t>
            </a:r>
            <a:endParaRPr lang="en-US" sz="1100" dirty="0"/>
          </a:p>
        </p:txBody>
      </p:sp>
      <p:sp>
        <p:nvSpPr>
          <p:cNvPr id="21" name="Text 18"/>
          <p:cNvSpPr txBox="1"/>
          <p:nvPr/>
        </p:nvSpPr>
        <p:spPr>
          <a:xfrm>
            <a:off x="3840480" y="2267712"/>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بَيْتٌ.</a:t>
            </a:r>
            <a:endParaRPr lang="ar-SA" sz="2600" dirty="0"/>
          </a:p>
        </p:txBody>
      </p:sp>
      <p:sp>
        <p:nvSpPr>
          <p:cNvPr id="22" name="Text 19"/>
          <p:cNvSpPr txBox="1"/>
          <p:nvPr/>
        </p:nvSpPr>
        <p:spPr>
          <a:xfrm>
            <a:off x="56692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house.</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065008" y="300471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definite noun → a phrase</a:t>
            </a:r>
            <a:endParaRPr lang="en-US" sz="1100" dirty="0"/>
          </a:p>
        </p:txBody>
      </p:sp>
      <p:sp>
        <p:nvSpPr>
          <p:cNvPr id="27" name="Text 24"/>
          <p:cNvSpPr txBox="1"/>
          <p:nvPr/>
        </p:nvSpPr>
        <p:spPr>
          <a:xfrm>
            <a:off x="3840480" y="300471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الْبَيْتُ</a:t>
            </a:r>
            <a:endParaRPr lang="ar-SA" sz="2600" dirty="0"/>
          </a:p>
        </p:txBody>
      </p:sp>
      <p:sp>
        <p:nvSpPr>
          <p:cNvPr id="28" name="Text 25"/>
          <p:cNvSpPr txBox="1"/>
          <p:nvPr/>
        </p:nvSpPr>
        <p:spPr>
          <a:xfrm>
            <a:off x="56692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house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065008" y="3741725"/>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attributive adjective</a:t>
            </a:r>
            <a:endParaRPr lang="en-US" sz="1100" dirty="0"/>
          </a:p>
        </p:txBody>
      </p:sp>
      <p:sp>
        <p:nvSpPr>
          <p:cNvPr id="33" name="Text 30"/>
          <p:cNvSpPr txBox="1"/>
          <p:nvPr/>
        </p:nvSpPr>
        <p:spPr>
          <a:xfrm>
            <a:off x="3840480" y="3741725"/>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الْبَيْتُ الْكَبِيرُ</a:t>
            </a:r>
            <a:endParaRPr lang="ar-SA" sz="2600" dirty="0"/>
          </a:p>
        </p:txBody>
      </p:sp>
      <p:sp>
        <p:nvSpPr>
          <p:cNvPr id="34" name="Text 31"/>
          <p:cNvSpPr txBox="1"/>
          <p:nvPr/>
        </p:nvSpPr>
        <p:spPr>
          <a:xfrm>
            <a:off x="56692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large house</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065008" y="4478731"/>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 predicate adjective</a:t>
            </a:r>
            <a:endParaRPr lang="en-US" sz="1100" dirty="0"/>
          </a:p>
        </p:txBody>
      </p:sp>
      <p:sp>
        <p:nvSpPr>
          <p:cNvPr id="37" name="Text 34"/>
          <p:cNvSpPr txBox="1"/>
          <p:nvPr/>
        </p:nvSpPr>
        <p:spPr>
          <a:xfrm>
            <a:off x="3840480" y="4478731"/>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هٰذَا الْبَيْتُ كَبِيرٌ.</a:t>
            </a:r>
            <a:endParaRPr lang="ar-SA" sz="2600" dirty="0"/>
          </a:p>
        </p:txBody>
      </p:sp>
      <p:sp>
        <p:nvSpPr>
          <p:cNvPr id="38" name="Text 35"/>
          <p:cNvSpPr txBox="1"/>
          <p:nvPr/>
        </p:nvSpPr>
        <p:spPr>
          <a:xfrm>
            <a:off x="56692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house is large.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065008" y="5215738"/>
            <a:ext cx="3593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whole indefinite phrase is the predicate</a:t>
            </a:r>
            <a:endParaRPr lang="en-US" sz="1100" dirty="0"/>
          </a:p>
        </p:txBody>
      </p:sp>
      <p:sp>
        <p:nvSpPr>
          <p:cNvPr id="41" name="Text 38"/>
          <p:cNvSpPr txBox="1"/>
          <p:nvPr/>
        </p:nvSpPr>
        <p:spPr>
          <a:xfrm>
            <a:off x="3840480" y="5215738"/>
            <a:ext cx="4023360" cy="682142"/>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هٰذِهِ مَدِينَةٌ جَمِيلَةٌ.</a:t>
            </a:r>
            <a:endParaRPr lang="ar-SA" sz="2600" dirty="0"/>
          </a:p>
        </p:txBody>
      </p:sp>
      <p:sp>
        <p:nvSpPr>
          <p:cNvPr id="42" name="Text 39"/>
          <p:cNvSpPr txBox="1"/>
          <p:nvPr/>
        </p:nvSpPr>
        <p:spPr>
          <a:xfrm>
            <a:off x="56692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This is a beautiful city.</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Three-step reading strategy (website): find the demonstrative → does the noun have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 does the adjective have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42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1B3B6F"/>
                </a:solidFill>
                <a:latin typeface="Calibri" pitchFamily="34" charset="0"/>
                <a:cs typeface="Amiri" pitchFamily="2" charset="-78"/>
              </a:rPr>
              <a:t>GRAMMAR · PART 4 · HUMAN AND NON-HUMAN PLURALS (WEBSITE TABLE) · DEVELOP</a:t>
            </a:r>
            <a:endParaRPr lang="en-US" sz="98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People or things?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الْعَاقِلُ وَغَيْرُ الْعَاقِلِ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Rule</a:t>
            </a:r>
            <a:endParaRPr lang="en-US" sz="1100" dirty="0"/>
          </a:p>
        </p:txBody>
      </p:sp>
      <p:sp>
        <p:nvSpPr>
          <p:cNvPr id="17" name="Text 14"/>
          <p:cNvSpPr txBox="1"/>
          <p:nvPr/>
        </p:nvSpPr>
        <p:spPr>
          <a:xfrm>
            <a:off x="583387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Adjective</a:t>
            </a:r>
            <a:endParaRPr lang="en-US" sz="1100" dirty="0"/>
          </a:p>
        </p:txBody>
      </p:sp>
      <p:sp>
        <p:nvSpPr>
          <p:cNvPr id="18" name="Text 15"/>
          <p:cNvSpPr txBox="1"/>
          <p:nvPr/>
        </p:nvSpPr>
        <p:spPr>
          <a:xfrm>
            <a:off x="32735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Plural noun</a:t>
            </a:r>
            <a:endParaRPr lang="en-US" sz="1100" dirty="0"/>
          </a:p>
        </p:txBody>
      </p:sp>
      <p:sp>
        <p:nvSpPr>
          <p:cNvPr id="19" name="Text 16"/>
          <p:cNvSpPr txBox="1"/>
          <p:nvPr/>
        </p:nvSpPr>
        <p:spPr>
          <a:xfrm>
            <a:off x="53035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Type</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adjective</a:t>
            </a:r>
            <a:endParaRPr lang="en-US" sz="1100" dirty="0"/>
          </a:p>
        </p:txBody>
      </p:sp>
      <p:sp>
        <p:nvSpPr>
          <p:cNvPr id="22" name="Text 19"/>
          <p:cNvSpPr txBox="1"/>
          <p:nvPr/>
        </p:nvSpPr>
        <p:spPr>
          <a:xfrm>
            <a:off x="585216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الْمَاهِرُونَ</a:t>
            </a:r>
            <a:endParaRPr lang="ar-SA" sz="2400" dirty="0"/>
          </a:p>
        </p:txBody>
      </p:sp>
      <p:sp>
        <p:nvSpPr>
          <p:cNvPr id="23" name="Text 20"/>
          <p:cNvSpPr txBox="1"/>
          <p:nvPr/>
        </p:nvSpPr>
        <p:spPr>
          <a:xfrm>
            <a:off x="3291840" y="2267712"/>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الْمُعَلِّمُونَ</a:t>
            </a:r>
            <a:endParaRPr lang="ar-SA" sz="2400" dirty="0"/>
          </a:p>
        </p:txBody>
      </p:sp>
      <p:sp>
        <p:nvSpPr>
          <p:cNvPr id="24" name="Text 21"/>
          <p:cNvSpPr txBox="1"/>
          <p:nvPr/>
        </p:nvSpPr>
        <p:spPr>
          <a:xfrm>
            <a:off x="566928" y="2267712"/>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 masculine / mixed</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plural adjective</a:t>
            </a:r>
            <a:endParaRPr lang="en-US" sz="1100" dirty="0"/>
          </a:p>
        </p:txBody>
      </p:sp>
      <p:sp>
        <p:nvSpPr>
          <p:cNvPr id="29" name="Text 26"/>
          <p:cNvSpPr txBox="1"/>
          <p:nvPr/>
        </p:nvSpPr>
        <p:spPr>
          <a:xfrm>
            <a:off x="585216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الْمَاهِرَاتُ</a:t>
            </a:r>
            <a:endParaRPr lang="ar-SA" sz="2400" dirty="0"/>
          </a:p>
        </p:txBody>
      </p:sp>
      <p:sp>
        <p:nvSpPr>
          <p:cNvPr id="30" name="Text 27"/>
          <p:cNvSpPr txBox="1"/>
          <p:nvPr/>
        </p:nvSpPr>
        <p:spPr>
          <a:xfrm>
            <a:off x="3291840" y="300471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الْمُعَلِّمَاتُ</a:t>
            </a:r>
            <a:endParaRPr lang="ar-SA" sz="2400" dirty="0"/>
          </a:p>
        </p:txBody>
      </p:sp>
      <p:sp>
        <p:nvSpPr>
          <p:cNvPr id="31" name="Text 28"/>
          <p:cNvSpPr txBox="1"/>
          <p:nvPr/>
        </p:nvSpPr>
        <p:spPr>
          <a:xfrm>
            <a:off x="566928" y="300471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 feminine</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 adjective</a:t>
            </a:r>
            <a:endParaRPr lang="en-US" sz="1100" dirty="0"/>
          </a:p>
        </p:txBody>
      </p:sp>
      <p:sp>
        <p:nvSpPr>
          <p:cNvPr id="36" name="Text 33"/>
          <p:cNvSpPr txBox="1"/>
          <p:nvPr/>
        </p:nvSpPr>
        <p:spPr>
          <a:xfrm>
            <a:off x="585216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السَّرِيعَةُ</a:t>
            </a:r>
            <a:endParaRPr lang="ar-SA" sz="2400" dirty="0"/>
          </a:p>
        </p:txBody>
      </p:sp>
      <p:sp>
        <p:nvSpPr>
          <p:cNvPr id="37" name="Text 34"/>
          <p:cNvSpPr txBox="1"/>
          <p:nvPr/>
        </p:nvSpPr>
        <p:spPr>
          <a:xfrm>
            <a:off x="3291840" y="3741725"/>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السَّيَّارَاتُ</a:t>
            </a:r>
            <a:endParaRPr lang="ar-SA" sz="2400" dirty="0"/>
          </a:p>
        </p:txBody>
      </p:sp>
      <p:sp>
        <p:nvSpPr>
          <p:cNvPr id="38" name="Text 35"/>
          <p:cNvSpPr txBox="1"/>
          <p:nvPr/>
        </p:nvSpPr>
        <p:spPr>
          <a:xfrm>
            <a:off x="566928" y="3741725"/>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feminine singular adjective</a:t>
            </a:r>
            <a:endParaRPr lang="en-US" sz="1100" dirty="0"/>
          </a:p>
        </p:txBody>
      </p:sp>
      <p:sp>
        <p:nvSpPr>
          <p:cNvPr id="43" name="Text 40"/>
          <p:cNvSpPr txBox="1"/>
          <p:nvPr/>
        </p:nvSpPr>
        <p:spPr>
          <a:xfrm>
            <a:off x="585216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الْكَبِيرَةُ</a:t>
            </a:r>
            <a:endParaRPr lang="ar-SA" sz="2400" dirty="0"/>
          </a:p>
        </p:txBody>
      </p:sp>
      <p:sp>
        <p:nvSpPr>
          <p:cNvPr id="44" name="Text 41"/>
          <p:cNvSpPr txBox="1"/>
          <p:nvPr/>
        </p:nvSpPr>
        <p:spPr>
          <a:xfrm>
            <a:off x="3291840" y="4478731"/>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الْمَدَارِسُ</a:t>
            </a:r>
            <a:endParaRPr lang="ar-SA" sz="2400" dirty="0"/>
          </a:p>
        </p:txBody>
      </p:sp>
      <p:sp>
        <p:nvSpPr>
          <p:cNvPr id="45" name="Text 42"/>
          <p:cNvSpPr txBox="1"/>
          <p:nvPr/>
        </p:nvSpPr>
        <p:spPr>
          <a:xfrm>
            <a:off x="566928" y="4478731"/>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non-human (broken plural)</a:t>
            </a:r>
            <a:endParaRPr lang="en-US" sz="1100" dirty="0"/>
          </a:p>
        </p:txBody>
      </p:sp>
      <p:sp>
        <p:nvSpPr>
          <p:cNvPr id="46" name="Shape 4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7" name="Text 44"/>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plural adjective for people</a:t>
            </a:r>
            <a:endParaRPr lang="en-US" sz="1100" dirty="0"/>
          </a:p>
        </p:txBody>
      </p:sp>
      <p:sp>
        <p:nvSpPr>
          <p:cNvPr id="48" name="Text 45"/>
          <p:cNvSpPr txBox="1"/>
          <p:nvPr/>
        </p:nvSpPr>
        <p:spPr>
          <a:xfrm>
            <a:off x="585216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صِغَارٌ</a:t>
            </a:r>
            <a:endParaRPr lang="ar-SA" sz="2400" dirty="0"/>
          </a:p>
        </p:txBody>
      </p:sp>
      <p:sp>
        <p:nvSpPr>
          <p:cNvPr id="49" name="Text 46"/>
          <p:cNvSpPr txBox="1"/>
          <p:nvPr/>
        </p:nvSpPr>
        <p:spPr>
          <a:xfrm>
            <a:off x="3291840" y="5215738"/>
            <a:ext cx="23774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أَطْفَالٌ</a:t>
            </a:r>
            <a:endParaRPr lang="ar-SA" sz="2400" dirty="0"/>
          </a:p>
        </p:txBody>
      </p:sp>
      <p:sp>
        <p:nvSpPr>
          <p:cNvPr id="50" name="Text 47"/>
          <p:cNvSpPr txBox="1"/>
          <p:nvPr/>
        </p:nvSpPr>
        <p:spPr>
          <a:xfrm>
            <a:off x="566928" y="5215738"/>
            <a:ext cx="256032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human (broken plural)</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Do not confuse form with meaning (website): </a:t>
            </a:r>
            <a:pPr algn="l" indent="0" marL="0">
              <a:buNone/>
            </a:pPr>
            <a:r>
              <a:rPr lang="ar-SA" altLang="en-US" sz="1500" b="1" dirty="0">
                <a:solidFill>
                  <a:srgbClr val="1B3B6F"/>
                </a:solidFill>
                <a:latin typeface="Amiri" pitchFamily="2" charset="-78"/>
                <a:ea typeface="Amiri" pitchFamily="2" charset="-78"/>
                <a:cs typeface="Amiri" pitchFamily="2" charset="-78"/>
              </a:rPr>
              <a:t>أَطْفَالٌ</a:t>
            </a:r>
            <a:pPr algn="l" indent="0" marL="0">
              <a:buNone/>
            </a:pPr>
            <a:r>
              <a:rPr lang="en-US" sz="1150" b="1" dirty="0">
                <a:solidFill>
                  <a:srgbClr val="1B3B6F"/>
                </a:solidFill>
                <a:latin typeface="Calibri" pitchFamily="34" charset="0"/>
                <a:cs typeface="Amiri" pitchFamily="2" charset="-78"/>
              </a:rPr>
              <a:t> are people; </a:t>
            </a:r>
            <a:pPr algn="l" indent="0" marL="0">
              <a:buNone/>
            </a:pPr>
            <a:r>
              <a:rPr lang="ar-SA" altLang="en-US" sz="1500" b="1" dirty="0">
                <a:solidFill>
                  <a:srgbClr val="1B3B6F"/>
                </a:solidFill>
                <a:latin typeface="Amiri" pitchFamily="2" charset="-78"/>
                <a:ea typeface="Amiri" pitchFamily="2" charset="-78"/>
                <a:cs typeface="Amiri" pitchFamily="2" charset="-78"/>
              </a:rPr>
              <a:t>مَدَارِسُ</a:t>
            </a:r>
            <a:pPr algn="l" indent="0" marL="0">
              <a:buNone/>
            </a:pPr>
            <a:r>
              <a:rPr lang="en-US" sz="1150" b="1" dirty="0">
                <a:solidFill>
                  <a:srgbClr val="1B3B6F"/>
                </a:solidFill>
                <a:latin typeface="Calibri" pitchFamily="34" charset="0"/>
                <a:cs typeface="Amiri" pitchFamily="2" charset="-78"/>
              </a:rPr>
              <a:t> are things.</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42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dirty="0">
                <a:solidFill>
                  <a:srgbClr val="1B3B6F"/>
                </a:solidFill>
                <a:latin typeface="Calibri" pitchFamily="34" charset="0"/>
                <a:cs typeface="Amiri" pitchFamily="2" charset="-78"/>
              </a:rPr>
              <a:t>GRAMMAR · PART 5 · DEFINITE WITHOUT </a:t>
            </a:r>
            <a:pPr algn="l" indent="0" marL="0">
              <a:buNone/>
            </a:pPr>
            <a:r>
              <a:rPr lang="ar-SA" altLang="en-US" sz="1300" b="1" dirty="0">
                <a:solidFill>
                  <a:srgbClr val="1B3B6F"/>
                </a:solidFill>
                <a:latin typeface="Amiri" pitchFamily="2" charset="-78"/>
                <a:ea typeface="Amiri" pitchFamily="2" charset="-78"/>
                <a:cs typeface="Amiri" pitchFamily="2" charset="-78"/>
              </a:rPr>
              <a:t>الـ</a:t>
            </a:r>
            <a:pPr algn="l" indent="0" marL="0">
              <a:buNone/>
            </a:pPr>
            <a:r>
              <a:rPr lang="en-US" sz="1000" b="1" dirty="0">
                <a:solidFill>
                  <a:srgbClr val="1B3B6F"/>
                </a:solidFill>
                <a:latin typeface="Calibri" pitchFamily="34" charset="0"/>
                <a:cs typeface="Amiri" pitchFamily="2" charset="-78"/>
              </a:rPr>
              <a:t> (WEBSITE SECTION) · STRETCH</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Definite — but no </a:t>
            </a:r>
            <a:pPr algn="l" indent="0" marL="0">
              <a:buNone/>
            </a:pPr>
            <a:r>
              <a:rPr lang="ar-SA" altLang="en-US" sz="3650" b="1" dirty="0">
                <a:solidFill>
                  <a:srgbClr val="1B3B6F"/>
                </a:solidFill>
                <a:latin typeface="Amiri" pitchFamily="2" charset="-78"/>
                <a:ea typeface="Amiri" pitchFamily="2" charset="-78"/>
                <a:cs typeface="Amiri" pitchFamily="2" charset="-78"/>
              </a:rPr>
              <a:t>الـ</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الْمَعْرِفَةُ بِغَيْرِ «الـ»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68580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6858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SUFFIX</a:t>
            </a:r>
            <a:endParaRPr lang="en-US" sz="850" dirty="0"/>
          </a:p>
        </p:txBody>
      </p:sp>
      <p:sp>
        <p:nvSpPr>
          <p:cNvPr id="18" name="Text 15"/>
          <p:cNvSpPr txBox="1"/>
          <p:nvPr/>
        </p:nvSpPr>
        <p:spPr>
          <a:xfrm>
            <a:off x="8964168" y="1874520"/>
            <a:ext cx="26304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كِتَابِي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كِتَابِي الْجَدِيدُ</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new book — </a:t>
            </a:r>
            <a:pPr algn="ctr" indent="0" marL="0">
              <a:buNone/>
            </a:pPr>
            <a:r>
              <a:rPr lang="ar-SA" altLang="en-US" sz="1550" dirty="0">
                <a:solidFill>
                  <a:srgbClr val="5A6472"/>
                </a:solidFill>
                <a:latin typeface="Amiri" pitchFamily="2" charset="-78"/>
                <a:ea typeface="Amiri" pitchFamily="2" charset="-78"/>
                <a:cs typeface="Amiri" pitchFamily="2" charset="-78"/>
              </a:rPr>
              <a:t>ـِي</a:t>
            </a:r>
            <a:pPr algn="ctr" indent="0" marL="0">
              <a:buNone/>
            </a:pPr>
            <a:r>
              <a:rPr lang="en-US" sz="1200" i="1" dirty="0">
                <a:solidFill>
                  <a:srgbClr val="5A6472"/>
                </a:solidFill>
                <a:latin typeface="Calibri" pitchFamily="34" charset="0"/>
                <a:cs typeface="Amiri" pitchFamily="2" charset="-78"/>
              </a:rPr>
              <a:t> makes the noun definite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كِتَابِي جَدِيدٌ</a:t>
            </a:r>
            <a:pPr algn="l" indent="0" marL="0">
              <a:buNone/>
            </a:pPr>
            <a:r>
              <a:rPr lang="en-US" sz="1100" dirty="0">
                <a:solidFill>
                  <a:srgbClr val="1F2A37"/>
                </a:solidFill>
                <a:latin typeface="Calibri" pitchFamily="34" charset="0"/>
                <a:cs typeface="Amiri" pitchFamily="2" charset="-78"/>
              </a:rPr>
              <a:t> = My book is new.</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54864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NAME</a:t>
            </a:r>
            <a:endParaRPr lang="en-US" sz="850" dirty="0"/>
          </a:p>
        </p:txBody>
      </p:sp>
      <p:sp>
        <p:nvSpPr>
          <p:cNvPr id="26" name="Text 23"/>
          <p:cNvSpPr txBox="1"/>
          <p:nvPr/>
        </p:nvSpPr>
        <p:spPr>
          <a:xfrm>
            <a:off x="5007864"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مَرْيَمُ</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مَرْيَمُ الْمُجْتَهِدَةُ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hardworking Maryam — a name is definite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مَرْيَمُ مُجْتَهِدَةٌ</a:t>
            </a:r>
            <a:pPr algn="l" indent="0" marL="0">
              <a:buNone/>
            </a:pPr>
            <a:r>
              <a:rPr lang="en-US" sz="1100" dirty="0">
                <a:solidFill>
                  <a:srgbClr val="1F2A37"/>
                </a:solidFill>
                <a:latin typeface="Calibri" pitchFamily="34" charset="0"/>
                <a:cs typeface="Amiri" pitchFamily="2" charset="-78"/>
              </a:rPr>
              <a:t> = Maryam is hardworking.</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IḌĀFA</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بَابُ الْمَدْرَسَةِ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بَابُ الْمَدْرَسَةِ الْجَدِيدُ</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school’s new door — masculine → describes </a:t>
            </a:r>
            <a:pPr algn="ctr" indent="0" marL="0">
              <a:buNone/>
            </a:pPr>
            <a:r>
              <a:rPr lang="ar-SA" altLang="en-US" sz="1550" dirty="0">
                <a:solidFill>
                  <a:srgbClr val="5A6472"/>
                </a:solidFill>
                <a:latin typeface="Amiri" pitchFamily="2" charset="-78"/>
                <a:ea typeface="Amiri" pitchFamily="2" charset="-78"/>
                <a:cs typeface="Amiri" pitchFamily="2" charset="-78"/>
              </a:rPr>
              <a:t>بَابُ</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الْجَدِيدَةِ</a:t>
            </a:r>
            <a:pPr algn="l" indent="0" marL="0">
              <a:buNone/>
            </a:pPr>
            <a:r>
              <a:rPr lang="en-US" sz="1100" dirty="0">
                <a:solidFill>
                  <a:srgbClr val="1F2A37"/>
                </a:solidFill>
                <a:latin typeface="Calibri" pitchFamily="34" charset="0"/>
                <a:cs typeface="Amiri" pitchFamily="2" charset="-78"/>
              </a:rPr>
              <a:t> would describe the school.</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error clinic: a suffix and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never sit on the same noun.</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كِتَابِي الْمُفِيدُ</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300" b="1" dirty="0">
                <a:solidFill>
                  <a:srgbClr val="B83227"/>
                </a:solidFill>
                <a:latin typeface="Amiri" pitchFamily="2" charset="-78"/>
                <a:ea typeface="Amiri" pitchFamily="2" charset="-78"/>
                <a:cs typeface="Amiri" pitchFamily="2" charset="-78"/>
              </a:rPr>
              <a:t>الْكِتَابِي الْمُفِيدُ</a:t>
            </a:r>
            <a:endParaRPr lang="ar-SA" sz="23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42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مَدْرَسَةٌ ...</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الْجَدِيدَةُ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جَدِيدَةٌ</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الْمُعَلِّمُ ...</a:t>
            </a:r>
            <a:endParaRPr lang="ar-SA" sz="15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الْمَاهِرُ</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مَاهِرٌ</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الْمَاهِرَةُ</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7" name="Text 44"/>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طَالِبَتَانِ ...</a:t>
            </a:r>
            <a:endParaRPr lang="ar-SA" sz="1500" dirty="0"/>
          </a:p>
        </p:txBody>
      </p:sp>
      <p:sp>
        <p:nvSpPr>
          <p:cNvPr id="48" name="Shape 45"/>
          <p:cNvSpPr/>
          <p:nvPr/>
        </p:nvSpPr>
        <p:spPr>
          <a:xfrm>
            <a:off x="640080" y="48737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0" name="Text 47"/>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مُجْتَهِدَانِ</a:t>
            </a:r>
            <a:endParaRPr lang="ar-SA" sz="2050" dirty="0"/>
          </a:p>
        </p:txBody>
      </p:sp>
      <p:sp>
        <p:nvSpPr>
          <p:cNvPr id="51" name="Shape 48"/>
          <p:cNvSpPr/>
          <p:nvPr/>
        </p:nvSpPr>
        <p:spPr>
          <a:xfrm>
            <a:off x="640080" y="53309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3" name="Text 50"/>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مُجْتَهِدَتَانِ</a:t>
            </a:r>
            <a:endParaRPr lang="ar-SA" sz="2050" dirty="0"/>
          </a:p>
        </p:txBody>
      </p:sp>
      <p:sp>
        <p:nvSpPr>
          <p:cNvPr id="54" name="Shape 51"/>
          <p:cNvSpPr/>
          <p:nvPr/>
        </p:nvSpPr>
        <p:spPr>
          <a:xfrm>
            <a:off x="640080" y="5788152"/>
            <a:ext cx="256032" cy="256032"/>
          </a:xfrm>
          <a:prstGeom prst="ellipse">
            <a:avLst/>
          </a:prstGeom>
          <a:solidFill>
            <a:srgbClr val="F4F1EA"/>
          </a:solidFill>
          <a:ln w="12700">
            <a:solidFill>
              <a:srgbClr val="F4F1EA"/>
            </a:solidFill>
            <a:prstDash val="solid"/>
          </a:ln>
        </p:spPr>
      </p:sp>
      <p:sp>
        <p:nvSpPr>
          <p:cNvPr id="55" name="Text 5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6" name="Text 53"/>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الْمُجْتَهِدَتَانِ</a:t>
            </a:r>
            <a:endParaRPr lang="ar-SA" sz="2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internally inconsistent?</a:t>
            </a:r>
            <a:endParaRPr lang="en-US" sz="125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 مُجْتَهِدَةٌ</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سَيَّارَةٌ سَرِيعَةٌ</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 الْجَمِيلُ</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42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مَدْرَسَةٌ ...</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جَدِيدٌ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الْجَدِيدَةُ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جَدِيدَةٌ</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feminine, singular and indefinite.</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الْمُعَلِّمُ ...</a:t>
            </a:r>
            <a:endParaRPr lang="ar-SA" sz="15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الْمَاهِرُ</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مَاهِرٌ</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الْمَاهِرَةُ</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Inside one phrase, a masculine definite noun takes a masculine definite adjective.</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1" name="Text 48"/>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طَالِبَتَانِ ...</a:t>
            </a:r>
            <a:endParaRPr lang="ar-SA" sz="1500" dirty="0"/>
          </a:p>
        </p:txBody>
      </p:sp>
      <p:sp>
        <p:nvSpPr>
          <p:cNvPr id="52" name="Shape 49"/>
          <p:cNvSpPr/>
          <p:nvPr/>
        </p:nvSpPr>
        <p:spPr>
          <a:xfrm>
            <a:off x="640080" y="4831080"/>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4" name="Text 51"/>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مُجْتَهِدَانِ</a:t>
            </a:r>
            <a:endParaRPr lang="ar-SA" sz="1700" dirty="0"/>
          </a:p>
        </p:txBody>
      </p:sp>
      <p:sp>
        <p:nvSpPr>
          <p:cNvPr id="55" name="Shape 52"/>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202936"/>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8" name="Text 55"/>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مُجْتَهِدَتَانِ</a:t>
            </a:r>
            <a:endParaRPr lang="ar-SA" sz="1700" dirty="0"/>
          </a:p>
        </p:txBody>
      </p:sp>
      <p:sp>
        <p:nvSpPr>
          <p:cNvPr id="59" name="Shape 56"/>
          <p:cNvSpPr/>
          <p:nvPr/>
        </p:nvSpPr>
        <p:spPr>
          <a:xfrm>
            <a:off x="640080" y="5574792"/>
            <a:ext cx="256032" cy="256032"/>
          </a:xfrm>
          <a:prstGeom prst="ellipse">
            <a:avLst/>
          </a:prstGeom>
          <a:solidFill>
            <a:srgbClr val="C9CED6"/>
          </a:solidFill>
          <a:ln w="12700">
            <a:solidFill>
              <a:srgbClr val="C9CED6"/>
            </a:solidFill>
            <a:prstDash val="solid"/>
          </a:ln>
        </p:spPr>
      </p:sp>
      <p:sp>
        <p:nvSpPr>
          <p:cNvPr id="60" name="Text 57"/>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1" name="Text 58"/>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الْمُجْتَهِدَتَانِ</a:t>
            </a:r>
            <a:endParaRPr lang="ar-SA" sz="1700" dirty="0"/>
          </a:p>
        </p:txBody>
      </p:sp>
      <p:sp>
        <p:nvSpPr>
          <p:cNvPr id="62" name="Text 59"/>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feminine dual and indefinite, so the adjective matches all three features.</a:t>
            </a:r>
            <a:endParaRPr lang="en-US" sz="1050" dirty="0"/>
          </a:p>
        </p:txBody>
      </p:sp>
      <p:sp>
        <p:nvSpPr>
          <p:cNvPr id="63" name="Shape 60"/>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6313932"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6" name="Text 63"/>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internally inconsistent?</a:t>
            </a:r>
            <a:endParaRPr lang="en-US" sz="125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طَالِبٌ مُجْتَهِدَةٌ</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سَيَّارَةٌ سَرِيعَةٌ</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 الْجَمِيلُ</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طَالِب</a:t>
            </a:r>
            <a:pPr algn="l" indent="0" marL="0">
              <a:buNone/>
            </a:pPr>
            <a:r>
              <a:rPr lang="en-US" sz="1050" i="1" dirty="0">
                <a:solidFill>
                  <a:srgbClr val="8A6D1E"/>
                </a:solidFill>
                <a:latin typeface="Calibri" pitchFamily="34" charset="0"/>
                <a:cs typeface="Amiri" pitchFamily="2" charset="-78"/>
              </a:rPr>
              <a:t> is masculine but </a:t>
            </a:r>
            <a:pPr algn="l" indent="0" marL="0">
              <a:buNone/>
            </a:pPr>
            <a:r>
              <a:rPr lang="ar-SA" altLang="en-US" sz="1350" dirty="0">
                <a:solidFill>
                  <a:srgbClr val="8A6D1E"/>
                </a:solidFill>
                <a:latin typeface="Amiri" pitchFamily="2" charset="-78"/>
                <a:ea typeface="Amiri" pitchFamily="2" charset="-78"/>
                <a:cs typeface="Amiri" pitchFamily="2" charset="-78"/>
              </a:rPr>
              <a:t>مُجْتَهِدَة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42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Watch me build a phrase, then a sentence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Noun</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مَدْرَسَةٌ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Feminine, singular, indefinite.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Make it known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الْمَدْرَسَةُ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The particular school.</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Phrase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الْمَدْرَسَةُ الْجَدِيدَةُ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copies: f +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Sentence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الْمَدْرَسَةُ الْجَدِيدَةُ كَبِيرَةٌ.</a:t>
            </a:r>
            <a:endParaRPr lang="ar-SA" sz="22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Predicate: no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PHRASE (both definite)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PREDICATE (indefinite)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هٰذِهِ </a:t>
            </a:r>
            <a:pPr rtl="1" algn="r" indent="0" marL="0">
              <a:buNone/>
            </a:pPr>
            <a:r>
              <a:rPr lang="ar-SA" altLang="en-US" sz="2600" b="1" dirty="0">
                <a:solidFill>
                  <a:srgbClr val="0E7C86"/>
                </a:solidFill>
                <a:latin typeface="Amiri" pitchFamily="2" charset="-78"/>
                <a:ea typeface="Amiri" pitchFamily="2" charset="-78"/>
                <a:cs typeface="Amiri" pitchFamily="2" charset="-78"/>
              </a:rPr>
              <a:t>مَدْرَسَتِي الْجَدِيدَةُ</a:t>
            </a:r>
            <a:pPr rtl="1" algn="r" indent="0" marL="0">
              <a:buNone/>
            </a:pPr>
            <a:r>
              <a:rPr lang="ar-SA" altLang="en-US" sz="2600" b="1" dirty="0">
                <a:solidFill>
                  <a:srgbClr val="1B3B6F"/>
                </a:solidFill>
                <a:latin typeface="Amiri" pitchFamily="2" charset="-78"/>
                <a:ea typeface="Amiri" pitchFamily="2" charset="-78"/>
                <a:cs typeface="Amiri" pitchFamily="2" charset="-78"/>
              </a:rPr>
              <a:t>. الْمَدْرَسَةُ </a:t>
            </a:r>
            <a:pPr rtl="1" algn="r" indent="0" marL="0">
              <a:buNone/>
            </a:pPr>
            <a:r>
              <a:rPr lang="ar-SA" altLang="en-US" sz="2600" b="1" dirty="0">
                <a:solidFill>
                  <a:srgbClr val="D6336C"/>
                </a:solidFill>
                <a:latin typeface="Amiri" pitchFamily="2" charset="-78"/>
                <a:ea typeface="Amiri" pitchFamily="2" charset="-78"/>
                <a:cs typeface="Amiri" pitchFamily="2" charset="-78"/>
              </a:rPr>
              <a:t>كَبِيرَةٌ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وَحَدِيثَةٌ</a:t>
            </a:r>
            <a:pPr rtl="1" algn="r" indent="0" marL="0">
              <a:buNone/>
            </a:pPr>
            <a:r>
              <a:rPr lang="ar-SA" altLang="en-US" sz="2600" b="1" dirty="0">
                <a:solidFill>
                  <a:srgbClr val="1B3B6F"/>
                </a:solidFill>
                <a:latin typeface="Amiri" pitchFamily="2" charset="-78"/>
                <a:ea typeface="Amiri" pitchFamily="2" charset="-78"/>
                <a:cs typeface="Amiri" pitchFamily="2" charset="-78"/>
              </a:rPr>
              <a:t>، وَفِيهَا </a:t>
            </a:r>
            <a:pPr rtl="1" algn="r" indent="0" marL="0">
              <a:buNone/>
            </a:pPr>
            <a:r>
              <a:rPr lang="ar-SA" altLang="en-US" sz="2600" b="1" dirty="0">
                <a:solidFill>
                  <a:srgbClr val="0E7C86"/>
                </a:solidFill>
                <a:latin typeface="Amiri" pitchFamily="2" charset="-78"/>
                <a:ea typeface="Amiri" pitchFamily="2" charset="-78"/>
                <a:cs typeface="Amiri" pitchFamily="2" charset="-78"/>
              </a:rPr>
              <a:t>مَكْتَبَةٌ هَادِئَةٌ</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This is my new school. The school is big and modern, and it has a quiet library.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42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الْكِتَابُ الْمُفِيدُ</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useful book</a:t>
            </a:r>
            <a:endParaRPr lang="en-US" sz="1250" dirty="0"/>
          </a:p>
          <a:p>
            <a:pPr indent="0" marL="0">
              <a:buNone/>
            </a:pPr>
            <a:r>
              <a:rPr lang="en-US" sz="1050" i="1" dirty="0">
                <a:solidFill>
                  <a:srgbClr val="8A6D1E"/>
                </a:solidFill>
                <a:latin typeface="Calibri" pitchFamily="34" charset="0"/>
                <a:cs typeface="Amiri" pitchFamily="2" charset="-78"/>
              </a:rPr>
              <a:t>Demonstrative phrase + attributive adjective.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هٰذَا الْكِتَابُ مُفِيدٌ.</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This book is useful.</a:t>
            </a:r>
            <a:endParaRPr lang="en-US" sz="1250" dirty="0"/>
          </a:p>
          <a:p>
            <a:pPr indent="0" marL="0">
              <a:buNone/>
            </a:pPr>
            <a:r>
              <a:rPr lang="en-US" sz="1050" i="1" dirty="0">
                <a:solidFill>
                  <a:srgbClr val="8A6D1E"/>
                </a:solidFill>
                <a:latin typeface="Calibri" pitchFamily="34" charset="0"/>
                <a:cs typeface="Amiri" pitchFamily="2" charset="-78"/>
              </a:rPr>
              <a:t>Website speaking studio: now a sentence.</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الْكُتُبُ الْجَدِيدَةُ</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new books</a:t>
            </a:r>
            <a:endParaRPr lang="en-US" sz="1250" dirty="0"/>
          </a:p>
          <a:p>
            <a:pPr indent="0" marL="0">
              <a:buNone/>
            </a:pPr>
            <a:r>
              <a:rPr lang="en-US" sz="1050" i="1" dirty="0">
                <a:solidFill>
                  <a:srgbClr val="8A6D1E"/>
                </a:solidFill>
                <a:latin typeface="Calibri" pitchFamily="34" charset="0"/>
                <a:cs typeface="Amiri" pitchFamily="2" charset="-78"/>
              </a:rPr>
              <a:t>Non-human plural: feminine singular.</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الطُّلَّابُ الْمُجْتَهِدُونَ</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hardworking students</a:t>
            </a:r>
            <a:endParaRPr lang="en-US" sz="1250" dirty="0"/>
          </a:p>
          <a:p>
            <a:pPr indent="0" marL="0">
              <a:buNone/>
            </a:pPr>
            <a:r>
              <a:rPr lang="en-US" sz="1050" i="1" dirty="0">
                <a:solidFill>
                  <a:srgbClr val="8A6D1E"/>
                </a:solidFill>
                <a:latin typeface="Calibri" pitchFamily="34" charset="0"/>
                <a:cs typeface="Amiri" pitchFamily="2" charset="-78"/>
              </a:rPr>
              <a:t>Human plural: plural adjective.</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42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PHRASE OR SENTENCE?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Noun phrase or complete sentence?</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الْكَبِيرُ</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كَبِيرٌ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كِتَابٌ</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الْكِتَابُ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كِتَابِي جَدِيدٌ</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كِتَابِي الْجَدِيدُ</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جَمِيلَةٌ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الْمَدِينَةُ جَمِيلَةٌ</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Noun phrase</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Complete sentence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42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Noun phrase</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الْكَبِيرُ</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الْكِتَابُ</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كِتَابِي الْجَدِيدُ</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مَدِينَةٌ جَمِيلَةٌ</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Complete sentence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الْبَيْتُ كَبِيرٌ</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هٰذَا كِتَابٌ</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كِتَابِي جَدِيدٌ</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الْمَدِينَةُ جَمِيلَةٌ</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42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WEBSITE LISTENING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hear the relationship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ea typeface="Amiri" pitchFamily="2" charset="-78"/>
                <a:cs typeface="Amiri" pitchFamily="2" charset="-78"/>
              </a:rPr>
              <a:t>شَقَّةٍ صَغِيرَةٍ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small flat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small flat</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flat is small.</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ea typeface="Amiri" pitchFamily="2" charset="-78"/>
                <a:cs typeface="Amiri" pitchFamily="2" charset="-78"/>
              </a:rPr>
              <a:t>الشَّقَّةَ مُرِيحَةٌ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comfortable flat</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comfortable flat</a:t>
            </a:r>
            <a:endParaRPr lang="en-US" sz="12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flat is comfortable.</a:t>
            </a:r>
            <a:endParaRPr lang="en-US" sz="12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نَوَافِذُهَا الْكَبِيرَةُ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windows are large.</a:t>
            </a:r>
            <a:endParaRPr lang="en-US" sz="12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 windows</a:t>
            </a:r>
            <a:endParaRPr lang="en-US" sz="12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her large windows</a:t>
            </a:r>
            <a:endParaRPr lang="en-US" sz="1250" dirty="0"/>
          </a:p>
        </p:txBody>
      </p:sp>
      <p:sp>
        <p:nvSpPr>
          <p:cNvPr id="54" name="Shape 51"/>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56" name="Text 53"/>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57" name="Text 54"/>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Ask: does the adjective IDENTIFY the noun, or COMPLETE a statement?</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42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شَقَّةٍ صَغِيرَةٍ، وَلٰكِنَّ الشَّقَّةَ مُرِيحَةٌ.</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live in a small flat, but the flat is comfortable.</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غُرْفَتِي الْجَدِيدَةُ مُضِيئَةٌ،</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new room is bright,</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وَنَوَافِذُهَا الْكَبِيرَةُ تُطِلُّ عَلَى حَدِيقَةٍ جَمِيلَةٍ.</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and its large windows overlook a beautiful garden.</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الْحَدِيقَةِ أَشْجَارٌ طَوِيلَةٌ وَزُهُورٌ مُلَوَّنَةٌ.</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garden there are tall trees and colourful flowers.</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42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ea typeface="Amiri" pitchFamily="2" charset="-78"/>
                <a:cs typeface="Amiri" pitchFamily="2" charset="-78"/>
              </a:rPr>
              <a:t>شَقَّةٍ صَغِيرَةٍ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19" name="Shape 16"/>
          <p:cNvSpPr/>
          <p:nvPr/>
        </p:nvSpPr>
        <p:spPr>
          <a:xfrm>
            <a:off x="548640" y="2453640"/>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small flat</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small flat</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flat is small.</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indefinite and genitive after </a:t>
            </a:r>
            <a:pPr algn="l" indent="0" marL="0">
              <a:buNone/>
            </a:pPr>
            <a:r>
              <a:rPr lang="ar-SA" altLang="en-US" sz="1350" dirty="0">
                <a:solidFill>
                  <a:srgbClr val="8A6D1E"/>
                </a:solidFill>
                <a:latin typeface="Amiri" pitchFamily="2" charset="-78"/>
                <a:ea typeface="Amiri" pitchFamily="2" charset="-78"/>
                <a:cs typeface="Amiri" pitchFamily="2" charset="-78"/>
              </a:rPr>
              <a:t>فِي</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listening, </a:t>
            </a:r>
            <a:pPr algn="l" indent="0" marL="0">
              <a:buNone/>
            </a:pPr>
            <a:r>
              <a:rPr lang="ar-SA" altLang="en-US" sz="1650" b="1" dirty="0">
                <a:solidFill>
                  <a:srgbClr val="1B3B6F"/>
                </a:solidFill>
                <a:latin typeface="Amiri" pitchFamily="2" charset="-78"/>
                <a:ea typeface="Amiri" pitchFamily="2" charset="-78"/>
                <a:cs typeface="Amiri" pitchFamily="2" charset="-78"/>
              </a:rPr>
              <a:t>الشَّقَّةَ مُرِيحَةٌ</a:t>
            </a:r>
            <a:pPr algn="l" indent="0" marL="0">
              <a:buNone/>
            </a:pPr>
            <a:r>
              <a:rPr lang="en-US" sz="1250" b="1" dirty="0">
                <a:solidFill>
                  <a:srgbClr val="1B3B6F"/>
                </a:solidFill>
                <a:latin typeface="Calibri" pitchFamily="34" charset="0"/>
                <a:cs typeface="Amiri" pitchFamily="2" charset="-78"/>
              </a:rPr>
              <a:t> means:</a:t>
            </a:r>
            <a:endParaRPr lang="en-US" sz="1250" dirty="0"/>
          </a:p>
        </p:txBody>
      </p:sp>
      <p:sp>
        <p:nvSpPr>
          <p:cNvPr id="34" name="Shape 31"/>
          <p:cNvSpPr/>
          <p:nvPr/>
        </p:nvSpPr>
        <p:spPr>
          <a:xfrm>
            <a:off x="6368796"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comfortable flat</a:t>
            </a:r>
            <a:endParaRPr lang="en-US" sz="1250" dirty="0"/>
          </a:p>
        </p:txBody>
      </p:sp>
      <p:sp>
        <p:nvSpPr>
          <p:cNvPr id="37" name="Shape 34"/>
          <p:cNvSpPr/>
          <p:nvPr/>
        </p:nvSpPr>
        <p:spPr>
          <a:xfrm>
            <a:off x="6368796"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comfortable flat</a:t>
            </a:r>
            <a:endParaRPr lang="en-US" sz="1250" dirty="0"/>
          </a:p>
        </p:txBody>
      </p:sp>
      <p:sp>
        <p:nvSpPr>
          <p:cNvPr id="40" name="Shape 37"/>
          <p:cNvSpPr/>
          <p:nvPr/>
        </p:nvSpPr>
        <p:spPr>
          <a:xfrm>
            <a:off x="6277356" y="3197352"/>
            <a:ext cx="5362956"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6368796"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flat is comfortable.</a:t>
            </a:r>
            <a:endParaRPr lang="en-US" sz="125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noun is definite; the adjective is an indefinite predicate.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نَوَافِذُهَا الْكَبِيرَةُ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Her windows are large.</a:t>
            </a:r>
            <a:endParaRPr lang="en-US" sz="1250" dirty="0"/>
          </a:p>
        </p:txBody>
      </p:sp>
      <p:sp>
        <p:nvSpPr>
          <p:cNvPr id="52" name="Shape 49"/>
          <p:cNvSpPr/>
          <p:nvPr/>
        </p:nvSpPr>
        <p:spPr>
          <a:xfrm>
            <a:off x="640080" y="520293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 windows</a:t>
            </a:r>
            <a:endParaRPr lang="en-US" sz="1250" dirty="0"/>
          </a:p>
        </p:txBody>
      </p:sp>
      <p:sp>
        <p:nvSpPr>
          <p:cNvPr id="55" name="Shape 52"/>
          <p:cNvSpPr/>
          <p:nvPr/>
        </p:nvSpPr>
        <p:spPr>
          <a:xfrm>
            <a:off x="548640" y="5538216"/>
            <a:ext cx="5362956"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40080" y="557479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her large windows</a:t>
            </a:r>
            <a:endParaRPr lang="en-US" sz="125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plural noun definite; the non-human plural adjective is feminine singular and definite.</a:t>
            </a:r>
            <a:endParaRPr lang="en-US" sz="1050" dirty="0"/>
          </a:p>
        </p:txBody>
      </p:sp>
      <p:sp>
        <p:nvSpPr>
          <p:cNvPr id="60" name="Shape 57"/>
          <p:cNvSpPr/>
          <p:nvPr/>
        </p:nvSpPr>
        <p:spPr>
          <a:xfrm>
            <a:off x="6185916" y="4151376"/>
            <a:ext cx="5545836"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807708" y="4361688"/>
            <a:ext cx="914400" cy="274320"/>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6807708"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63" name="Text 60"/>
          <p:cNvSpPr txBox="1"/>
          <p:nvPr/>
        </p:nvSpPr>
        <p:spPr>
          <a:xfrm>
            <a:off x="6387084" y="4791456"/>
            <a:ext cx="5180076"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Ask: does the adjective IDENTIFY the noun, or COMPLETE a statement?</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42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مَدْرَسَةٌ الْجَدِيدَةُ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Both definite?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الْكِتَابِي الْمُفِيدُ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ar-SA" altLang="en-US" sz="1700" dirty="0">
                <a:solidFill>
                  <a:srgbClr val="5A6472"/>
                </a:solidFill>
                <a:latin typeface="Amiri" pitchFamily="2" charset="-78"/>
                <a:ea typeface="Amiri" pitchFamily="2" charset="-78"/>
                <a:cs typeface="Amiri" pitchFamily="2" charset="-78"/>
              </a:rPr>
              <a:t>الـ</a:t>
            </a:r>
            <a:pPr algn="l" indent="0" marL="0">
              <a:buNone/>
            </a:pPr>
            <a:r>
              <a:rPr lang="en-US" sz="1300" i="1" dirty="0">
                <a:solidFill>
                  <a:srgbClr val="5A6472"/>
                </a:solidFill>
                <a:latin typeface="Calibri" pitchFamily="34" charset="0"/>
                <a:cs typeface="Amiri" pitchFamily="2" charset="-78"/>
              </a:rPr>
              <a:t> AND a suffix?</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الْكُتُبُ الْجَدِيدَاتُ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People or things?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42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مَدْرَسَةٌ الْجَدِيدَةُ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الْجَدِيدَةُ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and adjective cannot disagree in definiteness.</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الْكِتَابِي الْمُفِيدُ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كِتَابِي الْمُفِيدُ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suffix and </a:t>
            </a:r>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never sit on the same noun.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الْكُتُبُ الْجَدِيدَاتُ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الْكُتُبُ الْجَدِيدَةُ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Non-human plural: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42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WE DO · GUIDED PRACTICE · WEBSITE MINI-CHECK 4 “PLURAL AGREEMENT”</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الْأَوْلَادُ ...</a:t>
            </a:r>
            <a:endParaRPr lang="ar-SA" sz="150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الصَّغِيرُ</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الصَّغِيرَةُ</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الصِّغَارُ</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الْبَنَاتُ ...</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الذَّكِيُّونَ</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الذَّكِيَّاتُ</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الذَّكِيَّةُ</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الْحَقَائِبُ ...</a:t>
            </a:r>
            <a:endParaRPr lang="ar-SA" sz="1500" dirty="0"/>
          </a:p>
        </p:txBody>
      </p:sp>
      <p:sp>
        <p:nvSpPr>
          <p:cNvPr id="50" name="Shape 47"/>
          <p:cNvSpPr/>
          <p:nvPr/>
        </p:nvSpPr>
        <p:spPr>
          <a:xfrm>
            <a:off x="640080" y="48737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الثَّقِيلَاتُ</a:t>
            </a:r>
            <a:endParaRPr lang="ar-SA" sz="2050" dirty="0"/>
          </a:p>
        </p:txBody>
      </p:sp>
      <p:sp>
        <p:nvSpPr>
          <p:cNvPr id="53" name="Shape 50"/>
          <p:cNvSpPr/>
          <p:nvPr/>
        </p:nvSpPr>
        <p:spPr>
          <a:xfrm>
            <a:off x="640080" y="53309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الثَّقِيلَةُ</a:t>
            </a:r>
            <a:endParaRPr lang="ar-SA" sz="2050" dirty="0"/>
          </a:p>
        </p:txBody>
      </p:sp>
      <p:sp>
        <p:nvSpPr>
          <p:cNvPr id="56" name="Shape 53"/>
          <p:cNvSpPr/>
          <p:nvPr/>
        </p:nvSpPr>
        <p:spPr>
          <a:xfrm>
            <a:off x="640080" y="57881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الثَّقِيلُونَ</a:t>
            </a:r>
            <a:endParaRPr lang="ar-SA" sz="2050" dirty="0"/>
          </a:p>
        </p:txBody>
      </p:sp>
      <p:sp>
        <p:nvSpPr>
          <p:cNvPr id="59" name="Shape 56"/>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6313932"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2" name="Text 59"/>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“new schools”.</a:t>
            </a:r>
            <a:endParaRPr lang="en-US" sz="1250" dirty="0"/>
          </a:p>
        </p:txBody>
      </p:sp>
      <p:sp>
        <p:nvSpPr>
          <p:cNvPr id="63" name="Shape 60"/>
          <p:cNvSpPr/>
          <p:nvPr/>
        </p:nvSpPr>
        <p:spPr>
          <a:xfrm>
            <a:off x="6368796"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5" name="Text 6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 جَدِيدُونَ</a:t>
            </a:r>
            <a:endParaRPr lang="ar-SA" sz="2050" dirty="0"/>
          </a:p>
        </p:txBody>
      </p:sp>
      <p:sp>
        <p:nvSpPr>
          <p:cNvPr id="66" name="Shape 63"/>
          <p:cNvSpPr/>
          <p:nvPr/>
        </p:nvSpPr>
        <p:spPr>
          <a:xfrm>
            <a:off x="6368796"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8" name="Text 6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 جَدِيدَاتٌ</a:t>
            </a:r>
            <a:endParaRPr lang="ar-SA" sz="2050" dirty="0"/>
          </a:p>
        </p:txBody>
      </p:sp>
      <p:sp>
        <p:nvSpPr>
          <p:cNvPr id="69" name="Shape 66"/>
          <p:cNvSpPr/>
          <p:nvPr/>
        </p:nvSpPr>
        <p:spPr>
          <a:xfrm>
            <a:off x="6368796" y="5788152"/>
            <a:ext cx="256032" cy="256032"/>
          </a:xfrm>
          <a:prstGeom prst="ellipse">
            <a:avLst/>
          </a:prstGeom>
          <a:solidFill>
            <a:srgbClr val="F4F1EA"/>
          </a:solidFill>
          <a:ln w="12700">
            <a:solidFill>
              <a:srgbClr val="F4F1EA"/>
            </a:solidFill>
            <a:prstDash val="solid"/>
          </a:ln>
        </p:spPr>
      </p:sp>
      <p:sp>
        <p:nvSpPr>
          <p:cNvPr id="70" name="Text 6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1" name="Text 6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مَدَارِسُ جَدِيدَةٌ</a:t>
            </a:r>
            <a:endParaRPr lang="ar-SA" sz="2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42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الْأَوْلَادُ ...</a:t>
            </a:r>
            <a:endParaRPr lang="ar-SA" sz="150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الصَّغِيرُ</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الصَّغِيرَةُ</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الصِّغَارُ</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أَوْلَاد</a:t>
            </a:r>
            <a:pPr algn="l" indent="0" marL="0">
              <a:buNone/>
            </a:pPr>
            <a:r>
              <a:rPr lang="en-US" sz="1050" i="1" dirty="0">
                <a:solidFill>
                  <a:srgbClr val="8A6D1E"/>
                </a:solidFill>
                <a:latin typeface="Calibri" pitchFamily="34" charset="0"/>
                <a:cs typeface="Amiri" pitchFamily="2" charset="-78"/>
              </a:rPr>
              <a:t> refers to humans, so a common plural adjective is used.</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الْبَنَاتُ ...</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الذَّكِيُّونَ</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الذَّكِيَّاتُ</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الذَّكِيَّةُ</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 feminine human plural takes a feminine plural adjective.</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2" name="Text 49"/>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53" name="Text 50"/>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الْحَقَائِبُ ...</a:t>
            </a:r>
            <a:endParaRPr lang="ar-SA" sz="1500" dirty="0"/>
          </a:p>
        </p:txBody>
      </p:sp>
      <p:sp>
        <p:nvSpPr>
          <p:cNvPr id="54" name="Shape 51"/>
          <p:cNvSpPr/>
          <p:nvPr/>
        </p:nvSpPr>
        <p:spPr>
          <a:xfrm>
            <a:off x="640080" y="4831080"/>
            <a:ext cx="256032" cy="256032"/>
          </a:xfrm>
          <a:prstGeom prst="ellipse">
            <a:avLst/>
          </a:prstGeom>
          <a:solidFill>
            <a:srgbClr val="C9CED6"/>
          </a:solidFill>
          <a:ln w="12700">
            <a:solidFill>
              <a:srgbClr val="C9CED6"/>
            </a:solidFill>
            <a:prstDash val="solid"/>
          </a:ln>
        </p:spPr>
      </p:sp>
      <p:sp>
        <p:nvSpPr>
          <p:cNvPr id="55" name="Text 5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6" name="Text 53"/>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الثَّقِيلَاتُ</a:t>
            </a:r>
            <a:endParaRPr lang="ar-SA" sz="1700" dirty="0"/>
          </a:p>
        </p:txBody>
      </p:sp>
      <p:sp>
        <p:nvSpPr>
          <p:cNvPr id="57" name="Shape 54"/>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8" name="Shape 55"/>
          <p:cNvSpPr/>
          <p:nvPr/>
        </p:nvSpPr>
        <p:spPr>
          <a:xfrm>
            <a:off x="640080" y="5202936"/>
            <a:ext cx="256032" cy="256032"/>
          </a:xfrm>
          <a:prstGeom prst="ellipse">
            <a:avLst/>
          </a:prstGeom>
          <a:solidFill>
            <a:srgbClr val="2E8B57"/>
          </a:solidFill>
          <a:ln w="12700">
            <a:solidFill>
              <a:srgbClr val="2E8B57"/>
            </a:solidFill>
            <a:prstDash val="solid"/>
          </a:ln>
        </p:spPr>
      </p:sp>
      <p:sp>
        <p:nvSpPr>
          <p:cNvPr id="59" name="Text 5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60" name="Text 57"/>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الثَّقِيلَةُ</a:t>
            </a:r>
            <a:endParaRPr lang="ar-SA" sz="1700" dirty="0"/>
          </a:p>
        </p:txBody>
      </p:sp>
      <p:sp>
        <p:nvSpPr>
          <p:cNvPr id="61" name="Shape 58"/>
          <p:cNvSpPr/>
          <p:nvPr/>
        </p:nvSpPr>
        <p:spPr>
          <a:xfrm>
            <a:off x="640080" y="5574792"/>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3" name="Text 60"/>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الثَّقِيلُونَ</a:t>
            </a:r>
            <a:endParaRPr lang="ar-SA" sz="1700" dirty="0"/>
          </a:p>
        </p:txBody>
      </p:sp>
      <p:sp>
        <p:nvSpPr>
          <p:cNvPr id="64" name="Text 61"/>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a:t>
            </a:r>
            <a:pPr algn="l" indent="0" marL="0">
              <a:buNone/>
            </a:pPr>
            <a:r>
              <a:rPr lang="ar-SA" altLang="en-US" sz="1350" dirty="0">
                <a:solidFill>
                  <a:srgbClr val="8A6D1E"/>
                </a:solidFill>
                <a:latin typeface="Amiri" pitchFamily="2" charset="-78"/>
                <a:ea typeface="Amiri" pitchFamily="2" charset="-78"/>
                <a:cs typeface="Amiri" pitchFamily="2" charset="-78"/>
              </a:rPr>
              <a:t>حَقَائِب</a:t>
            </a:r>
            <a:pPr algn="l" indent="0" marL="0">
              <a:buNone/>
            </a:pPr>
            <a:r>
              <a:rPr lang="en-US" sz="1050" i="1" dirty="0">
                <a:solidFill>
                  <a:srgbClr val="8A6D1E"/>
                </a:solidFill>
                <a:latin typeface="Calibri" pitchFamily="34" charset="0"/>
                <a:cs typeface="Amiri" pitchFamily="2" charset="-78"/>
              </a:rPr>
              <a:t> takes a feminine singular adjective.</a:t>
            </a:r>
            <a:endParaRPr lang="en-US" sz="1050" dirty="0"/>
          </a:p>
        </p:txBody>
      </p:sp>
      <p:sp>
        <p:nvSpPr>
          <p:cNvPr id="65" name="Shape 62"/>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6313932" y="4288536"/>
            <a:ext cx="310896" cy="310896"/>
          </a:xfrm>
          <a:prstGeom prst="ellipse">
            <a:avLst/>
          </a:prstGeom>
          <a:solidFill>
            <a:srgbClr val="1B3B6F"/>
          </a:solidFill>
          <a:ln w="12700">
            <a:solidFill>
              <a:srgbClr val="1B3B6F"/>
            </a:solidFill>
            <a:prstDash val="solid"/>
          </a:ln>
        </p:spPr>
      </p:sp>
      <p:sp>
        <p:nvSpPr>
          <p:cNvPr id="67" name="Text 6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8" name="Text 65"/>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“new schools”.</a:t>
            </a:r>
            <a:endParaRPr lang="en-US" sz="1250" dirty="0"/>
          </a:p>
        </p:txBody>
      </p:sp>
      <p:sp>
        <p:nvSpPr>
          <p:cNvPr id="69" name="Shape 66"/>
          <p:cNvSpPr/>
          <p:nvPr/>
        </p:nvSpPr>
        <p:spPr>
          <a:xfrm>
            <a:off x="6368796" y="4831080"/>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1" name="Text 68"/>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مَدَارِسُ جَدِيدُونَ</a:t>
            </a:r>
            <a:endParaRPr lang="ar-SA" sz="1700" dirty="0"/>
          </a:p>
        </p:txBody>
      </p:sp>
      <p:sp>
        <p:nvSpPr>
          <p:cNvPr id="72" name="Shape 69"/>
          <p:cNvSpPr/>
          <p:nvPr/>
        </p:nvSpPr>
        <p:spPr>
          <a:xfrm>
            <a:off x="6368796" y="5202936"/>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4" name="Text 71"/>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مَدَارِسُ جَدِيدَاتٌ</a:t>
            </a:r>
            <a:endParaRPr lang="ar-SA" sz="1700" dirty="0"/>
          </a:p>
        </p:txBody>
      </p:sp>
      <p:sp>
        <p:nvSpPr>
          <p:cNvPr id="75" name="Shape 72"/>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6" name="Shape 73"/>
          <p:cNvSpPr/>
          <p:nvPr/>
        </p:nvSpPr>
        <p:spPr>
          <a:xfrm>
            <a:off x="6368796" y="5574792"/>
            <a:ext cx="256032" cy="256032"/>
          </a:xfrm>
          <a:prstGeom prst="ellipse">
            <a:avLst/>
          </a:prstGeom>
          <a:solidFill>
            <a:srgbClr val="2E8B57"/>
          </a:solidFill>
          <a:ln w="12700">
            <a:solidFill>
              <a:srgbClr val="2E8B57"/>
            </a:solidFill>
            <a:prstDash val="solid"/>
          </a:ln>
        </p:spPr>
      </p:sp>
      <p:sp>
        <p:nvSpPr>
          <p:cNvPr id="77" name="Text 7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8" name="Text 7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مَدَارِسُ جَدِيدَةٌ</a:t>
            </a:r>
            <a:endParaRPr lang="ar-SA" sz="1700" dirty="0"/>
          </a:p>
        </p:txBody>
      </p:sp>
      <p:sp>
        <p:nvSpPr>
          <p:cNvPr id="79" name="Text 7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Non-human plural + feminine singular adjective.</a:t>
            </a:r>
            <a:endParaRPr lang="en-US" sz="1050" dirty="0"/>
          </a:p>
        </p:txBody>
      </p:sp>
      <p:sp>
        <p:nvSpPr>
          <p:cNvPr id="80" name="Text 7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42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new school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مَدْرَسَتِي الْجَدِيدَةُ. الْمَدْرَسَةُ كَبِيرَةٌ وَحَدِيثَةٌ. فِيهَا فُصُولٌ وَاسِعَةٌ وَمَكْتَبَةٌ هَادِئَةٌ. أُحِبُّ الْمُعَلِّمَاتِ الْمُتَعَاوِنَاتِ، وَأَسْتَعْمِلُ الْحَوَاسِيبَ الْجَدِيدَةَ فِي دَرْسِ التِّقْنِيَةِ. هٰذِهِ الْفُصُولُ نَظِيفَةٌ، وَالْمَلْعَبُ الْكَبِيرُ قَرِيبٌ مِنَ الْمَبْنَى الرَّئِيسِيِّ.</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حَدِيثَةٌ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modern</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فُصُولٌ وَاسِعَةٌ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spacious classrooms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هَادِئَةٌ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quiet</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الْمُتَعَاوِنَاتِ</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cooperative (f. pl.)</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الْحَوَاسِيبَ</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computers</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الْمَلْعَبُ</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playground</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الْمَبْنَى الرَّئِيسِيِّ</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the main building</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42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what does </a:t>
            </a:r>
            <a:pPr algn="l" indent="0" marL="0">
              <a:buNone/>
            </a:pPr>
            <a:r>
              <a:rPr lang="ar-SA" altLang="en-US" sz="1650" b="1" dirty="0">
                <a:solidFill>
                  <a:srgbClr val="1B3B6F"/>
                </a:solidFill>
                <a:latin typeface="Amiri" pitchFamily="2" charset="-78"/>
                <a:ea typeface="Amiri" pitchFamily="2" charset="-78"/>
                <a:cs typeface="Amiri" pitchFamily="2" charset="-78"/>
              </a:rPr>
              <a:t>مَدْرَسَتِي الْجَدِيدَةُ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school is new.</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new school</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new school</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which expression is a complete sentence?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الْمَلْعَبُ الْكَبِيرُ</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فُصُولٌ وَاسِعَةٌ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كَبِيرَةٌ</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الْحَوَاسِيبَ</a:t>
            </a:r>
            <a:pPr algn="l" indent="0" marL="0">
              <a:buNone/>
            </a:pPr>
            <a:r>
              <a:rPr lang="en-US" sz="1250" b="1" dirty="0">
                <a:solidFill>
                  <a:srgbClr val="1B3B6F"/>
                </a:solidFill>
                <a:latin typeface="Calibri" pitchFamily="34" charset="0"/>
                <a:cs typeface="Amiri" pitchFamily="2" charset="-78"/>
              </a:rPr>
              <a:t> followed by </a:t>
            </a:r>
            <a:pPr algn="l" indent="0" marL="0">
              <a:buNone/>
            </a:pPr>
            <a:r>
              <a:rPr lang="ar-SA" altLang="en-US" sz="1650" b="1" dirty="0">
                <a:solidFill>
                  <a:srgbClr val="1B3B6F"/>
                </a:solidFill>
                <a:latin typeface="Amiri" pitchFamily="2" charset="-78"/>
                <a:ea typeface="Amiri" pitchFamily="2" charset="-78"/>
                <a:cs typeface="Amiri" pitchFamily="2" charset="-78"/>
              </a:rPr>
              <a:t>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non-human plurals take feminine singular agreement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a:t>
            </a:r>
            <a:pPr algn="l" indent="0" marL="0">
              <a:buNone/>
            </a:pPr>
            <a:r>
              <a:rPr lang="ar-SA" altLang="en-US" sz="1650" dirty="0">
                <a:solidFill>
                  <a:srgbClr val="1F2A37"/>
                </a:solidFill>
                <a:latin typeface="Amiri" pitchFamily="2" charset="-78"/>
                <a:ea typeface="Amiri" pitchFamily="2" charset="-78"/>
                <a:cs typeface="Amiri" pitchFamily="2" charset="-78"/>
              </a:rPr>
              <a:t>حواسيب</a:t>
            </a:r>
            <a:pPr algn="l" indent="0" marL="0">
              <a:buNone/>
            </a:pPr>
            <a:r>
              <a:rPr lang="en-US" sz="1250" dirty="0">
                <a:solidFill>
                  <a:srgbClr val="1F2A37"/>
                </a:solidFill>
                <a:latin typeface="Calibri" pitchFamily="34" charset="0"/>
                <a:cs typeface="Amiri" pitchFamily="2" charset="-78"/>
              </a:rPr>
              <a:t> is feminine singular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because every plural adjective ends in </a:t>
            </a:r>
            <a:pPr algn="l" indent="0" marL="0">
              <a:buNone/>
            </a:pPr>
            <a:r>
              <a:rPr lang="ar-SA" altLang="en-US" sz="1650" dirty="0">
                <a:solidFill>
                  <a:srgbClr val="1F2A37"/>
                </a:solidFill>
                <a:latin typeface="Amiri" pitchFamily="2" charset="-78"/>
                <a:ea typeface="Amiri" pitchFamily="2" charset="-78"/>
                <a:cs typeface="Amiri" pitchFamily="2" charset="-78"/>
              </a:rPr>
              <a:t>ة</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HUMAN plural with a plural adjective?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الْحَوَاسِيبَ الْجَدِيدَةَ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الْمُعَلِّمَاتِ الْمُتَعَاوِنَاتِ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فُصُولٌ وَاسِعَةٌ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42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what does </a:t>
            </a:r>
            <a:pPr algn="l" indent="0" marL="0">
              <a:buNone/>
            </a:pPr>
            <a:r>
              <a:rPr lang="ar-SA" altLang="en-US" sz="1650" b="1" dirty="0">
                <a:solidFill>
                  <a:srgbClr val="1B3B6F"/>
                </a:solidFill>
                <a:latin typeface="Amiri" pitchFamily="2" charset="-78"/>
                <a:ea typeface="Amiri" pitchFamily="2" charset="-78"/>
                <a:cs typeface="Amiri" pitchFamily="2" charset="-78"/>
              </a:rPr>
              <a:t>مَدْرَسَتِي الْجَدِيدَةُ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My school is new.</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my new school</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new school</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possessive suffix makes the noun definite, and the attributive adjective takes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the reading, which expression is a complete sentence?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الْمَلْعَبُ الْكَبِيرُ</a:t>
            </a:r>
            <a:endParaRPr lang="ar-SA" sz="170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فُصُولٌ وَاسِعَةٌ</a:t>
            </a:r>
            <a:endParaRPr lang="ar-SA" sz="170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كَبِيرَةٌ</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subject + indefinite predicate adjective forms a complete sentence.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الْحَوَاسِيبَ</a:t>
            </a:r>
            <a:pPr algn="l" indent="0" marL="0">
              <a:buNone/>
            </a:pPr>
            <a:r>
              <a:rPr lang="en-US" sz="1250" b="1" dirty="0">
                <a:solidFill>
                  <a:srgbClr val="1B3B6F"/>
                </a:solidFill>
                <a:latin typeface="Calibri" pitchFamily="34" charset="0"/>
                <a:cs typeface="Amiri" pitchFamily="2" charset="-78"/>
              </a:rPr>
              <a:t> followed by </a:t>
            </a:r>
            <a:pPr algn="l" indent="0" marL="0">
              <a:buNone/>
            </a:pPr>
            <a:r>
              <a:rPr lang="ar-SA" altLang="en-US" sz="1650" b="1" dirty="0">
                <a:solidFill>
                  <a:srgbClr val="1B3B6F"/>
                </a:solidFill>
                <a:latin typeface="Amiri" pitchFamily="2" charset="-78"/>
                <a:ea typeface="Amiri" pitchFamily="2" charset="-78"/>
                <a:cs typeface="Amiri" pitchFamily="2" charset="-78"/>
              </a:rPr>
              <a:t>الْجَدِيدَةَ</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because non-human plurals take feminine singular agreement</a:t>
            </a:r>
            <a:endParaRPr lang="en-US" sz="11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because </a:t>
            </a:r>
            <a:pPr algn="l" indent="0" marL="0">
              <a:buNone/>
            </a:pPr>
            <a:r>
              <a:rPr lang="ar-SA" altLang="en-US" sz="1650" dirty="0">
                <a:solidFill>
                  <a:srgbClr val="9AA1AB"/>
                </a:solidFill>
                <a:latin typeface="Amiri" pitchFamily="2" charset="-78"/>
                <a:ea typeface="Amiri" pitchFamily="2" charset="-78"/>
                <a:cs typeface="Amiri" pitchFamily="2" charset="-78"/>
              </a:rPr>
              <a:t>حواسيب</a:t>
            </a:r>
            <a:pPr algn="l" indent="0" marL="0">
              <a:buNone/>
            </a:pPr>
            <a:r>
              <a:rPr lang="en-US" sz="1250" dirty="0">
                <a:solidFill>
                  <a:srgbClr val="9AA1AB"/>
                </a:solidFill>
                <a:latin typeface="Calibri" pitchFamily="34" charset="0"/>
                <a:cs typeface="Amiri" pitchFamily="2" charset="-78"/>
              </a:rPr>
              <a:t> is feminine singular</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cs typeface="Amiri" pitchFamily="2" charset="-78"/>
              </a:rPr>
              <a:t>because every plural adjective ends in </a:t>
            </a:r>
            <a:pPr algn="l" indent="0" marL="0">
              <a:buNone/>
            </a:pPr>
            <a:r>
              <a:rPr lang="ar-SA" altLang="en-US" sz="1550" dirty="0">
                <a:solidFill>
                  <a:srgbClr val="9AA1AB"/>
                </a:solidFill>
                <a:latin typeface="Amiri" pitchFamily="2" charset="-78"/>
                <a:ea typeface="Amiri" pitchFamily="2" charset="-78"/>
                <a:cs typeface="Amiri" pitchFamily="2" charset="-78"/>
              </a:rPr>
              <a:t>ة</a:t>
            </a:r>
            <a:endParaRPr lang="en-US" sz="12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حَوَاسِيب</a:t>
            </a:r>
            <a:pPr algn="l" indent="0" marL="0">
              <a:buNone/>
            </a:pPr>
            <a:r>
              <a:rPr lang="en-US" sz="1050" i="1" dirty="0">
                <a:solidFill>
                  <a:srgbClr val="8A6D1E"/>
                </a:solidFill>
                <a:latin typeface="Calibri" pitchFamily="34" charset="0"/>
                <a:cs typeface="Amiri" pitchFamily="2" charset="-78"/>
              </a:rPr>
              <a:t> is a non-human plural, so its adjective is feminine singular.</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a HUMAN plural with a plural adjective?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الْحَوَاسِيبَ الْجَدِيدَةَ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الْمُعَلِّمَاتِ الْمُتَعَاوِنَاتِ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فُصُولٌ وَاسِعَةٌ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Teachers are people: feminine plural adjective.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42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Speaking: point, identify, describe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 هٰذَا؟ (هٰذَا كِتَابٌ.)</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هٰذَا الشَّيْءَ: هٰذَا الْكِتَابُ … / هٰذَا الْكِتَابُ …</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ثَلَاثَةَ أَشْيَاءَ، وَأَضِفْ سَبَبًا أَوْ رَأْيًا.</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هٰذَا ___ . / هٰذِهِ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هٰذَا الْكِتَابُ الْمُفِيدُ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هٰذِهِ الْغُرْفَةُ ___ ، لِأَنَّ ___ .</a:t>
            </a:r>
            <a:endParaRPr lang="ar-SA" sz="16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 هٰذَا؟</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this?</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هٰذَا الْكِتَابُ الْمُفِيدُ. هٰذَا الْكِتَابُ مُفِيدٌ، لِأَنَّ فِيهِ صُوَرًا.</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This is the useful book. This book is useful because it has pictures.</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42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Three phrase / sentence pairs about your room or school.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الْبَيْتُ الْكَبِيرُ … · الْبَيْتُ كَبِيرٌ. Check: does the adjective copy الـ and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50–60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a demonstrative contrast and one plural (human or non-human).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ar-SA" sz="1150" dirty="0">
                <a:solidFill>
                  <a:srgbClr val="1F2A37"/>
                </a:solidFill>
                <a:latin typeface="Amiri" pitchFamily="2" charset="-78"/>
                <a:ea typeface="Amiri" pitchFamily="2" charset="-78"/>
                <a:cs typeface="Amiri" pitchFamily="2" charset="-78"/>
              </a:rPr>
              <a:t>هٰذَا كِتَابٌ / هٰذَا الْكِتَابُ … · الْكُتُبُ الْجَدِيدَةُ.</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80–90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writing workshop “Describe a place” with all five features.</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Underline nouns once and their adjectives twice (website paper route).</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42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مُفِيدٌ.</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 is useful.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الْكُتُبُ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new books</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الْمُعَلِّمَاتُ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hardworking teachers (f.)</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الْجَدِيدُ / الْجَدِيدَةُ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new … (noun + my)</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النَّافِذَةُ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big window</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هٰذَا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This is a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الْمَدْرَسَةُ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50" b="1" dirty="0">
                <a:solidFill>
                  <a:srgbClr val="1B3B6F"/>
                </a:solidFill>
                <a:latin typeface="Amiri" pitchFamily="2" charset="-78"/>
                <a:ea typeface="Amiri" pitchFamily="2" charset="-78"/>
                <a:cs typeface="Amiri" pitchFamily="2" charset="-78"/>
              </a:rPr>
              <a:t>كَبِيرٌ / كَبِيرَةٌ  ·  صَغِيرٌ / صَغِيرَةٌ  ·  جَدِيدٌ / جَدِيدَةٌ  ·  حَدِيثٌ / حَدِيثَةٌ  ·  هَادِئٌ / هَادِئَةٌ  ·  نَظِيفٌ / نَظِيفَةٌ  ·  وَاسِعٌ / وَاسِعَةٌ  ·  مُفِيدٌ / مُفِيدَةٌ  ·  هٰذَا  ·  هٰذِهِ  ·  هٰؤُلَاءِ  ·  مُجْتَهِدُونَ</a:t>
            </a:r>
            <a:endParaRPr lang="ar-SA" sz="14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42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Website writing workshop — Describe a place (80–90 words): your school, home, town or an imagined place.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definite noun–adjective phrases.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nominal sentences with indefinite predicate adjectives.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demonstrative contrast (</a:t>
            </a:r>
            <a:pPr algn="l" indent="0" marL="0">
              <a:buNone/>
            </a:pPr>
            <a:r>
              <a:rPr lang="ar-SA" altLang="en-US" sz="1550" dirty="0">
                <a:solidFill>
                  <a:srgbClr val="1F2A37"/>
                </a:solidFill>
                <a:latin typeface="Amiri" pitchFamily="2" charset="-78"/>
                <a:ea typeface="Amiri" pitchFamily="2" charset="-78"/>
                <a:cs typeface="Amiri" pitchFamily="2" charset="-78"/>
              </a:rPr>
              <a:t>هٰذَا كِتَابٌ / هٰذَا الْكِتَابُ</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human plural and one non-human plural.</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noun made definite by a suffix or iḍāfa.</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مَدْرَسَتِي الْجَدِيدَةُ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new school</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فُصُولٌ وَاسِعَةٌ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spacious classrooms</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الْمُعَلِّمَاتُ الْمُتَعَاوِنَاتُ</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cooperative teachers</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الْحَوَاسِيبُ الْجَدِيدَةُ</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new computers</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الْمَلْعَبُ الْكَبِيرُ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 playground</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بَابُ الْمَدْرَسَةِ الْكَبِيرُ</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school’s big door</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42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هٰذِهِ مَدِينَتِي الْجَمِيلَةُ. الْمَدِينَةُ كَبِيرَةٌ وَهَادِئَةٌ. فِي الْمَدِينَةِ مَدَارِسُ حَدِيثَةٌ وَحَدَائِقُ وَاسِعَةٌ. أُحِبُّ الْمَكْتَبَةَ الْعَامَّةَ، وَالْمُوَظَّفُونَ الْمُتَعَاوِنُونَ يُسَاعِدُونَ الطُّلَّابَ. هٰذَا الشَّارِعُ طَوِيلٌ، وَهٰذَا الْمَسْجِدُ الْكَبِيرُ قَرِيبٌ مِنْ بَيْتِي. بَابُ الْمَسْجِدِ الْقَدِيمُ جَمِيلٌ جِدًّا. الْأَسْوَاقُ مُزْدَحِمَةٌ يَوْمَ الْجُمُعَةِ، وَلٰكِنَّ النَّاسَ لُطَفَاءُ.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This is my beautiful city. The city is big and quiet. In the city there are modern schools and spacious gardens. I love the public library, and the cooperative staff help the students. This street is long, and this big mosque is near my house. The mosque’s old door is very beautiful. The markets are crowded on Friday, but the people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definite phrases</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predicate sentences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هٰذَا contrast</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human + non-human plural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42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Every adjective copies its noun’s gender.</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phrases are both definite or both indefinite.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predicate adjectives have no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Non-human plurals take a feminine singular adjective.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matched adjectives after a suffix, a name or iḍāfa.</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42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modern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الْحَدِيثَةُ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حَدِيثَةٌ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حَدِيثَةٌ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is modern.”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حَدِيثَةٌ.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حَدِيثَةٌ.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الْحَدِيثَةُ.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old car”.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سَيَّارَتِي الْقَدِيمَةُ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سَيَّارَتِي قَدِيمَةٌ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السَّيَّارَتِي الْقَدِيمَةُ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42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modern city”.</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الْمَدِينَةُ الْحَدِيثَةُ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مَدِينَةٌ حَدِيثَةٌ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الْمَدِينَةُ حَدِيثَةٌ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 and attributive adjective are 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is modern.”</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مَدِينَةٌ حَدِيثَةٌ.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الْمَدِينَةُ حَدِيثَةٌ.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الْمَدِينَةُ الْحَدِيثَةُ.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subject + indefinite predicate adjective.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old car”.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سَيَّارَتِي الْقَدِيمَةُ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سَيَّارَتِي قَدِيمَةٌ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السَّيَّارَتِي الْقَدِيمَةُ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suffix makes the noun definite, and the attributive adjective is definite.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42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modern city”.</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الْحَدِيثَةُ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حَدِيثَةٌ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حَدِيثَةٌ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hardworking female students”.</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الطَّالِبَاتُ الْمُجْتَهِدَاتُ</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طَالِبَاتٌ مُجْتَهِدَاتٌ</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الطَّالِبَاتُ مُجْتَهِدَةٌ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female students are hardworking.”</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الطَّالِبَاتُ الْمُجْتَهِدَاتُ.</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طَالِبَاتٌ الْمُجْتَهِدَاتُ.</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هَؤُلَاءِ الطَّالِبَاتُ مُجْتَهِدَاتٌ.</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الْمَبَانِي ...</a:t>
            </a:r>
            <a:endParaRPr lang="ar-SA" sz="15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الْعَالِيَاتُ</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الْعَالُونَ</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الْعَالِيَةُ</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car is old.”</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سَيَّارَتِي قَدِيمَةٌ.</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سَيَّارَتِي الْقَدِيمَةُ.</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الْسَيَّارَتِي قَدِيمَةٌ.</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hospital’s large entrance”?</a:t>
            </a:r>
            <a:endParaRPr lang="en-US" sz="125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مَدْخَلُ الْمُسْتَشْفَى الْكَبِيرَةُ</a:t>
            </a:r>
            <a:endParaRPr lang="ar-SA" sz="2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مَدْخَلُ الْمُسْتَشْفَى الْكَبِيرُ</a:t>
            </a:r>
            <a:endParaRPr lang="ar-SA" sz="2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الْمَدْخَلُ الْمُسْتَشْفَى الْكَبِيرُ</a:t>
            </a:r>
            <a:endParaRPr lang="ar-SA" sz="2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39 / 42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modern city”.</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الْحَدِيثَةُ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مَدِينَةٌ حَدِيثَةٌ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حَدِيثَةٌ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feminine singular noun phrase.</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hardworking female students”.</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هَؤُلَاءِ الطَّالِبَاتُ الْمُجْتَهِدَاتُ</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طَالِبَاتٌ مُجْتَهِدَاتٌ</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الطَّالِبَاتُ مُجْتَهِدَةٌ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demonstrative points to a definite human feminine plural phrase.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“These female students are hardworking.”</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الطَّالِبَاتُ الْمُجْتَهِدَاتُ.</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هَؤُلَاءِ طَالِبَاتٌ الْمُجْتَهِدَاتُ.</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هَؤُلَاءِ الطَّالِبَاتُ مُجْتَهِدَاتٌ.</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adjective is indefinite but remains feminine plural for people.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الْمَبَانِي ...</a:t>
            </a:r>
            <a:endParaRPr lang="ar-SA" sz="15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الْعَالِيَاتُ</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الْعَالُونَ</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الْعَالِيَةُ</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مَبَانِي</a:t>
            </a:r>
            <a:pPr algn="l" indent="0" marL="0">
              <a:buNone/>
            </a:pPr>
            <a:r>
              <a:rPr lang="en-US" sz="1050" i="1" dirty="0">
                <a:solidFill>
                  <a:srgbClr val="8A6D1E"/>
                </a:solidFill>
                <a:latin typeface="Calibri" pitchFamily="34" charset="0"/>
                <a:cs typeface="Amiri" pitchFamily="2" charset="-78"/>
              </a:rPr>
              <a:t> is a non-human plural, so the adjective is feminine singular.</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“My car is old.”</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سَيَّارَتِي قَدِيمَةٌ.</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سَيَّارَتِي الْقَدِيمَةُ.</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الْسَيَّارَتِي قَدِيمَةٌ.</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predicate adjective is indefinite.</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hospital’s large entrance”?</a:t>
            </a:r>
            <a:endParaRPr lang="en-US" sz="125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مَدْخَلُ الْمُسْتَشْفَى الْكَبِيرَةُ</a:t>
            </a:r>
            <a:endParaRPr lang="ar-SA" sz="170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مَدْخَلُ الْمُسْتَشْفَى الْكَبِيرُ</a:t>
            </a:r>
            <a:endParaRPr lang="ar-SA" sz="170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الْمَدْخَلُ الْمُسْتَشْفَى الْكَبِيرُ</a:t>
            </a:r>
            <a:endParaRPr lang="ar-SA" sz="170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Masculine adjective describes masculine </a:t>
            </a:r>
            <a:pPr algn="l" indent="0" marL="0">
              <a:buNone/>
            </a:pPr>
            <a:r>
              <a:rPr lang="ar-SA" altLang="en-US" sz="1350" dirty="0">
                <a:solidFill>
                  <a:srgbClr val="8A6D1E"/>
                </a:solidFill>
                <a:latin typeface="Amiri" pitchFamily="2" charset="-78"/>
                <a:ea typeface="Amiri" pitchFamily="2" charset="-78"/>
                <a:cs typeface="Amiri" pitchFamily="2" charset="-78"/>
              </a:rPr>
              <a:t>مَدْخَل</a:t>
            </a:r>
            <a:pPr algn="l" indent="0" marL="0">
              <a:buNone/>
            </a:pPr>
            <a:r>
              <a:rPr lang="en-US" sz="1050" i="1" dirty="0">
                <a:solidFill>
                  <a:srgbClr val="8A6D1E"/>
                </a:solidFill>
                <a:latin typeface="Calibri" pitchFamily="34" charset="0"/>
                <a:cs typeface="Amiri" pitchFamily="2" charset="-78"/>
              </a:rPr>
              <a:t>, while the first idāfa noun has no article.</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40 / 42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GM-ART-02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GM-ART-03: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GM-ART-03 · Where the Article Belongs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مُضَافٌ</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first noun of an iḍāfa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مُضَافٌ إِلَيْهِ</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second noun of an iḍāfa</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 عَلَمٍ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proper name</a:t>
            </a:r>
            <a:pPr indent="0" marL="0">
              <a:buNone/>
            </a:pPr>
            <a:r>
              <a:rPr lang="ar-SA" sz="1000" i="1" dirty="0">
                <a:solidFill>
                  <a:srgbClr val="5A6472"/>
                </a:solidFill>
                <a:latin typeface="Calibri" pitchFamily="34" charset="0"/>
                <a:ea typeface="Amiri" pitchFamily="2" charset="-78"/>
                <a:cs typeface="Amiri" pitchFamily="2" charset="-78"/>
              </a:rPr>
              <a:t>  pl. أَسْمَاءُ أَعْلَامٍ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ضَمِيرٌ مُتَّصِلٌ</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ar-SA" sz="1200" b="1" dirty="0">
                <a:solidFill>
                  <a:srgbClr val="1F2A37"/>
                </a:solidFill>
                <a:latin typeface="Calibri" pitchFamily="34" charset="0"/>
                <a:ea typeface="Amiri" pitchFamily="2" charset="-78"/>
                <a:cs typeface="Amiri" pitchFamily="2" charset="-78"/>
              </a:rPr>
              <a:t>an attached pronoun (ـِي · ـُنَا)</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حَرْفُ جَرٍّ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preposition</a:t>
            </a:r>
            <a:pPr indent="0" marL="0">
              <a:buNone/>
            </a:pPr>
            <a:r>
              <a:rPr lang="ar-SA" sz="1000" i="1" dirty="0">
                <a:solidFill>
                  <a:srgbClr val="5A6472"/>
                </a:solidFill>
                <a:latin typeface="Calibri" pitchFamily="34" charset="0"/>
                <a:ea typeface="Amiri" pitchFamily="2" charset="-78"/>
                <a:cs typeface="Amiri" pitchFamily="2" charset="-78"/>
              </a:rPr>
              <a:t>  pl. حُرُوفُ جَرٍّ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Translate: “my book”, “the student’s book”, “Maryam’s book”. Which ones have </a:t>
            </a:r>
            <a:pPr algn="l" indent="0" marL="0">
              <a:buNone/>
            </a:pPr>
            <a:r>
              <a:rPr lang="ar-SA" altLang="en-US" sz="1350" dirty="0">
                <a:solidFill>
                  <a:srgbClr val="1F2A37"/>
                </a:solidFill>
                <a:latin typeface="Amiri" pitchFamily="2" charset="-78"/>
                <a:ea typeface="Amiri" pitchFamily="2" charset="-78"/>
                <a:cs typeface="Amiri" pitchFamily="2" charset="-78"/>
              </a:rPr>
              <a:t>الـ</a:t>
            </a:r>
            <a:pPr algn="l" indent="0" marL="0">
              <a:buNone/>
            </a:pPr>
            <a:r>
              <a:rPr lang="en-US" sz="1050" dirty="0">
                <a:solidFill>
                  <a:srgbClr val="1F2A37"/>
                </a:solidFill>
                <a:latin typeface="Calibri" pitchFamily="34" charset="0"/>
                <a:cs typeface="Amiri" pitchFamily="2" charset="-78"/>
              </a:rPr>
              <a: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كِتَابِي · كِتَابُ الطَّالِبِ · كِتَابُ مَرْيَمَ</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phrase / sentence pairs (</a:t>
            </a:r>
            <a:pPr algn="l" indent="0" marL="0">
              <a:buNone/>
            </a:pPr>
            <a:r>
              <a:rPr lang="ar-SA" altLang="en-US" sz="1550" dirty="0">
                <a:solidFill>
                  <a:srgbClr val="1F2A37"/>
                </a:solidFill>
                <a:latin typeface="Amiri" pitchFamily="2" charset="-78"/>
                <a:ea typeface="Amiri" pitchFamily="2" charset="-78"/>
                <a:cs typeface="Amiri" pitchFamily="2" charset="-78"/>
              </a:rPr>
              <a:t>الْبَيْتُ الْكَبِيرُ</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الْبَيْتُ كَبِيرٌ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Redo website mini-checks 3 and 4; write four plural phrases.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website writing workshop (80–90 words) and the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41 / 42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GM-ART-02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450" b="1" dirty="0">
                <a:solidFill>
                  <a:srgbClr val="FFFFFF"/>
                </a:solidFill>
                <a:latin typeface="Cambria" pitchFamily="34" charset="0"/>
                <a:cs typeface="Amiri" pitchFamily="2" charset="-78"/>
              </a:rPr>
              <a:t>GM-ART-03 · Where the Article Belongs</a:t>
            </a:r>
            <a:endParaRPr lang="en-US" sz="24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مَوَاضِعُ «الـ» وَحُدُودُ اسْتِعْمَالِهَا</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the adjective is a mirror · both definite = a phrase · definite + indefinite = a sentence · things in the plural take a feminine singular adjective.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42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42</vt:i4>
      </vt:variant>
    </vt:vector>
  </HeadingPairs>
  <TitlesOfParts>
    <vt:vector size="4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GM-ART-02 · Definiteness and Adjective Agreement</dc:title>
  <dc:subject>PptxGenJS Presentation</dc:subject>
  <dc:creator>Al Madina Online School · Arabic Department</dc:creator>
  <cp:lastModifiedBy>Al Madina Online School · Arabic Department</cp:lastModifiedBy>
  <cp:revision>1</cp:revision>
  <dcterms:created xsi:type="dcterms:W3CDTF">2026-10-11T06:42:08Z</dcterms:created>
  <dcterms:modified xsi:type="dcterms:W3CDTF">2026-10-11T06:42:08Z</dcterms:modified>
</cp:coreProperties>
</file>