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GM-ART-02 (“Definiteness and Adjective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gender and definiteness agreement; phrase vs sentence. Develop: demonstratives; human vs non-human plurals; two adjectives. Stretch: definite without الـ (كِتَابِي · names · iḍāfa) and matching case endings.
• The one question for the whole lesson (website “mastery question”): is the adjective INSIDE the phrase (it copies الـ) or is it SAYING something new about the noun (predicate, no الـ)?
• Arabic has no written “is” in the present: definiteness does the job. English speakers (and Urdu speakers, who add “hai”) often look for a missing verb — reassure them.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Agreement Entry Check (questions 1–5). Questions 1–3 retrieve GM-ART-01 (phrase vs sentence).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Both definite = one phrase (the small house). Definite + indefinite = a sentence (The house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Use مَنْعُوتٌ / نَعْتٌ and مُبْتَدَأٌ / خَبَرٌ in pairs: “In the phrase, the naʿt copies the manʿūt. In the sentence, the khabar tells us about the mubtadaʾ.”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Use مَنْعُوتٌ / نَعْتٌ and مُبْتَدَأٌ / خَبَرٌ in pairs: “In the phrase, the naʿt copies the manʿūt. In the sentence, the khabar tells us about the mubtadaʾ.”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“The four agreement decisions”. Hold up a mirror metaphor: whatever the noun “wears” (ة, الـ, plural ending), the adjective wears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1b (2 min) — website table. Cover the adjective column: students predict it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“Phrase or complete sentence?”. Arabic creates the contrast without a written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section “Demonstratives change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section “Human and non-human plurals”. Definiteness still matches in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 “A noun can be definite without الـ”. The adjective matches GRAMMATICAL definiteness, not just the letters at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“Make every feature match”,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workshop. Point out مَكْتَبَةٌ هَادِئَةٌ: an INDEFINITE phrase (both indefinite) — still a phrase, because both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for each card. Ask for each: “Do noun and adjective match in definiteness?” (website mini-check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for each card. Ask for each: “Do noun and adjective match in definiteness?” (website mini-check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(3 min) — website listening workshop. Read the script aloud twice; students answer the website evidence questions 4–6.
SCRIPT: أَسْكُنُ فِي شَقَّةٍ صَغِيرَةٍ، وَلٰكِنَّ الشَّقَّةَ مُرِيحَةٌ. غُرْفَتِي الْجَدِيدَةُ مُضِيئَةٌ، وَنَوَافِذُهَا الْكَبِيرَةُ تُطِلُّ عَلَى حَدِيقَةٍ جَمِيلَةٍ. فِي الْحَدِيقَةِ أَشْجَارٌ طَوِيلَةٌ وَزُهُورٌ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Website script; teacher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phrase (identifies) or sentence (completes a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4 “Plural agreement”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underline complete noun phrases once and predicate adjectives twice before answering.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evidence questions 1–3, plus one teacher-written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studio: choose three objects or places; identify with a demonstrative (هٰذَا الْكِتَابُ); add an attributive adjective (هٰذَا الْكِتَابُ الْمُفِيدُ); then make a sentence (هٰذَا الْكِتَابُ مُفِيدٌ); extend with a reason. Use real objects on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Describe a place (80–90 words): three definite noun–adjective phrases; three nominal sentences with indefinite predicate adjectives; one demonstrative contrast; one human and one non-human plural; one noun made definite by a suffix or iḍāfa.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writing workshop (≈ 70 words), with an English translation for Core students.
Students find in the model (● 20s → ◎) the items on the chips. Non-human plural: مَدَارِسُ حَدِيثَةٌ · حَدَائِقُ وَاسِعَةٌ · الْأَسْوَاقُ مُزْدَحِمَةٌ. Human plural: الْمُوَظَّفُونَ الْمُتَعَاوِنُونَ. Suffix: مَدِينَتِي الْجَمِيلَةُ. Iḍāfa: بَابُ الْمَسْجِدِ الْقَدِيمُ (masculine → the door).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(GM-ART-03 · Where the Article Belongs) will spend class time USING this language, so students prepare it tonight — short, simple, easy to access (school guidance: “Simple, Short, Interesting, Relevant, Easy to access”). The five words prepare GM-ART-03 (website Articles lesson 3: where the article belongs).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ARTICLES  ·  GM-ART-02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GM-ART-02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Definiteness and Adjective Agreement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مُطَابَقَةُ النَّعْتِ فِي التَّعْرِيفِ وَالتَّنْكِيرِ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Make an adjective mirror its noun in gender, number, definiteness (and case) — and use definiteness to tell a phrase from a sentence: </a:t>
            </a:r>
            <a:pPr algn="l" indent="0" marL="0">
              <a:buNone/>
            </a:pPr>
            <a:r>
              <a:rPr lang="ar-SA" altLang="en-US" sz="1800" dirty="0">
                <a:solidFill>
                  <a:srgbClr val="C6D2E6"/>
                </a:solidFill>
                <a:latin typeface="Amiri" pitchFamily="2" charset="-78"/>
                <a:cs typeface="Amiri" pitchFamily="2" charset="-78"/>
              </a:rPr>
              <a:t>الْمَدْرَسَةُ الْجَدِيدَةُ</a:t>
            </a:r>
            <a:pPr algn="l" indent="0" marL="0">
              <a:buNone/>
            </a:pPr>
            <a:r>
              <a:rPr lang="en-US" sz="1400" dirty="0">
                <a:solidFill>
                  <a:srgbClr val="C6D2E6"/>
                </a:solidFill>
                <a:latin typeface="Calibri" pitchFamily="34" charset="0"/>
                <a:cs typeface="Amiri" pitchFamily="2" charset="-78"/>
              </a:rPr>
              <a:t> (the new school) · </a:t>
            </a:r>
            <a:pPr algn="l" indent="0" marL="0">
              <a:buNone/>
            </a:pPr>
            <a:r>
              <a:rPr lang="ar-SA" altLang="en-US" sz="1800" dirty="0">
                <a:solidFill>
                  <a:srgbClr val="C6D2E6"/>
                </a:solidFill>
                <a:latin typeface="Amiri" pitchFamily="2" charset="-78"/>
                <a:cs typeface="Amiri" pitchFamily="2" charset="-78"/>
              </a:rPr>
              <a:t>الْمَدْرَسَةُ جَدِيدَةٌ</a:t>
            </a:r>
            <a:pPr algn="l" indent="0" marL="0">
              <a:buNone/>
            </a:pPr>
            <a:r>
              <a:rPr lang="en-US" sz="1400" dirty="0">
                <a:solidFill>
                  <a:srgbClr val="C6D2E6"/>
                </a:solidFill>
                <a:latin typeface="Calibri" pitchFamily="34" charset="0"/>
                <a:cs typeface="Amiri" pitchFamily="2" charset="-78"/>
              </a:rPr>
              <a:t> (The school is new).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GM-ART-02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agreement decisions; phrase or sentence; demonstratives; plurals; definite without </a:t>
            </a:r>
            <a:pPr algn="ctr" indent="0" marL="0">
              <a:buNone/>
            </a:pPr>
            <a:r>
              <a:rPr lang="ar-SA" altLang="en-US" sz="1550" dirty="0">
                <a:solidFill>
                  <a:srgbClr val="1F2A37"/>
                </a:solidFill>
                <a:latin typeface="Amiri" pitchFamily="2" charset="-78"/>
                <a:cs typeface="Amiri" pitchFamily="2" charset="-78"/>
              </a:rPr>
              <a:t>الـ</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phrase or sentence, fix agreement errors, test plurals and demonstratives.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GM-ART-03.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small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الصَّغِيرُ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 صَغِيرٌ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صَغِيرٌ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الصَّغِيرُ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 صَغِيرٌ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صَغِيرٌ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is small.”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الصَّغِيرُ.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 الصَّغِيرُ.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صَغِيرٌ.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car”.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السَّيَّارَةُ الْجَدِيدُ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الْجَدِيدَةُ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السَّيَّارَةُ الْجَدِيدَةُ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correctly describes the non-human plural </a:t>
            </a:r>
            <a:pPr algn="l" indent="0" marL="0">
              <a:buNone/>
            </a:pPr>
            <a:r>
              <a:rPr lang="ar-SA" altLang="en-US" sz="1650" b="1" dirty="0">
                <a:solidFill>
                  <a:srgbClr val="1B3B6F"/>
                </a:solidFill>
                <a:latin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الْجَدِيدَةُ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الْجَدِيدُونَ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الْجَدِيدَاتُ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small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الصَّغِيرُ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 صَغِيرٌ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صَغِيرٌ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 and attributive adjective are indefinite.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house”.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الْبَيْتُ الصَّغِيرُ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 صَغِيرٌ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صَغِيرٌ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definite because they form one noun phrase.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is small.”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الصَّغِيرُ.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 الصَّغِيرُ.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الْبَيْتُ صَغِيرٌ.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noun is the subject; the indefinite adjective is the predicate.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car”.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السَّيَّارَةُ الْجَدِيدُ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سَيَّارَةٌ الْجَدِيدَةُ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السَّيَّارَةُ الْجَدِيدَةُ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سَيَّارَة</a:t>
            </a:r>
            <a:pPr algn="l" indent="0" marL="0">
              <a:buNone/>
            </a:pPr>
            <a:r>
              <a:rPr lang="en-US" sz="1050" i="1" dirty="0">
                <a:solidFill>
                  <a:srgbClr val="8A6D1E"/>
                </a:solidFill>
                <a:latin typeface="Calibri" pitchFamily="34" charset="0"/>
                <a:cs typeface="Amiri" pitchFamily="2" charset="-78"/>
              </a:rPr>
              <a:t> is feminine, so its adjective is feminine and equally definite.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correctly describes the non-human plural </a:t>
            </a:r>
            <a:pPr algn="l" indent="0" marL="0">
              <a:buNone/>
            </a:pPr>
            <a:r>
              <a:rPr lang="ar-SA" altLang="en-US" sz="1650" b="1" dirty="0">
                <a:solidFill>
                  <a:srgbClr val="1B3B6F"/>
                </a:solidFill>
                <a:latin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الْجَدِيدَةُ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الْجَدِيدُونَ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الْجَدِيدَاتُ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normally takes a feminine singular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Both definite = one phrase (the small house). Definite + indefinite = a sentence (The house is small).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الْبَيْتُ الصَّغِيرُ</a:t>
            </a:r>
            <a:pPr rtl="1" algn="ctr" indent="0" marL="0">
              <a:buNone/>
            </a:pPr>
            <a:r>
              <a:rPr lang="ar-SA" altLang="en-US" sz="2400" b="1" dirty="0">
                <a:solidFill>
                  <a:srgbClr val="1B3B6F"/>
                </a:solidFill>
                <a:latin typeface="Amiri" pitchFamily="2" charset="-78"/>
                <a:cs typeface="Amiri" pitchFamily="2" charset="-78"/>
              </a:rPr>
              <a:t> ‖ الْبَيْتُ </a:t>
            </a:r>
            <a:pPr rtl="1" algn="ctr" indent="0" marL="0">
              <a:buNone/>
            </a:pPr>
            <a:r>
              <a:rPr lang="ar-SA" altLang="en-US" sz="2400" b="1" dirty="0">
                <a:solidFill>
                  <a:srgbClr val="D6336C"/>
                </a:solidFill>
                <a:latin typeface="Amiri" pitchFamily="2" charset="-78"/>
                <a:cs typeface="Amiri" pitchFamily="2" charset="-78"/>
              </a:rPr>
              <a:t>صَغِيرٌ</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an adjective agree with its noun in gender, number and definiteness.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noun phrase from a complete nominal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demonstratives and plural agreement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nouns that are definite without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an adjective in gender and definiteness.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t>
            </a:r>
            <a:pPr algn="l" indent="0" marL="0">
              <a:buNone/>
            </a:pPr>
            <a:r>
              <a:rPr lang="ar-SA" altLang="en-US" sz="1700" b="1" dirty="0">
                <a:solidFill>
                  <a:srgbClr val="2E8B57"/>
                </a:solidFill>
                <a:latin typeface="Amiri" pitchFamily="2" charset="-78"/>
                <a:cs typeface="Amiri" pitchFamily="2" charset="-78"/>
              </a:rPr>
              <a:t>الْبَيْتُ الْكَبِيرُ</a:t>
            </a:r>
            <a:pPr algn="l" indent="0" marL="0">
              <a:buNone/>
            </a:pPr>
            <a:r>
              <a:rPr lang="en-US" sz="1300" b="1" dirty="0">
                <a:solidFill>
                  <a:srgbClr val="2E8B57"/>
                </a:solidFill>
                <a:latin typeface="Calibri" pitchFamily="34" charset="0"/>
                <a:cs typeface="Amiri" pitchFamily="2" charset="-78"/>
              </a:rPr>
              <a:t> from </a:t>
            </a:r>
            <a:pPr algn="l" indent="0" marL="0">
              <a:buNone/>
            </a:pPr>
            <a:r>
              <a:rPr lang="ar-SA" altLang="en-US" sz="1700" b="1" dirty="0">
                <a:solidFill>
                  <a:srgbClr val="2E8B57"/>
                </a:solidFill>
                <a:latin typeface="Amiri" pitchFamily="2" charset="-78"/>
                <a:cs typeface="Amiri" pitchFamily="2" charset="-78"/>
              </a:rPr>
              <a:t>الْبَيْتُ كَبِيرٌ</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with and without </a:t>
            </a:r>
            <a:pPr algn="l" indent="0" marL="0">
              <a:buNone/>
            </a:pPr>
            <a:r>
              <a:rPr lang="ar-SA" altLang="en-US" sz="1700" b="1" dirty="0">
                <a:solidFill>
                  <a:srgbClr val="C9780A"/>
                </a:solidFill>
                <a:latin typeface="Amiri" pitchFamily="2" charset="-78"/>
                <a:cs typeface="Amiri" pitchFamily="2" charset="-78"/>
              </a:rPr>
              <a:t>الـ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the adjective for human and non-human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adjectives after </a:t>
            </a:r>
            <a:pPr algn="l" indent="0" marL="0">
              <a:buNone/>
            </a:pPr>
            <a:r>
              <a:rPr lang="ar-SA" altLang="en-US" sz="1700" b="1" dirty="0">
                <a:solidFill>
                  <a:srgbClr val="B83227"/>
                </a:solidFill>
                <a:latin typeface="Amiri" pitchFamily="2" charset="-78"/>
                <a:cs typeface="Amiri" pitchFamily="2" charset="-78"/>
              </a:rPr>
              <a:t>كِتَابِي</a:t>
            </a:r>
            <a:pPr algn="l" indent="0" marL="0">
              <a:buNone/>
            </a:pPr>
            <a:r>
              <a:rPr lang="en-US" sz="1300" b="1" dirty="0">
                <a:solidFill>
                  <a:srgbClr val="B83227"/>
                </a:solidFill>
                <a:latin typeface="Calibri" pitchFamily="34" charset="0"/>
                <a:cs typeface="Amiri" pitchFamily="2" charset="-78"/>
              </a:rPr>
              <a:t>, names and iḍāfa.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case endings (</a:t>
            </a:r>
            <a:pPr algn="l" indent="0" marL="0">
              <a:buNone/>
            </a:pPr>
            <a:r>
              <a:rPr lang="ar-SA" altLang="en-US" sz="1700" b="1" dirty="0">
                <a:solidFill>
                  <a:srgbClr val="B83227"/>
                </a:solidFill>
                <a:latin typeface="Amiri" pitchFamily="2" charset="-78"/>
                <a:cs typeface="Amiri" pitchFamily="2" charset="-78"/>
              </a:rPr>
              <a:t>فِي الْبَيْتِ الْكَبِيرِ</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نَعْتٌ</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 (describing word)</a:t>
            </a:r>
            <a:endParaRPr lang="en-US" sz="1350" dirty="0"/>
          </a:p>
          <a:p>
            <a:pPr indent="0" marL="0">
              <a:buNone/>
            </a:pPr>
            <a:r>
              <a:rPr lang="en-US" sz="1100" i="1" dirty="0">
                <a:solidFill>
                  <a:srgbClr val="5A6472"/>
                </a:solidFill>
                <a:latin typeface="Calibri" pitchFamily="34" charset="0"/>
                <a:cs typeface="Amiri" pitchFamily="2" charset="-78"/>
              </a:rPr>
              <a:t>naʿ-tun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نُعُوتٌ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مَنْعُوتٌ</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being described</a:t>
            </a:r>
            <a:endParaRPr lang="en-US" sz="1350" dirty="0"/>
          </a:p>
          <a:p>
            <a:pPr indent="0" marL="0">
              <a:buNone/>
            </a:pPr>
            <a:r>
              <a:rPr lang="en-US" sz="1100" i="1" dirty="0">
                <a:solidFill>
                  <a:srgbClr val="5A6472"/>
                </a:solidFill>
                <a:latin typeface="Calibri" pitchFamily="34" charset="0"/>
                <a:cs typeface="Amiri" pitchFamily="2" charset="-78"/>
              </a:rPr>
              <a:t>man-ʿū-tun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الْبَيْتُ</a:t>
            </a:r>
            <a:pPr algn="l" indent="0" marL="0">
              <a:buNone/>
            </a:pPr>
            <a:r>
              <a:rPr lang="en-US" sz="1000" i="1" dirty="0">
                <a:solidFill>
                  <a:srgbClr val="8A6D1E"/>
                </a:solidFill>
                <a:latin typeface="Calibri" pitchFamily="34" charset="0"/>
                <a:cs typeface="Amiri" pitchFamily="2" charset="-78"/>
              </a:rPr>
              <a:t> in </a:t>
            </a:r>
            <a:pPr algn="l" indent="0" marL="0">
              <a:buNone/>
            </a:pPr>
            <a:r>
              <a:rPr lang="ar-SA" altLang="en-US" sz="1300" dirty="0">
                <a:solidFill>
                  <a:srgbClr val="8A6D1E"/>
                </a:solidFill>
                <a:latin typeface="Amiri" pitchFamily="2" charset="-78"/>
                <a:cs typeface="Amiri" pitchFamily="2" charset="-78"/>
              </a:rPr>
              <a:t>الْبَيْتُ الْكَبِيرُ</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مُطَابَقَةٌ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(matching)</a:t>
            </a:r>
            <a:endParaRPr lang="en-US" sz="1350" dirty="0"/>
          </a:p>
          <a:p>
            <a:pPr indent="0" marL="0">
              <a:buNone/>
            </a:pPr>
            <a:r>
              <a:rPr lang="en-US" sz="1100" i="1" dirty="0">
                <a:solidFill>
                  <a:srgbClr val="5A6472"/>
                </a:solidFill>
                <a:latin typeface="Calibri" pitchFamily="34" charset="0"/>
                <a:cs typeface="Amiri" pitchFamily="2" charset="-78"/>
              </a:rPr>
              <a:t>mu-ṭā-ba-qa-tun</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gender · number · definiteness · case</a:t>
            </a:r>
            <a:endParaRPr lang="en-US" sz="10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مُبْتَدَأٌ</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of a nominal sentence</a:t>
            </a:r>
            <a:endParaRPr lang="en-US" sz="1350" dirty="0"/>
          </a:p>
          <a:p>
            <a:pPr indent="0" marL="0">
              <a:buNone/>
            </a:pPr>
            <a:r>
              <a:rPr lang="en-US" sz="1100" i="1" dirty="0">
                <a:solidFill>
                  <a:srgbClr val="5A6472"/>
                </a:solidFill>
                <a:latin typeface="Calibri" pitchFamily="34" charset="0"/>
                <a:cs typeface="Amiri" pitchFamily="2" charset="-78"/>
              </a:rPr>
              <a:t>mub-ta-da-ʾun</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usually definite</a:t>
            </a:r>
            <a:endParaRPr lang="en-US" sz="10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predicate (what is said about it)</a:t>
            </a:r>
            <a:endParaRPr lang="en-US" sz="1350" dirty="0"/>
          </a:p>
          <a:p>
            <a:pPr indent="0" marL="0">
              <a:buNone/>
            </a:pPr>
            <a:r>
              <a:rPr lang="en-US" sz="1100" i="1" dirty="0">
                <a:solidFill>
                  <a:srgbClr val="5A6472"/>
                </a:solidFill>
                <a:latin typeface="Calibri" pitchFamily="34" charset="0"/>
                <a:cs typeface="Amiri" pitchFamily="2" charset="-78"/>
              </a:rPr>
              <a:t>kha-ba-run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usually indefinite</a:t>
            </a:r>
            <a:endParaRPr lang="en-US" sz="10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الْإِشَارَةِ</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demonstrative (this / these)</a:t>
            </a:r>
            <a:endParaRPr lang="en-US" sz="1350" dirty="0"/>
          </a:p>
          <a:p>
            <a:pPr indent="0" marL="0">
              <a:buNone/>
            </a:pPr>
            <a:r>
              <a:rPr lang="en-US" sz="1100" i="1" dirty="0">
                <a:solidFill>
                  <a:srgbClr val="5A6472"/>
                </a:solidFill>
                <a:latin typeface="Calibri" pitchFamily="34" charset="0"/>
                <a:cs typeface="Amiri" pitchFamily="2" charset="-78"/>
              </a:rPr>
              <a:t>is-mu al-i-shā-ra-ti</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هٰذَا · هٰذِهِ · هٰؤُلَاءِ</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(rational)</a:t>
            </a:r>
            <a:endParaRPr lang="en-US" sz="1350" dirty="0"/>
          </a:p>
          <a:p>
            <a:pPr indent="0" marL="0">
              <a:buNone/>
            </a:pPr>
            <a:r>
              <a:rPr lang="en-US" sz="1100" i="1" dirty="0">
                <a:solidFill>
                  <a:srgbClr val="5A6472"/>
                </a:solidFill>
                <a:latin typeface="Calibri" pitchFamily="34" charset="0"/>
                <a:cs typeface="Amiri" pitchFamily="2" charset="-78"/>
              </a:rPr>
              <a:t>ʿā-qi-lun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طُلَّابٌ · مُعَلِّمَاتٌ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عَاقِلٍ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(things, animals)</a:t>
            </a:r>
            <a:endParaRPr lang="en-US" sz="1350" dirty="0"/>
          </a:p>
          <a:p>
            <a:pPr indent="0" marL="0">
              <a:buNone/>
            </a:pPr>
            <a:r>
              <a:rPr lang="en-US" sz="1100" i="1" dirty="0">
                <a:solidFill>
                  <a:srgbClr val="5A6472"/>
                </a:solidFill>
                <a:latin typeface="Calibri" pitchFamily="34" charset="0"/>
                <a:cs typeface="Amiri" pitchFamily="2" charset="-78"/>
              </a:rPr>
              <a:t>ghay-ru ʿā-qi-lin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مَدَارِسُ</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FOUR AGREEMENT DECISIONS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adjective is a mirror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أَرْبَعَةُ أَوْجُهٍ لِلْمُطَابَقَةِ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Arabic adjective normally comes AFTER its noun and copies key information from it.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Gender: a masculine noun takes a masculine adjective; a feminine noun takes a feminine adjective.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Number: for people, the adjective matches singular, dual or plural.</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Definiteness: inside one phrase, an indefinite noun takes an indefinite adjective; a definite noun takes a definite adjective.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Case (Stretch): when endings are shown, noun and adjective share -u, -a or -i.</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وَلَدٌ مُجْتَهِدٌ · بِنْتٌ مُجْتَهِدَةٌ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gender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طَالِبَانِ مُجْتَهِدَانِ · طُلَّابٌ مُجْتَهِدُونَ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number (people)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كِتَابٌ مُفِيدٌ · الْكِتَابُ الْمُفِيدُ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definiteness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الْبَيْتِ الْكَبِيرِ</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case: both genitive after </a:t>
            </a:r>
            <a:pPr algn="ctr" indent="0" marL="0">
              <a:buNone/>
            </a:pPr>
            <a:r>
              <a:rPr lang="ar-SA" altLang="en-US" sz="1450" dirty="0">
                <a:solidFill>
                  <a:srgbClr val="5A6472"/>
                </a:solidFill>
                <a:latin typeface="Amiri" pitchFamily="2" charset="-78"/>
                <a:cs typeface="Amiri" pitchFamily="2" charset="-78"/>
              </a:rPr>
              <a:t>فِي</a:t>
            </a:r>
            <a:pPr algn="ctr" indent="0" marL="0">
              <a:buNone/>
            </a:pPr>
            <a:r>
              <a:rPr lang="en-US" sz="1100" i="1" dirty="0">
                <a:solidFill>
                  <a:srgbClr val="5A6472"/>
                </a:solidFill>
                <a:latin typeface="Calibri" pitchFamily="34" charset="0"/>
                <a:cs typeface="Amiri" pitchFamily="2" charset="-78"/>
              </a:rPr>
              <a:t>  ·  Stretch</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Order of thought (website): identify the noun → decide its meaning and form → make the adjective copy the relevant features.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WHAT MATCHES?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Noun + adjective: every feature matches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يَتَطَابَقُ؟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matches?</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8" name="Text 15"/>
          <p:cNvSpPr txBox="1"/>
          <p:nvPr/>
        </p:nvSpPr>
        <p:spPr>
          <a:xfrm>
            <a:off x="32735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 singular · indefinite</a:t>
            </a:r>
            <a:endParaRPr lang="en-US" sz="1100" dirty="0"/>
          </a:p>
        </p:txBody>
      </p:sp>
      <p:sp>
        <p:nvSpPr>
          <p:cNvPr id="22" name="Text 19"/>
          <p:cNvSpPr txBox="1"/>
          <p:nvPr/>
        </p:nvSpPr>
        <p:spPr>
          <a:xfrm>
            <a:off x="548640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طَوِيلٌ</a:t>
            </a:r>
            <a:endParaRPr lang="ar-SA" sz="2400" dirty="0"/>
          </a:p>
        </p:txBody>
      </p:sp>
      <p:sp>
        <p:nvSpPr>
          <p:cNvPr id="23" name="Text 20"/>
          <p:cNvSpPr txBox="1"/>
          <p:nvPr/>
        </p:nvSpPr>
        <p:spPr>
          <a:xfrm>
            <a:off x="329184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وَلَدٌ</a:t>
            </a:r>
            <a:endParaRPr lang="ar-SA" sz="240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tall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singular · definite</a:t>
            </a:r>
            <a:endParaRPr lang="en-US" sz="1100" dirty="0"/>
          </a:p>
        </p:txBody>
      </p:sp>
      <p:sp>
        <p:nvSpPr>
          <p:cNvPr id="29" name="Text 26"/>
          <p:cNvSpPr txBox="1"/>
          <p:nvPr/>
        </p:nvSpPr>
        <p:spPr>
          <a:xfrm>
            <a:off x="548640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الطَّوِيلَةُ</a:t>
            </a:r>
            <a:endParaRPr lang="ar-SA" sz="2400" dirty="0"/>
          </a:p>
        </p:txBody>
      </p:sp>
      <p:sp>
        <p:nvSpPr>
          <p:cNvPr id="30" name="Text 27"/>
          <p:cNvSpPr txBox="1"/>
          <p:nvPr/>
        </p:nvSpPr>
        <p:spPr>
          <a:xfrm>
            <a:off x="329184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الْبِنْتُ</a:t>
            </a:r>
            <a:endParaRPr lang="ar-SA" sz="2400" dirty="0"/>
          </a:p>
        </p:txBody>
      </p:sp>
      <p:sp>
        <p:nvSpPr>
          <p:cNvPr id="31" name="Text 28"/>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tall girl</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 dual · indefinite</a:t>
            </a:r>
            <a:endParaRPr lang="en-US" sz="1100" dirty="0"/>
          </a:p>
        </p:txBody>
      </p:sp>
      <p:sp>
        <p:nvSpPr>
          <p:cNvPr id="36" name="Text 33"/>
          <p:cNvSpPr txBox="1"/>
          <p:nvPr/>
        </p:nvSpPr>
        <p:spPr>
          <a:xfrm>
            <a:off x="548640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مُفِيدَانِ</a:t>
            </a:r>
            <a:endParaRPr lang="ar-SA" sz="2400" dirty="0"/>
          </a:p>
        </p:txBody>
      </p:sp>
      <p:sp>
        <p:nvSpPr>
          <p:cNvPr id="37" name="Text 34"/>
          <p:cNvSpPr txBox="1"/>
          <p:nvPr/>
        </p:nvSpPr>
        <p:spPr>
          <a:xfrm>
            <a:off x="329184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كِتَابَانِ</a:t>
            </a:r>
            <a:endParaRPr lang="ar-SA" sz="2400" dirty="0"/>
          </a:p>
        </p:txBody>
      </p:sp>
      <p:sp>
        <p:nvSpPr>
          <p:cNvPr id="38" name="Text 35"/>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useful books</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plural (human) · definite</a:t>
            </a:r>
            <a:endParaRPr lang="en-US" sz="1100" dirty="0"/>
          </a:p>
        </p:txBody>
      </p:sp>
      <p:sp>
        <p:nvSpPr>
          <p:cNvPr id="41" name="Text 38"/>
          <p:cNvSpPr txBox="1"/>
          <p:nvPr/>
        </p:nvSpPr>
        <p:spPr>
          <a:xfrm>
            <a:off x="548640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الْمُجْتَهِدَاتُ</a:t>
            </a:r>
            <a:endParaRPr lang="ar-SA" sz="2400" dirty="0"/>
          </a:p>
        </p:txBody>
      </p:sp>
      <p:sp>
        <p:nvSpPr>
          <p:cNvPr id="42" name="Text 39"/>
          <p:cNvSpPr txBox="1"/>
          <p:nvPr/>
        </p:nvSpPr>
        <p:spPr>
          <a:xfrm>
            <a:off x="329184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a:t>
            </a:r>
            <a:endParaRPr lang="ar-SA" sz="2400" dirty="0"/>
          </a:p>
        </p:txBody>
      </p:sp>
      <p:sp>
        <p:nvSpPr>
          <p:cNvPr id="43" name="Text 40"/>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hardworking female students</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table right to left in Arabic: noun first, then the adjective copies it.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PHRASE OR COMPLETE SENTENCE?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Definiteness decides: phrase or sentence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تَرْكِيبٌ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both indefinite.</a:t>
            </a:r>
            <a:endParaRPr lang="en-US" sz="1100" dirty="0"/>
          </a:p>
        </p:txBody>
      </p:sp>
      <p:sp>
        <p:nvSpPr>
          <p:cNvPr id="21" name="Text 18"/>
          <p:cNvSpPr txBox="1"/>
          <p:nvPr/>
        </p:nvSpPr>
        <p:spPr>
          <a:xfrm>
            <a:off x="38404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كَبِيرٌ</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large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both definite.</a:t>
            </a:r>
            <a:endParaRPr lang="en-US" sz="1100" dirty="0"/>
          </a:p>
        </p:txBody>
      </p:sp>
      <p:sp>
        <p:nvSpPr>
          <p:cNvPr id="27" name="Text 24"/>
          <p:cNvSpPr txBox="1"/>
          <p:nvPr/>
        </p:nvSpPr>
        <p:spPr>
          <a:xfrm>
            <a:off x="38404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الْبَيْتُ الْكَبِيرُ</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large house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Sentence: definite + indefinite.</a:t>
            </a:r>
            <a:endParaRPr lang="en-US" sz="1100" dirty="0"/>
          </a:p>
        </p:txBody>
      </p:sp>
      <p:sp>
        <p:nvSpPr>
          <p:cNvPr id="33" name="Text 30"/>
          <p:cNvSpPr txBox="1"/>
          <p:nvPr/>
        </p:nvSpPr>
        <p:spPr>
          <a:xfrm>
            <a:off x="38404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الْبَيْتُ كَبِيرٌ.</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is large.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adjectives, both matching.</a:t>
            </a:r>
            <a:endParaRPr lang="en-US" sz="1100" dirty="0"/>
          </a:p>
        </p:txBody>
      </p:sp>
      <p:sp>
        <p:nvSpPr>
          <p:cNvPr id="39" name="Text 36"/>
          <p:cNvSpPr txBox="1"/>
          <p:nvPr/>
        </p:nvSpPr>
        <p:spPr>
          <a:xfrm>
            <a:off x="38404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كَبِيرٌ وَجَمِيلٌ</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large and beautiful house</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adjective matches the noun.</a:t>
            </a:r>
            <a:endParaRPr lang="en-US" sz="1100" dirty="0"/>
          </a:p>
        </p:txBody>
      </p:sp>
      <p:sp>
        <p:nvSpPr>
          <p:cNvPr id="43" name="Text 40"/>
          <p:cNvSpPr txBox="1"/>
          <p:nvPr/>
        </p:nvSpPr>
        <p:spPr>
          <a:xfrm>
            <a:off x="38404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الْمَدْرَسَةُ الْجَدِيدَةُ الْكَبِيرَةُ</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large new school</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predicates stay indefinite.</a:t>
            </a:r>
            <a:endParaRPr lang="en-US" sz="1100" dirty="0"/>
          </a:p>
        </p:txBody>
      </p:sp>
      <p:sp>
        <p:nvSpPr>
          <p:cNvPr id="47" name="Text 44"/>
          <p:cNvSpPr txBox="1"/>
          <p:nvPr/>
        </p:nvSpPr>
        <p:spPr>
          <a:xfrm>
            <a:off x="38404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الْمَدْرَسَةُ جَدِيدَةٌ وَكَبِيرَةٌ.</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is new and large.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use the full stop as your only clue — analyse definiteness first.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3 · DEMONSTRATIVES CHANGE THE PATTERN (WEBSITE SECTION)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a house” or “this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أَسْمَاءُ الْإِشَارَةِ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 </a:t>
            </a:r>
            <a:pPr algn="ctr" indent="0" marL="0">
              <a:buNone/>
            </a:pPr>
            <a:r>
              <a:rPr lang="ar-SA" altLang="en-US" sz="1450" b="1" dirty="0">
                <a:solidFill>
                  <a:srgbClr val="FFFFFF"/>
                </a:solidFill>
                <a:latin typeface="Amiri" pitchFamily="2" charset="-78"/>
                <a:cs typeface="Amiri" pitchFamily="2" charset="-78"/>
              </a:rPr>
              <a:t>هٰذَا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indefinite noun → a sentence</a:t>
            </a:r>
            <a:endParaRPr lang="en-US" sz="1100" dirty="0"/>
          </a:p>
        </p:txBody>
      </p:sp>
      <p:sp>
        <p:nvSpPr>
          <p:cNvPr id="21" name="Text 18"/>
          <p:cNvSpPr txBox="1"/>
          <p:nvPr/>
        </p:nvSpPr>
        <p:spPr>
          <a:xfrm>
            <a:off x="384048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بَيْتٌ.</a:t>
            </a:r>
            <a:endParaRPr lang="ar-SA" sz="26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definite noun → a phrase</a:t>
            </a:r>
            <a:endParaRPr lang="en-US" sz="1100" dirty="0"/>
          </a:p>
        </p:txBody>
      </p:sp>
      <p:sp>
        <p:nvSpPr>
          <p:cNvPr id="27" name="Text 24"/>
          <p:cNvSpPr txBox="1"/>
          <p:nvPr/>
        </p:nvSpPr>
        <p:spPr>
          <a:xfrm>
            <a:off x="384048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الْبَيْتُ</a:t>
            </a:r>
            <a:endParaRPr lang="ar-SA" sz="26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house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attributive adjective</a:t>
            </a:r>
            <a:endParaRPr lang="en-US" sz="1100" dirty="0"/>
          </a:p>
        </p:txBody>
      </p:sp>
      <p:sp>
        <p:nvSpPr>
          <p:cNvPr id="33" name="Text 30"/>
          <p:cNvSpPr txBox="1"/>
          <p:nvPr/>
        </p:nvSpPr>
        <p:spPr>
          <a:xfrm>
            <a:off x="384048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الْبَيْتُ الْكَبِيرُ</a:t>
            </a:r>
            <a:endParaRPr lang="ar-SA" sz="26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large house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predicate adjective</a:t>
            </a:r>
            <a:endParaRPr lang="en-US" sz="1100" dirty="0"/>
          </a:p>
        </p:txBody>
      </p:sp>
      <p:sp>
        <p:nvSpPr>
          <p:cNvPr id="37" name="Text 34"/>
          <p:cNvSpPr txBox="1"/>
          <p:nvPr/>
        </p:nvSpPr>
        <p:spPr>
          <a:xfrm>
            <a:off x="384048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الْبَيْتُ كَبِيرٌ.</a:t>
            </a:r>
            <a:endParaRPr lang="ar-SA" sz="2600" dirty="0"/>
          </a:p>
        </p:txBody>
      </p:sp>
      <p:sp>
        <p:nvSpPr>
          <p:cNvPr id="38" name="Text 35"/>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house is large.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indefinite phrase is the predicate</a:t>
            </a:r>
            <a:endParaRPr lang="en-US" sz="1100" dirty="0"/>
          </a:p>
        </p:txBody>
      </p:sp>
      <p:sp>
        <p:nvSpPr>
          <p:cNvPr id="41" name="Text 38"/>
          <p:cNvSpPr txBox="1"/>
          <p:nvPr/>
        </p:nvSpPr>
        <p:spPr>
          <a:xfrm>
            <a:off x="384048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هٰذِهِ مَدِينَةٌ جَمِيلَةٌ.</a:t>
            </a:r>
            <a:endParaRPr lang="ar-SA" sz="2600" dirty="0"/>
          </a:p>
        </p:txBody>
      </p:sp>
      <p:sp>
        <p:nvSpPr>
          <p:cNvPr id="42" name="Text 39"/>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beautiful city.</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Three-step reading strategy (website): find the demonstrative → does the noun have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 does the adjective have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HUMAN AND NON-HUMAN PLURALS (WEBSITE TABLE)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58338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8" name="Text 15"/>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adjective</a:t>
            </a:r>
            <a:endParaRPr lang="en-US" sz="1100" dirty="0"/>
          </a:p>
        </p:txBody>
      </p:sp>
      <p:sp>
        <p:nvSpPr>
          <p:cNvPr id="22" name="Text 19"/>
          <p:cNvSpPr txBox="1"/>
          <p:nvPr/>
        </p:nvSpPr>
        <p:spPr>
          <a:xfrm>
            <a:off x="585216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الْمَاهِرُونَ</a:t>
            </a:r>
            <a:endParaRPr lang="ar-SA" sz="2400" dirty="0"/>
          </a:p>
        </p:txBody>
      </p:sp>
      <p:sp>
        <p:nvSpPr>
          <p:cNvPr id="23" name="Text 20"/>
          <p:cNvSpPr txBox="1"/>
          <p:nvPr/>
        </p:nvSpPr>
        <p:spPr>
          <a:xfrm>
            <a:off x="32918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الْمُعَلِّمُونَ</a:t>
            </a:r>
            <a:endParaRPr lang="ar-SA" sz="24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 masculine / mixed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plural adjective</a:t>
            </a:r>
            <a:endParaRPr lang="en-US" sz="1100" dirty="0"/>
          </a:p>
        </p:txBody>
      </p:sp>
      <p:sp>
        <p:nvSpPr>
          <p:cNvPr id="29" name="Text 26"/>
          <p:cNvSpPr txBox="1"/>
          <p:nvPr/>
        </p:nvSpPr>
        <p:spPr>
          <a:xfrm>
            <a:off x="585216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الْمَاهِرَاتُ</a:t>
            </a:r>
            <a:endParaRPr lang="ar-SA" sz="2400" dirty="0"/>
          </a:p>
        </p:txBody>
      </p:sp>
      <p:sp>
        <p:nvSpPr>
          <p:cNvPr id="30" name="Text 27"/>
          <p:cNvSpPr txBox="1"/>
          <p:nvPr/>
        </p:nvSpPr>
        <p:spPr>
          <a:xfrm>
            <a:off x="32918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الْمُعَلِّمَاتُ</a:t>
            </a:r>
            <a:endParaRPr lang="ar-SA" sz="24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 feminine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 adjective</a:t>
            </a:r>
            <a:endParaRPr lang="en-US" sz="1100" dirty="0"/>
          </a:p>
        </p:txBody>
      </p:sp>
      <p:sp>
        <p:nvSpPr>
          <p:cNvPr id="36" name="Text 33"/>
          <p:cNvSpPr txBox="1"/>
          <p:nvPr/>
        </p:nvSpPr>
        <p:spPr>
          <a:xfrm>
            <a:off x="585216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السَّرِيعَةُ</a:t>
            </a:r>
            <a:endParaRPr lang="ar-SA" sz="2400" dirty="0"/>
          </a:p>
        </p:txBody>
      </p:sp>
      <p:sp>
        <p:nvSpPr>
          <p:cNvPr id="37" name="Text 34"/>
          <p:cNvSpPr txBox="1"/>
          <p:nvPr/>
        </p:nvSpPr>
        <p:spPr>
          <a:xfrm>
            <a:off x="32918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السَّيَّارَاتُ</a:t>
            </a:r>
            <a:endParaRPr lang="ar-SA" sz="24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 adjective</a:t>
            </a:r>
            <a:endParaRPr lang="en-US" sz="1100" dirty="0"/>
          </a:p>
        </p:txBody>
      </p:sp>
      <p:sp>
        <p:nvSpPr>
          <p:cNvPr id="43" name="Text 40"/>
          <p:cNvSpPr txBox="1"/>
          <p:nvPr/>
        </p:nvSpPr>
        <p:spPr>
          <a:xfrm>
            <a:off x="585216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الْكَبِيرَةُ</a:t>
            </a:r>
            <a:endParaRPr lang="ar-SA" sz="2400" dirty="0"/>
          </a:p>
        </p:txBody>
      </p:sp>
      <p:sp>
        <p:nvSpPr>
          <p:cNvPr id="44" name="Text 41"/>
          <p:cNvSpPr txBox="1"/>
          <p:nvPr/>
        </p:nvSpPr>
        <p:spPr>
          <a:xfrm>
            <a:off x="32918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الْمَدَارِسُ</a:t>
            </a:r>
            <a:endParaRPr lang="ar-SA" sz="2400" dirty="0"/>
          </a:p>
        </p:txBody>
      </p:sp>
      <p:sp>
        <p:nvSpPr>
          <p:cNvPr id="45" name="Text 42"/>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(broken plural)</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adjective for people</a:t>
            </a:r>
            <a:endParaRPr lang="en-US" sz="1100" dirty="0"/>
          </a:p>
        </p:txBody>
      </p:sp>
      <p:sp>
        <p:nvSpPr>
          <p:cNvPr id="48" name="Text 45"/>
          <p:cNvSpPr txBox="1"/>
          <p:nvPr/>
        </p:nvSpPr>
        <p:spPr>
          <a:xfrm>
            <a:off x="585216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صِغَارٌ</a:t>
            </a:r>
            <a:endParaRPr lang="ar-SA" sz="2400" dirty="0"/>
          </a:p>
        </p:txBody>
      </p:sp>
      <p:sp>
        <p:nvSpPr>
          <p:cNvPr id="49" name="Text 46"/>
          <p:cNvSpPr txBox="1"/>
          <p:nvPr/>
        </p:nvSpPr>
        <p:spPr>
          <a:xfrm>
            <a:off x="32918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أَطْفَالٌ</a:t>
            </a:r>
            <a:endParaRPr lang="ar-SA" sz="24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confuse form with meaning (website): </a:t>
            </a:r>
            <a:pPr algn="l" indent="0" marL="0">
              <a:buNone/>
            </a:pPr>
            <a:r>
              <a:rPr lang="ar-SA" altLang="en-US" sz="1500" b="1" dirty="0">
                <a:solidFill>
                  <a:srgbClr val="1B3B6F"/>
                </a:solidFill>
                <a:latin typeface="Amiri" pitchFamily="2" charset="-78"/>
                <a:cs typeface="Amiri" pitchFamily="2" charset="-78"/>
              </a:rPr>
              <a:t>أَطْفَالٌ</a:t>
            </a:r>
            <a:pPr algn="l" indent="0" marL="0">
              <a:buNone/>
            </a:pPr>
            <a:r>
              <a:rPr lang="en-US" sz="1150" b="1" dirty="0">
                <a:solidFill>
                  <a:srgbClr val="1B3B6F"/>
                </a:solidFill>
                <a:latin typeface="Calibri" pitchFamily="34" charset="0"/>
                <a:cs typeface="Amiri" pitchFamily="2" charset="-78"/>
              </a:rPr>
              <a:t> are people; </a:t>
            </a:r>
            <a:pPr algn="l" indent="0" marL="0">
              <a:buNone/>
            </a:pPr>
            <a:r>
              <a:rPr lang="ar-SA" altLang="en-US" sz="1500" b="1" dirty="0">
                <a:solidFill>
                  <a:srgbClr val="1B3B6F"/>
                </a:solidFill>
                <a:latin typeface="Amiri" pitchFamily="2" charset="-78"/>
                <a:cs typeface="Amiri" pitchFamily="2" charset="-78"/>
              </a:rPr>
              <a:t>مَدَارِسُ</a:t>
            </a:r>
            <a:pPr algn="l" indent="0" marL="0">
              <a:buNone/>
            </a:pPr>
            <a:r>
              <a:rPr lang="en-US" sz="1150" b="1" dirty="0">
                <a:solidFill>
                  <a:srgbClr val="1B3B6F"/>
                </a:solidFill>
                <a:latin typeface="Calibri" pitchFamily="34" charset="0"/>
                <a:cs typeface="Amiri" pitchFamily="2" charset="-78"/>
              </a:rPr>
              <a:t> are things.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GRAMMAR · PART 5 · DEFINITE WITHOUT </a:t>
            </a:r>
            <a:pPr algn="l" indent="0" marL="0">
              <a:buNone/>
            </a:pPr>
            <a:r>
              <a:rPr lang="ar-SA" altLang="en-US" sz="1300" b="1" dirty="0">
                <a:solidFill>
                  <a:srgbClr val="1B3B6F"/>
                </a:solidFill>
                <a:latin typeface="Amiri" pitchFamily="2" charset="-78"/>
                <a:cs typeface="Amiri" pitchFamily="2" charset="-78"/>
              </a:rPr>
              <a:t>الـ</a:t>
            </a:r>
            <a:pPr algn="l" indent="0" marL="0">
              <a:buNone/>
            </a:pPr>
            <a:r>
              <a:rPr lang="en-US" sz="1000" b="1" dirty="0">
                <a:solidFill>
                  <a:srgbClr val="1B3B6F"/>
                </a:solidFill>
                <a:latin typeface="Calibri" pitchFamily="34" charset="0"/>
                <a:cs typeface="Amiri" pitchFamily="2" charset="-78"/>
              </a:rPr>
              <a:t> (WEBSITE SECTION)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Definite — but no </a:t>
            </a:r>
            <a:pPr algn="l" indent="0" marL="0">
              <a:buNone/>
            </a:pPr>
            <a:r>
              <a:rPr lang="ar-SA" altLang="en-US" sz="3650" b="1" dirty="0">
                <a:solidFill>
                  <a:srgbClr val="1B3B6F"/>
                </a:solidFill>
                <a:latin typeface="Amiri" pitchFamily="2" charset="-78"/>
                <a:cs typeface="Amiri" pitchFamily="2" charset="-78"/>
              </a:rPr>
              <a:t>الـ</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الْمَعْرِفَةُ بِغَيْرِ «الـ»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SUFFIX</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كِتَابِي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كِتَابِي الْجَدِيدُ</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new book — </a:t>
            </a:r>
            <a:pPr algn="ctr" indent="0" marL="0">
              <a:buNone/>
            </a:pPr>
            <a:r>
              <a:rPr lang="ar-SA" altLang="en-US" sz="1550" dirty="0">
                <a:solidFill>
                  <a:srgbClr val="5A6472"/>
                </a:solidFill>
                <a:latin typeface="Amiri" pitchFamily="2" charset="-78"/>
                <a:cs typeface="Amiri" pitchFamily="2" charset="-78"/>
              </a:rPr>
              <a:t>ـِي</a:t>
            </a:r>
            <a:pPr algn="ctr" indent="0" marL="0">
              <a:buNone/>
            </a:pPr>
            <a:r>
              <a:rPr lang="en-US" sz="1200" i="1" dirty="0">
                <a:solidFill>
                  <a:srgbClr val="5A6472"/>
                </a:solidFill>
                <a:latin typeface="Calibri" pitchFamily="34" charset="0"/>
                <a:cs typeface="Amiri" pitchFamily="2" charset="-78"/>
              </a:rPr>
              <a:t> makes the noun definite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كِتَابِي جَدِيدٌ</a:t>
            </a:r>
            <a:pPr algn="l" indent="0" marL="0">
              <a:buNone/>
            </a:pPr>
            <a:r>
              <a:rPr lang="en-US" sz="1100" dirty="0">
                <a:solidFill>
                  <a:srgbClr val="1F2A37"/>
                </a:solidFill>
                <a:latin typeface="Calibri" pitchFamily="34" charset="0"/>
                <a:cs typeface="Amiri" pitchFamily="2" charset="-78"/>
              </a:rPr>
              <a:t> = My book is new.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NAME</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مَرْيَمُ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مَرْيَمُ الْمُجْتَهِدَةُ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hardworking Maryam — a name is definite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مَرْيَمُ مُجْتَهِدَةٌ</a:t>
            </a:r>
            <a:pPr algn="l" indent="0" marL="0">
              <a:buNone/>
            </a:pPr>
            <a:r>
              <a:rPr lang="en-US" sz="1100" dirty="0">
                <a:solidFill>
                  <a:srgbClr val="1F2A37"/>
                </a:solidFill>
                <a:latin typeface="Calibri" pitchFamily="34" charset="0"/>
                <a:cs typeface="Amiri" pitchFamily="2" charset="-78"/>
              </a:rPr>
              <a:t> = Maryam is hardworking.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IḌĀFA</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بَابُ الْمَدْرَسَةِ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بَابُ الْمَدْرَسَةِ الْجَدِيدُ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school’s new door — masculine → describes </a:t>
            </a:r>
            <a:pPr algn="ctr" indent="0" marL="0">
              <a:buNone/>
            </a:pPr>
            <a:r>
              <a:rPr lang="ar-SA" altLang="en-US" sz="1550" dirty="0">
                <a:solidFill>
                  <a:srgbClr val="5A6472"/>
                </a:solidFill>
                <a:latin typeface="Amiri" pitchFamily="2" charset="-78"/>
                <a:cs typeface="Amiri" pitchFamily="2" charset="-78"/>
              </a:rPr>
              <a:t>بَابُ</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الْجَدِيدَةِ</a:t>
            </a:r>
            <a:pPr algn="l" indent="0" marL="0">
              <a:buNone/>
            </a:pPr>
            <a:r>
              <a:rPr lang="en-US" sz="1100" dirty="0">
                <a:solidFill>
                  <a:srgbClr val="1F2A37"/>
                </a:solidFill>
                <a:latin typeface="Calibri" pitchFamily="34" charset="0"/>
                <a:cs typeface="Amiri" pitchFamily="2" charset="-78"/>
              </a:rPr>
              <a:t> would describe the school.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 clinic: a suffix and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never sit on the same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كِتَابِي الْمُفِيدُ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الْكِتَابِي الْمُفِيدُ</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مَدْرَسَةٌ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الْجَدِيدَةُ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الْمُعَلِّمُ ...</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الْمَاهِرُ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مَاهِرٌ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الْمَاهِرَةُ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طَالِبَتَانِ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مُجْتَهِدَتَانِ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الْمُجْتَهِدَتَانِ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internally inconsistent?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 مُجْتَهِدَةٌ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سَرِيعَةٌ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 الْجَمِيلُ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مَدْرَسَةٌ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الْجَدِيدَةُ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جَدِيدَةٌ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feminine, singular and indefinite.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الْمُعَلِّمُ ...</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الْمَاهِرُ</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مَاهِرٌ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الْمَاهِرَةُ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Inside one phrase, a masculine definite noun takes a masculine definite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طَالِبَتَانِ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مُجْتَهِدَانِ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مُجْتَهِدَتَانِ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الْمُجْتَهِدَتَانِ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feminine dual and indefinite, so the adjective matches all three features.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internally inconsistent?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 مُجْتَهِدَةٌ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سَيَّارَةٌ سَرِيعَةٌ</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 الْجَمِيلُ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طَالِب</a:t>
            </a:r>
            <a:pPr algn="l" indent="0" marL="0">
              <a:buNone/>
            </a:pPr>
            <a:r>
              <a:rPr lang="en-US" sz="1050" i="1" dirty="0">
                <a:solidFill>
                  <a:srgbClr val="8A6D1E"/>
                </a:solidFill>
                <a:latin typeface="Calibri" pitchFamily="34" charset="0"/>
                <a:cs typeface="Amiri" pitchFamily="2" charset="-78"/>
              </a:rPr>
              <a:t> is masculine but </a:t>
            </a:r>
            <a:pPr algn="l" indent="0" marL="0">
              <a:buNone/>
            </a:pPr>
            <a:r>
              <a:rPr lang="ar-SA" altLang="en-US" sz="1350" dirty="0">
                <a:solidFill>
                  <a:srgbClr val="8A6D1E"/>
                </a:solidFill>
                <a:latin typeface="Amiri" pitchFamily="2" charset="-78"/>
                <a:cs typeface="Amiri" pitchFamily="2" charset="-78"/>
              </a:rPr>
              <a:t>مُجْتَهِدَة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build a phrase, then a sentence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singular, indefinite.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Make it known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particular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Phrase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الْمَدْرَسَةُ الْجَدِيدَةُ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copies: f +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الْمَدْرَسَةُ الْجَدِيدَةُ كَبِيرَةٌ.</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Predicate: no </a:t>
            </a:r>
            <a:pPr algn="l" indent="0" marL="0">
              <a:buNone/>
            </a:pPr>
            <a:r>
              <a:rPr lang="ar-SA" altLang="en-US" sz="1500" dirty="0">
                <a:solidFill>
                  <a:srgbClr val="1F2A37"/>
                </a:solidFill>
                <a:latin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PHRASE (both definite)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PREDICATE (indefinite)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a:t>
            </a:r>
            <a:pPr rtl="1" algn="r" indent="0" marL="0">
              <a:buNone/>
            </a:pPr>
            <a:r>
              <a:rPr lang="ar-SA" altLang="en-US" sz="2600" b="1" dirty="0">
                <a:solidFill>
                  <a:srgbClr val="0E7C86"/>
                </a:solidFill>
                <a:latin typeface="Amiri" pitchFamily="2" charset="-78"/>
                <a:cs typeface="Amiri" pitchFamily="2" charset="-78"/>
              </a:rPr>
              <a:t>مَدْرَسَتِي الْجَدِيدَةُ</a:t>
            </a:r>
            <a:pPr rtl="1" algn="r" indent="0" marL="0">
              <a:buNone/>
            </a:pPr>
            <a:r>
              <a:rPr lang="ar-SA" altLang="en-US" sz="2600" b="1" dirty="0">
                <a:solidFill>
                  <a:srgbClr val="1B3B6F"/>
                </a:solidFill>
                <a:latin typeface="Amiri" pitchFamily="2" charset="-78"/>
                <a:cs typeface="Amiri" pitchFamily="2" charset="-78"/>
              </a:rPr>
              <a:t>. الْمَدْرَسَةُ </a:t>
            </a:r>
            <a:pPr rtl="1" algn="r" indent="0" marL="0">
              <a:buNone/>
            </a:pPr>
            <a:r>
              <a:rPr lang="ar-SA" altLang="en-US" sz="2600" b="1" dirty="0">
                <a:solidFill>
                  <a:srgbClr val="D6336C"/>
                </a:solidFill>
                <a:latin typeface="Amiri" pitchFamily="2" charset="-78"/>
                <a:cs typeface="Amiri" pitchFamily="2" charset="-78"/>
              </a:rPr>
              <a:t>كَبِيرَةٌ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وَحَدِيثَةٌ</a:t>
            </a:r>
            <a:pPr rtl="1" algn="r" indent="0" marL="0">
              <a:buNone/>
            </a:pPr>
            <a:r>
              <a:rPr lang="ar-SA" altLang="en-US" sz="2600" b="1" dirty="0">
                <a:solidFill>
                  <a:srgbClr val="1B3B6F"/>
                </a:solidFill>
                <a:latin typeface="Amiri" pitchFamily="2" charset="-78"/>
                <a:cs typeface="Amiri" pitchFamily="2" charset="-78"/>
              </a:rPr>
              <a:t>، وَفِيهَا </a:t>
            </a:r>
            <a:pPr rtl="1" algn="r" indent="0" marL="0">
              <a:buNone/>
            </a:pPr>
            <a:r>
              <a:rPr lang="ar-SA" altLang="en-US" sz="2600" b="1" dirty="0">
                <a:solidFill>
                  <a:srgbClr val="0E7C86"/>
                </a:solidFill>
                <a:latin typeface="Amiri" pitchFamily="2" charset="-78"/>
                <a:cs typeface="Amiri" pitchFamily="2" charset="-78"/>
              </a:rPr>
              <a:t>مَكْتَبَةٌ هَادِئَةٌ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new school. The school is big and modern, and it has a quiet library.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الْكِتَابُ الْمُفِيدُ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useful book</a:t>
            </a:r>
            <a:endParaRPr lang="en-US" sz="1250" dirty="0"/>
          </a:p>
          <a:p>
            <a:pPr indent="0" marL="0">
              <a:buNone/>
            </a:pPr>
            <a:r>
              <a:rPr lang="en-US" sz="1050" i="1" dirty="0">
                <a:solidFill>
                  <a:srgbClr val="8A6D1E"/>
                </a:solidFill>
                <a:latin typeface="Calibri" pitchFamily="34" charset="0"/>
                <a:cs typeface="Amiri" pitchFamily="2" charset="-78"/>
              </a:rPr>
              <a:t>Demonstrative phrase + attributive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الْكِتَابُ مُفِيدٌ.</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book is useful.</a:t>
            </a:r>
            <a:endParaRPr lang="en-US" sz="1250" dirty="0"/>
          </a:p>
          <a:p>
            <a:pPr indent="0" marL="0">
              <a:buNone/>
            </a:pPr>
            <a:r>
              <a:rPr lang="en-US" sz="1050" i="1" dirty="0">
                <a:solidFill>
                  <a:srgbClr val="8A6D1E"/>
                </a:solidFill>
                <a:latin typeface="Calibri" pitchFamily="34" charset="0"/>
                <a:cs typeface="Amiri" pitchFamily="2" charset="-78"/>
              </a:rPr>
              <a:t>Website speaking studio: now a sentence.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الْكُتُبُ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new books</a:t>
            </a:r>
            <a:endParaRPr lang="en-US" sz="1250" dirty="0"/>
          </a:p>
          <a:p>
            <a:pPr indent="0" marL="0">
              <a:buNone/>
            </a:pPr>
            <a:r>
              <a:rPr lang="en-US" sz="1050" i="1" dirty="0">
                <a:solidFill>
                  <a:srgbClr val="8A6D1E"/>
                </a:solidFill>
                <a:latin typeface="Calibri" pitchFamily="34" charset="0"/>
                <a:cs typeface="Amiri" pitchFamily="2" charset="-78"/>
              </a:rPr>
              <a:t>Non-human plural: feminine singular.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الطُّلَّابُ الْمُجْتَهِدُونَ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hardworking students</a:t>
            </a:r>
            <a:endParaRPr lang="en-US" sz="1250" dirty="0"/>
          </a:p>
          <a:p>
            <a:pPr indent="0" marL="0">
              <a:buNone/>
            </a:pPr>
            <a:r>
              <a:rPr lang="en-US" sz="1050" i="1" dirty="0">
                <a:solidFill>
                  <a:srgbClr val="8A6D1E"/>
                </a:solidFill>
                <a:latin typeface="Calibri" pitchFamily="34" charset="0"/>
                <a:cs typeface="Amiri" pitchFamily="2" charset="-78"/>
              </a:rPr>
              <a:t>Human plural: plural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Noun phrase or complete sentence?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الْبَيْتُ الْكَبِيرُ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الْبَيْتُ كَبِيرٌ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كِتَابٌ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الْكِتَابُ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كِتَابِي جَدِيدٌ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كِتَابِي الْجَدِيدُ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 جَمِيلَةٌ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الْمَدِينَةُ جَمِيلَةٌ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Noun phrase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Complete sentence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Noun phrase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الْبَيْتُ الْكَبِيرُ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كِتَابِي الْجَدِيدُ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مَدِينَةٌ جَمِيلَةٌ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Complete sentence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الْبَيْتُ كَبِيرٌ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كِتَابٌ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كِتَابِي جَدِيدٌ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الْمَدِينَةُ جَمِيلَةٌ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WEBSITE LISTENING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hear the relationship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cs typeface="Amiri" pitchFamily="2" charset="-78"/>
              </a:rPr>
              <a:t>شَقَّةٍ صَغِيرَةٍ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flat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small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flat is small.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cs typeface="Amiri" pitchFamily="2" charset="-78"/>
              </a:rPr>
              <a:t>الشَّقَّةَ مُرِيحَةٌ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comfortable flat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comfortable flat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flat is comfortable.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نَوَافِذُهَا الْكَبِيرَةُ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windows are large.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windows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large windows</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Ask: does the adjective IDENTIFY the noun, or COMPLETE a statement?</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شَقَّةٍ صَغِيرَةٍ، وَلٰكِنَّ الشَّقَّةَ مُرِيحَةٌ.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a small flat, but the flat is comfortable.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غُرْفَتِي الْجَدِيدَةُ مُضِيئَةٌ،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new room is bright,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وَنَوَافِذُهَا الْكَبِيرَةُ تُطِلُّ عَلَى حَدِيقَةٍ جَمِيلَةٍ.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its large windows overlook a beautiful garden.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الْحَدِيقَةِ أَشْجَارٌ طَوِيلَةٌ وَزُهُورٌ مُلَوَّنَةٌ.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garden there are tall trees and colourful flowers.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cs typeface="Amiri" pitchFamily="2" charset="-78"/>
              </a:rPr>
              <a:t>شَقَّةٍ صَغِيرَةٍ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flat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small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flat is small.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indefinite and genitive after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cs typeface="Amiri" pitchFamily="2" charset="-78"/>
              </a:rPr>
              <a:t>الشَّقَّةَ مُرِيحَةٌ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comfortable flat</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comfortable flat</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flat is comfortable.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definite; the adjective is an indefinite predicate.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نَوَافِذُهَا الْكَبِيرَةُ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windows are large.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windows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large windows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plural noun definite; the non-human plural adjective is feminine singular and definite.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Ask: does the adjective IDENTIFY the noun, or COMPLETE a statement?</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مَدْرَسَةٌ الْجَدِيدَةُ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Both definite?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الْكِتَابِي الْمُفِيدُ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الـ</a:t>
            </a:r>
            <a:pPr algn="l" indent="0" marL="0">
              <a:buNone/>
            </a:pPr>
            <a:r>
              <a:rPr lang="en-US" sz="1300" i="1" dirty="0">
                <a:solidFill>
                  <a:srgbClr val="5A6472"/>
                </a:solidFill>
                <a:latin typeface="Calibri" pitchFamily="34" charset="0"/>
                <a:cs typeface="Amiri" pitchFamily="2" charset="-78"/>
              </a:rPr>
              <a:t> AND a suffix?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الْكُتُبُ الْجَدِيدَاتُ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مَدْرَسَةٌ الْجَدِيدَةُ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الْمَدْرَسَةُ الْجَدِيدَةُ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and adjective cannot disagree in definiteness.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الْكِتَابِي الْمُفِيدُ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كِتَابِي الْمُفِيدُ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suffix and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never sit on the same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الْكُتُبُ الْجَدِيدَاتُ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الْكُتُبُ الْجَدِيدَةُ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4 “PLURAL AGREEMENT”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الْأَوْلَادُ ...</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الصَّغِيرُ</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الصَّغِيرَةُ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الصِّغَارُ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الْبَنَاتُ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الذَّكِيُّونَ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الذَّكِيَّاتُ</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الذَّكِيَّةُ</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الْحَقَائِبُ ...</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الثَّقِيلَاتُ</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الثَّقِيلَةُ</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الثَّقِيلُونَ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“new schools”.</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 جَدِيدُونَ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 جَدِيدَاتٌ</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مَدَارِسُ جَدِيدَةٌ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الْأَوْلَادُ ...</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الصَّغِيرُ</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الصَّغِيرَةُ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الصِّغَارُ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أَوْلَاد</a:t>
            </a:r>
            <a:pPr algn="l" indent="0" marL="0">
              <a:buNone/>
            </a:pPr>
            <a:r>
              <a:rPr lang="en-US" sz="1050" i="1" dirty="0">
                <a:solidFill>
                  <a:srgbClr val="8A6D1E"/>
                </a:solidFill>
                <a:latin typeface="Calibri" pitchFamily="34" charset="0"/>
                <a:cs typeface="Amiri" pitchFamily="2" charset="-78"/>
              </a:rPr>
              <a:t> refers to humans, so a common plural adjective is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الْبَنَاتُ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الذَّكِيُّونَ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الذَّكِيَّاتُ</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الذَّكِيَّةُ</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human plural takes a feminine plural adjective.</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الْحَقَائِبُ ...</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الثَّقِيلَاتُ</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الثَّقِيلَةُ</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الثَّقِيلُونَ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a:t>
            </a:r>
            <a:pPr algn="l" indent="0" marL="0">
              <a:buNone/>
            </a:pPr>
            <a:r>
              <a:rPr lang="ar-SA" altLang="en-US" sz="1350" dirty="0">
                <a:solidFill>
                  <a:srgbClr val="8A6D1E"/>
                </a:solidFill>
                <a:latin typeface="Amiri" pitchFamily="2" charset="-78"/>
                <a:cs typeface="Amiri" pitchFamily="2" charset="-78"/>
              </a:rPr>
              <a:t>حَقَائِب</a:t>
            </a:r>
            <a:pPr algn="l" indent="0" marL="0">
              <a:buNone/>
            </a:pPr>
            <a:r>
              <a:rPr lang="en-US" sz="1050" i="1" dirty="0">
                <a:solidFill>
                  <a:srgbClr val="8A6D1E"/>
                </a:solidFill>
                <a:latin typeface="Calibri" pitchFamily="34" charset="0"/>
                <a:cs typeface="Amiri" pitchFamily="2" charset="-78"/>
              </a:rPr>
              <a:t> takes a feminine singular adjective.</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“new schools”.</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مَدَارِسُ جَدِيدُونَ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مَدَارِسُ جَدِيدَاتٌ</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مَدَارِسُ جَدِيدَةٌ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 adjective.</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new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هٰذِهِ مَدْرَسَتِي الْجَدِيدَةُ. الْمَدْرَسَةُ كَبِيرَةٌ وَحَدِيثَةٌ. فِيهَا فُصُولٌ وَاسِعَةٌ وَمَكْتَبَةٌ هَادِئَةٌ. أُحِبُّ الْمُعَلِّمَاتِ الْمُتَعَاوِنَاتِ، وَأَسْتَعْمِلُ الْحَوَاسِيبَ الْجَدِيدَةَ فِي دَرْسِ التِّقْنِيَةِ. هٰذِهِ الْفُصُولُ نَظِيفَةٌ، وَالْمَلْعَبُ الْكَبِيرُ قَرِيبٌ مِنَ الْمَبْنَى الرَّئِيسِيِّ.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حَدِيثَةٌ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فُصُولٌ 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spacious classrooms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هَادِئَةٌ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الْمُتَعَاوِنَاتِ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cooperative (f. pl.)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الْحَوَاسِيبَ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computers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الْمَلْعَبُ</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الْمَبْنَى الرَّئِيسِيِّ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main building</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what does </a:t>
            </a:r>
            <a:pPr algn="l" indent="0" marL="0">
              <a:buNone/>
            </a:pPr>
            <a:r>
              <a:rPr lang="ar-SA" altLang="en-US" sz="1650" b="1" dirty="0">
                <a:solidFill>
                  <a:srgbClr val="1B3B6F"/>
                </a:solidFill>
                <a:latin typeface="Amiri" pitchFamily="2" charset="-78"/>
                <a:cs typeface="Amiri" pitchFamily="2" charset="-78"/>
              </a:rPr>
              <a:t>مَدْرَسَتِي الْجَدِيدَةُ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school is new.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new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which expression is a complete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الْمَلْعَبُ الْكَبِيرُ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فُصُولٌ وَاسِعَةٌ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كَبِيرَةٌ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cs typeface="Amiri" pitchFamily="2" charset="-78"/>
              </a:rPr>
              <a:t>الْحَوَاسِيبَ</a:t>
            </a:r>
            <a:pPr algn="l" indent="0" marL="0">
              <a:buNone/>
            </a:pPr>
            <a:r>
              <a:rPr lang="en-US" sz="1250" b="1" dirty="0">
                <a:solidFill>
                  <a:srgbClr val="1B3B6F"/>
                </a:solidFill>
                <a:latin typeface="Calibri" pitchFamily="34" charset="0"/>
                <a:cs typeface="Amiri" pitchFamily="2" charset="-78"/>
              </a:rPr>
              <a:t> followed by </a:t>
            </a:r>
            <a:pPr algn="l" indent="0" marL="0">
              <a:buNone/>
            </a:pPr>
            <a:r>
              <a:rPr lang="ar-SA" altLang="en-US" sz="1650" b="1" dirty="0">
                <a:solidFill>
                  <a:srgbClr val="1B3B6F"/>
                </a:solidFill>
                <a:latin typeface="Amiri" pitchFamily="2" charset="-78"/>
                <a:cs typeface="Amiri" pitchFamily="2" charset="-78"/>
              </a:rPr>
              <a:t>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non-human plurals take feminine singular agreement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a:t>
            </a:r>
            <a:pPr algn="l" indent="0" marL="0">
              <a:buNone/>
            </a:pPr>
            <a:r>
              <a:rPr lang="ar-SA" altLang="en-US" sz="1650" dirty="0">
                <a:solidFill>
                  <a:srgbClr val="1F2A37"/>
                </a:solidFill>
                <a:latin typeface="Amiri" pitchFamily="2" charset="-78"/>
                <a:cs typeface="Amiri" pitchFamily="2" charset="-78"/>
              </a:rPr>
              <a:t>حواسيب</a:t>
            </a:r>
            <a:pPr algn="l" indent="0" marL="0">
              <a:buNone/>
            </a:pPr>
            <a:r>
              <a:rPr lang="en-US" sz="1250" dirty="0">
                <a:solidFill>
                  <a:srgbClr val="1F2A37"/>
                </a:solidFill>
                <a:latin typeface="Calibri" pitchFamily="34" charset="0"/>
                <a:cs typeface="Amiri" pitchFamily="2" charset="-78"/>
              </a:rPr>
              <a:t> is feminine singular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every plural adjective ends in </a:t>
            </a:r>
            <a:pPr algn="l" indent="0" marL="0">
              <a:buNone/>
            </a:pPr>
            <a:r>
              <a:rPr lang="ar-SA" altLang="en-US" sz="1650" dirty="0">
                <a:solidFill>
                  <a:srgbClr val="1F2A37"/>
                </a:solidFill>
                <a:latin typeface="Amiri" pitchFamily="2" charset="-78"/>
                <a:cs typeface="Amiri" pitchFamily="2" charset="-78"/>
              </a:rPr>
              <a:t>ة</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HUMAN plural with a plural adjective?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الْحَوَاسِيبَ الْجَدِيدَةَ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الْمُعَلِّمَاتِ الْمُتَعَاوِنَاتِ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فُصُولٌ وَاسِعَةٌ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what does </a:t>
            </a:r>
            <a:pPr algn="l" indent="0" marL="0">
              <a:buNone/>
            </a:pPr>
            <a:r>
              <a:rPr lang="ar-SA" altLang="en-US" sz="1650" b="1" dirty="0">
                <a:solidFill>
                  <a:srgbClr val="1B3B6F"/>
                </a:solidFill>
                <a:latin typeface="Amiri" pitchFamily="2" charset="-78"/>
                <a:cs typeface="Amiri" pitchFamily="2" charset="-78"/>
              </a:rPr>
              <a:t>مَدْرَسَتِي الْجَدِيدَةُ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school is new.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new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possessive suffix makes the noun definite, and the attributive adjective takes </a:t>
            </a:r>
            <a:pPr algn="l" indent="0" marL="0">
              <a:buNone/>
            </a:pPr>
            <a:r>
              <a:rPr lang="ar-SA" altLang="en-US" sz="1350" dirty="0">
                <a:solidFill>
                  <a:srgbClr val="8A6D1E"/>
                </a:solidFill>
                <a:latin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which expression is a complete sentence?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الْمَلْعَبُ الْكَبِيرُ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فُصُولٌ وَاسِعَةٌ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الْمَدْرَسَةُ كَبِيرَةٌ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subject + indefinite predicate adjective forms a complete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cs typeface="Amiri" pitchFamily="2" charset="-78"/>
              </a:rPr>
              <a:t>الْحَوَاسِيبَ</a:t>
            </a:r>
            <a:pPr algn="l" indent="0" marL="0">
              <a:buNone/>
            </a:pPr>
            <a:r>
              <a:rPr lang="en-US" sz="1250" b="1" dirty="0">
                <a:solidFill>
                  <a:srgbClr val="1B3B6F"/>
                </a:solidFill>
                <a:latin typeface="Calibri" pitchFamily="34" charset="0"/>
                <a:cs typeface="Amiri" pitchFamily="2" charset="-78"/>
              </a:rPr>
              <a:t> followed by </a:t>
            </a:r>
            <a:pPr algn="l" indent="0" marL="0">
              <a:buNone/>
            </a:pPr>
            <a:r>
              <a:rPr lang="ar-SA" altLang="en-US" sz="1650" b="1" dirty="0">
                <a:solidFill>
                  <a:srgbClr val="1B3B6F"/>
                </a:solidFill>
                <a:latin typeface="Amiri" pitchFamily="2" charset="-78"/>
                <a:cs typeface="Amiri" pitchFamily="2" charset="-78"/>
              </a:rPr>
              <a:t>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because non-human plurals take feminine singular agreement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a:t>
            </a:r>
            <a:pPr algn="l" indent="0" marL="0">
              <a:buNone/>
            </a:pPr>
            <a:r>
              <a:rPr lang="ar-SA" altLang="en-US" sz="1650" dirty="0">
                <a:solidFill>
                  <a:srgbClr val="9AA1AB"/>
                </a:solidFill>
                <a:latin typeface="Amiri" pitchFamily="2" charset="-78"/>
                <a:cs typeface="Amiri" pitchFamily="2" charset="-78"/>
              </a:rPr>
              <a:t>حواسيب</a:t>
            </a:r>
            <a:pPr algn="l" indent="0" marL="0">
              <a:buNone/>
            </a:pPr>
            <a:r>
              <a:rPr lang="en-US" sz="1250" dirty="0">
                <a:solidFill>
                  <a:srgbClr val="9AA1AB"/>
                </a:solidFill>
                <a:latin typeface="Calibri" pitchFamily="34" charset="0"/>
                <a:cs typeface="Amiri" pitchFamily="2" charset="-78"/>
              </a:rPr>
              <a:t> is feminine singular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because every plural adjective ends in </a:t>
            </a:r>
            <a:pPr algn="l" indent="0" marL="0">
              <a:buNone/>
            </a:pPr>
            <a:r>
              <a:rPr lang="ar-SA" altLang="en-US" sz="1550" dirty="0">
                <a:solidFill>
                  <a:srgbClr val="9AA1AB"/>
                </a:solidFill>
                <a:latin typeface="Amiri" pitchFamily="2" charset="-78"/>
                <a:cs typeface="Amiri" pitchFamily="2" charset="-78"/>
              </a:rPr>
              <a:t>ة</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حَوَاسِيب</a:t>
            </a:r>
            <a:pPr algn="l" indent="0" marL="0">
              <a:buNone/>
            </a:pPr>
            <a:r>
              <a:rPr lang="en-US" sz="1050" i="1" dirty="0">
                <a:solidFill>
                  <a:srgbClr val="8A6D1E"/>
                </a:solidFill>
                <a:latin typeface="Calibri" pitchFamily="34" charset="0"/>
                <a:cs typeface="Amiri" pitchFamily="2" charset="-78"/>
              </a:rPr>
              <a:t> is a non-human plural, so its adjective is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HUMAN plural with a plural adjective?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الْحَوَاسِيبَ الْجَدِيدَةَ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الْمُعَلِّمَاتِ الْمُتَعَاوِنَاتِ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فُصُولٌ وَاسِعَةٌ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Teachers are people: feminine plural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point, identify, describe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(هٰذَا كِتَابٌ.)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هٰذَا الشَّيْءَ: هٰذَا الْكِتَابُ … / هٰذَا الْكِتَابُ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ثَلَاثَةَ أَشْيَاءَ، وَأَضِفْ سَبَبًا أَوْ رَأْيًا.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 / 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 الْكِتَابُ الْمُفِيدُ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هٰذِهِ الْغُرْفَةُ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هٰذَا؟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الْكِتَابُ الْمُفِيدُ. هٰذَا الْكِتَابُ مُفِيدٌ، لِأَنَّ فِيهِ صُوَرًا.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the useful book. This book is useful because it has pictures.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phrase / sentence pairs about your room or school.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الْبَيْتُ الْكَبِيرُ … · الْبَيْتُ كَبِيرٌ. Check: does the adjective copy الـ and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demonstrative contrast and one plural (human or non-human).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هٰذَا كِتَابٌ / هٰذَا الْكِتَابُ … · الْكُتُبُ الْجَدِيدَةُ.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writing workshop “Describe a place” with all five features.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nouns once and their adjectives twice (website paper route).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مُفِيدٌ.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 is useful.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new books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hardworking teachers (f.)</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الْجَدِيدُ / الْجَدِيدَةُ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new … (noun + my)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النَّافِذَةُ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big window</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الْمَدْرَسَةُ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كَبِيرٌ / كَبِيرَةٌ  ·  صَغِيرٌ / صَغِيرَةٌ  ·  جَدِيدٌ / جَدِيدَةٌ  ·  حَدِيثٌ / حَدِيثَةٌ  ·  هَادِئٌ / هَادِئَةٌ  ·  نَظِيفٌ / نَظِيفَةٌ  ·  وَاسِعٌ / وَاسِعَةٌ  ·  مُفِيدٌ / مُفِيدَةٌ  ·  هٰذَا  ·  هٰذِهِ  ·  هٰؤُلَاءِ  ·  مُجْتَهِدُونَ</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 Describe a place (80–90 words): your school, home, town or an imagined 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definite noun–adjective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nominal sentences with indefinite predicate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demonstrative contrast (</a:t>
            </a:r>
            <a:pPr algn="l" indent="0" marL="0">
              <a:buNone/>
            </a:pPr>
            <a:r>
              <a:rPr lang="ar-SA" altLang="en-US" sz="1550" dirty="0">
                <a:solidFill>
                  <a:srgbClr val="1F2A37"/>
                </a:solidFill>
                <a:latin typeface="Amiri" pitchFamily="2" charset="-78"/>
                <a:cs typeface="Amiri" pitchFamily="2" charset="-78"/>
              </a:rPr>
              <a:t>هٰذَا كِتَابٌ / هٰذَا الْكِتَابُ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human plural and one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noun made definite by a suffix or iḍāfa.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مَدْرَسَتِي الْجَدِيدَةُ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new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فُصُولٌ وَاسِعَةٌ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spacious classrooms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الْمُعَلِّمَاتُ الْمُتَعَاوِنَاتُ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cooperative teachers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الْحَوَاسِيبُ الْجَدِيدَةُ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new computers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الْمَلْعَبُ الْكَبِيرُ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 playground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بَابُ الْمَدْرَسَةِ الْكَبِيرُ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school’s big door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هٰذِهِ مَدِينَتِي الْجَمِيلَةُ. الْمَدِينَةُ كَبِيرَةٌ وَهَادِئَةٌ. فِي الْمَدِينَةِ مَدَارِسُ حَدِيثَةٌ وَحَدَائِقُ وَاسِعَةٌ. أُحِبُّ الْمَكْتَبَةَ الْعَامَّةَ، وَالْمُوَظَّفُونَ الْمُتَعَاوِنُونَ يُسَاعِدُونَ الطُّلَّابَ. هٰذَا الشَّارِعُ طَوِيلٌ، وَهٰذَا الْمَسْجِدُ الْكَبِيرُ قَرِيبٌ مِنْ بَيْتِي. بَابُ الْمَسْجِدِ الْقَدِيمُ جَمِيلٌ جِدًّا. الْأَسْوَاقُ مُزْدَحِمَةٌ يَوْمَ الْجُمُعَةِ، وَلٰكِنَّ النَّاسَ لُطَفَاءُ.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beautiful city. The city is big and quiet. In the city there are modern schools and spacious gardens. I love the public library, and the cooperative staff help the students. This street is long, and this big mosque is near my house. The mosque’s old door is very beautiful. The markets are crowded on Friday, but the people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definite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predicate sentences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هٰذَا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human + 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copies its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phrases are both definite or both indefinite.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predicate adjectives have no </a:t>
            </a:r>
            <a:pPr algn="l" indent="0" marL="0">
              <a:buNone/>
            </a:pPr>
            <a:r>
              <a:rPr lang="ar-SA" altLang="en-US" sz="1700" dirty="0">
                <a:solidFill>
                  <a:srgbClr val="1F2A37"/>
                </a:solidFill>
                <a:latin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Non-human plurals take a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matched adjectives after a suffix, a name or iḍāfa.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modern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الْحَدِيثَةُ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 حَدِيثَةٌ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حَدِيثَةٌ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is modern.”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 حَدِيثَةٌ.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حَدِيثَةٌ.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الْحَدِيثَةُ.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old car”.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سَيَّارَتِي الْقَدِيمَةُ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سَيَّارَتِي قَدِيمَةٌ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السَّيَّارَتِي الْقَدِيمَةُ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modern city”.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الْمَدِينَةُ الْحَدِيثَةُ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مَدِينَةٌ حَدِيثَةٌ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الْمَدِينَةُ حَدِيثَةٌ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 and attributive adjective are 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is modern.”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مَدِينَةٌ حَدِيثَةٌ.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الْمَدِينَةُ حَدِيثَةٌ.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الْمَدِينَةُ الْحَدِيثَةُ.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subject + indefinite predicate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old car”.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سَيَّارَتِي الْقَدِيمَةُ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سَيَّارَتِي قَدِيمَةٌ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السَّيَّارَتِي الْقَدِيمَةُ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noun definite, and the attributive adjective is definite.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modern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الْحَدِيثَةُ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 حَدِيثَةٌ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حَدِيثَةٌ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hardworking female students”.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الطَّالِبَاتُ الْمُجْتَهِدَاتُ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طَالِبَاتٌ مُجْتَهِدَاتٌ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الطَّالِبَاتُ مُجْتَهِدَةٌ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female students are hardworking.”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الطَّالِبَاتُ الْمُجْتَهِدَاتُ.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طَالِبَاتٌ الْمُجْتَهِدَاتُ.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هَؤُلَاءِ الطَّالِبَاتُ مُجْتَهِدَاتٌ.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الْمَبَانِي ...</a:t>
            </a:r>
            <a:endParaRPr lang="ar-SA"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الْعَالِيَاتُ</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الْعَالُونَ</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الْعَالِيَةُ</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car is old.”</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سَيَّارَتِي قَدِيمَةٌ.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سَيَّارَتِي الْقَدِيمَةُ.</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الْسَيَّارَتِي قَدِيمَةٌ.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hospital’s large entrance”?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مَدْخَلُ الْمُسْتَشْفَى الْكَبِيرَةُ</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مَدْخَلُ الْمُسْتَشْفَى الْكَبِيرُ</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الْمَدْخَلُ الْمُسْتَشْفَى الْكَبِيرُ</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modern city”.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الْحَدِيثَةُ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مَدِينَةٌ حَدِيثَةٌ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حَدِيثَةٌ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feminine singular noun phrase.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hardworking female students”.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هَؤُلَاءِ الطَّالِبَاتُ الْمُجْتَهِدَاتُ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طَالِبَاتٌ مُجْتَهِدَاتٌ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الطَّالِبَاتُ مُجْتَهِدَةٌ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points to a definite human feminine plural phrase.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female students are hardworking.”</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الطَّالِبَاتُ الْمُجْتَهِدَاتُ.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هَؤُلَاءِ طَالِبَاتٌ الْمُجْتَهِدَاتُ.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هَؤُلَاءِ الطَّالِبَاتُ مُجْتَهِدَاتٌ.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adjective is indefinite but remains feminine plural for people.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الْمَبَانِي ...</a:t>
            </a:r>
            <a:endParaRPr lang="ar-SA"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الْعَالِيَاتُ</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الْعَالُونَ</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الْعَالِيَةُ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مَبَانِي</a:t>
            </a:r>
            <a:pPr algn="l" indent="0" marL="0">
              <a:buNone/>
            </a:pPr>
            <a:r>
              <a:rPr lang="en-US" sz="1050" i="1" dirty="0">
                <a:solidFill>
                  <a:srgbClr val="8A6D1E"/>
                </a:solidFill>
                <a:latin typeface="Calibri" pitchFamily="34" charset="0"/>
                <a:cs typeface="Amiri" pitchFamily="2" charset="-78"/>
              </a:rPr>
              <a:t> is a non-human plural, so the adjective is feminine singular.</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car is old.”</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سَيَّارَتِي قَدِيمَةٌ.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سَيَّارَتِي الْقَدِيمَةُ.</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الْسَيَّارَتِي قَدِيمَةٌ.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adjective is indefinite.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hospital’s large entrance”?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مَدْخَلُ الْمُسْتَشْفَى الْكَبِيرَةُ</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مَدْخَلُ الْمُسْتَشْفَى الْكَبِيرُ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الْمَدْخَلُ الْمُسْتَشْفَى الْكَبِيرُ</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adjective describes masculine </a:t>
            </a:r>
            <a:pPr algn="l" indent="0" marL="0">
              <a:buNone/>
            </a:pPr>
            <a:r>
              <a:rPr lang="ar-SA" altLang="en-US" sz="1350" dirty="0">
                <a:solidFill>
                  <a:srgbClr val="8A6D1E"/>
                </a:solidFill>
                <a:latin typeface="Amiri" pitchFamily="2" charset="-78"/>
                <a:cs typeface="Amiri" pitchFamily="2" charset="-78"/>
              </a:rPr>
              <a:t>مَدْخَل</a:t>
            </a:r>
            <a:pPr algn="l" indent="0" marL="0">
              <a:buNone/>
            </a:pPr>
            <a:r>
              <a:rPr lang="en-US" sz="1050" i="1" dirty="0">
                <a:solidFill>
                  <a:srgbClr val="8A6D1E"/>
                </a:solidFill>
                <a:latin typeface="Calibri" pitchFamily="34" charset="0"/>
                <a:cs typeface="Amiri" pitchFamily="2" charset="-78"/>
              </a:rPr>
              <a:t>, while the first idāfa noun has no article.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GM-ART-03: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GM-ART-03 · Where the Article Belongs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مُضَافٌ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noun of an iḍāfa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مُضَافٌ إِلَيْهِ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second noun of an iḍāfa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 عَلَمٍ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proper name</a:t>
            </a:r>
            <a:pPr indent="0" marL="0">
              <a:buNone/>
            </a:pPr>
            <a:r>
              <a:rPr lang="en-US" sz="1000" i="1" dirty="0">
                <a:solidFill>
                  <a:srgbClr val="5A6472"/>
                </a:solidFill>
                <a:latin typeface="Calibri" pitchFamily="34" charset="0"/>
                <a:cs typeface="Amiri" pitchFamily="2" charset="-78"/>
              </a:rPr>
              <a:t>  pl. أَسْمَاءُ أَعْلَامٍ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ضَمِيرٌ مُتَّصِلٌ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attached pronoun (ـِي · ـُنَا)</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حَرْفُ 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preposition</a:t>
            </a:r>
            <a:pPr indent="0" marL="0">
              <a:buNone/>
            </a:pPr>
            <a:r>
              <a:rPr lang="en-US" sz="1000" i="1" dirty="0">
                <a:solidFill>
                  <a:srgbClr val="5A6472"/>
                </a:solidFill>
                <a:latin typeface="Calibri" pitchFamily="34" charset="0"/>
                <a:cs typeface="Amiri" pitchFamily="2" charset="-78"/>
              </a:rPr>
              <a:t>  pl. حُرُوفُ جَرٍّ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Translate: “my book”, “the student’s book”, “Maryam’s book”. Which ones have </a:t>
            </a:r>
            <a:pPr algn="l" indent="0" marL="0">
              <a:buNone/>
            </a:pPr>
            <a:r>
              <a:rPr lang="ar-SA" altLang="en-US" sz="1350" dirty="0">
                <a:solidFill>
                  <a:srgbClr val="1F2A37"/>
                </a:solidFill>
                <a:latin typeface="Amiri" pitchFamily="2" charset="-78"/>
                <a:cs typeface="Amiri" pitchFamily="2" charset="-78"/>
              </a:rPr>
              <a:t>الـ</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كِتَابِي · كِتَابُ الطَّالِبِ · كِتَابُ مَرْيَمَ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phrase / sentence pairs (</a:t>
            </a:r>
            <a:pPr algn="l" indent="0" marL="0">
              <a:buNone/>
            </a:pPr>
            <a:r>
              <a:rPr lang="ar-SA" altLang="en-US" sz="1550" dirty="0">
                <a:solidFill>
                  <a:srgbClr val="1F2A37"/>
                </a:solidFill>
                <a:latin typeface="Amiri" pitchFamily="2" charset="-78"/>
                <a:cs typeface="Amiri" pitchFamily="2" charset="-78"/>
              </a:rPr>
              <a:t>الْبَيْتُ الْكَبِيرُ</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cs typeface="Amiri" pitchFamily="2" charset="-78"/>
              </a:rPr>
              <a:t>الْبَيْتُ كَبِيرٌ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website mini-checks 3 and 4; write four plural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website writing workshop (80–90 words) and the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GM-ART-02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GM-ART-03 · Where the Article Belongs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مَوَاضِعُ «الـ» وَحُدُودُ اسْتِعْمَالِهَا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adjective is a mirror · both definite = a phrase · definite + indefinite = a sentence · things in the plural take a feminine singular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GM-ART-02 · Definiteness and Adjective Agreement</dc:title>
  <dc:subject>PptxGenJS Presentation</dc:subject>
  <dc:creator>Al Madina Online School · Arabic Department</dc:creator>
  <cp:lastModifiedBy>Al Madina Online School · Arabic Department</cp:lastModifiedBy>
  <cp:revision>1</cp:revision>
  <dcterms:created xsi:type="dcterms:W3CDTF">2026-10-11T06:42:08Z</dcterms:created>
  <dcterms:modified xsi:type="dcterms:W3CDTF">2026-10-11T06:42:08Z</dcterms:modified>
</cp:coreProperties>
</file>