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Articles › GM-ART-02 (“Definiteness and Adjective Agreement”).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gender and definiteness agreement; phrase vs sentence. Develop: demonstratives; human vs non-human plurals; two adjectives. Stretch: definite without الـ (كِتَابِي · names · iḍāfa) and matching case endings.
• The one question for the whole lesson (website “mastery question”): is the adjective INSIDE the phrase (it copies الـ) or is it SAYING something new about the noun (predicate, no الـ)?
• Arabic has no written “is” in the present: definiteness does the job. English speakers (and Urdu speakers, who add “hai”) often look for a missing verb — reassure them.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Agreement Entry Check (questions 1–5). Questions 1–3 retrieve GM-ART-01 (phrase vs sentence).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Both definite = one phrase (the small house). Definite + indefinite = a sentence (The house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WORDS (1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Use مَنْعُوتٌ / نَعْتٌ and مُبْتَدَأٌ / خَبَرٌ in pairs: “In the phrase, the naʿt copies the manʿūt. In the sentence, the khabar tells us about the mubtadaʾ.”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WORDS (2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Use مَنْعُوتٌ / نَعْتٌ and مُبْتَدَأٌ / خَبَرٌ in pairs: “In the phrase, the naʿt copies the manʿūt. In the sentence, the khabar tells us about the mubtadaʾ.”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(3 min) — website section “The four agreement decisions”. Hold up a mirror metaphor: whatever the noun “wears” (ة, الـ, plural ending), the adjective wears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1b (2 min) — website table. Cover the adjective column: students predict it from the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section “Phrase or complete sentence?”. Arabic creates the contrast without a written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section “Demonstratives change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section “Human and non-human plurals”. Definiteness still matches in every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5 (2 min) — website section “A noun can be definite without الـ”. The adjective matches GRAMMATICAL definiteness, not just the letters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1 “Make every feature match”, questions 1, 2, 3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From the website reading workshop. Point out مَكْتَبَةٌ هَادِئَةٌ: an INDEFINITE phrase (both indefinite) — still a phrase, because both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S for each card. Ask for each: “Do noun and adjective match in definiteness?” (website mini-check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S for each card. Ask for each: “Do noun and adjective match in definiteness?” (website mini-check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(3 min) — website listening workshop. Read the script aloud twice; students answer the website evidence questions 4–6.
SCRIPT: أَسْكُنُ فِي شَقَّةٍ صَغِيرَةٍ، وَلٰكِنَّ الشَّقَّةَ مُرِيحَةٌ. غُرْفَتِي الْجَدِيدَةُ مُضِيئَةٌ، وَنَوَافِذُهَا الْكَبِيرَةُ تُطِلُّ عَلَى حَدِيقَةٍ جَمِيلَةٍ. فِي الْحَدِيقَةِ أَشْجَارٌ طَوِيلَةٌ وَزُهُورٌ مُلَوَّنَةٌ.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Website script; teacher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phrase (identifies) or sentence (completes a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4 “Plural agreement”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Read it aloud once while students follow; then they hunt for today’s grammar.
Task: Website: underline complete noun phrases once and predicate adjectives twice before answering.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evidence questions 1–3, plus one teacher-written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(3 min) — website speaking studio. Sequence: ● 10s think → ↔ 45s rehearse aloud with mic muted → ◎ two named students on open mic (warned in advance) → + ? the class types one follow-up in chat → ↺ one student summarises.
Routes: Core uses the Core prompt and stem; Develop the Develop prompt; Stretch the last prompt.
Website studio: choose three objects or places; identify with a demonstrative (هٰذَا الْكِتَابُ); add an attributive adjective (هٰذَا الْكِتَابُ الْمُفِيدُ); then make a sentence (هٰذَا الْكِتَابُ مُفِيدٌ); extend with a reason. Use real objects on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Describe a place (80–90 words): three definite noun–adjective phrases; three nominal sentences with indefinite predicate adjectives; one demonstrative contrast; one human and one non-human plural; one noun made definite by a suffix or iḍāfa.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teacher model for the website writing workshop (≈ 70 words), with an English translation for Core students.
Students find in the model (● 20s → ◎) the items on the chips. Non-human plural: مَدَارِسُ حَدِيثَةٌ · حَدَائِقُ وَاسِعَةٌ · الْأَسْوَاقُ مُزْدَحِمَةٌ. Human plural: الْمُوَظَّفُونَ الْمُتَعَاوِنُونَ. Suffix: مَدِينَتِي الْجَمِيلَةُ. Iḍāfa: بَابُ الْمَسْجِدِ الْقَدِيمُ (masculine → the door).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MASTERY CHECK (FLEX) — the rest of the website final check, for fast finishers or homework. Website guidance: below 70% repeat the mini-check; 70–89% replay the game;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(GM-ART-03 · Where the Article Belongs) will spend class time USING this language, so students prepare it tonight — short, simple, easy to access (school guidance: “Simple, Short, Interesting, Relevant, Easy to access”). The five words prepare GM-ART-03 (website Articles lesson 3: where the article belongs).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ARTICLES  ·  GM-ART-02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GM-ART-02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Definiteness and Adjective Agreement</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مُطَابَقَةُ النَّعْتِ فِي التَّعْرِيفِ وَالتَّنْكِيرِ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Make an adjective mirror its noun in gender, number, definiteness (and case) — and use definiteness to tell a phrase from a sentence: </a:t>
            </a:r>
            <a:pPr algn="l" indent="0" marL="0">
              <a:buNone/>
            </a:pPr>
            <a:r>
              <a:rPr lang="ar-SA" altLang="en-US" sz="1800" dirty="0">
                <a:solidFill>
                  <a:srgbClr val="C6D2E6"/>
                </a:solidFill>
                <a:latin typeface="Amiri" pitchFamily="2" charset="-78"/>
                <a:ea typeface="Amiri" pitchFamily="2" charset="-78"/>
                <a:cs typeface="Amiri" pitchFamily="2" charset="-78"/>
              </a:rPr>
              <a:t>الْمَدْرَسَةُ الْجَدِيدَةُ</a:t>
            </a:r>
            <a:pPr algn="l" indent="0" marL="0">
              <a:buNone/>
            </a:pPr>
            <a:r>
              <a:rPr lang="en-US" sz="1400" dirty="0">
                <a:solidFill>
                  <a:srgbClr val="C6D2E6"/>
                </a:solidFill>
                <a:latin typeface="Calibri" pitchFamily="34" charset="0"/>
                <a:cs typeface="Amiri" pitchFamily="2" charset="-78"/>
              </a:rPr>
              <a:t> (the new school) · </a:t>
            </a:r>
            <a:pPr algn="l" indent="0" marL="0">
              <a:buNone/>
            </a:pPr>
            <a:r>
              <a:rPr lang="ar-SA" altLang="en-US" sz="1800" dirty="0">
                <a:solidFill>
                  <a:srgbClr val="C6D2E6"/>
                </a:solidFill>
                <a:latin typeface="Amiri" pitchFamily="2" charset="-78"/>
                <a:ea typeface="Amiri" pitchFamily="2" charset="-78"/>
                <a:cs typeface="Amiri" pitchFamily="2" charset="-78"/>
              </a:rPr>
              <a:t>الْمَدْرَسَةُ جَدِيدَةٌ</a:t>
            </a:r>
            <a:pPr algn="l" indent="0" marL="0">
              <a:buNone/>
            </a:pPr>
            <a:r>
              <a:rPr lang="en-US" sz="1400" dirty="0">
                <a:solidFill>
                  <a:srgbClr val="C6D2E6"/>
                </a:solidFill>
                <a:latin typeface="Calibri" pitchFamily="34" charset="0"/>
                <a:cs typeface="Amiri" pitchFamily="2" charset="-78"/>
              </a:rPr>
              <a:t> (The school is new).</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GM-ART-02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Articles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agreement decisions; phrase or sentence; demonstratives; plurals; definite without </a:t>
            </a:r>
            <a:pPr algn="ctr" indent="0" marL="0">
              <a:buNone/>
            </a:pPr>
            <a:r>
              <a:rPr lang="ar-SA" altLang="en-US" sz="1550" dirty="0">
                <a:solidFill>
                  <a:srgbClr val="1F2A37"/>
                </a:solidFill>
                <a:latin typeface="Amiri" pitchFamily="2" charset="-78"/>
                <a:ea typeface="Amiri" pitchFamily="2" charset="-78"/>
                <a:cs typeface="Amiri" pitchFamily="2" charset="-78"/>
              </a:rPr>
              <a:t>الـ</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phrase or sentence, fix agreement errors, test plurals and demonstratives.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GM-ART-03.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small house”.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الصَّغِيرُ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 صَغِيرٌ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صَغِيرٌ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small house”.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الصَّغِيرُ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 صَغِيرٌ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صَغِيرٌ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house is small.”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الصَّغِيرُ.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 الصَّغِيرُ.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صَغِيرٌ.</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new car”.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السَّيَّارَةُ الْجَدِيدُ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 الْجَدِيدَةُ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السَّيَّارَةُ الْجَدِيدَةُ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correctly describes the non-human plural </a:t>
            </a:r>
            <a:pPr algn="l" indent="0" marL="0">
              <a:buNone/>
            </a:pPr>
            <a:r>
              <a:rPr lang="ar-SA" altLang="en-US" sz="1650" b="1" dirty="0">
                <a:solidFill>
                  <a:srgbClr val="1B3B6F"/>
                </a:solidFill>
                <a:latin typeface="Amiri" pitchFamily="2" charset="-78"/>
                <a:ea typeface="Amiri" pitchFamily="2" charset="-78"/>
                <a:cs typeface="Amiri" pitchFamily="2" charset="-78"/>
              </a:rPr>
              <a:t>الْكُتُبُ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الْجَدِيدَةُ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الْجَدِيدُونَ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الْجَدِيدَاتُ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small house”.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 الصَّغِيرُ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بَيْتٌ صَغِيرٌ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 صَغِيرٌ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noun and attributive adjective are indefinite.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small house”.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الْبَيْتُ الصَّغِيرُ</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 صَغِيرٌ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 صَغِيرٌ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words are definite because they form one noun phrase.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house is small.”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 الصَّغِيرُ.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 الصَّغِيرُ.</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الْبَيْتُ صَغِيرٌ.</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definite noun is the subject; the indefinite adjective is the predicate.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new car”.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السَّيَّارَةُ الْجَدِيدُ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سَيَّارَةٌ الْجَدِيدَةُ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السَّيَّارَةُ الْجَدِيدَةُ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سَيَّارَة</a:t>
            </a:r>
            <a:pPr algn="l" indent="0" marL="0">
              <a:buNone/>
            </a:pPr>
            <a:r>
              <a:rPr lang="en-US" sz="1050" i="1" dirty="0">
                <a:solidFill>
                  <a:srgbClr val="8A6D1E"/>
                </a:solidFill>
                <a:latin typeface="Calibri" pitchFamily="34" charset="0"/>
                <a:cs typeface="Amiri" pitchFamily="2" charset="-78"/>
              </a:rPr>
              <a:t> is feminine, so its adjective is feminine and equally definite.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correctly describes the non-human plural </a:t>
            </a:r>
            <a:pPr algn="l" indent="0" marL="0">
              <a:buNone/>
            </a:pPr>
            <a:r>
              <a:rPr lang="ar-SA" altLang="en-US" sz="1650" b="1" dirty="0">
                <a:solidFill>
                  <a:srgbClr val="1B3B6F"/>
                </a:solidFill>
                <a:latin typeface="Amiri" pitchFamily="2" charset="-78"/>
                <a:ea typeface="Amiri" pitchFamily="2" charset="-78"/>
                <a:cs typeface="Amiri" pitchFamily="2" charset="-78"/>
              </a:rPr>
              <a:t>الْكُتُبُ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الْجَدِيدَةُ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الْجَدِيدُونَ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الْجَدِيدَاتُ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normally takes a feminine singular adjective.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Both definite = one phrase (the small house). Definite + indefinite = a sentence (The house is small).</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الْبَيْتُ الصَّغِيرُ</a:t>
            </a:r>
            <a:pPr rtl="1" algn="ctr" indent="0" marL="0">
              <a:buNone/>
            </a:pPr>
            <a:r>
              <a:rPr lang="ar-SA" altLang="en-US" sz="2400" b="1" dirty="0">
                <a:solidFill>
                  <a:srgbClr val="1B3B6F"/>
                </a:solidFill>
                <a:latin typeface="Amiri" pitchFamily="2" charset="-78"/>
                <a:ea typeface="Amiri" pitchFamily="2" charset="-78"/>
                <a:cs typeface="Amiri" pitchFamily="2" charset="-78"/>
              </a:rPr>
              <a:t> ‖ الْبَيْتُ </a:t>
            </a:r>
            <a:pPr rtl="1" algn="ctr" indent="0" marL="0">
              <a:buNone/>
            </a:pPr>
            <a:r>
              <a:rPr lang="ar-SA" altLang="en-US" sz="2400" b="1" dirty="0">
                <a:solidFill>
                  <a:srgbClr val="D6336C"/>
                </a:solidFill>
                <a:latin typeface="Amiri" pitchFamily="2" charset="-78"/>
                <a:ea typeface="Amiri" pitchFamily="2" charset="-78"/>
                <a:cs typeface="Amiri" pitchFamily="2" charset="-78"/>
              </a:rPr>
              <a:t>صَغِيرٌ</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an adjective agree with its noun in gender, number and definiteness.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noun phrase from a complete nominal sentence.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demonstratives and plural agreement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nouns that are definite without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match an adjective in gender and definiteness.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tell </a:t>
            </a:r>
            <a:pPr algn="l" indent="0" marL="0">
              <a:buNone/>
            </a:pPr>
            <a:r>
              <a:rPr lang="ar-SA" altLang="en-US" sz="1700" b="1" dirty="0">
                <a:solidFill>
                  <a:srgbClr val="2E8B57"/>
                </a:solidFill>
                <a:latin typeface="Amiri" pitchFamily="2" charset="-78"/>
                <a:ea typeface="Amiri" pitchFamily="2" charset="-78"/>
                <a:cs typeface="Amiri" pitchFamily="2" charset="-78"/>
              </a:rPr>
              <a:t>الْبَيْتُ الْكَبِيرُ</a:t>
            </a:r>
            <a:pPr algn="l" indent="0" marL="0">
              <a:buNone/>
            </a:pPr>
            <a:r>
              <a:rPr lang="en-US" sz="1300" b="1" dirty="0">
                <a:solidFill>
                  <a:srgbClr val="2E8B57"/>
                </a:solidFill>
                <a:latin typeface="Calibri" pitchFamily="34" charset="0"/>
                <a:cs typeface="Amiri" pitchFamily="2" charset="-78"/>
              </a:rPr>
              <a:t> from </a:t>
            </a:r>
            <a:pPr algn="l" indent="0" marL="0">
              <a:buNone/>
            </a:pPr>
            <a:r>
              <a:rPr lang="ar-SA" altLang="en-US" sz="1700" b="1" dirty="0">
                <a:solidFill>
                  <a:srgbClr val="2E8B57"/>
                </a:solidFill>
                <a:latin typeface="Amiri" pitchFamily="2" charset="-78"/>
                <a:ea typeface="Amiri" pitchFamily="2" charset="-78"/>
                <a:cs typeface="Amiri" pitchFamily="2" charset="-78"/>
              </a:rPr>
              <a:t>الْبَيْتُ كَبِيرٌ</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هٰذَا / هٰذِهِ</a:t>
            </a:r>
            <a:pPr algn="l" indent="0" marL="0">
              <a:buNone/>
            </a:pPr>
            <a:r>
              <a:rPr lang="en-US" sz="1300" b="1" dirty="0">
                <a:solidFill>
                  <a:srgbClr val="C9780A"/>
                </a:solidFill>
                <a:latin typeface="Calibri" pitchFamily="34" charset="0"/>
                <a:cs typeface="Amiri" pitchFamily="2" charset="-78"/>
              </a:rPr>
              <a:t> with and without </a:t>
            </a:r>
            <a:pPr algn="l" indent="0" marL="0">
              <a:buNone/>
            </a:pPr>
            <a:r>
              <a:rPr lang="ar-SA" altLang="en-US" sz="1700" b="1" dirty="0">
                <a:solidFill>
                  <a:srgbClr val="C9780A"/>
                </a:solidFill>
                <a:latin typeface="Amiri" pitchFamily="2" charset="-78"/>
                <a:ea typeface="Amiri" pitchFamily="2" charset="-78"/>
                <a:cs typeface="Amiri" pitchFamily="2" charset="-78"/>
              </a:rPr>
              <a:t>الـ</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the adjective for human and non-human plurals.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match adjectives after </a:t>
            </a:r>
            <a:pPr algn="l" indent="0" marL="0">
              <a:buNone/>
            </a:pPr>
            <a:r>
              <a:rPr lang="ar-SA" altLang="en-US" sz="1700" b="1" dirty="0">
                <a:solidFill>
                  <a:srgbClr val="B83227"/>
                </a:solidFill>
                <a:latin typeface="Amiri" pitchFamily="2" charset="-78"/>
                <a:ea typeface="Amiri" pitchFamily="2" charset="-78"/>
                <a:cs typeface="Amiri" pitchFamily="2" charset="-78"/>
              </a:rPr>
              <a:t>كِتَابِي</a:t>
            </a:r>
            <a:pPr algn="l" indent="0" marL="0">
              <a:buNone/>
            </a:pPr>
            <a:r>
              <a:rPr lang="en-US" sz="1300" b="1" dirty="0">
                <a:solidFill>
                  <a:srgbClr val="B83227"/>
                </a:solidFill>
                <a:latin typeface="Calibri" pitchFamily="34" charset="0"/>
                <a:cs typeface="Amiri" pitchFamily="2" charset="-78"/>
              </a:rPr>
              <a:t>, names and iḍāfa.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match case endings (</a:t>
            </a:r>
            <a:pPr algn="l" indent="0" marL="0">
              <a:buNone/>
            </a:pPr>
            <a:r>
              <a:rPr lang="ar-SA" altLang="en-US" sz="1700" b="1" dirty="0">
                <a:solidFill>
                  <a:srgbClr val="B83227"/>
                </a:solidFill>
                <a:latin typeface="Amiri" pitchFamily="2" charset="-78"/>
                <a:ea typeface="Amiri" pitchFamily="2" charset="-78"/>
                <a:cs typeface="Amiri" pitchFamily="2" charset="-78"/>
              </a:rPr>
              <a:t>فِي الْبَيْتِ الْكَبِيرِ</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نَعْتٌ</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adjective (describing word)</a:t>
            </a:r>
            <a:endParaRPr lang="en-US" sz="1350" dirty="0"/>
          </a:p>
          <a:p>
            <a:pPr indent="0" marL="0">
              <a:buNone/>
            </a:pPr>
            <a:r>
              <a:rPr lang="en-US" sz="1100" i="1" dirty="0">
                <a:solidFill>
                  <a:srgbClr val="5A6472"/>
                </a:solidFill>
                <a:latin typeface="Calibri" pitchFamily="34" charset="0"/>
                <a:cs typeface="Amiri" pitchFamily="2" charset="-78"/>
              </a:rPr>
              <a:t>naʿ-tun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نُعُوتٌ</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مَنْعُوتٌ</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noun being described</a:t>
            </a:r>
            <a:endParaRPr lang="en-US" sz="1350" dirty="0"/>
          </a:p>
          <a:p>
            <a:pPr indent="0" marL="0">
              <a:buNone/>
            </a:pPr>
            <a:r>
              <a:rPr lang="en-US" sz="1100" i="1" dirty="0">
                <a:solidFill>
                  <a:srgbClr val="5A6472"/>
                </a:solidFill>
                <a:latin typeface="Calibri" pitchFamily="34" charset="0"/>
                <a:cs typeface="Amiri" pitchFamily="2" charset="-78"/>
              </a:rPr>
              <a:t>man-ʿū-tun</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الْبَيْتُ</a:t>
            </a:r>
            <a:pPr algn="l" indent="0" marL="0">
              <a:buNone/>
            </a:pPr>
            <a:r>
              <a:rPr lang="en-US" sz="1000" i="1" dirty="0">
                <a:solidFill>
                  <a:srgbClr val="8A6D1E"/>
                </a:solidFill>
                <a:latin typeface="Calibri" pitchFamily="34" charset="0"/>
                <a:cs typeface="Amiri" pitchFamily="2" charset="-78"/>
              </a:rPr>
              <a:t> in </a:t>
            </a:r>
            <a:pPr algn="l" indent="0" marL="0">
              <a:buNone/>
            </a:pPr>
            <a:r>
              <a:rPr lang="ar-SA" altLang="en-US" sz="1300" dirty="0">
                <a:solidFill>
                  <a:srgbClr val="8A6D1E"/>
                </a:solidFill>
                <a:latin typeface="Amiri" pitchFamily="2" charset="-78"/>
                <a:ea typeface="Amiri" pitchFamily="2" charset="-78"/>
                <a:cs typeface="Amiri" pitchFamily="2" charset="-78"/>
              </a:rPr>
              <a:t>الْبَيْتُ الْكَبِيرُ</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مُطَابَقَةٌ</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 (matching)</a:t>
            </a:r>
            <a:endParaRPr lang="en-US" sz="1350" dirty="0"/>
          </a:p>
          <a:p>
            <a:pPr indent="0" marL="0">
              <a:buNone/>
            </a:pPr>
            <a:r>
              <a:rPr lang="en-US" sz="1100" i="1" dirty="0">
                <a:solidFill>
                  <a:srgbClr val="5A6472"/>
                </a:solidFill>
                <a:latin typeface="Calibri" pitchFamily="34" charset="0"/>
                <a:cs typeface="Amiri" pitchFamily="2" charset="-78"/>
              </a:rPr>
              <a:t>mu-ṭā-ba-qa-tun</a:t>
            </a:r>
            <a:endParaRPr lang="en-US" sz="1350" dirty="0"/>
          </a:p>
        </p:txBody>
      </p:sp>
      <p:sp>
        <p:nvSpPr>
          <p:cNvPr id="40" name="Text 3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gender · number · definiteness · case</a:t>
            </a:r>
            <a:endParaRPr lang="en-US" sz="10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مُبْتَدَأٌ</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subject of a nominal sentence</a:t>
            </a:r>
            <a:endParaRPr lang="en-US" sz="1350" dirty="0"/>
          </a:p>
          <a:p>
            <a:pPr indent="0" marL="0">
              <a:buNone/>
            </a:pPr>
            <a:r>
              <a:rPr lang="en-US" sz="1100" i="1" dirty="0">
                <a:solidFill>
                  <a:srgbClr val="5A6472"/>
                </a:solidFill>
                <a:latin typeface="Calibri" pitchFamily="34" charset="0"/>
                <a:cs typeface="Amiri" pitchFamily="2" charset="-78"/>
              </a:rPr>
              <a:t>mub-ta-da-ʾun</a:t>
            </a:r>
            <a:endParaRPr lang="en-US" sz="1350" dirty="0"/>
          </a:p>
        </p:txBody>
      </p:sp>
      <p:sp>
        <p:nvSpPr>
          <p:cNvPr id="48" name="Text 45"/>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usually definite</a:t>
            </a:r>
            <a:endParaRPr lang="en-US" sz="100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predicate (what is said about it)</a:t>
            </a:r>
            <a:endParaRPr lang="en-US" sz="1350" dirty="0"/>
          </a:p>
          <a:p>
            <a:pPr indent="0" marL="0">
              <a:buNone/>
            </a:pPr>
            <a:r>
              <a:rPr lang="en-US" sz="1100" i="1" dirty="0">
                <a:solidFill>
                  <a:srgbClr val="5A6472"/>
                </a:solidFill>
                <a:latin typeface="Calibri" pitchFamily="34" charset="0"/>
                <a:cs typeface="Amiri" pitchFamily="2" charset="-78"/>
              </a:rPr>
              <a:t>kha-ba-run</a:t>
            </a:r>
            <a:endParaRPr lang="en-US" sz="1350" dirty="0"/>
          </a:p>
        </p:txBody>
      </p:sp>
      <p:sp>
        <p:nvSpPr>
          <p:cNvPr id="56" name="Text 5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usually indefinite</a:t>
            </a:r>
            <a:endParaRPr lang="en-US" sz="100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الْإِشَارَةِ</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demonstrative (this / these)</a:t>
            </a:r>
            <a:endParaRPr lang="en-US" sz="1350" dirty="0"/>
          </a:p>
          <a:p>
            <a:pPr indent="0" marL="0">
              <a:buNone/>
            </a:pPr>
            <a:r>
              <a:rPr lang="en-US" sz="1100" i="1" dirty="0">
                <a:solidFill>
                  <a:srgbClr val="5A6472"/>
                </a:solidFill>
                <a:latin typeface="Calibri" pitchFamily="34" charset="0"/>
                <a:cs typeface="Amiri" pitchFamily="2" charset="-78"/>
              </a:rPr>
              <a:t>is-mu al-i-shā-ra-ti</a:t>
            </a:r>
            <a:endParaRPr lang="en-US" sz="1350" dirty="0"/>
          </a:p>
        </p:txBody>
      </p:sp>
      <p:sp>
        <p:nvSpPr>
          <p:cNvPr id="64" name="Text 61"/>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هٰذَا · هٰذِهِ · هٰؤُلَاءِ</a:t>
            </a:r>
            <a:endParaRPr lang="ar-SA" sz="13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(2 OF 2)</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عَاقِلٌ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 (rational)</a:t>
            </a:r>
            <a:endParaRPr lang="en-US" sz="1350" dirty="0"/>
          </a:p>
          <a:p>
            <a:pPr indent="0" marL="0">
              <a:buNone/>
            </a:pPr>
            <a:r>
              <a:rPr lang="en-US" sz="1100" i="1" dirty="0">
                <a:solidFill>
                  <a:srgbClr val="5A6472"/>
                </a:solidFill>
                <a:latin typeface="Calibri" pitchFamily="34" charset="0"/>
                <a:cs typeface="Amiri" pitchFamily="2" charset="-78"/>
              </a:rPr>
              <a:t>ʿā-qi-lun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طُلَّابٌ · مُعَلِّمَاتٌ</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عَاقِلٍ</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non-human (things, animals)</a:t>
            </a:r>
            <a:endParaRPr lang="en-US" sz="1350" dirty="0"/>
          </a:p>
          <a:p>
            <a:pPr indent="0" marL="0">
              <a:buNone/>
            </a:pPr>
            <a:r>
              <a:rPr lang="en-US" sz="1100" i="1" dirty="0">
                <a:solidFill>
                  <a:srgbClr val="5A6472"/>
                </a:solidFill>
                <a:latin typeface="Calibri" pitchFamily="34" charset="0"/>
                <a:cs typeface="Amiri" pitchFamily="2" charset="-78"/>
              </a:rPr>
              <a:t>ghay-ru ʿā-qi-lin</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 مَدَارِسُ</a:t>
            </a:r>
            <a:endParaRPr lang="ar-SA" sz="13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FOUR AGREEMENT DECISIONS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adjective is a mirror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أَرْبَعَةُ أَوْجُهٍ لِلْمُطَابَقَةِ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 Arabic adjective normally comes AFTER its noun and copies key information from it.</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Gender: a masculine noun takes a masculine adjective; a feminine noun takes a feminine adjective.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for people, the adjective matches singular, dual or plural.</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Definiteness: inside one phrase, an indefinite noun takes an indefinite adjective; a definite noun takes a definite adjective.</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Case (Stretch): when endings are shown, noun and adjective share -u, -a or -i.</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وَلَدٌ مُجْتَهِدٌ · بِنْتٌ مُجْتَهِدَةٌ</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gender</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طَالِبَانِ مُجْتَهِدَانِ · طُلَّابٌ مُجْتَهِدُونَ</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number (people)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كِتَابٌ مُفِيدٌ · الْكِتَابُ الْمُفِيدُ</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definiteness</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فِي الْبَيْتِ الْكَبِيرِ</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case: both genitive after </a:t>
            </a:r>
            <a:pPr algn="ctr" indent="0" marL="0">
              <a:buNone/>
            </a:pPr>
            <a:r>
              <a:rPr lang="ar-SA" altLang="en-US" sz="1450" dirty="0">
                <a:solidFill>
                  <a:srgbClr val="5A6472"/>
                </a:solidFill>
                <a:latin typeface="Amiri" pitchFamily="2" charset="-78"/>
                <a:ea typeface="Amiri" pitchFamily="2" charset="-78"/>
                <a:cs typeface="Amiri" pitchFamily="2" charset="-78"/>
              </a:rPr>
              <a:t>فِي</a:t>
            </a:r>
            <a:pPr algn="ctr" indent="0" marL="0">
              <a:buNone/>
            </a:pPr>
            <a:r>
              <a:rPr lang="en-US" sz="1100" i="1" dirty="0">
                <a:solidFill>
                  <a:srgbClr val="5A6472"/>
                </a:solidFill>
                <a:latin typeface="Calibri" pitchFamily="34" charset="0"/>
                <a:cs typeface="Amiri" pitchFamily="2" charset="-78"/>
              </a:rPr>
              <a:t>  ·  Stretch</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Order of thought (website): identify the noun → decide its meaning and form → make the adjective copy the relevant features.</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WHAT MATCHES?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Noun + adjective: every feature matches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يَتَطَابَقُ؟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matches?</a:t>
            </a:r>
            <a:endParaRPr lang="en-US" sz="1100" dirty="0"/>
          </a:p>
        </p:txBody>
      </p:sp>
      <p:sp>
        <p:nvSpPr>
          <p:cNvPr id="17" name="Text 14"/>
          <p:cNvSpPr txBox="1"/>
          <p:nvPr/>
        </p:nvSpPr>
        <p:spPr>
          <a:xfrm>
            <a:off x="54681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18" name="Text 15"/>
          <p:cNvSpPr txBox="1"/>
          <p:nvPr/>
        </p:nvSpPr>
        <p:spPr>
          <a:xfrm>
            <a:off x="32735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7882128" y="2267712"/>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 singular · indefinite</a:t>
            </a:r>
            <a:endParaRPr lang="en-US" sz="1100" dirty="0"/>
          </a:p>
        </p:txBody>
      </p:sp>
      <p:sp>
        <p:nvSpPr>
          <p:cNvPr id="22" name="Text 19"/>
          <p:cNvSpPr txBox="1"/>
          <p:nvPr/>
        </p:nvSpPr>
        <p:spPr>
          <a:xfrm>
            <a:off x="5486400"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طَوِيلٌ</a:t>
            </a:r>
            <a:endParaRPr lang="ar-SA" sz="2400" dirty="0"/>
          </a:p>
        </p:txBody>
      </p:sp>
      <p:sp>
        <p:nvSpPr>
          <p:cNvPr id="23" name="Text 20"/>
          <p:cNvSpPr txBox="1"/>
          <p:nvPr/>
        </p:nvSpPr>
        <p:spPr>
          <a:xfrm>
            <a:off x="3291840" y="2267712"/>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وَلَدٌ</a:t>
            </a:r>
            <a:endParaRPr lang="ar-SA" sz="2400" dirty="0"/>
          </a:p>
        </p:txBody>
      </p:sp>
      <p:sp>
        <p:nvSpPr>
          <p:cNvPr id="24" name="Text 21"/>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tall boy</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882128" y="3054096"/>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 singular · definite</a:t>
            </a:r>
            <a:endParaRPr lang="en-US" sz="1100" dirty="0"/>
          </a:p>
        </p:txBody>
      </p:sp>
      <p:sp>
        <p:nvSpPr>
          <p:cNvPr id="29" name="Text 26"/>
          <p:cNvSpPr txBox="1"/>
          <p:nvPr/>
        </p:nvSpPr>
        <p:spPr>
          <a:xfrm>
            <a:off x="5486400"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الطَّوِيلَةُ</a:t>
            </a:r>
            <a:endParaRPr lang="ar-SA" sz="2400" dirty="0"/>
          </a:p>
        </p:txBody>
      </p:sp>
      <p:sp>
        <p:nvSpPr>
          <p:cNvPr id="30" name="Text 27"/>
          <p:cNvSpPr txBox="1"/>
          <p:nvPr/>
        </p:nvSpPr>
        <p:spPr>
          <a:xfrm>
            <a:off x="3291840" y="3054096"/>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الْبِنْتُ</a:t>
            </a:r>
            <a:endParaRPr lang="ar-SA" sz="2400" dirty="0"/>
          </a:p>
        </p:txBody>
      </p:sp>
      <p:sp>
        <p:nvSpPr>
          <p:cNvPr id="31" name="Text 28"/>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tall girl</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7882128" y="3840480"/>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 dual · indefinite</a:t>
            </a:r>
            <a:endParaRPr lang="en-US" sz="1100" dirty="0"/>
          </a:p>
        </p:txBody>
      </p:sp>
      <p:sp>
        <p:nvSpPr>
          <p:cNvPr id="36" name="Text 33"/>
          <p:cNvSpPr txBox="1"/>
          <p:nvPr/>
        </p:nvSpPr>
        <p:spPr>
          <a:xfrm>
            <a:off x="5486400"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مُفِيدَانِ</a:t>
            </a:r>
            <a:endParaRPr lang="ar-SA" sz="2400" dirty="0"/>
          </a:p>
        </p:txBody>
      </p:sp>
      <p:sp>
        <p:nvSpPr>
          <p:cNvPr id="37" name="Text 34"/>
          <p:cNvSpPr txBox="1"/>
          <p:nvPr/>
        </p:nvSpPr>
        <p:spPr>
          <a:xfrm>
            <a:off x="3291840" y="3840480"/>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كِتَابَانِ</a:t>
            </a:r>
            <a:endParaRPr lang="ar-SA" sz="2400" dirty="0"/>
          </a:p>
        </p:txBody>
      </p:sp>
      <p:sp>
        <p:nvSpPr>
          <p:cNvPr id="38" name="Text 35"/>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useful books</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7882128" y="4626864"/>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 plural (human) · definite</a:t>
            </a:r>
            <a:endParaRPr lang="en-US" sz="1100" dirty="0"/>
          </a:p>
        </p:txBody>
      </p:sp>
      <p:sp>
        <p:nvSpPr>
          <p:cNvPr id="41" name="Text 38"/>
          <p:cNvSpPr txBox="1"/>
          <p:nvPr/>
        </p:nvSpPr>
        <p:spPr>
          <a:xfrm>
            <a:off x="5486400" y="4626864"/>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الْمُجْتَهِدَاتُ</a:t>
            </a:r>
            <a:endParaRPr lang="ar-SA" sz="2400" dirty="0"/>
          </a:p>
        </p:txBody>
      </p:sp>
      <p:sp>
        <p:nvSpPr>
          <p:cNvPr id="42" name="Text 39"/>
          <p:cNvSpPr txBox="1"/>
          <p:nvPr/>
        </p:nvSpPr>
        <p:spPr>
          <a:xfrm>
            <a:off x="3291840" y="4626864"/>
            <a:ext cx="20116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الطَّالِبَاتُ</a:t>
            </a:r>
            <a:endParaRPr lang="ar-SA" sz="2400" dirty="0"/>
          </a:p>
        </p:txBody>
      </p:sp>
      <p:sp>
        <p:nvSpPr>
          <p:cNvPr id="43" name="Text 40"/>
          <p:cNvSpPr txBox="1"/>
          <p:nvPr/>
        </p:nvSpPr>
        <p:spPr>
          <a:xfrm>
            <a:off x="56692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hardworking female students</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the table right to left in Arabic: noun first, then the adjective copies it.</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PHRASE OR COMPLETE SENTENCE?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Definiteness decides: phrase or sentence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تَرْكِيبٌ أَمْ 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38221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both indefinite.</a:t>
            </a:r>
            <a:endParaRPr lang="en-US" sz="1100" dirty="0"/>
          </a:p>
        </p:txBody>
      </p:sp>
      <p:sp>
        <p:nvSpPr>
          <p:cNvPr id="21" name="Text 18"/>
          <p:cNvSpPr txBox="1"/>
          <p:nvPr/>
        </p:nvSpPr>
        <p:spPr>
          <a:xfrm>
            <a:off x="3840480" y="2267712"/>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 كَبِيرٌ</a:t>
            </a:r>
            <a:endParaRPr lang="ar-SA" sz="2400" dirty="0"/>
          </a:p>
        </p:txBody>
      </p:sp>
      <p:sp>
        <p:nvSpPr>
          <p:cNvPr id="22" name="Text 19"/>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large house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both definite.</a:t>
            </a:r>
            <a:endParaRPr lang="en-US" sz="1100" dirty="0"/>
          </a:p>
        </p:txBody>
      </p:sp>
      <p:sp>
        <p:nvSpPr>
          <p:cNvPr id="27" name="Text 24"/>
          <p:cNvSpPr txBox="1"/>
          <p:nvPr/>
        </p:nvSpPr>
        <p:spPr>
          <a:xfrm>
            <a:off x="3840480" y="2881884"/>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الْبَيْتُ الْكَبِيرُ</a:t>
            </a:r>
            <a:endParaRPr lang="ar-SA" sz="2400" dirty="0"/>
          </a:p>
        </p:txBody>
      </p:sp>
      <p:sp>
        <p:nvSpPr>
          <p:cNvPr id="28" name="Text 25"/>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large house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Sentence: definite + indefinite.</a:t>
            </a:r>
            <a:endParaRPr lang="en-US" sz="1100" dirty="0"/>
          </a:p>
        </p:txBody>
      </p:sp>
      <p:sp>
        <p:nvSpPr>
          <p:cNvPr id="33" name="Text 30"/>
          <p:cNvSpPr txBox="1"/>
          <p:nvPr/>
        </p:nvSpPr>
        <p:spPr>
          <a:xfrm>
            <a:off x="3840480" y="3496056"/>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الْبَيْتُ كَبِيرٌ.</a:t>
            </a:r>
            <a:endParaRPr lang="ar-SA" sz="2400" dirty="0"/>
          </a:p>
        </p:txBody>
      </p:sp>
      <p:sp>
        <p:nvSpPr>
          <p:cNvPr id="34" name="Text 31"/>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is large.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adjectives, both matching.</a:t>
            </a:r>
            <a:endParaRPr lang="en-US" sz="1100" dirty="0"/>
          </a:p>
        </p:txBody>
      </p:sp>
      <p:sp>
        <p:nvSpPr>
          <p:cNvPr id="39" name="Text 36"/>
          <p:cNvSpPr txBox="1"/>
          <p:nvPr/>
        </p:nvSpPr>
        <p:spPr>
          <a:xfrm>
            <a:off x="3840480" y="4110228"/>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 كَبِيرٌ وَجَمِيلٌ</a:t>
            </a:r>
            <a:endParaRPr lang="ar-SA" sz="2400" dirty="0"/>
          </a:p>
        </p:txBody>
      </p:sp>
      <p:sp>
        <p:nvSpPr>
          <p:cNvPr id="40" name="Text 37"/>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large and beautiful house</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Each adjective matches the noun.</a:t>
            </a:r>
            <a:endParaRPr lang="en-US" sz="1100" dirty="0"/>
          </a:p>
        </p:txBody>
      </p:sp>
      <p:sp>
        <p:nvSpPr>
          <p:cNvPr id="43" name="Text 40"/>
          <p:cNvSpPr txBox="1"/>
          <p:nvPr/>
        </p:nvSpPr>
        <p:spPr>
          <a:xfrm>
            <a:off x="3840480" y="4724400"/>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الْمَدْرَسَةُ الْجَدِيدَةُ الْكَبِيرَةُ</a:t>
            </a:r>
            <a:endParaRPr lang="ar-SA" sz="2400" dirty="0"/>
          </a:p>
        </p:txBody>
      </p:sp>
      <p:sp>
        <p:nvSpPr>
          <p:cNvPr id="44" name="Text 41"/>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large new school</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predicates stay indefinite.</a:t>
            </a:r>
            <a:endParaRPr lang="en-US" sz="1100" dirty="0"/>
          </a:p>
        </p:txBody>
      </p:sp>
      <p:sp>
        <p:nvSpPr>
          <p:cNvPr id="47" name="Text 44"/>
          <p:cNvSpPr txBox="1"/>
          <p:nvPr/>
        </p:nvSpPr>
        <p:spPr>
          <a:xfrm>
            <a:off x="3840480" y="5338572"/>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الْمَدْرَسَةُ جَدِيدَةٌ وَكَبِيرَةٌ.</a:t>
            </a:r>
            <a:endParaRPr lang="ar-SA" sz="2400" dirty="0"/>
          </a:p>
        </p:txBody>
      </p:sp>
      <p:sp>
        <p:nvSpPr>
          <p:cNvPr id="48" name="Text 45"/>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is new and large.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use the full stop as your only clue — analyse definiteness first.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 PART 3 · DEMONSTRATIVES CHANGE THE PATTERN (WEBSITE SECTION) · DEVELOP</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is a house” or “this house”?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أَسْمَاءُ الْإِشَارَةِ وَالتَّعْرِيفُ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follows </a:t>
            </a:r>
            <a:pPr algn="ctr" indent="0" marL="0">
              <a:buNone/>
            </a:pPr>
            <a:r>
              <a:rPr lang="ar-SA" altLang="en-US" sz="1450" b="1" dirty="0">
                <a:solidFill>
                  <a:srgbClr val="FFFFFF"/>
                </a:solidFill>
                <a:latin typeface="Amiri" pitchFamily="2" charset="-78"/>
                <a:ea typeface="Amiri" pitchFamily="2" charset="-78"/>
                <a:cs typeface="Amiri" pitchFamily="2" charset="-78"/>
              </a:rPr>
              <a:t>هٰذَا</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7" name="Text 14"/>
          <p:cNvSpPr txBox="1"/>
          <p:nvPr/>
        </p:nvSpPr>
        <p:spPr>
          <a:xfrm>
            <a:off x="38221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indefinite noun → a sentence</a:t>
            </a:r>
            <a:endParaRPr lang="en-US" sz="1100" dirty="0"/>
          </a:p>
        </p:txBody>
      </p:sp>
      <p:sp>
        <p:nvSpPr>
          <p:cNvPr id="21" name="Text 18"/>
          <p:cNvSpPr txBox="1"/>
          <p:nvPr/>
        </p:nvSpPr>
        <p:spPr>
          <a:xfrm>
            <a:off x="3840480" y="2267712"/>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بَيْتٌ.</a:t>
            </a:r>
            <a:endParaRPr lang="ar-SA" sz="26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house.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definite noun → a phrase</a:t>
            </a:r>
            <a:endParaRPr lang="en-US" sz="1100" dirty="0"/>
          </a:p>
        </p:txBody>
      </p:sp>
      <p:sp>
        <p:nvSpPr>
          <p:cNvPr id="27" name="Text 24"/>
          <p:cNvSpPr txBox="1"/>
          <p:nvPr/>
        </p:nvSpPr>
        <p:spPr>
          <a:xfrm>
            <a:off x="3840480" y="3004718"/>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الْبَيْتُ</a:t>
            </a:r>
            <a:endParaRPr lang="ar-SA" sz="26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house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 attributive adjective</a:t>
            </a:r>
            <a:endParaRPr lang="en-US" sz="1100" dirty="0"/>
          </a:p>
        </p:txBody>
      </p:sp>
      <p:sp>
        <p:nvSpPr>
          <p:cNvPr id="33" name="Text 30"/>
          <p:cNvSpPr txBox="1"/>
          <p:nvPr/>
        </p:nvSpPr>
        <p:spPr>
          <a:xfrm>
            <a:off x="3840480" y="3741725"/>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الْبَيْتُ الْكَبِيرُ</a:t>
            </a:r>
            <a:endParaRPr lang="ar-SA" sz="26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large house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 predicate adjective</a:t>
            </a:r>
            <a:endParaRPr lang="en-US" sz="1100" dirty="0"/>
          </a:p>
        </p:txBody>
      </p:sp>
      <p:sp>
        <p:nvSpPr>
          <p:cNvPr id="37" name="Text 34"/>
          <p:cNvSpPr txBox="1"/>
          <p:nvPr/>
        </p:nvSpPr>
        <p:spPr>
          <a:xfrm>
            <a:off x="3840480" y="4478731"/>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الْبَيْتُ كَبِيرٌ.</a:t>
            </a:r>
            <a:endParaRPr lang="ar-SA" sz="2600" dirty="0"/>
          </a:p>
        </p:txBody>
      </p:sp>
      <p:sp>
        <p:nvSpPr>
          <p:cNvPr id="38" name="Text 35"/>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house is large.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whole indefinite phrase is the predicate</a:t>
            </a:r>
            <a:endParaRPr lang="en-US" sz="1100" dirty="0"/>
          </a:p>
        </p:txBody>
      </p:sp>
      <p:sp>
        <p:nvSpPr>
          <p:cNvPr id="41" name="Text 38"/>
          <p:cNvSpPr txBox="1"/>
          <p:nvPr/>
        </p:nvSpPr>
        <p:spPr>
          <a:xfrm>
            <a:off x="3840480" y="5215738"/>
            <a:ext cx="40233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هٰذِهِ مَدِينَةٌ جَمِيلَةٌ.</a:t>
            </a:r>
            <a:endParaRPr lang="ar-SA" sz="2600" dirty="0"/>
          </a:p>
        </p:txBody>
      </p:sp>
      <p:sp>
        <p:nvSpPr>
          <p:cNvPr id="42" name="Text 39"/>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a beautiful city.</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Three-step reading strategy (website): find the demonstrative → does the noun have </a:t>
            </a:r>
            <a:pPr algn="l" indent="0" marL="0">
              <a:buNone/>
            </a:pPr>
            <a:r>
              <a:rPr lang="ar-SA" altLang="en-US" sz="1500" b="1" dirty="0">
                <a:solidFill>
                  <a:srgbClr val="1B3B6F"/>
                </a:solidFill>
                <a:latin typeface="Amiri" pitchFamily="2" charset="-78"/>
                <a:ea typeface="Amiri" pitchFamily="2" charset="-78"/>
                <a:cs typeface="Amiri" pitchFamily="2" charset="-78"/>
              </a:rPr>
              <a:t>الـ</a:t>
            </a:r>
            <a:pPr algn="l" indent="0" marL="0">
              <a:buNone/>
            </a:pPr>
            <a:r>
              <a:rPr lang="en-US" sz="1150" b="1" dirty="0">
                <a:solidFill>
                  <a:srgbClr val="1B3B6F"/>
                </a:solidFill>
                <a:latin typeface="Calibri" pitchFamily="34" charset="0"/>
                <a:cs typeface="Amiri" pitchFamily="2" charset="-78"/>
              </a:rPr>
              <a:t>? → does the adjective have </a:t>
            </a:r>
            <a:pPr algn="l" indent="0" marL="0">
              <a:buNone/>
            </a:pPr>
            <a:r>
              <a:rPr lang="ar-SA" altLang="en-US" sz="1500" b="1" dirty="0">
                <a:solidFill>
                  <a:srgbClr val="1B3B6F"/>
                </a:solidFill>
                <a:latin typeface="Amiri" pitchFamily="2" charset="-78"/>
                <a:ea typeface="Amiri" pitchFamily="2" charset="-78"/>
                <a:cs typeface="Amiri" pitchFamily="2" charset="-78"/>
              </a:rPr>
              <a:t>الـ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4 · HUMAN AND NON-HUMAN PLURALS (WEBSITE TABLE) · DEVELOP</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or things?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الْعَاقِلُ وَغَيْرُ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583387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18" name="Text 15"/>
          <p:cNvSpPr txBox="1"/>
          <p:nvPr/>
        </p:nvSpPr>
        <p:spPr>
          <a:xfrm>
            <a:off x="32735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 noun</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adjective</a:t>
            </a:r>
            <a:endParaRPr lang="en-US" sz="1100" dirty="0"/>
          </a:p>
        </p:txBody>
      </p:sp>
      <p:sp>
        <p:nvSpPr>
          <p:cNvPr id="22" name="Text 19"/>
          <p:cNvSpPr txBox="1"/>
          <p:nvPr/>
        </p:nvSpPr>
        <p:spPr>
          <a:xfrm>
            <a:off x="585216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الْمَاهِرُونَ</a:t>
            </a:r>
            <a:endParaRPr lang="ar-SA" sz="2400" dirty="0"/>
          </a:p>
        </p:txBody>
      </p:sp>
      <p:sp>
        <p:nvSpPr>
          <p:cNvPr id="23" name="Text 20"/>
          <p:cNvSpPr txBox="1"/>
          <p:nvPr/>
        </p:nvSpPr>
        <p:spPr>
          <a:xfrm>
            <a:off x="32918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الْمُعَلِّمُونَ</a:t>
            </a:r>
            <a:endParaRPr lang="ar-SA" sz="2400" dirty="0"/>
          </a:p>
        </p:txBody>
      </p:sp>
      <p:sp>
        <p:nvSpPr>
          <p:cNvPr id="24" name="Text 21"/>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 masculine / mixed</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plural adjective</a:t>
            </a:r>
            <a:endParaRPr lang="en-US" sz="1100" dirty="0"/>
          </a:p>
        </p:txBody>
      </p:sp>
      <p:sp>
        <p:nvSpPr>
          <p:cNvPr id="29" name="Text 26"/>
          <p:cNvSpPr txBox="1"/>
          <p:nvPr/>
        </p:nvSpPr>
        <p:spPr>
          <a:xfrm>
            <a:off x="585216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الْمَاهِرَاتُ</a:t>
            </a:r>
            <a:endParaRPr lang="ar-SA" sz="2400" dirty="0"/>
          </a:p>
        </p:txBody>
      </p:sp>
      <p:sp>
        <p:nvSpPr>
          <p:cNvPr id="30" name="Text 27"/>
          <p:cNvSpPr txBox="1"/>
          <p:nvPr/>
        </p:nvSpPr>
        <p:spPr>
          <a:xfrm>
            <a:off x="32918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الْمُعَلِّمَاتُ</a:t>
            </a:r>
            <a:endParaRPr lang="ar-SA" sz="2400" dirty="0"/>
          </a:p>
        </p:txBody>
      </p:sp>
      <p:sp>
        <p:nvSpPr>
          <p:cNvPr id="31" name="Text 28"/>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 feminine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SINGULAR adjective</a:t>
            </a:r>
            <a:endParaRPr lang="en-US" sz="1100" dirty="0"/>
          </a:p>
        </p:txBody>
      </p:sp>
      <p:sp>
        <p:nvSpPr>
          <p:cNvPr id="36" name="Text 33"/>
          <p:cNvSpPr txBox="1"/>
          <p:nvPr/>
        </p:nvSpPr>
        <p:spPr>
          <a:xfrm>
            <a:off x="585216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السَّرِيعَةُ</a:t>
            </a:r>
            <a:endParaRPr lang="ar-SA" sz="2400" dirty="0"/>
          </a:p>
        </p:txBody>
      </p:sp>
      <p:sp>
        <p:nvSpPr>
          <p:cNvPr id="37" name="Text 34"/>
          <p:cNvSpPr txBox="1"/>
          <p:nvPr/>
        </p:nvSpPr>
        <p:spPr>
          <a:xfrm>
            <a:off x="32918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السَّيَّارَاتُ</a:t>
            </a:r>
            <a:endParaRPr lang="ar-SA" sz="2400" dirty="0"/>
          </a:p>
        </p:txBody>
      </p:sp>
      <p:sp>
        <p:nvSpPr>
          <p:cNvPr id="38" name="Text 35"/>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singular adjective</a:t>
            </a:r>
            <a:endParaRPr lang="en-US" sz="1100" dirty="0"/>
          </a:p>
        </p:txBody>
      </p:sp>
      <p:sp>
        <p:nvSpPr>
          <p:cNvPr id="43" name="Text 40"/>
          <p:cNvSpPr txBox="1"/>
          <p:nvPr/>
        </p:nvSpPr>
        <p:spPr>
          <a:xfrm>
            <a:off x="585216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الْكَبِيرَةُ</a:t>
            </a:r>
            <a:endParaRPr lang="ar-SA" sz="2400" dirty="0"/>
          </a:p>
        </p:txBody>
      </p:sp>
      <p:sp>
        <p:nvSpPr>
          <p:cNvPr id="44" name="Text 41"/>
          <p:cNvSpPr txBox="1"/>
          <p:nvPr/>
        </p:nvSpPr>
        <p:spPr>
          <a:xfrm>
            <a:off x="32918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الْمَدَارِسُ</a:t>
            </a:r>
            <a:endParaRPr lang="ar-SA" sz="2400" dirty="0"/>
          </a:p>
        </p:txBody>
      </p:sp>
      <p:sp>
        <p:nvSpPr>
          <p:cNvPr id="45" name="Text 42"/>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(broken plural)</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adjective for people</a:t>
            </a:r>
            <a:endParaRPr lang="en-US" sz="1100" dirty="0"/>
          </a:p>
        </p:txBody>
      </p:sp>
      <p:sp>
        <p:nvSpPr>
          <p:cNvPr id="48" name="Text 45"/>
          <p:cNvSpPr txBox="1"/>
          <p:nvPr/>
        </p:nvSpPr>
        <p:spPr>
          <a:xfrm>
            <a:off x="585216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صِغَارٌ</a:t>
            </a:r>
            <a:endParaRPr lang="ar-SA" sz="2400" dirty="0"/>
          </a:p>
        </p:txBody>
      </p:sp>
      <p:sp>
        <p:nvSpPr>
          <p:cNvPr id="49" name="Text 46"/>
          <p:cNvSpPr txBox="1"/>
          <p:nvPr/>
        </p:nvSpPr>
        <p:spPr>
          <a:xfrm>
            <a:off x="32918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أَطْفَالٌ</a:t>
            </a:r>
            <a:endParaRPr lang="ar-SA" sz="2400" dirty="0"/>
          </a:p>
        </p:txBody>
      </p:sp>
      <p:sp>
        <p:nvSpPr>
          <p:cNvPr id="50" name="Text 47"/>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(broken plural)</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 not confuse form with meaning (website): </a:t>
            </a:r>
            <a:pPr algn="l" indent="0" marL="0">
              <a:buNone/>
            </a:pPr>
            <a:r>
              <a:rPr lang="ar-SA" altLang="en-US" sz="1500" b="1" dirty="0">
                <a:solidFill>
                  <a:srgbClr val="1B3B6F"/>
                </a:solidFill>
                <a:latin typeface="Amiri" pitchFamily="2" charset="-78"/>
                <a:ea typeface="Amiri" pitchFamily="2" charset="-78"/>
                <a:cs typeface="Amiri" pitchFamily="2" charset="-78"/>
              </a:rPr>
              <a:t>أَطْفَالٌ</a:t>
            </a:r>
            <a:pPr algn="l" indent="0" marL="0">
              <a:buNone/>
            </a:pPr>
            <a:r>
              <a:rPr lang="en-US" sz="1150" b="1" dirty="0">
                <a:solidFill>
                  <a:srgbClr val="1B3B6F"/>
                </a:solidFill>
                <a:latin typeface="Calibri" pitchFamily="34" charset="0"/>
                <a:cs typeface="Amiri" pitchFamily="2" charset="-78"/>
              </a:rPr>
              <a:t> are people; </a:t>
            </a:r>
            <a:pPr algn="l" indent="0" marL="0">
              <a:buNone/>
            </a:pPr>
            <a:r>
              <a:rPr lang="ar-SA" altLang="en-US" sz="1500" b="1" dirty="0">
                <a:solidFill>
                  <a:srgbClr val="1B3B6F"/>
                </a:solidFill>
                <a:latin typeface="Amiri" pitchFamily="2" charset="-78"/>
                <a:ea typeface="Amiri" pitchFamily="2" charset="-78"/>
                <a:cs typeface="Amiri" pitchFamily="2" charset="-78"/>
              </a:rPr>
              <a:t>مَدَارِسُ</a:t>
            </a:r>
            <a:pPr algn="l" indent="0" marL="0">
              <a:buNone/>
            </a:pPr>
            <a:r>
              <a:rPr lang="en-US" sz="1150" b="1" dirty="0">
                <a:solidFill>
                  <a:srgbClr val="1B3B6F"/>
                </a:solidFill>
                <a:latin typeface="Calibri" pitchFamily="34" charset="0"/>
                <a:cs typeface="Amiri" pitchFamily="2" charset="-78"/>
              </a:rPr>
              <a:t> are things.</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GRAMMAR · PART 5 · DEFINITE WITHOUT </a:t>
            </a:r>
            <a:pPr algn="l" indent="0" marL="0">
              <a:buNone/>
            </a:pPr>
            <a:r>
              <a:rPr lang="ar-SA" altLang="en-US" sz="1300" b="1" dirty="0">
                <a:solidFill>
                  <a:srgbClr val="1B3B6F"/>
                </a:solidFill>
                <a:latin typeface="Amiri" pitchFamily="2" charset="-78"/>
                <a:ea typeface="Amiri" pitchFamily="2" charset="-78"/>
                <a:cs typeface="Amiri" pitchFamily="2" charset="-78"/>
              </a:rPr>
              <a:t>الـ</a:t>
            </a:r>
            <a:pPr algn="l" indent="0" marL="0">
              <a:buNone/>
            </a:pPr>
            <a:r>
              <a:rPr lang="en-US" sz="1000" b="1" dirty="0">
                <a:solidFill>
                  <a:srgbClr val="1B3B6F"/>
                </a:solidFill>
                <a:latin typeface="Calibri" pitchFamily="34" charset="0"/>
                <a:cs typeface="Amiri" pitchFamily="2" charset="-78"/>
              </a:rPr>
              <a:t> (WEBSITE SECTION)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Definite — but no </a:t>
            </a:r>
            <a:pPr algn="l" indent="0" marL="0">
              <a:buNone/>
            </a:pPr>
            <a:r>
              <a:rPr lang="ar-SA" altLang="en-US" sz="3650" b="1" dirty="0">
                <a:solidFill>
                  <a:srgbClr val="1B3B6F"/>
                </a:solidFill>
                <a:latin typeface="Amiri" pitchFamily="2" charset="-78"/>
                <a:ea typeface="Amiri" pitchFamily="2" charset="-78"/>
                <a:cs typeface="Amiri" pitchFamily="2" charset="-78"/>
              </a:rPr>
              <a:t>الـ</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الْمَعْرِفَةُ بِغَيْرِ «الـ»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6858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6858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SUFFIX</a:t>
            </a:r>
            <a:endParaRPr lang="en-US" sz="850" dirty="0"/>
          </a:p>
        </p:txBody>
      </p:sp>
      <p:sp>
        <p:nvSpPr>
          <p:cNvPr id="18" name="Text 15"/>
          <p:cNvSpPr txBox="1"/>
          <p:nvPr/>
        </p:nvSpPr>
        <p:spPr>
          <a:xfrm>
            <a:off x="8964168" y="1874520"/>
            <a:ext cx="26304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كِتَابِي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كِتَابِي الْجَدِيدُ</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new book — </a:t>
            </a:r>
            <a:pPr algn="ctr" indent="0" marL="0">
              <a:buNone/>
            </a:pPr>
            <a:r>
              <a:rPr lang="ar-SA" altLang="en-US" sz="1550" dirty="0">
                <a:solidFill>
                  <a:srgbClr val="5A6472"/>
                </a:solidFill>
                <a:latin typeface="Amiri" pitchFamily="2" charset="-78"/>
                <a:ea typeface="Amiri" pitchFamily="2" charset="-78"/>
                <a:cs typeface="Amiri" pitchFamily="2" charset="-78"/>
              </a:rPr>
              <a:t>ـِي</a:t>
            </a:r>
            <a:pPr algn="ctr" indent="0" marL="0">
              <a:buNone/>
            </a:pPr>
            <a:r>
              <a:rPr lang="en-US" sz="1200" i="1" dirty="0">
                <a:solidFill>
                  <a:srgbClr val="5A6472"/>
                </a:solidFill>
                <a:latin typeface="Calibri" pitchFamily="34" charset="0"/>
                <a:cs typeface="Amiri" pitchFamily="2" charset="-78"/>
              </a:rPr>
              <a:t> makes the noun definite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كِتَابِي جَدِيدٌ</a:t>
            </a:r>
            <a:pPr algn="l" indent="0" marL="0">
              <a:buNone/>
            </a:pPr>
            <a:r>
              <a:rPr lang="en-US" sz="1100" dirty="0">
                <a:solidFill>
                  <a:srgbClr val="1F2A37"/>
                </a:solidFill>
                <a:latin typeface="Calibri" pitchFamily="34" charset="0"/>
                <a:cs typeface="Amiri" pitchFamily="2" charset="-78"/>
              </a:rPr>
              <a:t> = My book is new.</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5486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548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NAME</a:t>
            </a:r>
            <a:endParaRPr lang="en-US" sz="850" dirty="0"/>
          </a:p>
        </p:txBody>
      </p:sp>
      <p:sp>
        <p:nvSpPr>
          <p:cNvPr id="26" name="Text 23"/>
          <p:cNvSpPr txBox="1"/>
          <p:nvPr/>
        </p:nvSpPr>
        <p:spPr>
          <a:xfrm>
            <a:off x="5007864" y="1874520"/>
            <a:ext cx="27675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مَرْيَمُ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مَرْيَمُ الْمُجْتَهِدَةُ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hardworking Maryam — a name is definite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مَرْيَمُ مُجْتَهِدَةٌ</a:t>
            </a:r>
            <a:pPr algn="l" indent="0" marL="0">
              <a:buNone/>
            </a:pPr>
            <a:r>
              <a:rPr lang="en-US" sz="1100" dirty="0">
                <a:solidFill>
                  <a:srgbClr val="1F2A37"/>
                </a:solidFill>
                <a:latin typeface="Calibri" pitchFamily="34" charset="0"/>
                <a:cs typeface="Amiri" pitchFamily="2" charset="-78"/>
              </a:rPr>
              <a:t> = Maryam is hardworking.</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IḌĀFA</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بَابُ الْمَدْرَسَةِ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بَابُ الْمَدْرَسَةِ الْجَدِيدُ</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school’s new door — masculine → describes </a:t>
            </a:r>
            <a:pPr algn="ctr" indent="0" marL="0">
              <a:buNone/>
            </a:pPr>
            <a:r>
              <a:rPr lang="ar-SA" altLang="en-US" sz="1550" dirty="0">
                <a:solidFill>
                  <a:srgbClr val="5A6472"/>
                </a:solidFill>
                <a:latin typeface="Amiri" pitchFamily="2" charset="-78"/>
                <a:ea typeface="Amiri" pitchFamily="2" charset="-78"/>
                <a:cs typeface="Amiri" pitchFamily="2" charset="-78"/>
              </a:rPr>
              <a:t>بَابُ</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الْجَدِيدَةِ</a:t>
            </a:r>
            <a:pPr algn="l" indent="0" marL="0">
              <a:buNone/>
            </a:pPr>
            <a:r>
              <a:rPr lang="en-US" sz="1100" dirty="0">
                <a:solidFill>
                  <a:srgbClr val="1F2A37"/>
                </a:solidFill>
                <a:latin typeface="Calibri" pitchFamily="34" charset="0"/>
                <a:cs typeface="Amiri" pitchFamily="2" charset="-78"/>
              </a:rPr>
              <a:t> would describe the school.</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error clinic: a suffix and </a:t>
            </a:r>
            <a:pPr algn="l" indent="0" marL="0">
              <a:buNone/>
            </a:pPr>
            <a:r>
              <a:rPr lang="ar-SA" altLang="en-US" sz="1500" dirty="0">
                <a:solidFill>
                  <a:srgbClr val="1F2A37"/>
                </a:solidFill>
                <a:latin typeface="Amiri" pitchFamily="2" charset="-78"/>
                <a:ea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 never sit on the same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كِتَابِي الْمُفِيدُ</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الْكِتَابِي الْمُفِيدُ</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مَدْرَسَةٌ ...</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الْجَدِيدَةُ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الْمُعَلِّمُ ...</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الْمَاهِرُ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مَاهِرٌ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الْمَاهِرَةُ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طَالِبَتَانِ ...</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مُجْتَهِدَانِ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مُجْتَهِدَتَانِ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الْمُجْتَهِدَتَانِ</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internally inconsistent?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 مُجْتَهِدَةٌ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 سَرِيعَةٌ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الْجَمِيلُ</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مَدْرَسَةٌ ...</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جَدِيدٌ</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الْجَدِيدَةُ</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جَدِيدَةٌ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is feminine, singular and indefinite.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الْمُعَلِّمُ ...</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الْمَاهِرُ</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مَاهِرٌ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الْمَاهِرَةُ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Inside one phrase, a masculine definite noun takes a masculine definite adjective.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طَالِبَتَانِ ...</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مُجْتَهِدَانِ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مُجْتَهِدَتَانِ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الْمُجْتَهِدَتَانِ</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is feminine dual and indefinite, so the adjective matches all three features.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internally inconsistent?</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 مُجْتَهِدَةٌ</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سَيَّارَةٌ سَرِيعَةٌ</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 الْجَمِيلُ</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طَالِب</a:t>
            </a:r>
            <a:pPr algn="l" indent="0" marL="0">
              <a:buNone/>
            </a:pPr>
            <a:r>
              <a:rPr lang="en-US" sz="1050" i="1" dirty="0">
                <a:solidFill>
                  <a:srgbClr val="8A6D1E"/>
                </a:solidFill>
                <a:latin typeface="Calibri" pitchFamily="34" charset="0"/>
                <a:cs typeface="Amiri" pitchFamily="2" charset="-78"/>
              </a:rPr>
              <a:t> is masculine but </a:t>
            </a:r>
            <a:pPr algn="l" indent="0" marL="0">
              <a:buNone/>
            </a:pPr>
            <a:r>
              <a:rPr lang="ar-SA" altLang="en-US" sz="1350" dirty="0">
                <a:solidFill>
                  <a:srgbClr val="8A6D1E"/>
                </a:solidFill>
                <a:latin typeface="Amiri" pitchFamily="2" charset="-78"/>
                <a:ea typeface="Amiri" pitchFamily="2" charset="-78"/>
                <a:cs typeface="Amiri" pitchFamily="2" charset="-78"/>
              </a:rPr>
              <a:t>مُجْتَهِدَة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build a phrase, then a sentence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singular, indefinite.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Make it known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الْمَدْرَسَةُ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particular school.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Phrase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الْمَدْرَسَةُ الْجَدِيدَةُ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Adjective copies: f + </a:t>
            </a:r>
            <a:pPr algn="l" indent="0" marL="0">
              <a:buNone/>
            </a:pPr>
            <a:r>
              <a:rPr lang="ar-SA" altLang="en-US" sz="1500" dirty="0">
                <a:solidFill>
                  <a:srgbClr val="1F2A37"/>
                </a:solidFill>
                <a:latin typeface="Amiri" pitchFamily="2" charset="-78"/>
                <a:ea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Sentence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الْمَدْرَسَةُ الْجَدِيدَةُ كَبِيرَةٌ.</a:t>
            </a:r>
            <a:endParaRPr lang="ar-SA" sz="22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Predicate: no </a:t>
            </a:r>
            <a:pPr algn="l" indent="0" marL="0">
              <a:buNone/>
            </a:pPr>
            <a:r>
              <a:rPr lang="ar-SA" altLang="en-US" sz="1500" dirty="0">
                <a:solidFill>
                  <a:srgbClr val="1F2A37"/>
                </a:solidFill>
                <a:latin typeface="Amiri" pitchFamily="2" charset="-78"/>
                <a:ea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PHRASE (both definite)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PREDICATE (indefinite)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هٰذِهِ </a:t>
            </a:r>
            <a:pPr rtl="1" algn="r" indent="0" marL="0">
              <a:buNone/>
            </a:pPr>
            <a:r>
              <a:rPr lang="ar-SA" altLang="en-US" sz="2600" b="1" dirty="0">
                <a:solidFill>
                  <a:srgbClr val="0E7C86"/>
                </a:solidFill>
                <a:latin typeface="Amiri" pitchFamily="2" charset="-78"/>
                <a:ea typeface="Amiri" pitchFamily="2" charset="-78"/>
                <a:cs typeface="Amiri" pitchFamily="2" charset="-78"/>
              </a:rPr>
              <a:t>مَدْرَسَتِي الْجَدِيدَةُ</a:t>
            </a:r>
            <a:pPr rtl="1" algn="r" indent="0" marL="0">
              <a:buNone/>
            </a:pPr>
            <a:r>
              <a:rPr lang="ar-SA" altLang="en-US" sz="2600" b="1" dirty="0">
                <a:solidFill>
                  <a:srgbClr val="1B3B6F"/>
                </a:solidFill>
                <a:latin typeface="Amiri" pitchFamily="2" charset="-78"/>
                <a:ea typeface="Amiri" pitchFamily="2" charset="-78"/>
                <a:cs typeface="Amiri" pitchFamily="2" charset="-78"/>
              </a:rPr>
              <a:t>. الْمَدْرَسَةُ </a:t>
            </a:r>
            <a:pPr rtl="1" algn="r" indent="0" marL="0">
              <a:buNone/>
            </a:pPr>
            <a:r>
              <a:rPr lang="ar-SA" altLang="en-US" sz="2600" b="1" dirty="0">
                <a:solidFill>
                  <a:srgbClr val="D6336C"/>
                </a:solidFill>
                <a:latin typeface="Amiri" pitchFamily="2" charset="-78"/>
                <a:ea typeface="Amiri" pitchFamily="2" charset="-78"/>
                <a:cs typeface="Amiri" pitchFamily="2" charset="-78"/>
              </a:rPr>
              <a:t>كَبِيرَةٌ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وَحَدِيثَةٌ</a:t>
            </a:r>
            <a:pPr rtl="1" algn="r" indent="0" marL="0">
              <a:buNone/>
            </a:pPr>
            <a:r>
              <a:rPr lang="ar-SA" altLang="en-US" sz="2600" b="1" dirty="0">
                <a:solidFill>
                  <a:srgbClr val="1B3B6F"/>
                </a:solidFill>
                <a:latin typeface="Amiri" pitchFamily="2" charset="-78"/>
                <a:ea typeface="Amiri" pitchFamily="2" charset="-78"/>
                <a:cs typeface="Amiri" pitchFamily="2" charset="-78"/>
              </a:rPr>
              <a:t>، وَفِيهَا </a:t>
            </a:r>
            <a:pPr rtl="1" algn="r" indent="0" marL="0">
              <a:buNone/>
            </a:pPr>
            <a:r>
              <a:rPr lang="ar-SA" altLang="en-US" sz="2600" b="1" dirty="0">
                <a:solidFill>
                  <a:srgbClr val="0E7C86"/>
                </a:solidFill>
                <a:latin typeface="Amiri" pitchFamily="2" charset="-78"/>
                <a:ea typeface="Amiri" pitchFamily="2" charset="-78"/>
                <a:cs typeface="Amiri" pitchFamily="2" charset="-78"/>
              </a:rPr>
              <a:t>مَكْتَبَةٌ هَادِئَةٌ</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This is my new school. The school is big and modern, and it has a quiet library.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الْكِتَابُ الْمُفِيدُ</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useful book</a:t>
            </a:r>
            <a:endParaRPr lang="en-US" sz="1250" dirty="0"/>
          </a:p>
          <a:p>
            <a:pPr indent="0" marL="0">
              <a:buNone/>
            </a:pPr>
            <a:r>
              <a:rPr lang="en-US" sz="1050" i="1" dirty="0">
                <a:solidFill>
                  <a:srgbClr val="8A6D1E"/>
                </a:solidFill>
                <a:latin typeface="Calibri" pitchFamily="34" charset="0"/>
                <a:cs typeface="Amiri" pitchFamily="2" charset="-78"/>
              </a:rPr>
              <a:t>Demonstrative phrase + attributive adjective.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الْكِتَابُ مُفِيدٌ.</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book is useful.</a:t>
            </a:r>
            <a:endParaRPr lang="en-US" sz="1250" dirty="0"/>
          </a:p>
          <a:p>
            <a:pPr indent="0" marL="0">
              <a:buNone/>
            </a:pPr>
            <a:r>
              <a:rPr lang="en-US" sz="1050" i="1" dirty="0">
                <a:solidFill>
                  <a:srgbClr val="8A6D1E"/>
                </a:solidFill>
                <a:latin typeface="Calibri" pitchFamily="34" charset="0"/>
                <a:cs typeface="Amiri" pitchFamily="2" charset="-78"/>
              </a:rPr>
              <a:t>Website speaking studio: now a sentence.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الْكُتُبُ الْجَدِيدَةُ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new books</a:t>
            </a:r>
            <a:endParaRPr lang="en-US" sz="1250" dirty="0"/>
          </a:p>
          <a:p>
            <a:pPr indent="0" marL="0">
              <a:buNone/>
            </a:pPr>
            <a:r>
              <a:rPr lang="en-US" sz="1050" i="1" dirty="0">
                <a:solidFill>
                  <a:srgbClr val="8A6D1E"/>
                </a:solidFill>
                <a:latin typeface="Calibri" pitchFamily="34" charset="0"/>
                <a:cs typeface="Amiri" pitchFamily="2" charset="-78"/>
              </a:rPr>
              <a:t>Non-human plural: feminine singular.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الطُّلَّابُ الْمُجْتَهِدُونَ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hardworking students</a:t>
            </a:r>
            <a:endParaRPr lang="en-US" sz="1250" dirty="0"/>
          </a:p>
          <a:p>
            <a:pPr indent="0" marL="0">
              <a:buNone/>
            </a:pPr>
            <a:r>
              <a:rPr lang="en-US" sz="1050" i="1" dirty="0">
                <a:solidFill>
                  <a:srgbClr val="8A6D1E"/>
                </a:solidFill>
                <a:latin typeface="Calibri" pitchFamily="34" charset="0"/>
                <a:cs typeface="Amiri" pitchFamily="2" charset="-78"/>
              </a:rPr>
              <a:t>Human plural: plural adjective.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PHRASE OR SENTENCE?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Noun phrase or complete sentence?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الْبَيْتُ الْكَبِيرُ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الْبَيْتُ كَبِيرٌ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كِتَابٌ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الْكِتَابُ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كِتَابِي جَدِيدٌ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كِتَابِي الْجَدِيدُ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مَدِينَةٌ جَمِيلَةٌ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الْمَدِينَةُ جَمِيلَةٌ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Noun phrase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Complete sentence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Noun phrase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الْبَيْتُ الْكَبِيرُ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الْكِتَابُ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كِتَابِي الْجَدِيدُ</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مَدِينَةٌ جَمِيلَةٌ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Complete sentence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الْبَيْتُ كَبِيرٌ</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كِتَابٌ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كِتَابِي جَدِيدٌ</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الْمَدِينَةُ جَمِيلَةٌ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WEBSITE LISTENING WORKSHOP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hear the relationship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listening, </a:t>
            </a:r>
            <a:pPr algn="l" indent="0" marL="0">
              <a:buNone/>
            </a:pPr>
            <a:r>
              <a:rPr lang="ar-SA" altLang="en-US" sz="1650" b="1" dirty="0">
                <a:solidFill>
                  <a:srgbClr val="1B3B6F"/>
                </a:solidFill>
                <a:latin typeface="Amiri" pitchFamily="2" charset="-78"/>
                <a:ea typeface="Amiri" pitchFamily="2" charset="-78"/>
                <a:cs typeface="Amiri" pitchFamily="2" charset="-78"/>
              </a:rPr>
              <a:t>شَقَّةٍ صَغِيرَةٍ</a:t>
            </a:r>
            <a:pPr algn="l" indent="0" marL="0">
              <a:buNone/>
            </a:pPr>
            <a:r>
              <a:rPr lang="en-US" sz="1250" b="1" dirty="0">
                <a:solidFill>
                  <a:srgbClr val="1B3B6F"/>
                </a:solidFill>
                <a:latin typeface="Calibri" pitchFamily="34" charset="0"/>
                <a:cs typeface="Amiri" pitchFamily="2" charset="-78"/>
              </a:rPr>
              <a:t> means: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flat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small flat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flat is small.</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listening, </a:t>
            </a:r>
            <a:pPr algn="l" indent="0" marL="0">
              <a:buNone/>
            </a:pPr>
            <a:r>
              <a:rPr lang="ar-SA" altLang="en-US" sz="1650" b="1" dirty="0">
                <a:solidFill>
                  <a:srgbClr val="1B3B6F"/>
                </a:solidFill>
                <a:latin typeface="Amiri" pitchFamily="2" charset="-78"/>
                <a:ea typeface="Amiri" pitchFamily="2" charset="-78"/>
                <a:cs typeface="Amiri" pitchFamily="2" charset="-78"/>
              </a:rPr>
              <a:t>الشَّقَّةَ مُرِيحَةٌ</a:t>
            </a:r>
            <a:pPr algn="l" indent="0" marL="0">
              <a:buNone/>
            </a:pPr>
            <a:r>
              <a:rPr lang="en-US" sz="1250" b="1" dirty="0">
                <a:solidFill>
                  <a:srgbClr val="1B3B6F"/>
                </a:solidFill>
                <a:latin typeface="Calibri" pitchFamily="34" charset="0"/>
                <a:cs typeface="Amiri" pitchFamily="2" charset="-78"/>
              </a:rPr>
              <a:t> means: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comfortable flat</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comfortable flat</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flat is comfortable.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نَوَافِذُهَا الْكَبِيرَةُ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windows are large.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windows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large windows</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Ask: does the adjective IDENTIFY the noun, or COMPLETE a statement?</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أَسْكُنُ فِي شَقَّةٍ صَغِيرَةٍ، وَلٰكِنَّ الشَّقَّةَ مُرِيحَةٌ.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a small flat, but the flat is comfortable.</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غُرْفَتِي الْجَدِيدَةُ مُضِيئَةٌ،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new room is bright,</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وَنَوَافِذُهَا الْكَبِيرَةُ تُطِلُّ عَلَى حَدِيقَةٍ جَمِيلَةٍ.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its large windows overlook a beautiful garden.</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الْحَدِيقَةِ أَشْجَارٌ طَوِيلَةٌ وَزُهُورٌ مُلَوَّنَةٌ.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garden there are tall trees and colourful flowers.</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listening, </a:t>
            </a:r>
            <a:pPr algn="l" indent="0" marL="0">
              <a:buNone/>
            </a:pPr>
            <a:r>
              <a:rPr lang="ar-SA" altLang="en-US" sz="1650" b="1" dirty="0">
                <a:solidFill>
                  <a:srgbClr val="1B3B6F"/>
                </a:solidFill>
                <a:latin typeface="Amiri" pitchFamily="2" charset="-78"/>
                <a:ea typeface="Amiri" pitchFamily="2" charset="-78"/>
                <a:cs typeface="Amiri" pitchFamily="2" charset="-78"/>
              </a:rPr>
              <a:t>شَقَّةٍ صَغِيرَةٍ</a:t>
            </a:r>
            <a:pPr algn="l" indent="0" marL="0">
              <a:buNone/>
            </a:pPr>
            <a:r>
              <a:rPr lang="en-US" sz="1250" b="1" dirty="0">
                <a:solidFill>
                  <a:srgbClr val="1B3B6F"/>
                </a:solidFill>
                <a:latin typeface="Calibri" pitchFamily="34" charset="0"/>
                <a:cs typeface="Amiri" pitchFamily="2" charset="-78"/>
              </a:rPr>
              <a:t> means:</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small flat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small flat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flat is small.</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words are indefinite and genitive after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listening, </a:t>
            </a:r>
            <a:pPr algn="l" indent="0" marL="0">
              <a:buNone/>
            </a:pPr>
            <a:r>
              <a:rPr lang="ar-SA" altLang="en-US" sz="1650" b="1" dirty="0">
                <a:solidFill>
                  <a:srgbClr val="1B3B6F"/>
                </a:solidFill>
                <a:latin typeface="Amiri" pitchFamily="2" charset="-78"/>
                <a:ea typeface="Amiri" pitchFamily="2" charset="-78"/>
                <a:cs typeface="Amiri" pitchFamily="2" charset="-78"/>
              </a:rPr>
              <a:t>الشَّقَّةَ مُرِيحَةٌ</a:t>
            </a:r>
            <a:pPr algn="l" indent="0" marL="0">
              <a:buNone/>
            </a:pPr>
            <a:r>
              <a:rPr lang="en-US" sz="1250" b="1" dirty="0">
                <a:solidFill>
                  <a:srgbClr val="1B3B6F"/>
                </a:solidFill>
                <a:latin typeface="Calibri" pitchFamily="34" charset="0"/>
                <a:cs typeface="Amiri" pitchFamily="2" charset="-78"/>
              </a:rPr>
              <a:t> means:</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comfortable flat</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comfortable flat</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flat is comfortable.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is definite; the adjective is an indefinite predicate.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نَوَافِذُهَا الْكَبِيرَةُ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windows are large.</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windows</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large windows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makes the plural noun definite; the non-human plural adjective is feminine singular and definite.</a:t>
            </a:r>
            <a:endParaRPr lang="en-US" sz="10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Ask: does the adjective IDENTIFY the noun, or COMPLETE a statement?</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مَدْرَسَةٌ الْجَدِيدَةُ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Both definite?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الْكِتَابِي الْمُفِيدُ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الـ</a:t>
            </a:r>
            <a:pPr algn="l" indent="0" marL="0">
              <a:buNone/>
            </a:pPr>
            <a:r>
              <a:rPr lang="en-US" sz="1300" i="1" dirty="0">
                <a:solidFill>
                  <a:srgbClr val="5A6472"/>
                </a:solidFill>
                <a:latin typeface="Calibri" pitchFamily="34" charset="0"/>
                <a:cs typeface="Amiri" pitchFamily="2" charset="-78"/>
              </a:rPr>
              <a:t> AND a suffix?</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الْكُتُبُ الْجَدِيدَاتُ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People or things?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مَدْرَسَةٌ الْجَدِيدَةُ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الْمَدْرَسَةُ الْجَدِيدَةُ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Noun and adjective cannot disagree in definiteness.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الْكِتَابِي الْمُفِيدُ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كِتَابِي الْمُفِيدُ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suffix and </a:t>
            </a:r>
            <a:pPr algn="l" indent="0" marL="0">
              <a:buNone/>
            </a:pPr>
            <a:r>
              <a:rPr lang="ar-SA" altLang="en-US" sz="1500" b="1" dirty="0">
                <a:solidFill>
                  <a:srgbClr val="1B3B6F"/>
                </a:solidFill>
                <a:latin typeface="Amiri" pitchFamily="2" charset="-78"/>
                <a:ea typeface="Amiri" pitchFamily="2" charset="-78"/>
                <a:cs typeface="Amiri" pitchFamily="2" charset="-78"/>
              </a:rPr>
              <a:t>الـ</a:t>
            </a:r>
            <a:pPr algn="l" indent="0" marL="0">
              <a:buNone/>
            </a:pPr>
            <a:r>
              <a:rPr lang="en-US" sz="1150" b="1" dirty="0">
                <a:solidFill>
                  <a:srgbClr val="1B3B6F"/>
                </a:solidFill>
                <a:latin typeface="Calibri" pitchFamily="34" charset="0"/>
                <a:cs typeface="Amiri" pitchFamily="2" charset="-78"/>
              </a:rPr>
              <a:t> never sit on the same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الْكُتُبُ الْجَدِيدَاتُ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الْكُتُبُ الْجَدِيدَةُ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feminine singular adjective.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MINI-CHECK 4 “PLURAL AGREEMENT”</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الْأَوْلَادُ ...</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الصَّغِيرُ</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الصَّغِيرَةُ</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الصِّغَارُ</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الْبَنَاتُ ...</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الذَّكِيُّونَ</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الذَّكِيَّاتُ</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الذَّكِيَّةُ</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الْحَقَائِبُ ...</a:t>
            </a:r>
            <a:endParaRPr lang="ar-SA" sz="1500" dirty="0"/>
          </a:p>
        </p:txBody>
      </p:sp>
      <p:sp>
        <p:nvSpPr>
          <p:cNvPr id="50" name="Shape 47"/>
          <p:cNvSpPr/>
          <p:nvPr/>
        </p:nvSpPr>
        <p:spPr>
          <a:xfrm>
            <a:off x="640080" y="48737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الثَّقِيلَاتُ</a:t>
            </a:r>
            <a:endParaRPr lang="ar-SA" sz="2050" dirty="0"/>
          </a:p>
        </p:txBody>
      </p:sp>
      <p:sp>
        <p:nvSpPr>
          <p:cNvPr id="53" name="Shape 50"/>
          <p:cNvSpPr/>
          <p:nvPr/>
        </p:nvSpPr>
        <p:spPr>
          <a:xfrm>
            <a:off x="640080" y="53309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الثَّقِيلَةُ</a:t>
            </a:r>
            <a:endParaRPr lang="ar-SA" sz="2050" dirty="0"/>
          </a:p>
        </p:txBody>
      </p:sp>
      <p:sp>
        <p:nvSpPr>
          <p:cNvPr id="56" name="Shape 53"/>
          <p:cNvSpPr/>
          <p:nvPr/>
        </p:nvSpPr>
        <p:spPr>
          <a:xfrm>
            <a:off x="640080" y="57881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الثَّقِيلُونَ</a:t>
            </a:r>
            <a:endParaRPr lang="ar-SA" sz="2050" dirty="0"/>
          </a:p>
        </p:txBody>
      </p:sp>
      <p:sp>
        <p:nvSpPr>
          <p:cNvPr id="59" name="Shape 56"/>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6313932"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2" name="Text 59"/>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“new schools”.</a:t>
            </a:r>
            <a:endParaRPr lang="en-US" sz="1250" dirty="0"/>
          </a:p>
        </p:txBody>
      </p:sp>
      <p:sp>
        <p:nvSpPr>
          <p:cNvPr id="63" name="Shape 60"/>
          <p:cNvSpPr/>
          <p:nvPr/>
        </p:nvSpPr>
        <p:spPr>
          <a:xfrm>
            <a:off x="6368796"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مَدَارِسُ جَدِيدُونَ</a:t>
            </a:r>
            <a:endParaRPr lang="ar-SA" sz="2050" dirty="0"/>
          </a:p>
        </p:txBody>
      </p:sp>
      <p:sp>
        <p:nvSpPr>
          <p:cNvPr id="66" name="Shape 63"/>
          <p:cNvSpPr/>
          <p:nvPr/>
        </p:nvSpPr>
        <p:spPr>
          <a:xfrm>
            <a:off x="6368796"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مَدَارِسُ جَدِيدَاتٌ</a:t>
            </a:r>
            <a:endParaRPr lang="ar-SA" sz="2050" dirty="0"/>
          </a:p>
        </p:txBody>
      </p:sp>
      <p:sp>
        <p:nvSpPr>
          <p:cNvPr id="69" name="Shape 66"/>
          <p:cNvSpPr/>
          <p:nvPr/>
        </p:nvSpPr>
        <p:spPr>
          <a:xfrm>
            <a:off x="6368796"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مَدَارِسُ جَدِيدَةٌ</a:t>
            </a:r>
            <a:endParaRPr lang="ar-SA" sz="2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الْأَوْلَادُ ...</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الصَّغِيرُ</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الصَّغِيرَةُ</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الصِّغَارُ</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أَوْلَاد</a:t>
            </a:r>
            <a:pPr algn="l" indent="0" marL="0">
              <a:buNone/>
            </a:pPr>
            <a:r>
              <a:rPr lang="en-US" sz="1050" i="1" dirty="0">
                <a:solidFill>
                  <a:srgbClr val="8A6D1E"/>
                </a:solidFill>
                <a:latin typeface="Calibri" pitchFamily="34" charset="0"/>
                <a:cs typeface="Amiri" pitchFamily="2" charset="-78"/>
              </a:rPr>
              <a:t> refers to humans, so a common plural adjective is used.</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الْبَنَاتُ ...</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الذَّكِيُّونَ</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الذَّكِيَّاتُ</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الذَّكِيَّةُ</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human plural takes a feminine plural adjective.</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2" name="Text 49"/>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3" name="Text 50"/>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الْحَقَائِبُ ...</a:t>
            </a:r>
            <a:endParaRPr lang="ar-SA" sz="1500" dirty="0"/>
          </a:p>
        </p:txBody>
      </p:sp>
      <p:sp>
        <p:nvSpPr>
          <p:cNvPr id="54" name="Shape 51"/>
          <p:cNvSpPr/>
          <p:nvPr/>
        </p:nvSpPr>
        <p:spPr>
          <a:xfrm>
            <a:off x="640080" y="4831080"/>
            <a:ext cx="256032" cy="256032"/>
          </a:xfrm>
          <a:prstGeom prst="ellipse">
            <a:avLst/>
          </a:prstGeom>
          <a:solidFill>
            <a:srgbClr val="C9CED6"/>
          </a:solidFill>
          <a:ln w="12700">
            <a:solidFill>
              <a:srgbClr val="C9CED6"/>
            </a:solidFill>
            <a:prstDash val="solid"/>
          </a:ln>
        </p:spPr>
      </p:sp>
      <p:sp>
        <p:nvSpPr>
          <p:cNvPr id="55" name="Text 5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6" name="Text 53"/>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الثَّقِيلَاتُ</a:t>
            </a:r>
            <a:endParaRPr lang="ar-SA" sz="1700" dirty="0"/>
          </a:p>
        </p:txBody>
      </p:sp>
      <p:sp>
        <p:nvSpPr>
          <p:cNvPr id="57" name="Shape 54"/>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640080" y="5202936"/>
            <a:ext cx="256032" cy="256032"/>
          </a:xfrm>
          <a:prstGeom prst="ellipse">
            <a:avLst/>
          </a:prstGeom>
          <a:solidFill>
            <a:srgbClr val="2E8B57"/>
          </a:solidFill>
          <a:ln w="12700">
            <a:solidFill>
              <a:srgbClr val="2E8B57"/>
            </a:solidFill>
            <a:prstDash val="solid"/>
          </a:ln>
        </p:spPr>
      </p:sp>
      <p:sp>
        <p:nvSpPr>
          <p:cNvPr id="59" name="Text 5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0" name="Text 57"/>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الثَّقِيلَةُ</a:t>
            </a:r>
            <a:endParaRPr lang="ar-SA" sz="1700" dirty="0"/>
          </a:p>
        </p:txBody>
      </p:sp>
      <p:sp>
        <p:nvSpPr>
          <p:cNvPr id="61" name="Shape 58"/>
          <p:cNvSpPr/>
          <p:nvPr/>
        </p:nvSpPr>
        <p:spPr>
          <a:xfrm>
            <a:off x="640080" y="557479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3" name="Text 60"/>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الثَّقِيلُونَ</a:t>
            </a:r>
            <a:endParaRPr lang="ar-SA" sz="1700" dirty="0"/>
          </a:p>
        </p:txBody>
      </p:sp>
      <p:sp>
        <p:nvSpPr>
          <p:cNvPr id="64" name="Text 61"/>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a:t>
            </a:r>
            <a:pPr algn="l" indent="0" marL="0">
              <a:buNone/>
            </a:pPr>
            <a:r>
              <a:rPr lang="ar-SA" altLang="en-US" sz="1350" dirty="0">
                <a:solidFill>
                  <a:srgbClr val="8A6D1E"/>
                </a:solidFill>
                <a:latin typeface="Amiri" pitchFamily="2" charset="-78"/>
                <a:ea typeface="Amiri" pitchFamily="2" charset="-78"/>
                <a:cs typeface="Amiri" pitchFamily="2" charset="-78"/>
              </a:rPr>
              <a:t>حَقَائِب</a:t>
            </a:r>
            <a:pPr algn="l" indent="0" marL="0">
              <a:buNone/>
            </a:pPr>
            <a:r>
              <a:rPr lang="en-US" sz="1050" i="1" dirty="0">
                <a:solidFill>
                  <a:srgbClr val="8A6D1E"/>
                </a:solidFill>
                <a:latin typeface="Calibri" pitchFamily="34" charset="0"/>
                <a:cs typeface="Amiri" pitchFamily="2" charset="-78"/>
              </a:rPr>
              <a:t> takes a feminine singular adjective.</a:t>
            </a:r>
            <a:endParaRPr lang="en-US" sz="1050" dirty="0"/>
          </a:p>
        </p:txBody>
      </p:sp>
      <p:sp>
        <p:nvSpPr>
          <p:cNvPr id="65" name="Shape 6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6313932"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8" name="Text 6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“new schools”.</a:t>
            </a:r>
            <a:endParaRPr lang="en-US" sz="1250" dirty="0"/>
          </a:p>
        </p:txBody>
      </p:sp>
      <p:sp>
        <p:nvSpPr>
          <p:cNvPr id="69" name="Shape 66"/>
          <p:cNvSpPr/>
          <p:nvPr/>
        </p:nvSpPr>
        <p:spPr>
          <a:xfrm>
            <a:off x="6368796" y="4831080"/>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مَدَارِسُ جَدِيدُونَ</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مَدَارِسُ جَدِيدَاتٌ</a:t>
            </a:r>
            <a:endParaRPr lang="ar-SA" sz="1700" dirty="0"/>
          </a:p>
        </p:txBody>
      </p:sp>
      <p:sp>
        <p:nvSpPr>
          <p:cNvPr id="75" name="Shape 72"/>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6" name="Shape 73"/>
          <p:cNvSpPr/>
          <p:nvPr/>
        </p:nvSpPr>
        <p:spPr>
          <a:xfrm>
            <a:off x="6368796" y="5574792"/>
            <a:ext cx="256032" cy="256032"/>
          </a:xfrm>
          <a:prstGeom prst="ellipse">
            <a:avLst/>
          </a:prstGeom>
          <a:solidFill>
            <a:srgbClr val="2E8B57"/>
          </a:solidFill>
          <a:ln w="12700">
            <a:solidFill>
              <a:srgbClr val="2E8B57"/>
            </a:solidFill>
            <a:prstDash val="solid"/>
          </a:ln>
        </p:spPr>
      </p:sp>
      <p:sp>
        <p:nvSpPr>
          <p:cNvPr id="77" name="Text 7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مَدَارِسُ جَدِيدَةٌ</a:t>
            </a:r>
            <a:endParaRPr lang="ar-SA" sz="1700" dirty="0"/>
          </a:p>
        </p:txBody>
      </p:sp>
      <p:sp>
        <p:nvSpPr>
          <p:cNvPr id="79" name="Text 7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 adjective.</a:t>
            </a:r>
            <a:endParaRPr lang="en-US"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WORKSHOP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new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هٰذِهِ مَدْرَسَتِي الْجَدِيدَةُ. الْمَدْرَسَةُ كَبِيرَةٌ وَحَدِيثَةٌ. فِيهَا فُصُولٌ وَاسِعَةٌ وَمَكْتَبَةٌ هَادِئَةٌ. أُحِبُّ الْمُعَلِّمَاتِ الْمُتَعَاوِنَاتِ، وَأَسْتَعْمِلُ الْحَوَاسِيبَ الْجَدِيدَةَ فِي دَرْسِ التِّقْنِيَةِ. هٰذِهِ الْفُصُولُ نَظِيفَةٌ، وَالْمَلْعَبُ الْكَبِيرُ قَرِيبٌ مِنَ الْمَبْنَى الرَّئِيسِيِّ.</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حَدِيثَةٌ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modern</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فُصُولٌ وَاسِعَةٌ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spacious classrooms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هَادِئَةٌ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quiet</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الْمُتَعَاوِنَاتِ</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cooperative (f. pl.)</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الْحَوَاسِيبَ</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computers</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الْمَلْعَبُ</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playground</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الْمَبْنَى الرَّئِيسِيِّ</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main building</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reading, what does </a:t>
            </a:r>
            <a:pPr algn="l" indent="0" marL="0">
              <a:buNone/>
            </a:pPr>
            <a:r>
              <a:rPr lang="ar-SA" altLang="en-US" sz="1650" b="1" dirty="0">
                <a:solidFill>
                  <a:srgbClr val="1B3B6F"/>
                </a:solidFill>
                <a:latin typeface="Amiri" pitchFamily="2" charset="-78"/>
                <a:ea typeface="Amiri" pitchFamily="2" charset="-78"/>
                <a:cs typeface="Amiri" pitchFamily="2" charset="-78"/>
              </a:rPr>
              <a:t>مَدْرَسَتِي الْجَدِيدَةُ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school is new.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new school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reading, which expression is a complete sentence?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الْمَلْعَبُ الْكَبِيرُ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فُصُولٌ وَاسِعَةٌ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الْمَدْرَسَةُ كَبِيرَةٌ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t>
            </a:r>
            <a:pPr algn="l" indent="0" marL="0">
              <a:buNone/>
            </a:pPr>
            <a:r>
              <a:rPr lang="ar-SA" altLang="en-US" sz="1650" b="1" dirty="0">
                <a:solidFill>
                  <a:srgbClr val="1B3B6F"/>
                </a:solidFill>
                <a:latin typeface="Amiri" pitchFamily="2" charset="-78"/>
                <a:ea typeface="Amiri" pitchFamily="2" charset="-78"/>
                <a:cs typeface="Amiri" pitchFamily="2" charset="-78"/>
              </a:rPr>
              <a:t>الْحَوَاسِيبَ</a:t>
            </a:r>
            <a:pPr algn="l" indent="0" marL="0">
              <a:buNone/>
            </a:pPr>
            <a:r>
              <a:rPr lang="en-US" sz="1250" b="1" dirty="0">
                <a:solidFill>
                  <a:srgbClr val="1B3B6F"/>
                </a:solidFill>
                <a:latin typeface="Calibri" pitchFamily="34" charset="0"/>
                <a:cs typeface="Amiri" pitchFamily="2" charset="-78"/>
              </a:rPr>
              <a:t> followed by </a:t>
            </a:r>
            <a:pPr algn="l" indent="0" marL="0">
              <a:buNone/>
            </a:pPr>
            <a:r>
              <a:rPr lang="ar-SA" altLang="en-US" sz="1650" b="1" dirty="0">
                <a:solidFill>
                  <a:srgbClr val="1B3B6F"/>
                </a:solidFill>
                <a:latin typeface="Amiri" pitchFamily="2" charset="-78"/>
                <a:ea typeface="Amiri" pitchFamily="2" charset="-78"/>
                <a:cs typeface="Amiri" pitchFamily="2" charset="-78"/>
              </a:rPr>
              <a:t>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non-human plurals take feminine singular agreement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a:t>
            </a:r>
            <a:pPr algn="l" indent="0" marL="0">
              <a:buNone/>
            </a:pPr>
            <a:r>
              <a:rPr lang="ar-SA" altLang="en-US" sz="1650" dirty="0">
                <a:solidFill>
                  <a:srgbClr val="1F2A37"/>
                </a:solidFill>
                <a:latin typeface="Amiri" pitchFamily="2" charset="-78"/>
                <a:ea typeface="Amiri" pitchFamily="2" charset="-78"/>
                <a:cs typeface="Amiri" pitchFamily="2" charset="-78"/>
              </a:rPr>
              <a:t>حواسيب</a:t>
            </a:r>
            <a:pPr algn="l" indent="0" marL="0">
              <a:buNone/>
            </a:pPr>
            <a:r>
              <a:rPr lang="en-US" sz="1250" dirty="0">
                <a:solidFill>
                  <a:srgbClr val="1F2A37"/>
                </a:solidFill>
                <a:latin typeface="Calibri" pitchFamily="34" charset="0"/>
                <a:cs typeface="Amiri" pitchFamily="2" charset="-78"/>
              </a:rPr>
              <a:t> is feminine singular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every plural adjective ends in </a:t>
            </a:r>
            <a:pPr algn="l" indent="0" marL="0">
              <a:buNone/>
            </a:pPr>
            <a:r>
              <a:rPr lang="ar-SA" altLang="en-US" sz="1650" dirty="0">
                <a:solidFill>
                  <a:srgbClr val="1F2A37"/>
                </a:solidFill>
                <a:latin typeface="Amiri" pitchFamily="2" charset="-78"/>
                <a:ea typeface="Amiri" pitchFamily="2" charset="-78"/>
                <a:cs typeface="Amiri" pitchFamily="2" charset="-78"/>
              </a:rPr>
              <a:t>ة</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HUMAN plural with a plural adjective?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الْحَوَاسِيبَ الْجَدِيدَةَ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الْمُعَلِّمَاتِ الْمُتَعَاوِنَاتِ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فُصُولٌ وَاسِعَةٌ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reading, what does </a:t>
            </a:r>
            <a:pPr algn="l" indent="0" marL="0">
              <a:buNone/>
            </a:pPr>
            <a:r>
              <a:rPr lang="ar-SA" altLang="en-US" sz="1650" b="1" dirty="0">
                <a:solidFill>
                  <a:srgbClr val="1B3B6F"/>
                </a:solidFill>
                <a:latin typeface="Amiri" pitchFamily="2" charset="-78"/>
                <a:ea typeface="Amiri" pitchFamily="2" charset="-78"/>
                <a:cs typeface="Amiri" pitchFamily="2" charset="-78"/>
              </a:rPr>
              <a:t>مَدْرَسَتِي الْجَدِيدَةُ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school is new.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my new school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possessive suffix makes the noun definite, and the attributive adjective takes </a:t>
            </a:r>
            <a:pPr algn="l" indent="0" marL="0">
              <a:buNone/>
            </a:pPr>
            <a:r>
              <a:rPr lang="ar-SA" altLang="en-US" sz="1350" dirty="0">
                <a:solidFill>
                  <a:srgbClr val="8A6D1E"/>
                </a:solidFill>
                <a:latin typeface="Amiri" pitchFamily="2" charset="-78"/>
                <a:ea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reading, which expression is a complete sentence?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الْمَلْعَبُ الْكَبِيرُ</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فُصُولٌ وَاسِعَةٌ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الْمَدْرَسَةُ كَبِيرَةٌ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subject + indefinite predicate adjective forms a complete sentence.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t>
            </a:r>
            <a:pPr algn="l" indent="0" marL="0">
              <a:buNone/>
            </a:pPr>
            <a:r>
              <a:rPr lang="ar-SA" altLang="en-US" sz="1650" b="1" dirty="0">
                <a:solidFill>
                  <a:srgbClr val="1B3B6F"/>
                </a:solidFill>
                <a:latin typeface="Amiri" pitchFamily="2" charset="-78"/>
                <a:ea typeface="Amiri" pitchFamily="2" charset="-78"/>
                <a:cs typeface="Amiri" pitchFamily="2" charset="-78"/>
              </a:rPr>
              <a:t>الْحَوَاسِيبَ</a:t>
            </a:r>
            <a:pPr algn="l" indent="0" marL="0">
              <a:buNone/>
            </a:pPr>
            <a:r>
              <a:rPr lang="en-US" sz="1250" b="1" dirty="0">
                <a:solidFill>
                  <a:srgbClr val="1B3B6F"/>
                </a:solidFill>
                <a:latin typeface="Calibri" pitchFamily="34" charset="0"/>
                <a:cs typeface="Amiri" pitchFamily="2" charset="-78"/>
              </a:rPr>
              <a:t> followed by </a:t>
            </a:r>
            <a:pPr algn="l" indent="0" marL="0">
              <a:buNone/>
            </a:pPr>
            <a:r>
              <a:rPr lang="ar-SA" altLang="en-US" sz="1650" b="1" dirty="0">
                <a:solidFill>
                  <a:srgbClr val="1B3B6F"/>
                </a:solidFill>
                <a:latin typeface="Amiri" pitchFamily="2" charset="-78"/>
                <a:ea typeface="Amiri" pitchFamily="2" charset="-78"/>
                <a:cs typeface="Amiri" pitchFamily="2" charset="-78"/>
              </a:rPr>
              <a:t>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because non-human plurals take feminine singular agreement</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a:t>
            </a:r>
            <a:pPr algn="l" indent="0" marL="0">
              <a:buNone/>
            </a:pPr>
            <a:r>
              <a:rPr lang="ar-SA" altLang="en-US" sz="1650" dirty="0">
                <a:solidFill>
                  <a:srgbClr val="9AA1AB"/>
                </a:solidFill>
                <a:latin typeface="Amiri" pitchFamily="2" charset="-78"/>
                <a:ea typeface="Amiri" pitchFamily="2" charset="-78"/>
                <a:cs typeface="Amiri" pitchFamily="2" charset="-78"/>
              </a:rPr>
              <a:t>حواسيب</a:t>
            </a:r>
            <a:pPr algn="l" indent="0" marL="0">
              <a:buNone/>
            </a:pPr>
            <a:r>
              <a:rPr lang="en-US" sz="1250" dirty="0">
                <a:solidFill>
                  <a:srgbClr val="9AA1AB"/>
                </a:solidFill>
                <a:latin typeface="Calibri" pitchFamily="34" charset="0"/>
                <a:cs typeface="Amiri" pitchFamily="2" charset="-78"/>
              </a:rPr>
              <a:t> is feminine singular</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because every plural adjective ends in </a:t>
            </a:r>
            <a:pPr algn="l" indent="0" marL="0">
              <a:buNone/>
            </a:pPr>
            <a:r>
              <a:rPr lang="ar-SA" altLang="en-US" sz="1550" dirty="0">
                <a:solidFill>
                  <a:srgbClr val="9AA1AB"/>
                </a:solidFill>
                <a:latin typeface="Amiri" pitchFamily="2" charset="-78"/>
                <a:ea typeface="Amiri" pitchFamily="2" charset="-78"/>
                <a:cs typeface="Amiri" pitchFamily="2" charset="-78"/>
              </a:rPr>
              <a:t>ة</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حَوَاسِيب</a:t>
            </a:r>
            <a:pPr algn="l" indent="0" marL="0">
              <a:buNone/>
            </a:pPr>
            <a:r>
              <a:rPr lang="en-US" sz="1050" i="1" dirty="0">
                <a:solidFill>
                  <a:srgbClr val="8A6D1E"/>
                </a:solidFill>
                <a:latin typeface="Calibri" pitchFamily="34" charset="0"/>
                <a:cs typeface="Amiri" pitchFamily="2" charset="-78"/>
              </a:rPr>
              <a:t> is a non-human plural, so its adjective is feminine singular.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HUMAN plural with a plural adjective?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الْحَوَاسِيبَ الْجَدِيدَةَ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الْمُعَلِّمَاتِ الْمُتَعَاوِنَاتِ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فُصُولٌ وَاسِعَةٌ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Teachers are people: feminine plural adjective.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point, identify, describe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(هٰذَا كِتَابٌ.)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هٰذَا الشَّيْءَ: هٰذَا الْكِتَابُ … / هٰذَا الْكِتَابُ …</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ثَلَاثَةَ أَشْيَاءَ، وَأَضِفْ سَبَبًا أَوْ رَأْيًا.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 / هٰذِهِ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هٰذَا الْكِتَابُ الْمُفِيدُ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هٰذِهِ الْغُرْفَةُ ___ ، لِأَنَّ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هٰذَا؟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هٰذَا الْكِتَابُ الْمُفِيدُ. هٰذَا الْكِتَابُ مُفِيدٌ، لِأَنَّ فِيهِ صُوَرًا.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the useful book. This book is useful because it has pictures.</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phrase / sentence pairs about your room or school.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الْبَيْتُ الْكَبِيرُ … · الْبَيْتُ كَبِيرٌ. Check: does the adjective copy الـ and ة?</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demonstrative contrast and one plural (human or non-human).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هٰذَا كِتَابٌ / هٰذَا الْكِتَابُ … · الْكُتُبُ الْجَدِيدَةُ.</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The website writing workshop “Describe a place” with all five features.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Underline nouns once and their adjectives twice (website paper route).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مُفِيدٌ.</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 is useful.</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الْكُتُبُ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new books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الْمُعَلِّمَاتُ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hardworking teachers (f.)</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الْجَدِيدُ / الْجَدِيدَةُ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new … (noun + my)</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النَّافِذَةُ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big window</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الْمَدْرَسَةُ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كَبِيرٌ / كَبِيرَةٌ  ·  صَغِيرٌ / صَغِيرَةٌ  ·  جَدِيدٌ / جَدِيدَةٌ  ·  حَدِيثٌ / حَدِيثَةٌ  ·  هَادِئٌ / هَادِئَةٌ  ·  نَظِيفٌ / نَظِيفَةٌ  ·  وَاسِعٌ / وَاسِعَةٌ  ·  مُفِيدٌ / مُفِيدَةٌ  ·  هٰذَا  ·  هٰذِهِ  ·  هٰؤُلَاءِ  ·  مُجْتَهِدُونَ</a:t>
            </a:r>
            <a:endParaRPr lang="ar-SA" sz="14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 Describe a place (80–90 words): your school, home, town or an imagined place.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definite noun–adjective phrases.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nominal sentences with indefinite predicate adjectives.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demonstrative contrast (</a:t>
            </a:r>
            <a:pPr algn="l" indent="0" marL="0">
              <a:buNone/>
            </a:pPr>
            <a:r>
              <a:rPr lang="ar-SA" altLang="en-US" sz="1550" dirty="0">
                <a:solidFill>
                  <a:srgbClr val="1F2A37"/>
                </a:solidFill>
                <a:latin typeface="Amiri" pitchFamily="2" charset="-78"/>
                <a:ea typeface="Amiri" pitchFamily="2" charset="-78"/>
                <a:cs typeface="Amiri" pitchFamily="2" charset="-78"/>
              </a:rPr>
              <a:t>هٰذَا كِتَابٌ / هٰذَا الْكِتَابُ</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human plural and one non-human plural.</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noun made definite by a suffix or iḍāfa.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مَدْرَسَتِي الْجَدِيدَةُ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new school</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فُصُولٌ وَاسِعَةٌ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spacious classrooms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الْمُعَلِّمَاتُ الْمُتَعَاوِنَاتُ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cooperative teachers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الْحَوَاسِيبُ الْجَدِيدَةُ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new computers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الْمَلْعَبُ الْكَبِيرُ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big playground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بَابُ الْمَدْرَسَةِ الْكَبِيرُ</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school’s big door</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هٰذِهِ مَدِينَتِي الْجَمِيلَةُ. الْمَدِينَةُ كَبِيرَةٌ وَهَادِئَةٌ. فِي الْمَدِينَةِ مَدَارِسُ حَدِيثَةٌ وَحَدَائِقُ وَاسِعَةٌ. أُحِبُّ الْمَكْتَبَةَ الْعَامَّةَ، وَالْمُوَظَّفُونَ الْمُتَعَاوِنُونَ يُسَاعِدُونَ الطُّلَّابَ. هٰذَا الشَّارِعُ طَوِيلٌ، وَهٰذَا الْمَسْجِدُ الْكَبِيرُ قَرِيبٌ مِنْ بَيْتِي. بَابُ الْمَسْجِدِ الْقَدِيمُ جَمِيلٌ جِدًّا. الْأَسْوَاقُ مُزْدَحِمَةٌ يَوْمَ الْجُمُعَةِ، وَلٰكِنَّ النَّاسَ لُطَفَاءُ.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my beautiful city. The city is big and quiet. In the city there are modern schools and spacious gardens. I love the public library, and the cooperative staff help the students. This street is long, and this big mosque is near my house. The mosque’s old door is very beautiful. The markets are crowded on Friday, but the people are kind.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definite phrases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predicate sentences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هٰذَا contrast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human + non-human plural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adjective copies its noun’s gender.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phrases are both definite or both indefinite.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predicate adjectives have no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Non-human plurals take a feminine singular adjective.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matched adjectives after a suffix, a name or iḍāfa.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modern city”.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الْحَدِيثَةُ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مَدِينَةٌ حَدِيثَةٌ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حَدِيثَةٌ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city is modern.”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مَدِينَةٌ حَدِيثَةٌ.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حَدِيثَةٌ.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الْحَدِيثَةُ.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old car”.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سَيَّارَتِي الْقَدِيمَةُ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سَيَّارَتِي قَدِيمَةٌ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السَّيَّارَتِي الْقَدِيمَةُ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modern city”.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الْمَدِينَةُ الْحَدِيثَةُ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مَدِينَةٌ حَدِيثَةٌ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الْمَدِينَةُ حَدِيثَةٌ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noun and attributive adjective are definite.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city is modern.”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مَدِينَةٌ حَدِيثَةٌ.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الْمَدِينَةُ حَدِيثَةٌ.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الْمَدِينَةُ الْحَدِيثَةُ.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subject + indefinite predicate adjective.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old car”.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سَيَّارَتِي الْقَدِيمَةُ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سَيَّارَتِي قَدِيمَةٌ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السَّيَّارَتِي الْقَدِيمَةُ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makes the noun definite, and the attributive adjective is definite.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WEBSITE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modern city”.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الْحَدِيثَةُ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مَدِينَةٌ حَدِيثَةٌ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حَدِيثَةٌ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hardworking female students”.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الطَّالِبَاتُ الْمُجْتَهِدَاتُ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طَالِبَاتٌ مُجْتَهِدَاتٌ</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الطَّالِبَاتُ مُجْتَهِدَةٌ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female students are hardworking.”</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الطَّالِبَاتُ الْمُجْتَهِدَاتُ.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طَالِبَاتٌ الْمُجْتَهِدَاتُ.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الطَّالِبَاتُ مُجْتَهِدَاتٌ.</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الْمَبَانِي ...</a:t>
            </a:r>
            <a:endParaRPr lang="ar-SA" sz="15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الْعَالِيَاتُ</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الْعَالُونَ</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الْعَالِيَةُ</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car is old.”</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سَيَّارَتِي قَدِيمَةٌ.</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سَيَّارَتِي الْقَدِيمَةُ.</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الْسَيَّارَتِي قَدِيمَةٌ.</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hospital’s large entrance”?</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مَدْخَلُ الْمُسْتَشْفَى الْكَبِيرَةُ</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مَدْخَلُ الْمُسْتَشْفَى الْكَبِيرُ</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الْمَدْخَلُ الْمُسْتَشْفَى الْكَبِيرُ</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modern city”.</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الْحَدِيثَةُ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مَدِينَةٌ حَدِيثَةٌ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حَدِيثَةٌ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feminine singular noun phrase.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hardworking female students”.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هَؤُلَاءِ الطَّالِبَاتُ الْمُجْتَهِدَاتُ</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طَالِبَاتٌ مُجْتَهِدَاتٌ</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الطَّالِبَاتُ مُجْتَهِدَةٌ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demonstrative points to a definite human feminine plural phrase.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female students are hardworking.”</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الطَّالِبَاتُ الْمُجْتَهِدَاتُ.</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طَالِبَاتٌ الْمُجْتَهِدَاتُ.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هَؤُلَاءِ الطَّالِبَاتُ مُجْتَهِدَاتٌ.</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predicate adjective is indefinite but remains feminine plural for people.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الْمَبَانِي ...</a:t>
            </a:r>
            <a:endParaRPr lang="ar-SA" sz="150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الْعَالِيَاتُ</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الْعَالُونَ</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الْعَالِيَةُ</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مَبَانِي</a:t>
            </a:r>
            <a:pPr algn="l" indent="0" marL="0">
              <a:buNone/>
            </a:pPr>
            <a:r>
              <a:rPr lang="en-US" sz="1050" i="1" dirty="0">
                <a:solidFill>
                  <a:srgbClr val="8A6D1E"/>
                </a:solidFill>
                <a:latin typeface="Calibri" pitchFamily="34" charset="0"/>
                <a:cs typeface="Amiri" pitchFamily="2" charset="-78"/>
              </a:rPr>
              <a:t> is a non-human plural, so the adjective is feminine singular.</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car is old.”</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سَيَّارَتِي قَدِيمَةٌ.</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سَيَّارَتِي الْقَدِيمَةُ.</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الْسَيَّارَتِي قَدِيمَةٌ.</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predicate adjective is indefinite.</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hospital’s large entrance”?</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مَدْخَلُ الْمُسْتَشْفَى الْكَبِيرَةُ</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مَدْخَلُ الْمُسْتَشْفَى الْكَبِيرُ</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الْمَدْخَلُ الْمُسْتَشْفَى الْكَبِيرُ</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adjective describes masculine </a:t>
            </a:r>
            <a:pPr algn="l" indent="0" marL="0">
              <a:buNone/>
            </a:pPr>
            <a:r>
              <a:rPr lang="ar-SA" altLang="en-US" sz="1350" dirty="0">
                <a:solidFill>
                  <a:srgbClr val="8A6D1E"/>
                </a:solidFill>
                <a:latin typeface="Amiri" pitchFamily="2" charset="-78"/>
                <a:ea typeface="Amiri" pitchFamily="2" charset="-78"/>
                <a:cs typeface="Amiri" pitchFamily="2" charset="-78"/>
              </a:rPr>
              <a:t>مَدْخَل</a:t>
            </a:r>
            <a:pPr algn="l" indent="0" marL="0">
              <a:buNone/>
            </a:pPr>
            <a:r>
              <a:rPr lang="en-US" sz="1050" i="1" dirty="0">
                <a:solidFill>
                  <a:srgbClr val="8A6D1E"/>
                </a:solidFill>
                <a:latin typeface="Calibri" pitchFamily="34" charset="0"/>
                <a:cs typeface="Amiri" pitchFamily="2" charset="-78"/>
              </a:rPr>
              <a:t>, while the first idāfa noun has no article.</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GM-ART-02 · Articles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GM-ART-03: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GM-ART-03 · Where the Article Belongs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مُضَافٌ</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first noun of an iḍāfa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مُضَافٌ إِلَيْهِ</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second noun of an iḍāfa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 عَلَمٍ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proper name</a:t>
            </a:r>
            <a:pPr indent="0" marL="0">
              <a:buNone/>
            </a:pPr>
            <a:r>
              <a:rPr lang="ar-SA" sz="1000" i="1" dirty="0">
                <a:solidFill>
                  <a:srgbClr val="5A6472"/>
                </a:solidFill>
                <a:latin typeface="Calibri" pitchFamily="34" charset="0"/>
                <a:ea typeface="Amiri" pitchFamily="2" charset="-78"/>
                <a:cs typeface="Amiri" pitchFamily="2" charset="-78"/>
              </a:rPr>
              <a:t>  pl. أَسْمَاءُ أَعْلَامٍ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ضَمِيرٌ مُتَّصِلٌ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ar-SA" sz="1200" b="1" dirty="0">
                <a:solidFill>
                  <a:srgbClr val="1F2A37"/>
                </a:solidFill>
                <a:latin typeface="Calibri" pitchFamily="34" charset="0"/>
                <a:ea typeface="Amiri" pitchFamily="2" charset="-78"/>
                <a:cs typeface="Amiri" pitchFamily="2" charset="-78"/>
              </a:rPr>
              <a:t>an attached pronoun (ـِي · ـُنَا)</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حَرْفُ جَرٍّ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preposition</a:t>
            </a:r>
            <a:pPr indent="0" marL="0">
              <a:buNone/>
            </a:pPr>
            <a:r>
              <a:rPr lang="ar-SA" sz="1000" i="1" dirty="0">
                <a:solidFill>
                  <a:srgbClr val="5A6472"/>
                </a:solidFill>
                <a:latin typeface="Calibri" pitchFamily="34" charset="0"/>
                <a:ea typeface="Amiri" pitchFamily="2" charset="-78"/>
                <a:cs typeface="Amiri" pitchFamily="2" charset="-78"/>
              </a:rPr>
              <a:t>  pl. حُرُوفُ جَرٍّ</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Translate: “my book”, “the student’s book”, “Maryam’s book”. Which ones have </a:t>
            </a:r>
            <a:pPr algn="l" indent="0" marL="0">
              <a:buNone/>
            </a:pPr>
            <a:r>
              <a:rPr lang="ar-SA" altLang="en-US" sz="1350" dirty="0">
                <a:solidFill>
                  <a:srgbClr val="1F2A37"/>
                </a:solidFill>
                <a:latin typeface="Amiri" pitchFamily="2" charset="-78"/>
                <a:ea typeface="Amiri" pitchFamily="2" charset="-78"/>
                <a:cs typeface="Amiri" pitchFamily="2" charset="-78"/>
              </a:rPr>
              <a:t>الـ</a:t>
            </a:r>
            <a:pPr algn="l" indent="0" marL="0">
              <a:buNone/>
            </a:pPr>
            <a:r>
              <a:rPr lang="en-US" sz="1050" dirty="0">
                <a:solidFill>
                  <a:srgbClr val="1F2A37"/>
                </a:solidFill>
                <a:latin typeface="Calibri" pitchFamily="34" charset="0"/>
                <a:cs typeface="Amiri" pitchFamily="2" charset="-78"/>
              </a:rPr>
              <a: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كِتَابِي · كِتَابُ الطَّالِبِ · كِتَابُ مَرْيَمَ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phrase / sentence pairs (</a:t>
            </a:r>
            <a:pPr algn="l" indent="0" marL="0">
              <a:buNone/>
            </a:pPr>
            <a:r>
              <a:rPr lang="ar-SA" altLang="en-US" sz="1550" dirty="0">
                <a:solidFill>
                  <a:srgbClr val="1F2A37"/>
                </a:solidFill>
                <a:latin typeface="Amiri" pitchFamily="2" charset="-78"/>
                <a:ea typeface="Amiri" pitchFamily="2" charset="-78"/>
                <a:cs typeface="Amiri" pitchFamily="2" charset="-78"/>
              </a:rPr>
              <a:t>الْبَيْتُ الْكَبِيرُ</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الْبَيْتُ كَبِيرٌ</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website mini-checks 3 and 4; write four plural phrases.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the website writing workshop (80–90 words) and the mastery check.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GM-ART-02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GM-ART-03 · Where the Article Belongs</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مَوَاضِعُ «الـ» وَحُدُودُ اسْتِعْمَالِهَا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adjective is a mirror · both definite = a phrase · definite + indefinite = a sentence · things in the plural take a feminine singular adjective.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GM-ART-02 · Definiteness and Adjective Agreement</dc:title>
  <dc:subject>PptxGenJS Presentation</dc:subject>
  <dc:creator>Al Madina Online School · Arabic Department</dc:creator>
  <cp:lastModifiedBy>Al Madina Online School · Arabic Department</cp:lastModifiedBy>
  <cp:revision>1</cp:revision>
  <dcterms:created xsi:type="dcterms:W3CDTF">2026-10-11T06:42:08Z</dcterms:created>
  <dcterms:modified xsi:type="dcterms:W3CDTF">2026-10-11T06:42:08Z</dcterms:modified>
</cp:coreProperties>
</file>