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GM-CASE-01 (“The Nominative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doer of a verb and the topic of a nominal sentence; add -u (definite) or -un (indefinite). Develop: dual -āni, sound masculine plural -ūna, sound feminine plural -ātu / -ātun, and adjectives that copy the case. Stretch: explain what changes after kāna, inna and laysa; edit a paragraph for role, case and agreement.
• Website warning: never choose the case by position alone — the first noun is not automatically nominative. Ask first: what is this word’s job?
• Website: communication before parsing — learners need to recognise the main roles and keep endings consistent in supported work, not label every word. Recycles GM-VS (roles) and GM-NVS (topic, predicate, kāna, inna).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GM-VS-01 sentence roles and GM-NVS-01 topic + predicate.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Find the job first, then the ending. Doer, topic and simple predicate → nominative (-u /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“The three-case map”. Today: row 1 only. Lessons 2 and 3 cover the accusative and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subject of a verbal sentence” and “Topic and predicate”. Ask for each: what is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“Nominative forms”. Core: rows 1–2. Choral: say the six forms with a fist-bump on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“Noun–adjective case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“Connections to kāna and inna” (laysa row teacher-added from GM-NVS-04).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subjects and nominal sentences.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on the website reading lines. Point out ad-darsa and mumtiʿan — not nominative (object; predicate of 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build each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“not nominative” forms are previews of Lessons 2–3 (-a, -an, -ayni,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“not nominative” forms are previews of Lessons 2–3 (-a, -an, -ayni,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nominal sentences and Final Mastery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and noticing (extended school update). Read it aloud once while students follow; then they hunt for today’s grammar.
Task: Website: underline every nominative doer or topic, circle the predicates, and explain why jadīdun matches muʿallimun.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lines, extended by the teacher;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frame. Sequence: ● 10s think → ↔ 45s rehearse aloud with mic muted → ◎ two named students on open mic (warned in advance) → + ? the class types one follow-up in chat → ↺ one student summarises.
Routes: Core uses the Core prompt and stem; Develop the Develop prompt; Stretch the last prompt.
Website frame: verb + doer · al-madrasatu + predicate · aṭ-ṭullābu + plural predicate · al-kutubu + feminine singular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Arabic words describing a school day, a new person or a class event.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(GM-CASE-02 · The Accusative Case) will spend class time USING this language, so students prepare it tonight — short, simple, easy to access (school guidance: “Simple, Short, Interesting, Relevant, Easy to access”). The five words prepare GM-CASE-02 (website: the accusative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CASE ENDINGS  ·  GM-CASE-01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GM-CASE-01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Nominative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حَالَةُ الرَّفْعِ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Case endings are role signals. The nominative (-u / -un) marks the doer (kataba ṭ-ṭālibu), the topic and the simple predicate (al-jawwu jamīlun). Duals show -āni, sound plurals -ūna and -ātu — and adjectives copy the case.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GM-CASE-01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case map; subjects; topic + predicate; forms; adjectives; kāna and inna.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 sentence; nominative or not?;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GM-CASE-02.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noun is the doer: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الطَّالِبُ الرِّسَالَةَ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الرِّسَالَةَ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nominal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جَمِيلٌ.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جَمِيلًا.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جَمِيلٍ.</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correct noun–adjective agreement.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 طَالِبٌ مُجْتَهِدًا.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 طَالِبًا مُجْتَهِدٌ.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 طَالِبٌ مُجْتَهِدٌ.</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nominative dual?</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طَالِبُونَ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verb-first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الْمُعَلِّمُ.</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الْمُعَلِّمَ.</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الْمُعَلِّمِ.</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noun is the doer: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كَتَبَ الطَّالِبُ الرِّسَالَةَ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الرِّسَالَةَ</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student does the writing: aṭ-ṭālibu.</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nominal sentence.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الْجَوُّ جَمِيلٌ.</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جَمِيلًا.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جَمِيلٍ.</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Topic and predicate: both -u / -un.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correct noun–adjective agreement.</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 طَالِبٌ مُجْتَهِدًا.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 طَالِبًا مُجْتَهِدٌ.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جَاءَ طَالِبٌ مُجْتَهِدٌ.</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copies -un.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nominative dual?</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طَالِبَيْنِ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طَالِبُونَ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طَالِبَانِ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nominative: -āni.</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verb-first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 الْمُعَلِّمُ.</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 الْمُعَلِّمَ.</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 الْمُعَلِّمِ.</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after the verb: -u.</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Find the job first, then the ending. Doer, topic and simple predicate → nominative (-u / -un).</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2" charset="-78"/>
                <a:ea typeface="Amiri" pitchFamily="2" charset="-78"/>
                <a:cs typeface="Amiri" pitchFamily="2" charset="-78"/>
              </a:rPr>
              <a:t>كَتَبَ</a:t>
            </a:r>
            <a:pPr rtl="1" algn="ctr" indent="0" marL="0">
              <a:lnSpc>
                <a:spcPct val="120000"/>
              </a:lnSpc>
              <a:buNone/>
            </a:pPr>
            <a:r>
              <a:rPr lang="ar-SA" altLang="en-US" sz="2150" b="1" dirty="0">
                <a:solidFill>
                  <a:srgbClr val="1B3B6F"/>
                </a:solidFill>
                <a:latin typeface="Amiri" pitchFamily="2" charset="-78"/>
                <a:cs typeface="Amiri" pitchFamily="2" charset="-78"/>
              </a:rPr>
              <a:t> </a:t>
            </a:r>
            <a:pPr rtl="1" algn="ctr" indent="0" marL="0">
              <a:lnSpc>
                <a:spcPct val="120000"/>
              </a:lnSpc>
              <a:buNone/>
            </a:pPr>
            <a:r>
              <a:rPr lang="ar-SA" altLang="en-US" sz="2150" b="1" dirty="0">
                <a:solidFill>
                  <a:srgbClr val="1D5FBF"/>
                </a:solidFill>
                <a:latin typeface="Amiri" pitchFamily="2" charset="-78"/>
                <a:ea typeface="Amiri" pitchFamily="2" charset="-78"/>
                <a:cs typeface="Amiri" pitchFamily="2" charset="-78"/>
              </a:rPr>
              <a:t>الطَّالِبُ</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الرِّسَالَةَ ‖ </a:t>
            </a:r>
            <a:pPr rtl="1" algn="ctr" indent="0" marL="0">
              <a:lnSpc>
                <a:spcPct val="120000"/>
              </a:lnSpc>
              <a:buNone/>
            </a:pPr>
            <a:r>
              <a:rPr lang="ar-SA" altLang="en-US" sz="2150" b="1" dirty="0">
                <a:solidFill>
                  <a:srgbClr val="1D5FBF"/>
                </a:solidFill>
                <a:latin typeface="Amiri" pitchFamily="2" charset="-78"/>
                <a:ea typeface="Amiri" pitchFamily="2" charset="-78"/>
                <a:cs typeface="Amiri" pitchFamily="2" charset="-78"/>
              </a:rPr>
              <a:t>الْجَوُّ جَمِيلٌ</a:t>
            </a:r>
            <a:endParaRPr lang="ar-SA" sz="21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Find the doer and the topic.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-u and -un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dual and plural nominative endings.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adjectives copy the case.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the doer and give it -u.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topic + predicate with -u / -un.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-āni, -ūna, -ātu.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adjectives match in case.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kāna, inna and laysa.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edit a 90–110-word school update.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الْإِعْرَابُ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case endings (role signals)</a:t>
            </a:r>
            <a:endParaRPr lang="en-US" sz="1350" dirty="0"/>
          </a:p>
          <a:p>
            <a:pPr indent="0" marL="0">
              <a:buNone/>
            </a:pPr>
            <a:r>
              <a:rPr lang="en-US" sz="1100" i="1" dirty="0">
                <a:solidFill>
                  <a:srgbClr val="5A6472"/>
                </a:solidFill>
                <a:latin typeface="Calibri" pitchFamily="34" charset="0"/>
                <a:cs typeface="Amiri" pitchFamily="2" charset="-78"/>
              </a:rPr>
              <a:t>al-iʿ-rā-bu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الْكِتَابُ · الْكِتَابَ · الْكِتَابِ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الرَّفْعُ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nominative case</a:t>
            </a:r>
            <a:endParaRPr lang="en-US" sz="1350" dirty="0"/>
          </a:p>
          <a:p>
            <a:pPr indent="0" marL="0">
              <a:buNone/>
            </a:pPr>
            <a:r>
              <a:rPr lang="en-US" sz="1100" i="1" dirty="0">
                <a:solidFill>
                  <a:srgbClr val="5A6472"/>
                </a:solidFill>
                <a:latin typeface="Calibri" pitchFamily="34" charset="0"/>
                <a:cs typeface="Amiri" pitchFamily="2" charset="-78"/>
              </a:rPr>
              <a:t>ar-raf-ʿu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 · طَالِبٌ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ḍamma: -u</a:t>
            </a:r>
            <a:endParaRPr lang="en-US" sz="1350" dirty="0"/>
          </a:p>
          <a:p>
            <a:pPr indent="0" marL="0">
              <a:buNone/>
            </a:pPr>
            <a:r>
              <a:rPr lang="en-US" sz="1100" i="1" dirty="0">
                <a:solidFill>
                  <a:srgbClr val="5A6472"/>
                </a:solidFill>
                <a:latin typeface="Calibri" pitchFamily="34" charset="0"/>
                <a:cs typeface="Amiri" pitchFamily="2" charset="-78"/>
              </a:rPr>
              <a:t>aḍ-ḍam-ma-tu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الْجَوُّ</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تَنْوِينُ الضَّمِّ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ḍammatān: -un</a:t>
            </a:r>
            <a:endParaRPr lang="en-US" sz="1350" dirty="0"/>
          </a:p>
          <a:p>
            <a:pPr indent="0" marL="0">
              <a:buNone/>
            </a:pPr>
            <a:r>
              <a:rPr lang="en-US" sz="1100" i="1" dirty="0">
                <a:solidFill>
                  <a:srgbClr val="5A6472"/>
                </a:solidFill>
                <a:latin typeface="Calibri" pitchFamily="34" charset="0"/>
                <a:cs typeface="Amiri" pitchFamily="2" charset="-78"/>
              </a:rPr>
              <a:t>tan-wī-nu aḍ-ḍam-mi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جَمِيلٌ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doer of a verb</a:t>
            </a:r>
            <a:endParaRPr lang="en-US" sz="1350" dirty="0"/>
          </a:p>
          <a:p>
            <a:pPr indent="0" marL="0">
              <a:buNone/>
            </a:pPr>
            <a:r>
              <a:rPr lang="en-US" sz="1100" i="1" dirty="0">
                <a:solidFill>
                  <a:srgbClr val="5A6472"/>
                </a:solidFill>
                <a:latin typeface="Calibri" pitchFamily="34" charset="0"/>
                <a:cs typeface="Amiri" pitchFamily="2" charset="-78"/>
              </a:rPr>
              <a:t>al-fā-ʿi-lu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وَصَلَ الْمُعَلِّمُ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الْمُبْتَدَأُ وَالْخَبَرُ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and predicate</a:t>
            </a:r>
            <a:endParaRPr lang="en-US" sz="1350" dirty="0"/>
          </a:p>
          <a:p>
            <a:pPr indent="0" marL="0">
              <a:buNone/>
            </a:pPr>
            <a:r>
              <a:rPr lang="en-US" sz="1100" i="1" dirty="0">
                <a:solidFill>
                  <a:srgbClr val="5A6472"/>
                </a:solidFill>
                <a:latin typeface="Calibri" pitchFamily="34" charset="0"/>
                <a:cs typeface="Amiri" pitchFamily="2" charset="-78"/>
              </a:rPr>
              <a:t>al-mub-ta-da-ʾu wāl-kha-ba-ru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الْمُدِيرُ مَشْغُولٌ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THREE-CASE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Case is a role system — not decoration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الْإِعْرَابِ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Main jobs</a:t>
            </a:r>
            <a:endParaRPr lang="en-US" sz="1100" dirty="0"/>
          </a:p>
        </p:txBody>
      </p:sp>
      <p:sp>
        <p:nvSpPr>
          <p:cNvPr id="17" name="Text 14"/>
          <p:cNvSpPr txBox="1"/>
          <p:nvPr/>
        </p:nvSpPr>
        <p:spPr>
          <a:xfrm>
            <a:off x="65653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9077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question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 topic, predicate</a:t>
            </a:r>
            <a:endParaRPr lang="en-US" sz="1100" dirty="0"/>
          </a:p>
        </p:txBody>
      </p:sp>
      <p:sp>
        <p:nvSpPr>
          <p:cNvPr id="22" name="Text 19"/>
          <p:cNvSpPr txBox="1"/>
          <p:nvPr/>
        </p:nvSpPr>
        <p:spPr>
          <a:xfrm>
            <a:off x="6583680" y="2267712"/>
            <a:ext cx="20116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 · كِتَابٌ</a:t>
            </a:r>
            <a:endParaRPr lang="ar-SA" sz="2200" dirty="0"/>
          </a:p>
        </p:txBody>
      </p:sp>
      <p:sp>
        <p:nvSpPr>
          <p:cNvPr id="23" name="Text 20"/>
          <p:cNvSpPr txBox="1"/>
          <p:nvPr/>
        </p:nvSpPr>
        <p:spPr>
          <a:xfrm>
            <a:off x="294436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what is the doer or topic?</a:t>
            </a:r>
            <a:endParaRPr lang="en-US" sz="1100" dirty="0"/>
          </a:p>
        </p:txBody>
      </p:sp>
      <p:sp>
        <p:nvSpPr>
          <p:cNvPr id="24" name="Text 21"/>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الرَّفْعُ</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some adverbs</a:t>
            </a:r>
            <a:endParaRPr lang="en-US" sz="1100" dirty="0"/>
          </a:p>
        </p:txBody>
      </p:sp>
      <p:sp>
        <p:nvSpPr>
          <p:cNvPr id="29" name="Text 26"/>
          <p:cNvSpPr txBox="1"/>
          <p:nvPr/>
        </p:nvSpPr>
        <p:spPr>
          <a:xfrm>
            <a:off x="6583680" y="3054096"/>
            <a:ext cx="20116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 · كِتَابًا</a:t>
            </a:r>
            <a:endParaRPr lang="ar-SA" sz="2200" dirty="0"/>
          </a:p>
        </p:txBody>
      </p:sp>
      <p:sp>
        <p:nvSpPr>
          <p:cNvPr id="30" name="Text 27"/>
          <p:cNvSpPr txBox="1"/>
          <p:nvPr/>
        </p:nvSpPr>
        <p:spPr>
          <a:xfrm>
            <a:off x="294436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what receives the action?</a:t>
            </a:r>
            <a:endParaRPr lang="en-US" sz="1100" dirty="0"/>
          </a:p>
        </p:txBody>
      </p:sp>
      <p:sp>
        <p:nvSpPr>
          <p:cNvPr id="31" name="Text 28"/>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النَّصْبُ</a:t>
            </a:r>
            <a:endParaRPr lang="ar-SA" sz="24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fī, min …; iḍāfa</a:t>
            </a:r>
            <a:endParaRPr lang="en-US" sz="1100" dirty="0"/>
          </a:p>
        </p:txBody>
      </p:sp>
      <p:sp>
        <p:nvSpPr>
          <p:cNvPr id="34" name="Text 31"/>
          <p:cNvSpPr txBox="1"/>
          <p:nvPr/>
        </p:nvSpPr>
        <p:spPr>
          <a:xfrm>
            <a:off x="6583680" y="3840480"/>
            <a:ext cx="20116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 · كِتَابٍ</a:t>
            </a:r>
            <a:endParaRPr lang="ar-SA" sz="2200" dirty="0"/>
          </a:p>
        </p:txBody>
      </p:sp>
      <p:sp>
        <p:nvSpPr>
          <p:cNvPr id="35" name="Text 32"/>
          <p:cNvSpPr txBox="1"/>
          <p:nvPr/>
        </p:nvSpPr>
        <p:spPr>
          <a:xfrm>
            <a:off x="294436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follows a preposition or completes an iḍāfa?</a:t>
            </a:r>
            <a:endParaRPr lang="en-US" sz="1100" dirty="0"/>
          </a:p>
        </p:txBody>
      </p:sp>
      <p:sp>
        <p:nvSpPr>
          <p:cNvPr id="36" name="Text 33"/>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الْجَرُّ</a:t>
            </a:r>
            <a:endParaRPr lang="ar-SA" sz="24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do not choose by position. The first noun is not automatically nominative, and the last noun is not automatically genitive. In everyday unvowelled Arabic these short vowels are often not written — but the grammar still controls agreement.</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WHERE THE NOMINATIVE APPEARS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doer, the topic and the predicate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مَوَاضِعُ الرَّفْعِ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Nominative word(s)</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الْحَارِسُ</a:t>
            </a:r>
            <a:endParaRPr lang="ar-SA" sz="2200" dirty="0"/>
          </a:p>
        </p:txBody>
      </p:sp>
      <p:sp>
        <p:nvSpPr>
          <p:cNvPr id="21" name="Text 18"/>
          <p:cNvSpPr txBox="1"/>
          <p:nvPr/>
        </p:nvSpPr>
        <p:spPr>
          <a:xfrm>
            <a:off x="32918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 الْحَارِسُ الْبَابَ.</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 of a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حَافِلَةٌ جَدِيدَةٌ</a:t>
            </a:r>
            <a:endParaRPr lang="ar-SA" sz="2200" dirty="0"/>
          </a:p>
        </p:txBody>
      </p:sp>
      <p:sp>
        <p:nvSpPr>
          <p:cNvPr id="27" name="Text 24"/>
          <p:cNvSpPr txBox="1"/>
          <p:nvPr/>
        </p:nvSpPr>
        <p:spPr>
          <a:xfrm>
            <a:off x="32918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حَافِلَةٌ جَدِيدَةٌ.</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 (indefinite)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الطَّالِبَانِ الْجَدِيدَانِ</a:t>
            </a:r>
            <a:endParaRPr lang="ar-SA" sz="2200" dirty="0"/>
          </a:p>
        </p:txBody>
      </p:sp>
      <p:sp>
        <p:nvSpPr>
          <p:cNvPr id="31" name="Text 28"/>
          <p:cNvSpPr txBox="1"/>
          <p:nvPr/>
        </p:nvSpPr>
        <p:spPr>
          <a:xfrm>
            <a:off x="32918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حَضَرَ الطَّالِبَانِ الْجَدِيدَانِ.</a:t>
            </a:r>
            <a:endParaRPr lang="ar-SA" sz="2400" dirty="0"/>
          </a:p>
        </p:txBody>
      </p:sp>
      <p:sp>
        <p:nvSpPr>
          <p:cNvPr id="32" name="Text 29"/>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 (dual)</a:t>
            </a:r>
            <a:endParaRPr lang="en-US" sz="1100" dirty="0"/>
          </a:p>
        </p:txBody>
      </p:sp>
      <p:sp>
        <p:nvSpPr>
          <p:cNvPr id="33" name="Shape 3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4" name="Text 31"/>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الْمُدِيرُ · مَشْغُولٌ</a:t>
            </a:r>
            <a:endParaRPr lang="ar-SA" sz="2200" dirty="0"/>
          </a:p>
        </p:txBody>
      </p:sp>
      <p:sp>
        <p:nvSpPr>
          <p:cNvPr id="35" name="Text 32"/>
          <p:cNvSpPr txBox="1"/>
          <p:nvPr/>
        </p:nvSpPr>
        <p:spPr>
          <a:xfrm>
            <a:off x="32918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الْمُدِيرُ مَشْغُولٌ.</a:t>
            </a:r>
            <a:endParaRPr lang="ar-SA" sz="2400" dirty="0"/>
          </a:p>
        </p:txBody>
      </p:sp>
      <p:sp>
        <p:nvSpPr>
          <p:cNvPr id="36" name="Text 33"/>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 predicate</a:t>
            </a:r>
            <a:endParaRPr lang="en-US" sz="1100" dirty="0"/>
          </a:p>
        </p:txBody>
      </p:sp>
      <p:sp>
        <p:nvSpPr>
          <p:cNvPr id="37" name="Shape 34"/>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مَدْرَسَةٌ كَبِيرَةٌ</a:t>
            </a:r>
            <a:endParaRPr lang="ar-SA" sz="2200" dirty="0"/>
          </a:p>
        </p:txBody>
      </p:sp>
      <p:sp>
        <p:nvSpPr>
          <p:cNvPr id="41" name="Text 38"/>
          <p:cNvSpPr txBox="1"/>
          <p:nvPr/>
        </p:nvSpPr>
        <p:spPr>
          <a:xfrm>
            <a:off x="32918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مَدْرَسَةٌ كَبِيرَةٌ.</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 predicate</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 مُسْتَعِدُّونَ</a:t>
            </a:r>
            <a:endParaRPr lang="ar-SA" sz="2200" dirty="0"/>
          </a:p>
        </p:txBody>
      </p:sp>
      <p:sp>
        <p:nvSpPr>
          <p:cNvPr id="45" name="Text 42"/>
          <p:cNvSpPr txBox="1"/>
          <p:nvPr/>
        </p:nvSpPr>
        <p:spPr>
          <a:xfrm>
            <a:off x="32918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مُسْتَعِدُّونَ.</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predicate</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doer of the action is nominative — even when it comes after the verb. A present nominal sentence begins with a nominative topic and gives a nominative predicate.</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THE NOMINATIVE FORMS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shapes of the nominative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الرَّفْعِ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1879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Nominative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type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-u</a:t>
            </a:r>
            <a:endParaRPr lang="en-US" sz="1100" dirty="0"/>
          </a:p>
        </p:txBody>
      </p:sp>
      <p:sp>
        <p:nvSpPr>
          <p:cNvPr id="21" name="Text 18"/>
          <p:cNvSpPr txBox="1"/>
          <p:nvPr/>
        </p:nvSpPr>
        <p:spPr>
          <a:xfrm>
            <a:off x="4206240"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a:t>
            </a:r>
            <a:endParaRPr lang="ar-SA" sz="26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ḍammatān: -un</a:t>
            </a:r>
            <a:endParaRPr lang="en-US" sz="1100" dirty="0"/>
          </a:p>
        </p:txBody>
      </p:sp>
      <p:sp>
        <p:nvSpPr>
          <p:cNvPr id="27" name="Text 24"/>
          <p:cNvSpPr txBox="1"/>
          <p:nvPr/>
        </p:nvSpPr>
        <p:spPr>
          <a:xfrm>
            <a:off x="4206240"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a:t>
            </a:r>
            <a:endParaRPr lang="ar-SA" sz="26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singular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-āni</a:t>
            </a:r>
            <a:endParaRPr lang="en-US" sz="1100" dirty="0"/>
          </a:p>
        </p:txBody>
      </p:sp>
      <p:sp>
        <p:nvSpPr>
          <p:cNvPr id="33" name="Text 30"/>
          <p:cNvSpPr txBox="1"/>
          <p:nvPr/>
        </p:nvSpPr>
        <p:spPr>
          <a:xfrm>
            <a:off x="4206240"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طَالِبَانِ</a:t>
            </a:r>
            <a:endParaRPr lang="ar-SA" sz="26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a:t>
            </a:r>
            <a:endParaRPr lang="en-US" sz="1100" dirty="0"/>
          </a:p>
        </p:txBody>
      </p:sp>
      <p:sp>
        <p:nvSpPr>
          <p:cNvPr id="37" name="Text 34"/>
          <p:cNvSpPr txBox="1"/>
          <p:nvPr/>
        </p:nvSpPr>
        <p:spPr>
          <a:xfrm>
            <a:off x="4206240"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مُعَلِّمُونَ</a:t>
            </a:r>
            <a:endParaRPr lang="ar-SA" sz="2600" dirty="0"/>
          </a:p>
        </p:txBody>
      </p:sp>
      <p:sp>
        <p:nvSpPr>
          <p:cNvPr id="38" name="Text 35"/>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masculine plural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a:t>
            </a:r>
            <a:endParaRPr lang="en-US" sz="1100" dirty="0"/>
          </a:p>
        </p:txBody>
      </p:sp>
      <p:sp>
        <p:nvSpPr>
          <p:cNvPr id="41" name="Text 38"/>
          <p:cNvSpPr txBox="1"/>
          <p:nvPr/>
        </p:nvSpPr>
        <p:spPr>
          <a:xfrm>
            <a:off x="4206240"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الطَّالِبَاتُ</a:t>
            </a:r>
            <a:endParaRPr lang="ar-SA" sz="2600" dirty="0"/>
          </a:p>
        </p:txBody>
      </p:sp>
      <p:sp>
        <p:nvSpPr>
          <p:cNvPr id="42" name="Text 39"/>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feminine plural (definite)</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-ātun</a:t>
            </a:r>
            <a:endParaRPr lang="en-US" sz="1100" dirty="0"/>
          </a:p>
        </p:txBody>
      </p:sp>
      <p:sp>
        <p:nvSpPr>
          <p:cNvPr id="45" name="Text 42"/>
          <p:cNvSpPr txBox="1"/>
          <p:nvPr/>
        </p:nvSpPr>
        <p:spPr>
          <a:xfrm>
            <a:off x="4206240"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طَالِبَاتٌ</a:t>
            </a:r>
            <a:endParaRPr lang="ar-SA" sz="2600" dirty="0"/>
          </a:p>
        </p:txBody>
      </p:sp>
      <p:sp>
        <p:nvSpPr>
          <p:cNvPr id="46" name="Text 43"/>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feminine plural (indefinite)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Duals and sound plurals show the case even in unvowelled writing: -āni / -ūna are nominative; -ayni / -īna are not (Lessons 2–3).</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4 · NOUN–ADJECTIVE CASE AGREEMENT (WEBSITE TABLE)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adjective copies the case too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36393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 adjective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al-, both -u</a:t>
            </a:r>
            <a:endParaRPr lang="en-US" sz="1100" dirty="0"/>
          </a:p>
        </p:txBody>
      </p:sp>
      <p:sp>
        <p:nvSpPr>
          <p:cNvPr id="21" name="Text 18"/>
          <p:cNvSpPr txBox="1"/>
          <p:nvPr/>
        </p:nvSpPr>
        <p:spPr>
          <a:xfrm>
            <a:off x="365760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 الْمُجْتَهِدُ</a:t>
            </a:r>
            <a:endParaRPr lang="ar-SA" sz="26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-un</a:t>
            </a:r>
            <a:endParaRPr lang="en-US" sz="1100" dirty="0"/>
          </a:p>
        </p:txBody>
      </p:sp>
      <p:sp>
        <p:nvSpPr>
          <p:cNvPr id="27" name="Text 24"/>
          <p:cNvSpPr txBox="1"/>
          <p:nvPr/>
        </p:nvSpPr>
        <p:spPr>
          <a:xfrm>
            <a:off x="365760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 مُجْتَهِدٌ</a:t>
            </a:r>
            <a:endParaRPr lang="ar-SA" sz="26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-āni</a:t>
            </a:r>
            <a:endParaRPr lang="en-US" sz="1100" dirty="0"/>
          </a:p>
        </p:txBody>
      </p:sp>
      <p:sp>
        <p:nvSpPr>
          <p:cNvPr id="33" name="Text 30"/>
          <p:cNvSpPr txBox="1"/>
          <p:nvPr/>
        </p:nvSpPr>
        <p:spPr>
          <a:xfrm>
            <a:off x="365760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طَالِبَانِ مُجْتَهِدَانِ</a:t>
            </a:r>
            <a:endParaRPr lang="ar-SA" sz="26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-ūna</a:t>
            </a:r>
            <a:endParaRPr lang="en-US" sz="1100" dirty="0"/>
          </a:p>
        </p:txBody>
      </p:sp>
      <p:sp>
        <p:nvSpPr>
          <p:cNvPr id="37" name="Text 34"/>
          <p:cNvSpPr txBox="1"/>
          <p:nvPr/>
        </p:nvSpPr>
        <p:spPr>
          <a:xfrm>
            <a:off x="365760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مُعَلِّمُونَ جَدِيدُونَ</a:t>
            </a:r>
            <a:endParaRPr lang="ar-SA" sz="26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plural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feminine singular, -un</a:t>
            </a:r>
            <a:endParaRPr lang="en-US" sz="1100" dirty="0"/>
          </a:p>
        </p:txBody>
      </p:sp>
      <p:sp>
        <p:nvSpPr>
          <p:cNvPr id="41" name="Text 38"/>
          <p:cNvSpPr txBox="1"/>
          <p:nvPr/>
        </p:nvSpPr>
        <p:spPr>
          <a:xfrm>
            <a:off x="365760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 جَدِيدَةٌ</a:t>
            </a:r>
            <a:endParaRPr lang="ar-SA" sz="26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common partial correction: changing the noun ending but leaving the adjective unchanged is still an error. Check the pair as one unit: jāʾa ṭālibun jadīdun.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5 · LINKS TO KĀNA, INNA AND LAYSA (WEBSITE TABLE)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 particle changes the job — and the ending</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كَانَ وَإِنَّ وَلَيْسَ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Predicate</a:t>
            </a:r>
            <a:endParaRPr lang="en-US" sz="1100" dirty="0"/>
          </a:p>
        </p:txBody>
      </p:sp>
      <p:sp>
        <p:nvSpPr>
          <p:cNvPr id="17" name="Text 14"/>
          <p:cNvSpPr txBox="1"/>
          <p:nvPr/>
        </p:nvSpPr>
        <p:spPr>
          <a:xfrm>
            <a:off x="5102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 / noun</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(-un)</a:t>
            </a:r>
            <a:endParaRPr lang="en-US" sz="1100" dirty="0"/>
          </a:p>
        </p:txBody>
      </p:sp>
      <p:sp>
        <p:nvSpPr>
          <p:cNvPr id="21" name="Text 18"/>
          <p:cNvSpPr txBox="1"/>
          <p:nvPr/>
        </p:nvSpPr>
        <p:spPr>
          <a:xfrm>
            <a:off x="5138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(-u)</a:t>
            </a:r>
            <a:endParaRPr lang="en-US" sz="1100" dirty="0"/>
          </a:p>
        </p:txBody>
      </p:sp>
      <p:sp>
        <p:nvSpPr>
          <p:cNvPr id="22" name="Text 19"/>
          <p:cNvSpPr txBox="1"/>
          <p:nvPr/>
        </p:nvSpPr>
        <p:spPr>
          <a:xfrm>
            <a:off x="548640" y="2267712"/>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 مُجْتَهِدٌ.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accusative (-an)</a:t>
            </a:r>
            <a:endParaRPr lang="en-US" sz="1100" dirty="0"/>
          </a:p>
        </p:txBody>
      </p:sp>
      <p:sp>
        <p:nvSpPr>
          <p:cNvPr id="27" name="Text 24"/>
          <p:cNvSpPr txBox="1"/>
          <p:nvPr/>
        </p:nvSpPr>
        <p:spPr>
          <a:xfrm>
            <a:off x="5138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(-u)</a:t>
            </a:r>
            <a:endParaRPr lang="en-US" sz="1100" dirty="0"/>
          </a:p>
        </p:txBody>
      </p:sp>
      <p:sp>
        <p:nvSpPr>
          <p:cNvPr id="28" name="Text 25"/>
          <p:cNvSpPr txBox="1"/>
          <p:nvPr/>
        </p:nvSpPr>
        <p:spPr>
          <a:xfrm>
            <a:off x="548640" y="3054096"/>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 الطَّالِبُ مُجْتَهِدًا.</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accusative (-an)</a:t>
            </a:r>
            <a:endParaRPr lang="en-US" sz="1100" dirty="0"/>
          </a:p>
        </p:txBody>
      </p:sp>
      <p:sp>
        <p:nvSpPr>
          <p:cNvPr id="31" name="Text 28"/>
          <p:cNvSpPr txBox="1"/>
          <p:nvPr/>
        </p:nvSpPr>
        <p:spPr>
          <a:xfrm>
            <a:off x="5138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(-u)</a:t>
            </a:r>
            <a:endParaRPr lang="en-US" sz="1100" dirty="0"/>
          </a:p>
        </p:txBody>
      </p:sp>
      <p:sp>
        <p:nvSpPr>
          <p:cNvPr id="32" name="Text 29"/>
          <p:cNvSpPr txBox="1"/>
          <p:nvPr/>
        </p:nvSpPr>
        <p:spPr>
          <a:xfrm>
            <a:off x="548640" y="3840480"/>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الطَّالِبُ مُجْتَهِدًا.</a:t>
            </a:r>
            <a:endParaRPr lang="ar-SA" sz="24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(-un)</a:t>
            </a:r>
            <a:endParaRPr lang="en-US" sz="1100" dirty="0"/>
          </a:p>
        </p:txBody>
      </p:sp>
      <p:sp>
        <p:nvSpPr>
          <p:cNvPr id="35" name="Text 32"/>
          <p:cNvSpPr txBox="1"/>
          <p:nvPr/>
        </p:nvSpPr>
        <p:spPr>
          <a:xfrm>
            <a:off x="5138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accusative (-a)</a:t>
            </a:r>
            <a:endParaRPr lang="en-US" sz="1100" dirty="0"/>
          </a:p>
        </p:txBody>
      </p:sp>
      <p:sp>
        <p:nvSpPr>
          <p:cNvPr id="36" name="Text 33"/>
          <p:cNvSpPr txBox="1"/>
          <p:nvPr/>
        </p:nvSpPr>
        <p:spPr>
          <a:xfrm>
            <a:off x="548640" y="4626864"/>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الطَّالِبَ مُجْتَهِدٌ.</a:t>
            </a:r>
            <a:endParaRPr lang="ar-SA" sz="24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editing shortcut: circle kāna (or a sister), underline its noun, box its predicate. With inna, reverse the two cases. The word’s meaning has not changed — its grammatical job has.</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الْمُعَلِّمَةَ.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الْمُعَلِّمَةِ.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الْمُعَلِّمَةُ.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subject.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 طَالِبٌ.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 طَالِبًا.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 with its adjective.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 طَالِبَيْنِ جَدِيدَيْنِ.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 طَالِبَانِ جَدِيدَانِ.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 طَالِبَانِ جَدِيدَيْنِ.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nominal sentence.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كَبِيرَةٌ.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كَبِيرَةً.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كَبِيرَةٍ.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subject.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الْمُعَلِّمَةَ.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الْمُعَلِّمَةِ.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وَصَلَتِ الْمُعَلِّمَةُ.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stays -u: al-muʿallimatu.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subject.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دَخَلَ طَالِبٌ.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دَخَلَ طَالِبًا.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دَخَلَ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subject: -un.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 with its adjective.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 طَالِبَيْنِ جَدِيدَيْنِ.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 طَالِبَانِ جَدِيدَانِ.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 طَالِبَانِ جَدِيدَيْنِ.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-āni.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nominal sentence.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كَبِيرَةٌ.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كَبِيرَةً.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كَبِيرَةٍ.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Topic and predicate: -u / -un.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mark the nominative in a school update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وَصَلَ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arrived?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مُعَلِّمٌ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Indefinite: -un.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جَدِيدٌ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Copies -un.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 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الْمُعَلِّمُ خَبِيرٌ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nominative.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NOMINATIVE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0E7C86"/>
                </a:solidFill>
                <a:latin typeface="Amiri" pitchFamily="2" charset="-78"/>
                <a:ea typeface="Amiri" pitchFamily="2" charset="-78"/>
                <a:cs typeface="Amiri" pitchFamily="2" charset="-78"/>
              </a:rPr>
              <a:t>وَصَلَ</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1D5FBF"/>
                </a:solidFill>
                <a:latin typeface="Amiri" pitchFamily="2" charset="-78"/>
                <a:ea typeface="Amiri" pitchFamily="2" charset="-78"/>
                <a:cs typeface="Amiri" pitchFamily="2" charset="-78"/>
              </a:rPr>
              <a:t>مُعَلِّمٌ جَدِيدٌ</a:t>
            </a:r>
            <a:pPr rtl="1" algn="r" indent="0" marL="0">
              <a:buNone/>
            </a:pPr>
            <a:r>
              <a:rPr lang="ar-SA" altLang="en-US" sz="1750" b="1" dirty="0">
                <a:solidFill>
                  <a:srgbClr val="1B3B6F"/>
                </a:solidFill>
                <a:latin typeface="Amiri" pitchFamily="2" charset="-78"/>
                <a:ea typeface="Amiri" pitchFamily="2" charset="-78"/>
                <a:cs typeface="Amiri" pitchFamily="2" charset="-78"/>
              </a:rPr>
              <a:t> إِلَى الْمَدْرَسَةِ. </a:t>
            </a:r>
            <a:pPr rtl="1" algn="r" indent="0" marL="0">
              <a:buNone/>
            </a:pPr>
            <a:r>
              <a:rPr lang="ar-SA" altLang="en-US" sz="1750" b="1" dirty="0">
                <a:solidFill>
                  <a:srgbClr val="1D5FBF"/>
                </a:solidFill>
                <a:latin typeface="Amiri" pitchFamily="2" charset="-78"/>
                <a:ea typeface="Amiri" pitchFamily="2" charset="-78"/>
                <a:cs typeface="Amiri" pitchFamily="2" charset="-78"/>
              </a:rPr>
              <a:t>الْمُعَلِّمُ خَبِيرٌ</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1D5FBF"/>
                </a:solidFill>
                <a:latin typeface="Amiri" pitchFamily="2" charset="-78"/>
                <a:ea typeface="Amiri" pitchFamily="2" charset="-78"/>
                <a:cs typeface="Amiri" pitchFamily="2" charset="-78"/>
              </a:rPr>
              <a:t>الطُّلَّابُ سَعِيدُونَ</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0E7C86"/>
                </a:solidFill>
                <a:latin typeface="Amiri" pitchFamily="2" charset="-78"/>
                <a:ea typeface="Amiri" pitchFamily="2" charset="-78"/>
                <a:cs typeface="Amiri" pitchFamily="2" charset="-78"/>
              </a:rPr>
              <a:t>حَضَرَ</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1D5FBF"/>
                </a:solidFill>
                <a:latin typeface="Amiri" pitchFamily="2" charset="-78"/>
                <a:ea typeface="Amiri" pitchFamily="2" charset="-78"/>
                <a:cs typeface="Amiri" pitchFamily="2" charset="-78"/>
              </a:rPr>
              <a:t>الطَّالِبَانِ الْجَدِيدَانِ</a:t>
            </a:r>
            <a:pPr rtl="1" algn="r" indent="0" marL="0">
              <a:buNone/>
            </a:pPr>
            <a:r>
              <a:rPr lang="ar-SA" altLang="en-US" sz="1750" b="1" dirty="0">
                <a:solidFill>
                  <a:srgbClr val="1B3B6F"/>
                </a:solidFill>
                <a:latin typeface="Amiri" pitchFamily="2" charset="-78"/>
                <a:ea typeface="Amiri" pitchFamily="2" charset="-78"/>
                <a:cs typeface="Amiri" pitchFamily="2" charset="-78"/>
              </a:rPr>
              <a:t> الدَّرْسَ الْأَوَّلَ. </a:t>
            </a:r>
            <a:pPr rtl="1" algn="r" indent="0" marL="0">
              <a:buNone/>
            </a:pPr>
            <a:r>
              <a:rPr lang="ar-SA" altLang="en-US" sz="1750" b="1" dirty="0">
                <a:solidFill>
                  <a:srgbClr val="1D5FBF"/>
                </a:solidFill>
                <a:latin typeface="Amiri" pitchFamily="2" charset="-78"/>
                <a:ea typeface="Amiri" pitchFamily="2" charset="-78"/>
                <a:cs typeface="Amiri" pitchFamily="2" charset="-78"/>
              </a:rPr>
              <a:t>الْكُتُبُ جَدِيدَةٌ</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0E7C86"/>
                </a:solidFill>
                <a:latin typeface="Amiri" pitchFamily="2" charset="-78"/>
                <a:ea typeface="Amiri" pitchFamily="2" charset="-78"/>
                <a:cs typeface="Amiri" pitchFamily="2" charset="-78"/>
              </a:rPr>
              <a:t>كَانَ</a:t>
            </a:r>
            <a:pPr rtl="1" algn="r" indent="0" marL="0">
              <a:buNone/>
            </a:pPr>
            <a:r>
              <a:rPr lang="ar-SA" altLang="en-US" sz="1750" b="1" dirty="0">
                <a:solidFill>
                  <a:srgbClr val="1B3B6F"/>
                </a:solidFill>
                <a:latin typeface="Amiri" pitchFamily="2" charset="-78"/>
                <a:cs typeface="Amiri" pitchFamily="2" charset="-78"/>
              </a:rPr>
              <a:t> </a:t>
            </a:r>
            <a:pPr rtl="1" algn="r" indent="0" marL="0">
              <a:buNone/>
            </a:pPr>
            <a:r>
              <a:rPr lang="ar-SA" altLang="en-US" sz="1750" b="1" dirty="0">
                <a:solidFill>
                  <a:srgbClr val="1D5FBF"/>
                </a:solidFill>
                <a:latin typeface="Amiri" pitchFamily="2" charset="-78"/>
                <a:ea typeface="Amiri" pitchFamily="2" charset="-78"/>
                <a:cs typeface="Amiri" pitchFamily="2" charset="-78"/>
              </a:rPr>
              <a:t>الْيَوْمُ</a:t>
            </a:r>
            <a:pPr rtl="1" algn="r" indent="0" marL="0">
              <a:buNone/>
            </a:pPr>
            <a:r>
              <a:rPr lang="ar-SA" altLang="en-US" sz="1750" b="1" dirty="0">
                <a:solidFill>
                  <a:srgbClr val="1B3B6F"/>
                </a:solidFill>
                <a:latin typeface="Amiri" pitchFamily="2" charset="-78"/>
                <a:ea typeface="Amiri" pitchFamily="2" charset="-78"/>
                <a:cs typeface="Amiri" pitchFamily="2" charset="-78"/>
              </a:rPr>
              <a:t> مُمْتِعًا.</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new teacher arrived at the school. The teacher is an expert. The students are happy. The two new students attended the first lesson. The books are new. The day was enjoyable.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فَتَحَ الْحَارِسُ الْبَابَ.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guard opened the door.</a:t>
            </a:r>
            <a:endParaRPr lang="en-US" sz="1250" dirty="0"/>
          </a:p>
          <a:p>
            <a:pPr indent="0" marL="0">
              <a:buNone/>
            </a:pPr>
            <a:r>
              <a:rPr lang="en-US" sz="1050" i="1" dirty="0">
                <a:solidFill>
                  <a:srgbClr val="8A6D1E"/>
                </a:solidFill>
                <a:latin typeface="Calibri" pitchFamily="34" charset="0"/>
                <a:cs typeface="Amiri" pitchFamily="2" charset="-78"/>
              </a:rPr>
              <a:t>Doer: -u.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وَصَلَتْ حَافِلَةٌ جَدِيدَةٌ.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new bus arrived.</a:t>
            </a:r>
            <a:endParaRPr lang="en-US" sz="1250" dirty="0"/>
          </a:p>
          <a:p>
            <a:pPr indent="0" marL="0">
              <a:buNone/>
            </a:pPr>
            <a:r>
              <a:rPr lang="en-US" sz="1050" i="1" dirty="0">
                <a:solidFill>
                  <a:srgbClr val="8A6D1E"/>
                </a:solidFill>
                <a:latin typeface="Calibri" pitchFamily="34" charset="0"/>
                <a:cs typeface="Amiri" pitchFamily="2" charset="-78"/>
              </a:rPr>
              <a:t>Indefinite: -un + -un.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الطُّلَّابُ مُسْتَعِدُّونَ.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are ready.</a:t>
            </a:r>
            <a:endParaRPr lang="en-US" sz="1250" dirty="0"/>
          </a:p>
          <a:p>
            <a:pPr indent="0" marL="0">
              <a:buNone/>
            </a:pPr>
            <a:r>
              <a:rPr lang="en-US" sz="1050" i="1" dirty="0">
                <a:solidFill>
                  <a:srgbClr val="8A6D1E"/>
                </a:solidFill>
                <a:latin typeface="Calibri" pitchFamily="34" charset="0"/>
                <a:cs typeface="Amiri" pitchFamily="2" charset="-78"/>
              </a:rPr>
              <a:t>Plural: -ūna.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الطَّالِبَاتُ مُجْتَهِدَاتٌ.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are hardworking.</a:t>
            </a:r>
            <a:endParaRPr lang="en-US" sz="1250" dirty="0"/>
          </a:p>
          <a:p>
            <a:pPr indent="0" marL="0">
              <a:buNone/>
            </a:pPr>
            <a:r>
              <a:rPr lang="en-US" sz="1050" i="1" dirty="0">
                <a:solidFill>
                  <a:srgbClr val="8A6D1E"/>
                </a:solidFill>
                <a:latin typeface="Calibri" pitchFamily="34" charset="0"/>
                <a:cs typeface="Amiri" pitchFamily="2" charset="-78"/>
              </a:rPr>
              <a:t>-ātu + -ātun.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MEANING → NOMINATIVE SENTENCE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with the right signals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بِالرَّفْعِ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0965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887968" y="226771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21" name="Text 18"/>
          <p:cNvSpPr txBox="1"/>
          <p:nvPr/>
        </p:nvSpPr>
        <p:spPr>
          <a:xfrm>
            <a:off x="411480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الطَّالِبُ.</a:t>
            </a:r>
            <a:endParaRPr lang="ar-SA" sz="2400" dirty="0"/>
          </a:p>
        </p:txBody>
      </p:sp>
      <p:sp>
        <p:nvSpPr>
          <p:cNvPr id="22" name="Text 19"/>
          <p:cNvSpPr txBox="1"/>
          <p:nvPr/>
        </p:nvSpPr>
        <p:spPr>
          <a:xfrm>
            <a:off x="566928" y="226771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arrived.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887968" y="2881884"/>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 -un</a:t>
            </a:r>
            <a:endParaRPr lang="en-US" sz="1100" dirty="0"/>
          </a:p>
        </p:txBody>
      </p:sp>
      <p:sp>
        <p:nvSpPr>
          <p:cNvPr id="27" name="Text 24"/>
          <p:cNvSpPr txBox="1"/>
          <p:nvPr/>
        </p:nvSpPr>
        <p:spPr>
          <a:xfrm>
            <a:off x="411480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دَخَلَ مُعَلِّمٌ جَدِيدٌ.</a:t>
            </a:r>
            <a:endParaRPr lang="ar-SA" sz="2400" dirty="0"/>
          </a:p>
        </p:txBody>
      </p:sp>
      <p:sp>
        <p:nvSpPr>
          <p:cNvPr id="28" name="Text 25"/>
          <p:cNvSpPr txBox="1"/>
          <p:nvPr/>
        </p:nvSpPr>
        <p:spPr>
          <a:xfrm>
            <a:off x="566928" y="2881884"/>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teacher entered.</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887968" y="3496056"/>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-āni + -āni</a:t>
            </a:r>
            <a:endParaRPr lang="en-US" sz="1100" dirty="0"/>
          </a:p>
        </p:txBody>
      </p:sp>
      <p:sp>
        <p:nvSpPr>
          <p:cNvPr id="33" name="Text 30"/>
          <p:cNvSpPr txBox="1"/>
          <p:nvPr/>
        </p:nvSpPr>
        <p:spPr>
          <a:xfrm>
            <a:off x="411480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 مُسْتَعِدَّانِ.</a:t>
            </a:r>
            <a:endParaRPr lang="ar-SA" sz="2400" dirty="0"/>
          </a:p>
        </p:txBody>
      </p:sp>
      <p:sp>
        <p:nvSpPr>
          <p:cNvPr id="34" name="Text 31"/>
          <p:cNvSpPr txBox="1"/>
          <p:nvPr/>
        </p:nvSpPr>
        <p:spPr>
          <a:xfrm>
            <a:off x="566928" y="3496056"/>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pupils are ready.</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887968" y="4110228"/>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a:t>
            </a:r>
            <a:endParaRPr lang="en-US" sz="1100" dirty="0"/>
          </a:p>
        </p:txBody>
      </p:sp>
      <p:sp>
        <p:nvSpPr>
          <p:cNvPr id="37" name="Text 34"/>
          <p:cNvSpPr txBox="1"/>
          <p:nvPr/>
        </p:nvSpPr>
        <p:spPr>
          <a:xfrm>
            <a:off x="411480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الْمُهَنْدِسُونَ.</a:t>
            </a:r>
            <a:endParaRPr lang="ar-SA" sz="2400" dirty="0"/>
          </a:p>
        </p:txBody>
      </p:sp>
      <p:sp>
        <p:nvSpPr>
          <p:cNvPr id="38" name="Text 35"/>
          <p:cNvSpPr txBox="1"/>
          <p:nvPr/>
        </p:nvSpPr>
        <p:spPr>
          <a:xfrm>
            <a:off x="566928" y="4110228"/>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engineers arrived.</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887968" y="4724400"/>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 + -ātun</a:t>
            </a:r>
            <a:endParaRPr lang="en-US" sz="1100" dirty="0"/>
          </a:p>
        </p:txBody>
      </p:sp>
      <p:sp>
        <p:nvSpPr>
          <p:cNvPr id="41" name="Text 38"/>
          <p:cNvSpPr txBox="1"/>
          <p:nvPr/>
        </p:nvSpPr>
        <p:spPr>
          <a:xfrm>
            <a:off x="411480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 مُجْتَهِدَاتٌ.</a:t>
            </a:r>
            <a:endParaRPr lang="ar-SA" sz="2400" dirty="0"/>
          </a:p>
        </p:txBody>
      </p:sp>
      <p:sp>
        <p:nvSpPr>
          <p:cNvPr id="42" name="Text 39"/>
          <p:cNvSpPr txBox="1"/>
          <p:nvPr/>
        </p:nvSpPr>
        <p:spPr>
          <a:xfrm>
            <a:off x="566928" y="4724400"/>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female pupils are hardworking.</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887968" y="533857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f. singular</a:t>
            </a:r>
            <a:endParaRPr lang="en-US" sz="1100" dirty="0"/>
          </a:p>
        </p:txBody>
      </p:sp>
      <p:sp>
        <p:nvSpPr>
          <p:cNvPr id="45" name="Text 42"/>
          <p:cNvSpPr txBox="1"/>
          <p:nvPr/>
        </p:nvSpPr>
        <p:spPr>
          <a:xfrm>
            <a:off x="411480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الْكُتُبُ مُفِيدَةٌ.</a:t>
            </a:r>
            <a:endParaRPr lang="ar-SA" sz="2400" dirty="0"/>
          </a:p>
        </p:txBody>
      </p:sp>
      <p:sp>
        <p:nvSpPr>
          <p:cNvPr id="46" name="Text 43"/>
          <p:cNvSpPr txBox="1"/>
          <p:nvPr/>
        </p:nvSpPr>
        <p:spPr>
          <a:xfrm>
            <a:off x="566928" y="533857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books are useful.</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strategy: find the role first, then choose the ending — never by sound alone.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READ THE SIGNAL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Nominative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مَرْفُوعٌ أَمْ 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مُعَلِّمِينَ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Nominative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nominative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Nominative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طَالِبَانِ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nominative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طَالِبَيْنِ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قَرَأَ الطَّالِبَ الْكِتَابُ.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did the reading?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جَاءَ طَالِبٌ جَدِيدًا.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adjective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حَضَرَ الْمُعَلِّمِينَ.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plural ending is nominative?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قَرَأَ الطَّالِبَ الْكِتَابُ.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قَرَأَ الطَّالِبُ الْكِتَابَ.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Doer -u; the thing read -a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جَاءَ طَالِبٌ جَدِيدًا.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جَاءَ طَالِبٌ جَدِيدٌ.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copies the noun’s case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حَضَرَ الْمُعَلِّمِينَ.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حَضَرَ الْمُعَلِّمُونَ.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plural doer takes -ūna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cs typeface="Amiri" pitchFamily="2" charset="-78"/>
              </a:rPr>
              <a:t>WE DO · GUIDED PRACTICE · WEBSITE MINI-CHECK: NOMINAL SENTENCES AND FINAL MASTERY</a:t>
            </a:r>
            <a:endParaRPr lang="en-US" sz="84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human masculine plural predicate.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مُسْتَعِدِّينَ.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مُسْتَعِدِّينَ.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مُسْتَعِدُّونَ.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feminine plural.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مُجْتَهِدَاتٍ.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مُجْتَهِدَاتٌ.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مُجْتَهِدَاتٍ.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non-human plural statement.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مُفِيدَةً.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مُفِيدَةٌ.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مُفِيدَاتٌ.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verbal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 الطَّالِبَ الْكِتَابُ.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 الطَّالِبِ الْكِتَابَ.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 الطَّالِبُ الْكِتَابَ.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human masculine plural predicate.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مُسْتَعِدِّينَ.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مُسْتَعِدِّينَ.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الطُّلَّابُ مُسْتَعِدُّونَ.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predicate: -ūna.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feminine plural.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 مُجْتَهِدَاتٍ.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الطَّالِبَاتُ مُجْتَهِدَاتٌ.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 مُجْتَهِدَاتٍ.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-ātu + -ātun.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non-human plural statement.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مُفِيدَةً.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الْكُتُبُ مُفِيدَةٌ.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مُفِيدَاتٌ.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Topic -u; things → feminine singular -un.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verbal sentence.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 الطَّالِبَ الْكِتَابُ.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 الطَّالِبِ الْكِتَابَ.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 الطَّالِبُ الْكِتَابَ.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Doer -u, object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READING AND NOTICING (EXTENDED SCHOOL UPDATE)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new teacher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وَصَلَ مُعَلِّمٌ جَدِيدٌ إِلَى مَدْرَسَتِنَا هَذَا الْأُسْبُوعَ. الْمُعَلِّمُ خَبِيرٌ فِي الْعُلُومِ، وَهُوَ لَطِيفٌ وَصَبُورٌ. حَضَرَ الطُّلَّابُ الدَّرْسَ الْأَوَّلَ فِي الْمُخْتَبَرِ. الْمُخْتَبَرُ كَبِيرٌ وَحَدِيثٌ، وَالْأَجْهِزَةُ جَدِيدَةٌ. شَارَكَتْ طَالِبَتَانِ نَشِيطَتَانِ فِي تَجْرِبَةٍ مُمْتِعَةٍ. فِي نِهَايَةِ الدَّرْسِ كَانَ الطُّلَّابُ سُعَدَاءَ، وَالْمُعَلِّمُ مَسْرُورٌ.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خَبِيرٌ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expert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الْمُخْتَبَرِ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lab</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الْأَجْهِزَةُ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equipment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تَجْرِبَةٍ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experiment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سُعَدَاءَ</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happy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new teacher teach?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a nominative dual.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تَجْرِبَةٍ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طَالِبَتَانِ نَشِيطَتَانِ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jadīdatun with al-ajhizatu?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things → feminine singular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NOT nominative?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الْمُخْتَبَرُ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new teacher teach?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Khabīrun fī l-ʿulūm.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a nominative dual.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تَجْرِبَةٍ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طَالِبَتَانِ نَشِيطَتَانِ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end in -āni.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jadīdatun with al-ajhizatu?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things → feminine singular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predicate.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NOT nominative?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الدَّرْسَ</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الْمُخْتَبَرُ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Ad-darsa is the object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describe your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صَفَّكَ.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حَضَرَ إِلَى الْمَدْرَسَةِ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مَدْرَسَتَكَ: الْمَكَانَ وَالنَّاسَ.</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صَفِّي ___ ، وَالْمُعَلِّمُ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حَضَرَ ___ ، وَوَصَلَ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الطُّلَّابُ ___ ، وَالْكُتُبُ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صَفُّكِ هَذِهِ السَّنَةَ؟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is your class this year?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صَفِّي كَبِيرٌ وَمُرِيحٌ. الطَّالِبَاتُ لَطِيفَاتٌ، وَالْمُعَلِّمَتَانِ نَشِيطَتَانِ. وَصَلَتْ كُتُبٌ جَدِيدَةٌ أَمْسِ.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class is big and comfortable. The girls are kind, and the two teachers are energetic. New books arrived yesterday.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class: two doers and three nominal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waṣala … · al-madrasatu kabīratun.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dual, a sound plural and four noun–adjective pairs.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-āni · -ūna · -ātun.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school update with full endings on the target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Plan: role → number → ending.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الطُّلَّابُ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الْمُعَلِّمَانِ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teachers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female students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 ______ جَدِيدٌ.</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new … arrived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الْمَدْرَسَةُ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(f.)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دَخَلَ ______ الصَّفَّ.</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entered the class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جَدِيدٌ  ·  كَبِيرَةٌ  ·  لَطِيفٌ  ·  مُفِيدَةٌ  ·  سَعِيدُونَ  ·  مُسْتَعِدُّونَ  ·  نَشِيطَانِ  ·  مُجْتَهِدَاتٌ  ·  خَبِيرٌ  ·  مُعَلِّمٌ  ·  طَالِبَةٌ  ·  الْمُدِيرُ  ·  الطُّلَّابُ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school update (90–110 words): a school day, a new person or a class event.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verbal-sentence doers.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nominal sentences.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sound plural.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noun–adjective pairs that agree in case.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endings on the target nouns only.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arrived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attended / came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began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مُتَحَمِّسٌ</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excited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مُنَظَّمٌ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organised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نَاجِحٌ</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successful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بَدَأَ الْفَصْلُ الدِّرَاسِيُّ الْجَدِيدُ يَوْمَ الْأَحَدِ. وَصَلَ الطُّلَّابُ مُبَكِّرِينَ، وَحَضَرَتْ مُعَلِّمَتَانِ جَدِيدَتَانِ. الْمُعَلِّمَةُ الْأُولَى خَبِيرَةٌ فِي الرِّيَاضِيَّاتِ، وَالثَّانِيَةُ مُتَخَصِّصَةٌ فِي الْأَدَبِ. الْمَدْرَسَةُ نَظِيفَةٌ وَمُنَظَّمَةٌ، وَالْفُصُولُ وَاسِعَةٌ. الْمَكْتَبَةُ الْجَدِيدَةُ جَمِيلَةٌ جِدًّا، وَالْكُتُبُ مُفِيدَةٌ وَمُتَنَوِّعَةٌ. الطُّلَّابُ مُتَحَمِّسُونَ، وَالطَّالِبَاتُ مُسْتَعِدَّاتٌ لِلْمُسَابَقَاتِ. فِي الِاسْتِرَاحَةِ لَعِبَ فَرِيقَانِ قَوِيَّانِ مُبَارَاةً سَرِيعَةً. كَانَ الْجَوُّ مُشْمِسًا، وَكَانَ الْيَوْمُ نَاجِحًا. الْمُدِيرُ سَعِيدٌ بِالْبِدَايَةِ، وَالْآبَاءُ مَسْرُورُونَ أَيْضًا.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new term began on Sunday. The students arrived early, and two new teachers (f.) came. The first teacher is an expert in maths, and the second specialises in literature. The school is clean and organised, and the classrooms are spacious. The new library is very beautiful, and the books are useful and varied. The boys are excited, and the girls are ready for the competitions. At break two strong teams played a quick match. The weather was sunny, and the day was a success. The head teacher is happy with the start, and the parents are pleased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nominative doer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 -āni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plural -ūna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noun (-u)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doers and topics end in -u / -un.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job before choosing the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duals end in -āni and my plurals in -ūna / -ātu.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copies its noun’s case.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kāna, the noun is -u but the predicate is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masculine plural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 الْمُهَنْدِسُونَ.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 الْمُهَنْدِسِينَ.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 الْمُهَنْدِسَاتُ.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adjective agreement in the nominative?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مُفِيدًا.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مُفِيدٌ.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كِتَابًا مُفِيدٌ.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 which element remains nominative?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noun/subject of </a:t>
            </a:r>
            <a:pPr algn="l" indent="0" marL="0">
              <a:buNone/>
            </a:pPr>
            <a:r>
              <a:rPr lang="ar-SA" altLang="en-US" sz="1650" dirty="0">
                <a:solidFill>
                  <a:srgbClr val="1F2A37"/>
                </a:solidFill>
                <a:latin typeface="Amiri" pitchFamily="2" charset="-78"/>
                <a:ea typeface="Amiri" pitchFamily="2" charset="-78"/>
                <a:cs typeface="Amiri" pitchFamily="2" charset="-78"/>
              </a:rPr>
              <a:t>كَانَ</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single-word predicate of </a:t>
            </a:r>
            <a:pPr algn="l" indent="0" marL="0">
              <a:buNone/>
            </a:pPr>
            <a:r>
              <a:rPr lang="ar-SA" altLang="en-US" sz="1650" dirty="0">
                <a:solidFill>
                  <a:srgbClr val="1F2A37"/>
                </a:solidFill>
                <a:latin typeface="Amiri" pitchFamily="2" charset="-78"/>
                <a:ea typeface="Amiri" pitchFamily="2" charset="-78"/>
                <a:cs typeface="Amiri" pitchFamily="2" charset="-78"/>
              </a:rPr>
              <a:t>كَانَ</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word in the sentence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masculine plural subject.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حَضَرَ الْمُهَنْدِسُونَ.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حَضَرَ الْمُهَنْدِسِينَ.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حَضَرَ الْمُهَنْدِسَاتُ.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doer: -ūna.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adjective agreement in the nominative?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كِتَابٌ مُفِيدًا.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هَذَا كِتَابٌ مُفِيدٌ.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كِتَابًا مُفِيدٌ.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Kitābun mufīdun: both -un.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 which element remains nominative?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noun/subject of </a:t>
            </a:r>
            <a:pPr algn="l" indent="0" marL="0">
              <a:buNone/>
            </a:pPr>
            <a:r>
              <a:rPr lang="ar-SA" altLang="en-US" sz="1650" b="1" dirty="0">
                <a:solidFill>
                  <a:srgbClr val="1F2A37"/>
                </a:solidFill>
                <a:latin typeface="Amiri" pitchFamily="2" charset="-78"/>
                <a:ea typeface="Amiri" pitchFamily="2" charset="-78"/>
                <a:cs typeface="Amiri" pitchFamily="2" charset="-78"/>
              </a:rPr>
              <a:t>كَانَ</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single-word predicate of </a:t>
            </a:r>
            <a:pPr algn="l" indent="0" marL="0">
              <a:buNone/>
            </a:pPr>
            <a:r>
              <a:rPr lang="ar-SA" altLang="en-US" sz="1650" dirty="0">
                <a:solidFill>
                  <a:srgbClr val="9AA1AB"/>
                </a:solidFill>
                <a:latin typeface="Amiri" pitchFamily="2" charset="-78"/>
                <a:ea typeface="Amiri" pitchFamily="2" charset="-78"/>
                <a:cs typeface="Amiri" pitchFamily="2" charset="-78"/>
              </a:rPr>
              <a:t>كَانَ</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word in the sentence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of kāna stays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GM-CASE-01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Before GM-CASE-02: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GM-CASE-02 · The Accusative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الْفَتْحَةُ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fatḥa: the -a ending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accusative case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الْمَفْعُولُ بِهِ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object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book (accusative)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teachers (accusative)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kataba ṭ-ṭālibu r-risālata, the letter ends in -a. What is its job in the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قَرَأْتُ كِتَابًا — لِمَاذَا «ـًا»؟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your family and mark every nominative word.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sentence each with -āni, -ūna and -ātun.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school update (90–110 words) with full endings on the target nouns.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GM-CASE-01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GM-CASE-02 · The Accusative Case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حَالَةُ النَّصْبِ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case = role · nominative (-u / -un) = doer, topic, simple predicate · dual -āni · plural -ūna / -ātu · adjectives copy the case · kāna / laysa keep the noun -u (predicate -an); inna makes the noun -a (predicate -u).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GM-CASE-01 · The Nominative Case</dc:title>
  <dc:subject>PptxGenJS Presentation</dc:subject>
  <dc:creator>Al Madina Online School · Arabic Department</dc:creator>
  <cp:lastModifiedBy>Al Madina Online School · Arabic Department</cp:lastModifiedBy>
  <cp:revision>1</cp:revision>
  <dcterms:created xsi:type="dcterms:W3CDTF">2026-10-11T06:42:09Z</dcterms:created>
  <dcterms:modified xsi:type="dcterms:W3CDTF">2026-10-11T06:42:09Z</dcterms:modified>
</cp:coreProperties>
</file>