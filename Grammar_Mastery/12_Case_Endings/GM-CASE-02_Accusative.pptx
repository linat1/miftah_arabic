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Case Endings › GM-CASE-02 (“The Accusative Case”).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find the direct object and give it -a (definite) or -an (indefinite: kitāban, madrasatan); the adjective copies it. Develop: dual -ayni, sound masculine plural -īna, and time / place adverbials (ghadan, sāʿatan, amāma …, kulla yawmin). Stretch: supporting-alif spelling, the sound feminine plural (-āti, with kasra!) and the inna / kāna links.
• Website meaning test: ask “what did the subject act upon?” before choosing the ending. The accusative is a job, not “any noun after a verb”.
• Colour code: teal = verb, pink = accusative words. Builds on GM-CASE-01 (nominative), GM-VS-01 (roles) and GM-NVS-02/03 (inna, kāna).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Readiness Check — GM-CASE-01 nominative and GM-VS-01 object role.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What received the action? → accusative (-a / -an). Time and place words often take -an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“The direct object” (rows 2 and 5 from the website opening and game). Students point: doer (-u) or receiver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(3 min) — website “Fatḥatan and the supporting alif” + forms table. The sound feminine plural is the Stretch trap: qābaltu ṭ-ṭālibāti.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(2 min) — website “Accusative adjective agreement”. Core: rows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(3 min) — website “Time, duration and place adverbials”. Choose the natural phrase, not just the case you want to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5 (2 min) — website “High-value cross-links: inna and kāna”.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mini-check: direct objects.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reading-and-coding lines, extended. Website task: underline objects once and adverbials twice; explain the dual.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website game items. Cover column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Then students put one word from each column into a sentence: qaraʾtu l-kitāba ṣabāḥan.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Then students put one word from each column into a sentence: qaraʾtu l-kitāba ṣabāḥan.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mini-check: adverbials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and coding (teacher-written account). Read it aloud once while students follow; then they hunt for today’s grammar.
Task: Website: underline the direct objects once and the time / place words twice. Explain the dual ending.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account for the website reading-and-coding task;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speaking challenge. Sequence: ● 10s think → ↔ 45s rehearse aloud with mic muted → ◎ two named students on open mic (warned in advance) → + ? the class types one follow-up in chat → ↺ one student summarises.
Routes: Core uses the Core prompt and stem; Develop the Develop prompt; Stretch the last prompt.
Website challenge: three direct objects, one indefinite object with an adjective, one time word, one dual or sound plural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100–120 Arabic words about a visit, journey, hobby session or shopping experience.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(GM-CASE-03 · The Genitive Case) will spend class time USING this language, so students prepare it tonight — short, simple, easy to access (school guidance: “Simple, Short, Interesting, Relevant, Easy to access”). The five words prepare GM-CASE-03 (website: the genitive case).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CASE ENDINGS  ·  GM-CASE-02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GM-CASE-02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The Accusative Case</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حَالَةُ النَّصْبِ</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The accusative (-a / -an) marks what receives the action — qaraʾtu l-kitāba, ishtaraytu qalaman — and many time and place words: ghadan, ṣabāḥan, sāʿatan, amāma l-bayti. Duals show -ayni, sound plurals -īna.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GM-CASE-02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Case Endings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GM-CASE-02 · Case Endings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GM-CASE-02 · Case Endings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Objects; forms; adjectives; time and place; inna and kāna.</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Meaning → sentence; object or adverbial?;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GM-CASE-03.</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GM-CASE-02 · Case Endings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word is the direct object:</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كَتَبَ الطَّالِبُ الرِّسَالَةَ</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الطَّالِبُ</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الرِّسَالَةَ</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كَتَبَ</a:t>
            </a:r>
            <a:endParaRPr lang="ar-SA" sz="20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indefinite accusative of kitāb.</a:t>
            </a:r>
            <a:endParaRPr lang="en-US" sz="125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كِتَابًا</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كِتَابٌ</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كِتَابٍ</a:t>
            </a:r>
            <a:endParaRPr lang="ar-SA" sz="20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explanation is correct?</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 phrases are genitive.</a:t>
            </a:r>
            <a:endParaRPr lang="en-US" sz="12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 phrases are direct objects.</a:t>
            </a:r>
            <a:endParaRPr lang="en-US" sz="12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cs typeface="Amiri" pitchFamily="2" charset="-78"/>
              </a:rPr>
              <a:t>صَبَاحًا</a:t>
            </a:r>
            <a:pPr algn="l" indent="0" marL="0">
              <a:buNone/>
            </a:pPr>
            <a:r>
              <a:rPr lang="en-US" sz="1250" dirty="0">
                <a:solidFill>
                  <a:srgbClr val="1F2A37"/>
                </a:solidFill>
                <a:latin typeface="Calibri" pitchFamily="34" charset="0"/>
                <a:cs typeface="Amiri" pitchFamily="2" charset="-78"/>
              </a:rPr>
              <a:t> is an accusative adverbial, while </a:t>
            </a:r>
            <a:pPr algn="l" indent="0" marL="0">
              <a:buNone/>
            </a:pPr>
            <a:r>
              <a:rPr lang="ar-SA" altLang="en-US" sz="1650" dirty="0">
                <a:solidFill>
                  <a:srgbClr val="1F2A37"/>
                </a:solidFill>
                <a:latin typeface="Amiri" pitchFamily="2" charset="-78"/>
                <a:cs typeface="Amiri" pitchFamily="2" charset="-78"/>
              </a:rPr>
              <a:t>فِي الصَّبَاحِ</a:t>
            </a:r>
            <a:pPr algn="l" indent="0" marL="0">
              <a:buNone/>
            </a:pPr>
            <a:r>
              <a:rPr lang="en-US" sz="1250" dirty="0">
                <a:solidFill>
                  <a:srgbClr val="1F2A37"/>
                </a:solidFill>
                <a:latin typeface="Calibri" pitchFamily="34" charset="0"/>
                <a:cs typeface="Amiri" pitchFamily="2" charset="-78"/>
              </a:rPr>
              <a:t> is a prepositional phrase.</a:t>
            </a:r>
            <a:endParaRPr lang="en-US" sz="12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accusative dual form.</a:t>
            </a:r>
            <a:endParaRPr lang="en-US" sz="125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طَالِبَانِ</a:t>
            </a:r>
            <a:endParaRPr lang="ar-SA" sz="20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طَالِبُونَ</a:t>
            </a:r>
            <a:endParaRPr lang="ar-SA" sz="20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طَالِبَيْنِ</a:t>
            </a:r>
            <a:endParaRPr lang="ar-SA" sz="20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1" name="Text 6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sentence.</a:t>
            </a:r>
            <a:endParaRPr lang="en-US" sz="125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أَكَلَ الْوَلَدُ التُّفَّاحَةَ.</a:t>
            </a:r>
            <a:endParaRPr lang="ar-SA" sz="20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أَكَلَ الْوَلَدَ التُّفَّاحَةُ.</a:t>
            </a:r>
            <a:endParaRPr lang="ar-SA" sz="20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أَكَلَ الْوَلَدِ التُّفَّاحَةِ.</a:t>
            </a:r>
            <a:endParaRPr lang="ar-SA" sz="2050" dirty="0"/>
          </a:p>
        </p:txBody>
      </p:sp>
      <p:sp>
        <p:nvSpPr>
          <p:cNvPr id="81" name="Shape 7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3" name="Text 8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4" name="Text 8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5" name="Text 8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GM-CASE-02 · Case Endings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word is the direct object:</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كَتَبَ الطَّالِبُ الرِّسَالَةَ</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الطَّالِبُ</a:t>
            </a:r>
            <a:endParaRPr lang="ar-SA" sz="1700" dirty="0"/>
          </a:p>
        </p:txBody>
      </p:sp>
      <p:sp>
        <p:nvSpPr>
          <p:cNvPr id="23" name="Shape 20"/>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1"/>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3"/>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الرِّسَالَةَ</a:t>
            </a:r>
            <a:endParaRPr lang="ar-SA" sz="1700" dirty="0"/>
          </a:p>
        </p:txBody>
      </p:sp>
      <p:sp>
        <p:nvSpPr>
          <p:cNvPr id="27" name="Shape 24"/>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كَتَبَ</a:t>
            </a:r>
            <a:endParaRPr lang="ar-SA" sz="170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letter receives the action: -a.</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indefinite accusative of kitāb.</a:t>
            </a:r>
            <a:endParaRPr lang="en-US" sz="1250" dirty="0"/>
          </a:p>
        </p:txBody>
      </p:sp>
      <p:sp>
        <p:nvSpPr>
          <p:cNvPr id="35" name="Shape 32"/>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كِتَابًا</a:t>
            </a:r>
            <a:endParaRPr lang="ar-SA" sz="170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كِتَابٌ</a:t>
            </a:r>
            <a:endParaRPr lang="ar-SA" sz="1700" dirty="0"/>
          </a:p>
        </p:txBody>
      </p:sp>
      <p:sp>
        <p:nvSpPr>
          <p:cNvPr id="42" name="Shape 39"/>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كِتَابٍ</a:t>
            </a:r>
            <a:endParaRPr lang="ar-SA" sz="1700" dirty="0"/>
          </a:p>
        </p:txBody>
      </p:sp>
      <p:sp>
        <p:nvSpPr>
          <p:cNvPr id="45" name="Text 42"/>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Kitāban, with a supporting alif.</a:t>
            </a:r>
            <a:endParaRPr lang="en-US" sz="1050" dirty="0"/>
          </a:p>
        </p:txBody>
      </p:sp>
      <p:sp>
        <p:nvSpPr>
          <p:cNvPr id="46" name="Shape 43"/>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explanation is correct?</a:t>
            </a:r>
            <a:endParaRPr lang="en-US" sz="1250" dirty="0"/>
          </a:p>
        </p:txBody>
      </p:sp>
      <p:sp>
        <p:nvSpPr>
          <p:cNvPr id="50" name="Shape 47"/>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 phrases are genitive.</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 phrases are direct objects.</a:t>
            </a:r>
            <a:endParaRPr lang="en-US" sz="1250" dirty="0"/>
          </a:p>
        </p:txBody>
      </p:sp>
      <p:sp>
        <p:nvSpPr>
          <p:cNvPr id="56" name="Shape 53"/>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ar-SA" altLang="en-US" sz="1500" b="1" dirty="0">
                <a:solidFill>
                  <a:srgbClr val="1F2A37"/>
                </a:solidFill>
                <a:latin typeface="Amiri" pitchFamily="2" charset="-78"/>
                <a:cs typeface="Amiri" pitchFamily="2" charset="-78"/>
              </a:rPr>
              <a:t>صَبَاحًا</a:t>
            </a:r>
            <a:pPr algn="l" indent="0" marL="0">
              <a:buNone/>
            </a:pPr>
            <a:r>
              <a:rPr lang="en-US" sz="1150" b="1" dirty="0">
                <a:solidFill>
                  <a:srgbClr val="1F2A37"/>
                </a:solidFill>
                <a:latin typeface="Calibri" pitchFamily="34" charset="0"/>
                <a:cs typeface="Amiri" pitchFamily="2" charset="-78"/>
              </a:rPr>
              <a:t> is an accusative adverbial, while </a:t>
            </a:r>
            <a:pPr algn="l" indent="0" marL="0">
              <a:buNone/>
            </a:pPr>
            <a:r>
              <a:rPr lang="ar-SA" altLang="en-US" sz="1500" b="1" dirty="0">
                <a:solidFill>
                  <a:srgbClr val="1F2A37"/>
                </a:solidFill>
                <a:latin typeface="Amiri" pitchFamily="2" charset="-78"/>
                <a:cs typeface="Amiri" pitchFamily="2" charset="-78"/>
              </a:rPr>
              <a:t>فِي الصَّبَاحِ</a:t>
            </a:r>
            <a:pPr algn="l" indent="0" marL="0">
              <a:buNone/>
            </a:pPr>
            <a:r>
              <a:rPr lang="en-US" sz="1150" b="1" dirty="0">
                <a:solidFill>
                  <a:srgbClr val="1F2A37"/>
                </a:solidFill>
                <a:latin typeface="Calibri" pitchFamily="34" charset="0"/>
                <a:cs typeface="Amiri" pitchFamily="2" charset="-78"/>
              </a:rPr>
              <a:t> is a prepositional phrase.</a:t>
            </a:r>
            <a:endParaRPr lang="en-US" sz="115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Ṣabāḥan (-an) or fī ṣ-ṣabāḥi (-i).</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accusative dual form.</a:t>
            </a:r>
            <a:endParaRPr lang="en-US" sz="125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طَالِبَانِ</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طَالِبُونَ</a:t>
            </a:r>
            <a:endParaRPr lang="ar-SA" sz="1700" dirty="0"/>
          </a:p>
        </p:txBody>
      </p:sp>
      <p:sp>
        <p:nvSpPr>
          <p:cNvPr id="71" name="Shape 6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طَالِبَيْنِ</a:t>
            </a:r>
            <a:endParaRPr lang="ar-SA" sz="170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Dual accusative: -ayni.</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6"/>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sentence.</a:t>
            </a:r>
            <a:endParaRPr lang="en-US" sz="125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أَكَلَ الْوَلَدُ التُّفَّاحَةَ.</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أَكَلَ الْوَلَدَ التُّفَّاحَةُ.</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أَكَلَ الْوَلَدِ التُّفَّاحَةِ.</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Doer -u, object -a.</a:t>
            </a:r>
            <a:endParaRPr lang="en-US" sz="1050" dirty="0"/>
          </a:p>
        </p:txBody>
      </p:sp>
      <p:sp>
        <p:nvSpPr>
          <p:cNvPr id="91" name="Shape 8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3" name="Text 9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What received the action? → accusative (-a / -an). Time and place words often take -an too.</a:t>
            </a:r>
            <a:endParaRPr lang="en-US" sz="1300" dirty="0"/>
          </a:p>
        </p:txBody>
      </p:sp>
      <p:sp>
        <p:nvSpPr>
          <p:cNvPr id="94" name="Text 91"/>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قَرَأْتُ</a:t>
            </a:r>
            <a:pPr rtl="1" algn="ctr" indent="0" marL="0">
              <a:buNone/>
            </a:pPr>
            <a:r>
              <a:rPr lang="ar-SA" altLang="en-US" sz="2400" b="1" dirty="0">
                <a:solidFill>
                  <a:srgbClr val="1B3B6F"/>
                </a:solidFill>
                <a:latin typeface="Amiri" pitchFamily="2" charset="-78"/>
                <a:cs typeface="Amiri" pitchFamily="2" charset="-78"/>
              </a:rPr>
              <a:t> </a:t>
            </a:r>
            <a:pPr rtl="1" algn="ctr" indent="0" marL="0">
              <a:buNone/>
            </a:pPr>
            <a:r>
              <a:rPr lang="ar-SA" altLang="en-US" sz="2400" b="1" dirty="0">
                <a:solidFill>
                  <a:srgbClr val="D6336C"/>
                </a:solidFill>
                <a:latin typeface="Amiri" pitchFamily="2" charset="-78"/>
                <a:cs typeface="Amiri" pitchFamily="2" charset="-78"/>
              </a:rPr>
              <a:t>الْكِتَابَ</a:t>
            </a:r>
            <a:pPr rtl="1" algn="ctr" indent="0" marL="0">
              <a:buNone/>
            </a:pPr>
            <a:r>
              <a:rPr lang="ar-SA" altLang="en-US" sz="2400" b="1" dirty="0">
                <a:solidFill>
                  <a:srgbClr val="1B3B6F"/>
                </a:solidFill>
                <a:latin typeface="Amiri" pitchFamily="2" charset="-78"/>
                <a:cs typeface="Amiri" pitchFamily="2" charset="-78"/>
              </a:rPr>
              <a:t> ‖ سَافَرْتُ </a:t>
            </a:r>
            <a:pPr rtl="1" algn="ctr" indent="0" marL="0">
              <a:buNone/>
            </a:pPr>
            <a:r>
              <a:rPr lang="ar-SA" altLang="en-US" sz="2400" b="1" dirty="0">
                <a:solidFill>
                  <a:srgbClr val="D6336C"/>
                </a:solidFill>
                <a:latin typeface="Amiri" pitchFamily="2" charset="-78"/>
                <a:cs typeface="Amiri" pitchFamily="2" charset="-78"/>
              </a:rPr>
              <a:t>صَبَاحًا</a:t>
            </a:r>
            <a:endParaRPr lang="ar-SA" sz="240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GM-CASE-02 · Case Endings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Find the direct object.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 and -an correctly (with the right spelling).</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-ayni and -īna.</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Say when and where with accusative words.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give the object -a or -an.</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make the adjective match.</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-ayni and -īna.</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ghadan, sāʿatan, amāma …</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spell madrasatan and māʾan correctly.</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write a 100–120-word visit account.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GM-CASE-02 · Case Endings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النَّصْبُ</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accusative case</a:t>
            </a:r>
            <a:endParaRPr lang="en-US" sz="1350" dirty="0"/>
          </a:p>
          <a:p>
            <a:pPr indent="0" marL="0">
              <a:buNone/>
            </a:pPr>
            <a:r>
              <a:rPr lang="en-US" sz="1100" i="1" dirty="0">
                <a:solidFill>
                  <a:srgbClr val="5A6472"/>
                </a:solidFill>
                <a:latin typeface="Calibri" pitchFamily="34" charset="0"/>
                <a:cs typeface="Amiri" pitchFamily="2" charset="-78"/>
              </a:rPr>
              <a:t>an-naṣ-bu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الْكِتَابَ · كِتَابًا</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الْفَتْحَةُ</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fatḥa: -a</a:t>
            </a:r>
            <a:endParaRPr lang="en-US" sz="1350" dirty="0"/>
          </a:p>
          <a:p>
            <a:pPr indent="0" marL="0">
              <a:buNone/>
            </a:pPr>
            <a:r>
              <a:rPr lang="en-US" sz="1100" i="1" dirty="0">
                <a:solidFill>
                  <a:srgbClr val="5A6472"/>
                </a:solidFill>
                <a:latin typeface="Calibri" pitchFamily="34" charset="0"/>
                <a:cs typeface="Amiri" pitchFamily="2" charset="-78"/>
              </a:rPr>
              <a:t>al-fat-ḥa-tu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الْبَابَ</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تَنْوِينُ الْفَتْحِ</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fatḥatān: -an</a:t>
            </a:r>
            <a:endParaRPr lang="en-US" sz="1350" dirty="0"/>
          </a:p>
          <a:p>
            <a:pPr indent="0" marL="0">
              <a:buNone/>
            </a:pPr>
            <a:r>
              <a:rPr lang="en-US" sz="1100" i="1" dirty="0">
                <a:solidFill>
                  <a:srgbClr val="5A6472"/>
                </a:solidFill>
                <a:latin typeface="Calibri" pitchFamily="34" charset="0"/>
                <a:cs typeface="Amiri" pitchFamily="2" charset="-78"/>
              </a:rPr>
              <a:t>tan-wī-nu al-fat-ḥi</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قَلَمًا</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الْمَفْعُولُ بِهِ</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direct object</a:t>
            </a:r>
            <a:endParaRPr lang="en-US" sz="1350" dirty="0"/>
          </a:p>
          <a:p>
            <a:pPr indent="0" marL="0">
              <a:buNone/>
            </a:pPr>
            <a:r>
              <a:rPr lang="en-US" sz="1100" i="1" dirty="0">
                <a:solidFill>
                  <a:srgbClr val="5A6472"/>
                </a:solidFill>
                <a:latin typeface="Calibri" pitchFamily="34" charset="0"/>
                <a:cs typeface="Amiri" pitchFamily="2" charset="-78"/>
              </a:rPr>
              <a:t>al-maf-ʿū-lu bi-hi</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فَتَحَ الْبَابَ</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ظَرْفُ الزَّمَانِ</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time word</a:t>
            </a:r>
            <a:endParaRPr lang="en-US" sz="1350" dirty="0"/>
          </a:p>
          <a:p>
            <a:pPr indent="0" marL="0">
              <a:buNone/>
            </a:pPr>
            <a:r>
              <a:rPr lang="en-US" sz="1100" i="1" dirty="0">
                <a:solidFill>
                  <a:srgbClr val="5A6472"/>
                </a:solidFill>
                <a:latin typeface="Calibri" pitchFamily="34" charset="0"/>
                <a:cs typeface="Amiri" pitchFamily="2" charset="-78"/>
              </a:rPr>
              <a:t>ẓar-fu az-za-mā-ni</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غَدًا · صَبَاحًا</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ظَرْفُ الْمَكَانِ</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place word</a:t>
            </a:r>
            <a:endParaRPr lang="en-US" sz="1350" dirty="0"/>
          </a:p>
          <a:p>
            <a:pPr indent="0" marL="0">
              <a:buNone/>
            </a:pPr>
            <a:r>
              <a:rPr lang="en-US" sz="1100" i="1" dirty="0">
                <a:solidFill>
                  <a:srgbClr val="5A6472"/>
                </a:solidFill>
                <a:latin typeface="Calibri" pitchFamily="34" charset="0"/>
                <a:cs typeface="Amiri" pitchFamily="2" charset="-78"/>
              </a:rPr>
              <a:t>ẓar-fu al-ma-kā-ni</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أَمَامَ الْبَيْتِ</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GM-CASE-02 · Case Endings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1 · THE DIRECT OBJECT (WEBSITE MODELS)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received the action?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الْمَفْعُولُ بِهِ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577072" y="1810512"/>
            <a:ext cx="3081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546811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Object</a:t>
            </a:r>
            <a:endParaRPr lang="en-US" sz="1100" dirty="0"/>
          </a:p>
        </p:txBody>
      </p:sp>
      <p:sp>
        <p:nvSpPr>
          <p:cNvPr id="18" name="Text 15"/>
          <p:cNvSpPr txBox="1"/>
          <p:nvPr/>
        </p:nvSpPr>
        <p:spPr>
          <a:xfrm>
            <a:off x="530352" y="1810512"/>
            <a:ext cx="4791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Website model</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613648" y="2267712"/>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guard opened the door.</a:t>
            </a:r>
            <a:endParaRPr lang="en-US" sz="1100" dirty="0"/>
          </a:p>
        </p:txBody>
      </p:sp>
      <p:sp>
        <p:nvSpPr>
          <p:cNvPr id="21" name="Text 18"/>
          <p:cNvSpPr txBox="1"/>
          <p:nvPr/>
        </p:nvSpPr>
        <p:spPr>
          <a:xfrm>
            <a:off x="5486400" y="2267712"/>
            <a:ext cx="29260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الْبَابَ</a:t>
            </a:r>
            <a:endParaRPr lang="ar-SA" sz="2200" dirty="0"/>
          </a:p>
        </p:txBody>
      </p:sp>
      <p:sp>
        <p:nvSpPr>
          <p:cNvPr id="22" name="Text 19"/>
          <p:cNvSpPr txBox="1"/>
          <p:nvPr/>
        </p:nvSpPr>
        <p:spPr>
          <a:xfrm>
            <a:off x="548640" y="2267712"/>
            <a:ext cx="47548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فَتَحَ الْحَارِسُ الْبَابَ.</a:t>
            </a:r>
            <a:endParaRPr lang="ar-SA" sz="24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613648" y="3004718"/>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Maryam read the article.</a:t>
            </a:r>
            <a:endParaRPr lang="en-US" sz="1100" dirty="0"/>
          </a:p>
        </p:txBody>
      </p:sp>
      <p:sp>
        <p:nvSpPr>
          <p:cNvPr id="27" name="Text 24"/>
          <p:cNvSpPr txBox="1"/>
          <p:nvPr/>
        </p:nvSpPr>
        <p:spPr>
          <a:xfrm>
            <a:off x="5486400" y="3004718"/>
            <a:ext cx="29260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الْمَقَالَةَ</a:t>
            </a:r>
            <a:endParaRPr lang="ar-SA" sz="2200" dirty="0"/>
          </a:p>
        </p:txBody>
      </p:sp>
      <p:sp>
        <p:nvSpPr>
          <p:cNvPr id="28" name="Text 25"/>
          <p:cNvSpPr txBox="1"/>
          <p:nvPr/>
        </p:nvSpPr>
        <p:spPr>
          <a:xfrm>
            <a:off x="548640" y="3004718"/>
            <a:ext cx="47548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قَرَأَتْ مَرْيَمُ الْمَقَالَةَ.</a:t>
            </a:r>
            <a:endParaRPr lang="ar-SA" sz="24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8613648" y="3741725"/>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Laylā bought a new bag.</a:t>
            </a:r>
            <a:endParaRPr lang="en-US" sz="1100" dirty="0"/>
          </a:p>
        </p:txBody>
      </p:sp>
      <p:sp>
        <p:nvSpPr>
          <p:cNvPr id="33" name="Text 30"/>
          <p:cNvSpPr txBox="1"/>
          <p:nvPr/>
        </p:nvSpPr>
        <p:spPr>
          <a:xfrm>
            <a:off x="5486400" y="3741725"/>
            <a:ext cx="29260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حَقِيبَةً جَدِيدَةً</a:t>
            </a:r>
            <a:endParaRPr lang="ar-SA" sz="2200" dirty="0"/>
          </a:p>
        </p:txBody>
      </p:sp>
      <p:sp>
        <p:nvSpPr>
          <p:cNvPr id="34" name="Text 31"/>
          <p:cNvSpPr txBox="1"/>
          <p:nvPr/>
        </p:nvSpPr>
        <p:spPr>
          <a:xfrm>
            <a:off x="548640" y="3741725"/>
            <a:ext cx="47548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اِشْتَرَتْ لَيْلَى حَقِيبَةً جَدِيدَةً.</a:t>
            </a:r>
            <a:endParaRPr lang="ar-SA" sz="24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8613648" y="4478731"/>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met two hardworking students.</a:t>
            </a:r>
            <a:endParaRPr lang="en-US" sz="1100" dirty="0"/>
          </a:p>
        </p:txBody>
      </p:sp>
      <p:sp>
        <p:nvSpPr>
          <p:cNvPr id="39" name="Text 36"/>
          <p:cNvSpPr txBox="1"/>
          <p:nvPr/>
        </p:nvSpPr>
        <p:spPr>
          <a:xfrm>
            <a:off x="5486400" y="4478731"/>
            <a:ext cx="29260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طَالِبَيْنِ مُجْتَهِدَيْنِ</a:t>
            </a:r>
            <a:endParaRPr lang="ar-SA" sz="2200" dirty="0"/>
          </a:p>
        </p:txBody>
      </p:sp>
      <p:sp>
        <p:nvSpPr>
          <p:cNvPr id="40" name="Text 37"/>
          <p:cNvSpPr txBox="1"/>
          <p:nvPr/>
        </p:nvSpPr>
        <p:spPr>
          <a:xfrm>
            <a:off x="548640" y="4478731"/>
            <a:ext cx="47548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قَابَلْتُ طَالِبَيْنِ مُجْتَهِدَيْنِ.</a:t>
            </a:r>
            <a:endParaRPr lang="ar-SA" sz="240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8613648" y="5215738"/>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thanked the teachers.</a:t>
            </a:r>
            <a:endParaRPr lang="en-US" sz="1100" dirty="0"/>
          </a:p>
        </p:txBody>
      </p:sp>
      <p:sp>
        <p:nvSpPr>
          <p:cNvPr id="43" name="Text 40"/>
          <p:cNvSpPr txBox="1"/>
          <p:nvPr/>
        </p:nvSpPr>
        <p:spPr>
          <a:xfrm>
            <a:off x="5486400" y="5215738"/>
            <a:ext cx="29260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الْمُعَلِّمِينَ</a:t>
            </a:r>
            <a:endParaRPr lang="ar-SA" sz="2200" dirty="0"/>
          </a:p>
        </p:txBody>
      </p:sp>
      <p:sp>
        <p:nvSpPr>
          <p:cNvPr id="44" name="Text 41"/>
          <p:cNvSpPr txBox="1"/>
          <p:nvPr/>
        </p:nvSpPr>
        <p:spPr>
          <a:xfrm>
            <a:off x="548640" y="5215738"/>
            <a:ext cx="47548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شَكَرْتُ الْمُعَلِّمِينَ.</a:t>
            </a:r>
            <a:endParaRPr lang="ar-SA" sz="24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meaning test: ask “what did the subject act upon?” — the answer is the object, and it takes the accusative. The doer stays nominative (-u).</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GM-CASE-02 · Case Endings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2 · THE ACCUSATIVE FORMS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shapes of the accusative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عَلَامَاتُ النَّصْبِ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479792" y="1810512"/>
            <a:ext cx="4178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Signal</a:t>
            </a:r>
            <a:endParaRPr lang="en-US" sz="1100" dirty="0"/>
          </a:p>
        </p:txBody>
      </p:sp>
      <p:sp>
        <p:nvSpPr>
          <p:cNvPr id="17" name="Text 14"/>
          <p:cNvSpPr txBox="1"/>
          <p:nvPr/>
        </p:nvSpPr>
        <p:spPr>
          <a:xfrm>
            <a:off x="41879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Accusative</a:t>
            </a:r>
            <a:endParaRPr lang="en-US" sz="1100" dirty="0"/>
          </a:p>
        </p:txBody>
      </p:sp>
      <p:sp>
        <p:nvSpPr>
          <p:cNvPr id="18" name="Text 15"/>
          <p:cNvSpPr txBox="1"/>
          <p:nvPr/>
        </p:nvSpPr>
        <p:spPr>
          <a:xfrm>
            <a:off x="530352"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Noun type</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516368" y="2267712"/>
            <a:ext cx="41422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fatḥa: -a</a:t>
            </a:r>
            <a:endParaRPr lang="en-US" sz="1100" dirty="0"/>
          </a:p>
        </p:txBody>
      </p:sp>
      <p:sp>
        <p:nvSpPr>
          <p:cNvPr id="21" name="Text 18"/>
          <p:cNvSpPr txBox="1"/>
          <p:nvPr/>
        </p:nvSpPr>
        <p:spPr>
          <a:xfrm>
            <a:off x="4206240" y="2267712"/>
            <a:ext cx="310896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الْكِتَابَ</a:t>
            </a:r>
            <a:endParaRPr lang="ar-SA" sz="2600" dirty="0"/>
          </a:p>
        </p:txBody>
      </p:sp>
      <p:sp>
        <p:nvSpPr>
          <p:cNvPr id="22" name="Text 19"/>
          <p:cNvSpPr txBox="1"/>
          <p:nvPr/>
        </p:nvSpPr>
        <p:spPr>
          <a:xfrm>
            <a:off x="566928" y="2267712"/>
            <a:ext cx="34747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definite singular</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7516368" y="2881884"/>
            <a:ext cx="41422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 supporting alif</a:t>
            </a:r>
            <a:endParaRPr lang="en-US" sz="1100" dirty="0"/>
          </a:p>
        </p:txBody>
      </p:sp>
      <p:sp>
        <p:nvSpPr>
          <p:cNvPr id="27" name="Text 24"/>
          <p:cNvSpPr txBox="1"/>
          <p:nvPr/>
        </p:nvSpPr>
        <p:spPr>
          <a:xfrm>
            <a:off x="4206240" y="2881884"/>
            <a:ext cx="310896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كِتَابًا</a:t>
            </a:r>
            <a:endParaRPr lang="ar-SA" sz="2600" dirty="0"/>
          </a:p>
        </p:txBody>
      </p:sp>
      <p:sp>
        <p:nvSpPr>
          <p:cNvPr id="28" name="Text 25"/>
          <p:cNvSpPr txBox="1"/>
          <p:nvPr/>
        </p:nvSpPr>
        <p:spPr>
          <a:xfrm>
            <a:off x="566928" y="2881884"/>
            <a:ext cx="34747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indefinite singular</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7516368" y="3496056"/>
            <a:ext cx="41422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NO extra alif</a:t>
            </a:r>
            <a:endParaRPr lang="en-US" sz="1100" dirty="0"/>
          </a:p>
        </p:txBody>
      </p:sp>
      <p:sp>
        <p:nvSpPr>
          <p:cNvPr id="33" name="Text 30"/>
          <p:cNvSpPr txBox="1"/>
          <p:nvPr/>
        </p:nvSpPr>
        <p:spPr>
          <a:xfrm>
            <a:off x="4206240" y="3496056"/>
            <a:ext cx="310896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مَدْرَسَةً</a:t>
            </a:r>
            <a:endParaRPr lang="ar-SA" sz="2600" dirty="0"/>
          </a:p>
        </p:txBody>
      </p:sp>
      <p:sp>
        <p:nvSpPr>
          <p:cNvPr id="34" name="Text 31"/>
          <p:cNvSpPr txBox="1"/>
          <p:nvPr/>
        </p:nvSpPr>
        <p:spPr>
          <a:xfrm>
            <a:off x="566928" y="3496056"/>
            <a:ext cx="34747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tāʾ marbūṭa (indefinite)</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7516368" y="4110228"/>
            <a:ext cx="41422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-ayni</a:t>
            </a:r>
            <a:endParaRPr lang="en-US" sz="1100" dirty="0"/>
          </a:p>
        </p:txBody>
      </p:sp>
      <p:sp>
        <p:nvSpPr>
          <p:cNvPr id="39" name="Text 36"/>
          <p:cNvSpPr txBox="1"/>
          <p:nvPr/>
        </p:nvSpPr>
        <p:spPr>
          <a:xfrm>
            <a:off x="4206240" y="4110228"/>
            <a:ext cx="310896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طَالِبَيْنِ</a:t>
            </a:r>
            <a:endParaRPr lang="ar-SA" sz="2600" dirty="0"/>
          </a:p>
        </p:txBody>
      </p:sp>
      <p:sp>
        <p:nvSpPr>
          <p:cNvPr id="40" name="Text 37"/>
          <p:cNvSpPr txBox="1"/>
          <p:nvPr/>
        </p:nvSpPr>
        <p:spPr>
          <a:xfrm>
            <a:off x="566928" y="4110228"/>
            <a:ext cx="34747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dual</a:t>
            </a:r>
            <a:endParaRPr lang="en-US" sz="11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7516368" y="4724400"/>
            <a:ext cx="41422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-īna</a:t>
            </a:r>
            <a:endParaRPr lang="en-US" sz="1100" dirty="0"/>
          </a:p>
        </p:txBody>
      </p:sp>
      <p:sp>
        <p:nvSpPr>
          <p:cNvPr id="43" name="Text 40"/>
          <p:cNvSpPr txBox="1"/>
          <p:nvPr/>
        </p:nvSpPr>
        <p:spPr>
          <a:xfrm>
            <a:off x="4206240" y="4724400"/>
            <a:ext cx="310896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مُعَلِّمِينَ</a:t>
            </a:r>
            <a:endParaRPr lang="ar-SA" sz="2600" dirty="0"/>
          </a:p>
        </p:txBody>
      </p:sp>
      <p:sp>
        <p:nvSpPr>
          <p:cNvPr id="44" name="Text 41"/>
          <p:cNvSpPr txBox="1"/>
          <p:nvPr/>
        </p:nvSpPr>
        <p:spPr>
          <a:xfrm>
            <a:off x="566928" y="4724400"/>
            <a:ext cx="34747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sound masculine plural</a:t>
            </a:r>
            <a:endParaRPr lang="en-US" sz="11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7516368" y="5338572"/>
            <a:ext cx="41422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-āti — kasra, not fatḥa!</a:t>
            </a:r>
            <a:endParaRPr lang="en-US" sz="1100" dirty="0"/>
          </a:p>
        </p:txBody>
      </p:sp>
      <p:sp>
        <p:nvSpPr>
          <p:cNvPr id="47" name="Text 44"/>
          <p:cNvSpPr txBox="1"/>
          <p:nvPr/>
        </p:nvSpPr>
        <p:spPr>
          <a:xfrm>
            <a:off x="4206240" y="5338572"/>
            <a:ext cx="310896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الطَّالِبَاتِ</a:t>
            </a:r>
            <a:endParaRPr lang="ar-SA" sz="2600" dirty="0"/>
          </a:p>
        </p:txBody>
      </p:sp>
      <p:sp>
        <p:nvSpPr>
          <p:cNvPr id="48" name="Text 45"/>
          <p:cNvSpPr txBox="1"/>
          <p:nvPr/>
        </p:nvSpPr>
        <p:spPr>
          <a:xfrm>
            <a:off x="566928" y="5338572"/>
            <a:ext cx="34747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sound feminine plural</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spelling: the extra alif belongs to the spelling of -an, not to the meaning. No extra alif after tāʾ marbūṭa (madrasatan) or alif + hamza (māʾan). Never write madrasatan with an alif.</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GM-CASE-02 · Case Endings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B3B6F"/>
                </a:solidFill>
                <a:latin typeface="Calibri" pitchFamily="34" charset="0"/>
                <a:cs typeface="Amiri" pitchFamily="2" charset="-78"/>
              </a:rPr>
              <a:t>GRAMMAR · PART 3 · ACCUSATIVE ADJECTIVE AGREEMENT (WEBSITE TABLE) · DEVELOP</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The adjective follows — in its own way</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الصِّفَةُ الْمَنْصُوبَةُ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662672" y="1810512"/>
            <a:ext cx="3995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Notice</a:t>
            </a:r>
            <a:endParaRPr lang="en-US" sz="1100" dirty="0"/>
          </a:p>
        </p:txBody>
      </p:sp>
      <p:sp>
        <p:nvSpPr>
          <p:cNvPr id="17" name="Text 14"/>
          <p:cNvSpPr txBox="1"/>
          <p:nvPr/>
        </p:nvSpPr>
        <p:spPr>
          <a:xfrm>
            <a:off x="345643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Noun + adjective</a:t>
            </a:r>
            <a:endParaRPr lang="en-US" sz="1100" dirty="0"/>
          </a:p>
        </p:txBody>
      </p:sp>
      <p:sp>
        <p:nvSpPr>
          <p:cNvPr id="18" name="Text 15"/>
          <p:cNvSpPr txBox="1"/>
          <p:nvPr/>
        </p:nvSpPr>
        <p:spPr>
          <a:xfrm>
            <a:off x="5303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Pattern</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699248" y="2267712"/>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both -a</a:t>
            </a:r>
            <a:endParaRPr lang="en-US" sz="1100" dirty="0"/>
          </a:p>
        </p:txBody>
      </p:sp>
      <p:sp>
        <p:nvSpPr>
          <p:cNvPr id="21" name="Text 18"/>
          <p:cNvSpPr txBox="1"/>
          <p:nvPr/>
        </p:nvSpPr>
        <p:spPr>
          <a:xfrm>
            <a:off x="3474720" y="2267712"/>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الْكِتَابَ الْجَدِيدَ</a:t>
            </a:r>
            <a:endParaRPr lang="ar-SA" sz="2400" dirty="0"/>
          </a:p>
        </p:txBody>
      </p:sp>
      <p:sp>
        <p:nvSpPr>
          <p:cNvPr id="22" name="Text 19"/>
          <p:cNvSpPr txBox="1"/>
          <p:nvPr/>
        </p:nvSpPr>
        <p:spPr>
          <a:xfrm>
            <a:off x="566928" y="2267712"/>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definite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699248" y="3004718"/>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both -an</a:t>
            </a:r>
            <a:endParaRPr lang="en-US" sz="1100" dirty="0"/>
          </a:p>
        </p:txBody>
      </p:sp>
      <p:sp>
        <p:nvSpPr>
          <p:cNvPr id="27" name="Text 24"/>
          <p:cNvSpPr txBox="1"/>
          <p:nvPr/>
        </p:nvSpPr>
        <p:spPr>
          <a:xfrm>
            <a:off x="3474720" y="3004718"/>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كِتَابًا جَدِيدًا</a:t>
            </a:r>
            <a:endParaRPr lang="ar-SA" sz="2400" dirty="0"/>
          </a:p>
        </p:txBody>
      </p:sp>
      <p:sp>
        <p:nvSpPr>
          <p:cNvPr id="28" name="Text 25"/>
          <p:cNvSpPr txBox="1"/>
          <p:nvPr/>
        </p:nvSpPr>
        <p:spPr>
          <a:xfrm>
            <a:off x="566928" y="3004718"/>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indefinite</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699248" y="3741725"/>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both -ayni</a:t>
            </a:r>
            <a:endParaRPr lang="en-US" sz="1100" dirty="0"/>
          </a:p>
        </p:txBody>
      </p:sp>
      <p:sp>
        <p:nvSpPr>
          <p:cNvPr id="33" name="Text 30"/>
          <p:cNvSpPr txBox="1"/>
          <p:nvPr/>
        </p:nvSpPr>
        <p:spPr>
          <a:xfrm>
            <a:off x="3474720" y="3741725"/>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طَالِبَيْنِ جَدِيدَيْنِ</a:t>
            </a:r>
            <a:endParaRPr lang="ar-SA" sz="2400" dirty="0"/>
          </a:p>
        </p:txBody>
      </p:sp>
      <p:sp>
        <p:nvSpPr>
          <p:cNvPr id="34" name="Text 31"/>
          <p:cNvSpPr txBox="1"/>
          <p:nvPr/>
        </p:nvSpPr>
        <p:spPr>
          <a:xfrm>
            <a:off x="566928" y="3741725"/>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dual</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7699248" y="4478731"/>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adjective: broken plural -an</a:t>
            </a:r>
            <a:endParaRPr lang="en-US" sz="1100" dirty="0"/>
          </a:p>
        </p:txBody>
      </p:sp>
      <p:sp>
        <p:nvSpPr>
          <p:cNvPr id="37" name="Text 34"/>
          <p:cNvSpPr txBox="1"/>
          <p:nvPr/>
        </p:nvSpPr>
        <p:spPr>
          <a:xfrm>
            <a:off x="3474720" y="4478731"/>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مُعَلِّمِينَ جُدُدًا</a:t>
            </a:r>
            <a:endParaRPr lang="ar-SA" sz="2400" dirty="0"/>
          </a:p>
        </p:txBody>
      </p:sp>
      <p:sp>
        <p:nvSpPr>
          <p:cNvPr id="38" name="Text 35"/>
          <p:cNvSpPr txBox="1"/>
          <p:nvPr/>
        </p:nvSpPr>
        <p:spPr>
          <a:xfrm>
            <a:off x="566928" y="4478731"/>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sound masculine plural</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7699248" y="5215738"/>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noun -āti, adjective f. sg. -a</a:t>
            </a:r>
            <a:endParaRPr lang="en-US" sz="1100" dirty="0"/>
          </a:p>
        </p:txBody>
      </p:sp>
      <p:sp>
        <p:nvSpPr>
          <p:cNvPr id="41" name="Text 38"/>
          <p:cNvSpPr txBox="1"/>
          <p:nvPr/>
        </p:nvSpPr>
        <p:spPr>
          <a:xfrm>
            <a:off x="3474720" y="5215738"/>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السَّيَّارَاتِ الْجَدِيدَةَ</a:t>
            </a:r>
            <a:endParaRPr lang="ar-SA" sz="2400" dirty="0"/>
          </a:p>
        </p:txBody>
      </p:sp>
      <p:sp>
        <p:nvSpPr>
          <p:cNvPr id="42" name="Text 39"/>
          <p:cNvSpPr txBox="1"/>
          <p:nvPr/>
        </p:nvSpPr>
        <p:spPr>
          <a:xfrm>
            <a:off x="566928" y="5215738"/>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non-human plural</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agreement is not “copy the same symbol”. The adjective is accusative too, but its own word type decides how the case appears (as-sayyārāti l-jadīdata).</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GM-CASE-02 · Case Endings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4 · TIME, DURATION AND PLACE (WEBSITE MODELS)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When? How long? Where?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ظُرُوفُ الزَّمَانِ وَالْمَكَانِ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290779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Website model</a:t>
            </a:r>
            <a:endParaRPr lang="en-US" sz="1100" dirty="0"/>
          </a:p>
        </p:txBody>
      </p:sp>
      <p:sp>
        <p:nvSpPr>
          <p:cNvPr id="18" name="Text 15"/>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Answers</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065008" y="2267712"/>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will visit him tomorrow.</a:t>
            </a:r>
            <a:endParaRPr lang="en-US" sz="1100" dirty="0"/>
          </a:p>
        </p:txBody>
      </p:sp>
      <p:sp>
        <p:nvSpPr>
          <p:cNvPr id="21" name="Text 18"/>
          <p:cNvSpPr txBox="1"/>
          <p:nvPr/>
        </p:nvSpPr>
        <p:spPr>
          <a:xfrm>
            <a:off x="2926080" y="2267712"/>
            <a:ext cx="49377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سَأَزُورُهُ غَدًا.</a:t>
            </a:r>
            <a:endParaRPr lang="ar-SA" sz="2400" dirty="0"/>
          </a:p>
        </p:txBody>
      </p:sp>
      <p:sp>
        <p:nvSpPr>
          <p:cNvPr id="22" name="Text 19"/>
          <p:cNvSpPr txBox="1"/>
          <p:nvPr/>
        </p:nvSpPr>
        <p:spPr>
          <a:xfrm>
            <a:off x="56692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065008" y="3004718"/>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travelled in the morning.</a:t>
            </a:r>
            <a:endParaRPr lang="en-US" sz="1100" dirty="0"/>
          </a:p>
        </p:txBody>
      </p:sp>
      <p:sp>
        <p:nvSpPr>
          <p:cNvPr id="27" name="Text 24"/>
          <p:cNvSpPr txBox="1"/>
          <p:nvPr/>
        </p:nvSpPr>
        <p:spPr>
          <a:xfrm>
            <a:off x="2926080" y="3004718"/>
            <a:ext cx="49377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سَافَرْنَا صَبَاحًا.</a:t>
            </a:r>
            <a:endParaRPr lang="ar-SA" sz="2400" dirty="0"/>
          </a:p>
        </p:txBody>
      </p:sp>
      <p:sp>
        <p:nvSpPr>
          <p:cNvPr id="28" name="Text 25"/>
          <p:cNvSpPr txBox="1"/>
          <p:nvPr/>
        </p:nvSpPr>
        <p:spPr>
          <a:xfrm>
            <a:off x="56692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8065008" y="3741725"/>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studied for a whole hour.</a:t>
            </a:r>
            <a:endParaRPr lang="en-US" sz="1100" dirty="0"/>
          </a:p>
        </p:txBody>
      </p:sp>
      <p:sp>
        <p:nvSpPr>
          <p:cNvPr id="33" name="Text 30"/>
          <p:cNvSpPr txBox="1"/>
          <p:nvPr/>
        </p:nvSpPr>
        <p:spPr>
          <a:xfrm>
            <a:off x="2926080" y="3741725"/>
            <a:ext cx="49377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دَرَسْتُ سَاعَةً كَامِلَةً.</a:t>
            </a:r>
            <a:endParaRPr lang="ar-SA" sz="2400" dirty="0"/>
          </a:p>
        </p:txBody>
      </p:sp>
      <p:sp>
        <p:nvSpPr>
          <p:cNvPr id="34" name="Text 31"/>
          <p:cNvSpPr txBox="1"/>
          <p:nvPr/>
        </p:nvSpPr>
        <p:spPr>
          <a:xfrm>
            <a:off x="56692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long?</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065008" y="4478731"/>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sat in front of the house.</a:t>
            </a:r>
            <a:endParaRPr lang="en-US" sz="1100" dirty="0"/>
          </a:p>
        </p:txBody>
      </p:sp>
      <p:sp>
        <p:nvSpPr>
          <p:cNvPr id="37" name="Text 34"/>
          <p:cNvSpPr txBox="1"/>
          <p:nvPr/>
        </p:nvSpPr>
        <p:spPr>
          <a:xfrm>
            <a:off x="2926080" y="4478731"/>
            <a:ext cx="49377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جَلَسْنَا أَمَامَ الْبَيْتِ.</a:t>
            </a:r>
            <a:endParaRPr lang="ar-SA" sz="2400" dirty="0"/>
          </a:p>
        </p:txBody>
      </p:sp>
      <p:sp>
        <p:nvSpPr>
          <p:cNvPr id="38" name="Text 35"/>
          <p:cNvSpPr txBox="1"/>
          <p:nvPr/>
        </p:nvSpPr>
        <p:spPr>
          <a:xfrm>
            <a:off x="56692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8065008" y="5215738"/>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train every day.</a:t>
            </a:r>
            <a:endParaRPr lang="en-US" sz="1100" dirty="0"/>
          </a:p>
        </p:txBody>
      </p:sp>
      <p:sp>
        <p:nvSpPr>
          <p:cNvPr id="41" name="Text 38"/>
          <p:cNvSpPr txBox="1"/>
          <p:nvPr/>
        </p:nvSpPr>
        <p:spPr>
          <a:xfrm>
            <a:off x="2926080" y="5215738"/>
            <a:ext cx="49377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أَتَدَرَّبُ كُلَّ يَوْمٍ.</a:t>
            </a:r>
            <a:endParaRPr lang="ar-SA" sz="2400" dirty="0"/>
          </a:p>
        </p:txBody>
      </p:sp>
      <p:sp>
        <p:nvSpPr>
          <p:cNvPr id="42" name="Text 39"/>
          <p:cNvSpPr txBox="1"/>
          <p:nvPr/>
        </p:nvSpPr>
        <p:spPr>
          <a:xfrm>
            <a:off x="56692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often?</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two valid routes: safartu ṣabāḥan (accusative adverb) = safartu fī ṣ-ṣabāḥi (preposition + -i). In amāma l-bayti and kulla yawmin, the first word is accusative and the second is genitive.</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GM-CASE-02 · Case Endings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5 · LINKS TO INNA AND KĀNA (WEBSITE TABLE) · STRETCH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particle assigns the job</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مَعَ إِنَّ وَكَانَ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Accusative word</a:t>
            </a:r>
            <a:endParaRPr lang="en-US" sz="1100" dirty="0"/>
          </a:p>
        </p:txBody>
      </p:sp>
      <p:sp>
        <p:nvSpPr>
          <p:cNvPr id="17" name="Text 14"/>
          <p:cNvSpPr txBox="1"/>
          <p:nvPr/>
        </p:nvSpPr>
        <p:spPr>
          <a:xfrm>
            <a:off x="382219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Changed</a:t>
            </a:r>
            <a:endParaRPr lang="en-US" sz="1100" dirty="0"/>
          </a:p>
        </p:txBody>
      </p:sp>
      <p:sp>
        <p:nvSpPr>
          <p:cNvPr id="18" name="Text 15"/>
          <p:cNvSpPr txBox="1"/>
          <p:nvPr/>
        </p:nvSpPr>
        <p:spPr>
          <a:xfrm>
            <a:off x="530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Base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065008" y="2267712"/>
            <a:ext cx="35935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noun of inna: -a</a:t>
            </a:r>
            <a:endParaRPr lang="en-US" sz="1100" dirty="0"/>
          </a:p>
        </p:txBody>
      </p:sp>
      <p:sp>
        <p:nvSpPr>
          <p:cNvPr id="21" name="Text 18"/>
          <p:cNvSpPr txBox="1"/>
          <p:nvPr/>
        </p:nvSpPr>
        <p:spPr>
          <a:xfrm>
            <a:off x="3840480" y="2267712"/>
            <a:ext cx="40233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إِنَّ الدَّرْسَ مُفِيدٌ.</a:t>
            </a:r>
            <a:endParaRPr lang="ar-SA" sz="2200" dirty="0"/>
          </a:p>
        </p:txBody>
      </p:sp>
      <p:sp>
        <p:nvSpPr>
          <p:cNvPr id="22" name="Text 19"/>
          <p:cNvSpPr txBox="1"/>
          <p:nvPr/>
        </p:nvSpPr>
        <p:spPr>
          <a:xfrm>
            <a:off x="548640" y="2267712"/>
            <a:ext cx="31089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الدَّرْسُ مُفِيدٌ.</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065008" y="3054096"/>
            <a:ext cx="35935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predicate of kāna: -an</a:t>
            </a:r>
            <a:endParaRPr lang="en-US" sz="1100" dirty="0"/>
          </a:p>
        </p:txBody>
      </p:sp>
      <p:sp>
        <p:nvSpPr>
          <p:cNvPr id="27" name="Text 24"/>
          <p:cNvSpPr txBox="1"/>
          <p:nvPr/>
        </p:nvSpPr>
        <p:spPr>
          <a:xfrm>
            <a:off x="3840480" y="3054096"/>
            <a:ext cx="40233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كَانَ الدَّرْسُ مُفِيدًا.</a:t>
            </a:r>
            <a:endParaRPr lang="ar-SA" sz="2200" dirty="0"/>
          </a:p>
        </p:txBody>
      </p:sp>
      <p:sp>
        <p:nvSpPr>
          <p:cNvPr id="28" name="Text 25"/>
          <p:cNvSpPr txBox="1"/>
          <p:nvPr/>
        </p:nvSpPr>
        <p:spPr>
          <a:xfrm>
            <a:off x="548640" y="3054096"/>
            <a:ext cx="31089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الدَّرْسُ مُفِيدٌ.</a:t>
            </a:r>
            <a:endParaRPr lang="ar-SA" sz="22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065008" y="3840480"/>
            <a:ext cx="35935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 plural noun: -āti</a:t>
            </a:r>
            <a:endParaRPr lang="en-US" sz="1100" dirty="0"/>
          </a:p>
        </p:txBody>
      </p:sp>
      <p:sp>
        <p:nvSpPr>
          <p:cNvPr id="33" name="Text 30"/>
          <p:cNvSpPr txBox="1"/>
          <p:nvPr/>
        </p:nvSpPr>
        <p:spPr>
          <a:xfrm>
            <a:off x="3840480" y="3840480"/>
            <a:ext cx="40233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إِنَّ الطَّالِبَاتِ مُسْتَعِدَّاتٌ.</a:t>
            </a:r>
            <a:endParaRPr lang="ar-SA" sz="2200" dirty="0"/>
          </a:p>
        </p:txBody>
      </p:sp>
      <p:sp>
        <p:nvSpPr>
          <p:cNvPr id="34" name="Text 31"/>
          <p:cNvSpPr txBox="1"/>
          <p:nvPr/>
        </p:nvSpPr>
        <p:spPr>
          <a:xfrm>
            <a:off x="548640" y="3840480"/>
            <a:ext cx="31089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الطَّالِبَاتُ مُسْتَعِدَّاتٌ.</a:t>
            </a:r>
            <a:endParaRPr lang="ar-SA" sz="22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8065008" y="4626864"/>
            <a:ext cx="35935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 plural predicate: -īna</a:t>
            </a:r>
            <a:endParaRPr lang="en-US" sz="1100" dirty="0"/>
          </a:p>
        </p:txBody>
      </p:sp>
      <p:sp>
        <p:nvSpPr>
          <p:cNvPr id="37" name="Text 34"/>
          <p:cNvSpPr txBox="1"/>
          <p:nvPr/>
        </p:nvSpPr>
        <p:spPr>
          <a:xfrm>
            <a:off x="3840480" y="4626864"/>
            <a:ext cx="40233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كَانَ الطُّلَّابُ مُسْتَعِدِّينَ.</a:t>
            </a:r>
            <a:endParaRPr lang="ar-SA" sz="2200" dirty="0"/>
          </a:p>
        </p:txBody>
      </p:sp>
      <p:sp>
        <p:nvSpPr>
          <p:cNvPr id="38" name="Text 35"/>
          <p:cNvSpPr txBox="1"/>
          <p:nvPr/>
        </p:nvSpPr>
        <p:spPr>
          <a:xfrm>
            <a:off x="548640" y="4626864"/>
            <a:ext cx="31089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الطُّلَّابُ مُسْتَعِدُّونَ.</a:t>
            </a:r>
            <a:endParaRPr lang="ar-SA" sz="22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one sentence, two cases. Do not make every prominent noun match — the particle gives each word a different job.</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GM-CASE-02 · Case Endings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definite object.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قَرَأْتُ الْكِتَابُ الْجَدِيدُ.</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قَرَأْتُ الْكِتَابَ الْجَدِيدُ.</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قَرَأْتُ الْكِتَابَ الْجَدِيدَ.</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indefinite object.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اِشْتَرَيْتُ قَلَمًا جَدِيدًا.</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اِشْتَرَيْتُ قَلَمٌ جَدِيدٌ.</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اِشْتَرَيْتُ قَلَمًا جَدِيدٌ.</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dual object.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قَابَلْتُ طَالِبَانِ جَدِيدَانِ.</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قَابَلْتُ طَالِبَيْنِ جَدِيدَيْنِ.</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قَابَلْتُ طَالِبَيْنِ جَدِيدَانِ.</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plural object.</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سَاعَدْتُ الْمُعَلِّمِينَ.</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سَاعَدْتُ الْمُعَلِّمُونَ.</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سَاعَدْتُ الْمُعَلِّمَاتُ.</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GM-CASE-02 · Case Endings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definite object.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قَرَأْتُ الْكِتَابُ الْجَدِيدُ.</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قَرَأْتُ الْكِتَابَ الْجَدِيدُ.</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قَرَأْتُ الْكِتَابَ الْجَدِيدَ.</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Object and adjective: both -a.</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indefinite object.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اِشْتَرَيْتُ قَلَمًا جَدِيدًا.</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اِشْتَرَيْتُ قَلَمٌ جَدِيدٌ.</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اِشْتَرَيْتُ قَلَمًا جَدِيدٌ.</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-an.</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dual object.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قَابَلْتُ طَالِبَانِ جَدِيدَانِ.</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قَابَلْتُ طَالِبَيْنِ جَدِيدَيْنِ.</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قَابَلْتُ طَالِبَيْنِ جَدِيدَانِ.</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-ayni.</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plural object.</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سَاعَدْتُ الْمُعَلِّمِينَ.</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سَاعَدْتُ الْمُعَلِّمُونَ.</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سَاعَدْتُ الْمُعَلِّمَاتُ.</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Sound masculine plural object: -īna.</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GM-CASE-02 · Case Endings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Watch me mark the accusative in a visit account</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GM-CASE-02</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Verb</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زَارَتْ</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What did she visit?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Object</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الْمَعْرِضَ</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Receiver: -a.</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Time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صَبَاحًا</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When? -an.</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Dual object</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مُصَوِّرَيْنِ</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-ayni.</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VERB</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ACCUSATIVE</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1800" b="1" dirty="0">
                <a:solidFill>
                  <a:srgbClr val="0E7C86"/>
                </a:solidFill>
                <a:latin typeface="Amiri" pitchFamily="2" charset="-78"/>
                <a:cs typeface="Amiri" pitchFamily="2" charset="-78"/>
              </a:rPr>
              <a:t>زَارَتْ</a:t>
            </a:r>
            <a:pPr rtl="1" algn="r" indent="0" marL="0">
              <a:buNone/>
            </a:pPr>
            <a:r>
              <a:rPr lang="ar-SA" altLang="en-US" sz="1800" b="1" dirty="0">
                <a:solidFill>
                  <a:srgbClr val="1B3B6F"/>
                </a:solidFill>
                <a:latin typeface="Amiri" pitchFamily="2" charset="-78"/>
                <a:cs typeface="Amiri" pitchFamily="2" charset="-78"/>
              </a:rPr>
              <a:t> سَلْمَى </a:t>
            </a:r>
            <a:pPr rtl="1" algn="r" indent="0" marL="0">
              <a:buNone/>
            </a:pPr>
            <a:r>
              <a:rPr lang="ar-SA" altLang="en-US" sz="1800" b="1" dirty="0">
                <a:solidFill>
                  <a:srgbClr val="D6336C"/>
                </a:solidFill>
                <a:latin typeface="Amiri" pitchFamily="2" charset="-78"/>
                <a:cs typeface="Amiri" pitchFamily="2" charset="-78"/>
              </a:rPr>
              <a:t>الْمَعْرِضَ</a:t>
            </a:r>
            <a:pPr rtl="1" algn="r" indent="0" marL="0">
              <a:buNone/>
            </a:pPr>
            <a:r>
              <a:rPr lang="ar-SA" altLang="en-US" sz="1800" b="1" dirty="0">
                <a:solidFill>
                  <a:srgbClr val="1B3B6F"/>
                </a:solidFill>
                <a:latin typeface="Amiri" pitchFamily="2" charset="-78"/>
                <a:cs typeface="Amiri" pitchFamily="2" charset="-78"/>
              </a:rPr>
              <a:t> </a:t>
            </a:r>
            <a:pPr rtl="1" algn="r" indent="0" marL="0">
              <a:buNone/>
            </a:pPr>
            <a:r>
              <a:rPr lang="ar-SA" altLang="en-US" sz="1800" b="1" dirty="0">
                <a:solidFill>
                  <a:srgbClr val="D6336C"/>
                </a:solidFill>
                <a:latin typeface="Amiri" pitchFamily="2" charset="-78"/>
                <a:cs typeface="Amiri" pitchFamily="2" charset="-78"/>
              </a:rPr>
              <a:t>صَبَاحًا</a:t>
            </a:r>
            <a:pPr rtl="1" algn="r" indent="0" marL="0">
              <a:buNone/>
            </a:pPr>
            <a:r>
              <a:rPr lang="ar-SA" altLang="en-US" sz="1800" b="1" dirty="0">
                <a:solidFill>
                  <a:srgbClr val="1B3B6F"/>
                </a:solidFill>
                <a:latin typeface="Amiri" pitchFamily="2" charset="-78"/>
                <a:cs typeface="Amiri" pitchFamily="2" charset="-78"/>
              </a:rPr>
              <a:t>، وَشَاهَدَتْ </a:t>
            </a:r>
            <a:pPr rtl="1" algn="r" indent="0" marL="0">
              <a:buNone/>
            </a:pPr>
            <a:r>
              <a:rPr lang="ar-SA" altLang="en-US" sz="1800" b="1" dirty="0">
                <a:solidFill>
                  <a:srgbClr val="D6336C"/>
                </a:solidFill>
                <a:latin typeface="Amiri" pitchFamily="2" charset="-78"/>
                <a:cs typeface="Amiri" pitchFamily="2" charset="-78"/>
              </a:rPr>
              <a:t>صُوَرًا جَمِيلَةً</a:t>
            </a:r>
            <a:pPr rtl="1" algn="r" indent="0" marL="0">
              <a:buNone/>
            </a:pPr>
            <a:r>
              <a:rPr lang="ar-SA" altLang="en-US" sz="1800" b="1" dirty="0">
                <a:solidFill>
                  <a:srgbClr val="1B3B6F"/>
                </a:solidFill>
                <a:latin typeface="Amiri" pitchFamily="2" charset="-78"/>
                <a:cs typeface="Amiri" pitchFamily="2" charset="-78"/>
              </a:rPr>
              <a:t>. ثُمَّ </a:t>
            </a:r>
            <a:pPr rtl="1" algn="r" indent="0" marL="0">
              <a:buNone/>
            </a:pPr>
            <a:r>
              <a:rPr lang="ar-SA" altLang="en-US" sz="1800" b="1" dirty="0">
                <a:solidFill>
                  <a:srgbClr val="0E7C86"/>
                </a:solidFill>
                <a:latin typeface="Amiri" pitchFamily="2" charset="-78"/>
                <a:cs typeface="Amiri" pitchFamily="2" charset="-78"/>
              </a:rPr>
              <a:t>قَابَلَتْ</a:t>
            </a:r>
            <a:pPr rtl="1" algn="r" indent="0" marL="0">
              <a:buNone/>
            </a:pPr>
            <a:r>
              <a:rPr lang="ar-SA" altLang="en-US" sz="1800" b="1" dirty="0">
                <a:solidFill>
                  <a:srgbClr val="1B3B6F"/>
                </a:solidFill>
                <a:latin typeface="Amiri" pitchFamily="2" charset="-78"/>
                <a:cs typeface="Amiri" pitchFamily="2" charset="-78"/>
              </a:rPr>
              <a:t> </a:t>
            </a:r>
            <a:pPr rtl="1" algn="r" indent="0" marL="0">
              <a:buNone/>
            </a:pPr>
            <a:r>
              <a:rPr lang="ar-SA" altLang="en-US" sz="1800" b="1" dirty="0">
                <a:solidFill>
                  <a:srgbClr val="D6336C"/>
                </a:solidFill>
                <a:latin typeface="Amiri" pitchFamily="2" charset="-78"/>
                <a:cs typeface="Amiri" pitchFamily="2" charset="-78"/>
              </a:rPr>
              <a:t>مُصَوِّرَيْنِ مَشْهُورَيْنِ</a:t>
            </a:r>
            <a:pPr rtl="1" algn="r" indent="0" marL="0">
              <a:buNone/>
            </a:pPr>
            <a:r>
              <a:rPr lang="ar-SA" altLang="en-US" sz="1800" b="1" dirty="0">
                <a:solidFill>
                  <a:srgbClr val="1B3B6F"/>
                </a:solidFill>
                <a:latin typeface="Amiri" pitchFamily="2" charset="-78"/>
                <a:cs typeface="Amiri" pitchFamily="2" charset="-78"/>
              </a:rPr>
              <a:t>. </a:t>
            </a:r>
            <a:pPr rtl="1" algn="r" indent="0" marL="0">
              <a:buNone/>
            </a:pPr>
            <a:r>
              <a:rPr lang="ar-SA" altLang="en-US" sz="1800" b="1" dirty="0">
                <a:solidFill>
                  <a:srgbClr val="0E7C86"/>
                </a:solidFill>
                <a:latin typeface="Amiri" pitchFamily="2" charset="-78"/>
                <a:cs typeface="Amiri" pitchFamily="2" charset="-78"/>
              </a:rPr>
              <a:t>اِشْتَرَتْ</a:t>
            </a:r>
            <a:pPr rtl="1" algn="r" indent="0" marL="0">
              <a:buNone/>
            </a:pPr>
            <a:r>
              <a:rPr lang="ar-SA" altLang="en-US" sz="1800" b="1" dirty="0">
                <a:solidFill>
                  <a:srgbClr val="1B3B6F"/>
                </a:solidFill>
                <a:latin typeface="Amiri" pitchFamily="2" charset="-78"/>
                <a:cs typeface="Amiri" pitchFamily="2" charset="-78"/>
              </a:rPr>
              <a:t> </a:t>
            </a:r>
            <a:pPr rtl="1" algn="r" indent="0" marL="0">
              <a:buNone/>
            </a:pPr>
            <a:r>
              <a:rPr lang="ar-SA" altLang="en-US" sz="1800" b="1" dirty="0">
                <a:solidFill>
                  <a:srgbClr val="D6336C"/>
                </a:solidFill>
                <a:latin typeface="Amiri" pitchFamily="2" charset="-78"/>
                <a:cs typeface="Amiri" pitchFamily="2" charset="-78"/>
              </a:rPr>
              <a:t>كِتَابًا</a:t>
            </a:r>
            <a:pPr rtl="1" algn="r" indent="0" marL="0">
              <a:buNone/>
            </a:pPr>
            <a:r>
              <a:rPr lang="ar-SA" altLang="en-US" sz="1800" b="1" dirty="0">
                <a:solidFill>
                  <a:srgbClr val="1B3B6F"/>
                </a:solidFill>
                <a:latin typeface="Amiri" pitchFamily="2" charset="-78"/>
                <a:cs typeface="Amiri" pitchFamily="2" charset="-78"/>
              </a:rPr>
              <a:t> عَنِ الْفَنِّ، ثُمَّ </a:t>
            </a:r>
            <a:pPr rtl="1" algn="r" indent="0" marL="0">
              <a:buNone/>
            </a:pPr>
            <a:r>
              <a:rPr lang="ar-SA" altLang="en-US" sz="1800" b="1" dirty="0">
                <a:solidFill>
                  <a:srgbClr val="0E7C86"/>
                </a:solidFill>
                <a:latin typeface="Amiri" pitchFamily="2" charset="-78"/>
                <a:cs typeface="Amiri" pitchFamily="2" charset="-78"/>
              </a:rPr>
              <a:t>جَلَسَتْ</a:t>
            </a:r>
            <a:pPr rtl="1" algn="r" indent="0" marL="0">
              <a:buNone/>
            </a:pPr>
            <a:r>
              <a:rPr lang="ar-SA" altLang="en-US" sz="1800" b="1" dirty="0">
                <a:solidFill>
                  <a:srgbClr val="1B3B6F"/>
                </a:solidFill>
                <a:latin typeface="Amiri" pitchFamily="2" charset="-78"/>
                <a:cs typeface="Amiri" pitchFamily="2" charset="-78"/>
              </a:rPr>
              <a:t> </a:t>
            </a:r>
            <a:pPr rtl="1" algn="r" indent="0" marL="0">
              <a:buNone/>
            </a:pPr>
            <a:r>
              <a:rPr lang="ar-SA" altLang="en-US" sz="1800" b="1" dirty="0">
                <a:solidFill>
                  <a:srgbClr val="D6336C"/>
                </a:solidFill>
                <a:latin typeface="Amiri" pitchFamily="2" charset="-78"/>
                <a:cs typeface="Amiri" pitchFamily="2" charset="-78"/>
              </a:rPr>
              <a:t>سَاعَةً كَامِلَةً</a:t>
            </a:r>
            <a:pPr rtl="1" algn="r" indent="0" marL="0">
              <a:buNone/>
            </a:pPr>
            <a:r>
              <a:rPr lang="ar-SA" altLang="en-US" sz="1800" b="1" dirty="0">
                <a:solidFill>
                  <a:srgbClr val="1B3B6F"/>
                </a:solidFill>
                <a:latin typeface="Amiri" pitchFamily="2" charset="-78"/>
                <a:cs typeface="Amiri" pitchFamily="2" charset="-78"/>
              </a:rPr>
              <a:t> فِي الْمَقْهَى.</a:t>
            </a:r>
            <a:endParaRPr lang="ar-SA" sz="18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Salmā visited the exhibition in the morning and saw beautiful pictures. Then she met two famous photographers. She bought a book about art, then she sat for a whole hour in the café.</a:t>
            </a:r>
            <a:endParaRPr lang="en-US" sz="11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GM-CASE-02 · Case Endings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GM-CASE-02</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فَتَحَ الْحَارِسُ الْبَابَ.</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guard opened the door.</a:t>
            </a:r>
            <a:endParaRPr lang="en-US" sz="1250" dirty="0"/>
          </a:p>
          <a:p>
            <a:pPr indent="0" marL="0">
              <a:buNone/>
            </a:pPr>
            <a:r>
              <a:rPr lang="en-US" sz="1050" i="1" dirty="0">
                <a:solidFill>
                  <a:srgbClr val="8A6D1E"/>
                </a:solidFill>
                <a:latin typeface="Calibri" pitchFamily="34" charset="0"/>
                <a:cs typeface="Amiri" pitchFamily="2" charset="-78"/>
              </a:rPr>
              <a:t>Object: -a.</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اِشْتَرَيْتُ قَلَمًا جَدِيدًا.</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bought a new pen.</a:t>
            </a:r>
            <a:endParaRPr lang="en-US" sz="1250" dirty="0"/>
          </a:p>
          <a:p>
            <a:pPr indent="0" marL="0">
              <a:buNone/>
            </a:pPr>
            <a:r>
              <a:rPr lang="en-US" sz="1050" i="1" dirty="0">
                <a:solidFill>
                  <a:srgbClr val="8A6D1E"/>
                </a:solidFill>
                <a:latin typeface="Calibri" pitchFamily="34" charset="0"/>
                <a:cs typeface="Amiri" pitchFamily="2" charset="-78"/>
              </a:rPr>
              <a:t>Both -an.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شَكَرْتُ الْمُعَلِّمِينَ.</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thanked the teachers.</a:t>
            </a:r>
            <a:endParaRPr lang="en-US" sz="1250" dirty="0"/>
          </a:p>
          <a:p>
            <a:pPr indent="0" marL="0">
              <a:buNone/>
            </a:pPr>
            <a:r>
              <a:rPr lang="en-US" sz="1050" i="1" dirty="0">
                <a:solidFill>
                  <a:srgbClr val="8A6D1E"/>
                </a:solidFill>
                <a:latin typeface="Calibri" pitchFamily="34" charset="0"/>
                <a:cs typeface="Amiri" pitchFamily="2" charset="-78"/>
              </a:rPr>
              <a:t>Plural: -īna.</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سَأَزُورُهُ غَدًا.</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will visit him tomorrow.</a:t>
            </a:r>
            <a:endParaRPr lang="en-US" sz="1250" dirty="0"/>
          </a:p>
          <a:p>
            <a:pPr indent="0" marL="0">
              <a:buNone/>
            </a:pPr>
            <a:r>
              <a:rPr lang="en-US" sz="1050" i="1" dirty="0">
                <a:solidFill>
                  <a:srgbClr val="8A6D1E"/>
                </a:solidFill>
                <a:latin typeface="Calibri" pitchFamily="34" charset="0"/>
                <a:cs typeface="Amiri" pitchFamily="2" charset="-78"/>
              </a:rPr>
              <a:t>Time: -an.</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GM-CASE-02 · Case Endings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MEANING → ACCUSATIVE SENTENCE (WEBSITE GAME)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with the right signals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قُلْهَا بِالنَّصْبِ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942832" y="1810512"/>
            <a:ext cx="2715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Signal</a:t>
            </a:r>
            <a:endParaRPr lang="en-US" sz="1100" dirty="0"/>
          </a:p>
        </p:txBody>
      </p:sp>
      <p:sp>
        <p:nvSpPr>
          <p:cNvPr id="17" name="Text 14"/>
          <p:cNvSpPr txBox="1"/>
          <p:nvPr/>
        </p:nvSpPr>
        <p:spPr>
          <a:xfrm>
            <a:off x="382219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8" name="Text 15"/>
          <p:cNvSpPr txBox="1"/>
          <p:nvPr/>
        </p:nvSpPr>
        <p:spPr>
          <a:xfrm>
            <a:off x="530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979408" y="2267712"/>
            <a:ext cx="2679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-a</a:t>
            </a:r>
            <a:endParaRPr lang="en-US" sz="1100" dirty="0"/>
          </a:p>
        </p:txBody>
      </p:sp>
      <p:sp>
        <p:nvSpPr>
          <p:cNvPr id="21" name="Text 18"/>
          <p:cNvSpPr txBox="1"/>
          <p:nvPr/>
        </p:nvSpPr>
        <p:spPr>
          <a:xfrm>
            <a:off x="3840480" y="2267712"/>
            <a:ext cx="49377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قَرَأْتُ الْكِتَابَ الْجَدِيدَ.</a:t>
            </a:r>
            <a:endParaRPr lang="ar-SA" sz="2200" dirty="0"/>
          </a:p>
        </p:txBody>
      </p:sp>
      <p:sp>
        <p:nvSpPr>
          <p:cNvPr id="22" name="Text 19"/>
          <p:cNvSpPr txBox="1"/>
          <p:nvPr/>
        </p:nvSpPr>
        <p:spPr>
          <a:xfrm>
            <a:off x="566928" y="2267712"/>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read the new book.</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979408" y="2881884"/>
            <a:ext cx="2679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 -an</a:t>
            </a:r>
            <a:endParaRPr lang="en-US" sz="1100" dirty="0"/>
          </a:p>
        </p:txBody>
      </p:sp>
      <p:sp>
        <p:nvSpPr>
          <p:cNvPr id="27" name="Text 24"/>
          <p:cNvSpPr txBox="1"/>
          <p:nvPr/>
        </p:nvSpPr>
        <p:spPr>
          <a:xfrm>
            <a:off x="3840480" y="2881884"/>
            <a:ext cx="49377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اِشْتَرَيْتُ قَلَمًا جَدِيدًا.</a:t>
            </a:r>
            <a:endParaRPr lang="ar-SA" sz="2200" dirty="0"/>
          </a:p>
        </p:txBody>
      </p:sp>
      <p:sp>
        <p:nvSpPr>
          <p:cNvPr id="28" name="Text 25"/>
          <p:cNvSpPr txBox="1"/>
          <p:nvPr/>
        </p:nvSpPr>
        <p:spPr>
          <a:xfrm>
            <a:off x="566928" y="2881884"/>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bought a new pen.</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979408" y="3496056"/>
            <a:ext cx="2679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-ayni + -ayni</a:t>
            </a:r>
            <a:endParaRPr lang="en-US" sz="1100" dirty="0"/>
          </a:p>
        </p:txBody>
      </p:sp>
      <p:sp>
        <p:nvSpPr>
          <p:cNvPr id="33" name="Text 30"/>
          <p:cNvSpPr txBox="1"/>
          <p:nvPr/>
        </p:nvSpPr>
        <p:spPr>
          <a:xfrm>
            <a:off x="3840480" y="3496056"/>
            <a:ext cx="49377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قَابَلْتُ طَالِبَيْنِ جَدِيدَيْنِ.</a:t>
            </a:r>
            <a:endParaRPr lang="ar-SA" sz="2200" dirty="0"/>
          </a:p>
        </p:txBody>
      </p:sp>
      <p:sp>
        <p:nvSpPr>
          <p:cNvPr id="34" name="Text 31"/>
          <p:cNvSpPr txBox="1"/>
          <p:nvPr/>
        </p:nvSpPr>
        <p:spPr>
          <a:xfrm>
            <a:off x="566928" y="3496056"/>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met two new pupils.</a:t>
            </a:r>
            <a:endParaRPr lang="en-US" sz="1100" dirty="0"/>
          </a:p>
        </p:txBody>
      </p:sp>
      <p:sp>
        <p:nvSpPr>
          <p:cNvPr id="35" name="Shape 3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6" name="Text 33"/>
          <p:cNvSpPr txBox="1"/>
          <p:nvPr/>
        </p:nvSpPr>
        <p:spPr>
          <a:xfrm>
            <a:off x="8979408" y="4110228"/>
            <a:ext cx="2679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-īna</a:t>
            </a:r>
            <a:endParaRPr lang="en-US" sz="1100" dirty="0"/>
          </a:p>
        </p:txBody>
      </p:sp>
      <p:sp>
        <p:nvSpPr>
          <p:cNvPr id="37" name="Text 34"/>
          <p:cNvSpPr txBox="1"/>
          <p:nvPr/>
        </p:nvSpPr>
        <p:spPr>
          <a:xfrm>
            <a:off x="3840480" y="4110228"/>
            <a:ext cx="49377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شَكَرْتُ الْمُعَلِّمِينَ.</a:t>
            </a:r>
            <a:endParaRPr lang="ar-SA" sz="2200" dirty="0"/>
          </a:p>
        </p:txBody>
      </p:sp>
      <p:sp>
        <p:nvSpPr>
          <p:cNvPr id="38" name="Text 35"/>
          <p:cNvSpPr txBox="1"/>
          <p:nvPr/>
        </p:nvSpPr>
        <p:spPr>
          <a:xfrm>
            <a:off x="566928" y="4110228"/>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thanked the teachers.</a:t>
            </a:r>
            <a:endParaRPr lang="en-US" sz="1100" dirty="0"/>
          </a:p>
        </p:txBody>
      </p:sp>
      <p:sp>
        <p:nvSpPr>
          <p:cNvPr id="39" name="Shape 36"/>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0" name="Text 37"/>
          <p:cNvSpPr txBox="1"/>
          <p:nvPr/>
        </p:nvSpPr>
        <p:spPr>
          <a:xfrm>
            <a:off x="8979408" y="4724400"/>
            <a:ext cx="2679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-āti + -a</a:t>
            </a:r>
            <a:endParaRPr lang="en-US" sz="1100" dirty="0"/>
          </a:p>
        </p:txBody>
      </p:sp>
      <p:sp>
        <p:nvSpPr>
          <p:cNvPr id="41" name="Text 38"/>
          <p:cNvSpPr txBox="1"/>
          <p:nvPr/>
        </p:nvSpPr>
        <p:spPr>
          <a:xfrm>
            <a:off x="3840480" y="4724400"/>
            <a:ext cx="49377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شَاهَدْتُ السَّيَّارَاتِ الْجَدِيدَةَ.</a:t>
            </a:r>
            <a:endParaRPr lang="ar-SA" sz="2200" dirty="0"/>
          </a:p>
        </p:txBody>
      </p:sp>
      <p:sp>
        <p:nvSpPr>
          <p:cNvPr id="42" name="Text 39"/>
          <p:cNvSpPr txBox="1"/>
          <p:nvPr/>
        </p:nvSpPr>
        <p:spPr>
          <a:xfrm>
            <a:off x="566928" y="4724400"/>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saw the new cars.</a:t>
            </a:r>
            <a:endParaRPr lang="en-US" sz="1100" dirty="0"/>
          </a:p>
        </p:txBody>
      </p:sp>
      <p:sp>
        <p:nvSpPr>
          <p:cNvPr id="43" name="Shape 40"/>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4" name="Text 41"/>
          <p:cNvSpPr txBox="1"/>
          <p:nvPr/>
        </p:nvSpPr>
        <p:spPr>
          <a:xfrm>
            <a:off x="8979408" y="5338572"/>
            <a:ext cx="2679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time: -an</a:t>
            </a:r>
            <a:endParaRPr lang="en-US" sz="1100" dirty="0"/>
          </a:p>
        </p:txBody>
      </p:sp>
      <p:sp>
        <p:nvSpPr>
          <p:cNvPr id="45" name="Text 42"/>
          <p:cNvSpPr txBox="1"/>
          <p:nvPr/>
        </p:nvSpPr>
        <p:spPr>
          <a:xfrm>
            <a:off x="3840480" y="5338572"/>
            <a:ext cx="49377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سَافَرْتُ صَبَاحًا.</a:t>
            </a:r>
            <a:endParaRPr lang="ar-SA" sz="2200" dirty="0"/>
          </a:p>
        </p:txBody>
      </p:sp>
      <p:sp>
        <p:nvSpPr>
          <p:cNvPr id="46" name="Text 43"/>
          <p:cNvSpPr txBox="1"/>
          <p:nvPr/>
        </p:nvSpPr>
        <p:spPr>
          <a:xfrm>
            <a:off x="566928" y="5338572"/>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travelled in the morning.</a:t>
            </a:r>
            <a:endParaRPr lang="en-US" sz="1100" dirty="0"/>
          </a:p>
        </p:txBody>
      </p:sp>
      <p:sp>
        <p:nvSpPr>
          <p:cNvPr id="47" name="Shape 44"/>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correction process: identify the receiver or adverbial role first, then match the adjective and the number ending.</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GM-CASE-02 · Case Endings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TWO ACCUSATIVE JOBS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 or time / place word?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مَفْعُولٌ بِهِ أَمْ ظَرْفٌ؟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الْكِتَابَ</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قَلَمًا</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الْمُعَلِّمِينَ</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طَالِبَيْنِ</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غَدًا</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صَبَاحًا</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سَاعَةً</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أَمَامَ الْبَيْتِ</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Object (what?)</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Time / place (when? where?)</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GM-CASE-02 · Case Endings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GM-CASE-02</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Object (what?)</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الْكِتَابَ</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قَلَمًا</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الْمُعَلِّمِينَ</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طَالِبَيْنِ</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Time / place (when? where?)</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غَدًا</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صَبَاحًا</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سَاعَةً</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أَمَامَ الْبَيْتِ</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GM-CASE-02 · Case Endings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قَرَأْتُ الْكِتَابُ.</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did I read?</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زُرْتُ مَدْرَسَةًا.</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Does tāʾ marbūṭa take an alif?</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قَابَلْتُ الطَّالِبَانِ.</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Dual object ending?</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GM-CASE-02 · Case Endings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قَرَأْتُ الْكِتَابُ.</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قَرَأْتُ الْكِتَابَ.</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object takes -a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زُرْتُ مَدْرَسَةًا.</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زُرْتُ مَدْرَسَةً.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 extra alif after tāʾ marbūṭa (website clinic).</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قَابَلْتُ الطَّالِبَانِ.</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قَابَلْتُ الطَّالِبَيْنِ.</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Dual object: -ayni (website clinic).</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GM-CASE-02 · Case Endings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MINI-CHECK: ADVERBIALS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studied for an hour.”</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دَرَسْتُ سَاعَةٌ.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دَرَسْتُ فِي سَاعَةَ.</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دَرَسْتُ سَاعَةً.</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place phrase.</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اِنْتَظَرْتُ أَمَامُ الْمَدْرَسَةُ.</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اِنْتَظَرْتُ أَمَامَ الْمَدْرَسَةِ.</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اِنْتَظَرْتُ أَمَامِ الْمَدْرَسَةَ.</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phrase with kull.</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أَتَدَرَّبُ كُلُّ يَوْمٌ.</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أَتَدَرَّبُ كُلَّ يَوْمٍ.</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أَتَدَرَّبُ كُلِّ يَوْمٍ.</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feminine plural object.</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شَاهَدْتُ السَّيَّارَاتَ الْجَدِيدَاتَ.</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شَاهَدْتُ السَّيَّارَاتُ الْجَدِيدَةُ.</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شَاهَدْتُ السَّيَّارَاتِ الْجَدِيدَةَ.</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GM-CASE-02 · Case Endings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studied for an hour.”</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دَرَسْتُ سَاعَةٌ.</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دَرَسْتُ فِي سَاعَةَ.</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دَرَسْتُ سَاعَةً.</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Duration: sāʿatan.</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place phrase.</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اِنْتَظَرْتُ أَمَامُ الْمَدْرَسَةُ.</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اِنْتَظَرْتُ أَمَامَ الْمَدْرَسَةِ.</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اِنْتَظَرْتُ أَمَامِ الْمَدْرَسَةَ.</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Amāma (-a) + al-madrasati (-i).</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phrase with kull.</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أَتَدَرَّبُ كُلُّ يَوْمٌ.</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أَتَدَرَّبُ كُلَّ يَوْمٍ.</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أَتَدَرَّبُ كُلِّ يَوْمٍ.</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Kulla (-a) + yawmin (-in).</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feminine plural object.</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شَاهَدْتُ السَّيَّارَاتَ الْجَدِيدَاتَ.</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شَاهَدْتُ السَّيَّارَاتُ الْجَدِيدَةُ.</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شَاهَدْتُ السَّيَّارَاتِ الْجَدِيدَةَ.</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Noun -āti; adjective f. sg. -a.</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GM-CASE-02 · Case Endings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74" b="1" spc="150" kern="0" dirty="0">
                <a:solidFill>
                  <a:srgbClr val="1E6B52"/>
                </a:solidFill>
                <a:latin typeface="Calibri" pitchFamily="34" charset="0"/>
                <a:cs typeface="Amiri" pitchFamily="2" charset="-78"/>
              </a:rPr>
              <a:t>YOU DO · READ AND NOTICE · WEBSITE READING AND CODING (TEACHER-WRITTEN ACCOUNT)</a:t>
            </a:r>
            <a:endParaRPr lang="en-US" sz="87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morning at the market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GM-CASE-02</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يَوْمَ السَّبْتِ زُرْتُ السُّوقَ الْقَدِيمَ مَعَ أُمِّي صَبَاحًا. اِشْتَرَتْ أُمِّي خُضَارًا طَازَجَةً وَفَوَاكِهَ لَذِيذَةً، وَاشْتَرَيْتُ أَنَا قَمِيصًا أَزْرَقَ وَحِذَاءً رِيَاضِيًّا. قَابَلْنَا جَارَيْنِ لَطِيفَيْنِ، وَسَأَلْنَاهُمَا عَنْ مَطْعَمٍ قَرِيبٍ. اِنْتَظَرْنَا أَمَامَ الْمَطْعَمِ دَقَائِقَ قَلِيلَةً، ثُمَّ أَكَلْنَا سَمَكًا مَشْوِيًّا. شَكَرْنَا الْعُمَّالَ عَلَى الْخِدْمَةِ الْمُمْتَازَةِ، وَرَجَعْنَا إِلَى الْبَيْتِ مَسَاءً.</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خُضَارًا</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vegetables</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طَازَجَةً</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fresh</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حِذَاءً</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shoes</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مَشْوِيًّا</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grilled</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الْعُمَّالَ</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workers</a:t>
            </a:r>
            <a:endParaRPr lang="en-US" sz="105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GM-CASE-02 · Case Endings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writer buy?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vegetables and fruit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blue shirt and trainers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grilled fish</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Find a dual object.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الْعُمَّالَ</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سَمَكًا</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جَارَيْنِ لَطِيفَيْنِ</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ḥidhāʾan written without an extra alif?</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ends in alif + hamza</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definite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plural</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did they go home?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morning</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evening</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noon</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GM-CASE-02 · Case Endings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writer buy?</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vegetables and fruit</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blue shirt and trainers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grilled fish</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Qamīṣan azraqa wa-ḥidhāʾan riyāḍiyyan.</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Find a dual object.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الْعُمَّالَ</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سَمَكًا</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جَارَيْنِ لَطِيفَيْنِ</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words end in -ayni.</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ḥidhāʾan written without an extra alif?</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ends in alif + hamza</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definite</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plural</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spelling rule.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did they go home?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morning</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the evening</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noon</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Masāʾan: a time word.</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GM-CASE-02 · Case Endings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Speaking: describe a visit or shopping trip</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GM-CASE-02</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اشْتَرَيْتَ آخِرَ مَرَّةٍ؟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قَابَلْتَ فِي الْعُطْلَةِ؟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زِيَارَةً: مَاذَا رَأَيْتَ، وَمَتَى؟</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اِشْتَرَيْتُ ___ جَدِيدًا.</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قَابَلْتُ ___ ، وَزُرْتُ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زُرْتُ ___ صَبَاحًا، وَشَاهَدْتُ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مَاذَا فَعَلْتِ فِي الْمَعْرِضِ؟</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did you do at the exhibition?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شَاهَدْتُ لَوْحَاتٍ رَائِعَةً، وَقَابَلْتُ فَنَّانَيْنِ مَشْهُورَيْنِ. اِشْتَرَيْتُ كِتَابًا صَغِيرًا، وَبَقِيتُ هُنَاكَ سَاعَتَيْنِ.</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 saw wonderful paintings, and I met two famous artists. I bought a small book, and I stayed there for two hours.</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GM-CASE-02 · Case Endings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GM-CASE-02</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 shopping trip: what you bought and saw.</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ishtaraytu … · shāhadtu …</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dual or plural object and two time / place words.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-ayni · -īna · ghadan · amāma …</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visit account with the full checklist.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Two columns: action / receiver.</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GM-CASE-02 · Case Endings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قَابَلْتُ صَدِيقَيْنِ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met two … friends</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شَكَرْتُ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thanked the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اِنْتَظَرْتُ أَمَامَ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waited in front of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أَتَدَرَّبُ كُلَّ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practise every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اِشْتَرَيْتُ ______ جَدِيدًا.</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bought a new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قَرَأْتُ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read the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زُرْتُ ______ صَبَاحًا.</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visited … in the morning</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فَتَحْتُ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opened the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كِتَابًا  ·  قَلَمًا  ·  مَدْرَسَةً  ·  هَدِيَّةً  ·  جَمِيلًا  ·  جَدِيدَيْنِ  ·  الْمُعَلِّمِينَ  ·  غَدًا  ·  صَبَاحًا  ·  مَسَاءً  ·  سَاعَةً  ·  أَمَامَ  ·  خَلْفَ</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GM-CASE-02 · Case Endings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GM-CASE-02</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visit or activity account (100–120 words).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six direct objects.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accusative time / place words.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dual or sound plural object.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Adjectives that agree with their objects.</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Correct -an spelling (madrasatan, māʾan).</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زُرْتُ</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visited</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شَاهَدْتُ</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watched / saw</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اِشْتَرَيْتُ</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bought</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قَابَلْتُ</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met</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اِلْتَقَطْتُ صُوَرًا</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took photos</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مَرَّةً أُخْرَى</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once more</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GM-CASE-02 · Case Endings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cs typeface="Amiri" pitchFamily="2" charset="-78"/>
              </a:rPr>
              <a:t>فِي الْعُطْلَةِ الْمَاضِيَةِ زُرْتُ مَدِينَةَ الْأُقْصُرِ مَعَ أُسْرَتِي. وَصَلْنَا مَسَاءً، وَاسْتَأْجَرْنَا غُرْفَتَيْنِ صَغِيرَتَيْنِ فِي فُنْدُقٍ قَرِيبٍ مِنَ النِّيلِ. فِي الْيَوْمِ التَّالِي زُرْنَا الْمَعَابِدَ الْقَدِيمَةَ صَبَاحًا، وَشَاهَدْنَا تَمَاثِيلَ ضَخْمَةً. شَرَحَ لَنَا الْمُرْشِدُ تَارِيخًا طَوِيلًا، وَشَكَرْنَا الْمُرْشِدِينَ عَلَى صَبْرِهِمْ. ثُمَّ رَكِبْنَا قَارِبًا شِرَاعِيًّا سَاعَةً كَامِلَةً، وَالْتَقَطْتُ صُوَرًا كَثِيرَةً. اِشْتَرَتْ أُخْتِي هَدَايَا جَمِيلَةً لِصَدِيقَاتِهَا، وَاشْتَرَيْتُ أَنَا كِتَابًا عَنِ الْفَرَاعِنَةِ. فِي الْمَسَاءِ جَلَسْنَا أَمَامَ النَّهْرِ، وَأَكَلْنَا طَعَامًا لَذِيذًا. سَأَزُورُ الْأُقْصُرَ مَرَّةً أُخْرَى، إِنْ شَاءَ اللَّهُ.</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Last holiday I visited the city of Luxor with my family. We arrived in the evening and rented two small rooms in a hotel near the Nile. The next day we visited the ancient temples in the morning and saw huge statues. The guide explained a long history to us, and we thanked the guides for their patience. Then we rode a sailing boat for a whole hour, and I took many photos. My sister bought beautiful gifts for her friends, and I bought a book about the Pharaohs. In the evening we sat in front of the river and ate delicious food. I will visit Luxor again, in shāʾ Allāh.</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indefinite object + adjective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dual object -ayni</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plural object -īna</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time / place word</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GM-CASE-02 · Case Endings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objects end in -a / -an.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adjectives copy their objects.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Dual objects: -ayni; plural objects: -īna.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at least two time / place words.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No extra alif after tāʾ marbūṭa or hamza.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GM-CASE-02 · Case Endings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normally does not take a supporting accusative alif?</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مَدْرَسَةً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كِتَابًا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قَلَمًا</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sound feminine plural object.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قَابَلْتُ الطَّالِبَاتُ.</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قَابَلْتُ الطَّالِبَاتِ.</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قَابَلْتُ الطَّالِبَاتَ.</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After </a:t>
            </a:r>
            <a:pPr algn="l" indent="0" marL="0">
              <a:buNone/>
            </a:pPr>
            <a:r>
              <a:rPr lang="ar-SA" altLang="en-US" sz="1650" b="1" dirty="0">
                <a:solidFill>
                  <a:srgbClr val="1B3B6F"/>
                </a:solidFill>
                <a:latin typeface="Amiri" pitchFamily="2" charset="-78"/>
                <a:cs typeface="Amiri" pitchFamily="2" charset="-78"/>
              </a:rPr>
              <a:t>إِنَّ</a:t>
            </a:r>
            <a:pPr algn="l" indent="0" marL="0">
              <a:buNone/>
            </a:pPr>
            <a:r>
              <a:rPr lang="en-US" sz="1250" b="1" dirty="0">
                <a:solidFill>
                  <a:srgbClr val="1B3B6F"/>
                </a:solidFill>
                <a:latin typeface="Calibri" pitchFamily="34" charset="0"/>
                <a:cs typeface="Amiri" pitchFamily="2" charset="-78"/>
              </a:rPr>
              <a:t>, what happens to its noun?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becomes accusative.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remains nominative.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becomes genitive.</a:t>
            </a:r>
            <a:endParaRPr lang="en-US"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GM-CASE-02 · Case Endings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normally does not take a supporting accusative alif?</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مَدْرَسَةً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كِتَابًا</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قَلَمًا</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Tāʾ marbūṭa: madrasatan, no alif.</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sound feminine plural object.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قَابَلْتُ الطَّالِبَاتُ.</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قَابَلْتُ الطَّالِبَاتِ.</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قَابَلْتُ الطَّالِبَاتَ.</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Sound feminine plural object: -āti.</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After </a:t>
            </a:r>
            <a:pPr algn="l" indent="0" marL="0">
              <a:buNone/>
            </a:pPr>
            <a:r>
              <a:rPr lang="ar-SA" altLang="en-US" sz="1650" b="1" dirty="0">
                <a:solidFill>
                  <a:srgbClr val="1B3B6F"/>
                </a:solidFill>
                <a:latin typeface="Amiri" pitchFamily="2" charset="-78"/>
                <a:cs typeface="Amiri" pitchFamily="2" charset="-78"/>
              </a:rPr>
              <a:t>إِنَّ</a:t>
            </a:r>
            <a:pPr algn="l" indent="0" marL="0">
              <a:buNone/>
            </a:pPr>
            <a:r>
              <a:rPr lang="en-US" sz="1250" b="1" dirty="0">
                <a:solidFill>
                  <a:srgbClr val="1B3B6F"/>
                </a:solidFill>
                <a:latin typeface="Calibri" pitchFamily="34" charset="0"/>
                <a:cs typeface="Amiri" pitchFamily="2" charset="-78"/>
              </a:rPr>
              <a:t>, what happens to its noun?</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becomes accusative.</a:t>
            </a:r>
            <a:endParaRPr lang="en-US"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remains nominative.</a:t>
            </a:r>
            <a:endParaRPr lang="en-US"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becomes genitive.</a:t>
            </a:r>
            <a:endParaRPr lang="en-US"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Inna makes its noun accusative.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GM-CASE-02 · Case Endings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Before GM-CASE-03: get ready at home</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Case Endings · GM-CASE-02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GM-CASE-03 · The Genitive Case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الْكَسْرَةُ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kasra: the -i ending</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الْجَرُّ</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genitive case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حَرْفُ الْجَرِّ</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preposition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الْمُضَافُ إِلَيْهِ</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second noun of an iḍāfa</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فِي الْبَيْتِ</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in the house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After fī, min and ilā the noun ends in -i: fī l-bayti. What else do you think can make a noun take -i?</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ذَهَبْتُ إِلَى الْمَدْرَسَةِ — لِمَاذَا «ـِ»؟</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five sentences about things you bought; mark each object.</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one sentence each with -ayni, -īna and a time word.</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visit account (100–120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GM-CASE-02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GM-CASE-03 · The Genitive Case</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حَالَةُ الْجَرِّ</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accusative (-a / -an) = the object, many time / place words, the noun of inna and the predicate of kāna · dual -ayni · plural -īna · feminine plural -āti (kasra!) · -an takes a supporting alif — but not after tāʾ marbūṭa or hamza.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GM-CASE-02 · The Accusative Case</dc:title>
  <dc:subject>PptxGenJS Presentation</dc:subject>
  <dc:creator>Al Madina Online School · Arabic Department</dc:creator>
  <cp:lastModifiedBy>Al Madina Online School · Arabic Department</cp:lastModifiedBy>
  <cp:revision>1</cp:revision>
  <dcterms:created xsi:type="dcterms:W3CDTF">2026-10-11T06:42:09Z</dcterms:created>
  <dcterms:modified xsi:type="dcterms:W3CDTF">2026-10-11T06:42:09Z</dcterms:modified>
</cp:coreProperties>
</file>