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Case Endings › GM-CASE-02 (“The Accusative Case”).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find the direct object and give it -a (definite) or -an (indefinite: kitāban, madrasatan); the adjective copies it. Develop: dual -ayni, sound masculine plural -īna, and time / place adverbials (ghadan, sāʿatan, amāma …, kulla yawmin). Stretch: supporting-alif spelling, the sound feminine plural (-āti, with kasra!) and the inna / kāna links.
• Website meaning test: ask “what did the subject act upon?” before choosing the ending. The accusative is a job, not “any noun after a verb”.
• Colour code: teal = verb, pink = accusative words. Builds on GM-CASE-01 (nominative), GM-VS-01 (roles) and GM-NVS-02/03 (inna, kāna).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Readiness Check — GM-CASE-01 nominative and GM-VS-01 object role.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What received the action? → accusative (-a / -an). Time and place words often take -an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direct object” (rows 2 and 5 from the website opening and game). Students point: doer (-u) or receiver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“Fatḥatan and the supporting alif” + forms table. The sound feminine plural is the Stretch trap: qābaltu ṭ-ṭālibāti.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“Accusative adjective agreement”. Core: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“Time, duration and place adverbials”. Choose the natural phrase, not just the case you want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“High-value cross-links: inna and kāna”.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direct objects.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reading-and-coding lines, extended. Website task: underline objects once and adverbials twice; explain the 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students put one word from each column into a sentence: qaraʾtu l-kitāba ṣabāḥan.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students put one word from each column into a sentence: qaraʾtu l-kitāba ṣabāḥan.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adverbials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and coding (teacher-written account). Read it aloud once while students follow; then they hunt for today’s grammar.
Task: Website: underline the direct objects once and the time / place words twice. Explain the dual ending.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reading-and-coding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challenge. Sequence: ● 10s think → ↔ 45s rehearse aloud with mic muted → ◎ two named students on open mic (warned in advance) → + ? the class types one follow-up in chat → ↺ one student summarises.
Routes: Core uses the Core prompt and stem; Develop the Develop prompt; Stretch the last prompt.
Website challenge: three direct objects, one indefinite object with an adjective, one time word, one dual or sound plural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Arabic words about a visit, journey, hobby session or shopping experience.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(GM-CASE-03 · The Genitive Case) will spend class time USING this language, so students prepare it tonight — short, simple, easy to access (school guidance: “Simple, Short, Interesting, Relevant, Easy to access”). The five words prepare GM-CASE-03 (website: the genitive case).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CASE ENDINGS  ·  GM-CASE-02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GM-CASE-02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The Accusative Case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حَالَةُ النَّصْبِ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accusative (-a / -an) marks what receives the action — qaraʾtu l-kitāba, ishtaraytu qalaman — and many time and place words: ghadan, ṣabāḥan, sāʿatan, amāma l-bayti. Duals show -ayni, sound plurals -īna.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GM-CASE-02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Case Endings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Objects; forms; adjectives; time and place; inna and kāna.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Meaning → sentence; object or adverbial?;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GM-CASE-03.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is the direct object:</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 الطَّالِبُ الرِّسَالَةَ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الرِّسَالَةَ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indefinite accusative of kitāb.</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explanation is correct?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phrases are genitive.</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phrases are direct objects.</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صَبَاحًا</a:t>
            </a:r>
            <a:pPr algn="l" indent="0" marL="0">
              <a:buNone/>
            </a:pPr>
            <a:r>
              <a:rPr lang="en-US" sz="1250" dirty="0">
                <a:solidFill>
                  <a:srgbClr val="1F2A37"/>
                </a:solidFill>
                <a:latin typeface="Calibri" pitchFamily="34" charset="0"/>
                <a:cs typeface="Amiri" pitchFamily="2" charset="-78"/>
              </a:rPr>
              <a:t> is an accusative adverbial, while </a:t>
            </a:r>
            <a:pPr algn="l" indent="0" marL="0">
              <a:buNone/>
            </a:pPr>
            <a:r>
              <a:rPr lang="ar-SA" altLang="en-US" sz="1650" dirty="0">
                <a:solidFill>
                  <a:srgbClr val="1F2A37"/>
                </a:solidFill>
                <a:latin typeface="Amiri" pitchFamily="2" charset="-78"/>
                <a:ea typeface="Amiri" pitchFamily="2" charset="-78"/>
                <a:cs typeface="Amiri" pitchFamily="2" charset="-78"/>
              </a:rPr>
              <a:t>فِي الصَّبَاحِ</a:t>
            </a:r>
            <a:pPr algn="l" indent="0" marL="0">
              <a:buNone/>
            </a:pPr>
            <a:r>
              <a:rPr lang="en-US" sz="1250" dirty="0">
                <a:solidFill>
                  <a:srgbClr val="1F2A37"/>
                </a:solidFill>
                <a:latin typeface="Calibri" pitchFamily="34" charset="0"/>
                <a:cs typeface="Amiri" pitchFamily="2" charset="-78"/>
              </a:rPr>
              <a:t> is a prepositional phrase.</a:t>
            </a:r>
            <a:endParaRPr lang="en-US" sz="12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accusative dual form.</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طَالِبُونَ</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طَالِبَيْنِ</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أَكَلَ الْوَلَدُ التُّفَّاحَةَ.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أَكَلَ الْوَلَدَ التُّفَّاحَةُ.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أَكَلَ الْوَلَدِ التُّفَّاحَةِ.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is the direct object:</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 الطَّالِبُ الرِّسَالَةَ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الرِّسَالَةَ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letter receives the action: -a.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indefinite accusative of kitāb.</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كِتَابًا</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Kitāban, with a supporting alif.</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explanation is correct?</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phrases are genitive.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phrases are direct objects.</a:t>
            </a:r>
            <a:endParaRPr lang="en-US" sz="125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ea typeface="Amiri" pitchFamily="2" charset="-78"/>
                <a:cs typeface="Amiri" pitchFamily="2" charset="-78"/>
              </a:rPr>
              <a:t>صَبَاحًا</a:t>
            </a:r>
            <a:pPr algn="l" indent="0" marL="0">
              <a:buNone/>
            </a:pPr>
            <a:r>
              <a:rPr lang="en-US" sz="1150" b="1" dirty="0">
                <a:solidFill>
                  <a:srgbClr val="1F2A37"/>
                </a:solidFill>
                <a:latin typeface="Calibri" pitchFamily="34" charset="0"/>
                <a:cs typeface="Amiri" pitchFamily="2" charset="-78"/>
              </a:rPr>
              <a:t> is an accusative adverbial, while </a:t>
            </a:r>
            <a:pPr algn="l" indent="0" marL="0">
              <a:buNone/>
            </a:pPr>
            <a:r>
              <a:rPr lang="ar-SA" altLang="en-US" sz="1500" b="1" dirty="0">
                <a:solidFill>
                  <a:srgbClr val="1F2A37"/>
                </a:solidFill>
                <a:latin typeface="Amiri" pitchFamily="2" charset="-78"/>
                <a:ea typeface="Amiri" pitchFamily="2" charset="-78"/>
                <a:cs typeface="Amiri" pitchFamily="2" charset="-78"/>
              </a:rPr>
              <a:t>فِي الصَّبَاحِ</a:t>
            </a:r>
            <a:pPr algn="l" indent="0" marL="0">
              <a:buNone/>
            </a:pPr>
            <a:r>
              <a:rPr lang="en-US" sz="1150" b="1" dirty="0">
                <a:solidFill>
                  <a:srgbClr val="1F2A37"/>
                </a:solidFill>
                <a:latin typeface="Calibri" pitchFamily="34" charset="0"/>
                <a:cs typeface="Amiri" pitchFamily="2" charset="-78"/>
              </a:rPr>
              <a:t> is a prepositional phrase.</a:t>
            </a:r>
            <a:endParaRPr lang="en-US" sz="115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Ṣabāḥan (-an) or fī ṣ-ṣabāḥi (-i).</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accusative dual form.</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طَالِبَانِ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طَالِبُونَ</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طَالِبَيْنِ</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accusative: -ayni.</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أَكَلَ الْوَلَدُ التُّفَّاحَةَ.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أَكَلَ الْوَلَدَ التُّفَّاحَةُ.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أَكَلَ الْوَلَدِ التُّفَّاحَةِ.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Doer -u, object -a.</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What received the action? → accusative (-a / -an). Time and place words often take -an too.</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قَرَأْتُ</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ea typeface="Amiri" pitchFamily="2" charset="-78"/>
                <a:cs typeface="Amiri" pitchFamily="2" charset="-78"/>
              </a:rPr>
              <a:t>الْكِتَابَ</a:t>
            </a:r>
            <a:pPr rtl="1" algn="ctr" indent="0" marL="0">
              <a:buNone/>
            </a:pPr>
            <a:r>
              <a:rPr lang="ar-SA" altLang="en-US" sz="2400" b="1" dirty="0">
                <a:solidFill>
                  <a:srgbClr val="1B3B6F"/>
                </a:solidFill>
                <a:latin typeface="Amiri" pitchFamily="2" charset="-78"/>
                <a:ea typeface="Amiri" pitchFamily="2" charset="-78"/>
                <a:cs typeface="Amiri" pitchFamily="2" charset="-78"/>
              </a:rPr>
              <a:t> ‖ سَافَرْتُ </a:t>
            </a:r>
            <a:pPr rtl="1" algn="ctr" indent="0" marL="0">
              <a:buNone/>
            </a:pPr>
            <a:r>
              <a:rPr lang="ar-SA" altLang="en-US" sz="2400" b="1" dirty="0">
                <a:solidFill>
                  <a:srgbClr val="D6336C"/>
                </a:solidFill>
                <a:latin typeface="Amiri" pitchFamily="2" charset="-78"/>
                <a:ea typeface="Amiri" pitchFamily="2" charset="-78"/>
                <a:cs typeface="Amiri" pitchFamily="2" charset="-78"/>
              </a:rPr>
              <a:t>صَبَاحًا</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Find the direct object.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and -an correctly (with the right spelling).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-ayni and -īna.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when and where with accusative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give the object -a or -an.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make the adjective match.</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-ayni and -īna.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ghadan, sāʿatan, amāma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spell madrasatan and māʾan correctly.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100–120-word visit account.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النَّصْبُ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accusative case</a:t>
            </a:r>
            <a:endParaRPr lang="en-US" sz="1350" dirty="0"/>
          </a:p>
          <a:p>
            <a:pPr indent="0" marL="0">
              <a:buNone/>
            </a:pPr>
            <a:r>
              <a:rPr lang="en-US" sz="1100" i="1" dirty="0">
                <a:solidFill>
                  <a:srgbClr val="5A6472"/>
                </a:solidFill>
                <a:latin typeface="Calibri" pitchFamily="34" charset="0"/>
                <a:cs typeface="Amiri" pitchFamily="2" charset="-78"/>
              </a:rPr>
              <a:t>an-naṣ-bu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الْكِتَابَ · كِتَابًا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الْفَتْحَةُ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fatḥa: -a</a:t>
            </a:r>
            <a:endParaRPr lang="en-US" sz="1350" dirty="0"/>
          </a:p>
          <a:p>
            <a:pPr indent="0" marL="0">
              <a:buNone/>
            </a:pPr>
            <a:r>
              <a:rPr lang="en-US" sz="1100" i="1" dirty="0">
                <a:solidFill>
                  <a:srgbClr val="5A6472"/>
                </a:solidFill>
                <a:latin typeface="Calibri" pitchFamily="34" charset="0"/>
                <a:cs typeface="Amiri" pitchFamily="2" charset="-78"/>
              </a:rPr>
              <a:t>al-fat-ḥa-tu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الْبَابَ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تَنْوِينُ الْفَتْحِ</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fatḥatān: -an</a:t>
            </a:r>
            <a:endParaRPr lang="en-US" sz="1350" dirty="0"/>
          </a:p>
          <a:p>
            <a:pPr indent="0" marL="0">
              <a:buNone/>
            </a:pPr>
            <a:r>
              <a:rPr lang="en-US" sz="1100" i="1" dirty="0">
                <a:solidFill>
                  <a:srgbClr val="5A6472"/>
                </a:solidFill>
                <a:latin typeface="Calibri" pitchFamily="34" charset="0"/>
                <a:cs typeface="Amiri" pitchFamily="2" charset="-78"/>
              </a:rPr>
              <a:t>tan-wī-nu al-fat-ḥi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قَلَمًا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الْمَفْعُولُ بِهِ</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direct object</a:t>
            </a:r>
            <a:endParaRPr lang="en-US" sz="1350" dirty="0"/>
          </a:p>
          <a:p>
            <a:pPr indent="0" marL="0">
              <a:buNone/>
            </a:pPr>
            <a:r>
              <a:rPr lang="en-US" sz="1100" i="1" dirty="0">
                <a:solidFill>
                  <a:srgbClr val="5A6472"/>
                </a:solidFill>
                <a:latin typeface="Calibri" pitchFamily="34" charset="0"/>
                <a:cs typeface="Amiri" pitchFamily="2" charset="-78"/>
              </a:rPr>
              <a:t>al-maf-ʿū-lu bi-hi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فَتَحَ الْبَابَ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ظَرْفُ الزَّمَانِ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word</a:t>
            </a:r>
            <a:endParaRPr lang="en-US" sz="1350" dirty="0"/>
          </a:p>
          <a:p>
            <a:pPr indent="0" marL="0">
              <a:buNone/>
            </a:pPr>
            <a:r>
              <a:rPr lang="en-US" sz="1100" i="1" dirty="0">
                <a:solidFill>
                  <a:srgbClr val="5A6472"/>
                </a:solidFill>
                <a:latin typeface="Calibri" pitchFamily="34" charset="0"/>
                <a:cs typeface="Amiri" pitchFamily="2" charset="-78"/>
              </a:rPr>
              <a:t>ẓar-fu az-za-mā-ni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غَدًا · صَبَاحًا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ظَرْفُ الْمَكَانِ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place word</a:t>
            </a:r>
            <a:endParaRPr lang="en-US" sz="1350" dirty="0"/>
          </a:p>
          <a:p>
            <a:pPr indent="0" marL="0">
              <a:buNone/>
            </a:pPr>
            <a:r>
              <a:rPr lang="en-US" sz="1100" i="1" dirty="0">
                <a:solidFill>
                  <a:srgbClr val="5A6472"/>
                </a:solidFill>
                <a:latin typeface="Calibri" pitchFamily="34" charset="0"/>
                <a:cs typeface="Amiri" pitchFamily="2" charset="-78"/>
              </a:rPr>
              <a:t>ẓar-fu al-ma-kā-ni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أَمَامَ الْبَيْتِ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DIRECT OBJECT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received the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Object</a:t>
            </a:r>
            <a:endParaRPr lang="en-US" sz="1100" dirty="0"/>
          </a:p>
        </p:txBody>
      </p:sp>
      <p:sp>
        <p:nvSpPr>
          <p:cNvPr id="18" name="Text 15"/>
          <p:cNvSpPr txBox="1"/>
          <p:nvPr/>
        </p:nvSpPr>
        <p:spPr>
          <a:xfrm>
            <a:off x="5303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guard opened the door.</a:t>
            </a:r>
            <a:endParaRPr lang="en-US" sz="1100" dirty="0"/>
          </a:p>
        </p:txBody>
      </p:sp>
      <p:sp>
        <p:nvSpPr>
          <p:cNvPr id="21" name="Text 18"/>
          <p:cNvSpPr txBox="1"/>
          <p:nvPr/>
        </p:nvSpPr>
        <p:spPr>
          <a:xfrm>
            <a:off x="548640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الْبَابَ</a:t>
            </a:r>
            <a:endParaRPr lang="ar-SA" sz="2200" dirty="0"/>
          </a:p>
        </p:txBody>
      </p:sp>
      <p:sp>
        <p:nvSpPr>
          <p:cNvPr id="22" name="Text 19"/>
          <p:cNvSpPr txBox="1"/>
          <p:nvPr/>
        </p:nvSpPr>
        <p:spPr>
          <a:xfrm>
            <a:off x="548640" y="2267712"/>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 الْحَارِسُ الْبَابَ.</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read the article.</a:t>
            </a:r>
            <a:endParaRPr lang="en-US" sz="1100" dirty="0"/>
          </a:p>
        </p:txBody>
      </p:sp>
      <p:sp>
        <p:nvSpPr>
          <p:cNvPr id="27" name="Text 24"/>
          <p:cNvSpPr txBox="1"/>
          <p:nvPr/>
        </p:nvSpPr>
        <p:spPr>
          <a:xfrm>
            <a:off x="548640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الْمَقَالَةَ</a:t>
            </a:r>
            <a:endParaRPr lang="ar-SA" sz="2200" dirty="0"/>
          </a:p>
        </p:txBody>
      </p:sp>
      <p:sp>
        <p:nvSpPr>
          <p:cNvPr id="28" name="Text 25"/>
          <p:cNvSpPr txBox="1"/>
          <p:nvPr/>
        </p:nvSpPr>
        <p:spPr>
          <a:xfrm>
            <a:off x="548640" y="3004718"/>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قَرَأَتْ مَرْيَمُ الْمَقَالَةَ.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Laylā bought a new bag.</a:t>
            </a:r>
            <a:endParaRPr lang="en-US" sz="1100" dirty="0"/>
          </a:p>
        </p:txBody>
      </p:sp>
      <p:sp>
        <p:nvSpPr>
          <p:cNvPr id="33" name="Text 30"/>
          <p:cNvSpPr txBox="1"/>
          <p:nvPr/>
        </p:nvSpPr>
        <p:spPr>
          <a:xfrm>
            <a:off x="548640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حَقِيبَةً جَدِيدَةً</a:t>
            </a:r>
            <a:endParaRPr lang="ar-SA" sz="2200" dirty="0"/>
          </a:p>
        </p:txBody>
      </p:sp>
      <p:sp>
        <p:nvSpPr>
          <p:cNvPr id="34" name="Text 31"/>
          <p:cNvSpPr txBox="1"/>
          <p:nvPr/>
        </p:nvSpPr>
        <p:spPr>
          <a:xfrm>
            <a:off x="548640" y="3741725"/>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اِشْتَرَتْ لَيْلَى حَقِيبَةً جَدِيدَةً.</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met two hardworking students.</a:t>
            </a:r>
            <a:endParaRPr lang="en-US" sz="1100" dirty="0"/>
          </a:p>
        </p:txBody>
      </p:sp>
      <p:sp>
        <p:nvSpPr>
          <p:cNvPr id="39" name="Text 36"/>
          <p:cNvSpPr txBox="1"/>
          <p:nvPr/>
        </p:nvSpPr>
        <p:spPr>
          <a:xfrm>
            <a:off x="548640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طَالِبَيْنِ مُجْتَهِدَيْنِ</a:t>
            </a:r>
            <a:endParaRPr lang="ar-SA" sz="2200" dirty="0"/>
          </a:p>
        </p:txBody>
      </p:sp>
      <p:sp>
        <p:nvSpPr>
          <p:cNvPr id="40" name="Text 37"/>
          <p:cNvSpPr txBox="1"/>
          <p:nvPr/>
        </p:nvSpPr>
        <p:spPr>
          <a:xfrm>
            <a:off x="548640" y="4478731"/>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قَابَلْتُ طَالِبَيْنِ مُجْتَهِدَيْنِ.</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thanked the teachers.</a:t>
            </a:r>
            <a:endParaRPr lang="en-US" sz="1100" dirty="0"/>
          </a:p>
        </p:txBody>
      </p:sp>
      <p:sp>
        <p:nvSpPr>
          <p:cNvPr id="43" name="Text 40"/>
          <p:cNvSpPr txBox="1"/>
          <p:nvPr/>
        </p:nvSpPr>
        <p:spPr>
          <a:xfrm>
            <a:off x="548640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الْمُعَلِّمِينَ</a:t>
            </a:r>
            <a:endParaRPr lang="ar-SA" sz="2200" dirty="0"/>
          </a:p>
        </p:txBody>
      </p:sp>
      <p:sp>
        <p:nvSpPr>
          <p:cNvPr id="44" name="Text 41"/>
          <p:cNvSpPr txBox="1"/>
          <p:nvPr/>
        </p:nvSpPr>
        <p:spPr>
          <a:xfrm>
            <a:off x="548640" y="5215738"/>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شَكَرْتُ الْمُعَلِّمِينَ.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meaning test: ask “what did the subject act upon?” — the answer is the object, and it takes the accusative. The doer stays nominative (-u).</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THE ACCUSATIVE FORMS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shapes of the accusative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عَلَامَاتُ 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41879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Accusative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type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516368" y="2267712"/>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 -a</a:t>
            </a:r>
            <a:endParaRPr lang="en-US" sz="1100" dirty="0"/>
          </a:p>
        </p:txBody>
      </p:sp>
      <p:sp>
        <p:nvSpPr>
          <p:cNvPr id="21" name="Text 18"/>
          <p:cNvSpPr txBox="1"/>
          <p:nvPr/>
        </p:nvSpPr>
        <p:spPr>
          <a:xfrm>
            <a:off x="4206240"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الْكِتَابَ</a:t>
            </a:r>
            <a:endParaRPr lang="ar-SA" sz="2600" dirty="0"/>
          </a:p>
        </p:txBody>
      </p:sp>
      <p:sp>
        <p:nvSpPr>
          <p:cNvPr id="22" name="Text 19"/>
          <p:cNvSpPr txBox="1"/>
          <p:nvPr/>
        </p:nvSpPr>
        <p:spPr>
          <a:xfrm>
            <a:off x="566928" y="226771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516368" y="2881884"/>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supporting alif</a:t>
            </a:r>
            <a:endParaRPr lang="en-US" sz="1100" dirty="0"/>
          </a:p>
        </p:txBody>
      </p:sp>
      <p:sp>
        <p:nvSpPr>
          <p:cNvPr id="27" name="Text 24"/>
          <p:cNvSpPr txBox="1"/>
          <p:nvPr/>
        </p:nvSpPr>
        <p:spPr>
          <a:xfrm>
            <a:off x="4206240"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كِتَابًا</a:t>
            </a:r>
            <a:endParaRPr lang="ar-SA" sz="2600" dirty="0"/>
          </a:p>
        </p:txBody>
      </p:sp>
      <p:sp>
        <p:nvSpPr>
          <p:cNvPr id="28" name="Text 25"/>
          <p:cNvSpPr txBox="1"/>
          <p:nvPr/>
        </p:nvSpPr>
        <p:spPr>
          <a:xfrm>
            <a:off x="566928" y="2881884"/>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singular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516368" y="3496056"/>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NO extra alif</a:t>
            </a:r>
            <a:endParaRPr lang="en-US" sz="1100" dirty="0"/>
          </a:p>
        </p:txBody>
      </p:sp>
      <p:sp>
        <p:nvSpPr>
          <p:cNvPr id="33" name="Text 30"/>
          <p:cNvSpPr txBox="1"/>
          <p:nvPr/>
        </p:nvSpPr>
        <p:spPr>
          <a:xfrm>
            <a:off x="4206240"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مَدْرَسَةً</a:t>
            </a:r>
            <a:endParaRPr lang="ar-SA" sz="2600" dirty="0"/>
          </a:p>
        </p:txBody>
      </p:sp>
      <p:sp>
        <p:nvSpPr>
          <p:cNvPr id="34" name="Text 31"/>
          <p:cNvSpPr txBox="1"/>
          <p:nvPr/>
        </p:nvSpPr>
        <p:spPr>
          <a:xfrm>
            <a:off x="566928" y="3496056"/>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tāʾ marbūṭa (indefinite)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516368" y="4110228"/>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-ayni</a:t>
            </a:r>
            <a:endParaRPr lang="en-US" sz="1100" dirty="0"/>
          </a:p>
        </p:txBody>
      </p:sp>
      <p:sp>
        <p:nvSpPr>
          <p:cNvPr id="39" name="Text 36"/>
          <p:cNvSpPr txBox="1"/>
          <p:nvPr/>
        </p:nvSpPr>
        <p:spPr>
          <a:xfrm>
            <a:off x="4206240"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طَالِبَيْنِ</a:t>
            </a:r>
            <a:endParaRPr lang="ar-SA" sz="2600" dirty="0"/>
          </a:p>
        </p:txBody>
      </p:sp>
      <p:sp>
        <p:nvSpPr>
          <p:cNvPr id="40" name="Text 37"/>
          <p:cNvSpPr txBox="1"/>
          <p:nvPr/>
        </p:nvSpPr>
        <p:spPr>
          <a:xfrm>
            <a:off x="566928" y="4110228"/>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516368" y="4724400"/>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-īna</a:t>
            </a:r>
            <a:endParaRPr lang="en-US" sz="1100" dirty="0"/>
          </a:p>
        </p:txBody>
      </p:sp>
      <p:sp>
        <p:nvSpPr>
          <p:cNvPr id="43" name="Text 40"/>
          <p:cNvSpPr txBox="1"/>
          <p:nvPr/>
        </p:nvSpPr>
        <p:spPr>
          <a:xfrm>
            <a:off x="4206240"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مُعَلِّمِينَ</a:t>
            </a:r>
            <a:endParaRPr lang="ar-SA" sz="2600" dirty="0"/>
          </a:p>
        </p:txBody>
      </p:sp>
      <p:sp>
        <p:nvSpPr>
          <p:cNvPr id="44" name="Text 41"/>
          <p:cNvSpPr txBox="1"/>
          <p:nvPr/>
        </p:nvSpPr>
        <p:spPr>
          <a:xfrm>
            <a:off x="566928" y="4724400"/>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masculine plural</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516368" y="5338572"/>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-āti — kasra, not fatḥa!</a:t>
            </a:r>
            <a:endParaRPr lang="en-US" sz="1100" dirty="0"/>
          </a:p>
        </p:txBody>
      </p:sp>
      <p:sp>
        <p:nvSpPr>
          <p:cNvPr id="47" name="Text 44"/>
          <p:cNvSpPr txBox="1"/>
          <p:nvPr/>
        </p:nvSpPr>
        <p:spPr>
          <a:xfrm>
            <a:off x="4206240"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الطَّالِبَاتِ</a:t>
            </a:r>
            <a:endParaRPr lang="ar-SA" sz="2600" dirty="0"/>
          </a:p>
        </p:txBody>
      </p:sp>
      <p:sp>
        <p:nvSpPr>
          <p:cNvPr id="48" name="Text 45"/>
          <p:cNvSpPr txBox="1"/>
          <p:nvPr/>
        </p:nvSpPr>
        <p:spPr>
          <a:xfrm>
            <a:off x="566928" y="533857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feminine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spelling: the extra alif belongs to the spelling of -an, not to the meaning. No extra alif after tāʾ marbūṭa (madrasatan) or alif + hamza (māʾan). Never write madrasatan with an alif.</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 PART 3 · ACCUSATIVE ADJECTIVE AGREEMENT (WEBSITE TABLE) · DEVELOP</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The adjective follows — in its own way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الصِّفَةُ الْمَنْصُوبَةُ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456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 adjective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a:t>
            </a:r>
            <a:endParaRPr lang="en-US" sz="1100" dirty="0"/>
          </a:p>
        </p:txBody>
      </p:sp>
      <p:sp>
        <p:nvSpPr>
          <p:cNvPr id="21" name="Text 18"/>
          <p:cNvSpPr txBox="1"/>
          <p:nvPr/>
        </p:nvSpPr>
        <p:spPr>
          <a:xfrm>
            <a:off x="347472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الْكِتَابَ الْجَدِيدَ</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-an</a:t>
            </a:r>
            <a:endParaRPr lang="en-US" sz="1100" dirty="0"/>
          </a:p>
        </p:txBody>
      </p:sp>
      <p:sp>
        <p:nvSpPr>
          <p:cNvPr id="27" name="Text 24"/>
          <p:cNvSpPr txBox="1"/>
          <p:nvPr/>
        </p:nvSpPr>
        <p:spPr>
          <a:xfrm>
            <a:off x="347472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كِتَابًا جَدِيدًا</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-ayni</a:t>
            </a:r>
            <a:endParaRPr lang="en-US" sz="1100" dirty="0"/>
          </a:p>
        </p:txBody>
      </p:sp>
      <p:sp>
        <p:nvSpPr>
          <p:cNvPr id="33" name="Text 30"/>
          <p:cNvSpPr txBox="1"/>
          <p:nvPr/>
        </p:nvSpPr>
        <p:spPr>
          <a:xfrm>
            <a:off x="347472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طَالِبَيْنِ جَدِيدَيْنِ</a:t>
            </a:r>
            <a:endParaRPr lang="ar-SA" sz="24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broken plural -an</a:t>
            </a:r>
            <a:endParaRPr lang="en-US" sz="1100" dirty="0"/>
          </a:p>
        </p:txBody>
      </p:sp>
      <p:sp>
        <p:nvSpPr>
          <p:cNvPr id="37" name="Text 34"/>
          <p:cNvSpPr txBox="1"/>
          <p:nvPr/>
        </p:nvSpPr>
        <p:spPr>
          <a:xfrm>
            <a:off x="347472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مُعَلِّمِينَ جُدُدًا</a:t>
            </a:r>
            <a:endParaRPr lang="ar-SA" sz="2400" dirty="0"/>
          </a:p>
        </p:txBody>
      </p:sp>
      <p:sp>
        <p:nvSpPr>
          <p:cNvPr id="38" name="Text 35"/>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masculine plural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-āti, adjective f. sg. -a</a:t>
            </a:r>
            <a:endParaRPr lang="en-US" sz="1100" dirty="0"/>
          </a:p>
        </p:txBody>
      </p:sp>
      <p:sp>
        <p:nvSpPr>
          <p:cNvPr id="41" name="Text 38"/>
          <p:cNvSpPr txBox="1"/>
          <p:nvPr/>
        </p:nvSpPr>
        <p:spPr>
          <a:xfrm>
            <a:off x="347472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السَّيَّارَاتِ الْجَدِيدَةَ</a:t>
            </a:r>
            <a:endParaRPr lang="ar-SA" sz="2400" dirty="0"/>
          </a:p>
        </p:txBody>
      </p:sp>
      <p:sp>
        <p:nvSpPr>
          <p:cNvPr id="42" name="Text 39"/>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agreement is not “copy the same symbol”. The adjective is accusative too, but its own word type decides how the case appears (as-sayyārāti l-jadīdata).</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TIME, DURATION AND PLACE (WEBSITE MODELS)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How long? Where?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الزَّمَانِ وَالْمَكَانِ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visit him tomorrow.</a:t>
            </a:r>
            <a:endParaRPr lang="en-US" sz="1100" dirty="0"/>
          </a:p>
        </p:txBody>
      </p:sp>
      <p:sp>
        <p:nvSpPr>
          <p:cNvPr id="21" name="Text 18"/>
          <p:cNvSpPr txBox="1"/>
          <p:nvPr/>
        </p:nvSpPr>
        <p:spPr>
          <a:xfrm>
            <a:off x="2926080" y="2267712"/>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سَأَزُورُهُ غَدًا.</a:t>
            </a:r>
            <a:endParaRPr lang="ar-SA" sz="24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travelled in the morning.</a:t>
            </a:r>
            <a:endParaRPr lang="en-US" sz="1100" dirty="0"/>
          </a:p>
        </p:txBody>
      </p:sp>
      <p:sp>
        <p:nvSpPr>
          <p:cNvPr id="27" name="Text 24"/>
          <p:cNvSpPr txBox="1"/>
          <p:nvPr/>
        </p:nvSpPr>
        <p:spPr>
          <a:xfrm>
            <a:off x="2926080" y="300471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سَافَرْنَا صَبَاحًا.</a:t>
            </a:r>
            <a:endParaRPr lang="ar-SA" sz="24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studied for a whole hour.</a:t>
            </a:r>
            <a:endParaRPr lang="en-US" sz="1100" dirty="0"/>
          </a:p>
        </p:txBody>
      </p:sp>
      <p:sp>
        <p:nvSpPr>
          <p:cNvPr id="33" name="Text 30"/>
          <p:cNvSpPr txBox="1"/>
          <p:nvPr/>
        </p:nvSpPr>
        <p:spPr>
          <a:xfrm>
            <a:off x="2926080" y="3741725"/>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دَرَسْتُ سَاعَةً كَامِلَةً.</a:t>
            </a:r>
            <a:endParaRPr lang="ar-SA" sz="24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sat in front of the house.</a:t>
            </a:r>
            <a:endParaRPr lang="en-US" sz="1100" dirty="0"/>
          </a:p>
        </p:txBody>
      </p:sp>
      <p:sp>
        <p:nvSpPr>
          <p:cNvPr id="37" name="Text 34"/>
          <p:cNvSpPr txBox="1"/>
          <p:nvPr/>
        </p:nvSpPr>
        <p:spPr>
          <a:xfrm>
            <a:off x="2926080" y="4478731"/>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جَلَسْنَا أَمَامَ الْبَيْتِ.</a:t>
            </a:r>
            <a:endParaRPr lang="ar-SA" sz="24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train every day.</a:t>
            </a:r>
            <a:endParaRPr lang="en-US" sz="1100" dirty="0"/>
          </a:p>
        </p:txBody>
      </p:sp>
      <p:sp>
        <p:nvSpPr>
          <p:cNvPr id="41" name="Text 38"/>
          <p:cNvSpPr txBox="1"/>
          <p:nvPr/>
        </p:nvSpPr>
        <p:spPr>
          <a:xfrm>
            <a:off x="2926080" y="521573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أَتَدَرَّبُ كُلَّ يَوْمٍ.</a:t>
            </a:r>
            <a:endParaRPr lang="ar-SA" sz="24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two valid routes: safartu ṣabāḥan (accusative adverb) = safartu fī ṣ-ṣabāḥi (preposition + -i). In amāma l-bayti and kulla yawmin, the first word is accusative and the second is genitive.</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5 · LINKS TO INNA AND KĀNA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particle assigns the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 إِنَّ وَكَانَ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Accusative word</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Changed</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of inna: -a</a:t>
            </a:r>
            <a:endParaRPr lang="en-US" sz="1100" dirty="0"/>
          </a:p>
        </p:txBody>
      </p:sp>
      <p:sp>
        <p:nvSpPr>
          <p:cNvPr id="21" name="Text 18"/>
          <p:cNvSpPr txBox="1"/>
          <p:nvPr/>
        </p:nvSpPr>
        <p:spPr>
          <a:xfrm>
            <a:off x="3840480"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إِنَّ الدَّرْسَ مُفِيدٌ.</a:t>
            </a:r>
            <a:endParaRPr lang="ar-SA" sz="2200" dirty="0"/>
          </a:p>
        </p:txBody>
      </p:sp>
      <p:sp>
        <p:nvSpPr>
          <p:cNvPr id="22" name="Text 19"/>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الدَّرْسُ مُفِيدٌ.</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predicate of kāna: -an</a:t>
            </a:r>
            <a:endParaRPr lang="en-US" sz="1100" dirty="0"/>
          </a:p>
        </p:txBody>
      </p:sp>
      <p:sp>
        <p:nvSpPr>
          <p:cNvPr id="27" name="Text 24"/>
          <p:cNvSpPr txBox="1"/>
          <p:nvPr/>
        </p:nvSpPr>
        <p:spPr>
          <a:xfrm>
            <a:off x="3840480"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الدَّرْسُ مُفِيدًا.</a:t>
            </a:r>
            <a:endParaRPr lang="ar-SA" sz="2200" dirty="0"/>
          </a:p>
        </p:txBody>
      </p:sp>
      <p:sp>
        <p:nvSpPr>
          <p:cNvPr id="28" name="Text 25"/>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الدَّرْسُ مُفِيدٌ.</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plural noun: -āti</a:t>
            </a:r>
            <a:endParaRPr lang="en-US" sz="1100" dirty="0"/>
          </a:p>
        </p:txBody>
      </p:sp>
      <p:sp>
        <p:nvSpPr>
          <p:cNvPr id="33" name="Text 30"/>
          <p:cNvSpPr txBox="1"/>
          <p:nvPr/>
        </p:nvSpPr>
        <p:spPr>
          <a:xfrm>
            <a:off x="3840480"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إِنَّ الطَّالِبَاتِ مُسْتَعِدَّاتٌ.</a:t>
            </a:r>
            <a:endParaRPr lang="ar-SA" sz="2200" dirty="0"/>
          </a:p>
        </p:txBody>
      </p:sp>
      <p:sp>
        <p:nvSpPr>
          <p:cNvPr id="34" name="Text 31"/>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الطَّالِبَاتُ مُسْتَعِدَّاتٌ.</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plural predicate: -īna</a:t>
            </a:r>
            <a:endParaRPr lang="en-US" sz="1100" dirty="0"/>
          </a:p>
        </p:txBody>
      </p:sp>
      <p:sp>
        <p:nvSpPr>
          <p:cNvPr id="37" name="Text 34"/>
          <p:cNvSpPr txBox="1"/>
          <p:nvPr/>
        </p:nvSpPr>
        <p:spPr>
          <a:xfrm>
            <a:off x="3840480"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الطُّلَّابُ مُسْتَعِدِّينَ.</a:t>
            </a:r>
            <a:endParaRPr lang="ar-SA" sz="2200" dirty="0"/>
          </a:p>
        </p:txBody>
      </p:sp>
      <p:sp>
        <p:nvSpPr>
          <p:cNvPr id="38" name="Text 35"/>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الطُّلَّابُ مُسْتَعِدُّونَ.</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one sentence, two cases. Do not make every prominent noun match — the particle gives each word a different job.</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definite object.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الْكِتَابُ الْجَدِيدُ.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الْكِتَابَ الْجَدِيدُ.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الْكِتَابَ الْجَدِيدَ.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indefinite object.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اِشْتَرَيْتُ قَلَمًا جَدِيدًا.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اِشْتَرَيْتُ قَلَمٌ جَدِيدٌ.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اِشْتَرَيْتُ قَلَمًا جَدِيدٌ.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dual object.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قَابَلْتُ طَالِبَانِ جَدِيدَانِ.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قَابَلْتُ طَالِبَيْنِ جَدِيدَيْنِ.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قَابَلْتُ طَالِبَيْنِ جَدِيدَانِ.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plural object.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 الْمُعَلِّمِينَ.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 الْمُعَلِّمُونَ.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 الْمُعَلِّمَاتُ.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definite object.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 الْكِتَابُ الْجَدِيدُ.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 الْكِتَابَ الْجَدِيدُ.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قَرَأْتُ الْكِتَابَ الْجَدِيدَ.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and adjective: both -a.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indefinite object.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اِشْتَرَيْتُ قَلَمًا جَدِيدًا.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اِشْتَرَيْتُ قَلَمٌ جَدِيدٌ.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اِشْتَرَيْتُ قَلَمًا جَدِيدٌ.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dual object.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قَابَلْتُ طَالِبَانِ جَدِيدَانِ.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قَابَلْتُ طَالِبَيْنِ جَدِيدَيْنِ.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قَابَلْتُ طَالِبَيْنِ جَدِيدَانِ.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-ayni.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plural object.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سَاعَدْتُ الْمُعَلِّمِينَ.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سَاعَدْتُ الْمُعَلِّمُونَ.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سَاعَدْتُ الْمُعَلِّمَاتُ.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Sound masculine plural object: -īna.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mark the accusative in a visit account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زَارَتْ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did she visit?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Object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الْمَعْرِضَ</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Receiver: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صَبَاحًا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When?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Dual object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مُصَوِّرَيْنِ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-ayni.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ACCUSATIVE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0E7C86"/>
                </a:solidFill>
                <a:latin typeface="Amiri" pitchFamily="2" charset="-78"/>
                <a:ea typeface="Amiri" pitchFamily="2" charset="-78"/>
                <a:cs typeface="Amiri" pitchFamily="2" charset="-78"/>
              </a:rPr>
              <a:t>زَارَتْ</a:t>
            </a:r>
            <a:pPr rtl="1" algn="r" indent="0" marL="0">
              <a:buNone/>
            </a:pPr>
            <a:r>
              <a:rPr lang="ar-SA" altLang="en-US" sz="1800" b="1" dirty="0">
                <a:solidFill>
                  <a:srgbClr val="1B3B6F"/>
                </a:solidFill>
                <a:latin typeface="Amiri" pitchFamily="2" charset="-78"/>
                <a:ea typeface="Amiri" pitchFamily="2" charset="-78"/>
                <a:cs typeface="Amiri" pitchFamily="2" charset="-78"/>
              </a:rPr>
              <a:t> سَلْمَى </a:t>
            </a:r>
            <a:pPr rtl="1" algn="r" indent="0" marL="0">
              <a:buNone/>
            </a:pPr>
            <a:r>
              <a:rPr lang="ar-SA" altLang="en-US" sz="1800" b="1" dirty="0">
                <a:solidFill>
                  <a:srgbClr val="D6336C"/>
                </a:solidFill>
                <a:latin typeface="Amiri" pitchFamily="2" charset="-78"/>
                <a:ea typeface="Amiri" pitchFamily="2" charset="-78"/>
                <a:cs typeface="Amiri" pitchFamily="2" charset="-78"/>
              </a:rPr>
              <a:t>الْمَعْرِضَ</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D6336C"/>
                </a:solidFill>
                <a:latin typeface="Amiri" pitchFamily="2" charset="-78"/>
                <a:ea typeface="Amiri" pitchFamily="2" charset="-78"/>
                <a:cs typeface="Amiri" pitchFamily="2" charset="-78"/>
              </a:rPr>
              <a:t>صَبَاحًا</a:t>
            </a:r>
            <a:pPr rtl="1" algn="r" indent="0" marL="0">
              <a:buNone/>
            </a:pPr>
            <a:r>
              <a:rPr lang="ar-SA" altLang="en-US" sz="1800" b="1" dirty="0">
                <a:solidFill>
                  <a:srgbClr val="1B3B6F"/>
                </a:solidFill>
                <a:latin typeface="Amiri" pitchFamily="2" charset="-78"/>
                <a:ea typeface="Amiri" pitchFamily="2" charset="-78"/>
                <a:cs typeface="Amiri" pitchFamily="2" charset="-78"/>
              </a:rPr>
              <a:t>، وَشَاهَدَتْ </a:t>
            </a:r>
            <a:pPr rtl="1" algn="r" indent="0" marL="0">
              <a:buNone/>
            </a:pPr>
            <a:r>
              <a:rPr lang="ar-SA" altLang="en-US" sz="1800" b="1" dirty="0">
                <a:solidFill>
                  <a:srgbClr val="D6336C"/>
                </a:solidFill>
                <a:latin typeface="Amiri" pitchFamily="2" charset="-78"/>
                <a:ea typeface="Amiri" pitchFamily="2" charset="-78"/>
                <a:cs typeface="Amiri" pitchFamily="2" charset="-78"/>
              </a:rPr>
              <a:t>صُوَرًا جَمِيلَةً</a:t>
            </a:r>
            <a:pPr rtl="1" algn="r" indent="0" marL="0">
              <a:buNone/>
            </a:pPr>
            <a:r>
              <a:rPr lang="ar-SA" altLang="en-US" sz="1800" b="1" dirty="0">
                <a:solidFill>
                  <a:srgbClr val="1B3B6F"/>
                </a:solidFill>
                <a:latin typeface="Amiri" pitchFamily="2" charset="-78"/>
                <a:ea typeface="Amiri" pitchFamily="2" charset="-78"/>
                <a:cs typeface="Amiri" pitchFamily="2" charset="-78"/>
              </a:rPr>
              <a:t>. ثُمَّ </a:t>
            </a:r>
            <a:pPr rtl="1" algn="r" indent="0" marL="0">
              <a:buNone/>
            </a:pPr>
            <a:r>
              <a:rPr lang="ar-SA" altLang="en-US" sz="1800" b="1" dirty="0">
                <a:solidFill>
                  <a:srgbClr val="0E7C86"/>
                </a:solidFill>
                <a:latin typeface="Amiri" pitchFamily="2" charset="-78"/>
                <a:ea typeface="Amiri" pitchFamily="2" charset="-78"/>
                <a:cs typeface="Amiri" pitchFamily="2" charset="-78"/>
              </a:rPr>
              <a:t>قَابَلَتْ</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D6336C"/>
                </a:solidFill>
                <a:latin typeface="Amiri" pitchFamily="2" charset="-78"/>
                <a:ea typeface="Amiri" pitchFamily="2" charset="-78"/>
                <a:cs typeface="Amiri" pitchFamily="2" charset="-78"/>
              </a:rPr>
              <a:t>مُصَوِّرَيْنِ مَشْهُورَيْنِ</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ea typeface="Amiri" pitchFamily="2" charset="-78"/>
                <a:cs typeface="Amiri" pitchFamily="2" charset="-78"/>
              </a:rPr>
              <a:t>اِشْتَرَتْ</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D6336C"/>
                </a:solidFill>
                <a:latin typeface="Amiri" pitchFamily="2" charset="-78"/>
                <a:ea typeface="Amiri" pitchFamily="2" charset="-78"/>
                <a:cs typeface="Amiri" pitchFamily="2" charset="-78"/>
              </a:rPr>
              <a:t>كِتَابًا</a:t>
            </a:r>
            <a:pPr rtl="1" algn="r" indent="0" marL="0">
              <a:buNone/>
            </a:pPr>
            <a:r>
              <a:rPr lang="ar-SA" altLang="en-US" sz="1800" b="1" dirty="0">
                <a:solidFill>
                  <a:srgbClr val="1B3B6F"/>
                </a:solidFill>
                <a:latin typeface="Amiri" pitchFamily="2" charset="-78"/>
                <a:ea typeface="Amiri" pitchFamily="2" charset="-78"/>
                <a:cs typeface="Amiri" pitchFamily="2" charset="-78"/>
              </a:rPr>
              <a:t> عَنِ الْفَنِّ، ثُمَّ </a:t>
            </a:r>
            <a:pPr rtl="1" algn="r" indent="0" marL="0">
              <a:buNone/>
            </a:pPr>
            <a:r>
              <a:rPr lang="ar-SA" altLang="en-US" sz="1800" b="1" dirty="0">
                <a:solidFill>
                  <a:srgbClr val="0E7C86"/>
                </a:solidFill>
                <a:latin typeface="Amiri" pitchFamily="2" charset="-78"/>
                <a:ea typeface="Amiri" pitchFamily="2" charset="-78"/>
                <a:cs typeface="Amiri" pitchFamily="2" charset="-78"/>
              </a:rPr>
              <a:t>جَلَسَتْ</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D6336C"/>
                </a:solidFill>
                <a:latin typeface="Amiri" pitchFamily="2" charset="-78"/>
                <a:ea typeface="Amiri" pitchFamily="2" charset="-78"/>
                <a:cs typeface="Amiri" pitchFamily="2" charset="-78"/>
              </a:rPr>
              <a:t>سَاعَةً كَامِلَةً</a:t>
            </a:r>
            <a:pPr rtl="1" algn="r" indent="0" marL="0">
              <a:buNone/>
            </a:pPr>
            <a:r>
              <a:rPr lang="ar-SA" altLang="en-US" sz="1800" b="1" dirty="0">
                <a:solidFill>
                  <a:srgbClr val="1B3B6F"/>
                </a:solidFill>
                <a:latin typeface="Amiri" pitchFamily="2" charset="-78"/>
                <a:ea typeface="Amiri" pitchFamily="2" charset="-78"/>
                <a:cs typeface="Amiri" pitchFamily="2" charset="-78"/>
              </a:rPr>
              <a:t> فِي الْمَقْهَى.</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Salmā visited the exhibition in the morning and saw beautiful pictures. Then she met two famous photographers. She bought a book about art, then she sat for a whole hour in the café.</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فَتَحَ الْحَارِسُ الْبَابَ.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guard opened the door.</a:t>
            </a:r>
            <a:endParaRPr lang="en-US" sz="1250" dirty="0"/>
          </a:p>
          <a:p>
            <a:pPr indent="0" marL="0">
              <a:buNone/>
            </a:pPr>
            <a:r>
              <a:rPr lang="en-US" sz="1050" i="1" dirty="0">
                <a:solidFill>
                  <a:srgbClr val="8A6D1E"/>
                </a:solidFill>
                <a:latin typeface="Calibri" pitchFamily="34" charset="0"/>
                <a:cs typeface="Amiri" pitchFamily="2" charset="-78"/>
              </a:rPr>
              <a:t>Object: -a.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اِشْتَرَيْتُ قَلَمًا جَدِيدًا.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bought a new pen.</a:t>
            </a:r>
            <a:endParaRPr lang="en-US" sz="1250" dirty="0"/>
          </a:p>
          <a:p>
            <a:pPr indent="0" marL="0">
              <a:buNone/>
            </a:pPr>
            <a:r>
              <a:rPr lang="en-US" sz="1050" i="1" dirty="0">
                <a:solidFill>
                  <a:srgbClr val="8A6D1E"/>
                </a:solidFill>
                <a:latin typeface="Calibri" pitchFamily="34" charset="0"/>
                <a:cs typeface="Amiri" pitchFamily="2" charset="-78"/>
              </a:rPr>
              <a:t>Both -an.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شَكَرْتُ الْمُعَلِّمِينَ.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thanked the teachers.</a:t>
            </a:r>
            <a:endParaRPr lang="en-US" sz="1250" dirty="0"/>
          </a:p>
          <a:p>
            <a:pPr indent="0" marL="0">
              <a:buNone/>
            </a:pPr>
            <a:r>
              <a:rPr lang="en-US" sz="1050" i="1" dirty="0">
                <a:solidFill>
                  <a:srgbClr val="8A6D1E"/>
                </a:solidFill>
                <a:latin typeface="Calibri" pitchFamily="34" charset="0"/>
                <a:cs typeface="Amiri" pitchFamily="2" charset="-78"/>
              </a:rPr>
              <a:t>Plural: -īna.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سَأَزُورُهُ غَدًا.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visit him tomorrow.</a:t>
            </a:r>
            <a:endParaRPr lang="en-US" sz="1250" dirty="0"/>
          </a:p>
          <a:p>
            <a:pPr indent="0" marL="0">
              <a:buNone/>
            </a:pPr>
            <a:r>
              <a:rPr lang="en-US" sz="1050" i="1" dirty="0">
                <a:solidFill>
                  <a:srgbClr val="8A6D1E"/>
                </a:solidFill>
                <a:latin typeface="Calibri" pitchFamily="34" charset="0"/>
                <a:cs typeface="Amiri" pitchFamily="2" charset="-78"/>
              </a:rPr>
              <a:t>Time: -an.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MEANING → ACCUSATIVE SENTENCE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with the right signals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بِالنَّصْبِ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-a</a:t>
            </a:r>
            <a:endParaRPr lang="en-US" sz="1100" dirty="0"/>
          </a:p>
        </p:txBody>
      </p:sp>
      <p:sp>
        <p:nvSpPr>
          <p:cNvPr id="21" name="Text 18"/>
          <p:cNvSpPr txBox="1"/>
          <p:nvPr/>
        </p:nvSpPr>
        <p:spPr>
          <a:xfrm>
            <a:off x="384048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قَرَأْتُ الْكِتَابَ الْجَدِيدَ.</a:t>
            </a:r>
            <a:endParaRPr lang="ar-SA" sz="22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the new book.</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-an</a:t>
            </a:r>
            <a:endParaRPr lang="en-US" sz="1100" dirty="0"/>
          </a:p>
        </p:txBody>
      </p:sp>
      <p:sp>
        <p:nvSpPr>
          <p:cNvPr id="27" name="Text 24"/>
          <p:cNvSpPr txBox="1"/>
          <p:nvPr/>
        </p:nvSpPr>
        <p:spPr>
          <a:xfrm>
            <a:off x="384048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اِشْتَرَيْتُ قَلَمًا جَدِيدًا.</a:t>
            </a:r>
            <a:endParaRPr lang="ar-SA" sz="22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bought a new pen.</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-ayni + -ayni</a:t>
            </a:r>
            <a:endParaRPr lang="en-US" sz="1100" dirty="0"/>
          </a:p>
        </p:txBody>
      </p:sp>
      <p:sp>
        <p:nvSpPr>
          <p:cNvPr id="33" name="Text 30"/>
          <p:cNvSpPr txBox="1"/>
          <p:nvPr/>
        </p:nvSpPr>
        <p:spPr>
          <a:xfrm>
            <a:off x="384048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قَابَلْتُ طَالِبَيْنِ جَدِيدَيْنِ.</a:t>
            </a:r>
            <a:endParaRPr lang="ar-SA" sz="22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met two new pupils.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-īna</a:t>
            </a:r>
            <a:endParaRPr lang="en-US" sz="1100" dirty="0"/>
          </a:p>
        </p:txBody>
      </p:sp>
      <p:sp>
        <p:nvSpPr>
          <p:cNvPr id="37" name="Text 34"/>
          <p:cNvSpPr txBox="1"/>
          <p:nvPr/>
        </p:nvSpPr>
        <p:spPr>
          <a:xfrm>
            <a:off x="384048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شَكَرْتُ الْمُعَلِّمِينَ.</a:t>
            </a:r>
            <a:endParaRPr lang="ar-SA" sz="2200" dirty="0"/>
          </a:p>
        </p:txBody>
      </p:sp>
      <p:sp>
        <p:nvSpPr>
          <p:cNvPr id="38" name="Text 35"/>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thanked the teachers.</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-āti + -a</a:t>
            </a:r>
            <a:endParaRPr lang="en-US" sz="1100" dirty="0"/>
          </a:p>
        </p:txBody>
      </p:sp>
      <p:sp>
        <p:nvSpPr>
          <p:cNvPr id="41" name="Text 38"/>
          <p:cNvSpPr txBox="1"/>
          <p:nvPr/>
        </p:nvSpPr>
        <p:spPr>
          <a:xfrm>
            <a:off x="384048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شَاهَدْتُ السَّيَّارَاتِ الْجَدِيدَةَ.</a:t>
            </a:r>
            <a:endParaRPr lang="ar-SA" sz="2200" dirty="0"/>
          </a:p>
        </p:txBody>
      </p:sp>
      <p:sp>
        <p:nvSpPr>
          <p:cNvPr id="42" name="Text 39"/>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saw the new cars.</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 -an</a:t>
            </a:r>
            <a:endParaRPr lang="en-US" sz="1100" dirty="0"/>
          </a:p>
        </p:txBody>
      </p:sp>
      <p:sp>
        <p:nvSpPr>
          <p:cNvPr id="45" name="Text 42"/>
          <p:cNvSpPr txBox="1"/>
          <p:nvPr/>
        </p:nvSpPr>
        <p:spPr>
          <a:xfrm>
            <a:off x="384048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سَافَرْتُ صَبَاحًا.</a:t>
            </a:r>
            <a:endParaRPr lang="ar-SA" sz="2200" dirty="0"/>
          </a:p>
        </p:txBody>
      </p:sp>
      <p:sp>
        <p:nvSpPr>
          <p:cNvPr id="46" name="Text 43"/>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travelled in the morning.</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correction process: identify the receiver or adverbial role first, then match the adjective and the number ending.</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TWO ACCUSATIVE JOBS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 or time / place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مَفْعُولٌ بِهِ أَمْ ظَرْفٌ؟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الْمُعَلِّمِينَ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طَالِبَيْنِ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صَبَاحًا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أَمَامَ الْبَيْتِ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Object (what?)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 / place (when? where?)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Object (what?)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الْمُعَلِّمِينَ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 / place (when? where?)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صَبَاحًا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أَمَامَ الْبَيْتِ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قَرَأْتُ الْكِتَابُ.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did I read?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زُرْتُ مَدْرَسَةًا.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tāʾ marbūṭa take an alif?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قَابَلْتُ الطَّالِبَانِ.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Dual object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قَرَأْتُ الْكِتَابُ.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قَرَأْتُ الْكِتَابَ.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object takes -a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زُرْتُ مَدْرَسَةًا.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زُرْتُ 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extra alif after tāʾ marbūṭa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قَابَلْتُ الطَّالِبَانِ.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قَابَلْتُ الطَّالِبَيْنِ.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Dual object: -ayni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MINI-CHECK: ADVERBIALS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studied for an hour.”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 سَاعَةٌ.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 فِي سَاعَةَ.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 سَاعَةً.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place phrase.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اِنْتَظَرْتُ أَمَامُ الْمَدْرَسَةُ.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اِنْتَظَرْتُ أَمَامَ الْمَدْرَسَةِ.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اِنْتَظَرْتُ أَمَامِ الْمَدْرَسَةَ.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phrase with kull.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أَتَدَرَّبُ كُلُّ يَوْمٌ.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أَتَدَرَّبُ كُلَّ يَوْمٍ.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أَتَدَرَّبُ كُلِّ يَوْمٍ.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plural object.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شَاهَدْتُ السَّيَّارَاتَ الْجَدِيدَاتَ.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شَاهَدْتُ السَّيَّارَاتُ الْجَدِيدَةُ.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شَاهَدْتُ السَّيَّارَاتِ الْجَدِيدَةَ.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studied for an hour.”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 سَاعَةٌ.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 فِي سَاعَةَ.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دَرَسْتُ سَاعَةً.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Duration: sāʿatan.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place phrase.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اِنْتَظَرْتُ أَمَامُ الْمَدْرَسَةُ.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اِنْتَظَرْتُ أَمَامَ الْمَدْرَسَةِ.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اِنْتَظَرْتُ أَمَامِ الْمَدْرَسَةَ.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Amāma (-a) + al-madrasati (-i).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phrase with kull.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أَتَدَرَّبُ كُلُّ يَوْمٌ.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أَتَدَرَّبُ كُلَّ يَوْمٍ.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أَتَدَرَّبُ كُلِّ يَوْمٍ.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Kulla (-a) + yawmin (-in).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plural object.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شَاهَدْتُ السَّيَّارَاتَ الْجَدِيدَاتَ.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شَاهَدْتُ السَّيَّارَاتُ الْجَدِيدَةُ.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شَاهَدْتُ السَّيَّارَاتِ الْجَدِيدَةَ.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-āti; adjective f. sg. -a.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cs typeface="Amiri" pitchFamily="2" charset="-78"/>
              </a:rPr>
              <a:t>YOU DO · READ AND NOTICE · WEBSITE READING AND CODING (TEACHER-WRITTEN ACCOUNT)</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morning at the market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يَوْمَ السَّبْتِ زُرْتُ السُّوقَ الْقَدِيمَ مَعَ أُمِّي صَبَاحًا. اِشْتَرَتْ أُمِّي خُضَارًا طَازَجَةً وَفَوَاكِهَ لَذِيذَةً، وَاشْتَرَيْتُ أَنَا قَمِيصًا أَزْرَقَ وَحِذَاءً رِيَاضِيًّا. قَابَلْنَا جَارَيْنِ لَطِيفَيْنِ، وَسَأَلْنَاهُمَا عَنْ مَطْعَمٍ قَرِيبٍ. اِنْتَظَرْنَا أَمَامَ الْمَطْعَمِ دَقَائِقَ قَلِيلَةً، ثُمَّ أَكَلْنَا سَمَكًا مَشْوِيًّا. شَكَرْنَا الْعُمَّالَ عَلَى الْخِدْمَةِ الْمُمْتَازَةِ، وَرَجَعْنَا إِلَى الْبَيْتِ مَسَاءً.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خُضَارًا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vegetables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طَازَجَةً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fresh</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حِذَاءً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shoes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مَشْوِيًّا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grilled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الْعُمَّالَ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workers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buy?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 and fruit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shirt and trainers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grilled fish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a dual object.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الْعُمَّالَ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سَمَكًا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جَارَيْنِ لَطِيفَيْنِ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ḥidhāʾan written without an extra alif?</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ends in alif + hamza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definite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go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morning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noon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buy?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vegetables and fruit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blue shirt and trainers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grilled fish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Qamīṣan azraqa wa-ḥidhāʾan riyāḍiyyan.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a dual object.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الْعُمَّالَ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سَمَكًا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جَارَيْنِ لَطِيفَيْنِ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end in -ayni.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ḥidhāʾan written without an extra alif?</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ends in alif + hamza</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definite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spelling rule.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go home?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morning</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evening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noon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Masāʾan: a time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Speaking: describe a visit or shopping trip</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اشْتَرَيْتَ آخِرَ مَرَّةٍ؟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قَابَلْتَ فِي الْعُطْلَةِ؟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زِيَارَةً: مَاذَا رَأَيْتَ، وَمَتَى؟</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اِشْتَرَيْتُ ___ جَدِيدًا.</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قَابَلْتُ ___ ، وَزُرْتُ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زُرْتُ ___ صَبَاحًا، وَشَاهَدْتُ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فَعَلْتِ فِي الْمَعْرِضِ؟</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you do at the exhibition?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شَاهَدْتُ لَوْحَاتٍ رَائِعَةً، وَقَابَلْتُ فَنَّانَيْنِ مَشْهُورَيْنِ. اِشْتَرَيْتُ كِتَابًا صَغِيرًا، وَبَقِيتُ هُنَاكَ سَاعَتَيْنِ.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saw wonderful paintings, and I met two famous artists. I bought a small book, and I stayed there for two hours.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shopping trip: what you bought and saw.</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ishtaraytu … · shāhadtu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dual or plural object and two time / place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-ayni · -īna · ghadan · amāma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visit account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columns: action / receiver.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قَابَلْتُ صَدِيقَيْنِ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met two … friends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thanked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اِنْتَظَرْتُ أَمَامَ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waited in front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أَتَدَرَّبُ كُلَّ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practise every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 ______ جَدِيدًا.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bought a new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قَرَأْتُ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the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______ صَبَاحًا.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 in the morning</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فَتَحْتُ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opened the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كِتَابًا  ·  قَلَمًا  ·  مَدْرَسَةً  ·  هَدِيَّةً  ·  جَمِيلًا  ·  جَدِيدَيْنِ  ·  الْمُعَلِّمِينَ  ·  غَدًا  ·  صَبَاحًا  ·  مَسَاءً  ·  سَاعَةً  ·  أَمَامَ  ·  خَلْفَ</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visit or activity account (100–120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six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accusative time / place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or sound plural object.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Adjectives that agree with their objects.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-an spelling (madrasatan, māʾan).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visited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شَاهَدْتُ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watched / saw</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قَابَلْتُ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اِلْتَقَطْتُ صُوَرًا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took photos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مَرَّةً أُخْرَى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once more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الْعُطْلَةِ الْمَاضِيَةِ زُرْتُ مَدِينَةَ الْأُقْصُرِ مَعَ أُسْرَتِي. وَصَلْنَا مَسَاءً، وَاسْتَأْجَرْنَا غُرْفَتَيْنِ صَغِيرَتَيْنِ فِي فُنْدُقٍ قَرِيبٍ مِنَ النِّيلِ. فِي الْيَوْمِ التَّالِي زُرْنَا الْمَعَابِدَ الْقَدِيمَةَ صَبَاحًا، وَشَاهَدْنَا تَمَاثِيلَ ضَخْمَةً. شَرَحَ لَنَا الْمُرْشِدُ تَارِيخًا طَوِيلًا، وَشَكَرْنَا الْمُرْشِدِينَ عَلَى صَبْرِهِمْ. ثُمَّ رَكِبْنَا قَارِبًا شِرَاعِيًّا سَاعَةً كَامِلَةً، وَالْتَقَطْتُ صُوَرًا كَثِيرَةً. اِشْتَرَتْ أُخْتِي هَدَايَا جَمِيلَةً لِصَدِيقَاتِهَا، وَاشْتَرَيْتُ أَنَا كِتَابًا عَنِ الْفَرَاعِنَةِ. فِي الْمَسَاءِ جَلَسْنَا أَمَامَ النَّهْرِ، وَأَكَلْنَا طَعَامًا لَذِيذًا. سَأَزُورُ الْأُقْصُرَ مَرَّةً أُخْرَى، إِنْ شَاءَ اللَّهُ.</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holiday I visited the city of Luxor with my family. We arrived in the evening and rented two small rooms in a hotel near the Nile. The next day we visited the ancient temples in the morning and saw huge statues. The guide explained a long history to us, and we thanked the guides for their patience. Then we rode a sailing boat for a whole hour, and I took many photos. My sister bought beautiful gifts for her friends, and I bought a book about the Pharaohs. In the evening we sat in front of the river and ate delicious food. I will visit Luxor again, in shāʾ Allāh.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indefinite object + adjective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 object -ayni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plural object -īna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 / place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objects end in -a / -an.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copy their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Dual objects: -ayni; plural objects: -īna.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two time / place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extra alif after tāʾ marbūṭa or hamza.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normally does not take a supporting accusative alif?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sound feminine plural object.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قَابَلْتُ الطَّالِبَاتُ.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قَابَلْتُ الطَّالِبَاتِ.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قَابَلْتُ الطَّالِبَاتَ.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إِنَّ</a:t>
            </a:r>
            <a:pPr algn="l" indent="0" marL="0">
              <a:buNone/>
            </a:pPr>
            <a:r>
              <a:rPr lang="en-US" sz="1250" b="1" dirty="0">
                <a:solidFill>
                  <a:srgbClr val="1B3B6F"/>
                </a:solidFill>
                <a:latin typeface="Calibri" pitchFamily="34" charset="0"/>
                <a:cs typeface="Amiri" pitchFamily="2" charset="-78"/>
              </a:rPr>
              <a:t>, what happens to its noun?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becomes accusative.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remains nominative.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becomes genitive.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normally does not take a supporting accusative alif?</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كِتَابًا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قَلَمًا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Tāʾ marbūṭa: madrasatan, no alif.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sound feminine plural object.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قَابَلْتُ الطَّالِبَاتُ.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قَابَلْتُ الطَّالِبَاتِ.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قَابَلْتُ الطَّالِبَاتَ.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Sound feminine plural object: -āti.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إِنَّ</a:t>
            </a:r>
            <a:pPr algn="l" indent="0" marL="0">
              <a:buNone/>
            </a:pPr>
            <a:r>
              <a:rPr lang="en-US" sz="1250" b="1" dirty="0">
                <a:solidFill>
                  <a:srgbClr val="1B3B6F"/>
                </a:solidFill>
                <a:latin typeface="Calibri" pitchFamily="34" charset="0"/>
                <a:cs typeface="Amiri" pitchFamily="2" charset="-78"/>
              </a:rPr>
              <a:t>, what happens to its noun?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becomes accusative.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remains nominative.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becomes genitive.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Inna makes its noun accusative.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GM-CASE-02 · Case Endings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Before GM-CASE-03: get ready at home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GM-CASE-03 · The Genitive Case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الْكَسْرَةُ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kasra: the -i ending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genitive case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حَرْفُ الْجَرِّ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preposition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الْمُضَافُ إِلَيْهِ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second noun of an iḍāfa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the house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After fī, min and ilā the noun ends in -i: fī l-bayti. What else do you think can make a noun take -i?</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ذَهَبْتُ إِلَى الْمَدْرَسَةِ — لِمَاذَا «ـِ»؟</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about things you bought; mark each object.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sentence each with -ayni, -īna and a time word.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visit account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GM-CASE-02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GM-CASE-03 · The Genitive Case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حَالَةُ الْجَرِّ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accusative (-a / -an) = the object, many time / place words, the noun of inna and the predicate of kāna · dual -ayni · plural -īna · feminine plural -āti (kasra!) · -an takes a supporting alif — but not after tāʾ marbūṭa or hamza.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GM-CASE-02 · The Accusative Case</dc:title>
  <dc:subject>PptxGenJS Presentation</dc:subject>
  <dc:creator>Al Madina Online School · Arabic Department</dc:creator>
  <cp:lastModifiedBy>Al Madina Online School · Arabic Department</cp:lastModifiedBy>
  <cp:revision>1</cp:revision>
  <dcterms:created xsi:type="dcterms:W3CDTF">2026-10-11T06:42:09Z</dcterms:created>
  <dcterms:modified xsi:type="dcterms:W3CDTF">2026-10-11T06:42:09Z</dcterms:modified>
</cp:coreProperties>
</file>