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GM-CASE-03 (“The Genitive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noun after fī, ilā, min, ʿalā, maʿa takes -i / -in; the second noun of an iḍāfa takes -i (kitābu ṭ-ṭālibi). Develop: adjectives copy the genitive (maʿa ṣadīqin qadīmin), dual -ayni, plural -īna / -āti, and locators (amāma l-masjidi). Stretch: adjective scope in an iḍāfa (bābu l-madrasati l-kabīru vs l-kabīrati) and pronoun complements (fīhi, kitābuhu).
• Website: look LEFT for the trigger. The first noun of an iḍāfa never takes al- or tanwīn (bābu l-madrasati, not al-bābu l-madrasati).
• Colour code: teal = trigger, purple = genitive words. Completes the case trilogy with GM-CASE-01/02; leads into GM-POS (possessives).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GM-CASE-01/02 endings and GM-CP-01/02 prepositions.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left for the trigger: a preposition or a noun before it (iḍāfa) → genitive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“After prepositions” (column 4 from the website models and Final Mastery). Linking vowels: mina l-, ʿani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second noun of an iḍāfa”. Column 3 shows the website’s own error column — read it as “never write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“Adjective scope” (rows 4–5 teacher-added). Ask: -u or -i?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“Genitive markers across number types”. Even unvowelled, -ayni / -īna tell you: not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“Locators” + “Attached pronouns as complements” (fīhi, ilayhā, kitābuhu, maʿahunna). Pronoun endings lead into GM-POS-01.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prepositions.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reading-map line, extended. Website question: which noun does al-jamīlatu describe? (-u → ḥadīqatu, the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iḍāfa and scope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map (teacher-written description). Read it aloud once while students follow; then they hunt for today’s grammar.
Task: Website: circle every genitive trigger, underline the genitive nouns and their adjectives, and decide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reading-map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route. Sequence: ● 10s think → ↔ 45s rehearse aloud with mic muted → ◎ two named students on open mic (warned in advance) → + ? the class types one follow-up in chat → ↺ one student summarises.
Routes: Core uses the Core prompt and stem; Develop the Develop prompt; Stretch the last prompt.
Website route: four prepositions, three locators, two iḍāfa phrases, one dual or sound plural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room, school, route or neighbourhood.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(GM-POS-01 · Possessive Endings) will spend class time USING this language, so students prepare it tonight — short, simple, easy to access (school guidance: “Simple, Short, Interesting, Relevant, Easy to access”). The five words prepare GM-POS-01 (website: possessive endings).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CASE ENDINGS  ·  GM-CASE-03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GM-CASE-03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Genitive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حَالَةُ الْجَرِّ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genitive (-i / -in) follows two triggers: a preposition (fī l-bayti, maʿa ṣadīqin) and the first noun of an iḍāfa (kitābu ṭ-ṭālibi). Look left for the trigger — then carry the -i through the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GM-CASE-03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Prepositions; iḍāfa; adjective scope; number forms; locators.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phrase; which trigger?;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GM-POS-01.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فِي</a:t>
            </a:r>
            <a:endParaRPr lang="ar-SA" sz="22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الْمَدْرَسَةِ</a:t>
            </a:r>
            <a:endParaRPr lang="ar-SA" sz="22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word is genitive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genitive of kitāb.</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word is the second noun of the iḍāfa:</a:t>
            </a:r>
            <a:endParaRPr lang="en-US" sz="95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بَابُ الْمَدْرَسَةِ</a:t>
            </a:r>
            <a:endParaRPr lang="ar-SA" sz="15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بَابُ</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words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الْمَدْرَسَةِ</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adjective agreement.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 كَبِيرٌ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 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 كَبِيرٍ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genitive dual form.</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طَالِبَيْنِ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فِي</a:t>
            </a:r>
            <a:endParaRPr lang="ar-SA" sz="22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الْمَدْرَسَةِ</a:t>
            </a:r>
            <a:endParaRPr lang="ar-SA" sz="22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word is genitive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fī: -i.</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indefinite genitive of kitāb.</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كِتَابًا</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Kitābin: -in.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word is the second noun of the iḍāfa:</a:t>
            </a:r>
            <a:endParaRPr lang="en-US" sz="95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بَابُ الْمَدْرَسَةِ</a:t>
            </a:r>
            <a:endParaRPr lang="ar-SA" sz="15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بَابُ</a:t>
            </a:r>
            <a:endParaRPr lang="ar-SA" sz="22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words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الْمَدْرَسَةِ</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Al-madrasati completes it: -i.</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adjective agreement.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 كَبِيرٌ</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بَيْتٌ كَبِيرٍ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بَيْتٍ كَبِيرٍ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genitive dual form.</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طَالِبَيْنِ</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طَالِبَانِ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left for the trigger: a preposition or a noun before it (iḍāfa) → genitive (-i / -in).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فِي</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cs typeface="Amiri" pitchFamily="2" charset="-78"/>
              </a:rPr>
              <a:t>الْبَيْتِ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كِتَابُ</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7B3FA0"/>
                </a:solidFill>
                <a:latin typeface="Amiri" pitchFamily="2" charset="-78"/>
                <a:cs typeface="Amiri" pitchFamily="2" charset="-78"/>
              </a:rPr>
              <a:t>الطَّالِبِ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 after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an iḍāfa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copy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locators like amāma l-masjidi.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fī l-bayti and maʿa ṣadīqin.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build kitābu ṭ-ṭālibi.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-ayni, -īna and -āti.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amāma, khalfa, bayna.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show adjective scope in an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a place in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genitive case</a:t>
            </a:r>
            <a:endParaRPr lang="en-US" sz="1350" dirty="0"/>
          </a:p>
          <a:p>
            <a:pPr indent="0" marL="0">
              <a:buNone/>
            </a:pPr>
            <a:r>
              <a:rPr lang="en-US" sz="1100" i="1" dirty="0">
                <a:solidFill>
                  <a:srgbClr val="5A6472"/>
                </a:solidFill>
                <a:latin typeface="Calibri" pitchFamily="34" charset="0"/>
                <a:cs typeface="Amiri" pitchFamily="2" charset="-78"/>
              </a:rPr>
              <a:t>al-jar-ru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الْبَيْتِ · بَيْتٍ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-i</a:t>
            </a:r>
            <a:endParaRPr lang="en-US" sz="1350" dirty="0"/>
          </a:p>
          <a:p>
            <a:pPr indent="0" marL="0">
              <a:buNone/>
            </a:pPr>
            <a:r>
              <a:rPr lang="en-US" sz="1100" i="1" dirty="0">
                <a:solidFill>
                  <a:srgbClr val="5A6472"/>
                </a:solidFill>
                <a:latin typeface="Calibri" pitchFamily="34" charset="0"/>
                <a:cs typeface="Amiri" pitchFamily="2" charset="-78"/>
              </a:rPr>
              <a:t>al-kas-ra-tu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الْجَرِّ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 (trigger 1)</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 إِلَى ·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الْإِضَافَةُ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iḍāfa: noun + noun (trigger 2)</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 الطَّالِبِ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الْمُضَافُ إِلَيْهِ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noun of an iḍāfa</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ظَرْفُ الْمَكَانِ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locator</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أَمَامَ الْمَسْجِدِ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AFTER PREPOSITIONS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1: a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بَعْدَ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Plus</a:t>
            </a:r>
            <a:endParaRPr lang="en-US" sz="1100" dirty="0"/>
          </a:p>
        </p:txBody>
      </p:sp>
      <p:sp>
        <p:nvSpPr>
          <p:cNvPr id="17" name="Text 14"/>
          <p:cNvSpPr txBox="1"/>
          <p:nvPr/>
        </p:nvSpPr>
        <p:spPr>
          <a:xfrm>
            <a:off x="54681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8595360" y="2267712"/>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بَيْتٍ كَبِيرٍ</a:t>
            </a:r>
            <a:endParaRPr lang="ar-SA" sz="2200" dirty="0"/>
          </a:p>
        </p:txBody>
      </p:sp>
      <p:sp>
        <p:nvSpPr>
          <p:cNvPr id="22" name="Text 19"/>
          <p:cNvSpPr txBox="1"/>
          <p:nvPr/>
        </p:nvSpPr>
        <p:spPr>
          <a:xfrm>
            <a:off x="548640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الْبَيْتِ</a:t>
            </a:r>
            <a:endParaRPr lang="ar-SA" sz="2200" dirty="0"/>
          </a:p>
        </p:txBody>
      </p:sp>
      <p:sp>
        <p:nvSpPr>
          <p:cNvPr id="23" name="Text 20"/>
          <p:cNvSpPr txBox="1"/>
          <p:nvPr/>
        </p:nvSpPr>
        <p:spPr>
          <a:xfrm>
            <a:off x="276148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a:t>
            </a:r>
            <a:endParaRPr lang="en-US" sz="1100" dirty="0"/>
          </a:p>
        </p:txBody>
      </p:sp>
      <p:sp>
        <p:nvSpPr>
          <p:cNvPr id="24" name="Text 21"/>
          <p:cNvSpPr txBox="1"/>
          <p:nvPr/>
        </p:nvSpPr>
        <p:spPr>
          <a:xfrm>
            <a:off x="54864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8595360" y="27941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مَدْرَسَتَيْنِ</a:t>
            </a:r>
            <a:endParaRPr lang="ar-SA" sz="2200" dirty="0"/>
          </a:p>
        </p:txBody>
      </p:sp>
      <p:sp>
        <p:nvSpPr>
          <p:cNvPr id="29" name="Text 26"/>
          <p:cNvSpPr txBox="1"/>
          <p:nvPr/>
        </p:nvSpPr>
        <p:spPr>
          <a:xfrm>
            <a:off x="548640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 الْمَدْرَسَةِ</a:t>
            </a:r>
            <a:endParaRPr lang="ar-SA" sz="2200" dirty="0"/>
          </a:p>
        </p:txBody>
      </p:sp>
      <p:sp>
        <p:nvSpPr>
          <p:cNvPr id="30" name="Text 27"/>
          <p:cNvSpPr txBox="1"/>
          <p:nvPr/>
        </p:nvSpPr>
        <p:spPr>
          <a:xfrm>
            <a:off x="276148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a:t>
            </a:r>
            <a:endParaRPr lang="en-US" sz="1100" dirty="0"/>
          </a:p>
        </p:txBody>
      </p:sp>
      <p:sp>
        <p:nvSpPr>
          <p:cNvPr id="31" name="Text 28"/>
          <p:cNvSpPr txBox="1"/>
          <p:nvPr/>
        </p:nvSpPr>
        <p:spPr>
          <a:xfrm>
            <a:off x="54864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8595360" y="33205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بَلَدٍ جَمِيلٍ</a:t>
            </a:r>
            <a:endParaRPr lang="ar-SA" sz="2200" dirty="0"/>
          </a:p>
        </p:txBody>
      </p:sp>
      <p:sp>
        <p:nvSpPr>
          <p:cNvPr id="36" name="Text 33"/>
          <p:cNvSpPr txBox="1"/>
          <p:nvPr/>
        </p:nvSpPr>
        <p:spPr>
          <a:xfrm>
            <a:off x="548640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الْمَكْتَبِ</a:t>
            </a:r>
            <a:endParaRPr lang="ar-SA" sz="2200" dirty="0"/>
          </a:p>
        </p:txBody>
      </p:sp>
      <p:sp>
        <p:nvSpPr>
          <p:cNvPr id="37" name="Text 34"/>
          <p:cNvSpPr txBox="1"/>
          <p:nvPr/>
        </p:nvSpPr>
        <p:spPr>
          <a:xfrm>
            <a:off x="276148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a:t>
            </a:r>
            <a:endParaRPr lang="en-US" sz="1100" dirty="0"/>
          </a:p>
        </p:txBody>
      </p:sp>
      <p:sp>
        <p:nvSpPr>
          <p:cNvPr id="38" name="Text 35"/>
          <p:cNvSpPr txBox="1"/>
          <p:nvPr/>
        </p:nvSpPr>
        <p:spPr>
          <a:xfrm>
            <a:off x="54864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8595360" y="38470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عَلَى الطَّاوِلَةِ الْجَدِيدَةِ</a:t>
            </a:r>
            <a:endParaRPr lang="ar-SA" sz="2200" dirty="0"/>
          </a:p>
        </p:txBody>
      </p:sp>
      <p:sp>
        <p:nvSpPr>
          <p:cNvPr id="43" name="Text 40"/>
          <p:cNvSpPr txBox="1"/>
          <p:nvPr/>
        </p:nvSpPr>
        <p:spPr>
          <a:xfrm>
            <a:off x="548640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عَلَى الطَّاوِلَةِ</a:t>
            </a:r>
            <a:endParaRPr lang="ar-SA" sz="2200" dirty="0"/>
          </a:p>
        </p:txBody>
      </p:sp>
      <p:sp>
        <p:nvSpPr>
          <p:cNvPr id="44" name="Text 41"/>
          <p:cNvSpPr txBox="1"/>
          <p:nvPr/>
        </p:nvSpPr>
        <p:spPr>
          <a:xfrm>
            <a:off x="276148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a:t>
            </a:r>
            <a:endParaRPr lang="en-US" sz="1100" dirty="0"/>
          </a:p>
        </p:txBody>
      </p:sp>
      <p:sp>
        <p:nvSpPr>
          <p:cNvPr id="45" name="Text 42"/>
          <p:cNvSpPr txBox="1"/>
          <p:nvPr/>
        </p:nvSpPr>
        <p:spPr>
          <a:xfrm>
            <a:off x="54864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عَلَى</a:t>
            </a:r>
            <a:endParaRPr lang="ar-SA" sz="220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8595360" y="43734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 رِحْلَةٍ طَوِيلَةٍ</a:t>
            </a:r>
            <a:endParaRPr lang="ar-SA" sz="2200" dirty="0"/>
          </a:p>
        </p:txBody>
      </p:sp>
      <p:sp>
        <p:nvSpPr>
          <p:cNvPr id="48" name="Text 45"/>
          <p:cNvSpPr txBox="1"/>
          <p:nvPr/>
        </p:nvSpPr>
        <p:spPr>
          <a:xfrm>
            <a:off x="548640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 الرِّحْلَةِ</a:t>
            </a:r>
            <a:endParaRPr lang="ar-SA" sz="2200" dirty="0"/>
          </a:p>
        </p:txBody>
      </p:sp>
      <p:sp>
        <p:nvSpPr>
          <p:cNvPr id="49" name="Text 46"/>
          <p:cNvSpPr txBox="1"/>
          <p:nvPr/>
        </p:nvSpPr>
        <p:spPr>
          <a:xfrm>
            <a:off x="276148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 away from</a:t>
            </a:r>
            <a:endParaRPr lang="en-US" sz="1100" dirty="0"/>
          </a:p>
        </p:txBody>
      </p:sp>
      <p:sp>
        <p:nvSpPr>
          <p:cNvPr id="50" name="Text 47"/>
          <p:cNvSpPr txBox="1"/>
          <p:nvPr/>
        </p:nvSpPr>
        <p:spPr>
          <a:xfrm>
            <a:off x="54864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a:t>
            </a:r>
            <a:endParaRPr lang="ar-SA" sz="22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8595360" y="48998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لِلطَّالِبِ</a:t>
            </a:r>
            <a:endParaRPr lang="ar-SA" sz="2200" dirty="0"/>
          </a:p>
        </p:txBody>
      </p:sp>
      <p:sp>
        <p:nvSpPr>
          <p:cNvPr id="53" name="Text 50"/>
          <p:cNvSpPr txBox="1"/>
          <p:nvPr/>
        </p:nvSpPr>
        <p:spPr>
          <a:xfrm>
            <a:off x="548640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بِالْحَافِلَةِ</a:t>
            </a:r>
            <a:endParaRPr lang="ar-SA" sz="2200" dirty="0"/>
          </a:p>
        </p:txBody>
      </p:sp>
      <p:sp>
        <p:nvSpPr>
          <p:cNvPr id="54" name="Text 51"/>
          <p:cNvSpPr txBox="1"/>
          <p:nvPr/>
        </p:nvSpPr>
        <p:spPr>
          <a:xfrm>
            <a:off x="276148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 by · for</a:t>
            </a:r>
            <a:endParaRPr lang="en-US" sz="1100" dirty="0"/>
          </a:p>
        </p:txBody>
      </p:sp>
      <p:sp>
        <p:nvSpPr>
          <p:cNvPr id="55" name="Text 52"/>
          <p:cNvSpPr txBox="1"/>
          <p:nvPr/>
        </p:nvSpPr>
        <p:spPr>
          <a:xfrm>
            <a:off x="54864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بِـ · لِـ</a:t>
            </a:r>
            <a:endParaRPr lang="ar-SA" sz="2200" dirty="0"/>
          </a:p>
        </p:txBody>
      </p:sp>
      <p:sp>
        <p:nvSpPr>
          <p:cNvPr id="56" name="Shape 5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7" name="Text 54"/>
          <p:cNvSpPr txBox="1"/>
          <p:nvPr/>
        </p:nvSpPr>
        <p:spPr>
          <a:xfrm>
            <a:off x="8595360" y="54263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مَعَ الْمُعَلِّمِينَ</a:t>
            </a:r>
            <a:endParaRPr lang="ar-SA" sz="2200" dirty="0"/>
          </a:p>
        </p:txBody>
      </p:sp>
      <p:sp>
        <p:nvSpPr>
          <p:cNvPr id="58" name="Text 55"/>
          <p:cNvSpPr txBox="1"/>
          <p:nvPr/>
        </p:nvSpPr>
        <p:spPr>
          <a:xfrm>
            <a:off x="548640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مَعَ صَدِيقٍ</a:t>
            </a:r>
            <a:endParaRPr lang="ar-SA" sz="2200" dirty="0"/>
          </a:p>
        </p:txBody>
      </p:sp>
      <p:sp>
        <p:nvSpPr>
          <p:cNvPr id="59" name="Text 56"/>
          <p:cNvSpPr txBox="1"/>
          <p:nvPr/>
        </p:nvSpPr>
        <p:spPr>
          <a:xfrm>
            <a:off x="276148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(someone)</a:t>
            </a:r>
            <a:endParaRPr lang="en-US" sz="1100" dirty="0"/>
          </a:p>
        </p:txBody>
      </p:sp>
      <p:sp>
        <p:nvSpPr>
          <p:cNvPr id="60" name="Text 57"/>
          <p:cNvSpPr txBox="1"/>
          <p:nvPr/>
        </p:nvSpPr>
        <p:spPr>
          <a:xfrm>
            <a:off x="54864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مَعَ</a:t>
            </a:r>
            <a:endParaRPr lang="ar-SA" sz="2200" dirty="0"/>
          </a:p>
        </p:txBody>
      </p:sp>
      <p:sp>
        <p:nvSpPr>
          <p:cNvPr id="61" name="Shape 58"/>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noun governed by a preposition is genitive — and its adjective follows: maʿa ṣadīqin qadīmin, ilā madrasatayni jadīdatayni.</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SECOND NOUN OF AN IḌĀFA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2: a noun before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Error to avoid</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 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الْبَيْتُ الْمُعَلِّمِ</a:t>
            </a:r>
            <a:endParaRPr lang="ar-SA" sz="22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الْمُعَلِّمِ</a:t>
            </a:r>
            <a:endParaRPr lang="ar-SA" sz="24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بَيْتٌ مُعَلِّمٌ</a:t>
            </a:r>
            <a:endParaRPr lang="ar-SA" sz="22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مُعَلِّمٍ</a:t>
            </a:r>
            <a:endParaRPr lang="ar-SA" sz="24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teacher’s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 الطَّالِبَانِ</a:t>
            </a:r>
            <a:endParaRPr lang="ar-SA" sz="22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الطَّالِبَيْنِ</a:t>
            </a:r>
            <a:endParaRPr lang="ar-SA" sz="24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pupils’ books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فَصْلُ الطَّالِبَاتُ</a:t>
            </a:r>
            <a:endParaRPr lang="ar-SA" sz="2200" dirty="0"/>
          </a:p>
        </p:txBody>
      </p:sp>
      <p:sp>
        <p:nvSpPr>
          <p:cNvPr id="37" name="Text 34"/>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فَصْلُ الطَّالِبَاتِ</a:t>
            </a:r>
            <a:endParaRPr lang="ar-SA" sz="24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female pupils’ classroom</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chain: each noun completes the one before</a:t>
            </a:r>
            <a:endParaRPr lang="en-US" sz="1100" dirty="0"/>
          </a:p>
        </p:txBody>
      </p:sp>
      <p:sp>
        <p:nvSpPr>
          <p:cNvPr id="41" name="Text 38"/>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مُدِيرُ مَدْرَسَةِ الْبَنَاتِ</a:t>
            </a:r>
            <a:endParaRPr lang="ar-SA" sz="24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head of the girls’ school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the first noun (muḍāf) takes NO al- and NO tanwīn. It becomes definite through the noun after it. The first noun’s case depends on its job in the sentence.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3 · ADJECTIVE SCOPE IN AN IḌĀFA (WEBSITE MODELS)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Which noun does the adjective describe?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919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Describes</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big door</a:t>
            </a:r>
            <a:endParaRPr lang="en-US" sz="1100" dirty="0"/>
          </a:p>
        </p:txBody>
      </p:sp>
      <p:sp>
        <p:nvSpPr>
          <p:cNvPr id="21" name="Text 18"/>
          <p:cNvSpPr txBox="1"/>
          <p:nvPr/>
        </p:nvSpPr>
        <p:spPr>
          <a:xfrm>
            <a:off x="495604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(-u, m.)</a:t>
            </a:r>
            <a:endParaRPr lang="en-US" sz="1100" dirty="0"/>
          </a:p>
        </p:txBody>
      </p:sp>
      <p:sp>
        <p:nvSpPr>
          <p:cNvPr id="22" name="Text 19"/>
          <p:cNvSpPr txBox="1"/>
          <p:nvPr/>
        </p:nvSpPr>
        <p:spPr>
          <a:xfrm>
            <a:off x="5486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الْمَدْرَسَةِ الْكَبِيرُ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door of the big school</a:t>
            </a:r>
            <a:endParaRPr lang="en-US" sz="1100" dirty="0"/>
          </a:p>
        </p:txBody>
      </p:sp>
      <p:sp>
        <p:nvSpPr>
          <p:cNvPr id="27" name="Text 24"/>
          <p:cNvSpPr txBox="1"/>
          <p:nvPr/>
        </p:nvSpPr>
        <p:spPr>
          <a:xfrm>
            <a:off x="495604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 f.)</a:t>
            </a:r>
            <a:endParaRPr lang="en-US" sz="1100" dirty="0"/>
          </a:p>
        </p:txBody>
      </p:sp>
      <p:sp>
        <p:nvSpPr>
          <p:cNvPr id="28" name="Text 25"/>
          <p:cNvSpPr txBox="1"/>
          <p:nvPr/>
        </p:nvSpPr>
        <p:spPr>
          <a:xfrm>
            <a:off x="5486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الْمَدْرَسَةِ الْكَبِيرَةِ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spacious yard</a:t>
            </a:r>
            <a:endParaRPr lang="en-US" sz="1100" dirty="0"/>
          </a:p>
        </p:txBody>
      </p:sp>
      <p:sp>
        <p:nvSpPr>
          <p:cNvPr id="33" name="Text 30"/>
          <p:cNvSpPr txBox="1"/>
          <p:nvPr/>
        </p:nvSpPr>
        <p:spPr>
          <a:xfrm>
            <a:off x="495604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yard (-u)</a:t>
            </a:r>
            <a:endParaRPr lang="en-US" sz="1100" dirty="0"/>
          </a:p>
        </p:txBody>
      </p:sp>
      <p:sp>
        <p:nvSpPr>
          <p:cNvPr id="34" name="Text 31"/>
          <p:cNvSpPr txBox="1"/>
          <p:nvPr/>
        </p:nvSpPr>
        <p:spPr>
          <a:xfrm>
            <a:off x="5486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سَاحَةُ الْمَدْرَسَةِ الْوَاسِعَةُ</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teacher’s new house</a:t>
            </a:r>
            <a:endParaRPr lang="en-US" sz="1100" dirty="0"/>
          </a:p>
        </p:txBody>
      </p:sp>
      <p:sp>
        <p:nvSpPr>
          <p:cNvPr id="37" name="Text 34"/>
          <p:cNvSpPr txBox="1"/>
          <p:nvPr/>
        </p:nvSpPr>
        <p:spPr>
          <a:xfrm>
            <a:off x="495604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(-u)</a:t>
            </a:r>
            <a:endParaRPr lang="en-US" sz="1100" dirty="0"/>
          </a:p>
        </p:txBody>
      </p:sp>
      <p:sp>
        <p:nvSpPr>
          <p:cNvPr id="38" name="Text 35"/>
          <p:cNvSpPr txBox="1"/>
          <p:nvPr/>
        </p:nvSpPr>
        <p:spPr>
          <a:xfrm>
            <a:off x="5486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الْمُعَلِّمِ الْجَدِيدُ</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teacher’s house</a:t>
            </a:r>
            <a:endParaRPr lang="en-US" sz="1100" dirty="0"/>
          </a:p>
        </p:txBody>
      </p:sp>
      <p:sp>
        <p:nvSpPr>
          <p:cNvPr id="41" name="Text 38"/>
          <p:cNvSpPr txBox="1"/>
          <p:nvPr/>
        </p:nvSpPr>
        <p:spPr>
          <a:xfrm>
            <a:off x="495604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(-i)</a:t>
            </a:r>
            <a:endParaRPr lang="en-US" sz="1100" dirty="0"/>
          </a:p>
        </p:txBody>
      </p:sp>
      <p:sp>
        <p:nvSpPr>
          <p:cNvPr id="42" name="Text 39"/>
          <p:cNvSpPr txBox="1"/>
          <p:nvPr/>
        </p:nvSpPr>
        <p:spPr>
          <a:xfrm>
            <a:off x="5486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الْمُعَلِّمِ الْجَدِيدِ</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guess from closeness. The adjective comes at the END of the iḍāfa, and its gender and case show which noun it belongs to.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 PART 4 · GENITIVE MARKERS ACROSS NUMBER TYPES (WEBSITE TABLE) · DEVELOP</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job, different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عَلَامَاتُ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Indefinite</a:t>
            </a:r>
            <a:endParaRPr lang="en-US" sz="1100" dirty="0"/>
          </a:p>
        </p:txBody>
      </p:sp>
      <p:sp>
        <p:nvSpPr>
          <p:cNvPr id="17" name="Text 14"/>
          <p:cNvSpPr txBox="1"/>
          <p:nvPr/>
        </p:nvSpPr>
        <p:spPr>
          <a:xfrm>
            <a:off x="382219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Definite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a:t>
            </a:r>
            <a:endParaRPr lang="ar-SA" sz="2600" dirty="0"/>
          </a:p>
        </p:txBody>
      </p:sp>
      <p:sp>
        <p:nvSpPr>
          <p:cNvPr id="21" name="Text 18"/>
          <p:cNvSpPr txBox="1"/>
          <p:nvPr/>
        </p:nvSpPr>
        <p:spPr>
          <a:xfrm>
            <a:off x="3840480"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الطَّالِبِ</a:t>
            </a:r>
            <a:endParaRPr lang="ar-SA" sz="26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طَالِبَيْنِ</a:t>
            </a:r>
            <a:endParaRPr lang="ar-SA" sz="2600" dirty="0"/>
          </a:p>
        </p:txBody>
      </p:sp>
      <p:sp>
        <p:nvSpPr>
          <p:cNvPr id="27" name="Text 24"/>
          <p:cNvSpPr txBox="1"/>
          <p:nvPr/>
        </p:nvSpPr>
        <p:spPr>
          <a:xfrm>
            <a:off x="3840480"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الطَّالِبَيْنِ</a:t>
            </a:r>
            <a:endParaRPr lang="ar-SA" sz="26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مُعَلِّمِينَ</a:t>
            </a:r>
            <a:endParaRPr lang="ar-SA" sz="2600" dirty="0"/>
          </a:p>
        </p:txBody>
      </p:sp>
      <p:sp>
        <p:nvSpPr>
          <p:cNvPr id="31" name="Text 28"/>
          <p:cNvSpPr txBox="1"/>
          <p:nvPr/>
        </p:nvSpPr>
        <p:spPr>
          <a:xfrm>
            <a:off x="3840480"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الْمُعَلِّمِينَ</a:t>
            </a:r>
            <a:endParaRPr lang="ar-SA" sz="26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masculine plural</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طَالِبَاتٍ</a:t>
            </a:r>
            <a:endParaRPr lang="ar-SA" sz="2600" dirty="0"/>
          </a:p>
        </p:txBody>
      </p:sp>
      <p:sp>
        <p:nvSpPr>
          <p:cNvPr id="35" name="Text 32"/>
          <p:cNvSpPr txBox="1"/>
          <p:nvPr/>
        </p:nvSpPr>
        <p:spPr>
          <a:xfrm>
            <a:off x="3840480"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الطَّالِبَاتِ</a:t>
            </a:r>
            <a:endParaRPr lang="ar-SA" sz="2600" dirty="0"/>
          </a:p>
        </p:txBody>
      </p:sp>
      <p:sp>
        <p:nvSpPr>
          <p:cNvPr id="36" name="Text 33"/>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feminine plural</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duals and sound masculine plurals use the same ending for accusative and genitive (-ayni, -īna); the sound feminine plural uses kasra in both. Find the trigger to know which case it is.</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5 · LOCATORS CONTAIN TWO CASE DECISIONS (WEBSITE TABLE)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Locator (-a) + genitive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ظَرْفٌ + 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Complement</a:t>
            </a:r>
            <a:endParaRPr lang="en-US" sz="1100" dirty="0"/>
          </a:p>
        </p:txBody>
      </p:sp>
      <p:sp>
        <p:nvSpPr>
          <p:cNvPr id="17" name="Text 14"/>
          <p:cNvSpPr txBox="1"/>
          <p:nvPr/>
        </p:nvSpPr>
        <p:spPr>
          <a:xfrm>
            <a:off x="45537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al-masjidi: -i</a:t>
            </a:r>
            <a:endParaRPr lang="en-US" sz="1100" dirty="0"/>
          </a:p>
        </p:txBody>
      </p:sp>
      <p:sp>
        <p:nvSpPr>
          <p:cNvPr id="21" name="Text 18"/>
          <p:cNvSpPr txBox="1"/>
          <p:nvPr/>
        </p:nvSpPr>
        <p:spPr>
          <a:xfrm>
            <a:off x="459028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amāma: -a</a:t>
            </a:r>
            <a:endParaRPr lang="en-US" sz="11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أَمَامَ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al-madrasati: -i</a:t>
            </a:r>
            <a:endParaRPr lang="en-US" sz="1100" dirty="0"/>
          </a:p>
        </p:txBody>
      </p:sp>
      <p:sp>
        <p:nvSpPr>
          <p:cNvPr id="27" name="Text 24"/>
          <p:cNvSpPr txBox="1"/>
          <p:nvPr/>
        </p:nvSpPr>
        <p:spPr>
          <a:xfrm>
            <a:off x="459028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khalfa: -a</a:t>
            </a:r>
            <a:endParaRPr lang="en-US" sz="11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خَلْفَ الْمَدْرَسَةِ</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nouns: -i</a:t>
            </a:r>
            <a:endParaRPr lang="en-US" sz="1100" dirty="0"/>
          </a:p>
        </p:txBody>
      </p:sp>
      <p:sp>
        <p:nvSpPr>
          <p:cNvPr id="33" name="Text 30"/>
          <p:cNvSpPr txBox="1"/>
          <p:nvPr/>
        </p:nvSpPr>
        <p:spPr>
          <a:xfrm>
            <a:off x="459028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-a</a:t>
            </a:r>
            <a:endParaRPr lang="en-US" sz="11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 الْبَيْتِ وَالْمَتْجَرِ</a:t>
            </a:r>
            <a:endParaRPr lang="ar-SA" sz="2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adjective: -in</a:t>
            </a:r>
            <a:endParaRPr lang="en-US" sz="1100" dirty="0"/>
          </a:p>
        </p:txBody>
      </p:sp>
      <p:sp>
        <p:nvSpPr>
          <p:cNvPr id="37" name="Text 34"/>
          <p:cNvSpPr txBox="1"/>
          <p:nvPr/>
        </p:nvSpPr>
        <p:spPr>
          <a:xfrm>
            <a:off x="459028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qurba: -a</a:t>
            </a:r>
            <a:endParaRPr lang="en-US" sz="11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قُرْبَ مَحَطَّةٍ كَبِيرَةٍ</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whole phrase cannot be called “genitive” — different words have different jobs. Stretch: pronouns can replace the genitive noun — fī l-bayti → fīhi; kitābu ṭ-ṭālibi → kitābuhu.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الْمَكْتَبَةِ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صَدِيقٍ قَدِيمٍ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صَدِيقٌ قَدِيمٌ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صَدِيقٍ قَدِيمٌ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after a preposition.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طَالِبَانِ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طَالِبَيْنِ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طَالِبُونَ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لِلْمُعَلِّمِينَ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لِلْمُعَلِّمُونَ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لِلْمُعَلِّمَاتُ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الْمَكْتَبَةَ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الْمَكْتَبَةُ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 الْمَكْتَبَةِ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ilā: -i.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indefinite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صَدِيقٍ قَدِيمٍ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صَدِيقٌ قَدِيمٌ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صَدِيقٍ قَدِيمٌ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and adjective: both -in.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dual after a preposition.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طَالِبَانِ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طَالِبَيْنِ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طَالِبُونَ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after a preposition: -ayni.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sound masculine plural.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لِلْمُعَلِّمِينَ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لِلْمُعَلِّمُونَ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لِلْمُعَلِّمَاتُ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 plural: -īna.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Watch me follow the triggers in a place description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Locator: next noun -i.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Genitive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مَدْرَسَةٍ كَبِيرَةٍ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Noun + adjective: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Iḍāfa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حَدِيقَةُ الْحَيِّ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 the garden.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يَقَعُ </a:t>
            </a:r>
            <a:pPr rtl="1" algn="r" indent="0" marL="0">
              <a:buNone/>
            </a:pPr>
            <a:r>
              <a:rPr lang="ar-SA" altLang="en-US" sz="2000" b="1" dirty="0">
                <a:solidFill>
                  <a:srgbClr val="0E7C86"/>
                </a:solidFill>
                <a:latin typeface="Amiri" pitchFamily="2" charset="-78"/>
                <a:cs typeface="Amiri" pitchFamily="2" charset="-78"/>
              </a:rPr>
              <a:t>بَيْتُ</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عَائِلَتِي</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cs typeface="Amiri" pitchFamily="2" charset="-78"/>
              </a:rPr>
              <a:t>قُرْبَ</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مَدْرَسَةٍ كَبِيرَةٍ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cs typeface="Amiri" pitchFamily="2" charset="-78"/>
              </a:rPr>
              <a:t>أَمَامَ</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الْبَيْتِ</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cs typeface="Amiri" pitchFamily="2" charset="-78"/>
              </a:rPr>
              <a:t>حَدِيقَةُ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الْحَيِّ</a:t>
            </a:r>
            <a:pPr rtl="1" algn="r" indent="0" marL="0">
              <a:buNone/>
            </a:pPr>
            <a:r>
              <a:rPr lang="ar-SA" altLang="en-US" sz="2000" b="1" dirty="0">
                <a:solidFill>
                  <a:srgbClr val="1B3B6F"/>
                </a:solidFill>
                <a:latin typeface="Amiri" pitchFamily="2" charset="-78"/>
                <a:cs typeface="Amiri" pitchFamily="2" charset="-78"/>
              </a:rPr>
              <a:t> الْجَمِيلَةُ. أَمْشِي كُلَّ صَبَاحٍ </a:t>
            </a:r>
            <a:pPr rtl="1" algn="r" indent="0" marL="0">
              <a:buNone/>
            </a:pPr>
            <a:r>
              <a:rPr lang="ar-SA" altLang="en-US" sz="2000" b="1" dirty="0">
                <a:solidFill>
                  <a:srgbClr val="0E7C86"/>
                </a:solidFill>
                <a:latin typeface="Amiri" pitchFamily="2" charset="-78"/>
                <a:cs typeface="Amiri" pitchFamily="2" charset="-78"/>
              </a:rPr>
              <a:t>إِلَى</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الْمَدْرَسَةِ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cs typeface="Amiri" pitchFamily="2" charset="-78"/>
              </a:rPr>
              <a:t>مَعَ</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7B3FA0"/>
                </a:solidFill>
                <a:latin typeface="Amiri" pitchFamily="2" charset="-78"/>
                <a:cs typeface="Amiri" pitchFamily="2" charset="-78"/>
              </a:rPr>
              <a:t>صَدِيقَيْنِ قَدِيمَيْنِ</a:t>
            </a:r>
            <a:pPr rtl="1" algn="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My family’s house is near a big school. In front of the house is the neighbourhood’s beautiful garden. Every morning I walk to school with two old friends.</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ذَهَبْتُ إِلَى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went to the library.</a:t>
            </a:r>
            <a:endParaRPr lang="en-US" sz="1250" dirty="0"/>
          </a:p>
          <a:p>
            <a:pPr indent="0" marL="0">
              <a:buNone/>
            </a:pPr>
            <a:r>
              <a:rPr lang="en-US" sz="1050" i="1" dirty="0">
                <a:solidFill>
                  <a:srgbClr val="8A6D1E"/>
                </a:solidFill>
                <a:latin typeface="Calibri" pitchFamily="34" charset="0"/>
                <a:cs typeface="Amiri" pitchFamily="2" charset="-78"/>
              </a:rPr>
              <a:t>After ilā: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كِتَابُ الطَّالِبِ.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student’s book.</a:t>
            </a:r>
            <a:endParaRPr lang="en-US" sz="1250" dirty="0"/>
          </a:p>
          <a:p>
            <a:pPr indent="0" marL="0">
              <a:buNone/>
            </a:pPr>
            <a:r>
              <a:rPr lang="en-US" sz="1050" i="1" dirty="0">
                <a:solidFill>
                  <a:srgbClr val="8A6D1E"/>
                </a:solidFill>
                <a:latin typeface="Calibri" pitchFamily="34" charset="0"/>
                <a:cs typeface="Amiri" pitchFamily="2" charset="-78"/>
              </a:rPr>
              <a:t>Iḍāfa: -i.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سَافَرْتُ مَعَ صَدِيقٍ قَدِيمٍ.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travelled with an old friend.</a:t>
            </a:r>
            <a:endParaRPr lang="en-US" sz="1250" dirty="0"/>
          </a:p>
          <a:p>
            <a:pPr indent="0" marL="0">
              <a:buNone/>
            </a:pPr>
            <a:r>
              <a:rPr lang="en-US" sz="1050" i="1" dirty="0">
                <a:solidFill>
                  <a:srgbClr val="8A6D1E"/>
                </a:solidFill>
                <a:latin typeface="Calibri" pitchFamily="34" charset="0"/>
                <a:cs typeface="Amiri" pitchFamily="2" charset="-78"/>
              </a:rPr>
              <a:t>-in + -in.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تَحَدَّثْتُ مَعَ الْمُعَلِّمِينَ.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talked with the teachers.</a:t>
            </a:r>
            <a:endParaRPr lang="en-US" sz="1250" dirty="0"/>
          </a:p>
          <a:p>
            <a:pPr indent="0" marL="0">
              <a:buNone/>
            </a:pPr>
            <a:r>
              <a:rPr lang="en-US" sz="1050" i="1" dirty="0">
                <a:solidFill>
                  <a:srgbClr val="8A6D1E"/>
                </a:solidFill>
                <a:latin typeface="Calibri" pitchFamily="34" charset="0"/>
                <a:cs typeface="Amiri" pitchFamily="2" charset="-78"/>
              </a:rPr>
              <a:t>Plural: -īna.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GENITIVE PHRASE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trigger, add the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قُلْهَا بِالْجَرِّ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1" name="Text 18"/>
          <p:cNvSpPr txBox="1"/>
          <p:nvPr/>
        </p:nvSpPr>
        <p:spPr>
          <a:xfrm>
            <a:off x="38404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الْمَدْرَسَةِ الْكَبِيرَةِ</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large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27" name="Text 24"/>
          <p:cNvSpPr txBox="1"/>
          <p:nvPr/>
        </p:nvSpPr>
        <p:spPr>
          <a:xfrm>
            <a:off x="38404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صَدِيقٍ قَدِيمٍ</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an old friend</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(dual -ayni)</a:t>
            </a:r>
            <a:endParaRPr lang="en-US" sz="1100" dirty="0"/>
          </a:p>
        </p:txBody>
      </p:sp>
      <p:sp>
        <p:nvSpPr>
          <p:cNvPr id="33" name="Text 30"/>
          <p:cNvSpPr txBox="1"/>
          <p:nvPr/>
        </p:nvSpPr>
        <p:spPr>
          <a:xfrm>
            <a:off x="38404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إِلَى مَدْرَسَتَيْنِ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two schools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 (plural -īna)</a:t>
            </a:r>
            <a:endParaRPr lang="en-US" sz="1100" dirty="0"/>
          </a:p>
        </p:txBody>
      </p:sp>
      <p:sp>
        <p:nvSpPr>
          <p:cNvPr id="37" name="Text 34"/>
          <p:cNvSpPr txBox="1"/>
          <p:nvPr/>
        </p:nvSpPr>
        <p:spPr>
          <a:xfrm>
            <a:off x="38404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 الْمُعَلِّمِينَ</a:t>
            </a:r>
            <a:endParaRPr lang="ar-SA" sz="2400" dirty="0"/>
          </a:p>
        </p:txBody>
      </p:sp>
      <p:sp>
        <p:nvSpPr>
          <p:cNvPr id="38" name="Text 35"/>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the teachers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iḍāfa</a:t>
            </a:r>
            <a:endParaRPr lang="en-US" sz="1100" dirty="0"/>
          </a:p>
        </p:txBody>
      </p:sp>
      <p:sp>
        <p:nvSpPr>
          <p:cNvPr id="41" name="Text 38"/>
          <p:cNvSpPr txBox="1"/>
          <p:nvPr/>
        </p:nvSpPr>
        <p:spPr>
          <a:xfrm>
            <a:off x="38404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الطَّالِبِ</a:t>
            </a:r>
            <a:endParaRPr lang="ar-SA" sz="2400" dirty="0"/>
          </a:p>
        </p:txBody>
      </p:sp>
      <p:sp>
        <p:nvSpPr>
          <p:cNvPr id="42" name="Text 3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pupil’s book</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locator</a:t>
            </a:r>
            <a:endParaRPr lang="en-US" sz="1100" dirty="0"/>
          </a:p>
        </p:txBody>
      </p:sp>
      <p:sp>
        <p:nvSpPr>
          <p:cNvPr id="47" name="Text 44"/>
          <p:cNvSpPr txBox="1"/>
          <p:nvPr/>
        </p:nvSpPr>
        <p:spPr>
          <a:xfrm>
            <a:off x="38404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أَمَامَ الْمَسْجِدِ</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the mosque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strategy: find the trigger, then follow the noun–adjective chain.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TRIGGER?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Preposition or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حَرْفُ جَرٍّ أَمْ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صَدِيقٍ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الطَّاوِلَةِ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الطَّالِبِ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الْفَصْلِ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مَدْرَسَةٍ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 الْمُعَلِّمِ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Preposition trigger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Iḍāfa trigger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Preposition trigger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صَدِيقٍ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الطَّاوِلَةِ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Iḍāfa trigger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 الطَّالِبِ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 الْفَصْلِ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مُدِيرُ 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 الْمُعَلِّمِ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before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الْبَابُ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Can the first noun of an iḍāfa take 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إِلَى الطَّالِبَانِ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Dual after ilā?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preposition: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الْبَابُ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بَابُ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of an iḍāfa has no al-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إِلَى الطَّالِبَانِ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إِلَى الطَّالِبَيْنِ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 genitive: -ayni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IḌĀFA AND SCOPE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large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الْكَبِيرَةِ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الْمَدْرَسَةِ الْكَبِيرُ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الْكَبِيرُ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of the large school”.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الْكَبِيرُ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الْكَبِيرَةِ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الْمَدْرَسَةُ الْكَبِيرَةُ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iḍāfa with an indefinite second noun.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مَدْرَسَةٌ جَدِيدَةٌ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مَدْرَسَةٍ جَدِيدَةٍ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 مَدْرَسَةٍ جَدِيدَةٍ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chain.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 مَدْرَسَةُ الْبَنَاتُ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الْمُدِيرُ الْمَدْرَسَةِ الْبَنَاتِ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 مَدْرَسَةِ الْبَنَاتِ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school’s large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 الْكَبِيرَةِ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 الْمَدْرَسَةِ الْكَبِيرُ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الْمَدْرَسَةِ الْكَبِيرُ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Al-kabīru (-u, m.) describes bābu.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of the large school”.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 الْكَبِيرُ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الْمَدْرَسَةِ الْكَبِيرَةِ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الْمَدْرَسَةُ الْكَبِيرَةُ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Al-kabīrati (-i, f.) describes al-madrasati.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iḍāfa with an indefinite second noun.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مَدْرَسَةٌ جَدِيدَةٌ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مَدْرَسَةٍ جَدِيدَةٍ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 مَدْرَسَةٍ جَدِيدَةٍ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Bābu madrasatin jadīdatin.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 chain.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مُدِيرٌ مَدْرَسَةُ الْبَنَاتُ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الْمُدِيرُ الْمَدْرَسَةِ الْبَنَاتِ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مُدِيرُ مَدْرَسَةِ الْبَنَاتِ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noun completes the one before.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MAP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 live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أَسْكُنُ فِي شَقَّةٍ صَغِيرَةٍ فِي الطَّابِقِ الثَّالِثِ. تَقَعُ الْعِمَارَةُ فِي شَارِعٍ هَادِئٍ بَيْنَ الْمَسْجِدِ وَالسُّوقِ. أَمَامَ الْعِمَارَةِ مَوْقِفُ الْحَافِلَاتِ، وَخَلْفَهَا حَدِيقَةٌ وَاسِعَةٌ. غُرْفَتِي بِجَانِبِ غُرْفَةِ أَخَوَيَّ، وَنَافِذَتُهَا عَلَى الشَّارِعِ. فِي نِهَايَةِ الشَّارِعِ مَدْرَسَةُ الْبَنَاتِ الْكَبِيرَةُ، وَقُرْبَهَا مَكْتَبَةٌ صَغِيرَةٌ لِلطُّلَّابِ. أَذْهَبُ إِلَى الْمَكْتَبَةِ مَعَ صَدِيقَتَيْنِ مِنْ صَفِّي كُلَّ 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الْعِمَارَةُ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building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مَوْقِفُ الْحَافِلَاتِ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نَافِذَتُهَا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window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صَدِيقَتَيْنِ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friends (f.)</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mosque and the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river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building?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madrasatu l-banāti l-kabīratu, what does al-kabīratu describe?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street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writer go to the library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friends from her class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building?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between the mosque and the 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river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l-masjidi wa-s-sūqi.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front of the building?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stop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Amāma l-ʿimārati mawqifu l-ḥāfilāti.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madrasatu l-banāti l-kabīratu, what does al-kabīratu describe?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school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street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 it matches madrasatu.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the writer go to the library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friends from her class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Maʿa ṣadīqatayni: dual -ayni.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give directions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أَمَامَ مَدْرَسَتِكَ وَخَلْفَهَا؟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أَذْهَبُ مِنْ بَيْتِكَ إِلَى الْمَسْجِدِ؟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بَيْتِي فِي ___ ، قُرْبَ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أَمَامَ الْمَدْرَسَةِ ___ ، وَخَلْفَهَا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اِمْشِ مِنْ ___ إِلَى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أَيْنَ مَكْتَبَةُ الْحَيِّ؟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neighbourhood library?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هِيَ فِي شَارِعِ الْمَدْرَسَةِ، بَيْنَ الْبَنْكِ وَالْمَخْبَزِ. اِمْشِ إِلَى نِهَايَةِ الشَّارِعِ، وَسَتَجِدُهَا أَمَامَ مَوْقِفِ الْحَافِلَاتِ.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on School Street, between the bank and the bakery. Walk to the end of the street and you will find it in front of the bus stop.</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Your room: where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 · ʿalā … · bi-jānibi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iḍāfa phrases and one dual or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bābu l-ghurfati · maʿa ukhtayya.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place description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Sketch the place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أَمَامَ الْمَدْرَسَةِ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front of the school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الْمَسْجِدُ بَيْنَ ______ وَ______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mosque is between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قُرْبَ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near a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تَحَدَّثْتُ مَعَ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talked with the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بَيْتِي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______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______ أَخِي.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brother’s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الْكِتَابُ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 is on the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  إِلَى  ·  مِنْ  ·  عَلَى  ·  مَعَ  ·  أَمَامَ  ·  خَلْفَ  ·  بَيْنَ  ·  قُرْبَ  ·  بِجَانِبِ  ·  الْبَيْتِ  ·  الْمَدْرَسَةِ  ·  كَبِيرٍ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place description (110–130 words): a room, school, route or neighbourhood.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prepositional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locators (amāma, khalfa, bayna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iḍāfa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or plural genitive.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 scope correct in your iḍāfa phrases.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يَمِينِ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right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يَسَارِ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left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وَسَطِ</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middle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فَوْقَ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above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under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end of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غُرْفَتِي فِي الطَّابِقِ الْعُلْوِيِّ مِنْ بَيْتِنَا، وَهِيَ مَكَانِي الْمُفَضَّلُ. عَلَى يَمِينِ الْبَابِ مَكْتَبٌ خَشَبِيٌّ، وَفَوْقَ الْمَكْتَبِ رَفُّ الْكُتُبِ الْقَدِيمُ. أَضَعُ كُتُبَ الْمَدْرَسَةِ عَلَى الرَّفِّ، وَأَضَعُ دَفَاتِرِي فِي دُرْجِ الْمَكْتَبِ. بَيْنَ السَّرِيرِ وَالنَّافِذَةِ كُرْسِيٌّ مُرِيحٌ لِلْقِرَاءَةِ. نَافِذَةُ الْغُرْفَةِ الْكَبِيرَةُ عَلَى حَدِيقَةِ الْجِيرَانِ، فَأَرَى أَشْجَارَ الْحَدِيقَةِ كُلَّ صَبَاحٍ. تَحْتَ السَّرِيرِ صُنْدُوقٌ فِيهِ أَلْعَابُ طُفُولَتِي. عَلَى الْجِدَارِ صُورَةُ جَدِّي وَجَدَّتِي فِي يَوْمِ زِفَافِهِمَا. فِي الْمَسَاءِ أَجْلِسُ مَعَ أُخْتَيَّ الصَّغِيرَتَيْنِ فِي غُرْفَتِي، وَنَتَحَدَّثُ عَنْ أَحْدَاثِ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on the top floor of our house, and it is my favourite place. To the right of the door is a wooden desk, and above the desk is the old bookshelf. I put my school books on the shelf and my exercise books in the desk drawer. Between the bed and the window is a comfortable reading chair. The room’s big window looks onto the neighbours’ garden, so I see the garden’s trees every morning. Under the bed is a box with my childhood toys in it. On the wall is a picture of my grandfather and grandmother on their wedding day. In the evening I sit with my two little sisters in my room, and we talk about the day’s events.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preposition +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locator + -i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adjective scope (-u or -i)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noun after a preposition ends in -i /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first noun of my iḍāfa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carry the -i too.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Duals and plurals: -ayni, -īna, -āti.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 ending shows which noun it describes.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after a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مَدْرَسَتَيْنِ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مَدْرَسَتَانِ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مَدْرَسَاتٌ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 الطَّالِبُ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أَمَامَ الْمَسْجِدِ</a:t>
            </a:r>
            <a:pPr algn="l" indent="0" marL="0">
              <a:buNone/>
            </a:pPr>
            <a:r>
              <a:rPr lang="en-US" sz="1250" b="1" dirty="0">
                <a:solidFill>
                  <a:srgbClr val="1B3B6F"/>
                </a:solidFill>
                <a:latin typeface="Calibri" pitchFamily="34" charset="0"/>
                <a:cs typeface="Amiri" pitchFamily="2" charset="-78"/>
              </a:rPr>
              <a:t>, why is al-masjidi genitive?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completes the locator as an iḍāfa.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direct object.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after a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 مَدْرَسَتَيْنِ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 مَدْرَسَتَانِ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 مَدْرَسَاتٌ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dual after ilā: -atayni.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definite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الْكِتَابُ الطَّالِبِ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كِتَابُ الطَّالِبِ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كِتَابٌ الطَّالِبُ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on the first noun; second noun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أَمَامَ الْمَسْجِدِ</a:t>
            </a:r>
            <a:pPr algn="l" indent="0" marL="0">
              <a:buNone/>
            </a:pPr>
            <a:r>
              <a:rPr lang="en-US" sz="1250" b="1" dirty="0">
                <a:solidFill>
                  <a:srgbClr val="1B3B6F"/>
                </a:solidFill>
                <a:latin typeface="Calibri" pitchFamily="34" charset="0"/>
                <a:cs typeface="Amiri" pitchFamily="2" charset="-78"/>
              </a:rPr>
              <a:t>, why is al-masjidi genitive?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completes the locator as an iḍāfa.</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direct object.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completes the locator.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GM-CASE-03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GM-POS-01: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Case Endings · GM-CASE-03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GM-POS-01 · Possessive Endings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(m.)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 (f.)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Today kitābuhu (his book) replaced kitābu ṭ-ṭālibi. How do you think you say “the girl’s bag” with a pronoun?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كِتَابُ الطَّالِبِ = كِتَابُهُ · حَقِيبَةُ الطَّالِبَةِ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prepositional phrases about your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iḍāfa phrases with adjectives.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GM-CASE-03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GM-POS-01 · Possessive Endings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ضَمَائِرُ الْمِلْكِيَّةِ الْمُتَّصِلَةُ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genitive (-i / -in) after a preposition and on the second noun of an iḍāfa · the first noun of an iḍāfa: no al-, no tanwīn · adjectives copy the -i · dual -ayni, plural -īna / -āti · amāma (-a) + l-masjidi (-i).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GM-CASE-03 · The Genitive Case</dc:title>
  <dc:subject>PptxGenJS Presentation</dc:subject>
  <dc:creator>Al Madina Online School · Arabic Department</dc:creator>
  <cp:lastModifiedBy>Al Madina Online School · Arabic Department</cp:lastModifiedBy>
  <cp:revision>1</cp:revision>
  <dcterms:created xsi:type="dcterms:W3CDTF">2026-10-11T06:42:10Z</dcterms:created>
  <dcterms:modified xsi:type="dcterms:W3CDTF">2026-10-11T06:42:10Z</dcterms:modified>
</cp:coreProperties>
</file>