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10–13 Grammar words · 13–24 The grammar, step by step · 24–26 Quick check · 26–29 I Do · 29–38 We Do (sort, repair, practise) · 38–49 You Do (read, speak, write on your route) · 49–54 Feedback (model, self-check, exit ticket) · 54–56 Preparation.
FLEX slides are optional: use them if the class is moving quickly; otherwise the same activities are on the website for homework.
Content source: Miftah Arabic website, Mastery &amp; Revision › Grammar › Arabic Verb Forms › GM-VF-07 (“Form VII: Change of State”). The Do Now, quick check, game practice, exit ticket and mastery check are the website’s own quizzes; the reading text, speaking and writing tasks are the website’s four-skills application. Explanation slides, worked examples, sorter, repair items, frames and model translations are teacher-made on the website rules and labelled in the notes.
SUPPORT FOR THIS CLASS (Arabic not yet secure; mixed levels):
• Core: اِنْكَسَرَ · يَنْكَسِرُ and the family اِنْفَتَحَ · اِنْقَطَعَ · اِنْصَرَفَ to report small problems. Develop: present forms (يَنْكَسِرُ · تَنْقَطِعُ · أَنْصَرِفُ) and the verbal noun اِنْفِعَالٌ (اِنْقِطَاعٌ · اِنْصِرَافٌ). Stretch: Form I → VII (كَسَرَ / اِنْكَسَرَ) and the website clinic: Form VII is not the passive (كُسِرَ vs اِنْكَسَرَ).
• Website point: the first alif is hamzat al-waṣl — it is not pronounced after a word: ثُمَّ انْقَطَعَ (thumma nqaṭaʿa).
• Form VII verbs have no object: the subject is the thing that changes.
• Grammar words are always given in English AND Arabic: students should be able to name the rule, not just apply it.
• Colour code (same as all Miftah lessons): WHO = blue, MEANING = purple, ENDING = pink, PATTERN = orange, KEY WORD = teal.
• SEND “automatic doors”: lesson map, chunked tasks, worked examples before practice, cover-the-text reading and “pass” for reading aloud are built in for everyone.
ROUTES: Core (green) = students whose Arabic is not yet secure; Develop (amber) = on track; Stretch (red) = confident. Same objective for everyone — the task changes, not the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Teacher-written retrieval from GM-VF-06 and its prep words (inkasara, infataḥa, inqaṭaʿa, inṣarafa).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Form VII = in- + root (infaʿala). The subject is what changes — no doer, no object. Present: yanfaʿilu.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Objectives are drawn from the website lesson purpose and its Core / Develop / Stretch routes.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WORDS (3 min). These are the words we use to TALK ABOUT the grammar. Hear → Say → See → Use:
say each term twice, class repeats, point to the example on the card, then ask “Which word means …?” (chat the number).
Core students learn the English name and recognise the Arabic; Develop/Stretch use the Arabic term when explaining a rule.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 (3 min) — website “Root and pattern”. Commands only exist where a person can do the action (inṣarif! leave!).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 (4 min) — website “Learn the family” (website sentences 2–3; “the glass” changed to al-kūb — see file note).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3 (3 min). Inṣarafa works well for people (we left); inkasara for things.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Self-check item, plus three teacher items.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think aloud at every step: name the rule in English and Arabic as you apply it.
Website “Apply the form” model (glass → cup). Note thumma nqaṭaʿa — the linking alif is silent.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Students copy TWO that are useful for them.
• Core: copy one and change one word. • Develop: copy two and change the noun. • Stretch: combine two into one longer sentence.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(3 min). Students turn each Form I sentence into a Form VII sentence (the object moves to the subject).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Website: compare fataḥa, infataḥa and futiḥa — active Form I, Form VII and the passive. Both may translate “was opened” in English.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Website: compare fataḥa, infataḥa and futiḥa — active Form I, Form VII and the passive. Both may translate “was opened” in English.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Self-check item and teacher-written questions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AND NOTICE (3 min) — reading for Form VII (teacher-written account). Read it aloud once while students follow; then they hunt for today’s grammar.
Task: Website: write about a minor problem. First, underline every Form VII verb here.
SEND reading strategy: cover the text and uncover one sentence at a time. Core: use the green glossary.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(3 min). Teacher-written account for the website “Apply the form” task; questions teacher-written.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 student reads the phrase aloud and names the rule (in English or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(3 min) — website “Apply the form”. Sequence: ● 10s think → ↔ 45s rehearse aloud with mic muted → ◎ two named students on open mic (warned in advance) → + ? the class types one follow-up in chat → ↺ one student summarises.
Routes: Core uses the Core prompt and stem; Develop the Develop prompt; Stretch the last prompt.
Website: a broken item, an interrupted connection and what happened next. Practise the silent linking alif: wa-nqaṭaʿa.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writing task: Write a short account of a minor problem at school or home. Include a broken item, an interrupted connection and a sentence explaining what happened next.
LIVE FEEDBACK: students post their first two sentences in the chat after 3 minutes. Scan and correct the target rule immediately (private chat for individual corrections).
Work with the less able: stay with Core students for the first 3 minutes. SEND: chunk the Core task — “two sentences, then show me”.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built on today’s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teacher model on the website writing task, with an English translation for Core students.
Students find in the model (● 20s → ◎) the items on the chips. 
Then each student chooses ONE thing from the model to add to their own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3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(GM-VF-08 · Form VIII: Meeting, Choosing and Acquiring) will spend class time USING this language, so students prepare it tonight — short, simple, easy to access (school guidance: “Simple, Short, Interesting, Relevant, Easy to access”). The five words prepare GM-VF-08 (website Verb Forms: Form VIII).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MIFTAH GRAMMAR MASTERY  ·  ARABIC VERB FORMS  ·  GM-VF-07</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GM-VF-07</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Form VII: Change of State</a:t>
            </a:r>
            <a:endParaRPr lang="en-US" sz="40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الْوَزْنُ السَّابِعُ</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Form VII puts in- before the root: kasara (break something) → inkasara (break / get broken). Present: yankasiru. It describes what happens to the subject — no doer, no object.</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GM-VF-07 · Grammar Mastery</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All pathways · revision</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Grammar › Arabic Verb Forms</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GM-VF-07 · Arabic Verb Forms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GM-VF-07</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34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GM-VF-07 · Arabic Verb Forms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GM-VF-07</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Pattern card; family; conjugation; Form I vs VII vs passive.</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Break → get broken; sort Form VII / passive; repair.</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GM-VF-08.</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34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GM-VF-07 · Arabic Verb Forms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GM-VF-07</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is Form VI?</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تَعَلَّمَ</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تَعَاوَنَ</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عَاوَنَ</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Kasara l-waladu l-kūba means …</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boy broke the cup</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cup broke</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boy was broken</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Inkasara l-kūbu means …</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boy broke the cup</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break the cup!</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cup broke</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present of </a:t>
            </a:r>
            <a:pPr algn="l" indent="0" marL="0">
              <a:buNone/>
            </a:pPr>
            <a:r>
              <a:rPr lang="ar-SA" altLang="en-US" sz="1650" b="1" dirty="0">
                <a:solidFill>
                  <a:srgbClr val="1B3B6F"/>
                </a:solidFill>
                <a:latin typeface="Amiri" pitchFamily="2" charset="-78"/>
                <a:ea typeface="Amiri" pitchFamily="2" charset="-78"/>
                <a:cs typeface="Amiri" pitchFamily="2" charset="-78"/>
              </a:rPr>
              <a:t>اِنْفَتَحَ</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يُنْفَتَحُ</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يَفْتَحُ</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يَنْفَتِحُ</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Inṣarafa means …</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leave</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arrive</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spend</a:t>
            </a:r>
            <a:endParaRPr lang="en-US" sz="12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34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GM-VF-07 · Arabic Verb Forms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GM-VF-07</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is Form VI?</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تَعَلَّمَ</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تَعَاوَنَ</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عَاوَنَ</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ta- + ā (GM-VF-06).</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Kasara l-waladu l-kūba means …</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boy broke the cup</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cup broke</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boy was broken</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Form I with a doer and an object.</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Inkasara l-kūbu means …</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boy broke the cup</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break the cup!</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cup broke</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prep question.</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present of </a:t>
            </a:r>
            <a:pPr algn="l" indent="0" marL="0">
              <a:buNone/>
            </a:pPr>
            <a:r>
              <a:rPr lang="ar-SA" altLang="en-US" sz="1650" b="1" dirty="0">
                <a:solidFill>
                  <a:srgbClr val="1B3B6F"/>
                </a:solidFill>
                <a:latin typeface="Amiri" pitchFamily="2" charset="-78"/>
                <a:ea typeface="Amiri" pitchFamily="2" charset="-78"/>
                <a:cs typeface="Amiri" pitchFamily="2" charset="-78"/>
              </a:rPr>
              <a:t>اِنْفَتَحَ</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يُنْفَتَحُ</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يَفْتَحُ</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يَنْفَتِحُ</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Form VII: ya- + n-.</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Inṣarafa means …</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to leave</a:t>
            </a:r>
            <a:endParaRPr lang="en-US" sz="125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arrive</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spend</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 word.</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Form VII = in- + root (infaʿala). The subject is what changes — no doer, no object. Present: yanfaʿilu.</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0E7C86"/>
                </a:solidFill>
                <a:latin typeface="Amiri" pitchFamily="2" charset="-78"/>
                <a:ea typeface="Amiri" pitchFamily="2" charset="-78"/>
                <a:cs typeface="Amiri" pitchFamily="2" charset="-78"/>
              </a:rPr>
              <a:t>كَسَرَ</a:t>
            </a:r>
            <a:pPr rtl="1" algn="ctr" indent="0" marL="0">
              <a:lnSpc>
                <a:spcPct val="120000"/>
              </a:lnSpc>
              <a:buNone/>
            </a:pPr>
            <a:r>
              <a:rPr lang="ar-SA" altLang="en-US" sz="2200" b="1" dirty="0">
                <a:solidFill>
                  <a:srgbClr val="1B3B6F"/>
                </a:solidFill>
                <a:latin typeface="Amiri" pitchFamily="2" charset="-78"/>
                <a:ea typeface="Amiri" pitchFamily="2" charset="-78"/>
                <a:cs typeface="Amiri" pitchFamily="2" charset="-78"/>
              </a:rPr>
              <a:t> الْوَلَدُ الْكُوبَ ‖ </a:t>
            </a:r>
            <a:pPr rtl="1" algn="ctr" indent="0" marL="0">
              <a:lnSpc>
                <a:spcPct val="120000"/>
              </a:lnSpc>
              <a:buNone/>
            </a:pPr>
            <a:r>
              <a:rPr lang="ar-SA" altLang="en-US" sz="2200" b="1" dirty="0">
                <a:solidFill>
                  <a:srgbClr val="D6336C"/>
                </a:solidFill>
                <a:latin typeface="Amiri" pitchFamily="2" charset="-78"/>
                <a:ea typeface="Amiri" pitchFamily="2" charset="-78"/>
                <a:cs typeface="Amiri" pitchFamily="2" charset="-78"/>
              </a:rPr>
              <a:t>اِنْكَسَرَ</a:t>
            </a:r>
            <a:pPr rtl="1" algn="ctr" indent="0" marL="0">
              <a:lnSpc>
                <a:spcPct val="120000"/>
              </a:lnSpc>
              <a:buNone/>
            </a:pPr>
            <a:r>
              <a:rPr lang="ar-SA" altLang="en-US" sz="2200" b="1" dirty="0">
                <a:solidFill>
                  <a:srgbClr val="1B3B6F"/>
                </a:solidFill>
                <a:latin typeface="Amiri" pitchFamily="2" charset="-78"/>
                <a:ea typeface="Amiri" pitchFamily="2" charset="-78"/>
                <a:cs typeface="Amiri" pitchFamily="2" charset="-78"/>
              </a:rPr>
              <a:t> الْكُوبُ</a:t>
            </a:r>
            <a:endParaRPr lang="ar-SA" sz="220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34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GM-VF-07 · Arabic Verb Forms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GM-VF-07</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Recognise Form VII by the in- before the root.</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Form the present with yan-.</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Report small problems with Form VII verbs.</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Tell Form VII from the passive.</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say the cup broke and the door opened.</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write one sentence about a problem.</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conjugate inṣarafa in past and present.</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use inqiṭāʿ (cut / interruption).</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compare kasara, inkasara and kusira.</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explain why Form VII has no object.</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34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GM-VF-07 · Arabic Verb Forms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THE GRAMMAR WORDS WE WILL USE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Grammar words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مُصْطَلَحَاتُ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GM-VF-07</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الْوَزْنُ السَّابِعُ</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Form VII</a:t>
            </a:r>
            <a:endParaRPr lang="en-US" sz="1350" dirty="0"/>
          </a:p>
          <a:p>
            <a:pPr indent="0" marL="0">
              <a:buNone/>
            </a:pPr>
            <a:r>
              <a:rPr lang="en-US" sz="1100" i="1" dirty="0">
                <a:solidFill>
                  <a:srgbClr val="5A6472"/>
                </a:solidFill>
                <a:latin typeface="Calibri" pitchFamily="34" charset="0"/>
                <a:cs typeface="Amiri" pitchFamily="2" charset="-78"/>
              </a:rPr>
              <a:t>al-waz-nu as-sā-bi-ʿu</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اِنْفَعَلَ</a:t>
            </a:r>
            <a:endParaRPr lang="ar-SA" sz="13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6" name="Shape 23"/>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8" name="Text 25"/>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هَمْزَةُ الْوَصْلِ</a:t>
            </a:r>
            <a:endParaRPr lang="ar-SA" sz="3000" dirty="0"/>
          </a:p>
        </p:txBody>
      </p:sp>
      <p:sp>
        <p:nvSpPr>
          <p:cNvPr id="29" name="Text 26"/>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linking alif (not pronounced mid-sentence)</a:t>
            </a:r>
            <a:endParaRPr lang="en-US" sz="1350" dirty="0"/>
          </a:p>
          <a:p>
            <a:pPr indent="0" marL="0">
              <a:buNone/>
            </a:pPr>
            <a:r>
              <a:rPr lang="en-US" sz="1100" i="1" dirty="0">
                <a:solidFill>
                  <a:srgbClr val="5A6472"/>
                </a:solidFill>
                <a:latin typeface="Calibri" pitchFamily="34" charset="0"/>
                <a:cs typeface="Amiri" pitchFamily="2" charset="-78"/>
              </a:rPr>
              <a:t>ham-za-tu al-waṣ-li</a:t>
            </a:r>
            <a:endParaRPr lang="en-US" sz="1350" dirty="0"/>
          </a:p>
        </p:txBody>
      </p:sp>
      <p:sp>
        <p:nvSpPr>
          <p:cNvPr id="30" name="Text 27"/>
          <p:cNvSpPr txBox="1"/>
          <p:nvPr/>
        </p:nvSpPr>
        <p:spPr>
          <a:xfrm>
            <a:off x="4416552"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ثُمَّ انْقَطَعَ</a:t>
            </a:r>
            <a:endParaRPr lang="ar-SA" sz="130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4" name="Shape 3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6" name="Text 33"/>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الْفِعْلُ اللَّازِمُ</a:t>
            </a:r>
            <a:endParaRPr lang="ar-SA" sz="3000" dirty="0"/>
          </a:p>
        </p:txBody>
      </p:sp>
      <p:sp>
        <p:nvSpPr>
          <p:cNvPr id="37" name="Text 34"/>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verb with no object</a:t>
            </a:r>
            <a:endParaRPr lang="en-US" sz="1350" dirty="0"/>
          </a:p>
          <a:p>
            <a:pPr indent="0" marL="0">
              <a:buNone/>
            </a:pPr>
            <a:r>
              <a:rPr lang="en-US" sz="1100" i="1" dirty="0">
                <a:solidFill>
                  <a:srgbClr val="5A6472"/>
                </a:solidFill>
                <a:latin typeface="Calibri" pitchFamily="34" charset="0"/>
                <a:cs typeface="Amiri" pitchFamily="2" charset="-78"/>
              </a:rPr>
              <a:t>al-fiʿ-lu all-lā-zi-mu</a:t>
            </a:r>
            <a:endParaRPr lang="en-US" sz="1350" dirty="0"/>
          </a:p>
        </p:txBody>
      </p:sp>
      <p:sp>
        <p:nvSpPr>
          <p:cNvPr id="38" name="Text 35"/>
          <p:cNvSpPr txBox="1"/>
          <p:nvPr/>
        </p:nvSpPr>
        <p:spPr>
          <a:xfrm>
            <a:off x="594360"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اِنْكَسَرَ</a:t>
            </a:r>
            <a:endParaRPr lang="ar-SA" sz="1300" dirty="0"/>
          </a:p>
        </p:txBody>
      </p:sp>
      <p:sp>
        <p:nvSpPr>
          <p:cNvPr id="39" name="Shape 3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8211312"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2" name="Shape 39"/>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4" name="Text 41"/>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الْمُطَاوَعَةُ</a:t>
            </a:r>
            <a:endParaRPr lang="ar-SA" sz="3000" dirty="0"/>
          </a:p>
        </p:txBody>
      </p:sp>
      <p:sp>
        <p:nvSpPr>
          <p:cNvPr id="45" name="Text 42"/>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result happening to the subject</a:t>
            </a:r>
            <a:endParaRPr lang="en-US" sz="1350" dirty="0"/>
          </a:p>
          <a:p>
            <a:pPr indent="0" marL="0">
              <a:buNone/>
            </a:pPr>
            <a:r>
              <a:rPr lang="en-US" sz="1100" i="1" dirty="0">
                <a:solidFill>
                  <a:srgbClr val="5A6472"/>
                </a:solidFill>
                <a:latin typeface="Calibri" pitchFamily="34" charset="0"/>
                <a:cs typeface="Amiri" pitchFamily="2" charset="-78"/>
              </a:rPr>
              <a:t>al-mu-ṭā-wa-ʿa-tu</a:t>
            </a:r>
            <a:endParaRPr lang="en-US" sz="1350" dirty="0"/>
          </a:p>
        </p:txBody>
      </p:sp>
      <p:sp>
        <p:nvSpPr>
          <p:cNvPr id="46" name="Text 43"/>
          <p:cNvSpPr txBox="1"/>
          <p:nvPr/>
        </p:nvSpPr>
        <p:spPr>
          <a:xfrm>
            <a:off x="8238744"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اِنْفَتَحَ</a:t>
            </a:r>
            <a:endParaRPr lang="ar-SA" sz="1300" dirty="0"/>
          </a:p>
        </p:txBody>
      </p:sp>
      <p:sp>
        <p:nvSpPr>
          <p:cNvPr id="47" name="Shape 4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4389120" y="4261104"/>
            <a:ext cx="310896" cy="310896"/>
          </a:xfrm>
          <a:prstGeom prst="ellipse">
            <a:avLst/>
          </a:prstGeom>
          <a:solidFill>
            <a:srgbClr val="F4F1EA"/>
          </a:solidFill>
          <a:ln w="12700">
            <a:solidFill>
              <a:srgbClr val="F4F1EA"/>
            </a:solidFill>
            <a:prstDash val="solid"/>
          </a:ln>
        </p:spPr>
      </p:sp>
      <p:sp>
        <p:nvSpPr>
          <p:cNvPr id="49" name="Text 4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0" name="Shape 4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اِنْفِعَالٌ</a:t>
            </a:r>
            <a:endParaRPr lang="ar-SA" sz="3000" dirty="0"/>
          </a:p>
        </p:txBody>
      </p:sp>
      <p:sp>
        <p:nvSpPr>
          <p:cNvPr id="53" name="Text 5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Form VII verbal noun</a:t>
            </a:r>
            <a:endParaRPr lang="en-US" sz="1350" dirty="0"/>
          </a:p>
          <a:p>
            <a:pPr indent="0" marL="0">
              <a:buNone/>
            </a:pPr>
            <a:r>
              <a:rPr lang="en-US" sz="1100" i="1" dirty="0">
                <a:solidFill>
                  <a:srgbClr val="5A6472"/>
                </a:solidFill>
                <a:latin typeface="Calibri" pitchFamily="34" charset="0"/>
                <a:cs typeface="Amiri" pitchFamily="2" charset="-78"/>
              </a:rPr>
              <a:t>in-fi-ʿā-lun</a:t>
            </a:r>
            <a:endParaRPr lang="en-US" sz="1350" dirty="0"/>
          </a:p>
        </p:txBody>
      </p:sp>
      <p:sp>
        <p:nvSpPr>
          <p:cNvPr id="54" name="Text 51"/>
          <p:cNvSpPr txBox="1"/>
          <p:nvPr/>
        </p:nvSpPr>
        <p:spPr>
          <a:xfrm>
            <a:off x="4416552"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اِنْقِطَاعٌ</a:t>
            </a:r>
            <a:endParaRPr lang="ar-SA" sz="1300" dirty="0"/>
          </a:p>
        </p:txBody>
      </p:sp>
      <p:sp>
        <p:nvSpPr>
          <p:cNvPr id="55" name="Shape 5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566928" y="4261104"/>
            <a:ext cx="310896" cy="310896"/>
          </a:xfrm>
          <a:prstGeom prst="ellipse">
            <a:avLst/>
          </a:prstGeom>
          <a:solidFill>
            <a:srgbClr val="F4F1EA"/>
          </a:solidFill>
          <a:ln w="12700">
            <a:solidFill>
              <a:srgbClr val="F4F1EA"/>
            </a:solidFill>
            <a:prstDash val="solid"/>
          </a:ln>
        </p:spPr>
      </p:sp>
      <p:sp>
        <p:nvSpPr>
          <p:cNvPr id="57" name="Text 5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8" name="Shape 55"/>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9" name="Text 56"/>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0" name="Text 57"/>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الْمَبْنِيُّ لِلْمَجْهُولِ</a:t>
            </a:r>
            <a:endParaRPr lang="ar-SA" sz="3000" dirty="0"/>
          </a:p>
        </p:txBody>
      </p:sp>
      <p:sp>
        <p:nvSpPr>
          <p:cNvPr id="61" name="Text 58"/>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passive (different!)</a:t>
            </a:r>
            <a:endParaRPr lang="en-US" sz="1350" dirty="0"/>
          </a:p>
          <a:p>
            <a:pPr indent="0" marL="0">
              <a:buNone/>
            </a:pPr>
            <a:r>
              <a:rPr lang="en-US" sz="1100" i="1" dirty="0">
                <a:solidFill>
                  <a:srgbClr val="5A6472"/>
                </a:solidFill>
                <a:latin typeface="Calibri" pitchFamily="34" charset="0"/>
                <a:cs typeface="Amiri" pitchFamily="2" charset="-78"/>
              </a:rPr>
              <a:t>al-mab-niy-yu lil-maj-hū-li</a:t>
            </a:r>
            <a:endParaRPr lang="en-US" sz="1350" dirty="0"/>
          </a:p>
        </p:txBody>
      </p:sp>
      <p:sp>
        <p:nvSpPr>
          <p:cNvPr id="62" name="Text 59"/>
          <p:cNvSpPr txBox="1"/>
          <p:nvPr/>
        </p:nvSpPr>
        <p:spPr>
          <a:xfrm>
            <a:off x="594360"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كُسِرَ</a:t>
            </a:r>
            <a:endParaRPr lang="ar-SA" sz="130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34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GM-VF-07 · Arabic Verb Forms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 PART 1 · THE FORM VII PATTERN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in- before the root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اِنْفَعَلَ · يَنْفَعِلُ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GM-VF-07</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948672" y="1810512"/>
            <a:ext cx="17099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Command</a:t>
            </a:r>
            <a:endParaRPr lang="en-US" sz="1100" dirty="0"/>
          </a:p>
        </p:txBody>
      </p:sp>
      <p:sp>
        <p:nvSpPr>
          <p:cNvPr id="17" name="Text 14"/>
          <p:cNvSpPr txBox="1"/>
          <p:nvPr/>
        </p:nvSpPr>
        <p:spPr>
          <a:xfrm>
            <a:off x="8028432" y="1810512"/>
            <a:ext cx="1773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Doer</a:t>
            </a:r>
            <a:endParaRPr lang="en-US" sz="1100" dirty="0"/>
          </a:p>
        </p:txBody>
      </p:sp>
      <p:sp>
        <p:nvSpPr>
          <p:cNvPr id="18" name="Text 15"/>
          <p:cNvSpPr txBox="1"/>
          <p:nvPr/>
        </p:nvSpPr>
        <p:spPr>
          <a:xfrm>
            <a:off x="6108192" y="1810512"/>
            <a:ext cx="1773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Verbal noun</a:t>
            </a:r>
            <a:endParaRPr lang="en-US" sz="1100" dirty="0"/>
          </a:p>
        </p:txBody>
      </p:sp>
      <p:sp>
        <p:nvSpPr>
          <p:cNvPr id="19" name="Text 16"/>
          <p:cNvSpPr txBox="1"/>
          <p:nvPr/>
        </p:nvSpPr>
        <p:spPr>
          <a:xfrm>
            <a:off x="4187952" y="1810512"/>
            <a:ext cx="1773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Present</a:t>
            </a:r>
            <a:endParaRPr lang="en-US" sz="1100" dirty="0"/>
          </a:p>
        </p:txBody>
      </p:sp>
      <p:sp>
        <p:nvSpPr>
          <p:cNvPr id="20" name="Text 17"/>
          <p:cNvSpPr txBox="1"/>
          <p:nvPr/>
        </p:nvSpPr>
        <p:spPr>
          <a:xfrm>
            <a:off x="2267712" y="1810512"/>
            <a:ext cx="1773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Past</a:t>
            </a:r>
            <a:endParaRPr lang="en-US" sz="1100" dirty="0"/>
          </a:p>
        </p:txBody>
      </p:sp>
      <p:sp>
        <p:nvSpPr>
          <p:cNvPr id="21" name="Text 18"/>
          <p:cNvSpPr txBox="1"/>
          <p:nvPr/>
        </p:nvSpPr>
        <p:spPr>
          <a:xfrm>
            <a:off x="530352" y="1810512"/>
            <a:ext cx="1591056" cy="384048"/>
          </a:xfrm>
          <a:prstGeom prst="rect">
            <a:avLst/>
          </a:prstGeom>
          <a:noFill/>
          <a:ln/>
        </p:spPr>
        <p:txBody>
          <a:bodyPr wrap="square" lIns="0" tIns="0" rIns="0" bIns="0" rtlCol="0" anchor="ctr"/>
          <a:lstStyle/>
          <a:p>
            <a:pPr algn="ctr" indent="0" marL="0">
              <a:buNone/>
            </a:pPr>
            <a:endParaRPr lang="en-US" sz="1100" dirty="0"/>
          </a:p>
        </p:txBody>
      </p:sp>
      <p:sp>
        <p:nvSpPr>
          <p:cNvPr id="22" name="Shape 19"/>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3" name="Text 20"/>
          <p:cNvSpPr txBox="1"/>
          <p:nvPr/>
        </p:nvSpPr>
        <p:spPr>
          <a:xfrm>
            <a:off x="9966960" y="2267712"/>
            <a:ext cx="167335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اِنْفَعِلْ</a:t>
            </a:r>
            <a:endParaRPr lang="ar-SA" sz="2400" dirty="0"/>
          </a:p>
        </p:txBody>
      </p:sp>
      <p:sp>
        <p:nvSpPr>
          <p:cNvPr id="24" name="Text 21"/>
          <p:cNvSpPr txBox="1"/>
          <p:nvPr/>
        </p:nvSpPr>
        <p:spPr>
          <a:xfrm>
            <a:off x="8046720" y="2267712"/>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مُنْفَعِلٌ</a:t>
            </a:r>
            <a:endParaRPr lang="ar-SA" sz="2400" dirty="0"/>
          </a:p>
        </p:txBody>
      </p:sp>
      <p:sp>
        <p:nvSpPr>
          <p:cNvPr id="25" name="Text 22"/>
          <p:cNvSpPr txBox="1"/>
          <p:nvPr/>
        </p:nvSpPr>
        <p:spPr>
          <a:xfrm>
            <a:off x="6126480" y="2267712"/>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اِنْفِعَالٌ</a:t>
            </a:r>
            <a:endParaRPr lang="ar-SA" sz="2400" dirty="0"/>
          </a:p>
        </p:txBody>
      </p:sp>
      <p:sp>
        <p:nvSpPr>
          <p:cNvPr id="26" name="Text 23"/>
          <p:cNvSpPr txBox="1"/>
          <p:nvPr/>
        </p:nvSpPr>
        <p:spPr>
          <a:xfrm>
            <a:off x="4206240" y="2267712"/>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يَنْفَعِلُ</a:t>
            </a:r>
            <a:endParaRPr lang="ar-SA" sz="2400" dirty="0"/>
          </a:p>
        </p:txBody>
      </p:sp>
      <p:sp>
        <p:nvSpPr>
          <p:cNvPr id="27" name="Text 24"/>
          <p:cNvSpPr txBox="1"/>
          <p:nvPr/>
        </p:nvSpPr>
        <p:spPr>
          <a:xfrm>
            <a:off x="2286000" y="2267712"/>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اِنْفَعَلَ</a:t>
            </a:r>
            <a:endParaRPr lang="ar-SA" sz="2400" dirty="0"/>
          </a:p>
        </p:txBody>
      </p:sp>
      <p:sp>
        <p:nvSpPr>
          <p:cNvPr id="28" name="Text 25"/>
          <p:cNvSpPr txBox="1"/>
          <p:nvPr/>
        </p:nvSpPr>
        <p:spPr>
          <a:xfrm>
            <a:off x="566928" y="2267712"/>
            <a:ext cx="15544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template</a:t>
            </a:r>
            <a:endParaRPr lang="en-US" sz="110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985248" y="3004718"/>
            <a:ext cx="16733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1" name="Text 28"/>
          <p:cNvSpPr txBox="1"/>
          <p:nvPr/>
        </p:nvSpPr>
        <p:spPr>
          <a:xfrm>
            <a:off x="8046720" y="3004718"/>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مُنْكَسِرٌ</a:t>
            </a:r>
            <a:endParaRPr lang="ar-SA" sz="2400" dirty="0"/>
          </a:p>
        </p:txBody>
      </p:sp>
      <p:sp>
        <p:nvSpPr>
          <p:cNvPr id="32" name="Text 29"/>
          <p:cNvSpPr txBox="1"/>
          <p:nvPr/>
        </p:nvSpPr>
        <p:spPr>
          <a:xfrm>
            <a:off x="6126480" y="3004718"/>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اِنْكِسَارٌ</a:t>
            </a:r>
            <a:endParaRPr lang="ar-SA" sz="2400" dirty="0"/>
          </a:p>
        </p:txBody>
      </p:sp>
      <p:sp>
        <p:nvSpPr>
          <p:cNvPr id="33" name="Text 30"/>
          <p:cNvSpPr txBox="1"/>
          <p:nvPr/>
        </p:nvSpPr>
        <p:spPr>
          <a:xfrm>
            <a:off x="4206240" y="3004718"/>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يَنْكَسِرُ</a:t>
            </a:r>
            <a:endParaRPr lang="ar-SA" sz="2400" dirty="0"/>
          </a:p>
        </p:txBody>
      </p:sp>
      <p:sp>
        <p:nvSpPr>
          <p:cNvPr id="34" name="Text 31"/>
          <p:cNvSpPr txBox="1"/>
          <p:nvPr/>
        </p:nvSpPr>
        <p:spPr>
          <a:xfrm>
            <a:off x="2286000" y="3004718"/>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اِنْكَسَرَ</a:t>
            </a:r>
            <a:endParaRPr lang="ar-SA" sz="2400" dirty="0"/>
          </a:p>
        </p:txBody>
      </p:sp>
      <p:sp>
        <p:nvSpPr>
          <p:cNvPr id="35" name="Text 32"/>
          <p:cNvSpPr txBox="1"/>
          <p:nvPr/>
        </p:nvSpPr>
        <p:spPr>
          <a:xfrm>
            <a:off x="566928" y="3004718"/>
            <a:ext cx="15544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break (get broken)</a:t>
            </a:r>
            <a:endParaRPr lang="en-US" sz="1100" dirty="0"/>
          </a:p>
        </p:txBody>
      </p:sp>
      <p:sp>
        <p:nvSpPr>
          <p:cNvPr id="36" name="Shape 33"/>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7" name="Text 34"/>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8" name="Shape 35"/>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9" name="Text 36"/>
          <p:cNvSpPr txBox="1"/>
          <p:nvPr/>
        </p:nvSpPr>
        <p:spPr>
          <a:xfrm>
            <a:off x="9966960" y="3741725"/>
            <a:ext cx="167335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اِنْصَرِفْ</a:t>
            </a:r>
            <a:endParaRPr lang="ar-SA" sz="2400" dirty="0"/>
          </a:p>
        </p:txBody>
      </p:sp>
      <p:sp>
        <p:nvSpPr>
          <p:cNvPr id="40" name="Text 37"/>
          <p:cNvSpPr txBox="1"/>
          <p:nvPr/>
        </p:nvSpPr>
        <p:spPr>
          <a:xfrm>
            <a:off x="8046720" y="3741725"/>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مُنْصَرِفٌ</a:t>
            </a:r>
            <a:endParaRPr lang="ar-SA" sz="2400" dirty="0"/>
          </a:p>
        </p:txBody>
      </p:sp>
      <p:sp>
        <p:nvSpPr>
          <p:cNvPr id="41" name="Text 38"/>
          <p:cNvSpPr txBox="1"/>
          <p:nvPr/>
        </p:nvSpPr>
        <p:spPr>
          <a:xfrm>
            <a:off x="6126480" y="3741725"/>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اِنْصِرَافٌ</a:t>
            </a:r>
            <a:endParaRPr lang="ar-SA" sz="2400" dirty="0"/>
          </a:p>
        </p:txBody>
      </p:sp>
      <p:sp>
        <p:nvSpPr>
          <p:cNvPr id="42" name="Text 39"/>
          <p:cNvSpPr txBox="1"/>
          <p:nvPr/>
        </p:nvSpPr>
        <p:spPr>
          <a:xfrm>
            <a:off x="4206240" y="3741725"/>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يَنْصَرِفُ</a:t>
            </a:r>
            <a:endParaRPr lang="ar-SA" sz="2400" dirty="0"/>
          </a:p>
        </p:txBody>
      </p:sp>
      <p:sp>
        <p:nvSpPr>
          <p:cNvPr id="43" name="Text 40"/>
          <p:cNvSpPr txBox="1"/>
          <p:nvPr/>
        </p:nvSpPr>
        <p:spPr>
          <a:xfrm>
            <a:off x="2286000" y="3741725"/>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اِنْصَرَفَ</a:t>
            </a:r>
            <a:endParaRPr lang="ar-SA" sz="2400" dirty="0"/>
          </a:p>
        </p:txBody>
      </p:sp>
      <p:sp>
        <p:nvSpPr>
          <p:cNvPr id="44" name="Text 41"/>
          <p:cNvSpPr txBox="1"/>
          <p:nvPr/>
        </p:nvSpPr>
        <p:spPr>
          <a:xfrm>
            <a:off x="566928" y="3741725"/>
            <a:ext cx="15544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leave</a:t>
            </a:r>
            <a:endParaRPr lang="en-US" sz="110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966960" y="4478731"/>
            <a:ext cx="167335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اِنْطَلِقْ</a:t>
            </a:r>
            <a:endParaRPr lang="ar-SA" sz="2400" dirty="0"/>
          </a:p>
        </p:txBody>
      </p:sp>
      <p:sp>
        <p:nvSpPr>
          <p:cNvPr id="47" name="Text 44"/>
          <p:cNvSpPr txBox="1"/>
          <p:nvPr/>
        </p:nvSpPr>
        <p:spPr>
          <a:xfrm>
            <a:off x="8046720" y="4478731"/>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مُنْطَلِقٌ</a:t>
            </a:r>
            <a:endParaRPr lang="ar-SA" sz="2400" dirty="0"/>
          </a:p>
        </p:txBody>
      </p:sp>
      <p:sp>
        <p:nvSpPr>
          <p:cNvPr id="48" name="Text 45"/>
          <p:cNvSpPr txBox="1"/>
          <p:nvPr/>
        </p:nvSpPr>
        <p:spPr>
          <a:xfrm>
            <a:off x="6126480" y="4478731"/>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اِنْطِلَاقٌ</a:t>
            </a:r>
            <a:endParaRPr lang="ar-SA" sz="2400" dirty="0"/>
          </a:p>
        </p:txBody>
      </p:sp>
      <p:sp>
        <p:nvSpPr>
          <p:cNvPr id="49" name="Text 46"/>
          <p:cNvSpPr txBox="1"/>
          <p:nvPr/>
        </p:nvSpPr>
        <p:spPr>
          <a:xfrm>
            <a:off x="4206240" y="4478731"/>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يَنْطَلِقُ</a:t>
            </a:r>
            <a:endParaRPr lang="ar-SA" sz="2400" dirty="0"/>
          </a:p>
        </p:txBody>
      </p:sp>
      <p:sp>
        <p:nvSpPr>
          <p:cNvPr id="50" name="Text 47"/>
          <p:cNvSpPr txBox="1"/>
          <p:nvPr/>
        </p:nvSpPr>
        <p:spPr>
          <a:xfrm>
            <a:off x="2286000" y="4478731"/>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اِنْطَلَقَ</a:t>
            </a:r>
            <a:endParaRPr lang="ar-SA" sz="2400" dirty="0"/>
          </a:p>
        </p:txBody>
      </p:sp>
      <p:sp>
        <p:nvSpPr>
          <p:cNvPr id="51" name="Text 48"/>
          <p:cNvSpPr txBox="1"/>
          <p:nvPr/>
        </p:nvSpPr>
        <p:spPr>
          <a:xfrm>
            <a:off x="566928" y="4478731"/>
            <a:ext cx="15544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set off</a:t>
            </a:r>
            <a:endParaRPr lang="en-US" sz="1100" dirty="0"/>
          </a:p>
        </p:txBody>
      </p:sp>
      <p:sp>
        <p:nvSpPr>
          <p:cNvPr id="52" name="Shape 49"/>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3" name="Text 50"/>
          <p:cNvSpPr txBox="1"/>
          <p:nvPr/>
        </p:nvSpPr>
        <p:spPr>
          <a:xfrm>
            <a:off x="9985248" y="5215738"/>
            <a:ext cx="16733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54" name="Text 51"/>
          <p:cNvSpPr txBox="1"/>
          <p:nvPr/>
        </p:nvSpPr>
        <p:spPr>
          <a:xfrm>
            <a:off x="8046720" y="5215738"/>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مُنْقَطِعٌ</a:t>
            </a:r>
            <a:endParaRPr lang="ar-SA" sz="2400" dirty="0"/>
          </a:p>
        </p:txBody>
      </p:sp>
      <p:sp>
        <p:nvSpPr>
          <p:cNvPr id="55" name="Text 52"/>
          <p:cNvSpPr txBox="1"/>
          <p:nvPr/>
        </p:nvSpPr>
        <p:spPr>
          <a:xfrm>
            <a:off x="6126480" y="5215738"/>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اِنْقِطَاعٌ</a:t>
            </a:r>
            <a:endParaRPr lang="ar-SA" sz="2400" dirty="0"/>
          </a:p>
        </p:txBody>
      </p:sp>
      <p:sp>
        <p:nvSpPr>
          <p:cNvPr id="56" name="Text 53"/>
          <p:cNvSpPr txBox="1"/>
          <p:nvPr/>
        </p:nvSpPr>
        <p:spPr>
          <a:xfrm>
            <a:off x="4206240" y="5215738"/>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يَنْقَطِعُ</a:t>
            </a:r>
            <a:endParaRPr lang="ar-SA" sz="2400" dirty="0"/>
          </a:p>
        </p:txBody>
      </p:sp>
      <p:sp>
        <p:nvSpPr>
          <p:cNvPr id="57" name="Text 54"/>
          <p:cNvSpPr txBox="1"/>
          <p:nvPr/>
        </p:nvSpPr>
        <p:spPr>
          <a:xfrm>
            <a:off x="2286000" y="5215738"/>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اِنْقَطَعَ</a:t>
            </a:r>
            <a:endParaRPr lang="ar-SA" sz="2400" dirty="0"/>
          </a:p>
        </p:txBody>
      </p:sp>
      <p:sp>
        <p:nvSpPr>
          <p:cNvPr id="58" name="Text 55"/>
          <p:cNvSpPr txBox="1"/>
          <p:nvPr/>
        </p:nvSpPr>
        <p:spPr>
          <a:xfrm>
            <a:off x="566928" y="5215738"/>
            <a:ext cx="15544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be cut off</a:t>
            </a:r>
            <a:endParaRPr lang="en-US" sz="1100" dirty="0"/>
          </a:p>
        </p:txBody>
      </p:sp>
      <p:sp>
        <p:nvSpPr>
          <p:cNvPr id="59" name="Text 5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the past contains the prefix in- and the present commonly follows yanfaʿilu. The initial alif is hamzat al-waṣl, not a written hamza.</a:t>
            </a:r>
            <a:endParaRPr lang="en-US" sz="1150" dirty="0"/>
          </a:p>
        </p:txBody>
      </p:sp>
      <p:sp>
        <p:nvSpPr>
          <p:cNvPr id="60" name="Text 5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34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GM-VF-07 · Arabic Verb Forms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 PART 2 · LEARN THE FAMILY (WEBSITE TABLE)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Form VII family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أُسْرَةُ الْوَزْنِ السَّابِعِ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GM-VF-07</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5833872" y="1810512"/>
            <a:ext cx="58247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a:t>
            </a:r>
            <a:endParaRPr lang="en-US" sz="1100" dirty="0"/>
          </a:p>
        </p:txBody>
      </p:sp>
      <p:sp>
        <p:nvSpPr>
          <p:cNvPr id="17" name="Text 14"/>
          <p:cNvSpPr txBox="1"/>
          <p:nvPr/>
        </p:nvSpPr>
        <p:spPr>
          <a:xfrm>
            <a:off x="3639312"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8" name="Text 15"/>
          <p:cNvSpPr txBox="1"/>
          <p:nvPr/>
        </p:nvSpPr>
        <p:spPr>
          <a:xfrm>
            <a:off x="530352"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Past · present</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5852160" y="2267712"/>
            <a:ext cx="578815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اِنْكَسَرَ الْكُوبُ أَمْسِ.</a:t>
            </a:r>
            <a:endParaRPr lang="ar-SA" sz="2000" dirty="0"/>
          </a:p>
        </p:txBody>
      </p:sp>
      <p:sp>
        <p:nvSpPr>
          <p:cNvPr id="21" name="Text 18"/>
          <p:cNvSpPr txBox="1"/>
          <p:nvPr/>
        </p:nvSpPr>
        <p:spPr>
          <a:xfrm>
            <a:off x="3675888" y="2267712"/>
            <a:ext cx="20116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break (get broken)</a:t>
            </a:r>
            <a:endParaRPr lang="en-US" sz="1100" dirty="0"/>
          </a:p>
        </p:txBody>
      </p:sp>
      <p:sp>
        <p:nvSpPr>
          <p:cNvPr id="22" name="Text 19"/>
          <p:cNvSpPr txBox="1"/>
          <p:nvPr/>
        </p:nvSpPr>
        <p:spPr>
          <a:xfrm>
            <a:off x="548640" y="2267712"/>
            <a:ext cx="29260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اِنْكَسَرَ · يَنْكَسِرُ</a:t>
            </a:r>
            <a:endParaRPr lang="ar-SA" sz="22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5852160" y="2881884"/>
            <a:ext cx="578815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يَنْفَتِحُ الْبَابُ فِي السَّاعَةِ الثَّامِنَةِ.</a:t>
            </a:r>
            <a:endParaRPr lang="ar-SA" sz="2000" dirty="0"/>
          </a:p>
        </p:txBody>
      </p:sp>
      <p:sp>
        <p:nvSpPr>
          <p:cNvPr id="27" name="Text 24"/>
          <p:cNvSpPr txBox="1"/>
          <p:nvPr/>
        </p:nvSpPr>
        <p:spPr>
          <a:xfrm>
            <a:off x="3675888" y="2881884"/>
            <a:ext cx="20116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open (become open)</a:t>
            </a:r>
            <a:endParaRPr lang="en-US" sz="1100" dirty="0"/>
          </a:p>
        </p:txBody>
      </p:sp>
      <p:sp>
        <p:nvSpPr>
          <p:cNvPr id="28" name="Text 25"/>
          <p:cNvSpPr txBox="1"/>
          <p:nvPr/>
        </p:nvSpPr>
        <p:spPr>
          <a:xfrm>
            <a:off x="548640" y="2881884"/>
            <a:ext cx="29260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اِنْفَتَحَ · يَنْفَتِحُ</a:t>
            </a:r>
            <a:endParaRPr lang="ar-SA" sz="22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5852160" y="3496056"/>
            <a:ext cx="578815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اِنْقَطَعَ الِاتِّصَالُ أَثْنَاءَ الدَّرْسِ.</a:t>
            </a:r>
            <a:endParaRPr lang="ar-SA" sz="2000" dirty="0"/>
          </a:p>
        </p:txBody>
      </p:sp>
      <p:sp>
        <p:nvSpPr>
          <p:cNvPr id="33" name="Text 30"/>
          <p:cNvSpPr txBox="1"/>
          <p:nvPr/>
        </p:nvSpPr>
        <p:spPr>
          <a:xfrm>
            <a:off x="3675888" y="3496056"/>
            <a:ext cx="20116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be cut off</a:t>
            </a:r>
            <a:endParaRPr lang="en-US" sz="1100" dirty="0"/>
          </a:p>
        </p:txBody>
      </p:sp>
      <p:sp>
        <p:nvSpPr>
          <p:cNvPr id="34" name="Text 31"/>
          <p:cNvSpPr txBox="1"/>
          <p:nvPr/>
        </p:nvSpPr>
        <p:spPr>
          <a:xfrm>
            <a:off x="548640" y="3496056"/>
            <a:ext cx="29260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اِنْقَطَعَ · يَنْقَطِعُ</a:t>
            </a:r>
            <a:endParaRPr lang="ar-SA" sz="2200" dirty="0"/>
          </a:p>
        </p:txBody>
      </p:sp>
      <p:sp>
        <p:nvSpPr>
          <p:cNvPr id="35" name="Shape 32"/>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8" name="Text 35"/>
          <p:cNvSpPr txBox="1"/>
          <p:nvPr/>
        </p:nvSpPr>
        <p:spPr>
          <a:xfrm>
            <a:off x="5852160" y="4110228"/>
            <a:ext cx="578815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اِنْصَرَفَ الطُّلَّابُ بَعْدَ الْجَرَسِ.</a:t>
            </a:r>
            <a:endParaRPr lang="ar-SA" sz="2000" dirty="0"/>
          </a:p>
        </p:txBody>
      </p:sp>
      <p:sp>
        <p:nvSpPr>
          <p:cNvPr id="39" name="Text 36"/>
          <p:cNvSpPr txBox="1"/>
          <p:nvPr/>
        </p:nvSpPr>
        <p:spPr>
          <a:xfrm>
            <a:off x="3675888" y="4110228"/>
            <a:ext cx="20116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leave</a:t>
            </a:r>
            <a:endParaRPr lang="en-US" sz="1100" dirty="0"/>
          </a:p>
        </p:txBody>
      </p:sp>
      <p:sp>
        <p:nvSpPr>
          <p:cNvPr id="40" name="Text 37"/>
          <p:cNvSpPr txBox="1"/>
          <p:nvPr/>
        </p:nvSpPr>
        <p:spPr>
          <a:xfrm>
            <a:off x="548640" y="4110228"/>
            <a:ext cx="29260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اِنْصَرَفَ · يَنْصَرِفُ</a:t>
            </a:r>
            <a:endParaRPr lang="ar-SA" sz="2200" dirty="0"/>
          </a:p>
        </p:txBody>
      </p:sp>
      <p:sp>
        <p:nvSpPr>
          <p:cNvPr id="41" name="Shape 38"/>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2" name="Text 39"/>
          <p:cNvSpPr txBox="1"/>
          <p:nvPr/>
        </p:nvSpPr>
        <p:spPr>
          <a:xfrm>
            <a:off x="5852160" y="4724400"/>
            <a:ext cx="578815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تَنْطَلِقُ الْحَافِلَةُ فِي السَّابِعَةِ.</a:t>
            </a:r>
            <a:endParaRPr lang="ar-SA" sz="2000" dirty="0"/>
          </a:p>
        </p:txBody>
      </p:sp>
      <p:sp>
        <p:nvSpPr>
          <p:cNvPr id="43" name="Text 40"/>
          <p:cNvSpPr txBox="1"/>
          <p:nvPr/>
        </p:nvSpPr>
        <p:spPr>
          <a:xfrm>
            <a:off x="3675888" y="4724400"/>
            <a:ext cx="20116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set off</a:t>
            </a:r>
            <a:endParaRPr lang="en-US" sz="1100" dirty="0"/>
          </a:p>
        </p:txBody>
      </p:sp>
      <p:sp>
        <p:nvSpPr>
          <p:cNvPr id="44" name="Text 41"/>
          <p:cNvSpPr txBox="1"/>
          <p:nvPr/>
        </p:nvSpPr>
        <p:spPr>
          <a:xfrm>
            <a:off x="548640" y="4724400"/>
            <a:ext cx="29260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اِنْطَلَقَ · يَنْطَلِقُ</a:t>
            </a:r>
            <a:endParaRPr lang="ar-SA" sz="2200" dirty="0"/>
          </a:p>
        </p:txBody>
      </p:sp>
      <p:sp>
        <p:nvSpPr>
          <p:cNvPr id="45" name="Shape 42"/>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6" name="Text 43"/>
          <p:cNvSpPr txBox="1"/>
          <p:nvPr/>
        </p:nvSpPr>
        <p:spPr>
          <a:xfrm>
            <a:off x="5852160" y="5338572"/>
            <a:ext cx="578815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اِنْقَلَبَتِ السَّيَّارَةُ فِي الثَّلْجِ.</a:t>
            </a:r>
            <a:endParaRPr lang="ar-SA" sz="2000" dirty="0"/>
          </a:p>
        </p:txBody>
      </p:sp>
      <p:sp>
        <p:nvSpPr>
          <p:cNvPr id="47" name="Text 44"/>
          <p:cNvSpPr txBox="1"/>
          <p:nvPr/>
        </p:nvSpPr>
        <p:spPr>
          <a:xfrm>
            <a:off x="3675888" y="5338572"/>
            <a:ext cx="20116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overturn</a:t>
            </a:r>
            <a:endParaRPr lang="en-US" sz="1100" dirty="0"/>
          </a:p>
        </p:txBody>
      </p:sp>
      <p:sp>
        <p:nvSpPr>
          <p:cNvPr id="48" name="Text 45"/>
          <p:cNvSpPr txBox="1"/>
          <p:nvPr/>
        </p:nvSpPr>
        <p:spPr>
          <a:xfrm>
            <a:off x="548640" y="5338572"/>
            <a:ext cx="29260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اِنْقَلَبَ · يَنْقَلِبُ</a:t>
            </a:r>
            <a:endParaRPr lang="ar-SA" sz="22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Website: kasara means to break something; inkasara means to break or become broken — like a passive or a change of state, but Form VII is not the passive conjugation.</a:t>
            </a:r>
            <a:endParaRPr lang="en-US" sz="110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34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GM-VF-07 · Arabic Verb Forms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 PART 3 · CONJUGATE INṢARAFA · DEVELOP / STRETCH</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i- disappears in the present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تَصْرِيفُ «اِنْصَرَفَ»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GM-VF-07</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Notice</a:t>
            </a:r>
            <a:endParaRPr lang="en-US" sz="1100" dirty="0"/>
          </a:p>
        </p:txBody>
      </p:sp>
      <p:sp>
        <p:nvSpPr>
          <p:cNvPr id="17" name="Text 14"/>
          <p:cNvSpPr txBox="1"/>
          <p:nvPr/>
        </p:nvSpPr>
        <p:spPr>
          <a:xfrm>
            <a:off x="5650992"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Present</a:t>
            </a:r>
            <a:endParaRPr lang="en-US" sz="1100" dirty="0"/>
          </a:p>
        </p:txBody>
      </p:sp>
      <p:sp>
        <p:nvSpPr>
          <p:cNvPr id="18" name="Text 15"/>
          <p:cNvSpPr txBox="1"/>
          <p:nvPr/>
        </p:nvSpPr>
        <p:spPr>
          <a:xfrm>
            <a:off x="2724912"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Past</a:t>
            </a:r>
            <a:endParaRPr lang="en-US" sz="1100" dirty="0"/>
          </a:p>
        </p:txBody>
      </p:sp>
      <p:sp>
        <p:nvSpPr>
          <p:cNvPr id="19" name="Text 16"/>
          <p:cNvSpPr txBox="1"/>
          <p:nvPr/>
        </p:nvSpPr>
        <p:spPr>
          <a:xfrm>
            <a:off x="530352"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Person</a:t>
            </a:r>
            <a:endParaRPr lang="en-US" sz="1100" dirty="0"/>
          </a:p>
        </p:txBody>
      </p:sp>
      <p:sp>
        <p:nvSpPr>
          <p:cNvPr id="20" name="Shape 17"/>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1" name="Text 18"/>
          <p:cNvSpPr txBox="1"/>
          <p:nvPr/>
        </p:nvSpPr>
        <p:spPr>
          <a:xfrm>
            <a:off x="8796528" y="2267712"/>
            <a:ext cx="28620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 n-</a:t>
            </a:r>
            <a:endParaRPr lang="en-US" sz="1100" dirty="0"/>
          </a:p>
        </p:txBody>
      </p:sp>
      <p:sp>
        <p:nvSpPr>
          <p:cNvPr id="22" name="Text 19"/>
          <p:cNvSpPr txBox="1"/>
          <p:nvPr/>
        </p:nvSpPr>
        <p:spPr>
          <a:xfrm>
            <a:off x="5669280" y="2267712"/>
            <a:ext cx="29260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أَنْصَرِفُ</a:t>
            </a:r>
            <a:endParaRPr lang="ar-SA" sz="2400" dirty="0"/>
          </a:p>
        </p:txBody>
      </p:sp>
      <p:sp>
        <p:nvSpPr>
          <p:cNvPr id="23" name="Text 20"/>
          <p:cNvSpPr txBox="1"/>
          <p:nvPr/>
        </p:nvSpPr>
        <p:spPr>
          <a:xfrm>
            <a:off x="2743200" y="2267712"/>
            <a:ext cx="27432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اِنْصَرَفْتُ</a:t>
            </a:r>
            <a:endParaRPr lang="ar-SA" sz="2400" dirty="0"/>
          </a:p>
        </p:txBody>
      </p:sp>
      <p:sp>
        <p:nvSpPr>
          <p:cNvPr id="24" name="Text 21"/>
          <p:cNvSpPr txBox="1"/>
          <p:nvPr/>
        </p:nvSpPr>
        <p:spPr>
          <a:xfrm>
            <a:off x="548640" y="2267712"/>
            <a:ext cx="20116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أَنَا</a:t>
            </a:r>
            <a:endParaRPr lang="ar-SA" sz="24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8" name="Text 25"/>
          <p:cNvSpPr txBox="1"/>
          <p:nvPr/>
        </p:nvSpPr>
        <p:spPr>
          <a:xfrm>
            <a:off x="8796528" y="2881884"/>
            <a:ext cx="28620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ya- + n-</a:t>
            </a:r>
            <a:endParaRPr lang="en-US" sz="1100" dirty="0"/>
          </a:p>
        </p:txBody>
      </p:sp>
      <p:sp>
        <p:nvSpPr>
          <p:cNvPr id="29" name="Text 26"/>
          <p:cNvSpPr txBox="1"/>
          <p:nvPr/>
        </p:nvSpPr>
        <p:spPr>
          <a:xfrm>
            <a:off x="5669280" y="2881884"/>
            <a:ext cx="29260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يَنْصَرِفُ</a:t>
            </a:r>
            <a:endParaRPr lang="ar-SA" sz="2400" dirty="0"/>
          </a:p>
        </p:txBody>
      </p:sp>
      <p:sp>
        <p:nvSpPr>
          <p:cNvPr id="30" name="Text 27"/>
          <p:cNvSpPr txBox="1"/>
          <p:nvPr/>
        </p:nvSpPr>
        <p:spPr>
          <a:xfrm>
            <a:off x="2743200" y="2881884"/>
            <a:ext cx="27432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اِنْصَرَفَ</a:t>
            </a:r>
            <a:endParaRPr lang="ar-SA" sz="2400" dirty="0"/>
          </a:p>
        </p:txBody>
      </p:sp>
      <p:sp>
        <p:nvSpPr>
          <p:cNvPr id="31" name="Text 28"/>
          <p:cNvSpPr txBox="1"/>
          <p:nvPr/>
        </p:nvSpPr>
        <p:spPr>
          <a:xfrm>
            <a:off x="548640" y="2881884"/>
            <a:ext cx="20116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هُوَ</a:t>
            </a:r>
            <a:endParaRPr lang="ar-SA" sz="2400" dirty="0"/>
          </a:p>
        </p:txBody>
      </p:sp>
      <p:sp>
        <p:nvSpPr>
          <p:cNvPr id="32" name="Shape 29"/>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5" name="Text 32"/>
          <p:cNvSpPr txBox="1"/>
          <p:nvPr/>
        </p:nvSpPr>
        <p:spPr>
          <a:xfrm>
            <a:off x="8796528" y="3496056"/>
            <a:ext cx="28620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 + n-</a:t>
            </a:r>
            <a:endParaRPr lang="en-US" sz="1100" dirty="0"/>
          </a:p>
        </p:txBody>
      </p:sp>
      <p:sp>
        <p:nvSpPr>
          <p:cNvPr id="36" name="Text 33"/>
          <p:cNvSpPr txBox="1"/>
          <p:nvPr/>
        </p:nvSpPr>
        <p:spPr>
          <a:xfrm>
            <a:off x="5669280" y="3496056"/>
            <a:ext cx="29260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تَنْصَرِفُ</a:t>
            </a:r>
            <a:endParaRPr lang="ar-SA" sz="2400" dirty="0"/>
          </a:p>
        </p:txBody>
      </p:sp>
      <p:sp>
        <p:nvSpPr>
          <p:cNvPr id="37" name="Text 34"/>
          <p:cNvSpPr txBox="1"/>
          <p:nvPr/>
        </p:nvSpPr>
        <p:spPr>
          <a:xfrm>
            <a:off x="2743200" y="3496056"/>
            <a:ext cx="27432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اِنْصَرَفَتْ</a:t>
            </a:r>
            <a:endParaRPr lang="ar-SA" sz="2400" dirty="0"/>
          </a:p>
        </p:txBody>
      </p:sp>
      <p:sp>
        <p:nvSpPr>
          <p:cNvPr id="38" name="Text 35"/>
          <p:cNvSpPr txBox="1"/>
          <p:nvPr/>
        </p:nvSpPr>
        <p:spPr>
          <a:xfrm>
            <a:off x="548640" y="3496056"/>
            <a:ext cx="20116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هِيَ</a:t>
            </a:r>
            <a:endParaRPr lang="ar-SA" sz="2400" dirty="0"/>
          </a:p>
        </p:txBody>
      </p:sp>
      <p:sp>
        <p:nvSpPr>
          <p:cNvPr id="39" name="Shape 36"/>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2" name="Text 39"/>
          <p:cNvSpPr txBox="1"/>
          <p:nvPr/>
        </p:nvSpPr>
        <p:spPr>
          <a:xfrm>
            <a:off x="8796528" y="4110228"/>
            <a:ext cx="28620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 + n-</a:t>
            </a:r>
            <a:endParaRPr lang="en-US" sz="1100" dirty="0"/>
          </a:p>
        </p:txBody>
      </p:sp>
      <p:sp>
        <p:nvSpPr>
          <p:cNvPr id="43" name="Text 40"/>
          <p:cNvSpPr txBox="1"/>
          <p:nvPr/>
        </p:nvSpPr>
        <p:spPr>
          <a:xfrm>
            <a:off x="5669280" y="4110228"/>
            <a:ext cx="29260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نَنْصَرِفُ</a:t>
            </a:r>
            <a:endParaRPr lang="ar-SA" sz="2400" dirty="0"/>
          </a:p>
        </p:txBody>
      </p:sp>
      <p:sp>
        <p:nvSpPr>
          <p:cNvPr id="44" name="Text 41"/>
          <p:cNvSpPr txBox="1"/>
          <p:nvPr/>
        </p:nvSpPr>
        <p:spPr>
          <a:xfrm>
            <a:off x="2743200" y="4110228"/>
            <a:ext cx="27432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اِنْصَرَفْنَا</a:t>
            </a:r>
            <a:endParaRPr lang="ar-SA" sz="2400" dirty="0"/>
          </a:p>
        </p:txBody>
      </p:sp>
      <p:sp>
        <p:nvSpPr>
          <p:cNvPr id="45" name="Text 42"/>
          <p:cNvSpPr txBox="1"/>
          <p:nvPr/>
        </p:nvSpPr>
        <p:spPr>
          <a:xfrm>
            <a:off x="548640" y="4110228"/>
            <a:ext cx="20116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نَحْنُ</a:t>
            </a:r>
            <a:endParaRPr lang="ar-SA" sz="2400" dirty="0"/>
          </a:p>
        </p:txBody>
      </p:sp>
      <p:sp>
        <p:nvSpPr>
          <p:cNvPr id="46" name="Shape 43"/>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7" name="Text 44"/>
          <p:cNvSpPr txBox="1"/>
          <p:nvPr/>
        </p:nvSpPr>
        <p:spPr>
          <a:xfrm>
            <a:off x="8796528" y="4724400"/>
            <a:ext cx="28620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ya- … -ūna</a:t>
            </a:r>
            <a:endParaRPr lang="en-US" sz="1100" dirty="0"/>
          </a:p>
        </p:txBody>
      </p:sp>
      <p:sp>
        <p:nvSpPr>
          <p:cNvPr id="48" name="Text 45"/>
          <p:cNvSpPr txBox="1"/>
          <p:nvPr/>
        </p:nvSpPr>
        <p:spPr>
          <a:xfrm>
            <a:off x="5669280" y="4724400"/>
            <a:ext cx="29260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يَنْصَرِفُونَ</a:t>
            </a:r>
            <a:endParaRPr lang="ar-SA" sz="2400" dirty="0"/>
          </a:p>
        </p:txBody>
      </p:sp>
      <p:sp>
        <p:nvSpPr>
          <p:cNvPr id="49" name="Text 46"/>
          <p:cNvSpPr txBox="1"/>
          <p:nvPr/>
        </p:nvSpPr>
        <p:spPr>
          <a:xfrm>
            <a:off x="2743200" y="4724400"/>
            <a:ext cx="27432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اِنْصَرَفُوا</a:t>
            </a:r>
            <a:endParaRPr lang="ar-SA" sz="2400" dirty="0"/>
          </a:p>
        </p:txBody>
      </p:sp>
      <p:sp>
        <p:nvSpPr>
          <p:cNvPr id="50" name="Text 47"/>
          <p:cNvSpPr txBox="1"/>
          <p:nvPr/>
        </p:nvSpPr>
        <p:spPr>
          <a:xfrm>
            <a:off x="548640" y="4724400"/>
            <a:ext cx="20116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هُمْ</a:t>
            </a:r>
            <a:endParaRPr lang="ar-SA" sz="2400" dirty="0"/>
          </a:p>
        </p:txBody>
      </p:sp>
      <p:sp>
        <p:nvSpPr>
          <p:cNvPr id="51" name="Shape 48"/>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2" name="Text 49"/>
          <p:cNvSpPr txBox="1"/>
          <p:nvPr/>
        </p:nvSpPr>
        <p:spPr>
          <a:xfrm>
            <a:off x="8796528" y="5338572"/>
            <a:ext cx="28620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 … -ūna</a:t>
            </a:r>
            <a:endParaRPr lang="en-US" sz="1100" dirty="0"/>
          </a:p>
        </p:txBody>
      </p:sp>
      <p:sp>
        <p:nvSpPr>
          <p:cNvPr id="53" name="Text 50"/>
          <p:cNvSpPr txBox="1"/>
          <p:nvPr/>
        </p:nvSpPr>
        <p:spPr>
          <a:xfrm>
            <a:off x="5669280" y="5338572"/>
            <a:ext cx="29260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تَنْصَرِفُونَ</a:t>
            </a:r>
            <a:endParaRPr lang="ar-SA" sz="2400" dirty="0"/>
          </a:p>
        </p:txBody>
      </p:sp>
      <p:sp>
        <p:nvSpPr>
          <p:cNvPr id="54" name="Text 51"/>
          <p:cNvSpPr txBox="1"/>
          <p:nvPr/>
        </p:nvSpPr>
        <p:spPr>
          <a:xfrm>
            <a:off x="2743200" y="5338572"/>
            <a:ext cx="27432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اِنْصَرَفْتُمْ</a:t>
            </a:r>
            <a:endParaRPr lang="ar-SA" sz="2400" dirty="0"/>
          </a:p>
        </p:txBody>
      </p:sp>
      <p:sp>
        <p:nvSpPr>
          <p:cNvPr id="55" name="Text 52"/>
          <p:cNvSpPr txBox="1"/>
          <p:nvPr/>
        </p:nvSpPr>
        <p:spPr>
          <a:xfrm>
            <a:off x="548640" y="5338572"/>
            <a:ext cx="20116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أَنْتُمْ</a:t>
            </a:r>
            <a:endParaRPr lang="ar-SA" sz="2400" dirty="0"/>
          </a:p>
        </p:txBody>
      </p:sp>
      <p:sp>
        <p:nvSpPr>
          <p:cNvPr id="56" name="Text 53"/>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The linking i- of the past disappears after the present prefix; the n- stays. Website “Look closely”: kasara l-waladu l-kūba (someone broke it) vs inkasara l-kūbu (what happened to it).</a:t>
            </a:r>
            <a:endParaRPr lang="en-US" sz="110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34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GM-VF-07 · Arabic Verb Forms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GM-VF-07</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is Form VII?</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كَسَرَ</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كَسَّرَ</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اِنْكَسَرَ</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connection was cut off”.</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اِنْقَطَعَ الِاتِّصَالُ</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قَطَعَ الِاتِّصَالُ</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قَطَّعَ الِاتِّصَالَ</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bus sets off”.</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تُطْلِقُ الْحَافِلَةُ</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تَنْطَلِقُ الْحَافِلَةُ</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اِنْطَلِقِ الْحَافِلَةَ</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“we left”.</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اِنْصَرَفْنَا</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نَنْصَرِفُ</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صَرَفْنَا</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34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GM-VF-07 · Arabic Verb Forms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GM-VF-07</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is Form VII?</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كَسَرَ</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كَسَّرَ</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اِنْكَسَرَ</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prefix in- identifies Form VII.</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connection was cut off”.</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اِنْقَطَعَ الِاتِّصَالُ</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قَطَعَ الِاتِّصَالُ</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قَطَّعَ الِاتِّصَالَ</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Form VII: what happened to it.</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bus sets off”.</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تُطْلِقُ الْحَافِلَةُ</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تَنْطَلِقُ الْحَافِلَةُ</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اِنْطَلِقِ الْحَافِلَةَ</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ta- + n- (feminine subject).</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“we left”.</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اِنْصَرَفْنَا</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نَنْصَرِفُ</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صَرَفْنَا</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Past + -nā; ṣarafnā = we spent.</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34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GM-VF-07 · Arabic Verb Forms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Watch me report a problem with Form VII</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GM-VF-07</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Form I</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كَسَرَ</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Someone broke it.</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Form VII</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اِنْكَسَرَ</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It broke.</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Form VII</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اِنْقَطَعَ</a:t>
            </a:r>
            <a:endParaRPr lang="ar-SA" sz="2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It was cut off.</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Fix</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أَصْلَحْنَا</a:t>
            </a:r>
            <a:endParaRPr lang="ar-SA" sz="2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Form IV: we fixed it.</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9528048"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FORM VII</a:t>
            </a:r>
            <a:endParaRPr lang="en-US" sz="800" dirty="0"/>
          </a:p>
        </p:txBody>
      </p:sp>
      <p:sp>
        <p:nvSpPr>
          <p:cNvPr id="47" name="Shape 43"/>
          <p:cNvSpPr/>
          <p:nvPr/>
        </p:nvSpPr>
        <p:spPr>
          <a:xfrm>
            <a:off x="10515600"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OTHER</a:t>
            </a:r>
            <a:endParaRPr lang="en-US" sz="800" dirty="0"/>
          </a:p>
        </p:txBody>
      </p:sp>
      <p:sp>
        <p:nvSpPr>
          <p:cNvPr id="49" name="Text 45"/>
          <p:cNvSpPr txBox="1"/>
          <p:nvPr/>
        </p:nvSpPr>
        <p:spPr>
          <a:xfrm>
            <a:off x="685800" y="5029200"/>
            <a:ext cx="10817352" cy="731520"/>
          </a:xfrm>
          <a:prstGeom prst="rect">
            <a:avLst/>
          </a:prstGeom>
          <a:noFill/>
          <a:ln/>
        </p:spPr>
        <p:txBody>
          <a:bodyPr wrap="square" lIns="0" tIns="0" rIns="0" bIns="0" rtlCol="0" anchor="ctr"/>
          <a:lstStyle/>
          <a:p>
            <a:pPr rtl="1" algn="r" indent="0" marL="0">
              <a:buNone/>
            </a:pPr>
            <a:r>
              <a:rPr lang="ar-SA" altLang="en-US" sz="2450" b="1" dirty="0">
                <a:solidFill>
                  <a:srgbClr val="0E7C86"/>
                </a:solidFill>
                <a:latin typeface="Amiri" pitchFamily="2" charset="-78"/>
                <a:ea typeface="Amiri" pitchFamily="2" charset="-78"/>
                <a:cs typeface="Amiri" pitchFamily="2" charset="-78"/>
              </a:rPr>
              <a:t>اِنْكَسَرَ</a:t>
            </a:r>
            <a:pPr rtl="1" algn="r" indent="0" marL="0">
              <a:buNone/>
            </a:pPr>
            <a:r>
              <a:rPr lang="ar-SA" altLang="en-US" sz="2450" b="1" dirty="0">
                <a:solidFill>
                  <a:srgbClr val="1B3B6F"/>
                </a:solidFill>
                <a:latin typeface="Amiri" pitchFamily="2" charset="-78"/>
                <a:ea typeface="Amiri" pitchFamily="2" charset="-78"/>
                <a:cs typeface="Amiri" pitchFamily="2" charset="-78"/>
              </a:rPr>
              <a:t> الْكُوبُ أَمْسِ، ثُمَّ </a:t>
            </a:r>
            <a:pPr rtl="1" algn="r" indent="0" marL="0">
              <a:buNone/>
            </a:pPr>
            <a:r>
              <a:rPr lang="ar-SA" altLang="en-US" sz="2450" b="1" dirty="0">
                <a:solidFill>
                  <a:srgbClr val="0E7C86"/>
                </a:solidFill>
                <a:latin typeface="Amiri" pitchFamily="2" charset="-78"/>
                <a:ea typeface="Amiri" pitchFamily="2" charset="-78"/>
                <a:cs typeface="Amiri" pitchFamily="2" charset="-78"/>
              </a:rPr>
              <a:t>انْقَطَعَ</a:t>
            </a:r>
            <a:pPr rtl="1" algn="r" indent="0" marL="0">
              <a:buNone/>
            </a:pPr>
            <a:r>
              <a:rPr lang="ar-SA" altLang="en-US" sz="2450" b="1" dirty="0">
                <a:solidFill>
                  <a:srgbClr val="1B3B6F"/>
                </a:solidFill>
                <a:latin typeface="Amiri" pitchFamily="2" charset="-78"/>
                <a:ea typeface="Amiri" pitchFamily="2" charset="-78"/>
                <a:cs typeface="Amiri" pitchFamily="2" charset="-78"/>
              </a:rPr>
              <a:t> الِاتِّصَالُ أَثْنَاءَ الدَّرْسِ. بَعْدَ ذَلِكَ </a:t>
            </a:r>
            <a:pPr rtl="1" algn="r" indent="0" marL="0">
              <a:buNone/>
            </a:pPr>
            <a:r>
              <a:rPr lang="ar-SA" altLang="en-US" sz="2450" b="1" dirty="0">
                <a:solidFill>
                  <a:srgbClr val="D6336C"/>
                </a:solidFill>
                <a:latin typeface="Amiri" pitchFamily="2" charset="-78"/>
                <a:ea typeface="Amiri" pitchFamily="2" charset="-78"/>
                <a:cs typeface="Amiri" pitchFamily="2" charset="-78"/>
              </a:rPr>
              <a:t>أَصْلَحْنَا</a:t>
            </a:r>
            <a:pPr rtl="1" algn="r" indent="0" marL="0">
              <a:buNone/>
            </a:pPr>
            <a:r>
              <a:rPr lang="ar-SA" altLang="en-US" sz="2450" b="1" dirty="0">
                <a:solidFill>
                  <a:srgbClr val="1B3B6F"/>
                </a:solidFill>
                <a:latin typeface="Amiri" pitchFamily="2" charset="-78"/>
                <a:ea typeface="Amiri" pitchFamily="2" charset="-78"/>
                <a:cs typeface="Amiri" pitchFamily="2" charset="-78"/>
              </a:rPr>
              <a:t> الْمُشْكِلَةَ وَ</a:t>
            </a:r>
            <a:pPr rtl="1" algn="r" indent="0" marL="0">
              <a:buNone/>
            </a:pPr>
            <a:r>
              <a:rPr lang="ar-SA" altLang="en-US" sz="2450" b="1" dirty="0">
                <a:solidFill>
                  <a:srgbClr val="D6336C"/>
                </a:solidFill>
                <a:latin typeface="Amiri" pitchFamily="2" charset="-78"/>
                <a:ea typeface="Amiri" pitchFamily="2" charset="-78"/>
                <a:cs typeface="Amiri" pitchFamily="2" charset="-78"/>
              </a:rPr>
              <a:t>عُدْنَا</a:t>
            </a:r>
            <a:pPr rtl="1" algn="r" indent="0" marL="0">
              <a:buNone/>
            </a:pPr>
            <a:r>
              <a:rPr lang="ar-SA" altLang="en-US" sz="2450" b="1" dirty="0">
                <a:solidFill>
                  <a:srgbClr val="1B3B6F"/>
                </a:solidFill>
                <a:latin typeface="Amiri" pitchFamily="2" charset="-78"/>
                <a:ea typeface="Amiri" pitchFamily="2" charset="-78"/>
                <a:cs typeface="Amiri" pitchFamily="2" charset="-78"/>
              </a:rPr>
              <a:t> إِلَى الْعَمَلِ.</a:t>
            </a:r>
            <a:endParaRPr lang="ar-SA" sz="2450" dirty="0"/>
          </a:p>
        </p:txBody>
      </p:sp>
      <p:sp>
        <p:nvSpPr>
          <p:cNvPr id="50" name="Text 46"/>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300" i="1" dirty="0">
                <a:solidFill>
                  <a:srgbClr val="5A6472"/>
                </a:solidFill>
                <a:latin typeface="Calibri" pitchFamily="34" charset="0"/>
                <a:cs typeface="Amiri" pitchFamily="2" charset="-78"/>
              </a:rPr>
              <a:t>The cup broke yesterday, then the connection was cut off during the lesson. After that, we fixed the problem and went back to work.</a:t>
            </a:r>
            <a:endParaRPr lang="en-US" sz="1300" dirty="0"/>
          </a:p>
        </p:txBody>
      </p:sp>
      <p:sp>
        <p:nvSpPr>
          <p:cNvPr id="51"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34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GM-VF-07 · Arabic Verb Forms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GM-VF-07</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يَنْفَتِحُ الْبَابُ فِي السَّاعَةِ الثَّامِنَةِ.</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door opens at eight o’clock.</a:t>
            </a:r>
            <a:endParaRPr lang="en-US" sz="1250" dirty="0"/>
          </a:p>
          <a:p>
            <a:pPr indent="0" marL="0">
              <a:buNone/>
            </a:pPr>
            <a:r>
              <a:rPr lang="en-US" sz="1050" i="1" dirty="0">
                <a:solidFill>
                  <a:srgbClr val="8A6D1E"/>
                </a:solidFill>
                <a:latin typeface="Calibri" pitchFamily="34" charset="0"/>
                <a:cs typeface="Amiri" pitchFamily="2" charset="-78"/>
              </a:rPr>
              <a:t>Website.</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اِنْقَطَعَ الِاتِّصَالُ أَثْنَاءَ الدَّرْسِ.</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connection was cut off during the lesson.</a:t>
            </a:r>
            <a:endParaRPr lang="en-US" sz="1250" dirty="0"/>
          </a:p>
          <a:p>
            <a:pPr indent="0" marL="0">
              <a:buNone/>
            </a:pPr>
            <a:r>
              <a:rPr lang="en-US" sz="1050" i="1" dirty="0">
                <a:solidFill>
                  <a:srgbClr val="8A6D1E"/>
                </a:solidFill>
                <a:latin typeface="Calibri" pitchFamily="34" charset="0"/>
                <a:cs typeface="Amiri" pitchFamily="2" charset="-78"/>
              </a:rPr>
              <a:t>Website.</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اِنْصَرَفَ الضُّيُوفُ مُتَأَخِّرِينَ.</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guests left late.</a:t>
            </a:r>
            <a:endParaRPr lang="en-US" sz="1250" dirty="0"/>
          </a:p>
          <a:p>
            <a:pPr indent="0" marL="0">
              <a:buNone/>
            </a:pPr>
            <a:r>
              <a:rPr lang="en-US" sz="1050" i="1" dirty="0">
                <a:solidFill>
                  <a:srgbClr val="8A6D1E"/>
                </a:solidFill>
                <a:latin typeface="Calibri" pitchFamily="34" charset="0"/>
                <a:cs typeface="Amiri" pitchFamily="2" charset="-78"/>
              </a:rPr>
              <a:t>People.</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اِنْكَسَرَتْ نَظَّارَتِي.</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My glasses broke.</a:t>
            </a:r>
            <a:endParaRPr lang="en-US" sz="1250" dirty="0"/>
          </a:p>
          <a:p>
            <a:pPr indent="0" marL="0">
              <a:buNone/>
            </a:pPr>
            <a:r>
              <a:rPr lang="en-US" sz="1050" i="1" dirty="0">
                <a:solidFill>
                  <a:srgbClr val="8A6D1E"/>
                </a:solidFill>
                <a:latin typeface="Calibri" pitchFamily="34" charset="0"/>
                <a:cs typeface="Amiri" pitchFamily="2" charset="-78"/>
              </a:rPr>
              <a:t>Feminine subject.</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34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GM-VF-07 · Arabic Verb Forms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SAME ROOT, DIFFERENT FORM · SAY IT ALOUD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Someone did it → it happened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مِنَ الْأَوَّلِ إِلَى السَّابِعِ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GM-VF-07</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028432" y="1810512"/>
            <a:ext cx="36301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5468112" y="1810512"/>
            <a:ext cx="24140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Form VII</a:t>
            </a:r>
            <a:endParaRPr lang="en-US" sz="1100" dirty="0"/>
          </a:p>
        </p:txBody>
      </p:sp>
      <p:sp>
        <p:nvSpPr>
          <p:cNvPr id="18" name="Text 15"/>
          <p:cNvSpPr txBox="1"/>
          <p:nvPr/>
        </p:nvSpPr>
        <p:spPr>
          <a:xfrm>
            <a:off x="309067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530352" y="1810512"/>
            <a:ext cx="24140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Base verb</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065008" y="2267712"/>
            <a:ext cx="35935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break / get broken</a:t>
            </a:r>
            <a:endParaRPr lang="en-US" sz="1100" dirty="0"/>
          </a:p>
        </p:txBody>
      </p:sp>
      <p:sp>
        <p:nvSpPr>
          <p:cNvPr id="22" name="Text 19"/>
          <p:cNvSpPr txBox="1"/>
          <p:nvPr/>
        </p:nvSpPr>
        <p:spPr>
          <a:xfrm>
            <a:off x="5486400" y="2267712"/>
            <a:ext cx="23774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اِنْكَسَرَ</a:t>
            </a:r>
            <a:endParaRPr lang="ar-SA" sz="2400" dirty="0"/>
          </a:p>
        </p:txBody>
      </p:sp>
      <p:sp>
        <p:nvSpPr>
          <p:cNvPr id="23" name="Text 20"/>
          <p:cNvSpPr txBox="1"/>
          <p:nvPr/>
        </p:nvSpPr>
        <p:spPr>
          <a:xfrm>
            <a:off x="312724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break something</a:t>
            </a:r>
            <a:endParaRPr lang="en-US" sz="1100" dirty="0"/>
          </a:p>
        </p:txBody>
      </p:sp>
      <p:sp>
        <p:nvSpPr>
          <p:cNvPr id="24" name="Text 21"/>
          <p:cNvSpPr txBox="1"/>
          <p:nvPr/>
        </p:nvSpPr>
        <p:spPr>
          <a:xfrm>
            <a:off x="548640" y="2267712"/>
            <a:ext cx="23774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كَسَرَ</a:t>
            </a:r>
            <a:endParaRPr lang="ar-SA" sz="24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065008" y="3004718"/>
            <a:ext cx="35935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open / come open</a:t>
            </a:r>
            <a:endParaRPr lang="en-US" sz="1100" dirty="0"/>
          </a:p>
        </p:txBody>
      </p:sp>
      <p:sp>
        <p:nvSpPr>
          <p:cNvPr id="29" name="Text 26"/>
          <p:cNvSpPr txBox="1"/>
          <p:nvPr/>
        </p:nvSpPr>
        <p:spPr>
          <a:xfrm>
            <a:off x="5486400" y="3004718"/>
            <a:ext cx="23774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اِنْفَتَحَ</a:t>
            </a:r>
            <a:endParaRPr lang="ar-SA" sz="2400" dirty="0"/>
          </a:p>
        </p:txBody>
      </p:sp>
      <p:sp>
        <p:nvSpPr>
          <p:cNvPr id="30" name="Text 27"/>
          <p:cNvSpPr txBox="1"/>
          <p:nvPr/>
        </p:nvSpPr>
        <p:spPr>
          <a:xfrm>
            <a:off x="312724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open something</a:t>
            </a:r>
            <a:endParaRPr lang="en-US" sz="1100" dirty="0"/>
          </a:p>
        </p:txBody>
      </p:sp>
      <p:sp>
        <p:nvSpPr>
          <p:cNvPr id="31" name="Text 28"/>
          <p:cNvSpPr txBox="1"/>
          <p:nvPr/>
        </p:nvSpPr>
        <p:spPr>
          <a:xfrm>
            <a:off x="548640" y="3004718"/>
            <a:ext cx="23774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فَتَحَ</a:t>
            </a:r>
            <a:endParaRPr lang="ar-SA" sz="24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065008" y="3741725"/>
            <a:ext cx="35935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be cut off</a:t>
            </a:r>
            <a:endParaRPr lang="en-US" sz="1100" dirty="0"/>
          </a:p>
        </p:txBody>
      </p:sp>
      <p:sp>
        <p:nvSpPr>
          <p:cNvPr id="36" name="Text 33"/>
          <p:cNvSpPr txBox="1"/>
          <p:nvPr/>
        </p:nvSpPr>
        <p:spPr>
          <a:xfrm>
            <a:off x="5486400" y="3741725"/>
            <a:ext cx="23774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اِنْقَطَعَ</a:t>
            </a:r>
            <a:endParaRPr lang="ar-SA" sz="2400" dirty="0"/>
          </a:p>
        </p:txBody>
      </p:sp>
      <p:sp>
        <p:nvSpPr>
          <p:cNvPr id="37" name="Text 34"/>
          <p:cNvSpPr txBox="1"/>
          <p:nvPr/>
        </p:nvSpPr>
        <p:spPr>
          <a:xfrm>
            <a:off x="312724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cut something</a:t>
            </a:r>
            <a:endParaRPr lang="en-US" sz="1100" dirty="0"/>
          </a:p>
        </p:txBody>
      </p:sp>
      <p:sp>
        <p:nvSpPr>
          <p:cNvPr id="38" name="Text 35"/>
          <p:cNvSpPr txBox="1"/>
          <p:nvPr/>
        </p:nvSpPr>
        <p:spPr>
          <a:xfrm>
            <a:off x="548640" y="3741725"/>
            <a:ext cx="23774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قَطَعَ</a:t>
            </a:r>
            <a:endParaRPr lang="ar-SA" sz="2400" dirty="0"/>
          </a:p>
        </p:txBody>
      </p:sp>
      <p:sp>
        <p:nvSpPr>
          <p:cNvPr id="39" name="Shape 36"/>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2" name="Text 39"/>
          <p:cNvSpPr txBox="1"/>
          <p:nvPr/>
        </p:nvSpPr>
        <p:spPr>
          <a:xfrm>
            <a:off x="8065008" y="4478731"/>
            <a:ext cx="35935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overturn</a:t>
            </a:r>
            <a:endParaRPr lang="en-US" sz="1100" dirty="0"/>
          </a:p>
        </p:txBody>
      </p:sp>
      <p:sp>
        <p:nvSpPr>
          <p:cNvPr id="43" name="Text 40"/>
          <p:cNvSpPr txBox="1"/>
          <p:nvPr/>
        </p:nvSpPr>
        <p:spPr>
          <a:xfrm>
            <a:off x="5486400" y="4478731"/>
            <a:ext cx="23774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اِنْقَلَبَ</a:t>
            </a:r>
            <a:endParaRPr lang="ar-SA" sz="2400" dirty="0"/>
          </a:p>
        </p:txBody>
      </p:sp>
      <p:sp>
        <p:nvSpPr>
          <p:cNvPr id="44" name="Text 41"/>
          <p:cNvSpPr txBox="1"/>
          <p:nvPr/>
        </p:nvSpPr>
        <p:spPr>
          <a:xfrm>
            <a:off x="312724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turn something over</a:t>
            </a:r>
            <a:endParaRPr lang="en-US" sz="1100" dirty="0"/>
          </a:p>
        </p:txBody>
      </p:sp>
      <p:sp>
        <p:nvSpPr>
          <p:cNvPr id="45" name="Text 42"/>
          <p:cNvSpPr txBox="1"/>
          <p:nvPr/>
        </p:nvSpPr>
        <p:spPr>
          <a:xfrm>
            <a:off x="548640" y="4478731"/>
            <a:ext cx="23774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قَلَبَ</a:t>
            </a:r>
            <a:endParaRPr lang="ar-SA" sz="2400" dirty="0"/>
          </a:p>
        </p:txBody>
      </p:sp>
      <p:sp>
        <p:nvSpPr>
          <p:cNvPr id="46" name="Shape 43"/>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7" name="Text 44"/>
          <p:cNvSpPr txBox="1"/>
          <p:nvPr/>
        </p:nvSpPr>
        <p:spPr>
          <a:xfrm>
            <a:off x="8065008" y="5215738"/>
            <a:ext cx="35935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withdraw</a:t>
            </a:r>
            <a:endParaRPr lang="en-US" sz="1100" dirty="0"/>
          </a:p>
        </p:txBody>
      </p:sp>
      <p:sp>
        <p:nvSpPr>
          <p:cNvPr id="48" name="Text 45"/>
          <p:cNvSpPr txBox="1"/>
          <p:nvPr/>
        </p:nvSpPr>
        <p:spPr>
          <a:xfrm>
            <a:off x="5486400" y="5215738"/>
            <a:ext cx="23774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اِنْسَحَبَ</a:t>
            </a:r>
            <a:endParaRPr lang="ar-SA" sz="2400" dirty="0"/>
          </a:p>
        </p:txBody>
      </p:sp>
      <p:sp>
        <p:nvSpPr>
          <p:cNvPr id="49" name="Text 46"/>
          <p:cNvSpPr txBox="1"/>
          <p:nvPr/>
        </p:nvSpPr>
        <p:spPr>
          <a:xfrm>
            <a:off x="312724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pull something</a:t>
            </a:r>
            <a:endParaRPr lang="en-US" sz="1100" dirty="0"/>
          </a:p>
        </p:txBody>
      </p:sp>
      <p:sp>
        <p:nvSpPr>
          <p:cNvPr id="50" name="Text 47"/>
          <p:cNvSpPr txBox="1"/>
          <p:nvPr/>
        </p:nvSpPr>
        <p:spPr>
          <a:xfrm>
            <a:off x="548640" y="5215738"/>
            <a:ext cx="23774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سَحَبَ</a:t>
            </a:r>
            <a:endParaRPr lang="ar-SA" sz="2400" dirty="0"/>
          </a:p>
        </p:txBody>
      </p:sp>
      <p:sp>
        <p:nvSpPr>
          <p:cNvPr id="51" name="Text 48"/>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Form I has a doer and an object; Form VII keeps only the thing that changes. Kasara l-waladu l-kūba → inkasara l-kūbu.</a:t>
            </a:r>
            <a:endParaRPr lang="en-US" sz="1150" dirty="0"/>
          </a:p>
        </p:txBody>
      </p:sp>
      <p:sp>
        <p:nvSpPr>
          <p:cNvPr id="52"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34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GM-VF-07 · Arabic Verb Forms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CLINIC · FORM VII IS NOT THE PASSIVE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Form VII, or passive?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سَابِعٌ أَمْ مَجْهُولٌ؟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GM-VF-07</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اِنْكَسَرَ</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اِنْفَتَحَ</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اِنْقَطَعَ</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اِنْصَرَفَ</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كُسِرَ</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فُتِحَ</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قُطِعَ</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كُتِبَ</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Form VII (in-)</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Passive (u–i, GM-V-11)</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34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GM-VF-07 · Arabic Verb Forms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GM-VF-07</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Form VII (in-)</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اِنْكَسَرَ</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اِنْفَتَحَ</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اِنْقَطَعَ</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اِنْصَرَفَ</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Passive (u–i, GM-V-11)</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كُسِرَ</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فُتِحَ</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قُطِعَ</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كُتِبَ</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34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GM-VF-07 · Arabic Verb Forms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GM-VF-07</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اِنْكَسَرَ الْوَلَدُ الْكُوبَ</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Is there an object?</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يُنْكَسَرُ الْكُوبُ</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yu- or ya-?</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اِنْفُتِحَ الْبَابُ</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Form VII or passive vowels?</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34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GM-VF-07 · Arabic Verb Forms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GM-VF-07</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اِنْكَسَرَ الْوَلَدُ الْكُوبَ</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كَسَرَ الْوَلَدُ الْكُوبَ</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Form VII has no object; with a doer use Form I.</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يُنْكَسَرُ الْكُوبُ</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يَنْكَسِرُ الْكُوبُ</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Form VII present: ya- + n- + i before the last letter.</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اِنْفُتِحَ الْبَابُ</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اِنْفَتَحَ الْبَابُ</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Do not mix Form VII with passive vowels (website clinic).</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34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GM-VF-07 · Arabic Verb Forms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74" b="1" spc="150" kern="0" dirty="0">
                <a:solidFill>
                  <a:srgbClr val="2F6FB0"/>
                </a:solidFill>
                <a:latin typeface="Calibri" pitchFamily="34" charset="0"/>
                <a:cs typeface="Amiri" pitchFamily="2" charset="-78"/>
              </a:rPr>
              <a:t>WE DO · GUIDED PRACTICE · WEBSITE SELF-CHECK ITEM AND TEACHER-WRITTEN QUESTIONS</a:t>
            </a:r>
            <a:endParaRPr lang="en-US" sz="874"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GM-VF-07</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statement is accurate?</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Form VII is always the passive tense.</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Every Form VII verb takes a direct object.</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Form VII and the grammatical passive are different constructions.</a:t>
            </a:r>
            <a:endParaRPr lang="en-US" sz="12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verbal noun of </a:t>
            </a:r>
            <a:pPr algn="l" indent="0" marL="0">
              <a:buNone/>
            </a:pPr>
            <a:r>
              <a:rPr lang="ar-SA" altLang="en-US" sz="1650" b="1" dirty="0">
                <a:solidFill>
                  <a:srgbClr val="1B3B6F"/>
                </a:solidFill>
                <a:latin typeface="Amiri" pitchFamily="2" charset="-78"/>
                <a:ea typeface="Amiri" pitchFamily="2" charset="-78"/>
                <a:cs typeface="Amiri" pitchFamily="2" charset="-78"/>
              </a:rPr>
              <a:t>اِنْقَطَعَ</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قَطْعٌ</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اِنْقِطَاعٌ</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تَقْطِيعٌ</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window broke”.</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اِنْكَسَرَ النَّافِذَةُ</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اِنْكَسَرَتِ النَّافِذَةُ</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كَسَرَتِ النَّافِذَةُ</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Form VII?</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أَطْلَقَ</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اِسْتَطْلَقَ</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اِنْطَلَقَ</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34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GM-VF-07 · Arabic Verb Forms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GM-VF-07</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statement is accurate?</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Form VII is always the passive tense.</a:t>
            </a:r>
            <a:endParaRPr lang="en-US" sz="125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Every Form VII verb takes a direct object.</a:t>
            </a:r>
            <a:endParaRPr lang="en-US" sz="125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algn="l" indent="0" marL="0">
              <a:buNone/>
            </a:pPr>
            <a:r>
              <a:rPr lang="en-US" sz="1200" b="1" dirty="0">
                <a:solidFill>
                  <a:srgbClr val="1F2A37"/>
                </a:solidFill>
                <a:latin typeface="Calibri" pitchFamily="34" charset="0"/>
                <a:cs typeface="Amiri" pitchFamily="2" charset="-78"/>
              </a:rPr>
              <a:t>Form VII and the grammatical passive are different constructions.</a:t>
            </a:r>
            <a:endParaRPr lang="en-US" sz="12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Form VII is commonly intransitive and different from the passive.</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verbal noun of </a:t>
            </a:r>
            <a:pPr algn="l" indent="0" marL="0">
              <a:buNone/>
            </a:pPr>
            <a:r>
              <a:rPr lang="ar-SA" altLang="en-US" sz="1650" b="1" dirty="0">
                <a:solidFill>
                  <a:srgbClr val="1B3B6F"/>
                </a:solidFill>
                <a:latin typeface="Amiri" pitchFamily="2" charset="-78"/>
                <a:ea typeface="Amiri" pitchFamily="2" charset="-78"/>
                <a:cs typeface="Amiri" pitchFamily="2" charset="-78"/>
              </a:rPr>
              <a:t>اِنْقَطَعَ</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قَطْعٌ</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اِنْقِطَاعٌ</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تَقْطِيعٌ</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infiʿāl.</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window broke”.</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اِنْكَسَرَ النَّافِذَةُ</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اِنْكَسَرَتِ النَّافِذَةُ</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كَسَرَتِ النَّافِذَةُ</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Feminine subject: -at.</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Form VII?</a:t>
            </a:r>
            <a:endParaRPr lang="en-US" sz="1250" dirty="0"/>
          </a:p>
        </p:txBody>
      </p:sp>
      <p:sp>
        <p:nvSpPr>
          <p:cNvPr id="66" name="Shape 63"/>
          <p:cNvSpPr/>
          <p:nvPr/>
        </p:nvSpPr>
        <p:spPr>
          <a:xfrm>
            <a:off x="6368796"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أَطْلَقَ</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اِسْتَطْلَقَ</a:t>
            </a:r>
            <a:endParaRPr lang="ar-SA" sz="1700" dirty="0"/>
          </a:p>
        </p:txBody>
      </p:sp>
      <p:sp>
        <p:nvSpPr>
          <p:cNvPr id="72" name="Shape 69"/>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368796"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اِنْطَلَقَ</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in- before the root.</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34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GM-VF-07 · Arabic Verb Forms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66" b="1" spc="150" kern="0" dirty="0">
                <a:solidFill>
                  <a:srgbClr val="1E6B52"/>
                </a:solidFill>
                <a:latin typeface="Calibri" pitchFamily="34" charset="0"/>
                <a:cs typeface="Amiri" pitchFamily="2" charset="-78"/>
              </a:rPr>
              <a:t>YOU DO · READ AND NOTICE · READING FOR FORM VII (TEACHER-WRITTEN ACCOUNT)</a:t>
            </a:r>
            <a:endParaRPr lang="en-US" sz="966"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bad start to the day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اِقْرَأْ وَلَاحِظْ</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GM-VF-07</a:t>
            </a:r>
            <a:endParaRPr lang="en-US" sz="850" dirty="0"/>
          </a:p>
        </p:txBody>
      </p:sp>
      <p:sp>
        <p:nvSpPr>
          <p:cNvPr id="15" name="Shape 12"/>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صَبَاحَ الْيَوْمِ انْقَطَعَتِ الْكَهْرَبَاءُ فِي بَيْتِنَا، فَلَمْ يَرِنَّ الْمُنَبِّهُ. خَرَجْتُ مُسْرِعًا، وَانْكَسَرَتْ نَظَّارَتِي عَلَى الدَّرَجِ! وَصَلْتُ إِلَى الْمَوْقِفِ، وَلَكِنِ انْطَلَقَتِ الْحَافِلَةُ قَبْلِي. فِي الْمَدْرَسَةِ انْقَطَعَ الْإِنْتَرْنِتُ أَيْضًا. اِنْصَرَفْتُ إِلَى الْبَيْتِ وَأَنَا أَضْحَكُ: يَوْمٌ غَرِيبٌ!</a:t>
            </a:r>
            <a:endParaRPr lang="ar-SA" sz="2600" dirty="0"/>
          </a:p>
        </p:txBody>
      </p:sp>
      <p:sp>
        <p:nvSpPr>
          <p:cNvPr id="17" name="Shape 14"/>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19" name="Text 16"/>
          <p:cNvSpPr txBox="1"/>
          <p:nvPr/>
        </p:nvSpPr>
        <p:spPr>
          <a:xfrm>
            <a:off x="10102291" y="221284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الْكَهْرَبَاءُ</a:t>
            </a:r>
            <a:endParaRPr lang="ar-SA" sz="1600" dirty="0"/>
          </a:p>
        </p:txBody>
      </p:sp>
      <p:sp>
        <p:nvSpPr>
          <p:cNvPr id="20" name="Text 17"/>
          <p:cNvSpPr txBox="1"/>
          <p:nvPr/>
        </p:nvSpPr>
        <p:spPr>
          <a:xfrm>
            <a:off x="8851392" y="221284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electricity</a:t>
            </a:r>
            <a:endParaRPr lang="en-US" sz="1050" dirty="0"/>
          </a:p>
        </p:txBody>
      </p:sp>
      <p:sp>
        <p:nvSpPr>
          <p:cNvPr id="21" name="Text 18"/>
          <p:cNvSpPr txBox="1"/>
          <p:nvPr/>
        </p:nvSpPr>
        <p:spPr>
          <a:xfrm>
            <a:off x="10102291" y="271576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يَرِنَّ</a:t>
            </a:r>
            <a:endParaRPr lang="ar-SA" sz="1600" dirty="0"/>
          </a:p>
        </p:txBody>
      </p:sp>
      <p:sp>
        <p:nvSpPr>
          <p:cNvPr id="22" name="Text 19"/>
          <p:cNvSpPr txBox="1"/>
          <p:nvPr/>
        </p:nvSpPr>
        <p:spPr>
          <a:xfrm>
            <a:off x="8851392" y="271576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ring</a:t>
            </a:r>
            <a:endParaRPr lang="en-US" sz="1050" dirty="0"/>
          </a:p>
        </p:txBody>
      </p:sp>
      <p:sp>
        <p:nvSpPr>
          <p:cNvPr id="23" name="Text 20"/>
          <p:cNvSpPr txBox="1"/>
          <p:nvPr/>
        </p:nvSpPr>
        <p:spPr>
          <a:xfrm>
            <a:off x="10102291" y="321868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مُسْرِعًا</a:t>
            </a:r>
            <a:endParaRPr lang="ar-SA" sz="1600" dirty="0"/>
          </a:p>
        </p:txBody>
      </p:sp>
      <p:sp>
        <p:nvSpPr>
          <p:cNvPr id="24" name="Text 21"/>
          <p:cNvSpPr txBox="1"/>
          <p:nvPr/>
        </p:nvSpPr>
        <p:spPr>
          <a:xfrm>
            <a:off x="8851392" y="321868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in a hurry</a:t>
            </a:r>
            <a:endParaRPr lang="en-US" sz="1050" dirty="0"/>
          </a:p>
        </p:txBody>
      </p:sp>
      <p:sp>
        <p:nvSpPr>
          <p:cNvPr id="25" name="Text 22"/>
          <p:cNvSpPr txBox="1"/>
          <p:nvPr/>
        </p:nvSpPr>
        <p:spPr>
          <a:xfrm>
            <a:off x="10102291" y="372160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الدَّرَجِ</a:t>
            </a:r>
            <a:endParaRPr lang="ar-SA" sz="1600" dirty="0"/>
          </a:p>
        </p:txBody>
      </p:sp>
      <p:sp>
        <p:nvSpPr>
          <p:cNvPr id="26" name="Text 23"/>
          <p:cNvSpPr txBox="1"/>
          <p:nvPr/>
        </p:nvSpPr>
        <p:spPr>
          <a:xfrm>
            <a:off x="8851392" y="372160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stairs</a:t>
            </a:r>
            <a:endParaRPr lang="en-US" sz="1050" dirty="0"/>
          </a:p>
        </p:txBody>
      </p:sp>
      <p:sp>
        <p:nvSpPr>
          <p:cNvPr id="27" name="Text 24"/>
          <p:cNvSpPr txBox="1"/>
          <p:nvPr/>
        </p:nvSpPr>
        <p:spPr>
          <a:xfrm>
            <a:off x="10102291" y="422452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الْمَوْقِفِ</a:t>
            </a:r>
            <a:endParaRPr lang="ar-SA" sz="1600" dirty="0"/>
          </a:p>
        </p:txBody>
      </p:sp>
      <p:sp>
        <p:nvSpPr>
          <p:cNvPr id="28" name="Text 25"/>
          <p:cNvSpPr txBox="1"/>
          <p:nvPr/>
        </p:nvSpPr>
        <p:spPr>
          <a:xfrm>
            <a:off x="8851392" y="422452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bus stop</a:t>
            </a:r>
            <a:endParaRPr lang="en-US" sz="1050" dirty="0"/>
          </a:p>
        </p:txBody>
      </p:sp>
      <p:sp>
        <p:nvSpPr>
          <p:cNvPr id="29" name="Text 2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34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GM-VF-07 · Arabic Verb Forms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QUESTIONS · FIND THE GRAMMAR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notice the grammar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GM-VF-07</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didn’t the alarm ring?</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broke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electricity was cut off</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writer turned it off</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broke on the stairs?</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cup</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alarm</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writer’s glasses</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happened at the bus stop?</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bus had already set off</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bus broke down</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writer took the bus</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many Form VII verbs are there?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three</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five</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two</a:t>
            </a:r>
            <a:endParaRPr lang="en-US" sz="1250" dirty="0"/>
          </a:p>
        </p:txBody>
      </p:sp>
      <p:sp>
        <p:nvSpPr>
          <p:cNvPr id="67" name="Shape 64"/>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8" name="Text 65"/>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69" name="Text 66"/>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34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GM-VF-07 · Arabic Verb Forms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GM-VF-07</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didn’t the alarm ring?</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broke</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electricity was cut off</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writer turned it off</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Inqaṭaʿati l-kahrabāʾ.</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broke on the stairs?</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cup</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alarm</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writer’s glasses</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Inkasarat naẓẓāratī.</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happened at the bus stop?</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bus had already set off</a:t>
            </a:r>
            <a:endParaRPr lang="en-US" sz="125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bus broke down</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writer took the bus</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Inṭalaqati l-ḥāfila qablī.</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many Form VII verbs are there?</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three</a:t>
            </a:r>
            <a:endParaRPr lang="en-US" sz="125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five</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two</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inqaṭaʿat · inkasarat · inṭalaqat · inqaṭaʿa · inṣaraftu.</a:t>
            </a:r>
            <a:endParaRPr lang="en-US" sz="1050" dirty="0"/>
          </a:p>
        </p:txBody>
      </p:sp>
      <p:sp>
        <p:nvSpPr>
          <p:cNvPr id="75" name="Shape 72"/>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6" name="Text 73"/>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77" name="Text 74"/>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34</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GM-VF-07 · Arabic Verb Forms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Speaking: what went wrong?</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GM-VF-07</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هَلِ انْكَسَرَ شَيْءٌ فِي بَيْتِكَ هَذَا الْأُسْبُوعَ؟</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مَاذَا تَفْعَلُ إِذَا انْقَطَعَ الْإِنْتَرْنِتُ؟</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اِحْكِ عَنْ يَوْمٍ سَيِّئٍ: مَاذَا انْكَسَرَ؟ وَمَاذَا انْقَطَعَ؟ وَمَتَى انْصَرَفْتَ؟</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نَعَمْ، اِنْكَسَرَ ___ .</a:t>
            </a:r>
            <a:endParaRPr lang="ar-SA" sz="16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إِذَا انْقَطَعَ الْإِنْتَرْنِتُ ___ .</a:t>
            </a:r>
            <a:endParaRPr lang="ar-SA" sz="16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300" b="1" dirty="0">
                <a:solidFill>
                  <a:srgbClr val="1F2A37"/>
                </a:solidFill>
                <a:latin typeface="Amiri" pitchFamily="2" charset="-78"/>
                <a:ea typeface="Amiri" pitchFamily="2" charset="-78"/>
                <a:cs typeface="Amiri" pitchFamily="2" charset="-78"/>
              </a:rPr>
              <a:t>اِنْكَسَرَ ___ ، ثُمَّ انْقَطَعَ ___ ، فَانْصَرَفْتُ ___ .</a:t>
            </a:r>
            <a:endParaRPr lang="ar-SA" sz="130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هَلِ انْكَسَرَ شَيْءٌ فِي بَيْتِكِ؟</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Did anything break in your house? (to a girl)</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نَعَمْ، اِنْكَسَرَ صَحْنٌ فِي الْمَطْبَخِ، وَانْقَطَعَ الْمَاءُ سَاعَتَيْنِ. أَصْلَحَ أَبِي كُلَّ شَيْءٍ!</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750" i="1" dirty="0">
                <a:solidFill>
                  <a:srgbClr val="5A6472"/>
                </a:solidFill>
                <a:latin typeface="Calibri" pitchFamily="34" charset="0"/>
                <a:cs typeface="Amiri" pitchFamily="2" charset="-78"/>
              </a:rPr>
              <a:t>Yes, a plate broke in the kitchen, and the water was cut off for two hours. My father fixed everything!</a:t>
            </a:r>
            <a:endParaRPr lang="en-US" sz="7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34</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GM-VF-07 · Arabic Verb Forms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GM-VF-07</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3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Website task.</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inkasara · inqaṭaʿa · then …</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6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inṭalaqa, inṣarafa and a feminine subject.</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inkasarat · inṭalaqat.</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8 sentences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 “bad day” story with five Form VII verbs and one Form I / VII pair.</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kasartu … fa-nkasara.</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34</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GM-VF-07 · Arabic Verb Forms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GM-VF-07</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اِنْكَسَرَتْ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 broke (feminine)</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تَنْطَلِقُ الْحَافِلَةُ فِي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bus sets off at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بَعْدَ ذَلِكَ أَصْلَحْنَا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After that we fixed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اِسْتَمَرَّ الِانْقِطَاعُ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power cut lasted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اِنْكَسَرَ ______ أَمْسِ.</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broke yesterday</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اِنْقَطَعَ ______ أَثْنَاءَ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was cut off during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يَنْفَتِحُ الْبَابُ فِي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door opens at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اِنْصَرَفْنَا بَعْدَ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We left after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اِنْكَسَرَ · يَنْكَسِرُ  ·  اِنْفَتَحَ · يَنْفَتِحُ  ·  اِنْقَطَعَ · يَنْقَطِعُ  ·  اِنْصَرَفَ · يَنْصَرِفُ  ·  اِنْطَلَقَ · يَنْطَلِقُ  ·  اِنْقِطَاعٌ  ·  الْكَهْرَبَاءُ  ·  الِاتِّصَالُ  ·  أَصْلَحَ</a:t>
            </a:r>
            <a:endParaRPr lang="ar-SA" sz="16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34</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GM-VF-07 · Arabic Verb Forms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GM-VF-07</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a “bad day” story with five Form VII verbs and one Form I / Form VII pair.</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Five Form VII verbs (in-).</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No objects after Form VII verbs.</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feminine subject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verbal noun (inqiṭāʿ, inṭilāq).</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Form I / VII pair.</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USEFUL FOR THIS TASK</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صَبَاحَ الْيَوْمِ</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this morning</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فَجْأَةً</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suddenly</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لِحُسْنِ الْحَظِّ</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luckily</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لِسُوءِ الْحَظِّ</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unluckily</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بَعْدَ ذَلِكَ</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after that</a:t>
            </a:r>
            <a:endParaRPr lang="en-US" sz="1050" dirty="0"/>
          </a:p>
        </p:txBody>
      </p:sp>
      <p:sp>
        <p:nvSpPr>
          <p:cNvPr id="36" name="Text 33"/>
          <p:cNvSpPr txBox="1"/>
          <p:nvPr/>
        </p:nvSpPr>
        <p:spPr>
          <a:xfrm>
            <a:off x="8412480" y="552297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النِّهَايَةِ</a:t>
            </a:r>
            <a:endParaRPr lang="ar-SA" sz="1800" dirty="0"/>
          </a:p>
        </p:txBody>
      </p:sp>
      <p:sp>
        <p:nvSpPr>
          <p:cNvPr id="37" name="Text 34"/>
          <p:cNvSpPr txBox="1"/>
          <p:nvPr/>
        </p:nvSpPr>
        <p:spPr>
          <a:xfrm>
            <a:off x="6400800" y="585216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in the end</a:t>
            </a:r>
            <a:endParaRPr lang="en-US" sz="105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34</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GM-VF-07 · Arabic Verb Forms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GM-VF-07</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كَانَ يَوْمُ الْأَحَدِ يَوْمًا غَرِيبًا. فِي الصَّبَاحِ انْقَطَعَ الْمَاءُ، فَلَمْ أَسْتَحِمَّ. فِي الطَّرِيقِ انْقَلَبَتْ حَقِيبَتِي، وَانْكَسَرَ قَلَمِي الْمُفَضَّلُ. فِي الصَّفِّ انْفَتَحَتِ النَّافِذَةُ بِسَبَبِ الرِّيحِ، وَطَارَتْ أَوْرَاقِي! لِحُسْنِ الْحَظِّ سَاعَدَنِي زُمَلَائِي. بَعْدَ الظُّهْرِ انْطَلَقَتِ الرِّحْلَةُ مُتَأَخِّرَةً، وَانْصَرَفْنَا إِلَى بُيُوتِنَا فِي الْمَسَاءِ. أَتَمَنَّى أَلَّا يَنْكَسِرَ شَيْءٌ غَدًا!</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Sunday was a strange day. In the morning the water was cut off, so I didn’t shower. On the way my bag turned over, and my favourite pen broke. In class the window blew open because of the wind, and my papers flew away! Luckily my classmates helped me. In the afternoon the trip set off late, and we went home in the evening. I hope nothing breaks tomorrow!</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Form VII past</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feminine subject</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Form VII present</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Form III verb</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34</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GM-VF-07 · Arabic Verb Forms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GM-VF-07</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Form VII verbs start with in-.</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Form VII verbs have no object.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present forms use yan- / tan- / an- / nan-.</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Feminine subjects take -at (inkasarat).</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did not mix Form VII with passive vowels.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34</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GM-VF-07 · Arabic Verb Forms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GM-VF-07</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door opened”.</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اِنْفَتَحَ الْبَابُ</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فَتَحَ الْبَابَ</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اِنْفُتِحَ الْبَابُ</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NOT Form VII?</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اِنْكَسَرَ</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كُسِرَ</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اِنْصَرَفَ</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students leave”.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يَنْصَرِفُ الطُّلَّابُ</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يُصْرَفُ الطُّلَّابُ</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اِنْصَرِفِ الطُّلَّابُ</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34</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GM-VF-07 · Arabic Verb Forms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GM-VF-07</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door opened”.</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اِنْفَتَحَ الْبَابُ</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فَتَحَ الْبَابَ</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اِنْفُتِحَ الْبَابُ</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Form VII.</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NOT Form VII?</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اِنْكَسَرَ</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كُسِرَ</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اِنْصَرَفَ</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kusira is the passive.</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students leave”.</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يَنْصَرِفُ الطُّلَّابُ</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يُصْرَفُ الطُّلَّابُ</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اِنْصَرِفِ الطُّلَّابُ</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Form VII present.</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34</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GM-VF-07 · Arabic Verb Forms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Before GM-VF-08: get ready at home</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GM-VF-07</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GM-VF-08 · Form VIII: Meeting, Choosing and Acquiring</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اِكْتَسَبَ · يَكْتَسِبُ</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to acquire</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اِجْتَمَعَ · يَجْتَمِعُ</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to meet / gather</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اِخْتَارَ · يَخْتَارُ</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to choose</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اِهْتَمَّ · يَهْتَمُّ</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to be interested</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كَسَبَ</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to earn (Form I)</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Kasaba = to earn. Iktasaba = to acquire. Which letter was added inside the root?</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كَسَبَ · اِكْتَسَبَ</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five sentences with inkasara, infataḥa and inqaṭaʿa.</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Turn five Form I sentences (someone did it) into Form VII (it happened).</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A “bad day” story with five Form VII verbs.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34</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GM-VF-07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800" b="1" dirty="0">
                <a:solidFill>
                  <a:srgbClr val="FFFFFF"/>
                </a:solidFill>
                <a:latin typeface="Cambria" pitchFamily="34" charset="0"/>
                <a:cs typeface="Amiri" pitchFamily="2" charset="-78"/>
              </a:rPr>
              <a:t>GM-VF-08 · Form VIII: Meeting, Choosing and Acquiring</a:t>
            </a:r>
            <a:endParaRPr lang="en-US" sz="18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الْوَزْنُ الثَّامِنُ</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Form VII = in- + root (infaʿala) · present yanfaʿilu · what happens to the subject — no doer, no object · noun infiʿāl · Form VII is NOT the passive (kusira).</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GM-VF-07 · Form VII: Change of State</dc:title>
  <dc:subject>PptxGenJS Presentation</dc:subject>
  <dc:creator>Al Madina Online School · Arabic Department</dc:creator>
  <cp:lastModifiedBy>Al Madina Online School · Arabic Department</cp:lastModifiedBy>
  <cp:revision>1</cp:revision>
  <dcterms:created xsi:type="dcterms:W3CDTF">2026-10-11T06:42:44Z</dcterms:created>
  <dcterms:modified xsi:type="dcterms:W3CDTF">2026-10-11T06:42:44Z</dcterms:modified>
</cp:coreProperties>
</file>