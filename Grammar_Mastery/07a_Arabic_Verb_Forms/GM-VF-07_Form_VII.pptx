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GM-VF-07 (“Form VII: Change of State”).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اِنْكَسَرَ · يَنْكَسِرُ and the family اِنْفَتَحَ · اِنْقَطَعَ · اِنْصَرَفَ to report small problems. Develop: present forms (يَنْكَسِرُ · تَنْقَطِعُ · أَنْصَرِفُ) and the verbal noun اِنْفِعَالٌ (اِنْقِطَاعٌ · اِنْصِرَافٌ). Stretch: Form I → VII (كَسَرَ / اِنْكَسَرَ) and the website clinic: Form VII is not the passive (كُسِرَ vs اِنْكَسَرَ).
• Website point: the first alif is hamzat al-waṣl — it is not pronounced after a word: ثُمَّ انْقَطَعَ (thumma nqaṭaʿa).
• Form VII verbs have no object: the subject is the thing that changes.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GM-VF-06 and its prep words (inkasara, infataḥa, inqaṭaʿa, inṣarafa).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VII = in- + root (infaʿala). The subject is what changes — no doer, no object. Present: yanfaʿilu.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Commands only exist where a person can do the action (inṣarif!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(website sentences 2–3; “the glass” changed to al-kūb —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Inṣarafa works well for people (we left); inkasara for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 plus three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(glass → cup). Note thumma nqaṭaʿa — the linking alif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turn each Form I sentence into a Form VII sentence (the object moves to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compare fataḥa, infataḥa and futiḥa — active Form I, Form VII and the passive. Both may translate “was opened”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compare fataḥa, infataḥa and futiḥa — active Form I, Form VII and the passive. Both may translate “was opened”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VII (teacher-written account). Read it aloud once while students follow; then they hunt for today’s grammar.
Task: Website: write about a minor problem. First, underline every Form VII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a broken item, an interrupted connection and what happened next. Practise the silent linking alif: wa-nqaṭaʿa.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account of a minor problem at school or home. Include a broken item, an interrupted connection and a sentence explaining what happened next.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(GM-VF-08 · Form VIII: Meeting, Choosing and Acquiring) will spend class time USING this language, so students prepare it tonight — short, simple, easy to access (school guidance: “Simple, Short, Interesting, Relevant, Easy to access”). The five words prepare GM-VF-08 (website Verb Forms: Form VIII).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Form VII: Change of State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الْوَزْنُ السَّابِعُ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VII puts in- before the root: kasara (break something) → inkasara (break / get broken). Present: yankasiru. It describes what happens to the subject — no doer, no object.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Form I vs VII vs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Break → get broken; sort Form VII / passive;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تَعَاوَنَ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عَاوَنَ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Kasara l-waladu l-kūba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broke the cup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cup broke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was broken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Inkasara l-kūbu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broke the cup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 the cup!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cup broke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اِنْفَتَحَ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يُنْفَتَحُ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يَفْتَحُ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يَنْفَتِحُ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Inṣarafa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arrive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spend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تَعَاوَنَ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عَاوَنَ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ā (GM-VF-06).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Kasara l-waladu l-kūba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boy broke the cup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cup broke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boy was broken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I with a doer and an object.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Inkasara l-kūbu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boy broke the cup</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 the cup!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cup broke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cs typeface="Amiri" pitchFamily="2" charset="-78"/>
              </a:rPr>
              <a:t>اِنْفَتَحَ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يُنْفَتَحُ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يَفْتَحُ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يَنْفَتِحُ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ya- + 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Inṣarafa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leave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arrive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spend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VII = in- + root (infaʿala). The subject is what changes — no doer, no object. Present: yanfaʿilu.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2" charset="-78"/>
                <a:cs typeface="Amiri" pitchFamily="2" charset="-78"/>
              </a:rPr>
              <a:t>كَسَرَ</a:t>
            </a:r>
            <a:pPr rtl="1" algn="ctr" indent="0" marL="0">
              <a:lnSpc>
                <a:spcPct val="120000"/>
              </a:lnSpc>
              <a:buNone/>
            </a:pPr>
            <a:r>
              <a:rPr lang="ar-SA" altLang="en-US" sz="2200" b="1" dirty="0">
                <a:solidFill>
                  <a:srgbClr val="1B3B6F"/>
                </a:solidFill>
                <a:latin typeface="Amiri" pitchFamily="2" charset="-78"/>
                <a:cs typeface="Amiri" pitchFamily="2" charset="-78"/>
              </a:rPr>
              <a:t> الْوَلَدُ الْكُوبَ ‖ </a:t>
            </a:r>
            <a:pPr rtl="1" algn="ctr" indent="0" marL="0">
              <a:lnSpc>
                <a:spcPct val="120000"/>
              </a:lnSpc>
              <a:buNone/>
            </a:pPr>
            <a:r>
              <a:rPr lang="ar-SA" altLang="en-US" sz="2200" b="1" dirty="0">
                <a:solidFill>
                  <a:srgbClr val="D6336C"/>
                </a:solidFill>
                <a:latin typeface="Amiri" pitchFamily="2" charset="-78"/>
                <a:cs typeface="Amiri" pitchFamily="2" charset="-78"/>
              </a:rPr>
              <a:t>اِنْكَسَرَ</a:t>
            </a:r>
            <a:pPr rtl="1" algn="ctr" indent="0" marL="0">
              <a:lnSpc>
                <a:spcPct val="120000"/>
              </a:lnSpc>
              <a:buNone/>
            </a:pPr>
            <a:r>
              <a:rPr lang="ar-SA" altLang="en-US" sz="2200" b="1" dirty="0">
                <a:solidFill>
                  <a:srgbClr val="1B3B6F"/>
                </a:solidFill>
                <a:latin typeface="Amiri" pitchFamily="2" charset="-78"/>
                <a:cs typeface="Amiri" pitchFamily="2" charset="-78"/>
              </a:rPr>
              <a:t> الْكُوبُ</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VII by the in- before the root.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 small problems with Form VII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Form VII from the passive.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the cup broke and the door opened.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a problem.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conjugate inṣarafa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inqiṭāʿ (cut / interruption).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compare kasara, inkasara and kusira.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Form VII has no object.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الْوَزْنُ السَّابِعُ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a:t>
            </a:r>
            <a:endParaRPr lang="en-US" sz="1350" dirty="0"/>
          </a:p>
          <a:p>
            <a:pPr indent="0" marL="0">
              <a:buNone/>
            </a:pPr>
            <a:r>
              <a:rPr lang="en-US" sz="1100" i="1" dirty="0">
                <a:solidFill>
                  <a:srgbClr val="5A6472"/>
                </a:solidFill>
                <a:latin typeface="Calibri" pitchFamily="34" charset="0"/>
                <a:cs typeface="Amiri" pitchFamily="2" charset="-78"/>
              </a:rPr>
              <a:t>al-waz-nu as-sā-bi-ʿu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اِنْفَعَلَ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هَمْزَةُ الْوَصْلِ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linking alif (not pronounced mid-sentence)</a:t>
            </a:r>
            <a:endParaRPr lang="en-US" sz="1350" dirty="0"/>
          </a:p>
          <a:p>
            <a:pPr indent="0" marL="0">
              <a:buNone/>
            </a:pPr>
            <a:r>
              <a:rPr lang="en-US" sz="1100" i="1" dirty="0">
                <a:solidFill>
                  <a:srgbClr val="5A6472"/>
                </a:solidFill>
                <a:latin typeface="Calibri" pitchFamily="34" charset="0"/>
                <a:cs typeface="Amiri" pitchFamily="2" charset="-78"/>
              </a:rPr>
              <a:t>ham-za-tu al-waṣ-li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ثُمَّ انْقَطَعَ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اللَّازِمُ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with no object</a:t>
            </a:r>
            <a:endParaRPr lang="en-US" sz="1350" dirty="0"/>
          </a:p>
          <a:p>
            <a:pPr indent="0" marL="0">
              <a:buNone/>
            </a:pPr>
            <a:r>
              <a:rPr lang="en-US" sz="1100" i="1" dirty="0">
                <a:solidFill>
                  <a:srgbClr val="5A6472"/>
                </a:solidFill>
                <a:latin typeface="Calibri" pitchFamily="34" charset="0"/>
                <a:cs typeface="Amiri" pitchFamily="2" charset="-78"/>
              </a:rPr>
              <a:t>al-fiʿ-lu all-lā-zi-mu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اِنْكَسَرَ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الْمُطَاوَعَةُ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result happening to the subject</a:t>
            </a:r>
            <a:endParaRPr lang="en-US" sz="1350" dirty="0"/>
          </a:p>
          <a:p>
            <a:pPr indent="0" marL="0">
              <a:buNone/>
            </a:pPr>
            <a:r>
              <a:rPr lang="en-US" sz="1100" i="1" dirty="0">
                <a:solidFill>
                  <a:srgbClr val="5A6472"/>
                </a:solidFill>
                <a:latin typeface="Calibri" pitchFamily="34" charset="0"/>
                <a:cs typeface="Amiri" pitchFamily="2" charset="-78"/>
              </a:rPr>
              <a:t>al-mu-ṭā-wa-ʿa-tu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اِنْفَتَحَ</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اِنْفِعَالٌ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VII verbal noun</a:t>
            </a:r>
            <a:endParaRPr lang="en-US" sz="1350" dirty="0"/>
          </a:p>
          <a:p>
            <a:pPr indent="0" marL="0">
              <a:buNone/>
            </a:pPr>
            <a:r>
              <a:rPr lang="en-US" sz="1100" i="1" dirty="0">
                <a:solidFill>
                  <a:srgbClr val="5A6472"/>
                </a:solidFill>
                <a:latin typeface="Calibri" pitchFamily="34" charset="0"/>
                <a:cs typeface="Amiri" pitchFamily="2" charset="-78"/>
              </a:rPr>
              <a:t>in-fi-ʿā-lun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اِنْقِطَاعٌ</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الْمَبْنِيُّ لِلْمَجْهُولِ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(different!)</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كُسِرَ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VII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before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اِنْفَعَلَ · يَنْفَعِلُ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مُنْكَسِرٌ</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اِنْكِسَارٌ</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يَنْكَسِرُ</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اِنْكَسَرَ</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(get broken)</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مُنْصَرِفٌ</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اِنْصِرَافٌ</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يَنْصَرِفُ</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leave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اِنْطَلِقْ</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مُنْطَلِقٌ</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اِنْطِلَاقٌ</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يَنْطَلِقُ</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اِنْطَلَقَ</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set off</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مُنْقَطِعٌ</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اِنْقِطَاعٌ</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يَنْقَطِعُ</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اِنْقَطَعَ</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cut off</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past contains the prefix in- and the present commonly follows yanfaʿilu. The initial alif is hamzat al-waṣl, not a written hamza.</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VII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أُسْرَةُ الْوَزْنِ السَّابِعِ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اِنْكَسَرَ الْكُوبُ أَمْسِ.</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(get broken)</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اِنْكَسَرَ · يَنْكَسِرُ</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يَنْفَتِحُ الْبَابُ فِي السَّاعَةِ الثَّامِنَةِ.</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 (become open)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اِنْفَتَحَ · يَنْفَتِحُ</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اِنْقَطَعَ الِاتِّصَالُ أَثْنَاءَ الدَّرْسِ.</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cut off</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اِنْقَطَعَ · يَنْقَطِعُ</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اِنْصَرَفَ الطُّلَّابُ بَعْدَ الْجَرَسِ.</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leave</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اِنْصَرَفَ · يَنْصَرِفُ</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تَنْطَلِقُ الْحَافِلَةُ فِي السَّابِعَةِ.</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set off</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اِنْطَلَقَ · يَنْطَلِقُ</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اِنْقَلَبَتِ السَّيَّارَةُ فِي الثَّلْجِ.</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overturn</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اِنْقَلَبَ · يَنْقَلِبُ</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kasara means to break something; inkasara means to break or become broken — like a passive or a change of state, but Form VII is not the passive conjugation.</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INṢARAFA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i- disappears in the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تَصْرِيفُ «اِنْصَرَفَ»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n-</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أَنْصَرِفُ</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n-</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يَنْصَرِفُ</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n-</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تَنْصَرِفُ</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 + n-</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نَنْصَرِفُ</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اِنْصَرَفْنَا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يَنْصَرِفُونَ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اِنْصَرَفُوا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تَنْصَرِفُونَ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اِنْصَرَفْتُمْ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The linking i- of the past disappears after the present prefix; the n- stays. Website “Look closely”: kasara l-waladu l-kūba (someone broke it) vs inkasara l-kūbu (what happened to it).</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اِنْكَسَرَ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connection was cut off”.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اِنْقَطَعَ الِاتِّصَالُ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قَطَعَ الِاتِّصَالُ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قَطَّعَ الِاتِّصَالَ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bus sets off”.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تُطْلِقُ الْحَافِلَةُ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تَنْطَلِقُ الْحَافِلَةُ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اِنْطَلِقِ الْحَافِلَةَ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left”.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اِنْصَرَفْنَا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نَنْصَرِفُ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صَرَفْنَا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VII?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كَسَرَ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كَسَّرَ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اِنْكَسَرَ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prefix in- identifies Form VII.</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connection was cut off”.</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اِنْقَطَعَ الِاتِّصَالُ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قَطَعَ الِاتِّصَالُ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قَطَّعَ الِاتِّصَالَ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what happened to 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bus sets off”.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تُطْلِقُ الْحَافِلَةُ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تَنْطَلِقُ الْحَافِلَةُ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اِنْطَلِقِ الْحَافِلَةَ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n- (feminine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left”.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اِنْصَرَفْنَا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نَنْصَرِفُ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صَرَفْنَا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-nā; ṣarafnā = we spent.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report a problem with Form VII</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كَسَرَ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Someone broke 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اِنْكَسَرَ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broke.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VII</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اِنْقَطَعَ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It was cut off.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Fix</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أَصْلَحْنَا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 IV: we fixed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VII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0E7C86"/>
                </a:solidFill>
                <a:latin typeface="Amiri" pitchFamily="2" charset="-78"/>
                <a:cs typeface="Amiri" pitchFamily="2" charset="-78"/>
              </a:rPr>
              <a:t>اِنْكَسَرَ</a:t>
            </a:r>
            <a:pPr rtl="1" algn="r" indent="0" marL="0">
              <a:buNone/>
            </a:pPr>
            <a:r>
              <a:rPr lang="ar-SA" altLang="en-US" sz="2450" b="1" dirty="0">
                <a:solidFill>
                  <a:srgbClr val="1B3B6F"/>
                </a:solidFill>
                <a:latin typeface="Amiri" pitchFamily="2" charset="-78"/>
                <a:cs typeface="Amiri" pitchFamily="2" charset="-78"/>
              </a:rPr>
              <a:t> الْكُوبُ أَمْسِ، ثُمَّ </a:t>
            </a:r>
            <a:pPr rtl="1" algn="r" indent="0" marL="0">
              <a:buNone/>
            </a:pPr>
            <a:r>
              <a:rPr lang="ar-SA" altLang="en-US" sz="2450" b="1" dirty="0">
                <a:solidFill>
                  <a:srgbClr val="0E7C86"/>
                </a:solidFill>
                <a:latin typeface="Amiri" pitchFamily="2" charset="-78"/>
                <a:cs typeface="Amiri" pitchFamily="2" charset="-78"/>
              </a:rPr>
              <a:t>انْقَطَعَ</a:t>
            </a:r>
            <a:pPr rtl="1" algn="r" indent="0" marL="0">
              <a:buNone/>
            </a:pPr>
            <a:r>
              <a:rPr lang="ar-SA" altLang="en-US" sz="2450" b="1" dirty="0">
                <a:solidFill>
                  <a:srgbClr val="1B3B6F"/>
                </a:solidFill>
                <a:latin typeface="Amiri" pitchFamily="2" charset="-78"/>
                <a:cs typeface="Amiri" pitchFamily="2" charset="-78"/>
              </a:rPr>
              <a:t> الِاتِّصَالُ أَثْنَاءَ الدَّرْسِ. بَعْدَ ذَلِكَ </a:t>
            </a:r>
            <a:pPr rtl="1" algn="r" indent="0" marL="0">
              <a:buNone/>
            </a:pPr>
            <a:r>
              <a:rPr lang="ar-SA" altLang="en-US" sz="2450" b="1" dirty="0">
                <a:solidFill>
                  <a:srgbClr val="D6336C"/>
                </a:solidFill>
                <a:latin typeface="Amiri" pitchFamily="2" charset="-78"/>
                <a:cs typeface="Amiri" pitchFamily="2" charset="-78"/>
              </a:rPr>
              <a:t>أَصْلَحْنَا</a:t>
            </a:r>
            <a:pPr rtl="1" algn="r" indent="0" marL="0">
              <a:buNone/>
            </a:pPr>
            <a:r>
              <a:rPr lang="ar-SA" altLang="en-US" sz="2450" b="1" dirty="0">
                <a:solidFill>
                  <a:srgbClr val="1B3B6F"/>
                </a:solidFill>
                <a:latin typeface="Amiri" pitchFamily="2" charset="-78"/>
                <a:cs typeface="Amiri" pitchFamily="2" charset="-78"/>
              </a:rPr>
              <a:t> الْمُشْكِلَةَ وَ</a:t>
            </a:r>
            <a:pPr rtl="1" algn="r" indent="0" marL="0">
              <a:buNone/>
            </a:pPr>
            <a:r>
              <a:rPr lang="ar-SA" altLang="en-US" sz="2450" b="1" dirty="0">
                <a:solidFill>
                  <a:srgbClr val="D6336C"/>
                </a:solidFill>
                <a:latin typeface="Amiri" pitchFamily="2" charset="-78"/>
                <a:cs typeface="Amiri" pitchFamily="2" charset="-78"/>
              </a:rPr>
              <a:t>عُدْنَا</a:t>
            </a:r>
            <a:pPr rtl="1" algn="r" indent="0" marL="0">
              <a:buNone/>
            </a:pPr>
            <a:r>
              <a:rPr lang="ar-SA" altLang="en-US" sz="2450" b="1" dirty="0">
                <a:solidFill>
                  <a:srgbClr val="1B3B6F"/>
                </a:solidFill>
                <a:latin typeface="Amiri" pitchFamily="2" charset="-78"/>
                <a:cs typeface="Amiri" pitchFamily="2" charset="-78"/>
              </a:rPr>
              <a:t> إِلَى الْعَمَلِ.</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cup broke yesterday, then the connection was cut off during the lesson. After that, we fixed the problem and went back to work.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يَنْفَتِحُ الْبَابُ فِي السَّاعَةِ الثَّامِنَةِ.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door opens at eight o’clock.</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اِنْقَطَعَ الِاتِّصَالُ أَثْنَاءَ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connection was cut off during the lesson.</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اِنْصَرَفَ الضُّيُوفُ مُتَأَخِّرِينَ.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guests left late.</a:t>
            </a:r>
            <a:endParaRPr lang="en-US" sz="1250" dirty="0"/>
          </a:p>
          <a:p>
            <a:pPr indent="0" marL="0">
              <a:buNone/>
            </a:pPr>
            <a:r>
              <a:rPr lang="en-US" sz="1050" i="1" dirty="0">
                <a:solidFill>
                  <a:srgbClr val="8A6D1E"/>
                </a:solidFill>
                <a:latin typeface="Calibri" pitchFamily="34" charset="0"/>
                <a:cs typeface="Amiri" pitchFamily="2" charset="-78"/>
              </a:rPr>
              <a:t>People.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اِنْكَسَرَتْ نَظَّارَتِي.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glasses broke.</a:t>
            </a:r>
            <a:endParaRPr lang="en-US" sz="1250" dirty="0"/>
          </a:p>
          <a:p>
            <a:pPr indent="0" marL="0">
              <a:buNone/>
            </a:pPr>
            <a:r>
              <a:rPr lang="en-US" sz="1050" i="1" dirty="0">
                <a:solidFill>
                  <a:srgbClr val="8A6D1E"/>
                </a:solidFill>
                <a:latin typeface="Calibri" pitchFamily="34" charset="0"/>
                <a:cs typeface="Amiri" pitchFamily="2" charset="-78"/>
              </a:rPr>
              <a:t>Feminine subject.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Someone did it → it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الْأَوَّلِ إِلَى السَّابِعِ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VII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 get broken</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اِنْكَسَرَ</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break something</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كَسَرَ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 / come open</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اِنْفَتَحَ</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open something</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فَتَحَ</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be cut off</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اِنْقَطَعَ</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cut something</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قَطَعَ</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overturn</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اِنْقَلَبَ</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turn something over</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قَلَبَ</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withdraw</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اِنْسَحَبَ</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pull something</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سَحَبَ</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 has a doer and an object; Form VII keeps only the thing that changes. Kasara l-waladu l-kūba → inkasara l-kūbu.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FORM VII IS NOT THE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VII,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سَابِعٌ أَمْ 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اِنْكَسَرَ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اِنْفَتَحَ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اِنْقَطَعَ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اِنْصَرَفَ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كُسِرَ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فُتِحَ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قُطِعَ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VII (in-)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(u–i, GM-V-11)</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VII (in-)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اِنْكَسَرَ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اِنْفَتَحَ</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اِنْقَطَعَ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اِنْصَرَفَ</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(u–i, GM-V-11)</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كُسِرَ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فُتِحَ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قُطِعَ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اِنْكَسَرَ الْوَلَدُ الْكُوبَ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there an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يُنْكَسَرُ الْكُوبُ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 or 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اِنْفُتِحَ الْبَابُ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Form VII or passive vowels?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اِنْكَسَرَ الْوَلَدُ الْكُوبَ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كَسَرَ الْوَلَدُ الْكُوبَ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VII has no object; with a doer use Form 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يُنْكَسَرُ الْكُوبُ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يَنْكَسِرُ الْكُوبُ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VII present: ya- + n- + i before the last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اِنْفُتِحَ الْبَابُ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اِنْفَتَحَ الْبَابُ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mix Form VII with passive vowels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 is always the passive tense.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VII verb takes a direct object.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VII and the grammatical passive are different constructions.</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اِنْقَطَعَ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قَطْعٌ</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اِنْقِطَاعٌ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تَقْطِيعٌ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window broke”.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اِنْكَسَرَ النَّافِذَةُ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اِنْكَسَرَتِ النَّافِذَةُ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كَسَرَتِ النَّافِذَةُ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أَطْلَقَ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اِسْتَطْلَقَ</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اِنْطَلَقَ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 VII is always the passive tense.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VII verb takes a direct object.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Form VII and the grammatical passive are different constructions.</a:t>
            </a:r>
            <a:endParaRPr lang="en-US" sz="12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is commonly intransitive and different from the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cs typeface="Amiri" pitchFamily="2" charset="-78"/>
              </a:rPr>
              <a:t>اِنْقَطَعَ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قَطْعٌ</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اِنْقِطَاعٌ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تَقْطِيعٌ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infiʿāl.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window broke”.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اِنْكَسَرَ النَّافِذَةُ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اِنْكَسَرَتِ النَّافِذَةُ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كَسَرَتِ النَّافِذَةُ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أَطْلَقَ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اِسْتَطْلَقَ</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اِنْطَلَقَ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 before the root.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YOU DO · READ AND NOTICE · READING FOR FORM VII (TEACHER-WRITTEN ACCOUNT)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bad start to the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صَبَاحَ الْيَوْمِ انْقَطَعَتِ الْكَهْرَبَاءُ فِي بَيْتِنَا، فَلَمْ يَرِنَّ الْمُنَبِّهُ. خَرَجْتُ مُسْرِعًا، وَانْكَسَرَتْ نَظَّارَتِي عَلَى الدَّرَجِ! وَصَلْتُ إِلَى الْمَوْقِفِ، وَلَكِنِ انْطَلَقَتِ الْحَافِلَةُ قَبْلِي. فِي الْمَدْرَسَةِ انْقَطَعَ الْإِنْتَرْنِتُ أَيْضًا. اِنْصَرَفْتُ إِلَى الْبَيْتِ وَأَنَا أَضْحَكُ: يَوْمٌ غَرِيبٌ!</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الْكَهْرَبَاءُ</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electricity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يَرِنَّ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مُسْرِعًا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 hurry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الدَّرَجِ</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stairs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الْمَوْقِفِ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bus stop</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didn’t the alarm 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broke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electricity was cut off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turned it off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broke on the stairs?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alarm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at the bus stop?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had already set off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 broke down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took the bus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Form VII verbs are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didn’t the alarm ring?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broke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electricity was cut off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turned it off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Inqaṭaʿati l-kahrabāʾ.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broke on the stairs?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alarm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Inkasarat naẓẓāratī.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at the bus stop?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bus had already set off</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 broke down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took the bus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Inṭalaqati l-ḥāfila qablī.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Form VII verbs are there?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inqaṭaʿat · inkasarat · inṭalaqat · inqaṭaʿa · inṣaraftu.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what went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انْكَسَرَ شَيْءٌ فِي بَيْتِكَ هَذَا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تَفْعَلُ إِذَا انْقَطَعَ الْإِنْتَرْنِتُ؟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اِحْكِ عَنْ يَوْمٍ سَيِّئٍ: مَاذَا انْكَسَرَ؟ وَمَاذَا انْقَطَعَ؟ وَمَتَى انْصَرَفْتَ؟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نَعَمْ، اِنْكَسَرَ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انْقَطَعَ الْإِنْتَرْنِتُ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اِنْكَسَرَ ___ ، ثُمَّ انْقَطَعَ ___ ، فَانْصَرَفْتُ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انْكَسَرَ شَيْءٌ فِي بَيْتِكِ؟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Did anything break in your house?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اِنْكَسَرَ صَحْنٌ فِي الْمَطْبَخِ، وَانْقَطَعَ الْمَاءُ سَاعَتَيْنِ. أَصْلَحَ أَبِي كُلَّ شَيْءٍ!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a plate broke in the kitchen, and the water was cut off for two hours. My father fixed everything!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inkasara · inqaṭaʿa · then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inṭalaqa, inṣarafa and a feminine subject.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inkasarat · inṭalaqat.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“bad day” story with five Form VII verbs and one Form I / VII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kasartu … fa-nkasara.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اِنْكَسَرَتْ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broke (feminine)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تَنْطَلِقُ الْحَافِلَةُ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sets off 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 أَصْلَحْنَا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we fixed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اِسْتَمَرَّ الِانْقِطَاعُ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power cut lasted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اِنْكَسَرَ ______ أَمْسِ.</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broke yesterday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اِنْقَطَعَ ______ أَثْنَاءَ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was cut off during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يَنْفَتِحُ الْبَابُ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opens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اِنْصَرَفْنَا بَعْدَ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left after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اِنْكَسَرَ · يَنْكَسِرُ  ·  اِنْفَتَحَ · يَنْفَتِحُ  ·  اِنْقَطَعَ · يَنْقَطِعُ  ·  اِنْصَرَفَ · يَنْصَرِفُ  ·  اِنْطَلَقَ · يَنْطَلِقُ  ·  اِنْقِطَاعٌ  ·  الْكَهْرَبَاءُ  ·  الِاتِّصَالُ  ·  أَصْلَحَ</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“bad day” story with five Form VII verbs and one Form I / Form VII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Form VII verbs (in-).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objects after Form VII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subject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(inqiṭāʿ, inṭilāq).</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 / VII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صَبَاحَ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فَجْأَةً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suddenly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لِحُسْنِ الْحَظِّ</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luckily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لِسُوءِ الْحَظِّ</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unluckily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بَعْدَ ذَلِكَ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كَانَ يَوْمُ الْأَحَدِ يَوْمًا غَرِيبًا. فِي الصَّبَاحِ انْقَطَعَ الْمَاءُ، فَلَمْ أَسْتَحِمَّ. فِي الطَّرِيقِ انْقَلَبَتْ حَقِيبَتِي، وَانْكَسَرَ قَلَمِي الْمُفَضَّلُ. فِي الصَّفِّ انْفَتَحَتِ النَّافِذَةُ بِسَبَبِ الرِّيحِ، وَطَارَتْ أَوْرَاقِي! لِحُسْنِ الْحَظِّ سَاعَدَنِي زُمَلَائِي. بَعْدَ الظُّهْرِ انْطَلَقَتِ الرِّحْلَةُ مُتَأَخِّرَةً، وَانْصَرَفْنَا إِلَى بُيُوتِنَا فِي الْمَسَاءِ. أَتَمَنَّى أَلَّا يَنْكَسِرَ شَيْءٌ غَدًا!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Sunday was a strange day. In the morning the water was cut off, so I didn’t shower. On the way my bag turned over, and my favourite pen broke. In class the window blew open because of the wind, and my papers flew away! Luckily my classmates helped me. In the afternoon the trip set off late, and we went home in the evening. I hope nothing breaks tomorrow!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subject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VII present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III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VII verbs start with 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VII verbs have no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use yan- / tan- / an- / nan-.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subjects take -at (inkasarat).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did not mix Form VII with passive vowels.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opened”.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اِنْفَتَحَ الْبَابُ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فَتَحَ الْبَابَ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اِنْفُتِحَ الْبَابُ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VII?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اِنْكَسَرَ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كُسِرَ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اِنْصَرَفَ</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leave”.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يَنْصَرِفُ الطُّلَّابُ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يُصْرَفُ الطُّلَّابُ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اِنْصَرِفِ الطُّلَّابُ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opened”.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اِنْفَتَحَ الْبَابُ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فَتَحَ الْبَابَ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اِنْفُتِحَ الْبَابُ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Form VII?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اِنْكَسَرَ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كُسِرَ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اِنْصَرَفَ</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kusira is the passive.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leave”.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يَنْصَرِفُ الطُّلَّابُ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يُصْرَفُ الطُّلَّابُ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اِنْصَرِفِ الطُّلَّابُ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VII present.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GM-VF-07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GM-VF-08: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GM-VF-08 · Form VIII: Meeting, Choosing and Acquiring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اِكْتَسَبَ · يَكْتَسِبُ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acquire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اِجْتَمَعَ · يَجْتَمِعُ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meet / gather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اِخْتَارَ · يَخْتَارُ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choose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اِهْتَمَّ · يَهْتَمُّ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be interested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كَسَبَ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earn (Form I)</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Kasaba = to earn. Iktasaba = to acquire. Which letter was added inside the root?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كَسَبَ · اِكْتَسَبَ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inkasara, infataḥa and inqaṭaʿa.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Turn five Form I sentences (someone did it) into Form VII (it happened).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“bad day” story with five Form VII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GM-VF-08 · Form VIII: Meeting, Choosing and Acquiring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الْوَزْنُ الثَّامِنُ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VII = in- + root (infaʿala) · present yanfaʿilu · what happens to the subject — no doer, no object · noun infiʿāl · Form VII is NOT the passive (kusira).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GM-VF-07 · Form VII: Change of State</dc:title>
  <dc:subject>PptxGenJS Presentation</dc:subject>
  <dc:creator>Al Madina Online School · Arabic Department</dc:creator>
  <cp:lastModifiedBy>Al Madina Online School · Arabic Department</cp:lastModifiedBy>
  <cp:revision>1</cp:revision>
  <dcterms:created xsi:type="dcterms:W3CDTF">2026-10-11T06:42:44Z</dcterms:created>
  <dcterms:modified xsi:type="dcterms:W3CDTF">2026-10-11T06:42:44Z</dcterms:modified>
</cp:coreProperties>
</file>