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GM-VF-04 (“Form IV: Causing and Bringing About”).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أَرْسَلَ · يُرْسِلُ and the family أَدْخَلَ · أَخْرَجَ · أَعْلَنَ in messages and announcements. Develop: the present (أُرْسِلُ · تُغْلِقِينَ · يُعْلِنُونَ) and the verbal noun إِفْعَالٌ (إِرْسَالٌ · إِعْلَانٌ · إِغْلَاقٌ). Stretch: Form I → IV turns “go / come” verbs into “take / bring” verbs (خَرَجَ / أَخْرَجَ · دَخَلَ / أَدْخَلَ · حَضَرَ / أَحْضَرَ).
• Website warning: in أُرْسِلُ (I send), the a- / u- at the front is the person prefix — the Form IV a- of the past has gone. And أَكْتُبُ (I write) is Form I, not Form IV.
• Link: mughlaq (closed) from GM-V-12 is the Form IV passive participle of aghlaqa.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GM-VF-03 and its prep words (arsala, akhraja, adkhala, aʿlana).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IV = a- before the root in the past (afʿala). Present = yu- + root, with no a- (yufʿilu).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The Form IV command keeps the a-: arsil! (GM-V-07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(first three examples are the website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The a- stays in the whole past column and disappears in the whole present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Students make a sentence for each Form IV verb with an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Clue: Form IV past ends in -a (arsala); the Form I “I” present ends in -u (aktubu).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Clue: Form IV past ends in -a (arsala); the Form I “I” present ends in -u (aktubu).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IV (teacher-written email). Read it aloud once while students follow; then they hunt for today’s grammar.
Task: Website: write a message about organising an event. First, underline every Form IV verb here.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email for the website “Apply the form”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what you sent, what was announced, and what you will send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short message about organising a meeting. Explain what you sent, what the headteacher announced and what you will send tomorrow.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(GM-VF-05 · Form V: Learning and Developing) will spend class time USING this language, so students prepare it tonight — short, simple, easy to access (school guidance: “Simple, Short, Interesting, Relevant, Easy to access”). The five words prepare GM-VF-05 (website Verb Forms: Form V).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50" b="1" dirty="0">
                <a:solidFill>
                  <a:srgbClr val="FFFFFF"/>
                </a:solidFill>
                <a:latin typeface="Cambria" pitchFamily="34" charset="0"/>
                <a:cs typeface="Amiri" pitchFamily="2" charset="-78"/>
              </a:rPr>
              <a:t>Form IV: Causing and Bringing About</a:t>
            </a:r>
            <a:endParaRPr lang="en-US" sz="30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الْوَزْنُ الرَّابِعُ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IV adds a- at the front of the past: kharaja (go out) → akhraja (take out). In the present the a- disappears: yukhriju. It often means “make something happen” — but learn each verb.</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family; conjugation; Form I vs IV.</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Go out → take out; sort Form IV past / Form I “I” present;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سَعِدَ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أَسْعَدَ</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Kharaja means to go out. Akhraja means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take out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come in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go out again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Arsala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receive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write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send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أَرْسَلَ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يَأْرُسُلُ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يَرْسُلُ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يُرْسِلُ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Aʿlana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announce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know</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teach</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III?</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سَعِدَ</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سَاعَدَ</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أَسْعَدَ</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Long ā after the first letter (GM-VF-03).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Kharaja means to go out. Akhraja means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take out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come in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go out again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prep question.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Arsala means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receive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write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send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أَرْسَلَ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يَأْرُسُلُ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يَرْسُلُ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يُرْسِلُ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 disappears: yu-.</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Aʿlana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announce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know</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teach</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 IV = a- before the root in the past (afʿala). Present = yu- + root, with no a- (yufʿilu).</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خَرَجَ</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أَخْرَجَ</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يُخْرِجُ</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IV by the a- before the root in the past.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with yu- and no 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Form IV verbs for sending, announcing and bringing.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Form IV from Form I “I” present verbs.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arsala and aʿlana in sentences.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a short message with Form IV.</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conjugate arsala in past and present.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irsāl and iʿlān.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turn kharaja, dakhala and ḥaḍara into Form IV.</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aktubu is not Form IV.</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الْوَزْنُ الرَّابِعُ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IV</a:t>
            </a:r>
            <a:endParaRPr lang="en-US" sz="1350" dirty="0"/>
          </a:p>
          <a:p>
            <a:pPr indent="0" marL="0">
              <a:buNone/>
            </a:pPr>
            <a:r>
              <a:rPr lang="en-US" sz="1100" i="1" dirty="0">
                <a:solidFill>
                  <a:srgbClr val="5A6472"/>
                </a:solidFill>
                <a:latin typeface="Calibri" pitchFamily="34" charset="0"/>
                <a:cs typeface="Amiri" pitchFamily="2" charset="-78"/>
              </a:rPr>
              <a:t>al-waz-nu ar-rā-bi-ʿu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أَفْعَلَ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هَمْزَةُ الْوَزْنِ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Form IV a- (past)</a:t>
            </a:r>
            <a:endParaRPr lang="en-US" sz="1350" dirty="0"/>
          </a:p>
          <a:p>
            <a:pPr indent="0" marL="0">
              <a:buNone/>
            </a:pPr>
            <a:r>
              <a:rPr lang="en-US" sz="1100" i="1" dirty="0">
                <a:solidFill>
                  <a:srgbClr val="5A6472"/>
                </a:solidFill>
                <a:latin typeface="Calibri" pitchFamily="34" charset="0"/>
                <a:cs typeface="Amiri" pitchFamily="2" charset="-78"/>
              </a:rPr>
              <a:t>ham-za-tu al-waz-ni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أَرْسَلَ</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حَرْفُ الْمُضَارَعَةِ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present prefix</a:t>
            </a:r>
            <a:endParaRPr lang="en-US" sz="1350" dirty="0"/>
          </a:p>
          <a:p>
            <a:pPr indent="0" marL="0">
              <a:buNone/>
            </a:pPr>
            <a:r>
              <a:rPr lang="en-US" sz="1100" i="1" dirty="0">
                <a:solidFill>
                  <a:srgbClr val="5A6472"/>
                </a:solidFill>
                <a:latin typeface="Calibri" pitchFamily="34" charset="0"/>
                <a:cs typeface="Amiri" pitchFamily="2" charset="-78"/>
              </a:rPr>
              <a:t>ḥar-fu al-mu-ḍā-ra-ʿa-ti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أُرْسِلُ</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الْمُتَعَدِّي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 with an object</a:t>
            </a:r>
            <a:endParaRPr lang="en-US" sz="1350" dirty="0"/>
          </a:p>
          <a:p>
            <a:pPr indent="0" marL="0">
              <a:buNone/>
            </a:pPr>
            <a:r>
              <a:rPr lang="en-US" sz="1100" i="1" dirty="0">
                <a:solidFill>
                  <a:srgbClr val="5A6472"/>
                </a:solidFill>
                <a:latin typeface="Calibri" pitchFamily="34" charset="0"/>
                <a:cs typeface="Amiri" pitchFamily="2" charset="-78"/>
              </a:rPr>
              <a:t>al-fiʿ-lu al-mu-ta-ʿad-dī</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أَخْرَجَ الْكِتَابَ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إِفْعَالٌ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IV verbal noun</a:t>
            </a:r>
            <a:endParaRPr lang="en-US" sz="1350" dirty="0"/>
          </a:p>
          <a:p>
            <a:pPr indent="0" marL="0">
              <a:buNone/>
            </a:pPr>
            <a:r>
              <a:rPr lang="en-US" sz="1100" i="1" dirty="0">
                <a:solidFill>
                  <a:srgbClr val="5A6472"/>
                </a:solidFill>
                <a:latin typeface="Calibri" pitchFamily="34" charset="0"/>
                <a:cs typeface="Amiri" pitchFamily="2" charset="-78"/>
              </a:rPr>
              <a:t>if-ʿā-lun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إِعْلَانٌ</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مُفْعِلٌ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IV doer</a:t>
            </a:r>
            <a:endParaRPr lang="en-US" sz="1350" dirty="0"/>
          </a:p>
          <a:p>
            <a:pPr indent="0" marL="0">
              <a:buNone/>
            </a:pPr>
            <a:r>
              <a:rPr lang="en-US" sz="1100" i="1" dirty="0">
                <a:solidFill>
                  <a:srgbClr val="5A6472"/>
                </a:solidFill>
                <a:latin typeface="Calibri" pitchFamily="34" charset="0"/>
                <a:cs typeface="Amiri" pitchFamily="2" charset="-78"/>
              </a:rPr>
              <a:t>muf-ʿi-lun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مُرْسِلٌ</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IV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in front of the root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أَفْعَلَ · يُفْعِلُ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66960" y="2267712"/>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أَفْعِلْ</a:t>
            </a:r>
            <a:endParaRPr lang="ar-SA" sz="24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مُفْعِلٌ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إِفْعَالٌ</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أَفْعَلَ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66960" y="300471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أَرْسِلْ</a:t>
            </a:r>
            <a:endParaRPr lang="ar-SA" sz="24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مُرْسِلٌ</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إِرْسَالٌ</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يُرْسِلُ</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أَرْسَلَ</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send</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66960" y="3741725"/>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أَخْرِجْ</a:t>
            </a:r>
            <a:endParaRPr lang="ar-SA" sz="24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مُخْرِجٌ</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إِخْرَاجٌ</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يُخْرِجُ</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أَخْرَجَ</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take out</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66960" y="4478731"/>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أَعْلِنْ</a:t>
            </a:r>
            <a:endParaRPr lang="ar-SA" sz="24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مُعْلِنٌ</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إِعْلَانٌ</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يُعْلِنُ</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أَعْلَنَ</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announce</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66960" y="521573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أَغْلِقْ</a:t>
            </a:r>
            <a:endParaRPr lang="ar-SA" sz="24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مُغْلِقٌ</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إِغْلَاقٌ</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يُغْلِقُ</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أَغْلَقَ</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close</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a hamza prefix is added in the past: afʿala. The common present is yufʿilu — the past hamza is not kept as an extra alif after the present prefix. Note: mukhrij = film director!</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LEARN THE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Form IV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أُسْرَةُ الْوَزْنِ الرَّابِعِ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أُرْسِلُ رِسَالَةً إِلَى صَدِيقِي.</a:t>
            </a:r>
            <a:endParaRPr lang="ar-SA" sz="2000" dirty="0"/>
          </a:p>
        </p:txBody>
      </p:sp>
      <p:sp>
        <p:nvSpPr>
          <p:cNvPr id="21" name="Text 18"/>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send</a:t>
            </a:r>
            <a:endParaRPr lang="en-US" sz="1100" dirty="0"/>
          </a:p>
        </p:txBody>
      </p:sp>
      <p:sp>
        <p:nvSpPr>
          <p:cNvPr id="22" name="Text 19"/>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أَرْسَلَ · يُرْسِلُ</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أَدْخَلَتِ الْمُعَلِّمَةُ الطُّلَّابَ إِلَى الْفَصْلِ.</a:t>
            </a:r>
            <a:endParaRPr lang="ar-SA" sz="2000" dirty="0"/>
          </a:p>
        </p:txBody>
      </p:sp>
      <p:sp>
        <p:nvSpPr>
          <p:cNvPr id="27" name="Text 24"/>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bring in</a:t>
            </a:r>
            <a:endParaRPr lang="en-US" sz="1100" dirty="0"/>
          </a:p>
        </p:txBody>
      </p:sp>
      <p:sp>
        <p:nvSpPr>
          <p:cNvPr id="28" name="Text 25"/>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أَدْخَلَ · يُدْخِلُ</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أَعْلَنَ الْمُدِيرُ مَوْعِدَ الِاجْتِمَاعِ.</a:t>
            </a:r>
            <a:endParaRPr lang="ar-SA" sz="2000" dirty="0"/>
          </a:p>
        </p:txBody>
      </p:sp>
      <p:sp>
        <p:nvSpPr>
          <p:cNvPr id="33" name="Text 30"/>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announce</a:t>
            </a:r>
            <a:endParaRPr lang="en-US" sz="1100" dirty="0"/>
          </a:p>
        </p:txBody>
      </p:sp>
      <p:sp>
        <p:nvSpPr>
          <p:cNvPr id="34" name="Text 31"/>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أَعْلَنَ · يُعْلِنُ</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أَخْرَجْتُ الْكِتَابَ مِنَ الْحَقِيبَةِ.</a:t>
            </a:r>
            <a:endParaRPr lang="ar-SA" sz="2000" dirty="0"/>
          </a:p>
        </p:txBody>
      </p:sp>
      <p:sp>
        <p:nvSpPr>
          <p:cNvPr id="39" name="Text 36"/>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take out</a:t>
            </a:r>
            <a:endParaRPr lang="en-US" sz="1100" dirty="0"/>
          </a:p>
        </p:txBody>
      </p:sp>
      <p:sp>
        <p:nvSpPr>
          <p:cNvPr id="40" name="Text 37"/>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أَخْرَجَ · يُخْرِجُ</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أَغْلِقِ النَّافِذَةَ مِنْ فَضْلِكَ.</a:t>
            </a:r>
            <a:endParaRPr lang="ar-SA" sz="2000" dirty="0"/>
          </a:p>
        </p:txBody>
      </p:sp>
      <p:sp>
        <p:nvSpPr>
          <p:cNvPr id="43" name="Text 40"/>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close</a:t>
            </a:r>
            <a:endParaRPr lang="en-US" sz="1100" dirty="0"/>
          </a:p>
        </p:txBody>
      </p:sp>
      <p:sp>
        <p:nvSpPr>
          <p:cNvPr id="44" name="Text 41"/>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أَغْلَقَ · يُغْلِقُ</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أَكْمَلْنَا الْمَشْرُوعَ أَمْسِ.</a:t>
            </a:r>
            <a:endParaRPr lang="ar-SA" sz="2000" dirty="0"/>
          </a:p>
        </p:txBody>
      </p:sp>
      <p:sp>
        <p:nvSpPr>
          <p:cNvPr id="47" name="Text 44"/>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complete</a:t>
            </a:r>
            <a:endParaRPr lang="en-US" sz="1100" dirty="0"/>
          </a:p>
        </p:txBody>
      </p:sp>
      <p:sp>
        <p:nvSpPr>
          <p:cNvPr id="48" name="Text 45"/>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أَكْمَلَ · يُكْمِلُ</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kharaja means to go out; akhraja can mean to take or bring something out — a common causative link, but many Form IV meanings are lexical.</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ARSALA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did the a- go?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«أَرْسَلَ»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I (not Form IV a-)</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أُرْسِلُ</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أَرْسَلْتُ</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يُرْسِلُ</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أَرْسَلَ</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تُرْسِلُ</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أَرْسَلَتْ</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 … -īna</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تُرْسِلِينَ</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أَرْسَلْتِ</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نُرْسِلُ</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أَرْسَلْنَا</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 … -ūna</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يُرْسِلُونَ</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أَرْسَلُوا</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“Look closely”: arsala → yursilu → ursilu. In ursilu (I send) the initial alif is the first-person prefix, not the Form IV hamza.</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“I send”?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يُرْسِلُ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أَرْسَلَ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أُرْسِلُ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aktubu not Form IV?</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first-person present of Form I </a:t>
            </a:r>
            <a:pPr algn="l" indent="0" marL="0">
              <a:buNone/>
            </a:pPr>
            <a:r>
              <a:rPr lang="ar-SA" altLang="en-US" sz="1650" dirty="0">
                <a:solidFill>
                  <a:srgbClr val="1F2A37"/>
                </a:solidFill>
                <a:latin typeface="Amiri" pitchFamily="2" charset="-78"/>
                <a:ea typeface="Amiri" pitchFamily="2" charset="-78"/>
                <a:cs typeface="Amiri" pitchFamily="2" charset="-78"/>
              </a:rPr>
              <a:t>كَتَبَ</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initial hamza creates Form IV.</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contains a doubled middle consonant.</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announced”.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close”.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نُغْلِقُ</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نَغْلِقُ</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أَغْلَقْنَا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“I send”?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يُرْسِلُ</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أَرْسَلَ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أُرْسِلُ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Ursilu uses the first-person present prefix.</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aktubu not Form IV?</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the first-person present of Form I </a:t>
            </a:r>
            <a:pPr algn="l" indent="0" marL="0">
              <a:buNone/>
            </a:pPr>
            <a:r>
              <a:rPr lang="ar-SA" altLang="en-US" sz="1650" b="1" dirty="0">
                <a:solidFill>
                  <a:srgbClr val="1F2A37"/>
                </a:solidFill>
                <a:latin typeface="Amiri" pitchFamily="2" charset="-78"/>
                <a:ea typeface="Amiri" pitchFamily="2" charset="-78"/>
                <a:cs typeface="Amiri" pitchFamily="2" charset="-78"/>
              </a:rPr>
              <a:t>كَتَبَ</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initial hamza creates Form IV.</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contains a doubled middle consonant.</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Identify the root, the stem and the person separately.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announced”.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أَعْلَنَتْ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عَلِمَتْ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-at; the a- stays.</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close”.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نُغْلِقُ</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نَغْلِقُ</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أَغْلَقْنَا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nu- and no 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Watch me write a meeting message with Form IV</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أَرْسَلْتُ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stays in the past.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أَعْلَنَ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 announced.</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Future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سَأُرْسِلُ</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 + u- (no extra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الْإِعْلَانُ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ifʿāl.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ea typeface="Amiri" pitchFamily="2" charset="-78"/>
                <a:cs typeface="Amiri" pitchFamily="2" charset="-78"/>
              </a:rPr>
              <a:t>أَرْسَلْتُ</a:t>
            </a:r>
            <a:pPr rtl="1" algn="r" indent="0" marL="0">
              <a:buNone/>
            </a:pPr>
            <a:r>
              <a:rPr lang="ar-SA" altLang="en-US" sz="2600" b="1" dirty="0">
                <a:solidFill>
                  <a:srgbClr val="1B3B6F"/>
                </a:solidFill>
                <a:latin typeface="Amiri" pitchFamily="2" charset="-78"/>
                <a:ea typeface="Amiri" pitchFamily="2" charset="-78"/>
                <a:cs typeface="Amiri" pitchFamily="2" charset="-78"/>
              </a:rPr>
              <a:t> رِسَالَةً إِلَى صَدِيقِي أَمْسِ. وَ</a:t>
            </a:r>
            <a:pPr rtl="1" algn="r" indent="0" marL="0">
              <a:buNone/>
            </a:pPr>
            <a:r>
              <a:rPr lang="ar-SA" altLang="en-US" sz="2600" b="1" dirty="0">
                <a:solidFill>
                  <a:srgbClr val="0E7C86"/>
                </a:solidFill>
                <a:latin typeface="Amiri" pitchFamily="2" charset="-78"/>
                <a:ea typeface="Amiri" pitchFamily="2" charset="-78"/>
                <a:cs typeface="Amiri" pitchFamily="2" charset="-78"/>
              </a:rPr>
              <a:t>أَعْلَنَ</a:t>
            </a:r>
            <a:pPr rtl="1" algn="r" indent="0" marL="0">
              <a:buNone/>
            </a:pPr>
            <a:r>
              <a:rPr lang="ar-SA" altLang="en-US" sz="2600" b="1" dirty="0">
                <a:solidFill>
                  <a:srgbClr val="1B3B6F"/>
                </a:solidFill>
                <a:latin typeface="Amiri" pitchFamily="2" charset="-78"/>
                <a:ea typeface="Amiri" pitchFamily="2" charset="-78"/>
                <a:cs typeface="Amiri" pitchFamily="2" charset="-78"/>
              </a:rPr>
              <a:t> الْمُدِيرُ مَوْعِدَ الِاجْتِمَاعِ. </a:t>
            </a:r>
            <a:pPr rtl="1" algn="r" indent="0" marL="0">
              <a:buNone/>
            </a:pPr>
            <a:r>
              <a:rPr lang="ar-SA" altLang="en-US" sz="2600" b="1" dirty="0">
                <a:solidFill>
                  <a:srgbClr val="D6336C"/>
                </a:solidFill>
                <a:latin typeface="Amiri" pitchFamily="2" charset="-78"/>
                <a:ea typeface="Amiri" pitchFamily="2" charset="-78"/>
                <a:cs typeface="Amiri" pitchFamily="2" charset="-78"/>
              </a:rPr>
              <a:t>سَأُرْسِلُ</a:t>
            </a:r>
            <a:pPr rtl="1" algn="r" indent="0" marL="0">
              <a:buNone/>
            </a:pPr>
            <a:r>
              <a:rPr lang="ar-SA" altLang="en-US" sz="2600" b="1" dirty="0">
                <a:solidFill>
                  <a:srgbClr val="1B3B6F"/>
                </a:solidFill>
                <a:latin typeface="Amiri" pitchFamily="2" charset="-78"/>
                <a:ea typeface="Amiri" pitchFamily="2" charset="-78"/>
                <a:cs typeface="Amiri" pitchFamily="2" charset="-78"/>
              </a:rPr>
              <a:t> الْمَعْلُومَاتِ غَدًا.</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sent a message to my friend yesterday. The head teacher announced the meeting time. I will send the information tomorrow.</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أَعْلَنَ الْمُدِيرُ مَوْعِدَ الِاجْتِمَاعِ.</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head teacher announced the meeting time.</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أَدْخَلَتِ الْمُعَلِّمَةُ الطُّلَّابَ إِلَى الْفَصْلِ.</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teacher brought the students into the classroom.</a:t>
            </a:r>
            <a:endParaRPr lang="en-US" sz="1250" dirty="0"/>
          </a:p>
          <a:p>
            <a:pPr indent="0" marL="0">
              <a:buNone/>
            </a:pPr>
            <a:r>
              <a:rPr lang="en-US" sz="1050" i="1" dirty="0">
                <a:solidFill>
                  <a:srgbClr val="8A6D1E"/>
                </a:solidFill>
                <a:latin typeface="Calibri" pitchFamily="34" charset="0"/>
                <a:cs typeface="Amiri" pitchFamily="2" charset="-78"/>
              </a:rPr>
              <a:t>Bring in.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أَحْضَرْتُ كُتُبِي.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brought my books.</a:t>
            </a:r>
            <a:endParaRPr lang="en-US" sz="1250" dirty="0"/>
          </a:p>
          <a:p>
            <a:pPr indent="0" marL="0">
              <a:buNone/>
            </a:pPr>
            <a:r>
              <a:rPr lang="en-US" sz="1050" i="1" dirty="0">
                <a:solidFill>
                  <a:srgbClr val="8A6D1E"/>
                </a:solidFill>
                <a:latin typeface="Calibri" pitchFamily="34" charset="0"/>
                <a:cs typeface="Amiri" pitchFamily="2" charset="-78"/>
              </a:rPr>
              <a:t>ḥaḍara → aḥḍara.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الْمَتْجَرُ مُغْلَقٌ.</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shop is closed.</a:t>
            </a:r>
            <a:endParaRPr lang="en-US" sz="1250" dirty="0"/>
          </a:p>
          <a:p>
            <a:pPr indent="0" marL="0">
              <a:buNone/>
            </a:pPr>
            <a:r>
              <a:rPr lang="en-US" sz="1050" i="1" dirty="0">
                <a:solidFill>
                  <a:srgbClr val="8A6D1E"/>
                </a:solidFill>
                <a:latin typeface="Calibri" pitchFamily="34" charset="0"/>
                <a:cs typeface="Amiri" pitchFamily="2" charset="-78"/>
              </a:rPr>
              <a:t>Form IV passive participle.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SAME ROOT, DIFFERENT FORM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Go out → take out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الْأَوَّلِ إِلَى الرَّابِعِ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IV</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take something out</a:t>
            </a:r>
            <a:endParaRPr lang="en-US" sz="1100" dirty="0"/>
          </a:p>
        </p:txBody>
      </p:sp>
      <p:sp>
        <p:nvSpPr>
          <p:cNvPr id="22" name="Text 19"/>
          <p:cNvSpPr txBox="1"/>
          <p:nvPr/>
        </p:nvSpPr>
        <p:spPr>
          <a:xfrm>
            <a:off x="548640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أَخْرَجَ</a:t>
            </a:r>
            <a:endParaRPr lang="ar-SA" sz="2400" dirty="0"/>
          </a:p>
        </p:txBody>
      </p:sp>
      <p:sp>
        <p:nvSpPr>
          <p:cNvPr id="23" name="Text 20"/>
          <p:cNvSpPr txBox="1"/>
          <p:nvPr/>
        </p:nvSpPr>
        <p:spPr>
          <a:xfrm>
            <a:off x="31272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go out</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خَرَجَ</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bring something in</a:t>
            </a:r>
            <a:endParaRPr lang="en-US" sz="1100" dirty="0"/>
          </a:p>
        </p:txBody>
      </p:sp>
      <p:sp>
        <p:nvSpPr>
          <p:cNvPr id="29" name="Text 26"/>
          <p:cNvSpPr txBox="1"/>
          <p:nvPr/>
        </p:nvSpPr>
        <p:spPr>
          <a:xfrm>
            <a:off x="548640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أَدْخَلَ</a:t>
            </a:r>
            <a:endParaRPr lang="ar-SA" sz="2400" dirty="0"/>
          </a:p>
        </p:txBody>
      </p:sp>
      <p:sp>
        <p:nvSpPr>
          <p:cNvPr id="30" name="Text 27"/>
          <p:cNvSpPr txBox="1"/>
          <p:nvPr/>
        </p:nvSpPr>
        <p:spPr>
          <a:xfrm>
            <a:off x="31272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go in</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دَخَلَ</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bring</a:t>
            </a:r>
            <a:endParaRPr lang="en-US" sz="1100" dirty="0"/>
          </a:p>
        </p:txBody>
      </p:sp>
      <p:sp>
        <p:nvSpPr>
          <p:cNvPr id="36" name="Text 33"/>
          <p:cNvSpPr txBox="1"/>
          <p:nvPr/>
        </p:nvSpPr>
        <p:spPr>
          <a:xfrm>
            <a:off x="548640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أَحْضَرَ</a:t>
            </a:r>
            <a:endParaRPr lang="ar-SA" sz="2400" dirty="0"/>
          </a:p>
        </p:txBody>
      </p:sp>
      <p:sp>
        <p:nvSpPr>
          <p:cNvPr id="37" name="Text 34"/>
          <p:cNvSpPr txBox="1"/>
          <p:nvPr/>
        </p:nvSpPr>
        <p:spPr>
          <a:xfrm>
            <a:off x="31272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attend / come</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حَضَرَ</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seat someone</a:t>
            </a:r>
            <a:endParaRPr lang="en-US" sz="1100" dirty="0"/>
          </a:p>
        </p:txBody>
      </p:sp>
      <p:sp>
        <p:nvSpPr>
          <p:cNvPr id="43" name="Text 40"/>
          <p:cNvSpPr txBox="1"/>
          <p:nvPr/>
        </p:nvSpPr>
        <p:spPr>
          <a:xfrm>
            <a:off x="548640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أَجْلَسَ</a:t>
            </a:r>
            <a:endParaRPr lang="ar-SA" sz="2400" dirty="0"/>
          </a:p>
        </p:txBody>
      </p:sp>
      <p:sp>
        <p:nvSpPr>
          <p:cNvPr id="44" name="Text 41"/>
          <p:cNvSpPr txBox="1"/>
          <p:nvPr/>
        </p:nvSpPr>
        <p:spPr>
          <a:xfrm>
            <a:off x="31272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sit</a:t>
            </a:r>
            <a:endParaRPr lang="en-US" sz="11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جَلَسَ</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make someone laugh</a:t>
            </a:r>
            <a:endParaRPr lang="en-US" sz="1100" dirty="0"/>
          </a:p>
        </p:txBody>
      </p:sp>
      <p:sp>
        <p:nvSpPr>
          <p:cNvPr id="48" name="Text 45"/>
          <p:cNvSpPr txBox="1"/>
          <p:nvPr/>
        </p:nvSpPr>
        <p:spPr>
          <a:xfrm>
            <a:off x="548640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أَضْحَكَ</a:t>
            </a:r>
            <a:endParaRPr lang="ar-SA" sz="2400" dirty="0"/>
          </a:p>
        </p:txBody>
      </p:sp>
      <p:sp>
        <p:nvSpPr>
          <p:cNvPr id="49" name="Text 46"/>
          <p:cNvSpPr txBox="1"/>
          <p:nvPr/>
        </p:nvSpPr>
        <p:spPr>
          <a:xfrm>
            <a:off x="31272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laugh</a:t>
            </a:r>
            <a:endParaRPr lang="en-US" sz="11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ضَحِكَ</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Stretch: Form IV often turns a verb with no object into one with an object — “I went out” → “I took the book out”.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CLINIC · NOT EVERY ALIF IS FORM IV</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IV past, or Form I “I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وَزْنٌ رَابِعٌ أَمْ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أَرْسَلَ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أَخْرَجَ</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أَغْلَقَ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أَكْتُبُ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أَدْرُسُ</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أَجْلِسُ</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أَفْهَمُ</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IV past (he …)</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Form I present (I …)</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IV past (he …)</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أَرْسَلَ</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أَخْرَجَ</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أَغْلَقَ</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Form I present (I …)</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أَكْتُبُ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أَدْرُسُ</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أَجْلِسُ</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أَفْهَمُ</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يَرْسِلُ الرِّسَالَةَ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 or yu-?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سَأَأَرْسِلُ الصُّوَرَ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alifs?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خَرَجْتُ الْكِتَابَ مِنَ الْحَقِيبَةِ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Go out or take out?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يَرْسِلُ الرِّسَالَةَ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يُرْسِلُ الرِّسَالَةَ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IV present: yu-.</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سَأَأَرْسِلُ الصُّوَرَ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سَأُرْسِلُ الصُّوَرَ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past a- is not kept after the prefix (website).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خَرَجْتُ الْكِتَابَ مِنَ الْحَقِيبَةِ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أَخْرَجْتُ الْكِتَابَ مِنَ الْحَقِيبَةِ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take something out = Form IV akhraja.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SELF-CHECK ITEM AND TEACHER-WRITTEN QUESTIONS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a Form IV past and present?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رَاسَلَ / يُرَاسِلُ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أَرْسَلَ / يَأْرْسَلُ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أَرْسَلَ / يُرْسِلُ</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أَعْلَنَ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إِعْلَانٌ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brought the books in”.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دَخَلُوا الْكُتُبَ</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أَدْخَلُوا الْكُتُبَ</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يُدْخِلُونَ الْكُتُبَ</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“Close the door!” (to a boy).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اُغْلُقِ الْبَابَ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تُغْلِقُ الْبَابَ</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أَغْلِقِ الْبَابَ</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a Form IV past and present?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رَاسَلَ / يُرَاسِلُ</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أَرْسَلَ / يَأْرْسَلُ</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أَرْسَلَ / يُرْسِلُ</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normal Form IV present is yufʿilu.</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أَعْلَنَ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إِعْلَانٌ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ifʿāl.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brought the books in”.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دَخَلُوا الْكُتُبَ</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أَدْخَلُوا الْكُتُبَ</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يُدْخِلُونَ الْكُتُبَ</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Form IV + -ū.</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“Close the door!” (to a boy).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اُغْلُقِ الْبَابَ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تُغْلِقُ الْبَابَ</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أَغْلِقِ الْبَابَ</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IV command keeps the 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READING FOR FORM IV (TEACHER-WRITTEN EMAIL)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email about the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أَعِزَّائِي الطُّلَّابَ، أَعْلَنَتِ الْمَدْرَسَةُ مَوْعِدَ الرِّحْلَةِ: يَوْمَ الْأَرْبِعَاءِ. سَأُرْسِلُ لَكُمُ الْبَرْنَامَجَ غَدًا. مِنْ فَضْلِكُمْ، أَحْضِرُوا الْمَاءَ وَالطَّعَامَ، وَأَكْمِلُوا الِاسْتِمَارَةَ قَبْلَ الْجُمُعَةِ. لَا تُخْرِجُوا الْهَوَاتِفَ فِي الْحَافِلَةِ. سَتُغْلَقُ الْأَبْوَابُ فِي الثَّامِنَةِ تَمَامًا!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أَعِزَّائِي</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dear (pl.)</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الْبَرْنَامَجَ</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programme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الِاسْتِمَارَةَ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form</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تَمَامًا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exactly</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teacher send tomorrow?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form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programme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food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bring?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programme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and food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not be taken out on the bus?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form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a Form IV command to a group?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أَكْمِلُوا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سَأُرْسِلُ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teacher send tomorrow?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form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programme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food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Saʾursilu lakum al-barnāmaj.</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bring?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programme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and food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Aḥḍirū l-māʾa wa-ṭ-ṭaʿām.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not be taken out on the bus?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phones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form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tukhrijū l-hawātif.</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a Form IV command to a group?</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أَعْلَنَتْ</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أَكْمِلُوا</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سَأُرْسِلُ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akmilū = complete!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organising an event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لِمَنْ أَرْسَلْتَ رِسَالَةً الْيَوْمَ؟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أَعْلَنَتِ الْمَدْرَسَةُ هَذَا الْأُسْبُوعَ؟</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نَظِّمْ حَفْلَةً: مَاذَا سَتُرْسِلُ؟ وَمَاذَا يَجِبُ أَنْ يُحْضِرَ الضُّيُوفُ؟</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أَرْسَلْتُ رِسَالَةً إِلَى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أَعْلَنَتِ الْمَدْرَسَةُ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سَأُرْسِلُ ___ ، وَيَجِبُ أَنْ يُحْضِرَ الضُّيُوفُ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أَرْسَلْتِ الدَّعَوَاتِ؟</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Have you sent the invitations?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أَرْسَلْتُهَا أَمْسِ، وَأَعْلَنْتُ الْمَوْعِدَ فِي الصَّفِّ. سَأُحْضِرُ الْكَعْكَةَ، وَسَيُكْمِلُ أَخِي الزِّينَةَ.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Yes, I sent them yesterday, and I announced the time in class. I will bring the cake, and my brother will finish the decorations.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arsala · aʿlana · sa-ursilu.</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aḥḍara, akmala and aghlaqa.</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Past keeps a-; present drops it.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 event email with Form IV commands and a verbal noun.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aḥḍirū · akmilū · iʿlān.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أَحْضَرْتُ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brought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أَكْمَلْنَا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completed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أَحْضِرُوا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Bring (all of you)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الْإِعْلَانُ عَنْ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announcement is about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أَرْسَلْتُ ______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sent …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أَعْلَنَ الْمُدِيرُ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head teacher announced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سَأُرْسِلُ ______ غَدًا.</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send … tomorrow</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أَغْلِقِ ______ مِنْ فَضْلِكَ.</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Close … please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أَرْسَلَ · يُرْسِلُ  ·  أَعْلَنَ · يُعْلِنُ  ·  أَخْرَجَ · يُخْرِجُ  ·  أَدْخَلَ · يُدْخِلُ  ·  أَغْلَقَ · يُغْلِقُ  ·  أَكْمَلَ · يُكْمِلُ  ·  أَحْضَرَ · يُحْضِرُ  ·  إِعْلَانٌ  ·  إِرْسَالٌ</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email organising an event with five Form IV verbs, two Form IV commands and a verbal noun.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Form IV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a- kept in the past, dropped in the present.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Form IV commands (aḥḍirū, akmilū).</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(iʿlān, irsāl).</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Form I / Form IV pair.</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أَعِزَّائِي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dear (all)</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مَوْعِدُ</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time / date of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يَوْمِ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the day of</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فَضْلِكُمْ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please (pl.)</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التَّحِيَّةِ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regards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تَنْسَوْا</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don’t forget (pl.)</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أَعِزَّائِي أَعْضَاءَ النَّادِي، أَعْلَنَ الْمُدِيرُ أَمْسِ مَوْعِدَ الْحَفْلِ السَّنَوِيِّ: يَوْمَ السَّبْتِ فِي السَّاعَةِ الرَّابِعَةِ. أَرْسَلْتُ الدَّعَوَاتِ إِلَى الْآبَاءِ، وَسَأُرْسِلُ الْبَرْنَامَجَ غَدًا. مِنْ فَضْلِكُمْ، أَحْضِرُوا صُوَرًا مِنْ أَنْشِطَةِ السَّنَةِ، وَأَكْمِلُوا الْمَعْرِضَ قَبْلَ الْجُمُعَةِ. سَيُخْرِجُ أَحْمَدُ مَسْرَحِيَّةً قَصِيرَةً. لَا تَنْسَوْا أَنْ تُغْلِقُوا الْقَاعَةَ بَعْدَ الْحَفْلِ. مَعَ التَّحِيَّةِ، سَارَةُ.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club members, yesterday the head teacher announced the date of the annual party: Saturday at four o’clock. I have sent the invitations to the parents, and I will send the programme tomorrow. Please bring photos of this year’s activities, and complete the exhibition before Friday. Aḥmad will direct a short play. Don’t forget to close the hall after the party. Regards, Sārah.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IV past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IV present / future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IV command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verbal noun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IV past verbs start with 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present forms use yu- / u- with no extra 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verbal noun like iʿlān.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IV verbs have objects (send what? bring what?).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confuse aktubu (I write) with Form IV.</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a Form IV past and present?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أَرْسَلَ / يُرْسِلُ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رَاسَلَ / يُرَاسِلُ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أَرْسَلَ / يَأْرْسَلُ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took the book out”.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خَرَجْتُ الْكِتَابَ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أَخْرَجْتُ الْكِتَابَ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أُخْرِجُ الْكِتَابَ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Form IV?</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a Form IV past and present?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أَرْسَلَ / يُرْسِلُ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رَاسَلَ / يُرَاسِلُ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أَرْسَلَ / يَأْرْسَلُ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normal Form IV present is yufʿilu.</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took the book out”.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خَرَجْتُ الْكِتَابَ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أَخْرَجْتُ الْكِتَابَ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أُخْرِجُ الْكِتَابَ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IV past + -tu.</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Form IV?</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أَعْلَنَ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أَعْلَمُ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aʿlamu = I know (Form I “I”).</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GM-VF-04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GM-VF-05: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GM-VF-05 · Form V: Learning and Developing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تَعَلَّمَ · يَتَعَلَّمُ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learn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تَذَكَّرَ · يَتَذَكَّرُ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remember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تَحَسَّنَ · يَتَحَسَّنُ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improve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تَطَوَّرَ · يَتَطَوَّرُ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develop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teach (Form II)</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ʿAllama = to teach. Add ta- at the front: taʿallama. What does it mean?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عَلَّمَ · تَعَلَّمَ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arsala, aʿlana and aghlaqa.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akhraja in past and present for six persons.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An event email with five Form IV verbs.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GM-VF-05 · Form V: Learning and Developing</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الْوَزْنُ الْخَامِسُ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IV = a- before the root in the past (afʿala) · present yu- with no a- (yursilu) · noun ifʿāl · command keeps a- (arsil!) · aktubu (I write) is NOT Form IV.</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GM-VF-04 · Form IV: Causing and Bringing About</dc:title>
  <dc:subject>PptxGenJS Presentation</dc:subject>
  <dc:creator>Al Madina Online School · Arabic Department</dc:creator>
  <cp:lastModifiedBy>Al Madina Online School · Arabic Department</cp:lastModifiedBy>
  <cp:revision>1</cp:revision>
  <dcterms:created xsi:type="dcterms:W3CDTF">2026-10-11T06:42:43Z</dcterms:created>
  <dcterms:modified xsi:type="dcterms:W3CDTF">2026-10-11T06:42:43Z</dcterms:modified>
</cp:coreProperties>
</file>