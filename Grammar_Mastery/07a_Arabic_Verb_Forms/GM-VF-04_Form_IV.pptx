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GM-VF-04 (“Form IV: Causing and Bringing About”).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أَرْسَلَ · يُرْسِلُ and the family أَدْخَلَ · أَخْرَجَ · أَعْلَنَ in messages and announcements. Develop: the present (أُرْسِلُ · تُغْلِقِينَ · يُعْلِنُونَ) and the verbal noun إِفْعَالٌ (إِرْسَالٌ · إِعْلَانٌ · إِغْلَاقٌ). Stretch: Form I → IV turns “go / come” verbs into “take / bring” verbs (خَرَجَ / أَخْرَجَ · دَخَلَ / أَدْخَلَ · حَضَرَ / أَحْضَرَ).
• Website warning: in أُرْسِلُ (I send), the a- / u- at the front is the person prefix — the Form IV a- of the past has gone. And أَكْتُبُ (I write) is Form I, not Form IV.
• Link: mughlaq (closed) from GM-V-12 is the Form IV passive participle of aghlaqa.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GM-VF-03 and its prep words (arsala, akhraja, adkhala, aʿlana).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IV = a- before the root in the past (afʿala). Present = yu- + root, with no a- (yufʿilu).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The Form IV command keeps the a-: arsil! (GM-V-07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The a- stays in the whole past column and disappears in the whole present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make a sentence for each Form IV verb with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IV past ends in -a (arsala); the Form I “I” present ends in -u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IV past ends in -a (arsala); the Form I “I” present ends in -u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IV (teacher-written email). Read it aloud once while students follow; then they hunt for today’s grammar.
Task: Website: write a message about organising an event. First, underline every Form IV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email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what you sent, what was announced, and what you will send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message about organising a meeting. Explain what you sent, what the headteacher announced and what you will send tomorrow.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(GM-VF-05 · Form V: Learning and Developing) will spend class time USING this language, so students prepare it tonight — short, simple, easy to access (school guidance: “Simple, Short, Interesting, Relevant, Easy to access”). The five words prepare GM-VF-05 (website Verb Forms: Form V).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Form IV: Causing and Bringing About</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الرَّابِعُ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IV adds a- at the front of the past: kharaja (go out) → akhraja (take out). In the present the a- disappears: yukhriju. It often means “make something happen” — but learn each verb.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IV.</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Go out → take out; sort Form IV past / Form I “I” present;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أَسْعَدَ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Kharaja means to go out. Akhraja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take out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come 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go out 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Arsala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receive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يَأْرُسُلُ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يَرْسُلُ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يُرْسِلُ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Aʿlana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announce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know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teach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سَعِدَ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أَسْعَدَ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ā after the first letter (GM-VF-03).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Kharaja means to go out. Akhraja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take out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come 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go out 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Arsala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receive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send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يَأْرُسُلُ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يَرْسُلُ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يُرْسِلُ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 disappears: yu-.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Aʿlana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announce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know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teach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IV = a- before the root in the past (afʿala). Present = yu- + root, with no a- (yufʿilu).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خَرَجَ</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أَخْرَجَ</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يُخْرِجُ</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IV by the a- before the root in the past.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yu- and no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IV verbs for sending, announcing and bringing.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IV from Form I “I” present verbs.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arsala and aʿlana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 short message with Form IV.</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arsala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irsāl and iʿlān.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turn kharaja, dakhala and ḥaḍara into Form IV.</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aktubu is not Form IV.</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الرَّابِعُ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IV</a:t>
            </a:r>
            <a:endParaRPr lang="en-US" sz="1350" dirty="0"/>
          </a:p>
          <a:p>
            <a:pPr indent="0" marL="0">
              <a:buNone/>
            </a:pPr>
            <a:r>
              <a:rPr lang="en-US" sz="1100" i="1" dirty="0">
                <a:solidFill>
                  <a:srgbClr val="5A6472"/>
                </a:solidFill>
                <a:latin typeface="Calibri" pitchFamily="34" charset="0"/>
                <a:cs typeface="Amiri" pitchFamily="2" charset="-78"/>
              </a:rPr>
              <a:t>al-waz-nu ar-rā-bi-ʿu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هَمْزَةُ الْوَزْنِ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Form IV a- (past)</a:t>
            </a:r>
            <a:endParaRPr lang="en-US" sz="1350" dirty="0"/>
          </a:p>
          <a:p>
            <a:pPr indent="0" marL="0">
              <a:buNone/>
            </a:pPr>
            <a:r>
              <a:rPr lang="en-US" sz="1100" i="1" dirty="0">
                <a:solidFill>
                  <a:srgbClr val="5A6472"/>
                </a:solidFill>
                <a:latin typeface="Calibri" pitchFamily="34" charset="0"/>
                <a:cs typeface="Amiri" pitchFamily="2" charset="-78"/>
              </a:rPr>
              <a:t>ham-za-tu al-waz-ni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أَرْسَلَ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الْمُضَارَعَةِ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present prefix</a:t>
            </a:r>
            <a:endParaRPr lang="en-US" sz="1350" dirty="0"/>
          </a:p>
          <a:p>
            <a:pPr indent="0" marL="0">
              <a:buNone/>
            </a:pPr>
            <a:r>
              <a:rPr lang="en-US" sz="1100" i="1" dirty="0">
                <a:solidFill>
                  <a:srgbClr val="5A6472"/>
                </a:solidFill>
                <a:latin typeface="Calibri" pitchFamily="34" charset="0"/>
                <a:cs typeface="Amiri" pitchFamily="2" charset="-78"/>
              </a:rPr>
              <a:t>ḥar-fu al-mu-ḍā-ra-ʿa-ti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أُرْسِلُ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الْمُتَعَدِّي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with an object</a:t>
            </a:r>
            <a:endParaRPr lang="en-US" sz="1350" dirty="0"/>
          </a:p>
          <a:p>
            <a:pPr indent="0" marL="0">
              <a:buNone/>
            </a:pPr>
            <a:r>
              <a:rPr lang="en-US" sz="1100" i="1" dirty="0">
                <a:solidFill>
                  <a:srgbClr val="5A6472"/>
                </a:solidFill>
                <a:latin typeface="Calibri" pitchFamily="34" charset="0"/>
                <a:cs typeface="Amiri" pitchFamily="2" charset="-78"/>
              </a:rPr>
              <a:t>al-fiʿ-lu al-mu-ta-ʿad-dī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أَخْرَجَ الْكِتَابَ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إِفْعَالٌ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IV verbal noun</a:t>
            </a:r>
            <a:endParaRPr lang="en-US" sz="1350" dirty="0"/>
          </a:p>
          <a:p>
            <a:pPr indent="0" marL="0">
              <a:buNone/>
            </a:pPr>
            <a:r>
              <a:rPr lang="en-US" sz="1100" i="1" dirty="0">
                <a:solidFill>
                  <a:srgbClr val="5A6472"/>
                </a:solidFill>
                <a:latin typeface="Calibri" pitchFamily="34" charset="0"/>
                <a:cs typeface="Amiri" pitchFamily="2" charset="-78"/>
              </a:rPr>
              <a:t>if-ʿā-lun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إِعْلَانٌ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IV doer</a:t>
            </a:r>
            <a:endParaRPr lang="en-US" sz="1350" dirty="0"/>
          </a:p>
          <a:p>
            <a:pPr indent="0" marL="0">
              <a:buNone/>
            </a:pPr>
            <a:r>
              <a:rPr lang="en-US" sz="1100" i="1" dirty="0">
                <a:solidFill>
                  <a:srgbClr val="5A6472"/>
                </a:solidFill>
                <a:latin typeface="Calibri" pitchFamily="34" charset="0"/>
                <a:cs typeface="Amiri" pitchFamily="2" charset="-78"/>
              </a:rPr>
              <a:t>muf-ʿi-lun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مُرْسِلٌ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IV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in front of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مُرْسِلٌ</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إِرْسَالٌ</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يُرْسِلُ</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send</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أَخْرِجْ</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مُخْرِجٌ</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إِخْرَاجٌ</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يُخْرِجُ</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أَخْرَجَ</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out</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أَعْلِنْ</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مُعْلِنٌ</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إِعْلَانٌ</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يُعْلِنُ</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أَعْلَنَ</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announce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أَغْلِقْ</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مُغْلِقٌ</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إِغْلَاقٌ</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يُغْلِقُ</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أَغْلَقَ</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close</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 hamza prefix is added in the past: afʿala. The common present is yufʿilu — the past hamza is not kept as an extra alif after the present prefix. Note: mukhrij = film director!</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IV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الرَّابِعِ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أُرْسِلُ رِسَالَةً إِلَى صَدِيقِي.</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send</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أَرْسَلَ · يُرْسِلُ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أَدْخَلَتِ الْمُعَلِّمَةُ الطُّلَّابَ إِلَى الْفَصْلِ.</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bring in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أَدْخَلَ · يُدْخِلُ</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أَعْلَنَ الْمُدِيرُ مَوْعِدَ الِاجْتِمَاعِ.</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announce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أَعْلَنَ · يُعْلِنُ</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أَخْرَجْتُ الْكِتَابَ مِنَ الْحَقِيبَةِ.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out</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أَخْرَجَ · يُخْرِجُ</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أَغْلِقِ النَّافِذَةَ مِنْ فَضْلِكَ.</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close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أَغْلَقَ · يُغْلِقُ</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أَكْمَلْنَا الْمَشْرُوعَ أَمْسِ.</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complete</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أَكْمَلَ · يُكْمِلُ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kharaja means to go out; akhraja can mean to take or bring something out — a common causative link, but many Form IV meanings are lexical.</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ARSALA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did the a-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«أَرْسَلَ»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I (not Form IV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يُرْسِلُ</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تُرْسِلُ</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تُرْسِلِينَ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نُرْسِلُ</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يُرْسِلُونَ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arsala → yursilu → ursilu. In ursilu (I send) the initial alif is the first-person prefix, not the Form IV hamza.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send”?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يُرْسِلُ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aktubu not Form IV?</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first-person present of Form I </a:t>
            </a:r>
            <a:pPr algn="l" indent="0" marL="0">
              <a:buNone/>
            </a:pPr>
            <a:r>
              <a:rPr lang="ar-SA" altLang="en-US" sz="1650" dirty="0">
                <a:solidFill>
                  <a:srgbClr val="1F2A37"/>
                </a:solidFill>
                <a:latin typeface="Amiri" pitchFamily="2" charset="-78"/>
                <a:ea typeface="Amiri" pitchFamily="2" charset="-78"/>
                <a:cs typeface="Amiri" pitchFamily="2" charset="-78"/>
              </a:rPr>
              <a:t>كَتَبَ</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initial hamza creates Form IV.</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contains a doubled middle consonant.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announced”.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close”.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نُغْلِقُ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نَغْلِقُ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أَغْلَقْنَا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send”?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يُرْسِلُ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أَرْسَلَ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أُرْسِلُ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Ursilu uses the first-person present prefix.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aktubu not Form IV?</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first-person present of Form I </a:t>
            </a:r>
            <a:pPr algn="l" indent="0" marL="0">
              <a:buNone/>
            </a:pPr>
            <a:r>
              <a:rPr lang="ar-SA" altLang="en-US" sz="1650" b="1" dirty="0">
                <a:solidFill>
                  <a:srgbClr val="1F2A37"/>
                </a:solidFill>
                <a:latin typeface="Amiri" pitchFamily="2" charset="-78"/>
                <a:ea typeface="Amiri" pitchFamily="2" charset="-78"/>
                <a:cs typeface="Amiri" pitchFamily="2" charset="-78"/>
              </a:rPr>
              <a:t>كَتَبَ</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initial hamza creates Form IV.</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contains a doubled middle consonant.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Identify the root, the stem and the person separately.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announced”.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أَعْلَنَتْ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-at; the a- stays.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close”.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نُغْلِقُ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نَغْلِقُ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أَغْلَقْنَا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 and no 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write a meeting message with Form IV</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أَرْسَلْتُ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stays in the past.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أَعْلَنَ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announced.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سَأُرْسِلُ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u- (no extra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الْإِعْلَانُ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ifʿāl.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أَرْسَلْتُ</a:t>
            </a:r>
            <a:pPr rtl="1" algn="r" indent="0" marL="0">
              <a:buNone/>
            </a:pPr>
            <a:r>
              <a:rPr lang="ar-SA" altLang="en-US" sz="2600" b="1" dirty="0">
                <a:solidFill>
                  <a:srgbClr val="1B3B6F"/>
                </a:solidFill>
                <a:latin typeface="Amiri" pitchFamily="2" charset="-78"/>
                <a:ea typeface="Amiri" pitchFamily="2" charset="-78"/>
                <a:cs typeface="Amiri" pitchFamily="2" charset="-78"/>
              </a:rPr>
              <a:t> رِسَالَةً إِلَى صَدِيقِي أَمْسِ. وَ</a:t>
            </a:r>
            <a:pPr rtl="1" algn="r" indent="0" marL="0">
              <a:buNone/>
            </a:pPr>
            <a:r>
              <a:rPr lang="ar-SA" altLang="en-US" sz="2600" b="1" dirty="0">
                <a:solidFill>
                  <a:srgbClr val="0E7C86"/>
                </a:solidFill>
                <a:latin typeface="Amiri" pitchFamily="2" charset="-78"/>
                <a:ea typeface="Amiri" pitchFamily="2" charset="-78"/>
                <a:cs typeface="Amiri" pitchFamily="2" charset="-78"/>
              </a:rPr>
              <a:t>أَعْلَنَ</a:t>
            </a:r>
            <a:pPr rtl="1" algn="r" indent="0" marL="0">
              <a:buNone/>
            </a:pPr>
            <a:r>
              <a:rPr lang="ar-SA" altLang="en-US" sz="2600" b="1" dirty="0">
                <a:solidFill>
                  <a:srgbClr val="1B3B6F"/>
                </a:solidFill>
                <a:latin typeface="Amiri" pitchFamily="2" charset="-78"/>
                <a:ea typeface="Amiri" pitchFamily="2" charset="-78"/>
                <a:cs typeface="Amiri" pitchFamily="2" charset="-78"/>
              </a:rPr>
              <a:t> الْمُدِيرُ مَوْعِدَ الِاجْتِمَاعِ. </a:t>
            </a:r>
            <a:pPr rtl="1" algn="r" indent="0" marL="0">
              <a:buNone/>
            </a:pPr>
            <a:r>
              <a:rPr lang="ar-SA" altLang="en-US" sz="2600" b="1" dirty="0">
                <a:solidFill>
                  <a:srgbClr val="D6336C"/>
                </a:solidFill>
                <a:latin typeface="Amiri" pitchFamily="2" charset="-78"/>
                <a:ea typeface="Amiri" pitchFamily="2" charset="-78"/>
                <a:cs typeface="Amiri" pitchFamily="2" charset="-78"/>
              </a:rPr>
              <a:t>سَأُرْسِلُ</a:t>
            </a:r>
            <a:pPr rtl="1" algn="r" indent="0" marL="0">
              <a:buNone/>
            </a:pPr>
            <a:r>
              <a:rPr lang="ar-SA" altLang="en-US" sz="2600" b="1" dirty="0">
                <a:solidFill>
                  <a:srgbClr val="1B3B6F"/>
                </a:solidFill>
                <a:latin typeface="Amiri" pitchFamily="2" charset="-78"/>
                <a:ea typeface="Amiri" pitchFamily="2" charset="-78"/>
                <a:cs typeface="Amiri" pitchFamily="2" charset="-78"/>
              </a:rPr>
              <a:t> الْمَعْلُومَاتِ غَدًا.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sent a message to my friend yesterday. The head teacher announced the meeting time. I will send the information tomorrow.</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أَعْلَنَ الْمُدِيرُ مَوْعِدَ الِاجْتِمَاعِ.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head teacher announced the meeting time.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أَدْخَلَتِ الْمُعَلِّمَةُ الطُّلَّابَ إِلَى الْفَصْلِ.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brought the students into the classroom.</a:t>
            </a:r>
            <a:endParaRPr lang="en-US" sz="1250" dirty="0"/>
          </a:p>
          <a:p>
            <a:pPr indent="0" marL="0">
              <a:buNone/>
            </a:pPr>
            <a:r>
              <a:rPr lang="en-US" sz="1050" i="1" dirty="0">
                <a:solidFill>
                  <a:srgbClr val="8A6D1E"/>
                </a:solidFill>
                <a:latin typeface="Calibri" pitchFamily="34" charset="0"/>
                <a:cs typeface="Amiri" pitchFamily="2" charset="-78"/>
              </a:rPr>
              <a:t>Bring 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أَحْضَرْتُ كُتُبِي.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brought my books.</a:t>
            </a:r>
            <a:endParaRPr lang="en-US" sz="1250" dirty="0"/>
          </a:p>
          <a:p>
            <a:pPr indent="0" marL="0">
              <a:buNone/>
            </a:pPr>
            <a:r>
              <a:rPr lang="en-US" sz="1050" i="1" dirty="0">
                <a:solidFill>
                  <a:srgbClr val="8A6D1E"/>
                </a:solidFill>
                <a:latin typeface="Calibri" pitchFamily="34" charset="0"/>
                <a:cs typeface="Amiri" pitchFamily="2" charset="-78"/>
              </a:rPr>
              <a:t>ḥaḍara → aḥḍara.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الْمَتْجَرُ مُغْلَقٌ.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shop is closed.</a:t>
            </a:r>
            <a:endParaRPr lang="en-US" sz="1250" dirty="0"/>
          </a:p>
          <a:p>
            <a:pPr indent="0" marL="0">
              <a:buNone/>
            </a:pPr>
            <a:r>
              <a:rPr lang="en-US" sz="1050" i="1" dirty="0">
                <a:solidFill>
                  <a:srgbClr val="8A6D1E"/>
                </a:solidFill>
                <a:latin typeface="Calibri" pitchFamily="34" charset="0"/>
                <a:cs typeface="Amiri" pitchFamily="2" charset="-78"/>
              </a:rPr>
              <a:t>Form IV passive participle.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Go out → take 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الْأَوَّلِ إِلَى الرَّابِعِ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IV</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something out</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أَخْرَجَ</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go out</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خَرَجَ</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bring something in</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أَدْخَلَ</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go in</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دَخَلَ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bring</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أَحْضَرَ</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attend / come</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حَضَرَ</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seat someone</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أَجْلَسَ</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جَلَسَ</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make someone laugh</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أَضْحَكَ</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laugh</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ضَحِكَ</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Stretch: Form IV often turns a verb with no object into one with an object — “I went out” → “I took the book out”.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NOT EVERY ALIF IS FORM IV</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IV past, or Form I “I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وَزْنٌ رَابِعٌ أَمْ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أَرْسَلَ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أَغْلَقَ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أَجْلِسُ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أَفْهَمُ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IV past (he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(I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IV past (he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أَرْسَلَ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أَخْرَجَ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أَغْلَقَ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(I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أَجْلِسُ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أَفْهَمُ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يَرْسِلُ الرِّسَالَةَ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سَأَأَرْسِلُ الصُّوَرَ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alifs?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خَرَجْتُ الْكِتَابَ مِنَ الْحَقِيبَةِ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Go out or take out?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يَرْسِلُ الرِّسَالَةَ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يُرْسِلُ الرِّسَالَةَ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IV present: yu-.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سَأَأَرْسِلُ الصُّوَرَ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سَأُرْسِلُ الصُّوَرَ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past a- is not kept after the prefix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خَرَجْتُ الْكِتَابَ مِنَ الْحَقِيبَةِ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أَخْرَجْتُ الْكِتَابَ مِنَ الْحَقِيبَةِ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take something out = Form IV akhraja.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رَاسَلَ / يُرَاسِلُ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 / يَأْرْسَلُ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 / يُرْسِلُ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أَعْلَنَ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إِعْلَانٌ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brought the books in”.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دَخَلُوا الْكُتُبَ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أَدْخَلُوا الْكُتُبَ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يُدْخِلُونَ الْكُتُبَ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“Close the door!” (to a boy).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اُغْلُقِ الْبَابَ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تُغْلِقُ الْبَابَ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أَغْلِقِ الْبَابَ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رَاسَلَ / يُرَاسِلُ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أَرْسَلَ / يَأْرْسَلُ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أَرْسَلَ / يُرْسِلُ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normal Form IV present is yufʿilu.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أَعْلَنَ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إِعْلَانٌ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brought the books in”.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دَخَلُوا الْكُتُبَ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أَدْخَلُوا الْكُتُبَ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يُدْخِلُونَ الْكُتُبَ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Form IV + -ū.</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“Close the door!” (to a boy).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اُغْلُقِ الْبَابَ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تُغْلِقُ الْبَابَ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أَغْلِقِ الْبَابَ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IV command keeps the 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IV (TEACHER-WRITTEN EMAIL)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email about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أَعِزَّائِي الطُّلَّابَ، أَعْلَنَتِ الْمَدْرَسَةُ مَوْعِدَ الرِّحْلَةِ: يَوْمَ الْأَرْبِعَاءِ. سَأُرْسِلُ لَكُمُ الْبَرْنَامَجَ غَدًا. مِنْ فَضْلِكُمْ، أَحْضِرُوا الْمَاءَ وَالطَّعَامَ، وَأَكْمِلُوا الِاسْتِمَارَةَ قَبْلَ الْجُمُعَةِ. لَا تُخْرِجُوا الْهَوَاتِفَ فِي الْحَافِلَةِ. سَتُغْلَقُ الْأَبْوَابُ فِي الثَّامِنَةِ تَمَامًا!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أَعِزَّائِي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dear (pl.)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الْبَرْنَامَجَ</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programme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الِاسْتِمَارَةَ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form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تَمَامًا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exactly</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teacher send tomorrow?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bring?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food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not be taken out on the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Form IV command to a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سَأُرْسِلُ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teacher send tomorrow?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form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programme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Saʾursilu lakum al-barnāmaj.</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bring?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programme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food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Aḥḍirū l-māʾa wa-ṭ-ṭaʿām.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not be taken out on the bus?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phones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form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tukhrijū l-hawātif.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Form IV command to a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أَكْمِلُوا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سَأُرْسِلُ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akmilū = complete!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organising an event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لِمَنْ أَرْسَلْتَ رِسَالَةً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أَعْلَنَتِ الْمَدْرَسَةُ هَذَا الْأُسْبُوعَ؟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نَظِّمْ حَفْلَةً: مَاذَا سَتُرْسِلُ؟ وَمَاذَا يَجِبُ أَنْ يُحْضِرَ الضُّيُوفُ؟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أَرْسَلْتُ رِسَالَةً إِلَى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أَعْلَنَتِ الْمَدْرَسَةُ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سَأُرْسِلُ ___ ، وَيَجِبُ أَنْ يُحْضِرَ الضُّيُوفُ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أَرْسَلْتِ الدَّعَوَاتِ؟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Have you sent the invitations?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أَرْسَلْتُهَا أَمْسِ، وَأَعْلَنْتُ الْمَوْعِدَ فِي الصَّفِّ. سَأُحْضِرُ الْكَعْكَةَ، وَسَيُكْمِلُ أَخِي الزِّينَةَ.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sent them yesterday, and I announced the time in class. I will bring the cake, and my brother will finish the decorations.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arsala · aʿlana · sa-ursilu.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aḥḍara, akmala and aghlaqa.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keeps a-; present drops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event email with Form IV commands and a verbal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aḥḍirū · akmilū · iʿlān.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brought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أَكْمَلْنَا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completed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أَحْضِرُوا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Bring (all of you)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الْإِعْلَانُ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announcement is about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أَرْسَلْتُ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sent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أَعْلَنَ الْمُدِيرُ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head teacher announced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سَأُرْسِلُ ______ غَدًا.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send … tomorrow</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أَغْلِقِ ______ مِنْ فَضْلِكَ.</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Close … please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أَرْسَلَ · يُرْسِلُ  ·  أَعْلَنَ · يُعْلِنُ  ·  أَخْرَجَ · يُخْرِجُ  ·  أَدْخَلَ · يُدْخِلُ  ·  أَغْلَقَ · يُغْلِقُ  ·  أَكْمَلَ · يُكْمِلُ  ·  أَحْضَرَ · يُحْضِرُ  ·  إِعْلَانٌ  ·  إِرْسَالٌ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organising an event with five Form IV verbs, two Form IV commands and a verbal noun.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IV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 kept in the past, dropped in the present.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 IV commands (aḥḍirū, akmilū).</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(iʿlān, irsāl).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Form IV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أَعِزَّائِي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(all)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مَوْعِدُ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time / date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يَوْمِ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the day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فَضْلِكُمْ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please (pl.)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التَّحِيَّةِ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regards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تَنْسَوْا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forget (pl.)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أَعِزَّائِي أَعْضَاءَ النَّادِي، أَعْلَنَ الْمُدِيرُ أَمْسِ مَوْعِدَ الْحَفْلِ السَّنَوِيِّ: يَوْمَ السَّبْتِ فِي السَّاعَةِ الرَّابِعَةِ. أَرْسَلْتُ الدَّعَوَاتِ إِلَى الْآبَاءِ، وَسَأُرْسِلُ الْبَرْنَامَجَ غَدًا. مِنْ فَضْلِكُمْ، أَحْضِرُوا صُوَرًا مِنْ أَنْشِطَةِ السَّنَةِ، وَأَكْمِلُوا الْمَعْرِضَ قَبْلَ الْجُمُعَةِ. سَيُخْرِجُ أَحْمَدُ مَسْرَحِيَّةً قَصِيرَةً. لَا تَنْسَوْا أَنْ تُغْلِقُوا الْقَاعَةَ بَعْدَ الْحَفْلِ. مَعَ التَّحِيَّةِ، سَارَةُ.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club members, yesterday the head teacher announced the date of the annual party: Saturday at four o’clock. I have sent the invitations to the parents, and I will send the programme tomorrow. Please bring photos of this year’s activities, and complete the exhibition before Friday. Aḥmad will direct a short play. Don’t forget to close the hall after the party. Regards, Sārah.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IV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IV present / future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IV command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verbal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IV past verbs start with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use yu- / u- with no extra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iʿlān.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IV verbs have objects (send what? bring what?).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aktubu (I write) with Form IV.</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 / يُرْسِلُ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رَاسَلَ / يُرَاسِلُ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 / يَأْرْسَلُ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took the book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خَرَجْتُ الْكِتَابَ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أَخْرَجْتُ الْكِتَابَ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أُخْرِجُ الْكِتَابَ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Form IV?</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a Form IV past and present?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أَرْسَلَ / يُرْسِلُ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رَاسَلَ / يُرَاسِلُ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أَرْسَلَ / يَأْرْسَلُ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normal Form IV present is yufʿilu.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took the book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خَرَجْتُ الْكِتَابَ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أَخْرَجْتُ الْكِتَابَ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أُخْرِجُ الْكِتَابَ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IV past + -tu.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Form IV?</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أَعْلَنَ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aʿlamu = I know (Form I “I”).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GM-VF-04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GM-VF-05: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GM-VF-05 · Form V: Learning and Developing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تَعَلَّمَ · يَتَعَلَّمُ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learn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تَذَكَّرَ · يَتَذَكَّرُ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remember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تَحَسَّنَ · يَتَحَسَّنُ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improve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تَطَوَّرَ · يَتَطَوَّرُ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develop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 (Form II)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ʿAllama = to teach. Add ta- at the front: taʿallama. What does it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عَلَّمَ · تَعَلَّمَ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arsala, aʿlana and aghlaqa.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akhraja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event email with five Form IV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GM-VF-05 · Form V: Learning and Developing</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الْخَامِسُ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IV = a- before the root in the past (afʿala) · present yu- with no a- (yursilu) · noun ifʿāl · command keeps a- (arsil!) · aktubu (I write) is NOT Form IV.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GM-VF-04 · Form IV: Causing and Bringing About</dc:title>
  <dc:subject>PptxGenJS Presentation</dc:subject>
  <dc:creator>Al Madina Online School · Arabic Department</dc:creator>
  <cp:lastModifiedBy>Al Madina Online School · Arabic Department</cp:lastModifiedBy>
  <cp:revision>1</cp:revision>
  <dcterms:created xsi:type="dcterms:W3CDTF">2026-10-11T06:42:43Z</dcterms:created>
  <dcterms:modified xsi:type="dcterms:W3CDTF">2026-10-11T06:42:43Z</dcterms:modified>
</cp:coreProperties>
</file>