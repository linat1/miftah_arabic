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Arabic Verb Forms › GM-VF-05 (“Form V: Learning and Developing”).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تَعَلَّمَ · يَتَعَلَّمُ and the family تَذَكَّرَ · تَحَسَّنَ · تَطَوَّرَ for a learning journal. Develop: conjugation with TWO ta- for she / you (تَتَعَلَّمُ) and the verbal noun تَفَعُّلٌ (تَعَلُّمٌ · تَحَسُّنٌ). Stretch: Form II → V pairs (عَلَّمَ / تَعَلَّمَ · ذَكَّرَ / تَذَكَّرَ · غَيَّرَ / تَغَيَّرَ) — doing something to others vs it happening to you.
• Website clinic: the ta- at the start of taʿallama belongs to the stem — it is NOT the she / you prefix. So “she learns” = tataʿallamu.
• Present prefix vowel goes back to a (ya-, ta-, a-, na-) — unlike Forms II–IV.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GM-VF-04 and its prep words (taʿallama, tadhakkara, taḥassana, taṭawwara).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 V = ta- + doubled middle letter (tafaʿʿala). Present = ya- + ta- … (yatafaʿʿalu).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“Root and pattern”. The command keeps the ta-: taʿallam! (no helping vowel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“Learn the family” (first three examples are the website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Drill hiya tataʿallamu — the most common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Self-check items, plus two teacher items.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“Apply the form” model answer. Ataṭawwara: subjunctive after an (GM-V-10).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Students make a pair of sentences: The teacher taught me. → I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Clue: Form V past has a shadda and ends in -a; the Form I present ends in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Self-check item and teacher-written questions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reading for Form V (teacher-written journal). Read it aloud once while students follow; then they hunt for today’s grammar.
Task: Website: write a learning journal entry. First, underline every Form V verb here.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journal for the website “Apply the form”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“Apply the form”. Sequence: ● 10s think → ↔ 45s rehearse aloud with mic muted → ◎ two named students on open mic (warned in advance) → + ? the class types one follow-up in chat → ↺ one student summarises.
Routes: Core uses the Core prompt and stem; Develop the Develop prompt; Stretch the last prompt.
Website: what you are learning, how you have improved and which words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short learning journal entry explaining what you are learning, how you have improved and which words you remember.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(GM-VF-06 · Form VI: Cooperation and Mutual Action) will spend class time USING this language, so students prepare it tonight — short, simple, easy to access (school guidance: “Simple, Short, Interesting, Relevant, Easy to access”). The five words prepare GM-VF-06 (website Verb Forms: Form VI).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ARABIC VERB FORMS  ·  GM-VF-05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GM-VF-05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cs typeface="Amiri" pitchFamily="2" charset="-78"/>
              </a:rPr>
              <a:t>Form V: Learning and Developing</a:t>
            </a:r>
            <a:endParaRPr lang="en-US" sz="34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الْوَزْنُ الْخَامِسُ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Form V = ta- + Form II: ʿallama (teach) → taʿallama (learn). The present starts with ya- (not yu-): yataʿallamu. It often shows a process happening to the subject — learning, improving, developing.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GM-VF-05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Arabic Verb Forms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Pattern card; family; conjugation (two ta-); Form II vs V.</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Teach → learn; sort stem ta- / prefix ta-;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GM-VF-06.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أَرْسَلَ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رَاسَلَ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 to teach. Taʿallama =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learn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know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teach again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Tadhakkara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forget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mention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remember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Taḥassana means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improve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be good at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make better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Form IV?</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أَرْسُمُ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أَرْسَلَ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رَاسَلَ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before the root in the past (GM-VF-04).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ʿAllama = to teach. Taʿallama =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learn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know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teach again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prep question.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Tadhakkara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forget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mention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remember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present of </a:t>
            </a:r>
            <a:pPr algn="l" indent="0" marL="0">
              <a:buNone/>
            </a:pPr>
            <a:r>
              <a:rPr lang="ar-SA" altLang="en-US" sz="1650" b="1" dirty="0">
                <a:solidFill>
                  <a:srgbClr val="1B3B6F"/>
                </a:solidFill>
                <a:latin typeface="Amiri" pitchFamily="2" charset="-78"/>
                <a:ea typeface="Amiri" pitchFamily="2" charset="-78"/>
                <a:cs typeface="Amiri" pitchFamily="2" charset="-78"/>
              </a:rPr>
              <a:t>تَعَلَّمَ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يُعَلِّمُ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present: ya- + ta-.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Taḥassana means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improve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be good at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make better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Form V = ta- + doubled middle letter (tafaʿʿala). Present = ya- + ta- … (yatafaʿʿalu).</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تَعَلَّمَ</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يَتَعَلَّمُ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Form V: ta- + shadda on the middle letter.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with ya- + ta-.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about learning and progress with Form V.</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Form II / Form V link.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learn and I remember.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one sentence about my progress.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she learns (tataʿallamu)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taʿallum and taḥassun.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contrast ʿallama / taʿallama and ghayyara / taghayyara.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why the ta- is part of the stem.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الْوَزْنُ الْخَامِسُ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a:t>
            </a:r>
            <a:endParaRPr lang="en-US" sz="1350" dirty="0"/>
          </a:p>
          <a:p>
            <a:pPr indent="0" marL="0">
              <a:buNone/>
            </a:pPr>
            <a:r>
              <a:rPr lang="en-US" sz="1100" i="1" dirty="0">
                <a:solidFill>
                  <a:srgbClr val="5A6472"/>
                </a:solidFill>
                <a:latin typeface="Calibri" pitchFamily="34" charset="0"/>
                <a:cs typeface="Amiri" pitchFamily="2" charset="-78"/>
              </a:rPr>
              <a:t>al-waz-nu al-khā-mi-su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تَفَعَّلَ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التَّاءُ الزَّائِدَةُ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added ta- (part of the stem)</a:t>
            </a:r>
            <a:endParaRPr lang="en-US" sz="1350" dirty="0"/>
          </a:p>
          <a:p>
            <a:pPr indent="0" marL="0">
              <a:buNone/>
            </a:pPr>
            <a:r>
              <a:rPr lang="en-US" sz="1100" i="1" dirty="0">
                <a:solidFill>
                  <a:srgbClr val="5A6472"/>
                </a:solidFill>
                <a:latin typeface="Calibri" pitchFamily="34" charset="0"/>
                <a:cs typeface="Amiri" pitchFamily="2" charset="-78"/>
              </a:rPr>
              <a:t>at-tā-ʾu az-zā-ʾi-da-tu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تَعَلَّمَ</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الْمُطَاوَعَةُ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happens to the subject</a:t>
            </a:r>
            <a:endParaRPr lang="en-US" sz="1350" dirty="0"/>
          </a:p>
          <a:p>
            <a:pPr indent="0" marL="0">
              <a:buNone/>
            </a:pPr>
            <a:r>
              <a:rPr lang="en-US" sz="1100" i="1" dirty="0">
                <a:solidFill>
                  <a:srgbClr val="5A6472"/>
                </a:solidFill>
                <a:latin typeface="Calibri" pitchFamily="34" charset="0"/>
                <a:cs typeface="Amiri" pitchFamily="2" charset="-78"/>
              </a:rPr>
              <a:t>al-mu-ṭā-wa-ʿa-tu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تَحَسَّنَ</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التَّطَوُّرُ</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development</a:t>
            </a:r>
            <a:endParaRPr lang="en-US" sz="1350" dirty="0"/>
          </a:p>
          <a:p>
            <a:pPr indent="0" marL="0">
              <a:buNone/>
            </a:pPr>
            <a:r>
              <a:rPr lang="en-US" sz="1100" i="1" dirty="0">
                <a:solidFill>
                  <a:srgbClr val="5A6472"/>
                </a:solidFill>
                <a:latin typeface="Calibri" pitchFamily="34" charset="0"/>
                <a:cs typeface="Amiri" pitchFamily="2" charset="-78"/>
              </a:rPr>
              <a:t>at-ta-ṭaw-wu-ru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تَطَوَّرَ</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تَفَعُّلٌ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 verbal noun</a:t>
            </a:r>
            <a:endParaRPr lang="en-US" sz="1350" dirty="0"/>
          </a:p>
          <a:p>
            <a:pPr indent="0" marL="0">
              <a:buNone/>
            </a:pPr>
            <a:r>
              <a:rPr lang="en-US" sz="1100" i="1" dirty="0">
                <a:solidFill>
                  <a:srgbClr val="5A6472"/>
                </a:solidFill>
                <a:latin typeface="Calibri" pitchFamily="34" charset="0"/>
                <a:cs typeface="Amiri" pitchFamily="2" charset="-78"/>
              </a:rPr>
              <a:t>ta-faʿ-ʿu-lun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تَعَلُّمٌ</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مُتَفَعِّلٌ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 V doer</a:t>
            </a:r>
            <a:endParaRPr lang="en-US" sz="1350" dirty="0"/>
          </a:p>
          <a:p>
            <a:pPr indent="0" marL="0">
              <a:buNone/>
            </a:pPr>
            <a:r>
              <a:rPr lang="en-US" sz="1100" i="1" dirty="0">
                <a:solidFill>
                  <a:srgbClr val="5A6472"/>
                </a:solidFill>
                <a:latin typeface="Calibri" pitchFamily="34" charset="0"/>
                <a:cs typeface="Amiri" pitchFamily="2" charset="-78"/>
              </a:rPr>
              <a:t>mu-ta-faʿ-ʿi-lun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مُتَعَلِّمٌ</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THE FORM V PATTERN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ta- + a doubled middle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تَفَعَّلَ · يَتَفَعَّلُ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94867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Command</a:t>
            </a:r>
            <a:endParaRPr lang="en-US" sz="1100" dirty="0"/>
          </a:p>
        </p:txBody>
      </p:sp>
      <p:sp>
        <p:nvSpPr>
          <p:cNvPr id="17" name="Text 14"/>
          <p:cNvSpPr txBox="1"/>
          <p:nvPr/>
        </p:nvSpPr>
        <p:spPr>
          <a:xfrm>
            <a:off x="802843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Doer</a:t>
            </a:r>
            <a:endParaRPr lang="en-US" sz="1100" dirty="0"/>
          </a:p>
        </p:txBody>
      </p:sp>
      <p:sp>
        <p:nvSpPr>
          <p:cNvPr id="18" name="Text 15"/>
          <p:cNvSpPr txBox="1"/>
          <p:nvPr/>
        </p:nvSpPr>
        <p:spPr>
          <a:xfrm>
            <a:off x="61081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Verbal noun</a:t>
            </a:r>
            <a:endParaRPr lang="en-US" sz="1100" dirty="0"/>
          </a:p>
        </p:txBody>
      </p:sp>
      <p:sp>
        <p:nvSpPr>
          <p:cNvPr id="19" name="Text 16"/>
          <p:cNvSpPr txBox="1"/>
          <p:nvPr/>
        </p:nvSpPr>
        <p:spPr>
          <a:xfrm>
            <a:off x="41879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20" name="Text 17"/>
          <p:cNvSpPr txBox="1"/>
          <p:nvPr/>
        </p:nvSpPr>
        <p:spPr>
          <a:xfrm>
            <a:off x="226771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21" name="Text 18"/>
          <p:cNvSpPr txBox="1"/>
          <p:nvPr/>
        </p:nvSpPr>
        <p:spPr>
          <a:xfrm>
            <a:off x="530352" y="1810512"/>
            <a:ext cx="1591056" cy="384048"/>
          </a:xfrm>
          <a:prstGeom prst="rect">
            <a:avLst/>
          </a:prstGeom>
          <a:noFill/>
          <a:ln/>
        </p:spPr>
        <p:txBody>
          <a:bodyPr wrap="square" lIns="0" tIns="0" rIns="0" bIns="0" rtlCol="0" anchor="ctr"/>
          <a:lstStyle/>
          <a:p>
            <a:pPr algn="ctr" indent="0" marL="0">
              <a:buNone/>
            </a:pPr>
            <a:endParaRPr lang="en-US" sz="1100" dirty="0"/>
          </a:p>
        </p:txBody>
      </p:sp>
      <p:sp>
        <p:nvSpPr>
          <p:cNvPr id="22" name="Shape 19"/>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3" name="Text 20"/>
          <p:cNvSpPr txBox="1"/>
          <p:nvPr/>
        </p:nvSpPr>
        <p:spPr>
          <a:xfrm>
            <a:off x="9966960" y="2267712"/>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24" name="Text 21"/>
          <p:cNvSpPr txBox="1"/>
          <p:nvPr/>
        </p:nvSpPr>
        <p:spPr>
          <a:xfrm>
            <a:off x="804672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مُتَفَعِّلٌ</a:t>
            </a:r>
            <a:endParaRPr lang="ar-SA" sz="2400" dirty="0"/>
          </a:p>
        </p:txBody>
      </p:sp>
      <p:sp>
        <p:nvSpPr>
          <p:cNvPr id="25" name="Text 22"/>
          <p:cNvSpPr txBox="1"/>
          <p:nvPr/>
        </p:nvSpPr>
        <p:spPr>
          <a:xfrm>
            <a:off x="612648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26" name="Text 23"/>
          <p:cNvSpPr txBox="1"/>
          <p:nvPr/>
        </p:nvSpPr>
        <p:spPr>
          <a:xfrm>
            <a:off x="420624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يَتَفَعَّلُ</a:t>
            </a:r>
            <a:endParaRPr lang="ar-SA" sz="2400" dirty="0"/>
          </a:p>
        </p:txBody>
      </p:sp>
      <p:sp>
        <p:nvSpPr>
          <p:cNvPr id="27" name="Text 24"/>
          <p:cNvSpPr txBox="1"/>
          <p:nvPr/>
        </p:nvSpPr>
        <p:spPr>
          <a:xfrm>
            <a:off x="2286000" y="2267712"/>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تَفَعَّلَ</a:t>
            </a:r>
            <a:endParaRPr lang="ar-SA" sz="2400" dirty="0"/>
          </a:p>
        </p:txBody>
      </p:sp>
      <p:sp>
        <p:nvSpPr>
          <p:cNvPr id="28" name="Text 25"/>
          <p:cNvSpPr txBox="1"/>
          <p:nvPr/>
        </p:nvSpPr>
        <p:spPr>
          <a:xfrm>
            <a:off x="56692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template</a:t>
            </a:r>
            <a:endParaRPr lang="en-US" sz="110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966960" y="300471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1" name="Text 28"/>
          <p:cNvSpPr txBox="1"/>
          <p:nvPr/>
        </p:nvSpPr>
        <p:spPr>
          <a:xfrm>
            <a:off x="804672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مُتَعَلِّمٌ</a:t>
            </a:r>
            <a:endParaRPr lang="ar-SA" sz="2400" dirty="0"/>
          </a:p>
        </p:txBody>
      </p:sp>
      <p:sp>
        <p:nvSpPr>
          <p:cNvPr id="32" name="Text 29"/>
          <p:cNvSpPr txBox="1"/>
          <p:nvPr/>
        </p:nvSpPr>
        <p:spPr>
          <a:xfrm>
            <a:off x="612648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3" name="Text 30"/>
          <p:cNvSpPr txBox="1"/>
          <p:nvPr/>
        </p:nvSpPr>
        <p:spPr>
          <a:xfrm>
            <a:off x="420624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يَتَعَلَّمُ</a:t>
            </a:r>
            <a:endParaRPr lang="ar-SA" sz="2400" dirty="0"/>
          </a:p>
        </p:txBody>
      </p:sp>
      <p:sp>
        <p:nvSpPr>
          <p:cNvPr id="34" name="Text 31"/>
          <p:cNvSpPr txBox="1"/>
          <p:nvPr/>
        </p:nvSpPr>
        <p:spPr>
          <a:xfrm>
            <a:off x="2286000" y="300471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5" name="Text 32"/>
          <p:cNvSpPr txBox="1"/>
          <p:nvPr/>
        </p:nvSpPr>
        <p:spPr>
          <a:xfrm>
            <a:off x="56692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966960" y="3741725"/>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تَذَكَّرْ</a:t>
            </a:r>
            <a:endParaRPr lang="ar-SA" sz="2400" dirty="0"/>
          </a:p>
        </p:txBody>
      </p:sp>
      <p:sp>
        <p:nvSpPr>
          <p:cNvPr id="40" name="Text 37"/>
          <p:cNvSpPr txBox="1"/>
          <p:nvPr/>
        </p:nvSpPr>
        <p:spPr>
          <a:xfrm>
            <a:off x="804672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مُتَذَكِّرٌ</a:t>
            </a:r>
            <a:endParaRPr lang="ar-SA" sz="2400" dirty="0"/>
          </a:p>
        </p:txBody>
      </p:sp>
      <p:sp>
        <p:nvSpPr>
          <p:cNvPr id="41" name="Text 38"/>
          <p:cNvSpPr txBox="1"/>
          <p:nvPr/>
        </p:nvSpPr>
        <p:spPr>
          <a:xfrm>
            <a:off x="612648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تَذَكُّرٌ</a:t>
            </a:r>
            <a:endParaRPr lang="ar-SA" sz="2400" dirty="0"/>
          </a:p>
        </p:txBody>
      </p:sp>
      <p:sp>
        <p:nvSpPr>
          <p:cNvPr id="42" name="Text 39"/>
          <p:cNvSpPr txBox="1"/>
          <p:nvPr/>
        </p:nvSpPr>
        <p:spPr>
          <a:xfrm>
            <a:off x="420624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يَتَذَكَّرُ</a:t>
            </a:r>
            <a:endParaRPr lang="ar-SA" sz="2400" dirty="0"/>
          </a:p>
        </p:txBody>
      </p:sp>
      <p:sp>
        <p:nvSpPr>
          <p:cNvPr id="43" name="Text 40"/>
          <p:cNvSpPr txBox="1"/>
          <p:nvPr/>
        </p:nvSpPr>
        <p:spPr>
          <a:xfrm>
            <a:off x="2286000" y="3741725"/>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تَذَكَّرَ</a:t>
            </a:r>
            <a:endParaRPr lang="ar-SA" sz="2400" dirty="0"/>
          </a:p>
        </p:txBody>
      </p:sp>
      <p:sp>
        <p:nvSpPr>
          <p:cNvPr id="44" name="Text 41"/>
          <p:cNvSpPr txBox="1"/>
          <p:nvPr/>
        </p:nvSpPr>
        <p:spPr>
          <a:xfrm>
            <a:off x="56692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966960" y="4478731"/>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تَحَسَّنْ</a:t>
            </a:r>
            <a:endParaRPr lang="ar-SA" sz="2400" dirty="0"/>
          </a:p>
        </p:txBody>
      </p:sp>
      <p:sp>
        <p:nvSpPr>
          <p:cNvPr id="47" name="Text 44"/>
          <p:cNvSpPr txBox="1"/>
          <p:nvPr/>
        </p:nvSpPr>
        <p:spPr>
          <a:xfrm>
            <a:off x="804672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مُتَحَسِّنٌ</a:t>
            </a:r>
            <a:endParaRPr lang="ar-SA" sz="2400" dirty="0"/>
          </a:p>
        </p:txBody>
      </p:sp>
      <p:sp>
        <p:nvSpPr>
          <p:cNvPr id="48" name="Text 45"/>
          <p:cNvSpPr txBox="1"/>
          <p:nvPr/>
        </p:nvSpPr>
        <p:spPr>
          <a:xfrm>
            <a:off x="612648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تَحَسُّنٌ</a:t>
            </a:r>
            <a:endParaRPr lang="ar-SA" sz="2400" dirty="0"/>
          </a:p>
        </p:txBody>
      </p:sp>
      <p:sp>
        <p:nvSpPr>
          <p:cNvPr id="49" name="Text 46"/>
          <p:cNvSpPr txBox="1"/>
          <p:nvPr/>
        </p:nvSpPr>
        <p:spPr>
          <a:xfrm>
            <a:off x="420624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يَتَحَسَّنُ</a:t>
            </a:r>
            <a:endParaRPr lang="ar-SA" sz="2400" dirty="0"/>
          </a:p>
        </p:txBody>
      </p:sp>
      <p:sp>
        <p:nvSpPr>
          <p:cNvPr id="50" name="Text 47"/>
          <p:cNvSpPr txBox="1"/>
          <p:nvPr/>
        </p:nvSpPr>
        <p:spPr>
          <a:xfrm>
            <a:off x="2286000" y="4478731"/>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تَحَسَّنَ</a:t>
            </a:r>
            <a:endParaRPr lang="ar-SA" sz="2400" dirty="0"/>
          </a:p>
        </p:txBody>
      </p:sp>
      <p:sp>
        <p:nvSpPr>
          <p:cNvPr id="51" name="Text 48"/>
          <p:cNvSpPr txBox="1"/>
          <p:nvPr/>
        </p:nvSpPr>
        <p:spPr>
          <a:xfrm>
            <a:off x="56692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a:t>
            </a:r>
            <a:endParaRPr lang="en-US" sz="1100" dirty="0"/>
          </a:p>
        </p:txBody>
      </p:sp>
      <p:sp>
        <p:nvSpPr>
          <p:cNvPr id="52" name="Shape 4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3" name="Text 50"/>
          <p:cNvSpPr txBox="1"/>
          <p:nvPr/>
        </p:nvSpPr>
        <p:spPr>
          <a:xfrm>
            <a:off x="9966960" y="5215738"/>
            <a:ext cx="167335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54" name="Text 51"/>
          <p:cNvSpPr txBox="1"/>
          <p:nvPr/>
        </p:nvSpPr>
        <p:spPr>
          <a:xfrm>
            <a:off x="804672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مُتَكَلِّمٌ</a:t>
            </a:r>
            <a:endParaRPr lang="ar-SA" sz="2400" dirty="0"/>
          </a:p>
        </p:txBody>
      </p:sp>
      <p:sp>
        <p:nvSpPr>
          <p:cNvPr id="55" name="Text 52"/>
          <p:cNvSpPr txBox="1"/>
          <p:nvPr/>
        </p:nvSpPr>
        <p:spPr>
          <a:xfrm>
            <a:off x="612648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56" name="Text 53"/>
          <p:cNvSpPr txBox="1"/>
          <p:nvPr/>
        </p:nvSpPr>
        <p:spPr>
          <a:xfrm>
            <a:off x="420624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يَتَكَلَّمُ</a:t>
            </a:r>
            <a:endParaRPr lang="ar-SA" sz="2400" dirty="0"/>
          </a:p>
        </p:txBody>
      </p:sp>
      <p:sp>
        <p:nvSpPr>
          <p:cNvPr id="57" name="Text 54"/>
          <p:cNvSpPr txBox="1"/>
          <p:nvPr/>
        </p:nvSpPr>
        <p:spPr>
          <a:xfrm>
            <a:off x="2286000" y="5215738"/>
            <a:ext cx="1737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58" name="Text 55"/>
          <p:cNvSpPr txBox="1"/>
          <p:nvPr/>
        </p:nvSpPr>
        <p:spPr>
          <a:xfrm>
            <a:off x="56692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Form V combines an initial ta- with a doubled middle root letter. Its present is yatafaʿʿalu — it begins with ya-, not yu- as in Form II.</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LEARN THE FAMILY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Form V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أُسْرَةُ الْوَزْنِ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833872" y="1810512"/>
            <a:ext cx="5824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36393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 · present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852160" y="226771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أَتَعَلَّمُ الْعَرَبِيَّةَ لِأَنَّنِي أُحِبُّ اللُّغَاتِ.</a:t>
            </a:r>
            <a:endParaRPr lang="ar-SA" sz="2000" dirty="0"/>
          </a:p>
        </p:txBody>
      </p:sp>
      <p:sp>
        <p:nvSpPr>
          <p:cNvPr id="21" name="Text 18"/>
          <p:cNvSpPr txBox="1"/>
          <p:nvPr/>
        </p:nvSpPr>
        <p:spPr>
          <a:xfrm>
            <a:off x="36758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22" name="Text 19"/>
          <p:cNvSpPr txBox="1"/>
          <p:nvPr/>
        </p:nvSpPr>
        <p:spPr>
          <a:xfrm>
            <a:off x="548640" y="226771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تَعَلَّمَ · يَتَعَلَّمُ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852160" y="2881884"/>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تَحَسَّنَ مُسْتَوَايَ بَعْدَ الْمُمَارَسَةِ.</a:t>
            </a:r>
            <a:endParaRPr lang="ar-SA" sz="2000" dirty="0"/>
          </a:p>
        </p:txBody>
      </p:sp>
      <p:sp>
        <p:nvSpPr>
          <p:cNvPr id="27" name="Text 24"/>
          <p:cNvSpPr txBox="1"/>
          <p:nvPr/>
        </p:nvSpPr>
        <p:spPr>
          <a:xfrm>
            <a:off x="36758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a:t>
            </a:r>
            <a:endParaRPr lang="en-US" sz="1100" dirty="0"/>
          </a:p>
        </p:txBody>
      </p:sp>
      <p:sp>
        <p:nvSpPr>
          <p:cNvPr id="28" name="Text 25"/>
          <p:cNvSpPr txBox="1"/>
          <p:nvPr/>
        </p:nvSpPr>
        <p:spPr>
          <a:xfrm>
            <a:off x="548640" y="2881884"/>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تَحَسَّنَ · يَتَحَسَّنُ</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852160" y="3496056"/>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يَتَذَكَّرُ الطَّالِبُ الْكَلِمَاتِ الْجَدِيدَةَ.</a:t>
            </a:r>
            <a:endParaRPr lang="ar-SA" sz="2000" dirty="0"/>
          </a:p>
        </p:txBody>
      </p:sp>
      <p:sp>
        <p:nvSpPr>
          <p:cNvPr id="33" name="Text 30"/>
          <p:cNvSpPr txBox="1"/>
          <p:nvPr/>
        </p:nvSpPr>
        <p:spPr>
          <a:xfrm>
            <a:off x="36758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34" name="Text 31"/>
          <p:cNvSpPr txBox="1"/>
          <p:nvPr/>
        </p:nvSpPr>
        <p:spPr>
          <a:xfrm>
            <a:off x="548640" y="3496056"/>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تَذَكَّرَ · يَتَذَكَّرُ</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852160" y="4110228"/>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تَتَطَوَّرُ التِّقْنِيَّةُ بِسُرْعَةٍ.</a:t>
            </a:r>
            <a:endParaRPr lang="ar-SA" sz="2000" dirty="0"/>
          </a:p>
        </p:txBody>
      </p:sp>
      <p:sp>
        <p:nvSpPr>
          <p:cNvPr id="39" name="Text 36"/>
          <p:cNvSpPr txBox="1"/>
          <p:nvPr/>
        </p:nvSpPr>
        <p:spPr>
          <a:xfrm>
            <a:off x="36758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develop</a:t>
            </a:r>
            <a:endParaRPr lang="en-US" sz="1100" dirty="0"/>
          </a:p>
        </p:txBody>
      </p:sp>
      <p:sp>
        <p:nvSpPr>
          <p:cNvPr id="40" name="Text 37"/>
          <p:cNvSpPr txBox="1"/>
          <p:nvPr/>
        </p:nvSpPr>
        <p:spPr>
          <a:xfrm>
            <a:off x="548640" y="4110228"/>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تَطَوَّرَ · يَتَطَوَّرُ</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852160" y="4724400"/>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أَتَكَلَّمُ ثَلَاثَ لُغَاتٍ.</a:t>
            </a:r>
            <a:endParaRPr lang="ar-SA" sz="2000" dirty="0"/>
          </a:p>
        </p:txBody>
      </p:sp>
      <p:sp>
        <p:nvSpPr>
          <p:cNvPr id="43" name="Text 40"/>
          <p:cNvSpPr txBox="1"/>
          <p:nvPr/>
        </p:nvSpPr>
        <p:spPr>
          <a:xfrm>
            <a:off x="36758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44" name="Text 41"/>
          <p:cNvSpPr txBox="1"/>
          <p:nvPr/>
        </p:nvSpPr>
        <p:spPr>
          <a:xfrm>
            <a:off x="548640" y="4724400"/>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تَكَلَّمَ · يَتَكَلَّمُ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852160" y="5338572"/>
            <a:ext cx="578815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تَحَدَّثْنَا عَنِ الرِّحْلَةِ.</a:t>
            </a:r>
            <a:endParaRPr lang="ar-SA" sz="2000" dirty="0"/>
          </a:p>
        </p:txBody>
      </p:sp>
      <p:sp>
        <p:nvSpPr>
          <p:cNvPr id="47" name="Text 44"/>
          <p:cNvSpPr txBox="1"/>
          <p:nvPr/>
        </p:nvSpPr>
        <p:spPr>
          <a:xfrm>
            <a:off x="36758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talk</a:t>
            </a:r>
            <a:endParaRPr lang="en-US" sz="1100" dirty="0"/>
          </a:p>
        </p:txBody>
      </p:sp>
      <p:sp>
        <p:nvSpPr>
          <p:cNvPr id="48" name="Text 45"/>
          <p:cNvSpPr txBox="1"/>
          <p:nvPr/>
        </p:nvSpPr>
        <p:spPr>
          <a:xfrm>
            <a:off x="548640" y="5338572"/>
            <a:ext cx="2926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تَحَدَّثَ · يَتَحَدَّثُ</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ʿallama means to teach; taʿallama means to learn — a useful Form II–V relationship, but not every Form V is reflexive in the English sense.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CONJUGATE TAʿALLAMA · DEVELOP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She learns = two ta-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تَصْرِيفُ «تَعَلَّمَ»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Present</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7965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(back to a)</a:t>
            </a:r>
            <a:endParaRPr lang="en-US" sz="1100" dirty="0"/>
          </a:p>
        </p:txBody>
      </p:sp>
      <p:sp>
        <p:nvSpPr>
          <p:cNvPr id="22" name="Text 19"/>
          <p:cNvSpPr txBox="1"/>
          <p:nvPr/>
        </p:nvSpPr>
        <p:spPr>
          <a:xfrm>
            <a:off x="5669280" y="226771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أَتَعَلَّمُ</a:t>
            </a:r>
            <a:endParaRPr lang="ar-SA" sz="2400" dirty="0"/>
          </a:p>
        </p:txBody>
      </p:sp>
      <p:sp>
        <p:nvSpPr>
          <p:cNvPr id="23" name="Text 20"/>
          <p:cNvSpPr txBox="1"/>
          <p:nvPr/>
        </p:nvSpPr>
        <p:spPr>
          <a:xfrm>
            <a:off x="2743200" y="226771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تَعَلَّمْتُ</a:t>
            </a:r>
            <a:endParaRPr lang="ar-SA" sz="2400" dirty="0"/>
          </a:p>
        </p:txBody>
      </p:sp>
      <p:sp>
        <p:nvSpPr>
          <p:cNvPr id="24" name="Text 21"/>
          <p:cNvSpPr txBox="1"/>
          <p:nvPr/>
        </p:nvSpPr>
        <p:spPr>
          <a:xfrm>
            <a:off x="548640"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7965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ta-</a:t>
            </a:r>
            <a:endParaRPr lang="en-US" sz="1100" dirty="0"/>
          </a:p>
        </p:txBody>
      </p:sp>
      <p:sp>
        <p:nvSpPr>
          <p:cNvPr id="29" name="Text 26"/>
          <p:cNvSpPr txBox="1"/>
          <p:nvPr/>
        </p:nvSpPr>
        <p:spPr>
          <a:xfrm>
            <a:off x="5669280" y="2881884"/>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يَتَعَلَّمُ</a:t>
            </a:r>
            <a:endParaRPr lang="ar-SA" sz="2400" dirty="0"/>
          </a:p>
        </p:txBody>
      </p:sp>
      <p:sp>
        <p:nvSpPr>
          <p:cNvPr id="30" name="Text 27"/>
          <p:cNvSpPr txBox="1"/>
          <p:nvPr/>
        </p:nvSpPr>
        <p:spPr>
          <a:xfrm>
            <a:off x="2743200" y="2881884"/>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31" name="Text 28"/>
          <p:cNvSpPr txBox="1"/>
          <p:nvPr/>
        </p:nvSpPr>
        <p:spPr>
          <a:xfrm>
            <a:off x="548640"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7965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(she) + ta- (stem)</a:t>
            </a:r>
            <a:endParaRPr lang="en-US" sz="1100" dirty="0"/>
          </a:p>
        </p:txBody>
      </p:sp>
      <p:sp>
        <p:nvSpPr>
          <p:cNvPr id="36" name="Text 33"/>
          <p:cNvSpPr txBox="1"/>
          <p:nvPr/>
        </p:nvSpPr>
        <p:spPr>
          <a:xfrm>
            <a:off x="5669280" y="3496056"/>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تَتَعَلَّمُ</a:t>
            </a:r>
            <a:endParaRPr lang="ar-SA" sz="2400" dirty="0"/>
          </a:p>
        </p:txBody>
      </p:sp>
      <p:sp>
        <p:nvSpPr>
          <p:cNvPr id="37" name="Text 34"/>
          <p:cNvSpPr txBox="1"/>
          <p:nvPr/>
        </p:nvSpPr>
        <p:spPr>
          <a:xfrm>
            <a:off x="2743200" y="3496056"/>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تَعَلَّمَتْ</a:t>
            </a:r>
            <a:endParaRPr lang="ar-SA" sz="2400" dirty="0"/>
          </a:p>
        </p:txBody>
      </p:sp>
      <p:sp>
        <p:nvSpPr>
          <p:cNvPr id="38" name="Text 35"/>
          <p:cNvSpPr txBox="1"/>
          <p:nvPr/>
        </p:nvSpPr>
        <p:spPr>
          <a:xfrm>
            <a:off x="548640"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7965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ta- … -īna</a:t>
            </a:r>
            <a:endParaRPr lang="en-US" sz="1100" dirty="0"/>
          </a:p>
        </p:txBody>
      </p:sp>
      <p:sp>
        <p:nvSpPr>
          <p:cNvPr id="43" name="Text 40"/>
          <p:cNvSpPr txBox="1"/>
          <p:nvPr/>
        </p:nvSpPr>
        <p:spPr>
          <a:xfrm>
            <a:off x="5669280" y="4110228"/>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تَتَعَلَّمِينَ</a:t>
            </a:r>
            <a:endParaRPr lang="ar-SA" sz="2400" dirty="0"/>
          </a:p>
        </p:txBody>
      </p:sp>
      <p:sp>
        <p:nvSpPr>
          <p:cNvPr id="44" name="Text 41"/>
          <p:cNvSpPr txBox="1"/>
          <p:nvPr/>
        </p:nvSpPr>
        <p:spPr>
          <a:xfrm>
            <a:off x="2743200" y="4110228"/>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تَعَلَّمْتِ</a:t>
            </a:r>
            <a:endParaRPr lang="ar-SA" sz="2400" dirty="0"/>
          </a:p>
        </p:txBody>
      </p:sp>
      <p:sp>
        <p:nvSpPr>
          <p:cNvPr id="45" name="Text 42"/>
          <p:cNvSpPr txBox="1"/>
          <p:nvPr/>
        </p:nvSpPr>
        <p:spPr>
          <a:xfrm>
            <a:off x="548640"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7965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a:t>
            </a:r>
            <a:endParaRPr lang="en-US" sz="1100" dirty="0"/>
          </a:p>
        </p:txBody>
      </p:sp>
      <p:sp>
        <p:nvSpPr>
          <p:cNvPr id="48" name="Text 45"/>
          <p:cNvSpPr txBox="1"/>
          <p:nvPr/>
        </p:nvSpPr>
        <p:spPr>
          <a:xfrm>
            <a:off x="5669280" y="4724400"/>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نَتَعَلَّمُ</a:t>
            </a:r>
            <a:endParaRPr lang="ar-SA" sz="2400" dirty="0"/>
          </a:p>
        </p:txBody>
      </p:sp>
      <p:sp>
        <p:nvSpPr>
          <p:cNvPr id="49" name="Text 46"/>
          <p:cNvSpPr txBox="1"/>
          <p:nvPr/>
        </p:nvSpPr>
        <p:spPr>
          <a:xfrm>
            <a:off x="2743200" y="4724400"/>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تَعَلَّمْنَا</a:t>
            </a:r>
            <a:endParaRPr lang="ar-SA" sz="2400" dirty="0"/>
          </a:p>
        </p:txBody>
      </p:sp>
      <p:sp>
        <p:nvSpPr>
          <p:cNvPr id="50" name="Text 47"/>
          <p:cNvSpPr txBox="1"/>
          <p:nvPr/>
        </p:nvSpPr>
        <p:spPr>
          <a:xfrm>
            <a:off x="548640"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7965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 … -ūna</a:t>
            </a:r>
            <a:endParaRPr lang="en-US" sz="1100" dirty="0"/>
          </a:p>
        </p:txBody>
      </p:sp>
      <p:sp>
        <p:nvSpPr>
          <p:cNvPr id="53" name="Text 50"/>
          <p:cNvSpPr txBox="1"/>
          <p:nvPr/>
        </p:nvSpPr>
        <p:spPr>
          <a:xfrm>
            <a:off x="5669280" y="5338572"/>
            <a:ext cx="29260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يَتَعَلَّمُونَ</a:t>
            </a:r>
            <a:endParaRPr lang="ar-SA" sz="2400" dirty="0"/>
          </a:p>
        </p:txBody>
      </p:sp>
      <p:sp>
        <p:nvSpPr>
          <p:cNvPr id="54" name="Text 51"/>
          <p:cNvSpPr txBox="1"/>
          <p:nvPr/>
        </p:nvSpPr>
        <p:spPr>
          <a:xfrm>
            <a:off x="2743200" y="5338572"/>
            <a:ext cx="274320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تَعَلَّمُوا</a:t>
            </a:r>
            <a:endParaRPr lang="ar-SA" sz="2400" dirty="0"/>
          </a:p>
        </p:txBody>
      </p:sp>
      <p:sp>
        <p:nvSpPr>
          <p:cNvPr id="55" name="Text 52"/>
          <p:cNvSpPr txBox="1"/>
          <p:nvPr/>
        </p:nvSpPr>
        <p:spPr>
          <a:xfrm>
            <a:off x="548640"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“Look closely”: taʿallama → yataʿallamu → ataʿallamu. The initial ta- belongs to the stem; the a- or ya- before it identifies the person.</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taḥassana.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remembers”.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تَتَذَكَّرُ</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learned”.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أَتَعَلَّمُ</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عَلَّمْتُ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“to learn”?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taʿallama means to learn.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present of taḥassana.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يُحَسِّنُ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Form V keeps the stem ta- and the doubled middle letter.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remembers”.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تَتَذَكَّرُ</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تُذَكِّرُ</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(she) + ta- (stem).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learned”.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تَعَلَّمْتُ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أَتَعَلَّمُ</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عَلَّمْتُ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 -tu; ʿallamtu = I taught.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Watch me write a learning journal with Form V</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II</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عَلَّمَ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Form V</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ta-: learn.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Present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أَتَعَلَّمُ</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for 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tafaʿʿul.</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FORM V</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OTHER</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400" b="1" dirty="0">
                <a:solidFill>
                  <a:srgbClr val="0E7C86"/>
                </a:solidFill>
                <a:latin typeface="Amiri" pitchFamily="2" charset="-78"/>
                <a:ea typeface="Amiri" pitchFamily="2" charset="-78"/>
                <a:cs typeface="Amiri" pitchFamily="2" charset="-78"/>
              </a:rPr>
              <a:t>أَتَعَلَّمُ</a:t>
            </a:r>
            <a:pPr rtl="1" algn="r" indent="0" marL="0">
              <a:buNone/>
            </a:pPr>
            <a:r>
              <a:rPr lang="ar-SA" altLang="en-US" sz="2400" b="1" dirty="0">
                <a:solidFill>
                  <a:srgbClr val="1B3B6F"/>
                </a:solidFill>
                <a:latin typeface="Amiri" pitchFamily="2" charset="-78"/>
                <a:ea typeface="Amiri" pitchFamily="2" charset="-78"/>
                <a:cs typeface="Amiri" pitchFamily="2" charset="-78"/>
              </a:rPr>
              <a:t> الْعَرَبِيَّةَ كُلَّ يَوْمٍ. </a:t>
            </a:r>
            <a:pPr rtl="1" algn="r" indent="0" marL="0">
              <a:buNone/>
            </a:pPr>
            <a:r>
              <a:rPr lang="ar-SA" altLang="en-US" sz="2400" b="1" dirty="0">
                <a:solidFill>
                  <a:srgbClr val="0E7C86"/>
                </a:solidFill>
                <a:latin typeface="Amiri" pitchFamily="2" charset="-78"/>
                <a:ea typeface="Amiri" pitchFamily="2" charset="-78"/>
                <a:cs typeface="Amiri" pitchFamily="2" charset="-78"/>
              </a:rPr>
              <a:t>تَحَسَّنَ</a:t>
            </a:r>
            <a:pPr rtl="1" algn="r" indent="0" marL="0">
              <a:buNone/>
            </a:pPr>
            <a:r>
              <a:rPr lang="ar-SA" altLang="en-US" sz="2400" b="1" dirty="0">
                <a:solidFill>
                  <a:srgbClr val="1B3B6F"/>
                </a:solidFill>
                <a:latin typeface="Amiri" pitchFamily="2" charset="-78"/>
                <a:ea typeface="Amiri" pitchFamily="2" charset="-78"/>
                <a:cs typeface="Amiri" pitchFamily="2" charset="-78"/>
              </a:rPr>
              <a:t> مُسْتَوَايَ بِسَبَبِ الْمُمَارَسَةِ، وَ</a:t>
            </a:r>
            <a:pPr rtl="1" algn="r" indent="0" marL="0">
              <a:buNone/>
            </a:pPr>
            <a:r>
              <a:rPr lang="ar-SA" altLang="en-US" sz="2400" b="1" dirty="0">
                <a:solidFill>
                  <a:srgbClr val="0E7C86"/>
                </a:solidFill>
                <a:latin typeface="Amiri" pitchFamily="2" charset="-78"/>
                <a:ea typeface="Amiri" pitchFamily="2" charset="-78"/>
                <a:cs typeface="Amiri" pitchFamily="2" charset="-78"/>
              </a:rPr>
              <a:t>أَتَذَكَّرُ</a:t>
            </a:r>
            <a:pPr rtl="1" algn="r" indent="0" marL="0">
              <a:buNone/>
            </a:pPr>
            <a:r>
              <a:rPr lang="ar-SA" altLang="en-US" sz="2400" b="1" dirty="0">
                <a:solidFill>
                  <a:srgbClr val="1B3B6F"/>
                </a:solidFill>
                <a:latin typeface="Amiri" pitchFamily="2" charset="-78"/>
                <a:ea typeface="Amiri" pitchFamily="2" charset="-78"/>
                <a:cs typeface="Amiri" pitchFamily="2" charset="-78"/>
              </a:rPr>
              <a:t> كَلِمَاتٍ جَدِيدَةً. </a:t>
            </a:r>
            <a:pPr rtl="1" algn="r" indent="0" marL="0">
              <a:buNone/>
            </a:pPr>
            <a:r>
              <a:rPr lang="ar-SA" altLang="en-US" sz="2400" b="1" dirty="0">
                <a:solidFill>
                  <a:srgbClr val="D6336C"/>
                </a:solidFill>
                <a:latin typeface="Amiri" pitchFamily="2" charset="-78"/>
                <a:ea typeface="Amiri" pitchFamily="2" charset="-78"/>
                <a:cs typeface="Amiri" pitchFamily="2" charset="-78"/>
              </a:rPr>
              <a:t>أُرِيدُ</a:t>
            </a:r>
            <a:pPr rtl="1" algn="r" indent="0" marL="0">
              <a:buNone/>
            </a:pPr>
            <a:r>
              <a:rPr lang="ar-SA" altLang="en-US" sz="2400" b="1" dirty="0">
                <a:solidFill>
                  <a:srgbClr val="1B3B6F"/>
                </a:solidFill>
                <a:latin typeface="Amiri" pitchFamily="2" charset="-78"/>
                <a:ea typeface="Amiri" pitchFamily="2" charset="-78"/>
                <a:cs typeface="Amiri" pitchFamily="2" charset="-78"/>
              </a:rPr>
              <a:t> أَنْ </a:t>
            </a:r>
            <a:pPr rtl="1" algn="r" indent="0" marL="0">
              <a:buNone/>
            </a:pPr>
            <a:r>
              <a:rPr lang="ar-SA" altLang="en-US" sz="2400" b="1" dirty="0">
                <a:solidFill>
                  <a:srgbClr val="0E7C86"/>
                </a:solidFill>
                <a:latin typeface="Amiri" pitchFamily="2" charset="-78"/>
                <a:ea typeface="Amiri" pitchFamily="2" charset="-78"/>
                <a:cs typeface="Amiri" pitchFamily="2" charset="-78"/>
              </a:rPr>
              <a:t>أَتَطَوَّرَ</a:t>
            </a:r>
            <a:pPr rtl="1" algn="r" indent="0" marL="0">
              <a:buNone/>
            </a:pPr>
            <a:r>
              <a:rPr lang="ar-SA" altLang="en-US" sz="2400" b="1" dirty="0">
                <a:solidFill>
                  <a:srgbClr val="1B3B6F"/>
                </a:solidFill>
                <a:latin typeface="Amiri" pitchFamily="2" charset="-78"/>
                <a:ea typeface="Amiri" pitchFamily="2" charset="-78"/>
                <a:cs typeface="Amiri" pitchFamily="2" charset="-78"/>
              </a:rPr>
              <a:t> أَكْثَرَ.</a:t>
            </a:r>
            <a:endParaRPr lang="ar-SA" sz="2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learn Arabic every day. My level improved because of practice, and I remember new words. I want to develop further.</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أَتَعَلَّمُ الْعَرَبِيَّةَ لِأَنَّنِي أُحِبُّ اللُّغَاتِ.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learning Arabic because I love languages.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تَحَسَّنَ مُسْتَوَايَ بَعْدَ الْمُمَارَسَةِ.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level improved after practice.</a:t>
            </a:r>
            <a:endParaRPr lang="en-US" sz="1250" dirty="0"/>
          </a:p>
          <a:p>
            <a:pPr indent="0" marL="0">
              <a:buNone/>
            </a:pPr>
            <a:r>
              <a:rPr lang="en-US" sz="1050" i="1" dirty="0">
                <a:solidFill>
                  <a:srgbClr val="8A6D1E"/>
                </a:solidFill>
                <a:latin typeface="Calibri" pitchFamily="34" charset="0"/>
                <a:cs typeface="Amiri" pitchFamily="2" charset="-78"/>
              </a:rPr>
              <a:t>Process.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أُخْتِي تَتَكَلَّمُ الْفَرَنْسِيَّةَ.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speaks French.</a:t>
            </a:r>
            <a:endParaRPr lang="en-US" sz="1250" dirty="0"/>
          </a:p>
          <a:p>
            <a:pPr indent="0" marL="0">
              <a:buNone/>
            </a:pPr>
            <a:r>
              <a:rPr lang="en-US" sz="1050" i="1" dirty="0">
                <a:solidFill>
                  <a:srgbClr val="8A6D1E"/>
                </a:solidFill>
                <a:latin typeface="Calibri" pitchFamily="34" charset="0"/>
                <a:cs typeface="Amiri" pitchFamily="2" charset="-78"/>
              </a:rPr>
              <a:t>Two ta-.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تَغَيَّرَ الْجَوُّ فَجْأَةً.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changed suddenly.</a:t>
            </a:r>
            <a:endParaRPr lang="en-US" sz="1250" dirty="0"/>
          </a:p>
          <a:p>
            <a:pPr indent="0" marL="0">
              <a:buNone/>
            </a:pPr>
            <a:r>
              <a:rPr lang="en-US" sz="1050" i="1" dirty="0">
                <a:solidFill>
                  <a:srgbClr val="8A6D1E"/>
                </a:solidFill>
                <a:latin typeface="Calibri" pitchFamily="34" charset="0"/>
                <a:cs typeface="Amiri" pitchFamily="2" charset="-78"/>
              </a:rPr>
              <a:t>It changed (itself).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SAME ROOT, DIFFERENT FORM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Do it to others → it happens to you</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الثَّانِي إِلَى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546811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 V</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Base 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learn</a:t>
            </a:r>
            <a:endParaRPr lang="en-US" sz="1100" dirty="0"/>
          </a:p>
        </p:txBody>
      </p:sp>
      <p:sp>
        <p:nvSpPr>
          <p:cNvPr id="22" name="Text 19"/>
          <p:cNvSpPr txBox="1"/>
          <p:nvPr/>
        </p:nvSpPr>
        <p:spPr>
          <a:xfrm>
            <a:off x="548640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تَعَلَّمَ</a:t>
            </a:r>
            <a:endParaRPr lang="ar-SA" sz="2400" dirty="0"/>
          </a:p>
        </p:txBody>
      </p:sp>
      <p:sp>
        <p:nvSpPr>
          <p:cNvPr id="23" name="Text 20"/>
          <p:cNvSpPr txBox="1"/>
          <p:nvPr/>
        </p:nvSpPr>
        <p:spPr>
          <a:xfrm>
            <a:off x="31272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teach (II)</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عَلَّمَ</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remember</a:t>
            </a:r>
            <a:endParaRPr lang="en-US" sz="1100" dirty="0"/>
          </a:p>
        </p:txBody>
      </p:sp>
      <p:sp>
        <p:nvSpPr>
          <p:cNvPr id="29" name="Text 26"/>
          <p:cNvSpPr txBox="1"/>
          <p:nvPr/>
        </p:nvSpPr>
        <p:spPr>
          <a:xfrm>
            <a:off x="548640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تَذَكَّرَ</a:t>
            </a:r>
            <a:endParaRPr lang="ar-SA" sz="2400" dirty="0"/>
          </a:p>
        </p:txBody>
      </p:sp>
      <p:sp>
        <p:nvSpPr>
          <p:cNvPr id="30" name="Text 27"/>
          <p:cNvSpPr txBox="1"/>
          <p:nvPr/>
        </p:nvSpPr>
        <p:spPr>
          <a:xfrm>
            <a:off x="312724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remind (II)</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ذَكَّرَ</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 get better</a:t>
            </a:r>
            <a:endParaRPr lang="en-US" sz="1100" dirty="0"/>
          </a:p>
        </p:txBody>
      </p:sp>
      <p:sp>
        <p:nvSpPr>
          <p:cNvPr id="36" name="Text 33"/>
          <p:cNvSpPr txBox="1"/>
          <p:nvPr/>
        </p:nvSpPr>
        <p:spPr>
          <a:xfrm>
            <a:off x="548640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تَحَسَّنَ</a:t>
            </a:r>
            <a:endParaRPr lang="ar-SA" sz="2400" dirty="0"/>
          </a:p>
        </p:txBody>
      </p:sp>
      <p:sp>
        <p:nvSpPr>
          <p:cNvPr id="37" name="Text 34"/>
          <p:cNvSpPr txBox="1"/>
          <p:nvPr/>
        </p:nvSpPr>
        <p:spPr>
          <a:xfrm>
            <a:off x="312724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something (II)</a:t>
            </a:r>
            <a:endParaRPr lang="en-US" sz="1100" dirty="0"/>
          </a:p>
        </p:txBody>
      </p:sp>
      <p:sp>
        <p:nvSpPr>
          <p:cNvPr id="38" name="Text 35"/>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حَسَّنَ</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 / become different</a:t>
            </a:r>
            <a:endParaRPr lang="en-US" sz="1100" dirty="0"/>
          </a:p>
        </p:txBody>
      </p:sp>
      <p:sp>
        <p:nvSpPr>
          <p:cNvPr id="43" name="Text 40"/>
          <p:cNvSpPr txBox="1"/>
          <p:nvPr/>
        </p:nvSpPr>
        <p:spPr>
          <a:xfrm>
            <a:off x="548640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تَغَيَّرَ</a:t>
            </a:r>
            <a:endParaRPr lang="ar-SA" sz="2400" dirty="0"/>
          </a:p>
        </p:txBody>
      </p:sp>
      <p:sp>
        <p:nvSpPr>
          <p:cNvPr id="44" name="Text 41"/>
          <p:cNvSpPr txBox="1"/>
          <p:nvPr/>
        </p:nvSpPr>
        <p:spPr>
          <a:xfrm>
            <a:off x="312724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change something (II)</a:t>
            </a:r>
            <a:endParaRPr lang="en-US" sz="1100" dirty="0"/>
          </a:p>
        </p:txBody>
      </p:sp>
      <p:sp>
        <p:nvSpPr>
          <p:cNvPr id="45" name="Text 42"/>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غَيَّرَ</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a:t>
            </a:r>
            <a:endParaRPr lang="en-US" sz="1100" dirty="0"/>
          </a:p>
        </p:txBody>
      </p:sp>
      <p:sp>
        <p:nvSpPr>
          <p:cNvPr id="48" name="Text 45"/>
          <p:cNvSpPr txBox="1"/>
          <p:nvPr/>
        </p:nvSpPr>
        <p:spPr>
          <a:xfrm>
            <a:off x="548640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تَكَلَّمَ</a:t>
            </a:r>
            <a:endParaRPr lang="ar-SA" sz="2400" dirty="0"/>
          </a:p>
        </p:txBody>
      </p:sp>
      <p:sp>
        <p:nvSpPr>
          <p:cNvPr id="49" name="Text 46"/>
          <p:cNvSpPr txBox="1"/>
          <p:nvPr/>
        </p:nvSpPr>
        <p:spPr>
          <a:xfrm>
            <a:off x="312724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speak to someone (II)</a:t>
            </a:r>
            <a:endParaRPr lang="en-US" sz="1100" dirty="0"/>
          </a:p>
        </p:txBody>
      </p:sp>
      <p:sp>
        <p:nvSpPr>
          <p:cNvPr id="50" name="Text 47"/>
          <p:cNvSpPr txBox="1"/>
          <p:nvPr/>
        </p:nvSpPr>
        <p:spPr>
          <a:xfrm>
            <a:off x="5486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كَلَّمَ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II acts on someone or something else; Form V often shows the result happening to the subject (website “useful II–V relationship”).</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CLINIC · STEM TA- OR PREFIX TA-?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Part of the stem, or “she /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تَاءُ الْوَزْنِ أَمْ تَاءُ الْمُضَارَعَةِ؟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تَحَسَّنَ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تَدْرُسُ</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تَجْلِسُ</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past (ta- in the stem)</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(ta- = she / you)</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Form V past (ta- in the stem)</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تَذَكَّرَ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تَحَسَّنَ</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تَكَلَّمَ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Form I present (ta- = she / you)</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تَكْتُبُ</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تَدْرُسُ</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تَفْهَمُ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تَجْلِسُ</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تَعَلَّمُ الْعَرَبِيَّةَ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many ta-?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يُتَعَلَّمُ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 or yu-?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طَالِبٌ، أُعَلِّمُ الْعَرَبِيَّةَ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Teach or learn?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تَعَلَّمُ الْعَرَبِيَّةَ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تَتَعَلَّمُ الْعَرَبِيَّةَ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prefix + ta- stem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يُتَعَلَّمُ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يَتَعَلَّمُ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Form V present starts with ya-, not yu- (website).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طَالِبٌ، أُعَلِّمُ الْعَرَبِيَّةَ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طَالِبٌ، أَتَعَلَّمُ 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student learns (V); a teacher teaches (II).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GUIDED PRACTICE · WEBSITE SELF-CHECK ITEM AND TEACHER-WRITTEN QUESTIONS</a:t>
            </a:r>
            <a:endParaRPr lang="en-US" sz="87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description is most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Form V is an English reflexive verb.</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initial </a:t>
            </a:r>
            <a:pPr algn="l" indent="0" marL="0">
              <a:buNone/>
            </a:pPr>
            <a:r>
              <a:rPr lang="ar-SA" altLang="en-US" sz="1650" dirty="0">
                <a:solidFill>
                  <a:srgbClr val="1F2A37"/>
                </a:solidFill>
                <a:latin typeface="Amiri" pitchFamily="2" charset="-78"/>
                <a:ea typeface="Amiri" pitchFamily="2" charset="-78"/>
                <a:cs typeface="Amiri" pitchFamily="2" charset="-78"/>
              </a:rPr>
              <a:t>ت</a:t>
            </a:r>
            <a:pPr algn="l" indent="0" marL="0">
              <a:buNone/>
            </a:pPr>
            <a:r>
              <a:rPr lang="en-US" sz="1250" dirty="0">
                <a:solidFill>
                  <a:srgbClr val="1F2A37"/>
                </a:solidFill>
                <a:latin typeface="Calibri" pitchFamily="34" charset="0"/>
                <a:cs typeface="Amiri" pitchFamily="2" charset="-78"/>
              </a:rPr>
              <a:t> always identifies a feminine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 V often expresses a process or reflexive/developmental meaning.</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تَحْسِينٌ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حُسْنٌ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speak”.</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نُكَلِّمُ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نَتَكَلَّمُ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تَكَلَّمْنَا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changed”.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غَيَّرَ الْجَوُّ</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يُغَيِّرُ الْجَوُّ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تَغَيَّرَ الْجَوُّ</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description is most accurate?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Form V is an English reflexive verb.</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initial </a:t>
            </a:r>
            <a:pPr algn="l" indent="0" marL="0">
              <a:buNone/>
            </a:pPr>
            <a:r>
              <a:rPr lang="ar-SA" altLang="en-US" sz="1650" dirty="0">
                <a:solidFill>
                  <a:srgbClr val="9AA1AB"/>
                </a:solidFill>
                <a:latin typeface="Amiri" pitchFamily="2" charset="-78"/>
                <a:ea typeface="Amiri" pitchFamily="2" charset="-78"/>
                <a:cs typeface="Amiri" pitchFamily="2" charset="-78"/>
              </a:rPr>
              <a:t>ت</a:t>
            </a:r>
            <a:pPr algn="l" indent="0" marL="0">
              <a:buNone/>
            </a:pPr>
            <a:r>
              <a:rPr lang="en-US" sz="1250" dirty="0">
                <a:solidFill>
                  <a:srgbClr val="9AA1AB"/>
                </a:solidFill>
                <a:latin typeface="Calibri" pitchFamily="34" charset="0"/>
                <a:cs typeface="Amiri" pitchFamily="2" charset="-78"/>
              </a:rPr>
              <a:t> always identifies a feminine subject.</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Form V often expresses a process or reflexive/developmental meaning.</a:t>
            </a:r>
            <a:endParaRPr lang="en-US" sz="11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pattern can suggest meaning; usage decides.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verbal noun of </a:t>
            </a:r>
            <a:pPr algn="l" indent="0" marL="0">
              <a:buNone/>
            </a:pPr>
            <a:r>
              <a:rPr lang="ar-SA" altLang="en-US" sz="1650" b="1" dirty="0">
                <a:solidFill>
                  <a:srgbClr val="1B3B6F"/>
                </a:solidFill>
                <a:latin typeface="Amiri" pitchFamily="2" charset="-78"/>
                <a:ea typeface="Amiri" pitchFamily="2" charset="-78"/>
                <a:cs typeface="Amiri" pitchFamily="2" charset="-78"/>
              </a:rPr>
              <a:t>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تَحْسِينٌ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تَحَسُّنٌ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حُسْنٌ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tafaʿʿul (taḥsīn is Form II).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speak”.</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نُكَلِّمُ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نَتَكَلَّمُ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تَكَلَّمْنَا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ta-.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weather changed”.</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غَيَّرَ الْجَوُّ</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يُغَيِّرُ الْجَوُّ</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تَغَيَّرَ الْجَوُّ</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changed itself: Form V.</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READING FOR FORM V (TEACHER-WRITTEN JOURNAL)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learning journal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الْأُسْبُوعُ الْأَوَّلُ: تَعَلَّمْتُ عِشْرِينَ كَلِمَةً جَدِيدَةً، وَلَكِنِّي لَمْ أَتَذَكَّرْ كُلَّهَا. الْأُسْبُوعُ الثَّانِي: تَكَلَّمْتُ مَعَ جَدَّتِي بِالْعَرَبِيَّةِ، وَتَحَسَّنَ نُطْقِي. الْأُسْبُوعُ الثَّالِثُ: تَتَعَلَّمُ أُخْتِي مَعِي الْآنَ، وَنَتَحَدَّثُ كُلَّ مَسَاءٍ. أَشْعُرُ أَنَّ لُغَتِي تَتَطَوَّرُ بِسُرْعَةٍ!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كُلَّهَا</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all of them</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جَدَّتِي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grandmother</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نُطْقِي</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pronunciation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أَشْعُرُ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feel</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week two?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learned 20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spoke with grandmother and pronunciation improved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sister started learning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learns with the writer now?</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teacher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atadhakkar, not atadhakkaru?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jussive after lam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future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Form II</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TWO ta- at the start?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نَتَحَدَّثُ</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in week two?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learned 20 words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spoke with grandmother and pronunciation improved</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sister started learning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Takallamtu … wa-taḥassana nuṭqī.</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learns with the writer now?</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teacher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sister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Tataʿallamu ukhtī maʿī.</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lam atadhakkar, not atadhakkaru?</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jussive after lam</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future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Form II</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GM-V-08.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has TWO ta- at the start?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تَتَعَلَّمُ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نَتَحَدَّثُ</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(she) + ta- (stem).</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how I am improving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تَتَعَلَّمُ هَذِهِ السَّنَةَ؟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تَحَسَّنَتْ لُغَتُكَ؟ وَمَا الْكَلِمَاتُ الَّتِي تَتَذَكَّرُهَا؟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تَتَطَوَّرُ التِّقْنِيَّةُ؟ وَكَيْفَ تُسَاعِدُكَ فِي التَّعَلُّمِ؟</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أَتَعَلَّمُ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تَحَسَّنَتْ لُغَتِي لِأَنَّ ___ ، وَأَتَذَكَّرُ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تَتَطَوَّرُ التِّقْنِيَّةُ ___ ، 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تَتَعَلَّمِينَ هَذِهِ السَّنَةَ؟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are you learning this year?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أَتَعَلَّمُ الْعَرَبِيَّةَ وَالْبَرْمَجَةَ. تَحَسَّنَتْ قِرَاءَتِي كَثِيرًا، وَأَتَذَكَّرُ الْآنَ كَلِمَاتٍ أَكْثَرَ.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am learning Arabic and programming. My reading has improved a lot, and I now remember more words.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ataʿallamu · taḥassana · atadhakkaru.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she / they forms and a verbal noun.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tataʿallamu · yataḥaddathūna.</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weekly journal with four Form V verbs and a Form II / V pair.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ʿallamanī … fa-taʿallamtu.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تَتَعَلَّمُ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learns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تَحَدَّثْنَا عَنْ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talked about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 ______ مُفِيدٌ.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Learning … is useful</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عَلَّمَنِي ______ فَتَعَلَّمْتُ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taught me, so I learned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أَتَعَلَّمُ ______ كُلَّ يَوْمٍ.</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learn … every day</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تَحَسَّنَ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 improved</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أَتَذَكَّرُ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remember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تَعَلَّمَ · يَتَعَلَّمُ  ·  تَذَكَّرَ · يَتَذَكَّرُ  ·  تَحَسَّنَ · يَتَحَسَّنُ  ·  تَطَوَّرَ · يَتَطَوَّرُ  ·  تَكَلَّمَ · يَتَكَلَّمُ  ·  تَحَدَّثَ · يَتَحَدَّثُ  ·  تَغَيَّرَ · يَتَغَيَّرُ  ·  تَعَلُّمٌ  ·  مُتَعَلِّمٌ</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weekly learning journal with four Form V verbs and one Form II / Form V pair.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Form V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She / you forms with two ta-.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with ya- (not yu-).</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verbal noun (taʿallum, taḥassun).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Form II / V pair.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الْأَوَّلِ</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first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بِسَبَبِ الْمُمَارَسَةِ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of practice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مُسْتَوَايَ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level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نُطْقِي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pronunciation</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فَأَكْثَرَ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and more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بِسُرْعَةٍ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quickly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بَدَأْتُ أَتَعَلَّمُ الْخَطَّ الْعَرَبِيَّ قَبْلَ شَهْرَيْنِ. فِي الْبِدَايَةِ كَانَ صَعْبًا، وَلَمْ أَتَذَكَّرْ أَشْكَالَ الْحُرُوفِ. عَلَّمَنِي أُسْتَاذِي بِصَبْرٍ، فَتَعَلَّمْتُ الْقَوَاعِدَ خُطْوَةً خُطْوَةً. الْآنَ تَحَسَّنَ خَطِّي كَثِيرًا، وَأَتَكَلَّمُ عَنْ هِوَايَتِي بِثِقَةٍ. أُخْتِي أَيْضًا تَتَعَلَّمُ مَعِي، وَنَتَحَدَّثُ عَنْ تَقَدُّمِنَا كُلَّ أُسْبُوعٍ. أَتَمَنَّى أَنْ أَتَطَوَّرَ أَكْثَرَ فَأَكْثَرَ.</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started learning Arabic calligraphy two months ago. At first it was difficult, and I did not remember the letter shapes. My teacher taught me patiently, so I learned the rules step by step. Now my handwriting has improved a lot, and I talk about my hobby with confidence. My sister is also learning with me, and we talk about our progress every week. I hope to develop more and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 present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V past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Form II / V pair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ta-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Form V verbs start with ta- and have a shadda.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present forms start with ya- / a- / na- (not yu-).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she / you forms with two ta-.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verbal noun like taʿallum.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Form II / Form V pair.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learns”.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تَذَكَّرَ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ذَكَرَ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improve”.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يَتَحَسَّنُونَ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يُحَسِّنُونَ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تَحَسَّنُوا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learns”.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ta-; tuʿallimu = she teaches.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Form V?</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ذَكَّرَ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تَذَكَّرَ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ذَكَرَ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shadda.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improve”.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يَتَحَسَّنُونَ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يُحَسِّنُونَ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تَحَسَّنُوا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 + ta- … -ūna.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GM-VF-05 · Arabic Verb Forms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Before GM-VF-06: get ready at home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Arabic Verb Forms · GM-VF-05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GM-VF-06 · Form VI: Cooperation and Mutual Action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تَعَاوَنَ · يَتَعَاوَنُ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cooperate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تَنَاقَشَ · يَتَنَاقَشُ</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discuss together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تَبَادَلَ · يَتَبَادَلُ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exchange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تَقَابَلَ · يَتَقَابَلُ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meet each other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بَعْضُنَا بَعْضًا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each other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Shāraka (III) = to participate. What might tashāraka mean?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شَارَكَ · تَشَارَكَ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sentences with taʿallama, tadhakkara and taḥassana.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takallama in past and present for six persons.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weekly learning journal with four Form V verbs.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GM-VF-05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GM-VF-06 · Form VI: Cooperation and Mutual Action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السَّادِسُ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Form V = ta- + shadda (tafaʿʿala) · present ya- + ta- (yataʿallamu) · she = tataʿallamu · noun tafaʿʿul · Form II does it to others, Form V often happens to you.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GM-VF-05 · Form V: Learning and Developing</dc:title>
  <dc:subject>PptxGenJS Presentation</dc:subject>
  <dc:creator>Al Madina Online School · Arabic Department</dc:creator>
  <cp:lastModifiedBy>Al Madina Online School · Arabic Department</cp:lastModifiedBy>
  <cp:revision>1</cp:revision>
  <dcterms:created xsi:type="dcterms:W3CDTF">2026-10-11T06:42:43Z</dcterms:created>
  <dcterms:modified xsi:type="dcterms:W3CDTF">2026-10-11T06:42:43Z</dcterms:modified>
</cp:coreProperties>
</file>