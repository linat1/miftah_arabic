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Arabic Verb Forms › GM-VF-05 (“Form V: Learning and Developing”).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تَعَلَّمَ · يَتَعَلَّمُ and the family تَذَكَّرَ · تَحَسَّنَ · تَطَوَّرَ for a learning journal. Develop: conjugation with TWO ta- for she / you (تَتَعَلَّمُ) and the verbal noun تَفَعُّلٌ (تَعَلُّمٌ · تَحَسُّنٌ). Stretch: Form II → V pairs (عَلَّمَ / تَعَلَّمَ · ذَكَّرَ / تَذَكَّرَ · غَيَّرَ / تَغَيَّرَ) — doing something to others vs it happening to you.
• Website clinic: the ta- at the start of taʿallama belongs to the stem — it is NOT the she / you prefix. So “she learns” = tataʿallamu.
• Present prefix vowel goes back to a (ya-, ta-, a-, na-) — unlike Forms II–IV.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Teacher-written retrieval from GM-VF-04 and its prep words (taʿallama, tadhakkara, taḥassana, taṭawwara).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Form V = ta- + doubled middle letter (tafaʿʿala). Present = ya- + ta- … (yatafaʿʿalu).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“Root and pattern”. The command keeps the ta-: taʿallam! (no helping vowel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(4 min) — website “Learn the family” (first three examples are the website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Drill hiya tataʿallamu — the most common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Self-check items, plus two teacher items.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“Apply the form” model answer. Ataṭawwara: subjunctive after an (GM-V-10).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Students make a pair of sentences: The teacher taught me. → I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Clue: Form V past has a shadda and ends in -a; the Form I present ends in -u.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Clue: Form V past has a shadda and ends in -a; the Form I present ends in -u.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Self-check item and teacher-written questions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reading for Form V (teacher-written journal). Read it aloud once while students follow; then they hunt for today’s grammar.
Task: Website: write a learning journal entry. First, underline every Form V verb here.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journal for the website “Apply the form” task;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“Apply the form”. Sequence: ● 10s think → ↔ 45s rehearse aloud with mic muted → ◎ two named students on open mic (warned in advance) → + ? the class types one follow-up in chat → ↺ one student summarises.
Routes: Core uses the Core prompt and stem; Develop the Develop prompt; Stretch the last prompt.
Website: what you are learning, how you have improved and which words you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a short learning journal entry explaining what you are learning, how you have improved and which words you remember.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(GM-VF-06 · Form VI: Cooperation and Mutual Action) will spend class time USING this language, so students prepare it tonight — short, simple, easy to access (school guidance: “Simple, Short, Interesting, Relevant, Easy to access”). The five words prepare GM-VF-06 (website Verb Forms: Form VI).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ARABIC VERB FORMS  ·  GM-VF-05</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GM-VF-05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cs typeface="Amiri" pitchFamily="2" charset="-78"/>
              </a:rPr>
              <a:t>Form V: Learning and Developing</a:t>
            </a:r>
            <a:endParaRPr lang="en-US" sz="34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الْوَزْنُ الْخَامِسُ</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Form V = ta- + Form II: ʿallama (teach) → taʿallama (learn). The present starts with ya- (not yu-): yataʿallamu. It often shows a process happening to the subject — learning, improving, developing.</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GM-VF-05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Arabic Verb Forms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GM-VF-05 · Arabic Verb Forms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GM-VF-05</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GM-VF-05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GM-VF-05</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Pattern card; family; conjugation (two ta-); Form II vs V.</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Teach → learn; sort stem ta- / prefix ta-;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GM-VF-06.</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GM-VF-05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IV?</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أَرْسُمُ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أَرْسَلَ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رَاسَلَ</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ʿAllama = to teach. Taʿallama = …</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learn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know</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teach again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Tadhakkara means …</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forget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mention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remember</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present of </a:t>
            </a:r>
            <a:pPr algn="l" indent="0" marL="0">
              <a:buNone/>
            </a:pPr>
            <a:r>
              <a:rPr lang="ar-SA" altLang="en-US" sz="1650" b="1" dirty="0">
                <a:solidFill>
                  <a:srgbClr val="1B3B6F"/>
                </a:solidFill>
                <a:latin typeface="Amiri" pitchFamily="2" charset="-78"/>
                <a:ea typeface="Amiri" pitchFamily="2" charset="-78"/>
                <a:cs typeface="Amiri" pitchFamily="2" charset="-78"/>
              </a:rPr>
              <a:t>تَعَلَّمَ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يُتَعَلِّمُ</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يُعَلِّمُ</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يَتَعَلَّمُ</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Taḥassana means …</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improve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be good at</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make better</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GM-VF-05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IV?</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أَرْسُمُ</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أَرْسَلَ</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رَاسَلَ</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before the root in the past (GM-VF-04).</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ʿAllama = to teach. Taʿallama = …</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learn</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know</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teach again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prep question.</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Tadhakkara means …</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forget</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mention</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remember</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 word.</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present of </a:t>
            </a:r>
            <a:pPr algn="l" indent="0" marL="0">
              <a:buNone/>
            </a:pPr>
            <a:r>
              <a:rPr lang="ar-SA" altLang="en-US" sz="1650" b="1" dirty="0">
                <a:solidFill>
                  <a:srgbClr val="1B3B6F"/>
                </a:solidFill>
                <a:latin typeface="Amiri" pitchFamily="2" charset="-78"/>
                <a:ea typeface="Amiri" pitchFamily="2" charset="-78"/>
                <a:cs typeface="Amiri" pitchFamily="2" charset="-78"/>
              </a:rPr>
              <a:t>تَعَلَّمَ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يُتَعَلِّمُ</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يُعَلِّمُ</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يَتَعَلَّمُ</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Form V present: ya- + ta-.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Taḥassana means …</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improve</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be good at</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make better</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 word.</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Form V = ta- + doubled middle letter (tafaʿʿala). Present = ya- + ta- … (yatafaʿʿalu).</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عَلَّمَ</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D6336C"/>
                </a:solidFill>
                <a:latin typeface="Amiri" pitchFamily="2" charset="-78"/>
                <a:ea typeface="Amiri" pitchFamily="2" charset="-78"/>
                <a:cs typeface="Amiri" pitchFamily="2" charset="-78"/>
              </a:rPr>
              <a:t>تَعَلَّمَ</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D6336C"/>
                </a:solidFill>
                <a:latin typeface="Amiri" pitchFamily="2" charset="-78"/>
                <a:ea typeface="Amiri" pitchFamily="2" charset="-78"/>
                <a:cs typeface="Amiri" pitchFamily="2" charset="-78"/>
              </a:rPr>
              <a:t>يَتَعَلَّمُ</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GM-VF-05 · Arabic Verb Forms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GM-VF-05</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Form V: ta- + shadda on the middle letter.</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Form the present with ya- + ta-.</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about learning and progress with Form V.</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Explain the Form II / Form V link.</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I learn and I remember.</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write one sentence about my progress.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say she learns (tataʿallamu) correctly.</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taʿallum and taḥassun.</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contrast ʿallama / taʿallama and ghayyara / taghayyara.</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explain why the ta- is part of the stem.</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GM-VF-05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الْوَزْنُ الْخَامِسُ</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 V</a:t>
            </a:r>
            <a:endParaRPr lang="en-US" sz="1350" dirty="0"/>
          </a:p>
          <a:p>
            <a:pPr indent="0" marL="0">
              <a:buNone/>
            </a:pPr>
            <a:r>
              <a:rPr lang="en-US" sz="1100" i="1" dirty="0">
                <a:solidFill>
                  <a:srgbClr val="5A6472"/>
                </a:solidFill>
                <a:latin typeface="Calibri" pitchFamily="34" charset="0"/>
                <a:cs typeface="Amiri" pitchFamily="2" charset="-78"/>
              </a:rPr>
              <a:t>al-waz-nu al-khā-mi-su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تَفَعَّلَ</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التَّاءُ الزَّائِدَةُ</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added ta- (part of the stem)</a:t>
            </a:r>
            <a:endParaRPr lang="en-US" sz="1350" dirty="0"/>
          </a:p>
          <a:p>
            <a:pPr indent="0" marL="0">
              <a:buNone/>
            </a:pPr>
            <a:r>
              <a:rPr lang="en-US" sz="1100" i="1" dirty="0">
                <a:solidFill>
                  <a:srgbClr val="5A6472"/>
                </a:solidFill>
                <a:latin typeface="Calibri" pitchFamily="34" charset="0"/>
                <a:cs typeface="Amiri" pitchFamily="2" charset="-78"/>
              </a:rPr>
              <a:t>at-tā-ʾu az-zā-ʾi-da-tu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تَعَلَّمَ</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الْمُطَاوَعَةُ</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happens to the subject</a:t>
            </a:r>
            <a:endParaRPr lang="en-US" sz="1350" dirty="0"/>
          </a:p>
          <a:p>
            <a:pPr indent="0" marL="0">
              <a:buNone/>
            </a:pPr>
            <a:r>
              <a:rPr lang="en-US" sz="1100" i="1" dirty="0">
                <a:solidFill>
                  <a:srgbClr val="5A6472"/>
                </a:solidFill>
                <a:latin typeface="Calibri" pitchFamily="34" charset="0"/>
                <a:cs typeface="Amiri" pitchFamily="2" charset="-78"/>
              </a:rPr>
              <a:t>al-mu-ṭā-wa-ʿa-tu</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تَحَسَّنَ</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التَّطَوُّرُ</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development</a:t>
            </a:r>
            <a:endParaRPr lang="en-US" sz="1350" dirty="0"/>
          </a:p>
          <a:p>
            <a:pPr indent="0" marL="0">
              <a:buNone/>
            </a:pPr>
            <a:r>
              <a:rPr lang="en-US" sz="1100" i="1" dirty="0">
                <a:solidFill>
                  <a:srgbClr val="5A6472"/>
                </a:solidFill>
                <a:latin typeface="Calibri" pitchFamily="34" charset="0"/>
                <a:cs typeface="Amiri" pitchFamily="2" charset="-78"/>
              </a:rPr>
              <a:t>at-ta-ṭaw-wu-ru</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تَطَوَّرَ</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تَفَعُّلٌ</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 V verbal noun</a:t>
            </a:r>
            <a:endParaRPr lang="en-US" sz="1350" dirty="0"/>
          </a:p>
          <a:p>
            <a:pPr indent="0" marL="0">
              <a:buNone/>
            </a:pPr>
            <a:r>
              <a:rPr lang="en-US" sz="1100" i="1" dirty="0">
                <a:solidFill>
                  <a:srgbClr val="5A6472"/>
                </a:solidFill>
                <a:latin typeface="Calibri" pitchFamily="34" charset="0"/>
                <a:cs typeface="Amiri" pitchFamily="2" charset="-78"/>
              </a:rPr>
              <a:t>ta-faʿ-ʿu-lun</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تَعَلُّمٌ</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مُتَفَعِّلٌ</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 V doer</a:t>
            </a:r>
            <a:endParaRPr lang="en-US" sz="1350" dirty="0"/>
          </a:p>
          <a:p>
            <a:pPr indent="0" marL="0">
              <a:buNone/>
            </a:pPr>
            <a:r>
              <a:rPr lang="en-US" sz="1100" i="1" dirty="0">
                <a:solidFill>
                  <a:srgbClr val="5A6472"/>
                </a:solidFill>
                <a:latin typeface="Calibri" pitchFamily="34" charset="0"/>
                <a:cs typeface="Amiri" pitchFamily="2" charset="-78"/>
              </a:rPr>
              <a:t>mu-ta-faʿ-ʿi-lun</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مُتَعَلِّمٌ</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GM-VF-05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1 · THE FORM V PATTERN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ta- + a doubled middle letter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تَفَعَّلَ · يَتَفَعَّلُ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948672" y="1810512"/>
            <a:ext cx="1709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Command</a:t>
            </a:r>
            <a:endParaRPr lang="en-US" sz="1100" dirty="0"/>
          </a:p>
        </p:txBody>
      </p:sp>
      <p:sp>
        <p:nvSpPr>
          <p:cNvPr id="17" name="Text 14"/>
          <p:cNvSpPr txBox="1"/>
          <p:nvPr/>
        </p:nvSpPr>
        <p:spPr>
          <a:xfrm>
            <a:off x="802843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Doer</a:t>
            </a:r>
            <a:endParaRPr lang="en-US" sz="1100" dirty="0"/>
          </a:p>
        </p:txBody>
      </p:sp>
      <p:sp>
        <p:nvSpPr>
          <p:cNvPr id="18" name="Text 15"/>
          <p:cNvSpPr txBox="1"/>
          <p:nvPr/>
        </p:nvSpPr>
        <p:spPr>
          <a:xfrm>
            <a:off x="610819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Verbal noun</a:t>
            </a:r>
            <a:endParaRPr lang="en-US" sz="1100" dirty="0"/>
          </a:p>
        </p:txBody>
      </p:sp>
      <p:sp>
        <p:nvSpPr>
          <p:cNvPr id="19" name="Text 16"/>
          <p:cNvSpPr txBox="1"/>
          <p:nvPr/>
        </p:nvSpPr>
        <p:spPr>
          <a:xfrm>
            <a:off x="418795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Present</a:t>
            </a:r>
            <a:endParaRPr lang="en-US" sz="1100" dirty="0"/>
          </a:p>
        </p:txBody>
      </p:sp>
      <p:sp>
        <p:nvSpPr>
          <p:cNvPr id="20" name="Text 17"/>
          <p:cNvSpPr txBox="1"/>
          <p:nvPr/>
        </p:nvSpPr>
        <p:spPr>
          <a:xfrm>
            <a:off x="226771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a:t>
            </a:r>
            <a:endParaRPr lang="en-US" sz="1100" dirty="0"/>
          </a:p>
        </p:txBody>
      </p:sp>
      <p:sp>
        <p:nvSpPr>
          <p:cNvPr id="21" name="Text 18"/>
          <p:cNvSpPr txBox="1"/>
          <p:nvPr/>
        </p:nvSpPr>
        <p:spPr>
          <a:xfrm>
            <a:off x="530352" y="1810512"/>
            <a:ext cx="1591056" cy="384048"/>
          </a:xfrm>
          <a:prstGeom prst="rect">
            <a:avLst/>
          </a:prstGeom>
          <a:noFill/>
          <a:ln/>
        </p:spPr>
        <p:txBody>
          <a:bodyPr wrap="square" lIns="0" tIns="0" rIns="0" bIns="0" rtlCol="0" anchor="ctr"/>
          <a:lstStyle/>
          <a:p>
            <a:pPr algn="ctr" indent="0" marL="0">
              <a:buNone/>
            </a:pPr>
            <a:endParaRPr lang="en-US" sz="1100" dirty="0"/>
          </a:p>
        </p:txBody>
      </p:sp>
      <p:sp>
        <p:nvSpPr>
          <p:cNvPr id="22" name="Shape 19"/>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3" name="Text 20"/>
          <p:cNvSpPr txBox="1"/>
          <p:nvPr/>
        </p:nvSpPr>
        <p:spPr>
          <a:xfrm>
            <a:off x="9966960" y="2267712"/>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تَفَعَّلْ</a:t>
            </a:r>
            <a:endParaRPr lang="ar-SA" sz="2400" dirty="0"/>
          </a:p>
        </p:txBody>
      </p:sp>
      <p:sp>
        <p:nvSpPr>
          <p:cNvPr id="24" name="Text 21"/>
          <p:cNvSpPr txBox="1"/>
          <p:nvPr/>
        </p:nvSpPr>
        <p:spPr>
          <a:xfrm>
            <a:off x="804672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مُتَفَعِّلٌ</a:t>
            </a:r>
            <a:endParaRPr lang="ar-SA" sz="2400" dirty="0"/>
          </a:p>
        </p:txBody>
      </p:sp>
      <p:sp>
        <p:nvSpPr>
          <p:cNvPr id="25" name="Text 22"/>
          <p:cNvSpPr txBox="1"/>
          <p:nvPr/>
        </p:nvSpPr>
        <p:spPr>
          <a:xfrm>
            <a:off x="612648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تَفَعُّلٌ</a:t>
            </a:r>
            <a:endParaRPr lang="ar-SA" sz="2400" dirty="0"/>
          </a:p>
        </p:txBody>
      </p:sp>
      <p:sp>
        <p:nvSpPr>
          <p:cNvPr id="26" name="Text 23"/>
          <p:cNvSpPr txBox="1"/>
          <p:nvPr/>
        </p:nvSpPr>
        <p:spPr>
          <a:xfrm>
            <a:off x="420624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يَتَفَعَّلُ</a:t>
            </a:r>
            <a:endParaRPr lang="ar-SA" sz="2400" dirty="0"/>
          </a:p>
        </p:txBody>
      </p:sp>
      <p:sp>
        <p:nvSpPr>
          <p:cNvPr id="27" name="Text 24"/>
          <p:cNvSpPr txBox="1"/>
          <p:nvPr/>
        </p:nvSpPr>
        <p:spPr>
          <a:xfrm>
            <a:off x="228600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تَفَعَّلَ</a:t>
            </a:r>
            <a:endParaRPr lang="ar-SA" sz="2400" dirty="0"/>
          </a:p>
        </p:txBody>
      </p:sp>
      <p:sp>
        <p:nvSpPr>
          <p:cNvPr id="28" name="Text 25"/>
          <p:cNvSpPr txBox="1"/>
          <p:nvPr/>
        </p:nvSpPr>
        <p:spPr>
          <a:xfrm>
            <a:off x="566928" y="2267712"/>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template</a:t>
            </a:r>
            <a:endParaRPr lang="en-US" sz="110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966960" y="3004718"/>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تَعَلَّمْ</a:t>
            </a:r>
            <a:endParaRPr lang="ar-SA" sz="2400" dirty="0"/>
          </a:p>
        </p:txBody>
      </p:sp>
      <p:sp>
        <p:nvSpPr>
          <p:cNvPr id="31" name="Text 28"/>
          <p:cNvSpPr txBox="1"/>
          <p:nvPr/>
        </p:nvSpPr>
        <p:spPr>
          <a:xfrm>
            <a:off x="804672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مُتَعَلِّمٌ</a:t>
            </a:r>
            <a:endParaRPr lang="ar-SA" sz="2400" dirty="0"/>
          </a:p>
        </p:txBody>
      </p:sp>
      <p:sp>
        <p:nvSpPr>
          <p:cNvPr id="32" name="Text 29"/>
          <p:cNvSpPr txBox="1"/>
          <p:nvPr/>
        </p:nvSpPr>
        <p:spPr>
          <a:xfrm>
            <a:off x="612648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تَعَلُّمٌ</a:t>
            </a:r>
            <a:endParaRPr lang="ar-SA" sz="2400" dirty="0"/>
          </a:p>
        </p:txBody>
      </p:sp>
      <p:sp>
        <p:nvSpPr>
          <p:cNvPr id="33" name="Text 30"/>
          <p:cNvSpPr txBox="1"/>
          <p:nvPr/>
        </p:nvSpPr>
        <p:spPr>
          <a:xfrm>
            <a:off x="420624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يَتَعَلَّمُ</a:t>
            </a:r>
            <a:endParaRPr lang="ar-SA" sz="2400" dirty="0"/>
          </a:p>
        </p:txBody>
      </p:sp>
      <p:sp>
        <p:nvSpPr>
          <p:cNvPr id="34" name="Text 31"/>
          <p:cNvSpPr txBox="1"/>
          <p:nvPr/>
        </p:nvSpPr>
        <p:spPr>
          <a:xfrm>
            <a:off x="228600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تَعَلَّمَ</a:t>
            </a:r>
            <a:endParaRPr lang="ar-SA" sz="2400" dirty="0"/>
          </a:p>
        </p:txBody>
      </p:sp>
      <p:sp>
        <p:nvSpPr>
          <p:cNvPr id="35" name="Text 32"/>
          <p:cNvSpPr txBox="1"/>
          <p:nvPr/>
        </p:nvSpPr>
        <p:spPr>
          <a:xfrm>
            <a:off x="566928" y="300471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learn</a:t>
            </a:r>
            <a:endParaRPr lang="en-US" sz="1100" dirty="0"/>
          </a:p>
        </p:txBody>
      </p:sp>
      <p:sp>
        <p:nvSpPr>
          <p:cNvPr id="36" name="Shape 33"/>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Shape 35"/>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9" name="Text 36"/>
          <p:cNvSpPr txBox="1"/>
          <p:nvPr/>
        </p:nvSpPr>
        <p:spPr>
          <a:xfrm>
            <a:off x="9966960" y="3741725"/>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تَذَكَّرْ</a:t>
            </a:r>
            <a:endParaRPr lang="ar-SA" sz="2400" dirty="0"/>
          </a:p>
        </p:txBody>
      </p:sp>
      <p:sp>
        <p:nvSpPr>
          <p:cNvPr id="40" name="Text 37"/>
          <p:cNvSpPr txBox="1"/>
          <p:nvPr/>
        </p:nvSpPr>
        <p:spPr>
          <a:xfrm>
            <a:off x="804672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مُتَذَكِّرٌ</a:t>
            </a:r>
            <a:endParaRPr lang="ar-SA" sz="2400" dirty="0"/>
          </a:p>
        </p:txBody>
      </p:sp>
      <p:sp>
        <p:nvSpPr>
          <p:cNvPr id="41" name="Text 38"/>
          <p:cNvSpPr txBox="1"/>
          <p:nvPr/>
        </p:nvSpPr>
        <p:spPr>
          <a:xfrm>
            <a:off x="612648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تَذَكُّرٌ</a:t>
            </a:r>
            <a:endParaRPr lang="ar-SA" sz="2400" dirty="0"/>
          </a:p>
        </p:txBody>
      </p:sp>
      <p:sp>
        <p:nvSpPr>
          <p:cNvPr id="42" name="Text 39"/>
          <p:cNvSpPr txBox="1"/>
          <p:nvPr/>
        </p:nvSpPr>
        <p:spPr>
          <a:xfrm>
            <a:off x="420624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يَتَذَكَّرُ</a:t>
            </a:r>
            <a:endParaRPr lang="ar-SA" sz="2400" dirty="0"/>
          </a:p>
        </p:txBody>
      </p:sp>
      <p:sp>
        <p:nvSpPr>
          <p:cNvPr id="43" name="Text 40"/>
          <p:cNvSpPr txBox="1"/>
          <p:nvPr/>
        </p:nvSpPr>
        <p:spPr>
          <a:xfrm>
            <a:off x="228600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تَذَكَّرَ</a:t>
            </a:r>
            <a:endParaRPr lang="ar-SA" sz="2400" dirty="0"/>
          </a:p>
        </p:txBody>
      </p:sp>
      <p:sp>
        <p:nvSpPr>
          <p:cNvPr id="44" name="Text 41"/>
          <p:cNvSpPr txBox="1"/>
          <p:nvPr/>
        </p:nvSpPr>
        <p:spPr>
          <a:xfrm>
            <a:off x="566928" y="3741725"/>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remember</a:t>
            </a:r>
            <a:endParaRPr lang="en-US" sz="110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966960" y="4478731"/>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تَحَسَّنْ</a:t>
            </a:r>
            <a:endParaRPr lang="ar-SA" sz="2400" dirty="0"/>
          </a:p>
        </p:txBody>
      </p:sp>
      <p:sp>
        <p:nvSpPr>
          <p:cNvPr id="47" name="Text 44"/>
          <p:cNvSpPr txBox="1"/>
          <p:nvPr/>
        </p:nvSpPr>
        <p:spPr>
          <a:xfrm>
            <a:off x="804672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مُتَحَسِّنٌ</a:t>
            </a:r>
            <a:endParaRPr lang="ar-SA" sz="2400" dirty="0"/>
          </a:p>
        </p:txBody>
      </p:sp>
      <p:sp>
        <p:nvSpPr>
          <p:cNvPr id="48" name="Text 45"/>
          <p:cNvSpPr txBox="1"/>
          <p:nvPr/>
        </p:nvSpPr>
        <p:spPr>
          <a:xfrm>
            <a:off x="612648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تَحَسُّنٌ</a:t>
            </a:r>
            <a:endParaRPr lang="ar-SA" sz="2400" dirty="0"/>
          </a:p>
        </p:txBody>
      </p:sp>
      <p:sp>
        <p:nvSpPr>
          <p:cNvPr id="49" name="Text 46"/>
          <p:cNvSpPr txBox="1"/>
          <p:nvPr/>
        </p:nvSpPr>
        <p:spPr>
          <a:xfrm>
            <a:off x="420624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يَتَحَسَّنُ</a:t>
            </a:r>
            <a:endParaRPr lang="ar-SA" sz="2400" dirty="0"/>
          </a:p>
        </p:txBody>
      </p:sp>
      <p:sp>
        <p:nvSpPr>
          <p:cNvPr id="50" name="Text 47"/>
          <p:cNvSpPr txBox="1"/>
          <p:nvPr/>
        </p:nvSpPr>
        <p:spPr>
          <a:xfrm>
            <a:off x="228600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تَحَسَّنَ</a:t>
            </a:r>
            <a:endParaRPr lang="ar-SA" sz="2400" dirty="0"/>
          </a:p>
        </p:txBody>
      </p:sp>
      <p:sp>
        <p:nvSpPr>
          <p:cNvPr id="51" name="Text 48"/>
          <p:cNvSpPr txBox="1"/>
          <p:nvPr/>
        </p:nvSpPr>
        <p:spPr>
          <a:xfrm>
            <a:off x="566928" y="4478731"/>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improve</a:t>
            </a:r>
            <a:endParaRPr lang="en-US" sz="1100" dirty="0"/>
          </a:p>
        </p:txBody>
      </p:sp>
      <p:sp>
        <p:nvSpPr>
          <p:cNvPr id="52" name="Shape 49"/>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3" name="Text 50"/>
          <p:cNvSpPr txBox="1"/>
          <p:nvPr/>
        </p:nvSpPr>
        <p:spPr>
          <a:xfrm>
            <a:off x="9966960" y="5215738"/>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تَكَلَّمْ</a:t>
            </a:r>
            <a:endParaRPr lang="ar-SA" sz="2400" dirty="0"/>
          </a:p>
        </p:txBody>
      </p:sp>
      <p:sp>
        <p:nvSpPr>
          <p:cNvPr id="54" name="Text 51"/>
          <p:cNvSpPr txBox="1"/>
          <p:nvPr/>
        </p:nvSpPr>
        <p:spPr>
          <a:xfrm>
            <a:off x="804672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مُتَكَلِّمٌ</a:t>
            </a:r>
            <a:endParaRPr lang="ar-SA" sz="2400" dirty="0"/>
          </a:p>
        </p:txBody>
      </p:sp>
      <p:sp>
        <p:nvSpPr>
          <p:cNvPr id="55" name="Text 52"/>
          <p:cNvSpPr txBox="1"/>
          <p:nvPr/>
        </p:nvSpPr>
        <p:spPr>
          <a:xfrm>
            <a:off x="612648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تَكَلُّمٌ</a:t>
            </a:r>
            <a:endParaRPr lang="ar-SA" sz="2400" dirty="0"/>
          </a:p>
        </p:txBody>
      </p:sp>
      <p:sp>
        <p:nvSpPr>
          <p:cNvPr id="56" name="Text 53"/>
          <p:cNvSpPr txBox="1"/>
          <p:nvPr/>
        </p:nvSpPr>
        <p:spPr>
          <a:xfrm>
            <a:off x="420624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يَتَكَلَّمُ</a:t>
            </a:r>
            <a:endParaRPr lang="ar-SA" sz="2400" dirty="0"/>
          </a:p>
        </p:txBody>
      </p:sp>
      <p:sp>
        <p:nvSpPr>
          <p:cNvPr id="57" name="Text 54"/>
          <p:cNvSpPr txBox="1"/>
          <p:nvPr/>
        </p:nvSpPr>
        <p:spPr>
          <a:xfrm>
            <a:off x="228600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تَكَلَّمَ</a:t>
            </a:r>
            <a:endParaRPr lang="ar-SA" sz="2400" dirty="0"/>
          </a:p>
        </p:txBody>
      </p:sp>
      <p:sp>
        <p:nvSpPr>
          <p:cNvPr id="58" name="Text 55"/>
          <p:cNvSpPr txBox="1"/>
          <p:nvPr/>
        </p:nvSpPr>
        <p:spPr>
          <a:xfrm>
            <a:off x="566928" y="521573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speak</a:t>
            </a:r>
            <a:endParaRPr lang="en-US" sz="1100" dirty="0"/>
          </a:p>
        </p:txBody>
      </p:sp>
      <p:sp>
        <p:nvSpPr>
          <p:cNvPr id="59" name="Text 5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Form V combines an initial ta- with a doubled middle root letter. Its present is yatafaʿʿalu — it begins with ya-, not yu- as in Form II.</a:t>
            </a:r>
            <a:endParaRPr lang="en-US" sz="115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GM-VF-05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2 · LEARN THE FAMILY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Form V family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أُسْرَةُ الْوَزْنِ الْخَامِسِ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833872" y="1810512"/>
            <a:ext cx="58247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7" name="Text 14"/>
          <p:cNvSpPr txBox="1"/>
          <p:nvPr/>
        </p:nvSpPr>
        <p:spPr>
          <a:xfrm>
            <a:off x="363931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 · present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5852160" y="2267712"/>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أَتَعَلَّمُ الْعَرَبِيَّةَ لِأَنَّنِي أُحِبُّ اللُّغَاتِ.</a:t>
            </a:r>
            <a:endParaRPr lang="ar-SA" sz="2000" dirty="0"/>
          </a:p>
        </p:txBody>
      </p:sp>
      <p:sp>
        <p:nvSpPr>
          <p:cNvPr id="21" name="Text 18"/>
          <p:cNvSpPr txBox="1"/>
          <p:nvPr/>
        </p:nvSpPr>
        <p:spPr>
          <a:xfrm>
            <a:off x="3675888" y="2267712"/>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learn</a:t>
            </a:r>
            <a:endParaRPr lang="en-US" sz="1100" dirty="0"/>
          </a:p>
        </p:txBody>
      </p:sp>
      <p:sp>
        <p:nvSpPr>
          <p:cNvPr id="22" name="Text 19"/>
          <p:cNvSpPr txBox="1"/>
          <p:nvPr/>
        </p:nvSpPr>
        <p:spPr>
          <a:xfrm>
            <a:off x="548640" y="2267712"/>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تَعَلَّمَ · يَتَعَلَّمُ</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5852160" y="2881884"/>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تَحَسَّنَ مُسْتَوَايَ بَعْدَ الْمُمَارَسَةِ.</a:t>
            </a:r>
            <a:endParaRPr lang="ar-SA" sz="2000" dirty="0"/>
          </a:p>
        </p:txBody>
      </p:sp>
      <p:sp>
        <p:nvSpPr>
          <p:cNvPr id="27" name="Text 24"/>
          <p:cNvSpPr txBox="1"/>
          <p:nvPr/>
        </p:nvSpPr>
        <p:spPr>
          <a:xfrm>
            <a:off x="3675888" y="2881884"/>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improve</a:t>
            </a:r>
            <a:endParaRPr lang="en-US" sz="1100" dirty="0"/>
          </a:p>
        </p:txBody>
      </p:sp>
      <p:sp>
        <p:nvSpPr>
          <p:cNvPr id="28" name="Text 25"/>
          <p:cNvSpPr txBox="1"/>
          <p:nvPr/>
        </p:nvSpPr>
        <p:spPr>
          <a:xfrm>
            <a:off x="548640" y="2881884"/>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تَحَسَّنَ · يَتَحَسَّنُ</a:t>
            </a:r>
            <a:endParaRPr lang="ar-SA" sz="22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5852160" y="3496056"/>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يَتَذَكَّرُ الطَّالِبُ الْكَلِمَاتِ الْجَدِيدَةَ.</a:t>
            </a:r>
            <a:endParaRPr lang="ar-SA" sz="2000" dirty="0"/>
          </a:p>
        </p:txBody>
      </p:sp>
      <p:sp>
        <p:nvSpPr>
          <p:cNvPr id="33" name="Text 30"/>
          <p:cNvSpPr txBox="1"/>
          <p:nvPr/>
        </p:nvSpPr>
        <p:spPr>
          <a:xfrm>
            <a:off x="3675888" y="3496056"/>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remember</a:t>
            </a:r>
            <a:endParaRPr lang="en-US" sz="1100" dirty="0"/>
          </a:p>
        </p:txBody>
      </p:sp>
      <p:sp>
        <p:nvSpPr>
          <p:cNvPr id="34" name="Text 31"/>
          <p:cNvSpPr txBox="1"/>
          <p:nvPr/>
        </p:nvSpPr>
        <p:spPr>
          <a:xfrm>
            <a:off x="548640" y="3496056"/>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تَذَكَّرَ · يَتَذَكَّرُ</a:t>
            </a:r>
            <a:endParaRPr lang="ar-SA" sz="22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5852160" y="4110228"/>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تَتَطَوَّرُ التِّقْنِيَّةُ بِسُرْعَةٍ.</a:t>
            </a:r>
            <a:endParaRPr lang="ar-SA" sz="2000" dirty="0"/>
          </a:p>
        </p:txBody>
      </p:sp>
      <p:sp>
        <p:nvSpPr>
          <p:cNvPr id="39" name="Text 36"/>
          <p:cNvSpPr txBox="1"/>
          <p:nvPr/>
        </p:nvSpPr>
        <p:spPr>
          <a:xfrm>
            <a:off x="3675888" y="4110228"/>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develop</a:t>
            </a:r>
            <a:endParaRPr lang="en-US" sz="1100" dirty="0"/>
          </a:p>
        </p:txBody>
      </p:sp>
      <p:sp>
        <p:nvSpPr>
          <p:cNvPr id="40" name="Text 37"/>
          <p:cNvSpPr txBox="1"/>
          <p:nvPr/>
        </p:nvSpPr>
        <p:spPr>
          <a:xfrm>
            <a:off x="548640" y="4110228"/>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تَطَوَّرَ · يَتَطَوَّرُ</a:t>
            </a:r>
            <a:endParaRPr lang="ar-SA" sz="22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5852160" y="4724400"/>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أَتَكَلَّمُ ثَلَاثَ لُغَاتٍ.</a:t>
            </a:r>
            <a:endParaRPr lang="ar-SA" sz="2000" dirty="0"/>
          </a:p>
        </p:txBody>
      </p:sp>
      <p:sp>
        <p:nvSpPr>
          <p:cNvPr id="43" name="Text 40"/>
          <p:cNvSpPr txBox="1"/>
          <p:nvPr/>
        </p:nvSpPr>
        <p:spPr>
          <a:xfrm>
            <a:off x="3675888" y="4724400"/>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speak</a:t>
            </a:r>
            <a:endParaRPr lang="en-US" sz="1100" dirty="0"/>
          </a:p>
        </p:txBody>
      </p:sp>
      <p:sp>
        <p:nvSpPr>
          <p:cNvPr id="44" name="Text 41"/>
          <p:cNvSpPr txBox="1"/>
          <p:nvPr/>
        </p:nvSpPr>
        <p:spPr>
          <a:xfrm>
            <a:off x="548640" y="4724400"/>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تَكَلَّمَ · يَتَكَلَّمُ</a:t>
            </a:r>
            <a:endParaRPr lang="ar-SA" sz="22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5852160" y="5338572"/>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تَحَدَّثْنَا عَنِ الرِّحْلَةِ.</a:t>
            </a:r>
            <a:endParaRPr lang="ar-SA" sz="2000" dirty="0"/>
          </a:p>
        </p:txBody>
      </p:sp>
      <p:sp>
        <p:nvSpPr>
          <p:cNvPr id="47" name="Text 44"/>
          <p:cNvSpPr txBox="1"/>
          <p:nvPr/>
        </p:nvSpPr>
        <p:spPr>
          <a:xfrm>
            <a:off x="3675888" y="5338572"/>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talk</a:t>
            </a:r>
            <a:endParaRPr lang="en-US" sz="1100" dirty="0"/>
          </a:p>
        </p:txBody>
      </p:sp>
      <p:sp>
        <p:nvSpPr>
          <p:cNvPr id="48" name="Text 45"/>
          <p:cNvSpPr txBox="1"/>
          <p:nvPr/>
        </p:nvSpPr>
        <p:spPr>
          <a:xfrm>
            <a:off x="548640" y="5338572"/>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تَحَدَّثَ · يَتَحَدَّثُ</a:t>
            </a:r>
            <a:endParaRPr lang="ar-SA" sz="22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ʿallama means to teach; taʿallama means to learn — a useful Form II–V relationship, but not every Form V is reflexive in the English sense.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GM-VF-05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3 · CONJUGATE TAʿALLAMA · DEVELOP / STRETCH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She learns = two ta-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تَصْرِيفُ «تَعَلَّمَ»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Notice</a:t>
            </a:r>
            <a:endParaRPr lang="en-US" sz="1100" dirty="0"/>
          </a:p>
        </p:txBody>
      </p:sp>
      <p:sp>
        <p:nvSpPr>
          <p:cNvPr id="17" name="Text 14"/>
          <p:cNvSpPr txBox="1"/>
          <p:nvPr/>
        </p:nvSpPr>
        <p:spPr>
          <a:xfrm>
            <a:off x="565099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Present</a:t>
            </a:r>
            <a:endParaRPr lang="en-US" sz="1100" dirty="0"/>
          </a:p>
        </p:txBody>
      </p:sp>
      <p:sp>
        <p:nvSpPr>
          <p:cNvPr id="18" name="Text 15"/>
          <p:cNvSpPr txBox="1"/>
          <p:nvPr/>
        </p:nvSpPr>
        <p:spPr>
          <a:xfrm>
            <a:off x="272491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a:t>
            </a:r>
            <a:endParaRPr lang="en-US" sz="1100" dirty="0"/>
          </a:p>
        </p:txBody>
      </p:sp>
      <p:sp>
        <p:nvSpPr>
          <p:cNvPr id="19" name="Text 16"/>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Person</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8796528" y="226771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(back to a)</a:t>
            </a:r>
            <a:endParaRPr lang="en-US" sz="1100" dirty="0"/>
          </a:p>
        </p:txBody>
      </p:sp>
      <p:sp>
        <p:nvSpPr>
          <p:cNvPr id="22" name="Text 19"/>
          <p:cNvSpPr txBox="1"/>
          <p:nvPr/>
        </p:nvSpPr>
        <p:spPr>
          <a:xfrm>
            <a:off x="5669280" y="2267712"/>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أَتَعَلَّمُ</a:t>
            </a:r>
            <a:endParaRPr lang="ar-SA" sz="2400" dirty="0"/>
          </a:p>
        </p:txBody>
      </p:sp>
      <p:sp>
        <p:nvSpPr>
          <p:cNvPr id="23" name="Text 20"/>
          <p:cNvSpPr txBox="1"/>
          <p:nvPr/>
        </p:nvSpPr>
        <p:spPr>
          <a:xfrm>
            <a:off x="2743200" y="2267712"/>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تَعَلَّمْتُ</a:t>
            </a:r>
            <a:endParaRPr lang="ar-SA" sz="2400" dirty="0"/>
          </a:p>
        </p:txBody>
      </p:sp>
      <p:sp>
        <p:nvSpPr>
          <p:cNvPr id="24" name="Text 21"/>
          <p:cNvSpPr txBox="1"/>
          <p:nvPr/>
        </p:nvSpPr>
        <p:spPr>
          <a:xfrm>
            <a:off x="548640" y="226771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أَنَا</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8796528" y="2881884"/>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ya- + ta-</a:t>
            </a:r>
            <a:endParaRPr lang="en-US" sz="1100" dirty="0"/>
          </a:p>
        </p:txBody>
      </p:sp>
      <p:sp>
        <p:nvSpPr>
          <p:cNvPr id="29" name="Text 26"/>
          <p:cNvSpPr txBox="1"/>
          <p:nvPr/>
        </p:nvSpPr>
        <p:spPr>
          <a:xfrm>
            <a:off x="5669280" y="2881884"/>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يَتَعَلَّمُ</a:t>
            </a:r>
            <a:endParaRPr lang="ar-SA" sz="2400" dirty="0"/>
          </a:p>
        </p:txBody>
      </p:sp>
      <p:sp>
        <p:nvSpPr>
          <p:cNvPr id="30" name="Text 27"/>
          <p:cNvSpPr txBox="1"/>
          <p:nvPr/>
        </p:nvSpPr>
        <p:spPr>
          <a:xfrm>
            <a:off x="2743200" y="2881884"/>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تَعَلَّمَ</a:t>
            </a:r>
            <a:endParaRPr lang="ar-SA" sz="2400" dirty="0"/>
          </a:p>
        </p:txBody>
      </p:sp>
      <p:sp>
        <p:nvSpPr>
          <p:cNvPr id="31" name="Text 28"/>
          <p:cNvSpPr txBox="1"/>
          <p:nvPr/>
        </p:nvSpPr>
        <p:spPr>
          <a:xfrm>
            <a:off x="548640" y="2881884"/>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هُوَ</a:t>
            </a:r>
            <a:endParaRPr lang="ar-SA" sz="24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8796528" y="3496056"/>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 (she) + ta- (stem)</a:t>
            </a:r>
            <a:endParaRPr lang="en-US" sz="1100" dirty="0"/>
          </a:p>
        </p:txBody>
      </p:sp>
      <p:sp>
        <p:nvSpPr>
          <p:cNvPr id="36" name="Text 33"/>
          <p:cNvSpPr txBox="1"/>
          <p:nvPr/>
        </p:nvSpPr>
        <p:spPr>
          <a:xfrm>
            <a:off x="5669280" y="3496056"/>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تَتَعَلَّمُ</a:t>
            </a:r>
            <a:endParaRPr lang="ar-SA" sz="2400" dirty="0"/>
          </a:p>
        </p:txBody>
      </p:sp>
      <p:sp>
        <p:nvSpPr>
          <p:cNvPr id="37" name="Text 34"/>
          <p:cNvSpPr txBox="1"/>
          <p:nvPr/>
        </p:nvSpPr>
        <p:spPr>
          <a:xfrm>
            <a:off x="2743200" y="3496056"/>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تَعَلَّمَتْ</a:t>
            </a:r>
            <a:endParaRPr lang="ar-SA" sz="2400" dirty="0"/>
          </a:p>
        </p:txBody>
      </p:sp>
      <p:sp>
        <p:nvSpPr>
          <p:cNvPr id="38" name="Text 35"/>
          <p:cNvSpPr txBox="1"/>
          <p:nvPr/>
        </p:nvSpPr>
        <p:spPr>
          <a:xfrm>
            <a:off x="548640" y="3496056"/>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هِيَ</a:t>
            </a:r>
            <a:endParaRPr lang="ar-SA" sz="24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8796528" y="4110228"/>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 + ta- … -īna</a:t>
            </a:r>
            <a:endParaRPr lang="en-US" sz="1100" dirty="0"/>
          </a:p>
        </p:txBody>
      </p:sp>
      <p:sp>
        <p:nvSpPr>
          <p:cNvPr id="43" name="Text 40"/>
          <p:cNvSpPr txBox="1"/>
          <p:nvPr/>
        </p:nvSpPr>
        <p:spPr>
          <a:xfrm>
            <a:off x="5669280" y="4110228"/>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تَتَعَلَّمِينَ</a:t>
            </a:r>
            <a:endParaRPr lang="ar-SA" sz="2400" dirty="0"/>
          </a:p>
        </p:txBody>
      </p:sp>
      <p:sp>
        <p:nvSpPr>
          <p:cNvPr id="44" name="Text 41"/>
          <p:cNvSpPr txBox="1"/>
          <p:nvPr/>
        </p:nvSpPr>
        <p:spPr>
          <a:xfrm>
            <a:off x="2743200" y="4110228"/>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تَعَلَّمْتِ</a:t>
            </a:r>
            <a:endParaRPr lang="ar-SA" sz="2400" dirty="0"/>
          </a:p>
        </p:txBody>
      </p:sp>
      <p:sp>
        <p:nvSpPr>
          <p:cNvPr id="45" name="Text 42"/>
          <p:cNvSpPr txBox="1"/>
          <p:nvPr/>
        </p:nvSpPr>
        <p:spPr>
          <a:xfrm>
            <a:off x="548640" y="4110228"/>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أَنْتِ</a:t>
            </a:r>
            <a:endParaRPr lang="ar-SA" sz="2400" dirty="0"/>
          </a:p>
        </p:txBody>
      </p:sp>
      <p:sp>
        <p:nvSpPr>
          <p:cNvPr id="46" name="Shape 43"/>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7" name="Text 44"/>
          <p:cNvSpPr txBox="1"/>
          <p:nvPr/>
        </p:nvSpPr>
        <p:spPr>
          <a:xfrm>
            <a:off x="8796528" y="4724400"/>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a:t>
            </a:r>
            <a:endParaRPr lang="en-US" sz="1100" dirty="0"/>
          </a:p>
        </p:txBody>
      </p:sp>
      <p:sp>
        <p:nvSpPr>
          <p:cNvPr id="48" name="Text 45"/>
          <p:cNvSpPr txBox="1"/>
          <p:nvPr/>
        </p:nvSpPr>
        <p:spPr>
          <a:xfrm>
            <a:off x="5669280" y="4724400"/>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نَتَعَلَّمُ</a:t>
            </a:r>
            <a:endParaRPr lang="ar-SA" sz="2400" dirty="0"/>
          </a:p>
        </p:txBody>
      </p:sp>
      <p:sp>
        <p:nvSpPr>
          <p:cNvPr id="49" name="Text 46"/>
          <p:cNvSpPr txBox="1"/>
          <p:nvPr/>
        </p:nvSpPr>
        <p:spPr>
          <a:xfrm>
            <a:off x="2743200" y="4724400"/>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تَعَلَّمْنَا</a:t>
            </a:r>
            <a:endParaRPr lang="ar-SA" sz="2400" dirty="0"/>
          </a:p>
        </p:txBody>
      </p:sp>
      <p:sp>
        <p:nvSpPr>
          <p:cNvPr id="50" name="Text 47"/>
          <p:cNvSpPr txBox="1"/>
          <p:nvPr/>
        </p:nvSpPr>
        <p:spPr>
          <a:xfrm>
            <a:off x="548640" y="4724400"/>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نَحْنُ</a:t>
            </a:r>
            <a:endParaRPr lang="ar-SA" sz="24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8796528" y="533857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ya- … -ūna</a:t>
            </a:r>
            <a:endParaRPr lang="en-US" sz="1100" dirty="0"/>
          </a:p>
        </p:txBody>
      </p:sp>
      <p:sp>
        <p:nvSpPr>
          <p:cNvPr id="53" name="Text 50"/>
          <p:cNvSpPr txBox="1"/>
          <p:nvPr/>
        </p:nvSpPr>
        <p:spPr>
          <a:xfrm>
            <a:off x="5669280" y="5338572"/>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يَتَعَلَّمُونَ</a:t>
            </a:r>
            <a:endParaRPr lang="ar-SA" sz="2400" dirty="0"/>
          </a:p>
        </p:txBody>
      </p:sp>
      <p:sp>
        <p:nvSpPr>
          <p:cNvPr id="54" name="Text 51"/>
          <p:cNvSpPr txBox="1"/>
          <p:nvPr/>
        </p:nvSpPr>
        <p:spPr>
          <a:xfrm>
            <a:off x="2743200" y="5338572"/>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تَعَلَّمُوا</a:t>
            </a:r>
            <a:endParaRPr lang="ar-SA" sz="2400" dirty="0"/>
          </a:p>
        </p:txBody>
      </p:sp>
      <p:sp>
        <p:nvSpPr>
          <p:cNvPr id="55" name="Text 52"/>
          <p:cNvSpPr txBox="1"/>
          <p:nvPr/>
        </p:nvSpPr>
        <p:spPr>
          <a:xfrm>
            <a:off x="548640" y="533857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هُمْ</a:t>
            </a:r>
            <a:endParaRPr lang="ar-SA" sz="24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“Look closely”: taʿallama → yataʿallamu → ataʿallamu. The initial ta- belongs to the stem; the a- or ya- before it identifies the person.</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GM-VF-05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“to learn”?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تَعَلَّمَ</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present of taḥassana.</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يَتَحَسَّنُ</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يَحْسُنُ</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يُحَسِّنُ</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remembers”.</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تَذَكَّرُ</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تَتَذَكَّرُ</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تُذَكِّرُ</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learned”.</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تَعَلَّمْتُ</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أَتَعَلَّمُ</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عَلَّمْتُ</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GM-VF-05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“to learn”?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عَلِمَ</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عَلَّمَ</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تَعَلَّمَ</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Form V taʿallama means to learn.</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present of taḥassana.</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يَتَحَسَّنُ</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يَحْسُنُ</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يُحَسِّنُ</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Form V keeps the stem ta- and the doubled middle letter.</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remembers”.</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تَذَكَّرُ</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تَتَذَكَّرُ</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تُذَكِّرُ</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ta- (she) + ta- (stem).</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learned”.</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تَعَلَّمْتُ</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أَتَعَلَّمُ</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عَلَّمْتُ</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Past + -tu; ʿallamtu = I taught.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GM-VF-05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Watch me write a learning journal with Form V</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GM-VF-05</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Form II</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عَلَّمَ</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Form V</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تَعَلَّمَ</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ta-: learn.</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Present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أَتَعَلَّمُ</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for I.</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Noun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تَعَلُّمٌ</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tafaʿʿul.</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FORM V</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OTHER</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400" b="1" dirty="0">
                <a:solidFill>
                  <a:srgbClr val="0E7C86"/>
                </a:solidFill>
                <a:latin typeface="Amiri" pitchFamily="2" charset="-78"/>
                <a:ea typeface="Amiri" pitchFamily="2" charset="-78"/>
                <a:cs typeface="Amiri" pitchFamily="2" charset="-78"/>
              </a:rPr>
              <a:t>أَتَعَلَّمُ</a:t>
            </a:r>
            <a:pPr rtl="1" algn="r" indent="0" marL="0">
              <a:buNone/>
            </a:pPr>
            <a:r>
              <a:rPr lang="ar-SA" altLang="en-US" sz="2400" b="1" dirty="0">
                <a:solidFill>
                  <a:srgbClr val="1B3B6F"/>
                </a:solidFill>
                <a:latin typeface="Amiri" pitchFamily="2" charset="-78"/>
                <a:ea typeface="Amiri" pitchFamily="2" charset="-78"/>
                <a:cs typeface="Amiri" pitchFamily="2" charset="-78"/>
              </a:rPr>
              <a:t> الْعَرَبِيَّةَ كُلَّ يَوْمٍ. </a:t>
            </a:r>
            <a:pPr rtl="1" algn="r" indent="0" marL="0">
              <a:buNone/>
            </a:pPr>
            <a:r>
              <a:rPr lang="ar-SA" altLang="en-US" sz="2400" b="1" dirty="0">
                <a:solidFill>
                  <a:srgbClr val="0E7C86"/>
                </a:solidFill>
                <a:latin typeface="Amiri" pitchFamily="2" charset="-78"/>
                <a:ea typeface="Amiri" pitchFamily="2" charset="-78"/>
                <a:cs typeface="Amiri" pitchFamily="2" charset="-78"/>
              </a:rPr>
              <a:t>تَحَسَّنَ</a:t>
            </a:r>
            <a:pPr rtl="1" algn="r" indent="0" marL="0">
              <a:buNone/>
            </a:pPr>
            <a:r>
              <a:rPr lang="ar-SA" altLang="en-US" sz="2400" b="1" dirty="0">
                <a:solidFill>
                  <a:srgbClr val="1B3B6F"/>
                </a:solidFill>
                <a:latin typeface="Amiri" pitchFamily="2" charset="-78"/>
                <a:ea typeface="Amiri" pitchFamily="2" charset="-78"/>
                <a:cs typeface="Amiri" pitchFamily="2" charset="-78"/>
              </a:rPr>
              <a:t> مُسْتَوَايَ بِسَبَبِ الْمُمَارَسَةِ، وَ</a:t>
            </a:r>
            <a:pPr rtl="1" algn="r" indent="0" marL="0">
              <a:buNone/>
            </a:pPr>
            <a:r>
              <a:rPr lang="ar-SA" altLang="en-US" sz="2400" b="1" dirty="0">
                <a:solidFill>
                  <a:srgbClr val="0E7C86"/>
                </a:solidFill>
                <a:latin typeface="Amiri" pitchFamily="2" charset="-78"/>
                <a:ea typeface="Amiri" pitchFamily="2" charset="-78"/>
                <a:cs typeface="Amiri" pitchFamily="2" charset="-78"/>
              </a:rPr>
              <a:t>أَتَذَكَّرُ</a:t>
            </a:r>
            <a:pPr rtl="1" algn="r" indent="0" marL="0">
              <a:buNone/>
            </a:pPr>
            <a:r>
              <a:rPr lang="ar-SA" altLang="en-US" sz="2400" b="1" dirty="0">
                <a:solidFill>
                  <a:srgbClr val="1B3B6F"/>
                </a:solidFill>
                <a:latin typeface="Amiri" pitchFamily="2" charset="-78"/>
                <a:ea typeface="Amiri" pitchFamily="2" charset="-78"/>
                <a:cs typeface="Amiri" pitchFamily="2" charset="-78"/>
              </a:rPr>
              <a:t> كَلِمَاتٍ جَدِيدَةً. </a:t>
            </a:r>
            <a:pPr rtl="1" algn="r" indent="0" marL="0">
              <a:buNone/>
            </a:pPr>
            <a:r>
              <a:rPr lang="ar-SA" altLang="en-US" sz="2400" b="1" dirty="0">
                <a:solidFill>
                  <a:srgbClr val="D6336C"/>
                </a:solidFill>
                <a:latin typeface="Amiri" pitchFamily="2" charset="-78"/>
                <a:ea typeface="Amiri" pitchFamily="2" charset="-78"/>
                <a:cs typeface="Amiri" pitchFamily="2" charset="-78"/>
              </a:rPr>
              <a:t>أُرِيدُ</a:t>
            </a:r>
            <a:pPr rtl="1" algn="r" indent="0" marL="0">
              <a:buNone/>
            </a:pPr>
            <a:r>
              <a:rPr lang="ar-SA" altLang="en-US" sz="2400" b="1" dirty="0">
                <a:solidFill>
                  <a:srgbClr val="1B3B6F"/>
                </a:solidFill>
                <a:latin typeface="Amiri" pitchFamily="2" charset="-78"/>
                <a:ea typeface="Amiri" pitchFamily="2" charset="-78"/>
                <a:cs typeface="Amiri" pitchFamily="2" charset="-78"/>
              </a:rPr>
              <a:t> أَنْ </a:t>
            </a:r>
            <a:pPr rtl="1" algn="r" indent="0" marL="0">
              <a:buNone/>
            </a:pPr>
            <a:r>
              <a:rPr lang="ar-SA" altLang="en-US" sz="2400" b="1" dirty="0">
                <a:solidFill>
                  <a:srgbClr val="0E7C86"/>
                </a:solidFill>
                <a:latin typeface="Amiri" pitchFamily="2" charset="-78"/>
                <a:ea typeface="Amiri" pitchFamily="2" charset="-78"/>
                <a:cs typeface="Amiri" pitchFamily="2" charset="-78"/>
              </a:rPr>
              <a:t>أَتَطَوَّرَ</a:t>
            </a:r>
            <a:pPr rtl="1" algn="r" indent="0" marL="0">
              <a:buNone/>
            </a:pPr>
            <a:r>
              <a:rPr lang="ar-SA" altLang="en-US" sz="2400" b="1" dirty="0">
                <a:solidFill>
                  <a:srgbClr val="1B3B6F"/>
                </a:solidFill>
                <a:latin typeface="Amiri" pitchFamily="2" charset="-78"/>
                <a:ea typeface="Amiri" pitchFamily="2" charset="-78"/>
                <a:cs typeface="Amiri" pitchFamily="2" charset="-78"/>
              </a:rPr>
              <a:t> أَكْثَرَ.</a:t>
            </a:r>
            <a:endParaRPr lang="ar-SA" sz="24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I learn Arabic every day. My level improved because of practice, and I remember new words. I want to develop further.</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GM-VF-05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GM-VF-05</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أَتَعَلَّمُ الْعَرَبِيَّةَ لِأَنَّنِي أُحِبُّ اللُّغَاتِ.</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am learning Arabic because I love languages.</a:t>
            </a:r>
            <a:endParaRPr lang="en-US" sz="1250" dirty="0"/>
          </a:p>
          <a:p>
            <a:pPr indent="0" marL="0">
              <a:buNone/>
            </a:pPr>
            <a:r>
              <a:rPr lang="en-US" sz="1050" i="1" dirty="0">
                <a:solidFill>
                  <a:srgbClr val="8A6D1E"/>
                </a:solidFill>
                <a:latin typeface="Calibri" pitchFamily="34" charset="0"/>
                <a:cs typeface="Amiri" pitchFamily="2" charset="-78"/>
              </a:rPr>
              <a:t>Website.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تَحَسَّنَ مُسْتَوَايَ بَعْدَ الْمُمَارَسَةِ.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My level improved after practice.</a:t>
            </a:r>
            <a:endParaRPr lang="en-US" sz="1250" dirty="0"/>
          </a:p>
          <a:p>
            <a:pPr indent="0" marL="0">
              <a:buNone/>
            </a:pPr>
            <a:r>
              <a:rPr lang="en-US" sz="1050" i="1" dirty="0">
                <a:solidFill>
                  <a:srgbClr val="8A6D1E"/>
                </a:solidFill>
                <a:latin typeface="Calibri" pitchFamily="34" charset="0"/>
                <a:cs typeface="Amiri" pitchFamily="2" charset="-78"/>
              </a:rPr>
              <a:t>Process.</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أُخْتِي تَتَكَلَّمُ الْفَرَنْسِيَّةَ.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My sister speaks French.</a:t>
            </a:r>
            <a:endParaRPr lang="en-US" sz="1250" dirty="0"/>
          </a:p>
          <a:p>
            <a:pPr indent="0" marL="0">
              <a:buNone/>
            </a:pPr>
            <a:r>
              <a:rPr lang="en-US" sz="1050" i="1" dirty="0">
                <a:solidFill>
                  <a:srgbClr val="8A6D1E"/>
                </a:solidFill>
                <a:latin typeface="Calibri" pitchFamily="34" charset="0"/>
                <a:cs typeface="Amiri" pitchFamily="2" charset="-78"/>
              </a:rPr>
              <a:t>Two ta-.</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تَغَيَّرَ الْجَوُّ فَجْأَةً.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weather changed suddenly.</a:t>
            </a:r>
            <a:endParaRPr lang="en-US" sz="1250" dirty="0"/>
          </a:p>
          <a:p>
            <a:pPr indent="0" marL="0">
              <a:buNone/>
            </a:pPr>
            <a:r>
              <a:rPr lang="en-US" sz="1050" i="1" dirty="0">
                <a:solidFill>
                  <a:srgbClr val="8A6D1E"/>
                </a:solidFill>
                <a:latin typeface="Calibri" pitchFamily="34" charset="0"/>
                <a:cs typeface="Amiri" pitchFamily="2" charset="-78"/>
              </a:rPr>
              <a:t>It changed (itself).</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GM-VF-05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SAME ROOT, DIFFERENT FORM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Do it to others → it happens to you</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الثَّانِي إِلَى الْخَامِسِ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546811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Form V</a:t>
            </a:r>
            <a:endParaRPr lang="en-US" sz="1100" dirty="0"/>
          </a:p>
        </p:txBody>
      </p:sp>
      <p:sp>
        <p:nvSpPr>
          <p:cNvPr id="18" name="Text 15"/>
          <p:cNvSpPr txBox="1"/>
          <p:nvPr/>
        </p:nvSpPr>
        <p:spPr>
          <a:xfrm>
            <a:off x="309067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5303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Base verb</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065008" y="2267712"/>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learn</a:t>
            </a:r>
            <a:endParaRPr lang="en-US" sz="1100" dirty="0"/>
          </a:p>
        </p:txBody>
      </p:sp>
      <p:sp>
        <p:nvSpPr>
          <p:cNvPr id="22" name="Text 19"/>
          <p:cNvSpPr txBox="1"/>
          <p:nvPr/>
        </p:nvSpPr>
        <p:spPr>
          <a:xfrm>
            <a:off x="5486400" y="2267712"/>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تَعَلَّمَ</a:t>
            </a:r>
            <a:endParaRPr lang="ar-SA" sz="2400" dirty="0"/>
          </a:p>
        </p:txBody>
      </p:sp>
      <p:sp>
        <p:nvSpPr>
          <p:cNvPr id="23" name="Text 20"/>
          <p:cNvSpPr txBox="1"/>
          <p:nvPr/>
        </p:nvSpPr>
        <p:spPr>
          <a:xfrm>
            <a:off x="312724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teach (II)</a:t>
            </a:r>
            <a:endParaRPr lang="en-US" sz="1100" dirty="0"/>
          </a:p>
        </p:txBody>
      </p:sp>
      <p:sp>
        <p:nvSpPr>
          <p:cNvPr id="24" name="Text 21"/>
          <p:cNvSpPr txBox="1"/>
          <p:nvPr/>
        </p:nvSpPr>
        <p:spPr>
          <a:xfrm>
            <a:off x="548640" y="2267712"/>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عَلَّمَ</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065008" y="3004718"/>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remember</a:t>
            </a:r>
            <a:endParaRPr lang="en-US" sz="1100" dirty="0"/>
          </a:p>
        </p:txBody>
      </p:sp>
      <p:sp>
        <p:nvSpPr>
          <p:cNvPr id="29" name="Text 26"/>
          <p:cNvSpPr txBox="1"/>
          <p:nvPr/>
        </p:nvSpPr>
        <p:spPr>
          <a:xfrm>
            <a:off x="5486400" y="300471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تَذَكَّرَ</a:t>
            </a:r>
            <a:endParaRPr lang="ar-SA" sz="2400" dirty="0"/>
          </a:p>
        </p:txBody>
      </p:sp>
      <p:sp>
        <p:nvSpPr>
          <p:cNvPr id="30" name="Text 27"/>
          <p:cNvSpPr txBox="1"/>
          <p:nvPr/>
        </p:nvSpPr>
        <p:spPr>
          <a:xfrm>
            <a:off x="312724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remind (II)</a:t>
            </a:r>
            <a:endParaRPr lang="en-US" sz="1100" dirty="0"/>
          </a:p>
        </p:txBody>
      </p:sp>
      <p:sp>
        <p:nvSpPr>
          <p:cNvPr id="31" name="Text 28"/>
          <p:cNvSpPr txBox="1"/>
          <p:nvPr/>
        </p:nvSpPr>
        <p:spPr>
          <a:xfrm>
            <a:off x="548640" y="300471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ذَكَّرَ</a:t>
            </a:r>
            <a:endParaRPr lang="ar-SA" sz="24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065008" y="3741725"/>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improve / get better</a:t>
            </a:r>
            <a:endParaRPr lang="en-US" sz="1100" dirty="0"/>
          </a:p>
        </p:txBody>
      </p:sp>
      <p:sp>
        <p:nvSpPr>
          <p:cNvPr id="36" name="Text 33"/>
          <p:cNvSpPr txBox="1"/>
          <p:nvPr/>
        </p:nvSpPr>
        <p:spPr>
          <a:xfrm>
            <a:off x="5486400" y="3741725"/>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تَحَسَّنَ</a:t>
            </a:r>
            <a:endParaRPr lang="ar-SA" sz="2400" dirty="0"/>
          </a:p>
        </p:txBody>
      </p:sp>
      <p:sp>
        <p:nvSpPr>
          <p:cNvPr id="37" name="Text 34"/>
          <p:cNvSpPr txBox="1"/>
          <p:nvPr/>
        </p:nvSpPr>
        <p:spPr>
          <a:xfrm>
            <a:off x="312724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improve something (II)</a:t>
            </a:r>
            <a:endParaRPr lang="en-US" sz="1100" dirty="0"/>
          </a:p>
        </p:txBody>
      </p:sp>
      <p:sp>
        <p:nvSpPr>
          <p:cNvPr id="38" name="Text 35"/>
          <p:cNvSpPr txBox="1"/>
          <p:nvPr/>
        </p:nvSpPr>
        <p:spPr>
          <a:xfrm>
            <a:off x="548640" y="3741725"/>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حَسَّنَ</a:t>
            </a:r>
            <a:endParaRPr lang="ar-SA" sz="24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065008" y="4478731"/>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change / become different</a:t>
            </a:r>
            <a:endParaRPr lang="en-US" sz="1100" dirty="0"/>
          </a:p>
        </p:txBody>
      </p:sp>
      <p:sp>
        <p:nvSpPr>
          <p:cNvPr id="43" name="Text 40"/>
          <p:cNvSpPr txBox="1"/>
          <p:nvPr/>
        </p:nvSpPr>
        <p:spPr>
          <a:xfrm>
            <a:off x="5486400" y="4478731"/>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تَغَيَّرَ</a:t>
            </a:r>
            <a:endParaRPr lang="ar-SA" sz="2400" dirty="0"/>
          </a:p>
        </p:txBody>
      </p:sp>
      <p:sp>
        <p:nvSpPr>
          <p:cNvPr id="44" name="Text 41"/>
          <p:cNvSpPr txBox="1"/>
          <p:nvPr/>
        </p:nvSpPr>
        <p:spPr>
          <a:xfrm>
            <a:off x="312724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change something (II)</a:t>
            </a:r>
            <a:endParaRPr lang="en-US" sz="1100" dirty="0"/>
          </a:p>
        </p:txBody>
      </p:sp>
      <p:sp>
        <p:nvSpPr>
          <p:cNvPr id="45" name="Text 42"/>
          <p:cNvSpPr txBox="1"/>
          <p:nvPr/>
        </p:nvSpPr>
        <p:spPr>
          <a:xfrm>
            <a:off x="548640" y="4478731"/>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غَيَّرَ</a:t>
            </a:r>
            <a:endParaRPr lang="ar-SA" sz="24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8065008" y="5215738"/>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speak</a:t>
            </a:r>
            <a:endParaRPr lang="en-US" sz="1100" dirty="0"/>
          </a:p>
        </p:txBody>
      </p:sp>
      <p:sp>
        <p:nvSpPr>
          <p:cNvPr id="48" name="Text 45"/>
          <p:cNvSpPr txBox="1"/>
          <p:nvPr/>
        </p:nvSpPr>
        <p:spPr>
          <a:xfrm>
            <a:off x="5486400" y="521573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تَكَلَّمَ</a:t>
            </a:r>
            <a:endParaRPr lang="ar-SA" sz="2400" dirty="0"/>
          </a:p>
        </p:txBody>
      </p:sp>
      <p:sp>
        <p:nvSpPr>
          <p:cNvPr id="49" name="Text 46"/>
          <p:cNvSpPr txBox="1"/>
          <p:nvPr/>
        </p:nvSpPr>
        <p:spPr>
          <a:xfrm>
            <a:off x="312724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speak to someone (II)</a:t>
            </a:r>
            <a:endParaRPr lang="en-US" sz="1100" dirty="0"/>
          </a:p>
        </p:txBody>
      </p:sp>
      <p:sp>
        <p:nvSpPr>
          <p:cNvPr id="50" name="Text 47"/>
          <p:cNvSpPr txBox="1"/>
          <p:nvPr/>
        </p:nvSpPr>
        <p:spPr>
          <a:xfrm>
            <a:off x="548640" y="521573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كَلَّمَ</a:t>
            </a:r>
            <a:endParaRPr lang="ar-SA" sz="24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Form II acts on someone or something else; Form V often shows the result happening to the subject (website “useful II–V relationship”).</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GM-VF-05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CLINIC · STEM TA- OR PREFIX TA-?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Part of the stem, or “she / you”?</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تَاءُ الْوَزْنِ أَمْ تَاءُ الْمُضَارَعَةِ؟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GM-VF-05</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تَعَلَّمَ</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تَذَكَّرَ</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تَحَسَّنَ</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تَكَلَّمَ</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تَكْتُبُ</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تَدْرُسُ</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تَفْهَمُ</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تَجْلِسُ</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Form V past (ta- in the stem)</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Form I present (ta- = she / you)</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GM-VF-05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GM-VF-05</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Form V past (ta- in the stem)</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تَعَلَّمَ</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تَذَكَّرَ</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تَحَسَّنَ</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تَكَلَّمَ</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Form I present (ta- = she / you)</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تَكْتُبُ</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تَدْرُسُ</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تَفْهَمُ</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تَجْلِسُ</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GM-VF-05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GM-VF-05</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هِيَ تَعَلَّمُ الْعَرَبِيَّةَ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How many ta-?</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هُوَ يُتَعَلَّمُ</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ya- or yu-?</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أَنَا طَالِبٌ، أُعَلِّمُ الْعَرَبِيَّةَ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Teach or learn?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GM-VF-05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GM-VF-05</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هِيَ تَعَلَّمُ الْعَرَبِيَّةَ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هِيَ تَتَعَلَّمُ الْعَرَبِيَّةَ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She = ta- prefix + ta- stem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هُوَ يُتَعَلَّمُ</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هُوَ يَتَعَلَّمُ</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Form V present starts with ya-, not yu- (website).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أَنَا طَالِبٌ، أُعَلِّمُ الْعَرَبِيَّةَ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أَنَا طَالِبٌ، أَتَعَلَّمُ الْعَرَبِيَّةَ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student learns (V); a teacher teaches (II).</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GM-VF-05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74" b="1" spc="150" kern="0" dirty="0">
                <a:solidFill>
                  <a:srgbClr val="2F6FB0"/>
                </a:solidFill>
                <a:latin typeface="Calibri" pitchFamily="34" charset="0"/>
                <a:cs typeface="Amiri" pitchFamily="2" charset="-78"/>
              </a:rPr>
              <a:t>WE DO · GUIDED PRACTICE · WEBSITE SELF-CHECK ITEM AND TEACHER-WRITTEN QUESTIONS</a:t>
            </a:r>
            <a:endParaRPr lang="en-US" sz="874"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description is most accurate?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Form V is an English reflexive verb.</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initial </a:t>
            </a:r>
            <a:pPr algn="l" indent="0" marL="0">
              <a:buNone/>
            </a:pPr>
            <a:r>
              <a:rPr lang="ar-SA" altLang="en-US" sz="1650" dirty="0">
                <a:solidFill>
                  <a:srgbClr val="1F2A37"/>
                </a:solidFill>
                <a:latin typeface="Amiri" pitchFamily="2" charset="-78"/>
                <a:ea typeface="Amiri" pitchFamily="2" charset="-78"/>
                <a:cs typeface="Amiri" pitchFamily="2" charset="-78"/>
              </a:rPr>
              <a:t>ت</a:t>
            </a:r>
            <a:pPr algn="l" indent="0" marL="0">
              <a:buNone/>
            </a:pPr>
            <a:r>
              <a:rPr lang="en-US" sz="1250" dirty="0">
                <a:solidFill>
                  <a:srgbClr val="1F2A37"/>
                </a:solidFill>
                <a:latin typeface="Calibri" pitchFamily="34" charset="0"/>
                <a:cs typeface="Amiri" pitchFamily="2" charset="-78"/>
              </a:rPr>
              <a:t> always identifies a feminine subject.</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Form V often expresses a process or reflexive/developmental meaning.</a:t>
            </a:r>
            <a:endParaRPr lang="en-US" sz="12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verbal noun of </a:t>
            </a:r>
            <a:pPr algn="l" indent="0" marL="0">
              <a:buNone/>
            </a:pPr>
            <a:r>
              <a:rPr lang="ar-SA" altLang="en-US" sz="1650" b="1" dirty="0">
                <a:solidFill>
                  <a:srgbClr val="1B3B6F"/>
                </a:solidFill>
                <a:latin typeface="Amiri" pitchFamily="2" charset="-78"/>
                <a:ea typeface="Amiri" pitchFamily="2" charset="-78"/>
                <a:cs typeface="Amiri" pitchFamily="2" charset="-78"/>
              </a:rPr>
              <a:t>تَحَسَّنَ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تَحْسِينٌ</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تَحَسُّنٌ</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حُسْنٌ</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speak”.</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نُكَلِّمُ</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نَتَكَلَّمُ</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تَكَلَّمْنَا</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weather changed”.</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غَيَّرَ الْجَوُّ</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يُغَيِّرُ الْجَوُّ</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تَغَيَّرَ الْجَوُّ</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GM-VF-05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description is most accurate?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Form V is an English reflexive verb.</a:t>
            </a:r>
            <a:endParaRPr lang="en-US" sz="125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initial </a:t>
            </a:r>
            <a:pPr algn="l" indent="0" marL="0">
              <a:buNone/>
            </a:pPr>
            <a:r>
              <a:rPr lang="ar-SA" altLang="en-US" sz="1650" dirty="0">
                <a:solidFill>
                  <a:srgbClr val="9AA1AB"/>
                </a:solidFill>
                <a:latin typeface="Amiri" pitchFamily="2" charset="-78"/>
                <a:ea typeface="Amiri" pitchFamily="2" charset="-78"/>
                <a:cs typeface="Amiri" pitchFamily="2" charset="-78"/>
              </a:rPr>
              <a:t>ت</a:t>
            </a:r>
            <a:pPr algn="l" indent="0" marL="0">
              <a:buNone/>
            </a:pPr>
            <a:r>
              <a:rPr lang="en-US" sz="1250" dirty="0">
                <a:solidFill>
                  <a:srgbClr val="9AA1AB"/>
                </a:solidFill>
                <a:latin typeface="Calibri" pitchFamily="34" charset="0"/>
                <a:cs typeface="Amiri" pitchFamily="2" charset="-78"/>
              </a:rPr>
              <a:t> always identifies a feminine subject.</a:t>
            </a:r>
            <a:endParaRPr lang="en-US" sz="125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Form V often expresses a process or reflexive/developmental meaning.</a:t>
            </a:r>
            <a:endParaRPr lang="en-US" sz="115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pattern can suggest meaning; usage decides.</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verbal noun of </a:t>
            </a:r>
            <a:pPr algn="l" indent="0" marL="0">
              <a:buNone/>
            </a:pPr>
            <a:r>
              <a:rPr lang="ar-SA" altLang="en-US" sz="1650" b="1" dirty="0">
                <a:solidFill>
                  <a:srgbClr val="1B3B6F"/>
                </a:solidFill>
                <a:latin typeface="Amiri" pitchFamily="2" charset="-78"/>
                <a:ea typeface="Amiri" pitchFamily="2" charset="-78"/>
                <a:cs typeface="Amiri" pitchFamily="2" charset="-78"/>
              </a:rPr>
              <a:t>تَحَسَّنَ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تَحْسِينٌ</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تَحَسُّنٌ</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حُسْنٌ</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tafaʿʿul (taḥsīn is Form II).</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speak”.</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نُكَلِّمُ</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نَتَكَلَّمُ</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تَكَلَّمْنَا</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na- + ta-.</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weather changed”.</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غَيَّرَ الْجَوُّ</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يُغَيِّرُ الْجَوُّ</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تَغَيَّرَ الْجَوُّ</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changed itself: Form V.</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GM-VF-05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YOU DO · READ AND NOTICE · READING FOR FORM V (TEACHER-WRITTEN JOURNAL)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learning journal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GM-VF-05</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الْأُسْبُوعُ الْأَوَّلُ: تَعَلَّمْتُ عِشْرِينَ كَلِمَةً جَدِيدَةً، وَلَكِنِّي لَمْ أَتَذَكَّرْ كُلَّهَا. الْأُسْبُوعُ الثَّانِي: تَكَلَّمْتُ مَعَ جَدَّتِي بِالْعَرَبِيَّةِ، وَتَحَسَّنَ نُطْقِي. الْأُسْبُوعُ الثَّالِثُ: تَتَعَلَّمُ أُخْتِي مَعِي الْآنَ، وَنَتَحَدَّثُ كُلَّ مَسَاءٍ. أَشْعُرُ أَنَّ لُغَتِي تَتَطَوَّرُ بِسُرْعَةٍ!</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كُلَّهَا</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all of them</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جَدَّتِي</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my grandmother</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نُطْقِي</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my pronunciation</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أَشْعُرُ</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feel</a:t>
            </a:r>
            <a:endParaRPr lang="en-US" sz="10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GM-VF-05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in week two?</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 learned 20 words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 spoke with grandmother and pronunciation improved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sister started learning</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learns with the writer now?</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grandmother</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teacher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sister</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lam atadhakkar, not atadhakkaru?</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jussive after lam</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future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Form II</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has TWO ta- at the start?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تَعَلَّمْتُ</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تَتَعَلَّمُ</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نَتَحَدَّثُ</a:t>
            </a:r>
            <a:endParaRPr lang="ar-SA" sz="20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GM-VF-05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in week two?</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writer learned 20 words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writer spoke with grandmother and pronunciation improved</a:t>
            </a:r>
            <a:endParaRPr lang="en-US" sz="11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sister started learning</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Takallamtu … wa-taḥassana nuṭqī.</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learns with the writer now?</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grandmother</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teacher</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sister</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Tataʿallamu ukhtī maʿī.</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lam atadhakkar, not atadhakkaru?</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jussive after lam</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future</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Form II</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GM-V-08.</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has TWO ta- at the start?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تَعَلَّمْتُ</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تَتَعَلَّمُ</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نَتَحَدَّثُ</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ta- (she) + ta- (stem).</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GM-VF-05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how I am improving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GM-VF-05</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تَتَعَلَّمُ هَذِهِ السَّنَةَ؟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تَحَسَّنَتْ لُغَتُكَ؟ وَمَا الْكَلِمَاتُ الَّتِي تَتَذَكَّرُهَا؟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تَتَطَوَّرُ التِّقْنِيَّةُ؟ وَكَيْفَ تُسَاعِدُكَ فِي التَّعَلُّمِ؟</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أَتَعَلَّمُ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تَحَسَّنَتْ لُغَتِي لِأَنَّ ___ ، وَأَتَذَكَّرُ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تَتَطَوَّرُ التِّقْنِيَّةُ ___ ، وَ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مَاذَا تَتَعَلَّمِينَ هَذِهِ السَّنَةَ؟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are you learning this year?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أَتَعَلَّمُ الْعَرَبِيَّةَ وَالْبَرْمَجَةَ. تَحَسَّنَتْ قِرَاءَتِي كَثِيرًا، وَأَتَذَكَّرُ الْآنَ كَلِمَاتٍ أَكْثَرَ.</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 am learning Arabic and programming. My reading has improved a lot, and I now remember more words.</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GM-VF-05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GM-VF-05</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3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ataʿallamu · taḥassana · atadhakkaru.</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she / they forms and a verbal noun.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tataʿallamu · yataḥaddathūna.</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 weekly journal with four Form V verbs and a Form II / V pair.</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ʿallamanī … fa-taʿallamtu.</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GM-VF-05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GM-VF-05</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أُخْتِي تَتَعَلَّمُ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sister learns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تَحَدَّثْنَا عَنْ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talked about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تَعَلُّمُ ______ مُفِيدٌ.</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Learning … is useful</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عَلَّمَنِي ______ فَتَعَلَّمْتُ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taught me, so I learned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أَتَعَلَّمُ ______ كُلَّ يَوْمٍ.</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learn … every day</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تَحَسَّنَ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 improved</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أَتَذَكَّرُ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remember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أَتَكَلَّمُ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speak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تَعَلَّمَ · يَتَعَلَّمُ  ·  تَذَكَّرَ · يَتَذَكَّرُ  ·  تَحَسَّنَ · يَتَحَسَّنُ  ·  تَطَوَّرَ · يَتَطَوَّرُ  ·  تَكَلَّمَ · يَتَكَلَّمُ  ·  تَحَدَّثَ · يَتَحَدَّثُ  ·  تَغَيَّرَ · يَتَغَيَّرُ  ·  تَعَلُّمٌ  ·  مُتَعَلِّمٌ</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GM-VF-05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GM-VF-05</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weekly learning journal with four Form V verbs and one Form II / Form V pair.</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Four Form V verbs.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She / you forms with two ta-.</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Present with ya- (not yu-).</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verbal noun (taʿallum, taḥassun).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Form II / V pair.</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الْأُسْبُوعِ الْأَوَّلِ</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first week</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بِسَبَبِ الْمُمَارَسَةِ</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because of practice</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مُسْتَوَايَ</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level</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نُطْقِي</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pronunciation</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أَكْثَرَ فَأَكْثَرَ</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more and more</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بِسُرْعَةٍ</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quickly</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GM-VF-05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بَدَأْتُ أَتَعَلَّمُ الْخَطَّ الْعَرَبِيَّ قَبْلَ شَهْرَيْنِ. فِي الْبِدَايَةِ كَانَ صَعْبًا، وَلَمْ أَتَذَكَّرْ أَشْكَالَ الْحُرُوفِ. عَلَّمَنِي أُسْتَاذِي بِصَبْرٍ، فَتَعَلَّمْتُ الْقَوَاعِدَ خُطْوَةً خُطْوَةً. الْآنَ تَحَسَّنَ خَطِّي كَثِيرًا، وَأَتَكَلَّمُ عَنْ هِوَايَتِي بِثِقَةٍ. أُخْتِي أَيْضًا تَتَعَلَّمُ مَعِي، وَنَتَحَدَّثُ عَنْ تَقَدُّمِنَا كُلَّ أُسْبُوعٍ. أَتَمَنَّى أَنْ أَتَطَوَّرَ أَكْثَرَ فَأَكْثَرَ.</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started learning Arabic calligraphy two months ago. At first it was difficult, and I did not remember the letter shapes. My teacher taught me patiently, so I learned the rules step by step. Now my handwriting has improved a lot, and I talk about my hobby with confidence. My sister is also learning with me, and we talk about our progress every week. I hope to develop more and more.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Form V present</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Form V past</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Form II / V pair</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ta-</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GM-VF-05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GM-VF-05</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Form V verbs start with ta- and have a shadda.</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present forms start with ya- / a- / na- (not yu-).</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she / you forms with two ta-.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 verbal noun like taʿallum.</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 Form II / Form V pair.</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GM-VF-05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learns”.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تَتَعَلَّمُ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تَعَلَّمُ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تُعَلِّمُ</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Form V?</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ذَكَّرَ</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تَذَكَّرَ</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ذَكَرَ</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improve”.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يَتَحَسَّنُونَ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يُحَسِّنُونَ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تَحَسَّنُوا</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GM-VF-05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learns”.</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تَتَعَلَّمُ</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تَعَلَّمُ</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تُعَلِّمُ</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Two ta-; tuʿallimu = she teaches.</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Form V?</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ذَكَّرَ</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تَذَكَّرَ</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ذَكَرَ</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ta- + shadda.</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improve”.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يَتَحَسَّنُونَ</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يُحَسِّنُونَ</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تَحَسَّنُوا</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ya- + ta- … -ūna.</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GM-VF-05 · Arabic Verb Forms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Before GM-VF-06: get ready at home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GM-VF-05</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GM-VF-06 · Form VI: Cooperation and Mutual Action</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تَعَاوَنَ · يَتَعَاوَنُ</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cooperate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تَنَاقَشَ · يَتَنَاقَشُ</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discuss together</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تَبَادَلَ · يَتَبَادَلُ</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exchange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تَقَابَلَ · يَتَقَابَلُ</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meet each other</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بَعْضُنَا بَعْضًا</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each other</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Shāraka (III) = to participate. What might tashāraka mean?</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شَارَكَ · تَشَارَكَ</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five sentences with taʿallama, tadhakkara and taḥassana.</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Conjugate takallama in past and present for six persons.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weekly learning journal with four Form V verbs.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GM-VF-05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cs typeface="Amiri" pitchFamily="2" charset="-78"/>
              </a:rPr>
              <a:t>GM-VF-06 · Form VI: Cooperation and Mutual Action</a:t>
            </a:r>
            <a:endParaRPr lang="en-US" sz="19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الْوَزْنُ السَّادِسُ</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Form V = ta- + shadda (tafaʿʿala) · present ya- + ta- (yataʿallamu) · she = tataʿallamu · noun tafaʿʿul · Form II does it to others, Form V often happens to you.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GM-VF-05 · Form V: Learning and Developing</dc:title>
  <dc:subject>PptxGenJS Presentation</dc:subject>
  <dc:creator>Al Madina Online School · Arabic Department</dc:creator>
  <cp:lastModifiedBy>Al Madina Online School · Arabic Department</cp:lastModifiedBy>
  <cp:revision>1</cp:revision>
  <dcterms:created xsi:type="dcterms:W3CDTF">2026-10-11T06:42:43Z</dcterms:created>
  <dcterms:modified xsi:type="dcterms:W3CDTF">2026-10-11T06:42:43Z</dcterms:modified>
</cp:coreProperties>
</file>