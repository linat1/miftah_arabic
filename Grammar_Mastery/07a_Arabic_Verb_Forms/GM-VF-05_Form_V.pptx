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GM-VF-05 (“Form V: Learning and Developing”).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تَعَلَّمَ · يَتَعَلَّمُ and the family تَذَكَّرَ · تَحَسَّنَ · تَطَوَّرَ for a learning journal. Develop: conjugation with TWO ta- for she / you (تَتَعَلَّمُ) and the verbal noun تَفَعُّلٌ (تَعَلُّمٌ · تَحَسُّنٌ). Stretch: Form II → V pairs (عَلَّمَ / تَعَلَّمَ · ذَكَّرَ / تَذَكَّرَ · غَيَّرَ / تَغَيَّرَ) — doing something to others vs it happening to you.
• Website clinic: the ta- at the start of taʿallama belongs to the stem — it is NOT the she / you prefix. So “she learns” = tataʿallamu.
• Present prefix vowel goes back to a (ya-, ta-, a-, na-) — unlike Forms II–IV.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GM-VF-04 and its prep words (taʿallama, tadhakkara, taḥassana, taṭawwara).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 = ta- + doubled middle letter (tafaʿʿala). Present = ya- + ta- … (yatafaʿʿalu).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The command keeps the ta-: taʿallam! (no helping vowel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Drill hiya tataʿallamu — the most common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Ataṭawwara: subjunctive after an (GM-V-10).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make a pair of sentences: The teacher taught me. →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V past has a shadda and ends in -a; the Form I present ends in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V past has a shadda and ends in -a; the Form I present ends in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 (teacher-written journal). Read it aloud once while students follow; then they hunt for today’s grammar.
Task: Website: write a learning journal entry. First, underline every Form V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journal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what you are learning, how you have improved and which words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learning journal entry explaining what you are learning, how you have improved and which words you remember.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(GM-VF-06 · Form VI: Cooperation and Mutual Action) will spend class time USING this language, so students prepare it tonight — short, simple, easy to access (school guidance: “Simple, Short, Interesting, Relevant, Easy to access”). The five words prepare GM-VF-06 (website Verb Forms: Form VI).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cs typeface="Amiri" pitchFamily="2" charset="-78"/>
              </a:rPr>
              <a:t>Form V: Learning and Developing</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الْخَامِسُ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V = ta- + Form II: ʿallama (teach) → taʿallama (learn). The present starts with ya- (not yu-): yataʿallamu. It often shows a process happening to the subject — learning, improving, developing.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(two ta-); Form II vs V.</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Teach → learn; sort stem ta- / prefix ta-;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IV?</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رَاسَلَ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ʿAllama = to teach. Taʿallama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learn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know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 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Tadhakkara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mention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remember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Taḥassana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improve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be good at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better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IV?</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أَرْسُمُ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أَرْسَلَ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رَاسَلَ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before the root in the past (GM-VF-04).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ʿAllama = to teach. Taʿallama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learn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know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teach 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Tadhakkara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mention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remember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present: ya- + ta-.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Taḥassana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improve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be good at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better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V = ta- + doubled middle letter (tafaʿʿala). Present = ya- + ta- … (yatafaʿʿalu).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تَعَلَّمَ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يَتَعَلَّمُ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V: ta- + shadda on the middle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 + 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about learning and progress with Form V.</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Form II / Form V link.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learn and I remember.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my progress.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she learns (tataʿallamu)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taʿallum and taḥassun.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contrast ʿallama / taʿallama and ghayyara / taghayyara.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the ta- is part of the stem.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 الْخَامِسُ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a:t>
            </a:r>
            <a:endParaRPr lang="en-US" sz="1350" dirty="0"/>
          </a:p>
          <a:p>
            <a:pPr indent="0" marL="0">
              <a:buNone/>
            </a:pPr>
            <a:r>
              <a:rPr lang="en-US" sz="1100" i="1" dirty="0">
                <a:solidFill>
                  <a:srgbClr val="5A6472"/>
                </a:solidFill>
                <a:latin typeface="Calibri" pitchFamily="34" charset="0"/>
                <a:cs typeface="Amiri" pitchFamily="2" charset="-78"/>
              </a:rPr>
              <a:t>al-waz-nu al-khā-mi-su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التَّاءُ الزَّائِدَةُ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added ta- (part of the stem)</a:t>
            </a:r>
            <a:endParaRPr lang="en-US" sz="1350" dirty="0"/>
          </a:p>
          <a:p>
            <a:pPr indent="0" marL="0">
              <a:buNone/>
            </a:pPr>
            <a:r>
              <a:rPr lang="en-US" sz="1100" i="1" dirty="0">
                <a:solidFill>
                  <a:srgbClr val="5A6472"/>
                </a:solidFill>
                <a:latin typeface="Calibri" pitchFamily="34" charset="0"/>
                <a:cs typeface="Amiri" pitchFamily="2" charset="-78"/>
              </a:rPr>
              <a:t>at-tā-ʾu az-zā-ʾi-da-tu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تَعَلَّمَ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الْمُطَاوَعَةُ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happens to the subject</a:t>
            </a:r>
            <a:endParaRPr lang="en-US" sz="1350" dirty="0"/>
          </a:p>
          <a:p>
            <a:pPr indent="0" marL="0">
              <a:buNone/>
            </a:pPr>
            <a:r>
              <a:rPr lang="en-US" sz="1100" i="1" dirty="0">
                <a:solidFill>
                  <a:srgbClr val="5A6472"/>
                </a:solidFill>
                <a:latin typeface="Calibri" pitchFamily="34" charset="0"/>
                <a:cs typeface="Amiri" pitchFamily="2" charset="-78"/>
              </a:rPr>
              <a:t>al-mu-ṭā-wa-ʿa-tu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تَحَسَّنَ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التَّطَوُّرُ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development</a:t>
            </a:r>
            <a:endParaRPr lang="en-US" sz="1350" dirty="0"/>
          </a:p>
          <a:p>
            <a:pPr indent="0" marL="0">
              <a:buNone/>
            </a:pPr>
            <a:r>
              <a:rPr lang="en-US" sz="1100" i="1" dirty="0">
                <a:solidFill>
                  <a:srgbClr val="5A6472"/>
                </a:solidFill>
                <a:latin typeface="Calibri" pitchFamily="34" charset="0"/>
                <a:cs typeface="Amiri" pitchFamily="2" charset="-78"/>
              </a:rPr>
              <a:t>at-ta-ṭaw-wu-ru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تَطَوَّرَ</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 verbal noun</a:t>
            </a:r>
            <a:endParaRPr lang="en-US" sz="1350" dirty="0"/>
          </a:p>
          <a:p>
            <a:pPr indent="0" marL="0">
              <a:buNone/>
            </a:pPr>
            <a:r>
              <a:rPr lang="en-US" sz="1100" i="1" dirty="0">
                <a:solidFill>
                  <a:srgbClr val="5A6472"/>
                </a:solidFill>
                <a:latin typeface="Calibri" pitchFamily="34" charset="0"/>
                <a:cs typeface="Amiri" pitchFamily="2" charset="-78"/>
              </a:rPr>
              <a:t>ta-faʿ-ʿu-lun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 doer</a:t>
            </a:r>
            <a:endParaRPr lang="en-US" sz="1350" dirty="0"/>
          </a:p>
          <a:p>
            <a:pPr indent="0" marL="0">
              <a:buNone/>
            </a:pPr>
            <a:r>
              <a:rPr lang="en-US" sz="1100" i="1" dirty="0">
                <a:solidFill>
                  <a:srgbClr val="5A6472"/>
                </a:solidFill>
                <a:latin typeface="Calibri" pitchFamily="34" charset="0"/>
                <a:cs typeface="Amiri" pitchFamily="2" charset="-78"/>
              </a:rPr>
              <a:t>mu-ta-faʿ-ʿi-lun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مُتَعَلِّمٌ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V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 + a doubled middle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تَفَعَّلَ · يَتَفَعَّلُ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تَفَعُّلٌ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مُتَعَلِّمٌ</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يَتَعَلَّمُ</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تَذَكَّرْ</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مُتَذَكِّرٌ</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تَذَكُّرٌ</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يَتَذَكَّرُ</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تَذَكَّرَ</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remember</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تَحَسَّنْ</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مُتَحَسِّنٌ</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تَحَسُّنٌ</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يَتَحَسَّنُ</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تَحَسَّنَ</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مُتَكَلِّمٌ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يَتَكَلَّمُ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V combines an initial ta- with a doubled middle root letter. Its present is yatafaʿʿalu — it begins with ya-, not yu- as in Form II.</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V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الْوَزْنِ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أَتَعَلَّمُ الْعَرَبِيَّةَ لِأَنَّنِي أُحِبُّ اللُّغَاتِ.</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تَعَلَّمَ · يَتَعَلَّمُ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تَحَسَّنَ مُسْتَوَايَ بَعْدَ الْمُمَارَسَةِ.</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تَحَسَّنَ · يَتَحَسَّنُ</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يَتَذَكَّرُ الطَّالِبُ الْكَلِمَاتِ الْجَدِيدَةَ.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remember</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تَذَكَّرَ · يَتَذَكَّرُ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تَتَطَوَّرُ التِّقْنِيَّةُ بِسُرْعَةٍ.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develop</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تَطَوَّرَ · يَتَطَوَّرُ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أَتَكَلَّمُ ثَلَاثَ لُغَاتٍ.</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تَكَلَّمَ · يَتَكَلَّمُ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تَحَدَّثْنَا عَنِ الرِّحْلَةِ.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talk</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تَحَدَّثَ · يَتَحَدَّثُ</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ʿallama means to teach; taʿallama means to learn — a useful Form II–V relationship, but not every Form V is reflexive in the English sense.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TAʿALLAMA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She learns = two 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«تَعَلَّمَ»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(back to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أَتَعَلَّمُ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ta-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يَتَعَلَّمُ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(she) + ta- (stem)</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تَتَعَلَّمُ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تَتَعَلَّمِينَ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نَتَعَلَّمُ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يَتَعَلَّمُونَ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taʿallama → yataʿallamu → ataʿallamu. The initial ta- belongs to the stem; the a- or ya- before it identifies the person.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learn”?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taḥassana.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يَتَحَسَّنُ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remembers”.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تَذَكَّرُ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تَتَذَكَّرُ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تُذَكِّرُ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learned”.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learn”?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taʿallama means to learn.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taḥassana.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يَتَحَسَّنُ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يَحْسُنُ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يُحَسِّنُ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keeps the stem ta- and the doubled middle letter.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remembers”.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تَذَكَّرُ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تَتَذَكَّرُ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تُذَكِّرُ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(she) + ta- (stem).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learned”.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تَعَلَّمْتُ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-tu; ʿallamtu = I taught.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Watch me write a learning journal with Form V</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تَعَلَّمَ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ta-: learn.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أَتَعَلَّمُ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تَعَلُّمٌ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tafaʿʿul.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V</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0E7C86"/>
                </a:solidFill>
                <a:latin typeface="Amiri" pitchFamily="2" charset="-78"/>
                <a:cs typeface="Amiri" pitchFamily="2" charset="-78"/>
              </a:rPr>
              <a:t>أَتَعَلَّمُ</a:t>
            </a:r>
            <a:pPr rtl="1" algn="r" indent="0" marL="0">
              <a:buNone/>
            </a:pPr>
            <a:r>
              <a:rPr lang="ar-SA" altLang="en-US" sz="2400" b="1" dirty="0">
                <a:solidFill>
                  <a:srgbClr val="1B3B6F"/>
                </a:solidFill>
                <a:latin typeface="Amiri" pitchFamily="2" charset="-78"/>
                <a:cs typeface="Amiri" pitchFamily="2" charset="-78"/>
              </a:rPr>
              <a:t> الْعَرَبِيَّةَ كُلَّ يَوْمٍ. </a:t>
            </a:r>
            <a:pPr rtl="1" algn="r" indent="0" marL="0">
              <a:buNone/>
            </a:pPr>
            <a:r>
              <a:rPr lang="ar-SA" altLang="en-US" sz="2400" b="1" dirty="0">
                <a:solidFill>
                  <a:srgbClr val="0E7C86"/>
                </a:solidFill>
                <a:latin typeface="Amiri" pitchFamily="2" charset="-78"/>
                <a:cs typeface="Amiri" pitchFamily="2" charset="-78"/>
              </a:rPr>
              <a:t>تَحَسَّنَ</a:t>
            </a:r>
            <a:pPr rtl="1" algn="r" indent="0" marL="0">
              <a:buNone/>
            </a:pPr>
            <a:r>
              <a:rPr lang="ar-SA" altLang="en-US" sz="2400" b="1" dirty="0">
                <a:solidFill>
                  <a:srgbClr val="1B3B6F"/>
                </a:solidFill>
                <a:latin typeface="Amiri" pitchFamily="2" charset="-78"/>
                <a:cs typeface="Amiri" pitchFamily="2" charset="-78"/>
              </a:rPr>
              <a:t> مُسْتَوَايَ بِسَبَبِ الْمُمَارَسَةِ، وَ</a:t>
            </a:r>
            <a:pPr rtl="1" algn="r" indent="0" marL="0">
              <a:buNone/>
            </a:pPr>
            <a:r>
              <a:rPr lang="ar-SA" altLang="en-US" sz="2400" b="1" dirty="0">
                <a:solidFill>
                  <a:srgbClr val="0E7C86"/>
                </a:solidFill>
                <a:latin typeface="Amiri" pitchFamily="2" charset="-78"/>
                <a:cs typeface="Amiri" pitchFamily="2" charset="-78"/>
              </a:rPr>
              <a:t>أَتَذَكَّرُ</a:t>
            </a:r>
            <a:pPr rtl="1" algn="r" indent="0" marL="0">
              <a:buNone/>
            </a:pPr>
            <a:r>
              <a:rPr lang="ar-SA" altLang="en-US" sz="2400" b="1" dirty="0">
                <a:solidFill>
                  <a:srgbClr val="1B3B6F"/>
                </a:solidFill>
                <a:latin typeface="Amiri" pitchFamily="2" charset="-78"/>
                <a:cs typeface="Amiri" pitchFamily="2" charset="-78"/>
              </a:rPr>
              <a:t> كَلِمَاتٍ جَدِيدَةً. </a:t>
            </a:r>
            <a:pPr rtl="1" algn="r" indent="0" marL="0">
              <a:buNone/>
            </a:pPr>
            <a:r>
              <a:rPr lang="ar-SA" altLang="en-US" sz="2400" b="1" dirty="0">
                <a:solidFill>
                  <a:srgbClr val="D6336C"/>
                </a:solidFill>
                <a:latin typeface="Amiri" pitchFamily="2" charset="-78"/>
                <a:cs typeface="Amiri" pitchFamily="2" charset="-78"/>
              </a:rPr>
              <a:t>أُرِيدُ</a:t>
            </a:r>
            <a:pPr rtl="1" algn="r" indent="0" marL="0">
              <a:buNone/>
            </a:pPr>
            <a:r>
              <a:rPr lang="ar-SA" altLang="en-US" sz="2400" b="1" dirty="0">
                <a:solidFill>
                  <a:srgbClr val="1B3B6F"/>
                </a:solidFill>
                <a:latin typeface="Amiri" pitchFamily="2" charset="-78"/>
                <a:cs typeface="Amiri" pitchFamily="2" charset="-78"/>
              </a:rPr>
              <a:t> أَنْ </a:t>
            </a:r>
            <a:pPr rtl="1" algn="r" indent="0" marL="0">
              <a:buNone/>
            </a:pPr>
            <a:r>
              <a:rPr lang="ar-SA" altLang="en-US" sz="2400" b="1" dirty="0">
                <a:solidFill>
                  <a:srgbClr val="0E7C86"/>
                </a:solidFill>
                <a:latin typeface="Amiri" pitchFamily="2" charset="-78"/>
                <a:cs typeface="Amiri" pitchFamily="2" charset="-78"/>
              </a:rPr>
              <a:t>أَتَطَوَّرَ</a:t>
            </a:r>
            <a:pPr rtl="1" algn="r" indent="0" marL="0">
              <a:buNone/>
            </a:pPr>
            <a:r>
              <a:rPr lang="ar-SA" altLang="en-US" sz="2400" b="1" dirty="0">
                <a:solidFill>
                  <a:srgbClr val="1B3B6F"/>
                </a:solidFill>
                <a:latin typeface="Amiri" pitchFamily="2" charset="-78"/>
                <a:cs typeface="Amiri" pitchFamily="2" charset="-78"/>
              </a:rPr>
              <a:t> أَكْثَرَ.</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learn Arabic every day. My level improved because of practice, and I remember new words. I want to develop further.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أَتَعَلَّمُ الْعَرَبِيَّةَ لِأَنَّنِي أُحِبُّ اللُّغَاتِ.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learning Arabic because I love languages.</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تَحَسَّنَ مُسْتَوَايَ بَعْدَ الْمُمَارَسَةِ.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level improved after practice.</a:t>
            </a:r>
            <a:endParaRPr lang="en-US" sz="1250" dirty="0"/>
          </a:p>
          <a:p>
            <a:pPr indent="0" marL="0">
              <a:buNone/>
            </a:pPr>
            <a:r>
              <a:rPr lang="en-US" sz="1050" i="1" dirty="0">
                <a:solidFill>
                  <a:srgbClr val="8A6D1E"/>
                </a:solidFill>
                <a:latin typeface="Calibri" pitchFamily="34" charset="0"/>
                <a:cs typeface="Amiri" pitchFamily="2" charset="-78"/>
              </a:rPr>
              <a:t>Process.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أُخْتِي تَتَكَلَّمُ الْفَرَنْسِيَّةَ.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speaks French.</a:t>
            </a:r>
            <a:endParaRPr lang="en-US" sz="1250" dirty="0"/>
          </a:p>
          <a:p>
            <a:pPr indent="0" marL="0">
              <a:buNone/>
            </a:pPr>
            <a:r>
              <a:rPr lang="en-US" sz="1050" i="1" dirty="0">
                <a:solidFill>
                  <a:srgbClr val="8A6D1E"/>
                </a:solidFill>
                <a:latin typeface="Calibri" pitchFamily="34" charset="0"/>
                <a:cs typeface="Amiri" pitchFamily="2" charset="-78"/>
              </a:rPr>
              <a:t>Two ta-.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تَغَيَّرَ الْجَوُّ فَجْأَةً.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changed suddenly.</a:t>
            </a:r>
            <a:endParaRPr lang="en-US" sz="1250" dirty="0"/>
          </a:p>
          <a:p>
            <a:pPr indent="0" marL="0">
              <a:buNone/>
            </a:pPr>
            <a:r>
              <a:rPr lang="en-US" sz="1050" i="1" dirty="0">
                <a:solidFill>
                  <a:srgbClr val="8A6D1E"/>
                </a:solidFill>
                <a:latin typeface="Calibri" pitchFamily="34" charset="0"/>
                <a:cs typeface="Amiri" pitchFamily="2" charset="-78"/>
              </a:rPr>
              <a:t>It changed (itself).</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Do it to others → it happens to you</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الثَّانِي إِلَى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V</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(II)</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remember</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تَذَكَّرَ</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remind (II)</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ذَكَّرَ</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 / get better</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تَحَسَّنَ</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 something (II)</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حَسَّنَ</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change / become different</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تَغَيَّرَ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change something (II)</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غَيَّرَ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 to someone (II)</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كَلَّمَ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II acts on someone or something else; Form V often shows the result happening to the subject (website “useful II–V relationship”).</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STEM TA- OR PREFIX TA-?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of the stem, or “she /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تَاءُ الْوَزْنِ أَمْ تَاءُ الْمُضَارَعَةِ؟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تَحَسَّنَ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تَدْرُسُ</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تَجْلِسُ</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 past (ta- in the stem)</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(ta- = she / you)</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 past (ta- in the stem)</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تَحَسَّنَ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(ta- = she / you)</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تَدْرُسُ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تَجْلِسُ</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تَعَلَّمُ الْعَرَبِيَّةَ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يُتَعَلَّمُ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طَالِبٌ، أُعَلِّمُ الْعَرَبِيَّةَ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Teach or learn?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تَعَلَّمُ الْعَرَبِيَّةَ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تَتَعَلَّمُ الْعَرَبِيَّةَ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prefix + ta- stem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يُتَعَلَّمُ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يَتَعَلَّمُ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 present starts with ya-, not yu-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طَالِبٌ، أُعَلِّمُ الْعَرَبِيَّةَ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طَالِبٌ، أَتَعَلَّمُ 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student learns (V); a teacher teaches (II).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description is most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V is an English reflexive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initial </a:t>
            </a:r>
            <a:pPr algn="l" indent="0" marL="0">
              <a:buNone/>
            </a:pPr>
            <a:r>
              <a:rPr lang="ar-SA" altLang="en-US" sz="1650" dirty="0">
                <a:solidFill>
                  <a:srgbClr val="1F2A37"/>
                </a:solidFill>
                <a:latin typeface="Amiri" pitchFamily="2" charset="-78"/>
                <a:cs typeface="Amiri" pitchFamily="2" charset="-78"/>
              </a:rPr>
              <a:t>ت</a:t>
            </a:r>
            <a:pPr algn="l" indent="0" marL="0">
              <a:buNone/>
            </a:pPr>
            <a:r>
              <a:rPr lang="en-US" sz="1250" dirty="0">
                <a:solidFill>
                  <a:srgbClr val="1F2A37"/>
                </a:solidFill>
                <a:latin typeface="Calibri" pitchFamily="34" charset="0"/>
                <a:cs typeface="Amiri" pitchFamily="2" charset="-78"/>
              </a:rPr>
              <a:t> always identifies a feminine subject.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 often expresses a process or reflexive/developmental meaning.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تَحْسِينٌ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speak”.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نُكَلِّمُ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نَتَكَلَّمُ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تَكَلَّمْنَا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changed”.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الْجَوُّ</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يُغَيِّرُ الْجَوُّ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تَغَيَّرَ الْجَوُّ</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description is most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V is an English reflexive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initial </a:t>
            </a:r>
            <a:pPr algn="l" indent="0" marL="0">
              <a:buNone/>
            </a:pPr>
            <a:r>
              <a:rPr lang="ar-SA" altLang="en-US" sz="1650" dirty="0">
                <a:solidFill>
                  <a:srgbClr val="9AA1AB"/>
                </a:solidFill>
                <a:latin typeface="Amiri" pitchFamily="2" charset="-78"/>
                <a:cs typeface="Amiri" pitchFamily="2" charset="-78"/>
              </a:rPr>
              <a:t>ت</a:t>
            </a:r>
            <a:pPr algn="l" indent="0" marL="0">
              <a:buNone/>
            </a:pPr>
            <a:r>
              <a:rPr lang="en-US" sz="1250" dirty="0">
                <a:solidFill>
                  <a:srgbClr val="9AA1AB"/>
                </a:solidFill>
                <a:latin typeface="Calibri" pitchFamily="34" charset="0"/>
                <a:cs typeface="Amiri" pitchFamily="2" charset="-78"/>
              </a:rPr>
              <a:t> always identifies a feminine subject.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Form V often expresses a process or reflexive/developmental meaning.</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can suggest meaning; usage decides.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تَحْسِينٌ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تَحَسُّنٌ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tafaʿʿul (taḥsīn is Form 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speak”.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نُكَلِّمُ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نَتَكَلَّمُ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تَكَلَّمْنَا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 ta-.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changed”.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الْجَوُّ</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يُغَيِّرُ الْجَوُّ</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تَغَيَّرَ الْجَوُّ</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changed itself: Form V.</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V (TEACHER-WRITTEN JOURNAL)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learning journal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الْأُسْبُوعُ الْأَوَّلُ: تَعَلَّمْتُ عِشْرِينَ كَلِمَةً جَدِيدَةً، وَلَكِنِّي لَمْ أَتَذَكَّرْ كُلَّهَا. الْأُسْبُوعُ الثَّانِي: تَكَلَّمْتُ مَعَ جَدَّتِي بِالْعَرَبِيَّةِ، وَتَحَسَّنَ نُطْقِي. الْأُسْبُوعُ الثَّالِثُ: تَتَعَلَّمُ أُخْتِي مَعِي الْآنَ، وَنَتَحَدَّثُ كُلَّ مَسَاءٍ. أَشْعُرُ أَنَّ لُغَتِي تَتَطَوَّرُ بِسُرْعَةٍ!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كُلَّهَا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of them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جَدَّتِي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grandmother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نُطْقِي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pronunciation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أَشْعُرُ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feel</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in week two?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learned 20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spoke with grandmother and pronunciation improved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sister started learning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learns with the writer now?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sister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atadhakkar, not atadhakkaru?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jussive after lam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future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Form II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TWO ta- at the start?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نَتَحَدَّثُ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in week two?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learned 20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spoke with grandmother and pronunciation improved</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sister started learning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Takallamtu … wa-taḥassana nuṭqī.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learns with the writer now?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sister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Tataʿallamu ukhtī maʿī.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atadhakkar, not atadhakkaru?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jussive after lam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future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Form II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GM-V-08.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TWO ta- at the start?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تَتَعَلَّمُ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نَتَحَدَّثُ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(she) + ta- (stem).</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how I am improving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تَتَعَلَّمُ هَذِهِ السَّنَةَ؟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تَحَسَّنَتْ لُغَتُكَ؟ وَمَا الْكَلِمَاتُ الَّتِي تَتَذَكَّرُهَا؟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تَتَطَوَّرُ التِّقْنِيَّةُ؟ وَكَيْفَ تُسَاعِدُكَ فِي التَّعَلُّمِ؟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أَتَعَلَّمُ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تَحَسَّنَتْ لُغَتِي لِأَنَّ ___ ، وَأَتَذَكَّرُ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تَتَطَوَّرُ التِّقْنِيَّةُ ___ ، 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تَتَعَلَّمِينَ هَذِهِ السَّنَةَ؟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learning this year?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أَتَعَلَّمُ الْعَرَبِيَّةَ وَالْبَرْمَجَةَ. تَحَسَّنَتْ قِرَاءَتِي كَثِيرًا، وَأَتَذَكَّرُ الْآنَ كَلِمَاتٍ أَكْثَرَ.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learning Arabic and programming. My reading has improved a lot, and I now remember more words.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ataʿallamu · taḥassana · atadhakkaru.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she / they forms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tataʿallamu · yataḥaddathūna.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weekly journal with four Form V verbs and a Form II / V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ʿallamanī … fa-taʿallamtu.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تَتَعَلَّمُ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learns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تَحَدَّثْنَا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talked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تَعَلُّمُ ______ مُفِيدٌ.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Learning …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عَلَّمَنِي ______ فَتَعَلَّمْتُ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taught me, so I learned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أَتَعَلَّمُ ______ كُلَّ يَوْمٍ.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 every 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تَحَسَّنَ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improved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أَتَذَكَّرُ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remember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أَتَكَلَّمُ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تَعَلَّمَ · يَتَعَلَّمُ  ·  تَذَكَّرَ · يَتَذَكَّرُ  ·  تَحَسَّنَ · يَتَحَسَّنُ  ·  تَطَوَّرَ · يَتَطَوَّرُ  ·  تَكَلَّمَ · يَتَكَلَّمُ  ·  تَحَدَّثَ · يَتَحَدَّثُ  ·  تَغَيَّرَ · يَتَغَيَّرُ  ·  تَعَلُّمٌ  ·  مُتَعَلِّمٌ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weekly learning journal with four Form V verbs and one Form II / Form V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Form V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She / you forms with two ta-.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with ya- (not yu-).</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(taʿallum, taḥassun).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II / V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الْأَوَّلِ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first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بِسَبَبِ الْمُمَارَسَةِ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practice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مُسْتَوَايَ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level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نُطْقِي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pronunciation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فَأَكْثَرَ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and more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بِسُرْعَةٍ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بَدَأْتُ أَتَعَلَّمُ الْخَطَّ الْعَرَبِيَّ قَبْلَ شَهْرَيْنِ. فِي الْبِدَايَةِ كَانَ صَعْبًا، وَلَمْ أَتَذَكَّرْ أَشْكَالَ الْحُرُوفِ. عَلَّمَنِي أُسْتَاذِي بِصَبْرٍ، فَتَعَلَّمْتُ الْقَوَاعِدَ خُطْوَةً خُطْوَةً. الْآنَ تَحَسَّنَ خَطِّي كَثِيرًا، وَأَتَكَلَّمُ عَنْ هِوَايَتِي بِثِقَةٍ. أُخْتِي أَيْضًا تَتَعَلَّمُ مَعِي، وَنَتَحَدَّثُ عَنْ تَقَدُّمِنَا كُلَّ أُسْبُوعٍ. أَتَمَنَّى أَنْ أَتَطَوَّرَ أَكْثَرَ فَأَكْثَرَ.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started learning Arabic calligraphy two months ago. At first it was difficult, and I did not remember the letter shapes. My teacher taught me patiently, so I learned the rules step by step. Now my handwriting has improved a lot, and I talk about my hobby with confidence. My sister is also learning with me, and we talk about our progress every week. I hope to develop more and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 / V pair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ta-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 verbs start with ta- and have a shadda.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start with ya- / a- / na- (not yu-).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she / you forms with two ta-.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taʿallum.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Form II / Form V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learns”.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ذَكَّرَ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تَذَكَّرَ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يَتَحَسَّنُونَ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يُحَسِّنُونَ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learns”.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ta-; tuʿallimu = she teaches.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ذَكَّرَ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تَذَكَّرَ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shadda.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improve”.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يَتَحَسَّنُونَ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يُحَسِّنُونَ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تَحَسَّنُوا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ta- … -ūna.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GM-VF-06: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GM-VF-06 · Form VI: Cooperation and Mutual Action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تَعَاوَنَ · يَتَعَاوَنُ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cooperate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تَنَاقَشَ · يَتَنَاقَشُ</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discuss together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تَبَادَلَ · يَتَبَادَلُ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exchange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تَقَابَلَ · يَتَقَابَلُ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meet each other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بَعْضُنَا بَعْضًا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each other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Shāraka (III) = to participate. What might tashāraka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شَارَكَ · تَشَارَكَ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taʿallama, tadhakkara and taḥassana.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takallama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weekly learning journal with four Form V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GM-VF-06 · Form VI: Cooperation and Mutual Action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السَّادِسُ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V = ta- + shadda (tafaʿʿala) · present ya- + ta- (yataʿallamu) · she = tataʿallamu · noun tafaʿʿul · Form II does it to others, Form V often happens to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GM-VF-05 · Form V: Learning and Developing</dc:title>
  <dc:subject>PptxGenJS Presentation</dc:subject>
  <dc:creator>Al Madina Online School · Arabic Department</dc:creator>
  <cp:lastModifiedBy>Al Madina Online School · Arabic Department</cp:lastModifiedBy>
  <cp:revision>1</cp:revision>
  <dcterms:created xsi:type="dcterms:W3CDTF">2026-10-11T06:42:43Z</dcterms:created>
  <dcterms:modified xsi:type="dcterms:W3CDTF">2026-10-11T06:42:43Z</dcterms:modified>
</cp:coreProperties>
</file>