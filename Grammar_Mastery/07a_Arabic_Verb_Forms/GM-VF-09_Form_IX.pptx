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Verb Forms › GM-VF-09 (“Form IX: Colours and Physical States”).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colour adjectives (أَحْمَرُ · حَمْرَاءُ) vs the Form IX verbs (اِحْمَرَّ · اِصْفَرَّ · اِخْضَرَّ) for seasons. Develop: present forms (تَخْضَرُّ الْأَرْضُ · تَصْفَرُّ الْأَوْرَاقُ) and agreement (اِصْفَرَّتِ الْأَوْرَاقُ). Stretch: the split doubling (اِحْمَرَرْتُ) and the verbal noun اِفْعِلَالٌ (اِحْمِرَارٌ · اِصْفِرَارٌ).
• Website: Form IX is optional extension — a small, recognisable family. Teach it through seasons, faces and nature.
• Recycles GM-ADJ-03 (colours: أَفْعَلُ · فَعْلَاءُ).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GM-VF-08, GM-ADJ-03 (colour adjectives) and the prep words.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Form IX = doubled LAST root letter (ifʿalla). Adjective = it IS a colour; Form IX = it BECAME a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“Root and pattern”. Commands are not used (you cannot order someone to turn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“Learn the family” (first three examples are the website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Core students need the he / she / they rows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Self-check items, plus two teacher items.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“Apply the form” model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Cover column 3; students build the verb from the adjective (a…ar → i…arra).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translate each pair: “the sky is blue / the sky turned blue”.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translate each pair: “the sky is blue / the sky turned blue”.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Self-check item and teacher-written questions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reading for Form IX (teacher-written description). Read it aloud once while students follow; then they hunt for today’s grammar.
Task: Website: describe seasonal changes. First, underline every Form IX verb and circle every colour adjective.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description for the website “Apply the form”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“Apply the form”. Sequence: ● 10s think → ↔ 45s rehearse aloud with mic muted → ◎ two named students on open mic (warned in advance) → + ? the class types one follow-up in chat → ↺ one student summarises.
Routes: Core uses the Core prompt and stem; Develop the Develop prompt; Stretch the last prompt.
Website: two seasonal changes and one change in a person’s appearance; one adjective and two Form IX verbs.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Describe two seasonal changes and one change in a person’s appearance. Use one adjective and two Form IX verbs.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(GM-VF-10 · Form X: Seeking, Using and Considering) will spend class time USING this language, so students prepare it tonight — short, simple, easy to access (school guidance: “Simple, Short, Interesting, Relevant, Easy to access”). The five words prepare GM-VF-10 (website Verb Forms: Form X).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ARABIC VERB FORMS  ·  GM-VF-09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GM-VF-09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50" b="1" dirty="0">
                <a:solidFill>
                  <a:srgbClr val="FFFFFF"/>
                </a:solidFill>
                <a:latin typeface="Cambria" pitchFamily="34" charset="0"/>
                <a:cs typeface="Amiri" pitchFamily="2" charset="-78"/>
              </a:rPr>
              <a:t>Form IX: Colours and Physical States</a:t>
            </a:r>
            <a:endParaRPr lang="en-US" sz="29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الْوَزْنُ التَّاسِعُ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Form IX doubles the LAST root letter: aḥmar (red) → iḥmarra (become red). It is rare and almost only used for colours and physical changes. Is it red? Use the adjective. Did it turn red? Use Form IX.</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GM-VF-09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Arabic Verb Forms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Pattern card; colour family; conjugation; adjective vs verb.</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Is red → turned red; sort state / change;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GM-VF-10.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VIII?</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جَمَّعَ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اِجْتَمَعَ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اِنْجَمَعَ</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red car”.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سَيَّارَةٌ حَمْرَاءُ</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سَيَّارَةٌ أَحْمَرُ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سَيَّارَةٌ أَحْمَرَةٌ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Iḥmarra means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paint red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become red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Iṣfarra means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yellow</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whistle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turn yellow</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the end of </a:t>
            </a:r>
            <a:pPr algn="l" indent="0" marL="0">
              <a:buNone/>
            </a:pPr>
            <a:r>
              <a:rPr lang="ar-SA" altLang="en-US" sz="1650" b="1" dirty="0">
                <a:solidFill>
                  <a:srgbClr val="1B3B6F"/>
                </a:solidFill>
                <a:latin typeface="Amiri" pitchFamily="2" charset="-78"/>
                <a:cs typeface="Amiri" pitchFamily="2" charset="-78"/>
              </a:rPr>
              <a:t>اِحْمَرَّ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shadda (doubled 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long ā</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sukūn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VIII?</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جَمَّعَ</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اِجْتَمَعَ</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اِنْجَمَعَ</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 after the first root letter (GM-VF-08).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red car”.</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سَيَّارَةٌ حَمْرَاءُ</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سَيَّارَةٌ أَحْمَرُ</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سَيَّارَةٌ أَحْمَرَةٌ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colour: faʿlāʾ (GM-ADJ-03).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Iḥmarra means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paint red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become red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prep question.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Iṣfarra means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yellow</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whistle</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turn yellow</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the end of </a:t>
            </a:r>
            <a:pPr algn="l" indent="0" marL="0">
              <a:buNone/>
            </a:pPr>
            <a:r>
              <a:rPr lang="ar-SA" altLang="en-US" sz="1650" b="1" dirty="0">
                <a:solidFill>
                  <a:srgbClr val="1B3B6F"/>
                </a:solidFill>
                <a:latin typeface="Amiri" pitchFamily="2" charset="-78"/>
                <a:cs typeface="Amiri" pitchFamily="2" charset="-78"/>
              </a:rPr>
              <a:t>اِحْمَرَّ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shadda (doubled r)</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long ā</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sukūn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doubled last letter.</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Form IX = doubled LAST root letter (ifʿalla). Adjective = it IS a colour; Form IX = it BECAME a colour.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الْوَجْهُ </a:t>
            </a:r>
            <a:pPr rtl="1" algn="ctr" indent="0" marL="0">
              <a:buNone/>
            </a:pPr>
            <a:r>
              <a:rPr lang="ar-SA" altLang="en-US" sz="2400" b="1" dirty="0">
                <a:solidFill>
                  <a:srgbClr val="0E7C86"/>
                </a:solidFill>
                <a:latin typeface="Amiri" pitchFamily="2" charset="-78"/>
                <a:cs typeface="Amiri" pitchFamily="2" charset="-78"/>
              </a:rPr>
              <a:t>أَحْمَرُ</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cs typeface="Amiri" pitchFamily="2" charset="-78"/>
              </a:rPr>
              <a:t>اِحْمَرَّ</a:t>
            </a:r>
            <a:pPr rtl="1" algn="ctr" indent="0" marL="0">
              <a:buNone/>
            </a:pPr>
            <a:r>
              <a:rPr lang="ar-SA" altLang="en-US" sz="2400" b="1" dirty="0">
                <a:solidFill>
                  <a:srgbClr val="1B3B6F"/>
                </a:solidFill>
                <a:latin typeface="Amiri" pitchFamily="2" charset="-78"/>
                <a:cs typeface="Amiri" pitchFamily="2" charset="-78"/>
              </a:rPr>
              <a:t> الْوَجْهُ</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Form IX by the doubled last letter.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Form IX verbs for colour changes.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the adjective for a state, the verb for a change.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Form IX agree with the subject.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the leaves turned yellow.</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use a colour adjective for a state.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tukhḍarru and taṣfarru in the present.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make the verb agree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iḥmarartu (split doubling).</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iḥmirār and iṣfirār.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الْوَزْنُ التَّاسِعُ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IX</a:t>
            </a:r>
            <a:endParaRPr lang="en-US" sz="1350" dirty="0"/>
          </a:p>
          <a:p>
            <a:pPr indent="0" marL="0">
              <a:buNone/>
            </a:pPr>
            <a:r>
              <a:rPr lang="en-US" sz="1100" i="1" dirty="0">
                <a:solidFill>
                  <a:srgbClr val="5A6472"/>
                </a:solidFill>
                <a:latin typeface="Calibri" pitchFamily="34" charset="0"/>
                <a:cs typeface="Amiri" pitchFamily="2" charset="-78"/>
              </a:rPr>
              <a:t>al-waz-nu at-tā-si-ʿu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اِفْعَلَّ</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الْأَلْوَانُ</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colours</a:t>
            </a:r>
            <a:endParaRPr lang="en-US" sz="1350" dirty="0"/>
          </a:p>
          <a:p>
            <a:pPr indent="0" marL="0">
              <a:buNone/>
            </a:pPr>
            <a:r>
              <a:rPr lang="en-US" sz="1100" i="1" dirty="0">
                <a:solidFill>
                  <a:srgbClr val="5A6472"/>
                </a:solidFill>
                <a:latin typeface="Calibri" pitchFamily="34" charset="0"/>
                <a:cs typeface="Amiri" pitchFamily="2" charset="-78"/>
              </a:rPr>
              <a:t>al-al-wā-nu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أَحْمَرُ · أَصْفَرُ</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الصِّفَةُ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adjective (a state)</a:t>
            </a:r>
            <a:endParaRPr lang="en-US" sz="1350" dirty="0"/>
          </a:p>
          <a:p>
            <a:pPr indent="0" marL="0">
              <a:buNone/>
            </a:pPr>
            <a:r>
              <a:rPr lang="en-US" sz="1100" i="1" dirty="0">
                <a:solidFill>
                  <a:srgbClr val="5A6472"/>
                </a:solidFill>
                <a:latin typeface="Calibri" pitchFamily="34" charset="0"/>
                <a:cs typeface="Amiri" pitchFamily="2" charset="-78"/>
              </a:rPr>
              <a:t>aṣ-ṣi-fa-tu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الْوَرَقَةُ صَفْرَاءُ</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التَّحَوُّلُ</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change / becoming</a:t>
            </a:r>
            <a:endParaRPr lang="en-US" sz="1350" dirty="0"/>
          </a:p>
          <a:p>
            <a:pPr indent="0" marL="0">
              <a:buNone/>
            </a:pPr>
            <a:r>
              <a:rPr lang="en-US" sz="1100" i="1" dirty="0">
                <a:solidFill>
                  <a:srgbClr val="5A6472"/>
                </a:solidFill>
                <a:latin typeface="Calibri" pitchFamily="34" charset="0"/>
                <a:cs typeface="Amiri" pitchFamily="2" charset="-78"/>
              </a:rPr>
              <a:t>at-ta-ḥaw-wu-lu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اِصْفَرَّتِ الْوَرَقَةُ</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اِفْعِلَالٌ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IX verbal noun</a:t>
            </a:r>
            <a:endParaRPr lang="en-US" sz="1350" dirty="0"/>
          </a:p>
          <a:p>
            <a:pPr indent="0" marL="0">
              <a:buNone/>
            </a:pPr>
            <a:r>
              <a:rPr lang="en-US" sz="1100" i="1" dirty="0">
                <a:solidFill>
                  <a:srgbClr val="5A6472"/>
                </a:solidFill>
                <a:latin typeface="Calibri" pitchFamily="34" charset="0"/>
                <a:cs typeface="Amiri" pitchFamily="2" charset="-78"/>
              </a:rPr>
              <a:t>if-ʿi-lā-lun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اِحْمِرَارٌ</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الْخَجَلُ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embarrassment</a:t>
            </a:r>
            <a:endParaRPr lang="en-US" sz="1350" dirty="0"/>
          </a:p>
          <a:p>
            <a:pPr indent="0" marL="0">
              <a:buNone/>
            </a:pPr>
            <a:r>
              <a:rPr lang="en-US" sz="1100" i="1" dirty="0">
                <a:solidFill>
                  <a:srgbClr val="5A6472"/>
                </a:solidFill>
                <a:latin typeface="Calibri" pitchFamily="34" charset="0"/>
                <a:cs typeface="Amiri" pitchFamily="2" charset="-78"/>
              </a:rPr>
              <a:t>al-kha-ja-lu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اِحْمَرَّ مِنَ الْخَجَلِ</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THE FORM IX PATTERN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Double the last 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اِفْعَلَّ · يَفْعَلُّ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4867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Command</a:t>
            </a:r>
            <a:endParaRPr lang="en-US" sz="1100" dirty="0"/>
          </a:p>
        </p:txBody>
      </p:sp>
      <p:sp>
        <p:nvSpPr>
          <p:cNvPr id="17" name="Text 14"/>
          <p:cNvSpPr txBox="1"/>
          <p:nvPr/>
        </p:nvSpPr>
        <p:spPr>
          <a:xfrm>
            <a:off x="802843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Doer</a:t>
            </a:r>
            <a:endParaRPr lang="en-US" sz="1100" dirty="0"/>
          </a:p>
        </p:txBody>
      </p:sp>
      <p:sp>
        <p:nvSpPr>
          <p:cNvPr id="18" name="Text 15"/>
          <p:cNvSpPr txBox="1"/>
          <p:nvPr/>
        </p:nvSpPr>
        <p:spPr>
          <a:xfrm>
            <a:off x="61081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Verbal noun</a:t>
            </a:r>
            <a:endParaRPr lang="en-US" sz="1100" dirty="0"/>
          </a:p>
        </p:txBody>
      </p:sp>
      <p:sp>
        <p:nvSpPr>
          <p:cNvPr id="19" name="Text 16"/>
          <p:cNvSpPr txBox="1"/>
          <p:nvPr/>
        </p:nvSpPr>
        <p:spPr>
          <a:xfrm>
            <a:off x="41879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20" name="Text 17"/>
          <p:cNvSpPr txBox="1"/>
          <p:nvPr/>
        </p:nvSpPr>
        <p:spPr>
          <a:xfrm>
            <a:off x="226771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21" name="Text 18"/>
          <p:cNvSpPr txBox="1"/>
          <p:nvPr/>
        </p:nvSpPr>
        <p:spPr>
          <a:xfrm>
            <a:off x="530352" y="1810512"/>
            <a:ext cx="1591056" cy="384048"/>
          </a:xfrm>
          <a:prstGeom prst="rect">
            <a:avLst/>
          </a:prstGeom>
          <a:noFill/>
          <a:ln/>
        </p:spPr>
        <p:txBody>
          <a:bodyPr wrap="square" lIns="0" tIns="0" rIns="0" bIns="0" rtlCol="0" anchor="ctr"/>
          <a:lstStyle/>
          <a:p>
            <a:pPr algn="ctr" indent="0" marL="0">
              <a:buNone/>
            </a:pPr>
            <a:endParaRPr lang="en-US" sz="1100" dirty="0"/>
          </a:p>
        </p:txBody>
      </p:sp>
      <p:sp>
        <p:nvSpPr>
          <p:cNvPr id="22" name="Shape 19"/>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3" name="Text 20"/>
          <p:cNvSpPr txBox="1"/>
          <p:nvPr/>
        </p:nvSpPr>
        <p:spPr>
          <a:xfrm>
            <a:off x="9985248" y="2267712"/>
            <a:ext cx="1673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24" name="Text 21"/>
          <p:cNvSpPr txBox="1"/>
          <p:nvPr/>
        </p:nvSpPr>
        <p:spPr>
          <a:xfrm>
            <a:off x="804672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مُفْعَلٌّ</a:t>
            </a:r>
            <a:endParaRPr lang="ar-SA" sz="2400" dirty="0"/>
          </a:p>
        </p:txBody>
      </p:sp>
      <p:sp>
        <p:nvSpPr>
          <p:cNvPr id="25" name="Text 22"/>
          <p:cNvSpPr txBox="1"/>
          <p:nvPr/>
        </p:nvSpPr>
        <p:spPr>
          <a:xfrm>
            <a:off x="612648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اِفْعِلَالٌ</a:t>
            </a:r>
            <a:endParaRPr lang="ar-SA" sz="2400" dirty="0"/>
          </a:p>
        </p:txBody>
      </p:sp>
      <p:sp>
        <p:nvSpPr>
          <p:cNvPr id="26" name="Text 23"/>
          <p:cNvSpPr txBox="1"/>
          <p:nvPr/>
        </p:nvSpPr>
        <p:spPr>
          <a:xfrm>
            <a:off x="420624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يَفْعَلُّ</a:t>
            </a:r>
            <a:endParaRPr lang="ar-SA" sz="2400" dirty="0"/>
          </a:p>
        </p:txBody>
      </p:sp>
      <p:sp>
        <p:nvSpPr>
          <p:cNvPr id="27" name="Text 24"/>
          <p:cNvSpPr txBox="1"/>
          <p:nvPr/>
        </p:nvSpPr>
        <p:spPr>
          <a:xfrm>
            <a:off x="228600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اِفْعَلَّ</a:t>
            </a:r>
            <a:endParaRPr lang="ar-SA" sz="2400" dirty="0"/>
          </a:p>
        </p:txBody>
      </p:sp>
      <p:sp>
        <p:nvSpPr>
          <p:cNvPr id="28" name="Text 25"/>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template</a:t>
            </a:r>
            <a:endParaRPr lang="en-US" sz="110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985248" y="3004718"/>
            <a:ext cx="1673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1" name="Text 28"/>
          <p:cNvSpPr txBox="1"/>
          <p:nvPr/>
        </p:nvSpPr>
        <p:spPr>
          <a:xfrm>
            <a:off x="804672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مُحْمَرٌّ</a:t>
            </a:r>
            <a:endParaRPr lang="ar-SA" sz="2400" dirty="0"/>
          </a:p>
        </p:txBody>
      </p:sp>
      <p:sp>
        <p:nvSpPr>
          <p:cNvPr id="32" name="Text 29"/>
          <p:cNvSpPr txBox="1"/>
          <p:nvPr/>
        </p:nvSpPr>
        <p:spPr>
          <a:xfrm>
            <a:off x="612648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اِحْمِرَارٌ</a:t>
            </a:r>
            <a:endParaRPr lang="ar-SA" sz="2400" dirty="0"/>
          </a:p>
        </p:txBody>
      </p:sp>
      <p:sp>
        <p:nvSpPr>
          <p:cNvPr id="33" name="Text 30"/>
          <p:cNvSpPr txBox="1"/>
          <p:nvPr/>
        </p:nvSpPr>
        <p:spPr>
          <a:xfrm>
            <a:off x="420624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يَحْمَرُّ</a:t>
            </a:r>
            <a:endParaRPr lang="ar-SA" sz="2400" dirty="0"/>
          </a:p>
        </p:txBody>
      </p:sp>
      <p:sp>
        <p:nvSpPr>
          <p:cNvPr id="34" name="Text 31"/>
          <p:cNvSpPr txBox="1"/>
          <p:nvPr/>
        </p:nvSpPr>
        <p:spPr>
          <a:xfrm>
            <a:off x="228600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اِحْمَرَّ</a:t>
            </a:r>
            <a:endParaRPr lang="ar-SA" sz="2400" dirty="0"/>
          </a:p>
        </p:txBody>
      </p:sp>
      <p:sp>
        <p:nvSpPr>
          <p:cNvPr id="35" name="Text 32"/>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become red</a:t>
            </a:r>
            <a:endParaRPr lang="en-US" sz="1100" dirty="0"/>
          </a:p>
        </p:txBody>
      </p:sp>
      <p:sp>
        <p:nvSpPr>
          <p:cNvPr id="36" name="Shape 3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9985248" y="3741725"/>
            <a:ext cx="1673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0" name="Text 37"/>
          <p:cNvSpPr txBox="1"/>
          <p:nvPr/>
        </p:nvSpPr>
        <p:spPr>
          <a:xfrm>
            <a:off x="804672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مُصْفَرٌّ</a:t>
            </a:r>
            <a:endParaRPr lang="ar-SA" sz="2400" dirty="0"/>
          </a:p>
        </p:txBody>
      </p:sp>
      <p:sp>
        <p:nvSpPr>
          <p:cNvPr id="41" name="Text 38"/>
          <p:cNvSpPr txBox="1"/>
          <p:nvPr/>
        </p:nvSpPr>
        <p:spPr>
          <a:xfrm>
            <a:off x="612648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اِصْفِرَارٌ</a:t>
            </a:r>
            <a:endParaRPr lang="ar-SA" sz="2400" dirty="0"/>
          </a:p>
        </p:txBody>
      </p:sp>
      <p:sp>
        <p:nvSpPr>
          <p:cNvPr id="42" name="Text 39"/>
          <p:cNvSpPr txBox="1"/>
          <p:nvPr/>
        </p:nvSpPr>
        <p:spPr>
          <a:xfrm>
            <a:off x="420624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يَصْفَرُّ</a:t>
            </a:r>
            <a:endParaRPr lang="ar-SA" sz="2400" dirty="0"/>
          </a:p>
        </p:txBody>
      </p:sp>
      <p:sp>
        <p:nvSpPr>
          <p:cNvPr id="43" name="Text 40"/>
          <p:cNvSpPr txBox="1"/>
          <p:nvPr/>
        </p:nvSpPr>
        <p:spPr>
          <a:xfrm>
            <a:off x="228600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اِصْفَرَّ</a:t>
            </a:r>
            <a:endParaRPr lang="ar-SA" sz="2400" dirty="0"/>
          </a:p>
        </p:txBody>
      </p:sp>
      <p:sp>
        <p:nvSpPr>
          <p:cNvPr id="44" name="Text 41"/>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turn yellow / pale</a:t>
            </a:r>
            <a:endParaRPr lang="en-US" sz="110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985248" y="4478731"/>
            <a:ext cx="1673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7" name="Text 44"/>
          <p:cNvSpPr txBox="1"/>
          <p:nvPr/>
        </p:nvSpPr>
        <p:spPr>
          <a:xfrm>
            <a:off x="804672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مُخْضَرٌّ</a:t>
            </a:r>
            <a:endParaRPr lang="ar-SA" sz="2400" dirty="0"/>
          </a:p>
        </p:txBody>
      </p:sp>
      <p:sp>
        <p:nvSpPr>
          <p:cNvPr id="48" name="Text 45"/>
          <p:cNvSpPr txBox="1"/>
          <p:nvPr/>
        </p:nvSpPr>
        <p:spPr>
          <a:xfrm>
            <a:off x="612648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اِخْضِرَارٌ</a:t>
            </a:r>
            <a:endParaRPr lang="ar-SA" sz="2400" dirty="0"/>
          </a:p>
        </p:txBody>
      </p:sp>
      <p:sp>
        <p:nvSpPr>
          <p:cNvPr id="49" name="Text 46"/>
          <p:cNvSpPr txBox="1"/>
          <p:nvPr/>
        </p:nvSpPr>
        <p:spPr>
          <a:xfrm>
            <a:off x="420624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يَخْضَرُّ</a:t>
            </a:r>
            <a:endParaRPr lang="ar-SA" sz="2400" dirty="0"/>
          </a:p>
        </p:txBody>
      </p:sp>
      <p:sp>
        <p:nvSpPr>
          <p:cNvPr id="50" name="Text 47"/>
          <p:cNvSpPr txBox="1"/>
          <p:nvPr/>
        </p:nvSpPr>
        <p:spPr>
          <a:xfrm>
            <a:off x="228600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اِخْضَرَّ</a:t>
            </a:r>
            <a:endParaRPr lang="ar-SA" sz="2400" dirty="0"/>
          </a:p>
        </p:txBody>
      </p:sp>
      <p:sp>
        <p:nvSpPr>
          <p:cNvPr id="51" name="Text 48"/>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turn green</a:t>
            </a:r>
            <a:endParaRPr lang="en-US" sz="1100" dirty="0"/>
          </a:p>
        </p:txBody>
      </p:sp>
      <p:sp>
        <p:nvSpPr>
          <p:cNvPr id="52" name="Shape 4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3" name="Text 50"/>
          <p:cNvSpPr txBox="1"/>
          <p:nvPr/>
        </p:nvSpPr>
        <p:spPr>
          <a:xfrm>
            <a:off x="9985248" y="5215738"/>
            <a:ext cx="1673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54" name="Text 51"/>
          <p:cNvSpPr txBox="1"/>
          <p:nvPr/>
        </p:nvSpPr>
        <p:spPr>
          <a:xfrm>
            <a:off x="804672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مُسْوَدٌّ</a:t>
            </a:r>
            <a:endParaRPr lang="ar-SA" sz="2400" dirty="0"/>
          </a:p>
        </p:txBody>
      </p:sp>
      <p:sp>
        <p:nvSpPr>
          <p:cNvPr id="55" name="Text 52"/>
          <p:cNvSpPr txBox="1"/>
          <p:nvPr/>
        </p:nvSpPr>
        <p:spPr>
          <a:xfrm>
            <a:off x="612648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اِسْوِدَادٌ</a:t>
            </a:r>
            <a:endParaRPr lang="ar-SA" sz="2400" dirty="0"/>
          </a:p>
        </p:txBody>
      </p:sp>
      <p:sp>
        <p:nvSpPr>
          <p:cNvPr id="56" name="Text 53"/>
          <p:cNvSpPr txBox="1"/>
          <p:nvPr/>
        </p:nvSpPr>
        <p:spPr>
          <a:xfrm>
            <a:off x="420624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يَسْوَدُّ</a:t>
            </a:r>
            <a:endParaRPr lang="ar-SA" sz="2400" dirty="0"/>
          </a:p>
        </p:txBody>
      </p:sp>
      <p:sp>
        <p:nvSpPr>
          <p:cNvPr id="57" name="Text 54"/>
          <p:cNvSpPr txBox="1"/>
          <p:nvPr/>
        </p:nvSpPr>
        <p:spPr>
          <a:xfrm>
            <a:off x="228600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اِسْوَدَّ</a:t>
            </a:r>
            <a:endParaRPr lang="ar-SA" sz="2400" dirty="0"/>
          </a:p>
        </p:txBody>
      </p:sp>
      <p:sp>
        <p:nvSpPr>
          <p:cNvPr id="58" name="Text 55"/>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turn black</a:t>
            </a:r>
            <a:endParaRPr lang="en-US" sz="110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the pattern has a doubled final radical: ifʿalla / yafʿallu; verbal noun ifʿilāl. This differs from a doubled Form I verb, where the 2nd and 3rd root letters are the same (marra).</a:t>
            </a:r>
            <a:endParaRPr lang="en-US" sz="110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LEARN THE FAMILY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colour-change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أُسْرَةُ الْوَزْنِ التَّاسِعِ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36393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 · present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852160" y="226771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اِحْمَرَّ وَجْهُهُ مِنَ الْخَجَلِ.</a:t>
            </a:r>
            <a:endParaRPr lang="ar-SA" sz="2000" dirty="0"/>
          </a:p>
        </p:txBody>
      </p:sp>
      <p:sp>
        <p:nvSpPr>
          <p:cNvPr id="21" name="Text 18"/>
          <p:cNvSpPr txBox="1"/>
          <p:nvPr/>
        </p:nvSpPr>
        <p:spPr>
          <a:xfrm>
            <a:off x="367588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become red</a:t>
            </a:r>
            <a:endParaRPr lang="en-US" sz="1100" dirty="0"/>
          </a:p>
        </p:txBody>
      </p:sp>
      <p:sp>
        <p:nvSpPr>
          <p:cNvPr id="22" name="Text 19"/>
          <p:cNvSpPr txBox="1"/>
          <p:nvPr/>
        </p:nvSpPr>
        <p:spPr>
          <a:xfrm>
            <a:off x="548640" y="226771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اِحْمَرَّ · يَحْمَرُّ</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852160" y="2881884"/>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تَخْضَرُّ الْأَرْضُ فِي الرَّبِيعِ.</a:t>
            </a:r>
            <a:endParaRPr lang="ar-SA" sz="2000" dirty="0"/>
          </a:p>
        </p:txBody>
      </p:sp>
      <p:sp>
        <p:nvSpPr>
          <p:cNvPr id="27" name="Text 24"/>
          <p:cNvSpPr txBox="1"/>
          <p:nvPr/>
        </p:nvSpPr>
        <p:spPr>
          <a:xfrm>
            <a:off x="367588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become green</a:t>
            </a:r>
            <a:endParaRPr lang="en-US" sz="1100" dirty="0"/>
          </a:p>
        </p:txBody>
      </p:sp>
      <p:sp>
        <p:nvSpPr>
          <p:cNvPr id="28" name="Text 25"/>
          <p:cNvSpPr txBox="1"/>
          <p:nvPr/>
        </p:nvSpPr>
        <p:spPr>
          <a:xfrm>
            <a:off x="548640" y="2881884"/>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اِخْضَرَّ · يَخْضَرُّ</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852160" y="3496056"/>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اِصْفَرَّتْ أَوْرَاقُ الشَّجَرِ فِي الْخَرِيفِ.</a:t>
            </a:r>
            <a:endParaRPr lang="ar-SA" sz="2000" dirty="0"/>
          </a:p>
        </p:txBody>
      </p:sp>
      <p:sp>
        <p:nvSpPr>
          <p:cNvPr id="33" name="Text 30"/>
          <p:cNvSpPr txBox="1"/>
          <p:nvPr/>
        </p:nvSpPr>
        <p:spPr>
          <a:xfrm>
            <a:off x="367588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turn yellow / pale</a:t>
            </a:r>
            <a:endParaRPr lang="en-US" sz="1100" dirty="0"/>
          </a:p>
        </p:txBody>
      </p:sp>
      <p:sp>
        <p:nvSpPr>
          <p:cNvPr id="34" name="Text 31"/>
          <p:cNvSpPr txBox="1"/>
          <p:nvPr/>
        </p:nvSpPr>
        <p:spPr>
          <a:xfrm>
            <a:off x="548640" y="3496056"/>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اِصْفَرَّ · يَصْفَرُّ</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852160" y="4110228"/>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اِسْوَدَّتِ السَّمَاءُ قَبْلَ الْعَاصِفَةِ.</a:t>
            </a:r>
            <a:endParaRPr lang="ar-SA" sz="2000" dirty="0"/>
          </a:p>
        </p:txBody>
      </p:sp>
      <p:sp>
        <p:nvSpPr>
          <p:cNvPr id="39" name="Text 36"/>
          <p:cNvSpPr txBox="1"/>
          <p:nvPr/>
        </p:nvSpPr>
        <p:spPr>
          <a:xfrm>
            <a:off x="367588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turn black</a:t>
            </a:r>
            <a:endParaRPr lang="en-US" sz="1100" dirty="0"/>
          </a:p>
        </p:txBody>
      </p:sp>
      <p:sp>
        <p:nvSpPr>
          <p:cNvPr id="40" name="Text 37"/>
          <p:cNvSpPr txBox="1"/>
          <p:nvPr/>
        </p:nvSpPr>
        <p:spPr>
          <a:xfrm>
            <a:off x="548640" y="4110228"/>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اِسْوَدَّ · يَسْوَدُّ</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5852160" y="4724400"/>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اِبْيَضَّ شَعْرُ جَدِّي.</a:t>
            </a:r>
            <a:endParaRPr lang="ar-SA" sz="2000" dirty="0"/>
          </a:p>
        </p:txBody>
      </p:sp>
      <p:sp>
        <p:nvSpPr>
          <p:cNvPr id="43" name="Text 40"/>
          <p:cNvSpPr txBox="1"/>
          <p:nvPr/>
        </p:nvSpPr>
        <p:spPr>
          <a:xfrm>
            <a:off x="367588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turn white</a:t>
            </a:r>
            <a:endParaRPr lang="en-US" sz="1100" dirty="0"/>
          </a:p>
        </p:txBody>
      </p:sp>
      <p:sp>
        <p:nvSpPr>
          <p:cNvPr id="44" name="Text 41"/>
          <p:cNvSpPr txBox="1"/>
          <p:nvPr/>
        </p:nvSpPr>
        <p:spPr>
          <a:xfrm>
            <a:off x="548640" y="4724400"/>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اِبْيَضَّ · يَبْيَضُّ</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5852160" y="533857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اِزْرَقَّ الْبَحْرُ بَعْدَ الْمَطَرِ.</a:t>
            </a:r>
            <a:endParaRPr lang="ar-SA" sz="2000" dirty="0"/>
          </a:p>
        </p:txBody>
      </p:sp>
      <p:sp>
        <p:nvSpPr>
          <p:cNvPr id="47" name="Text 44"/>
          <p:cNvSpPr txBox="1"/>
          <p:nvPr/>
        </p:nvSpPr>
        <p:spPr>
          <a:xfrm>
            <a:off x="367588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turn blue</a:t>
            </a:r>
            <a:endParaRPr lang="en-US" sz="1100" dirty="0"/>
          </a:p>
        </p:txBody>
      </p:sp>
      <p:sp>
        <p:nvSpPr>
          <p:cNvPr id="48" name="Text 45"/>
          <p:cNvSpPr txBox="1"/>
          <p:nvPr/>
        </p:nvSpPr>
        <p:spPr>
          <a:xfrm>
            <a:off x="548640" y="533857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اِزْرَقَّ · يَزْرَقُّ</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aḥmar is an adjective meaning red; iḥmarra means to become red. They are related, but different parts of speech.</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3 · CONJUGATE IḤMARRA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The doubled letter splits before -tu and -nā</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تَصْرِيفُ «اِحْمَرَّ»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56509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18" name="Text 15"/>
          <p:cNvSpPr txBox="1"/>
          <p:nvPr/>
        </p:nvSpPr>
        <p:spPr>
          <a:xfrm>
            <a:off x="27249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shadda</a:t>
            </a:r>
            <a:endParaRPr lang="en-US" sz="1100" dirty="0"/>
          </a:p>
        </p:txBody>
      </p:sp>
      <p:sp>
        <p:nvSpPr>
          <p:cNvPr id="22" name="Text 19"/>
          <p:cNvSpPr txBox="1"/>
          <p:nvPr/>
        </p:nvSpPr>
        <p:spPr>
          <a:xfrm>
            <a:off x="566928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يَحْمَرُّ</a:t>
            </a:r>
            <a:endParaRPr lang="ar-SA" sz="2400" dirty="0"/>
          </a:p>
        </p:txBody>
      </p:sp>
      <p:sp>
        <p:nvSpPr>
          <p:cNvPr id="23" name="Text 20"/>
          <p:cNvSpPr txBox="1"/>
          <p:nvPr/>
        </p:nvSpPr>
        <p:spPr>
          <a:xfrm>
            <a:off x="274320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اِحْمَرَّ</a:t>
            </a:r>
            <a:endParaRPr lang="ar-SA" sz="24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هُوَ</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shadda + -at</a:t>
            </a:r>
            <a:endParaRPr lang="en-US" sz="1100" dirty="0"/>
          </a:p>
        </p:txBody>
      </p:sp>
      <p:sp>
        <p:nvSpPr>
          <p:cNvPr id="29" name="Text 26"/>
          <p:cNvSpPr txBox="1"/>
          <p:nvPr/>
        </p:nvSpPr>
        <p:spPr>
          <a:xfrm>
            <a:off x="566928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تَحْمَرُّ</a:t>
            </a:r>
            <a:endParaRPr lang="ar-SA" sz="2400" dirty="0"/>
          </a:p>
        </p:txBody>
      </p:sp>
      <p:sp>
        <p:nvSpPr>
          <p:cNvPr id="30" name="Text 27"/>
          <p:cNvSpPr txBox="1"/>
          <p:nvPr/>
        </p:nvSpPr>
        <p:spPr>
          <a:xfrm>
            <a:off x="274320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اِحْمَرَّتْ</a:t>
            </a:r>
            <a:endParaRPr lang="ar-SA" sz="24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هِيَ</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shadda + -ū</a:t>
            </a:r>
            <a:endParaRPr lang="en-US" sz="1100" dirty="0"/>
          </a:p>
        </p:txBody>
      </p:sp>
      <p:sp>
        <p:nvSpPr>
          <p:cNvPr id="36" name="Text 33"/>
          <p:cNvSpPr txBox="1"/>
          <p:nvPr/>
        </p:nvSpPr>
        <p:spPr>
          <a:xfrm>
            <a:off x="566928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يَحْمَرُّونَ</a:t>
            </a:r>
            <a:endParaRPr lang="ar-SA" sz="2400" dirty="0"/>
          </a:p>
        </p:txBody>
      </p:sp>
      <p:sp>
        <p:nvSpPr>
          <p:cNvPr id="37" name="Text 34"/>
          <p:cNvSpPr txBox="1"/>
          <p:nvPr/>
        </p:nvSpPr>
        <p:spPr>
          <a:xfrm>
            <a:off x="274320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اِحْمَرُّوا</a:t>
            </a:r>
            <a:endParaRPr lang="ar-SA" sz="24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هُمْ</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r-r split</a:t>
            </a:r>
            <a:endParaRPr lang="en-US" sz="1100" dirty="0"/>
          </a:p>
        </p:txBody>
      </p:sp>
      <p:sp>
        <p:nvSpPr>
          <p:cNvPr id="43" name="Text 40"/>
          <p:cNvSpPr txBox="1"/>
          <p:nvPr/>
        </p:nvSpPr>
        <p:spPr>
          <a:xfrm>
            <a:off x="566928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أَحْمَرُّ</a:t>
            </a:r>
            <a:endParaRPr lang="ar-SA" sz="2400" dirty="0"/>
          </a:p>
        </p:txBody>
      </p:sp>
      <p:sp>
        <p:nvSpPr>
          <p:cNvPr id="44" name="Text 41"/>
          <p:cNvSpPr txBox="1"/>
          <p:nvPr/>
        </p:nvSpPr>
        <p:spPr>
          <a:xfrm>
            <a:off x="274320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اِحْمَرَرْتُ</a:t>
            </a:r>
            <a:endParaRPr lang="ar-SA" sz="2400" dirty="0"/>
          </a:p>
        </p:txBody>
      </p:sp>
      <p:sp>
        <p:nvSpPr>
          <p:cNvPr id="45" name="Text 42"/>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أَنَا</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r-r split</a:t>
            </a:r>
            <a:endParaRPr lang="en-US" sz="1100" dirty="0"/>
          </a:p>
        </p:txBody>
      </p:sp>
      <p:sp>
        <p:nvSpPr>
          <p:cNvPr id="48" name="Text 45"/>
          <p:cNvSpPr txBox="1"/>
          <p:nvPr/>
        </p:nvSpPr>
        <p:spPr>
          <a:xfrm>
            <a:off x="566928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نَحْمَرُّ</a:t>
            </a:r>
            <a:endParaRPr lang="ar-SA" sz="2400" dirty="0"/>
          </a:p>
        </p:txBody>
      </p:sp>
      <p:sp>
        <p:nvSpPr>
          <p:cNvPr id="49" name="Text 46"/>
          <p:cNvSpPr txBox="1"/>
          <p:nvPr/>
        </p:nvSpPr>
        <p:spPr>
          <a:xfrm>
            <a:off x="274320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اِحْمَرَرْنَا</a:t>
            </a:r>
            <a:endParaRPr lang="ar-SA" sz="2400" dirty="0"/>
          </a:p>
        </p:txBody>
      </p:sp>
      <p:sp>
        <p:nvSpPr>
          <p:cNvPr id="50" name="Text 47"/>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نَحْنُ</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split · -īna</a:t>
            </a:r>
            <a:endParaRPr lang="en-US" sz="1100" dirty="0"/>
          </a:p>
        </p:txBody>
      </p:sp>
      <p:sp>
        <p:nvSpPr>
          <p:cNvPr id="53" name="Text 50"/>
          <p:cNvSpPr txBox="1"/>
          <p:nvPr/>
        </p:nvSpPr>
        <p:spPr>
          <a:xfrm>
            <a:off x="566928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تَحْمَرِّينَ</a:t>
            </a:r>
            <a:endParaRPr lang="ar-SA" sz="2400" dirty="0"/>
          </a:p>
        </p:txBody>
      </p:sp>
      <p:sp>
        <p:nvSpPr>
          <p:cNvPr id="54" name="Text 51"/>
          <p:cNvSpPr txBox="1"/>
          <p:nvPr/>
        </p:nvSpPr>
        <p:spPr>
          <a:xfrm>
            <a:off x="274320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اِحْمَرَرْتِ</a:t>
            </a:r>
            <a:endParaRPr lang="ar-SA" sz="2400" dirty="0"/>
          </a:p>
        </p:txBody>
      </p:sp>
      <p:sp>
        <p:nvSpPr>
          <p:cNvPr id="55" name="Text 52"/>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أَنْتِ</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Stretch: before a suffix with sukūn (-tu, -nā, -ti) the doubled letter is written twice — iḥmarartu (like doubled verbs in GM-V-02).</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IX?</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أَحْمَرُ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حَمْرَاءُ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اِحْمَرَّ</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land becomes green”?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تَخْضَرُّ الْأَرْضُ</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الْأَرْضُ خَضْرَاءُ</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أَخْضَرُ الْأَرْضُ</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leaves turned yellow”.</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الْأَوْرَاقُ صَفْرَاءُ</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اِصْفَرَّتِ الْأَوْرَاقُ</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اِصْفَرَّ الْأَوْرَاقُ</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sky is blue” (a state).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السَّمَاءُ زَرْقَاءُ</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اِزْرَقَّتِ السَّمَاءُ</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تَزْرَقُّ السَّمَاءُ</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IX?</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أَحْمَرُ</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حَمْرَاءُ</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اِحْمَرَّ</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Iḥmarra is a verb meaning to become red.</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land becomes green”?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تَخْضَرُّ الْأَرْضُ</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الْأَرْضُ خَضْرَاءُ</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أَخْضَرُ الْأَرْضُ</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Takhḍarru describes a change; the adjective describes a state.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leaves turned yellow”.</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الْأَوْرَاقُ صَفْرَاءُ</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اِصْفَرَّتِ الْأَوْرَاقُ</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اِصْفَرَّ الْأَوْرَاقُ</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Change + feminine agreement (non-human plural).</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sky is blue” (a state).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السَّمَاءُ زَرْقَاءُ</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اِزْرَقَّتِ السَّمَاءُ</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تَزْرَقُّ السَّمَاءُ</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State → adjective.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Watch me describe seasonal change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Spring</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تَخْضَرُّ</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land becomes green.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Autumn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تَصْفَرُّ</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leaves turn yellow.</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 face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اِحْمَرَّ</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became red.</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 state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زَرْقَاءَ</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Adjective, not a verb.</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FORM IX (CHANGE)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ADJECTIVE (STATE)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300" b="1" dirty="0">
                <a:solidFill>
                  <a:srgbClr val="1B3B6F"/>
                </a:solidFill>
                <a:latin typeface="Amiri" pitchFamily="2" charset="-78"/>
                <a:cs typeface="Amiri" pitchFamily="2" charset="-78"/>
              </a:rPr>
              <a:t>فِي الرَّبِيعِ </a:t>
            </a:r>
            <a:pPr rtl="1" algn="r" indent="0" marL="0">
              <a:buNone/>
            </a:pPr>
            <a:r>
              <a:rPr lang="ar-SA" altLang="en-US" sz="2300" b="1" dirty="0">
                <a:solidFill>
                  <a:srgbClr val="0E7C86"/>
                </a:solidFill>
                <a:latin typeface="Amiri" pitchFamily="2" charset="-78"/>
                <a:cs typeface="Amiri" pitchFamily="2" charset="-78"/>
              </a:rPr>
              <a:t>تَخْضَرُّ</a:t>
            </a:r>
            <a:pPr rtl="1" algn="r" indent="0" marL="0">
              <a:buNone/>
            </a:pPr>
            <a:r>
              <a:rPr lang="ar-SA" altLang="en-US" sz="2300" b="1" dirty="0">
                <a:solidFill>
                  <a:srgbClr val="1B3B6F"/>
                </a:solidFill>
                <a:latin typeface="Amiri" pitchFamily="2" charset="-78"/>
                <a:cs typeface="Amiri" pitchFamily="2" charset="-78"/>
              </a:rPr>
              <a:t> الْأَرْضُ، وَفِي الْخَرِيفِ </a:t>
            </a:r>
            <a:pPr rtl="1" algn="r" indent="0" marL="0">
              <a:buNone/>
            </a:pPr>
            <a:r>
              <a:rPr lang="ar-SA" altLang="en-US" sz="2300" b="1" dirty="0">
                <a:solidFill>
                  <a:srgbClr val="0E7C86"/>
                </a:solidFill>
                <a:latin typeface="Amiri" pitchFamily="2" charset="-78"/>
                <a:cs typeface="Amiri" pitchFamily="2" charset="-78"/>
              </a:rPr>
              <a:t>تَصْفَرُّ</a:t>
            </a:r>
            <a:pPr rtl="1" algn="r" indent="0" marL="0">
              <a:buNone/>
            </a:pPr>
            <a:r>
              <a:rPr lang="ar-SA" altLang="en-US" sz="2300" b="1" dirty="0">
                <a:solidFill>
                  <a:srgbClr val="1B3B6F"/>
                </a:solidFill>
                <a:latin typeface="Amiri" pitchFamily="2" charset="-78"/>
                <a:cs typeface="Amiri" pitchFamily="2" charset="-78"/>
              </a:rPr>
              <a:t> الْأَوْرَاقُ. </a:t>
            </a:r>
            <a:pPr rtl="1" algn="r" indent="0" marL="0">
              <a:buNone/>
            </a:pPr>
            <a:r>
              <a:rPr lang="ar-SA" altLang="en-US" sz="2300" b="1" dirty="0">
                <a:solidFill>
                  <a:srgbClr val="0E7C86"/>
                </a:solidFill>
                <a:latin typeface="Amiri" pitchFamily="2" charset="-78"/>
                <a:cs typeface="Amiri" pitchFamily="2" charset="-78"/>
              </a:rPr>
              <a:t>اِحْمَرَّ</a:t>
            </a:r>
            <a:pPr rtl="1" algn="r" indent="0" marL="0">
              <a:buNone/>
            </a:pPr>
            <a:r>
              <a:rPr lang="ar-SA" altLang="en-US" sz="2300" b="1" dirty="0">
                <a:solidFill>
                  <a:srgbClr val="1B3B6F"/>
                </a:solidFill>
                <a:latin typeface="Amiri" pitchFamily="2" charset="-78"/>
                <a:cs typeface="Amiri" pitchFamily="2" charset="-78"/>
              </a:rPr>
              <a:t> وَجْهُ الطَّالِبِ مِنَ الْخَجَلِ، وَكَانَتِ السَّمَاءُ </a:t>
            </a:r>
            <a:pPr rtl="1" algn="r" indent="0" marL="0">
              <a:buNone/>
            </a:pPr>
            <a:r>
              <a:rPr lang="ar-SA" altLang="en-US" sz="2300" b="1" dirty="0">
                <a:solidFill>
                  <a:srgbClr val="D6336C"/>
                </a:solidFill>
                <a:latin typeface="Amiri" pitchFamily="2" charset="-78"/>
                <a:cs typeface="Amiri" pitchFamily="2" charset="-78"/>
              </a:rPr>
              <a:t>زَرْقَاءَ</a:t>
            </a:r>
            <a:pPr rtl="1" algn="r" indent="0" marL="0">
              <a:buNone/>
            </a:pPr>
            <a:r>
              <a:rPr lang="ar-SA" altLang="en-US" sz="2300" b="1" dirty="0">
                <a:solidFill>
                  <a:srgbClr val="1B3B6F"/>
                </a:solidFill>
                <a:latin typeface="Amiri" pitchFamily="2" charset="-78"/>
                <a:cs typeface="Amiri" pitchFamily="2" charset="-78"/>
              </a:rPr>
              <a:t>.</a:t>
            </a:r>
            <a:endParaRPr lang="ar-SA" sz="23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00" i="1" dirty="0">
                <a:solidFill>
                  <a:srgbClr val="5A6472"/>
                </a:solidFill>
                <a:latin typeface="Calibri" pitchFamily="34" charset="0"/>
                <a:cs typeface="Amiri" pitchFamily="2" charset="-78"/>
              </a:rPr>
              <a:t>In spring the land becomes green, and in autumn the leaves turn yellow. The student’s face became red with embarrassment, and the sky was blue.</a:t>
            </a:r>
            <a:endParaRPr lang="en-US" sz="12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اِحْمَرَّ وَجْهُهُ مِنَ الْخَجَلِ.</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His face went red with embarrassment.</a:t>
            </a:r>
            <a:endParaRPr lang="en-US" sz="1250" dirty="0"/>
          </a:p>
          <a:p>
            <a:pPr indent="0" marL="0">
              <a:buNone/>
            </a:pPr>
            <a:r>
              <a:rPr lang="en-US" sz="1050" i="1" dirty="0">
                <a:solidFill>
                  <a:srgbClr val="8A6D1E"/>
                </a:solidFill>
                <a:latin typeface="Calibri" pitchFamily="34" charset="0"/>
                <a:cs typeface="Amiri" pitchFamily="2" charset="-78"/>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تَخْضَرُّ الْأَرْضُ فِي الرَّبِيعِ.</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land becomes green in spring.</a:t>
            </a:r>
            <a:endParaRPr lang="en-US" sz="1250" dirty="0"/>
          </a:p>
          <a:p>
            <a:pPr indent="0" marL="0">
              <a:buNone/>
            </a:pPr>
            <a:r>
              <a:rPr lang="en-US" sz="1050" i="1" dirty="0">
                <a:solidFill>
                  <a:srgbClr val="8A6D1E"/>
                </a:solidFill>
                <a:latin typeface="Calibri" pitchFamily="34" charset="0"/>
                <a:cs typeface="Amiri" pitchFamily="2" charset="-78"/>
              </a:rPr>
              <a:t>Website.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اِصْفَرَّ وَجْهُهَا مِنَ الْخَوْفِ.</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Her face went pale with fear.</a:t>
            </a:r>
            <a:endParaRPr lang="en-US" sz="1250" dirty="0"/>
          </a:p>
          <a:p>
            <a:pPr indent="0" marL="0">
              <a:buNone/>
            </a:pPr>
            <a:r>
              <a:rPr lang="en-US" sz="1050" i="1" dirty="0">
                <a:solidFill>
                  <a:srgbClr val="8A6D1E"/>
                </a:solidFill>
                <a:latin typeface="Calibri" pitchFamily="34" charset="0"/>
                <a:cs typeface="Amiri" pitchFamily="2" charset="-78"/>
              </a:rPr>
              <a:t>Pale.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الْوَرَقَةُ صَفْرَاءُ.</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leaf is yellow.</a:t>
            </a:r>
            <a:endParaRPr lang="en-US" sz="1250" dirty="0"/>
          </a:p>
          <a:p>
            <a:pPr indent="0" marL="0">
              <a:buNone/>
            </a:pPr>
            <a:r>
              <a:rPr lang="en-US" sz="1050" i="1" dirty="0">
                <a:solidFill>
                  <a:srgbClr val="8A6D1E"/>
                </a:solidFill>
                <a:latin typeface="Calibri" pitchFamily="34" charset="0"/>
                <a:cs typeface="Amiri" pitchFamily="2" charset="-78"/>
              </a:rPr>
              <a:t>State: adjective.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ADJECTIVE (STATE) VS FORM IX (CHANGE)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It IS red → it TURNED red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الصِّفَةُ وَالْفِعْلُ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19872" y="1810512"/>
            <a:ext cx="3538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55595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 IX</a:t>
            </a:r>
            <a:endParaRPr lang="en-US" sz="1100" dirty="0"/>
          </a:p>
        </p:txBody>
      </p:sp>
      <p:sp>
        <p:nvSpPr>
          <p:cNvPr id="18" name="Text 15"/>
          <p:cNvSpPr txBox="1"/>
          <p:nvPr/>
        </p:nvSpPr>
        <p:spPr>
          <a:xfrm>
            <a:off x="382219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Adjective m. · f.</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156448" y="2267712"/>
            <a:ext cx="35021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become red</a:t>
            </a:r>
            <a:endParaRPr lang="en-US" sz="1100" dirty="0"/>
          </a:p>
        </p:txBody>
      </p:sp>
      <p:sp>
        <p:nvSpPr>
          <p:cNvPr id="22" name="Text 19"/>
          <p:cNvSpPr txBox="1"/>
          <p:nvPr/>
        </p:nvSpPr>
        <p:spPr>
          <a:xfrm>
            <a:off x="5577840" y="226771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اِحْمَرَّ</a:t>
            </a:r>
            <a:endParaRPr lang="ar-SA" sz="2400" dirty="0"/>
          </a:p>
        </p:txBody>
      </p:sp>
      <p:sp>
        <p:nvSpPr>
          <p:cNvPr id="23" name="Text 20"/>
          <p:cNvSpPr txBox="1"/>
          <p:nvPr/>
        </p:nvSpPr>
        <p:spPr>
          <a:xfrm>
            <a:off x="3858768" y="2267712"/>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red</a:t>
            </a:r>
            <a:endParaRPr lang="en-US" sz="1100" dirty="0"/>
          </a:p>
        </p:txBody>
      </p:sp>
      <p:sp>
        <p:nvSpPr>
          <p:cNvPr id="24" name="Text 21"/>
          <p:cNvSpPr txBox="1"/>
          <p:nvPr/>
        </p:nvSpPr>
        <p:spPr>
          <a:xfrm>
            <a:off x="548640" y="2267712"/>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أَحْمَرُ · حَمْرَاءُ</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156448" y="2881884"/>
            <a:ext cx="35021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turn yellow / pale</a:t>
            </a:r>
            <a:endParaRPr lang="en-US" sz="1100" dirty="0"/>
          </a:p>
        </p:txBody>
      </p:sp>
      <p:sp>
        <p:nvSpPr>
          <p:cNvPr id="29" name="Text 26"/>
          <p:cNvSpPr txBox="1"/>
          <p:nvPr/>
        </p:nvSpPr>
        <p:spPr>
          <a:xfrm>
            <a:off x="5577840" y="2881884"/>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اِصْفَرَّ</a:t>
            </a:r>
            <a:endParaRPr lang="ar-SA" sz="2400" dirty="0"/>
          </a:p>
        </p:txBody>
      </p:sp>
      <p:sp>
        <p:nvSpPr>
          <p:cNvPr id="30" name="Text 27"/>
          <p:cNvSpPr txBox="1"/>
          <p:nvPr/>
        </p:nvSpPr>
        <p:spPr>
          <a:xfrm>
            <a:off x="3858768" y="2881884"/>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yellow</a:t>
            </a:r>
            <a:endParaRPr lang="en-US" sz="1100" dirty="0"/>
          </a:p>
        </p:txBody>
      </p:sp>
      <p:sp>
        <p:nvSpPr>
          <p:cNvPr id="31" name="Text 28"/>
          <p:cNvSpPr txBox="1"/>
          <p:nvPr/>
        </p:nvSpPr>
        <p:spPr>
          <a:xfrm>
            <a:off x="548640" y="2881884"/>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أَصْفَرُ · صَفْرَاءُ</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156448" y="3496056"/>
            <a:ext cx="35021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become green</a:t>
            </a:r>
            <a:endParaRPr lang="en-US" sz="1100" dirty="0"/>
          </a:p>
        </p:txBody>
      </p:sp>
      <p:sp>
        <p:nvSpPr>
          <p:cNvPr id="36" name="Text 33"/>
          <p:cNvSpPr txBox="1"/>
          <p:nvPr/>
        </p:nvSpPr>
        <p:spPr>
          <a:xfrm>
            <a:off x="5577840" y="3496056"/>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اِخْضَرَّ</a:t>
            </a:r>
            <a:endParaRPr lang="ar-SA" sz="2400" dirty="0"/>
          </a:p>
        </p:txBody>
      </p:sp>
      <p:sp>
        <p:nvSpPr>
          <p:cNvPr id="37" name="Text 34"/>
          <p:cNvSpPr txBox="1"/>
          <p:nvPr/>
        </p:nvSpPr>
        <p:spPr>
          <a:xfrm>
            <a:off x="3858768" y="3496056"/>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green</a:t>
            </a:r>
            <a:endParaRPr lang="en-US" sz="1100" dirty="0"/>
          </a:p>
        </p:txBody>
      </p:sp>
      <p:sp>
        <p:nvSpPr>
          <p:cNvPr id="38" name="Text 35"/>
          <p:cNvSpPr txBox="1"/>
          <p:nvPr/>
        </p:nvSpPr>
        <p:spPr>
          <a:xfrm>
            <a:off x="548640" y="3496056"/>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أَخْضَرُ · خَضْرَاءُ</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156448" y="4110228"/>
            <a:ext cx="35021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turn black</a:t>
            </a:r>
            <a:endParaRPr lang="en-US" sz="1100" dirty="0"/>
          </a:p>
        </p:txBody>
      </p:sp>
      <p:sp>
        <p:nvSpPr>
          <p:cNvPr id="43" name="Text 40"/>
          <p:cNvSpPr txBox="1"/>
          <p:nvPr/>
        </p:nvSpPr>
        <p:spPr>
          <a:xfrm>
            <a:off x="5577840" y="4110228"/>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اِسْوَدَّ</a:t>
            </a:r>
            <a:endParaRPr lang="ar-SA" sz="2400" dirty="0"/>
          </a:p>
        </p:txBody>
      </p:sp>
      <p:sp>
        <p:nvSpPr>
          <p:cNvPr id="44" name="Text 41"/>
          <p:cNvSpPr txBox="1"/>
          <p:nvPr/>
        </p:nvSpPr>
        <p:spPr>
          <a:xfrm>
            <a:off x="3858768" y="4110228"/>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black</a:t>
            </a:r>
            <a:endParaRPr lang="en-US" sz="1100" dirty="0"/>
          </a:p>
        </p:txBody>
      </p:sp>
      <p:sp>
        <p:nvSpPr>
          <p:cNvPr id="45" name="Text 42"/>
          <p:cNvSpPr txBox="1"/>
          <p:nvPr/>
        </p:nvSpPr>
        <p:spPr>
          <a:xfrm>
            <a:off x="548640" y="4110228"/>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أَسْوَدُ · سَوْدَاءُ</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156448" y="4724400"/>
            <a:ext cx="35021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turn white</a:t>
            </a:r>
            <a:endParaRPr lang="en-US" sz="1100" dirty="0"/>
          </a:p>
        </p:txBody>
      </p:sp>
      <p:sp>
        <p:nvSpPr>
          <p:cNvPr id="48" name="Text 45"/>
          <p:cNvSpPr txBox="1"/>
          <p:nvPr/>
        </p:nvSpPr>
        <p:spPr>
          <a:xfrm>
            <a:off x="5577840" y="4724400"/>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اِبْيَضَّ</a:t>
            </a:r>
            <a:endParaRPr lang="ar-SA" sz="2400" dirty="0"/>
          </a:p>
        </p:txBody>
      </p:sp>
      <p:sp>
        <p:nvSpPr>
          <p:cNvPr id="49" name="Text 46"/>
          <p:cNvSpPr txBox="1"/>
          <p:nvPr/>
        </p:nvSpPr>
        <p:spPr>
          <a:xfrm>
            <a:off x="3858768" y="4724400"/>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white</a:t>
            </a:r>
            <a:endParaRPr lang="en-US" sz="1100" dirty="0"/>
          </a:p>
        </p:txBody>
      </p:sp>
      <p:sp>
        <p:nvSpPr>
          <p:cNvPr id="50" name="Text 47"/>
          <p:cNvSpPr txBox="1"/>
          <p:nvPr/>
        </p:nvSpPr>
        <p:spPr>
          <a:xfrm>
            <a:off x="548640" y="4724400"/>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أَبْيَضُ · بَيْضَاءُ</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156448" y="5338572"/>
            <a:ext cx="35021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turn blue</a:t>
            </a:r>
            <a:endParaRPr lang="en-US" sz="1100" dirty="0"/>
          </a:p>
        </p:txBody>
      </p:sp>
      <p:sp>
        <p:nvSpPr>
          <p:cNvPr id="53" name="Text 50"/>
          <p:cNvSpPr txBox="1"/>
          <p:nvPr/>
        </p:nvSpPr>
        <p:spPr>
          <a:xfrm>
            <a:off x="5577840" y="533857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اِزْرَقَّ</a:t>
            </a:r>
            <a:endParaRPr lang="ar-SA" sz="2400" dirty="0"/>
          </a:p>
        </p:txBody>
      </p:sp>
      <p:sp>
        <p:nvSpPr>
          <p:cNvPr id="54" name="Text 51"/>
          <p:cNvSpPr txBox="1"/>
          <p:nvPr/>
        </p:nvSpPr>
        <p:spPr>
          <a:xfrm>
            <a:off x="3858768" y="5338572"/>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blue</a:t>
            </a:r>
            <a:endParaRPr lang="en-US" sz="1100" dirty="0"/>
          </a:p>
        </p:txBody>
      </p:sp>
      <p:sp>
        <p:nvSpPr>
          <p:cNvPr id="55" name="Text 52"/>
          <p:cNvSpPr txBox="1"/>
          <p:nvPr/>
        </p:nvSpPr>
        <p:spPr>
          <a:xfrm>
            <a:off x="548640" y="5338572"/>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أَزْرَقُ · زَرْقَاءُ</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clinic: Form IX is not the ordinary way to say something is a colour. State → adjective (al-waraqatu ṣafrāʾu); change → verb (iṣfarrati l-waraqatu).</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CLINIC · STATE OR CHANGE?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Is it a colour, or did it become one?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حَالٌ أَمْ تَحَوُّلٌ؟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السَّمَاءُ زَرْقَاءُ</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الْعُشْبُ أَخْضَرُ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وَجْهُهُ أَحْمَرُ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شَعْرُهُ أَبْيَضُ</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اِزْرَقَّتِ السَّمَاءُ</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اِخْضَرَّ الْعُشْبُ</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اِحْمَرَّ وَجْهُهُ</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اِبْيَضَّ شَعْرُهُ</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State (adjective)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Change (Form IX)</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State (adjective)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السَّمَاءُ زَرْقَاءُ</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الْعُشْبُ أَخْضَرُ</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وَجْهُهُ أَحْمَرُ</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شَعْرُهُ أَبْيَضُ</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Change (Form IX)</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اِزْرَقَّتِ السَّمَاءُ</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اِخْضَرَّ الْعُشْبُ</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اِحْمَرَّ وَجْهُهُ</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اِبْيَضَّ شَعْرُهُ</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الْوَرَقَةُ أَصْفَرُ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Adjective agreement?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اِحْمَرَّتْ وَجْهُهُ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face masculine?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اِحْمَرَّتُ مِنَ الْخَجَلِ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Split the double?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الْوَرَقَةُ أَصْفَرُ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الْوَرَقَةُ صَفْرَاءُ</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 a state use the adjective — feminine faʿlāʾ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اِحْمَرَّتْ وَجْهُهُ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اِحْمَرَّ وَجْهُهُ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Wajh (face) is masculine.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اِحْمَرَّتُ مِنَ الْخَجَلِ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اِحْمَرَرْتُ مِنَ الْخَجَلِ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Before -tu the doubled letter splits.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cs typeface="Amiri" pitchFamily="2" charset="-78"/>
              </a:rPr>
              <a:t>WE DO · GUIDED PRACTICE · WEBSITE SELF-CHECK ITEM AND TEACHER-WRITTEN QUESTIONS</a:t>
            </a:r>
            <a:endParaRPr lang="en-US" sz="87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accurate?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IX is the grammatical passive of Form I.</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IX is the usual form of every colour adjective.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IX is relatively rare and often concerns colours or physical characteristics.</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verbal noun of </a:t>
            </a:r>
            <a:pPr algn="l" indent="0" marL="0">
              <a:buNone/>
            </a:pPr>
            <a:r>
              <a:rPr lang="ar-SA" altLang="en-US" sz="1650" b="1" dirty="0">
                <a:solidFill>
                  <a:srgbClr val="1B3B6F"/>
                </a:solidFill>
                <a:latin typeface="Amiri" pitchFamily="2" charset="-78"/>
                <a:cs typeface="Amiri" pitchFamily="2" charset="-78"/>
              </a:rPr>
              <a:t>اِحْمَرَّ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حُمْرَةٌ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اِحْمِرَارٌ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أَحْمَرُ</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trees become green”.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يَخْضَرُّ الْأَشْجَارُ</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تَخْضَرُّ الْأَشْجَارُ</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الْأَشْجَارُ أَخْضَرُ</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Form IX?</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أَسْوَدُ</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سَوَّدَ</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اِسْوَدَّ</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accurate?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 IX is the grammatical passive of Form I.</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 IX is the usual form of every colour adjective.</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Form IX is relatively rare and often concerns colours or physical characteristics.</a:t>
            </a:r>
            <a:endParaRPr lang="en-US" sz="11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Learn Form IX as a small, recognisable family.</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verbal noun of </a:t>
            </a:r>
            <a:pPr algn="l" indent="0" marL="0">
              <a:buNone/>
            </a:pPr>
            <a:r>
              <a:rPr lang="ar-SA" altLang="en-US" sz="1650" b="1" dirty="0">
                <a:solidFill>
                  <a:srgbClr val="1B3B6F"/>
                </a:solidFill>
                <a:latin typeface="Amiri" pitchFamily="2" charset="-78"/>
                <a:cs typeface="Amiri" pitchFamily="2" charset="-78"/>
              </a:rPr>
              <a:t>اِحْمَرَّ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حُمْرَةٌ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اِحْمِرَارٌ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أَحْمَرُ</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ifʿilāl.</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trees become green”.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يَخْضَرُّ الْأَشْجَارُ</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تَخْضَرُّ الْأَشْجَارُ</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الْأَشْجَارُ أَخْضَرُ</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 ta-.</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Form IX?</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أَسْوَدُ</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سَوَّدَ</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اِسْوَدَّ</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Doubled last letter; aswad is the adjective.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E6B52"/>
                </a:solidFill>
                <a:latin typeface="Calibri" pitchFamily="34" charset="0"/>
                <a:cs typeface="Amiri" pitchFamily="2" charset="-78"/>
              </a:rPr>
              <a:t>YOU DO · READ AND NOTICE · READING FOR FORM IX (TEACHER-WRITTEN DESCRIPTION)</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four seasons in my village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فِي الرَّبِيعِ تَخْضَرُّ الْحُقُولُ، وَتَظْهَرُ الْأَزْهَارُ الْحَمْرَاءُ وَالصَّفْرَاءُ. فِي الصَّيْفِ تَكُونُ السَّمَاءُ زَرْقَاءَ صَافِيَةً. فِي الْخَرِيفِ تَصْفَرُّ أَوْرَاقُ الشَّجَرِ ثُمَّ تَسْقُطُ. فِي الشِّتَاءِ تَسْوَدُّ السَّمَاءُ قَبْلَ الْعَوَاصِفِ، وَتَبْيَضُّ الْجِبَالُ بِالثَّلْجِ. أَمَّا جَدِّي فَقَدِ ابْيَضَّ شَعْرُهُ، وَلَكِنَّهُ مَا زَالَ نَشِيطًا!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الْحُقُولُ</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fields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تَظْهَرُ</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appear</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صَافِيَةً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clear</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تَسْقُطُ</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fall</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الْعَوَاصِفِ</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storms</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مَا زَالَ</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still</a:t>
            </a:r>
            <a:endParaRPr lang="en-US" sz="10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to the fields in spring?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turn yellow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turn green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turn white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describes a STATE, not a change?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تَصْفَرُّ الْأَوْرَاقُ</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تَسْوَدُّ السَّمَاءُ</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السَّمَاءُ زَرْقَاءُ</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makes the mountains white?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snow</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storms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flowers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happened to the grandfather’s hair?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turned black</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turned white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fallen out</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to the fields in spring?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turn yellow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turn green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turn white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Takhḍarru l-ḥuqūl.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describes a STATE, not a change?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تَصْفَرُّ الْأَوْرَاقُ</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تَسْوَدُّ السَّمَاءُ</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السَّمَاءُ زَرْقَاءُ</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Adjective.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makes the mountains white?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snow</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storms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flowers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Tabyaḍḍu l-jibālu bi-th-thalj.</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happened to the grandfather’s hair?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turned black</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has turned white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fallen out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Ibyaḍḍa shaʿruhu.</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colours that change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لَوْنُ السَّمَاءِ الْيَوْمَ؟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يَحْدُثُ لِلْأَشْجَارِ فِي الْخَرِيفِ؟</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مَتَى يَحْمَرُّ وَجْهُكَ؟ وَمَتَى يَصْفَرُّ؟</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السَّمَاءُ الْيَوْمَ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فِي الْخَرِيفِ تَصْفَرُّ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cs typeface="Amiri" pitchFamily="2" charset="-78"/>
              </a:rPr>
              <a:t>يَحْمَرُّ وَجْهِي عِنْدَمَا ___ ، وَيَصْفَرُّ عِنْدَمَا ___ .</a:t>
            </a:r>
            <a:endParaRPr lang="ar-SA" sz="13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مَاذَا يَحْدُثُ فِي الرَّبِيعِ فِي بَلَدِكِ؟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happens in spring in your country?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تَخْضَرُّ الْحَدَائِقُ، وَتَكُونُ الْأَزْهَارُ حَمْرَاءَ وَصَفْرَاءَ. وَالسَّمَاءُ زَرْقَاءُ أَغْلَبَ الْأَيَّامِ.</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The gardens turn green, and the flowers are red and yellow. And the sky is blue most days.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takhḍarru · taṣfarru · one adjective.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Four seasons with Form IX verbs and adjectives.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Agreement with non-human plurals.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7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seasons description with a verbal noun and a split-doubling past.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iṣfirār · iḥmarartu.</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قَبْلَ الْعَاصِفَةِ ______ السَّمَاءُ.</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Before the storm the sky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تَبْيَضُّ الْجِبَالُ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mountains turn white with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اِصْفَرَّ وَجْهُهَا مِنْ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Her face went pale from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الْأَزْهَارُ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flowers are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الرَّبِيعِ يَخْضَرُّ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spring … becomes green</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الْخَرِيفِ ______ الْأَوْرَاقُ.</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autumn the leaves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اِحْمَرَّ وَجْهُهُ لِأَنَّ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face went red because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السَّمَاءُ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sky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اِحْمَرَّ · يَحْمَرُّ  ·  اِصْفَرَّ · يَصْفَرُّ  ·  اِخْضَرَّ · يَخْضَرُّ  ·  اِسْوَدَّ · يَسْوَدُّ  ·  اِبْيَضَّ · يَبْيَضُّ  ·  حَمْرَاءُ  ·  صَفْرَاءُ  ·  خَضْرَاءُ  ·  زَرْقَاءُ</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Describe the four seasons with Form IX verbs, colour adjectives and one verbal noun.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Form IX verbs (change).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colour adjectives (state).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Correct agreement (taṣfarru l-awrāq).</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verbal noun (iṣfirār, ikhḍirār).</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split-doubling past (iḥmarartu).</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الرَّبِيعِ</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spring</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الْخَرِيفِ</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autumn</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الْخَجَلِ</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embarrassment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الْخَوْفِ</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from fear</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شَيْئًا فَشَيْئًا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little by little</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أَمَّا … فَـ</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as for … (then)</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أُحِبُّ تَغَيُّرَ الْأَلْوَانِ فِي الطَّبِيعَةِ. فِي الرَّبِيعِ تَخْضَرُّ الْحَدَائِقُ شَيْئًا فَشَيْئًا، وَتَكُونُ الْأَزْهَارُ حَمْرَاءَ وَبَيْضَاءَ. فِي الْخَرِيفِ تَصْفَرُّ أَوْرَاقُ الشَّجَرِ، وَاصْفِرَارُهَا جَمِيلٌ جِدًّا. فِي الشِّتَاءِ تَسْوَدُّ السَّمَاءُ قَبْلَ الْمَطَرِ. وَفِي يَوْمِ الْحَفْلِ اِحْمَرَرْتُ مِنَ الْخَجَلِ عِنْدَمَا صَفَّقَ لِي الْجُمْهُورُ!</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love the change of colours in nature. In spring the gardens turn green little by little, and the flowers are red and white. In autumn the leaves turn yellow, and their yellowing is very beautiful. In winter the sky turns black before the rain. And on the day of the show I went red with embarrassment when the audience clapped for me!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IX present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colour adjective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ifʿilāl noun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split-doubling past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Form IX for a CHANGE of colour.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the adjective for a colour STATE.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Form IX verbs agree with the subject.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Feminine adjectives use faʿlāʾ.</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iḥmarartu with the split doubling.</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land became green”.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اِخْضَرَّتِ الْأَرْضُ</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الْأَرْضُ خَضْرَاءُ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اِخْضَرَّ الْأَرْضُ</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adjective?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اِحْمَرَّ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أَحْمَرُ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يَحْمَرُّ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went red”.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اِحْمَرَرْتُ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اِحْمَرَّتُ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أَحْمَرُّ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land became green”.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اِخْضَرَّتِ الْأَرْضُ</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الْأَرْضُ خَضْرَاءُ</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اِخْضَرَّ الْأَرْضُ</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Change + feminine subject.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adjective?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اِحْمَرَّ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أَحْمَرُ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يَحْمَرُّ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aḥmar = red.</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went red”.</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اِحْمَرَرْتُ</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اِحْمَرَّتُ</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أَحْمَرُّ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Split doubling before -tu.</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GM-VF-10: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GM-VF-10 · Form X: Seeking, Using and Considering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اِسْتَعْمَلَ · يَسْتَعْمِلُ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use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اِسْتَخْدَمَ · يَسْتَخْدِمُ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use / employ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اِسْتَقْبَلَ · يَسْتَقْبِلُ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receive / welcome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اِسْتَغْفَرَ · يَسْتَغْفِرُ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seek forgiveness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عَمِلَ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work (Form I)</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ʿAmila = to work. Istaʿmala = to use. Which letters were added at the front?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عَمِلَ · اِسْتَعْمَلَ</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sentences: colour states (adjectives) and colour changes (Form IX).</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Conjugate iṣfarra in past and present for he, she, they and I.</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four-seasons description.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GM-VF-09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cs typeface="Amiri" pitchFamily="2" charset="-78"/>
              </a:rPr>
              <a:t>GM-VF-10 · Form X: Seeking, Using and Considering</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الْوَزْنُ الْعَاشِرُ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Form IX = doubled last letter (ifʿalla) · colours and physical changes · IS a colour → adjective · BECAME a colour → Form IX · iḥmarartu splits the double · rare: optional extension.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GM-VF-09 · Form IX: Colours and Physical States</dc:title>
  <dc:subject>PptxGenJS Presentation</dc:subject>
  <dc:creator>Al Madina Online School · Arabic Department</dc:creator>
  <cp:lastModifiedBy>Al Madina Online School · Arabic Department</cp:lastModifiedBy>
  <cp:revision>1</cp:revision>
  <dcterms:created xsi:type="dcterms:W3CDTF">2026-10-11T06:42:46Z</dcterms:created>
  <dcterms:modified xsi:type="dcterms:W3CDTF">2026-10-11T06:42:46Z</dcterms:modified>
</cp:coreProperties>
</file>