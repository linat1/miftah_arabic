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GM-VF-09 (“Form IX: Colours and Physical States”).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colour adjectives (أَحْمَرُ · حَمْرَاءُ) vs the Form IX verbs (اِحْمَرَّ · اِصْفَرَّ · اِخْضَرَّ) for seasons. Develop: present forms (تَخْضَرُّ الْأَرْضُ · تَصْفَرُّ الْأَوْرَاقُ) and agreement (اِصْفَرَّتِ الْأَوْرَاقُ). Stretch: the split doubling (اِحْمَرَرْتُ) and the verbal noun اِفْعِلَالٌ (اِحْمِرَارٌ · اِصْفِرَارٌ).
• Website: Form IX is optional extension — a small, recognisable family. Teach it through seasons, faces and nature.
• Recycles GM-ADJ-03 (colours: أَفْعَلُ · فَعْلَاءُ).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GM-VF-08, GM-ADJ-03 (colour adjectives) and the prep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IX = doubled LAST root letter (ifʿalla). Adjective = it IS a colour; Form IX = it BECAME a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Commands are not used (you cannot order someone to turn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(first three examples are the website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Core students need the he / she / they rows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Cover column 3; students build the verb from the adjective (a…ar → i…arra).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translate each pair: “the sky is blue / the sky turned blue”.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translate each pair: “the sky is blue / the sky turned blue”.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IX (teacher-written description). Read it aloud once while students follow; then they hunt for today’s grammar.
Task: Website: describe seasonal changes. First, underline every Form IX verb and circle every colour adjective.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description for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two seasonal changes and one change in a person’s appearance; one adjective and two Form IX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Describe two seasonal changes and one change in a person’s appearance. Use one adjective and two Form IX verbs.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(GM-VF-10 · Form X: Seeking, Using and Considering) will spend class time USING this language, so students prepare it tonight — short, simple, easy to access (school guidance: “Simple, Short, Interesting, Relevant, Easy to access”). The five words prepare GM-VF-10 (website Verb Forms: Form X).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50" b="1" dirty="0">
                <a:solidFill>
                  <a:srgbClr val="FFFFFF"/>
                </a:solidFill>
                <a:latin typeface="Cambria" pitchFamily="34" charset="0"/>
                <a:cs typeface="Amiri" pitchFamily="2" charset="-78"/>
              </a:rPr>
              <a:t>Form IX: Colours and Physical States</a:t>
            </a:r>
            <a:endParaRPr lang="en-US" sz="2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الْوَزْنُ التَّاسِعُ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IX doubles the LAST root letter: aḥmar (red) → iḥmarra (become red). It is rare and almost only used for colours and physical changes. Is it red? Use the adjective. Did it turn red? Use Form IX.</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GM-VF-09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colour family; conjugation; adjective vs verb.</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Is red → turned red; sort state / change;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اِجْتَمَعَ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اِنْجَمَعَ</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red car”.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 حَمْرَاءُ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 أَحْمَرُ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 أَحْمَرَةٌ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Iḥmarra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paint red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become red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Iṣfarra means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yellow</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whistle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turn yellow</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the end of </a:t>
            </a:r>
            <a:pPr algn="l" indent="0" marL="0">
              <a:buNone/>
            </a:pPr>
            <a:r>
              <a:rPr lang="ar-SA" altLang="en-US" sz="1650" b="1" dirty="0">
                <a:solidFill>
                  <a:srgbClr val="1B3B6F"/>
                </a:solidFill>
                <a:latin typeface="Amiri" pitchFamily="2" charset="-78"/>
                <a:ea typeface="Amiri" pitchFamily="2" charset="-78"/>
                <a:cs typeface="Amiri" pitchFamily="2" charset="-78"/>
              </a:rPr>
              <a:t>اِحْمَرَّ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shadda (doubled 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ā</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sukūn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VIII?</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جَمَّعَ</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اِجْتَمَعَ</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اِنْجَمَعَ</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 after the first root letter (GM-VF-08).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red car”.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سَيَّارَةٌ حَمْرَاءُ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سَيَّارَةٌ أَحْمَرُ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سَيَّارَةٌ أَحْمَرَةٌ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colour: faʿlāʾ (GM-ADJ-03).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Iḥmarra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paint red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become red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prep question.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Iṣfarra means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yellow</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whistle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turn yellow</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the end of </a:t>
            </a:r>
            <a:pPr algn="l" indent="0" marL="0">
              <a:buNone/>
            </a:pPr>
            <a:r>
              <a:rPr lang="ar-SA" altLang="en-US" sz="1650" b="1" dirty="0">
                <a:solidFill>
                  <a:srgbClr val="1B3B6F"/>
                </a:solidFill>
                <a:latin typeface="Amiri" pitchFamily="2" charset="-78"/>
                <a:ea typeface="Amiri" pitchFamily="2" charset="-78"/>
                <a:cs typeface="Amiri" pitchFamily="2" charset="-78"/>
              </a:rPr>
              <a:t>اِحْمَرَّ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shadda (doubled 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ā</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sukūn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doubled last letter.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IX = doubled LAST root letter (ifʿalla). Adjective = it IS a colour; Form IX = it BECAME a colour.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الْوَجْهُ </a:t>
            </a:r>
            <a:pPr rtl="1" algn="ctr" indent="0" marL="0">
              <a:buNone/>
            </a:pPr>
            <a:r>
              <a:rPr lang="ar-SA" altLang="en-US" sz="2400" b="1" dirty="0">
                <a:solidFill>
                  <a:srgbClr val="0E7C86"/>
                </a:solidFill>
                <a:latin typeface="Amiri" pitchFamily="2" charset="-78"/>
                <a:ea typeface="Amiri" pitchFamily="2" charset="-78"/>
                <a:cs typeface="Amiri" pitchFamily="2" charset="-78"/>
              </a:rPr>
              <a:t>أَحْمَرُ</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اِحْمَرَّ</a:t>
            </a:r>
            <a:pPr rtl="1" algn="ctr" indent="0" marL="0">
              <a:buNone/>
            </a:pPr>
            <a:r>
              <a:rPr lang="ar-SA" altLang="en-US" sz="2400" b="1" dirty="0">
                <a:solidFill>
                  <a:srgbClr val="1B3B6F"/>
                </a:solidFill>
                <a:latin typeface="Amiri" pitchFamily="2" charset="-78"/>
                <a:ea typeface="Amiri" pitchFamily="2" charset="-78"/>
                <a:cs typeface="Amiri" pitchFamily="2" charset="-78"/>
              </a:rPr>
              <a:t> الْوَجْهُ</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IX by the doubled last letter.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Form IX verbs for colour changes.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adjective for a state, the verb for a change.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Form IX agree with the subject.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the leaves turned yellow.</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a colour adjective for a state.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tukhḍarru and taṣfarru in the present.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make the verb agree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iḥmarartu (split doubling).</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iḥmirār and iṣfirār.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الْوَزْنُ التَّاسِعُ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IX</a:t>
            </a:r>
            <a:endParaRPr lang="en-US" sz="1350" dirty="0"/>
          </a:p>
          <a:p>
            <a:pPr indent="0" marL="0">
              <a:buNone/>
            </a:pPr>
            <a:r>
              <a:rPr lang="en-US" sz="1100" i="1" dirty="0">
                <a:solidFill>
                  <a:srgbClr val="5A6472"/>
                </a:solidFill>
                <a:latin typeface="Calibri" pitchFamily="34" charset="0"/>
                <a:cs typeface="Amiri" pitchFamily="2" charset="-78"/>
              </a:rPr>
              <a:t>al-waz-nu at-tā-si-ʿu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اِفْعَلَّ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الْأَلْوَانُ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colours</a:t>
            </a:r>
            <a:endParaRPr lang="en-US" sz="1350" dirty="0"/>
          </a:p>
          <a:p>
            <a:pPr indent="0" marL="0">
              <a:buNone/>
            </a:pPr>
            <a:r>
              <a:rPr lang="en-US" sz="1100" i="1" dirty="0">
                <a:solidFill>
                  <a:srgbClr val="5A6472"/>
                </a:solidFill>
                <a:latin typeface="Calibri" pitchFamily="34" charset="0"/>
                <a:cs typeface="Amiri" pitchFamily="2" charset="-78"/>
              </a:rPr>
              <a:t>al-al-wā-nu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أَحْمَرُ · أَصْفَرُ</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الصِّفَةُ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adjective (a state)</a:t>
            </a:r>
            <a:endParaRPr lang="en-US" sz="1350" dirty="0"/>
          </a:p>
          <a:p>
            <a:pPr indent="0" marL="0">
              <a:buNone/>
            </a:pPr>
            <a:r>
              <a:rPr lang="en-US" sz="1100" i="1" dirty="0">
                <a:solidFill>
                  <a:srgbClr val="5A6472"/>
                </a:solidFill>
                <a:latin typeface="Calibri" pitchFamily="34" charset="0"/>
                <a:cs typeface="Amiri" pitchFamily="2" charset="-78"/>
              </a:rPr>
              <a:t>aṣ-ṣi-fa-tu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الْوَرَقَةُ صَفْرَاءُ</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التَّحَوُّلُ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change / becoming</a:t>
            </a:r>
            <a:endParaRPr lang="en-US" sz="1350" dirty="0"/>
          </a:p>
          <a:p>
            <a:pPr indent="0" marL="0">
              <a:buNone/>
            </a:pPr>
            <a:r>
              <a:rPr lang="en-US" sz="1100" i="1" dirty="0">
                <a:solidFill>
                  <a:srgbClr val="5A6472"/>
                </a:solidFill>
                <a:latin typeface="Calibri" pitchFamily="34" charset="0"/>
                <a:cs typeface="Amiri" pitchFamily="2" charset="-78"/>
              </a:rPr>
              <a:t>at-ta-ḥaw-wu-lu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اِصْفَرَّتِ الْوَرَقَةُ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اِفْعِلَالٌ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IX verbal noun</a:t>
            </a:r>
            <a:endParaRPr lang="en-US" sz="1350" dirty="0"/>
          </a:p>
          <a:p>
            <a:pPr indent="0" marL="0">
              <a:buNone/>
            </a:pPr>
            <a:r>
              <a:rPr lang="en-US" sz="1100" i="1" dirty="0">
                <a:solidFill>
                  <a:srgbClr val="5A6472"/>
                </a:solidFill>
                <a:latin typeface="Calibri" pitchFamily="34" charset="0"/>
                <a:cs typeface="Amiri" pitchFamily="2" charset="-78"/>
              </a:rPr>
              <a:t>if-ʿi-lā-lun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اِحْمِرَارٌ</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الْخَجَلُ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embarrassment</a:t>
            </a:r>
            <a:endParaRPr lang="en-US" sz="1350" dirty="0"/>
          </a:p>
          <a:p>
            <a:pPr indent="0" marL="0">
              <a:buNone/>
            </a:pPr>
            <a:r>
              <a:rPr lang="en-US" sz="1100" i="1" dirty="0">
                <a:solidFill>
                  <a:srgbClr val="5A6472"/>
                </a:solidFill>
                <a:latin typeface="Calibri" pitchFamily="34" charset="0"/>
                <a:cs typeface="Amiri" pitchFamily="2" charset="-78"/>
              </a:rPr>
              <a:t>al-kha-ja-lu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اِحْمَرَّ مِنَ الْخَجَلِ</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IX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Double the last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اِفْعَلَّ · يَفْعَلُّ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85248" y="2267712"/>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اِفْعِلَالٌ</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اِفْعَلَّ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85248" y="3004718"/>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مُحْمَرٌّ</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اِحْمِرَارٌ</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يَحْمَرُّ</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become red</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85248" y="3741725"/>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مُصْفَرٌّ</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اِصْفِرَارٌ</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يَصْفَرُّ</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اِصْفَرَّ</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yellow / pale</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85248" y="4478731"/>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مُخْضَرٌّ</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اِخْضِرَارٌ</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يَخْضَرُّ</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اِخْضَرَّ</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green</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85248" y="5215738"/>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مُسْوَدٌّ</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اِسْوِدَادٌ</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يَسْوَدُّ</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اِسْوَدَّ</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black</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pattern has a doubled final radical: ifʿalla / yafʿallu; verbal noun ifʿilāl. This differs from a doubled Form I verb, where the 2nd and 3rd root letters are the same (marra).</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colour-change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أُسْرَةُ الْوَزْنِ التَّاسِعِ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اِحْمَرَّ وَجْهُهُ مِنَ الْخَجَلِ.</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become red</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اِحْمَرَّ · يَحْمَرُّ</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تَخْضَرُّ الْأَرْضُ فِي الرَّبِيعِ.</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become green</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اِخْضَرَّ · يَخْضَرُّ</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اِصْفَرَّتْ أَوْرَاقُ الشَّجَرِ فِي الْخَرِيفِ.</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yellow / pale</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اِصْفَرَّ · يَصْفَرُّ</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اِسْوَدَّتِ السَّمَاءُ قَبْلَ الْعَاصِفَةِ.</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black</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اِسْوَدَّ · يَسْوَدُّ</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اِبْيَضَّ شَعْرُ جَدِّي.</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white</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اِبْيَضَّ · يَبْيَضُّ</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اِزْرَقَّ الْبَحْرُ بَعْدَ الْمَطَرِ.</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blue</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اِزْرَقَّ · يَزْرَقُّ</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aḥmar is an adjective meaning red; iḥmarra means to become red. They are related, but different parts of speech.</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IḤMARRA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The doubled letter splits before -tu and -nā</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«اِحْمَرَّ»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يَحْمَرُّ</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 -at</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تَحْمَرُّ</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اِحْمَرَّتْ</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 -ū</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يَحْمَرُّونَ</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اِحْمَرُّوا</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r-r split</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أَحْمَرُّ</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اِحْمَرَرْتُ</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r-r split</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نَحْمَرُّ</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اِحْمَرَرْنَا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split · -īna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تَحْمَرِّينَ</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اِحْمَرَرْتِ</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before a suffix with sukūn (-tu, -nā, -ti) the doubled letter is written twice — iḥmarartu (like doubled verbs in GM-V-02).</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IX?</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اِحْمَرَّ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land becomes green”?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تَخْضَرُّ الْأَرْضُ</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الْأَرْضُ خَضْرَاءُ</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أَخْضَرُ الْأَرْضُ</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leaves turned yellow”.</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الْأَوْرَاقُ صَفْرَاءُ</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اِصْفَرَّتِ الْأَوْرَاقُ</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اِصْفَرَّ الْأَوْرَاقُ</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sky is blue” (a state).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السَّمَاءُ زَرْقَاءُ</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اِزْرَقَّتِ السَّمَاءُ</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تَزْرَقُّ السَّمَاءُ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IX?</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حَمْرَاءُ</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اِحْمَرَّ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Iḥmarra is a verb meaning to become red.</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land becomes green”?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تَخْضَرُّ الْأَرْضُ</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الْأَرْضُ خَضْرَاءُ</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أَخْضَرُ الْأَرْضُ</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Takhḍarru describes a change; the adjective describes a state.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leaves turned yellow”.</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الْأَوْرَاقُ صَفْرَاءُ</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اِصْفَرَّتِ الْأَوْرَاقُ</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اِصْفَرَّ الْأَوْرَاقُ</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Change + feminine agreement (non-human plural).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sky is blue” (a state).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السَّمَاءُ زَرْقَاءُ</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اِزْرَقَّتِ السَّمَاءُ</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تَزْرَقُّ السَّمَاءُ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State → adjective.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describe seasonal change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Spring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تَخْضَرُّ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land becomes green.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Autumn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تَصْفَرُّ</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leaves turn yellow.</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 face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اِحْمَرَّ</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became red.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 state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زَرْقَاءَ</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Adjective, not a verb.</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IX (CHANGE)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ADJECTIVE (STATE)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300" b="1" dirty="0">
                <a:solidFill>
                  <a:srgbClr val="1B3B6F"/>
                </a:solidFill>
                <a:latin typeface="Amiri" pitchFamily="2" charset="-78"/>
                <a:ea typeface="Amiri" pitchFamily="2" charset="-78"/>
                <a:cs typeface="Amiri" pitchFamily="2" charset="-78"/>
              </a:rPr>
              <a:t>فِي الرَّبِيعِ </a:t>
            </a:r>
            <a:pPr rtl="1" algn="r" indent="0" marL="0">
              <a:buNone/>
            </a:pPr>
            <a:r>
              <a:rPr lang="ar-SA" altLang="en-US" sz="2300" b="1" dirty="0">
                <a:solidFill>
                  <a:srgbClr val="0E7C86"/>
                </a:solidFill>
                <a:latin typeface="Amiri" pitchFamily="2" charset="-78"/>
                <a:ea typeface="Amiri" pitchFamily="2" charset="-78"/>
                <a:cs typeface="Amiri" pitchFamily="2" charset="-78"/>
              </a:rPr>
              <a:t>تَخْضَرُّ</a:t>
            </a:r>
            <a:pPr rtl="1" algn="r" indent="0" marL="0">
              <a:buNone/>
            </a:pPr>
            <a:r>
              <a:rPr lang="ar-SA" altLang="en-US" sz="2300" b="1" dirty="0">
                <a:solidFill>
                  <a:srgbClr val="1B3B6F"/>
                </a:solidFill>
                <a:latin typeface="Amiri" pitchFamily="2" charset="-78"/>
                <a:ea typeface="Amiri" pitchFamily="2" charset="-78"/>
                <a:cs typeface="Amiri" pitchFamily="2" charset="-78"/>
              </a:rPr>
              <a:t> الْأَرْضُ، وَفِي الْخَرِيفِ </a:t>
            </a:r>
            <a:pPr rtl="1" algn="r" indent="0" marL="0">
              <a:buNone/>
            </a:pPr>
            <a:r>
              <a:rPr lang="ar-SA" altLang="en-US" sz="2300" b="1" dirty="0">
                <a:solidFill>
                  <a:srgbClr val="0E7C86"/>
                </a:solidFill>
                <a:latin typeface="Amiri" pitchFamily="2" charset="-78"/>
                <a:ea typeface="Amiri" pitchFamily="2" charset="-78"/>
                <a:cs typeface="Amiri" pitchFamily="2" charset="-78"/>
              </a:rPr>
              <a:t>تَصْفَرُّ</a:t>
            </a:r>
            <a:pPr rtl="1" algn="r" indent="0" marL="0">
              <a:buNone/>
            </a:pPr>
            <a:r>
              <a:rPr lang="ar-SA" altLang="en-US" sz="2300" b="1" dirty="0">
                <a:solidFill>
                  <a:srgbClr val="1B3B6F"/>
                </a:solidFill>
                <a:latin typeface="Amiri" pitchFamily="2" charset="-78"/>
                <a:ea typeface="Amiri" pitchFamily="2" charset="-78"/>
                <a:cs typeface="Amiri" pitchFamily="2" charset="-78"/>
              </a:rPr>
              <a:t> الْأَوْرَاقُ. </a:t>
            </a:r>
            <a:pPr rtl="1" algn="r" indent="0" marL="0">
              <a:buNone/>
            </a:pPr>
            <a:r>
              <a:rPr lang="ar-SA" altLang="en-US" sz="2300" b="1" dirty="0">
                <a:solidFill>
                  <a:srgbClr val="0E7C86"/>
                </a:solidFill>
                <a:latin typeface="Amiri" pitchFamily="2" charset="-78"/>
                <a:ea typeface="Amiri" pitchFamily="2" charset="-78"/>
                <a:cs typeface="Amiri" pitchFamily="2" charset="-78"/>
              </a:rPr>
              <a:t>اِحْمَرَّ</a:t>
            </a:r>
            <a:pPr rtl="1" algn="r" indent="0" marL="0">
              <a:buNone/>
            </a:pPr>
            <a:r>
              <a:rPr lang="ar-SA" altLang="en-US" sz="2300" b="1" dirty="0">
                <a:solidFill>
                  <a:srgbClr val="1B3B6F"/>
                </a:solidFill>
                <a:latin typeface="Amiri" pitchFamily="2" charset="-78"/>
                <a:ea typeface="Amiri" pitchFamily="2" charset="-78"/>
                <a:cs typeface="Amiri" pitchFamily="2" charset="-78"/>
              </a:rPr>
              <a:t> وَجْهُ الطَّالِبِ مِنَ الْخَجَلِ، وَكَانَتِ السَّمَاءُ </a:t>
            </a:r>
            <a:pPr rtl="1" algn="r" indent="0" marL="0">
              <a:buNone/>
            </a:pPr>
            <a:r>
              <a:rPr lang="ar-SA" altLang="en-US" sz="2300" b="1" dirty="0">
                <a:solidFill>
                  <a:srgbClr val="D6336C"/>
                </a:solidFill>
                <a:latin typeface="Amiri" pitchFamily="2" charset="-78"/>
                <a:ea typeface="Amiri" pitchFamily="2" charset="-78"/>
                <a:cs typeface="Amiri" pitchFamily="2" charset="-78"/>
              </a:rPr>
              <a:t>زَرْقَاءَ</a:t>
            </a:r>
            <a:pPr rtl="1" algn="r" indent="0" marL="0">
              <a:buNone/>
            </a:pPr>
            <a:r>
              <a:rPr lang="ar-SA" altLang="en-US" sz="2300" b="1" dirty="0">
                <a:solidFill>
                  <a:srgbClr val="1B3B6F"/>
                </a:solidFill>
                <a:latin typeface="Amiri" pitchFamily="2" charset="-78"/>
                <a:cs typeface="Amiri" pitchFamily="2" charset="-78"/>
              </a:rPr>
              <a:t>.</a:t>
            </a:r>
            <a:endParaRPr lang="ar-SA" sz="23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cs typeface="Amiri" pitchFamily="2" charset="-78"/>
              </a:rPr>
              <a:t>In spring the land becomes green, and in autumn the leaves turn yellow. The student’s face became red with embarrassment, and the sky was blue.</a:t>
            </a:r>
            <a:endParaRPr lang="en-US" sz="12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اِحْمَرَّ وَجْهُهُ مِنَ الْخَجَلِ.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His face went red with embarrassment.</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تَخْضَرُّ الْأَرْضُ فِي الرَّبِيعِ.</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land becomes green in spring.</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اِصْفَرَّ وَجْهُهَا مِنَ الْخَوْفِ.</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Her face went pale with fear.</a:t>
            </a:r>
            <a:endParaRPr lang="en-US" sz="1250" dirty="0"/>
          </a:p>
          <a:p>
            <a:pPr indent="0" marL="0">
              <a:buNone/>
            </a:pPr>
            <a:r>
              <a:rPr lang="en-US" sz="1050" i="1" dirty="0">
                <a:solidFill>
                  <a:srgbClr val="8A6D1E"/>
                </a:solidFill>
                <a:latin typeface="Calibri" pitchFamily="34" charset="0"/>
                <a:cs typeface="Amiri" pitchFamily="2" charset="-78"/>
              </a:rPr>
              <a:t>Pale.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الْوَرَقَةُ صَفْرَاءُ.</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leaf is yellow.</a:t>
            </a:r>
            <a:endParaRPr lang="en-US" sz="1250" dirty="0"/>
          </a:p>
          <a:p>
            <a:pPr indent="0" marL="0">
              <a:buNone/>
            </a:pPr>
            <a:r>
              <a:rPr lang="en-US" sz="1050" i="1" dirty="0">
                <a:solidFill>
                  <a:srgbClr val="8A6D1E"/>
                </a:solidFill>
                <a:latin typeface="Calibri" pitchFamily="34" charset="0"/>
                <a:cs typeface="Amiri" pitchFamily="2" charset="-78"/>
              </a:rPr>
              <a:t>State: adjective.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ADJECTIVE (STATE) VS FORM IX (CHANGE)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It IS red → it TURNED red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الصِّفَةُ وَالْفِعْلُ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19872" y="1810512"/>
            <a:ext cx="3538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5595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IX</a:t>
            </a:r>
            <a:endParaRPr lang="en-US" sz="1100" dirty="0"/>
          </a:p>
        </p:txBody>
      </p:sp>
      <p:sp>
        <p:nvSpPr>
          <p:cNvPr id="18" name="Text 15"/>
          <p:cNvSpPr txBox="1"/>
          <p:nvPr/>
        </p:nvSpPr>
        <p:spPr>
          <a:xfrm>
            <a:off x="382219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 m. · f.</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156448" y="2267712"/>
            <a:ext cx="3502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become red</a:t>
            </a:r>
            <a:endParaRPr lang="en-US" sz="1100" dirty="0"/>
          </a:p>
        </p:txBody>
      </p:sp>
      <p:sp>
        <p:nvSpPr>
          <p:cNvPr id="22" name="Text 19"/>
          <p:cNvSpPr txBox="1"/>
          <p:nvPr/>
        </p:nvSpPr>
        <p:spPr>
          <a:xfrm>
            <a:off x="557784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اِحْمَرَّ</a:t>
            </a:r>
            <a:endParaRPr lang="ar-SA" sz="2400" dirty="0"/>
          </a:p>
        </p:txBody>
      </p:sp>
      <p:sp>
        <p:nvSpPr>
          <p:cNvPr id="23" name="Text 20"/>
          <p:cNvSpPr txBox="1"/>
          <p:nvPr/>
        </p:nvSpPr>
        <p:spPr>
          <a:xfrm>
            <a:off x="3858768" y="226771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a:t>
            </a:r>
            <a:endParaRPr lang="en-US" sz="1100" dirty="0"/>
          </a:p>
        </p:txBody>
      </p:sp>
      <p:sp>
        <p:nvSpPr>
          <p:cNvPr id="24" name="Text 21"/>
          <p:cNvSpPr txBox="1"/>
          <p:nvPr/>
        </p:nvSpPr>
        <p:spPr>
          <a:xfrm>
            <a:off x="548640" y="2267712"/>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أَحْمَرُ · حَمْرَاءُ</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156448" y="2881884"/>
            <a:ext cx="3502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yellow / pale</a:t>
            </a:r>
            <a:endParaRPr lang="en-US" sz="1100" dirty="0"/>
          </a:p>
        </p:txBody>
      </p:sp>
      <p:sp>
        <p:nvSpPr>
          <p:cNvPr id="29" name="Text 26"/>
          <p:cNvSpPr txBox="1"/>
          <p:nvPr/>
        </p:nvSpPr>
        <p:spPr>
          <a:xfrm>
            <a:off x="557784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اِصْفَرَّ</a:t>
            </a:r>
            <a:endParaRPr lang="ar-SA" sz="2400" dirty="0"/>
          </a:p>
        </p:txBody>
      </p:sp>
      <p:sp>
        <p:nvSpPr>
          <p:cNvPr id="30" name="Text 27"/>
          <p:cNvSpPr txBox="1"/>
          <p:nvPr/>
        </p:nvSpPr>
        <p:spPr>
          <a:xfrm>
            <a:off x="3858768" y="2881884"/>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yellow</a:t>
            </a:r>
            <a:endParaRPr lang="en-US" sz="1100" dirty="0"/>
          </a:p>
        </p:txBody>
      </p:sp>
      <p:sp>
        <p:nvSpPr>
          <p:cNvPr id="31" name="Text 28"/>
          <p:cNvSpPr txBox="1"/>
          <p:nvPr/>
        </p:nvSpPr>
        <p:spPr>
          <a:xfrm>
            <a:off x="548640" y="2881884"/>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أَصْفَرُ · صَفْرَاءُ</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156448" y="3496056"/>
            <a:ext cx="3502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become green</a:t>
            </a:r>
            <a:endParaRPr lang="en-US" sz="1100" dirty="0"/>
          </a:p>
        </p:txBody>
      </p:sp>
      <p:sp>
        <p:nvSpPr>
          <p:cNvPr id="36" name="Text 33"/>
          <p:cNvSpPr txBox="1"/>
          <p:nvPr/>
        </p:nvSpPr>
        <p:spPr>
          <a:xfrm>
            <a:off x="557784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اِخْضَرَّ</a:t>
            </a:r>
            <a:endParaRPr lang="ar-SA" sz="2400" dirty="0"/>
          </a:p>
        </p:txBody>
      </p:sp>
      <p:sp>
        <p:nvSpPr>
          <p:cNvPr id="37" name="Text 34"/>
          <p:cNvSpPr txBox="1"/>
          <p:nvPr/>
        </p:nvSpPr>
        <p:spPr>
          <a:xfrm>
            <a:off x="3858768" y="3496056"/>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green</a:t>
            </a:r>
            <a:endParaRPr lang="en-US" sz="1100" dirty="0"/>
          </a:p>
        </p:txBody>
      </p:sp>
      <p:sp>
        <p:nvSpPr>
          <p:cNvPr id="38" name="Text 35"/>
          <p:cNvSpPr txBox="1"/>
          <p:nvPr/>
        </p:nvSpPr>
        <p:spPr>
          <a:xfrm>
            <a:off x="548640" y="3496056"/>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أَخْضَرُ · خَضْرَاءُ</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156448" y="4110228"/>
            <a:ext cx="3502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black</a:t>
            </a:r>
            <a:endParaRPr lang="en-US" sz="1100" dirty="0"/>
          </a:p>
        </p:txBody>
      </p:sp>
      <p:sp>
        <p:nvSpPr>
          <p:cNvPr id="43" name="Text 40"/>
          <p:cNvSpPr txBox="1"/>
          <p:nvPr/>
        </p:nvSpPr>
        <p:spPr>
          <a:xfrm>
            <a:off x="557784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اِسْوَدَّ</a:t>
            </a:r>
            <a:endParaRPr lang="ar-SA" sz="2400" dirty="0"/>
          </a:p>
        </p:txBody>
      </p:sp>
      <p:sp>
        <p:nvSpPr>
          <p:cNvPr id="44" name="Text 41"/>
          <p:cNvSpPr txBox="1"/>
          <p:nvPr/>
        </p:nvSpPr>
        <p:spPr>
          <a:xfrm>
            <a:off x="3858768" y="4110228"/>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black</a:t>
            </a:r>
            <a:endParaRPr lang="en-US" sz="1100" dirty="0"/>
          </a:p>
        </p:txBody>
      </p:sp>
      <p:sp>
        <p:nvSpPr>
          <p:cNvPr id="45" name="Text 42"/>
          <p:cNvSpPr txBox="1"/>
          <p:nvPr/>
        </p:nvSpPr>
        <p:spPr>
          <a:xfrm>
            <a:off x="548640" y="4110228"/>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أَسْوَدُ · سَوْدَاءُ</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156448" y="4724400"/>
            <a:ext cx="3502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white</a:t>
            </a:r>
            <a:endParaRPr lang="en-US" sz="1100" dirty="0"/>
          </a:p>
        </p:txBody>
      </p:sp>
      <p:sp>
        <p:nvSpPr>
          <p:cNvPr id="48" name="Text 45"/>
          <p:cNvSpPr txBox="1"/>
          <p:nvPr/>
        </p:nvSpPr>
        <p:spPr>
          <a:xfrm>
            <a:off x="557784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اِبْيَضَّ</a:t>
            </a:r>
            <a:endParaRPr lang="ar-SA" sz="2400" dirty="0"/>
          </a:p>
        </p:txBody>
      </p:sp>
      <p:sp>
        <p:nvSpPr>
          <p:cNvPr id="49" name="Text 46"/>
          <p:cNvSpPr txBox="1"/>
          <p:nvPr/>
        </p:nvSpPr>
        <p:spPr>
          <a:xfrm>
            <a:off x="3858768" y="4724400"/>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white</a:t>
            </a:r>
            <a:endParaRPr lang="en-US" sz="1100" dirty="0"/>
          </a:p>
        </p:txBody>
      </p:sp>
      <p:sp>
        <p:nvSpPr>
          <p:cNvPr id="50" name="Text 47"/>
          <p:cNvSpPr txBox="1"/>
          <p:nvPr/>
        </p:nvSpPr>
        <p:spPr>
          <a:xfrm>
            <a:off x="548640" y="4724400"/>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أَبْيَضُ · بَيْضَاءُ</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156448" y="5338572"/>
            <a:ext cx="3502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blue</a:t>
            </a:r>
            <a:endParaRPr lang="en-US" sz="1100" dirty="0"/>
          </a:p>
        </p:txBody>
      </p:sp>
      <p:sp>
        <p:nvSpPr>
          <p:cNvPr id="53" name="Text 50"/>
          <p:cNvSpPr txBox="1"/>
          <p:nvPr/>
        </p:nvSpPr>
        <p:spPr>
          <a:xfrm>
            <a:off x="557784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اِزْرَقَّ</a:t>
            </a:r>
            <a:endParaRPr lang="ar-SA" sz="2400" dirty="0"/>
          </a:p>
        </p:txBody>
      </p:sp>
      <p:sp>
        <p:nvSpPr>
          <p:cNvPr id="54" name="Text 51"/>
          <p:cNvSpPr txBox="1"/>
          <p:nvPr/>
        </p:nvSpPr>
        <p:spPr>
          <a:xfrm>
            <a:off x="3858768" y="533857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blue</a:t>
            </a:r>
            <a:endParaRPr lang="en-US" sz="1100" dirty="0"/>
          </a:p>
        </p:txBody>
      </p:sp>
      <p:sp>
        <p:nvSpPr>
          <p:cNvPr id="55" name="Text 52"/>
          <p:cNvSpPr txBox="1"/>
          <p:nvPr/>
        </p:nvSpPr>
        <p:spPr>
          <a:xfrm>
            <a:off x="548640" y="5338572"/>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أَزْرَقُ · زَرْقَاءُ</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clinic: Form IX is not the ordinary way to say something is a colour. State → adjective (al-waraqatu ṣafrāʾu); change → verb (iṣfarrati l-waraqatu).</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CLINIC · STATE OR CHANGE?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Is it a colour, or did it become one?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حَالٌ أَمْ تَحَوُّلٌ؟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السَّمَاءُ زَرْقَاءُ</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الْعُشْبُ أَخْضَرُ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وَجْهُهُ أَحْمَرُ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أَبْيَضُ</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اِزْرَقَّتِ السَّمَاءُ</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اِخْضَرَّ الْعُشْبُ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اِحْمَرَّ وَجْهُهُ</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اِبْيَضَّ شَعْرُهُ</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State (adjective)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Change (Form IX)</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State (adjective)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السَّمَاءُ زَرْقَاءُ</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الْعُشْبُ أَخْضَرُ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وَجْهُهُ أَحْمَرُ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أَبْيَضُ</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Change (Form IX)</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اِزْرَقَّتِ السَّمَاءُ</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اِخْضَرَّ الْعُشْبُ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اِحْمَرَّ وَجْهُهُ</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اِبْيَضَّ شَعْرُهُ</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الْوَرَقَةُ أَصْفَرُ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Adjective agreement?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اِحْمَرَّتْ وَجْهُهُ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face masculine?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اِحْمَرَّتُ مِنَ الْخَجَلِ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Split the double?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الْوَرَقَةُ أَصْفَرُ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الْوَرَقَةُ صَفْرَاءُ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 a state use the adjective — feminine faʿlāʾ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اِحْمَرَّتْ وَجْهُهُ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اِحْمَرَّ وَجْهُهُ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Wajh (face) is masculine.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اِحْمَرَّتُ مِنَ الْخَجَلِ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اِحْمَرَرْتُ مِنَ الْخَجَلِ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Before -tu the doubled letter splits.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IX is the grammatical passive of Form I.</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IX is the usual form of every colour adjective.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IX is relatively rare and often concerns colours or physical characteristics.</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اِحْمَرَّ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اِحْمِرَارٌ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trees become green”.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يَخْضَرُّ الْأَشْجَارُ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تَخْضَرُّ الْأَشْجَارُ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الْأَشْجَارُ أَخْضَرُ</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IX?</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أَسْوَدُ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اِسْوَدَّ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IX is the grammatical passive of Form I.</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IX is the usual form of every colour adjective.</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Form IX is relatively rare and often concerns colours or physical characteristics.</a:t>
            </a:r>
            <a:endParaRPr lang="en-US" sz="11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Learn Form IX as a small, recognisable family.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اِحْمَرَّ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حُمْرَةٌ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اِحْمِرَارٌ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ifʿilāl.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trees become green”.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يَخْضَرُّ الْأَشْجَارُ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تَخْضَرُّ الْأَشْجَارُ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الْأَشْجَارُ أَخْضَرُ</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ta-.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IX?</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أَسْوَدُ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اِسْوَدَّ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Doubled last letter; aswad is the adjective.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READING FOR FORM IX (TEACHER-WRITTEN DESCRIPTION)</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four seasons in my village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الرَّبِيعِ تَخْضَرُّ الْحُقُولُ، وَتَظْهَرُ الْأَزْهَارُ الْحَمْرَاءُ وَالصَّفْرَاءُ. فِي الصَّيْفِ تَكُونُ السَّمَاءُ زَرْقَاءَ صَافِيَةً. فِي الْخَرِيفِ تَصْفَرُّ أَوْرَاقُ الشَّجَرِ ثُمَّ تَسْقُطُ. فِي الشِّتَاءِ تَسْوَدُّ السَّمَاءُ قَبْلَ الْعَوَاصِفِ، وَتَبْيَضُّ الْجِبَالُ بِالثَّلْجِ. أَمَّا جَدِّي فَقَدِ ابْيَضَّ شَعْرُهُ، وَلَكِنَّهُ مَا زَالَ نَشِيطًا!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الْحُقُولُ</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fields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تَظْهَرُ</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appear</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صَافِيَةً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clear</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تَسْقُطُ</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fall</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الْعَوَاصِفِ</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storms</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مَا زَالَ</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still</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the fields in spring?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turn yellow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turn green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turn white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describes a STATE, not a change?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تَصْفَرُّ الْأَوْرَاقُ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تَسْوَدُّ السَّمَاءُ</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السَّمَاءُ زَرْقَاءُ</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the mountains white?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snow</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storms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flowers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happened to the grandfather’s hair?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turned black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turned white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fallen out</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the fields in spring?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turn yellow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turn green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turn white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Takhḍarru l-ḥuqūl.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describes a STATE, not a change?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تَصْفَرُّ الْأَوْرَاقُ</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تَسْوَدُّ السَّمَاءُ</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السَّمَاءُ زَرْقَاءُ</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Adjective.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the mountains white?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snow</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storms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flowers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Tabyaḍḍu l-jibālu bi-th-thalj.</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happened to the grandfather’s hair?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turned black</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has turned white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fallen out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Ibyaḍḍa shaʿruhu.</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colours that 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لَوْنُ السَّمَاءِ الْيَوْمَ؟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يَحْدُثُ لِلْأَشْجَارِ فِي الْخَرِيفِ؟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يَحْمَرُّ وَجْهُكَ؟ وَمَتَى يَصْفَرُّ؟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السَّمَاءُ الْيَوْمَ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الْخَرِيفِ تَصْفَرُّ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يَحْمَرُّ وَجْهِي عِنْدَمَا ___ ، وَيَصْفَرُّ عِنْدَمَا ___ .</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يَحْدُثُ فِي الرَّبِيعِ فِي بَلَدِكِ؟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happens in spring in your country?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تَخْضَرُّ الْحَدَائِقُ، وَتَكُونُ الْأَزْهَارُ حَمْرَاءَ وَصَفْرَاءَ. وَالسَّمَاءُ زَرْقَاءُ أَغْلَبَ الْأَيَّامِ.</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gardens turn green, and the flowers are red and yellow. And the sky is blue most days.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takhḍarru · taṣfarru · one adjective.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Four seasons with Form IX verbs and adjectives.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Agreement with non-human plurals.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seasons description with a verbal noun and a split-doubling past.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iṣfirār · iḥmarartu.</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الْعَاصِفَةِ ______ السَّمَاءُ.</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the storm the sky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تَبْيَضُّ الْجِبَالُ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mountains turn white with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اِصْفَرَّ وَجْهُهَا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face went pale from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الْأَزْهَارُ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flowers are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الرَّبِيعِ يَخْضَرُّ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spring … becomes green</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الْخَرِيفِ ______ الْأَوْرَاقُ.</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autumn the leaves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اِحْمَرَّ وَجْهُهُ لِأَنَّ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face went red because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السَّمَاءُ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sky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اِحْمَرَّ · يَحْمَرُّ  ·  اِصْفَرَّ · يَصْفَرُّ  ·  اِخْضَرَّ · يَخْضَرُّ  ·  اِسْوَدَّ · يَسْوَدُّ  ·  اِبْيَضَّ · يَبْيَضُّ  ·  حَمْرَاءُ  ·  صَفْرَاءُ  ·  خَضْرَاءُ  ·  زَرْقَاءُ</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Describe the four seasons with Form IX verbs, colour adjectives and one verbal noun.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Form IX verbs (change).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colour adjectives (state).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Correct agreement (taṣfarru l-awrāq).</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(iṣfirār, ikhḍirār).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split-doubling past (iḥmarartu).</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الرَّبِيعِ</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spring</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الْخَرِيفِ</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autumn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الْخَجَلِ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embarrassment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الْخَوْفِ</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fear</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شَيْئًا فَشَيْئًا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little by little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 فَـ</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 (then)</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تَغَيُّرَ الْأَلْوَانِ فِي الطَّبِيعَةِ. فِي الرَّبِيعِ تَخْضَرُّ الْحَدَائِقُ شَيْئًا فَشَيْئًا، وَتَكُونُ الْأَزْهَارُ حَمْرَاءَ وَبَيْضَاءَ. فِي الْخَرِيفِ تَصْفَرُّ أَوْرَاقُ الشَّجَرِ، وَاصْفِرَارُهَا جَمِيلٌ جِدًّا. فِي الشِّتَاءِ تَسْوَدُّ السَّمَاءُ قَبْلَ الْمَطَرِ. وَفِي يَوْمِ الْحَفْلِ اِحْمَرَرْتُ مِنَ الْخَجَلِ عِنْدَمَا صَفَّقَ لِي الْجُمْهُورُ!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love the change of colours in nature. In spring the gardens turn green little by little, and the flowers are red and white. In autumn the leaves turn yellow, and their yellowing is very beautiful. In winter the sky turns black before the rain. And on the day of the show I went red with embarrassment when the audience clapped for 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IX present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colour adjective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ifʿilāl noun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split-doubling past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Form IX for a CHANGE of colour.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adjective for a colour STATE.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IX verbs agree with the subject.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adjectives use faʿlāʾ.</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iḥmarartu with the split doubling.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land became green”.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اِخْضَرَّتِ الْأَرْضُ</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الْأَرْضُ خَضْرَاءُ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اِخْضَرَّ الْأَرْضُ</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adjective?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اِحْمَرَّ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يَحْمَرُّ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went red”.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اِحْمَرَرْتُ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اِحْمَرَّتُ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land became green”.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اِخْضَرَّتِ الْأَرْضُ</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الْأَرْضُ خَضْرَاءُ</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اِخْضَرَّ الْأَرْضُ</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Change + feminine subject.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adjective?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اِحْمَرَّ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أَحْمَرُ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يَحْمَرُّ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aḥmar = red.</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went red”.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اِحْمَرَرْتُ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اِحْمَرَّتُ</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أَحْمَرُّ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Split doubling before -tu.</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GM-VF-09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GM-VF-10: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GM-VF-10 · Form X: Seeking, Using and Considering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اِسْتَعْمَلَ · يَسْتَعْمِلُ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use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اِسْتَخْدَمَ · يَسْتَخْدِمُ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use / employ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اِسْتَقْبَلَ · يَسْتَقْبِلُ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receive / welcome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اِسْتَغْفَرَ · يَسْتَغْفِرُ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seek forgiveness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عَمِلَ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work (Form 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ʿAmila = to work. Istaʿmala = to use. Which letters were added at the front?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عَمِلَ · اِسْتَعْمَلَ</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colour states (adjectives) and colour changes (Form IX).</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iṣfarra in past and present for he, she, they and I.</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four-seasons description.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GM-VF-10 · Form X: Seeking, Using and Considering</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الْوَزْنُ الْعَاشِرُ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IX = doubled last letter (ifʿalla) · colours and physical changes · IS a colour → adjective · BECAME a colour → Form IX · iḥmarartu splits the double · rare: optional extension.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GM-VF-09 · Form IX: Colours and Physical States</dc:title>
  <dc:subject>PptxGenJS Presentation</dc:subject>
  <dc:creator>Al Madina Online School · Arabic Department</dc:creator>
  <cp:lastModifiedBy>Al Madina Online School · Arabic Department</cp:lastModifiedBy>
  <cp:revision>1</cp:revision>
  <dcterms:created xsi:type="dcterms:W3CDTF">2026-10-11T06:42:46Z</dcterms:created>
  <dcterms:modified xsi:type="dcterms:W3CDTF">2026-10-11T06:42:46Z</dcterms:modified>
</cp:coreProperties>
</file>