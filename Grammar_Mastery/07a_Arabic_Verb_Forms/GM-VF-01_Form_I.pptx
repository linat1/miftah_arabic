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GM-VF-01 (“Form I: The Basic Verb”).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model pair كَتَبَ · يَكْتُبُ and the family دَرَسَ · فَهِمَ · جَلَسَ in sentences. Develop: the five vowel groups (يَكْتُبُ · يَجْلِسُ · يَفْتَحُ · يَفْهَمُ · يَكْبُرُ) and conjugation of فَهِمَ. Stretch: Form I vs derived forms from the same root (عَلِمَ / عَلَّمَ · خَرَجَ / أَخْرَجَ).
• Website clinic: do NOT assume every Form I present has u. Learn the actual past–present pair rather than guessing.
• Vocabulary habit: every new Form I verb goes in the book as three items — past · present · verbal noun (كَتَبَ · يَكْتُبُ · كِتَابَةٌ).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GM-VF-00 (roots) and the prep pairs fahima, jalasa, darasa.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 = root only. The present vowel changes from verb to verb — learn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Template row = the f-ʿ-l model; second row = the real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 the vowel groups named in the website pattern note (fataḥa added as a common a → a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Chant the column pairs. Stretch: conjugate jalasa in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one present, one past, a different subject in the third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guess the derived verb from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and name the added letter (shadda, ā, ta-, 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pair and conjugation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 verbs (teacher-written). Read it aloud once while students follow; then they hunt for today’s grammar.
Task: Underline every Form I verb, then sort them into past and present.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with Form I verbs;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one present verb, one past verb and a different subject. Students check each pair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three sentences about what you do at school. Use one present verb, one past verb and a different subject in the third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(GM-VF-02 · Form II: Teaching and Intensifying) will spend class time USING this language, so students prepare it tonight — short, simple, easy to access (school guidance: “Simple, Short, Interesting, Relevant, Easy to access”). The five words prepare GM-VF-02 (website Verb Forms: Form 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Form I: The Basic Verb</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الْفِعْلُ الثُّلَاثِيُّ الْمُجَرَّدُ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I is the root with nothing added: kataba, darasa, fahima. Its vowels are NOT fixed — yaktubu, yajlisu, yafhamu — so always learn the past and present as a pair.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vowel groups; conjugation; Form I as the base.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Base vs derived; sort Form I / derived;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cs typeface="Amiri" pitchFamily="2" charset="-78"/>
              </a:rPr>
              <a:t>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 ك 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 ت 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 ب 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NO added letters?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PAST?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يَجْلِسُ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اِجْلِسْ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understand”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أَفْهَمُ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يَفْهَمُ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root of </a:t>
            </a:r>
            <a:pPr algn="l" indent="0" marL="0">
              <a:buNone/>
            </a:pPr>
            <a:r>
              <a:rPr lang="ar-SA" altLang="en-US" sz="1650" b="1" dirty="0">
                <a:solidFill>
                  <a:srgbClr val="1B3B6F"/>
                </a:solidFill>
                <a:latin typeface="Amiri" pitchFamily="2" charset="-78"/>
                <a:cs typeface="Amiri" pitchFamily="2" charset="-78"/>
              </a:rPr>
              <a:t>يَكْتُبُ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 ك 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 ت 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 ب 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the prefix ya-.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NO added letters?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Darasa is the bare root = Form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يُدَرِّسُ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يَتَدَرَّسُ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 present: ya- + root.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PAST?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يَجْلِسُ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اِجْلِسْ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جَلَسَ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Jalasa = he sat.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understand”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أَفْهَمُ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فَهِمْتُ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يَفْهَمُ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I, present (GM-V-05).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I = root only. The present vowel changes from verb to verb — learn every pair.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يَكْتُبُ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فَهِمَ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cs typeface="Amiri" pitchFamily="2" charset="-78"/>
              </a:rPr>
              <a:t>يَفْهَمُ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I: the root with no added letters.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Learn past and present as a pair.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a Form I verb in past and present.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I from a derived form of the same root.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kataba / yaktubu and darasa / yadrusu.</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a Form I sentence about school.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know yaktubu, yajlisu and yafhamu have different vowels.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fahima for six persons.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ʿalima with ʿallama.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Form I pairs must be learned.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الْمُجَرَّدُ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basic (no added letters)</a:t>
            </a:r>
            <a:endParaRPr lang="en-US" sz="1350" dirty="0"/>
          </a:p>
          <a:p>
            <a:pPr indent="0" marL="0">
              <a:buNone/>
            </a:pPr>
            <a:r>
              <a:rPr lang="en-US" sz="1100" i="1" dirty="0">
                <a:solidFill>
                  <a:srgbClr val="5A6472"/>
                </a:solidFill>
                <a:latin typeface="Calibri" pitchFamily="34" charset="0"/>
                <a:cs typeface="Amiri" pitchFamily="2" charset="-78"/>
              </a:rPr>
              <a:t>al-mu-jar-ra-du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a:t>
            </a:r>
            <a:endParaRPr lang="en-US" sz="1350" dirty="0"/>
          </a:p>
          <a:p>
            <a:pPr indent="0" marL="0">
              <a:buNone/>
            </a:pPr>
            <a:r>
              <a:rPr lang="en-US" sz="1100" i="1" dirty="0">
                <a:solidFill>
                  <a:srgbClr val="5A6472"/>
                </a:solidFill>
                <a:latin typeface="Calibri" pitchFamily="34" charset="0"/>
                <a:cs typeface="Amiri" pitchFamily="2" charset="-78"/>
              </a:rPr>
              <a:t>al-mā-ḍī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فَهِمَ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الْمُضَارِعُ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a:t>
            </a:r>
            <a:endParaRPr lang="en-US" sz="1350" dirty="0"/>
          </a:p>
          <a:p>
            <a:pPr indent="0" marL="0">
              <a:buNone/>
            </a:pPr>
            <a:r>
              <a:rPr lang="en-US" sz="1100" i="1" dirty="0">
                <a:solidFill>
                  <a:srgbClr val="5A6472"/>
                </a:solidFill>
                <a:latin typeface="Calibri" pitchFamily="34" charset="0"/>
                <a:cs typeface="Amiri" pitchFamily="2" charset="-78"/>
              </a:rPr>
              <a:t>al-mu-ḍā-ri-ʿu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يَفْهَمُ</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حَرَكَةُ الْعَيْنِ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middle vowel</a:t>
            </a:r>
            <a:endParaRPr lang="en-US" sz="1350" dirty="0"/>
          </a:p>
          <a:p>
            <a:pPr indent="0" marL="0">
              <a:buNone/>
            </a:pPr>
            <a:r>
              <a:rPr lang="en-US" sz="1100" i="1" dirty="0">
                <a:solidFill>
                  <a:srgbClr val="5A6472"/>
                </a:solidFill>
                <a:latin typeface="Calibri" pitchFamily="34" charset="0"/>
                <a:cs typeface="Amiri" pitchFamily="2" charset="-78"/>
              </a:rPr>
              <a:t>ḥa-ra-ka-tu al-ʿay-ni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يَكْتُبُ · يَجْلِسُ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الْمَصْدَرُ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verbal noun</a:t>
            </a:r>
            <a:endParaRPr lang="en-US" sz="1350" dirty="0"/>
          </a:p>
          <a:p>
            <a:pPr indent="0" marL="0">
              <a:buNone/>
            </a:pPr>
            <a:r>
              <a:rPr lang="en-US" sz="1100" i="1" dirty="0">
                <a:solidFill>
                  <a:srgbClr val="5A6472"/>
                </a:solidFill>
                <a:latin typeface="Calibri" pitchFamily="34" charset="0"/>
                <a:cs typeface="Amiri" pitchFamily="2" charset="-78"/>
              </a:rPr>
              <a:t>al-maṣ-da-ru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كِتَابَةٌ</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doer pattern</a:t>
            </a:r>
            <a:endParaRPr lang="en-US" sz="1350" dirty="0"/>
          </a:p>
          <a:p>
            <a:pPr indent="0" marL="0">
              <a:buNone/>
            </a:pPr>
            <a:r>
              <a:rPr lang="en-US" sz="1100" i="1" dirty="0">
                <a:solidFill>
                  <a:srgbClr val="5A6472"/>
                </a:solidFill>
                <a:latin typeface="Calibri" pitchFamily="34" charset="0"/>
                <a:cs typeface="Amiri" pitchFamily="2" charset="-78"/>
              </a:rPr>
              <a:t>fā-ʿi-lun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كَاتِبٌ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root — nothing added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سَمَاعِيٌّ</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اُكْتُبْ</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كَاتِبٌ</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يَكْتُبُ</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اِجْلِسْ</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جَالِسٌ</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جُلُوسٌ</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يَجْلِسُ</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جَلَسَ</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اِفْتَحْ</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فَاتِحٌ</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يَفْتَحُ</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اِفْهَمْ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فَاهِمٌ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يَفْهَمُ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has no added derivational letters. The verbal noun of Form I is “heard” (samāʿī) — it must be learned with the verb (GM-V-12).</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THE VOWELS VARY (WEBSITE) · LEARN THE PAIR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vowel groups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حَرَكَاتُ الْفِعْلِ الْمُجَرَّدِ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58338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Vowels</a:t>
            </a:r>
            <a:endParaRPr lang="en-US" sz="1100" dirty="0"/>
          </a:p>
        </p:txBody>
      </p:sp>
      <p:sp>
        <p:nvSpPr>
          <p:cNvPr id="18" name="Text 15"/>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680960" y="226771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أَكْتُبُ رِسَالَةً إِلَى صَدِيقِي.</a:t>
            </a:r>
            <a:endParaRPr lang="ar-SA" sz="2000" dirty="0"/>
          </a:p>
        </p:txBody>
      </p:sp>
      <p:sp>
        <p:nvSpPr>
          <p:cNvPr id="22" name="Text 19"/>
          <p:cNvSpPr txBox="1"/>
          <p:nvPr/>
        </p:nvSpPr>
        <p:spPr>
          <a:xfrm>
            <a:off x="587044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u</a:t>
            </a:r>
            <a:endParaRPr lang="en-US" sz="1100" dirty="0"/>
          </a:p>
        </p:txBody>
      </p:sp>
      <p:sp>
        <p:nvSpPr>
          <p:cNvPr id="23" name="Text 20"/>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write</a:t>
            </a:r>
            <a:endParaRPr lang="en-US" sz="1100" dirty="0"/>
          </a:p>
        </p:txBody>
      </p:sp>
      <p:sp>
        <p:nvSpPr>
          <p:cNvPr id="24" name="Text 21"/>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 · يَكْتُبُ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680960" y="2881884"/>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دَرَسْتُ الْعَرَبِيَّةَ أَمْسِ.</a:t>
            </a:r>
            <a:endParaRPr lang="ar-SA" sz="2000" dirty="0"/>
          </a:p>
        </p:txBody>
      </p:sp>
      <p:sp>
        <p:nvSpPr>
          <p:cNvPr id="29" name="Text 26"/>
          <p:cNvSpPr txBox="1"/>
          <p:nvPr/>
        </p:nvSpPr>
        <p:spPr>
          <a:xfrm>
            <a:off x="587044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u</a:t>
            </a:r>
            <a:endParaRPr lang="en-US" sz="1100" dirty="0"/>
          </a:p>
        </p:txBody>
      </p:sp>
      <p:sp>
        <p:nvSpPr>
          <p:cNvPr id="30" name="Text 27"/>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 · يَدْرُسُ</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680960" y="3496056"/>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يَجْلِسُ الطُّلَّابُ فِي الصَّفِّ.</a:t>
            </a:r>
            <a:endParaRPr lang="ar-SA" sz="2000" dirty="0"/>
          </a:p>
        </p:txBody>
      </p:sp>
      <p:sp>
        <p:nvSpPr>
          <p:cNvPr id="36" name="Text 33"/>
          <p:cNvSpPr txBox="1"/>
          <p:nvPr/>
        </p:nvSpPr>
        <p:spPr>
          <a:xfrm>
            <a:off x="587044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i</a:t>
            </a:r>
            <a:endParaRPr lang="en-US" sz="1100" dirty="0"/>
          </a:p>
        </p:txBody>
      </p:sp>
      <p:sp>
        <p:nvSpPr>
          <p:cNvPr id="37" name="Text 34"/>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sit</a:t>
            </a:r>
            <a:endParaRPr lang="en-US" sz="1100" dirty="0"/>
          </a:p>
        </p:txBody>
      </p:sp>
      <p:sp>
        <p:nvSpPr>
          <p:cNvPr id="38" name="Text 35"/>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جَلَسَ · يَجْلِسُ</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680960" y="4110228"/>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يَفْتَحُ الْمُعَلِّمُ الْبَابَ.</a:t>
            </a:r>
            <a:endParaRPr lang="ar-SA" sz="2000" dirty="0"/>
          </a:p>
        </p:txBody>
      </p:sp>
      <p:sp>
        <p:nvSpPr>
          <p:cNvPr id="43" name="Text 40"/>
          <p:cNvSpPr txBox="1"/>
          <p:nvPr/>
        </p:nvSpPr>
        <p:spPr>
          <a:xfrm>
            <a:off x="587044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a:t>
            </a:r>
            <a:endParaRPr lang="en-US" sz="1100" dirty="0"/>
          </a:p>
        </p:txBody>
      </p:sp>
      <p:sp>
        <p:nvSpPr>
          <p:cNvPr id="44" name="Text 41"/>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a:t>
            </a:r>
            <a:endParaRPr lang="en-US" sz="1100" dirty="0"/>
          </a:p>
        </p:txBody>
      </p:sp>
      <p:sp>
        <p:nvSpPr>
          <p:cNvPr id="45" name="Text 42"/>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 · يَفْتَحُ</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680960" y="4724400"/>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يَفْهَمُ الطَّالِبُ السُّؤَالَ.</a:t>
            </a:r>
            <a:endParaRPr lang="ar-SA" sz="2000" dirty="0"/>
          </a:p>
        </p:txBody>
      </p:sp>
      <p:sp>
        <p:nvSpPr>
          <p:cNvPr id="48" name="Text 45"/>
          <p:cNvSpPr txBox="1"/>
          <p:nvPr/>
        </p:nvSpPr>
        <p:spPr>
          <a:xfrm>
            <a:off x="587044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a</a:t>
            </a:r>
            <a:endParaRPr lang="en-US" sz="1100" dirty="0"/>
          </a:p>
        </p:txBody>
      </p:sp>
      <p:sp>
        <p:nvSpPr>
          <p:cNvPr id="49" name="Text 46"/>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understand</a:t>
            </a:r>
            <a:endParaRPr lang="en-US" sz="1100" dirty="0"/>
          </a:p>
        </p:txBody>
      </p:sp>
      <p:sp>
        <p:nvSpPr>
          <p:cNvPr id="50" name="Text 47"/>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 · يَفْهَمُ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680960" y="5338572"/>
            <a:ext cx="39593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يَكْبُرُ الطِّفْلُ بِسُرْعَةٍ.</a:t>
            </a:r>
            <a:endParaRPr lang="ar-SA" sz="2000" dirty="0"/>
          </a:p>
        </p:txBody>
      </p:sp>
      <p:sp>
        <p:nvSpPr>
          <p:cNvPr id="53" name="Text 50"/>
          <p:cNvSpPr txBox="1"/>
          <p:nvPr/>
        </p:nvSpPr>
        <p:spPr>
          <a:xfrm>
            <a:off x="587044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u</a:t>
            </a:r>
            <a:endParaRPr lang="en-US" sz="1100" dirty="0"/>
          </a:p>
        </p:txBody>
      </p:sp>
      <p:sp>
        <p:nvSpPr>
          <p:cNvPr id="54" name="Text 51"/>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grow up</a:t>
            </a:r>
            <a:endParaRPr lang="en-US" sz="1100" dirty="0"/>
          </a:p>
        </p:txBody>
      </p:sp>
      <p:sp>
        <p:nvSpPr>
          <p:cNvPr id="55" name="Text 52"/>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كَبُرَ · يَكْبُرُ</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has several past / present vowel patterns. The displayed pattern is one common model, not a rule for every verb.”</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FAHIMA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and present together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«فَهِمَ»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أَفْهَمُ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 · ya-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يَفْهَمُ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 ta-</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تَفْهَمُ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تَفْهَمُ</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-nā · 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نَفْهَمُ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 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يَفْهَمُونَ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فَهِمُوا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the present prefix and the inner vowel belong to the conjugation (GM-V-04, V-05) — they do not create a new numbered form.</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write”?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أَكْتُبُ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has several vowel patterns.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always means a physical action.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I verb has the same present vowel.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pair for “to sit”.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 · يَجْلُسُ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 · يَجْلِسُ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 · يُجَلِّسُ</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تَفَاهَمَ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means “I write”?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يَكْتُبُ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أَكْتُبُ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Aktubu is first-person singular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 I has several vowel patterns.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always means a physical action.</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I verb has the same present vowel.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Learn the root and the real past–present pair.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pair for “to sit”.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جَلَسَ · يَجْلُسُ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جَلَسَ · يَجْلِسُ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جَلَّسَ · يُجَلِّسُ</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فَهَّمَ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تَفَاهَمَ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look up and use a Form I verb</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د ر 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letters, nothing added.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studied.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يَدْرُسُ</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Middle vowel u — learned.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أَدْرُسُ</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for 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أَدْرُسُ</a:t>
            </a:r>
            <a:pPr rtl="1" algn="r" indent="0" marL="0">
              <a:buNone/>
            </a:pPr>
            <a:r>
              <a:rPr lang="ar-SA" altLang="en-US" sz="2600" b="1" dirty="0">
                <a:solidFill>
                  <a:srgbClr val="1B3B6F"/>
                </a:solidFill>
                <a:latin typeface="Amiri" pitchFamily="2" charset="-78"/>
                <a:cs typeface="Amiri" pitchFamily="2" charset="-78"/>
              </a:rPr>
              <a:t> الْعَرَبِيَّةَ كُلَّ يَوْمٍ. وَ</a:t>
            </a:r>
            <a:pPr rtl="1" algn="r" indent="0" marL="0">
              <a:buNone/>
            </a:pPr>
            <a:r>
              <a:rPr lang="ar-SA" altLang="en-US" sz="2600" b="1" dirty="0">
                <a:solidFill>
                  <a:srgbClr val="D6336C"/>
                </a:solidFill>
                <a:latin typeface="Amiri" pitchFamily="2" charset="-78"/>
                <a:cs typeface="Amiri" pitchFamily="2" charset="-78"/>
              </a:rPr>
              <a:t>كَتَبْتُ</a:t>
            </a:r>
            <a:pPr rtl="1" algn="r" indent="0" marL="0">
              <a:buNone/>
            </a:pPr>
            <a:r>
              <a:rPr lang="ar-SA" altLang="en-US" sz="2600" b="1" dirty="0">
                <a:solidFill>
                  <a:srgbClr val="1B3B6F"/>
                </a:solidFill>
                <a:latin typeface="Amiri" pitchFamily="2" charset="-78"/>
                <a:cs typeface="Amiri" pitchFamily="2" charset="-78"/>
              </a:rPr>
              <a:t> رِسَالَةً أَمْسِ. وَ</a:t>
            </a:r>
            <a:pPr rtl="1" algn="r" indent="0" marL="0">
              <a:buNone/>
            </a:pPr>
            <a:r>
              <a:rPr lang="ar-SA" altLang="en-US" sz="2600" b="1" dirty="0">
                <a:solidFill>
                  <a:srgbClr val="0E7C86"/>
                </a:solidFill>
                <a:latin typeface="Amiri" pitchFamily="2" charset="-78"/>
                <a:cs typeface="Amiri" pitchFamily="2" charset="-78"/>
              </a:rPr>
              <a:t>يَفْهَمُ</a:t>
            </a:r>
            <a:pPr rtl="1" algn="r" indent="0" marL="0">
              <a:buNone/>
            </a:pPr>
            <a:r>
              <a:rPr lang="ar-SA" altLang="en-US" sz="2600" b="1" dirty="0">
                <a:solidFill>
                  <a:srgbClr val="1B3B6F"/>
                </a:solidFill>
                <a:latin typeface="Amiri" pitchFamily="2" charset="-78"/>
                <a:cs typeface="Amiri" pitchFamily="2" charset="-78"/>
              </a:rPr>
              <a:t> صَدِيقِي الدَّرْسَ.</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study Arabic every day. I wrote a message yesterday. My friend understands the lesson.</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أَكْتُبُ رِسَالَةً إِلَى صَدِيقِي.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writing a message to my friend.</a:t>
            </a:r>
            <a:endParaRPr lang="en-US" sz="1250" dirty="0"/>
          </a:p>
          <a:p>
            <a:pPr indent="0" marL="0">
              <a:buNone/>
            </a:pPr>
            <a:r>
              <a:rPr lang="en-US" sz="1050" i="1" dirty="0">
                <a:solidFill>
                  <a:srgbClr val="8A6D1E"/>
                </a:solidFill>
                <a:latin typeface="Calibri" pitchFamily="34" charset="0"/>
                <a:cs typeface="Amiri" pitchFamily="2" charset="-78"/>
              </a:rPr>
              <a:t>kataba · yaktubu.</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دَرَسْتُ الْعَرَبِيَّةَ أَمْسِ.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studied Arabic yesterday.</a:t>
            </a:r>
            <a:endParaRPr lang="en-US" sz="1250" dirty="0"/>
          </a:p>
          <a:p>
            <a:pPr indent="0" marL="0">
              <a:buNone/>
            </a:pPr>
            <a:r>
              <a:rPr lang="en-US" sz="1050" i="1" dirty="0">
                <a:solidFill>
                  <a:srgbClr val="8A6D1E"/>
                </a:solidFill>
                <a:latin typeface="Calibri" pitchFamily="34" charset="0"/>
                <a:cs typeface="Amiri" pitchFamily="2" charset="-78"/>
              </a:rPr>
              <a:t>Past.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يَفْهَمُ الطَّالِبُ السُّؤَالَ.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student understands the question.</a:t>
            </a:r>
            <a:endParaRPr lang="en-US" sz="1250" dirty="0"/>
          </a:p>
          <a:p>
            <a:pPr indent="0" marL="0">
              <a:buNone/>
            </a:pPr>
            <a:r>
              <a:rPr lang="en-US" sz="1050" i="1" dirty="0">
                <a:solidFill>
                  <a:srgbClr val="8A6D1E"/>
                </a:solidFill>
                <a:latin typeface="Calibri" pitchFamily="34" charset="0"/>
                <a:cs typeface="Amiri" pitchFamily="2" charset="-78"/>
              </a:rPr>
              <a:t>i → 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جَلَسْنَا فِي الْحَدِيقَةِ.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sat in the garden.</a:t>
            </a:r>
            <a:endParaRPr lang="en-US" sz="1250" dirty="0"/>
          </a:p>
          <a:p>
            <a:pPr indent="0" marL="0">
              <a:buNone/>
            </a:pPr>
            <a:r>
              <a:rPr lang="en-US" sz="1050" i="1" dirty="0">
                <a:solidFill>
                  <a:srgbClr val="8A6D1E"/>
                </a:solidFill>
                <a:latin typeface="Calibri" pitchFamily="34" charset="0"/>
                <a:cs typeface="Amiri" pitchFamily="2" charset="-78"/>
              </a:rPr>
              <a:t>jalasa.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 is the base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الْمُجَرَّدُ وَالْمَزِيدُ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II–X</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(II)</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know</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a subject (II)</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study</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دَرَسَ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take out (IV)</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أَخْرَجَ</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go out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خَرَجَ</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become broken (VII)</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اِنْكَسَرَ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(something)</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كَسَرَ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use (X)</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اِسْتَعْمَلَ</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work</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عَمِلَ</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Form I verb is the starting point; added letters build new, related meanings (website: “a starting point for recognising roots”).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ROOT ONLY, OR LETTERS ADDED?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I or derived?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مُجَرَّدٌ أَمْ مَزِيدٌ؟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جَلَسَ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تَعَلَّمَ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اِسْتَعْمَلَ</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 (root only)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Derived (letters added)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I (root only)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فَهِمَ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جَلَسَ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كَبُرَ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Derived (letters added)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سَاعَدَ</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تَعَلَّمَ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اِسْتَعْمَلَ</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هُوَ يَفْهُمُ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 or a in yafhamu?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أَجْلُسُ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 or i in yajlisu?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يَكْتُبُ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she?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هُوَ يَفْهُمُ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هُوَ يَفْهَمُ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Not every Form I present has u — learn the pair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أَجْلُسُ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أَجْلِسُ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Jalasa · yajlisu: the middle vowel is 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يَكْتُبُ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تَكْتُبُ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prefix still follows the person (GM-V-05).</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PAIR AND CONJUGATION QUESTIONS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understood”.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نَفْهَمُ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sit”.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جَلَسُوا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يَجْلِسُونَ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تَجْلِسُونَ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Form I pairs be learned?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I has no present</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Form I verbs are irregular</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present vowel is not predictable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يَفْتُحُ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يُفَتِّحُ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يَفْتَحُ</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 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understood”.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نَفْهَمُ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فَهِمْنَا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فَهِمُوا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sit”.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جَلَسُوا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يَجْلِسُونَ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تَجْلِسُونَ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Form I pairs be learned?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I has no present</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Form I verbs are irregular</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present vowel is not predictable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learn the actual pair.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I VERBS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أَخْرُجُ مِنَ الْبَيْتِ فِي السَّابِعَةِ. أَصِلُ إِلَى الْمَدْرَسَةِ وَأَجْلِسُ فِي الصَّفِّ. نَدْرُسُ الْعَرَبِيَّةَ أَوَّلًا، وَنَكْتُبُ جُمَلًا جَدِيدَةً. أَمْسِ فَهِمْتُ دَرْسًا صَعْبًا، وَفَرِحَتِ الْمُعَلِّمَةُ. بَعْدَ الدَّرْسِ لَعِبْنَا فِي الْمَلْعَبِ، ثُمَّ رَجَعْتُ إِلَى الْبَيْتِ.</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أَخْرُجُ</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go out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أَصِلُ</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arrive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فَرِحَتْ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was happy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الْمَلْعَبِ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رَجَعْتُ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returned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أَجْلِسُ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نَكْتُبُ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present of </a:t>
            </a:r>
            <a:pPr algn="l" indent="0" marL="0">
              <a:buNone/>
            </a:pPr>
            <a:r>
              <a:rPr lang="ar-SA" altLang="en-US" sz="1650" b="1" dirty="0">
                <a:solidFill>
                  <a:srgbClr val="1B3B6F"/>
                </a:solidFill>
                <a:latin typeface="Amiri" pitchFamily="2" charset="-78"/>
                <a:cs typeface="Amiri" pitchFamily="2" charset="-78"/>
              </a:rPr>
              <a:t>رَجَعْتُ</a:t>
            </a:r>
            <a:pPr algn="l" indent="0" marL="0">
              <a:buNone/>
            </a:pPr>
            <a:r>
              <a:rPr lang="en-US" sz="1250" b="1" dirty="0">
                <a:solidFill>
                  <a:srgbClr val="1B3B6F"/>
                </a:solidFill>
                <a:latin typeface="Calibri" pitchFamily="34" charset="0"/>
                <a:cs typeface="Amiri" pitchFamily="2" charset="-78"/>
              </a:rPr>
              <a:t> (I returned)?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أَرْجِعُ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study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the teacher happy?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played football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understood a hard lesson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arrived 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أَجْلِسُ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فَهِمْتُ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نَكْتُبُ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fahimtu = I understood.</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present of </a:t>
            </a:r>
            <a:pPr algn="l" indent="0" marL="0">
              <a:buNone/>
            </a:pPr>
            <a:r>
              <a:rPr lang="ar-SA" altLang="en-US" sz="1650" b="1" dirty="0">
                <a:solidFill>
                  <a:srgbClr val="1B3B6F"/>
                </a:solidFill>
                <a:latin typeface="Amiri" pitchFamily="2" charset="-78"/>
                <a:cs typeface="Amiri" pitchFamily="2" charset="-78"/>
              </a:rPr>
              <a:t>رَجَعْتُ</a:t>
            </a:r>
            <a:pPr algn="l" indent="0" marL="0">
              <a:buNone/>
            </a:pPr>
            <a:r>
              <a:rPr lang="en-US" sz="1250" b="1" dirty="0">
                <a:solidFill>
                  <a:srgbClr val="1B3B6F"/>
                </a:solidFill>
                <a:latin typeface="Calibri" pitchFamily="34" charset="0"/>
                <a:cs typeface="Amiri" pitchFamily="2" charset="-78"/>
              </a:rPr>
              <a:t> (I returned)?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أَرْجُعُ</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أُرَجِّعُ</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أَرْجِعُ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rajaʿa · yarjiʿu — a → 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study first?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science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Nadrusu l-ʿarabiyyata awwalan.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was the teacher happy?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played football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understood a hard lesson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arrived 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Fahimtu darsan ṣaʿban.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I do at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تَدْرُسُ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كَتَبْتَ أَمْسِ؟ وَمَاذَا يَفْهَمُ صَدِيقُكَ؟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يَوْمَكَ الدِّرَاسِيَّ بِخَمْسَةِ أَفْعَالٍ مُجَرَّدَةٍ.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الْيَوْمَ أَدْرُسُ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أَمْسِ كَتَبْتُ ___ ، وَصَدِيقِي يَفْهَمُ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أَخْرُجُ ___ ، وَأَجْلِسُ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تَدْرُسِينَ الْيَوْمَ؟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studying today?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أَدْرُسُ الْعُلُومَ وَالْعَرَبِيَّةَ. أَمْسِ كَتَبْتُ قِصَّةً قَصِيرَةً، وَفَهِمَتْ أُخْتِي كُلَّ كَلِمَةٍ!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studying science and Arabic. Yesterday I wrote a short story, and my sister understood every word!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Copy the pair from the table.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more verbs from the vowel groups.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each present vowel.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day with six different Form I verbs and four persons.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Past and present.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يَفْتَحُ الْمُعَلِّمُ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 opens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خَرَجْنَا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went out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فَهِمَتْ أُخْتِي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understood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يَلْعَبُونَ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They play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أَدْرُسُ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study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كَتَبْتُ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wrote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يَفْهَمُ صَدِيقِي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understands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نَجْلِسُ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sit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كَتَبَ · يَكْتُبُ  ·  دَرَسَ · يَدْرُسُ  ·  جَلَسَ · يَجْلِسُ  ·  فَتَحَ · يَفْتَحُ  ·  فَهِمَ · يَفْهَمُ  ·  لَعِبَ · يَلْعَبُ  ·  خَرَجَ · يَخْرُجُ  ·  رَجَعَ · يَرْجِعُ</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school day with six different Form I verbs and four different persons.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Six Form I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and present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persons (I, he, she, we, they).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Each present vowel checked against the pair.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 words: yesterday, every day.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كُلَّ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الْمَسَاءِ</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evening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كُلَّ يَوْمٍ أَخْرُجُ مِنَ الْبَيْتِ مُبَكِّرًا، وَأَجْلِسُ فِي الْحَافِلَةِ مَعَ أَخِي. فِي الْمَدْرَسَةِ نَدْرُسُ مَوَادَّ كَثِيرَةً، وَأُحِبُّ الْعَرَبِيَّةَ أَكْثَرَ. أَمْسِ كَتَبْتُ قِصَّةً عَنْ جَدِّي، وَفَهِمَهَا كُلُّ الطُّلَّابِ. فِي الِاسْتِرَاحَةِ يَلْعَبُ أَصْدِقَائِي كُرَةَ الْقَدَمِ، وَأُخْتِي تَقْرَأُ فِي الْمَكْتَبَةِ. فِي الْمَسَاءِ رَجَعْنَا إِلَى الْبَيْتِ وَفَتَحْنَا كُتُبَنَا.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Every day I leave the house early, and I sit on the bus with my brother. At school we study many subjects, and I love Arabic most. Yesterday I wrote a story about my grandfather, and all the students understood it. At break my friends play football, and my sister reads in the library. In the evening we went home and opened our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 i verb</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different person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I verbs have no added letters.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past and one present verb.</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checked every present vowel against the pair.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prefixes match the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persons and six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means “to understand”?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 / يَفْهَمُ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 / يُفَهِّمُ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فَهِمَ / يَفْهُمُ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أَخْرَجَ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تَخَرَّجَ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sat” is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تَجْلِسُ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جَلَسْتُ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means “to understand”?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فَهِمَ / يَفْهَمُ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فَهَّمَ / يُفَهِّمُ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فَهِمَ / يَفْهُمُ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fahima pairs with yafhamu.</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أَخْرَجَ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تَخَرَّجَ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added letters.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sat” is …</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جَلَسَتْ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تَجْلِسُ</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جَلَسْتُ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GM-VF-01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GM-VF-02 · Form II: Teaching and Intensifying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عَلَّمَ · يُعَلِّمُ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دَرَّسَ · يُدَرِّسُ</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teach a subject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نَظَّمَ · يُنَظِّمُ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organise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حَضَّرَ · يُحَضِّرُ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prepare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الشَّدَّةُ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(doubling)</a:t>
            </a:r>
            <a:pPr indent="0" marL="0">
              <a:buNone/>
            </a:pPr>
            <a:r>
              <a:rPr lang="en-US" sz="1000" i="1" dirty="0">
                <a:solidFill>
                  <a:srgbClr val="5A6472"/>
                </a:solidFill>
                <a:latin typeface="Calibri" pitchFamily="34" charset="0"/>
                <a:cs typeface="Amiri" pitchFamily="2" charset="-78"/>
              </a:rPr>
              <a:t>  ـّ</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Look at the four verbs: what do they all have on the middle letter?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عَلَّمَ · دَرَّسَ · نَظَّمَ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Form I pairs (past · present) from your vocabulary.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jalasa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school day with six Form I verbs and four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GM-VF-02 · Form II: Teaching and Intensifying</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الثَّانِي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I = root only · the present vowel varies (yaktubu, yajlisu, yafhamu) · learn every past–present pair · Form I is the base for Forms II–X.</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GM-VF-01 · Form I: The Basic Verb</dc:title>
  <dc:subject>PptxGenJS Presentation</dc:subject>
  <dc:creator>Al Madina Online School · Arabic Department</dc:creator>
  <cp:lastModifiedBy>Al Madina Online School · Arabic Department</cp:lastModifiedBy>
  <cp:revision>1</cp:revision>
  <dcterms:created xsi:type="dcterms:W3CDTF">2026-10-11T06:42:41Z</dcterms:created>
  <dcterms:modified xsi:type="dcterms:W3CDTF">2026-10-11T06:42:41Z</dcterms:modified>
</cp:coreProperties>
</file>