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GM-VF-01 (“Form I: The Basic Verb”).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model pair كَتَبَ · يَكْتُبُ and the family دَرَسَ · فَهِمَ · جَلَسَ in sentences. Develop: the five vowel groups (يَكْتُبُ · يَجْلِسُ · يَفْتَحُ · يَفْهَمُ · يَكْبُرُ) and conjugation of فَهِمَ. Stretch: Form I vs derived forms from the same root (عَلِمَ / عَلَّمَ · خَرَجَ / أَخْرَجَ).
• Website clinic: do NOT assume every Form I present has u. Learn the actual past–present pair rather than guessing.
• Vocabulary habit: every new Form I verb goes in the book as three items — past · present · verbal noun (كَتَبَ · يَكْتُبُ · كِتَابَةٌ).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GM-VF-00 (roots) and the prep pairs fahima, jalasa, darasa.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I = root only. The present vowel changes from verb to verb — learn every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Template row = the f-ʿ-l model; second row = the real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 the vowel groups named in the website pattern note (fataḥa added as a common a → a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Chant the column pairs. Stretch: conjugate jalasa in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 one present, one past, a different subject in the third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 3; students guess the derived verb from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name the added letter (shadda, ā, ta-, 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name the added letter (shadda, ā, ta-, 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pair and conjugation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I verbs (teacher-written). Read it aloud once while students follow; then they hunt for today’s grammar.
Task: Underline every Form I verb, then sort them into past and present.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text with Form I verbs;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one present verb, one past verb and a different subject. Students check each pair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three sentences about what you do at school. Use one present verb, one past verb and a different subject in the third sentence.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(GM-VF-02 · Form II: Teaching and Intensifying) will spend class time USING this language, so students prepare it tonight — short, simple, easy to access (school guidance: “Simple, Short, Interesting, Relevant, Easy to access”). The five words prepare GM-VF-02 (website Verb Forms: Form II).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Form I: The Basic Verb</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الْفِعْلُ الثُّلَاثِيُّ الْمُجَرَّدُ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I is the root with nothing added: kataba, darasa, fahima. Its vowels are NOT fixed — yaktubu, yajlisu, yafhamu — so always learn the past and present as a pair.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vowel groups; conjugation; Form I as the base.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Base vs derived; sort Form I / derived;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ea typeface="Amiri" pitchFamily="2" charset="-78"/>
                <a:cs typeface="Amiri" pitchFamily="2" charset="-78"/>
              </a:rPr>
              <a:t>يَكْتُبُ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 ك 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 ت 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 ب ك</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has NO added letters?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يَتَدَرَّسُ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the PAST?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يَجْلِسُ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اِجْلِسْ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understand”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أَفْهَمُ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ea typeface="Amiri" pitchFamily="2" charset="-78"/>
                <a:cs typeface="Amiri" pitchFamily="2" charset="-78"/>
              </a:rPr>
              <a:t>يَكْتُبُ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 ك 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 ت 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 ب ك</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Remove the prefix ya-.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has NO added letters?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دَرَسَ</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Darasa is the bare root = Form 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يَتَدَرَّسُ</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يَدْرُسُ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 present: ya- + root.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the PAST?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يَجْلِسُ</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اِجْلِسْ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جَلَسَ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Jalasa = he sat.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understand”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أَفْهَمُ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فَهِمْتُ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I, present (GM-V-05).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I = root only. The present vowel changes from verb to verb — learn every pair.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يَكْتُبُ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فَهِمَ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يَفْهَمُ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I: the root with no added letters.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past and present as a pair.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Conjugate a Form I verb in past and present.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Form I from a derived form of the same root.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kataba / yaktubu and darasa / yadrusu.</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 Form I sentence about school.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know yaktubu, yajlisu and yafhamu have different vowels.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fahima for six persons.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ʿalima with ʿallama.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Form I pairs must be learned.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basic (no added letters)</a:t>
            </a:r>
            <a:endParaRPr lang="en-US" sz="1350" dirty="0"/>
          </a:p>
          <a:p>
            <a:pPr indent="0" marL="0">
              <a:buNone/>
            </a:pPr>
            <a:r>
              <a:rPr lang="en-US" sz="1100" i="1" dirty="0">
                <a:solidFill>
                  <a:srgbClr val="5A6472"/>
                </a:solidFill>
                <a:latin typeface="Calibri" pitchFamily="34" charset="0"/>
                <a:cs typeface="Amiri" pitchFamily="2" charset="-78"/>
              </a:rPr>
              <a:t>al-mu-jar-ra-du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a:t>
            </a:r>
            <a:endParaRPr lang="en-US" sz="1350" dirty="0"/>
          </a:p>
          <a:p>
            <a:pPr indent="0" marL="0">
              <a:buNone/>
            </a:pPr>
            <a:r>
              <a:rPr lang="en-US" sz="1100" i="1" dirty="0">
                <a:solidFill>
                  <a:srgbClr val="5A6472"/>
                </a:solidFill>
                <a:latin typeface="Calibri" pitchFamily="34" charset="0"/>
                <a:cs typeface="Amiri" pitchFamily="2" charset="-78"/>
              </a:rPr>
              <a:t>al-mā-ḍī</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فَهِمَ</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a:t>
            </a:r>
            <a:endParaRPr lang="en-US" sz="1350" dirty="0"/>
          </a:p>
          <a:p>
            <a:pPr indent="0" marL="0">
              <a:buNone/>
            </a:pPr>
            <a:r>
              <a:rPr lang="en-US" sz="1100" i="1" dirty="0">
                <a:solidFill>
                  <a:srgbClr val="5A6472"/>
                </a:solidFill>
                <a:latin typeface="Calibri" pitchFamily="34" charset="0"/>
                <a:cs typeface="Amiri" pitchFamily="2" charset="-78"/>
              </a:rPr>
              <a:t>al-mu-ḍā-ri-ʿu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يَفْهَمُ</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حَرَكَةُ الْعَيْنِ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middle vowel</a:t>
            </a:r>
            <a:endParaRPr lang="en-US" sz="1350" dirty="0"/>
          </a:p>
          <a:p>
            <a:pPr indent="0" marL="0">
              <a:buNone/>
            </a:pPr>
            <a:r>
              <a:rPr lang="en-US" sz="1100" i="1" dirty="0">
                <a:solidFill>
                  <a:srgbClr val="5A6472"/>
                </a:solidFill>
                <a:latin typeface="Calibri" pitchFamily="34" charset="0"/>
                <a:cs typeface="Amiri" pitchFamily="2" charset="-78"/>
              </a:rPr>
              <a:t>ḥa-ra-ka-tu al-ʿay-ni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يَكْتُبُ · يَجْلِسُ</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الْمَصْدَرُ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verbal noun</a:t>
            </a:r>
            <a:endParaRPr lang="en-US" sz="1350" dirty="0"/>
          </a:p>
          <a:p>
            <a:pPr indent="0" marL="0">
              <a:buNone/>
            </a:pPr>
            <a:r>
              <a:rPr lang="en-US" sz="1100" i="1" dirty="0">
                <a:solidFill>
                  <a:srgbClr val="5A6472"/>
                </a:solidFill>
                <a:latin typeface="Calibri" pitchFamily="34" charset="0"/>
                <a:cs typeface="Amiri" pitchFamily="2" charset="-78"/>
              </a:rPr>
              <a:t>al-maṣ-da-ru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فَاعِلٌ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doer pattern</a:t>
            </a:r>
            <a:endParaRPr lang="en-US" sz="1350" dirty="0"/>
          </a:p>
          <a:p>
            <a:pPr indent="0" marL="0">
              <a:buNone/>
            </a:pPr>
            <a:r>
              <a:rPr lang="en-US" sz="1100" i="1" dirty="0">
                <a:solidFill>
                  <a:srgbClr val="5A6472"/>
                </a:solidFill>
                <a:latin typeface="Calibri" pitchFamily="34" charset="0"/>
                <a:cs typeface="Amiri" pitchFamily="2" charset="-78"/>
              </a:rPr>
              <a:t>fā-ʿi-lun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كَاتِبٌ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root — nothing added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سَمَاعِيٌّ</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اُكْتُبْ</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كَاتِبٌ</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كِتَابَةٌ</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اِجْلِسْ</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جَالِسٌ</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جُلُوسٌ</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يَجْلِسُ</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جَلَسَ</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sit</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اِفْتَحْ</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فَاتِحٌ</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يَفْتَحُ</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اِفْهَمْ</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فَاهِمٌ</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يَفْهَمُ</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understand</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Form I has no added derivational letters. The verbal noun of Form I is “heard” (samāʿī) — it must be learned with the verb (GM-V-12).</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VOWELS VARY (WEBSITE) · LEARN THE PAIR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vowel groups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حَرَكَاتُ الْفِعْلِ الْمُجَرَّدِ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58338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Vowels</a:t>
            </a:r>
            <a:endParaRPr lang="en-US" sz="1100" dirty="0"/>
          </a:p>
        </p:txBody>
      </p:sp>
      <p:sp>
        <p:nvSpPr>
          <p:cNvPr id="18" name="Text 15"/>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680960" y="2267712"/>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أَكْتُبُ رِسَالَةً إِلَى صَدِيقِي.</a:t>
            </a:r>
            <a:endParaRPr lang="ar-SA" sz="2000" dirty="0"/>
          </a:p>
        </p:txBody>
      </p:sp>
      <p:sp>
        <p:nvSpPr>
          <p:cNvPr id="22" name="Text 19"/>
          <p:cNvSpPr txBox="1"/>
          <p:nvPr/>
        </p:nvSpPr>
        <p:spPr>
          <a:xfrm>
            <a:off x="587044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u</a:t>
            </a:r>
            <a:endParaRPr lang="en-US" sz="1100" dirty="0"/>
          </a:p>
        </p:txBody>
      </p:sp>
      <p:sp>
        <p:nvSpPr>
          <p:cNvPr id="23" name="Text 20"/>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a:t>
            </a:r>
            <a:endParaRPr lang="en-US" sz="1100" dirty="0"/>
          </a:p>
        </p:txBody>
      </p:sp>
      <p:sp>
        <p:nvSpPr>
          <p:cNvPr id="24" name="Text 21"/>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 يَكْتُبُ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680960" y="2881884"/>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دَرَسْتُ الْعَرَبِيَّةَ أَمْسِ.</a:t>
            </a:r>
            <a:endParaRPr lang="ar-SA" sz="2000" dirty="0"/>
          </a:p>
        </p:txBody>
      </p:sp>
      <p:sp>
        <p:nvSpPr>
          <p:cNvPr id="29" name="Text 26"/>
          <p:cNvSpPr txBox="1"/>
          <p:nvPr/>
        </p:nvSpPr>
        <p:spPr>
          <a:xfrm>
            <a:off x="587044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u</a:t>
            </a:r>
            <a:endParaRPr lang="en-US" sz="1100" dirty="0"/>
          </a:p>
        </p:txBody>
      </p:sp>
      <p:sp>
        <p:nvSpPr>
          <p:cNvPr id="30" name="Text 27"/>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study</a:t>
            </a:r>
            <a:endParaRPr lang="en-US" sz="1100" dirty="0"/>
          </a:p>
        </p:txBody>
      </p:sp>
      <p:sp>
        <p:nvSpPr>
          <p:cNvPr id="31" name="Text 28"/>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 · يَدْرُسُ</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680960" y="3496056"/>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يَجْلِسُ الطُّلَّابُ فِي الصَّفِّ.</a:t>
            </a:r>
            <a:endParaRPr lang="ar-SA" sz="2000" dirty="0"/>
          </a:p>
        </p:txBody>
      </p:sp>
      <p:sp>
        <p:nvSpPr>
          <p:cNvPr id="36" name="Text 33"/>
          <p:cNvSpPr txBox="1"/>
          <p:nvPr/>
        </p:nvSpPr>
        <p:spPr>
          <a:xfrm>
            <a:off x="587044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i</a:t>
            </a:r>
            <a:endParaRPr lang="en-US" sz="1100" dirty="0"/>
          </a:p>
        </p:txBody>
      </p:sp>
      <p:sp>
        <p:nvSpPr>
          <p:cNvPr id="37" name="Text 34"/>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sit</a:t>
            </a:r>
            <a:endParaRPr lang="en-US" sz="1100" dirty="0"/>
          </a:p>
        </p:txBody>
      </p:sp>
      <p:sp>
        <p:nvSpPr>
          <p:cNvPr id="38" name="Text 35"/>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جَلَسَ · يَجْلِسُ</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680960" y="4110228"/>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يَفْتَحُ الْمُعَلِّمُ الْبَابَ.</a:t>
            </a:r>
            <a:endParaRPr lang="ar-SA" sz="2000" dirty="0"/>
          </a:p>
        </p:txBody>
      </p:sp>
      <p:sp>
        <p:nvSpPr>
          <p:cNvPr id="43" name="Text 40"/>
          <p:cNvSpPr txBox="1"/>
          <p:nvPr/>
        </p:nvSpPr>
        <p:spPr>
          <a:xfrm>
            <a:off x="587044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a</a:t>
            </a:r>
            <a:endParaRPr lang="en-US" sz="1100" dirty="0"/>
          </a:p>
        </p:txBody>
      </p:sp>
      <p:sp>
        <p:nvSpPr>
          <p:cNvPr id="44" name="Text 41"/>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a:t>
            </a:r>
            <a:endParaRPr lang="en-US" sz="1100" dirty="0"/>
          </a:p>
        </p:txBody>
      </p:sp>
      <p:sp>
        <p:nvSpPr>
          <p:cNvPr id="45" name="Text 42"/>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 · يَفْتَحُ</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7680960" y="4724400"/>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يَفْهَمُ الطَّالِبُ السُّؤَالَ.</a:t>
            </a:r>
            <a:endParaRPr lang="ar-SA" sz="2000" dirty="0"/>
          </a:p>
        </p:txBody>
      </p:sp>
      <p:sp>
        <p:nvSpPr>
          <p:cNvPr id="48" name="Text 45"/>
          <p:cNvSpPr txBox="1"/>
          <p:nvPr/>
        </p:nvSpPr>
        <p:spPr>
          <a:xfrm>
            <a:off x="587044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a</a:t>
            </a:r>
            <a:endParaRPr lang="en-US" sz="1100" dirty="0"/>
          </a:p>
        </p:txBody>
      </p:sp>
      <p:sp>
        <p:nvSpPr>
          <p:cNvPr id="49" name="Text 46"/>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understand</a:t>
            </a:r>
            <a:endParaRPr lang="en-US" sz="1100" dirty="0"/>
          </a:p>
        </p:txBody>
      </p:sp>
      <p:sp>
        <p:nvSpPr>
          <p:cNvPr id="50" name="Text 47"/>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 · يَفْهَمُ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680960" y="5338572"/>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يَكْبُرُ الطِّفْلُ بِسُرْعَةٍ.</a:t>
            </a:r>
            <a:endParaRPr lang="ar-SA" sz="2000" dirty="0"/>
          </a:p>
        </p:txBody>
      </p:sp>
      <p:sp>
        <p:nvSpPr>
          <p:cNvPr id="53" name="Text 50"/>
          <p:cNvSpPr txBox="1"/>
          <p:nvPr/>
        </p:nvSpPr>
        <p:spPr>
          <a:xfrm>
            <a:off x="587044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u</a:t>
            </a:r>
            <a:endParaRPr lang="en-US" sz="1100" dirty="0"/>
          </a:p>
        </p:txBody>
      </p:sp>
      <p:sp>
        <p:nvSpPr>
          <p:cNvPr id="54" name="Text 51"/>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grow up</a:t>
            </a:r>
            <a:endParaRPr lang="en-US" sz="1100" dirty="0"/>
          </a:p>
        </p:txBody>
      </p:sp>
      <p:sp>
        <p:nvSpPr>
          <p:cNvPr id="55" name="Text 52"/>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كَبُرَ · يَكْبُرُ</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“Form I has several past / present vowel patterns. The displayed pattern is one common model, not a rule for every verb.”</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FAHIMA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and present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«فَهِمَ»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 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أَفْهَمُ</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base · ya-</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يَفْهَمُ</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 ta-</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تَفْهَمُ</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تَفْهَمُ</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-nā · na-</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نَفْهَمُ</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 · ya-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يَفْهَمُونَ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فَهِمُوا</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“Look closely”: the present prefix and the inner vowel belong to the conjugation (GM-V-04, V-05) — they do not create a new numbered form.</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 has several vowel patterns.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 always means a physical action.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Form I verb has the same present vowel.</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pair for “to sit”.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 · يَجْلُسُ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 · يَجْلِسُ</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 · يُجَلِّسُ</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تَفَاهَمَ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write”?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أَكْتُبُ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Aktubu is first-person singular present.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 I has several vowel patterns.</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 always means a physical action.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Form I verb has the same present vowel.</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Learn the root and the real past–present pair.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pair for “to sit”.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جَلَسَ · يَجْلُسُ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جَلَسَ · يَجْلِسُ</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جَلَّسَ · يُجَلِّسُ</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فَهَّمَ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تَفَاهَمَ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added letters.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look up and use a Form I verb</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 ر س</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letters, nothing added.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دَرَسَ</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studied.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يَدْرُسُ</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Middle vowel u — learned.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 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أَدْرُسُ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for 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أَدْرُسُ</a:t>
            </a:r>
            <a:pPr rtl="1" algn="r" indent="0" marL="0">
              <a:buNone/>
            </a:pPr>
            <a:r>
              <a:rPr lang="ar-SA" altLang="en-US" sz="2600" b="1" dirty="0">
                <a:solidFill>
                  <a:srgbClr val="1B3B6F"/>
                </a:solidFill>
                <a:latin typeface="Amiri" pitchFamily="2" charset="-78"/>
                <a:ea typeface="Amiri" pitchFamily="2" charset="-78"/>
                <a:cs typeface="Amiri" pitchFamily="2" charset="-78"/>
              </a:rPr>
              <a:t> الْعَرَبِيَّةَ كُلَّ يَوْمٍ. وَ</a:t>
            </a:r>
            <a:pPr rtl="1" algn="r" indent="0" marL="0">
              <a:buNone/>
            </a:pPr>
            <a:r>
              <a:rPr lang="ar-SA" altLang="en-US" sz="2600" b="1" dirty="0">
                <a:solidFill>
                  <a:srgbClr val="D6336C"/>
                </a:solidFill>
                <a:latin typeface="Amiri" pitchFamily="2" charset="-78"/>
                <a:ea typeface="Amiri" pitchFamily="2" charset="-78"/>
                <a:cs typeface="Amiri" pitchFamily="2" charset="-78"/>
              </a:rPr>
              <a:t>كَتَبْتُ</a:t>
            </a:r>
            <a:pPr rtl="1" algn="r" indent="0" marL="0">
              <a:buNone/>
            </a:pPr>
            <a:r>
              <a:rPr lang="ar-SA" altLang="en-US" sz="2600" b="1" dirty="0">
                <a:solidFill>
                  <a:srgbClr val="1B3B6F"/>
                </a:solidFill>
                <a:latin typeface="Amiri" pitchFamily="2" charset="-78"/>
                <a:ea typeface="Amiri" pitchFamily="2" charset="-78"/>
                <a:cs typeface="Amiri" pitchFamily="2" charset="-78"/>
              </a:rPr>
              <a:t> رِسَالَةً أَمْسِ. وَ</a:t>
            </a:r>
            <a:pPr rtl="1" algn="r" indent="0" marL="0">
              <a:buNone/>
            </a:pPr>
            <a:r>
              <a:rPr lang="ar-SA" altLang="en-US" sz="2600" b="1" dirty="0">
                <a:solidFill>
                  <a:srgbClr val="0E7C86"/>
                </a:solidFill>
                <a:latin typeface="Amiri" pitchFamily="2" charset="-78"/>
                <a:ea typeface="Amiri" pitchFamily="2" charset="-78"/>
                <a:cs typeface="Amiri" pitchFamily="2" charset="-78"/>
              </a:rPr>
              <a:t>يَفْهَمُ</a:t>
            </a:r>
            <a:pPr rtl="1" algn="r" indent="0" marL="0">
              <a:buNone/>
            </a:pPr>
            <a:r>
              <a:rPr lang="ar-SA" altLang="en-US" sz="2600" b="1" dirty="0">
                <a:solidFill>
                  <a:srgbClr val="1B3B6F"/>
                </a:solidFill>
                <a:latin typeface="Amiri" pitchFamily="2" charset="-78"/>
                <a:ea typeface="Amiri" pitchFamily="2" charset="-78"/>
                <a:cs typeface="Amiri" pitchFamily="2" charset="-78"/>
              </a:rPr>
              <a:t> صَدِيقِي الدَّرْسَ.</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study Arabic every day. I wrote a message yesterday. My friend understands the lesson.</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أَكْتُبُ رِسَالَةً إِلَى صَدِيقِي.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writing a message to my friend.</a:t>
            </a:r>
            <a:endParaRPr lang="en-US" sz="1250" dirty="0"/>
          </a:p>
          <a:p>
            <a:pPr indent="0" marL="0">
              <a:buNone/>
            </a:pPr>
            <a:r>
              <a:rPr lang="en-US" sz="1050" i="1" dirty="0">
                <a:solidFill>
                  <a:srgbClr val="8A6D1E"/>
                </a:solidFill>
                <a:latin typeface="Calibri" pitchFamily="34" charset="0"/>
                <a:cs typeface="Amiri" pitchFamily="2" charset="-78"/>
              </a:rPr>
              <a:t>kataba · yaktubu.</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دَرَسْتُ الْعَرَبِيَّةَ أَمْسِ.</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studied Arabic yesterday.</a:t>
            </a:r>
            <a:endParaRPr lang="en-US" sz="1250" dirty="0"/>
          </a:p>
          <a:p>
            <a:pPr indent="0" marL="0">
              <a:buNone/>
            </a:pPr>
            <a:r>
              <a:rPr lang="en-US" sz="1050" i="1" dirty="0">
                <a:solidFill>
                  <a:srgbClr val="8A6D1E"/>
                </a:solidFill>
                <a:latin typeface="Calibri" pitchFamily="34" charset="0"/>
                <a:cs typeface="Amiri" pitchFamily="2" charset="-78"/>
              </a:rPr>
              <a:t>Past.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يَفْهَمُ الطَّالِبُ السُّؤَالَ.</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 understands the question.</a:t>
            </a:r>
            <a:endParaRPr lang="en-US" sz="1250" dirty="0"/>
          </a:p>
          <a:p>
            <a:pPr indent="0" marL="0">
              <a:buNone/>
            </a:pPr>
            <a:r>
              <a:rPr lang="en-US" sz="1050" i="1" dirty="0">
                <a:solidFill>
                  <a:srgbClr val="8A6D1E"/>
                </a:solidFill>
                <a:latin typeface="Calibri" pitchFamily="34" charset="0"/>
                <a:cs typeface="Amiri" pitchFamily="2" charset="-78"/>
              </a:rPr>
              <a:t>i → 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جَلَسْنَا فِي الْحَدِيقَةِ.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sat in the garden.</a:t>
            </a:r>
            <a:endParaRPr lang="en-US" sz="1250" dirty="0"/>
          </a:p>
          <a:p>
            <a:pPr indent="0" marL="0">
              <a:buNone/>
            </a:pPr>
            <a:r>
              <a:rPr lang="en-US" sz="1050" i="1" dirty="0">
                <a:solidFill>
                  <a:srgbClr val="8A6D1E"/>
                </a:solidFill>
                <a:latin typeface="Calibri" pitchFamily="34" charset="0"/>
                <a:cs typeface="Amiri" pitchFamily="2" charset="-78"/>
              </a:rPr>
              <a:t>jalasa.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I is the base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الْمُجَرَّدُ وَالْمَزِيدُ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II–X</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(II)</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know</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a subject (II)</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study</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take out (IV)</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أَخْرَجَ</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go out</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خَرَجَ</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broken (VII)</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اِنْكَسَرَ</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(something)</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كَسَرَ</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 (X)</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اِسْتَعْمَلَ</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work</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عَمِلَ</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Form I verb is the starting point; added letters build new, related meanings (website: “a starting point for recognising roots”).</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ROOT ONLY, OR LETTERS ADDED?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I or derived?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مُجَرَّدٌ أَمْ مَزِيدٌ؟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فَهِمَ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جَلَسَ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تَعَلَّمَ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اِسْتَعْمَلَ</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 (root only)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Derived (letters added)</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 (root only)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فَهِمَ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جَلَسَ</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Derived (letters added)</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تَعَلَّمَ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اِسْتَعْمَلَ</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يَفْهُمُ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 or a in yafhamu?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أَجْلُسُ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 or i in yajlisu?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يَكْتُبُ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ta- for she?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يَفْهُمُ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يَفْهَمُ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Not every Form I present has u — learn the pair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أَجْلُسُ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أَجْلِسُ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Jalasa · yajlisu: the middle vowel is 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يَكْتُبُ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prefix still follows the person (GM-V-05).</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GUIDED PRACTICE · TEACHER-WRITTEN PAIR AND CONJUGATION QUESTIONS</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understood”.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نَفْهَمُ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فَهِمْنَا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فَهِمُوا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sit”.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جَلَسُوا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يَجْلِسُونَ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تَجْلِسُونَ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Form I pairs be learned?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 has no present</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Form I verbs are irregular</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present vowel is not predictable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يَفْتُحُ</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يُفَتِّحُ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يَفْتَحُ</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understood”.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نَفْهَمُ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فَهِمْنَا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فَهِمُوا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sit”.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جَلَسُوا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يَجْلِسُونَ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تَجْلِسُونَ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 … -ūna.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Form I pairs be learned?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 has no present</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Form I verbs are irregular</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present vowel is not predictable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learn the actual pair.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I VERBS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أَخْرُجُ مِنَ الْبَيْتِ فِي السَّابِعَةِ. أَصِلُ إِلَى الْمَدْرَسَةِ وَأَجْلِسُ فِي الصَّفِّ. نَدْرُسُ الْعَرَبِيَّةَ أَوَّلًا، وَنَكْتُبُ جُمَلًا جَدِيدَةً. أَمْسِ فَهِمْتُ دَرْسًا صَعْبًا، وَفَرِحَتِ الْمُعَلِّمَةُ. بَعْدَ الدَّرْسِ لَعِبْنَا فِي الْمَلْعَبِ، ثُمَّ رَجَعْتُ إِلَى الْبَيْتِ.</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أَخْرُجُ</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go out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أَصِلُ</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arrive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فَرِحَتْ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was happy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الْمَلْعَبِ</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playground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رَجَعْتُ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returned</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نَكْتُبُ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رَجَعْتُ</a:t>
            </a:r>
            <a:pPr algn="l" indent="0" marL="0">
              <a:buNone/>
            </a:pPr>
            <a:r>
              <a:rPr lang="en-US" sz="1250" b="1" dirty="0">
                <a:solidFill>
                  <a:srgbClr val="1B3B6F"/>
                </a:solidFill>
                <a:latin typeface="Calibri" pitchFamily="34" charset="0"/>
                <a:cs typeface="Amiri" pitchFamily="2" charset="-78"/>
              </a:rPr>
              <a:t> (I returned)?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study first?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the teacher happy?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played football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understood a hard lesson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arrived early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أَجْلِسُ</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فَهِمْتُ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نَكْتُبُ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fahimtu = I understood.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رَجَعْتُ</a:t>
            </a:r>
            <a:pPr algn="l" indent="0" marL="0">
              <a:buNone/>
            </a:pPr>
            <a:r>
              <a:rPr lang="en-US" sz="1250" b="1" dirty="0">
                <a:solidFill>
                  <a:srgbClr val="1B3B6F"/>
                </a:solidFill>
                <a:latin typeface="Calibri" pitchFamily="34" charset="0"/>
                <a:cs typeface="Amiri" pitchFamily="2" charset="-78"/>
              </a:rPr>
              <a:t> (I returned)?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أَرْجُعُ</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أُرَجِّعُ</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أَرْجِعُ</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rajaʿa · yarjiʿu — a → 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study first?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Nadrusu l-ʿarabiyyata awwalan.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the teacher happy?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played football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 understood a hard lesson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arrived early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Fahimtu darsan ṣaʿban.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what I do at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تَدْرُسُ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كَتَبْتَ أَمْسِ؟ وَمَاذَا يَفْهَمُ صَدِيقُكَ؟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يَوْمَكَ الدِّرَاسِيَّ بِخَمْسَةِ أَفْعَالٍ مُجَرَّدَةٍ.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الْيَوْمَ أَدْرُسُ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أَمْسِ كَتَبْتُ ___ ، وَصَدِيقِي يَفْهَمُ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أَخْرُجُ ___ ، وَأَجْلِسُ ___ ، ثُمَّ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تَدْرُسِينَ الْيَوْمَ؟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you studying today?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أَدْرُسُ الْعُلُومَ وَالْعَرَبِيَّةَ. أَمْسِ كَتَبْتُ قِصَّةً قَصِيرَةً، وَفَهِمَتْ أُخْتِي كُلَّ كَلِمَةٍ!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am studying science and Arabic. Yesterday I wrote a short story, and my sister understood every word!</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Copy the pair from the table.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three more verbs from the vowel groups.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each present vowel.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school day with six different Form I verbs and four persons.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and present.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يَفْتَحُ الْمُعَلِّمُ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 opens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خَرَجْنَا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went out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فَهِمَتْ أُخْتِي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understood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يَلْعَبُونَ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play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______ كُلَّ يَوْمٍ.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 every day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كَتَبْتُ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wrote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يَفْهَمُ صَدِيقِي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understands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نَجْلِسُ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sit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كَتَبَ · يَكْتُبُ  ·  دَرَسَ · يَدْرُسُ  ·  جَلَسَ · يَجْلِسُ  ·  فَتَحَ · يَفْتَحُ  ·  فَهِمَ · يَفْهَمُ  ·  لَعِبَ · يَلْعَبُ  ·  خَرَجَ · يَخْرُجُ  ·  رَجَعَ · يَرْجِعُ</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school day with six different Form I verbs and four different persons.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Form I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and present forms.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persons (I, he, she, we, they).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present vowel checked against the pair.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 words: yesterday, every day.</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evening</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كُلَّ يَوْمٍ أَخْرُجُ مِنَ الْبَيْتِ مُبَكِّرًا، وَأَجْلِسُ فِي الْحَافِلَةِ مَعَ أَخِي. فِي الْمَدْرَسَةِ نَدْرُسُ مَوَادَّ كَثِيرَةً، وَأُحِبُّ الْعَرَبِيَّةَ أَكْثَرَ. أَمْسِ كَتَبْتُ قِصَّةً عَنْ جَدِّي، وَفَهِمَهَا كُلُّ الطُّلَّابِ. فِي الِاسْتِرَاحَةِ يَلْعَبُ أَصْدِقَائِي كُرَةَ الْقَدَمِ، وَأُخْتِي تَقْرَأُ فِي الْمَكْتَبَةِ. فِي الْمَسَاءِ رَجَعْنَا إِلَى الْبَيْتِ وَفَتَحْنَا كُتُبَنَا.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Every day I leave the house early, and I sit on the bus with my brother. At school we study many subjects, and I love Arabic most. Yesterday I wrote a story about my grandfather, and all the students understood it. At break my friends play football, and my sister reads in the library. In the evening we went home and opened our books.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 present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 i 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different person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 verbs have no added letters.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past and one present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checked every present vowel against the pair.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prefixes match the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persons and six verbs.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correctly means “to understand”?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 / يَفْهَمُ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 / يُفَهِّمُ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فَهِمَ / يَفْهُمُ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أَخْرَجَ</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خَرَجَ</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تَخَرَّجَ</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sat” is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تَجْلِسُ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correctly means “to understand”?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فَهِمَ / يَفْهَمُ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فَهَّمَ / يُفَهِّمُ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فَهِمَ / يَفْهُمُ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fahima pairs with yafhamu.</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أَخْرَجَ</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خَرَجَ</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تَخَرَّجَ</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added letters.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sat” is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جَلَسَتْ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تَجْلِسُ</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جَلَسْتُ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GM-VF-01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GM-VF-02: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GM-VF-02 · Form II: Teaching and Intensifying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عَلَّمَ · يُعَلِّمُ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teach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دَرَّسَ · يُدَرِّسُ</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teach a subject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نَظَّمَ · يُنَظِّمُ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organise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حَضَّرَ · يُحَضِّرُ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prepare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الشَّدَّةُ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shadda (doubling)</a:t>
            </a:r>
            <a:pPr indent="0" marL="0">
              <a:buNone/>
            </a:pPr>
            <a:r>
              <a:rPr lang="ar-SA" sz="1000" i="1" dirty="0">
                <a:solidFill>
                  <a:srgbClr val="5A6472"/>
                </a:solidFill>
                <a:latin typeface="Calibri" pitchFamily="34" charset="0"/>
                <a:ea typeface="Amiri" pitchFamily="2" charset="-78"/>
                <a:cs typeface="Amiri" pitchFamily="2" charset="-78"/>
              </a:rPr>
              <a:t>  ـّ</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the four verbs: what do they all have on the middle letter?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عَلَّمَ · دَرَّسَ · نَظَّمَ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Form I pairs (past · present) from your vocabulary.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jalasa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school day with six Form I verbs and four persons.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GM-VF-02 · Form II: Teaching and Intensifying</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الثَّانِي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I = root only · the present vowel varies (yaktubu, yajlisu, yafhamu) · learn every past–present pair · Form I is the base for Forms II–X.</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GM-VF-01 · Form I: The Basic Verb</dc:title>
  <dc:subject>PptxGenJS Presentation</dc:subject>
  <dc:creator>Al Madina Online School · Arabic Department</dc:creator>
  <cp:lastModifiedBy>Al Madina Online School · Arabic Department</cp:lastModifiedBy>
  <cp:revision>1</cp:revision>
  <dcterms:created xsi:type="dcterms:W3CDTF">2026-10-11T06:42:41Z</dcterms:created>
  <dcterms:modified xsi:type="dcterms:W3CDTF">2026-10-11T06:42:41Z</dcterms:modified>
</cp:coreProperties>
</file>