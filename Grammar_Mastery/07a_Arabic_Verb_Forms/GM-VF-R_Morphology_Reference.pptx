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GM-VF-R (“Optional Morphology Reference”).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ten past / present templates with one real example each (revision of VF-01 to VF-10). Develop: verbal noun, doer and affected patterns (تَفْعِيلٌ · مُفَعِّلٌ · مُفَعَّلٌ …) and analysing a word: root → pattern → form → type. Stretch: the exceptions — Form I vowels, weak roots (قَالَ · اِخْتَارَ), Form VIII assimilation (اِتَّصَلَ · يَتَّصِلُ), Form VII vs passive.
• Website: “a reference for comparing patterns, not a list to memorise in one sitting”. Use the tables as a lookup tool; let students keep them in their books.
• Website scope note: these are the ten commonly taught families. Not every root occurs in every form, and a possible form is not always a real word.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GM-VF-01 to VF-10 (one verb per form).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derived word = ROOT + PATTERN. Strip the pattern letters, find the root, name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ten patterns” and “Verbal nouns and participles”. Students say a real verb for each row (kataba, ʿallama, shāraka, arsala, taʿallama).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Real verbs: taʿāwana, inkasara, ijtamaʿa, iḥmarra, istaʿmala.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“Important exceptions and distinctions” (kaʾs → kūb;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Teacher routine built on the website tables. Students copy the four-step analysis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2–5; students fill them in using the reference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mu- + kasra = doer; mu- + fatḥa = affected (GM-V-12).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mu- + kasra = doer; mu- + fatḥa = affected (GM-V-12).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analysis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morphology detective text (teacher-written). Read it aloud once while students follow; then they hunt for today’s grammar.
Task: Find one verb from each of Forms II–VIII and X, and name each verbal noun and participle.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detective text using the website reference examples;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teacher-written on the website reference. Sequence: ● 10s think → ↔ 45s rehearse aloud with mic muted → ◎ two named students on open mic (warned in advance) → + ? the class types one follow-up in chat → ↺ one student summarises.
Routes: Core uses the Core prompt and stem; Develop the Develop prompt; Stretch the last prompt.
Pairs take turns choosing a word from the reference tables; the partner analyses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“next step”: use the reference to repair uncertainties — build your own root map and check every pattern.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root map on the website reference,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(GM-CP-01 · Common Prepositions and the Genitive) will spend class time USING this language, so students prepare it tonight — short, simple, easy to access (school guidance: “Simple, Short, Interesting, Relevant, Easy to access”). The five words prepare GM-CP-01 (website Conjunctions and Prepositions: common prepositions and the genitive).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GM-VF-R</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GM-VF-R</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ea typeface="Cambria" pitchFamily="34" charset="-122"/>
                <a:cs typeface="Cambria" pitchFamily="34" charset="-120"/>
              </a:rPr>
              <a:t>Optional Morphology Reference</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مَرْجِعٌ صَرْفِيٌّ اخْتِيَارِيٌّ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All ten forms on one page: past, present, verbal noun, doer and affected patterns — plus the exceptions that real verbs bring. Use it to analyse any word: find the root, find the pattern, name the form.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GM-VF-R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Ten patterns; derived nouns; exceptions.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Analyse the word; sort action / doer / affected;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GM-CP-01.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شَارَكَ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III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تَعَلَّمَ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VIII</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اِجْتَمَعَ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X</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VIII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X</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IV</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اِسْتَعْمَلَ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VIII</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شَارَكَ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II</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III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 ā after the first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تَعَلَّمَ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II</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VIII</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shadda.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اِجْتَمَعَ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VII</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X</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VIII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 after the first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X</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IV</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before the root.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اِسْتَعْمَلَ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VIII</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 before the root.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derived word = ROOT + PATTERN. Strip the pattern letters, find the root, name the form.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 ل 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مُتَفَعِّلٌ</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مُتَعَلِّمٌ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Recall the ten past / present patterns.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verbal noun, doer and affected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a word: root, pattern, form.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Allow for weak roots and other exceptions.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match ten verbs to their forms.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the reference table to check a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name the verbal noun of a derived verb.</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tell mutaʿallim (doer) from mutaʿallam (affected).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ittaṣala (Form VIII assimilation).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build a root map across five forms.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الصَّرْفُ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morphology (word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aṣ-ṣar-fu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الْأَوْزَانُ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الْمِيزَانُ الصَّرْفِيُّ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f-ʿ-l template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al-mī-zā-nu aṣ-ṣar-fiy-yu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الْمَصْدَرُ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verbal noun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al-maṣ-da-ru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تَعْلِيمٌ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participle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al-fā-ʿi-li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مُعَلِّمٌ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الْمَفْعُولِ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passive participle (affected)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al-maf-ʿū-li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الْإِدْغَامُ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assimilation (merging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al-id-ghā-mu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اِتَّصَلَ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REFERENCE · PART 1 · FORMS I–V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patterns — Forms I to V</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الْأَوْزَانُ مِنَ الْأَوَّلِ إِلَى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Affected</a:t>
            </a:r>
            <a:endParaRPr lang="en-US" sz="1100" dirty="0"/>
          </a:p>
        </p:txBody>
      </p:sp>
      <p:sp>
        <p:nvSpPr>
          <p:cNvPr id="17" name="Text 14"/>
          <p:cNvSpPr txBox="1"/>
          <p:nvPr/>
        </p:nvSpPr>
        <p:spPr>
          <a:xfrm>
            <a:off x="79369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5742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36393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16276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875520" y="2267712"/>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مَفْعُولٌ</a:t>
            </a:r>
            <a:endParaRPr lang="ar-SA" sz="2400" dirty="0"/>
          </a:p>
        </p:txBody>
      </p:sp>
      <p:sp>
        <p:nvSpPr>
          <p:cNvPr id="24" name="Text 21"/>
          <p:cNvSpPr txBox="1"/>
          <p:nvPr/>
        </p:nvSpPr>
        <p:spPr>
          <a:xfrm>
            <a:off x="79552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فَاعِلٌ</a:t>
            </a:r>
            <a:endParaRPr lang="ar-SA" sz="2400" dirty="0"/>
          </a:p>
        </p:txBody>
      </p:sp>
      <p:sp>
        <p:nvSpPr>
          <p:cNvPr id="25" name="Text 22"/>
          <p:cNvSpPr txBox="1"/>
          <p:nvPr/>
        </p:nvSpPr>
        <p:spPr>
          <a:xfrm>
            <a:off x="57607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سَمَاعِيٌّ</a:t>
            </a:r>
            <a:endParaRPr lang="ar-SA" sz="2400" dirty="0"/>
          </a:p>
        </p:txBody>
      </p:sp>
      <p:sp>
        <p:nvSpPr>
          <p:cNvPr id="26" name="Text 23"/>
          <p:cNvSpPr txBox="1"/>
          <p:nvPr/>
        </p:nvSpPr>
        <p:spPr>
          <a:xfrm>
            <a:off x="3657600" y="2267712"/>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27" name="Text 24"/>
          <p:cNvSpPr txBox="1"/>
          <p:nvPr/>
        </p:nvSpPr>
        <p:spPr>
          <a:xfrm>
            <a:off x="164592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28" name="Text 25"/>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9875520" y="300471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33" name="Text 30"/>
          <p:cNvSpPr txBox="1"/>
          <p:nvPr/>
        </p:nvSpPr>
        <p:spPr>
          <a:xfrm>
            <a:off x="79552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34" name="Text 31"/>
          <p:cNvSpPr txBox="1"/>
          <p:nvPr/>
        </p:nvSpPr>
        <p:spPr>
          <a:xfrm>
            <a:off x="57607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تَفْعِيلٌ</a:t>
            </a:r>
            <a:endParaRPr lang="ar-SA" sz="2400" dirty="0"/>
          </a:p>
        </p:txBody>
      </p:sp>
      <p:sp>
        <p:nvSpPr>
          <p:cNvPr id="35" name="Text 32"/>
          <p:cNvSpPr txBox="1"/>
          <p:nvPr/>
        </p:nvSpPr>
        <p:spPr>
          <a:xfrm>
            <a:off x="3657600" y="300471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36" name="Text 33"/>
          <p:cNvSpPr txBox="1"/>
          <p:nvPr/>
        </p:nvSpPr>
        <p:spPr>
          <a:xfrm>
            <a:off x="164592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37" name="Text 34"/>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38" name="Shape 3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9875520" y="3741725"/>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مُفَاعَلٌ</a:t>
            </a:r>
            <a:endParaRPr lang="ar-SA" sz="2400" dirty="0"/>
          </a:p>
        </p:txBody>
      </p:sp>
      <p:sp>
        <p:nvSpPr>
          <p:cNvPr id="42" name="Text 39"/>
          <p:cNvSpPr txBox="1"/>
          <p:nvPr/>
        </p:nvSpPr>
        <p:spPr>
          <a:xfrm>
            <a:off x="79552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مُفَاعِلٌ</a:t>
            </a:r>
            <a:endParaRPr lang="ar-SA" sz="2400" dirty="0"/>
          </a:p>
        </p:txBody>
      </p:sp>
      <p:sp>
        <p:nvSpPr>
          <p:cNvPr id="43" name="Text 40"/>
          <p:cNvSpPr txBox="1"/>
          <p:nvPr/>
        </p:nvSpPr>
        <p:spPr>
          <a:xfrm>
            <a:off x="57607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مُفَاعَلَةٌ</a:t>
            </a:r>
            <a:endParaRPr lang="ar-SA" sz="2400" dirty="0"/>
          </a:p>
        </p:txBody>
      </p:sp>
      <p:sp>
        <p:nvSpPr>
          <p:cNvPr id="44" name="Text 41"/>
          <p:cNvSpPr txBox="1"/>
          <p:nvPr/>
        </p:nvSpPr>
        <p:spPr>
          <a:xfrm>
            <a:off x="3657600" y="3741725"/>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يُفَاعِلُ</a:t>
            </a:r>
            <a:endParaRPr lang="ar-SA" sz="2400" dirty="0"/>
          </a:p>
        </p:txBody>
      </p:sp>
      <p:sp>
        <p:nvSpPr>
          <p:cNvPr id="45" name="Text 42"/>
          <p:cNvSpPr txBox="1"/>
          <p:nvPr/>
        </p:nvSpPr>
        <p:spPr>
          <a:xfrm>
            <a:off x="164592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فَاعَلَ</a:t>
            </a:r>
            <a:endParaRPr lang="ar-SA" sz="2400" dirty="0"/>
          </a:p>
        </p:txBody>
      </p:sp>
      <p:sp>
        <p:nvSpPr>
          <p:cNvPr id="46" name="Text 43"/>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III</a:t>
            </a:r>
            <a:endParaRPr lang="en-US" sz="1100" dirty="0"/>
          </a:p>
        </p:txBody>
      </p:sp>
      <p:sp>
        <p:nvSpPr>
          <p:cNvPr id="47" name="Shape 4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50" name="Text 47"/>
          <p:cNvSpPr txBox="1"/>
          <p:nvPr/>
        </p:nvSpPr>
        <p:spPr>
          <a:xfrm>
            <a:off x="9875520" y="4478731"/>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51" name="Text 48"/>
          <p:cNvSpPr txBox="1"/>
          <p:nvPr/>
        </p:nvSpPr>
        <p:spPr>
          <a:xfrm>
            <a:off x="79552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52" name="Text 49"/>
          <p:cNvSpPr txBox="1"/>
          <p:nvPr/>
        </p:nvSpPr>
        <p:spPr>
          <a:xfrm>
            <a:off x="57607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إِفْعَالٌ</a:t>
            </a:r>
            <a:endParaRPr lang="ar-SA" sz="2400" dirty="0"/>
          </a:p>
        </p:txBody>
      </p:sp>
      <p:sp>
        <p:nvSpPr>
          <p:cNvPr id="53" name="Text 50"/>
          <p:cNvSpPr txBox="1"/>
          <p:nvPr/>
        </p:nvSpPr>
        <p:spPr>
          <a:xfrm>
            <a:off x="3657600" y="4478731"/>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54" name="Text 51"/>
          <p:cNvSpPr txBox="1"/>
          <p:nvPr/>
        </p:nvSpPr>
        <p:spPr>
          <a:xfrm>
            <a:off x="164592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أَفْعَلَ</a:t>
            </a:r>
            <a:endParaRPr lang="ar-SA" sz="2400" dirty="0"/>
          </a:p>
        </p:txBody>
      </p:sp>
      <p:sp>
        <p:nvSpPr>
          <p:cNvPr id="55" name="Text 52"/>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875520" y="521573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مُتَفَعَّلٌ</a:t>
            </a:r>
            <a:endParaRPr lang="ar-SA" sz="2400" dirty="0"/>
          </a:p>
        </p:txBody>
      </p:sp>
      <p:sp>
        <p:nvSpPr>
          <p:cNvPr id="58" name="Text 55"/>
          <p:cNvSpPr txBox="1"/>
          <p:nvPr/>
        </p:nvSpPr>
        <p:spPr>
          <a:xfrm>
            <a:off x="79552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مُتَفَعِّلٌ</a:t>
            </a:r>
            <a:endParaRPr lang="ar-SA" sz="2400" dirty="0"/>
          </a:p>
        </p:txBody>
      </p:sp>
      <p:sp>
        <p:nvSpPr>
          <p:cNvPr id="59" name="Text 56"/>
          <p:cNvSpPr txBox="1"/>
          <p:nvPr/>
        </p:nvSpPr>
        <p:spPr>
          <a:xfrm>
            <a:off x="57607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تَفَعُّلٌ</a:t>
            </a:r>
            <a:endParaRPr lang="ar-SA" sz="2400" dirty="0"/>
          </a:p>
        </p:txBody>
      </p:sp>
      <p:sp>
        <p:nvSpPr>
          <p:cNvPr id="60" name="Text 57"/>
          <p:cNvSpPr txBox="1"/>
          <p:nvPr/>
        </p:nvSpPr>
        <p:spPr>
          <a:xfrm>
            <a:off x="3657600" y="521573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يَتَفَعَّلُ</a:t>
            </a:r>
            <a:endParaRPr lang="ar-SA" sz="2400" dirty="0"/>
          </a:p>
        </p:txBody>
      </p:sp>
      <p:sp>
        <p:nvSpPr>
          <p:cNvPr id="61" name="Text 58"/>
          <p:cNvSpPr txBox="1"/>
          <p:nvPr/>
        </p:nvSpPr>
        <p:spPr>
          <a:xfrm>
            <a:off x="164592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تَفَعَّلَ</a:t>
            </a:r>
            <a:endParaRPr lang="ar-SA" sz="2400" dirty="0"/>
          </a:p>
        </p:txBody>
      </p:sp>
      <p:sp>
        <p:nvSpPr>
          <p:cNvPr id="62" name="Text 59"/>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Form I yafʿulu is one common present; others are yafʿilu and yafʿalu. Form I verbal nouns vary — learn them individually. Forms II–IV present: yu-; Form V: ya-.</a:t>
            </a:r>
            <a:endParaRPr lang="en-US" sz="11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REFERENCE · PART 2 · FORMS VI–X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patterns — Forms VI to 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الْأَوْزَانُ مِنَ السَّادِسِ إِلَى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Affected</a:t>
            </a:r>
            <a:endParaRPr lang="en-US" sz="1100" dirty="0"/>
          </a:p>
        </p:txBody>
      </p:sp>
      <p:sp>
        <p:nvSpPr>
          <p:cNvPr id="17" name="Text 14"/>
          <p:cNvSpPr txBox="1"/>
          <p:nvPr/>
        </p:nvSpPr>
        <p:spPr>
          <a:xfrm>
            <a:off x="79369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5742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36393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16276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875520" y="2267712"/>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مُتَفَاعَلٌ</a:t>
            </a:r>
            <a:endParaRPr lang="ar-SA" sz="2400" dirty="0"/>
          </a:p>
        </p:txBody>
      </p:sp>
      <p:sp>
        <p:nvSpPr>
          <p:cNvPr id="24" name="Text 21"/>
          <p:cNvSpPr txBox="1"/>
          <p:nvPr/>
        </p:nvSpPr>
        <p:spPr>
          <a:xfrm>
            <a:off x="79552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مُتَفَاعِلٌ</a:t>
            </a:r>
            <a:endParaRPr lang="ar-SA" sz="2400" dirty="0"/>
          </a:p>
        </p:txBody>
      </p:sp>
      <p:sp>
        <p:nvSpPr>
          <p:cNvPr id="25" name="Text 22"/>
          <p:cNvSpPr txBox="1"/>
          <p:nvPr/>
        </p:nvSpPr>
        <p:spPr>
          <a:xfrm>
            <a:off x="57607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تَفَاعُلٌ</a:t>
            </a:r>
            <a:endParaRPr lang="ar-SA" sz="2400" dirty="0"/>
          </a:p>
        </p:txBody>
      </p:sp>
      <p:sp>
        <p:nvSpPr>
          <p:cNvPr id="26" name="Text 23"/>
          <p:cNvSpPr txBox="1"/>
          <p:nvPr/>
        </p:nvSpPr>
        <p:spPr>
          <a:xfrm>
            <a:off x="3657600" y="2267712"/>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يَتَفَاعَلُ</a:t>
            </a:r>
            <a:endParaRPr lang="ar-SA" sz="2400" dirty="0"/>
          </a:p>
        </p:txBody>
      </p:sp>
      <p:sp>
        <p:nvSpPr>
          <p:cNvPr id="27" name="Text 24"/>
          <p:cNvSpPr txBox="1"/>
          <p:nvPr/>
        </p:nvSpPr>
        <p:spPr>
          <a:xfrm>
            <a:off x="164592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تَفَاعَلَ</a:t>
            </a:r>
            <a:endParaRPr lang="ar-SA" sz="2400" dirty="0"/>
          </a:p>
        </p:txBody>
      </p:sp>
      <p:sp>
        <p:nvSpPr>
          <p:cNvPr id="28" name="Text 25"/>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79552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مُنْفَعِلٌ</a:t>
            </a:r>
            <a:endParaRPr lang="ar-SA" sz="2400" dirty="0"/>
          </a:p>
        </p:txBody>
      </p:sp>
      <p:sp>
        <p:nvSpPr>
          <p:cNvPr id="32" name="Text 29"/>
          <p:cNvSpPr txBox="1"/>
          <p:nvPr/>
        </p:nvSpPr>
        <p:spPr>
          <a:xfrm>
            <a:off x="57607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اِنْفِعَالٌ</a:t>
            </a:r>
            <a:endParaRPr lang="ar-SA" sz="2400" dirty="0"/>
          </a:p>
        </p:txBody>
      </p:sp>
      <p:sp>
        <p:nvSpPr>
          <p:cNvPr id="33" name="Text 30"/>
          <p:cNvSpPr txBox="1"/>
          <p:nvPr/>
        </p:nvSpPr>
        <p:spPr>
          <a:xfrm>
            <a:off x="3657600" y="300471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يَنْفَعِلُ</a:t>
            </a:r>
            <a:endParaRPr lang="ar-SA" sz="2400" dirty="0"/>
          </a:p>
        </p:txBody>
      </p:sp>
      <p:sp>
        <p:nvSpPr>
          <p:cNvPr id="34" name="Text 31"/>
          <p:cNvSpPr txBox="1"/>
          <p:nvPr/>
        </p:nvSpPr>
        <p:spPr>
          <a:xfrm>
            <a:off x="164592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اِنْفَعَلَ</a:t>
            </a:r>
            <a:endParaRPr lang="ar-SA" sz="2400" dirty="0"/>
          </a:p>
        </p:txBody>
      </p:sp>
      <p:sp>
        <p:nvSpPr>
          <p:cNvPr id="35" name="Text 32"/>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a:t>
            </a:r>
            <a:endParaRPr lang="en-US" sz="110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9875520" y="3741725"/>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مُفْتَعَلٌ</a:t>
            </a:r>
            <a:endParaRPr lang="ar-SA" sz="2400" dirty="0"/>
          </a:p>
        </p:txBody>
      </p:sp>
      <p:sp>
        <p:nvSpPr>
          <p:cNvPr id="38" name="Text 35"/>
          <p:cNvSpPr txBox="1"/>
          <p:nvPr/>
        </p:nvSpPr>
        <p:spPr>
          <a:xfrm>
            <a:off x="79552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مُفْتَعِلٌ</a:t>
            </a:r>
            <a:endParaRPr lang="ar-SA" sz="2400" dirty="0"/>
          </a:p>
        </p:txBody>
      </p:sp>
      <p:sp>
        <p:nvSpPr>
          <p:cNvPr id="39" name="Text 36"/>
          <p:cNvSpPr txBox="1"/>
          <p:nvPr/>
        </p:nvSpPr>
        <p:spPr>
          <a:xfrm>
            <a:off x="57607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اِفْتِعَالٌ</a:t>
            </a:r>
            <a:endParaRPr lang="ar-SA" sz="2400" dirty="0"/>
          </a:p>
        </p:txBody>
      </p:sp>
      <p:sp>
        <p:nvSpPr>
          <p:cNvPr id="40" name="Text 37"/>
          <p:cNvSpPr txBox="1"/>
          <p:nvPr/>
        </p:nvSpPr>
        <p:spPr>
          <a:xfrm>
            <a:off x="3657600" y="3741725"/>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يَفْتَعِلُ</a:t>
            </a:r>
            <a:endParaRPr lang="ar-SA" sz="2400" dirty="0"/>
          </a:p>
        </p:txBody>
      </p:sp>
      <p:sp>
        <p:nvSpPr>
          <p:cNvPr id="41" name="Text 38"/>
          <p:cNvSpPr txBox="1"/>
          <p:nvPr/>
        </p:nvSpPr>
        <p:spPr>
          <a:xfrm>
            <a:off x="164592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اِفْتَعَلَ</a:t>
            </a:r>
            <a:endParaRPr lang="ar-SA" sz="2400" dirty="0"/>
          </a:p>
        </p:txBody>
      </p:sp>
      <p:sp>
        <p:nvSpPr>
          <p:cNvPr id="42" name="Text 39"/>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VIII</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7" name="Text 44"/>
          <p:cNvSpPr txBox="1"/>
          <p:nvPr/>
        </p:nvSpPr>
        <p:spPr>
          <a:xfrm>
            <a:off x="79552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48" name="Text 45"/>
          <p:cNvSpPr txBox="1"/>
          <p:nvPr/>
        </p:nvSpPr>
        <p:spPr>
          <a:xfrm>
            <a:off x="57607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اِفْعِلَالٌ</a:t>
            </a:r>
            <a:endParaRPr lang="ar-SA" sz="2400" dirty="0"/>
          </a:p>
        </p:txBody>
      </p:sp>
      <p:sp>
        <p:nvSpPr>
          <p:cNvPr id="49" name="Text 46"/>
          <p:cNvSpPr txBox="1"/>
          <p:nvPr/>
        </p:nvSpPr>
        <p:spPr>
          <a:xfrm>
            <a:off x="3657600" y="4478731"/>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50" name="Text 47"/>
          <p:cNvSpPr txBox="1"/>
          <p:nvPr/>
        </p:nvSpPr>
        <p:spPr>
          <a:xfrm>
            <a:off x="164592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اِفْعَلَّ</a:t>
            </a:r>
            <a:endParaRPr lang="ar-SA" sz="2400" dirty="0"/>
          </a:p>
        </p:txBody>
      </p:sp>
      <p:sp>
        <p:nvSpPr>
          <p:cNvPr id="51" name="Text 48"/>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IX</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875520" y="521573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مُسْتَفْعَلٌ</a:t>
            </a:r>
            <a:endParaRPr lang="ar-SA" sz="2400" dirty="0"/>
          </a:p>
        </p:txBody>
      </p:sp>
      <p:sp>
        <p:nvSpPr>
          <p:cNvPr id="54" name="Text 51"/>
          <p:cNvSpPr txBox="1"/>
          <p:nvPr/>
        </p:nvSpPr>
        <p:spPr>
          <a:xfrm>
            <a:off x="79552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مُسْتَفْعِلٌ</a:t>
            </a:r>
            <a:endParaRPr lang="ar-SA" sz="2400" dirty="0"/>
          </a:p>
        </p:txBody>
      </p:sp>
      <p:sp>
        <p:nvSpPr>
          <p:cNvPr id="55" name="Text 52"/>
          <p:cNvSpPr txBox="1"/>
          <p:nvPr/>
        </p:nvSpPr>
        <p:spPr>
          <a:xfrm>
            <a:off x="57607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اِسْتِفْعَالٌ</a:t>
            </a:r>
            <a:endParaRPr lang="ar-SA" sz="2400" dirty="0"/>
          </a:p>
        </p:txBody>
      </p:sp>
      <p:sp>
        <p:nvSpPr>
          <p:cNvPr id="56" name="Text 53"/>
          <p:cNvSpPr txBox="1"/>
          <p:nvPr/>
        </p:nvSpPr>
        <p:spPr>
          <a:xfrm>
            <a:off x="3657600" y="521573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يَسْتَفْعِلُ</a:t>
            </a:r>
            <a:endParaRPr lang="ar-SA" sz="2400" dirty="0"/>
          </a:p>
        </p:txBody>
      </p:sp>
      <p:sp>
        <p:nvSpPr>
          <p:cNvPr id="57" name="Text 54"/>
          <p:cNvSpPr txBox="1"/>
          <p:nvPr/>
        </p:nvSpPr>
        <p:spPr>
          <a:xfrm>
            <a:off x="164592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اِسْتَفْعَلَ</a:t>
            </a:r>
            <a:endParaRPr lang="ar-SA" sz="2400" dirty="0"/>
          </a:p>
        </p:txBody>
      </p:sp>
      <p:sp>
        <p:nvSpPr>
          <p:cNvPr id="58" name="Text 5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a:t>
            </a:r>
            <a:endParaRPr lang="en-US" sz="1100" dirty="0"/>
          </a:p>
        </p:txBody>
      </p:sp>
      <p:sp>
        <p:nvSpPr>
          <p:cNvPr id="59" name="Shape 5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passive participles are not equally natural for every verb; intransitive verbs (VII, IX) often have none. A dash = no ordinary form for this model. Derived doer = mu- + kasra; affected = mu- + fatḥa.</a:t>
            </a:r>
            <a:endParaRPr lang="en-US" sz="11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REFERENCE · PART 3 · IMPORTANT EXCEPTIONS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real verbs bend the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اسْتِثْنَاءَاتٌ مُهِمَّةٌ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remember</a:t>
            </a:r>
            <a:endParaRPr lang="en-US" sz="1100" dirty="0"/>
          </a:p>
        </p:txBody>
      </p:sp>
      <p:sp>
        <p:nvSpPr>
          <p:cNvPr id="17" name="Text 14"/>
          <p:cNvSpPr txBox="1"/>
          <p:nvPr/>
        </p:nvSpPr>
        <p:spPr>
          <a:xfrm>
            <a:off x="32735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Point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 each past–present pair</a:t>
            </a:r>
            <a:endParaRPr lang="en-US" sz="1100" dirty="0"/>
          </a:p>
        </p:txBody>
      </p:sp>
      <p:sp>
        <p:nvSpPr>
          <p:cNvPr id="21" name="Text 18"/>
          <p:cNvSpPr txBox="1"/>
          <p:nvPr/>
        </p:nvSpPr>
        <p:spPr>
          <a:xfrm>
            <a:off x="329184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 · يَفْهَمُ · يَجْلِسُ</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 vowels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letters contract or change</a:t>
            </a:r>
            <a:endParaRPr lang="en-US" sz="1100" dirty="0"/>
          </a:p>
        </p:txBody>
      </p:sp>
      <p:sp>
        <p:nvSpPr>
          <p:cNvPr id="27" name="Text 24"/>
          <p:cNvSpPr txBox="1"/>
          <p:nvPr/>
        </p:nvSpPr>
        <p:spPr>
          <a:xfrm>
            <a:off x="329184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قَالَ · يَقُولُ ‖ اِخْتَارَ · يَخْتَارُ</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 hamzated</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 + t → tt (root w-ṣ-l)</a:t>
            </a:r>
            <a:endParaRPr lang="en-US" sz="1100" dirty="0"/>
          </a:p>
        </p:txBody>
      </p:sp>
      <p:sp>
        <p:nvSpPr>
          <p:cNvPr id="31" name="Text 28"/>
          <p:cNvSpPr txBox="1"/>
          <p:nvPr/>
        </p:nvSpPr>
        <p:spPr>
          <a:xfrm>
            <a:off x="329184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اِتَّصَلَ · يَتَّصِلُ</a:t>
            </a:r>
            <a:endParaRPr lang="ar-SA" sz="2400" dirty="0"/>
          </a:p>
        </p:txBody>
      </p:sp>
      <p:sp>
        <p:nvSpPr>
          <p:cNvPr id="32" name="Text 29"/>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VIII assimilation</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different constructions</a:t>
            </a:r>
            <a:endParaRPr lang="en-US" sz="1100" dirty="0"/>
          </a:p>
        </p:txBody>
      </p:sp>
      <p:sp>
        <p:nvSpPr>
          <p:cNvPr id="35" name="Text 32"/>
          <p:cNvSpPr txBox="1"/>
          <p:nvPr/>
        </p:nvSpPr>
        <p:spPr>
          <a:xfrm>
            <a:off x="329184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اِنْكَسَرَ الْكُوبُ ‖ كُسِرَ الْكُوبُ</a:t>
            </a:r>
            <a:endParaRPr lang="ar-SA" sz="2400" dirty="0"/>
          </a:p>
        </p:txBody>
      </p:sp>
      <p:sp>
        <p:nvSpPr>
          <p:cNvPr id="36" name="Text 33"/>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VII vs passive</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 the present stem (GM-V-07)</a:t>
            </a:r>
            <a:endParaRPr lang="en-US" sz="1100" dirty="0"/>
          </a:p>
        </p:txBody>
      </p:sp>
      <p:sp>
        <p:nvSpPr>
          <p:cNvPr id="41" name="Text 38"/>
          <p:cNvSpPr txBox="1"/>
          <p:nvPr/>
        </p:nvSpPr>
        <p:spPr>
          <a:xfrm>
            <a:off x="329184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اُكْتُبْ · عَلِّمْ · أَرْسِلْ · اِسْتَعْمِلْ</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imperatives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regular patterns are a starting point, not a substitute for lexical knowledge. Check the actual dictionary entry before using a derived noun.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family normally has the pattern tafaʿʿala?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family commonly uses the verbal noun istifʿāl?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VII</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III</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 II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تَعْلِيمٌ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Mutaʿallim (learner)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doer (active participle)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verbal noun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passive participle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family normally has the pattern tafaʿʿala?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VI</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 V</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 adds ta- and doubles the middle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family commonly uses the verbal noun istifʿāl?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 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VII</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III</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common Form X verbal-noun pattern.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 II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تَعْلِيمٌ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tafʿīl.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Mutaʿallim (learner)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doer (active participle)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verbal noun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passive participle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 + kasra.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analyse an unknown word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الْمُسْتَخْدِمُونَ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Remove al- and -ūna.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Pattern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مُسْتَفْعِلٌ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 + sta- +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خ د 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Serve / 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 فَاعِلٍ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 X doer: users.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ROOT LETTERS</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PATTERN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جَذْرُ «</a:t>
            </a:r>
            <a:pPr rtl="1" algn="r" indent="0" marL="0">
              <a:buNone/>
            </a:pPr>
            <a:r>
              <a:rPr lang="ar-SA" altLang="en-US" sz="2450" b="1" dirty="0">
                <a:solidFill>
                  <a:srgbClr val="0E7C86"/>
                </a:solidFill>
                <a:latin typeface="Amiri" pitchFamily="34" charset="0"/>
                <a:ea typeface="Amiri" pitchFamily="34" charset="-122"/>
                <a:cs typeface="Amiri" pitchFamily="34" charset="-120"/>
              </a:rPr>
              <a:t>مُسْتَخْدِمٍ</a:t>
            </a:r>
            <a:pPr rtl="1" algn="r" indent="0" marL="0">
              <a:buNone/>
            </a:pPr>
            <a:r>
              <a:rPr lang="ar-SA" altLang="en-US" sz="2450" b="1" dirty="0">
                <a:solidFill>
                  <a:srgbClr val="1B3B6F"/>
                </a:solidFill>
                <a:latin typeface="Amiri" pitchFamily="34" charset="0"/>
                <a:ea typeface="Amiri" pitchFamily="34" charset="-122"/>
                <a:cs typeface="Amiri" pitchFamily="34" charset="-120"/>
              </a:rPr>
              <a:t>» هُوَ خ د م، وَوَزْنُهُ </a:t>
            </a:r>
            <a:pPr rtl="1" algn="r" indent="0" marL="0">
              <a:buNone/>
            </a:pPr>
            <a:r>
              <a:rPr lang="ar-SA" altLang="en-US" sz="2450" b="1" dirty="0">
                <a:solidFill>
                  <a:srgbClr val="D6336C"/>
                </a:solidFill>
                <a:latin typeface="Amiri" pitchFamily="34" charset="0"/>
                <a:ea typeface="Amiri" pitchFamily="34" charset="-122"/>
                <a:cs typeface="Amiri" pitchFamily="34" charset="-120"/>
              </a:rPr>
              <a:t>مُسْتَفْعِلٌ</a:t>
            </a:r>
            <a:pPr rtl="1" algn="r" indent="0" marL="0">
              <a:buNone/>
            </a:pPr>
            <a:r>
              <a:rPr lang="ar-SA" altLang="en-US" sz="2450" b="1" dirty="0">
                <a:solidFill>
                  <a:srgbClr val="1B3B6F"/>
                </a:solidFill>
                <a:latin typeface="Amiri" pitchFamily="34" charset="0"/>
                <a:ea typeface="Amiri" pitchFamily="34" charset="-122"/>
                <a:cs typeface="Amiri" pitchFamily="34" charset="-120"/>
              </a:rPr>
              <a:t>: اسْمُ فَاعِلٍ مِنَ الْوَزْنِ الْعَاشِرِ «اِسْتَخْدَمَ»، أَيِ الَّذِي يَسْتَخْدِمُ.</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root of mustakhdim is kh-d-m, and its pattern is mustafʿil: the active participle of Form X istakhdama — the one who uses (a user).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الْمُعَلِّمُ يُعَلِّمُ، وَالْمُتَعَلِّمُ يَتَعَلَّمُ.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 teaches, and the learner learns.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II and V.</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الِاجْتِمَاعُ فِي الْقَاعَةِ.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meeting is in the hall.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VIII verbal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الْكُتُبُ مُسْتَعْمَلَةٌ.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These books are used (second-hand).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X affected.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اِتَّصَلْتُ بِأُمِّي.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called my mother.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VIII assimilation.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ANALYSE THE WORD · ROOT → PATTERN → FORM → TYPE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 detectives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مُحَلِّلُو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5102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9" name="Text 16"/>
          <p:cNvSpPr txBox="1"/>
          <p:nvPr/>
        </p:nvSpPr>
        <p:spPr>
          <a:xfrm>
            <a:off x="30906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Root</a:t>
            </a:r>
            <a:endParaRPr lang="en-US" sz="1100" dirty="0"/>
          </a:p>
        </p:txBody>
      </p:sp>
      <p:sp>
        <p:nvSpPr>
          <p:cNvPr id="20" name="Text 17"/>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teacher</a:t>
            </a:r>
            <a:endParaRPr lang="en-US" sz="1100" dirty="0"/>
          </a:p>
        </p:txBody>
      </p:sp>
      <p:sp>
        <p:nvSpPr>
          <p:cNvPr id="23" name="Text 20"/>
          <p:cNvSpPr txBox="1"/>
          <p:nvPr/>
        </p:nvSpPr>
        <p:spPr>
          <a:xfrm>
            <a:off x="66019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a:t>
            </a:r>
            <a:endParaRPr lang="en-US" sz="1100" dirty="0"/>
          </a:p>
        </p:txBody>
      </p:sp>
      <p:sp>
        <p:nvSpPr>
          <p:cNvPr id="24" name="Text 21"/>
          <p:cNvSpPr txBox="1"/>
          <p:nvPr/>
        </p:nvSpPr>
        <p:spPr>
          <a:xfrm>
            <a:off x="513892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25" name="Text 22"/>
          <p:cNvSpPr txBox="1"/>
          <p:nvPr/>
        </p:nvSpPr>
        <p:spPr>
          <a:xfrm>
            <a:off x="31089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 ل م</a:t>
            </a:r>
            <a:endParaRPr lang="ar-SA" sz="2400" dirty="0"/>
          </a:p>
        </p:txBody>
      </p:sp>
      <p:sp>
        <p:nvSpPr>
          <p:cNvPr id="26" name="Text 23"/>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a:t>
            </a:r>
            <a:endParaRPr lang="ar-SA" sz="26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meeting</a:t>
            </a:r>
            <a:endParaRPr lang="en-US" sz="1100" dirty="0"/>
          </a:p>
        </p:txBody>
      </p:sp>
      <p:sp>
        <p:nvSpPr>
          <p:cNvPr id="31" name="Text 28"/>
          <p:cNvSpPr txBox="1"/>
          <p:nvPr/>
        </p:nvSpPr>
        <p:spPr>
          <a:xfrm>
            <a:off x="66019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verbal noun</a:t>
            </a:r>
            <a:endParaRPr lang="en-US" sz="1100" dirty="0"/>
          </a:p>
        </p:txBody>
      </p:sp>
      <p:sp>
        <p:nvSpPr>
          <p:cNvPr id="32" name="Text 29"/>
          <p:cNvSpPr txBox="1"/>
          <p:nvPr/>
        </p:nvSpPr>
        <p:spPr>
          <a:xfrm>
            <a:off x="513892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VIII</a:t>
            </a:r>
            <a:endParaRPr lang="en-US" sz="1100" dirty="0"/>
          </a:p>
        </p:txBody>
      </p:sp>
      <p:sp>
        <p:nvSpPr>
          <p:cNvPr id="33" name="Text 30"/>
          <p:cNvSpPr txBox="1"/>
          <p:nvPr/>
        </p:nvSpPr>
        <p:spPr>
          <a:xfrm>
            <a:off x="31089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 م ع</a:t>
            </a:r>
            <a:endParaRPr lang="ar-SA" sz="2400" dirty="0"/>
          </a:p>
        </p:txBody>
      </p:sp>
      <p:sp>
        <p:nvSpPr>
          <p:cNvPr id="34" name="Text 31"/>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اِجْتِمَاعٌ</a:t>
            </a:r>
            <a:endParaRPr lang="ar-SA" sz="26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39" name="Text 36"/>
          <p:cNvSpPr txBox="1"/>
          <p:nvPr/>
        </p:nvSpPr>
        <p:spPr>
          <a:xfrm>
            <a:off x="66019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verbal noun</a:t>
            </a:r>
            <a:endParaRPr lang="en-US" sz="1100" dirty="0"/>
          </a:p>
        </p:txBody>
      </p:sp>
      <p:sp>
        <p:nvSpPr>
          <p:cNvPr id="40" name="Text 37"/>
          <p:cNvSpPr txBox="1"/>
          <p:nvPr/>
        </p:nvSpPr>
        <p:spPr>
          <a:xfrm>
            <a:off x="513892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a:t>
            </a:r>
            <a:endParaRPr lang="en-US" sz="1100" dirty="0"/>
          </a:p>
        </p:txBody>
      </p:sp>
      <p:sp>
        <p:nvSpPr>
          <p:cNvPr id="41" name="Text 38"/>
          <p:cNvSpPr txBox="1"/>
          <p:nvPr/>
        </p:nvSpPr>
        <p:spPr>
          <a:xfrm>
            <a:off x="31089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 و ن</a:t>
            </a:r>
            <a:endParaRPr lang="ar-SA" sz="2400" dirty="0"/>
          </a:p>
        </p:txBody>
      </p:sp>
      <p:sp>
        <p:nvSpPr>
          <p:cNvPr id="42" name="Text 39"/>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تَعَاوُنٌ</a:t>
            </a:r>
            <a:endParaRPr lang="ar-SA" sz="26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user</a:t>
            </a:r>
            <a:endParaRPr lang="en-US" sz="1100" dirty="0"/>
          </a:p>
        </p:txBody>
      </p:sp>
      <p:sp>
        <p:nvSpPr>
          <p:cNvPr id="47" name="Text 44"/>
          <p:cNvSpPr txBox="1"/>
          <p:nvPr/>
        </p:nvSpPr>
        <p:spPr>
          <a:xfrm>
            <a:off x="66019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a:t>
            </a:r>
            <a:endParaRPr lang="en-US" sz="1100" dirty="0"/>
          </a:p>
        </p:txBody>
      </p:sp>
      <p:sp>
        <p:nvSpPr>
          <p:cNvPr id="48" name="Text 45"/>
          <p:cNvSpPr txBox="1"/>
          <p:nvPr/>
        </p:nvSpPr>
        <p:spPr>
          <a:xfrm>
            <a:off x="513892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a:t>
            </a:r>
            <a:endParaRPr lang="en-US" sz="1100" dirty="0"/>
          </a:p>
        </p:txBody>
      </p:sp>
      <p:sp>
        <p:nvSpPr>
          <p:cNvPr id="49" name="Text 46"/>
          <p:cNvSpPr txBox="1"/>
          <p:nvPr/>
        </p:nvSpPr>
        <p:spPr>
          <a:xfrm>
            <a:off x="31089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 د م</a:t>
            </a:r>
            <a:endParaRPr lang="ar-SA" sz="2400" dirty="0"/>
          </a:p>
        </p:txBody>
      </p:sp>
      <p:sp>
        <p:nvSpPr>
          <p:cNvPr id="50" name="Text 47"/>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مُسْتَخْدِمٌ</a:t>
            </a:r>
            <a:endParaRPr lang="ar-SA" sz="2600" dirty="0"/>
          </a:p>
        </p:txBody>
      </p:sp>
      <p:sp>
        <p:nvSpPr>
          <p:cNvPr id="51" name="Shape 4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2" name="Text 4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sending</a:t>
            </a:r>
            <a:endParaRPr lang="en-US" sz="1100" dirty="0"/>
          </a:p>
        </p:txBody>
      </p:sp>
      <p:sp>
        <p:nvSpPr>
          <p:cNvPr id="53" name="Text 50"/>
          <p:cNvSpPr txBox="1"/>
          <p:nvPr/>
        </p:nvSpPr>
        <p:spPr>
          <a:xfrm>
            <a:off x="66019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verbal noun</a:t>
            </a:r>
            <a:endParaRPr lang="en-US" sz="1100" dirty="0"/>
          </a:p>
        </p:txBody>
      </p:sp>
      <p:sp>
        <p:nvSpPr>
          <p:cNvPr id="54" name="Text 51"/>
          <p:cNvSpPr txBox="1"/>
          <p:nvPr/>
        </p:nvSpPr>
        <p:spPr>
          <a:xfrm>
            <a:off x="513892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55" name="Text 52"/>
          <p:cNvSpPr txBox="1"/>
          <p:nvPr/>
        </p:nvSpPr>
        <p:spPr>
          <a:xfrm>
            <a:off x="31089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 س ل</a:t>
            </a:r>
            <a:endParaRPr lang="ar-SA" sz="2400" dirty="0"/>
          </a:p>
        </p:txBody>
      </p:sp>
      <p:sp>
        <p:nvSpPr>
          <p:cNvPr id="56" name="Text 53"/>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إِرْسَالٌ</a:t>
            </a:r>
            <a:endParaRPr lang="ar-SA" sz="26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participant</a:t>
            </a:r>
            <a:endParaRPr lang="en-US" sz="1100" dirty="0"/>
          </a:p>
        </p:txBody>
      </p:sp>
      <p:sp>
        <p:nvSpPr>
          <p:cNvPr id="59" name="Text 56"/>
          <p:cNvSpPr txBox="1"/>
          <p:nvPr/>
        </p:nvSpPr>
        <p:spPr>
          <a:xfrm>
            <a:off x="66019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a:t>
            </a:r>
            <a:endParaRPr lang="en-US" sz="1100" dirty="0"/>
          </a:p>
        </p:txBody>
      </p:sp>
      <p:sp>
        <p:nvSpPr>
          <p:cNvPr id="60" name="Text 57"/>
          <p:cNvSpPr txBox="1"/>
          <p:nvPr/>
        </p:nvSpPr>
        <p:spPr>
          <a:xfrm>
            <a:off x="51389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III</a:t>
            </a:r>
            <a:endParaRPr lang="en-US" sz="1100" dirty="0"/>
          </a:p>
        </p:txBody>
      </p:sp>
      <p:sp>
        <p:nvSpPr>
          <p:cNvPr id="61" name="Text 58"/>
          <p:cNvSpPr txBox="1"/>
          <p:nvPr/>
        </p:nvSpPr>
        <p:spPr>
          <a:xfrm>
            <a:off x="31089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 ر ك</a:t>
            </a:r>
            <a:endParaRPr lang="ar-SA" sz="2400" dirty="0"/>
          </a:p>
        </p:txBody>
      </p:sp>
      <p:sp>
        <p:nvSpPr>
          <p:cNvPr id="62" name="Text 59"/>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مُشَارِكٌ</a:t>
            </a:r>
            <a:endParaRPr lang="ar-SA" sz="26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reference tables: match the word to a template (mufaʿʿil, iftiʿāl, tafāʿul …), then read off the form.</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ACTION, DOER OR AFFECTED?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kind of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مَصْدَرٌ أَمْ فَاعِلٌ أَمْ 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تَعَاوُنٌ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مُسْتَخْدِمٌ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مُرْسَلٌ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مُسْتَعْمَلٌ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Action (verbal noun)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Affected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Action (verbal noun)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تَعَاوُنٌ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مُتَعَلِّمٌ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مُسْتَخْدِمٌ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Affected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مُرْسَلٌ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مُسْتَعْمَلٌ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مُتَعَلَّمٌ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Kasra or fatḥa: doer or affected?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شَارَكَ · يَشَارِكُ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forms take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اِوْتَصَلْتُ بِأُمِّي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w + 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مُتَعَلَّمٌ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مُتَعَلِّمٌ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doer has kasra before the last letter.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شَارَكَ · يَشَارِكُ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شَارَكَ · يُشَارِكُ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Forms II–IV take yu- in the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اِوْتَصَلْتُ بِأُمِّي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اِتَّصَلْتُ بِأُمِّي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VIII of w-ṣ-l: w + t merge into tt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SELF-CHECK ITEM AND TEACHER-WRITTEN ANALYSIS QUESTIONS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 verbal nouns are completely predictable.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forms have equally common passive participles.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VII is not the ordinary grammatical passive.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the verbal noun </a:t>
            </a:r>
            <a:pPr algn="l" indent="0" marL="0">
              <a:buNone/>
            </a:pPr>
            <a:r>
              <a:rPr lang="ar-SA" altLang="en-US" sz="1650" b="1" dirty="0">
                <a:solidFill>
                  <a:srgbClr val="1B3B6F"/>
                </a:solidFill>
                <a:latin typeface="Amiri" pitchFamily="34" charset="0"/>
                <a:ea typeface="Amiri" pitchFamily="34" charset="-122"/>
                <a:cs typeface="Amiri" pitchFamily="34" charset="-120"/>
              </a:rPr>
              <a:t>اِنْقِطَاعٌ</a:t>
            </a:r>
            <a:pPr algn="l" indent="0" marL="0">
              <a:buNone/>
            </a:pPr>
            <a:r>
              <a:rPr lang="en-US" sz="1250" b="1" dirty="0">
                <a:solidFill>
                  <a:srgbClr val="1B3B6F"/>
                </a:solidFill>
                <a:latin typeface="Calibri" pitchFamily="34" charset="0"/>
                <a:ea typeface="Calibri" pitchFamily="34" charset="-122"/>
                <a:cs typeface="Calibri" pitchFamily="34" charset="-120"/>
              </a:rPr>
              <a:t> from?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VIII</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VII</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X</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Form X affected participle of </a:t>
            </a:r>
            <a:pPr algn="l" indent="0" marL="0">
              <a:buNone/>
            </a:pPr>
            <a:r>
              <a:rPr lang="ar-SA" altLang="en-US" sz="1650" b="1" dirty="0">
                <a:solidFill>
                  <a:srgbClr val="1B3B6F"/>
                </a:solidFill>
                <a:latin typeface="Amiri" pitchFamily="34" charset="0"/>
                <a:ea typeface="Amiri" pitchFamily="34" charset="-122"/>
                <a:cs typeface="Amiri" pitchFamily="34" charset="-120"/>
              </a:rPr>
              <a:t>اِسْتَعْمَلَ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مُسْتَعْمَلٌ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present has yu-?</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يَسْتَعْمِلُ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يُرْسِلُ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 verbal nouns are completely predictable.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forms have equally common passive participles.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 VII is not the ordinary grammatical passive.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Morphology helps recognition, but usage and transitivity matter.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the verbal noun </a:t>
            </a:r>
            <a:pPr algn="l" indent="0" marL="0">
              <a:buNone/>
            </a:pPr>
            <a:r>
              <a:rPr lang="ar-SA" altLang="en-US" sz="1650" b="1" dirty="0">
                <a:solidFill>
                  <a:srgbClr val="1B3B6F"/>
                </a:solidFill>
                <a:latin typeface="Amiri" pitchFamily="34" charset="0"/>
                <a:ea typeface="Amiri" pitchFamily="34" charset="-122"/>
                <a:cs typeface="Amiri" pitchFamily="34" charset="-120"/>
              </a:rPr>
              <a:t>اِنْقِطَاعٌ</a:t>
            </a:r>
            <a:pPr algn="l" indent="0" marL="0">
              <a:buNone/>
            </a:pPr>
            <a:r>
              <a:rPr lang="en-US" sz="1250" b="1" dirty="0">
                <a:solidFill>
                  <a:srgbClr val="1B3B6F"/>
                </a:solidFill>
                <a:latin typeface="Calibri" pitchFamily="34" charset="0"/>
                <a:ea typeface="Calibri" pitchFamily="34" charset="-122"/>
                <a:cs typeface="Calibri" pitchFamily="34" charset="-120"/>
              </a:rPr>
              <a:t> from?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VIII</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VII</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X</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infiʿāl.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Form X affected participle of </a:t>
            </a:r>
            <a:pPr algn="l" indent="0" marL="0">
              <a:buNone/>
            </a:pPr>
            <a:r>
              <a:rPr lang="ar-SA" altLang="en-US" sz="1650" b="1" dirty="0">
                <a:solidFill>
                  <a:srgbClr val="1B3B6F"/>
                </a:solidFill>
                <a:latin typeface="Amiri" pitchFamily="34" charset="0"/>
                <a:ea typeface="Amiri" pitchFamily="34" charset="-122"/>
                <a:cs typeface="Amiri" pitchFamily="34" charset="-120"/>
              </a:rPr>
              <a:t>اِسْتَعْمَلَ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مُسْتَعْمِلٌ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مُسْتَعْمَلٌ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اِسْتِعْمَالٌ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 + fatḥa.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present has yu-?</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يَسْتَعْمِلُ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يُرْسِلُ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IV.</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MORPHOLOGY DETECTIVE TEXT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school open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أَعْلَنَتِ الْمَدْرَسَةُ عَنْ يَوْمٍ مَفْتُوحٍ. اِسْتَقْبَلَ الْمُعَلِّمُونَ الزُّوَّارَ، وَشَارَكَ الطُّلَّابُ فِي تَقْدِيمِ الْمَشَارِيعِ. تَعَاوَنَتِ الْمَجْمُوعَاتُ، وَاجْتَمَعَ الْآبَاءُ فِي الْقَاعَةِ. اِسْتَعْمَلْنَا الْحَوَاسِيبَ لِعَرْضِ الصُّوَرِ، وَتَعَلَّمَ الْجَمِيعُ شَيْئًا جَدِيدًا. فِي النِّهَايَةِ اِنْصَرَفَ الضُّيُوفُ سُعَدَاءَ.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مَفْتُوحٍ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open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تَقْدِيمِ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presenting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لِعَرْضِ</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display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سُعَدَاءَ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happy (pl.)</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اِنْصَرَفَ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II verbal noun?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تَقْدِيمِ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اِنْصَرَفَ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I passive participle?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مَفْتُوحٍ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الْمَشَارِيعِ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اِجْتَمَعَ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اِسْتَقْبَلَ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اِنْصَرَفَ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 + q-b-l.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II verbal noun?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تَعَاوَنَتِ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تَقْدِيمِ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tafʿīl.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اِنْصَرَفَ</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اِسْتَعْمَلْنَا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 before the root.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I passive participle?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مَفْتُوحٍ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الْمَشَارِيعِ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mafʿūl.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explain a word to a partner</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أَيِّ وَزْنٍ «تَعَلَّمَ»؟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مَصْدَرُ «اِجْتَمَعَ»؟ وَمَا اسْمُ الْفَاعِلِ مِنْ «عَلَّمَ»؟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حَلِّلْ كَلِمَةَ «مُسْتَقْبَلٌ»: الْجَذْرُ، وَالْوَزْنُ، وَالْمَعْنَى.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«تَعَلَّمَ» مِنَ الْوَزْنِ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مَصْدَرُ «اِجْتَمَعَ» ___ ، وَاسْمُ الْفَاعِلِ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الْجَذْرُ ___ ، وَالْوَزْنُ ___ ، وَالْمَعْنَى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جَذْرُ «مُشَارِكَةٌ»؟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root of mushārika?</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جَذْرُهَا ش ر ك، وَوَزْنُهَا مُفَاعِلَةٌ. هِيَ اسْمُ فَاعِلٍ مِنَ الْوَزْنِ الثَّالِثِ «شَارَكَ»، وَمَعْنَاهَا: الَّتِي تُشَارِكُ.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Its root is sh-r-k and its pattern mufāʿila. It is the active participle of Form III shāraka, meaning a female participant.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the form of ten verbs from the unit.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reference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For five verbs, give the verbal noun and the doer.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tafʿīl, mufāʿala, iftiʿāl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root map</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One root across five forms with nouns, each in a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e.g. ʿ-l-m or kh-d-m.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 الْفَاعِلِ مِنْ «______» هُوَ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doer of …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اسْمُ فَاعِلٍ / مَصْدَرٌ.</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 doer / an action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الْجَذْرِ ______ عِنْدَنَا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From the root … we have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مَعْنَى هَذِهِ الْكَلِمَةِ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word means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مِنَ الْوَزْنِ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from Form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جَذْرُ «______» هُوَ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root of …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مُضَارِعُ «______» هُوَ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present of …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مَصْدَرُ «______» هُوَ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verbal noun of …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الْوَزْنُ الْأَوَّلُ  ·  الثَّانِي  ·  الثَّالِثُ  ·  الرَّابِعُ  ·  الْخَامِسُ  ·  السَّادِسُ  ·  السَّابِعُ  ·  الثَّامِنُ  ·  الْعَاشِرُ  ·  مَصْدَرٌ  ·  اسْمُ فَاعِلٍ  ·  اسْمُ مَفْعُولٍ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Build a root map: one root across five forms, with a verbal noun and a participle, each in a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Root letters written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forms, each labelled with its number.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Past and present for each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nouns (verbal noun / participle) named correctly.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per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نَفْسِ الْجَذْرِ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the same root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وَزْنِ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pattern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 فَاعِلٍ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active participle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مَصْدَرٌ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verbal noun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يَعْنِي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means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 فَـ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خَرِيطَةُ الْجَذْرِ ع ل م: «عَلِمَ · يَعْلَمُ» مِنَ الْوَزْنِ الْأَوَّلِ، وَمَصْدَرُهُ «عِلْمٌ». «عَلَّمَ · يُعَلِّمُ» مِنَ الْوَزْنِ الثَّانِي، وَاسْمُ الْفَاعِلِ «مُعَلِّمٌ». «تَعَلَّمَ · يَتَعَلَّمُ» مِنَ الْوَزْنِ الْخَامِسِ، وَمَصْدَرُهُ «تَعَلُّمٌ». «أَعْلَمَ · يُعْلِمُ» مِنَ الْوَزْنِ الرَّابِعِ. «اِسْتَعْلَمَ · يَسْتَعْلِمُ» مِنَ الْوَزْنِ الْعَاشِرِ، وَمِنْهُ «الِاسْتِعْلَامَاتُ» فِي الْمَطَارِ. الْمُعَلِّمَةُ تُعَلِّمُنَا، وَنَحْنُ نَتَعَلَّمُ الْعِلْمَ النَّافِعَ.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Root map ʿ-l-m: ʿalima / yaʿlamu (I) means to know; its verbal noun is ʿilm. ʿAllama / yuʿallimu (II) means to teach; the doer is muʿallim. Taʿallama / yataʿallamu (V) means to learn; its verbal noun is taʿallum. Aʿlama / yuʿlimu (IV) means to inform. Istaʿlama / yastaʿlimu (X) means to inquire — hence “the information desk” at the airport. The teacher teaches us, and we learn beneficial knowledge.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X</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the form of a verb using the tables.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which presents take yu- (II, III, IV).</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the verbal noun of a derived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tell doer (kasra) from affected (fatḥa).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one exception (ittaṣala, ikhtāra).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تَفَاعَلَ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III</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verbal noun of a Form IV verb?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إِرْسَالٌ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مُرَاسَلَةٌ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Mustaʿmal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a:t>
            </a:r>
            <a:pPr algn="l" indent="0" marL="0">
              <a:buNone/>
            </a:pPr>
            <a:r>
              <a:rPr lang="ar-SA" altLang="en-US" sz="1650" b="1" dirty="0">
                <a:solidFill>
                  <a:srgbClr val="1B3B6F"/>
                </a:solidFill>
                <a:latin typeface="Amiri" pitchFamily="34" charset="0"/>
                <a:ea typeface="Amiri" pitchFamily="34" charset="-122"/>
                <a:cs typeface="Amiri" pitchFamily="34" charset="-120"/>
              </a:rPr>
              <a:t>تَفَاعَلَ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III</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verbal noun of a Form IV verb?</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تَرَاسُلٌ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إِرْسَالٌ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مُرَاسَلَةٌ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ifʿāl.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Mustaʿmal means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used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 + fatḥa = affected.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GM-VF-R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GM-CP-01: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GM-VF-R</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GM-CP-01 · Common Prepositions and the Genitive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a:t>
            </a:r>
            <a:pPr indent="0" marL="0">
              <a:buNone/>
            </a:pPr>
            <a:r>
              <a:rPr lang="en-US" sz="1000" i="1" dirty="0">
                <a:solidFill>
                  <a:srgbClr val="5A6472"/>
                </a:solidFill>
                <a:latin typeface="Calibri" pitchFamily="34" charset="0"/>
                <a:ea typeface="Calibri" pitchFamily="34" charset="-122"/>
                <a:cs typeface="Calibri" pitchFamily="34" charset="-120"/>
              </a:rPr>
              <a:t>  فِي الْبَيْتِ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a:t>
            </a:r>
            <a:pPr indent="0" marL="0">
              <a:buNone/>
            </a:pPr>
            <a:r>
              <a:rPr lang="en-US" sz="1000" i="1" dirty="0">
                <a:solidFill>
                  <a:srgbClr val="5A6472"/>
                </a:solidFill>
                <a:latin typeface="Calibri" pitchFamily="34" charset="0"/>
                <a:ea typeface="Calibri" pitchFamily="34" charset="-122"/>
                <a:cs typeface="Calibri" pitchFamily="34" charset="-120"/>
              </a:rPr>
              <a:t>  عَلَى الطَّاوِلَةِ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from</a:t>
            </a:r>
            <a:pPr indent="0" marL="0">
              <a:buNone/>
            </a:pPr>
            <a:r>
              <a:rPr lang="en-US" sz="1000" i="1" dirty="0">
                <a:solidFill>
                  <a:srgbClr val="5A6472"/>
                </a:solidFill>
                <a:latin typeface="Calibri" pitchFamily="34" charset="0"/>
                <a:ea typeface="Calibri" pitchFamily="34" charset="-122"/>
                <a:cs typeface="Calibri" pitchFamily="34" charset="-120"/>
              </a:rPr>
              <a:t>  مِنَ الْمَدْرَسَةِ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a:t>
            </a:r>
            <a:pPr indent="0" marL="0">
              <a:buNone/>
            </a:pPr>
            <a:r>
              <a:rPr lang="en-US" sz="1000" i="1" dirty="0">
                <a:solidFill>
                  <a:srgbClr val="5A6472"/>
                </a:solidFill>
                <a:latin typeface="Calibri" pitchFamily="34" charset="0"/>
                <a:ea typeface="Calibri" pitchFamily="34" charset="-122"/>
                <a:cs typeface="Calibri" pitchFamily="34" charset="-120"/>
              </a:rPr>
              <a:t>  إِلَى السُّوقِ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a:t>
            </a:r>
            <a:pPr indent="0" marL="0">
              <a:buNone/>
            </a:pPr>
            <a:r>
              <a:rPr lang="en-US" sz="1000" i="1" dirty="0">
                <a:solidFill>
                  <a:srgbClr val="5A6472"/>
                </a:solidFill>
                <a:latin typeface="Calibri" pitchFamily="34" charset="0"/>
                <a:ea typeface="Calibri" pitchFamily="34" charset="-122"/>
                <a:cs typeface="Calibri" pitchFamily="34" charset="-120"/>
              </a:rPr>
              <a:t>  مَعَ صَدِيقِي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the noun after each word: what vowel does it end with?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الْبَيْتِ · عَلَى الطَّاوِلَةِ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the ten-pattern table and add one real verb per form.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Give the verbal noun and doer for eight derived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root map for one root across five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GM-VF-R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GM-CP-01 · Common Prepositions and the Genitive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حُرُوفُ الْجَرِّ وَالْمَجْرُورُ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root + pattern = word · I faʿala · II faʿʿala · III fāʿala · IV afʿala · V tafaʿʿala · VI tafāʿala · VII infaʿala · VIII iftaʿala · IX ifʿalla · X istafʿala · learn real verbs — patterns are clues.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GM-VF-R · Optional Morphology Reference</dc:title>
  <dc:subject>PptxGenJS Presentation</dc:subject>
  <dc:creator>Al Madina Online School · Arabic Department</dc:creator>
  <cp:lastModifiedBy>Al Madina Online School · Arabic Department</cp:lastModifiedBy>
  <cp:revision>1</cp:revision>
  <dcterms:created xsi:type="dcterms:W3CDTF">2026-10-04T01:59:11Z</dcterms:created>
  <dcterms:modified xsi:type="dcterms:W3CDTF">2026-10-04T01:59:11Z</dcterms:modified>
</cp:coreProperties>
</file>