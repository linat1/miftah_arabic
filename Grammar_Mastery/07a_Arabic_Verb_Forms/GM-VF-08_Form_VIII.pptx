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GM-VF-08 (“Form VIII: Meeting, Choosing and Acquiring”).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اِكْتَسَبَ · يَكْتَسِبُ and the family اِجْتَمَعَ · اِخْتَارَ · اِحْتَرَمَ for choosing a course and meeting classmates. Develop: present forms (أَخْتَارُ · نَجْتَمِعُ · تَحْتَرِمِينَ) and the verbal noun اِفْتِعَالٌ (اِجْتِمَاعٌ · اِحْتِرَامٌ · اِخْتِيَارٌ). Stretch: look-alikes — اِسْتَمَعَ (VIII: s-m-ʿ + t) vs اِسْتَعْمَلَ (X), اِنْتَظَرَ (VIII: n-ẓ-r + t) vs اِنْكَسَرَ (VII).
• Website: some roots hide the pattern — ikhtāra (hollow) and ihtamma (doubled). Learn them as full past–present pairs.
• Very high-frequency nouns: اِجْتِمَاعٌ (meeting), اِمْتِحَانٌ (exam), اِحْتِرَامٌ (respect), اِخْتِيَارٌ (choice).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GM-VF-07 and its prep words (iktasaba, ijtamaʿa, ikhtāra, ihtamma).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Form VIII = i- + first root letter + t + the rest (iftaʿala). Present = ya- … (yaftaʿilu).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“Root and pattern”. Istamaʿa = s-m-ʿ + t: Form VIII, even though it starts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“Learn the family” (first three examples are the website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Last two rows (Stretch) show the website’s “less transparent”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items, plus two teacher items.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“Apply the form” model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Cover column 3; students insert the t after the first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Istamaʿa: root s-m-ʿ, t after s → VIII. Istaʿmala: root ʿ-m-l, ista- before it → X. Intaẓara: root n-ẓ-r, t after n → VIII.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Istamaʿa: root s-m-ʿ, t after s → VIII. Istaʿmala: root ʿ-m-l, ista- before it → X. Intaẓara: root n-ẓ-r, t after n → VIII.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Self-check item and teacher-written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reading for Form VIII (teacher-written). Read it aloud once while students follow; then they hunt for today’s grammar.
Task: Website: write about choosing a course. First, underline every Form VIII verb here.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text for the website “Apply the form”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“Apply the form”. Sequence: ● 10s think → ↔ 45s rehearse aloud with mic muted → ◎ two named students on open mic (warned in advance) → + ? the class types one follow-up in chat → ↺ one student summarises.
Routes: Core uses the Core prompt and stem; Develop the Develop prompt; Stretch the last prompt.
Website: explain your choice, the skills you acquire and why the subject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short paragraph about choosing a course or activity. Explain your choice, the skills you acquire and why the subject interests you.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(GM-VF-09 · Form IX: Colours and Physical States) will spend class time USING this language, so students prepare it tonight — short, simple, easy to access (school guidance: “Simple, Short, Interesting, Relevant, Easy to access”). The five words prepare GM-VF-09 (website Verb Forms: Form IX).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Form VIII: Meeting, Choosing and Acquiring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الْوَزْنُ الثَّامِنُ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Form VIII slips a t inside the root, after the first letter: kasaba (earn) → iktasaba (acquire), jamaʿa (collect) → ijtamaʿa (meet). Present: yaktasibu. Find the t to find the form.</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GM-VF-08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Pattern card; family; conjugation; Form I vs VIII; look-alikes.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Collect → meet; sort VIII / VII-X look-alikes;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كَسَّرَ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اِنْكَسَرَ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كُسِرَ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Kasaba = to earn. Iktasaba =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acquire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break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write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was added inside </a:t>
            </a:r>
            <a:pPr algn="l" indent="0" marL="0">
              <a:buNone/>
            </a:pPr>
            <a:r>
              <a:rPr lang="ar-SA" altLang="en-US" sz="1650" b="1" dirty="0">
                <a:solidFill>
                  <a:srgbClr val="1B3B6F"/>
                </a:solidFill>
                <a:latin typeface="Amiri" pitchFamily="2" charset="-78"/>
                <a:cs typeface="Amiri" pitchFamily="2" charset="-78"/>
              </a:rPr>
              <a:t>اِكْتَسَبَ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Ijtamaʿa means …</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collect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share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meet / gather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Ikhtāra means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choose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test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go out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VII?</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كَسَّرَ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اِنْكَسَرَ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كُسِرَ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 before the root (GM-VF-07).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Kasaba = to earn. Iktasaba =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acquire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break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write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prep question.</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letter was added inside </a:t>
            </a:r>
            <a:pPr algn="l" indent="0" marL="0">
              <a:buNone/>
            </a:pPr>
            <a:r>
              <a:rPr lang="ar-SA" altLang="en-US" sz="1650" b="1" dirty="0">
                <a:solidFill>
                  <a:srgbClr val="1B3B6F"/>
                </a:solidFill>
                <a:latin typeface="Amiri" pitchFamily="2" charset="-78"/>
                <a:cs typeface="Amiri" pitchFamily="2" charset="-78"/>
              </a:rPr>
              <a:t>اِكْتَسَبَ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k-t-s-b: t after the first root letter.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Ijtamaʿa means …</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collect</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share</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meet / gather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Ikhtāra means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choose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test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go out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Form VIII = i- + first root letter + t + the rest (iftaʿala). Present = ya- … (yaftaʿilu).</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كَسَبَ</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اِكْتَسَبَ</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يَكْتَسِبُ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Form VIII by the t after the first root letter.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present with ya- … -i-.</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Talk about choices, meetings and skills.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Form VIII from Form VII and Form X look-alikes.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choose and we meet.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about skills I acquire.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conjugate ijtamaʿa in past and present.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ijtimāʿ and iḥtirām.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istamaʿa is Form VIII, not X.</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ikhtāra and ihtamma correctly.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الْوَزْنُ الثَّامِنُ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VIII</a:t>
            </a:r>
            <a:endParaRPr lang="en-US" sz="1350" dirty="0"/>
          </a:p>
          <a:p>
            <a:pPr indent="0" marL="0">
              <a:buNone/>
            </a:pPr>
            <a:r>
              <a:rPr lang="en-US" sz="1100" i="1" dirty="0">
                <a:solidFill>
                  <a:srgbClr val="5A6472"/>
                </a:solidFill>
                <a:latin typeface="Calibri" pitchFamily="34" charset="0"/>
                <a:cs typeface="Amiri" pitchFamily="2" charset="-78"/>
              </a:rPr>
              <a:t>al-waz-nu ath-thā-mi-nu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اِفْتَعَلَ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تَاءُ الِافْتِعَالِ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inserted t</a:t>
            </a:r>
            <a:endParaRPr lang="en-US" sz="1350" dirty="0"/>
          </a:p>
          <a:p>
            <a:pPr indent="0" marL="0">
              <a:buNone/>
            </a:pPr>
            <a:r>
              <a:rPr lang="en-US" sz="1100" i="1" dirty="0">
                <a:solidFill>
                  <a:srgbClr val="5A6472"/>
                </a:solidFill>
                <a:latin typeface="Calibri" pitchFamily="34" charset="0"/>
                <a:cs typeface="Amiri" pitchFamily="2" charset="-78"/>
              </a:rPr>
              <a:t>tā-ʾu al-ِf-ti-ʿā-li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اِجْتَمَعَ</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اِفْتِعَالٌ</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VIII verbal noun</a:t>
            </a:r>
            <a:endParaRPr lang="en-US" sz="1350" dirty="0"/>
          </a:p>
          <a:p>
            <a:pPr indent="0" marL="0">
              <a:buNone/>
            </a:pPr>
            <a:r>
              <a:rPr lang="en-US" sz="1100" i="1" dirty="0">
                <a:solidFill>
                  <a:srgbClr val="5A6472"/>
                </a:solidFill>
                <a:latin typeface="Calibri" pitchFamily="34" charset="0"/>
                <a:cs typeface="Amiri" pitchFamily="2" charset="-78"/>
              </a:rPr>
              <a:t>if-ti-ʿā-lun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اِجْتِمَاعٌ</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مُفْتَعِلٌ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VIII doer</a:t>
            </a:r>
            <a:endParaRPr lang="en-US" sz="1350" dirty="0"/>
          </a:p>
          <a:p>
            <a:pPr indent="0" marL="0">
              <a:buNone/>
            </a:pPr>
            <a:r>
              <a:rPr lang="en-US" sz="1100" i="1" dirty="0">
                <a:solidFill>
                  <a:srgbClr val="5A6472"/>
                </a:solidFill>
                <a:latin typeface="Calibri" pitchFamily="34" charset="0"/>
                <a:cs typeface="Amiri" pitchFamily="2" charset="-78"/>
              </a:rPr>
              <a:t>muf-ta-ʿi-lun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مُسْتَمِعٌ</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اِهْتَمَّ بِـ</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be interested in</a:t>
            </a:r>
            <a:endParaRPr lang="en-US" sz="1350" dirty="0"/>
          </a:p>
          <a:p>
            <a:pPr indent="0" marL="0">
              <a:buNone/>
            </a:pPr>
            <a:r>
              <a:rPr lang="en-US" sz="1100" i="1" dirty="0">
                <a:solidFill>
                  <a:srgbClr val="5A6472"/>
                </a:solidFill>
                <a:latin typeface="Calibri" pitchFamily="34" charset="0"/>
                <a:cs typeface="Amiri" pitchFamily="2" charset="-78"/>
              </a:rPr>
              <a:t>ih-tam-ma bi</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أَهْتَمُّ بِاللُّغَاتِ</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اِسْتَمَعَ إِلَى</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listen to</a:t>
            </a:r>
            <a:endParaRPr lang="en-US" sz="1350" dirty="0"/>
          </a:p>
          <a:p>
            <a:pPr indent="0" marL="0">
              <a:buNone/>
            </a:pPr>
            <a:r>
              <a:rPr lang="en-US" sz="1100" i="1" dirty="0">
                <a:solidFill>
                  <a:srgbClr val="5A6472"/>
                </a:solidFill>
                <a:latin typeface="Calibri" pitchFamily="34" charset="0"/>
                <a:cs typeface="Amiri" pitchFamily="2" charset="-78"/>
              </a:rPr>
              <a:t>is-ta-ma-ʿa i-lā</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أَسْتَمِعُ إِلَى</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FORM VIII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 inside the root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اِفْتَعَلَ · يَفْتَعِلُ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80284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61081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41879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226771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1591056" cy="384048"/>
          </a:xfrm>
          <a:prstGeom prst="rect">
            <a:avLst/>
          </a:prstGeom>
          <a:noFill/>
          <a:ln/>
        </p:spPr>
        <p:txBody>
          <a:bodyPr wrap="square" lIns="0" tIns="0" rIns="0" bIns="0" rtlCol="0" anchor="ctr"/>
          <a:lstStyle/>
          <a:p>
            <a:pPr algn="ctr" indent="0" marL="0">
              <a:buNone/>
            </a:pP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966960" y="2267712"/>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اِفْتَعِلْ</a:t>
            </a:r>
            <a:endParaRPr lang="ar-SA" sz="2400" dirty="0"/>
          </a:p>
        </p:txBody>
      </p:sp>
      <p:sp>
        <p:nvSpPr>
          <p:cNvPr id="24" name="Text 21"/>
          <p:cNvSpPr txBox="1"/>
          <p:nvPr/>
        </p:nvSpPr>
        <p:spPr>
          <a:xfrm>
            <a:off x="804672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مُفْتَعِلٌ</a:t>
            </a:r>
            <a:endParaRPr lang="ar-SA" sz="2400" dirty="0"/>
          </a:p>
        </p:txBody>
      </p:sp>
      <p:sp>
        <p:nvSpPr>
          <p:cNvPr id="25" name="Text 22"/>
          <p:cNvSpPr txBox="1"/>
          <p:nvPr/>
        </p:nvSpPr>
        <p:spPr>
          <a:xfrm>
            <a:off x="61264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اِفْتِعَالٌ</a:t>
            </a:r>
            <a:endParaRPr lang="ar-SA" sz="2400" dirty="0"/>
          </a:p>
        </p:txBody>
      </p:sp>
      <p:sp>
        <p:nvSpPr>
          <p:cNvPr id="26" name="Text 23"/>
          <p:cNvSpPr txBox="1"/>
          <p:nvPr/>
        </p:nvSpPr>
        <p:spPr>
          <a:xfrm>
            <a:off x="420624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يَفْتَعِلُ</a:t>
            </a:r>
            <a:endParaRPr lang="ar-SA" sz="2400" dirty="0"/>
          </a:p>
        </p:txBody>
      </p:sp>
      <p:sp>
        <p:nvSpPr>
          <p:cNvPr id="27" name="Text 24"/>
          <p:cNvSpPr txBox="1"/>
          <p:nvPr/>
        </p:nvSpPr>
        <p:spPr>
          <a:xfrm>
            <a:off x="228600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اِفْتَعَلَ</a:t>
            </a:r>
            <a:endParaRPr lang="ar-SA" sz="2400" dirty="0"/>
          </a:p>
        </p:txBody>
      </p:sp>
      <p:sp>
        <p:nvSpPr>
          <p:cNvPr id="28" name="Text 25"/>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template</a:t>
            </a:r>
            <a:endParaRPr lang="en-US" sz="11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966960" y="300471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اِكْتَسِبْ</a:t>
            </a:r>
            <a:endParaRPr lang="ar-SA" sz="2400" dirty="0"/>
          </a:p>
        </p:txBody>
      </p:sp>
      <p:sp>
        <p:nvSpPr>
          <p:cNvPr id="31" name="Text 28"/>
          <p:cNvSpPr txBox="1"/>
          <p:nvPr/>
        </p:nvSpPr>
        <p:spPr>
          <a:xfrm>
            <a:off x="804672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مُكْتَسِبٌ</a:t>
            </a:r>
            <a:endParaRPr lang="ar-SA" sz="2400" dirty="0"/>
          </a:p>
        </p:txBody>
      </p:sp>
      <p:sp>
        <p:nvSpPr>
          <p:cNvPr id="32" name="Text 29"/>
          <p:cNvSpPr txBox="1"/>
          <p:nvPr/>
        </p:nvSpPr>
        <p:spPr>
          <a:xfrm>
            <a:off x="61264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اِكْتِسَابٌ</a:t>
            </a:r>
            <a:endParaRPr lang="ar-SA" sz="2400" dirty="0"/>
          </a:p>
        </p:txBody>
      </p:sp>
      <p:sp>
        <p:nvSpPr>
          <p:cNvPr id="33" name="Text 30"/>
          <p:cNvSpPr txBox="1"/>
          <p:nvPr/>
        </p:nvSpPr>
        <p:spPr>
          <a:xfrm>
            <a:off x="420624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يَكْتَسِبُ</a:t>
            </a:r>
            <a:endParaRPr lang="ar-SA" sz="2400" dirty="0"/>
          </a:p>
        </p:txBody>
      </p:sp>
      <p:sp>
        <p:nvSpPr>
          <p:cNvPr id="34" name="Text 31"/>
          <p:cNvSpPr txBox="1"/>
          <p:nvPr/>
        </p:nvSpPr>
        <p:spPr>
          <a:xfrm>
            <a:off x="228600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اِكْتَسَبَ</a:t>
            </a:r>
            <a:endParaRPr lang="ar-SA" sz="2400" dirty="0"/>
          </a:p>
        </p:txBody>
      </p:sp>
      <p:sp>
        <p:nvSpPr>
          <p:cNvPr id="35" name="Text 32"/>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acquire</a:t>
            </a:r>
            <a:endParaRPr lang="en-US" sz="1100" dirty="0"/>
          </a:p>
        </p:txBody>
      </p:sp>
      <p:sp>
        <p:nvSpPr>
          <p:cNvPr id="36" name="Shape 3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9966960" y="3741725"/>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اِجْتَمِعْ</a:t>
            </a:r>
            <a:endParaRPr lang="ar-SA" sz="2400" dirty="0"/>
          </a:p>
        </p:txBody>
      </p:sp>
      <p:sp>
        <p:nvSpPr>
          <p:cNvPr id="40" name="Text 37"/>
          <p:cNvSpPr txBox="1"/>
          <p:nvPr/>
        </p:nvSpPr>
        <p:spPr>
          <a:xfrm>
            <a:off x="804672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مُجْتَمِعٌ</a:t>
            </a:r>
            <a:endParaRPr lang="ar-SA" sz="2400" dirty="0"/>
          </a:p>
        </p:txBody>
      </p:sp>
      <p:sp>
        <p:nvSpPr>
          <p:cNvPr id="41" name="Text 38"/>
          <p:cNvSpPr txBox="1"/>
          <p:nvPr/>
        </p:nvSpPr>
        <p:spPr>
          <a:xfrm>
            <a:off x="61264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اِجْتِمَاعٌ</a:t>
            </a:r>
            <a:endParaRPr lang="ar-SA" sz="2400" dirty="0"/>
          </a:p>
        </p:txBody>
      </p:sp>
      <p:sp>
        <p:nvSpPr>
          <p:cNvPr id="42" name="Text 39"/>
          <p:cNvSpPr txBox="1"/>
          <p:nvPr/>
        </p:nvSpPr>
        <p:spPr>
          <a:xfrm>
            <a:off x="420624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يَجْتَمِعُ</a:t>
            </a:r>
            <a:endParaRPr lang="ar-SA" sz="2400" dirty="0"/>
          </a:p>
        </p:txBody>
      </p:sp>
      <p:sp>
        <p:nvSpPr>
          <p:cNvPr id="43" name="Text 40"/>
          <p:cNvSpPr txBox="1"/>
          <p:nvPr/>
        </p:nvSpPr>
        <p:spPr>
          <a:xfrm>
            <a:off x="228600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اِجْتَمَعَ</a:t>
            </a:r>
            <a:endParaRPr lang="ar-SA" sz="2400" dirty="0"/>
          </a:p>
        </p:txBody>
      </p:sp>
      <p:sp>
        <p:nvSpPr>
          <p:cNvPr id="44" name="Text 4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meet / gather</a:t>
            </a:r>
            <a:endParaRPr lang="en-US" sz="110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966960" y="4478731"/>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اِسْتَمِعْ</a:t>
            </a:r>
            <a:endParaRPr lang="ar-SA" sz="2400" dirty="0"/>
          </a:p>
        </p:txBody>
      </p:sp>
      <p:sp>
        <p:nvSpPr>
          <p:cNvPr id="47" name="Text 44"/>
          <p:cNvSpPr txBox="1"/>
          <p:nvPr/>
        </p:nvSpPr>
        <p:spPr>
          <a:xfrm>
            <a:off x="804672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مُسْتَمِعٌ</a:t>
            </a:r>
            <a:endParaRPr lang="ar-SA" sz="2400" dirty="0"/>
          </a:p>
        </p:txBody>
      </p:sp>
      <p:sp>
        <p:nvSpPr>
          <p:cNvPr id="48" name="Text 45"/>
          <p:cNvSpPr txBox="1"/>
          <p:nvPr/>
        </p:nvSpPr>
        <p:spPr>
          <a:xfrm>
            <a:off x="61264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اِسْتِمَاعٌ</a:t>
            </a:r>
            <a:endParaRPr lang="ar-SA" sz="2400" dirty="0"/>
          </a:p>
        </p:txBody>
      </p:sp>
      <p:sp>
        <p:nvSpPr>
          <p:cNvPr id="49" name="Text 46"/>
          <p:cNvSpPr txBox="1"/>
          <p:nvPr/>
        </p:nvSpPr>
        <p:spPr>
          <a:xfrm>
            <a:off x="420624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يَسْتَمِعُ</a:t>
            </a:r>
            <a:endParaRPr lang="ar-SA" sz="2400" dirty="0"/>
          </a:p>
        </p:txBody>
      </p:sp>
      <p:sp>
        <p:nvSpPr>
          <p:cNvPr id="50" name="Text 47"/>
          <p:cNvSpPr txBox="1"/>
          <p:nvPr/>
        </p:nvSpPr>
        <p:spPr>
          <a:xfrm>
            <a:off x="228600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اِسْتَمَعَ</a:t>
            </a:r>
            <a:endParaRPr lang="ar-SA" sz="2400" dirty="0"/>
          </a:p>
        </p:txBody>
      </p:sp>
      <p:sp>
        <p:nvSpPr>
          <p:cNvPr id="51" name="Text 48"/>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listen</a:t>
            </a:r>
            <a:endParaRPr lang="en-US" sz="1100" dirty="0"/>
          </a:p>
        </p:txBody>
      </p:sp>
      <p:sp>
        <p:nvSpPr>
          <p:cNvPr id="52" name="Shape 4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3" name="Text 50"/>
          <p:cNvSpPr txBox="1"/>
          <p:nvPr/>
        </p:nvSpPr>
        <p:spPr>
          <a:xfrm>
            <a:off x="9966960" y="521573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اِحْتَرِمْ</a:t>
            </a:r>
            <a:endParaRPr lang="ar-SA" sz="2400" dirty="0"/>
          </a:p>
        </p:txBody>
      </p:sp>
      <p:sp>
        <p:nvSpPr>
          <p:cNvPr id="54" name="Text 51"/>
          <p:cNvSpPr txBox="1"/>
          <p:nvPr/>
        </p:nvSpPr>
        <p:spPr>
          <a:xfrm>
            <a:off x="804672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مُحْتَرِمٌ</a:t>
            </a:r>
            <a:endParaRPr lang="ar-SA" sz="2400" dirty="0"/>
          </a:p>
        </p:txBody>
      </p:sp>
      <p:sp>
        <p:nvSpPr>
          <p:cNvPr id="55" name="Text 52"/>
          <p:cNvSpPr txBox="1"/>
          <p:nvPr/>
        </p:nvSpPr>
        <p:spPr>
          <a:xfrm>
            <a:off x="61264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اِحْتِرَامٌ</a:t>
            </a:r>
            <a:endParaRPr lang="ar-SA" sz="2400" dirty="0"/>
          </a:p>
        </p:txBody>
      </p:sp>
      <p:sp>
        <p:nvSpPr>
          <p:cNvPr id="56" name="Text 53"/>
          <p:cNvSpPr txBox="1"/>
          <p:nvPr/>
        </p:nvSpPr>
        <p:spPr>
          <a:xfrm>
            <a:off x="420624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يَحْتَرِمُ</a:t>
            </a:r>
            <a:endParaRPr lang="ar-SA" sz="2400" dirty="0"/>
          </a:p>
        </p:txBody>
      </p:sp>
      <p:sp>
        <p:nvSpPr>
          <p:cNvPr id="57" name="Text 54"/>
          <p:cNvSpPr txBox="1"/>
          <p:nvPr/>
        </p:nvSpPr>
        <p:spPr>
          <a:xfrm>
            <a:off x="228600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اِحْتَرَمَ</a:t>
            </a:r>
            <a:endParaRPr lang="ar-SA" sz="2400" dirty="0"/>
          </a:p>
        </p:txBody>
      </p:sp>
      <p:sp>
        <p:nvSpPr>
          <p:cNvPr id="58" name="Text 55"/>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respect</a:t>
            </a:r>
            <a:endParaRPr lang="en-US" sz="11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for a regular root, Form VIII inserts t after the first root consonant: iftaʿala / yaftaʿilu. Some roots show assimilation or weak-letter changes.</a:t>
            </a:r>
            <a:endParaRPr lang="en-US" sz="11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LEARN THE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Form VIII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أُسْرَةُ الْوَزْنِ الثَّامِنِ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6393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أَكْتَسِبُ مَهَارَاتٍ جَدِيدَةً مِنَ الْمُمَارَسَةِ.</a:t>
            </a:r>
            <a:endParaRPr lang="ar-SA" sz="2000" dirty="0"/>
          </a:p>
        </p:txBody>
      </p:sp>
      <p:sp>
        <p:nvSpPr>
          <p:cNvPr id="21" name="Text 18"/>
          <p:cNvSpPr txBox="1"/>
          <p:nvPr/>
        </p:nvSpPr>
        <p:spPr>
          <a:xfrm>
            <a:off x="36758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acquire</a:t>
            </a:r>
            <a:endParaRPr lang="en-US" sz="1100" dirty="0"/>
          </a:p>
        </p:txBody>
      </p:sp>
      <p:sp>
        <p:nvSpPr>
          <p:cNvPr id="22" name="Text 19"/>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اِكْتَسَبَ · يَكْتَسِبُ</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اِجْتَمَعَ الطُّلَّابُ بَعْدَ الدَّرْسِ.</a:t>
            </a:r>
            <a:endParaRPr lang="ar-SA" sz="2000" dirty="0"/>
          </a:p>
        </p:txBody>
      </p:sp>
      <p:sp>
        <p:nvSpPr>
          <p:cNvPr id="27" name="Text 24"/>
          <p:cNvSpPr txBox="1"/>
          <p:nvPr/>
        </p:nvSpPr>
        <p:spPr>
          <a:xfrm>
            <a:off x="36758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meet / gather</a:t>
            </a:r>
            <a:endParaRPr lang="en-US" sz="1100" dirty="0"/>
          </a:p>
        </p:txBody>
      </p:sp>
      <p:sp>
        <p:nvSpPr>
          <p:cNvPr id="28" name="Text 25"/>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اِجْتَمَعَ · يَجْتَمِعُ</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أَخْتَارُ كِتَابًا جَدِيدًا لِلْقِرَاءَةِ.</a:t>
            </a:r>
            <a:endParaRPr lang="ar-SA" sz="2000" dirty="0"/>
          </a:p>
        </p:txBody>
      </p:sp>
      <p:sp>
        <p:nvSpPr>
          <p:cNvPr id="33" name="Text 30"/>
          <p:cNvSpPr txBox="1"/>
          <p:nvPr/>
        </p:nvSpPr>
        <p:spPr>
          <a:xfrm>
            <a:off x="36758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choose</a:t>
            </a:r>
            <a:endParaRPr lang="en-US" sz="1100" dirty="0"/>
          </a:p>
        </p:txBody>
      </p:sp>
      <p:sp>
        <p:nvSpPr>
          <p:cNvPr id="34" name="Text 31"/>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اِخْتَارَ · يَخْتَارُ</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أَهْتَمُّ بِالْعُلُومِ.</a:t>
            </a:r>
            <a:endParaRPr lang="ar-SA" sz="2000" dirty="0"/>
          </a:p>
        </p:txBody>
      </p:sp>
      <p:sp>
        <p:nvSpPr>
          <p:cNvPr id="39" name="Text 36"/>
          <p:cNvSpPr txBox="1"/>
          <p:nvPr/>
        </p:nvSpPr>
        <p:spPr>
          <a:xfrm>
            <a:off x="36758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 interested (in)</a:t>
            </a:r>
            <a:endParaRPr lang="en-US" sz="1100" dirty="0"/>
          </a:p>
        </p:txBody>
      </p:sp>
      <p:sp>
        <p:nvSpPr>
          <p:cNvPr id="40" name="Text 37"/>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اِهْتَمَّ · يَهْتَمُّ</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نَحْتَرِمُ آرَاءَ الْآخَرِينَ.</a:t>
            </a:r>
            <a:endParaRPr lang="ar-SA" sz="2000" dirty="0"/>
          </a:p>
        </p:txBody>
      </p:sp>
      <p:sp>
        <p:nvSpPr>
          <p:cNvPr id="43" name="Text 40"/>
          <p:cNvSpPr txBox="1"/>
          <p:nvPr/>
        </p:nvSpPr>
        <p:spPr>
          <a:xfrm>
            <a:off x="36758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respect</a:t>
            </a:r>
            <a:endParaRPr lang="en-US" sz="1100" dirty="0"/>
          </a:p>
        </p:txBody>
      </p:sp>
      <p:sp>
        <p:nvSpPr>
          <p:cNvPr id="44" name="Text 41"/>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اِحْتَرَمَ · يَحْتَرِمُ</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اِنْتَظَرْتُ الْحَافِلَةَ عِشْرِينَ دَقِيقَةً.</a:t>
            </a:r>
            <a:endParaRPr lang="ar-SA" sz="2000" dirty="0"/>
          </a:p>
        </p:txBody>
      </p:sp>
      <p:sp>
        <p:nvSpPr>
          <p:cNvPr id="47" name="Text 44"/>
          <p:cNvSpPr txBox="1"/>
          <p:nvPr/>
        </p:nvSpPr>
        <p:spPr>
          <a:xfrm>
            <a:off x="36758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wait (for)</a:t>
            </a:r>
            <a:endParaRPr lang="en-US" sz="1100" dirty="0"/>
          </a:p>
        </p:txBody>
      </p:sp>
      <p:sp>
        <p:nvSpPr>
          <p:cNvPr id="48" name="Text 45"/>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اِنْتَظَرَ · يَنْتَظِرُ</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in iktasaba the t is clearly visible. In ihtamma and ikhtāra, root-specific changes make the surface form less transparent — learn the full pairs.</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CONJUGATE IJTAMAʿA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i- goes; the t stays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تَصْرِيفُ «اِجْتَمَعَ»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 + j-t-m-ʿ</a:t>
            </a:r>
            <a:endParaRPr lang="en-US" sz="1100" dirty="0"/>
          </a:p>
        </p:txBody>
      </p:sp>
      <p:sp>
        <p:nvSpPr>
          <p:cNvPr id="22" name="Text 19"/>
          <p:cNvSpPr txBox="1"/>
          <p:nvPr/>
        </p:nvSpPr>
        <p:spPr>
          <a:xfrm>
            <a:off x="56692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نَجْتَمِعُ</a:t>
            </a:r>
            <a:endParaRPr lang="ar-SA" sz="2400" dirty="0"/>
          </a:p>
        </p:txBody>
      </p:sp>
      <p:sp>
        <p:nvSpPr>
          <p:cNvPr id="23" name="Text 20"/>
          <p:cNvSpPr txBox="1"/>
          <p:nvPr/>
        </p:nvSpPr>
        <p:spPr>
          <a:xfrm>
            <a:off x="274320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اِجْتَمَعْنَا</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نَحْنُ</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-ūna</a:t>
            </a:r>
            <a:endParaRPr lang="en-US" sz="1100" dirty="0"/>
          </a:p>
        </p:txBody>
      </p:sp>
      <p:sp>
        <p:nvSpPr>
          <p:cNvPr id="29" name="Text 26"/>
          <p:cNvSpPr txBox="1"/>
          <p:nvPr/>
        </p:nvSpPr>
        <p:spPr>
          <a:xfrm>
            <a:off x="56692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يَجْتَمِعُونَ</a:t>
            </a:r>
            <a:endParaRPr lang="ar-SA" sz="2400" dirty="0"/>
          </a:p>
        </p:txBody>
      </p:sp>
      <p:sp>
        <p:nvSpPr>
          <p:cNvPr id="30" name="Text 27"/>
          <p:cNvSpPr txBox="1"/>
          <p:nvPr/>
        </p:nvSpPr>
        <p:spPr>
          <a:xfrm>
            <a:off x="274320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اِجْتَمَعُوا</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هُمْ</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maʿa</a:t>
            </a:r>
            <a:endParaRPr lang="en-US" sz="1100" dirty="0"/>
          </a:p>
        </p:txBody>
      </p:sp>
      <p:sp>
        <p:nvSpPr>
          <p:cNvPr id="36" name="Text 33"/>
          <p:cNvSpPr txBox="1"/>
          <p:nvPr/>
        </p:nvSpPr>
        <p:spPr>
          <a:xfrm>
            <a:off x="56692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أَجْتَمِعُ</a:t>
            </a:r>
            <a:endParaRPr lang="ar-SA" sz="2400" dirty="0"/>
          </a:p>
        </p:txBody>
      </p:sp>
      <p:sp>
        <p:nvSpPr>
          <p:cNvPr id="37" name="Text 34"/>
          <p:cNvSpPr txBox="1"/>
          <p:nvPr/>
        </p:nvSpPr>
        <p:spPr>
          <a:xfrm>
            <a:off x="274320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اِجْتَمَعْتُ</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أَنَا</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a:t>
            </a:r>
            <a:endParaRPr lang="en-US" sz="1100" dirty="0"/>
          </a:p>
        </p:txBody>
      </p:sp>
      <p:sp>
        <p:nvSpPr>
          <p:cNvPr id="43" name="Text 40"/>
          <p:cNvSpPr txBox="1"/>
          <p:nvPr/>
        </p:nvSpPr>
        <p:spPr>
          <a:xfrm>
            <a:off x="56692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تَجْتَمِعُ</a:t>
            </a:r>
            <a:endParaRPr lang="ar-SA" sz="2400" dirty="0"/>
          </a:p>
        </p:txBody>
      </p:sp>
      <p:sp>
        <p:nvSpPr>
          <p:cNvPr id="44" name="Text 41"/>
          <p:cNvSpPr txBox="1"/>
          <p:nvPr/>
        </p:nvSpPr>
        <p:spPr>
          <a:xfrm>
            <a:off x="274320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اِجْتَمَعَتْ</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هِيَ</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 short in the past</a:t>
            </a:r>
            <a:endParaRPr lang="en-US" sz="1100" dirty="0"/>
          </a:p>
        </p:txBody>
      </p:sp>
      <p:sp>
        <p:nvSpPr>
          <p:cNvPr id="48" name="Text 45"/>
          <p:cNvSpPr txBox="1"/>
          <p:nvPr/>
        </p:nvSpPr>
        <p:spPr>
          <a:xfrm>
            <a:off x="56692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تَخْتَارِينَ</a:t>
            </a:r>
            <a:endParaRPr lang="ar-SA" sz="2400" dirty="0"/>
          </a:p>
        </p:txBody>
      </p:sp>
      <p:sp>
        <p:nvSpPr>
          <p:cNvPr id="49" name="Text 46"/>
          <p:cNvSpPr txBox="1"/>
          <p:nvPr/>
        </p:nvSpPr>
        <p:spPr>
          <a:xfrm>
            <a:off x="274320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اِخْتَرْتِ</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doubled</a:t>
            </a:r>
            <a:endParaRPr lang="en-US" sz="1100" dirty="0"/>
          </a:p>
        </p:txBody>
      </p:sp>
      <p:sp>
        <p:nvSpPr>
          <p:cNvPr id="53" name="Text 50"/>
          <p:cNvSpPr txBox="1"/>
          <p:nvPr/>
        </p:nvSpPr>
        <p:spPr>
          <a:xfrm>
            <a:off x="56692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يَهْتَمُّ</a:t>
            </a:r>
            <a:endParaRPr lang="ar-SA" sz="2400" dirty="0"/>
          </a:p>
        </p:txBody>
      </p:sp>
      <p:sp>
        <p:nvSpPr>
          <p:cNvPr id="54" name="Text 51"/>
          <p:cNvSpPr txBox="1"/>
          <p:nvPr/>
        </p:nvSpPr>
        <p:spPr>
          <a:xfrm>
            <a:off x="274320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اِهْتَمَّ</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هُوَ</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self-check: akhtāru is the first-person present (I choose); ikhtartu is the past (I chose). Like Form VII, the linking i- disappears in the present.</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the regular Form VIII model?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اِسْتَكْسَبَ / يَسْتَكْسِبُ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كَسَبَ / يَكْسِبُ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اِكْتَسَبَ / يَكْتَسِبُ</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“I choose”?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أَخْتَارُ</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أَخْتَرْتُ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أَخْتِيرُ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met after school”.</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جَمَعْنَا بَعْدَ الْمَدْرَسَةِ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اِجْتَمَعْنَا بَعْدَ الْمَدْرَسَةِ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اِسْتَجْمَعْنَا بَعْدَ الْمَدْرَسَةِ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listen to the teacher”.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أَسْتَمِعُ إِلَى الْمُعَلِّمِ</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أَسْمَعُ إِلَى الْمُعَلِّمِ</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أَسْتَمِعُ الْمُعَلِّمَ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the regular Form VIII model?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اِسْتَكْسَبَ / يَسْتَكْسِبُ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كَسَبَ / يَكْسِبُ</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اِكْتَسَبَ / يَكْتَسِبُ</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VIII inserts t after the first root letter.</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form means “I choose”?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أَخْتَارُ</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أَخْتَرْتُ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أَخْتِيرُ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Akhtāru is the first-person present; ikhtartu is the past.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met after school”.</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جَمَعْنَا بَعْدَ الْمَدْرَسَةِ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اِجْتَمَعْنَا بَعْدَ الْمَدْرَسَةِ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اِسْتَجْمَعْنَا بَعْدَ الْمَدْرَسَةِ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VIII past + -nā.</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listen to the teacher”.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أَسْتَمِعُ إِلَى الْمُعَلِّمِ</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أَسْمَعُ إِلَى الْمُعَلِّمِ</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أَسْتَمِعُ الْمُعَلِّمَ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istamaʿa + ilā.</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Watch me explain a choice with Form VIII</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Choose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أَخْتَارُ</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Hollow Form VIII.</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Interested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أَهْتَمُّ</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Doubled; + bi- (in).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Acquire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أَكْتَسِبُ</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k-t-s-b.</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Meet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أَجْتَمِعُ</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j-t-m-ʿ.</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FORM VIII</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OTHER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200" b="1" dirty="0">
                <a:solidFill>
                  <a:srgbClr val="0E7C86"/>
                </a:solidFill>
                <a:latin typeface="Amiri" pitchFamily="2" charset="-78"/>
                <a:cs typeface="Amiri" pitchFamily="2" charset="-78"/>
              </a:rPr>
              <a:t>أَخْتَارُ</a:t>
            </a:r>
            <a:pPr rtl="1" algn="r" indent="0" marL="0">
              <a:buNone/>
            </a:pPr>
            <a:r>
              <a:rPr lang="ar-SA" altLang="en-US" sz="2200" b="1" dirty="0">
                <a:solidFill>
                  <a:srgbClr val="1B3B6F"/>
                </a:solidFill>
                <a:latin typeface="Amiri" pitchFamily="2" charset="-78"/>
                <a:cs typeface="Amiri" pitchFamily="2" charset="-78"/>
              </a:rPr>
              <a:t> دَرْسَ الْعَرَبِيَّةِ لِأَنَّنِي </a:t>
            </a:r>
            <a:pPr rtl="1" algn="r" indent="0" marL="0">
              <a:buNone/>
            </a:pPr>
            <a:r>
              <a:rPr lang="ar-SA" altLang="en-US" sz="2200" b="1" dirty="0">
                <a:solidFill>
                  <a:srgbClr val="0E7C86"/>
                </a:solidFill>
                <a:latin typeface="Amiri" pitchFamily="2" charset="-78"/>
                <a:cs typeface="Amiri" pitchFamily="2" charset="-78"/>
              </a:rPr>
              <a:t>أَهْتَمُّ</a:t>
            </a:r>
            <a:pPr rtl="1" algn="r" indent="0" marL="0">
              <a:buNone/>
            </a:pPr>
            <a:r>
              <a:rPr lang="ar-SA" altLang="en-US" sz="2200" b="1" dirty="0">
                <a:solidFill>
                  <a:srgbClr val="1B3B6F"/>
                </a:solidFill>
                <a:latin typeface="Amiri" pitchFamily="2" charset="-78"/>
                <a:cs typeface="Amiri" pitchFamily="2" charset="-78"/>
              </a:rPr>
              <a:t> بِاللُّغَاتِ. </a:t>
            </a:r>
            <a:pPr rtl="1" algn="r" indent="0" marL="0">
              <a:buNone/>
            </a:pPr>
            <a:r>
              <a:rPr lang="ar-SA" altLang="en-US" sz="2200" b="1" dirty="0">
                <a:solidFill>
                  <a:srgbClr val="0E7C86"/>
                </a:solidFill>
                <a:latin typeface="Amiri" pitchFamily="2" charset="-78"/>
                <a:cs typeface="Amiri" pitchFamily="2" charset="-78"/>
              </a:rPr>
              <a:t>أَكْتَسِبُ</a:t>
            </a:r>
            <a:pPr rtl="1" algn="r" indent="0" marL="0">
              <a:buNone/>
            </a:pPr>
            <a:r>
              <a:rPr lang="ar-SA" altLang="en-US" sz="2200" b="1" dirty="0">
                <a:solidFill>
                  <a:srgbClr val="1B3B6F"/>
                </a:solidFill>
                <a:latin typeface="Amiri" pitchFamily="2" charset="-78"/>
                <a:cs typeface="Amiri" pitchFamily="2" charset="-78"/>
              </a:rPr>
              <a:t> مَهَارَاتٍ جَدِيدَةً مِنَ الْمُمَارَسَةِ، وَ</a:t>
            </a:r>
            <a:pPr rtl="1" algn="r" indent="0" marL="0">
              <a:buNone/>
            </a:pPr>
            <a:r>
              <a:rPr lang="ar-SA" altLang="en-US" sz="2200" b="1" dirty="0">
                <a:solidFill>
                  <a:srgbClr val="0E7C86"/>
                </a:solidFill>
                <a:latin typeface="Amiri" pitchFamily="2" charset="-78"/>
                <a:cs typeface="Amiri" pitchFamily="2" charset="-78"/>
              </a:rPr>
              <a:t>أَجْتَمِعُ</a:t>
            </a:r>
            <a:pPr rtl="1" algn="r" indent="0" marL="0">
              <a:buNone/>
            </a:pPr>
            <a:r>
              <a:rPr lang="ar-SA" altLang="en-US" sz="2200" b="1" dirty="0">
                <a:solidFill>
                  <a:srgbClr val="1B3B6F"/>
                </a:solidFill>
                <a:latin typeface="Amiri" pitchFamily="2" charset="-78"/>
                <a:cs typeface="Amiri" pitchFamily="2" charset="-78"/>
              </a:rPr>
              <a:t> مَعَ زُمَلَائِي كُلَّ أُسْبُوعٍ.</a:t>
            </a:r>
            <a:endParaRPr lang="ar-SA" sz="22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choose Arabic lessons because I am interested in languages. I acquire new skills through practice, and I meet my classmates every week.</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اِجْتَمَعَ الطُّلَّابُ بَعْدَ الدَّرْسِ.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students met after the lesson.</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أَخْتَارُ كِتَابًا جَدِيدًا لِلْقِرَاءَةِ.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choose a new book to read.</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نَحْتَرِمُ آرَاءَ الْآخَرِينَ.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respect other people’s opinions.</a:t>
            </a:r>
            <a:endParaRPr lang="en-US" sz="1250" dirty="0"/>
          </a:p>
          <a:p>
            <a:pPr indent="0" marL="0">
              <a:buNone/>
            </a:pPr>
            <a:r>
              <a:rPr lang="en-US" sz="1050" i="1" dirty="0">
                <a:solidFill>
                  <a:srgbClr val="8A6D1E"/>
                </a:solidFill>
                <a:latin typeface="Calibri" pitchFamily="34" charset="0"/>
                <a:cs typeface="Amiri" pitchFamily="2" charset="-78"/>
              </a:rPr>
              <a:t>iḥtarama.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أَسْتَمِعُ إِلَى الْقُرْآنِ كُلَّ صَبَاحٍ.</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listen to the Qur’an every morning.</a:t>
            </a:r>
            <a:endParaRPr lang="en-US" sz="1250" dirty="0"/>
          </a:p>
          <a:p>
            <a:pPr indent="0" marL="0">
              <a:buNone/>
            </a:pPr>
            <a:r>
              <a:rPr lang="en-US" sz="1050" i="1" dirty="0">
                <a:solidFill>
                  <a:srgbClr val="8A6D1E"/>
                </a:solidFill>
                <a:latin typeface="Calibri" pitchFamily="34" charset="0"/>
                <a:cs typeface="Amiri" pitchFamily="2" charset="-78"/>
              </a:rPr>
              <a:t>istamaʿa + ilā.</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SAME ROOT, DIFFERENT FORM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the inner t adds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الْأَوَّلِ إِلَى الثَّامِنِ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4681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 VIII</a:t>
            </a:r>
            <a:endParaRPr lang="en-US" sz="1100" dirty="0"/>
          </a:p>
        </p:txBody>
      </p:sp>
      <p:sp>
        <p:nvSpPr>
          <p:cNvPr id="18" name="Text 15"/>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 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acquire</a:t>
            </a:r>
            <a:endParaRPr lang="en-US" sz="1100" dirty="0"/>
          </a:p>
        </p:txBody>
      </p:sp>
      <p:sp>
        <p:nvSpPr>
          <p:cNvPr id="22" name="Text 19"/>
          <p:cNvSpPr txBox="1"/>
          <p:nvPr/>
        </p:nvSpPr>
        <p:spPr>
          <a:xfrm>
            <a:off x="548640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اِكْتَسَبَ</a:t>
            </a:r>
            <a:endParaRPr lang="ar-SA" sz="2400" dirty="0"/>
          </a:p>
        </p:txBody>
      </p:sp>
      <p:sp>
        <p:nvSpPr>
          <p:cNvPr id="23" name="Text 20"/>
          <p:cNvSpPr txBox="1"/>
          <p:nvPr/>
        </p:nvSpPr>
        <p:spPr>
          <a:xfrm>
            <a:off x="31272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earn</a:t>
            </a:r>
            <a:endParaRPr lang="en-US" sz="11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كَسَبَ</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gather / meet</a:t>
            </a:r>
            <a:endParaRPr lang="en-US" sz="1100" dirty="0"/>
          </a:p>
        </p:txBody>
      </p:sp>
      <p:sp>
        <p:nvSpPr>
          <p:cNvPr id="29" name="Text 26"/>
          <p:cNvSpPr txBox="1"/>
          <p:nvPr/>
        </p:nvSpPr>
        <p:spPr>
          <a:xfrm>
            <a:off x="548640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اِجْتَمَعَ</a:t>
            </a:r>
            <a:endParaRPr lang="ar-SA" sz="2400" dirty="0"/>
          </a:p>
        </p:txBody>
      </p:sp>
      <p:sp>
        <p:nvSpPr>
          <p:cNvPr id="30" name="Text 27"/>
          <p:cNvSpPr txBox="1"/>
          <p:nvPr/>
        </p:nvSpPr>
        <p:spPr>
          <a:xfrm>
            <a:off x="312724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collect</a:t>
            </a:r>
            <a:endParaRPr lang="en-US" sz="11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جَمَعَ</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listen (to)</a:t>
            </a:r>
            <a:endParaRPr lang="en-US" sz="1100" dirty="0"/>
          </a:p>
        </p:txBody>
      </p:sp>
      <p:sp>
        <p:nvSpPr>
          <p:cNvPr id="36" name="Text 33"/>
          <p:cNvSpPr txBox="1"/>
          <p:nvPr/>
        </p:nvSpPr>
        <p:spPr>
          <a:xfrm>
            <a:off x="548640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اِسْتَمَعَ</a:t>
            </a:r>
            <a:endParaRPr lang="ar-SA" sz="2400" dirty="0"/>
          </a:p>
        </p:txBody>
      </p:sp>
      <p:sp>
        <p:nvSpPr>
          <p:cNvPr id="37" name="Text 34"/>
          <p:cNvSpPr txBox="1"/>
          <p:nvPr/>
        </p:nvSpPr>
        <p:spPr>
          <a:xfrm>
            <a:off x="312724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hear</a:t>
            </a:r>
            <a:endParaRPr lang="en-US" sz="1100" dirty="0"/>
          </a:p>
        </p:txBody>
      </p:sp>
      <p:sp>
        <p:nvSpPr>
          <p:cNvPr id="38" name="Text 35"/>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سَمِعَ</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wait (for)</a:t>
            </a:r>
            <a:endParaRPr lang="en-US" sz="1100" dirty="0"/>
          </a:p>
        </p:txBody>
      </p:sp>
      <p:sp>
        <p:nvSpPr>
          <p:cNvPr id="43" name="Text 40"/>
          <p:cNvSpPr txBox="1"/>
          <p:nvPr/>
        </p:nvSpPr>
        <p:spPr>
          <a:xfrm>
            <a:off x="548640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اِنْتَظَرَ</a:t>
            </a:r>
            <a:endParaRPr lang="ar-SA" sz="2400" dirty="0"/>
          </a:p>
        </p:txBody>
      </p:sp>
      <p:sp>
        <p:nvSpPr>
          <p:cNvPr id="44" name="Text 41"/>
          <p:cNvSpPr txBox="1"/>
          <p:nvPr/>
        </p:nvSpPr>
        <p:spPr>
          <a:xfrm>
            <a:off x="312724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look</a:t>
            </a:r>
            <a:endParaRPr lang="en-US" sz="1100" dirty="0"/>
          </a:p>
        </p:txBody>
      </p:sp>
      <p:sp>
        <p:nvSpPr>
          <p:cNvPr id="45" name="Text 42"/>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نَظَرَ</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inaugurate / open officially</a:t>
            </a:r>
            <a:endParaRPr lang="en-US" sz="1100" dirty="0"/>
          </a:p>
        </p:txBody>
      </p:sp>
      <p:sp>
        <p:nvSpPr>
          <p:cNvPr id="48" name="Text 45"/>
          <p:cNvSpPr txBox="1"/>
          <p:nvPr/>
        </p:nvSpPr>
        <p:spPr>
          <a:xfrm>
            <a:off x="548640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اِفْتَتَحَ</a:t>
            </a:r>
            <a:endParaRPr lang="ar-SA" sz="2400" dirty="0"/>
          </a:p>
        </p:txBody>
      </p:sp>
      <p:sp>
        <p:nvSpPr>
          <p:cNvPr id="49" name="Text 46"/>
          <p:cNvSpPr txBox="1"/>
          <p:nvPr/>
        </p:nvSpPr>
        <p:spPr>
          <a:xfrm>
            <a:off x="312724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open</a:t>
            </a:r>
            <a:endParaRPr lang="en-US" sz="1100" dirty="0"/>
          </a:p>
        </p:txBody>
      </p:sp>
      <p:sp>
        <p:nvSpPr>
          <p:cNvPr id="50" name="Text 47"/>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فَتَحَ</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related meaning is useful, but Form VIII cannot be translated by one fixed English prefix. Hear → listen; look → wait.</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WEBSITE CLINIC · FIND THE T AFTER THE FIRST ROOT LETTER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VIII, or a look-alike?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ثَامِنٌ أَمْ شَبِيهٌ؟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اِسْتَمَعَ</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اِنْتَظَرَ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اِكْتَسَبَ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اِجْتَمَعَ</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اِسْتَعْمَلَ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اِنْكَسَرَ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اِسْتَقْبَلَ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اِنْصَرَفَ</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VIII (root + t)</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Not VIII (VII in- / X ista-)</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VIII (root + t)</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اِسْتَمَعَ</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اِنْتَظَرَ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اِكْتَسَبَ</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اِجْتَمَعَ</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Not VIII (VII in- / X ista-)</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اِسْتَعْمَلَ</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اِنْكَسَرَ</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اِسْتَقْبَلَ</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اِنْصَرَفَ</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أَخْتَرْتُ هَذَا الْكِتَابَ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Past or present?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يَجْمَعُ الطُّلَّابُ بَعْدَ الدَّرْسِ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Collect or meet?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اِسْتَمَعْتُ الْمُعَلِّمَ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أَخْتَرْتُ هَذَا الْكِتَابَ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اِخْتَرْتُ هَذَا الْكِتَابَ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past starts with i- (ikhtartu); akhtāru is the present.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يَجْمَعُ الطُّلَّابُ بَعْدَ الدَّرْسِ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يَجْتَمِعُ الطُّلَّابُ بَعْدَ الدَّرْسِ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gather / meet (no object) = Form VIII.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اِسْتَمَعْتُ الْمُعَلِّمَ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اِسْتَمَعْتُ إِلَى الْمُعَلِّمِ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Istamaʿa takes ilā.</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GUIDED PRACTICE · WEBSITE SELF-CHECK ITEM AND TEACHER-WRITTEN QUESTIONS</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can ihtamma be difficult to recognise?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root consonants.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Form IX colour verb.</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Assimilation and doubling can alter the visible pattern.</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cs typeface="Amiri" pitchFamily="2" charset="-78"/>
              </a:rPr>
              <a:t>اِحْتَرَمَ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حُرْمَةٌ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اِحْتِرَامٌ</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مُحْتَرَمٌ</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interested in science”.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تُهِمُّ الْعُلُومَ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تَهْتَمُّ بِالْعُلُومِ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اِهْتَمَّتِ الْعُلُومُ</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VIII?</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اِنْكَسَرَ</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اِسْتَخْدَمَ</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اِنْتَظَرَ</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can ihtamma be difficult to recognise?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root consonants.</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Form IX colour verb.</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Assimilation and doubling can alter the visible pattern.</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Doubling can change the visible pattern.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cs typeface="Amiri" pitchFamily="2" charset="-78"/>
              </a:rPr>
              <a:t>اِحْتَرَمَ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حُرْمَةٌ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اِحْتِرَامٌ</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مُحْتَرَمٌ</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iftiʿāl.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interested in science”.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تُهِمُّ الْعُلُومَ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تَهْتَمُّ بِالْعُلُومِ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اِهْتَمَّتِ الْعُلُومُ</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ihtamma + bi-.</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VIII?</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اِنْكَسَرَ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اِسْتَخْدَمَ</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اِنْتَظَرَ</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n-ẓ-r with t after 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READING FOR FORM VIII (TEACHER-WRITTEN)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Choosing my options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هَذِهِ السَّنَةَ اخْتَرْتُ ثَلَاثَ مَوَادَّ جَدِيدَةً. أَهْتَمُّ بِالتَّارِيخِ، لِذَلِكَ اخْتَرْتُهُ أَوَّلًا. اِجْتَمَعْتُ مَعَ الْمُرْشِدَةِ، وَاسْتَمَعْتُ إِلَى نَصَائِحِهَا. قَالَتْ: «سَتَكْتَسِبِينَ مَهَارَاتٍ مُهِمَّةً، وَلَكِنْ لَا تَنْسَيِ الِامْتِحَانَاتِ!». الْآنَ أَنْتَظِرُ بِدَايَةَ الْفَصْلِ بِشَوْقٍ، وَأَحْتَرِمُ رَأْيَ وَالِدَيَّ أَيْضًا.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مَوَادَّ</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subjects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الْمُرْشِدَةِ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careers adviser (f.)</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نَصَائِحِهَا</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her advice</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بِشَوْقٍ</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eagerly</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وَالِدَيَّ</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parents</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writer choose history first?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parents chose it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interested in it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easy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did she meet?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teacher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parents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careers adviser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she waiting for eagerly?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start of term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exams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results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VIII + ilā?</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اِخْتَرْتُ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اِسْتَمَعْتُ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أَحْتَرِمُ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writer choose history first?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parents chose it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is interested in it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easy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Ahtammu bi-t-tārīkh.</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did she meet?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teacher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parents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careers adviser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Ijtamaʿtu maʿa l-murshida.</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she waiting for eagerly?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start of term</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exams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results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Antaẓiru bidāyata l-faṣl.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VIII + ilā?</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اِخْتَرْتُ</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اِسْتَمَعْتُ</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أَحْتَرِمُ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istamaʿtu ilā.</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Speaking: my choices and interests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بِمَاذَا تَهْتَمُّ؟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مَوَادَّ اخْتَرْتَ هَذِهِ السَّنَةَ؟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الْمَهَارَاتُ الَّتِي تَكْتَسِبُهَا؟ وَمَتَى تَجْتَمِعُ مَعَ زُمَلَائِكَ؟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أَهْتَمُّ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اِخْتَرْتُ ___ لِأَنَّنِي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أَكْتَسِبُ ___ ، وَنَجْتَمِعُ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بِمَاذَا تَهْتَمِّينَ؟</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are you interested in?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أَهْتَمُّ بِالْفَنِّ وَالتَّصْمِيمِ. اِخْتَرْتُ دَرْسَ الرَّسْمِ، وَأَكْتَسِبُ مَهَارَاتٍ جَدِيدَةً كُلَّ أُسْبُوعٍ.</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am interested in art and design. I chose the drawing course, and I acquire new skills every week.</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akhtāru · ahtammu bi- · aktasibu.</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ijtamaʿa, istamaʿa ilā and a verbal noun.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Past and present.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 options choice with five Form VIII verbs, including intaẓara and iḥtarama.</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look-alike explained.</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اِخْتَرْتُ ______ هَذِهِ السَّنَةَ.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chose … this year</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اِسْتَمَعْتُ إِلَى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listened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أَنْتَظِرُ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waiting for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اِحْتِرَامُ ______ مُهِمٌّ.</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Respect for … is important</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أَخْتَارُ ______ لِأَنَّ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choose … because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أَهْتَمُّ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interested in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أَكْتَسِبُ مَهَارَاتٍ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acquire … skills</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نَجْتَمِعُ كُلَّ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meet every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اِخْتَارَ · يَخْتَارُ  ·  اِهْتَمَّ · يَهْتَمُّ  ·  اِكْتَسَبَ · يَكْتَسِبُ  ·  اِجْتَمَعَ · يَجْتَمِعُ  ·  اِسْتَمَعَ · يَسْتَمِعُ  ·  اِنْتَظَرَ · يَنْتَظِرُ  ·  اِحْتَرَمَ · يَحْتَرِمُ  ·  اِجْتِمَاعٌ  ·  اِخْتِيَارٌ</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choosing your options with five Form VIII verbs, including intaẓara and iḥtarama.</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Form VIII verbs (t after the first root letter).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with i-, present without it.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ihtamma + bi- and istamaʿa + ilā.</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verbal noun (ijtimāʿ, ikhtiyār).</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look-alike explained (istamaʿa vs istaʿmala).</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لِذَلِكَ</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 therefore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الْمُسْتَقْبَلِ</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future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مَهَارَاتٌ جَدِيدَةٌ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new skills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نَصِيحَةٌ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advice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بِشَوْقٍ</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eagerly</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رَأْيُ</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opinion of</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الشَّهْرِ الْمَاضِي اخْتَرْتُ مَوَادَّ السَّنَةِ الْقَادِمَةِ. أَهْتَمُّ بِالْحَاسُوبِ وَالرِّيَاضِيَّاتِ، لِذَلِكَ اخْتَرْتُ الْبَرْمَجَةَ. اِجْتَمَعْتُ مَعَ مُعَلِّمِي، وَاسْتَمَعْتُ إِلَى رَأْيِهِ بِاهْتِمَامٍ. قَالَ إِنَّنِي سَأَكْتَسِبُ مَهَارَاتٍ مُفِيدَةً لِلْمُسْتَقْبَلِ. أَحْتَرِمُ رَأْيَ أُسْرَتِي أَيْضًا، وَقَدِ اتَّفَقْنَا عَلَى اخْتِيَارِي. الْآنَ أَنْتَظِرُ الِامْتِحَانَاتِ، وَأَسْتَعْمِلُ الْحَاسُوبَ لِلْمُرَاجَعَةِ.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month I chose next year’s subjects. I am interested in computers and maths, so I chose programming. I met my teacher and listened to his opinion carefully. He said I will acquire useful skills for the future. I respect my family’s opinion too, and we agreed on my choice. Now I am waiting for the exams, and I use the computer for revision.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VIII past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VIII present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iftiʿāl noun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X verb</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VIII verbs have a t after the first root letter.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Past starts with i-; present with ya- / a- / na-.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ihtamma bi- and istamaʿa ilā.</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verbal noun like ijtimāʿ.</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confuse VIII with VII or X.</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chose”.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اِخْتَرْتُ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أَخْتَارُ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خِرْتُ</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VIII?</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اِسْتَعْمَلَ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اِسْتَمَعَ</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اِسْتَقْبَلَ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meet every Friday”.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يَجْتَمِعُونَ كُلَّ جُمُعَةٍ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يَجْمَعُونَ كُلَّ جُمُعَةٍ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اِجْتَمِعُوا كُلَّ جُمُعَةٍ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chose”.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اِخْتَرْتُ</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أَخْتَارُ</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خِرْتُ</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of ikhtāra.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VIII?</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اِسْتَعْمَلَ</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اِسْتَمَعَ</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اِسْتَقْبَلَ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s-m-ʿ + 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meet every Friday”.</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يَجْتَمِعُونَ كُلَّ جُمُعَةٍ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يَجْمَعُونَ كُلَّ جُمُعَةٍ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اِجْتَمِعُوا كُلَّ جُمُعَةٍ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VIII present + -ūna.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GM-VF-08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GM-VF-09: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GM-VF-09 · Form IX: Colours and Physical States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اِحْمَرَّ · يَحْمَرُّ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turn red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اِصْفَرَّ · يَصْفَرُّ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turn yellow</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اِخْضَرَّ · يَخْضَرُّ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turn green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أَحْمَرُ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الْأَلْوَانُ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colours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Aḥmar = red. Iḥmarra = ? What do you notice at the end of the verb?</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أَحْمَرُ · اِحْمَرَّ</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ikhtāra, ijtamaʿa and iktasaba.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Conjugate intaẓara in past and present for six persons.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An options choice with five Form VIII verbs.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cs typeface="Amiri" pitchFamily="2" charset="-78"/>
              </a:rPr>
              <a:t>GM-VF-09 · Form IX: Colours and Physical States</a:t>
            </a:r>
            <a:endParaRPr lang="en-US" sz="20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الْوَزْنُ التَّاسِعُ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Form VIII = t after the first root letter (iftaʿala) · present yaftaʿilu · noun iftiʿāl (ijtimāʿ, imtiḥān) · istamaʿa and intaẓara are VIII — not X or VII.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GM-VF-08 · Form VIII: Meeting, Choosing and Acquiring</dc:title>
  <dc:subject>PptxGenJS Presentation</dc:subject>
  <dc:creator>Al Madina Online School · Arabic Department</dc:creator>
  <cp:lastModifiedBy>Al Madina Online School · Arabic Department</cp:lastModifiedBy>
  <cp:revision>1</cp:revision>
  <dcterms:created xsi:type="dcterms:W3CDTF">2026-10-11T06:42:45Z</dcterms:created>
  <dcterms:modified xsi:type="dcterms:W3CDTF">2026-10-11T06:42:45Z</dcterms:modified>
</cp:coreProperties>
</file>