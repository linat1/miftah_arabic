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Arabic Verb Forms › GM-VF-06 (“Form VI: Cooperation and Mutual Action”).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تَعَاوَنَ · يَتَعَاوَنُ and the family تَبَادَلَ · تَفَاهَمَ · تَشَارَكَ for a group project. Develop: plural and dual forms (نَتَعَاوَنُ · يَتَبَادَلُونَ · يَتَعَاوَنَانِ) and the verbal noun تَفَاعُلٌ (تَعَاوُنٌ · تَبَادُلٌ). Stretch: Form III → VI (شَارَكَ / تَشَارَكَ · قَابَلَ / تَقَابَلَ) and telling Form VI (ta- + ā) from Form V (ta- + shadda).
• Website clinic: taʿāwana is already Form VI — never add another ta-. A singular subject is fine with maʿa: أَتَعَاوَنُ مَعَ صَدِيقِي.
• Note: the vowel before the last letter of the present stays a: yataʿāwanu (not yataʿāwinu).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Teacher-written retrieval from GM-VF-05 and its prep words (taʿāwana, tanāqasha, tabādala, taqābala).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Form VI = ta- + long ā after the first letter (tafāʿala). Present = ya- + ta- … with a before the last letter (yatafāʿalu).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“Root and pattern”. Mutaʿāwin = cooperative (a useful adjective).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(4 min) — website “Learn the family” (first three examples are the website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(3 min). Plural persons first, because Form VI is most often used for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Self-check items, plus two teacher items.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“Apply the form” model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Pairs: “I met Sara” (qābaltu Sāra) → “We met each other” (taqābalnā).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1 or 2 and say the clue (shadda or 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1 or 2 and say the clue (shadda or 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Self-check item and teacher-written questions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reading for Form VI (teacher-written report). Read it aloud once while students follow; then they hunt for today’s grammar.
Task: Website: write about a group project. First, underline every Form VI verb here.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report for the website “Apply the form” task;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“Apply the form”. Sequence: ● 10s think → ↔ 45s rehearse aloud with mic muted → ◎ two named students on open mic (warned in advance) → + ? the class types one follow-up in chat → ↺ one student summarises.
Routes: Core uses the Core prompt and stem; Develop the Develop prompt; Stretch the last prompt.
Website: cooperation, exchanging ideas and one past-tense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four sentences about a group project. Include cooperation, exchanging ideas and one past-tense action.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(GM-VF-07 · Form VII: Change of State) will spend class time USING this language, so students prepare it tonight — short, simple, easy to access (school guidance: “Simple, Short, Interesting, Relevant, Easy to access”). The five words prepare GM-VF-07 (website Verb Forms: Form VII).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ARABIC VERB FORMS  ·  GM-VF-06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GM-VF-06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750" b="1" dirty="0">
                <a:solidFill>
                  <a:srgbClr val="FFFFFF"/>
                </a:solidFill>
                <a:latin typeface="Cambria" pitchFamily="34" charset="0"/>
                <a:cs typeface="Amiri" pitchFamily="2" charset="-78"/>
              </a:rPr>
              <a:t>Form VI: Cooperation and Mutual Action</a:t>
            </a:r>
            <a:endParaRPr lang="en-US" sz="27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الْوَزْنُ السَّادِسُ</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Form VI = ta- + Form III: shāraka (participate) → tashāraka (share together). Present: yatashāraku. It often means doing something together or to each other — with a plural subject, or “with” someone.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GM-VF-06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Arabic Verb Forms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Pattern card; family; conjugation; Form III vs VI.</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Help → help each other; sort Form V / Form VI;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GM-VF-07.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V?</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تَعَلَّمَ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عَالَمَ</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Taʿāwana means …</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cooperate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help someone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learn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Tabādala means …</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change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send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 exchange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present of </a:t>
            </a:r>
            <a:pPr algn="l" indent="0" marL="0">
              <a:buNone/>
            </a:pPr>
            <a:r>
              <a:rPr lang="ar-SA" altLang="en-US" sz="1650" b="1" dirty="0">
                <a:solidFill>
                  <a:srgbClr val="1B3B6F"/>
                </a:solidFill>
                <a:latin typeface="Amiri" pitchFamily="2" charset="-78"/>
                <a:cs typeface="Amiri" pitchFamily="2" charset="-78"/>
              </a:rPr>
              <a:t>تَعَاوَنَ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يُعَاوِنُ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يَتَعَاوِنُ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يَتَعَاوَنُ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Baʿḍunā baʿḍan means …</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each other</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 of us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day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V?</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عَلَّمَ</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تَعَلَّمَ</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عَالَمَ</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 + shadda (GM-VF-05).</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Taʿāwana means …</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cooperate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help someone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learn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 word.</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Tabādala means …</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change</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 send</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 exchange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 word.</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present of </a:t>
            </a:r>
            <a:pPr algn="l" indent="0" marL="0">
              <a:buNone/>
            </a:pPr>
            <a:r>
              <a:rPr lang="ar-SA" altLang="en-US" sz="1650" b="1" dirty="0">
                <a:solidFill>
                  <a:srgbClr val="1B3B6F"/>
                </a:solidFill>
                <a:latin typeface="Amiri" pitchFamily="2" charset="-78"/>
                <a:cs typeface="Amiri" pitchFamily="2" charset="-78"/>
              </a:rPr>
              <a:t>تَعَاوَنَ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يُعَاوِنُ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يَتَعَاوِنُ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يَتَعَاوَنُ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VI: ya- + ta- … 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Baʿḍunā baʿḍan means …</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each other</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some of us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day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 phrase.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200" b="1" dirty="0">
                <a:solidFill>
                  <a:srgbClr val="1F2A37"/>
                </a:solidFill>
                <a:latin typeface="Calibri" pitchFamily="34" charset="0"/>
                <a:cs typeface="Amiri" pitchFamily="2" charset="-78"/>
              </a:rPr>
              <a:t>Form VI = ta- + long ā after the first letter (tafāʿala). Present = ya- + ta- … with a before the last letter (yatafāʿalu).</a:t>
            </a:r>
            <a:endParaRPr lang="en-US" sz="12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cs typeface="Amiri" pitchFamily="2" charset="-78"/>
              </a:rPr>
              <a:t>شَارَكَ</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cs typeface="Amiri" pitchFamily="2" charset="-78"/>
              </a:rPr>
              <a:t>تَشَارَكَ</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D6336C"/>
                </a:solidFill>
                <a:latin typeface="Amiri" pitchFamily="2" charset="-78"/>
                <a:cs typeface="Amiri" pitchFamily="2" charset="-78"/>
              </a:rPr>
              <a:t>يَتَشَارَكُ</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Form VI: ta- + long ā.</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the present with ya- + ta-.</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group work with Form VI verbs.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Form VI from Form V.</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we cooperate and we exchange ideas.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write one sentence about a group project.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plural and dual Form VI verbs.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taʿāwun and tabādul.</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compare shāraka / tashāraka and qābala / taqābala.</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tell taʿāwana (VI) from taʿallama (V).</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الْوَزْنُ السَّادِسُ</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 VI</a:t>
            </a:r>
            <a:endParaRPr lang="en-US" sz="1350" dirty="0"/>
          </a:p>
          <a:p>
            <a:pPr indent="0" marL="0">
              <a:buNone/>
            </a:pPr>
            <a:r>
              <a:rPr lang="en-US" sz="1100" i="1" dirty="0">
                <a:solidFill>
                  <a:srgbClr val="5A6472"/>
                </a:solidFill>
                <a:latin typeface="Calibri" pitchFamily="34" charset="0"/>
                <a:cs typeface="Amiri" pitchFamily="2" charset="-78"/>
              </a:rPr>
              <a:t>al-waz-nu as-sā-di-su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تَفَاعَلَ</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الْمُشَارَكَةُ بَيْنَ اثْنَيْنِ</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mutual / shared action</a:t>
            </a:r>
            <a:endParaRPr lang="en-US" sz="1350" dirty="0"/>
          </a:p>
          <a:p>
            <a:pPr indent="0" marL="0">
              <a:buNone/>
            </a:pPr>
            <a:r>
              <a:rPr lang="en-US" sz="1100" i="1" dirty="0">
                <a:solidFill>
                  <a:srgbClr val="5A6472"/>
                </a:solidFill>
                <a:latin typeface="Calibri" pitchFamily="34" charset="0"/>
                <a:cs typeface="Amiri" pitchFamily="2" charset="-78"/>
              </a:rPr>
              <a:t>al-mu-shā-ra-ka-tu bay-na ath-nay-ni</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تَبَادَلْنَا</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بَعْضُهُمْ بَعْضًا</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each other</a:t>
            </a:r>
            <a:endParaRPr lang="en-US" sz="1350" dirty="0"/>
          </a:p>
          <a:p>
            <a:pPr indent="0" marL="0">
              <a:buNone/>
            </a:pPr>
            <a:r>
              <a:rPr lang="en-US" sz="1100" i="1" dirty="0">
                <a:solidFill>
                  <a:srgbClr val="5A6472"/>
                </a:solidFill>
                <a:latin typeface="Calibri" pitchFamily="34" charset="0"/>
                <a:cs typeface="Amiri" pitchFamily="2" charset="-78"/>
              </a:rPr>
              <a:t>baʿ-ḍu-hum baʿ-ḍan</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سَاعَدَ بَعْضُهُمْ بَعْضًا</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with (singular subject)</a:t>
            </a:r>
            <a:endParaRPr lang="en-US" sz="1350" dirty="0"/>
          </a:p>
          <a:p>
            <a:pPr indent="0" marL="0">
              <a:buNone/>
            </a:pPr>
            <a:r>
              <a:rPr lang="en-US" sz="1100" i="1" dirty="0">
                <a:solidFill>
                  <a:srgbClr val="5A6472"/>
                </a:solidFill>
                <a:latin typeface="Calibri" pitchFamily="34" charset="0"/>
                <a:cs typeface="Amiri" pitchFamily="2" charset="-78"/>
              </a:rPr>
              <a:t>ma-ʿa</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أَتَعَاوَنُ مَعَ</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تَفَاعُلٌ</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 VI verbal noun</a:t>
            </a:r>
            <a:endParaRPr lang="en-US" sz="1350" dirty="0"/>
          </a:p>
          <a:p>
            <a:pPr indent="0" marL="0">
              <a:buNone/>
            </a:pPr>
            <a:r>
              <a:rPr lang="en-US" sz="1100" i="1" dirty="0">
                <a:solidFill>
                  <a:srgbClr val="5A6472"/>
                </a:solidFill>
                <a:latin typeface="Calibri" pitchFamily="34" charset="0"/>
                <a:cs typeface="Amiri" pitchFamily="2" charset="-78"/>
              </a:rPr>
              <a:t>ta-fā-ʿu-lun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تَعَاوُنٌ</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مُتَفَاعِلٌ</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 VI doer</a:t>
            </a:r>
            <a:endParaRPr lang="en-US" sz="1350" dirty="0"/>
          </a:p>
          <a:p>
            <a:pPr indent="0" marL="0">
              <a:buNone/>
            </a:pPr>
            <a:r>
              <a:rPr lang="en-US" sz="1100" i="1" dirty="0">
                <a:solidFill>
                  <a:srgbClr val="5A6472"/>
                </a:solidFill>
                <a:latin typeface="Calibri" pitchFamily="34" charset="0"/>
                <a:cs typeface="Amiri" pitchFamily="2" charset="-78"/>
              </a:rPr>
              <a:t>mu-ta-fā-ʿi-lun</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مُتَعَاوِنٌ</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THE FORM VI PATTERN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ta- + a long ā</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تَفَاعَلَ · يَتَفَاعَلُ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948672" y="1810512"/>
            <a:ext cx="1709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Command</a:t>
            </a:r>
            <a:endParaRPr lang="en-US" sz="1100" dirty="0"/>
          </a:p>
        </p:txBody>
      </p:sp>
      <p:sp>
        <p:nvSpPr>
          <p:cNvPr id="17" name="Text 14"/>
          <p:cNvSpPr txBox="1"/>
          <p:nvPr/>
        </p:nvSpPr>
        <p:spPr>
          <a:xfrm>
            <a:off x="802843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Doer</a:t>
            </a:r>
            <a:endParaRPr lang="en-US" sz="1100" dirty="0"/>
          </a:p>
        </p:txBody>
      </p:sp>
      <p:sp>
        <p:nvSpPr>
          <p:cNvPr id="18" name="Text 15"/>
          <p:cNvSpPr txBox="1"/>
          <p:nvPr/>
        </p:nvSpPr>
        <p:spPr>
          <a:xfrm>
            <a:off x="610819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Verbal noun</a:t>
            </a:r>
            <a:endParaRPr lang="en-US" sz="1100" dirty="0"/>
          </a:p>
        </p:txBody>
      </p:sp>
      <p:sp>
        <p:nvSpPr>
          <p:cNvPr id="19" name="Text 16"/>
          <p:cNvSpPr txBox="1"/>
          <p:nvPr/>
        </p:nvSpPr>
        <p:spPr>
          <a:xfrm>
            <a:off x="418795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20" name="Text 17"/>
          <p:cNvSpPr txBox="1"/>
          <p:nvPr/>
        </p:nvSpPr>
        <p:spPr>
          <a:xfrm>
            <a:off x="226771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a:t>
            </a:r>
            <a:endParaRPr lang="en-US" sz="1100" dirty="0"/>
          </a:p>
        </p:txBody>
      </p:sp>
      <p:sp>
        <p:nvSpPr>
          <p:cNvPr id="21" name="Text 18"/>
          <p:cNvSpPr txBox="1"/>
          <p:nvPr/>
        </p:nvSpPr>
        <p:spPr>
          <a:xfrm>
            <a:off x="530352" y="1810512"/>
            <a:ext cx="1591056" cy="384048"/>
          </a:xfrm>
          <a:prstGeom prst="rect">
            <a:avLst/>
          </a:prstGeom>
          <a:noFill/>
          <a:ln/>
        </p:spPr>
        <p:txBody>
          <a:bodyPr wrap="square" lIns="0" tIns="0" rIns="0" bIns="0" rtlCol="0" anchor="ctr"/>
          <a:lstStyle/>
          <a:p>
            <a:pPr algn="ctr" indent="0" marL="0">
              <a:buNone/>
            </a:pPr>
            <a:endParaRPr lang="en-US" sz="1100" dirty="0"/>
          </a:p>
        </p:txBody>
      </p:sp>
      <p:sp>
        <p:nvSpPr>
          <p:cNvPr id="22" name="Shape 19"/>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3" name="Text 20"/>
          <p:cNvSpPr txBox="1"/>
          <p:nvPr/>
        </p:nvSpPr>
        <p:spPr>
          <a:xfrm>
            <a:off x="9966960" y="2267712"/>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تَفَاعَلْ</a:t>
            </a:r>
            <a:endParaRPr lang="ar-SA" sz="2400" dirty="0"/>
          </a:p>
        </p:txBody>
      </p:sp>
      <p:sp>
        <p:nvSpPr>
          <p:cNvPr id="24" name="Text 21"/>
          <p:cNvSpPr txBox="1"/>
          <p:nvPr/>
        </p:nvSpPr>
        <p:spPr>
          <a:xfrm>
            <a:off x="804672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مُتَفَاعِلٌ</a:t>
            </a:r>
            <a:endParaRPr lang="ar-SA" sz="2400" dirty="0"/>
          </a:p>
        </p:txBody>
      </p:sp>
      <p:sp>
        <p:nvSpPr>
          <p:cNvPr id="25" name="Text 22"/>
          <p:cNvSpPr txBox="1"/>
          <p:nvPr/>
        </p:nvSpPr>
        <p:spPr>
          <a:xfrm>
            <a:off x="612648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تَفَاعُلٌ</a:t>
            </a:r>
            <a:endParaRPr lang="ar-SA" sz="2400" dirty="0"/>
          </a:p>
        </p:txBody>
      </p:sp>
      <p:sp>
        <p:nvSpPr>
          <p:cNvPr id="26" name="Text 23"/>
          <p:cNvSpPr txBox="1"/>
          <p:nvPr/>
        </p:nvSpPr>
        <p:spPr>
          <a:xfrm>
            <a:off x="420624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يَتَفَاعَلُ</a:t>
            </a:r>
            <a:endParaRPr lang="ar-SA" sz="2400" dirty="0"/>
          </a:p>
        </p:txBody>
      </p:sp>
      <p:sp>
        <p:nvSpPr>
          <p:cNvPr id="27" name="Text 24"/>
          <p:cNvSpPr txBox="1"/>
          <p:nvPr/>
        </p:nvSpPr>
        <p:spPr>
          <a:xfrm>
            <a:off x="2286000" y="2267712"/>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تَفَاعَلَ</a:t>
            </a:r>
            <a:endParaRPr lang="ar-SA" sz="2400" dirty="0"/>
          </a:p>
        </p:txBody>
      </p:sp>
      <p:sp>
        <p:nvSpPr>
          <p:cNvPr id="28" name="Text 25"/>
          <p:cNvSpPr txBox="1"/>
          <p:nvPr/>
        </p:nvSpPr>
        <p:spPr>
          <a:xfrm>
            <a:off x="566928" y="2267712"/>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template</a:t>
            </a:r>
            <a:endParaRPr lang="en-US" sz="110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966960" y="3004718"/>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تَعَاوَنْ</a:t>
            </a:r>
            <a:endParaRPr lang="ar-SA" sz="2400" dirty="0"/>
          </a:p>
        </p:txBody>
      </p:sp>
      <p:sp>
        <p:nvSpPr>
          <p:cNvPr id="31" name="Text 28"/>
          <p:cNvSpPr txBox="1"/>
          <p:nvPr/>
        </p:nvSpPr>
        <p:spPr>
          <a:xfrm>
            <a:off x="804672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مُتَعَاوِنٌ</a:t>
            </a:r>
            <a:endParaRPr lang="ar-SA" sz="2400" dirty="0"/>
          </a:p>
        </p:txBody>
      </p:sp>
      <p:sp>
        <p:nvSpPr>
          <p:cNvPr id="32" name="Text 29"/>
          <p:cNvSpPr txBox="1"/>
          <p:nvPr/>
        </p:nvSpPr>
        <p:spPr>
          <a:xfrm>
            <a:off x="612648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تَعَاوُنٌ</a:t>
            </a:r>
            <a:endParaRPr lang="ar-SA" sz="2400" dirty="0"/>
          </a:p>
        </p:txBody>
      </p:sp>
      <p:sp>
        <p:nvSpPr>
          <p:cNvPr id="33" name="Text 30"/>
          <p:cNvSpPr txBox="1"/>
          <p:nvPr/>
        </p:nvSpPr>
        <p:spPr>
          <a:xfrm>
            <a:off x="420624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يَتَعَاوَنُ</a:t>
            </a:r>
            <a:endParaRPr lang="ar-SA" sz="2400" dirty="0"/>
          </a:p>
        </p:txBody>
      </p:sp>
      <p:sp>
        <p:nvSpPr>
          <p:cNvPr id="34" name="Text 31"/>
          <p:cNvSpPr txBox="1"/>
          <p:nvPr/>
        </p:nvSpPr>
        <p:spPr>
          <a:xfrm>
            <a:off x="2286000" y="300471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تَعَاوَنَ</a:t>
            </a:r>
            <a:endParaRPr lang="ar-SA" sz="2400" dirty="0"/>
          </a:p>
        </p:txBody>
      </p:sp>
      <p:sp>
        <p:nvSpPr>
          <p:cNvPr id="35" name="Text 32"/>
          <p:cNvSpPr txBox="1"/>
          <p:nvPr/>
        </p:nvSpPr>
        <p:spPr>
          <a:xfrm>
            <a:off x="566928" y="300471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cooperate</a:t>
            </a:r>
            <a:endParaRPr lang="en-US" sz="1100" dirty="0"/>
          </a:p>
        </p:txBody>
      </p:sp>
      <p:sp>
        <p:nvSpPr>
          <p:cNvPr id="36" name="Shape 33"/>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9" name="Text 36"/>
          <p:cNvSpPr txBox="1"/>
          <p:nvPr/>
        </p:nvSpPr>
        <p:spPr>
          <a:xfrm>
            <a:off x="9966960" y="3741725"/>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تَبَادَلْ</a:t>
            </a:r>
            <a:endParaRPr lang="ar-SA" sz="2400" dirty="0"/>
          </a:p>
        </p:txBody>
      </p:sp>
      <p:sp>
        <p:nvSpPr>
          <p:cNvPr id="40" name="Text 37"/>
          <p:cNvSpPr txBox="1"/>
          <p:nvPr/>
        </p:nvSpPr>
        <p:spPr>
          <a:xfrm>
            <a:off x="804672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مُتَبَادِلٌ</a:t>
            </a:r>
            <a:endParaRPr lang="ar-SA" sz="2400" dirty="0"/>
          </a:p>
        </p:txBody>
      </p:sp>
      <p:sp>
        <p:nvSpPr>
          <p:cNvPr id="41" name="Text 38"/>
          <p:cNvSpPr txBox="1"/>
          <p:nvPr/>
        </p:nvSpPr>
        <p:spPr>
          <a:xfrm>
            <a:off x="612648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تَبَادُلٌ</a:t>
            </a:r>
            <a:endParaRPr lang="ar-SA" sz="2400" dirty="0"/>
          </a:p>
        </p:txBody>
      </p:sp>
      <p:sp>
        <p:nvSpPr>
          <p:cNvPr id="42" name="Text 39"/>
          <p:cNvSpPr txBox="1"/>
          <p:nvPr/>
        </p:nvSpPr>
        <p:spPr>
          <a:xfrm>
            <a:off x="420624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يَتَبَادَلُ</a:t>
            </a:r>
            <a:endParaRPr lang="ar-SA" sz="2400" dirty="0"/>
          </a:p>
        </p:txBody>
      </p:sp>
      <p:sp>
        <p:nvSpPr>
          <p:cNvPr id="43" name="Text 40"/>
          <p:cNvSpPr txBox="1"/>
          <p:nvPr/>
        </p:nvSpPr>
        <p:spPr>
          <a:xfrm>
            <a:off x="2286000" y="3741725"/>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تَبَادَلَ</a:t>
            </a:r>
            <a:endParaRPr lang="ar-SA" sz="2400" dirty="0"/>
          </a:p>
        </p:txBody>
      </p:sp>
      <p:sp>
        <p:nvSpPr>
          <p:cNvPr id="44" name="Text 41"/>
          <p:cNvSpPr txBox="1"/>
          <p:nvPr/>
        </p:nvSpPr>
        <p:spPr>
          <a:xfrm>
            <a:off x="566928" y="3741725"/>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exchange</a:t>
            </a:r>
            <a:endParaRPr lang="en-US" sz="110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966960" y="4478731"/>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تَفَاهَمْ</a:t>
            </a:r>
            <a:endParaRPr lang="ar-SA" sz="2400" dirty="0"/>
          </a:p>
        </p:txBody>
      </p:sp>
      <p:sp>
        <p:nvSpPr>
          <p:cNvPr id="47" name="Text 44"/>
          <p:cNvSpPr txBox="1"/>
          <p:nvPr/>
        </p:nvSpPr>
        <p:spPr>
          <a:xfrm>
            <a:off x="804672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مُتَفَاهِمٌ</a:t>
            </a:r>
            <a:endParaRPr lang="ar-SA" sz="2400" dirty="0"/>
          </a:p>
        </p:txBody>
      </p:sp>
      <p:sp>
        <p:nvSpPr>
          <p:cNvPr id="48" name="Text 45"/>
          <p:cNvSpPr txBox="1"/>
          <p:nvPr/>
        </p:nvSpPr>
        <p:spPr>
          <a:xfrm>
            <a:off x="612648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تَفَاهُمٌ</a:t>
            </a:r>
            <a:endParaRPr lang="ar-SA" sz="2400" dirty="0"/>
          </a:p>
        </p:txBody>
      </p:sp>
      <p:sp>
        <p:nvSpPr>
          <p:cNvPr id="49" name="Text 46"/>
          <p:cNvSpPr txBox="1"/>
          <p:nvPr/>
        </p:nvSpPr>
        <p:spPr>
          <a:xfrm>
            <a:off x="420624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يَتَفَاهَمُ</a:t>
            </a:r>
            <a:endParaRPr lang="ar-SA" sz="2400" dirty="0"/>
          </a:p>
        </p:txBody>
      </p:sp>
      <p:sp>
        <p:nvSpPr>
          <p:cNvPr id="50" name="Text 47"/>
          <p:cNvSpPr txBox="1"/>
          <p:nvPr/>
        </p:nvSpPr>
        <p:spPr>
          <a:xfrm>
            <a:off x="2286000" y="4478731"/>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تَفَاهَمَ</a:t>
            </a:r>
            <a:endParaRPr lang="ar-SA" sz="2400" dirty="0"/>
          </a:p>
        </p:txBody>
      </p:sp>
      <p:sp>
        <p:nvSpPr>
          <p:cNvPr id="51" name="Text 48"/>
          <p:cNvSpPr txBox="1"/>
          <p:nvPr/>
        </p:nvSpPr>
        <p:spPr>
          <a:xfrm>
            <a:off x="566928" y="4478731"/>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understand each other</a:t>
            </a:r>
            <a:endParaRPr lang="en-US" sz="1100" dirty="0"/>
          </a:p>
        </p:txBody>
      </p:sp>
      <p:sp>
        <p:nvSpPr>
          <p:cNvPr id="52" name="Shape 49"/>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3" name="Text 50"/>
          <p:cNvSpPr txBox="1"/>
          <p:nvPr/>
        </p:nvSpPr>
        <p:spPr>
          <a:xfrm>
            <a:off x="9966960" y="5215738"/>
            <a:ext cx="16733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تَشَارَكْ</a:t>
            </a:r>
            <a:endParaRPr lang="ar-SA" sz="2400" dirty="0"/>
          </a:p>
        </p:txBody>
      </p:sp>
      <p:sp>
        <p:nvSpPr>
          <p:cNvPr id="54" name="Text 51"/>
          <p:cNvSpPr txBox="1"/>
          <p:nvPr/>
        </p:nvSpPr>
        <p:spPr>
          <a:xfrm>
            <a:off x="804672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مُتَشَارِكٌ</a:t>
            </a:r>
            <a:endParaRPr lang="ar-SA" sz="2400" dirty="0"/>
          </a:p>
        </p:txBody>
      </p:sp>
      <p:sp>
        <p:nvSpPr>
          <p:cNvPr id="55" name="Text 52"/>
          <p:cNvSpPr txBox="1"/>
          <p:nvPr/>
        </p:nvSpPr>
        <p:spPr>
          <a:xfrm>
            <a:off x="612648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تَشَارُكٌ</a:t>
            </a:r>
            <a:endParaRPr lang="ar-SA" sz="2400" dirty="0"/>
          </a:p>
        </p:txBody>
      </p:sp>
      <p:sp>
        <p:nvSpPr>
          <p:cNvPr id="56" name="Text 53"/>
          <p:cNvSpPr txBox="1"/>
          <p:nvPr/>
        </p:nvSpPr>
        <p:spPr>
          <a:xfrm>
            <a:off x="420624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يَتَشَارَكُ</a:t>
            </a:r>
            <a:endParaRPr lang="ar-SA" sz="2400" dirty="0"/>
          </a:p>
        </p:txBody>
      </p:sp>
      <p:sp>
        <p:nvSpPr>
          <p:cNvPr id="57" name="Text 54"/>
          <p:cNvSpPr txBox="1"/>
          <p:nvPr/>
        </p:nvSpPr>
        <p:spPr>
          <a:xfrm>
            <a:off x="2286000" y="5215738"/>
            <a:ext cx="17373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تَشَارَكَ</a:t>
            </a:r>
            <a:endParaRPr lang="ar-SA" sz="2400" dirty="0"/>
          </a:p>
        </p:txBody>
      </p:sp>
      <p:sp>
        <p:nvSpPr>
          <p:cNvPr id="58" name="Text 55"/>
          <p:cNvSpPr txBox="1"/>
          <p:nvPr/>
        </p:nvSpPr>
        <p:spPr>
          <a:xfrm>
            <a:off x="566928" y="521573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share together</a:t>
            </a:r>
            <a:endParaRPr lang="en-US" sz="1100" dirty="0"/>
          </a:p>
        </p:txBody>
      </p:sp>
      <p:sp>
        <p:nvSpPr>
          <p:cNvPr id="59" name="Text 5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Form VI adds ta- before the root and a long ā after the first root consonant. The present commonly follows yatafāʿalu.</a:t>
            </a:r>
            <a:endParaRPr lang="en-US" sz="1150" dirty="0"/>
          </a:p>
        </p:txBody>
      </p:sp>
      <p:sp>
        <p:nvSpPr>
          <p:cNvPr id="60" name="Text 5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LEARN THE FAMILY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Form VI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أُسْرَةُ الْوَزْنِ السَّادِسِ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833872" y="1810512"/>
            <a:ext cx="58247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7" name="Text 14"/>
          <p:cNvSpPr txBox="1"/>
          <p:nvPr/>
        </p:nvSpPr>
        <p:spPr>
          <a:xfrm>
            <a:off x="363931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 · present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5852160" y="2267712"/>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يَتَعَاوَنُ الطُّلَّابُ فِي الْمَشْرُوعِ.</a:t>
            </a:r>
            <a:endParaRPr lang="ar-SA" sz="2000" dirty="0"/>
          </a:p>
        </p:txBody>
      </p:sp>
      <p:sp>
        <p:nvSpPr>
          <p:cNvPr id="21" name="Text 18"/>
          <p:cNvSpPr txBox="1"/>
          <p:nvPr/>
        </p:nvSpPr>
        <p:spPr>
          <a:xfrm>
            <a:off x="3675888" y="226771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cooperate</a:t>
            </a:r>
            <a:endParaRPr lang="en-US" sz="1100" dirty="0"/>
          </a:p>
        </p:txBody>
      </p:sp>
      <p:sp>
        <p:nvSpPr>
          <p:cNvPr id="22" name="Text 19"/>
          <p:cNvSpPr txBox="1"/>
          <p:nvPr/>
        </p:nvSpPr>
        <p:spPr>
          <a:xfrm>
            <a:off x="548640" y="2267712"/>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تَعَاوَنَ · يَتَعَاوَنُ</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5852160" y="2881884"/>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تَبَادَلْنَا الْأَفْكَارَ فِي الِاجْتِمَاعِ.</a:t>
            </a:r>
            <a:endParaRPr lang="ar-SA" sz="2000" dirty="0"/>
          </a:p>
        </p:txBody>
      </p:sp>
      <p:sp>
        <p:nvSpPr>
          <p:cNvPr id="27" name="Text 24"/>
          <p:cNvSpPr txBox="1"/>
          <p:nvPr/>
        </p:nvSpPr>
        <p:spPr>
          <a:xfrm>
            <a:off x="3675888" y="2881884"/>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exchange</a:t>
            </a:r>
            <a:endParaRPr lang="en-US" sz="1100" dirty="0"/>
          </a:p>
        </p:txBody>
      </p:sp>
      <p:sp>
        <p:nvSpPr>
          <p:cNvPr id="28" name="Text 25"/>
          <p:cNvSpPr txBox="1"/>
          <p:nvPr/>
        </p:nvSpPr>
        <p:spPr>
          <a:xfrm>
            <a:off x="548640" y="2881884"/>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تَبَادَلَ · يَتَبَادَلُ</a:t>
            </a:r>
            <a:endParaRPr lang="ar-SA" sz="22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5852160" y="3496056"/>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أَتَفَاهَمُ مَعَ صَدِيقَتِي بِسُهُولَةٍ.</a:t>
            </a:r>
            <a:endParaRPr lang="ar-SA" sz="2000" dirty="0"/>
          </a:p>
        </p:txBody>
      </p:sp>
      <p:sp>
        <p:nvSpPr>
          <p:cNvPr id="33" name="Text 30"/>
          <p:cNvSpPr txBox="1"/>
          <p:nvPr/>
        </p:nvSpPr>
        <p:spPr>
          <a:xfrm>
            <a:off x="3675888" y="3496056"/>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get along / understand each other</a:t>
            </a:r>
            <a:endParaRPr lang="en-US" sz="1100" dirty="0"/>
          </a:p>
        </p:txBody>
      </p:sp>
      <p:sp>
        <p:nvSpPr>
          <p:cNvPr id="34" name="Text 31"/>
          <p:cNvSpPr txBox="1"/>
          <p:nvPr/>
        </p:nvSpPr>
        <p:spPr>
          <a:xfrm>
            <a:off x="548640" y="3496056"/>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تَفَاهَمَ · يَتَفَاهَمُ</a:t>
            </a:r>
            <a:endParaRPr lang="ar-SA" sz="22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5852160" y="4110228"/>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تَشَارَكْنَا فِي كِتَابَةِ التَّقْرِيرِ.</a:t>
            </a:r>
            <a:endParaRPr lang="ar-SA" sz="2000" dirty="0"/>
          </a:p>
        </p:txBody>
      </p:sp>
      <p:sp>
        <p:nvSpPr>
          <p:cNvPr id="39" name="Text 36"/>
          <p:cNvSpPr txBox="1"/>
          <p:nvPr/>
        </p:nvSpPr>
        <p:spPr>
          <a:xfrm>
            <a:off x="3675888" y="4110228"/>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share together</a:t>
            </a:r>
            <a:endParaRPr lang="en-US" sz="1100" dirty="0"/>
          </a:p>
        </p:txBody>
      </p:sp>
      <p:sp>
        <p:nvSpPr>
          <p:cNvPr id="40" name="Text 37"/>
          <p:cNvSpPr txBox="1"/>
          <p:nvPr/>
        </p:nvSpPr>
        <p:spPr>
          <a:xfrm>
            <a:off x="548640" y="4110228"/>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تَشَارَكَ · يَتَشَارَكُ</a:t>
            </a:r>
            <a:endParaRPr lang="ar-SA" sz="22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5852160" y="4724400"/>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تَنَاقَشَ الْفَرِيقُ فِي الْخُطَّةِ.</a:t>
            </a:r>
            <a:endParaRPr lang="ar-SA" sz="2000" dirty="0"/>
          </a:p>
        </p:txBody>
      </p:sp>
      <p:sp>
        <p:nvSpPr>
          <p:cNvPr id="43" name="Text 40"/>
          <p:cNvSpPr txBox="1"/>
          <p:nvPr/>
        </p:nvSpPr>
        <p:spPr>
          <a:xfrm>
            <a:off x="3675888" y="4724400"/>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discuss together</a:t>
            </a:r>
            <a:endParaRPr lang="en-US" sz="1100" dirty="0"/>
          </a:p>
        </p:txBody>
      </p:sp>
      <p:sp>
        <p:nvSpPr>
          <p:cNvPr id="44" name="Text 41"/>
          <p:cNvSpPr txBox="1"/>
          <p:nvPr/>
        </p:nvSpPr>
        <p:spPr>
          <a:xfrm>
            <a:off x="548640" y="4724400"/>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تَنَاقَشَ · يَتَنَاقَشُ</a:t>
            </a:r>
            <a:endParaRPr lang="ar-SA" sz="22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5852160" y="5338572"/>
            <a:ext cx="578815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تَقَابَلْنَا أَمَامَ الْمَكْتَبَةِ.</a:t>
            </a:r>
            <a:endParaRPr lang="ar-SA" sz="2000" dirty="0"/>
          </a:p>
        </p:txBody>
      </p:sp>
      <p:sp>
        <p:nvSpPr>
          <p:cNvPr id="47" name="Text 44"/>
          <p:cNvSpPr txBox="1"/>
          <p:nvPr/>
        </p:nvSpPr>
        <p:spPr>
          <a:xfrm>
            <a:off x="3675888" y="5338572"/>
            <a:ext cx="20116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meet each other</a:t>
            </a:r>
            <a:endParaRPr lang="en-US" sz="1100" dirty="0"/>
          </a:p>
        </p:txBody>
      </p:sp>
      <p:sp>
        <p:nvSpPr>
          <p:cNvPr id="48" name="Text 45"/>
          <p:cNvSpPr txBox="1"/>
          <p:nvPr/>
        </p:nvSpPr>
        <p:spPr>
          <a:xfrm>
            <a:off x="548640" y="5338572"/>
            <a:ext cx="29260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تَقَابَلَ · يَتَقَابَلُ</a:t>
            </a:r>
            <a:endParaRPr lang="ar-SA" sz="22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sāʿada means to help; tasāʿada can mean to help one another — a possible Form III–VI relationship, but meanings are not always predictable.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3 · CONJUGATE TAʿĀWANA · DEVELOP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Often plural — but not always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تَصْرِيفُ «تَعَاوَنَ»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Notice</a:t>
            </a:r>
            <a:endParaRPr lang="en-US" sz="1100" dirty="0"/>
          </a:p>
        </p:txBody>
      </p:sp>
      <p:sp>
        <p:nvSpPr>
          <p:cNvPr id="17" name="Text 14"/>
          <p:cNvSpPr txBox="1"/>
          <p:nvPr/>
        </p:nvSpPr>
        <p:spPr>
          <a:xfrm>
            <a:off x="565099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Present</a:t>
            </a:r>
            <a:endParaRPr lang="en-US" sz="1100" dirty="0"/>
          </a:p>
        </p:txBody>
      </p:sp>
      <p:sp>
        <p:nvSpPr>
          <p:cNvPr id="18" name="Text 15"/>
          <p:cNvSpPr txBox="1"/>
          <p:nvPr/>
        </p:nvSpPr>
        <p:spPr>
          <a:xfrm>
            <a:off x="272491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Past</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Person</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8796528" y="226771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 + ta-</a:t>
            </a:r>
            <a:endParaRPr lang="en-US" sz="1100" dirty="0"/>
          </a:p>
        </p:txBody>
      </p:sp>
      <p:sp>
        <p:nvSpPr>
          <p:cNvPr id="22" name="Text 19"/>
          <p:cNvSpPr txBox="1"/>
          <p:nvPr/>
        </p:nvSpPr>
        <p:spPr>
          <a:xfrm>
            <a:off x="5669280" y="226771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نَتَعَاوَنُ</a:t>
            </a:r>
            <a:endParaRPr lang="ar-SA" sz="2400" dirty="0"/>
          </a:p>
        </p:txBody>
      </p:sp>
      <p:sp>
        <p:nvSpPr>
          <p:cNvPr id="23" name="Text 20"/>
          <p:cNvSpPr txBox="1"/>
          <p:nvPr/>
        </p:nvSpPr>
        <p:spPr>
          <a:xfrm>
            <a:off x="2743200" y="226771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تَعَاوَنَّا</a:t>
            </a:r>
            <a:endParaRPr lang="ar-SA" sz="2400" dirty="0"/>
          </a:p>
        </p:txBody>
      </p:sp>
      <p:sp>
        <p:nvSpPr>
          <p:cNvPr id="24" name="Text 21"/>
          <p:cNvSpPr txBox="1"/>
          <p:nvPr/>
        </p:nvSpPr>
        <p:spPr>
          <a:xfrm>
            <a:off x="548640" y="226771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نَحْنُ</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8796528" y="2881884"/>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 … -ūna</a:t>
            </a:r>
            <a:endParaRPr lang="en-US" sz="1100" dirty="0"/>
          </a:p>
        </p:txBody>
      </p:sp>
      <p:sp>
        <p:nvSpPr>
          <p:cNvPr id="29" name="Text 26"/>
          <p:cNvSpPr txBox="1"/>
          <p:nvPr/>
        </p:nvSpPr>
        <p:spPr>
          <a:xfrm>
            <a:off x="5669280" y="2881884"/>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يَتَعَاوَنُونَ</a:t>
            </a:r>
            <a:endParaRPr lang="ar-SA" sz="2400" dirty="0"/>
          </a:p>
        </p:txBody>
      </p:sp>
      <p:sp>
        <p:nvSpPr>
          <p:cNvPr id="30" name="Text 27"/>
          <p:cNvSpPr txBox="1"/>
          <p:nvPr/>
        </p:nvSpPr>
        <p:spPr>
          <a:xfrm>
            <a:off x="2743200" y="2881884"/>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تَعَاوَنُوا</a:t>
            </a:r>
            <a:endParaRPr lang="ar-SA" sz="2400" dirty="0"/>
          </a:p>
        </p:txBody>
      </p:sp>
      <p:sp>
        <p:nvSpPr>
          <p:cNvPr id="31" name="Text 28"/>
          <p:cNvSpPr txBox="1"/>
          <p:nvPr/>
        </p:nvSpPr>
        <p:spPr>
          <a:xfrm>
            <a:off x="548640" y="2881884"/>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هُمْ</a:t>
            </a:r>
            <a:endParaRPr lang="ar-SA" sz="24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8796528" y="3496056"/>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maʿa (with)</a:t>
            </a:r>
            <a:endParaRPr lang="en-US" sz="1100" dirty="0"/>
          </a:p>
        </p:txBody>
      </p:sp>
      <p:sp>
        <p:nvSpPr>
          <p:cNvPr id="36" name="Text 33"/>
          <p:cNvSpPr txBox="1"/>
          <p:nvPr/>
        </p:nvSpPr>
        <p:spPr>
          <a:xfrm>
            <a:off x="5669280" y="3496056"/>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أَتَعَاوَنُ</a:t>
            </a:r>
            <a:endParaRPr lang="ar-SA" sz="2400" dirty="0"/>
          </a:p>
        </p:txBody>
      </p:sp>
      <p:sp>
        <p:nvSpPr>
          <p:cNvPr id="37" name="Text 34"/>
          <p:cNvSpPr txBox="1"/>
          <p:nvPr/>
        </p:nvSpPr>
        <p:spPr>
          <a:xfrm>
            <a:off x="2743200" y="3496056"/>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تَعَاوَنْتُ</a:t>
            </a:r>
            <a:endParaRPr lang="ar-SA" sz="2400" dirty="0"/>
          </a:p>
        </p:txBody>
      </p:sp>
      <p:sp>
        <p:nvSpPr>
          <p:cNvPr id="38" name="Text 35"/>
          <p:cNvSpPr txBox="1"/>
          <p:nvPr/>
        </p:nvSpPr>
        <p:spPr>
          <a:xfrm>
            <a:off x="548640" y="3496056"/>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أَنَا</a:t>
            </a:r>
            <a:endParaRPr lang="ar-SA" sz="24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8796528" y="4110228"/>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ta-</a:t>
            </a:r>
            <a:endParaRPr lang="en-US" sz="1100" dirty="0"/>
          </a:p>
        </p:txBody>
      </p:sp>
      <p:sp>
        <p:nvSpPr>
          <p:cNvPr id="43" name="Text 40"/>
          <p:cNvSpPr txBox="1"/>
          <p:nvPr/>
        </p:nvSpPr>
        <p:spPr>
          <a:xfrm>
            <a:off x="5669280" y="4110228"/>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تَتَعَاوَنُ</a:t>
            </a:r>
            <a:endParaRPr lang="ar-SA" sz="2400" dirty="0"/>
          </a:p>
        </p:txBody>
      </p:sp>
      <p:sp>
        <p:nvSpPr>
          <p:cNvPr id="44" name="Text 41"/>
          <p:cNvSpPr txBox="1"/>
          <p:nvPr/>
        </p:nvSpPr>
        <p:spPr>
          <a:xfrm>
            <a:off x="2743200" y="4110228"/>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تَعَاوَنَتْ</a:t>
            </a:r>
            <a:endParaRPr lang="ar-SA" sz="2400" dirty="0"/>
          </a:p>
        </p:txBody>
      </p:sp>
      <p:sp>
        <p:nvSpPr>
          <p:cNvPr id="45" name="Text 42"/>
          <p:cNvSpPr txBox="1"/>
          <p:nvPr/>
        </p:nvSpPr>
        <p:spPr>
          <a:xfrm>
            <a:off x="548640" y="4110228"/>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هِيَ</a:t>
            </a:r>
            <a:endParaRPr lang="ar-SA" sz="2400" dirty="0"/>
          </a:p>
        </p:txBody>
      </p:sp>
      <p:sp>
        <p:nvSpPr>
          <p:cNvPr id="46" name="Shape 43"/>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7" name="Text 44"/>
          <p:cNvSpPr txBox="1"/>
          <p:nvPr/>
        </p:nvSpPr>
        <p:spPr>
          <a:xfrm>
            <a:off x="8796528" y="4724400"/>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dual</a:t>
            </a:r>
            <a:endParaRPr lang="en-US" sz="1100" dirty="0"/>
          </a:p>
        </p:txBody>
      </p:sp>
      <p:sp>
        <p:nvSpPr>
          <p:cNvPr id="48" name="Text 45"/>
          <p:cNvSpPr txBox="1"/>
          <p:nvPr/>
        </p:nvSpPr>
        <p:spPr>
          <a:xfrm>
            <a:off x="5669280" y="4724400"/>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يَتَعَاوَنَانِ</a:t>
            </a:r>
            <a:endParaRPr lang="ar-SA" sz="2400" dirty="0"/>
          </a:p>
        </p:txBody>
      </p:sp>
      <p:sp>
        <p:nvSpPr>
          <p:cNvPr id="49" name="Text 46"/>
          <p:cNvSpPr txBox="1"/>
          <p:nvPr/>
        </p:nvSpPr>
        <p:spPr>
          <a:xfrm>
            <a:off x="2743200" y="4724400"/>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تَعَاوَنَا</a:t>
            </a:r>
            <a:endParaRPr lang="ar-SA" sz="2400" dirty="0"/>
          </a:p>
        </p:txBody>
      </p:sp>
      <p:sp>
        <p:nvSpPr>
          <p:cNvPr id="50" name="Text 47"/>
          <p:cNvSpPr txBox="1"/>
          <p:nvPr/>
        </p:nvSpPr>
        <p:spPr>
          <a:xfrm>
            <a:off x="548640" y="4724400"/>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هُمَا</a:t>
            </a:r>
            <a:endParaRPr lang="ar-SA" sz="240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8796528" y="5338572"/>
            <a:ext cx="286207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 + ta- … -ūna</a:t>
            </a:r>
            <a:endParaRPr lang="en-US" sz="1100" dirty="0"/>
          </a:p>
        </p:txBody>
      </p:sp>
      <p:sp>
        <p:nvSpPr>
          <p:cNvPr id="53" name="Text 50"/>
          <p:cNvSpPr txBox="1"/>
          <p:nvPr/>
        </p:nvSpPr>
        <p:spPr>
          <a:xfrm>
            <a:off x="5669280" y="5338572"/>
            <a:ext cx="29260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تَتَعَاوَنُونَ</a:t>
            </a:r>
            <a:endParaRPr lang="ar-SA" sz="2400" dirty="0"/>
          </a:p>
        </p:txBody>
      </p:sp>
      <p:sp>
        <p:nvSpPr>
          <p:cNvPr id="54" name="Text 51"/>
          <p:cNvSpPr txBox="1"/>
          <p:nvPr/>
        </p:nvSpPr>
        <p:spPr>
          <a:xfrm>
            <a:off x="2743200" y="5338572"/>
            <a:ext cx="274320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تَعَاوَنْتُمْ</a:t>
            </a:r>
            <a:endParaRPr lang="ar-SA" sz="2400" dirty="0"/>
          </a:p>
        </p:txBody>
      </p:sp>
      <p:sp>
        <p:nvSpPr>
          <p:cNvPr id="55" name="Text 52"/>
          <p:cNvSpPr txBox="1"/>
          <p:nvPr/>
        </p:nvSpPr>
        <p:spPr>
          <a:xfrm>
            <a:off x="548640" y="533857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أَنْتُمْ</a:t>
            </a:r>
            <a:endParaRPr lang="ar-SA" sz="2400" dirty="0"/>
          </a:p>
        </p:txBody>
      </p:sp>
      <p:sp>
        <p:nvSpPr>
          <p:cNvPr id="56" name="Text 53"/>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clinic: do not assume all Form VI verbs need a plural subject — ataʿāwanu maʿa ṣadīqī (I cooperate with my friend). Note taʿāwannā: the root n + -nā.</a:t>
            </a:r>
            <a:endParaRPr lang="en-US" sz="11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“to cooperate”?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عَاوَنَ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أَعَانَ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تَعَاوَنَ</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present of tabādala.</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يَتَبَادَلُ</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يَتَبَدَّلُ</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يُبَادِلُ</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exchanged ideas”.</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يَتَبَادَلُونَ الْأَفْكَارَ</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تَبَادَلُوا الْأَفْكَارَ</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تَبَدَّلُوا الْأَفْكَارَ</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understand each other”.</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نَتَفَاهَمُ</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نَفْهَمُ</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نُفَهِّمُ</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“to cooperate”?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عَاوَنَ</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أَعَانَ</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تَعَاوَنَ</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Taʿāwana is Form VI and commonly means to cooperate.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present of tabādala.</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يَتَبَادَلُ</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يَتَبَدَّلُ</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يُبَادِلُ</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VI commonly follows yatafāʿalu.</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“they exchanged ideas”.</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يَتَبَادَلُونَ الْأَفْكَارَ</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تَبَادَلُوا الْأَفْكَارَ</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تَبَدَّلُوا الْأَفْكَارَ</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 + -ū.</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understand each other”.</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نَتَفَاهَمُ</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نَفْهَمُ</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نُفَهِّمُ</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VI: mutual.</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Watch me describe a group project with Form VI</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Form III</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شَارَكَ</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Participate.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Form VI</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تَشَارَكَ</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ta-: share together.</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Past (we)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تَشَارَكْنَا</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-nā.</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Present (we)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نَتَعَاوَنُ</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na- + ta-.</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FORM VI</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OTHER</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150" b="1" dirty="0">
                <a:solidFill>
                  <a:srgbClr val="0E7C86"/>
                </a:solidFill>
                <a:latin typeface="Amiri" pitchFamily="2" charset="-78"/>
                <a:cs typeface="Amiri" pitchFamily="2" charset="-78"/>
              </a:rPr>
              <a:t>نَتَعَاوَنُ</a:t>
            </a:r>
            <a:pPr rtl="1" algn="r" indent="0" marL="0">
              <a:buNone/>
            </a:pPr>
            <a:r>
              <a:rPr lang="ar-SA" altLang="en-US" sz="2150" b="1" dirty="0">
                <a:solidFill>
                  <a:srgbClr val="1B3B6F"/>
                </a:solidFill>
                <a:latin typeface="Amiri" pitchFamily="2" charset="-78"/>
                <a:cs typeface="Amiri" pitchFamily="2" charset="-78"/>
              </a:rPr>
              <a:t> فِي مَشْرُوعِ الْمَدْرَسَةِ. أَمْسِ </a:t>
            </a:r>
            <a:pPr rtl="1" algn="r" indent="0" marL="0">
              <a:buNone/>
            </a:pPr>
            <a:r>
              <a:rPr lang="ar-SA" altLang="en-US" sz="2150" b="1" dirty="0">
                <a:solidFill>
                  <a:srgbClr val="0E7C86"/>
                </a:solidFill>
                <a:latin typeface="Amiri" pitchFamily="2" charset="-78"/>
                <a:cs typeface="Amiri" pitchFamily="2" charset="-78"/>
              </a:rPr>
              <a:t>تَبَادَلْنَا</a:t>
            </a:r>
            <a:pPr rtl="1" algn="r" indent="0" marL="0">
              <a:buNone/>
            </a:pPr>
            <a:r>
              <a:rPr lang="ar-SA" altLang="en-US" sz="2150" b="1" dirty="0">
                <a:solidFill>
                  <a:srgbClr val="1B3B6F"/>
                </a:solidFill>
                <a:latin typeface="Amiri" pitchFamily="2" charset="-78"/>
                <a:cs typeface="Amiri" pitchFamily="2" charset="-78"/>
              </a:rPr>
              <a:t> الْأَفْكَارَ، ثُمَّ </a:t>
            </a:r>
            <a:pPr rtl="1" algn="r" indent="0" marL="0">
              <a:buNone/>
            </a:pPr>
            <a:r>
              <a:rPr lang="ar-SA" altLang="en-US" sz="2150" b="1" dirty="0">
                <a:solidFill>
                  <a:srgbClr val="0E7C86"/>
                </a:solidFill>
                <a:latin typeface="Amiri" pitchFamily="2" charset="-78"/>
                <a:cs typeface="Amiri" pitchFamily="2" charset="-78"/>
              </a:rPr>
              <a:t>تَشَارَكْنَا</a:t>
            </a:r>
            <a:pPr rtl="1" algn="r" indent="0" marL="0">
              <a:buNone/>
            </a:pPr>
            <a:r>
              <a:rPr lang="ar-SA" altLang="en-US" sz="2150" b="1" dirty="0">
                <a:solidFill>
                  <a:srgbClr val="1B3B6F"/>
                </a:solidFill>
                <a:latin typeface="Amiri" pitchFamily="2" charset="-78"/>
                <a:cs typeface="Amiri" pitchFamily="2" charset="-78"/>
              </a:rPr>
              <a:t> فِي </a:t>
            </a:r>
            <a:pPr rtl="1" algn="r" indent="0" marL="0">
              <a:buNone/>
            </a:pPr>
            <a:r>
              <a:rPr lang="ar-SA" altLang="en-US" sz="2150" b="1" dirty="0">
                <a:solidFill>
                  <a:srgbClr val="D6336C"/>
                </a:solidFill>
                <a:latin typeface="Amiri" pitchFamily="2" charset="-78"/>
                <a:cs typeface="Amiri" pitchFamily="2" charset="-78"/>
              </a:rPr>
              <a:t>كِتَابَةِ</a:t>
            </a:r>
            <a:pPr rtl="1" algn="r" indent="0" marL="0">
              <a:buNone/>
            </a:pPr>
            <a:r>
              <a:rPr lang="ar-SA" altLang="en-US" sz="2150" b="1" dirty="0">
                <a:solidFill>
                  <a:srgbClr val="1B3B6F"/>
                </a:solidFill>
                <a:latin typeface="Amiri" pitchFamily="2" charset="-78"/>
                <a:cs typeface="Amiri" pitchFamily="2" charset="-78"/>
              </a:rPr>
              <a:t> التَّقْرِيرِ. </a:t>
            </a:r>
            <a:pPr rtl="1" algn="r" indent="0" marL="0">
              <a:buNone/>
            </a:pPr>
            <a:r>
              <a:rPr lang="ar-SA" altLang="en-US" sz="2150" b="1" dirty="0">
                <a:solidFill>
                  <a:srgbClr val="0E7C86"/>
                </a:solidFill>
                <a:latin typeface="Amiri" pitchFamily="2" charset="-78"/>
                <a:cs typeface="Amiri" pitchFamily="2" charset="-78"/>
              </a:rPr>
              <a:t>أَتَفَاهَمُ</a:t>
            </a:r>
            <a:pPr rtl="1" algn="r" indent="0" marL="0">
              <a:buNone/>
            </a:pPr>
            <a:r>
              <a:rPr lang="ar-SA" altLang="en-US" sz="2150" b="1" dirty="0">
                <a:solidFill>
                  <a:srgbClr val="1B3B6F"/>
                </a:solidFill>
                <a:latin typeface="Amiri" pitchFamily="2" charset="-78"/>
                <a:cs typeface="Amiri" pitchFamily="2" charset="-78"/>
              </a:rPr>
              <a:t> مَعَ زُمَلَائِي بِسُهُولَةٍ.</a:t>
            </a:r>
            <a:endParaRPr lang="ar-SA" sz="21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250" i="1" dirty="0">
                <a:solidFill>
                  <a:srgbClr val="5A6472"/>
                </a:solidFill>
                <a:latin typeface="Calibri" pitchFamily="34" charset="0"/>
                <a:cs typeface="Amiri" pitchFamily="2" charset="-78"/>
              </a:rPr>
              <a:t>We cooperate on the school project. Yesterday we exchanged ideas, then shared in writing the report. I get along with my classmates easily.</a:t>
            </a:r>
            <a:endParaRPr lang="en-US" sz="125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يَتَعَاوَنُ الطُّلَّابُ فِي الْمَشْرُوعِ.</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students cooperate on the project.</a:t>
            </a:r>
            <a:endParaRPr lang="en-US" sz="1250" dirty="0"/>
          </a:p>
          <a:p>
            <a:pPr indent="0" marL="0">
              <a:buNone/>
            </a:pPr>
            <a:r>
              <a:rPr lang="en-US" sz="1050" i="1" dirty="0">
                <a:solidFill>
                  <a:srgbClr val="8A6D1E"/>
                </a:solidFill>
                <a:latin typeface="Calibri" pitchFamily="34" charset="0"/>
                <a:cs typeface="Amiri" pitchFamily="2" charset="-78"/>
              </a:rPr>
              <a:t>Website.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تَبَادَلْنَا الْأَفْكَارَ فِي الِاجْتِمَاعِ.</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exchanged ideas at the meeting.</a:t>
            </a:r>
            <a:endParaRPr lang="en-US" sz="1250" dirty="0"/>
          </a:p>
          <a:p>
            <a:pPr indent="0" marL="0">
              <a:buNone/>
            </a:pPr>
            <a:r>
              <a:rPr lang="en-US" sz="1050" i="1" dirty="0">
                <a:solidFill>
                  <a:srgbClr val="8A6D1E"/>
                </a:solidFill>
                <a:latin typeface="Calibri" pitchFamily="34" charset="0"/>
                <a:cs typeface="Amiri" pitchFamily="2" charset="-78"/>
              </a:rPr>
              <a:t>Website.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أَتَفَاهَمُ مَعَ صَدِيقَتِي بِسُهُولَةٍ.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get along with my friend easily.</a:t>
            </a:r>
            <a:endParaRPr lang="en-US" sz="1250" dirty="0"/>
          </a:p>
          <a:p>
            <a:pPr indent="0" marL="0">
              <a:buNone/>
            </a:pPr>
            <a:r>
              <a:rPr lang="en-US" sz="1050" i="1" dirty="0">
                <a:solidFill>
                  <a:srgbClr val="8A6D1E"/>
                </a:solidFill>
                <a:latin typeface="Calibri" pitchFamily="34" charset="0"/>
                <a:cs typeface="Amiri" pitchFamily="2" charset="-78"/>
              </a:rPr>
              <a:t>Singular + maʿa.</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تَرَاسَلَ الصَّدِيقَانِ سَنَوَاتٍ.</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two friends wrote to each other for years.</a:t>
            </a:r>
            <a:endParaRPr lang="en-US" sz="1250" dirty="0"/>
          </a:p>
          <a:p>
            <a:pPr indent="0" marL="0">
              <a:buNone/>
            </a:pPr>
            <a:r>
              <a:rPr lang="en-US" sz="1050" i="1" dirty="0">
                <a:solidFill>
                  <a:srgbClr val="8A6D1E"/>
                </a:solidFill>
                <a:latin typeface="Calibri" pitchFamily="34" charset="0"/>
                <a:cs typeface="Amiri" pitchFamily="2" charset="-78"/>
              </a:rPr>
              <a:t>Dual subject.</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SAME ROOT, DIFFERENT FORM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Help → help each other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مِنَ الثَّالِثِ إِلَى السَّادِسِ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546811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 VI</a:t>
            </a:r>
            <a:endParaRPr lang="en-US" sz="1100" dirty="0"/>
          </a:p>
        </p:txBody>
      </p:sp>
      <p:sp>
        <p:nvSpPr>
          <p:cNvPr id="18" name="Text 15"/>
          <p:cNvSpPr txBox="1"/>
          <p:nvPr/>
        </p:nvSpPr>
        <p:spPr>
          <a:xfrm>
            <a:off x="309067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530352"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Base verb</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065008" y="2267712"/>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share together</a:t>
            </a:r>
            <a:endParaRPr lang="en-US" sz="1100" dirty="0"/>
          </a:p>
        </p:txBody>
      </p:sp>
      <p:sp>
        <p:nvSpPr>
          <p:cNvPr id="22" name="Text 19"/>
          <p:cNvSpPr txBox="1"/>
          <p:nvPr/>
        </p:nvSpPr>
        <p:spPr>
          <a:xfrm>
            <a:off x="5486400" y="2267712"/>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تَشَارَكَ</a:t>
            </a:r>
            <a:endParaRPr lang="ar-SA" sz="2400" dirty="0"/>
          </a:p>
        </p:txBody>
      </p:sp>
      <p:sp>
        <p:nvSpPr>
          <p:cNvPr id="23" name="Text 20"/>
          <p:cNvSpPr txBox="1"/>
          <p:nvPr/>
        </p:nvSpPr>
        <p:spPr>
          <a:xfrm>
            <a:off x="312724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participate (III)</a:t>
            </a:r>
            <a:endParaRPr lang="en-US" sz="1100" dirty="0"/>
          </a:p>
        </p:txBody>
      </p:sp>
      <p:sp>
        <p:nvSpPr>
          <p:cNvPr id="24" name="Text 21"/>
          <p:cNvSpPr txBox="1"/>
          <p:nvPr/>
        </p:nvSpPr>
        <p:spPr>
          <a:xfrm>
            <a:off x="548640" y="2267712"/>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شَارَكَ</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065008" y="300471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help one another</a:t>
            </a:r>
            <a:endParaRPr lang="en-US" sz="1100" dirty="0"/>
          </a:p>
        </p:txBody>
      </p:sp>
      <p:sp>
        <p:nvSpPr>
          <p:cNvPr id="29" name="Text 26"/>
          <p:cNvSpPr txBox="1"/>
          <p:nvPr/>
        </p:nvSpPr>
        <p:spPr>
          <a:xfrm>
            <a:off x="5486400" y="300471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تَسَاعَدَ</a:t>
            </a:r>
            <a:endParaRPr lang="ar-SA" sz="2400" dirty="0"/>
          </a:p>
        </p:txBody>
      </p:sp>
      <p:sp>
        <p:nvSpPr>
          <p:cNvPr id="30" name="Text 27"/>
          <p:cNvSpPr txBox="1"/>
          <p:nvPr/>
        </p:nvSpPr>
        <p:spPr>
          <a:xfrm>
            <a:off x="312724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help (III)</a:t>
            </a:r>
            <a:endParaRPr lang="en-US" sz="1100" dirty="0"/>
          </a:p>
        </p:txBody>
      </p:sp>
      <p:sp>
        <p:nvSpPr>
          <p:cNvPr id="31" name="Text 28"/>
          <p:cNvSpPr txBox="1"/>
          <p:nvPr/>
        </p:nvSpPr>
        <p:spPr>
          <a:xfrm>
            <a:off x="548640" y="300471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سَاعَدَ</a:t>
            </a:r>
            <a:endParaRPr lang="ar-SA" sz="24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065008" y="3741725"/>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meet each other</a:t>
            </a:r>
            <a:endParaRPr lang="en-US" sz="1100" dirty="0"/>
          </a:p>
        </p:txBody>
      </p:sp>
      <p:sp>
        <p:nvSpPr>
          <p:cNvPr id="36" name="Text 33"/>
          <p:cNvSpPr txBox="1"/>
          <p:nvPr/>
        </p:nvSpPr>
        <p:spPr>
          <a:xfrm>
            <a:off x="5486400" y="3741725"/>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تَقَابَلَ</a:t>
            </a:r>
            <a:endParaRPr lang="ar-SA" sz="2400" dirty="0"/>
          </a:p>
        </p:txBody>
      </p:sp>
      <p:sp>
        <p:nvSpPr>
          <p:cNvPr id="37" name="Text 34"/>
          <p:cNvSpPr txBox="1"/>
          <p:nvPr/>
        </p:nvSpPr>
        <p:spPr>
          <a:xfrm>
            <a:off x="312724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meet someone (III)</a:t>
            </a:r>
            <a:endParaRPr lang="en-US" sz="1100" dirty="0"/>
          </a:p>
        </p:txBody>
      </p:sp>
      <p:sp>
        <p:nvSpPr>
          <p:cNvPr id="38" name="Text 35"/>
          <p:cNvSpPr txBox="1"/>
          <p:nvPr/>
        </p:nvSpPr>
        <p:spPr>
          <a:xfrm>
            <a:off x="548640" y="3741725"/>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قَابَلَ</a:t>
            </a:r>
            <a:endParaRPr lang="ar-SA" sz="24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065008" y="4478731"/>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discuss together</a:t>
            </a:r>
            <a:endParaRPr lang="en-US" sz="1100" dirty="0"/>
          </a:p>
        </p:txBody>
      </p:sp>
      <p:sp>
        <p:nvSpPr>
          <p:cNvPr id="43" name="Text 40"/>
          <p:cNvSpPr txBox="1"/>
          <p:nvPr/>
        </p:nvSpPr>
        <p:spPr>
          <a:xfrm>
            <a:off x="5486400" y="4478731"/>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تَنَاقَشَ</a:t>
            </a:r>
            <a:endParaRPr lang="ar-SA" sz="2400" dirty="0"/>
          </a:p>
        </p:txBody>
      </p:sp>
      <p:sp>
        <p:nvSpPr>
          <p:cNvPr id="44" name="Text 41"/>
          <p:cNvSpPr txBox="1"/>
          <p:nvPr/>
        </p:nvSpPr>
        <p:spPr>
          <a:xfrm>
            <a:off x="312724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discuss with (III)</a:t>
            </a:r>
            <a:endParaRPr lang="en-US" sz="1100" dirty="0"/>
          </a:p>
        </p:txBody>
      </p:sp>
      <p:sp>
        <p:nvSpPr>
          <p:cNvPr id="45" name="Text 42"/>
          <p:cNvSpPr txBox="1"/>
          <p:nvPr/>
        </p:nvSpPr>
        <p:spPr>
          <a:xfrm>
            <a:off x="548640" y="4478731"/>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نَاقَشَ</a:t>
            </a:r>
            <a:endParaRPr lang="ar-SA" sz="24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8065008" y="5215738"/>
            <a:ext cx="3593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write to each other</a:t>
            </a:r>
            <a:endParaRPr lang="en-US" sz="1100" dirty="0"/>
          </a:p>
        </p:txBody>
      </p:sp>
      <p:sp>
        <p:nvSpPr>
          <p:cNvPr id="48" name="Text 45"/>
          <p:cNvSpPr txBox="1"/>
          <p:nvPr/>
        </p:nvSpPr>
        <p:spPr>
          <a:xfrm>
            <a:off x="5486400" y="521573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تَرَاسَلَ</a:t>
            </a:r>
            <a:endParaRPr lang="ar-SA" sz="2400" dirty="0"/>
          </a:p>
        </p:txBody>
      </p:sp>
      <p:sp>
        <p:nvSpPr>
          <p:cNvPr id="49" name="Text 46"/>
          <p:cNvSpPr txBox="1"/>
          <p:nvPr/>
        </p:nvSpPr>
        <p:spPr>
          <a:xfrm>
            <a:off x="312724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write to (III)</a:t>
            </a:r>
            <a:endParaRPr lang="en-US" sz="1100" dirty="0"/>
          </a:p>
        </p:txBody>
      </p:sp>
      <p:sp>
        <p:nvSpPr>
          <p:cNvPr id="50" name="Text 47"/>
          <p:cNvSpPr txBox="1"/>
          <p:nvPr/>
        </p:nvSpPr>
        <p:spPr>
          <a:xfrm>
            <a:off x="548640" y="5215738"/>
            <a:ext cx="237744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رَاسَلَ</a:t>
            </a:r>
            <a:endParaRPr lang="ar-SA" sz="24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“the added ta- can be associated with shared action when the lexical meaning permits it.” Form III: I → you; Form VI: we ↔ each other.</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SHADDA OR LONG Ā AFTER TA-?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 V or Form VI?</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خَامِسٌ أَمْ سَادِسٌ؟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تَعَلَّمَ</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تَذَكَّرَ</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تَحَسَّنَ</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تَكَلَّمَ</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تَعَاوَنَ</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تَبَادَلَ</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تَفَاهَمَ</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تَقَابَلَ</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Form V (ta- + shadda)</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Form VI (ta- + ā)</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Form V (ta- + shadda)</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تَعَلَّمَ</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تَذَكَّرَ</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تَحَسَّنَ</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تَكَلَّمَ</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Form VI (ta- + ā)</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تَعَاوَنَ</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تَبَادَلَ</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تَفَاهَمَ</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تَقَابَلَ</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نَتَتَعَاوَنُ فِي الْمَشْرُوعِ</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How many ta-?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هُمْ يَتَعَاوِنُونَ</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or i before the last letter?</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أَتَعَاوَنُ صَدِيقِي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With whom?</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نَتَتَعَاوَنُ فِي الْمَشْرُوعِ</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نَتَعَاوَنُ فِي الْمَشْرُوعِ</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Taʿāwana already has its ta- — do not add another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هُمْ يَتَعَاوِنُونَ</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هُمْ يَتَعَاوَنُونَ</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vowel before the last root letter stays a: yatafāʿalu.</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أَتَعَاوَنُ صَدِيقِي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أَتَعَاوَنُ مَعَ صَدِيقِي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singular subject needs maʿa (website).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2F6FB0"/>
                </a:solidFill>
                <a:latin typeface="Calibri" pitchFamily="34" charset="0"/>
                <a:cs typeface="Amiri" pitchFamily="2" charset="-78"/>
              </a:rPr>
              <a:t>WE DO · GUIDED PRACTICE · WEBSITE SELF-CHECK ITEM AND TEACHER-WRITTEN QUESTIONS</a:t>
            </a:r>
            <a:endParaRPr lang="en-US" sz="874"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Can a singular subject use Form VI?</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Form VI always requires a plural subject.</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in the passive voice.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 for example </a:t>
            </a:r>
            <a:pPr algn="l" indent="0" marL="0">
              <a:buNone/>
            </a:pPr>
            <a:r>
              <a:rPr lang="ar-SA" altLang="en-US" sz="1650" dirty="0">
                <a:solidFill>
                  <a:srgbClr val="1F2A37"/>
                </a:solidFill>
                <a:latin typeface="Amiri" pitchFamily="2" charset="-78"/>
                <a:cs typeface="Amiri" pitchFamily="2" charset="-78"/>
              </a:rPr>
              <a:t>أَتَعَاوَنُ مَعَ صَدِيقِي</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verbal noun of </a:t>
            </a:r>
            <a:pPr algn="l" indent="0" marL="0">
              <a:buNone/>
            </a:pPr>
            <a:r>
              <a:rPr lang="ar-SA" altLang="en-US" sz="1650" b="1" dirty="0">
                <a:solidFill>
                  <a:srgbClr val="1B3B6F"/>
                </a:solidFill>
                <a:latin typeface="Amiri" pitchFamily="2" charset="-78"/>
                <a:cs typeface="Amiri" pitchFamily="2" charset="-78"/>
              </a:rPr>
              <a:t>تَعَاوَنَ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مُعَاوَنَةٌ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تَعَاوُنٌ</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عَوْنٌ</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two girls met each other”.</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قَابَلَتِ الْبِنْتَانِ</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تَقَابَلَتِ الْبِنْتَانِ</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تَقَبَّلَتِ الْبِنْتَانِ</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Form VI?</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نَاقَشَ</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تَنَقَّلَ</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تَنَاقَشَ</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Can a singular subject use Form VI?</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Form VI always requires a plural subject.</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in the passive voice.</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Yes, for example </a:t>
            </a:r>
            <a:pPr algn="l" indent="0" marL="0">
              <a:buNone/>
            </a:pPr>
            <a:r>
              <a:rPr lang="ar-SA" altLang="en-US" sz="1650" b="1" dirty="0">
                <a:solidFill>
                  <a:srgbClr val="1F2A37"/>
                </a:solidFill>
                <a:latin typeface="Amiri" pitchFamily="2" charset="-78"/>
                <a:cs typeface="Amiri" pitchFamily="2" charset="-78"/>
              </a:rPr>
              <a:t>أَتَعَاوَنُ مَعَ صَدِيقِي</a:t>
            </a:r>
            <a:pPr algn="l" indent="0" marL="0">
              <a:buNone/>
            </a:pPr>
            <a:r>
              <a:rPr lang="en-US" sz="1250" b="1" dirty="0">
                <a:solidFill>
                  <a:srgbClr val="1F2A37"/>
                </a:solidFill>
                <a:latin typeface="Calibri" pitchFamily="34" charset="0"/>
                <a:cs typeface="Amiri" pitchFamily="2" charset="-78"/>
              </a:rPr>
              <a:t>.</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person can cooperate with another while the subject stays singular.</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verbal noun of </a:t>
            </a:r>
            <a:pPr algn="l" indent="0" marL="0">
              <a:buNone/>
            </a:pPr>
            <a:r>
              <a:rPr lang="ar-SA" altLang="en-US" sz="1650" b="1" dirty="0">
                <a:solidFill>
                  <a:srgbClr val="1B3B6F"/>
                </a:solidFill>
                <a:latin typeface="Amiri" pitchFamily="2" charset="-78"/>
                <a:cs typeface="Amiri" pitchFamily="2" charset="-78"/>
              </a:rPr>
              <a:t>تَعَاوَنَ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مُعَاوَنَةٌ</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تَعَاوُنٌ</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عَوْنٌ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tafāʿul.</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two girls met each other”.</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قَابَلَتِ الْبِنْتَانِ</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تَقَابَلَتِ الْبِنْتَانِ</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تَقَبَّلَتِ الْبِنْتَانِ</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 VI + dual subject.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Form VI?</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نَاقَشَ</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تَنَقَّلَ</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تَنَاقَشَ</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 + ā.</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 AND NOTICE · READING FOR FORM VI (TEACHER-WRITTEN REPORT)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science project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فِي هَذَا الْفَصْلِ تَعَاوَنَ فَرِيقُنَا فِي مَشْرُوعِ الطَّاقَةِ. فِي الْبِدَايَةِ تَنَاقَشْنَا وَتَبَادَلْنَا الْأَفْكَارَ، ثُمَّ تَشَارَكْنَا فِي الْبَحْثِ. كُنَّا نَتَقَابَلُ فِي الْمَكْتَبَةِ كُلَّ ثُلَاثَاءَ. أَحْيَانًا لَمْ نَتَفَاهَمْ، وَلَكِنَّنَا تَعَلَّمْنَا أَنْ نَحْتَرِمَ بَعْضُنَا بَعْضًا. التَّعَاوُنُ هُوَ سِرُّ نَجَاحِنَا!</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الْفَصْلِ</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term</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الطَّاقَةِ</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energy</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الْبَحْثِ</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research</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أَحْيَانًا</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sometimes</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سِرُّ</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secret of</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 team meet?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lab</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library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online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they do at the beginning?</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wrote the report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met every Tuesday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discussed and exchanged ideas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secret of their success?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cooperation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research</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energy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V, not Form VI?</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تَنَاقَشْنَا</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تَعَلَّمْنَا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تَبَادَلْنَا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 team meet?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the lab</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library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online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Natqābalu fī l-maktaba.</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they do at the beginning?</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wrote the report</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met every Tuesday</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discussed and exchanged ideas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Tanāqashnā wa-tabādalnā.</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secret of their success?</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cooperation</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research</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energy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At-taʿāwun.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Form V, not Form VI?</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تَنَاقَشْنَا</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تَعَلَّمْنَا</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تَبَادَلْنَا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Shadda, not ā.</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working as a team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مَعَ مَنْ تَتَعَاوَنُ فِي الْمَدْرَسَةِ؟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كَيْفَ تَبَادَلْتُمُ الْأَفْكَارَ فِي آخِرِ مَشْرُوعٍ؟</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لِمَاذَا التَّعَاوُنُ مُهِمٌّ؟ وَمَاذَا تَفْعَلُونَ إِذَا لَمْ تَتَفَاهَمُوا؟</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أَتَعَاوَنُ مَعَ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تَبَادَلْنَا ___ ، ثُمَّ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300" b="1" dirty="0">
                <a:solidFill>
                  <a:srgbClr val="1F2A37"/>
                </a:solidFill>
                <a:latin typeface="Amiri" pitchFamily="2" charset="-78"/>
                <a:cs typeface="Amiri" pitchFamily="2" charset="-78"/>
              </a:rPr>
              <a:t>التَّعَاوُنُ مُهِمٌّ لِأَنَّ ___ . إِذَا لَمْ نَتَفَاهَمْ ___ .</a:t>
            </a:r>
            <a:endParaRPr lang="ar-SA" sz="13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مَعَ مَنْ تَتَعَاوَنِينَ فِي الْمَشَارِيعِ؟</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Who do you cooperate with on projects?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أَتَعَاوَنُ مَعَ صَدِيقَتِي هِنْدٍ. نَتَبَادَلُ الْأَفْكَارَ، وَنَتَفَاهَمُ بِسُهُولَةٍ، وَنَتَقَابَلُ بَعْدَ الْمَدْرَسَةِ.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I cooperate with my friend Hind. We exchange ideas, we get along easily, and we meet after school.</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nataʿāwanu · tabādalnā.</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dual or they-form and a verbal noun.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yataʿāwanāni · at-taʿāwun.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 project report with five Form VI verbs and one Form III / VI pair.</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qābaltu / taqābalnā.</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تَنَاقَشَ الْفَرِيقُ فِي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team discussed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يَتَشَارَكُ الطُّلَّابُ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students share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التَّعَاوُنُ يُسَاعِدُنَا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Cooperation helps us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الصَّدِيقَانِ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two friends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نَتَعَاوَنُ فِي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cooperate on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تَبَادَلْنَا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exchanged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أَتَفَاهَمُ مَعَ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get along with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تَقَابَلْنَا فِي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met each other in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تَعَاوَنَ · يَتَعَاوَنُ  ·  تَبَادَلَ · يَتَبَادَلُ  ·  تَفَاهَمَ · يَتَفَاهَمُ  ·  تَشَارَكَ · يَتَشَارَكُ  ·  تَنَاقَشَ · يَتَنَاقَشُ  ·  تَقَابَلَ · يَتَقَابَلُ  ·  تَعَاوُنٌ  ·  مُتَعَاوِنٌ  ·  بَعْضُنَا بَعْضًا</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group-project report with five Form VI verbs and one Form III / Form VI pair.</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Five Form VI verbs (ta- + ā).</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Plural or dual subjects.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singular subject + maʿa.</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verbal noun (taʿāwun, tabādul).</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Form III / VI pair.</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الْبِدَايَةِ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at the beginning</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بَعْضُنَا بَعْضًا</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each other</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كُلَّ أُسْبُوعٍ</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every week</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سِرُّ النَّجَاحِ</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secret of success</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مَعَ زُمَلَائِي</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with my classmates</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النِّهَايَةِ</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end</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فِي الشَّهْرِ الْمَاضِي شَارَكْتُ فِي مَشْرُوعٍ عَنِ الْبِيئَةِ مَعَ ثَلَاثِ زَمِيلَاتٍ. تَقَابَلْنَا فِي الْمَكْتَبَةِ، وَتَنَاقَشْنَا فِي الْفِكْرَةِ، ثُمَّ تَبَادَلْنَا الْمَعْلُومَاتِ عَبْرَ الْإِنْتَرْنِتِ. تَشَارَكْنَا فِي كِتَابَةِ التَّقْرِيرِ وَتَصْمِيمِ الْمُلْصَقِ. فِي الْبِدَايَةِ لَمْ نَتَفَاهَمْ دَائِمًا، وَلَكِنَّنَا تَعَاوَنَّا وَسَاعَدَ بَعْضُنَا بَعْضًا. تَعَلَّمْتُ أَنَّ التَّعَاوُنَ أَهَمُّ مِنَ الْفَوْزِ.</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Last month I took part in a project about the environment with three classmates. We met in the library, discussed the idea, then exchanged information online. We shared in writing the report and designing the poster. At first we did not always understand each other, but we cooperated and helped one another. I learned that cooperation is more important than winning.</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III verb</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VI past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tafāʿul noun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Form V verb</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Form VI verbs have ta- and a long ā.</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present forms use ya- / na- + ta-.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plural or dual subjects.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maʿa with a singular subject.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Form III / VI pair.</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cooperated”.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تَعَاوَنَّا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نَتَعَاوَنُ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عَاوَنَّا</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Form VI?</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تَبَدَّلَ</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تَبَادَلَ</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بَادَلَ</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cooperate with my friend”.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أَتَعَاوَنُ مَعَ صَدِيقِي</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أَتَعَاوَنُ صَدِيقِي</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أُعَاوِنُ مَعَ صَدِيقِي</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“we cooperated”.</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تَعَاوَنَّا</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نَتَعَاوَنُ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عَاوَنَّا</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 + -nā.</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Form VI?</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تَبَدَّلَ</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تَبَادَلَ</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بَادَلَ</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ta- + ā; tabaddala is Form V.</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cooperate with my friend”.</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أَتَعَاوَنُ مَعَ صَدِيقِي</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أَتَعَاوَنُ صَدِيقِي</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أُعَاوِنُ مَعَ صَدِيقِي</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Singular + maʿa.</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GM-VF-06 · Arabic Verb Forms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Before GM-VF-07: get ready at home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Arabic Verb Forms · GM-VF-06</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GM-VF-07 · Form VII: Change of State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اِنْكَسَرَ · يَنْكَسِرُ</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break (become broken)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اِنْفَتَحَ · يَنْفَتِحُ</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open (by itself)</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اِنْقَطَعَ · يَنْقَطِعُ</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be cut off</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اِنْصَرَفَ · يَنْصَرِفُ</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leave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كَسَرَ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to break something (Form I)</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Kasara l-waladu l-kaʾsa = the boy broke the glass. What happened in inkasara l-kaʾsu?</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كَسَرَ · اِنْكَسَرَ</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sentences with taʿāwana, tabādala and tafāhama.</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Conjugate tanāqasha in past and present (we, they, two, I + maʿa).</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group-project report with five Form VI verbs.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GM-VF-06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550" b="1" dirty="0">
                <a:solidFill>
                  <a:srgbClr val="FFFFFF"/>
                </a:solidFill>
                <a:latin typeface="Cambria" pitchFamily="34" charset="0"/>
                <a:cs typeface="Amiri" pitchFamily="2" charset="-78"/>
              </a:rPr>
              <a:t>GM-VF-07 · Form VII: Change of State</a:t>
            </a:r>
            <a:endParaRPr lang="en-US" sz="25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الْوَزْنُ السَّابِعُ</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Form VI = ta- + ā (tafāʿala) · present yatafāʿalu (a before the last letter) · often “together / each other” · singular subject + maʿa · don’t add an extra ta-.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GM-VF-06 · Form VI: Cooperation and Mutual Action</dc:title>
  <dc:subject>PptxGenJS Presentation</dc:subject>
  <dc:creator>Al Madina Online School · Arabic Department</dc:creator>
  <cp:lastModifiedBy>Al Madina Online School · Arabic Department</cp:lastModifiedBy>
  <cp:revision>1</cp:revision>
  <dcterms:created xsi:type="dcterms:W3CDTF">2026-10-11T06:42:44Z</dcterms:created>
  <dcterms:modified xsi:type="dcterms:W3CDTF">2026-10-11T06:42:44Z</dcterms:modified>
</cp:coreProperties>
</file>