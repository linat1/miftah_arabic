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GM-VF-00 (“What Are Arabic Verb Forms?”).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root vs pattern with the ع ل م family (عَلِمَ · عَلَّمَ · تَعَلَّمَ) and the k-t-b family. Develop: the ten forms with one example each, and “a form is not a tense” (عَلَّمَ / يُعَلِّمُ are both Form II). Stretch: the فَعَلَ templates (فَعَّلَ · فَاعَلَ · أَفْعَلَ · تَفَعَّلَ …) and why the numbers are only a learning convention.
• Website warnings: a root is not an English translation; not every root occurs in all ten forms; a form gives clues, not a guaranteed meaning.
• Recommended route (website): one form per lesson — GM-VF-01 to VF-10, with VF-R (morphology reference) as an optional extension.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GM-V-12 (root families) and GM-V-05 (past and present pairs).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ROOT (the consonants, e.g. ʿ-l-m) + PATTERN (the vowels and extra letters) = a real word with its own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“One root, related meanings”. Write ع ل م on the board and build each word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“What do the numbers mean?” (templates and “typical idea” added as Stretch clues — see VF-01 to VF-10).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table (Forms VI–X) and “How to study the collection”. Form IX is optional extension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and Quick understanding items, plus one teacher item.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“Discover the family” sentences. Ask: which letters never change? (ʿ-l-m).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2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and name the root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and name the root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pattern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roots (teacher-written). Read it aloud once while students follow; then they hunt for today’s grammar.
Task: Find every word from the root ʿ-l-m, then name the form of four other verbs.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using the website example verbs;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teacher-written on the website model sentences. Sequence: ● 10s think → ↔ 45s rehearse aloud with mic muted → ◎ two named students on open mic (warned in advance) → + ? the class types one follow-up in chat → ↺ one student summarises.
Routes: Core uses the Core prompt and stem; Develop the Develop prompt; Stretch the last prompt.
Use the root on the board. Students say one sentence with each of ʿalima, ʿallama and taʿallama.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study route: read the model sentences, notice the pattern, then write your own sentences with related verbs.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introduction,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(GM-VF-01 · Form I: The Basic Verb) will spend class time USING this language, so students prepare it tonight — short, simple, easy to access (school guidance: “Simple, Short, Interesting, Relevant, Easy to access”). The five pairs prepare GM-VF-01 (website Verb Forms: Form 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What Are Arabic Verb Forms?</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مَا الْأَوْزَانُ الصَّرْفِيَّةُ؟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builds words from a ROOT (usually three consonants) poured into a PATTERN. ʿ-l-m gives ʿalima (know), ʿallama (teach), taʿallama (learn). The numbers I–X name ten pattern families — they are not tenses.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Root and pattern; the ten forms; form ≠ tense; how to study.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Find the root; sort by root family;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root k-t-b connect?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words about 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words about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words about 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Kātib (writer) and maktūb (written) come from which verb?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Darasa = to study. Darrasa (with shadda)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study again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teach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PRESENT of kataba?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consonants do most Arabic roots have?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root k-t-b connect?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words about reading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words about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words about 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Kataba, kitāb, kātib, maktab.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Kātib (writer) and maktūb (written) come from which verb?</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root k-t-b (GM-V-12).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Darasa = to study. Darrasa (with shadda)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study again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teach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extra letter, a new meaning — the prep from GM-V-12.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PRESENT of kataba?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verb, different tense (GM-V-05).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consonants do most Arabic roots have?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Most roots are triliteral.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ROOT (the consonants, e.g. ʿ-l-m) + PATTERN (the vowels and extra letters) = a real word with its own meaning.</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difference between a root and a pattern.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related verbs from one root.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that Forms I–X are families, not tenses.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how to learn one form at a time.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find the three root letters of a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ʿalima, ʿallama and taʿallama.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give one example verb for several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explain why ʿallama and yuʿallimu are the same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match verbs to the faʿala templates.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a form is not a fixed meaning.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الْجَذْرُ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 (the consonants)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al-jadh-ru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 ل 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pattern /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الْمِيزَانُ الصَّرْفِيُّ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template f-ʿ-l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al-mī-zā-nu aṣ-ṣar-fiy-yu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فَعَلَ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الْمُجَرَّدُ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basic (no added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al-mu-jar-ra-du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الْمَزِيدُ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derived (letters added)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al-ma-zī-du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Forms II–X</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الزَّمَنُ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az-za-ma-nu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مَاضٍ · مُضَارِعٌ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ONE ROOT, RELATED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Discover the family ʿ-l-m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جَذْرٌ وَاحِدٌ وَمَعَانٍ مُتَرَابِطَةٌ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52852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knew the answer.</a:t>
            </a:r>
            <a:endParaRPr lang="en-US" sz="1100" dirty="0"/>
          </a:p>
        </p:txBody>
      </p:sp>
      <p:sp>
        <p:nvSpPr>
          <p:cNvPr id="22" name="Text 19"/>
          <p:cNvSpPr txBox="1"/>
          <p:nvPr/>
        </p:nvSpPr>
        <p:spPr>
          <a:xfrm>
            <a:off x="530352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عَلِمَ الطَّالِبُ الْجَوَابَ.</a:t>
            </a:r>
            <a:endParaRPr lang="ar-SA" sz="2200" dirty="0"/>
          </a:p>
        </p:txBody>
      </p:sp>
      <p:sp>
        <p:nvSpPr>
          <p:cNvPr id="23" name="Text 20"/>
          <p:cNvSpPr txBox="1"/>
          <p:nvPr/>
        </p:nvSpPr>
        <p:spPr>
          <a:xfrm>
            <a:off x="29443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know</a:t>
            </a:r>
            <a:endParaRPr lang="en-US" sz="1100" dirty="0"/>
          </a:p>
        </p:txBody>
      </p:sp>
      <p:sp>
        <p:nvSpPr>
          <p:cNvPr id="24" name="Text 21"/>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عَلِمَ</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 taught the student.</a:t>
            </a:r>
            <a:endParaRPr lang="en-US" sz="1100" dirty="0"/>
          </a:p>
        </p:txBody>
      </p:sp>
      <p:sp>
        <p:nvSpPr>
          <p:cNvPr id="29" name="Text 26"/>
          <p:cNvSpPr txBox="1"/>
          <p:nvPr/>
        </p:nvSpPr>
        <p:spPr>
          <a:xfrm>
            <a:off x="530352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عَلَّمَتِ الْمُعَلِّمَةُ الطَّالِبَ.</a:t>
            </a:r>
            <a:endParaRPr lang="ar-SA" sz="2200" dirty="0"/>
          </a:p>
        </p:txBody>
      </p:sp>
      <p:sp>
        <p:nvSpPr>
          <p:cNvPr id="30" name="Text 27"/>
          <p:cNvSpPr txBox="1"/>
          <p:nvPr/>
        </p:nvSpPr>
        <p:spPr>
          <a:xfrm>
            <a:off x="29443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a:t>
            </a:r>
            <a:endParaRPr lang="en-US" sz="1100" dirty="0"/>
          </a:p>
        </p:txBody>
      </p:sp>
      <p:sp>
        <p:nvSpPr>
          <p:cNvPr id="31" name="Text 28"/>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عَلَّمَ</a:t>
            </a:r>
            <a:endParaRPr lang="ar-SA" sz="26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learned Arabic.</a:t>
            </a:r>
            <a:endParaRPr lang="en-US" sz="1100" dirty="0"/>
          </a:p>
        </p:txBody>
      </p:sp>
      <p:sp>
        <p:nvSpPr>
          <p:cNvPr id="36" name="Text 33"/>
          <p:cNvSpPr txBox="1"/>
          <p:nvPr/>
        </p:nvSpPr>
        <p:spPr>
          <a:xfrm>
            <a:off x="530352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تَعَلَّمَ الطَّالِبُ الْعَرَبِيَّةَ.</a:t>
            </a:r>
            <a:endParaRPr lang="ar-SA" sz="2200" dirty="0"/>
          </a:p>
        </p:txBody>
      </p:sp>
      <p:sp>
        <p:nvSpPr>
          <p:cNvPr id="37" name="Text 34"/>
          <p:cNvSpPr txBox="1"/>
          <p:nvPr/>
        </p:nvSpPr>
        <p:spPr>
          <a:xfrm>
            <a:off x="29443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learn</a:t>
            </a:r>
            <a:endParaRPr lang="en-US" sz="1100" dirty="0"/>
          </a:p>
        </p:txBody>
      </p:sp>
      <p:sp>
        <p:nvSpPr>
          <p:cNvPr id="38" name="Text 35"/>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تَعَلَّمَ</a:t>
            </a:r>
            <a:endParaRPr lang="ar-SA" sz="26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Text 40"/>
          <p:cNvSpPr txBox="1"/>
          <p:nvPr/>
        </p:nvSpPr>
        <p:spPr>
          <a:xfrm>
            <a:off x="532180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nouns from the same root (GM-V-12)</a:t>
            </a:r>
            <a:endParaRPr lang="en-US" sz="1100" dirty="0"/>
          </a:p>
        </p:txBody>
      </p:sp>
      <p:sp>
        <p:nvSpPr>
          <p:cNvPr id="44" name="Text 41"/>
          <p:cNvSpPr txBox="1"/>
          <p:nvPr/>
        </p:nvSpPr>
        <p:spPr>
          <a:xfrm>
            <a:off x="29443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knowledge · teacher</a:t>
            </a:r>
            <a:endParaRPr lang="en-US" sz="1100" dirty="0"/>
          </a:p>
        </p:txBody>
      </p:sp>
      <p:sp>
        <p:nvSpPr>
          <p:cNvPr id="45" name="Text 42"/>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عِلْمٌ · مُعَلِّمٌ</a:t>
            </a:r>
            <a:endParaRPr lang="ar-SA" sz="26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notice the shared consonants ʿ – l – m. The pattern changes the word, and the meaning changes with it. A root is a connection, not an English translation.</a:t>
            </a:r>
            <a:endParaRPr lang="en-US" sz="11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WHAT DO THE NUMBERS MEAN? FORMS I–V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ten families — part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الْأَوْزَانُ (١ –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Typical idea</a:t>
            </a:r>
            <a:endParaRPr lang="en-US" sz="1100" dirty="0"/>
          </a:p>
        </p:txBody>
      </p:sp>
      <p:sp>
        <p:nvSpPr>
          <p:cNvPr id="17" name="Text 14"/>
          <p:cNvSpPr txBox="1"/>
          <p:nvPr/>
        </p:nvSpPr>
        <p:spPr>
          <a:xfrm>
            <a:off x="7662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Text 16"/>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Template</a:t>
            </a:r>
            <a:endParaRPr lang="en-US" sz="1100" dirty="0"/>
          </a:p>
        </p:txBody>
      </p:sp>
      <p:sp>
        <p:nvSpPr>
          <p:cNvPr id="20" name="Text 17"/>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basic verb</a:t>
            </a:r>
            <a:endParaRPr lang="en-US" sz="1100" dirty="0"/>
          </a:p>
        </p:txBody>
      </p:sp>
      <p:sp>
        <p:nvSpPr>
          <p:cNvPr id="23" name="Text 20"/>
          <p:cNvSpPr txBox="1"/>
          <p:nvPr/>
        </p:nvSpPr>
        <p:spPr>
          <a:xfrm>
            <a:off x="769924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a:t>
            </a:r>
            <a:endParaRPr lang="en-US" sz="1100" dirty="0"/>
          </a:p>
        </p:txBody>
      </p:sp>
      <p:sp>
        <p:nvSpPr>
          <p:cNvPr id="24" name="Text 21"/>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 يَكْتُبُ</a:t>
            </a:r>
            <a:endParaRPr lang="ar-SA" sz="2400" dirty="0"/>
          </a:p>
        </p:txBody>
      </p:sp>
      <p:sp>
        <p:nvSpPr>
          <p:cNvPr id="25" name="Text 22"/>
          <p:cNvSpPr txBox="1"/>
          <p:nvPr/>
        </p:nvSpPr>
        <p:spPr>
          <a:xfrm>
            <a:off x="18288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26" name="Text 23"/>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cause / intensify</a:t>
            </a:r>
            <a:endParaRPr lang="en-US" sz="1100" dirty="0"/>
          </a:p>
        </p:txBody>
      </p:sp>
      <p:sp>
        <p:nvSpPr>
          <p:cNvPr id="31" name="Text 28"/>
          <p:cNvSpPr txBox="1"/>
          <p:nvPr/>
        </p:nvSpPr>
        <p:spPr>
          <a:xfrm>
            <a:off x="769924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a:t>
            </a:r>
            <a:endParaRPr lang="en-US" sz="1100" dirty="0"/>
          </a:p>
        </p:txBody>
      </p:sp>
      <p:sp>
        <p:nvSpPr>
          <p:cNvPr id="32" name="Text 29"/>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 · يُعَلِّمُ</a:t>
            </a:r>
            <a:endParaRPr lang="ar-SA" sz="2400" dirty="0"/>
          </a:p>
        </p:txBody>
      </p:sp>
      <p:sp>
        <p:nvSpPr>
          <p:cNvPr id="33" name="Text 30"/>
          <p:cNvSpPr txBox="1"/>
          <p:nvPr/>
        </p:nvSpPr>
        <p:spPr>
          <a:xfrm>
            <a:off x="18288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34" name="Text 31"/>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ā: with someone</a:t>
            </a:r>
            <a:endParaRPr lang="en-US" sz="1100" dirty="0"/>
          </a:p>
        </p:txBody>
      </p:sp>
      <p:sp>
        <p:nvSpPr>
          <p:cNvPr id="39" name="Text 36"/>
          <p:cNvSpPr txBox="1"/>
          <p:nvPr/>
        </p:nvSpPr>
        <p:spPr>
          <a:xfrm>
            <a:off x="769924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participate</a:t>
            </a:r>
            <a:endParaRPr lang="en-US" sz="1100" dirty="0"/>
          </a:p>
        </p:txBody>
      </p:sp>
      <p:sp>
        <p:nvSpPr>
          <p:cNvPr id="40" name="Text 37"/>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شَارَكَ · يُشَارِكُ</a:t>
            </a:r>
            <a:endParaRPr lang="ar-SA" sz="2400" dirty="0"/>
          </a:p>
        </p:txBody>
      </p:sp>
      <p:sp>
        <p:nvSpPr>
          <p:cNvPr id="41" name="Text 38"/>
          <p:cNvSpPr txBox="1"/>
          <p:nvPr/>
        </p:nvSpPr>
        <p:spPr>
          <a:xfrm>
            <a:off x="18288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42" name="Text 39"/>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III</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cause</a:t>
            </a:r>
            <a:endParaRPr lang="en-US" sz="1100" dirty="0"/>
          </a:p>
        </p:txBody>
      </p:sp>
      <p:sp>
        <p:nvSpPr>
          <p:cNvPr id="45" name="Text 42"/>
          <p:cNvSpPr txBox="1"/>
          <p:nvPr/>
        </p:nvSpPr>
        <p:spPr>
          <a:xfrm>
            <a:off x="769924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send</a:t>
            </a:r>
            <a:endParaRPr lang="en-US" sz="1100" dirty="0"/>
          </a:p>
        </p:txBody>
      </p:sp>
      <p:sp>
        <p:nvSpPr>
          <p:cNvPr id="46" name="Text 43"/>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 · يُرْسِلُ</a:t>
            </a:r>
            <a:endParaRPr lang="ar-SA" sz="2400" dirty="0"/>
          </a:p>
        </p:txBody>
      </p:sp>
      <p:sp>
        <p:nvSpPr>
          <p:cNvPr id="47" name="Text 44"/>
          <p:cNvSpPr txBox="1"/>
          <p:nvPr/>
        </p:nvSpPr>
        <p:spPr>
          <a:xfrm>
            <a:off x="18288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أَفْعَلَ</a:t>
            </a:r>
            <a:endParaRPr lang="ar-SA" sz="2400" dirty="0"/>
          </a:p>
        </p:txBody>
      </p:sp>
      <p:sp>
        <p:nvSpPr>
          <p:cNvPr id="48" name="Text 45"/>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shadda: develop</a:t>
            </a:r>
            <a:endParaRPr lang="en-US" sz="1100" dirty="0"/>
          </a:p>
        </p:txBody>
      </p:sp>
      <p:sp>
        <p:nvSpPr>
          <p:cNvPr id="51" name="Text 48"/>
          <p:cNvSpPr txBox="1"/>
          <p:nvPr/>
        </p:nvSpPr>
        <p:spPr>
          <a:xfrm>
            <a:off x="769924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learn</a:t>
            </a:r>
            <a:endParaRPr lang="en-US" sz="1100" dirty="0"/>
          </a:p>
        </p:txBody>
      </p:sp>
      <p:sp>
        <p:nvSpPr>
          <p:cNvPr id="52" name="Text 49"/>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 · يَتَعَلَّمُ</a:t>
            </a:r>
            <a:endParaRPr lang="ar-SA" sz="2400" dirty="0"/>
          </a:p>
        </p:txBody>
      </p:sp>
      <p:sp>
        <p:nvSpPr>
          <p:cNvPr id="53" name="Text 50"/>
          <p:cNvSpPr txBox="1"/>
          <p:nvPr/>
        </p:nvSpPr>
        <p:spPr>
          <a:xfrm>
            <a:off x="18288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54" name="Text 51"/>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Roman numerals name families — they do not show tense or difficulty. ʿallama (past) and yuʿallimu (present) are BOTH Form II.</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3 · FORMS VI–X AND HOW TO STUDY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ten families — part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الْأَوْزَانُ (٦ – 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Typical idea</a:t>
            </a:r>
            <a:endParaRPr lang="en-US" sz="1100" dirty="0"/>
          </a:p>
        </p:txBody>
      </p:sp>
      <p:sp>
        <p:nvSpPr>
          <p:cNvPr id="17" name="Text 14"/>
          <p:cNvSpPr txBox="1"/>
          <p:nvPr/>
        </p:nvSpPr>
        <p:spPr>
          <a:xfrm>
            <a:off x="7662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Text 16"/>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Template</a:t>
            </a:r>
            <a:endParaRPr lang="en-US" sz="1100" dirty="0"/>
          </a:p>
        </p:txBody>
      </p:sp>
      <p:sp>
        <p:nvSpPr>
          <p:cNvPr id="20" name="Text 17"/>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each other</a:t>
            </a:r>
            <a:endParaRPr lang="en-US" sz="1100" dirty="0"/>
          </a:p>
        </p:txBody>
      </p:sp>
      <p:sp>
        <p:nvSpPr>
          <p:cNvPr id="23" name="Text 20"/>
          <p:cNvSpPr txBox="1"/>
          <p:nvPr/>
        </p:nvSpPr>
        <p:spPr>
          <a:xfrm>
            <a:off x="769924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cooperate</a:t>
            </a:r>
            <a:endParaRPr lang="en-US" sz="1100" dirty="0"/>
          </a:p>
        </p:txBody>
      </p:sp>
      <p:sp>
        <p:nvSpPr>
          <p:cNvPr id="24" name="Text 21"/>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 · يَتَعَاوَنُ</a:t>
            </a:r>
            <a:endParaRPr lang="ar-SA" sz="2400" dirty="0"/>
          </a:p>
        </p:txBody>
      </p:sp>
      <p:sp>
        <p:nvSpPr>
          <p:cNvPr id="25" name="Text 22"/>
          <p:cNvSpPr txBox="1"/>
          <p:nvPr/>
        </p:nvSpPr>
        <p:spPr>
          <a:xfrm>
            <a:off x="18288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6" name="Text 23"/>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a:t>
            </a:r>
            <a:endParaRPr lang="en-US" sz="110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happens to it</a:t>
            </a:r>
            <a:endParaRPr lang="en-US" sz="1100" dirty="0"/>
          </a:p>
        </p:txBody>
      </p:sp>
      <p:sp>
        <p:nvSpPr>
          <p:cNvPr id="29" name="Text 26"/>
          <p:cNvSpPr txBox="1"/>
          <p:nvPr/>
        </p:nvSpPr>
        <p:spPr>
          <a:xfrm>
            <a:off x="769924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(become broken)</a:t>
            </a:r>
            <a:endParaRPr lang="en-US" sz="1100" dirty="0"/>
          </a:p>
        </p:txBody>
      </p:sp>
      <p:sp>
        <p:nvSpPr>
          <p:cNvPr id="30" name="Text 27"/>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اِنْكَسَرَ · يَنْكَسِرُ</a:t>
            </a:r>
            <a:endParaRPr lang="ar-SA" sz="2400" dirty="0"/>
          </a:p>
        </p:txBody>
      </p:sp>
      <p:sp>
        <p:nvSpPr>
          <p:cNvPr id="31" name="Text 28"/>
          <p:cNvSpPr txBox="1"/>
          <p:nvPr/>
        </p:nvSpPr>
        <p:spPr>
          <a:xfrm>
            <a:off x="18288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اِنْفَعَلَ</a:t>
            </a:r>
            <a:endParaRPr lang="ar-SA" sz="2400" dirty="0"/>
          </a:p>
        </p:txBody>
      </p:sp>
      <p:sp>
        <p:nvSpPr>
          <p:cNvPr id="32" name="Text 29"/>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a:t>
            </a:r>
            <a:endParaRPr lang="en-US" sz="110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inside</a:t>
            </a:r>
            <a:endParaRPr lang="en-US" sz="1100" dirty="0"/>
          </a:p>
        </p:txBody>
      </p:sp>
      <p:sp>
        <p:nvSpPr>
          <p:cNvPr id="35" name="Text 32"/>
          <p:cNvSpPr txBox="1"/>
          <p:nvPr/>
        </p:nvSpPr>
        <p:spPr>
          <a:xfrm>
            <a:off x="769924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acquire</a:t>
            </a:r>
            <a:endParaRPr lang="en-US" sz="1100" dirty="0"/>
          </a:p>
        </p:txBody>
      </p:sp>
      <p:sp>
        <p:nvSpPr>
          <p:cNvPr id="36" name="Text 33"/>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اِكْتَسَبَ · يَكْتَسِبُ</a:t>
            </a:r>
            <a:endParaRPr lang="ar-SA" sz="2400" dirty="0"/>
          </a:p>
        </p:txBody>
      </p:sp>
      <p:sp>
        <p:nvSpPr>
          <p:cNvPr id="37" name="Text 34"/>
          <p:cNvSpPr txBox="1"/>
          <p:nvPr/>
        </p:nvSpPr>
        <p:spPr>
          <a:xfrm>
            <a:off x="18288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اِفْتَعَلَ</a:t>
            </a:r>
            <a:endParaRPr lang="ar-SA" sz="2400" dirty="0"/>
          </a:p>
        </p:txBody>
      </p:sp>
      <p:sp>
        <p:nvSpPr>
          <p:cNvPr id="38" name="Text 35"/>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VIII</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colours (rare)</a:t>
            </a:r>
            <a:endParaRPr lang="en-US" sz="1100" dirty="0"/>
          </a:p>
        </p:txBody>
      </p:sp>
      <p:sp>
        <p:nvSpPr>
          <p:cNvPr id="41" name="Text 38"/>
          <p:cNvSpPr txBox="1"/>
          <p:nvPr/>
        </p:nvSpPr>
        <p:spPr>
          <a:xfrm>
            <a:off x="769924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red</a:t>
            </a:r>
            <a:endParaRPr lang="en-US" sz="1100" dirty="0"/>
          </a:p>
        </p:txBody>
      </p:sp>
      <p:sp>
        <p:nvSpPr>
          <p:cNvPr id="42" name="Text 39"/>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 · يَحْمَرُّ</a:t>
            </a:r>
            <a:endParaRPr lang="ar-SA" sz="2400" dirty="0"/>
          </a:p>
        </p:txBody>
      </p:sp>
      <p:sp>
        <p:nvSpPr>
          <p:cNvPr id="43" name="Text 40"/>
          <p:cNvSpPr txBox="1"/>
          <p:nvPr/>
        </p:nvSpPr>
        <p:spPr>
          <a:xfrm>
            <a:off x="18288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a:t>
            </a:r>
            <a:endParaRPr lang="ar-SA" sz="2400" dirty="0"/>
          </a:p>
        </p:txBody>
      </p:sp>
      <p:sp>
        <p:nvSpPr>
          <p:cNvPr id="44" name="Text 41"/>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IX</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ista-: seek / use</a:t>
            </a:r>
            <a:endParaRPr lang="en-US" sz="1100" dirty="0"/>
          </a:p>
        </p:txBody>
      </p:sp>
      <p:sp>
        <p:nvSpPr>
          <p:cNvPr id="47" name="Text 44"/>
          <p:cNvSpPr txBox="1"/>
          <p:nvPr/>
        </p:nvSpPr>
        <p:spPr>
          <a:xfrm>
            <a:off x="769924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a:t>
            </a:r>
            <a:endParaRPr lang="en-US" sz="1100" dirty="0"/>
          </a:p>
        </p:txBody>
      </p:sp>
      <p:sp>
        <p:nvSpPr>
          <p:cNvPr id="48" name="Text 45"/>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 · يَسْتَعْمِلُ</a:t>
            </a:r>
            <a:endParaRPr lang="ar-SA" sz="2400" dirty="0"/>
          </a:p>
        </p:txBody>
      </p:sp>
      <p:sp>
        <p:nvSpPr>
          <p:cNvPr id="49" name="Text 46"/>
          <p:cNvSpPr txBox="1"/>
          <p:nvPr/>
        </p:nvSpPr>
        <p:spPr>
          <a:xfrm>
            <a:off x="18288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اِسْتَفْعَلَ</a:t>
            </a:r>
            <a:endParaRPr lang="ar-SA" sz="2400" dirty="0"/>
          </a:p>
        </p:txBody>
      </p:sp>
      <p:sp>
        <p:nvSpPr>
          <p:cNvPr id="50" name="Text 47"/>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study route: begin with meaning → notice the pattern → practise and apply → revisit. Not every root has all ten forms; learn real verbs, not empty tables.</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root?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tense prefix of a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English translation of a word.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set of consonants associated with a family of meanings.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teach”?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the SAME form in different tenses?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 / تَعَلَّمَ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 / يُعَلِّمُ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 / 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root?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tense prefix of a verb.</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English translation of a word.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set of consonants associated with a family of meanings.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roots commonly contain three consonants.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teach”?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doubled middle letter marks Form II ʿallama.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the SAME form in different tenses?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 / تَعَلَّمَ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 / يُعَلِّمُ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 / 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ʿallama and yuʿallimu are the past and present of Form II.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shadda = tafaʿʿala.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find the root and the form</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يَسْتَعْمِلُ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Remove the prefix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 letters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اِسْتَـ</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ista- = Form X.</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 م 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Work / 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اِسْتَفْعَلَ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 X template.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ROOT LETTERS</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PATTERN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عَلِمَ</a:t>
            </a:r>
            <a:pPr rtl="1" algn="r" indent="0" marL="0">
              <a:buNone/>
            </a:pPr>
            <a:r>
              <a:rPr lang="ar-SA" altLang="en-US" sz="2600" b="1" dirty="0">
                <a:solidFill>
                  <a:srgbClr val="1B3B6F"/>
                </a:solidFill>
                <a:latin typeface="Amiri" pitchFamily="34" charset="0"/>
                <a:ea typeface="Amiri" pitchFamily="34" charset="-122"/>
                <a:cs typeface="Amiri" pitchFamily="34" charset="-120"/>
              </a:rPr>
              <a:t> الطَّالِبُ الْجَوَابَ. </a:t>
            </a:r>
            <a:pPr rtl="1" algn="r" indent="0" marL="0">
              <a:buNone/>
            </a:pPr>
            <a:r>
              <a:rPr lang="ar-SA" altLang="en-US" sz="2600" b="1" dirty="0">
                <a:solidFill>
                  <a:srgbClr val="D6336C"/>
                </a:solidFill>
                <a:latin typeface="Amiri" pitchFamily="34" charset="0"/>
                <a:ea typeface="Amiri" pitchFamily="34" charset="-122"/>
                <a:cs typeface="Amiri" pitchFamily="34" charset="-120"/>
              </a:rPr>
              <a:t>عَلَّمَتِ</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الْمُعَلِّمَةُ الطَّالِبَ. </a:t>
            </a:r>
            <a:pPr rtl="1" algn="r" indent="0" marL="0">
              <a:buNone/>
            </a:pPr>
            <a:r>
              <a:rPr lang="ar-SA" altLang="en-US" sz="2600" b="1" dirty="0">
                <a:solidFill>
                  <a:srgbClr val="D6336C"/>
                </a:solidFill>
                <a:latin typeface="Amiri" pitchFamily="34" charset="0"/>
                <a:ea typeface="Amiri" pitchFamily="34" charset="-122"/>
                <a:cs typeface="Amiri" pitchFamily="34" charset="-120"/>
              </a:rPr>
              <a:t>تَعَلَّمَ</a:t>
            </a:r>
            <a:pPr rtl="1" algn="r" indent="0" marL="0">
              <a:buNone/>
            </a:pPr>
            <a:r>
              <a:rPr lang="ar-SA" altLang="en-US" sz="2600" b="1" dirty="0">
                <a:solidFill>
                  <a:srgbClr val="1B3B6F"/>
                </a:solidFill>
                <a:latin typeface="Amiri" pitchFamily="34" charset="0"/>
                <a:ea typeface="Amiri" pitchFamily="34" charset="-122"/>
                <a:cs typeface="Amiri" pitchFamily="34" charset="-120"/>
              </a:rPr>
              <a:t> الطَّالِبُ الْعَرَبِيَّةَ.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student knew the answer. The teacher taught the student. The student learned Arabic.</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أُعَلِّمُ أَخِي الصَّغِيرَ الْقِرَاءَةَ.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teach my little brother to read.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نَتَعَلَّمُ الْعَرَبِيَّةَ مَعًا.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learn Arabic together.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V.</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أَسْتَعْمِلُ الْحَاسُوبَ كُلَّ 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use the computer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X.</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نَتَعَاوَنُ فِي الْمَشْرُوعِ.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cooperate on the project.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VI.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FIND THE ROOT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Strip the extras, find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الْجَذْرَ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Root idea</a:t>
            </a:r>
            <a:endParaRPr lang="en-US" sz="1100" dirty="0"/>
          </a:p>
        </p:txBody>
      </p:sp>
      <p:sp>
        <p:nvSpPr>
          <p:cNvPr id="18" name="Text 15"/>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Root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 (shadda)</a:t>
            </a:r>
            <a:endParaRPr lang="en-US" sz="1100" dirty="0"/>
          </a:p>
        </p:txBody>
      </p:sp>
      <p:sp>
        <p:nvSpPr>
          <p:cNvPr id="22" name="Text 19"/>
          <p:cNvSpPr txBox="1"/>
          <p:nvPr/>
        </p:nvSpPr>
        <p:spPr>
          <a:xfrm>
            <a:off x="568756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knowledge</a:t>
            </a:r>
            <a:endParaRPr lang="en-US" sz="1100" dirty="0"/>
          </a:p>
        </p:txBody>
      </p:sp>
      <p:sp>
        <p:nvSpPr>
          <p:cNvPr id="23" name="Text 20"/>
          <p:cNvSpPr txBox="1"/>
          <p:nvPr/>
        </p:nvSpPr>
        <p:spPr>
          <a:xfrm>
            <a:off x="3291840" y="226771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 ل م</a:t>
            </a:r>
            <a:endParaRPr lang="ar-SA" sz="2600" dirty="0"/>
          </a:p>
        </p:txBody>
      </p:sp>
      <p:sp>
        <p:nvSpPr>
          <p:cNvPr id="24" name="Text 21"/>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يُعَلِّمُ</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III (long ā)</a:t>
            </a:r>
            <a:endParaRPr lang="en-US" sz="1100" dirty="0"/>
          </a:p>
        </p:txBody>
      </p:sp>
      <p:sp>
        <p:nvSpPr>
          <p:cNvPr id="29" name="Text 26"/>
          <p:cNvSpPr txBox="1"/>
          <p:nvPr/>
        </p:nvSpPr>
        <p:spPr>
          <a:xfrm>
            <a:off x="568756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sharing</a:t>
            </a:r>
            <a:endParaRPr lang="en-US" sz="1100" dirty="0"/>
          </a:p>
        </p:txBody>
      </p:sp>
      <p:sp>
        <p:nvSpPr>
          <p:cNvPr id="30" name="Text 27"/>
          <p:cNvSpPr txBox="1"/>
          <p:nvPr/>
        </p:nvSpPr>
        <p:spPr>
          <a:xfrm>
            <a:off x="3291840" y="2881884"/>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ش ر ك</a:t>
            </a:r>
            <a:endParaRPr lang="ar-SA" sz="2600" dirty="0"/>
          </a:p>
        </p:txBody>
      </p:sp>
      <p:sp>
        <p:nvSpPr>
          <p:cNvPr id="31" name="Text 28"/>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يُشَارِكُ</a:t>
            </a:r>
            <a:endParaRPr lang="ar-SA" sz="26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 (a-)</a:t>
            </a:r>
            <a:endParaRPr lang="en-US" sz="1100" dirty="0"/>
          </a:p>
        </p:txBody>
      </p:sp>
      <p:sp>
        <p:nvSpPr>
          <p:cNvPr id="36" name="Text 33"/>
          <p:cNvSpPr txBox="1"/>
          <p:nvPr/>
        </p:nvSpPr>
        <p:spPr>
          <a:xfrm>
            <a:off x="568756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sending</a:t>
            </a:r>
            <a:endParaRPr lang="en-US" sz="1100" dirty="0"/>
          </a:p>
        </p:txBody>
      </p:sp>
      <p:sp>
        <p:nvSpPr>
          <p:cNvPr id="37" name="Text 34"/>
          <p:cNvSpPr txBox="1"/>
          <p:nvPr/>
        </p:nvSpPr>
        <p:spPr>
          <a:xfrm>
            <a:off x="3291840" y="3496056"/>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ر س ل</a:t>
            </a:r>
            <a:endParaRPr lang="ar-SA" sz="2600" dirty="0"/>
          </a:p>
        </p:txBody>
      </p:sp>
      <p:sp>
        <p:nvSpPr>
          <p:cNvPr id="38" name="Text 35"/>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أَرْسَلَ</a:t>
            </a:r>
            <a:endParaRPr lang="ar-SA" sz="26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 (ta- + ā)</a:t>
            </a:r>
            <a:endParaRPr lang="en-US" sz="1100" dirty="0"/>
          </a:p>
        </p:txBody>
      </p:sp>
      <p:sp>
        <p:nvSpPr>
          <p:cNvPr id="41" name="Text 38"/>
          <p:cNvSpPr txBox="1"/>
          <p:nvPr/>
        </p:nvSpPr>
        <p:spPr>
          <a:xfrm>
            <a:off x="568756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help</a:t>
            </a:r>
            <a:endParaRPr lang="en-US" sz="1100" dirty="0"/>
          </a:p>
        </p:txBody>
      </p:sp>
      <p:sp>
        <p:nvSpPr>
          <p:cNvPr id="42" name="Text 39"/>
          <p:cNvSpPr txBox="1"/>
          <p:nvPr/>
        </p:nvSpPr>
        <p:spPr>
          <a:xfrm>
            <a:off x="3291840" y="4110228"/>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 و ن</a:t>
            </a:r>
            <a:endParaRPr lang="ar-SA" sz="2600" dirty="0"/>
          </a:p>
        </p:txBody>
      </p:sp>
      <p:sp>
        <p:nvSpPr>
          <p:cNvPr id="43" name="Text 40"/>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تَعَاوَنَ</a:t>
            </a:r>
            <a:endParaRPr lang="ar-SA" sz="26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VIII (-t-)</a:t>
            </a:r>
            <a:endParaRPr lang="en-US" sz="1100" dirty="0"/>
          </a:p>
        </p:txBody>
      </p:sp>
      <p:sp>
        <p:nvSpPr>
          <p:cNvPr id="46" name="Text 43"/>
          <p:cNvSpPr txBox="1"/>
          <p:nvPr/>
        </p:nvSpPr>
        <p:spPr>
          <a:xfrm>
            <a:off x="568756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gaining</a:t>
            </a:r>
            <a:endParaRPr lang="en-US" sz="1100" dirty="0"/>
          </a:p>
        </p:txBody>
      </p:sp>
      <p:sp>
        <p:nvSpPr>
          <p:cNvPr id="47" name="Text 44"/>
          <p:cNvSpPr txBox="1"/>
          <p:nvPr/>
        </p:nvSpPr>
        <p:spPr>
          <a:xfrm>
            <a:off x="3291840" y="4724400"/>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 س ب</a:t>
            </a:r>
            <a:endParaRPr lang="ar-SA" sz="2600" dirty="0"/>
          </a:p>
        </p:txBody>
      </p:sp>
      <p:sp>
        <p:nvSpPr>
          <p:cNvPr id="48" name="Text 45"/>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اِكْتَسَبَ</a:t>
            </a:r>
            <a:endParaRPr lang="ar-SA" sz="26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 (ista-)</a:t>
            </a:r>
            <a:endParaRPr lang="en-US" sz="1100" dirty="0"/>
          </a:p>
        </p:txBody>
      </p:sp>
      <p:sp>
        <p:nvSpPr>
          <p:cNvPr id="51" name="Text 48"/>
          <p:cNvSpPr txBox="1"/>
          <p:nvPr/>
        </p:nvSpPr>
        <p:spPr>
          <a:xfrm>
            <a:off x="568756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work / use</a:t>
            </a:r>
            <a:endParaRPr lang="en-US" sz="1100" dirty="0"/>
          </a:p>
        </p:txBody>
      </p:sp>
      <p:sp>
        <p:nvSpPr>
          <p:cNvPr id="52" name="Text 49"/>
          <p:cNvSpPr txBox="1"/>
          <p:nvPr/>
        </p:nvSpPr>
        <p:spPr>
          <a:xfrm>
            <a:off x="3291840" y="533857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 م ل</a:t>
            </a:r>
            <a:endParaRPr lang="ar-SA" sz="2600" dirty="0"/>
          </a:p>
        </p:txBody>
      </p:sp>
      <p:sp>
        <p:nvSpPr>
          <p:cNvPr id="53" name="Text 50"/>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يَسْتَعْمِلُ</a:t>
            </a:r>
            <a:endParaRPr lang="ar-SA" sz="26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Routine: remove tense prefixes (ya-, tu-) first, then the pattern letters (ta-, ista-, a-, shadda, long ā). What is left is the root.</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ROOT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family does it belong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إِلَى أَيِّ 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كَاتِبٌ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k-t-b (writing)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ʿ-l-m (knowing)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d-r-s (studying)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k-t-b (writing)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كَاتِبٌ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ʿ-l-m (knowing)</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d-r-s (studying)</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جَذْرُ «يُعَلِّمُ»: ي ع 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Tense prefix or root?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جَذْرُ «تَعَلَّمَ»: ت ع 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Pattern letter or root?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جَذْرُ «اِسْتَعْمَلَ»: س ع 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does ista- mark?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جَذْرُ «يُعَلِّمُ»: ي ع 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جَذْرُ «يُعَلِّمُ»: ع ل 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Remove the tense prefix yu- first; the shadda doubles the 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جَذْرُ «تَعَلَّمَ»: ت ع 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جَذْرُ «تَعَلَّمَ»: ع ل 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Ta- is a pattern letter (Form V), not a root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جَذْرُ «اِسْتَعْمَلَ»: س ع 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جَذْرُ «اِسْتَعْمَلَ»: ع م 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Ista- is the Form X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SELF-CHECK ITEM AND TEACHER-WRITTEN PATTERN QUESTIONS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claim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ten forms have one predictable English meaning.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root occurs in all ten forms.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Patterns offer clues, but individual meanings must be learned.</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 (teacher)?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ع 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ل 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ل 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X?</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Shāraka (to participate) has a long ā after the first root letter. Which form?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IV</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III</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claim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ten forms have one predictable English meaning.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root occurs in all ten forms.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Patterns offer clues, but individual meanings must be learned.</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numbered form identifies a pattern, not a guaranteed translation.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 (teacher)?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 ع 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 ل 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 ل 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Remove the mu- and the shadda.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X?</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اِسْتَعْمَلَ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 Form 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Shāraka (to participate) has a long ā after the first root letter. Which form?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II</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IV</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III</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fāʿala = Form III.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ROOTS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of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مُعَلِّمَةٌ نَشِيطَةٌ. هِيَ تُعَلِّمُنَا الْعُلُومَ، وَنَحْنُ نَتَعَلَّمُ مِنْهَا كَثِيرًا. فِي الدَّرْسِ نَتَعَاوَنُ فِي مَجْمُوعَاتٍ، وَنَسْتَعْمِلُ الْحَاسُوبَ. أَمْسِ أَرْسَلَتْ لَنَا رِسَالَةً: «أَنْتُمْ تَعْلَمُونَ الْكَثِيرَ الْآنَ!». فِي آخِرِ الْعَامِ سَنُشَارِكُ فِي مَعْرِضِ الْعُلُومِ.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نَشِيطَةٌ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active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مَجْمُوعَاتٍ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groups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مَعْرِضِ</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exhibition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آخِرِ الْعَامِ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end of the year</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words come from ʿ-l-m in the first two sentences?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 (working together)?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نَسْتَعْمِلُ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IV?</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نُشَارِكُ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teaches and who learns?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 teach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 teaches; the students learn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nobody learns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words come from ʿ-l-m in the first two sentences?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Muʿallima, tuʿallimu, al-ʿulūm, nataʿallamu.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 (working together)?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نَسْتَعْمِلُ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نَتَعَاوَنُ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tafāʿala.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IV?</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أَرْسَلَتْ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نُشَارِكُ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afʿala: arsala.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teaches and who learns?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students teach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teacher teaches; the students learn</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nobody learns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Tuʿallimunā · nataʿallamu.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Speaking: who teaches, who learns?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يُعَلِّمُكَ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تَتَعَلَّمُ هَذِهِ السَّنَةَ؟ وَمَاذَا تَسْتَعْمِلُ؟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«عَلِمَ» وَ«عَلَّمَ» وَ«تَعَلَّمَ»؟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يُعَلِّمُنِي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أَتَعَلَّمُ ___ ، وَأَسْتَعْمِلُ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«عَلِمَ» يَعْنِي ___ ، وَ«عَلَّمَ» يَعْنِي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يُعَلِّمُكِ الْقُرْآنَ؟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teaches you the Qur’an?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تُعَلِّمُنِي أُمِّي، وَأَنَا أَتَعَلَّمُ مِنْهَا كُلَّ يَوْمٍ. وَأُعَلِّمُ أُخْتِي الصَّغِيرَةَ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My mother teaches me, and I learn from her every day. And I teach my little sister too!</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sentence each with ʿalima, ʿallama and taʿallama.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website models, change the subject.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sentences with Forms III, VI and X.</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table verbs.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root map for one root with three forms and two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each word with its form.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نَتَعَاوَنُ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cooperate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أُشَارِكُ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participate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أَرْسَلْتُ ______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sent …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جَذْرُ «______»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root of …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know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يُعَلِّمُنِي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teaches 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______ كُلَّ يَوْمٍ.</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learn … every day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أَسْتَعْمِلُ ______ فِي الْمَدْرَسَةِ.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 at school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عَلِمَ  ·  عَلَّمَ  ·  تَعَلَّمَ  ·  كَتَبَ  ·  شَارَكَ  ·  أَرْسَلَ  ·  تَعَاوَنَ  ·  اِكْتَسَبَ  ·  اِسْتَعْمَلَ  ·  الْجَذْرُ  ·  الْوَزْنُ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Make a root map: one root, three verb forms, two nouns — each in a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Root letters written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verbs from different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Each verb labelled with its form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nouns from the same root.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per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جَذْرُ الْكَلِمَةِ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root of the word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وَزْنِ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pattern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الْوَزْنُ الثَّانِي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Form II</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يَعْنِي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means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نَفْسِ الْجَذْرِ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the same root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جَذْرُ «عَلَّمَ» هُوَ ع ل م. مِنْ هَذَا الْجَذْرِ: «عَلِمَ» (الْوَزْنُ الْأَوَّلُ)، وَ«عَلَّمَ» (الْوَزْنُ الثَّانِي)، وَ«تَعَلَّمَ» (الْوَزْنُ الْخَامِسُ). أَعْلَمُ أَنَّ الْعَرَبِيَّةَ جَمِيلَةٌ. تُعَلِّمُنِي مُعَلِّمَتِي الْقَوَاعِدَ، وَأَتَعَلَّمُ كَلِمَاتٍ جَدِيدَةً كُلَّ أُسْبُوعٍ. «الْعِلْمُ» نُورٌ، وَ«الْمُعَلِّمُ» يُسَاعِدُنَا عَلَى طَلَبِهِ.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root of ʿallama is ʿ-l-m. From this root: ʿalima (Form I), ʿallama (Form II) and taʿallama (Form V). I know that Arabic is beautiful. My teacher teaches me grammar, and I learn new words every week. Knowledge is light, and the teacher helps us to seek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root letters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three root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ʿalima, ʿallama, taʿallama.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a form is not a tense.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one verb for five forms.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match verbs to the faʿala templates.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learn”?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ʿAllama and yuʿallimu are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different forms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same form, different tenses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different roots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يَسْتَعْمِلُ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م 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ت 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 س 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learn”?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ʿAllama and yuʿallimu are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different forms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same form, different tenses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different roots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Form II.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يَسْتَعْمِلُ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 م 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 ت 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 س 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Remove ya- and ista-.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GM-VF-00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GM-VF-01 · Form I: The Basic Verb</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 يَفْهَمُ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understand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جَلَسَ · يَجْلِسُ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sit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 · يَدْرُسُ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study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كَبُرَ · يَكْبُرُ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grow up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 · يَقْرَأُ</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read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present vowels: yaktubu, yafhamu, yajlisu. Are they all the same?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يَكْتُبُ · يَفْهَمُ · يَجْلِسُ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root of eight words from your vocabulary list.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verbs from five different forms.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Root map: one root, three forms, two nouns.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GM-VF-01 · Form I: The Basic Verb</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الثُّلَاثِيُّ الْمُجَرَّدُ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root = the consonants · pattern = vowels + extra letters · Forms I–X are families, not tenses · a form is a clue, not a rule · learn real verbs one form at a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GM-VF-00 · What Are Arabic Verb Forms?</dc:title>
  <dc:subject>PptxGenJS Presentation</dc:subject>
  <dc:creator>Al Madina Online School · Arabic Department</dc:creator>
  <cp:lastModifiedBy>Al Madina Online School · Arabic Department</cp:lastModifiedBy>
  <cp:revision>1</cp:revision>
  <dcterms:created xsi:type="dcterms:W3CDTF">2026-10-04T01:35:01Z</dcterms:created>
  <dcterms:modified xsi:type="dcterms:W3CDTF">2026-10-04T01:35:01Z</dcterms:modified>
</cp:coreProperties>
</file>