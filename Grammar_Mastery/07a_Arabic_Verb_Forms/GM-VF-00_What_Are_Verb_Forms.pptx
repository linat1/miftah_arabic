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Arabic Verb Forms › GM-VF-00 (“What Are Arabic Verb Forms?”).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root vs pattern with the ع ل م family (عَلِمَ · عَلَّمَ · تَعَلَّمَ) and the k-t-b family. Develop: the ten forms with one example each, and “a form is not a tense” (عَلَّمَ / يُعَلِّمُ are both Form II). Stretch: the فَعَلَ templates (فَعَّلَ · فَاعَلَ · أَفْعَلَ · تَفَعَّلَ …) and why the numbers are only a learning convention.
• Website warnings: a root is not an English translation; not every root occurs in all ten forms; a form gives clues, not a guaranteed meaning.
• Recommended route (website): one form per lesson — GM-VF-01 to VF-10, with VF-R (morphology reference) as an optional extension.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Teacher-written retrieval from GM-V-12 (root families) and GM-V-05 (past and present pairs).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ROOT (the consonants, e.g. ʿ-l-m) + PATTERN (the vowels and extra letters) = a real word with its own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“One root, related meanings”. Write ع ل م on the board and build each word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“What do the numbers mean?” (templates and “typical idea” added as Stretch clues — see VF-01 to VF-10).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table (Forms VI–X) and “How to study the collection”. Form IX is optional extension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Self-check and Quick understanding items, plus one teacher item.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“Discover the family” sentences. Ask: which letters never change? (ʿ-l-m).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Cover columns 2 and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1, 2 or 3 and name the root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1, 2 or 3 and name the root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Self-check item and teacher-written pattern questions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reading for roots (teacher-written). Read it aloud once while students follow; then they hunt for today’s grammar.
Task: Find every word from the root ʿ-l-m, then name the form of four other verbs.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text using the website example verbs;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teacher-written on the website model sentences. Sequence: ● 10s think → ↔ 45s rehearse aloud with mic muted → ◎ two named students on open mic (warned in advance) → + ? the class types one follow-up in chat → ↺ one student summarises.
Routes: Core uses the Core prompt and stem; Develop the Develop prompt; Stretch the last prompt.
Use the root on the board. Students say one sentence with each of ʿalima, ʿallama and taʿallama.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Website study route: read the model sentences, notice the pattern, then write your own sentences with related verbs.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introduction,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(GM-VF-01 · Form I: The Basic Verb) will spend class time USING this language, so students prepare it tonight — short, simple, easy to access (school guidance: “Simple, Short, Interesting, Relevant, Easy to access”). The five pairs prepare GM-VF-01 (website Verb Forms: Form I).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ARABIC VERB FORMS  ·  GM-VF-00</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GM-VF-00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650" b="1" dirty="0">
                <a:solidFill>
                  <a:srgbClr val="FFFFFF"/>
                </a:solidFill>
                <a:latin typeface="Cambria" pitchFamily="34" charset="0"/>
                <a:cs typeface="Amiri" pitchFamily="2" charset="-78"/>
              </a:rPr>
              <a:t>What Are Arabic Verb Forms?</a:t>
            </a:r>
            <a:endParaRPr lang="en-US" sz="3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مَا الْأَوْزَانُ الصَّرْفِيَّةُ؟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Arabic builds words from a ROOT (usually three consonants) poured into a PATTERN. ʿ-l-m gives ʿalima (know), ʿallama (teach), taʿallama (learn). The numbers I–X name ten pattern families — they are not tenses.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GM-VF-00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Arabic Verb Forms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GM-VF-00 · Arabic Verb Forms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GM-VF-00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GM-VF-00</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Root and pattern; the ten forms; form ≠ tense; how to study.</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Find the root; sort by root family;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GM-VF-01.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GM-VF-00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root k-t-b connect?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words about reading</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words about writing</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words about travel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Kātib (writer) and maktūb (written) come from which verb?</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كَتَبَ</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قَرَأَ</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دَرَسَ</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Darasa = to study. Darrasa (with shadda) means …</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study again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write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teach</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PRESENT of kataba?</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كِتَابٌ</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كَاتِبٌ</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يَكْتُبُ</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consonants do most Arabic roots have?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five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GM-VF-00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root k-t-b connect?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words about reading</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words about writing</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words about travel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Kataba, kitāb, kātib, maktab.</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Kātib (writer) and maktūb (written) come from which verb?</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كَتَبَ</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قَرَأَ</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دَرَسَ</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Same root k-t-b (GM-V-12).</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Darasa = to study. Darrasa (with shadda) means …</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study again</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write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teach</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One extra letter, a new meaning — the prep from GM-V-12.</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PRESENT of kataba?</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كِتَابٌ</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كَاتِبٌ</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يَكْتُبُ</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Same verb, different tense (GM-V-05).</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consonants do most Arabic roots have?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three</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five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Most roots are triliteral.</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250" b="1" dirty="0">
                <a:solidFill>
                  <a:srgbClr val="1F2A37"/>
                </a:solidFill>
                <a:latin typeface="Calibri" pitchFamily="34" charset="0"/>
                <a:cs typeface="Amiri" pitchFamily="2" charset="-78"/>
              </a:rPr>
              <a:t>ROOT (the consonants, e.g. ʿ-l-m) + PATTERN (the vowels and extra letters) = a real word with its own meaning.</a:t>
            </a:r>
            <a:endParaRPr lang="en-US" sz="125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عَلِمَ</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cs typeface="Amiri" pitchFamily="2" charset="-78"/>
              </a:rPr>
              <a:t>عَلَّمَ</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0E7C86"/>
                </a:solidFill>
                <a:latin typeface="Amiri" pitchFamily="2" charset="-78"/>
                <a:cs typeface="Amiri" pitchFamily="2" charset="-78"/>
              </a:rPr>
              <a:t>تَعَلَّمَ</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GM-VF-00 · Arabic Verb Forms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GM-VF-00</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Explain the difference between a root and a pattern.</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related verbs from one root.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Know that Forms I–X are families, not tenses.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Plan how to learn one form at a time.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find the three root letters of a verb.</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know ʿalima, ʿallama and taʿallama.</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give one example verb for several forms.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explain why ʿallama and yuʿallimu are the same form.</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match verbs to the faʿala templates.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explain why a form is not a fixed meaning.</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GM-VF-00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الْجَذْرُ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root (the consonants)</a:t>
            </a:r>
            <a:endParaRPr lang="en-US" sz="1350" dirty="0"/>
          </a:p>
          <a:p>
            <a:pPr indent="0" marL="0">
              <a:buNone/>
            </a:pPr>
            <a:r>
              <a:rPr lang="en-US" sz="1100" i="1" dirty="0">
                <a:solidFill>
                  <a:srgbClr val="5A6472"/>
                </a:solidFill>
                <a:latin typeface="Calibri" pitchFamily="34" charset="0"/>
                <a:cs typeface="Amiri" pitchFamily="2" charset="-78"/>
              </a:rPr>
              <a:t>al-jadh-ru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ع ل م</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الْوَزْنُ</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pattern / form</a:t>
            </a:r>
            <a:endParaRPr lang="en-US" sz="1350" dirty="0"/>
          </a:p>
          <a:p>
            <a:pPr indent="0" marL="0">
              <a:buNone/>
            </a:pPr>
            <a:r>
              <a:rPr lang="en-US" sz="1100" i="1" dirty="0">
                <a:solidFill>
                  <a:srgbClr val="5A6472"/>
                </a:solidFill>
                <a:latin typeface="Calibri" pitchFamily="34" charset="0"/>
                <a:cs typeface="Amiri" pitchFamily="2" charset="-78"/>
              </a:rPr>
              <a:t>al-waz-nu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فَعَّلَ</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الْمِيزَانُ الصَّرْفِيُّ</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template f-ʿ-l</a:t>
            </a:r>
            <a:endParaRPr lang="en-US" sz="1350" dirty="0"/>
          </a:p>
          <a:p>
            <a:pPr indent="0" marL="0">
              <a:buNone/>
            </a:pPr>
            <a:r>
              <a:rPr lang="en-US" sz="1100" i="1" dirty="0">
                <a:solidFill>
                  <a:srgbClr val="5A6472"/>
                </a:solidFill>
                <a:latin typeface="Calibri" pitchFamily="34" charset="0"/>
                <a:cs typeface="Amiri" pitchFamily="2" charset="-78"/>
              </a:rPr>
              <a:t>al-mī-zā-nu aṣ-ṣar-fiy-yu</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فَعَلَ</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الْمُجَرَّدُ</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basic (no added letters)</a:t>
            </a:r>
            <a:endParaRPr lang="en-US" sz="1350" dirty="0"/>
          </a:p>
          <a:p>
            <a:pPr indent="0" marL="0">
              <a:buNone/>
            </a:pPr>
            <a:r>
              <a:rPr lang="en-US" sz="1100" i="1" dirty="0">
                <a:solidFill>
                  <a:srgbClr val="5A6472"/>
                </a:solidFill>
                <a:latin typeface="Calibri" pitchFamily="34" charset="0"/>
                <a:cs typeface="Amiri" pitchFamily="2" charset="-78"/>
              </a:rPr>
              <a:t>al-mu-jar-ra-du</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Form I</a:t>
            </a:r>
            <a:endParaRPr lang="en-US" sz="10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الْمَزِيدُ</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derived (letters added)</a:t>
            </a:r>
            <a:endParaRPr lang="en-US" sz="1350" dirty="0"/>
          </a:p>
          <a:p>
            <a:pPr indent="0" marL="0">
              <a:buNone/>
            </a:pPr>
            <a:r>
              <a:rPr lang="en-US" sz="1100" i="1" dirty="0">
                <a:solidFill>
                  <a:srgbClr val="5A6472"/>
                </a:solidFill>
                <a:latin typeface="Calibri" pitchFamily="34" charset="0"/>
                <a:cs typeface="Amiri" pitchFamily="2" charset="-78"/>
              </a:rPr>
              <a:t>al-ma-zī-du</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Forms II–X</a:t>
            </a:r>
            <a:endParaRPr lang="en-US" sz="10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الزَّمَنُ</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tense</a:t>
            </a:r>
            <a:endParaRPr lang="en-US" sz="1350" dirty="0"/>
          </a:p>
          <a:p>
            <a:pPr indent="0" marL="0">
              <a:buNone/>
            </a:pPr>
            <a:r>
              <a:rPr lang="en-US" sz="1100" i="1" dirty="0">
                <a:solidFill>
                  <a:srgbClr val="5A6472"/>
                </a:solidFill>
                <a:latin typeface="Calibri" pitchFamily="34" charset="0"/>
                <a:cs typeface="Amiri" pitchFamily="2" charset="-78"/>
              </a:rPr>
              <a:t>az-za-ma-nu</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مَاضٍ · مُضَارِعٌ</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GM-VF-00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ONE ROOT, RELATED MEANINGS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Discover the family ʿ-l-m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جَذْرٌ وَاحِدٌ وَمَعَانٍ مُتَرَابِطَةٌ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9147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28523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sentence (website)</a:t>
            </a:r>
            <a:endParaRPr lang="en-US" sz="1100" dirty="0"/>
          </a:p>
        </p:txBody>
      </p:sp>
      <p:sp>
        <p:nvSpPr>
          <p:cNvPr id="18" name="Text 15"/>
          <p:cNvSpPr txBox="1"/>
          <p:nvPr/>
        </p:nvSpPr>
        <p:spPr>
          <a:xfrm>
            <a:off x="290779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528048" y="2267712"/>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student knew the answer.</a:t>
            </a:r>
            <a:endParaRPr lang="en-US" sz="1100" dirty="0"/>
          </a:p>
        </p:txBody>
      </p:sp>
      <p:sp>
        <p:nvSpPr>
          <p:cNvPr id="22" name="Text 19"/>
          <p:cNvSpPr txBox="1"/>
          <p:nvPr/>
        </p:nvSpPr>
        <p:spPr>
          <a:xfrm>
            <a:off x="5303520" y="2267712"/>
            <a:ext cx="40233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عَلِمَ الطَّالِبُ الْجَوَابَ.</a:t>
            </a:r>
            <a:endParaRPr lang="ar-SA" sz="2200" dirty="0"/>
          </a:p>
        </p:txBody>
      </p:sp>
      <p:sp>
        <p:nvSpPr>
          <p:cNvPr id="23" name="Text 20"/>
          <p:cNvSpPr txBox="1"/>
          <p:nvPr/>
        </p:nvSpPr>
        <p:spPr>
          <a:xfrm>
            <a:off x="2944368" y="2267712"/>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know</a:t>
            </a:r>
            <a:endParaRPr lang="en-US" sz="1100" dirty="0"/>
          </a:p>
        </p:txBody>
      </p:sp>
      <p:sp>
        <p:nvSpPr>
          <p:cNvPr id="24" name="Text 21"/>
          <p:cNvSpPr txBox="1"/>
          <p:nvPr/>
        </p:nvSpPr>
        <p:spPr>
          <a:xfrm>
            <a:off x="548640" y="2267712"/>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عَلِمَ</a:t>
            </a:r>
            <a:endParaRPr lang="ar-SA" sz="26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528048" y="3054096"/>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teacher taught the student.</a:t>
            </a:r>
            <a:endParaRPr lang="en-US" sz="1100" dirty="0"/>
          </a:p>
        </p:txBody>
      </p:sp>
      <p:sp>
        <p:nvSpPr>
          <p:cNvPr id="29" name="Text 26"/>
          <p:cNvSpPr txBox="1"/>
          <p:nvPr/>
        </p:nvSpPr>
        <p:spPr>
          <a:xfrm>
            <a:off x="5303520" y="3054096"/>
            <a:ext cx="40233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عَلَّمَتِ الْمُعَلِّمَةُ الطَّالِبَ.</a:t>
            </a:r>
            <a:endParaRPr lang="ar-SA" sz="2200" dirty="0"/>
          </a:p>
        </p:txBody>
      </p:sp>
      <p:sp>
        <p:nvSpPr>
          <p:cNvPr id="30" name="Text 27"/>
          <p:cNvSpPr txBox="1"/>
          <p:nvPr/>
        </p:nvSpPr>
        <p:spPr>
          <a:xfrm>
            <a:off x="2944368" y="3054096"/>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teach</a:t>
            </a:r>
            <a:endParaRPr lang="en-US" sz="1100" dirty="0"/>
          </a:p>
        </p:txBody>
      </p:sp>
      <p:sp>
        <p:nvSpPr>
          <p:cNvPr id="31" name="Text 28"/>
          <p:cNvSpPr txBox="1"/>
          <p:nvPr/>
        </p:nvSpPr>
        <p:spPr>
          <a:xfrm>
            <a:off x="548640" y="3054096"/>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عَلَّمَ</a:t>
            </a:r>
            <a:endParaRPr lang="ar-SA" sz="26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9528048" y="3840480"/>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student learned Arabic.</a:t>
            </a:r>
            <a:endParaRPr lang="en-US" sz="1100" dirty="0"/>
          </a:p>
        </p:txBody>
      </p:sp>
      <p:sp>
        <p:nvSpPr>
          <p:cNvPr id="36" name="Text 33"/>
          <p:cNvSpPr txBox="1"/>
          <p:nvPr/>
        </p:nvSpPr>
        <p:spPr>
          <a:xfrm>
            <a:off x="5303520" y="3840480"/>
            <a:ext cx="40233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تَعَلَّمَ الطَّالِبُ الْعَرَبِيَّةَ.</a:t>
            </a:r>
            <a:endParaRPr lang="ar-SA" sz="2200" dirty="0"/>
          </a:p>
        </p:txBody>
      </p:sp>
      <p:sp>
        <p:nvSpPr>
          <p:cNvPr id="37" name="Text 34"/>
          <p:cNvSpPr txBox="1"/>
          <p:nvPr/>
        </p:nvSpPr>
        <p:spPr>
          <a:xfrm>
            <a:off x="2944368" y="3840480"/>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learn</a:t>
            </a:r>
            <a:endParaRPr lang="en-US" sz="1100" dirty="0"/>
          </a:p>
        </p:txBody>
      </p:sp>
      <p:sp>
        <p:nvSpPr>
          <p:cNvPr id="38" name="Text 35"/>
          <p:cNvSpPr txBox="1"/>
          <p:nvPr/>
        </p:nvSpPr>
        <p:spPr>
          <a:xfrm>
            <a:off x="548640" y="3840480"/>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تَعَلَّمَ</a:t>
            </a:r>
            <a:endParaRPr lang="ar-SA" sz="26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9528048" y="4626864"/>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3" name="Text 40"/>
          <p:cNvSpPr txBox="1"/>
          <p:nvPr/>
        </p:nvSpPr>
        <p:spPr>
          <a:xfrm>
            <a:off x="5321808" y="4626864"/>
            <a:ext cx="4023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nouns from the same root (GM-V-12)</a:t>
            </a:r>
            <a:endParaRPr lang="en-US" sz="1100" dirty="0"/>
          </a:p>
        </p:txBody>
      </p:sp>
      <p:sp>
        <p:nvSpPr>
          <p:cNvPr id="44" name="Text 41"/>
          <p:cNvSpPr txBox="1"/>
          <p:nvPr/>
        </p:nvSpPr>
        <p:spPr>
          <a:xfrm>
            <a:off x="2944368" y="4626864"/>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knowledge · teacher</a:t>
            </a:r>
            <a:endParaRPr lang="en-US" sz="1100" dirty="0"/>
          </a:p>
        </p:txBody>
      </p:sp>
      <p:sp>
        <p:nvSpPr>
          <p:cNvPr id="45" name="Text 42"/>
          <p:cNvSpPr txBox="1"/>
          <p:nvPr/>
        </p:nvSpPr>
        <p:spPr>
          <a:xfrm>
            <a:off x="548640" y="4626864"/>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عِلْمٌ · مُعَلِّمٌ</a:t>
            </a:r>
            <a:endParaRPr lang="ar-SA" sz="2600" dirty="0"/>
          </a:p>
        </p:txBody>
      </p:sp>
      <p:sp>
        <p:nvSpPr>
          <p:cNvPr id="46" name="Text 4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notice the shared consonants ʿ – l – m. The pattern changes the word, and the meaning changes with it. A root is a connection, not an English translation.</a:t>
            </a:r>
            <a:endParaRPr lang="en-US" sz="110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GM-VF-00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2 · WHAT DO THE NUMBERS MEAN? FORMS I–V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ten families — part 1</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الْأَوْزَانُ (١ – ٥)</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857232" y="1810512"/>
            <a:ext cx="1801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Typical idea</a:t>
            </a:r>
            <a:endParaRPr lang="en-US" sz="1100" dirty="0"/>
          </a:p>
        </p:txBody>
      </p:sp>
      <p:sp>
        <p:nvSpPr>
          <p:cNvPr id="17" name="Text 14"/>
          <p:cNvSpPr txBox="1"/>
          <p:nvPr/>
        </p:nvSpPr>
        <p:spPr>
          <a:xfrm>
            <a:off x="766267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4005072"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 · present</a:t>
            </a:r>
            <a:endParaRPr lang="en-US" sz="1100" dirty="0"/>
          </a:p>
        </p:txBody>
      </p:sp>
      <p:sp>
        <p:nvSpPr>
          <p:cNvPr id="19" name="Text 16"/>
          <p:cNvSpPr txBox="1"/>
          <p:nvPr/>
        </p:nvSpPr>
        <p:spPr>
          <a:xfrm>
            <a:off x="181051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Template</a:t>
            </a:r>
            <a:endParaRPr lang="en-US" sz="1100" dirty="0"/>
          </a:p>
        </p:txBody>
      </p:sp>
      <p:sp>
        <p:nvSpPr>
          <p:cNvPr id="20" name="Text 17"/>
          <p:cNvSpPr txBox="1"/>
          <p:nvPr/>
        </p:nvSpPr>
        <p:spPr>
          <a:xfrm>
            <a:off x="53035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893808" y="2267712"/>
            <a:ext cx="1764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basic verb</a:t>
            </a:r>
            <a:endParaRPr lang="en-US" sz="1100" dirty="0"/>
          </a:p>
        </p:txBody>
      </p:sp>
      <p:sp>
        <p:nvSpPr>
          <p:cNvPr id="23" name="Text 20"/>
          <p:cNvSpPr txBox="1"/>
          <p:nvPr/>
        </p:nvSpPr>
        <p:spPr>
          <a:xfrm>
            <a:off x="769924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write</a:t>
            </a:r>
            <a:endParaRPr lang="en-US" sz="1100" dirty="0"/>
          </a:p>
        </p:txBody>
      </p:sp>
      <p:sp>
        <p:nvSpPr>
          <p:cNvPr id="24" name="Text 21"/>
          <p:cNvSpPr txBox="1"/>
          <p:nvPr/>
        </p:nvSpPr>
        <p:spPr>
          <a:xfrm>
            <a:off x="4023360" y="2267712"/>
            <a:ext cx="34747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كَتَبَ · يَكْتُبُ</a:t>
            </a:r>
            <a:endParaRPr lang="ar-SA" sz="2400" dirty="0"/>
          </a:p>
        </p:txBody>
      </p:sp>
      <p:sp>
        <p:nvSpPr>
          <p:cNvPr id="25" name="Text 22"/>
          <p:cNvSpPr txBox="1"/>
          <p:nvPr/>
        </p:nvSpPr>
        <p:spPr>
          <a:xfrm>
            <a:off x="1828800" y="2267712"/>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فَعَلَ</a:t>
            </a:r>
            <a:endParaRPr lang="ar-SA" sz="2400" dirty="0"/>
          </a:p>
        </p:txBody>
      </p:sp>
      <p:sp>
        <p:nvSpPr>
          <p:cNvPr id="26" name="Text 23"/>
          <p:cNvSpPr txBox="1"/>
          <p:nvPr/>
        </p:nvSpPr>
        <p:spPr>
          <a:xfrm>
            <a:off x="56692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893808" y="3004718"/>
            <a:ext cx="1764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shadda: cause / intensify</a:t>
            </a:r>
            <a:endParaRPr lang="en-US" sz="1100" dirty="0"/>
          </a:p>
        </p:txBody>
      </p:sp>
      <p:sp>
        <p:nvSpPr>
          <p:cNvPr id="31" name="Text 28"/>
          <p:cNvSpPr txBox="1"/>
          <p:nvPr/>
        </p:nvSpPr>
        <p:spPr>
          <a:xfrm>
            <a:off x="769924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teach</a:t>
            </a:r>
            <a:endParaRPr lang="en-US" sz="1100" dirty="0"/>
          </a:p>
        </p:txBody>
      </p:sp>
      <p:sp>
        <p:nvSpPr>
          <p:cNvPr id="32" name="Text 29"/>
          <p:cNvSpPr txBox="1"/>
          <p:nvPr/>
        </p:nvSpPr>
        <p:spPr>
          <a:xfrm>
            <a:off x="4023360" y="3004718"/>
            <a:ext cx="34747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عَلَّمَ · يُعَلِّمُ</a:t>
            </a:r>
            <a:endParaRPr lang="ar-SA" sz="2400" dirty="0"/>
          </a:p>
        </p:txBody>
      </p:sp>
      <p:sp>
        <p:nvSpPr>
          <p:cNvPr id="33" name="Text 30"/>
          <p:cNvSpPr txBox="1"/>
          <p:nvPr/>
        </p:nvSpPr>
        <p:spPr>
          <a:xfrm>
            <a:off x="1828800" y="300471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فَعَّلَ</a:t>
            </a:r>
            <a:endParaRPr lang="ar-SA" sz="2400" dirty="0"/>
          </a:p>
        </p:txBody>
      </p:sp>
      <p:sp>
        <p:nvSpPr>
          <p:cNvPr id="34" name="Text 31"/>
          <p:cNvSpPr txBox="1"/>
          <p:nvPr/>
        </p:nvSpPr>
        <p:spPr>
          <a:xfrm>
            <a:off x="56692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II</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893808" y="3741725"/>
            <a:ext cx="1764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long ā: with someone</a:t>
            </a:r>
            <a:endParaRPr lang="en-US" sz="1100" dirty="0"/>
          </a:p>
        </p:txBody>
      </p:sp>
      <p:sp>
        <p:nvSpPr>
          <p:cNvPr id="39" name="Text 36"/>
          <p:cNvSpPr txBox="1"/>
          <p:nvPr/>
        </p:nvSpPr>
        <p:spPr>
          <a:xfrm>
            <a:off x="769924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participate</a:t>
            </a:r>
            <a:endParaRPr lang="en-US" sz="1100" dirty="0"/>
          </a:p>
        </p:txBody>
      </p:sp>
      <p:sp>
        <p:nvSpPr>
          <p:cNvPr id="40" name="Text 37"/>
          <p:cNvSpPr txBox="1"/>
          <p:nvPr/>
        </p:nvSpPr>
        <p:spPr>
          <a:xfrm>
            <a:off x="4023360" y="3741725"/>
            <a:ext cx="34747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شَارَكَ · يُشَارِكُ</a:t>
            </a:r>
            <a:endParaRPr lang="ar-SA" sz="2400" dirty="0"/>
          </a:p>
        </p:txBody>
      </p:sp>
      <p:sp>
        <p:nvSpPr>
          <p:cNvPr id="41" name="Text 38"/>
          <p:cNvSpPr txBox="1"/>
          <p:nvPr/>
        </p:nvSpPr>
        <p:spPr>
          <a:xfrm>
            <a:off x="1828800" y="3741725"/>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فَاعَلَ</a:t>
            </a:r>
            <a:endParaRPr lang="ar-SA" sz="2400" dirty="0"/>
          </a:p>
        </p:txBody>
      </p:sp>
      <p:sp>
        <p:nvSpPr>
          <p:cNvPr id="42" name="Text 39"/>
          <p:cNvSpPr txBox="1"/>
          <p:nvPr/>
        </p:nvSpPr>
        <p:spPr>
          <a:xfrm>
            <a:off x="56692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III</a:t>
            </a:r>
            <a:endParaRPr lang="en-US" sz="1100" dirty="0"/>
          </a:p>
        </p:txBody>
      </p:sp>
      <p:sp>
        <p:nvSpPr>
          <p:cNvPr id="43" name="Shape 4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4" name="Text 41"/>
          <p:cNvSpPr txBox="1"/>
          <p:nvPr/>
        </p:nvSpPr>
        <p:spPr>
          <a:xfrm>
            <a:off x="9893808" y="4478731"/>
            <a:ext cx="1764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cause</a:t>
            </a:r>
            <a:endParaRPr lang="en-US" sz="1100" dirty="0"/>
          </a:p>
        </p:txBody>
      </p:sp>
      <p:sp>
        <p:nvSpPr>
          <p:cNvPr id="45" name="Text 42"/>
          <p:cNvSpPr txBox="1"/>
          <p:nvPr/>
        </p:nvSpPr>
        <p:spPr>
          <a:xfrm>
            <a:off x="769924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send</a:t>
            </a:r>
            <a:endParaRPr lang="en-US" sz="1100" dirty="0"/>
          </a:p>
        </p:txBody>
      </p:sp>
      <p:sp>
        <p:nvSpPr>
          <p:cNvPr id="46" name="Text 43"/>
          <p:cNvSpPr txBox="1"/>
          <p:nvPr/>
        </p:nvSpPr>
        <p:spPr>
          <a:xfrm>
            <a:off x="4023360" y="4478731"/>
            <a:ext cx="34747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أَرْسَلَ · يُرْسِلُ</a:t>
            </a:r>
            <a:endParaRPr lang="ar-SA" sz="2400" dirty="0"/>
          </a:p>
        </p:txBody>
      </p:sp>
      <p:sp>
        <p:nvSpPr>
          <p:cNvPr id="47" name="Text 44"/>
          <p:cNvSpPr txBox="1"/>
          <p:nvPr/>
        </p:nvSpPr>
        <p:spPr>
          <a:xfrm>
            <a:off x="1828800" y="4478731"/>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أَفْعَلَ</a:t>
            </a:r>
            <a:endParaRPr lang="ar-SA" sz="2400" dirty="0"/>
          </a:p>
        </p:txBody>
      </p:sp>
      <p:sp>
        <p:nvSpPr>
          <p:cNvPr id="48" name="Text 45"/>
          <p:cNvSpPr txBox="1"/>
          <p:nvPr/>
        </p:nvSpPr>
        <p:spPr>
          <a:xfrm>
            <a:off x="56692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IV</a:t>
            </a:r>
            <a:endParaRPr lang="en-US" sz="1100" dirty="0"/>
          </a:p>
        </p:txBody>
      </p:sp>
      <p:sp>
        <p:nvSpPr>
          <p:cNvPr id="49" name="Shape 4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0" name="Text 47"/>
          <p:cNvSpPr txBox="1"/>
          <p:nvPr/>
        </p:nvSpPr>
        <p:spPr>
          <a:xfrm>
            <a:off x="9893808" y="5215738"/>
            <a:ext cx="1764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 + shadda: develop</a:t>
            </a:r>
            <a:endParaRPr lang="en-US" sz="1100" dirty="0"/>
          </a:p>
        </p:txBody>
      </p:sp>
      <p:sp>
        <p:nvSpPr>
          <p:cNvPr id="51" name="Text 48"/>
          <p:cNvSpPr txBox="1"/>
          <p:nvPr/>
        </p:nvSpPr>
        <p:spPr>
          <a:xfrm>
            <a:off x="769924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learn</a:t>
            </a:r>
            <a:endParaRPr lang="en-US" sz="1100" dirty="0"/>
          </a:p>
        </p:txBody>
      </p:sp>
      <p:sp>
        <p:nvSpPr>
          <p:cNvPr id="52" name="Text 49"/>
          <p:cNvSpPr txBox="1"/>
          <p:nvPr/>
        </p:nvSpPr>
        <p:spPr>
          <a:xfrm>
            <a:off x="4023360" y="5215738"/>
            <a:ext cx="34747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تَعَلَّمَ · يَتَعَلَّمُ</a:t>
            </a:r>
            <a:endParaRPr lang="ar-SA" sz="2400" dirty="0"/>
          </a:p>
        </p:txBody>
      </p:sp>
      <p:sp>
        <p:nvSpPr>
          <p:cNvPr id="53" name="Text 50"/>
          <p:cNvSpPr txBox="1"/>
          <p:nvPr/>
        </p:nvSpPr>
        <p:spPr>
          <a:xfrm>
            <a:off x="1828800" y="521573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تَفَعَّلَ</a:t>
            </a:r>
            <a:endParaRPr lang="ar-SA" sz="2400" dirty="0"/>
          </a:p>
        </p:txBody>
      </p:sp>
      <p:sp>
        <p:nvSpPr>
          <p:cNvPr id="54" name="Text 51"/>
          <p:cNvSpPr txBox="1"/>
          <p:nvPr/>
        </p:nvSpPr>
        <p:spPr>
          <a:xfrm>
            <a:off x="56692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a:t>
            </a:r>
            <a:endParaRPr lang="en-US" sz="1100" dirty="0"/>
          </a:p>
        </p:txBody>
      </p:sp>
      <p:sp>
        <p:nvSpPr>
          <p:cNvPr id="55" name="Shape 52"/>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Roman numerals name families — they do not show tense or difficulty. ʿallama (past) and yuʿallimu (present) are BOTH Form II.</a:t>
            </a:r>
            <a:endParaRPr lang="en-US" sz="11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GM-VF-00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18" b="1" spc="150" kern="0" dirty="0">
                <a:solidFill>
                  <a:srgbClr val="1B3B6F"/>
                </a:solidFill>
                <a:latin typeface="Calibri" pitchFamily="34" charset="0"/>
                <a:cs typeface="Amiri" pitchFamily="2" charset="-78"/>
              </a:rPr>
              <a:t>GRAMMAR · PART 3 · FORMS VI–X AND HOW TO STUDY (WEBSITE) · DEVELOP / STRETCH</a:t>
            </a:r>
            <a:endParaRPr lang="en-US" sz="91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ten families — part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الْأَوْزَانُ (٦ – ١٠)</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857232" y="1810512"/>
            <a:ext cx="1801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Typical idea</a:t>
            </a:r>
            <a:endParaRPr lang="en-US" sz="1100" dirty="0"/>
          </a:p>
        </p:txBody>
      </p:sp>
      <p:sp>
        <p:nvSpPr>
          <p:cNvPr id="17" name="Text 14"/>
          <p:cNvSpPr txBox="1"/>
          <p:nvPr/>
        </p:nvSpPr>
        <p:spPr>
          <a:xfrm>
            <a:off x="766267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4005072"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 · present</a:t>
            </a:r>
            <a:endParaRPr lang="en-US" sz="1100" dirty="0"/>
          </a:p>
        </p:txBody>
      </p:sp>
      <p:sp>
        <p:nvSpPr>
          <p:cNvPr id="19" name="Text 16"/>
          <p:cNvSpPr txBox="1"/>
          <p:nvPr/>
        </p:nvSpPr>
        <p:spPr>
          <a:xfrm>
            <a:off x="181051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Template</a:t>
            </a:r>
            <a:endParaRPr lang="en-US" sz="1100" dirty="0"/>
          </a:p>
        </p:txBody>
      </p:sp>
      <p:sp>
        <p:nvSpPr>
          <p:cNvPr id="20" name="Text 17"/>
          <p:cNvSpPr txBox="1"/>
          <p:nvPr/>
        </p:nvSpPr>
        <p:spPr>
          <a:xfrm>
            <a:off x="53035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893808" y="2267712"/>
            <a:ext cx="1764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each other</a:t>
            </a:r>
            <a:endParaRPr lang="en-US" sz="1100" dirty="0"/>
          </a:p>
        </p:txBody>
      </p:sp>
      <p:sp>
        <p:nvSpPr>
          <p:cNvPr id="23" name="Text 20"/>
          <p:cNvSpPr txBox="1"/>
          <p:nvPr/>
        </p:nvSpPr>
        <p:spPr>
          <a:xfrm>
            <a:off x="769924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cooperate</a:t>
            </a:r>
            <a:endParaRPr lang="en-US" sz="1100" dirty="0"/>
          </a:p>
        </p:txBody>
      </p:sp>
      <p:sp>
        <p:nvSpPr>
          <p:cNvPr id="24" name="Text 21"/>
          <p:cNvSpPr txBox="1"/>
          <p:nvPr/>
        </p:nvSpPr>
        <p:spPr>
          <a:xfrm>
            <a:off x="4023360" y="2267712"/>
            <a:ext cx="34747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تَعَاوَنَ · يَتَعَاوَنُ</a:t>
            </a:r>
            <a:endParaRPr lang="ar-SA" sz="2400" dirty="0"/>
          </a:p>
        </p:txBody>
      </p:sp>
      <p:sp>
        <p:nvSpPr>
          <p:cNvPr id="25" name="Text 22"/>
          <p:cNvSpPr txBox="1"/>
          <p:nvPr/>
        </p:nvSpPr>
        <p:spPr>
          <a:xfrm>
            <a:off x="1828800" y="2267712"/>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تَفَاعَلَ</a:t>
            </a:r>
            <a:endParaRPr lang="ar-SA" sz="2400" dirty="0"/>
          </a:p>
        </p:txBody>
      </p:sp>
      <p:sp>
        <p:nvSpPr>
          <p:cNvPr id="26" name="Text 23"/>
          <p:cNvSpPr txBox="1"/>
          <p:nvPr/>
        </p:nvSpPr>
        <p:spPr>
          <a:xfrm>
            <a:off x="56692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VI</a:t>
            </a:r>
            <a:endParaRPr lang="en-US" sz="110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893808" y="3004718"/>
            <a:ext cx="1764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happens to it</a:t>
            </a:r>
            <a:endParaRPr lang="en-US" sz="1100" dirty="0"/>
          </a:p>
        </p:txBody>
      </p:sp>
      <p:sp>
        <p:nvSpPr>
          <p:cNvPr id="29" name="Text 26"/>
          <p:cNvSpPr txBox="1"/>
          <p:nvPr/>
        </p:nvSpPr>
        <p:spPr>
          <a:xfrm>
            <a:off x="769924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break (become broken)</a:t>
            </a:r>
            <a:endParaRPr lang="en-US" sz="1100" dirty="0"/>
          </a:p>
        </p:txBody>
      </p:sp>
      <p:sp>
        <p:nvSpPr>
          <p:cNvPr id="30" name="Text 27"/>
          <p:cNvSpPr txBox="1"/>
          <p:nvPr/>
        </p:nvSpPr>
        <p:spPr>
          <a:xfrm>
            <a:off x="4023360" y="3004718"/>
            <a:ext cx="34747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اِنْكَسَرَ · يَنْكَسِرُ</a:t>
            </a:r>
            <a:endParaRPr lang="ar-SA" sz="2400" dirty="0"/>
          </a:p>
        </p:txBody>
      </p:sp>
      <p:sp>
        <p:nvSpPr>
          <p:cNvPr id="31" name="Text 28"/>
          <p:cNvSpPr txBox="1"/>
          <p:nvPr/>
        </p:nvSpPr>
        <p:spPr>
          <a:xfrm>
            <a:off x="1828800" y="300471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اِنْفَعَلَ</a:t>
            </a:r>
            <a:endParaRPr lang="ar-SA" sz="2400" dirty="0"/>
          </a:p>
        </p:txBody>
      </p:sp>
      <p:sp>
        <p:nvSpPr>
          <p:cNvPr id="32" name="Text 29"/>
          <p:cNvSpPr txBox="1"/>
          <p:nvPr/>
        </p:nvSpPr>
        <p:spPr>
          <a:xfrm>
            <a:off x="56692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VII</a:t>
            </a:r>
            <a:endParaRPr lang="en-US" sz="1100" dirty="0"/>
          </a:p>
        </p:txBody>
      </p:sp>
      <p:sp>
        <p:nvSpPr>
          <p:cNvPr id="33" name="Shape 30"/>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4" name="Text 31"/>
          <p:cNvSpPr txBox="1"/>
          <p:nvPr/>
        </p:nvSpPr>
        <p:spPr>
          <a:xfrm>
            <a:off x="9893808" y="3741725"/>
            <a:ext cx="1764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 inside</a:t>
            </a:r>
            <a:endParaRPr lang="en-US" sz="1100" dirty="0"/>
          </a:p>
        </p:txBody>
      </p:sp>
      <p:sp>
        <p:nvSpPr>
          <p:cNvPr id="35" name="Text 32"/>
          <p:cNvSpPr txBox="1"/>
          <p:nvPr/>
        </p:nvSpPr>
        <p:spPr>
          <a:xfrm>
            <a:off x="769924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acquire</a:t>
            </a:r>
            <a:endParaRPr lang="en-US" sz="1100" dirty="0"/>
          </a:p>
        </p:txBody>
      </p:sp>
      <p:sp>
        <p:nvSpPr>
          <p:cNvPr id="36" name="Text 33"/>
          <p:cNvSpPr txBox="1"/>
          <p:nvPr/>
        </p:nvSpPr>
        <p:spPr>
          <a:xfrm>
            <a:off x="4023360" y="3741725"/>
            <a:ext cx="34747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اِكْتَسَبَ · يَكْتَسِبُ</a:t>
            </a:r>
            <a:endParaRPr lang="ar-SA" sz="2400" dirty="0"/>
          </a:p>
        </p:txBody>
      </p:sp>
      <p:sp>
        <p:nvSpPr>
          <p:cNvPr id="37" name="Text 34"/>
          <p:cNvSpPr txBox="1"/>
          <p:nvPr/>
        </p:nvSpPr>
        <p:spPr>
          <a:xfrm>
            <a:off x="1828800" y="3741725"/>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اِفْتَعَلَ</a:t>
            </a:r>
            <a:endParaRPr lang="ar-SA" sz="2400" dirty="0"/>
          </a:p>
        </p:txBody>
      </p:sp>
      <p:sp>
        <p:nvSpPr>
          <p:cNvPr id="38" name="Text 35"/>
          <p:cNvSpPr txBox="1"/>
          <p:nvPr/>
        </p:nvSpPr>
        <p:spPr>
          <a:xfrm>
            <a:off x="56692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VIII</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9893808" y="4478731"/>
            <a:ext cx="1764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colours (rare)</a:t>
            </a:r>
            <a:endParaRPr lang="en-US" sz="1100" dirty="0"/>
          </a:p>
        </p:txBody>
      </p:sp>
      <p:sp>
        <p:nvSpPr>
          <p:cNvPr id="41" name="Text 38"/>
          <p:cNvSpPr txBox="1"/>
          <p:nvPr/>
        </p:nvSpPr>
        <p:spPr>
          <a:xfrm>
            <a:off x="769924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become red</a:t>
            </a:r>
            <a:endParaRPr lang="en-US" sz="1100" dirty="0"/>
          </a:p>
        </p:txBody>
      </p:sp>
      <p:sp>
        <p:nvSpPr>
          <p:cNvPr id="42" name="Text 39"/>
          <p:cNvSpPr txBox="1"/>
          <p:nvPr/>
        </p:nvSpPr>
        <p:spPr>
          <a:xfrm>
            <a:off x="4023360" y="4478731"/>
            <a:ext cx="34747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اِحْمَرَّ · يَحْمَرُّ</a:t>
            </a:r>
            <a:endParaRPr lang="ar-SA" sz="2400" dirty="0"/>
          </a:p>
        </p:txBody>
      </p:sp>
      <p:sp>
        <p:nvSpPr>
          <p:cNvPr id="43" name="Text 40"/>
          <p:cNvSpPr txBox="1"/>
          <p:nvPr/>
        </p:nvSpPr>
        <p:spPr>
          <a:xfrm>
            <a:off x="1828800" y="4478731"/>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اِفْعَلَّ</a:t>
            </a:r>
            <a:endParaRPr lang="ar-SA" sz="2400" dirty="0"/>
          </a:p>
        </p:txBody>
      </p:sp>
      <p:sp>
        <p:nvSpPr>
          <p:cNvPr id="44" name="Text 41"/>
          <p:cNvSpPr txBox="1"/>
          <p:nvPr/>
        </p:nvSpPr>
        <p:spPr>
          <a:xfrm>
            <a:off x="56692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IX</a:t>
            </a:r>
            <a:endParaRPr lang="en-US" sz="1100" dirty="0"/>
          </a:p>
        </p:txBody>
      </p:sp>
      <p:sp>
        <p:nvSpPr>
          <p:cNvPr id="45" name="Shape 4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6" name="Text 43"/>
          <p:cNvSpPr txBox="1"/>
          <p:nvPr/>
        </p:nvSpPr>
        <p:spPr>
          <a:xfrm>
            <a:off x="9893808" y="5215738"/>
            <a:ext cx="1764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ista-: seek / use</a:t>
            </a:r>
            <a:endParaRPr lang="en-US" sz="1100" dirty="0"/>
          </a:p>
        </p:txBody>
      </p:sp>
      <p:sp>
        <p:nvSpPr>
          <p:cNvPr id="47" name="Text 44"/>
          <p:cNvSpPr txBox="1"/>
          <p:nvPr/>
        </p:nvSpPr>
        <p:spPr>
          <a:xfrm>
            <a:off x="769924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use</a:t>
            </a:r>
            <a:endParaRPr lang="en-US" sz="1100" dirty="0"/>
          </a:p>
        </p:txBody>
      </p:sp>
      <p:sp>
        <p:nvSpPr>
          <p:cNvPr id="48" name="Text 45"/>
          <p:cNvSpPr txBox="1"/>
          <p:nvPr/>
        </p:nvSpPr>
        <p:spPr>
          <a:xfrm>
            <a:off x="4023360" y="5215738"/>
            <a:ext cx="34747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اِسْتَعْمَلَ · يَسْتَعْمِلُ</a:t>
            </a:r>
            <a:endParaRPr lang="ar-SA" sz="2400" dirty="0"/>
          </a:p>
        </p:txBody>
      </p:sp>
      <p:sp>
        <p:nvSpPr>
          <p:cNvPr id="49" name="Text 46"/>
          <p:cNvSpPr txBox="1"/>
          <p:nvPr/>
        </p:nvSpPr>
        <p:spPr>
          <a:xfrm>
            <a:off x="1828800" y="521573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اِسْتَفْعَلَ</a:t>
            </a:r>
            <a:endParaRPr lang="ar-SA" sz="2400" dirty="0"/>
          </a:p>
        </p:txBody>
      </p:sp>
      <p:sp>
        <p:nvSpPr>
          <p:cNvPr id="50" name="Text 47"/>
          <p:cNvSpPr txBox="1"/>
          <p:nvPr/>
        </p:nvSpPr>
        <p:spPr>
          <a:xfrm>
            <a:off x="56692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X</a:t>
            </a:r>
            <a:endParaRPr lang="en-US" sz="1100" dirty="0"/>
          </a:p>
        </p:txBody>
      </p:sp>
      <p:sp>
        <p:nvSpPr>
          <p:cNvPr id="51" name="Shape 4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Text 5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study route: begin with meaning → notice the pattern → practise and apply → revisit. Not every root has all ten forms; learn real verbs, not empty tables.</a:t>
            </a:r>
            <a:endParaRPr lang="en-US" sz="11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GM-VF-00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 root?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tense prefix of a verb.</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English translation of a word.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set of consonants associated with a family of meanings.</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“to teach”?</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عَلَّمَ</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عَلِمَ</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تَعَلَّمَ</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is the SAME form in different tenses?</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عَلَّمَ / تَعَلَّمَ</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عَلَّمَ / يُعَلِّمُ</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عَلِمَ / عَلَّمَ</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V?</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تَعَلَّمَ</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عَلَّمَ</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عَلِمَ</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GM-VF-00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 root?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tense prefix of a verb.</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English translation of a word.</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set of consonants associated with a family of meanings.</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Arabic roots commonly contain three consonants.</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“to teach”?</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عَلَّمَ</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عَلِمَ</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تَعَلَّمَ</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doubled middle letter marks Form II ʿallama.</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is the SAME form in different tenses?</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عَلَّمَ / تَعَلَّمَ</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عَلَّمَ / يُعَلِّمُ</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عَلِمَ / عَلَّمَ</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ʿallama and yuʿallimu are the past and present of Form II.</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V?</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تَعَلَّمَ</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عَلَّمَ</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عَلِمَ</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 + shadda = tafaʿʿala.</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GM-VF-00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Watch me find the root and the form</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GM-VF-00</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Word</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يَسْتَعْمِلُ</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Remove the prefix ya-.</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Extra letters</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اِسْتَـ</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ista- = Form X.</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Root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ع م ل</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Work / use.</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Form</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اِسْتَفْعَلَ</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Form X template.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ROOT LETTERS</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PATTERN</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0E7C86"/>
                </a:solidFill>
                <a:latin typeface="Amiri" pitchFamily="2" charset="-78"/>
                <a:cs typeface="Amiri" pitchFamily="2" charset="-78"/>
              </a:rPr>
              <a:t>عَلِمَ</a:t>
            </a:r>
            <a:pPr rtl="1" algn="r" indent="0" marL="0">
              <a:buNone/>
            </a:pPr>
            <a:r>
              <a:rPr lang="ar-SA" altLang="en-US" sz="2600" b="1" dirty="0">
                <a:solidFill>
                  <a:srgbClr val="1B3B6F"/>
                </a:solidFill>
                <a:latin typeface="Amiri" pitchFamily="2" charset="-78"/>
                <a:cs typeface="Amiri" pitchFamily="2" charset="-78"/>
              </a:rPr>
              <a:t> الطَّالِبُ الْجَوَابَ. </a:t>
            </a:r>
            <a:pPr rtl="1" algn="r" indent="0" marL="0">
              <a:buNone/>
            </a:pPr>
            <a:r>
              <a:rPr lang="ar-SA" altLang="en-US" sz="2600" b="1" dirty="0">
                <a:solidFill>
                  <a:srgbClr val="D6336C"/>
                </a:solidFill>
                <a:latin typeface="Amiri" pitchFamily="2" charset="-78"/>
                <a:cs typeface="Amiri" pitchFamily="2" charset="-78"/>
              </a:rPr>
              <a:t>عَلَّمَتِ</a:t>
            </a:r>
            <a:pPr rtl="1" algn="r" indent="0" marL="0">
              <a:buNone/>
            </a:pPr>
            <a:r>
              <a:rPr lang="ar-SA" altLang="en-US" sz="2600" b="1" dirty="0">
                <a:solidFill>
                  <a:srgbClr val="1B3B6F"/>
                </a:solidFill>
                <a:latin typeface="Amiri" pitchFamily="2" charset="-78"/>
                <a:cs typeface="Amiri" pitchFamily="2" charset="-78"/>
              </a:rPr>
              <a:t> الْمُعَلِّمَةُ الطَّالِبَ. </a:t>
            </a:r>
            <a:pPr rtl="1" algn="r" indent="0" marL="0">
              <a:buNone/>
            </a:pPr>
            <a:r>
              <a:rPr lang="ar-SA" altLang="en-US" sz="2600" b="1" dirty="0">
                <a:solidFill>
                  <a:srgbClr val="D6336C"/>
                </a:solidFill>
                <a:latin typeface="Amiri" pitchFamily="2" charset="-78"/>
                <a:cs typeface="Amiri" pitchFamily="2" charset="-78"/>
              </a:rPr>
              <a:t>تَعَلَّمَ</a:t>
            </a:r>
            <a:pPr rtl="1" algn="r" indent="0" marL="0">
              <a:buNone/>
            </a:pPr>
            <a:r>
              <a:rPr lang="ar-SA" altLang="en-US" sz="2600" b="1" dirty="0">
                <a:solidFill>
                  <a:srgbClr val="1B3B6F"/>
                </a:solidFill>
                <a:latin typeface="Amiri" pitchFamily="2" charset="-78"/>
                <a:cs typeface="Amiri" pitchFamily="2" charset="-78"/>
              </a:rPr>
              <a:t> الطَّالِبُ الْعَرَبِيَّةَ.</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The student knew the answer. The teacher taught the student. The student learned Arabic.</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GM-VF-00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GM-VF-00</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أُعَلِّمُ أَخِي الصَّغِيرَ الْقِرَاءَةَ.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teach my little brother to read.</a:t>
            </a:r>
            <a:endParaRPr lang="en-US" sz="1250" dirty="0"/>
          </a:p>
          <a:p>
            <a:pPr indent="0" marL="0">
              <a:buNone/>
            </a:pPr>
            <a:r>
              <a:rPr lang="en-US" sz="1050" i="1" dirty="0">
                <a:solidFill>
                  <a:srgbClr val="8A6D1E"/>
                </a:solidFill>
                <a:latin typeface="Calibri" pitchFamily="34" charset="0"/>
                <a:cs typeface="Amiri" pitchFamily="2" charset="-78"/>
              </a:rPr>
              <a:t>Form II.</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نَتَعَلَّمُ الْعَرَبِيَّةَ مَعًا.</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learn Arabic together.</a:t>
            </a:r>
            <a:endParaRPr lang="en-US" sz="1250" dirty="0"/>
          </a:p>
          <a:p>
            <a:pPr indent="0" marL="0">
              <a:buNone/>
            </a:pPr>
            <a:r>
              <a:rPr lang="en-US" sz="1050" i="1" dirty="0">
                <a:solidFill>
                  <a:srgbClr val="8A6D1E"/>
                </a:solidFill>
                <a:latin typeface="Calibri" pitchFamily="34" charset="0"/>
                <a:cs typeface="Amiri" pitchFamily="2" charset="-78"/>
              </a:rPr>
              <a:t>Form V.</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أَسْتَعْمِلُ الْحَاسُوبَ كُلَّ يَوْمٍ.</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use the computer every day.</a:t>
            </a:r>
            <a:endParaRPr lang="en-US" sz="1250" dirty="0"/>
          </a:p>
          <a:p>
            <a:pPr indent="0" marL="0">
              <a:buNone/>
            </a:pPr>
            <a:r>
              <a:rPr lang="en-US" sz="1050" i="1" dirty="0">
                <a:solidFill>
                  <a:srgbClr val="8A6D1E"/>
                </a:solidFill>
                <a:latin typeface="Calibri" pitchFamily="34" charset="0"/>
                <a:cs typeface="Amiri" pitchFamily="2" charset="-78"/>
              </a:rPr>
              <a:t>Form X.</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نَتَعَاوَنُ فِي الْمَشْرُوعِ.</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cooperate on the project.</a:t>
            </a:r>
            <a:endParaRPr lang="en-US" sz="1250" dirty="0"/>
          </a:p>
          <a:p>
            <a:pPr indent="0" marL="0">
              <a:buNone/>
            </a:pPr>
            <a:r>
              <a:rPr lang="en-US" sz="1050" i="1" dirty="0">
                <a:solidFill>
                  <a:srgbClr val="8A6D1E"/>
                </a:solidFill>
                <a:latin typeface="Calibri" pitchFamily="34" charset="0"/>
                <a:cs typeface="Amiri" pitchFamily="2" charset="-78"/>
              </a:rPr>
              <a:t>Form VI.</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GM-VF-00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FIND THE ROOT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Strip the extras, find the root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اِسْتَخْرِجِ الْجَذْرَ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a:t>
            </a:r>
            <a:endParaRPr lang="en-US" sz="1100" dirty="0"/>
          </a:p>
        </p:txBody>
      </p:sp>
      <p:sp>
        <p:nvSpPr>
          <p:cNvPr id="17" name="Text 14"/>
          <p:cNvSpPr txBox="1"/>
          <p:nvPr/>
        </p:nvSpPr>
        <p:spPr>
          <a:xfrm>
            <a:off x="565099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Root idea</a:t>
            </a:r>
            <a:endParaRPr lang="en-US" sz="1100" dirty="0"/>
          </a:p>
        </p:txBody>
      </p:sp>
      <p:sp>
        <p:nvSpPr>
          <p:cNvPr id="18" name="Text 15"/>
          <p:cNvSpPr txBox="1"/>
          <p:nvPr/>
        </p:nvSpPr>
        <p:spPr>
          <a:xfrm>
            <a:off x="32735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Root</a:t>
            </a:r>
            <a:endParaRPr lang="en-US" sz="1100" dirty="0"/>
          </a:p>
        </p:txBody>
      </p:sp>
      <p:sp>
        <p:nvSpPr>
          <p:cNvPr id="19" name="Text 16"/>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Word</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8430768" y="226771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II (shadda)</a:t>
            </a:r>
            <a:endParaRPr lang="en-US" sz="1100" dirty="0"/>
          </a:p>
        </p:txBody>
      </p:sp>
      <p:sp>
        <p:nvSpPr>
          <p:cNvPr id="22" name="Text 19"/>
          <p:cNvSpPr txBox="1"/>
          <p:nvPr/>
        </p:nvSpPr>
        <p:spPr>
          <a:xfrm>
            <a:off x="5687568" y="2267712"/>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knowledge</a:t>
            </a:r>
            <a:endParaRPr lang="en-US" sz="1100" dirty="0"/>
          </a:p>
        </p:txBody>
      </p:sp>
      <p:sp>
        <p:nvSpPr>
          <p:cNvPr id="23" name="Text 20"/>
          <p:cNvSpPr txBox="1"/>
          <p:nvPr/>
        </p:nvSpPr>
        <p:spPr>
          <a:xfrm>
            <a:off x="3291840" y="2267712"/>
            <a:ext cx="21945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ع ل م</a:t>
            </a:r>
            <a:endParaRPr lang="ar-SA" sz="2600" dirty="0"/>
          </a:p>
        </p:txBody>
      </p:sp>
      <p:sp>
        <p:nvSpPr>
          <p:cNvPr id="24" name="Text 21"/>
          <p:cNvSpPr txBox="1"/>
          <p:nvPr/>
        </p:nvSpPr>
        <p:spPr>
          <a:xfrm>
            <a:off x="548640" y="2267712"/>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يُعَلِّمُ</a:t>
            </a:r>
            <a:endParaRPr lang="ar-SA" sz="26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8430768" y="2881884"/>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III (long ā)</a:t>
            </a:r>
            <a:endParaRPr lang="en-US" sz="1100" dirty="0"/>
          </a:p>
        </p:txBody>
      </p:sp>
      <p:sp>
        <p:nvSpPr>
          <p:cNvPr id="29" name="Text 26"/>
          <p:cNvSpPr txBox="1"/>
          <p:nvPr/>
        </p:nvSpPr>
        <p:spPr>
          <a:xfrm>
            <a:off x="5687568" y="2881884"/>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sharing</a:t>
            </a:r>
            <a:endParaRPr lang="en-US" sz="1100" dirty="0"/>
          </a:p>
        </p:txBody>
      </p:sp>
      <p:sp>
        <p:nvSpPr>
          <p:cNvPr id="30" name="Text 27"/>
          <p:cNvSpPr txBox="1"/>
          <p:nvPr/>
        </p:nvSpPr>
        <p:spPr>
          <a:xfrm>
            <a:off x="3291840" y="2881884"/>
            <a:ext cx="21945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ش ر ك</a:t>
            </a:r>
            <a:endParaRPr lang="ar-SA" sz="2600" dirty="0"/>
          </a:p>
        </p:txBody>
      </p:sp>
      <p:sp>
        <p:nvSpPr>
          <p:cNvPr id="31" name="Text 28"/>
          <p:cNvSpPr txBox="1"/>
          <p:nvPr/>
        </p:nvSpPr>
        <p:spPr>
          <a:xfrm>
            <a:off x="548640" y="2881884"/>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يُشَارِكُ</a:t>
            </a:r>
            <a:endParaRPr lang="ar-SA" sz="26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8430768" y="3496056"/>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IV (a-)</a:t>
            </a:r>
            <a:endParaRPr lang="en-US" sz="1100" dirty="0"/>
          </a:p>
        </p:txBody>
      </p:sp>
      <p:sp>
        <p:nvSpPr>
          <p:cNvPr id="36" name="Text 33"/>
          <p:cNvSpPr txBox="1"/>
          <p:nvPr/>
        </p:nvSpPr>
        <p:spPr>
          <a:xfrm>
            <a:off x="5687568" y="3496056"/>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sending</a:t>
            </a:r>
            <a:endParaRPr lang="en-US" sz="1100" dirty="0"/>
          </a:p>
        </p:txBody>
      </p:sp>
      <p:sp>
        <p:nvSpPr>
          <p:cNvPr id="37" name="Text 34"/>
          <p:cNvSpPr txBox="1"/>
          <p:nvPr/>
        </p:nvSpPr>
        <p:spPr>
          <a:xfrm>
            <a:off x="3291840" y="3496056"/>
            <a:ext cx="21945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ر س ل</a:t>
            </a:r>
            <a:endParaRPr lang="ar-SA" sz="2600" dirty="0"/>
          </a:p>
        </p:txBody>
      </p:sp>
      <p:sp>
        <p:nvSpPr>
          <p:cNvPr id="38" name="Text 35"/>
          <p:cNvSpPr txBox="1"/>
          <p:nvPr/>
        </p:nvSpPr>
        <p:spPr>
          <a:xfrm>
            <a:off x="548640" y="3496056"/>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أَرْسَلَ</a:t>
            </a:r>
            <a:endParaRPr lang="ar-SA" sz="2600" dirty="0"/>
          </a:p>
        </p:txBody>
      </p:sp>
      <p:sp>
        <p:nvSpPr>
          <p:cNvPr id="39" name="Shape 36"/>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8430768" y="4110228"/>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VI (ta- + ā)</a:t>
            </a:r>
            <a:endParaRPr lang="en-US" sz="1100" dirty="0"/>
          </a:p>
        </p:txBody>
      </p:sp>
      <p:sp>
        <p:nvSpPr>
          <p:cNvPr id="41" name="Text 38"/>
          <p:cNvSpPr txBox="1"/>
          <p:nvPr/>
        </p:nvSpPr>
        <p:spPr>
          <a:xfrm>
            <a:off x="5687568" y="4110228"/>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help</a:t>
            </a:r>
            <a:endParaRPr lang="en-US" sz="1100" dirty="0"/>
          </a:p>
        </p:txBody>
      </p:sp>
      <p:sp>
        <p:nvSpPr>
          <p:cNvPr id="42" name="Text 39"/>
          <p:cNvSpPr txBox="1"/>
          <p:nvPr/>
        </p:nvSpPr>
        <p:spPr>
          <a:xfrm>
            <a:off x="3291840" y="4110228"/>
            <a:ext cx="21945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ع و ن</a:t>
            </a:r>
            <a:endParaRPr lang="ar-SA" sz="2600" dirty="0"/>
          </a:p>
        </p:txBody>
      </p:sp>
      <p:sp>
        <p:nvSpPr>
          <p:cNvPr id="43" name="Text 40"/>
          <p:cNvSpPr txBox="1"/>
          <p:nvPr/>
        </p:nvSpPr>
        <p:spPr>
          <a:xfrm>
            <a:off x="548640" y="4110228"/>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تَعَاوَنَ</a:t>
            </a:r>
            <a:endParaRPr lang="ar-SA" sz="2600" dirty="0"/>
          </a:p>
        </p:txBody>
      </p:sp>
      <p:sp>
        <p:nvSpPr>
          <p:cNvPr id="44" name="Shape 41"/>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5" name="Text 42"/>
          <p:cNvSpPr txBox="1"/>
          <p:nvPr/>
        </p:nvSpPr>
        <p:spPr>
          <a:xfrm>
            <a:off x="8430768" y="4724400"/>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VIII (-t-)</a:t>
            </a:r>
            <a:endParaRPr lang="en-US" sz="1100" dirty="0"/>
          </a:p>
        </p:txBody>
      </p:sp>
      <p:sp>
        <p:nvSpPr>
          <p:cNvPr id="46" name="Text 43"/>
          <p:cNvSpPr txBox="1"/>
          <p:nvPr/>
        </p:nvSpPr>
        <p:spPr>
          <a:xfrm>
            <a:off x="5687568" y="4724400"/>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gaining</a:t>
            </a:r>
            <a:endParaRPr lang="en-US" sz="1100" dirty="0"/>
          </a:p>
        </p:txBody>
      </p:sp>
      <p:sp>
        <p:nvSpPr>
          <p:cNvPr id="47" name="Text 44"/>
          <p:cNvSpPr txBox="1"/>
          <p:nvPr/>
        </p:nvSpPr>
        <p:spPr>
          <a:xfrm>
            <a:off x="3291840" y="4724400"/>
            <a:ext cx="21945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 س ب</a:t>
            </a:r>
            <a:endParaRPr lang="ar-SA" sz="2600" dirty="0"/>
          </a:p>
        </p:txBody>
      </p:sp>
      <p:sp>
        <p:nvSpPr>
          <p:cNvPr id="48" name="Text 45"/>
          <p:cNvSpPr txBox="1"/>
          <p:nvPr/>
        </p:nvSpPr>
        <p:spPr>
          <a:xfrm>
            <a:off x="548640" y="4724400"/>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اِكْتَسَبَ</a:t>
            </a:r>
            <a:endParaRPr lang="ar-SA" sz="260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430768" y="533857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X (ista-)</a:t>
            </a:r>
            <a:endParaRPr lang="en-US" sz="1100" dirty="0"/>
          </a:p>
        </p:txBody>
      </p:sp>
      <p:sp>
        <p:nvSpPr>
          <p:cNvPr id="51" name="Text 48"/>
          <p:cNvSpPr txBox="1"/>
          <p:nvPr/>
        </p:nvSpPr>
        <p:spPr>
          <a:xfrm>
            <a:off x="5687568" y="5338572"/>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work / use</a:t>
            </a:r>
            <a:endParaRPr lang="en-US" sz="1100" dirty="0"/>
          </a:p>
        </p:txBody>
      </p:sp>
      <p:sp>
        <p:nvSpPr>
          <p:cNvPr id="52" name="Text 49"/>
          <p:cNvSpPr txBox="1"/>
          <p:nvPr/>
        </p:nvSpPr>
        <p:spPr>
          <a:xfrm>
            <a:off x="3291840" y="5338572"/>
            <a:ext cx="219456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ع م ل</a:t>
            </a:r>
            <a:endParaRPr lang="ar-SA" sz="2600" dirty="0"/>
          </a:p>
        </p:txBody>
      </p:sp>
      <p:sp>
        <p:nvSpPr>
          <p:cNvPr id="53" name="Text 50"/>
          <p:cNvSpPr txBox="1"/>
          <p:nvPr/>
        </p:nvSpPr>
        <p:spPr>
          <a:xfrm>
            <a:off x="548640" y="5338572"/>
            <a:ext cx="256032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يَسْتَعْمِلُ</a:t>
            </a:r>
            <a:endParaRPr lang="ar-SA" sz="2600" dirty="0"/>
          </a:p>
        </p:txBody>
      </p:sp>
      <p:sp>
        <p:nvSpPr>
          <p:cNvPr id="54" name="Text 5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Routine: remove tense prefixes (ya-, tu-) first, then the pattern letters (ta-, ista-, a-, shadda, long ā). What is left is the root.</a:t>
            </a:r>
            <a:endParaRPr lang="en-US" sz="11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GM-VF-00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WHICH ROOT FAMILY?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family does it belong to?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إِلَى أَيِّ أُسْرَةٍ؟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GM-VF-00</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كَتَبَ</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مَكْتَبٌ</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كَاتِبٌ</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عَلَّمَ</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تَعَلَّمَ</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مُعَلِّمٌ</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مَدْرَسَةٌ</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دَرَّسَ</a:t>
            </a:r>
            <a:endParaRPr lang="ar-SA" sz="1800" dirty="0"/>
          </a:p>
        </p:txBody>
      </p:sp>
      <p:sp>
        <p:nvSpPr>
          <p:cNvPr id="31" name="Shape 28"/>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k-t-b (writing)</a:t>
            </a:r>
            <a:endParaRPr lang="en-US" sz="950" dirty="0"/>
          </a:p>
        </p:txBody>
      </p:sp>
      <p:sp>
        <p:nvSpPr>
          <p:cNvPr id="34" name="Shape 31"/>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ʿ-l-m (knowing)</a:t>
            </a:r>
            <a:endParaRPr lang="en-US" sz="950" dirty="0"/>
          </a:p>
        </p:txBody>
      </p:sp>
      <p:sp>
        <p:nvSpPr>
          <p:cNvPr id="37" name="Shape 34"/>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8" name="Shape 35"/>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d-r-s (studying)</a:t>
            </a:r>
            <a:endParaRPr lang="en-US" sz="9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GM-VF-00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GM-VF-00</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k-t-b (writing)</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كَتَبَ</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مَكْتَبٌ</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كَاتِبٌ</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ʿ-l-m (knowing)</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عَلَّمَ</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تَعَلَّمَ</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مُعَلِّمٌ</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d-r-s (studying)</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مَدْرَسَةٌ</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دَرَّسَ</a:t>
            </a:r>
            <a:endParaRPr lang="ar-SA" sz="18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GM-VF-00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GM-VF-00</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جَذْرُ «يُعَلِّمُ»: ي ع ل</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Tense prefix or root?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جَذْرُ «تَعَلَّمَ»: ت ع ل</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Pattern letter or root?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جَذْرُ «اِسْتَعْمَلَ»: س ع م</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does ista- mark?</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GM-VF-00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GM-VF-00</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جَذْرُ «يُعَلِّمُ»: ي ع ل</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جَذْرُ «يُعَلِّمُ»: ع ل 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Remove the tense prefix yu- first; the shadda doubles the l.</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جَذْرُ «تَعَلَّمَ»: ت ع ل</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جَذْرُ «تَعَلَّمَ»: ع ل م</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Ta- is a pattern letter (Form V), not a root letter.</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جَذْرُ «اِسْتَعْمَلَ»: س ع م</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جَذْرُ «اِسْتَعْمَلَ»: ع م ل</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Ista- is the Form X prefix.</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GM-VF-00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GUIDED PRACTICE · WEBSITE SELF-CHECK ITEM AND TEACHER-WRITTEN PATTERN QUESTIONS</a:t>
            </a:r>
            <a:endParaRPr lang="en-US" sz="8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GM-VF-00</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claim is accurate?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ten forms have one predictable English meaning.</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root occurs in all ten forms.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Patterns offer clues, but individual meanings must be learned.</a:t>
            </a:r>
            <a:endParaRPr lang="en-US" sz="12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root of </a:t>
            </a:r>
            <a:pPr algn="l" indent="0" marL="0">
              <a:buNone/>
            </a:pPr>
            <a:r>
              <a:rPr lang="ar-SA" altLang="en-US" sz="1650" b="1" dirty="0">
                <a:solidFill>
                  <a:srgbClr val="1B3B6F"/>
                </a:solidFill>
                <a:latin typeface="Amiri" pitchFamily="2" charset="-78"/>
                <a:cs typeface="Amiri" pitchFamily="2" charset="-78"/>
              </a:rPr>
              <a:t>مُعَلِّمٌ</a:t>
            </a:r>
            <a:pPr algn="l" indent="0" marL="0">
              <a:buNone/>
            </a:pPr>
            <a:r>
              <a:rPr lang="en-US" sz="1250" b="1" dirty="0">
                <a:solidFill>
                  <a:srgbClr val="1B3B6F"/>
                </a:solidFill>
                <a:latin typeface="Calibri" pitchFamily="34" charset="0"/>
                <a:cs typeface="Amiri" pitchFamily="2" charset="-78"/>
              </a:rPr>
              <a:t> (teacher)?</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 ع ل</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 ل م</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 ل ن</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Form X?</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عَمِلَ</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اِسْتَعْمَلَ</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تَعَامَلَ</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Shāraka (to participate) has a long ā after the first root letter. Which form?</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II</a:t>
            </a:r>
            <a:endParaRPr lang="en-US" sz="12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IV</a:t>
            </a:r>
            <a:endParaRPr lang="en-US" sz="12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III</a:t>
            </a:r>
            <a:endParaRPr lang="en-US" sz="12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GM-VF-00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GM-VF-00</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claim is accurate?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All ten forms have one predictable English meaning.</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root occurs in all ten forms.</a:t>
            </a:r>
            <a:endParaRPr lang="en-US" sz="125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Patterns offer clues, but individual meanings must be learned.</a:t>
            </a:r>
            <a:endParaRPr lang="en-US" sz="125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numbered form identifies a pattern, not a guaranteed translation.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root of </a:t>
            </a:r>
            <a:pPr algn="l" indent="0" marL="0">
              <a:buNone/>
            </a:pPr>
            <a:r>
              <a:rPr lang="ar-SA" altLang="en-US" sz="1650" b="1" dirty="0">
                <a:solidFill>
                  <a:srgbClr val="1B3B6F"/>
                </a:solidFill>
                <a:latin typeface="Amiri" pitchFamily="2" charset="-78"/>
                <a:cs typeface="Amiri" pitchFamily="2" charset="-78"/>
              </a:rPr>
              <a:t>مُعَلِّمٌ</a:t>
            </a:r>
            <a:pPr algn="l" indent="0" marL="0">
              <a:buNone/>
            </a:pPr>
            <a:r>
              <a:rPr lang="en-US" sz="1250" b="1" dirty="0">
                <a:solidFill>
                  <a:srgbClr val="1B3B6F"/>
                </a:solidFill>
                <a:latin typeface="Calibri" pitchFamily="34" charset="0"/>
                <a:cs typeface="Amiri" pitchFamily="2" charset="-78"/>
              </a:rPr>
              <a:t> (teacher)?</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 ع ل</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 ل م</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 ل 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Remove the mu- and the shadda.</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Form X?</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عَمِلَ</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اِسْتَعْمَلَ</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تَعَامَلَ</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ista- = Form X.</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Shāraka (to participate) has a long ā after the first root letter. Which form?</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II</a:t>
            </a:r>
            <a:endParaRPr lang="en-US" sz="125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IV</a:t>
            </a:r>
            <a:endParaRPr lang="en-US" sz="125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III</a:t>
            </a:r>
            <a:endParaRPr lang="en-US" sz="125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fāʿala = Form III.</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GM-VF-00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READ AND NOTICE · READING FOR ROOTS (TEACHER-WRITTEN)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family of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GM-VF-00</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فِي مَدْرَسَتِنَا مُعَلِّمَةٌ نَشِيطَةٌ. هِيَ تُعَلِّمُنَا الْعُلُومَ، وَنَحْنُ نَتَعَلَّمُ مِنْهَا كَثِيرًا. فِي الدَّرْسِ نَتَعَاوَنُ فِي مَجْمُوعَاتٍ، وَنَسْتَعْمِلُ الْحَاسُوبَ. أَمْسِ أَرْسَلَتْ لَنَا رِسَالَةً: «أَنْتُمْ تَعْلَمُونَ الْكَثِيرَ الْآنَ!». فِي آخِرِ الْعَامِ سَنُشَارِكُ فِي مَعْرِضِ الْعُلُومِ.</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نَشِيطَةٌ</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active (f.)</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مَجْمُوعَاتٍ</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groups</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مَعْرِضِ</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exhibition</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آخِرِ الْعَامِ</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end of the year</a:t>
            </a:r>
            <a:endParaRPr lang="en-US" sz="10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GM-VF-00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words come from ʿ-l-m in the first two sentences?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VI (working together)?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نَسْتَعْمِلُ</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أَرْسَلَتْ</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نَتَعَاوَنُ</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IV?</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أَرْسَلَتْ</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نُشَارِكُ</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نَتَعَلَّمُ</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teaches and who learns?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students teach</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teacher teaches; the students learn</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nobody learns</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GM-VF-00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words come from ʿ-l-m in the first two sentences?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four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Muʿallima, tuʿallimu, al-ʿulūm, nataʿallamu.</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VI (working together)?</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نَسْتَعْمِلُ</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أَرْسَلَتْ</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نَتَعَاوَنُ</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tafāʿala.</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IV?</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أَرْسَلَتْ</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نُشَارِكُ</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نَتَعَلَّمُ</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afʿala: arsala.</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teaches and who learns?</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students teach</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the teacher teaches; the students learn</a:t>
            </a:r>
            <a:endParaRPr lang="en-US" sz="12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nobody learns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Tuʿallimunā · nataʿallamu.</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GM-VF-00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Speaking: who teaches, who learns?</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GM-VF-00</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يُعَلِّمُكَ الْعَرَبِيَّةَ؟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تَتَعَلَّمُ هَذِهِ السَّنَةَ؟ وَمَاذَا تَسْتَعْمِلُ؟</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الْفَرْقُ بَيْنَ «عَلِمَ» وَ«عَلَّمَ» وَ«تَعَلَّمَ»؟</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يُعَلِّمُنِي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أَتَعَلَّمُ ___ ، وَأَسْتَعْمِلُ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cs typeface="Amiri" pitchFamily="2" charset="-78"/>
              </a:rPr>
              <a:t>«عَلِمَ» يَعْنِي ___ ، وَ«عَلَّمَ» يَعْنِي ___ .</a:t>
            </a:r>
            <a:endParaRPr lang="ar-SA" sz="15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مَنْ يُعَلِّمُكِ الْقُرْآنَ؟</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Who teaches you the Qur’an?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تُعَلِّمُنِي أُمِّي، وَأَنَا أَتَعَلَّمُ مِنْهَا كُلَّ يَوْمٍ. وَأُعَلِّمُ أُخْتِي الصَّغِيرَةَ أَيْضًا!</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00" i="1" dirty="0">
                <a:solidFill>
                  <a:srgbClr val="5A6472"/>
                </a:solidFill>
                <a:latin typeface="Calibri" pitchFamily="34" charset="0"/>
                <a:cs typeface="Amiri" pitchFamily="2" charset="-78"/>
              </a:rPr>
              <a:t>My mother teaches me, and I learn from her every day. And I teach my little sister too!</a:t>
            </a:r>
            <a:endParaRPr lang="en-US" sz="8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GM-VF-00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GM-VF-00</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3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One sentence each with ʿalima, ʿallama and taʿallama.</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Copy the website models, change the subject.</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5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sentences with Forms III, VI and X.</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Use the table verbs.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 root map for one root with three forms and two nouns.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Label each word with its form.</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GM-VF-00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GM-VF-00</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نَتَعَاوَنُ فِي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cooperate in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أُشَارِكُ فِي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participate in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أَرْسَلْتُ ______ إِلَى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sent … to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جَذْرُ «______» هُوَ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root of … is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أَعْلَمُ أَنَّ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know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______ يُعَلِّمُنِي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teaches me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أَتَعَلَّمُ ______ كُلَّ يَوْمٍ.</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learn … every day</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أَسْتَعْمِلُ ______ فِي الْمَدْرَسَةِ.</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use … at school</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عَلِمَ  ·  عَلَّمَ  ·  تَعَلَّمَ  ·  كَتَبَ  ·  شَارَكَ  ·  أَرْسَلَ  ·  تَعَاوَنَ  ·  اِكْتَسَبَ  ·  اِسْتَعْمَلَ  ·  الْجَذْرُ  ·  الْوَزْنُ</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GM-VF-00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GM-VF-00</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Make a root map: one root, three verb forms, two nouns — each in a sentence.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Root letters written separately.</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verbs from different forms.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Each verb labelled with its form number.</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nouns from the same root.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sentence per word.</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جَذْرُ الْكَلِمَةِ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root of the word</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عَلَى وَزْنِ</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the pattern of</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الْوَزْنُ الثَّانِي</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Form II</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يَعْنِي</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means</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نَفْسِ الْجَذْرِ</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from the same root</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GM-VF-00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جَذْرُ «عَلَّمَ» هُوَ ع ل م. مِنْ هَذَا الْجَذْرِ: «عَلِمَ» (الْوَزْنُ الْأَوَّلُ)، وَ«عَلَّمَ» (الْوَزْنُ الثَّانِي)، وَ«تَعَلَّمَ» (الْوَزْنُ الْخَامِسُ). أَعْلَمُ أَنَّ الْعَرَبِيَّةَ جَمِيلَةٌ. تُعَلِّمُنِي مُعَلِّمَتِي الْقَوَاعِدَ، وَأَتَعَلَّمُ كَلِمَاتٍ جَدِيدَةً كُلَّ أُسْبُوعٍ. «الْعِلْمُ» نُورٌ، وَ«الْمُعَلِّمُ» يُسَاعِدُنَا عَلَى طَلَبِهِ.</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root of ʿallama is ʿ-l-m. From this root: ʿalima (Form I), ʿallama (Form II) and taʿallama (Form V). I know that Arabic is beautiful. My teacher teaches me grammar, and I learn new words every week. Knowledge is light, and the teacher helps us to seek it.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root letters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Form I</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Form II</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Form V</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GM-VF-00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find three root letters.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know ʿalima, ʿallama, taʿallama.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know a form is not a tense.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give one verb for five forms.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match verbs to the faʿala templates.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GM-VF-00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“to learn”?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تَعَلَّمَ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عَلِمَ</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ʿAllama and yuʿallimu are …</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different forms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same form, different tenses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different roots</a:t>
            </a:r>
            <a:endParaRPr lang="en-US" sz="12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root of </a:t>
            </a:r>
            <a:pPr algn="l" indent="0" marL="0">
              <a:buNone/>
            </a:pPr>
            <a:r>
              <a:rPr lang="ar-SA" altLang="en-US" sz="1650" b="1" dirty="0">
                <a:solidFill>
                  <a:srgbClr val="1B3B6F"/>
                </a:solidFill>
                <a:latin typeface="Amiri" pitchFamily="2" charset="-78"/>
                <a:cs typeface="Amiri" pitchFamily="2" charset="-78"/>
              </a:rPr>
              <a:t>يَسْتَعْمِلُ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 م ل</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 ت ع</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 س ت</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GM-VF-00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“to learn”?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تَعَلَّمَ</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عَلَّمَ</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عَلِمَ</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Form V.</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ʿAllama and yuʿallimu are …</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different forms</a:t>
            </a:r>
            <a:endParaRPr lang="en-US" sz="12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same form, different tenses</a:t>
            </a:r>
            <a:endParaRPr lang="en-US" sz="12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different roots</a:t>
            </a:r>
            <a:endParaRPr lang="en-US" sz="12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Form II.</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root of </a:t>
            </a:r>
            <a:pPr algn="l" indent="0" marL="0">
              <a:buNone/>
            </a:pPr>
            <a:r>
              <a:rPr lang="ar-SA" altLang="en-US" sz="1650" b="1" dirty="0">
                <a:solidFill>
                  <a:srgbClr val="1B3B6F"/>
                </a:solidFill>
                <a:latin typeface="Amiri" pitchFamily="2" charset="-78"/>
                <a:cs typeface="Amiri" pitchFamily="2" charset="-78"/>
              </a:rPr>
              <a:t>يَسْتَعْمِلُ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ع م ل</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 ت ع</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 س ت</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Remove ya- and ista-.</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GM-VF-00 · Arabic Verb Forms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Before GM-VF-01: get ready at home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GM-VF-00</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GM-VF-01 · Form I: The Basic Verb</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فَهِمَ · يَفْهَمُ</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understand</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جَلَسَ · يَجْلِسُ</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sit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دَرَسَ · يَدْرُسُ</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study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كَبُرَ · يَكْبُرُ</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grow up</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قَرَأَ · يَقْرَأُ</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read</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Look at the present vowels: yaktubu, yafhamu, yajlisu. Are they all the same?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يَكْتُبُ · يَفْهَمُ · يَجْلِسُ</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the root of eight words from your vocabulary list.</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sentences with verbs from five different forms.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Root map: one root, three forms, two nouns.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GM-VF-00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GM-VF-01 · Form I: The Basic Verb</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الْفِعْلُ الثُّلَاثِيُّ الْمُجَرَّدُ</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root = the consonants · pattern = vowels + extra letters · Forms I–X are families, not tenses · a form is a clue, not a rule · learn real verbs one form at a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GM-VF-00 · What Are Arabic Verb Forms?</dc:title>
  <dc:subject>PptxGenJS Presentation</dc:subject>
  <dc:creator>Al Madina Online School · Arabic Department</dc:creator>
  <cp:lastModifiedBy>Al Madina Online School · Arabic Department</cp:lastModifiedBy>
  <cp:revision>1</cp:revision>
  <dcterms:created xsi:type="dcterms:W3CDTF">2026-10-11T06:42:40Z</dcterms:created>
  <dcterms:modified xsi:type="dcterms:W3CDTF">2026-10-11T06:42:40Z</dcterms:modified>
</cp:coreProperties>
</file>