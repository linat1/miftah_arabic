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GM-VF-10 (“Form X: Seeking, Using and Considering”).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اِسْتَعْمَلَ · يَسْتَعْمِلُ and the family اِسْتَخْدَمَ · اِسْتَقْبَلَ · اِسْتَغْفَرَ for technology and daily life. Develop: present forms (أَسْتَخْدِمُ · تَسْتَقْبِلِينَ) and the verbal noun اِسْتِفْعَالٌ (اِسْتِعْمَالٌ · اِسْتِقْبَالٌ · اِسْتِخْدَامٌ). Stretch: Form I → X (غَفَرَ / اِسْتَغْفَرَ · فَادَ / اِسْتَفَادَ) and hollow Form X (اِسْتَطَاعَ · يَسْتَطِيعُ).
• Website clinic: ista- does NOT always mean “ask for”. Istaʿmala and istakhdama simply mean “use”.
• Islamic Studies link: أَسْتَغْفِرُ اللَّهَ — “I seek Allah’s forgiveness”: the clearest “seek” meaning of Form X.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GM-VF-09 and its prep words (istaʿmala, istakhdama, istaqbala, istaghfara).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X = ista- + root (istafʿala). Present = yasta- … (yastafʿilu). Verbal noun = istifʿāl.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Mustaqbal (future) comes from the same root as istaqbala.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three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Last row Stretch: istaṭāʿa (ṭ-w-ʿ, hollow) — the long vowel shortens before -tu (GM-V-02).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 (amsi stakhdamtu — the linking i- is silent after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Students sort the five pairs: “seek / ask” meaning or “own”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Istamaʿa (s-m-ʿ) and istalama (s-l-m, to receive a parcel) are Form VIII — the s belongs to the root (GM-VF-08).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Istamaʿa (s-m-ʿ) and istalama (s-l-m, to receive a parcel) are Form VIII — the s belongs to the root (GM-VF-08).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X (teacher-written blog). Read it aloud once while students follow; then they hunt for today’s grammar.
Task: Website: explain how you use technology for learning. First, underline every Form X verb here.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blog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two Form X verbs, a reason and a past-time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short explanation of how you use technology for learning. Include two Form X verbs, a reason and a past-time expression.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(GM-VF-R · Optional Morphology Reference) will spend class time USING this language, so students prepare it tonight — short, simple, easy to access (school guidance: “Simple, Short, Interesting, Relevant, Easy to access”). The five words prepare GM-VF-R (website Verb Forms: optional morphology reference).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VERB FORMS  ·  GM-VF-10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GM-VF-10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cs typeface="Amiri" pitchFamily="2" charset="-78"/>
              </a:rPr>
              <a:t>Form X: Seeking, Using and Considering</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الْوَزْنُ الْعَاشِرُ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Form X puts ista- in front of the root: ʿamila (work) → istaʿmala (use), ghafara (forgive) → istaghfara (seek forgiveness). Present: yastaʿmilu. Ista- can mean “seek”, but often it is just its own word.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GM-VF-10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Pattern card; family; conjugation; Form I vs X.</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Work → use; sort Form X / look-alikes;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GM-VF-R.</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IX?</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اِحْمَرَّ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ʿAmila = to work. Istaʿmala =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use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work again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make someone 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letters were added at the front of </a:t>
            </a:r>
            <a:pPr algn="l" indent="0" marL="0">
              <a:buNone/>
            </a:pPr>
            <a:r>
              <a:rPr lang="ar-SA" altLang="en-US" sz="1650" b="1" dirty="0">
                <a:solidFill>
                  <a:srgbClr val="1B3B6F"/>
                </a:solidFill>
                <a:latin typeface="Amiri" pitchFamily="2" charset="-78"/>
                <a:ea typeface="Amiri" pitchFamily="2" charset="-78"/>
                <a:cs typeface="Amiri" pitchFamily="2" charset="-78"/>
              </a:rPr>
              <a:t>اِسْتَعْمَلَ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 only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i-s-t-a (ista-)</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Istaqbala means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accept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meet each other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receive / welcome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Istaghfara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seek forgiveness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forgive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forget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IX?</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اِحْمَرَّ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حَمَّرَ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Doubled last letter (GM-VF-09).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ʿAmila = to work. Istaʿmala =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use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work again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make someone 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prep question.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letters were added at the front of </a:t>
            </a:r>
            <a:pPr algn="l" indent="0" marL="0">
              <a:buNone/>
            </a:pPr>
            <a:r>
              <a:rPr lang="ar-SA" altLang="en-US" sz="1650" b="1" dirty="0">
                <a:solidFill>
                  <a:srgbClr val="1B3B6F"/>
                </a:solidFill>
                <a:latin typeface="Amiri" pitchFamily="2" charset="-78"/>
                <a:ea typeface="Amiri" pitchFamily="2" charset="-78"/>
                <a:cs typeface="Amiri" pitchFamily="2" charset="-78"/>
              </a:rPr>
              <a:t>اِسْتَعْمَلَ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 only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i-s-t-a (ista-)</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ista- + ʿ-m-l.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Istaqbala means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accept</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meet each other</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receive / welcome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Istaghfara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seek forgiveness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forgive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forget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Form X = ista- + root (istafʿala). Present = yasta- … (yastafʿilu). Verbal noun = istifʿāl.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عَمِلَ</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اِسْتَعْمَلَ</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يَسْتَعْمِلُ</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Form X by ista- before the root.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present with yasta-.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how you use technology with Form X.</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Know that ista- does not always mean “ask for”.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use the computer.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one sentence about an app I use.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conjugate istakhdama in past and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istiʿmāl and istiqbāl.</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istaṭāʿa (can) with an + subjunctive.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compare ghafara and istaghfara.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الْوَزْنُ الْعَاشِرُ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X</a:t>
            </a:r>
            <a:endParaRPr lang="en-US" sz="1350" dirty="0"/>
          </a:p>
          <a:p>
            <a:pPr indent="0" marL="0">
              <a:buNone/>
            </a:pPr>
            <a:r>
              <a:rPr lang="en-US" sz="1100" i="1" dirty="0">
                <a:solidFill>
                  <a:srgbClr val="5A6472"/>
                </a:solidFill>
                <a:latin typeface="Calibri" pitchFamily="34" charset="0"/>
                <a:cs typeface="Amiri" pitchFamily="2" charset="-78"/>
              </a:rPr>
              <a:t>al-waz-nu al-ʿā-shi-ru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اِسْتَفْعَلَ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الطَّلَبُ</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seeking (one Form X meaning)</a:t>
            </a:r>
            <a:endParaRPr lang="en-US" sz="1350" dirty="0"/>
          </a:p>
          <a:p>
            <a:pPr indent="0" marL="0">
              <a:buNone/>
            </a:pPr>
            <a:r>
              <a:rPr lang="en-US" sz="1100" i="1" dirty="0">
                <a:solidFill>
                  <a:srgbClr val="5A6472"/>
                </a:solidFill>
                <a:latin typeface="Calibri" pitchFamily="34" charset="0"/>
                <a:cs typeface="Amiri" pitchFamily="2" charset="-78"/>
              </a:rPr>
              <a:t>aṭ-ṭa-la-bu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اِسْتَغْفَرَ</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اِسْتِفْعَالٌ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X verbal noun</a:t>
            </a:r>
            <a:endParaRPr lang="en-US" sz="1350" dirty="0"/>
          </a:p>
          <a:p>
            <a:pPr indent="0" marL="0">
              <a:buNone/>
            </a:pPr>
            <a:r>
              <a:rPr lang="en-US" sz="1100" i="1" dirty="0">
                <a:solidFill>
                  <a:srgbClr val="5A6472"/>
                </a:solidFill>
                <a:latin typeface="Calibri" pitchFamily="34" charset="0"/>
                <a:cs typeface="Amiri" pitchFamily="2" charset="-78"/>
              </a:rPr>
              <a:t>is-tif-ʿā-lun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اِسْتِعْمَالٌ</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مُسْتَفْعِلٌ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X doer</a:t>
            </a:r>
            <a:endParaRPr lang="en-US" sz="1350" dirty="0"/>
          </a:p>
          <a:p>
            <a:pPr indent="0" marL="0">
              <a:buNone/>
            </a:pPr>
            <a:r>
              <a:rPr lang="en-US" sz="1100" i="1" dirty="0">
                <a:solidFill>
                  <a:srgbClr val="5A6472"/>
                </a:solidFill>
                <a:latin typeface="Calibri" pitchFamily="34" charset="0"/>
                <a:cs typeface="Amiri" pitchFamily="2" charset="-78"/>
              </a:rPr>
              <a:t>mus-taf-ʿi-lun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مُسْتَخْدِمٌ</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مُسْتَفْعَلٌ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X affected (used)</a:t>
            </a:r>
            <a:endParaRPr lang="en-US" sz="1350" dirty="0"/>
          </a:p>
          <a:p>
            <a:pPr indent="0" marL="0">
              <a:buNone/>
            </a:pPr>
            <a:r>
              <a:rPr lang="en-US" sz="1100" i="1" dirty="0">
                <a:solidFill>
                  <a:srgbClr val="5A6472"/>
                </a:solidFill>
                <a:latin typeface="Calibri" pitchFamily="34" charset="0"/>
                <a:cs typeface="Amiri" pitchFamily="2" charset="-78"/>
              </a:rPr>
              <a:t>mus-taf-ʿa-lun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مُسْتَعْمَلٌ</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التِّقْنِيَّةُ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technology</a:t>
            </a:r>
            <a:endParaRPr lang="en-US" sz="1350" dirty="0"/>
          </a:p>
          <a:p>
            <a:pPr indent="0" marL="0">
              <a:buNone/>
            </a:pPr>
            <a:r>
              <a:rPr lang="en-US" sz="1100" i="1" dirty="0">
                <a:solidFill>
                  <a:srgbClr val="5A6472"/>
                </a:solidFill>
                <a:latin typeface="Calibri" pitchFamily="34" charset="0"/>
                <a:cs typeface="Amiri" pitchFamily="2" charset="-78"/>
              </a:rPr>
              <a:t>at-tiq-niy-ya-tu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أَسْتَخْدِمُ التِّقْنِيَّةَ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FORM X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ista- before the root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اِسْتَفْعَلَ · يَسْتَفْعِلُ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اِسْتَفْعِلْ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مُسْتَفْعِلٌ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اِسْتِفْعَالٌ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يَسْتَفْعِلُ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اِسْتَفْعَلَ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اِسْتَعْمِلْ</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مُسْتَعْمِلٌ</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اِسْتِعْمَالٌ</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يَسْتَعْمِلُ</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اِسْتَعْمَلَ</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use</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اِسْتَخْدِمْ</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مُسْتَخْدِمٌ</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اِسْتِخْدَامٌ</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يَسْتَخْدِمُ</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اِسْتَخْدَمَ</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use / employ</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اِسْتَقْبِلْ</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مُسْتَقْبِلٌ</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اِسْتِقْبَالٌ</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يَسْتَقْبِلُ</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اِسْتَقْبَلَ</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receive / welcome</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اِسْتَغْفِرْ</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مُسْتَغْفِرٌ</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اِسْتِغْفَارٌ</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يَسْتَغْفِرُ</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اِسْتَغْفَرَ</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seek forgiveness</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the regular past begins ista- and the present yasta-. The verbal noun often follows istifʿāl. Mustakhdim = user (of an app!); mustaʿmal = used (GM-V-12).</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Form X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أُسْرَةُ الْوَزْنِ الْعَاشِرِ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أَسْتَعْمِلُ الْحَاسُوبَ لِلدِّرَاسَةِ.</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use</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اِسْتَعْمَلَ · يَسْتَعْمِلُ</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اِسْتَخْدَمَتْ سَلْمَى التَّطْبِيقَ أَمْسِ.</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use / employ</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اِسْتَخْدَمَ · يَسْتَخْدِمُ</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يَسْتَقْبِلُ الْمُوَظَّفُ الزُّوَّارَ فِي الْمَكْتَبِ.</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receive / welcome</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اِسْتَقْبَلَ · يَسْتَقْبِلُ</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أَسْتَغْفِرُ اللَّهَ بَعْدَ الصَّلَاةِ.</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seek forgiveness</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اِسْتَغْفَرَ · يَسْتَغْفِرُ</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لَا أَسْتَطِيعُ أَنْ أَنَامَ مُبَكِّرًا.</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 able (can)</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اِسْتَطَاعَ · يَسْتَطِيعُ</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اِسْتَمْتَعْنَا بِالرِّحْلَةِ.</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enjoy</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اِسْتَمْتَعَ · يَسْتَمْتِعُ</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ʿamila means to work; istaʿmala means to use; istaghfara means to seek forgiveness — different uses of the same derivational family.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CONJUGATE ISTAKHDAMA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i- goes; ista- becomes -sta-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تَصْرِيفُ «اِسْتَخْدَمَ»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sta-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أَسْتَخْدِمُ</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اِسْتَخْدَمْتُ</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 + sta-</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يَسْتَخْدِمُ</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اِسْتَخْدَمَ</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sta-</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تَسْتَخْدِمُ</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اِسْتَخْدَمَتْ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 + sta-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نَسْتَخْدِمُ</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اِسْتَخْدَمْنَا</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 … -ūna</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يَسْتَخْدِمُونَ</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اِسْتَخْدَمُوا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 istaṭāʿa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أَسْتَطِيعُ</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اِسْتَطَعْتُ</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“Look closely”: istaʿmala / yastaʿmilu and istakhdama / yastakhdimu share the Form X pattern but have different roots — learn them as separate vocabulary.</a:t>
            </a:r>
            <a:endParaRPr lang="en-US" sz="11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Form X?</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تَعَامَلَ / يَتَعَامَلُ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عَمِلَ / يَعْمَلُ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اِسْتَعْمَلَ / يَسْتَعْمِلُ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verbal noun of istakhdama.</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اِسْتِخْدَامٌ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خِدْمَةٌ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مُسْتَخْدِمٌ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uses the app”.</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تَخْدِمُ التَّطْبِيقَ</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تَسْتَخْدِمُ التَّطْبِيقَ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اِسْتَخْدِمِ التَّطْبِيقَ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welcomed the guests”.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اِسْتَقْبَلْنَا الضُّيُوفَ</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قَبِلْنَا الضُّيُوفَ</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نَسْتَقْبِلُ الضُّيُوفَ</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Form X?</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تَعَامَلَ / يَتَعَامَلُ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عَمِلَ / يَعْمَلُ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اِسْتَعْمَلَ / يَسْتَعْمِلُ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X begins ista- in the past and yasta- in the present.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verbal noun of istakhdama.</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اِسْتِخْدَامٌ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خِدْمَةٌ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مُسْتَخْدِمٌ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Istikhdām names the act of using.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uses the app”.</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تَخْدِمُ التَّطْبِيقَ</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تَسْتَخْدِمُ التَّطْبِيقَ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اِسْتَخْدِمِ التَّطْبِيقَ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 sta-.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welcomed the guests”.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اِسْتَقْبَلْنَا الضُّيُوفَ</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قَبِلْنَا الضُّيُوفَ</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نَسْتَقْبِلُ الضُّيُوفَ</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 -nā.</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explain how I use technology</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I</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عَمِلَ</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Work.</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X</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اِسْتَعْمَلَ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ista- + root: use.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Present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أَسْتَعْمِلُ</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 sta-.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اِسْتَخْدَمْتُ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returns in the past.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FORM X</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OTHER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0E7C86"/>
                </a:solidFill>
                <a:latin typeface="Amiri" pitchFamily="2" charset="-78"/>
                <a:ea typeface="Amiri" pitchFamily="2" charset="-78"/>
                <a:cs typeface="Amiri" pitchFamily="2" charset="-78"/>
              </a:rPr>
              <a:t>أَسْتَعْمِلُ</a:t>
            </a:r>
            <a:pPr rtl="1" algn="r" indent="0" marL="0">
              <a:buNone/>
            </a:pPr>
            <a:r>
              <a:rPr lang="ar-SA" altLang="en-US" sz="1900" b="1" dirty="0">
                <a:solidFill>
                  <a:srgbClr val="1B3B6F"/>
                </a:solidFill>
                <a:latin typeface="Amiri" pitchFamily="2" charset="-78"/>
                <a:ea typeface="Amiri" pitchFamily="2" charset="-78"/>
                <a:cs typeface="Amiri" pitchFamily="2" charset="-78"/>
              </a:rPr>
              <a:t> الْحَاسُوبَ لِلدِّرَاسَةِ، وَ</a:t>
            </a:r>
            <a:pPr rtl="1" algn="r" indent="0" marL="0">
              <a:buNone/>
            </a:pPr>
            <a:r>
              <a:rPr lang="ar-SA" altLang="en-US" sz="1900" b="1" dirty="0">
                <a:solidFill>
                  <a:srgbClr val="0E7C86"/>
                </a:solidFill>
                <a:latin typeface="Amiri" pitchFamily="2" charset="-78"/>
                <a:ea typeface="Amiri" pitchFamily="2" charset="-78"/>
                <a:cs typeface="Amiri" pitchFamily="2" charset="-78"/>
              </a:rPr>
              <a:t>أَسْتَخْدِمُ</a:t>
            </a:r>
            <a:pPr rtl="1" algn="r" indent="0" marL="0">
              <a:buNone/>
            </a:pPr>
            <a:r>
              <a:rPr lang="ar-SA" altLang="en-US" sz="1900" b="1" dirty="0">
                <a:solidFill>
                  <a:srgbClr val="1B3B6F"/>
                </a:solidFill>
                <a:latin typeface="Amiri" pitchFamily="2" charset="-78"/>
                <a:ea typeface="Amiri" pitchFamily="2" charset="-78"/>
                <a:cs typeface="Amiri" pitchFamily="2" charset="-78"/>
              </a:rPr>
              <a:t> تَطْبِيقًا لِتَعَلُّمِ الْعَرَبِيَّةِ. أَمْسِ </a:t>
            </a:r>
            <a:pPr rtl="1" algn="r" indent="0" marL="0">
              <a:buNone/>
            </a:pPr>
            <a:r>
              <a:rPr lang="ar-SA" altLang="en-US" sz="1900" b="1" dirty="0">
                <a:solidFill>
                  <a:srgbClr val="0E7C86"/>
                </a:solidFill>
                <a:latin typeface="Amiri" pitchFamily="2" charset="-78"/>
                <a:ea typeface="Amiri" pitchFamily="2" charset="-78"/>
                <a:cs typeface="Amiri" pitchFamily="2" charset="-78"/>
              </a:rPr>
              <a:t>اسْتَخْدَمْتُ</a:t>
            </a:r>
            <a:pPr rtl="1" algn="r" indent="0" marL="0">
              <a:buNone/>
            </a:pPr>
            <a:r>
              <a:rPr lang="ar-SA" altLang="en-US" sz="1900" b="1" dirty="0">
                <a:solidFill>
                  <a:srgbClr val="1B3B6F"/>
                </a:solidFill>
                <a:latin typeface="Amiri" pitchFamily="2" charset="-78"/>
                <a:ea typeface="Amiri" pitchFamily="2" charset="-78"/>
                <a:cs typeface="Amiri" pitchFamily="2" charset="-78"/>
              </a:rPr>
              <a:t> التَّطْبِيقَ لِمُرَاجَعَةِ الْكَلِمَاتِ، لِأَنَّ </a:t>
            </a:r>
            <a:pPr rtl="1" algn="r" indent="0" marL="0">
              <a:buNone/>
            </a:pPr>
            <a:r>
              <a:rPr lang="ar-SA" altLang="en-US" sz="1900" b="1" dirty="0">
                <a:solidFill>
                  <a:srgbClr val="D6336C"/>
                </a:solidFill>
                <a:latin typeface="Amiri" pitchFamily="2" charset="-78"/>
                <a:ea typeface="Amiri" pitchFamily="2" charset="-78"/>
                <a:cs typeface="Amiri" pitchFamily="2" charset="-78"/>
              </a:rPr>
              <a:t>الْمُمَارَسَةَ</a:t>
            </a:r>
            <a:pPr rtl="1" algn="r" indent="0" marL="0">
              <a:buNone/>
            </a:pPr>
            <a:r>
              <a:rPr lang="ar-SA" altLang="en-US" sz="1900" b="1" dirty="0">
                <a:solidFill>
                  <a:srgbClr val="1B3B6F"/>
                </a:solidFill>
                <a:latin typeface="Amiri" pitchFamily="2" charset="-78"/>
                <a:ea typeface="Amiri" pitchFamily="2" charset="-78"/>
                <a:cs typeface="Amiri" pitchFamily="2" charset="-78"/>
              </a:rPr>
              <a:t> مُفِيدَةٌ.</a:t>
            </a:r>
            <a:endParaRPr lang="ar-SA" sz="19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use the computer for studying, and I use an app to learn Arabic. Yesterday I used the app to review words, because practice is useful.</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أَسْتَعْمِلُ الْحَاسُوبَ لِلدِّرَاسَةِ.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use the computer for studying.</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يَسْتَقْبِلُ الْمُوَظَّفُ الزُّوَّارَ.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employee receives the visitors.</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أَسْتَغْفِرُ اللَّهَ.</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seek Allah’s forgiveness.</a:t>
            </a:r>
            <a:endParaRPr lang="en-US" sz="1250" dirty="0"/>
          </a:p>
          <a:p>
            <a:pPr indent="0" marL="0">
              <a:buNone/>
            </a:pPr>
            <a:r>
              <a:rPr lang="en-US" sz="1050" i="1" dirty="0">
                <a:solidFill>
                  <a:srgbClr val="8A6D1E"/>
                </a:solidFill>
                <a:latin typeface="Calibri" pitchFamily="34" charset="0"/>
                <a:cs typeface="Amiri" pitchFamily="2" charset="-78"/>
              </a:rPr>
              <a:t>Seeking.</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هَلْ تَسْتَطِيعُ أَنْ تُسَاعِدَنِي؟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Can you help me?</a:t>
            </a:r>
            <a:endParaRPr lang="en-US" sz="1250" dirty="0"/>
          </a:p>
          <a:p>
            <a:pPr indent="0" marL="0">
              <a:buNone/>
            </a:pPr>
            <a:r>
              <a:rPr lang="en-US" sz="1050" i="1" dirty="0">
                <a:solidFill>
                  <a:srgbClr val="8A6D1E"/>
                </a:solidFill>
                <a:latin typeface="Calibri" pitchFamily="34" charset="0"/>
                <a:cs typeface="Amiri" pitchFamily="2" charset="-78"/>
              </a:rPr>
              <a:t>istaṭāʿa + an.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ista- adds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الْأَوَّلِ إِلَى الْعَاشِرِ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 X</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use</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اِسْتَعْمَلَ</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work</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عَمِلَ</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seek forgiveness</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اِسْتَغْفَرَ</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forgive</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غَفَرَ</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receive / welcome</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اِسْتَقْبَلَ</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accept</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قَبِلَ</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use / employ</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اِسْتَخْدَمَ</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serve</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خَدَمَ</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ask / inquire</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اِسْتَفْهَمَ</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understand</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فَهِمَ</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Sometimes ista- = seek / ask (istaghfara, istafhama). Sometimes the meaning is simply its own (istaʿmala = use) — website clinic.</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IS ISTA- ADDED BEFORE THREE ROOT LETTERS?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 X, or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عَاشِرٌ أَمْ 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اِسْتَعْمَلَ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اِسْتَخْدَمَ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اِسْتَقْبَلَ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اِسْتَغْفَرَ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اِسْتَمَعَ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اِسْتَلَمَ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اِنْكَسَرَ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تَعَلَّمَ</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X (ista- + root)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Not Form X</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X (ista- + root)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اِسْتَعْمَلَ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اِسْتَخْدَمَ</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اِسْتَقْبَلَ</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اِسْتَغْفَرَ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Not Form X</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اِسْتَمَعَ</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اِسْتَلَمَ</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اِنْكَسَرَ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تَعَلَّمَ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أَسْتَعْمِلُ بِالْحَاسُوبِ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Preposition or object?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هُوَ يُسْتَعْمِلُ الْهَاتِفَ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 or yu-?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أَسْتَطِيعُ أَسْبَحُ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follows “can”?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أَسْتَعْمِلُ بِالْحَاسُوبِ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أَسْتَعْمِلُ الْحَاسُوبَ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Istaʿmala takes a direct object.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هُوَ يُسْتَعْمِلُ الْهَاتِفَ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هُوَ يَسْتَعْمِلُ الْهَاتِفَ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 X present: ya- (yustaʿmalu is the passive).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أَسْتَطِيعُ أَسْبَحُ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أَسْتَطِيعُ أَنْ أَسْبَحَ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Istaṭāʿa + an + subjunctive (GM-V-10).</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Form X verb means to ask for something.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X is the future tense of Form I.</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X has several lexical meanings, including seeking and using.</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اِسْتَقْبَلَ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قَبُولٌ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اِسْتِقْبَالٌ</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مُسْتَقْبَلٌ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enjoyed the trip”.</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تَمَتَّعُوا الرِّحْلَةَ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اِسْتَمْتَعُوا بِالرِّحْلَةِ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يَسْتَمْتِعُونَ الرِّحْلَةَ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can’t sleep early”.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أَسْتَطِيعُ أَنَامُ مُبَكِّرًا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اِسْتَطَعْتُ أَنْ أَنَامَ</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أَسْتَطِيعُ أَنْ أَنَامَ مُبَكِّرًا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Form X verb means to ask for something.</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X is the future tense of Form I.</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 X has several lexical meanings, including seeking and using.</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Learn the meaning alongside the pattern.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اِسْتَقْبَلَ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قَبُولٌ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اِسْتِقْبَالٌ</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مُسْتَقْبَلٌ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istifʿāl.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enjoyed the trip”.</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تَمَتَّعُوا الرِّحْلَةَ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اِسْتَمْتَعُوا بِالرِّحْلَةِ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يَسْتَمْتِعُونَ الرِّحْلَةَ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 -ū; istamtaʿa + bi-.</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can’t sleep early”.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أَسْتَطِيعُ أَنَامُ مُبَكِّرًا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اِسْتَطَعْتُ أَنْ أَنَامَ</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أَسْتَطِيعُ أَنْ أَنَامَ مُبَكِّرًا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 subjunctive.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READING FOR FORM X (TEACHER-WRITTEN BLOG)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Technology and 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أَسْتَخْدِمُ هَاتِفِي كُلَّ يَوْمٍ، وَلَكِنْ بِحِكْمَةٍ. أَسْتَعْمِلُ تَطْبِيقًا لِلْقُرْآنِ، وَأَسْتَمْتِعُ بِالِاسْتِمَاعِ إِلَى التِّلَاوَةِ. فِي الْمَدْرَسَةِ نَسْتَعْمِلُ الْحَوَاسِيبَ فِي الْعُلُومِ. أَمْسِ اِسْتَقْبَلَتْ مَدْرَسَتُنَا مُهَنْدِسَةً مِنْ شَرِكَةِ تِقْنِيَّةٍ، وَقَالَتْ: «تَسْتَطِيعُونَ أَنْ تَكُونُوا مُبْدِعِينَ!». قَبْلَ النَّوْمِ أُغْلِقُ الْهَاتِفَ وَأَسْتَغْفِرُ اللَّهَ.</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بِحِكْمَةٍ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wisely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التِّلَاوَةِ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recitation</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الْحَوَاسِيبَ</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computers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مُبْدِعِينَ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creative</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use an app for?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Qur’an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games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did the school welcome?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teacher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parents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engineer from a tech company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do before sleeping?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closes the phone and seeks forgiveness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uses the app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reads science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Form VIII verbal noun, not Form X?</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أَسْتَعْمِلُ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الِاسْتِمَاعِ</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اِسْتَقْبَلَتْ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use an app for?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science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Qur’an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games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Tatbīqan li-l-Qurʾān.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did the school welcome?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teacher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parents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engineer from a tech company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Istaqbalat … muhandisa.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do before sleeping?</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closes the phone and seeks forgiveness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uses the app</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reads science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Ughliqu … wa-astaghfiru llāh.</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Form VIII verbal noun, not Form X?</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أَسْتَعْمِلُ</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الِاسْتِمَاعِ</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اِسْتَقْبَلَتْ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istimāʿ: s-m-ʿ + t (Form VIII).</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how I use technology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تَسْتَعْمِلُ لِلدِّرَاسَةِ؟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تَطْبِيقٍ اسْتَخْدَمْتَ أَمْسِ؟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تَسْتَطِيعُ أَنْ تَعِيشَ بِلَا هَاتِفٍ؟ 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أَسْتَعْمِلُ ___ لِلدِّرَاسَةِ.</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أَمْسِ اسْتَخْدَمْتُ ___ لِأَنَّ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أَسْتَطِيعُ / لَا أَسْتَطِيعُ أَنْ ___ لِأَنَّ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تَسْتَعْمِلِينَ لِلدِّرَاسَةِ؟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use for studying?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أَسْتَعْمِلُ الْحَاسُوبَ وَتَطْبِيقًا لِلْكَلِمَاتِ. أَمْسِ اسْتَخْدَمْتُهُ سَاعَةً، وَاسْتَمْتَعْتُ كَثِيرًا!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use the computer and a vocabulary app. Yesterday I used it for an hour, and I enjoyed it a lot!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astaʿmilu · astakhdimu · amsi.</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istaqbala, istamtaʿa and a verbal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istikhdām · istiʿmāl.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technology blog with five Form X verbs, including istaṭāʿa + an.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Form I / X pair.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اِسْتَقْبَلَتْ مَدْرَسَتُنَا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Our school welcomed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اِسْتِعْمَالُ ______ مُفِيدٌ.</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Using … is useful</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مُسْتَخْدِمُو التَّطْبِيقِ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Users of the app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أَسْتَغْفِرُ اللَّهَ عِنْدَمَا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seek forgiveness when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أَسْتَعْمِلُ ______ لِلدِّرَاسَةِ.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use … for studying</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اسْتَخْدَمْتُ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used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أَسْتَمْتِعُ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enjoy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أَسْتَطِيعُ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can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اِسْتَعْمَلَ · يَسْتَعْمِلُ  ·  اِسْتَخْدَمَ · يَسْتَخْدِمُ  ·  اِسْتَقْبَلَ · يَسْتَقْبِلُ  ·  اِسْتَغْفَرَ · يَسْتَغْفِرُ  ·  اِسْتَطَاعَ · يَسْتَطِيعُ  ·  اِسْتَمْتَعَ · يَسْتَمْتِعُ  ·  اِسْتِعْمَالٌ  ·  مُسْتَخْدِمٌ  ·  تَطْبِيقٌ</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technology blog with five Form X verbs, including istaṭāʿa + an, and one Form I / Form X pair.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Form X verbs (ista- + root).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Present with yasta- / asta- / nasta-.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istaṭāʿa + an + subjunctive.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verbal noun (istiʿmāl, istikhdām).</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Form I / X pair (ʿamila / istaʿmala).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بِحِكْمَةٍ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wisely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لِتَعَلُّمِ</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learn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الْوَقْتِ نَفْسِهِ</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the same time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جِهَةٍ أُخْرَى</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other hand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التِّقْنِيَّةُ الْحَدِيثَةُ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modern technology</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أَنْصَحُ بِـ</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recommend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التِّقْنِيَّةُ جُزْءٌ مُهِمٌّ مِنْ تَعَلُّمِي. أَسْتَعْمِلُ الْحَاسُوبَ لِكِتَابَةِ الْوَاجِبَاتِ، وَأَسْتَخْدِمُ تَطْبِيقًا لِحِفْظِ الْقُرْآنِ. أَمْسِ اسْتَقْبَلْنَا فِي الصَّفِّ مُبَرْمِجًا شَابًّا، وَاسْتَمْتَعْنَا بِحَدِيثِهِ عَنِ الذَّكَاءِ الِاصْطِنَاعِيِّ. قَالَ إِنَّنَا نَسْتَطِيعُ أَنْ نَصْنَعَ تَطْبِيقَاتٍ مُفِيدَةً. وَلَكِنْ مِنْ جِهَةٍ أُخْرَى، اِسْتِعْمَالُ الْهَاتِفِ كَثِيرًا يُضِرُّ بِالصِّحَّةِ، لِذَلِكَ أَعْمَلُ بِلَا شَاشَاتٍ بَعْدَ الْعِشَاءِ.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Technology is an important part of my learning. I use the computer to write homework, and I use an app to memorise the Qur’an. Yesterday we welcomed a young programmer to our class, and we enjoyed his talk about artificial intelligence. He said we can make useful apps. But on the other hand, using the phone a lot harms health, so I work without screens after ʿIshāʾ.</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X present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X past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istifʿāl noun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 verb (same root)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X verbs start with ista- (past) or yasta- (present).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istaʿmala with a direct object.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verbal noun like istikhdām.</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translate ista- as “ask for” every time.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istaṭāʿa + an + subjunctive.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use the phone”.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أَسْتَعْمِلُ الْهَاتِفَ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أَعْمَلُ الْهَاتِفَ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اِسْتَعْمَلُ الْهَاتِفَ</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X?</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اِسْتَمَعَ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اِسْتَقْبَلَ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اِسْتَلَمَ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اِسْتَغْفَرَ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seek forgiveness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forgive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use</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use the phone”.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أَسْتَعْمِلُ الْهَاتِفَ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أَعْمَلُ الْهَاتِفَ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اِسْتَعْمَلُ الْهَاتِفَ</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 sta-.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X?</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اِسْتَمَعَ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اِسْتَقْبَلَ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اِسْتَلَمَ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ista- + q-b-l.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اِسْتَغْفَرَ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seek forgiveness</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forgive</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use</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Ista- = seek.</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GM-VF-R: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GM-VF-R · Optional Morphology Reference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فَعَلَ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template Form I</a:t>
            </a:r>
            <a:pPr indent="0" marL="0">
              <a:buNone/>
            </a:pPr>
            <a:r>
              <a:rPr lang="ar-SA" sz="1000" i="1" dirty="0">
                <a:solidFill>
                  <a:srgbClr val="5A6472"/>
                </a:solidFill>
                <a:latin typeface="Calibri" pitchFamily="34" charset="0"/>
                <a:ea typeface="Amiri" pitchFamily="2" charset="-78"/>
                <a:cs typeface="Amiri" pitchFamily="2" charset="-78"/>
              </a:rPr>
              <a:t>  كَتَبَ</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فَعَّلَ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template Form II</a:t>
            </a:r>
            <a:pPr indent="0" marL="0">
              <a:buNone/>
            </a:pPr>
            <a:r>
              <a:rPr lang="ar-SA" sz="1000" i="1" dirty="0">
                <a:solidFill>
                  <a:srgbClr val="5A6472"/>
                </a:solidFill>
                <a:latin typeface="Calibri" pitchFamily="34" charset="0"/>
                <a:ea typeface="Amiri" pitchFamily="2" charset="-78"/>
                <a:cs typeface="Amiri" pitchFamily="2" charset="-78"/>
              </a:rPr>
              <a:t>  عَلَّمَ</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تَفَعَّلَ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template Form V</a:t>
            </a:r>
            <a:pPr indent="0" marL="0">
              <a:buNone/>
            </a:pPr>
            <a:r>
              <a:rPr lang="ar-SA" sz="1000" i="1" dirty="0">
                <a:solidFill>
                  <a:srgbClr val="5A6472"/>
                </a:solidFill>
                <a:latin typeface="Calibri" pitchFamily="34" charset="0"/>
                <a:ea typeface="Amiri" pitchFamily="2" charset="-78"/>
                <a:cs typeface="Amiri" pitchFamily="2" charset="-78"/>
              </a:rPr>
              <a:t>  تَعَلَّمَ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اِسْتَفْعَلَ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template Form X</a:t>
            </a:r>
            <a:pPr indent="0" marL="0">
              <a:buNone/>
            </a:pPr>
            <a:r>
              <a:rPr lang="ar-SA" sz="1000" i="1" dirty="0">
                <a:solidFill>
                  <a:srgbClr val="5A6472"/>
                </a:solidFill>
                <a:latin typeface="Calibri" pitchFamily="34" charset="0"/>
                <a:ea typeface="Amiri" pitchFamily="2" charset="-78"/>
                <a:cs typeface="Amiri" pitchFamily="2" charset="-78"/>
              </a:rPr>
              <a:t>  اِسْتَعْمَلَ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الْمِيزَانُ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f-ʿ-l template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Can you name the ten templates from memory? Try I–X before the reference lesson.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فَعَلَ · فَعَّلَ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with istaʿmala, istakhdama and istaqbala.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Conjugate istamtaʿa in past and present for six persons.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technology blog with five Form X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GM-VF-10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GM-VF-R · Optional Morphology Reference</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مَرْجِعٌ صَرْفِيٌّ اخْتِيَارِيٌّ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Form X = ista- + root (istafʿala) · present yastafʿilu · noun istifʿāl · ista- can mean “seek” (istaghfara) — or just its own meaning (istaʿmala = use) · istamaʿa is Form VIII.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GM-VF-10 · Form X: Seeking, Using and Considering</dc:title>
  <dc:subject>PptxGenJS Presentation</dc:subject>
  <dc:creator>Al Madina Online School · Arabic Department</dc:creator>
  <cp:lastModifiedBy>Al Madina Online School · Arabic Department</cp:lastModifiedBy>
  <cp:revision>1</cp:revision>
  <dcterms:created xsi:type="dcterms:W3CDTF">2026-10-11T06:42:46Z</dcterms:created>
  <dcterms:modified xsi:type="dcterms:W3CDTF">2026-10-11T06:42:46Z</dcterms:modified>
</cp:coreProperties>
</file>