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Verb Forms › GM-VF-02 (“Form II: Teaching and Intensifying”).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عَلَّمَ · يُعَلِّمُ and the family دَرَّسَ · نَظَّمَ · حَضَّرَ in sentences about school. Develop: the present with u- (أُنَظِّمُ · تُعَلِّمُ · يُدَرِّسُونَ) and the verbal noun تَفْعِيلٌ (تَعْلِيمٌ · تَنْظِيمٌ). Stretch: Form I vs Form II meaning (فَهِمَ / فَهَّمَ · كَسَرَ / كَسَّرَ) and the clinic: doubled Form I verbs (مَرَّ · رَدَّ).
• Pronunciation: hold the doubled letter — ʿal-la-ma, not ʿa-la-ma. The shadda changes the meaning.
• Present prefix vowel is u (yu-, tu-, u-, nu-) in Form II — a key difference from Form I.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GM-VF-01 and its prep words (ʿallama, darrasa, naẓẓama, ḥaḍḍara).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Form II = double the middle letter (shadda). Present = yu- + kasra before the last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“Root and pattern”. Verbal noun, doer and command added from GM-V-12 / V-07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“Learn the family” (first three examples are the website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Contrast a- (Form I aktubu) with u- (Form II unaẓẓimu).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Self-check items, plus two teacher items.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“Apply the form” model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Cover column 3; students add the shadda and guess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Website clinic: marra (m-r-r) has a shadda but is Form I (GM-V-02 doubled verbs). Count the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Website clinic: marra (m-r-r) has a shadda but is Form I (GM-V-02 doubled verbs). Count the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Self-check item and teacher-written questions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reading for Form II (teacher-written note). Read it aloud once while students follow; then they hunt for today’s grammar.
Task: Website: write a short instruction to a new student. First, underline every Form II verb in this one.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note modelled on the website “Apply the form”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“Apply the form”. Sequence: ● 10s think → ↔ 45s rehearse aloud with mic muted → ◎ two named students on open mic (warned in advance) → + ? the class types one follow-up in chat → ↺ one student summarises.
Routes: Core uses the Core prompt and stem; Develop the Develop prompt; Stretch the last prompt.
Website: explain how you organise your study and who teaches you, with two Form II verbs and a time expression. Hold the shadda when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 short instruction to a new student. Explain how you organise your study and who teaches you. Include two Form II verbs and one time expression.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(GM-VF-03 · Form III: Participation and Interaction) will spend class time USING this language, so students prepare it tonight — short, simple, easy to access (school guidance: “Simple, Short, Interesting, Relevant, Easy to access”). The five words prepare GM-VF-03 (website Verb Forms: Form III).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VERB FORMS  ·  GM-VF-02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GM-VF-02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300" b="1" dirty="0">
                <a:solidFill>
                  <a:srgbClr val="FFFFFF"/>
                </a:solidFill>
                <a:latin typeface="Cambria" pitchFamily="34" charset="0"/>
                <a:cs typeface="Amiri" pitchFamily="2" charset="-78"/>
              </a:rPr>
              <a:t>Form II: Teaching and Intensifying</a:t>
            </a:r>
            <a:endParaRPr lang="en-US" sz="33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الْوَزْنُ الثَّانِي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Form II doubles the middle root letter with a shadda: ʿalima (know) → ʿallama (teach). The present starts with u-: yuʿallimu. It often means “make someone do” or “do a lot” — but each verb must be learned.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GM-VF-02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Verb Forms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Pattern card; family; conjugation with u-; Form I vs II.</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Same root, Form II; sort real Form II / doubled Form I;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GM-VF-03.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on the middle letter of </a:t>
            </a:r>
            <a:pPr algn="l" indent="0" marL="0">
              <a:buNone/>
            </a:pPr>
            <a:r>
              <a:rPr lang="ar-SA" altLang="en-US" sz="1650" b="1" dirty="0">
                <a:solidFill>
                  <a:srgbClr val="1B3B6F"/>
                </a:solidFill>
                <a:latin typeface="Amiri" pitchFamily="2" charset="-78"/>
                <a:ea typeface="Amiri" pitchFamily="2" charset="-78"/>
                <a:cs typeface="Amiri" pitchFamily="2" charset="-78"/>
              </a:rPr>
              <a:t>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shadda</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sukūn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Darrasa means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study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write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teach a subject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يَعْلَمُ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يَتَعَلَّمُ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يُعَلِّمُ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Naẓẓama means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organise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look</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clean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عَلَّمَ</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عَلِمَ</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تَعَلَّمَ</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added letters (GM-VF-01).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on the middle letter of </a:t>
            </a:r>
            <a:pPr algn="l" indent="0" marL="0">
              <a:buNone/>
            </a:pPr>
            <a:r>
              <a:rPr lang="ar-SA" altLang="en-US" sz="1650" b="1" dirty="0">
                <a:solidFill>
                  <a:srgbClr val="1B3B6F"/>
                </a:solidFill>
                <a:latin typeface="Amiri" pitchFamily="2" charset="-78"/>
                <a:ea typeface="Amiri" pitchFamily="2" charset="-78"/>
                <a:cs typeface="Amiri" pitchFamily="2" charset="-78"/>
              </a:rPr>
              <a:t>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shadda</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sukūn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prep word: shadda.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Darrasa means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study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write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teach a subject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 from GM-VF-01.</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يَعْلَمُ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يَتَعَلَّمُ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يُعَلِّمُ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II present: yu- … -i-.</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Naẓẓama means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organise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look</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clean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Form II = double the middle letter (shadda). Present = yu- + kasra before the last letter.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عَلِمَ</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عَلَّمَ</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يُعَلِّمُ</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Form II by the shadda on the middle letter.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present with yu-.</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Form II verbs about teaching and organising.</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how Form II changes a Form I meaning.</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use ʿallama and naẓẓama in sentences.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the shadda clearly.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conjugate naẓẓama in past and present.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the verbal noun tanẓīm.</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compare fahima and fahhama.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why marra is not Form II.</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الْوَزْنُ الثَّانِي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II</a:t>
            </a:r>
            <a:endParaRPr lang="en-US" sz="1350" dirty="0"/>
          </a:p>
          <a:p>
            <a:pPr indent="0" marL="0">
              <a:buNone/>
            </a:pPr>
            <a:r>
              <a:rPr lang="en-US" sz="1100" i="1" dirty="0">
                <a:solidFill>
                  <a:srgbClr val="5A6472"/>
                </a:solidFill>
                <a:latin typeface="Calibri" pitchFamily="34" charset="0"/>
                <a:cs typeface="Amiri" pitchFamily="2" charset="-78"/>
              </a:rPr>
              <a:t>al-waz-nu ath-thā-nī</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فَعَّلَ</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الشَّدَّةُ</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shadda (doubling)</a:t>
            </a:r>
            <a:endParaRPr lang="en-US" sz="1350" dirty="0"/>
          </a:p>
          <a:p>
            <a:pPr indent="0" marL="0">
              <a:buNone/>
            </a:pPr>
            <a:r>
              <a:rPr lang="en-US" sz="1100" i="1" dirty="0">
                <a:solidFill>
                  <a:srgbClr val="5A6472"/>
                </a:solidFill>
                <a:latin typeface="Calibri" pitchFamily="34" charset="0"/>
                <a:cs typeface="Amiri" pitchFamily="2" charset="-78"/>
              </a:rPr>
              <a:t>ash-shad-da-tu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عَلَّمَ</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التَّعْدِيَةُ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making someone do (causative)</a:t>
            </a:r>
            <a:endParaRPr lang="en-US" sz="1350" dirty="0"/>
          </a:p>
          <a:p>
            <a:pPr indent="0" marL="0">
              <a:buNone/>
            </a:pPr>
            <a:r>
              <a:rPr lang="en-US" sz="1100" i="1" dirty="0">
                <a:solidFill>
                  <a:srgbClr val="5A6472"/>
                </a:solidFill>
                <a:latin typeface="Calibri" pitchFamily="34" charset="0"/>
                <a:cs typeface="Amiri" pitchFamily="2" charset="-78"/>
              </a:rPr>
              <a:t>at-taʿ-di-ya-tu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فَهَّمَ</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التَّكْثِيرُ</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doing a lot (intensive)</a:t>
            </a:r>
            <a:endParaRPr lang="en-US" sz="1350" dirty="0"/>
          </a:p>
          <a:p>
            <a:pPr indent="0" marL="0">
              <a:buNone/>
            </a:pPr>
            <a:r>
              <a:rPr lang="en-US" sz="1100" i="1" dirty="0">
                <a:solidFill>
                  <a:srgbClr val="5A6472"/>
                </a:solidFill>
                <a:latin typeface="Calibri" pitchFamily="34" charset="0"/>
                <a:cs typeface="Amiri" pitchFamily="2" charset="-78"/>
              </a:rPr>
              <a:t>at-tak-thī-ru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كَسَّرَ</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تَفْعِيلٌ</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II verbal noun</a:t>
            </a:r>
            <a:endParaRPr lang="en-US" sz="1350" dirty="0"/>
          </a:p>
          <a:p>
            <a:pPr indent="0" marL="0">
              <a:buNone/>
            </a:pPr>
            <a:r>
              <a:rPr lang="en-US" sz="1100" i="1" dirty="0">
                <a:solidFill>
                  <a:srgbClr val="5A6472"/>
                </a:solidFill>
                <a:latin typeface="Calibri" pitchFamily="34" charset="0"/>
                <a:cs typeface="Amiri" pitchFamily="2" charset="-78"/>
              </a:rPr>
              <a:t>taf-ʿī-lun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تَعْلِيمٌ</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مُفَعِّلٌ</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II doer</a:t>
            </a:r>
            <a:endParaRPr lang="en-US" sz="1350" dirty="0"/>
          </a:p>
          <a:p>
            <a:pPr indent="0" marL="0">
              <a:buNone/>
            </a:pPr>
            <a:r>
              <a:rPr lang="en-US" sz="1100" i="1" dirty="0">
                <a:solidFill>
                  <a:srgbClr val="5A6472"/>
                </a:solidFill>
                <a:latin typeface="Calibri" pitchFamily="34" charset="0"/>
                <a:cs typeface="Amiri" pitchFamily="2" charset="-78"/>
              </a:rPr>
              <a:t>mu-faʿ-ʿi-lun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مُعَلِّمٌ</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FORM II PATTERN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Double the middle 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فَعَّلَ · يُفَعِّلُ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4867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Command</a:t>
            </a:r>
            <a:endParaRPr lang="en-US" sz="1100" dirty="0"/>
          </a:p>
        </p:txBody>
      </p:sp>
      <p:sp>
        <p:nvSpPr>
          <p:cNvPr id="17" name="Text 14"/>
          <p:cNvSpPr txBox="1"/>
          <p:nvPr/>
        </p:nvSpPr>
        <p:spPr>
          <a:xfrm>
            <a:off x="802843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Doer</a:t>
            </a:r>
            <a:endParaRPr lang="en-US" sz="1100" dirty="0"/>
          </a:p>
        </p:txBody>
      </p:sp>
      <p:sp>
        <p:nvSpPr>
          <p:cNvPr id="18" name="Text 15"/>
          <p:cNvSpPr txBox="1"/>
          <p:nvPr/>
        </p:nvSpPr>
        <p:spPr>
          <a:xfrm>
            <a:off x="610819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9" name="Text 16"/>
          <p:cNvSpPr txBox="1"/>
          <p:nvPr/>
        </p:nvSpPr>
        <p:spPr>
          <a:xfrm>
            <a:off x="41879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20" name="Text 17"/>
          <p:cNvSpPr txBox="1"/>
          <p:nvPr/>
        </p:nvSpPr>
        <p:spPr>
          <a:xfrm>
            <a:off x="226771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21" name="Text 18"/>
          <p:cNvSpPr txBox="1"/>
          <p:nvPr/>
        </p:nvSpPr>
        <p:spPr>
          <a:xfrm>
            <a:off x="530352" y="1810512"/>
            <a:ext cx="1591056" cy="384048"/>
          </a:xfrm>
          <a:prstGeom prst="rect">
            <a:avLst/>
          </a:prstGeom>
          <a:noFill/>
          <a:ln/>
        </p:spPr>
        <p:txBody>
          <a:bodyPr wrap="square" lIns="0" tIns="0" rIns="0" bIns="0" rtlCol="0" anchor="ctr"/>
          <a:lstStyle/>
          <a:p>
            <a:pPr algn="ctr" indent="0" marL="0">
              <a:buNone/>
            </a:pPr>
            <a:endParaRPr lang="en-US" sz="1100" dirty="0"/>
          </a:p>
        </p:txBody>
      </p:sp>
      <p:sp>
        <p:nvSpPr>
          <p:cNvPr id="22" name="Shape 19"/>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3" name="Text 20"/>
          <p:cNvSpPr txBox="1"/>
          <p:nvPr/>
        </p:nvSpPr>
        <p:spPr>
          <a:xfrm>
            <a:off x="9966960" y="2267712"/>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فَعِّلْ</a:t>
            </a:r>
            <a:endParaRPr lang="ar-SA" sz="2400" dirty="0"/>
          </a:p>
        </p:txBody>
      </p:sp>
      <p:sp>
        <p:nvSpPr>
          <p:cNvPr id="24" name="Text 21"/>
          <p:cNvSpPr txBox="1"/>
          <p:nvPr/>
        </p:nvSpPr>
        <p:spPr>
          <a:xfrm>
            <a:off x="804672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مُفَعِّلٌ</a:t>
            </a:r>
            <a:endParaRPr lang="ar-SA" sz="2400" dirty="0"/>
          </a:p>
        </p:txBody>
      </p:sp>
      <p:sp>
        <p:nvSpPr>
          <p:cNvPr id="25" name="Text 22"/>
          <p:cNvSpPr txBox="1"/>
          <p:nvPr/>
        </p:nvSpPr>
        <p:spPr>
          <a:xfrm>
            <a:off x="612648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تَفْعِيلٌ</a:t>
            </a:r>
            <a:endParaRPr lang="ar-SA" sz="2400" dirty="0"/>
          </a:p>
        </p:txBody>
      </p:sp>
      <p:sp>
        <p:nvSpPr>
          <p:cNvPr id="26" name="Text 23"/>
          <p:cNvSpPr txBox="1"/>
          <p:nvPr/>
        </p:nvSpPr>
        <p:spPr>
          <a:xfrm>
            <a:off x="420624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يُفَعِّلُ</a:t>
            </a:r>
            <a:endParaRPr lang="ar-SA" sz="2400" dirty="0"/>
          </a:p>
        </p:txBody>
      </p:sp>
      <p:sp>
        <p:nvSpPr>
          <p:cNvPr id="27" name="Text 24"/>
          <p:cNvSpPr txBox="1"/>
          <p:nvPr/>
        </p:nvSpPr>
        <p:spPr>
          <a:xfrm>
            <a:off x="228600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فَعَّلَ</a:t>
            </a:r>
            <a:endParaRPr lang="ar-SA" sz="2400" dirty="0"/>
          </a:p>
        </p:txBody>
      </p:sp>
      <p:sp>
        <p:nvSpPr>
          <p:cNvPr id="28" name="Text 25"/>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template</a:t>
            </a:r>
            <a:endParaRPr lang="en-US" sz="110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966960" y="300471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عَلِّمْ</a:t>
            </a:r>
            <a:endParaRPr lang="ar-SA" sz="2400" dirty="0"/>
          </a:p>
        </p:txBody>
      </p:sp>
      <p:sp>
        <p:nvSpPr>
          <p:cNvPr id="31" name="Text 28"/>
          <p:cNvSpPr txBox="1"/>
          <p:nvPr/>
        </p:nvSpPr>
        <p:spPr>
          <a:xfrm>
            <a:off x="804672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مُعَلِّمٌ</a:t>
            </a:r>
            <a:endParaRPr lang="ar-SA" sz="2400" dirty="0"/>
          </a:p>
        </p:txBody>
      </p:sp>
      <p:sp>
        <p:nvSpPr>
          <p:cNvPr id="32" name="Text 29"/>
          <p:cNvSpPr txBox="1"/>
          <p:nvPr/>
        </p:nvSpPr>
        <p:spPr>
          <a:xfrm>
            <a:off x="612648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تَعْلِيمٌ</a:t>
            </a:r>
            <a:endParaRPr lang="ar-SA" sz="2400" dirty="0"/>
          </a:p>
        </p:txBody>
      </p:sp>
      <p:sp>
        <p:nvSpPr>
          <p:cNvPr id="33" name="Text 30"/>
          <p:cNvSpPr txBox="1"/>
          <p:nvPr/>
        </p:nvSpPr>
        <p:spPr>
          <a:xfrm>
            <a:off x="420624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يُعَلِّمُ</a:t>
            </a:r>
            <a:endParaRPr lang="ar-SA" sz="2400" dirty="0"/>
          </a:p>
        </p:txBody>
      </p:sp>
      <p:sp>
        <p:nvSpPr>
          <p:cNvPr id="34" name="Text 31"/>
          <p:cNvSpPr txBox="1"/>
          <p:nvPr/>
        </p:nvSpPr>
        <p:spPr>
          <a:xfrm>
            <a:off x="228600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عَلَّمَ</a:t>
            </a:r>
            <a:endParaRPr lang="ar-SA" sz="2400" dirty="0"/>
          </a:p>
        </p:txBody>
      </p:sp>
      <p:sp>
        <p:nvSpPr>
          <p:cNvPr id="35" name="Text 32"/>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teach</a:t>
            </a:r>
            <a:endParaRPr lang="en-US" sz="1100" dirty="0"/>
          </a:p>
        </p:txBody>
      </p:sp>
      <p:sp>
        <p:nvSpPr>
          <p:cNvPr id="36" name="Shape 3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9966960" y="3741725"/>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نَظِّمْ</a:t>
            </a:r>
            <a:endParaRPr lang="ar-SA" sz="2400" dirty="0"/>
          </a:p>
        </p:txBody>
      </p:sp>
      <p:sp>
        <p:nvSpPr>
          <p:cNvPr id="40" name="Text 37"/>
          <p:cNvSpPr txBox="1"/>
          <p:nvPr/>
        </p:nvSpPr>
        <p:spPr>
          <a:xfrm>
            <a:off x="804672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مُنَظِّمٌ</a:t>
            </a:r>
            <a:endParaRPr lang="ar-SA" sz="2400" dirty="0"/>
          </a:p>
        </p:txBody>
      </p:sp>
      <p:sp>
        <p:nvSpPr>
          <p:cNvPr id="41" name="Text 38"/>
          <p:cNvSpPr txBox="1"/>
          <p:nvPr/>
        </p:nvSpPr>
        <p:spPr>
          <a:xfrm>
            <a:off x="612648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تَنْظِيمٌ</a:t>
            </a:r>
            <a:endParaRPr lang="ar-SA" sz="2400" dirty="0"/>
          </a:p>
        </p:txBody>
      </p:sp>
      <p:sp>
        <p:nvSpPr>
          <p:cNvPr id="42" name="Text 39"/>
          <p:cNvSpPr txBox="1"/>
          <p:nvPr/>
        </p:nvSpPr>
        <p:spPr>
          <a:xfrm>
            <a:off x="420624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يُنَظِّمُ</a:t>
            </a:r>
            <a:endParaRPr lang="ar-SA" sz="2400" dirty="0"/>
          </a:p>
        </p:txBody>
      </p:sp>
      <p:sp>
        <p:nvSpPr>
          <p:cNvPr id="43" name="Text 40"/>
          <p:cNvSpPr txBox="1"/>
          <p:nvPr/>
        </p:nvSpPr>
        <p:spPr>
          <a:xfrm>
            <a:off x="228600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نَظَّمَ</a:t>
            </a:r>
            <a:endParaRPr lang="ar-SA" sz="2400" dirty="0"/>
          </a:p>
        </p:txBody>
      </p:sp>
      <p:sp>
        <p:nvSpPr>
          <p:cNvPr id="44" name="Text 41"/>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organise</a:t>
            </a:r>
            <a:endParaRPr lang="en-US" sz="110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966960" y="4478731"/>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حَضِّرْ</a:t>
            </a:r>
            <a:endParaRPr lang="ar-SA" sz="2400" dirty="0"/>
          </a:p>
        </p:txBody>
      </p:sp>
      <p:sp>
        <p:nvSpPr>
          <p:cNvPr id="47" name="Text 44"/>
          <p:cNvSpPr txBox="1"/>
          <p:nvPr/>
        </p:nvSpPr>
        <p:spPr>
          <a:xfrm>
            <a:off x="804672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مُحَضِّرٌ</a:t>
            </a:r>
            <a:endParaRPr lang="ar-SA" sz="2400" dirty="0"/>
          </a:p>
        </p:txBody>
      </p:sp>
      <p:sp>
        <p:nvSpPr>
          <p:cNvPr id="48" name="Text 45"/>
          <p:cNvSpPr txBox="1"/>
          <p:nvPr/>
        </p:nvSpPr>
        <p:spPr>
          <a:xfrm>
            <a:off x="612648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تَحْضِيرٌ</a:t>
            </a:r>
            <a:endParaRPr lang="ar-SA" sz="2400" dirty="0"/>
          </a:p>
        </p:txBody>
      </p:sp>
      <p:sp>
        <p:nvSpPr>
          <p:cNvPr id="49" name="Text 46"/>
          <p:cNvSpPr txBox="1"/>
          <p:nvPr/>
        </p:nvSpPr>
        <p:spPr>
          <a:xfrm>
            <a:off x="420624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يُحَضِّرُ</a:t>
            </a:r>
            <a:endParaRPr lang="ar-SA" sz="2400" dirty="0"/>
          </a:p>
        </p:txBody>
      </p:sp>
      <p:sp>
        <p:nvSpPr>
          <p:cNvPr id="50" name="Text 47"/>
          <p:cNvSpPr txBox="1"/>
          <p:nvPr/>
        </p:nvSpPr>
        <p:spPr>
          <a:xfrm>
            <a:off x="228600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حَضَّرَ</a:t>
            </a:r>
            <a:endParaRPr lang="ar-SA" sz="2400" dirty="0"/>
          </a:p>
        </p:txBody>
      </p:sp>
      <p:sp>
        <p:nvSpPr>
          <p:cNvPr id="51" name="Text 48"/>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prepare</a:t>
            </a:r>
            <a:endParaRPr lang="en-US" sz="1100" dirty="0"/>
          </a:p>
        </p:txBody>
      </p:sp>
      <p:sp>
        <p:nvSpPr>
          <p:cNvPr id="52" name="Shape 49"/>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3" name="Text 50"/>
          <p:cNvSpPr txBox="1"/>
          <p:nvPr/>
        </p:nvSpPr>
        <p:spPr>
          <a:xfrm>
            <a:off x="9966960" y="521573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دَرِّسْ</a:t>
            </a:r>
            <a:endParaRPr lang="ar-SA" sz="2400" dirty="0"/>
          </a:p>
        </p:txBody>
      </p:sp>
      <p:sp>
        <p:nvSpPr>
          <p:cNvPr id="54" name="Text 51"/>
          <p:cNvSpPr txBox="1"/>
          <p:nvPr/>
        </p:nvSpPr>
        <p:spPr>
          <a:xfrm>
            <a:off x="804672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مُدَرِّسٌ</a:t>
            </a:r>
            <a:endParaRPr lang="ar-SA" sz="2400" dirty="0"/>
          </a:p>
        </p:txBody>
      </p:sp>
      <p:sp>
        <p:nvSpPr>
          <p:cNvPr id="55" name="Text 52"/>
          <p:cNvSpPr txBox="1"/>
          <p:nvPr/>
        </p:nvSpPr>
        <p:spPr>
          <a:xfrm>
            <a:off x="612648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تَدْرِيسٌ</a:t>
            </a:r>
            <a:endParaRPr lang="ar-SA" sz="2400" dirty="0"/>
          </a:p>
        </p:txBody>
      </p:sp>
      <p:sp>
        <p:nvSpPr>
          <p:cNvPr id="56" name="Text 53"/>
          <p:cNvSpPr txBox="1"/>
          <p:nvPr/>
        </p:nvSpPr>
        <p:spPr>
          <a:xfrm>
            <a:off x="420624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يُدَرِّسُ</a:t>
            </a:r>
            <a:endParaRPr lang="ar-SA" sz="2400" dirty="0"/>
          </a:p>
        </p:txBody>
      </p:sp>
      <p:sp>
        <p:nvSpPr>
          <p:cNvPr id="57" name="Text 54"/>
          <p:cNvSpPr txBox="1"/>
          <p:nvPr/>
        </p:nvSpPr>
        <p:spPr>
          <a:xfrm>
            <a:off x="228600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دَرَّسَ</a:t>
            </a:r>
            <a:endParaRPr lang="ar-SA" sz="2400" dirty="0"/>
          </a:p>
        </p:txBody>
      </p:sp>
      <p:sp>
        <p:nvSpPr>
          <p:cNvPr id="58" name="Text 55"/>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teach a subject</a:t>
            </a:r>
            <a:endParaRPr lang="en-US" sz="1100" dirty="0"/>
          </a:p>
        </p:txBody>
      </p:sp>
      <p:sp>
        <p:nvSpPr>
          <p:cNvPr id="59" name="Text 5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the middle root consonant is doubled, written with shadda. In the present the usual pattern is yufaʿʿilu. The shadda is part of the verb stem, not decoration.</a:t>
            </a:r>
            <a:endParaRPr lang="en-US" sz="110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LEARN THE FAMILY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Form II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أُسْرَةُ الْوَزْنِ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36393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 present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852160" y="226771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تُعَلِّمُ الْمُعَلِّمَةُ الطُّلَّابَ الْعَرَبِيَّةَ.</a:t>
            </a:r>
            <a:endParaRPr lang="ar-SA" sz="2000" dirty="0"/>
          </a:p>
        </p:txBody>
      </p:sp>
      <p:sp>
        <p:nvSpPr>
          <p:cNvPr id="21" name="Text 18"/>
          <p:cNvSpPr txBox="1"/>
          <p:nvPr/>
        </p:nvSpPr>
        <p:spPr>
          <a:xfrm>
            <a:off x="367588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teach</a:t>
            </a:r>
            <a:endParaRPr lang="en-US" sz="1100" dirty="0"/>
          </a:p>
        </p:txBody>
      </p:sp>
      <p:sp>
        <p:nvSpPr>
          <p:cNvPr id="22" name="Text 19"/>
          <p:cNvSpPr txBox="1"/>
          <p:nvPr/>
        </p:nvSpPr>
        <p:spPr>
          <a:xfrm>
            <a:off x="548640" y="226771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عَلَّمَ · يُعَلِّمُ</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852160" y="2881884"/>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نَظَّمْنَا وَقْتَنَا قَبْلَ الِامْتِحَانِ.</a:t>
            </a:r>
            <a:endParaRPr lang="ar-SA" sz="2000" dirty="0"/>
          </a:p>
        </p:txBody>
      </p:sp>
      <p:sp>
        <p:nvSpPr>
          <p:cNvPr id="27" name="Text 24"/>
          <p:cNvSpPr txBox="1"/>
          <p:nvPr/>
        </p:nvSpPr>
        <p:spPr>
          <a:xfrm>
            <a:off x="367588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organise</a:t>
            </a:r>
            <a:endParaRPr lang="en-US" sz="1100" dirty="0"/>
          </a:p>
        </p:txBody>
      </p:sp>
      <p:sp>
        <p:nvSpPr>
          <p:cNvPr id="28" name="Text 25"/>
          <p:cNvSpPr txBox="1"/>
          <p:nvPr/>
        </p:nvSpPr>
        <p:spPr>
          <a:xfrm>
            <a:off x="548640" y="2881884"/>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نَظَّمَ · يُنَظِّمُ</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852160" y="3496056"/>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أُحَضِّرُ وَجْبَةَ الْغَدَاءِ.</a:t>
            </a:r>
            <a:endParaRPr lang="ar-SA" sz="2000" dirty="0"/>
          </a:p>
        </p:txBody>
      </p:sp>
      <p:sp>
        <p:nvSpPr>
          <p:cNvPr id="33" name="Text 30"/>
          <p:cNvSpPr txBox="1"/>
          <p:nvPr/>
        </p:nvSpPr>
        <p:spPr>
          <a:xfrm>
            <a:off x="367588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prepare</a:t>
            </a:r>
            <a:endParaRPr lang="en-US" sz="1100" dirty="0"/>
          </a:p>
        </p:txBody>
      </p:sp>
      <p:sp>
        <p:nvSpPr>
          <p:cNvPr id="34" name="Text 31"/>
          <p:cNvSpPr txBox="1"/>
          <p:nvPr/>
        </p:nvSpPr>
        <p:spPr>
          <a:xfrm>
            <a:off x="548640" y="3496056"/>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حَضَّرَ · يُحَضِّرُ</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5852160" y="4110228"/>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يُدَرِّسُ أَبِي الرِّيَاضِيَّاتِ.</a:t>
            </a:r>
            <a:endParaRPr lang="ar-SA" sz="2000" dirty="0"/>
          </a:p>
        </p:txBody>
      </p:sp>
      <p:sp>
        <p:nvSpPr>
          <p:cNvPr id="39" name="Text 36"/>
          <p:cNvSpPr txBox="1"/>
          <p:nvPr/>
        </p:nvSpPr>
        <p:spPr>
          <a:xfrm>
            <a:off x="367588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teach a subject</a:t>
            </a:r>
            <a:endParaRPr lang="en-US" sz="1100" dirty="0"/>
          </a:p>
        </p:txBody>
      </p:sp>
      <p:sp>
        <p:nvSpPr>
          <p:cNvPr id="40" name="Text 37"/>
          <p:cNvSpPr txBox="1"/>
          <p:nvPr/>
        </p:nvSpPr>
        <p:spPr>
          <a:xfrm>
            <a:off x="548640" y="4110228"/>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دَرَّسَ · يُدَرِّسُ</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5852160" y="4724400"/>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غَيَّرْتُ رَأْيِي.</a:t>
            </a:r>
            <a:endParaRPr lang="ar-SA" sz="2000" dirty="0"/>
          </a:p>
        </p:txBody>
      </p:sp>
      <p:sp>
        <p:nvSpPr>
          <p:cNvPr id="43" name="Text 40"/>
          <p:cNvSpPr txBox="1"/>
          <p:nvPr/>
        </p:nvSpPr>
        <p:spPr>
          <a:xfrm>
            <a:off x="367588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change</a:t>
            </a:r>
            <a:endParaRPr lang="en-US" sz="1100" dirty="0"/>
          </a:p>
        </p:txBody>
      </p:sp>
      <p:sp>
        <p:nvSpPr>
          <p:cNvPr id="44" name="Text 41"/>
          <p:cNvSpPr txBox="1"/>
          <p:nvPr/>
        </p:nvSpPr>
        <p:spPr>
          <a:xfrm>
            <a:off x="548640" y="4724400"/>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غَيَّرَ · يُغَيِّرُ</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5852160" y="533857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تُصَحِّحُ الْمُعَلِّمَةُ الْوَاجِبَ.</a:t>
            </a:r>
            <a:endParaRPr lang="ar-SA" sz="2000" dirty="0"/>
          </a:p>
        </p:txBody>
      </p:sp>
      <p:sp>
        <p:nvSpPr>
          <p:cNvPr id="47" name="Text 44"/>
          <p:cNvSpPr txBox="1"/>
          <p:nvPr/>
        </p:nvSpPr>
        <p:spPr>
          <a:xfrm>
            <a:off x="367588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correct</a:t>
            </a:r>
            <a:endParaRPr lang="en-US" sz="1100" dirty="0"/>
          </a:p>
        </p:txBody>
      </p:sp>
      <p:sp>
        <p:nvSpPr>
          <p:cNvPr id="48" name="Text 45"/>
          <p:cNvSpPr txBox="1"/>
          <p:nvPr/>
        </p:nvSpPr>
        <p:spPr>
          <a:xfrm>
            <a:off x="548640" y="533857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صَحَّحَ · يُصَحِّحُ</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ʿalima means to know, while ʿallama means to teach — to make someone know. A useful causative link, but not every Form II verb has a predictable meaning.</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CONJUGATE NAẒẒAMA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present starts with u-</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تَصْرِيفُ «نَظَّمَ»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56509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8" name="Text 15"/>
          <p:cNvSpPr txBox="1"/>
          <p:nvPr/>
        </p:nvSpPr>
        <p:spPr>
          <a:xfrm>
            <a:off x="27249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 not a-</a:t>
            </a:r>
            <a:endParaRPr lang="en-US" sz="1100" dirty="0"/>
          </a:p>
        </p:txBody>
      </p:sp>
      <p:sp>
        <p:nvSpPr>
          <p:cNvPr id="22" name="Text 19"/>
          <p:cNvSpPr txBox="1"/>
          <p:nvPr/>
        </p:nvSpPr>
        <p:spPr>
          <a:xfrm>
            <a:off x="566928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أُنَظِّمُ</a:t>
            </a:r>
            <a:endParaRPr lang="ar-SA" sz="2400" dirty="0"/>
          </a:p>
        </p:txBody>
      </p:sp>
      <p:sp>
        <p:nvSpPr>
          <p:cNvPr id="23" name="Text 20"/>
          <p:cNvSpPr txBox="1"/>
          <p:nvPr/>
        </p:nvSpPr>
        <p:spPr>
          <a:xfrm>
            <a:off x="274320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نَظَّمْتُ</a:t>
            </a:r>
            <a:endParaRPr lang="ar-SA" sz="2400" dirty="0"/>
          </a:p>
        </p:txBody>
      </p:sp>
      <p:sp>
        <p:nvSpPr>
          <p:cNvPr id="24" name="Text 21"/>
          <p:cNvSpPr txBox="1"/>
          <p:nvPr/>
        </p:nvSpPr>
        <p:spPr>
          <a:xfrm>
            <a:off x="5486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a:t>
            </a:r>
            <a:endParaRPr lang="en-US" sz="1100" dirty="0"/>
          </a:p>
        </p:txBody>
      </p:sp>
      <p:sp>
        <p:nvSpPr>
          <p:cNvPr id="29" name="Text 26"/>
          <p:cNvSpPr txBox="1"/>
          <p:nvPr/>
        </p:nvSpPr>
        <p:spPr>
          <a:xfrm>
            <a:off x="566928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يُنَظِّمُ</a:t>
            </a:r>
            <a:endParaRPr lang="ar-SA" sz="2400" dirty="0"/>
          </a:p>
        </p:txBody>
      </p:sp>
      <p:sp>
        <p:nvSpPr>
          <p:cNvPr id="30" name="Text 27"/>
          <p:cNvSpPr txBox="1"/>
          <p:nvPr/>
        </p:nvSpPr>
        <p:spPr>
          <a:xfrm>
            <a:off x="274320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نَظَّمَ</a:t>
            </a:r>
            <a:endParaRPr lang="ar-SA" sz="2400" dirty="0"/>
          </a:p>
        </p:txBody>
      </p:sp>
      <p:sp>
        <p:nvSpPr>
          <p:cNvPr id="31" name="Text 28"/>
          <p:cNvSpPr txBox="1"/>
          <p:nvPr/>
        </p:nvSpPr>
        <p:spPr>
          <a:xfrm>
            <a:off x="5486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a:t>
            </a:r>
            <a:endParaRPr lang="en-US" sz="1100" dirty="0"/>
          </a:p>
        </p:txBody>
      </p:sp>
      <p:sp>
        <p:nvSpPr>
          <p:cNvPr id="36" name="Text 33"/>
          <p:cNvSpPr txBox="1"/>
          <p:nvPr/>
        </p:nvSpPr>
        <p:spPr>
          <a:xfrm>
            <a:off x="566928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تُنَظِّمُ</a:t>
            </a:r>
            <a:endParaRPr lang="ar-SA" sz="2400" dirty="0"/>
          </a:p>
        </p:txBody>
      </p:sp>
      <p:sp>
        <p:nvSpPr>
          <p:cNvPr id="37" name="Text 34"/>
          <p:cNvSpPr txBox="1"/>
          <p:nvPr/>
        </p:nvSpPr>
        <p:spPr>
          <a:xfrm>
            <a:off x="274320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نَظَّمَتْ</a:t>
            </a:r>
            <a:endParaRPr lang="ar-SA" sz="2400" dirty="0"/>
          </a:p>
        </p:txBody>
      </p:sp>
      <p:sp>
        <p:nvSpPr>
          <p:cNvPr id="38" name="Text 35"/>
          <p:cNvSpPr txBox="1"/>
          <p:nvPr/>
        </p:nvSpPr>
        <p:spPr>
          <a:xfrm>
            <a:off x="5486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 … -īna</a:t>
            </a:r>
            <a:endParaRPr lang="en-US" sz="1100" dirty="0"/>
          </a:p>
        </p:txBody>
      </p:sp>
      <p:sp>
        <p:nvSpPr>
          <p:cNvPr id="43" name="Text 40"/>
          <p:cNvSpPr txBox="1"/>
          <p:nvPr/>
        </p:nvSpPr>
        <p:spPr>
          <a:xfrm>
            <a:off x="566928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تُنَظِّمِينَ</a:t>
            </a:r>
            <a:endParaRPr lang="ar-SA" sz="2400" dirty="0"/>
          </a:p>
        </p:txBody>
      </p:sp>
      <p:sp>
        <p:nvSpPr>
          <p:cNvPr id="44" name="Text 41"/>
          <p:cNvSpPr txBox="1"/>
          <p:nvPr/>
        </p:nvSpPr>
        <p:spPr>
          <a:xfrm>
            <a:off x="274320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نَظَّمْتِ</a:t>
            </a:r>
            <a:endParaRPr lang="ar-SA" sz="2400" dirty="0"/>
          </a:p>
        </p:txBody>
      </p:sp>
      <p:sp>
        <p:nvSpPr>
          <p:cNvPr id="45" name="Text 42"/>
          <p:cNvSpPr txBox="1"/>
          <p:nvPr/>
        </p:nvSpPr>
        <p:spPr>
          <a:xfrm>
            <a:off x="5486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a:t>
            </a:r>
            <a:endParaRPr lang="en-US" sz="1100" dirty="0"/>
          </a:p>
        </p:txBody>
      </p:sp>
      <p:sp>
        <p:nvSpPr>
          <p:cNvPr id="48" name="Text 45"/>
          <p:cNvSpPr txBox="1"/>
          <p:nvPr/>
        </p:nvSpPr>
        <p:spPr>
          <a:xfrm>
            <a:off x="566928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نُنَظِّمُ</a:t>
            </a:r>
            <a:endParaRPr lang="ar-SA" sz="2400" dirty="0"/>
          </a:p>
        </p:txBody>
      </p:sp>
      <p:sp>
        <p:nvSpPr>
          <p:cNvPr id="49" name="Text 46"/>
          <p:cNvSpPr txBox="1"/>
          <p:nvPr/>
        </p:nvSpPr>
        <p:spPr>
          <a:xfrm>
            <a:off x="274320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نَظَّمْنَا</a:t>
            </a:r>
            <a:endParaRPr lang="ar-SA" sz="2400" dirty="0"/>
          </a:p>
        </p:txBody>
      </p:sp>
      <p:sp>
        <p:nvSpPr>
          <p:cNvPr id="50" name="Text 47"/>
          <p:cNvSpPr txBox="1"/>
          <p:nvPr/>
        </p:nvSpPr>
        <p:spPr>
          <a:xfrm>
            <a:off x="5486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 … -ūna</a:t>
            </a:r>
            <a:endParaRPr lang="en-US" sz="1100" dirty="0"/>
          </a:p>
        </p:txBody>
      </p:sp>
      <p:sp>
        <p:nvSpPr>
          <p:cNvPr id="53" name="Text 50"/>
          <p:cNvSpPr txBox="1"/>
          <p:nvPr/>
        </p:nvSpPr>
        <p:spPr>
          <a:xfrm>
            <a:off x="566928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يُنَظِّمُونَ</a:t>
            </a:r>
            <a:endParaRPr lang="ar-SA" sz="2400" dirty="0"/>
          </a:p>
        </p:txBody>
      </p:sp>
      <p:sp>
        <p:nvSpPr>
          <p:cNvPr id="54" name="Text 51"/>
          <p:cNvSpPr txBox="1"/>
          <p:nvPr/>
        </p:nvSpPr>
        <p:spPr>
          <a:xfrm>
            <a:off x="274320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نَظَّمُوا</a:t>
            </a:r>
            <a:endParaRPr lang="ar-SA" sz="2400" dirty="0"/>
          </a:p>
        </p:txBody>
      </p:sp>
      <p:sp>
        <p:nvSpPr>
          <p:cNvPr id="55" name="Text 52"/>
          <p:cNvSpPr txBox="1"/>
          <p:nvPr/>
        </p:nvSpPr>
        <p:spPr>
          <a:xfrm>
            <a:off x="5486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هُمْ</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“Look closely”: yaʿlamu (he knows) belongs to Form I; yuʿallimu (he teaches) belongs to Form II. Listen for u- and the shadda.</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“to teach”?</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عَلَّمَ</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present of naẓẓama.</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يُنَظِّمُ</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يَنْظُمُ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يَتَنَظَّمُ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prepare”.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أَحْضُرُ</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أُحَضِّرُ</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حَضَّرْتُ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II?</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حَضَّرَ</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حَضَرَ</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حَاضَرَ</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“to teach”?</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عَلِمَ</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تَعَلَّمَ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عَلَّمَ</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ʿAllama is Form II, with a doubled middle letter.</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present of naẓẓama.</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يُنَظِّمُ</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يَنْظُمُ</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يَتَنَظَّمُ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II present: yufaʿʿilu.</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prepare”.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أَحْضُرُ</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أُحَضِّرُ</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حَضَّرْتُ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II present: u-.</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II?</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حَضَّرَ</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حَضَرَ</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حَاضَرَ</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Shadda on the middle root letter ḍ (ḥaḍara = to attend, Form I).</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Watch me explain my study routine with Form II</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Form I</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نَظَمَ</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Root n-ẓ-m.</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Form II</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نَظَّمَ</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Double the middle: organise.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Present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أُنَظِّمُ</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 for I.</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Noun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تَنْظِيمٌ</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tafʿīl: organisation.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FORM II PRESENT</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OTHER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0E7C86"/>
                </a:solidFill>
                <a:latin typeface="Amiri" pitchFamily="2" charset="-78"/>
                <a:ea typeface="Amiri" pitchFamily="2" charset="-78"/>
                <a:cs typeface="Amiri" pitchFamily="2" charset="-78"/>
              </a:rPr>
              <a:t>أُنَظِّمُ</a:t>
            </a:r>
            <a:pPr rtl="1" algn="r" indent="0" marL="0">
              <a:buNone/>
            </a:pPr>
            <a:r>
              <a:rPr lang="ar-SA" altLang="en-US" sz="2600" b="1" dirty="0">
                <a:solidFill>
                  <a:srgbClr val="1B3B6F"/>
                </a:solidFill>
                <a:latin typeface="Amiri" pitchFamily="2" charset="-78"/>
                <a:ea typeface="Amiri" pitchFamily="2" charset="-78"/>
                <a:cs typeface="Amiri" pitchFamily="2" charset="-78"/>
              </a:rPr>
              <a:t> وَقْتِي كُلَّ مَسَاءٍ، وَ</a:t>
            </a:r>
            <a:pPr rtl="1" algn="r" indent="0" marL="0">
              <a:buNone/>
            </a:pPr>
            <a:r>
              <a:rPr lang="ar-SA" altLang="en-US" sz="2600" b="1" dirty="0">
                <a:solidFill>
                  <a:srgbClr val="0E7C86"/>
                </a:solidFill>
                <a:latin typeface="Amiri" pitchFamily="2" charset="-78"/>
                <a:ea typeface="Amiri" pitchFamily="2" charset="-78"/>
                <a:cs typeface="Amiri" pitchFamily="2" charset="-78"/>
              </a:rPr>
              <a:t>تُعَلِّمُنِي</a:t>
            </a:r>
            <a:pPr rtl="1" algn="r" indent="0" marL="0">
              <a:buNone/>
            </a:pPr>
            <a:r>
              <a:rPr lang="ar-SA" altLang="en-US" sz="2600" b="1" dirty="0">
                <a:solidFill>
                  <a:srgbClr val="1B3B6F"/>
                </a:solidFill>
                <a:latin typeface="Amiri" pitchFamily="2" charset="-78"/>
                <a:ea typeface="Amiri" pitchFamily="2" charset="-78"/>
                <a:cs typeface="Amiri" pitchFamily="2" charset="-78"/>
              </a:rPr>
              <a:t> الْمُعَلِّمَةُ الْعَرَبِيَّةَ. </a:t>
            </a:r>
            <a:pPr rtl="1" algn="r" indent="0" marL="0">
              <a:buNone/>
            </a:pPr>
            <a:r>
              <a:rPr lang="ar-SA" altLang="en-US" sz="2600" b="1" dirty="0">
                <a:solidFill>
                  <a:srgbClr val="0E7C86"/>
                </a:solidFill>
                <a:latin typeface="Amiri" pitchFamily="2" charset="-78"/>
                <a:ea typeface="Amiri" pitchFamily="2" charset="-78"/>
                <a:cs typeface="Amiri" pitchFamily="2" charset="-78"/>
              </a:rPr>
              <a:t>أُحَضِّرُ</a:t>
            </a:r>
            <a:pPr rtl="1" algn="r" indent="0" marL="0">
              <a:buNone/>
            </a:pPr>
            <a:r>
              <a:rPr lang="ar-SA" altLang="en-US" sz="2600" b="1" dirty="0">
                <a:solidFill>
                  <a:srgbClr val="1B3B6F"/>
                </a:solidFill>
                <a:latin typeface="Amiri" pitchFamily="2" charset="-78"/>
                <a:ea typeface="Amiri" pitchFamily="2" charset="-78"/>
                <a:cs typeface="Amiri" pitchFamily="2" charset="-78"/>
              </a:rPr>
              <a:t> دُرُوسِي قَبْلَ النَّوْمِ.</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organise my time every evening, and the teacher teaches me Arabic. I prepare my lessons before sleeping.</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تُعَلِّمُ الْمُعَلِّمَةُ الطُّلَّابَ الْعَرَبِيَّةَ.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teacher teaches the students Arabic.</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نَظَّمْنَا وَقْتَنَا قَبْلَ الِامْتِحَانِ.</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organised our time before the exam.</a:t>
            </a:r>
            <a:endParaRPr lang="en-US" sz="1250" dirty="0"/>
          </a:p>
          <a:p>
            <a:pPr indent="0" marL="0">
              <a:buNone/>
            </a:pPr>
            <a:r>
              <a:rPr lang="en-US" sz="1050" i="1" dirty="0">
                <a:solidFill>
                  <a:srgbClr val="8A6D1E"/>
                </a:solidFill>
                <a:latin typeface="Calibri" pitchFamily="34" charset="0"/>
                <a:cs typeface="Amiri" pitchFamily="2" charset="-78"/>
              </a:rPr>
              <a:t>Past.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أُحَضِّرُ وَجْبَةَ الْغَدَاءِ.</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preparing lunch.</a:t>
            </a:r>
            <a:endParaRPr lang="en-US" sz="1250" dirty="0"/>
          </a:p>
          <a:p>
            <a:pPr indent="0" marL="0">
              <a:buNone/>
            </a:pPr>
            <a:r>
              <a:rPr lang="en-US" sz="1050" i="1" dirty="0">
                <a:solidFill>
                  <a:srgbClr val="8A6D1E"/>
                </a:solidFill>
                <a:latin typeface="Calibri" pitchFamily="34" charset="0"/>
                <a:cs typeface="Amiri" pitchFamily="2" charset="-78"/>
              </a:rPr>
              <a:t>u-.</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فَهَّمَنِي أَخِي الدَّرْسَ.</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brother explained the lesson to me.</a:t>
            </a:r>
            <a:endParaRPr lang="en-US" sz="1250" dirty="0"/>
          </a:p>
          <a:p>
            <a:pPr indent="0" marL="0">
              <a:buNone/>
            </a:pPr>
            <a:r>
              <a:rPr lang="en-US" sz="1050" i="1" dirty="0">
                <a:solidFill>
                  <a:srgbClr val="8A6D1E"/>
                </a:solidFill>
                <a:latin typeface="Calibri" pitchFamily="34" charset="0"/>
                <a:cs typeface="Amiri" pitchFamily="2" charset="-78"/>
              </a:rPr>
              <a:t>Made me understand.</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SAME ROOT, DIFFERENT FORM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Know → teach: what the shadda adds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الْأَوَّلِ إِلَى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46811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 II</a:t>
            </a:r>
            <a:endParaRPr lang="en-US" sz="1100" dirty="0"/>
          </a:p>
        </p:txBody>
      </p:sp>
      <p:sp>
        <p:nvSpPr>
          <p:cNvPr id="18" name="Text 15"/>
          <p:cNvSpPr txBox="1"/>
          <p:nvPr/>
        </p:nvSpPr>
        <p:spPr>
          <a:xfrm>
            <a:off x="30906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Base verb</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teach (make know)</a:t>
            </a:r>
            <a:endParaRPr lang="en-US" sz="1100" dirty="0"/>
          </a:p>
        </p:txBody>
      </p:sp>
      <p:sp>
        <p:nvSpPr>
          <p:cNvPr id="22" name="Text 19"/>
          <p:cNvSpPr txBox="1"/>
          <p:nvPr/>
        </p:nvSpPr>
        <p:spPr>
          <a:xfrm>
            <a:off x="548640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عَلَّمَ</a:t>
            </a:r>
            <a:endParaRPr lang="ar-SA" sz="2400" dirty="0"/>
          </a:p>
        </p:txBody>
      </p:sp>
      <p:sp>
        <p:nvSpPr>
          <p:cNvPr id="23" name="Text 20"/>
          <p:cNvSpPr txBox="1"/>
          <p:nvPr/>
        </p:nvSpPr>
        <p:spPr>
          <a:xfrm>
            <a:off x="312724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know</a:t>
            </a:r>
            <a:endParaRPr lang="en-US" sz="1100" dirty="0"/>
          </a:p>
        </p:txBody>
      </p:sp>
      <p:sp>
        <p:nvSpPr>
          <p:cNvPr id="24" name="Text 21"/>
          <p:cNvSpPr txBox="1"/>
          <p:nvPr/>
        </p:nvSpPr>
        <p:spPr>
          <a:xfrm>
            <a:off x="54864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عَلِمَ</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teach a subject</a:t>
            </a:r>
            <a:endParaRPr lang="en-US" sz="1100" dirty="0"/>
          </a:p>
        </p:txBody>
      </p:sp>
      <p:sp>
        <p:nvSpPr>
          <p:cNvPr id="29" name="Text 26"/>
          <p:cNvSpPr txBox="1"/>
          <p:nvPr/>
        </p:nvSpPr>
        <p:spPr>
          <a:xfrm>
            <a:off x="548640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دَرَّسَ</a:t>
            </a:r>
            <a:endParaRPr lang="ar-SA" sz="2400" dirty="0"/>
          </a:p>
        </p:txBody>
      </p:sp>
      <p:sp>
        <p:nvSpPr>
          <p:cNvPr id="30" name="Text 27"/>
          <p:cNvSpPr txBox="1"/>
          <p:nvPr/>
        </p:nvSpPr>
        <p:spPr>
          <a:xfrm>
            <a:off x="312724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study</a:t>
            </a:r>
            <a:endParaRPr lang="en-US" sz="1100" dirty="0"/>
          </a:p>
        </p:txBody>
      </p:sp>
      <p:sp>
        <p:nvSpPr>
          <p:cNvPr id="31" name="Text 28"/>
          <p:cNvSpPr txBox="1"/>
          <p:nvPr/>
        </p:nvSpPr>
        <p:spPr>
          <a:xfrm>
            <a:off x="54864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دَرَسَ</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explain (make understand)</a:t>
            </a:r>
            <a:endParaRPr lang="en-US" sz="1100" dirty="0"/>
          </a:p>
        </p:txBody>
      </p:sp>
      <p:sp>
        <p:nvSpPr>
          <p:cNvPr id="36" name="Text 33"/>
          <p:cNvSpPr txBox="1"/>
          <p:nvPr/>
        </p:nvSpPr>
        <p:spPr>
          <a:xfrm>
            <a:off x="548640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فَهَّمَ</a:t>
            </a:r>
            <a:endParaRPr lang="ar-SA" sz="2400" dirty="0"/>
          </a:p>
        </p:txBody>
      </p:sp>
      <p:sp>
        <p:nvSpPr>
          <p:cNvPr id="37" name="Text 34"/>
          <p:cNvSpPr txBox="1"/>
          <p:nvPr/>
        </p:nvSpPr>
        <p:spPr>
          <a:xfrm>
            <a:off x="312724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understand</a:t>
            </a:r>
            <a:endParaRPr lang="en-US" sz="1100" dirty="0"/>
          </a:p>
        </p:txBody>
      </p:sp>
      <p:sp>
        <p:nvSpPr>
          <p:cNvPr id="38" name="Text 35"/>
          <p:cNvSpPr txBox="1"/>
          <p:nvPr/>
        </p:nvSpPr>
        <p:spPr>
          <a:xfrm>
            <a:off x="54864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فَهِمَ</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smash (break a lot)</a:t>
            </a:r>
            <a:endParaRPr lang="en-US" sz="1100" dirty="0"/>
          </a:p>
        </p:txBody>
      </p:sp>
      <p:sp>
        <p:nvSpPr>
          <p:cNvPr id="43" name="Text 40"/>
          <p:cNvSpPr txBox="1"/>
          <p:nvPr/>
        </p:nvSpPr>
        <p:spPr>
          <a:xfrm>
            <a:off x="548640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كَسَّرَ</a:t>
            </a:r>
            <a:endParaRPr lang="ar-SA" sz="2400" dirty="0"/>
          </a:p>
        </p:txBody>
      </p:sp>
      <p:sp>
        <p:nvSpPr>
          <p:cNvPr id="44" name="Text 41"/>
          <p:cNvSpPr txBox="1"/>
          <p:nvPr/>
        </p:nvSpPr>
        <p:spPr>
          <a:xfrm>
            <a:off x="312724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break</a:t>
            </a:r>
            <a:endParaRPr lang="en-US" sz="1100" dirty="0"/>
          </a:p>
        </p:txBody>
      </p:sp>
      <p:sp>
        <p:nvSpPr>
          <p:cNvPr id="45" name="Text 42"/>
          <p:cNvSpPr txBox="1"/>
          <p:nvPr/>
        </p:nvSpPr>
        <p:spPr>
          <a:xfrm>
            <a:off x="54864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كَسَرَ</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cut into pieces</a:t>
            </a:r>
            <a:endParaRPr lang="en-US" sz="1100" dirty="0"/>
          </a:p>
        </p:txBody>
      </p:sp>
      <p:sp>
        <p:nvSpPr>
          <p:cNvPr id="48" name="Text 45"/>
          <p:cNvSpPr txBox="1"/>
          <p:nvPr/>
        </p:nvSpPr>
        <p:spPr>
          <a:xfrm>
            <a:off x="548640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قَطَّعَ</a:t>
            </a:r>
            <a:endParaRPr lang="ar-SA" sz="2400" dirty="0"/>
          </a:p>
        </p:txBody>
      </p:sp>
      <p:sp>
        <p:nvSpPr>
          <p:cNvPr id="49" name="Text 46"/>
          <p:cNvSpPr txBox="1"/>
          <p:nvPr/>
        </p:nvSpPr>
        <p:spPr>
          <a:xfrm>
            <a:off x="312724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cut</a:t>
            </a:r>
            <a:endParaRPr lang="en-US" sz="1100" dirty="0"/>
          </a:p>
        </p:txBody>
      </p:sp>
      <p:sp>
        <p:nvSpPr>
          <p:cNvPr id="50" name="Text 47"/>
          <p:cNvSpPr txBox="1"/>
          <p:nvPr/>
        </p:nvSpPr>
        <p:spPr>
          <a:xfrm>
            <a:off x="54864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قَطَعَ</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Two common ideas: causative (make someone …) and intensive (… a lot). Clues, not rules — check each verb.</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CLINIC · NOT EVERY SHADDA IS FORM II</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 II, or a doubled Form I?</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وَزْنٌ ثَانٍ أَمْ مُضَعَّفٌ؟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نَظَّمَ</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حَضَّرَ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رَدَّ</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عَدَّ</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II (3 root letters + shadda)</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Doubled Form I (root ends in a pair)</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II (3 root letters + shadda)</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عَلَّمَ</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نَظَّمَ</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حَضَّرَ</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Doubled Form I (root ends in a pair)</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رَدَّ</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شَدَّ</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عَدَّ</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هُوَ يَنْظُمُ وَقْتَهُ</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 or yu-?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أَعْلَمُ أَخِي الْقِرَاءَةَ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Know or teach?</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مَرَّ: الْوَزْنُ الثَّانِي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many root letters?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هُوَ يَنْظُمُ وَقْتَهُ</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 يُنَظِّمُ وَقْتَهُ</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Form II present: yu- and the shadda.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أَعْلَمُ أَخِي الْقِرَاءَةَ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أُعَلِّمُ أَخِي الْقِرَاءَةَ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Aʿlamu = I know (Form I); uʿallimu = I teach.</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مَرَّ: الْوَزْنُ الثَّانِي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مَرَّ: الْوَزْنُ الْأَوَّلُ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shadda alone does not make Form II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cs typeface="Amiri" pitchFamily="2" charset="-78"/>
              </a:rPr>
              <a:t>WE DO · GUIDED PRACTICE · WEBSITE SELF-CHECK ITEM AND TEACHER-WRITTEN QUESTIONS</a:t>
            </a:r>
            <a:endParaRPr lang="en-US" sz="87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correct?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verb with shadda is Form II.</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II always means that two people act together.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II often has a causative or intensive sense, but meanings must be learned.</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teaches”.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عَلَّمَتْ</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نَظَّمَ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نِظَامٌ</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تَنْظِيمٌ</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مُنَظِّمٌ</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prepared”.</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نُحَضِّرُ</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حَضَرْنَا</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حَضَّرْنَا</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correct?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verb with shadda is Form II.</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 II always means that two people act together.</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Form II often has a causative or intensive sense, but meanings must be learned.</a:t>
            </a:r>
            <a:endParaRPr lang="en-US" sz="11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Patterns provide clues, not a complete dictionary.</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teaches”.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تَعْلَمُ</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تُعَلِّمُ</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عَلَّمَتْ</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tu- + shadda.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نَظَّمَ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نِظَامٌ</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تَنْظِيمٌ</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مُنَظِّمٌ</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tafʿīl.</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prepared”.</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نُحَضِّرُ</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حَضَرْنَا</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حَضَّرْنَا</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 -nā; ḥaḍarnā (no shadda) = we attended.</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READING FOR FORM II (TEACHER-WRITTEN NOTE)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Welcome, new student!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أَهْلًا بِكِ فِي صَفِّنَا! تُعَلِّمُنَا الْأُسْتَاذَةُ مَرْيَمُ الْعَرَبِيَّةَ، وَيُدَرِّسُنَا الْأُسْتَاذُ عُمَرُ الْعُلُومَ. كُلَّ صَبَاحٍ نُنَظِّمُ الطَّاوِلَاتِ، وَنُحَضِّرُ كُتُبَنَا. تُصَحِّحُ الْمُعَلِّمَةُ الْوَاجِبَ يَوْمَ الْخَمِيسِ. إِذَا لَمْ تَفْهَمِي شَيْئًا، فَسَأُفَهِّمُكِ الدَّرْسَ!</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الطَّاوِلَاتِ</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tables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الْوَاجِبَ</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homework</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شَيْئًا</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something</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سَأُفَهِّمُكِ</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will explain to you</a:t>
            </a:r>
            <a:endParaRPr lang="en-US" sz="10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teaches science?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Miss Maryam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Mr ʿUmar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new student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 students do every morning?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correct homework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 Arabic</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organise the tables and prepare their books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homework corrected?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Thursday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morning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Sunday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“I will explain to you”?</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تَفْهَمِي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سَأُفَهِّمُكِ</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تُعَلِّمُنَا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teaches science?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Miss Maryam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Mr ʿUmar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new student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Yudarrisunā l-ustādhu ʿUmar.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 students do every morning?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correct homework</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teach Arabic</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organise the tables and prepare their books</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Nunaẓẓimu · nuḥaḍḍiru.</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homework corrected?</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Thursday</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morning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Sunday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Yawma l-khamīs.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“I will explain to you”?</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تَفْهَمِي</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سَأُفَهِّمُكِ</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تُعَلِّمُنَا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II of fahima + sa-.</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how I organise my study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يُعَلِّمُكَ الْعَرَبِيَّةَ؟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تُنَظِّمُ وَقْتَكَ قَبْلَ الِامْتِحَانِ؟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تُحَضِّرُ قَبْلَ الْمَدْرَسَةِ؟ وَمَنْ يُصَحِّحُ وَاجِبَكَ؟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يُعَلِّمُنِي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أُنَظِّمُ وَقْتِي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أُحَضِّرُ ___ ، وَيُصَحِّحُ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تُنَظِّمِينَ وَقْتَكِ؟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do you organise your time?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أُنَظِّمُ وَقْتِي بِجَدْوَلٍ. أُحَضِّرُ دُرُوسِي مَسَاءً، وَتُعَلِّمُنِي أُخْتِي الرِّيَاضِيَّاتِ.</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organise my time with a timetable. I prepare my lessons in the evening, and my sister teaches me maths.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ʿallama and naẓẓama.</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ḥaḍḍara, ṣaḥḥaḥa and a verbal noun.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Present with u-.</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welcome guide with four Form II verbs and one Form I / II contrast.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e.g. darasa / darrasa.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يُدَرِّسُ أَبِي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 teaches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التَّنْظِيمُ يُسَاعِدُنِي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Organisation helps me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غَيَّرْتُ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changed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فَهَّمَنِي صَدِيقِي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explained … to me</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يُعَلِّمُنِي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teaches me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أُنَظِّمُ وَقْتِي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organise my time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أُحَضِّرُ ______ كُلَّ مَسَاءٍ.</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prepare … every evening</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تُصَحِّحُ الْمُعَلِّمَةُ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teacher corrects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عَلَّمَ · يُعَلِّمُ  ·  دَرَّسَ · يُدَرِّسُ  ·  نَظَّمَ · يُنَظِّمُ  ·  حَضَّرَ · يُحَضِّرُ  ·  غَيَّرَ · يُغَيِّرُ  ·  صَحَّحَ · يُصَحِّحُ  ·  تَعْلِيمٌ  ·  تَنْظِيمٌ  ·  مُعَلِّمٌ</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welcome guide for a new student with four Form II verbs and one Form I / Form II contrast.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Form II verbs with the shadda.</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Present forms with u-.</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verbal noun (tafʿīl).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Form I / Form II pair.</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time expression.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أَهْلًا بِكَ</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welcome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 صَبَاحٍ</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every morning</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الِامْتِحَانِ</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 the exam</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بِجَدْوَلٍ</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a timetable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احْتَجْتَ</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you need</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تَقْلَقْ</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don’t worry</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أَهْلًا بِكَ فِي مَدْرَسَتِنَا! أَنَا أَدْرُسُ هُنَا مُنْذُ سَنَتَيْنِ. يُدَرِّسُنَا الْأُسْتَاذُ أَحْمَدُ الْعَرَبِيَّةَ، وَهُوَ يُعَلِّمُنَا بِصَبْرٍ. كُلَّ يَوْمٍ أُنَظِّمُ وَقْتِي بِجَدْوَلٍ، لِأَنَّ التَّنْظِيمَ مُهِمٌّ جِدًّا. أُحَضِّرُ حَقِيبَتِي فِي الْمَسَاءِ، وَتُصَحِّحُ أُمِّي إِمْلَائِي. إِذَا لَمْ تَفْهَمْ دَرْسًا، فَسَأُفَهِّمُكَ إِيَّاهُ. لَا تَقْلَقْ، سَتَتَعَلَّمُ بِسُرْعَةٍ!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Welcome to our school! I have studied here for two years. Mr Aḥmad teaches us Arabic, and he teaches us patiently. Every day I organise my time with a timetable, because organisation is very important. I prepare my bag in the evening, and my mother corrects my spelling. If you don’t understand a lesson, I will explain it to you. Don’t worry, you will learn quickly!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 verb</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II verb</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tafʿīl noun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u- present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Form II verbs have a shadda on the middle letter.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ʿallama or naẓẓama correctly.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present forms start with u- (yu-, tu-, nu-).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verbal noun like tanẓīm.</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contrasted a Form I and a Form II verb.</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Form II?</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organise”.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نَنْظُمُ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نُنَظِّمُ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نَظَّمْنَا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NOT Form II?</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صَحَّحَ</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Form II?</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عَلَّمَ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عَلِمَ</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تَعَلَّمَ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doubled middle letter and the present vowels identify the Form II pair.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organise”.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نَنْظُمُ</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نُنَظِّمُ</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نَظَّمْنَا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nu- + shadda.</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NOT Form II?</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مَرَّ</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غَيَّرَ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صَحَّحَ</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marra is a doubled Form I verb.</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GM-VF-02 · Arabic Verb Forms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GM-VF-03: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GM-VF-03 · Form III: Participation and Interaction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شَارَكَ · يُشَارِكُ</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participate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سَاعَدَ · يُسَاعِدُ</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help</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حَاوَلَ · يُحَاوِلُ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try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سَافَرَ · يُسَافِرُ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travel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الْأَلِفُ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long ā</a:t>
            </a:r>
            <a:pPr indent="0" marL="0">
              <a:buNone/>
            </a:pPr>
            <a:r>
              <a:rPr lang="ar-SA" sz="1000" i="1" dirty="0">
                <a:solidFill>
                  <a:srgbClr val="5A6472"/>
                </a:solidFill>
                <a:latin typeface="Amiri" pitchFamily="2" charset="-78"/>
                <a:ea typeface="Amiri" pitchFamily="2" charset="-78"/>
                <a:cs typeface="Amiri" pitchFamily="2" charset="-78"/>
              </a:rPr>
              <a:t>  ـا</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do the four verbs have after the first letter?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شَارَكَ · سَاعَدَ · حَاوَلَ</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with ʿallama, naẓẓama and ḥaḍḍara.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Conjugate ḥaḍḍara in past and present for six persons.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Welcome guide with four Form II verbs.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GM-VF-02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GM-VF-03 · Form III: Participation and Interaction</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الْوَزْنُ الثَّالِثُ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Form II = shadda on the middle letter (faʿʿala) · present yu- … -i- (yuʿallimu) · noun tafʿīl, doer mufaʿʿil · often “make do” or “do a lot” · not every shadda is Form II.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GM-VF-02 · Form II: Teaching and Intensifying</dc:title>
  <dc:subject>PptxGenJS Presentation</dc:subject>
  <dc:creator>Al Madina Online School · Arabic Department</dc:creator>
  <cp:lastModifiedBy>Al Madina Online School · Arabic Department</cp:lastModifiedBy>
  <cp:revision>1</cp:revision>
  <dcterms:created xsi:type="dcterms:W3CDTF">2026-10-11T06:42:41Z</dcterms:created>
  <dcterms:modified xsi:type="dcterms:W3CDTF">2026-10-11T06:42:41Z</dcterms:modified>
</cp:coreProperties>
</file>