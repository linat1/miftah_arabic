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GM-VF-03 (“Form III: Participation and Interaction”).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شَارَكَ · يُشَارِكُ and the family سَاعَدَ · حَاوَلَ · سَافَرَ in sentences about school activities. Develop: present with u- (أُسَاعِدُ · تُشَارِكِينَ) and the verbal noun مُفَاعَلَةٌ (مُشَارَكَةٌ · مُسَاعَدَةٌ · مُحَاوَلَةٌ). Stretch: Form I vs Form III (جَلَسَ / جَالَسَ · قَبِلَ / قَابَلَ) and telling Form III from hollow Form I verbs (قَالَ · نَامَ).
• Website clinic: Form III does NOT always mean “to each other” — sāʿada = to help, sāfara = to travel.
• Grammar link: sāʿada takes a direct object — سَاعَدْتُ صَدِيقِي (no maʿa).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GM-VF-02 and its prep words (shāraka, sāʿada, ḥāwala, sāfara).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III = long ā after the first root letter.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the standard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four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Students chant past then present for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Nataḥaddatha is Form V (GM-VF-05) —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III (teacher-written account). Read it aloud once while students follow; then they hunt for today’s grammar.
Task: Website: write about a school activity. First, underline every Form III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use participate, help and try, with a past event and a present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four-sentence account of a school activity using participate, help and try. Include a past event and a present habit.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(GM-VF-04 · Form IV: Causing and Bringing About) will spend class time USING this language, so students prepare it tonight — short, simple, easy to access (school guidance: “Simple, Short, Interesting, Relevant, Easy to access”). The five words prepare GM-VF-04 (website Verb Forms: Form IV).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Form III: Participation and Interaction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الثَّالِثُ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III adds a long ā after the first root letter: shāraka (participate), sāʿada (help). The present starts with u-: yushāriku. It often involves another person — but not always.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III.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root, Form III; sort Form III / hollow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نَاظَرَ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first letter in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Sāʿada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يَتَسَافَرُ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Ḥāwala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participate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نَاظَرَ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middle letter (GM-VF-02).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first letter in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long ā</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shadda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clue.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Sāʿada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help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يَتَسَافَرُ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يُسَافِرُ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III present: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Ḥāwala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try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help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participate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III = long ā after the first root letter.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شَارَكَ</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يُشَارِكُ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III by the long ā after the first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III verbs about activities and helping.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Form III is not always “each other”.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shāraka and sāʿada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help my friend” without maʿa.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sāʿada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mushāraka and musāʿada.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jalasa and jālasa.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shāraka from qāla (hollow Form 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الثَّالِثُ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a:t>
            </a:r>
            <a:endParaRPr lang="en-US" sz="1350" dirty="0"/>
          </a:p>
          <a:p>
            <a:pPr indent="0" marL="0">
              <a:buNone/>
            </a:pPr>
            <a:r>
              <a:rPr lang="en-US" sz="1100" i="1" dirty="0">
                <a:solidFill>
                  <a:srgbClr val="5A6472"/>
                </a:solidFill>
                <a:latin typeface="Calibri" pitchFamily="34" charset="0"/>
                <a:cs typeface="Amiri" pitchFamily="2" charset="-78"/>
              </a:rPr>
              <a:t>al-waz-nu ath-thā-li-thu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فَاعَلَ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الْمُشَارَكَةُ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participation (involving others)</a:t>
            </a:r>
            <a:endParaRPr lang="en-US" sz="1350" dirty="0"/>
          </a:p>
          <a:p>
            <a:pPr indent="0" marL="0">
              <a:buNone/>
            </a:pPr>
            <a:r>
              <a:rPr lang="en-US" sz="1100" i="1" dirty="0">
                <a:solidFill>
                  <a:srgbClr val="5A6472"/>
                </a:solidFill>
                <a:latin typeface="Calibri" pitchFamily="34" charset="0"/>
                <a:cs typeface="Amiri" pitchFamily="2" charset="-78"/>
              </a:rPr>
              <a:t>al-mu-shā-ra-ka-tu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شَارَكَ</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أَلِفُ الْمَدِّ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ā</a:t>
            </a:r>
            <a:endParaRPr lang="en-US" sz="1350" dirty="0"/>
          </a:p>
          <a:p>
            <a:pPr indent="0" marL="0">
              <a:buNone/>
            </a:pPr>
            <a:r>
              <a:rPr lang="en-US" sz="1100" i="1" dirty="0">
                <a:solidFill>
                  <a:srgbClr val="5A6472"/>
                </a:solidFill>
                <a:latin typeface="Calibri" pitchFamily="34" charset="0"/>
                <a:cs typeface="Amiri" pitchFamily="2" charset="-78"/>
              </a:rPr>
              <a:t>a-li-fu al-mad-di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مُفَاعَلَةٌ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 verbal noun</a:t>
            </a:r>
            <a:endParaRPr lang="en-US" sz="1350" dirty="0"/>
          </a:p>
          <a:p>
            <a:pPr indent="0" marL="0">
              <a:buNone/>
            </a:pPr>
            <a:r>
              <a:rPr lang="en-US" sz="1100" i="1" dirty="0">
                <a:solidFill>
                  <a:srgbClr val="5A6472"/>
                </a:solidFill>
                <a:latin typeface="Calibri" pitchFamily="34" charset="0"/>
                <a:cs typeface="Amiri" pitchFamily="2" charset="-78"/>
              </a:rPr>
              <a:t>mu-fā-ʿa-la-tun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مُسَاعَدَةٌ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 doer</a:t>
            </a:r>
            <a:endParaRPr lang="en-US" sz="1350" dirty="0"/>
          </a:p>
          <a:p>
            <a:pPr indent="0" marL="0">
              <a:buNone/>
            </a:pPr>
            <a:r>
              <a:rPr lang="en-US" sz="1100" i="1" dirty="0">
                <a:solidFill>
                  <a:srgbClr val="5A6472"/>
                </a:solidFill>
                <a:latin typeface="Calibri" pitchFamily="34" charset="0"/>
                <a:cs typeface="Amiri" pitchFamily="2" charset="-78"/>
              </a:rPr>
              <a:t>mu-fā-ʿi-lun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مُشَارِكٌ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الْمَفْعُولُ بِهِ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 object</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سَاعَدْتُ أُمِّي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long ā after the first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فَاعَلَ · يُفَاعِلُ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مُفَاعَلَةٌ</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يُفَاعِلُ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شَارِكْ</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مُشَارِكٌ</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مُشَارَكَةٌ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يُشَارِكُ</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شَارَكَ</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مُسَاعِدٌ</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مُسَاعَدَةٌ</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يُسَاعِدُ</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حَاوِلْ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مُحَاوِلٌ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مُحَاوَلَةٌ</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يُحَاوِلُ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حَاوَلَ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try</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شَاهِدْ</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مُشَاهِدٌ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مُشَاهَدَةٌ</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يُشَاهِدُ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شَاهَدَ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watch</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long ā is inserted after the first root consonant in the past: fāʿala. The present commonly follows yufāʿilu, with the same long vowel.</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أُشَارِكُ فِي نَادِي الْقِرَاءَةِ.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شَارَكَ · يُشَارِكُ</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سَاعَدَتْ سَلْمَى صَدِيقَتَهَا فِي الْوَاجِبِ.</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سَاعَدَ · يُسَاعِدُ</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نُحَاوِلُ أَنْ نَتَحَدَّثَ بِالْعَرَبِيَّةِ.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try</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حَاوَلَ · يُحَاوِلُ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سَافَرْنَا إِلَى لَنْدَنَ فِي الصَّيْفِ.</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travel</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 · يُسَافِرُ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شَاهَدْتُ الْمُبَارَاةَ مَعَ أَبِي.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watch</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شَاهَدَ · يُشَاهِدُ</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نُنَاقِشُ الْمَوْضُوعَ فِي الصَّفِّ.</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discuss</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نَاقَشَ · يُنَاقِشُ</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shāraka means to participate or share in an activity. Other Form III verbs, such as sāʿada, have their own meanings — the pattern does not guarantee “each other”.</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SĀʿADA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ā in every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«سَاعَدَ»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أُسَاعِدُ</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يُسَاعِدُ</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تُسَاعِدُ</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تُسَاعِدِينَ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نُسَاعِدُ</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يُسَاعِدُونَ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compare a Form I verb with shāraka / yushāriku — the long vowel is the clue. Like Form II, the present prefix vowel is 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shāraka.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يَتَشَارَكُ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my mother”.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 مَعَ أُمِّي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 أُمِّي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أَسْعَدُ أُمِّي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tried”.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حَاوَلْنَا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نُحَاوِلُ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حَاوَلُوا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after the first letter is the Form III feature.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shāraka.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يَتَشَارَكُ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III commonly follows yufāʿilu.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my mother”.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 مَعَ أُمِّي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 أُمِّي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أَسْعَدُ أُمِّي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object — no maʿa.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tried”.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حَاوَلْنَا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نُحَاوِلُ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حَاوَلُوا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describe a school activity with Form III</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 ر 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شَارَكَ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ā: participate.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أُشَارِكُ</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مُشَارَكَةٌ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mufāʿala.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 FORMS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2" charset="-78"/>
                <a:ea typeface="Amiri" pitchFamily="2" charset="-78"/>
                <a:cs typeface="Amiri" pitchFamily="2" charset="-78"/>
              </a:rPr>
              <a:t>أُشَارِكُ</a:t>
            </a:r>
            <a:pPr rtl="1" algn="r" indent="0" marL="0">
              <a:buNone/>
            </a:pPr>
            <a:r>
              <a:rPr lang="ar-SA" altLang="en-US" sz="1950" b="1" dirty="0">
                <a:solidFill>
                  <a:srgbClr val="1B3B6F"/>
                </a:solidFill>
                <a:latin typeface="Amiri" pitchFamily="2" charset="-78"/>
                <a:ea typeface="Amiri" pitchFamily="2" charset="-78"/>
                <a:cs typeface="Amiri" pitchFamily="2" charset="-78"/>
              </a:rPr>
              <a:t> فِي نَادِي الْقِرَاءَةِ. أَمْسِ </a:t>
            </a:r>
            <a:pPr rtl="1" algn="r" indent="0" marL="0">
              <a:buNone/>
            </a:pPr>
            <a:r>
              <a:rPr lang="ar-SA" altLang="en-US" sz="1950" b="1" dirty="0">
                <a:solidFill>
                  <a:srgbClr val="0E7C86"/>
                </a:solidFill>
                <a:latin typeface="Amiri" pitchFamily="2" charset="-78"/>
                <a:ea typeface="Amiri" pitchFamily="2" charset="-78"/>
                <a:cs typeface="Amiri" pitchFamily="2" charset="-78"/>
              </a:rPr>
              <a:t>سَاعَدْتُ</a:t>
            </a:r>
            <a:pPr rtl="1" algn="r" indent="0" marL="0">
              <a:buNone/>
            </a:pPr>
            <a:r>
              <a:rPr lang="ar-SA" altLang="en-US" sz="1950" b="1" dirty="0">
                <a:solidFill>
                  <a:srgbClr val="1B3B6F"/>
                </a:solidFill>
                <a:latin typeface="Amiri" pitchFamily="2" charset="-78"/>
                <a:ea typeface="Amiri" pitchFamily="2" charset="-78"/>
                <a:cs typeface="Amiri" pitchFamily="2" charset="-78"/>
              </a:rPr>
              <a:t> صَدِيقَتِي فِي الْوَاجِبِ. </a:t>
            </a:r>
            <a:pPr rtl="1" algn="r" indent="0" marL="0">
              <a:buNone/>
            </a:pPr>
            <a:r>
              <a:rPr lang="ar-SA" altLang="en-US" sz="1950" b="1" dirty="0">
                <a:solidFill>
                  <a:srgbClr val="0E7C86"/>
                </a:solidFill>
                <a:latin typeface="Amiri" pitchFamily="2" charset="-78"/>
                <a:ea typeface="Amiri" pitchFamily="2" charset="-78"/>
                <a:cs typeface="Amiri" pitchFamily="2" charset="-78"/>
              </a:rPr>
              <a:t>نُحَاوِلُ</a:t>
            </a:r>
            <a:pPr rtl="1" algn="r" indent="0" marL="0">
              <a:buNone/>
            </a:pPr>
            <a:r>
              <a:rPr lang="ar-SA" altLang="en-US" sz="1950" b="1" dirty="0">
                <a:solidFill>
                  <a:srgbClr val="1B3B6F"/>
                </a:solidFill>
                <a:latin typeface="Amiri" pitchFamily="2" charset="-78"/>
                <a:ea typeface="Amiri" pitchFamily="2" charset="-78"/>
                <a:cs typeface="Amiri" pitchFamily="2" charset="-78"/>
              </a:rPr>
              <a:t> أَنْ </a:t>
            </a:r>
            <a:pPr rtl="1" algn="r" indent="0" marL="0">
              <a:buNone/>
            </a:pPr>
            <a:r>
              <a:rPr lang="ar-SA" altLang="en-US" sz="1950" b="1" dirty="0">
                <a:solidFill>
                  <a:srgbClr val="D6336C"/>
                </a:solidFill>
                <a:latin typeface="Amiri" pitchFamily="2" charset="-78"/>
                <a:ea typeface="Amiri" pitchFamily="2" charset="-78"/>
                <a:cs typeface="Amiri" pitchFamily="2" charset="-78"/>
              </a:rPr>
              <a:t>نَتَحَدَّثَ</a:t>
            </a:r>
            <a:pPr rtl="1" algn="r" indent="0" marL="0">
              <a:buNone/>
            </a:pPr>
            <a:r>
              <a:rPr lang="ar-SA" altLang="en-US" sz="1950" b="1" dirty="0">
                <a:solidFill>
                  <a:srgbClr val="1B3B6F"/>
                </a:solidFill>
                <a:latin typeface="Amiri" pitchFamily="2" charset="-78"/>
                <a:ea typeface="Amiri" pitchFamily="2" charset="-78"/>
                <a:cs typeface="Amiri" pitchFamily="2" charset="-78"/>
              </a:rPr>
              <a:t> بِالْعَرَبِيَّةِ كُلَّ يَوْمٍ. وَ</a:t>
            </a:r>
            <a:pPr rtl="1" algn="r" indent="0" marL="0">
              <a:buNone/>
            </a:pPr>
            <a:r>
              <a:rPr lang="ar-SA" altLang="en-US" sz="1950" b="1" dirty="0">
                <a:solidFill>
                  <a:srgbClr val="0E7C86"/>
                </a:solidFill>
                <a:latin typeface="Amiri" pitchFamily="2" charset="-78"/>
                <a:ea typeface="Amiri" pitchFamily="2" charset="-78"/>
                <a:cs typeface="Amiri" pitchFamily="2" charset="-78"/>
              </a:rPr>
              <a:t>سَافَرْنَا</a:t>
            </a:r>
            <a:pPr rtl="1" algn="r" indent="0" marL="0">
              <a:buNone/>
            </a:pPr>
            <a:r>
              <a:rPr lang="ar-SA" altLang="en-US" sz="1950" b="1" dirty="0">
                <a:solidFill>
                  <a:srgbClr val="1B3B6F"/>
                </a:solidFill>
                <a:latin typeface="Amiri" pitchFamily="2" charset="-78"/>
                <a:ea typeface="Amiri" pitchFamily="2" charset="-78"/>
                <a:cs typeface="Amiri" pitchFamily="2" charset="-78"/>
              </a:rPr>
              <a:t> إِلَى لَنْدَنَ فِي الصَّيْفِ.</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participate in the reading club. Yesterday I helped my friend with the homework. We try to speak Arabic every day. We travelled to London in the summer.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أُشَارِكُ فِي نَادِي الْقِرَاءَةِ.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participate in the reading club.</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سَاعَدَتْ سَلْمَى صَدِيقَتَهَا.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Salmā helped her friend.</a:t>
            </a:r>
            <a:endParaRPr lang="en-US" sz="1250" dirty="0"/>
          </a:p>
          <a:p>
            <a:pPr indent="0" marL="0">
              <a:buNone/>
            </a:pPr>
            <a:r>
              <a:rPr lang="en-US" sz="1050" i="1" dirty="0">
                <a:solidFill>
                  <a:srgbClr val="8A6D1E"/>
                </a:solidFill>
                <a:latin typeface="Calibri" pitchFamily="34" charset="0"/>
                <a:cs typeface="Amiri" pitchFamily="2" charset="-78"/>
              </a:rPr>
              <a:t>Direct 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نُحَاوِلُ أَنْ نَتَحَدَّثَ بِالْعَرَبِيَّةِ.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try to speak Arabic.</a:t>
            </a:r>
            <a:endParaRPr lang="en-US" sz="1250" dirty="0"/>
          </a:p>
          <a:p>
            <a:pPr indent="0" marL="0">
              <a:buNone/>
            </a:pPr>
            <a:r>
              <a:rPr lang="en-US" sz="1050" i="1" dirty="0">
                <a:solidFill>
                  <a:srgbClr val="8A6D1E"/>
                </a:solidFill>
                <a:latin typeface="Calibri" pitchFamily="34" charset="0"/>
                <a:cs typeface="Amiri" pitchFamily="2" charset="-78"/>
              </a:rPr>
              <a:t>ḥāwala +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قَابَلْتُ الْمُدِيرَ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met the head teacher today.</a:t>
            </a:r>
            <a:endParaRPr lang="en-US" sz="1250" dirty="0"/>
          </a:p>
          <a:p>
            <a:pPr indent="0" marL="0">
              <a:buNone/>
            </a:pPr>
            <a:r>
              <a:rPr lang="en-US" sz="1050" i="1" dirty="0">
                <a:solidFill>
                  <a:srgbClr val="8A6D1E"/>
                </a:solidFill>
                <a:latin typeface="Calibri" pitchFamily="34" charset="0"/>
                <a:cs typeface="Amiri" pitchFamily="2" charset="-78"/>
              </a:rPr>
              <a:t>qābala.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the long ā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 to / correspond with</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كَاتَبَ</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 with someone</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جَالَسَ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(someone)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treat / deal with</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عَامَلَ</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عَمِلَ</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 (own meaning)</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happy</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Often another person is involved (write to, sit with, meet). But sāʿada shows the meaning can be its own — learn each verb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COUNT THE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III, or hollow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وَزْنٌ ثَالِثٌ أَمْ 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حَاوَلَ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III (3 letters + ā)</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Form I (ā is the root)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III (3 letters + ā)</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حَاوَلَ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Form I (ā is the root)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يَشَارِكُ فِي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سَاعَدْتُ مَعَ صَدِيقِي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maʿa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أُحَاوِلُ أَدْرُسُ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after try?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يَشَارِكُ فِي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يُشَارِكُ فِي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III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سَاعَدْتُ مَعَ صَدِيقِي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سَاعَدْتُ صَدِيقِي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Sāʿada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أُحَاوِلُ أَدْرُسُ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أُحَاوِلُ أَنْ أَدْرُسَ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Ḥāwala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interpretation of Form III?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always means a reciprocal action.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simply the plural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often suggests interaction, but each verb has its own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participates”.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تُشَارِكُ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سَعَادَةٌ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مُسَاعَدَةٌ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نَقَشَ</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نَاقَشَ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interpretation of Form III?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always means a reciprocal action.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simply the plural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often suggests interaction, but each verb has its own meaning.</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depends on the actual verb and context.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participates”.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تَشْرَكُ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تُشَارِكُ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سَعَادَةٌ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مُسَاعَدَةٌ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mufāʿala.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نَقَشَ</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نَاقَشَ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 letters n-q-sh + 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READING FOR FORM III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charity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يَوْمِ الْخَيْرِ شَارَكَ كُلُّ الطُّلَّابِ فِي الْأَنْشِطَةِ. سَاعَدْنَا الْمُعَلِّمِينَ فِي تَنْظِيمِ السُّوقِ، وَحَاوَلَتْ أُخْتِي أَنْ تَبِيعَ الْكَعْكَ. شَاهَدَ الْآبَاءُ الْعَرْضَ، وَنَاقَشْنَا فِكْرَةَ رِحْلَةٍ خَيْرِيَّةٍ. فِي الصَّيْفِ سَيُسَافِرُ بَعْضُ الطُّلَّابِ لِمُسَاعَدَةِ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الْخَيْرِ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charity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الْأَنْشِطَةِ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activities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تَبِيعَ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sell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الْكَعْكَ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cakes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الْعَرْضَ</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show</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writer’s sister try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 the show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 cakes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watched the show?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children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some students do in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to help children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 a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 cakes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III verbal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مُسَاعَدَةِ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الْأَنْشِطَةِ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writer’s sister try to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watch the show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sell cakes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Ḥāwalat an tabīʿa l-kaʿk.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watched the show?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children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Shāhada l-ābāʾ.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some students do in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travel to help children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organise a market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 cakes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Sa-yusāfiru … li-musāʿadati l-aṭfāl.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III verbal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تَنْظِيمِ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مُسَاعَدَةِ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الْأَنْشِطَةِ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mufāʿala; tanẓīm is Form 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activities I take part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 نَشَاطٍ تُشَارِكُ؟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سَاعَدْتَ هَذَا الْأُسْبُوعَ؟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تُحَاوِلُ أَنْ تُحَسِّنَ؟ وَإِلَى أَيْنَ سَافَرْتَ؟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أُشَارِكُ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سَاعَدْتُ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أُحَاوِلُ أَنْ ___ ، وَسَافَرْتُ إِلَى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أَيِّ نَشَاطٍ تُشَارِكِينَ؟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activity do you take part in?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أُشَارِكُ فِي فَرِيقِ السِّبَاحَةِ، وَأُسَاعِدُ الطَّالِبَاتِ الصَّغِيرَاتِ. أُحَاوِلُ أَنْ أَسْبَحَ أَسْرَعَ كُلَّ 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take part in the swimming team, and I help the younger girls. I try to swim faster every week.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shāraka · sāʿada · ḥāwala.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sāfara, shāhada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charity or club day with five Form III verbs.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Form I / Form III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شَاهَدْتُ ______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watched …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نُنَاقِشُ ______ فِي الصَّفِّ.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discuss … in class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الْمُشَارَكَةُ فِي ______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Participation in …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met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أُشَارِكُ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participate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سَاعَدْتُ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helped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نُحَاوِلُ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try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travelled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شَارَكَ · يُشَارِكُ  ·  سَاعَدَ · يُسَاعِدُ  ·  حَاوَلَ · يُحَاوِلُ  ·  سَافَرَ · يُسَافِرُ  ·  شَاهَدَ · يُشَاهِدُ  ·  نَاقَشَ · يُنَاقِشُ  ·  قَابَلَ · يُقَابِلُ  ·  مُشَارَكَةٌ  ·  مُسَاعَدَةٌ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a charity or club day with five Form III verbs and one Form I / Form III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III verbs with the long 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event and a present habit.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(mufāʿala).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Sāʿada with a direct object.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day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زُمَلَائِي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classmates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لِمُسَاعَدَةِ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help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أُشَارِكُ فِي نَادِي الْمُنَاظَرَاتِ كُلَّ أُسْبُوعٍ. نُنَاقِشُ مَوْضُوعَاتٍ مُهِمَّةً، وَأُحَاوِلُ أَنْ أَتَكَلَّمَ بِثِقَةٍ. فِي الشَّهْرِ الْمَاضِي سَافَرْنَا إِلَى مَدِينَةٍ أُخْرَى، وَشَارَكْنَا فِي مُسَابَقَةٍ كَبِيرَةٍ. سَاعَدَنِي مُدَرِّبِي كَثِيرًا، وَشَاهَدَ وَالِدَايَ الْمُنَاظَرَةَ. قَابَلْتُ طُلَّابًا جُدُدًا، وَكَاتَبْتُهُمْ بَعْدَ ذَلِكَ. الْمُشَارَكَةُ فِي النَّادِي عَلَّمَتْنِي الصَّبْرَ.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take part in the debating club every week. We discuss important topics, and I try to speak confidently. Last month we travelled to another city and took part in a big competition. My coach helped me a lot, and my parents watched the debate. I met new students and corresponded with them afterwards. Taking part in the club has taught me patience.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mufāʿala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III verbs have a long ā after the first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sāʿada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mushāraka.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Form III with hollow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يَسْعَدُونَ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سَاعَدَ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تَسَاعَدَ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after the first root letter is the Form III feature.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يُسَاعِدُونَ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يَسْعَدُونَ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 … -ūna.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زَارَ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حَاوَلَ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zāra is a hollow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GM-VF-04 · Form IV: Causing and Bringing About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أَرْسَلَ · يُرْسِلُ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أَخْرَجَ · يُخْرِجُ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take out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أَدْخَلَ · يُدْخِلُ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bring 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أَعْلَنَ · يُعْلِنُ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announce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go out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Kharaja = to go out. What do you think akhraja means?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خَرَجَ · أَخْرَجَ</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shāraka, sāʿada and ḥāwala.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shāraka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club day with five Form III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GM-VF-04 · Form IV: Causing and Bringing About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الرَّابِعُ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III = long ā after the first letter (fāʿala) · present yu- … -i- (yushāriku) · noun mufāʿala · often involves another person, but not always · don’t confuse it with hollow qāla.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GM-VF-03 · Form III: Participation and Interaction</dc:title>
  <dc:subject>PptxGenJS Presentation</dc:subject>
  <dc:creator>Al Madina Online School · Arabic Department</dc:creator>
  <cp:lastModifiedBy>Al Madina Online School · Arabic Department</cp:lastModifiedBy>
  <cp:revision>1</cp:revision>
  <dcterms:created xsi:type="dcterms:W3CDTF">2026-10-11T06:42:42Z</dcterms:created>
  <dcterms:modified xsi:type="dcterms:W3CDTF">2026-10-11T06:42:42Z</dcterms:modified>
</cp:coreProperties>
</file>