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Arabic Verb Forms › GM-VF-03 (“Form III: Participation and Interaction”).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شَارَكَ · يُشَارِكُ and the family سَاعَدَ · حَاوَلَ · سَافَرَ in sentences about school activities. Develop: present with u- (أُسَاعِدُ · تُشَارِكِينَ) and the verbal noun مُفَاعَلَةٌ (مُشَارَكَةٌ · مُسَاعَدَةٌ · مُحَاوَلَةٌ). Stretch: Form I vs Form III (جَلَسَ / جَالَسَ · قَبِلَ / قَابَلَ) and telling Form III from hollow Form I verbs (قَالَ · نَامَ).
• Website clinic: Form III does NOT always mean “to each other” — sāʿada = to help, sāfara = to travel.
• Grammar link: sāʿada takes a direct object — سَاعَدْتُ صَدِيقِي (no maʿa).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Teacher-written retrieval from GM-VF-02 and its prep words (shāraka, sāʿada, ḥāwala, sāfara).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Form III = long ā after the first root letter. Present = yu- + kasra before the last letter.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“Root and pattern”. Verbal noun, doer and command added from the standard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“Learn the family” (first four examples are the website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Students chant past then present for each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Self-check items, plus two teacher items.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“Apply the form” model answer. Nataḥaddatha is Form V (GM-VF-05) — preview.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Cover column 3; students add the 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Qāla has only q-ā-l: the ā stands for the root wāw (GM-V-02). Shāraka has sh-r-k plus 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Qāla has only q-ā-l: the ā stands for the root wāw (GM-V-02). Shāraka has sh-r-k plus 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Self-check item and teacher-written questions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reading for Form III (teacher-written account). Read it aloud once while students follow; then they hunt for today’s grammar.
Task: Website: write about a school activity. First, underline every Form III verb here.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account for the website “Apply the form” task;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“Apply the form”. Sequence: ● 10s think → ↔ 45s rehearse aloud with mic muted → ◎ two named students on open mic (warned in advance) → + ? the class types one follow-up in chat → ↺ one student summarises.
Routes: Core uses the Core prompt and stem; Develop the Develop prompt; Stretch the last prompt.
Website: use participate, help and try, with a past event and a present habit.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a four-sentence account of a school activity using participate, help and try. Include a past event and a present habit.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(GM-VF-04 · Form IV: Causing and Bringing About) will spend class time USING this language, so students prepare it tonight — short, simple, easy to access (school guidance: “Simple, Short, Interesting, Relevant, Easy to access”). The five words prepare GM-VF-04 (website Verb Forms: Form IV).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ARABIC VERB FORMS  ·  GM-VF-03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GM-VF-03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900" b="1" dirty="0">
                <a:solidFill>
                  <a:srgbClr val="FFFFFF"/>
                </a:solidFill>
                <a:latin typeface="Cambria" pitchFamily="34" charset="0"/>
                <a:cs typeface="Amiri" pitchFamily="2" charset="-78"/>
              </a:rPr>
              <a:t>Form III: Participation and Interaction</a:t>
            </a:r>
            <a:endParaRPr lang="en-US" sz="29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الْوَزْنُ الثَّالِثُ</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Form III adds a long ā after the first root letter: shāraka (participate), sāʿada (help). The present starts with u-: yushāriku. It often involves another person — but not always.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GM-VF-03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Arabic Verb Forms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GM-VF-03 · Arabic Verb Forms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GM-VF-03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Pattern card; family; conjugation; Form I vs III.</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Same root, Form III; sort Form III / hollow Form I;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GM-VF-04.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GM-VF-03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II?</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نَظَرَ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نَظَّمَ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نَاظَرَ</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comes after the first letter in </a:t>
            </a:r>
            <a:pPr algn="l" indent="0" marL="0">
              <a:buNone/>
            </a:pPr>
            <a:r>
              <a:rPr lang="ar-SA" altLang="en-US" sz="1650" b="1" dirty="0">
                <a:solidFill>
                  <a:srgbClr val="1B3B6F"/>
                </a:solidFill>
                <a:latin typeface="Amiri" pitchFamily="2" charset="-78"/>
                <a:cs typeface="Amiri" pitchFamily="2" charset="-78"/>
              </a:rPr>
              <a:t>شَارَكَ</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long ā</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shadda</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sukūn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Sāʿada means …</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travel</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try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help</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present of </a:t>
            </a:r>
            <a:pPr algn="l" indent="0" marL="0">
              <a:buNone/>
            </a:pPr>
            <a:r>
              <a:rPr lang="ar-SA" altLang="en-US" sz="1650" b="1" dirty="0">
                <a:solidFill>
                  <a:srgbClr val="1B3B6F"/>
                </a:solidFill>
                <a:latin typeface="Amiri" pitchFamily="2" charset="-78"/>
                <a:cs typeface="Amiri" pitchFamily="2" charset="-78"/>
              </a:rPr>
              <a:t>سَافَرَ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يَسْفِرُ</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يَتَسَافَرُ</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يُسَافِرُ</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Ḥāwala means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try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help</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participate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GM-VF-03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II?</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نَظَرَ</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نَظَّمَ</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نَاظَرَ</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Shadda on the middle letter (GM-VF-02).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comes after the first letter in </a:t>
            </a:r>
            <a:pPr algn="l" indent="0" marL="0">
              <a:buNone/>
            </a:pPr>
            <a:r>
              <a:rPr lang="ar-SA" altLang="en-US" sz="1650" b="1" dirty="0">
                <a:solidFill>
                  <a:srgbClr val="1B3B6F"/>
                </a:solidFill>
                <a:latin typeface="Amiri" pitchFamily="2" charset="-78"/>
                <a:cs typeface="Amiri" pitchFamily="2" charset="-78"/>
              </a:rPr>
              <a:t>شَارَكَ</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long ā</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shadda</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sukūn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prep clue.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Sāʿada means …</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travel</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try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help</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 word.</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present of </a:t>
            </a:r>
            <a:pPr algn="l" indent="0" marL="0">
              <a:buNone/>
            </a:pPr>
            <a:r>
              <a:rPr lang="ar-SA" altLang="en-US" sz="1650" b="1" dirty="0">
                <a:solidFill>
                  <a:srgbClr val="1B3B6F"/>
                </a:solidFill>
                <a:latin typeface="Amiri" pitchFamily="2" charset="-78"/>
                <a:cs typeface="Amiri" pitchFamily="2" charset="-78"/>
              </a:rPr>
              <a:t>سَافَرَ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يَسْفِرُ</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يَتَسَافَرُ</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يُسَافِرُ</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Form III present: yu-.</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Ḥāwala means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try</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help</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participate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 word.</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Form III = long ā after the first root letter. Present = yu- + kasra before the last letter.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شَارَكَ</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D6336C"/>
                </a:solidFill>
                <a:latin typeface="Amiri" pitchFamily="2" charset="-78"/>
                <a:cs typeface="Amiri" pitchFamily="2" charset="-78"/>
              </a:rPr>
              <a:t>يُشَارِكُ</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GM-VF-03 · Arabic Verb Forms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Form III by the long ā after the first letter.</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Form the present with yu-.</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Form III verbs about activities and helping.</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Know that Form III is not always “each other”.</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use shāraka and sāʿada in sentences.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“I help my friend” without maʿa.</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conjugate sāʿada in past and present.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mushāraka and musāʿada.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compare jalasa and jālasa.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tell shāraka from qāla (hollow Form I).</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GM-VF-03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الْوَزْنُ الثَّالِثُ</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 III</a:t>
            </a:r>
            <a:endParaRPr lang="en-US" sz="1350" dirty="0"/>
          </a:p>
          <a:p>
            <a:pPr indent="0" marL="0">
              <a:buNone/>
            </a:pPr>
            <a:r>
              <a:rPr lang="en-US" sz="1100" i="1" dirty="0">
                <a:solidFill>
                  <a:srgbClr val="5A6472"/>
                </a:solidFill>
                <a:latin typeface="Calibri" pitchFamily="34" charset="0"/>
                <a:cs typeface="Amiri" pitchFamily="2" charset="-78"/>
              </a:rPr>
              <a:t>al-waz-nu ath-thā-li-thu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فَاعَلَ</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الْمُشَارَكَةُ</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participation (involving others)</a:t>
            </a:r>
            <a:endParaRPr lang="en-US" sz="1350" dirty="0"/>
          </a:p>
          <a:p>
            <a:pPr indent="0" marL="0">
              <a:buNone/>
            </a:pPr>
            <a:r>
              <a:rPr lang="en-US" sz="1100" i="1" dirty="0">
                <a:solidFill>
                  <a:srgbClr val="5A6472"/>
                </a:solidFill>
                <a:latin typeface="Calibri" pitchFamily="34" charset="0"/>
                <a:cs typeface="Amiri" pitchFamily="2" charset="-78"/>
              </a:rPr>
              <a:t>al-mu-shā-ra-ka-tu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شَارَكَ</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أَلِفُ الْمَدِّ</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long ā</a:t>
            </a:r>
            <a:endParaRPr lang="en-US" sz="1350" dirty="0"/>
          </a:p>
          <a:p>
            <a:pPr indent="0" marL="0">
              <a:buNone/>
            </a:pPr>
            <a:r>
              <a:rPr lang="en-US" sz="1100" i="1" dirty="0">
                <a:solidFill>
                  <a:srgbClr val="5A6472"/>
                </a:solidFill>
                <a:latin typeface="Calibri" pitchFamily="34" charset="0"/>
                <a:cs typeface="Amiri" pitchFamily="2" charset="-78"/>
              </a:rPr>
              <a:t>a-li-fu al-mad-di</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سَاعَدَ</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مُفَاعَلَةٌ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 III verbal noun</a:t>
            </a:r>
            <a:endParaRPr lang="en-US" sz="1350" dirty="0"/>
          </a:p>
          <a:p>
            <a:pPr indent="0" marL="0">
              <a:buNone/>
            </a:pPr>
            <a:r>
              <a:rPr lang="en-US" sz="1100" i="1" dirty="0">
                <a:solidFill>
                  <a:srgbClr val="5A6472"/>
                </a:solidFill>
                <a:latin typeface="Calibri" pitchFamily="34" charset="0"/>
                <a:cs typeface="Amiri" pitchFamily="2" charset="-78"/>
              </a:rPr>
              <a:t>mu-fā-ʿa-la-tun</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مُسَاعَدَةٌ</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مُفَاعِلٌ</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 III doer</a:t>
            </a:r>
            <a:endParaRPr lang="en-US" sz="1350" dirty="0"/>
          </a:p>
          <a:p>
            <a:pPr indent="0" marL="0">
              <a:buNone/>
            </a:pPr>
            <a:r>
              <a:rPr lang="en-US" sz="1100" i="1" dirty="0">
                <a:solidFill>
                  <a:srgbClr val="5A6472"/>
                </a:solidFill>
                <a:latin typeface="Calibri" pitchFamily="34" charset="0"/>
                <a:cs typeface="Amiri" pitchFamily="2" charset="-78"/>
              </a:rPr>
              <a:t>mu-fā-ʿi-lun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مُشَارِكٌ</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الْمَفْعُولُ بِهِ</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direct object</a:t>
            </a:r>
            <a:endParaRPr lang="en-US" sz="1350" dirty="0"/>
          </a:p>
          <a:p>
            <a:pPr indent="0" marL="0">
              <a:buNone/>
            </a:pPr>
            <a:r>
              <a:rPr lang="en-US" sz="1100" i="1" dirty="0">
                <a:solidFill>
                  <a:srgbClr val="5A6472"/>
                </a:solidFill>
                <a:latin typeface="Calibri" pitchFamily="34" charset="0"/>
                <a:cs typeface="Amiri" pitchFamily="2" charset="-78"/>
              </a:rPr>
              <a:t>al-maf-ʿū-lu bi-hi</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سَاعَدْتُ أُمِّي</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GM-VF-03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1 · THE FORM III PATTERN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long ā after the first letter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فَاعَلَ · يُفَاعِلُ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948672" y="1810512"/>
            <a:ext cx="1709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Command</a:t>
            </a:r>
            <a:endParaRPr lang="en-US" sz="1100" dirty="0"/>
          </a:p>
        </p:txBody>
      </p:sp>
      <p:sp>
        <p:nvSpPr>
          <p:cNvPr id="17" name="Text 14"/>
          <p:cNvSpPr txBox="1"/>
          <p:nvPr/>
        </p:nvSpPr>
        <p:spPr>
          <a:xfrm>
            <a:off x="802843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Doer</a:t>
            </a:r>
            <a:endParaRPr lang="en-US" sz="1100" dirty="0"/>
          </a:p>
        </p:txBody>
      </p:sp>
      <p:sp>
        <p:nvSpPr>
          <p:cNvPr id="18" name="Text 15"/>
          <p:cNvSpPr txBox="1"/>
          <p:nvPr/>
        </p:nvSpPr>
        <p:spPr>
          <a:xfrm>
            <a:off x="610819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Verbal noun</a:t>
            </a:r>
            <a:endParaRPr lang="en-US" sz="1100" dirty="0"/>
          </a:p>
        </p:txBody>
      </p:sp>
      <p:sp>
        <p:nvSpPr>
          <p:cNvPr id="19" name="Text 16"/>
          <p:cNvSpPr txBox="1"/>
          <p:nvPr/>
        </p:nvSpPr>
        <p:spPr>
          <a:xfrm>
            <a:off x="418795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Present</a:t>
            </a:r>
            <a:endParaRPr lang="en-US" sz="1100" dirty="0"/>
          </a:p>
        </p:txBody>
      </p:sp>
      <p:sp>
        <p:nvSpPr>
          <p:cNvPr id="20" name="Text 17"/>
          <p:cNvSpPr txBox="1"/>
          <p:nvPr/>
        </p:nvSpPr>
        <p:spPr>
          <a:xfrm>
            <a:off x="226771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a:t>
            </a:r>
            <a:endParaRPr lang="en-US" sz="1100" dirty="0"/>
          </a:p>
        </p:txBody>
      </p:sp>
      <p:sp>
        <p:nvSpPr>
          <p:cNvPr id="21" name="Text 18"/>
          <p:cNvSpPr txBox="1"/>
          <p:nvPr/>
        </p:nvSpPr>
        <p:spPr>
          <a:xfrm>
            <a:off x="530352" y="1810512"/>
            <a:ext cx="1591056" cy="384048"/>
          </a:xfrm>
          <a:prstGeom prst="rect">
            <a:avLst/>
          </a:prstGeom>
          <a:noFill/>
          <a:ln/>
        </p:spPr>
        <p:txBody>
          <a:bodyPr wrap="square" lIns="0" tIns="0" rIns="0" bIns="0" rtlCol="0" anchor="ctr"/>
          <a:lstStyle/>
          <a:p>
            <a:pPr algn="ctr" indent="0" marL="0">
              <a:buNone/>
            </a:pPr>
            <a:endParaRPr lang="en-US" sz="1100" dirty="0"/>
          </a:p>
        </p:txBody>
      </p:sp>
      <p:sp>
        <p:nvSpPr>
          <p:cNvPr id="22" name="Shape 19"/>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3" name="Text 20"/>
          <p:cNvSpPr txBox="1"/>
          <p:nvPr/>
        </p:nvSpPr>
        <p:spPr>
          <a:xfrm>
            <a:off x="9966960" y="2267712"/>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فَاعِلْ</a:t>
            </a:r>
            <a:endParaRPr lang="ar-SA" sz="2400" dirty="0"/>
          </a:p>
        </p:txBody>
      </p:sp>
      <p:sp>
        <p:nvSpPr>
          <p:cNvPr id="24" name="Text 21"/>
          <p:cNvSpPr txBox="1"/>
          <p:nvPr/>
        </p:nvSpPr>
        <p:spPr>
          <a:xfrm>
            <a:off x="804672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مُفَاعِلٌ</a:t>
            </a:r>
            <a:endParaRPr lang="ar-SA" sz="2400" dirty="0"/>
          </a:p>
        </p:txBody>
      </p:sp>
      <p:sp>
        <p:nvSpPr>
          <p:cNvPr id="25" name="Text 22"/>
          <p:cNvSpPr txBox="1"/>
          <p:nvPr/>
        </p:nvSpPr>
        <p:spPr>
          <a:xfrm>
            <a:off x="612648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مُفَاعَلَةٌ</a:t>
            </a:r>
            <a:endParaRPr lang="ar-SA" sz="2400" dirty="0"/>
          </a:p>
        </p:txBody>
      </p:sp>
      <p:sp>
        <p:nvSpPr>
          <p:cNvPr id="26" name="Text 23"/>
          <p:cNvSpPr txBox="1"/>
          <p:nvPr/>
        </p:nvSpPr>
        <p:spPr>
          <a:xfrm>
            <a:off x="420624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يُفَاعِلُ</a:t>
            </a:r>
            <a:endParaRPr lang="ar-SA" sz="2400" dirty="0"/>
          </a:p>
        </p:txBody>
      </p:sp>
      <p:sp>
        <p:nvSpPr>
          <p:cNvPr id="27" name="Text 24"/>
          <p:cNvSpPr txBox="1"/>
          <p:nvPr/>
        </p:nvSpPr>
        <p:spPr>
          <a:xfrm>
            <a:off x="228600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فَاعَلَ</a:t>
            </a:r>
            <a:endParaRPr lang="ar-SA" sz="2400" dirty="0"/>
          </a:p>
        </p:txBody>
      </p:sp>
      <p:sp>
        <p:nvSpPr>
          <p:cNvPr id="28" name="Text 25"/>
          <p:cNvSpPr txBox="1"/>
          <p:nvPr/>
        </p:nvSpPr>
        <p:spPr>
          <a:xfrm>
            <a:off x="566928" y="2267712"/>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template</a:t>
            </a:r>
            <a:endParaRPr lang="en-US" sz="110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966960" y="3004718"/>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شَارِكْ</a:t>
            </a:r>
            <a:endParaRPr lang="ar-SA" sz="2400" dirty="0"/>
          </a:p>
        </p:txBody>
      </p:sp>
      <p:sp>
        <p:nvSpPr>
          <p:cNvPr id="31" name="Text 28"/>
          <p:cNvSpPr txBox="1"/>
          <p:nvPr/>
        </p:nvSpPr>
        <p:spPr>
          <a:xfrm>
            <a:off x="804672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مُشَارِكٌ</a:t>
            </a:r>
            <a:endParaRPr lang="ar-SA" sz="2400" dirty="0"/>
          </a:p>
        </p:txBody>
      </p:sp>
      <p:sp>
        <p:nvSpPr>
          <p:cNvPr id="32" name="Text 29"/>
          <p:cNvSpPr txBox="1"/>
          <p:nvPr/>
        </p:nvSpPr>
        <p:spPr>
          <a:xfrm>
            <a:off x="612648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مُشَارَكَةٌ</a:t>
            </a:r>
            <a:endParaRPr lang="ar-SA" sz="2400" dirty="0"/>
          </a:p>
        </p:txBody>
      </p:sp>
      <p:sp>
        <p:nvSpPr>
          <p:cNvPr id="33" name="Text 30"/>
          <p:cNvSpPr txBox="1"/>
          <p:nvPr/>
        </p:nvSpPr>
        <p:spPr>
          <a:xfrm>
            <a:off x="420624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يُشَارِكُ</a:t>
            </a:r>
            <a:endParaRPr lang="ar-SA" sz="2400" dirty="0"/>
          </a:p>
        </p:txBody>
      </p:sp>
      <p:sp>
        <p:nvSpPr>
          <p:cNvPr id="34" name="Text 31"/>
          <p:cNvSpPr txBox="1"/>
          <p:nvPr/>
        </p:nvSpPr>
        <p:spPr>
          <a:xfrm>
            <a:off x="228600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شَارَكَ</a:t>
            </a:r>
            <a:endParaRPr lang="ar-SA" sz="2400" dirty="0"/>
          </a:p>
        </p:txBody>
      </p:sp>
      <p:sp>
        <p:nvSpPr>
          <p:cNvPr id="35" name="Text 32"/>
          <p:cNvSpPr txBox="1"/>
          <p:nvPr/>
        </p:nvSpPr>
        <p:spPr>
          <a:xfrm>
            <a:off x="566928" y="300471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participate</a:t>
            </a:r>
            <a:endParaRPr lang="en-US" sz="1100" dirty="0"/>
          </a:p>
        </p:txBody>
      </p:sp>
      <p:sp>
        <p:nvSpPr>
          <p:cNvPr id="36" name="Shape 3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Shape 3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9966960" y="3741725"/>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سَاعِدْ</a:t>
            </a:r>
            <a:endParaRPr lang="ar-SA" sz="2400" dirty="0"/>
          </a:p>
        </p:txBody>
      </p:sp>
      <p:sp>
        <p:nvSpPr>
          <p:cNvPr id="40" name="Text 37"/>
          <p:cNvSpPr txBox="1"/>
          <p:nvPr/>
        </p:nvSpPr>
        <p:spPr>
          <a:xfrm>
            <a:off x="804672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مُسَاعِدٌ</a:t>
            </a:r>
            <a:endParaRPr lang="ar-SA" sz="2400" dirty="0"/>
          </a:p>
        </p:txBody>
      </p:sp>
      <p:sp>
        <p:nvSpPr>
          <p:cNvPr id="41" name="Text 38"/>
          <p:cNvSpPr txBox="1"/>
          <p:nvPr/>
        </p:nvSpPr>
        <p:spPr>
          <a:xfrm>
            <a:off x="612648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مُسَاعَدَةٌ</a:t>
            </a:r>
            <a:endParaRPr lang="ar-SA" sz="2400" dirty="0"/>
          </a:p>
        </p:txBody>
      </p:sp>
      <p:sp>
        <p:nvSpPr>
          <p:cNvPr id="42" name="Text 39"/>
          <p:cNvSpPr txBox="1"/>
          <p:nvPr/>
        </p:nvSpPr>
        <p:spPr>
          <a:xfrm>
            <a:off x="420624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يُسَاعِدُ</a:t>
            </a:r>
            <a:endParaRPr lang="ar-SA" sz="2400" dirty="0"/>
          </a:p>
        </p:txBody>
      </p:sp>
      <p:sp>
        <p:nvSpPr>
          <p:cNvPr id="43" name="Text 40"/>
          <p:cNvSpPr txBox="1"/>
          <p:nvPr/>
        </p:nvSpPr>
        <p:spPr>
          <a:xfrm>
            <a:off x="228600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سَاعَدَ</a:t>
            </a:r>
            <a:endParaRPr lang="ar-SA" sz="2400" dirty="0"/>
          </a:p>
        </p:txBody>
      </p:sp>
      <p:sp>
        <p:nvSpPr>
          <p:cNvPr id="44" name="Text 41"/>
          <p:cNvSpPr txBox="1"/>
          <p:nvPr/>
        </p:nvSpPr>
        <p:spPr>
          <a:xfrm>
            <a:off x="56692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help</a:t>
            </a:r>
            <a:endParaRPr lang="en-US" sz="110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966960" y="4478731"/>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حَاوِلْ</a:t>
            </a:r>
            <a:endParaRPr lang="ar-SA" sz="2400" dirty="0"/>
          </a:p>
        </p:txBody>
      </p:sp>
      <p:sp>
        <p:nvSpPr>
          <p:cNvPr id="47" name="Text 44"/>
          <p:cNvSpPr txBox="1"/>
          <p:nvPr/>
        </p:nvSpPr>
        <p:spPr>
          <a:xfrm>
            <a:off x="804672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مُحَاوِلٌ</a:t>
            </a:r>
            <a:endParaRPr lang="ar-SA" sz="2400" dirty="0"/>
          </a:p>
        </p:txBody>
      </p:sp>
      <p:sp>
        <p:nvSpPr>
          <p:cNvPr id="48" name="Text 45"/>
          <p:cNvSpPr txBox="1"/>
          <p:nvPr/>
        </p:nvSpPr>
        <p:spPr>
          <a:xfrm>
            <a:off x="612648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مُحَاوَلَةٌ</a:t>
            </a:r>
            <a:endParaRPr lang="ar-SA" sz="2400" dirty="0"/>
          </a:p>
        </p:txBody>
      </p:sp>
      <p:sp>
        <p:nvSpPr>
          <p:cNvPr id="49" name="Text 46"/>
          <p:cNvSpPr txBox="1"/>
          <p:nvPr/>
        </p:nvSpPr>
        <p:spPr>
          <a:xfrm>
            <a:off x="420624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يُحَاوِلُ</a:t>
            </a:r>
            <a:endParaRPr lang="ar-SA" sz="2400" dirty="0"/>
          </a:p>
        </p:txBody>
      </p:sp>
      <p:sp>
        <p:nvSpPr>
          <p:cNvPr id="50" name="Text 47"/>
          <p:cNvSpPr txBox="1"/>
          <p:nvPr/>
        </p:nvSpPr>
        <p:spPr>
          <a:xfrm>
            <a:off x="228600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حَاوَلَ</a:t>
            </a:r>
            <a:endParaRPr lang="ar-SA" sz="2400" dirty="0"/>
          </a:p>
        </p:txBody>
      </p:sp>
      <p:sp>
        <p:nvSpPr>
          <p:cNvPr id="51" name="Text 48"/>
          <p:cNvSpPr txBox="1"/>
          <p:nvPr/>
        </p:nvSpPr>
        <p:spPr>
          <a:xfrm>
            <a:off x="56692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try</a:t>
            </a:r>
            <a:endParaRPr lang="en-US" sz="1100" dirty="0"/>
          </a:p>
        </p:txBody>
      </p:sp>
      <p:sp>
        <p:nvSpPr>
          <p:cNvPr id="52" name="Shape 49"/>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3" name="Text 50"/>
          <p:cNvSpPr txBox="1"/>
          <p:nvPr/>
        </p:nvSpPr>
        <p:spPr>
          <a:xfrm>
            <a:off x="9966960" y="5215738"/>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شَاهِدْ</a:t>
            </a:r>
            <a:endParaRPr lang="ar-SA" sz="2400" dirty="0"/>
          </a:p>
        </p:txBody>
      </p:sp>
      <p:sp>
        <p:nvSpPr>
          <p:cNvPr id="54" name="Text 51"/>
          <p:cNvSpPr txBox="1"/>
          <p:nvPr/>
        </p:nvSpPr>
        <p:spPr>
          <a:xfrm>
            <a:off x="804672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مُشَاهِدٌ</a:t>
            </a:r>
            <a:endParaRPr lang="ar-SA" sz="2400" dirty="0"/>
          </a:p>
        </p:txBody>
      </p:sp>
      <p:sp>
        <p:nvSpPr>
          <p:cNvPr id="55" name="Text 52"/>
          <p:cNvSpPr txBox="1"/>
          <p:nvPr/>
        </p:nvSpPr>
        <p:spPr>
          <a:xfrm>
            <a:off x="612648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مُشَاهَدَةٌ</a:t>
            </a:r>
            <a:endParaRPr lang="ar-SA" sz="2400" dirty="0"/>
          </a:p>
        </p:txBody>
      </p:sp>
      <p:sp>
        <p:nvSpPr>
          <p:cNvPr id="56" name="Text 53"/>
          <p:cNvSpPr txBox="1"/>
          <p:nvPr/>
        </p:nvSpPr>
        <p:spPr>
          <a:xfrm>
            <a:off x="420624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يُشَاهِدُ</a:t>
            </a:r>
            <a:endParaRPr lang="ar-SA" sz="2400" dirty="0"/>
          </a:p>
        </p:txBody>
      </p:sp>
      <p:sp>
        <p:nvSpPr>
          <p:cNvPr id="57" name="Text 54"/>
          <p:cNvSpPr txBox="1"/>
          <p:nvPr/>
        </p:nvSpPr>
        <p:spPr>
          <a:xfrm>
            <a:off x="228600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شَاهَدَ</a:t>
            </a:r>
            <a:endParaRPr lang="ar-SA" sz="2400" dirty="0"/>
          </a:p>
        </p:txBody>
      </p:sp>
      <p:sp>
        <p:nvSpPr>
          <p:cNvPr id="58" name="Text 55"/>
          <p:cNvSpPr txBox="1"/>
          <p:nvPr/>
        </p:nvSpPr>
        <p:spPr>
          <a:xfrm>
            <a:off x="56692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watch</a:t>
            </a:r>
            <a:endParaRPr lang="en-US" sz="1100" dirty="0"/>
          </a:p>
        </p:txBody>
      </p:sp>
      <p:sp>
        <p:nvSpPr>
          <p:cNvPr id="59" name="Text 5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a long ā is inserted after the first root consonant in the past: fāʿala. The present commonly follows yufāʿilu, with the same long vowel.</a:t>
            </a:r>
            <a:endParaRPr lang="en-US" sz="115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GM-VF-03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2 · LEARN THE FAMILY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Form III family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أُسْرَةُ الْوَزْنِ الثَّالِثِ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833872" y="1810512"/>
            <a:ext cx="5824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7" name="Text 14"/>
          <p:cNvSpPr txBox="1"/>
          <p:nvPr/>
        </p:nvSpPr>
        <p:spPr>
          <a:xfrm>
            <a:off x="36393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 · present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5852160" y="2267712"/>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أُشَارِكُ فِي نَادِي الْقِرَاءَةِ.</a:t>
            </a:r>
            <a:endParaRPr lang="ar-SA" sz="2000" dirty="0"/>
          </a:p>
        </p:txBody>
      </p:sp>
      <p:sp>
        <p:nvSpPr>
          <p:cNvPr id="21" name="Text 18"/>
          <p:cNvSpPr txBox="1"/>
          <p:nvPr/>
        </p:nvSpPr>
        <p:spPr>
          <a:xfrm>
            <a:off x="3675888" y="226771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participate</a:t>
            </a:r>
            <a:endParaRPr lang="en-US" sz="1100" dirty="0"/>
          </a:p>
        </p:txBody>
      </p:sp>
      <p:sp>
        <p:nvSpPr>
          <p:cNvPr id="22" name="Text 19"/>
          <p:cNvSpPr txBox="1"/>
          <p:nvPr/>
        </p:nvSpPr>
        <p:spPr>
          <a:xfrm>
            <a:off x="548640" y="2267712"/>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شَارَكَ · يُشَارِكُ</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5852160" y="2881884"/>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سَاعَدَتْ سَلْمَى صَدِيقَتَهَا فِي الْوَاجِبِ.</a:t>
            </a:r>
            <a:endParaRPr lang="ar-SA" sz="2000" dirty="0"/>
          </a:p>
        </p:txBody>
      </p:sp>
      <p:sp>
        <p:nvSpPr>
          <p:cNvPr id="27" name="Text 24"/>
          <p:cNvSpPr txBox="1"/>
          <p:nvPr/>
        </p:nvSpPr>
        <p:spPr>
          <a:xfrm>
            <a:off x="3675888" y="2881884"/>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help</a:t>
            </a:r>
            <a:endParaRPr lang="en-US" sz="1100" dirty="0"/>
          </a:p>
        </p:txBody>
      </p:sp>
      <p:sp>
        <p:nvSpPr>
          <p:cNvPr id="28" name="Text 25"/>
          <p:cNvSpPr txBox="1"/>
          <p:nvPr/>
        </p:nvSpPr>
        <p:spPr>
          <a:xfrm>
            <a:off x="548640" y="2881884"/>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سَاعَدَ · يُسَاعِدُ</a:t>
            </a:r>
            <a:endParaRPr lang="ar-SA" sz="22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5852160" y="3496056"/>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نُحَاوِلُ أَنْ نَتَحَدَّثَ بِالْعَرَبِيَّةِ.</a:t>
            </a:r>
            <a:endParaRPr lang="ar-SA" sz="2000" dirty="0"/>
          </a:p>
        </p:txBody>
      </p:sp>
      <p:sp>
        <p:nvSpPr>
          <p:cNvPr id="33" name="Text 30"/>
          <p:cNvSpPr txBox="1"/>
          <p:nvPr/>
        </p:nvSpPr>
        <p:spPr>
          <a:xfrm>
            <a:off x="3675888" y="3496056"/>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try</a:t>
            </a:r>
            <a:endParaRPr lang="en-US" sz="1100" dirty="0"/>
          </a:p>
        </p:txBody>
      </p:sp>
      <p:sp>
        <p:nvSpPr>
          <p:cNvPr id="34" name="Text 31"/>
          <p:cNvSpPr txBox="1"/>
          <p:nvPr/>
        </p:nvSpPr>
        <p:spPr>
          <a:xfrm>
            <a:off x="548640" y="3496056"/>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حَاوَلَ · يُحَاوِلُ</a:t>
            </a:r>
            <a:endParaRPr lang="ar-SA" sz="22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5852160" y="4110228"/>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سَافَرْنَا إِلَى لَنْدَنَ فِي الصَّيْفِ.</a:t>
            </a:r>
            <a:endParaRPr lang="ar-SA" sz="2000" dirty="0"/>
          </a:p>
        </p:txBody>
      </p:sp>
      <p:sp>
        <p:nvSpPr>
          <p:cNvPr id="39" name="Text 36"/>
          <p:cNvSpPr txBox="1"/>
          <p:nvPr/>
        </p:nvSpPr>
        <p:spPr>
          <a:xfrm>
            <a:off x="3675888" y="4110228"/>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travel</a:t>
            </a:r>
            <a:endParaRPr lang="en-US" sz="1100" dirty="0"/>
          </a:p>
        </p:txBody>
      </p:sp>
      <p:sp>
        <p:nvSpPr>
          <p:cNvPr id="40" name="Text 37"/>
          <p:cNvSpPr txBox="1"/>
          <p:nvPr/>
        </p:nvSpPr>
        <p:spPr>
          <a:xfrm>
            <a:off x="548640" y="4110228"/>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سَافَرَ · يُسَافِرُ</a:t>
            </a:r>
            <a:endParaRPr lang="ar-SA" sz="22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5852160" y="4724400"/>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شَاهَدْتُ الْمُبَارَاةَ مَعَ أَبِي.</a:t>
            </a:r>
            <a:endParaRPr lang="ar-SA" sz="2000" dirty="0"/>
          </a:p>
        </p:txBody>
      </p:sp>
      <p:sp>
        <p:nvSpPr>
          <p:cNvPr id="43" name="Text 40"/>
          <p:cNvSpPr txBox="1"/>
          <p:nvPr/>
        </p:nvSpPr>
        <p:spPr>
          <a:xfrm>
            <a:off x="3675888" y="4724400"/>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watch</a:t>
            </a:r>
            <a:endParaRPr lang="en-US" sz="1100" dirty="0"/>
          </a:p>
        </p:txBody>
      </p:sp>
      <p:sp>
        <p:nvSpPr>
          <p:cNvPr id="44" name="Text 41"/>
          <p:cNvSpPr txBox="1"/>
          <p:nvPr/>
        </p:nvSpPr>
        <p:spPr>
          <a:xfrm>
            <a:off x="548640" y="4724400"/>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شَاهَدَ · يُشَاهِدُ</a:t>
            </a:r>
            <a:endParaRPr lang="ar-SA" sz="22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5852160" y="5338572"/>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نُنَاقِشُ الْمَوْضُوعَ فِي الصَّفِّ.</a:t>
            </a:r>
            <a:endParaRPr lang="ar-SA" sz="2000" dirty="0"/>
          </a:p>
        </p:txBody>
      </p:sp>
      <p:sp>
        <p:nvSpPr>
          <p:cNvPr id="47" name="Text 44"/>
          <p:cNvSpPr txBox="1"/>
          <p:nvPr/>
        </p:nvSpPr>
        <p:spPr>
          <a:xfrm>
            <a:off x="3675888" y="533857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discuss</a:t>
            </a:r>
            <a:endParaRPr lang="en-US" sz="1100" dirty="0"/>
          </a:p>
        </p:txBody>
      </p:sp>
      <p:sp>
        <p:nvSpPr>
          <p:cNvPr id="48" name="Text 45"/>
          <p:cNvSpPr txBox="1"/>
          <p:nvPr/>
        </p:nvSpPr>
        <p:spPr>
          <a:xfrm>
            <a:off x="548640" y="5338572"/>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نَاقَشَ · يُنَاقِشُ</a:t>
            </a:r>
            <a:endParaRPr lang="ar-SA" sz="22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shāraka means to participate or share in an activity. Other Form III verbs, such as sāʿada, have their own meanings — the pattern does not guarantee “each other”.</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GM-VF-03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3 · CONJUGATE SĀʿADA · DEVELOP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Keep the ā in every person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تَصْرِيفُ «سَاعَدَ»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Notice</a:t>
            </a:r>
            <a:endParaRPr lang="en-US" sz="1100" dirty="0"/>
          </a:p>
        </p:txBody>
      </p:sp>
      <p:sp>
        <p:nvSpPr>
          <p:cNvPr id="17" name="Text 14"/>
          <p:cNvSpPr txBox="1"/>
          <p:nvPr/>
        </p:nvSpPr>
        <p:spPr>
          <a:xfrm>
            <a:off x="565099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Present</a:t>
            </a:r>
            <a:endParaRPr lang="en-US" sz="1100" dirty="0"/>
          </a:p>
        </p:txBody>
      </p:sp>
      <p:sp>
        <p:nvSpPr>
          <p:cNvPr id="18" name="Text 15"/>
          <p:cNvSpPr txBox="1"/>
          <p:nvPr/>
        </p:nvSpPr>
        <p:spPr>
          <a:xfrm>
            <a:off x="272491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Person</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796528" y="226771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 not a-</a:t>
            </a:r>
            <a:endParaRPr lang="en-US" sz="1100" dirty="0"/>
          </a:p>
        </p:txBody>
      </p:sp>
      <p:sp>
        <p:nvSpPr>
          <p:cNvPr id="22" name="Text 19"/>
          <p:cNvSpPr txBox="1"/>
          <p:nvPr/>
        </p:nvSpPr>
        <p:spPr>
          <a:xfrm>
            <a:off x="5669280" y="226771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أُسَاعِدُ</a:t>
            </a:r>
            <a:endParaRPr lang="ar-SA" sz="2400" dirty="0"/>
          </a:p>
        </p:txBody>
      </p:sp>
      <p:sp>
        <p:nvSpPr>
          <p:cNvPr id="23" name="Text 20"/>
          <p:cNvSpPr txBox="1"/>
          <p:nvPr/>
        </p:nvSpPr>
        <p:spPr>
          <a:xfrm>
            <a:off x="2743200" y="226771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سَاعَدْتُ</a:t>
            </a:r>
            <a:endParaRPr lang="ar-SA" sz="2400" dirty="0"/>
          </a:p>
        </p:txBody>
      </p:sp>
      <p:sp>
        <p:nvSpPr>
          <p:cNvPr id="24" name="Text 21"/>
          <p:cNvSpPr txBox="1"/>
          <p:nvPr/>
        </p:nvSpPr>
        <p:spPr>
          <a:xfrm>
            <a:off x="548640"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أَنَا</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796528" y="2881884"/>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yu-</a:t>
            </a:r>
            <a:endParaRPr lang="en-US" sz="1100" dirty="0"/>
          </a:p>
        </p:txBody>
      </p:sp>
      <p:sp>
        <p:nvSpPr>
          <p:cNvPr id="29" name="Text 26"/>
          <p:cNvSpPr txBox="1"/>
          <p:nvPr/>
        </p:nvSpPr>
        <p:spPr>
          <a:xfrm>
            <a:off x="5669280" y="2881884"/>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يُسَاعِدُ</a:t>
            </a:r>
            <a:endParaRPr lang="ar-SA" sz="2400" dirty="0"/>
          </a:p>
        </p:txBody>
      </p:sp>
      <p:sp>
        <p:nvSpPr>
          <p:cNvPr id="30" name="Text 27"/>
          <p:cNvSpPr txBox="1"/>
          <p:nvPr/>
        </p:nvSpPr>
        <p:spPr>
          <a:xfrm>
            <a:off x="2743200" y="2881884"/>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سَاعَدَ</a:t>
            </a:r>
            <a:endParaRPr lang="ar-SA" sz="2400" dirty="0"/>
          </a:p>
        </p:txBody>
      </p:sp>
      <p:sp>
        <p:nvSpPr>
          <p:cNvPr id="31" name="Text 28"/>
          <p:cNvSpPr txBox="1"/>
          <p:nvPr/>
        </p:nvSpPr>
        <p:spPr>
          <a:xfrm>
            <a:off x="548640"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هُوَ</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796528" y="3496056"/>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tu-</a:t>
            </a:r>
            <a:endParaRPr lang="en-US" sz="1100" dirty="0"/>
          </a:p>
        </p:txBody>
      </p:sp>
      <p:sp>
        <p:nvSpPr>
          <p:cNvPr id="36" name="Text 33"/>
          <p:cNvSpPr txBox="1"/>
          <p:nvPr/>
        </p:nvSpPr>
        <p:spPr>
          <a:xfrm>
            <a:off x="5669280" y="3496056"/>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تُسَاعِدُ</a:t>
            </a:r>
            <a:endParaRPr lang="ar-SA" sz="2400" dirty="0"/>
          </a:p>
        </p:txBody>
      </p:sp>
      <p:sp>
        <p:nvSpPr>
          <p:cNvPr id="37" name="Text 34"/>
          <p:cNvSpPr txBox="1"/>
          <p:nvPr/>
        </p:nvSpPr>
        <p:spPr>
          <a:xfrm>
            <a:off x="2743200" y="3496056"/>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سَاعَدَتْ</a:t>
            </a:r>
            <a:endParaRPr lang="ar-SA" sz="2400" dirty="0"/>
          </a:p>
        </p:txBody>
      </p:sp>
      <p:sp>
        <p:nvSpPr>
          <p:cNvPr id="38" name="Text 35"/>
          <p:cNvSpPr txBox="1"/>
          <p:nvPr/>
        </p:nvSpPr>
        <p:spPr>
          <a:xfrm>
            <a:off x="548640"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هِيَ</a:t>
            </a:r>
            <a:endParaRPr lang="ar-SA" sz="24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8796528" y="4110228"/>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tu- … -īna</a:t>
            </a:r>
            <a:endParaRPr lang="en-US" sz="1100" dirty="0"/>
          </a:p>
        </p:txBody>
      </p:sp>
      <p:sp>
        <p:nvSpPr>
          <p:cNvPr id="43" name="Text 40"/>
          <p:cNvSpPr txBox="1"/>
          <p:nvPr/>
        </p:nvSpPr>
        <p:spPr>
          <a:xfrm>
            <a:off x="5669280" y="4110228"/>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تُسَاعِدِينَ</a:t>
            </a:r>
            <a:endParaRPr lang="ar-SA" sz="2400" dirty="0"/>
          </a:p>
        </p:txBody>
      </p:sp>
      <p:sp>
        <p:nvSpPr>
          <p:cNvPr id="44" name="Text 41"/>
          <p:cNvSpPr txBox="1"/>
          <p:nvPr/>
        </p:nvSpPr>
        <p:spPr>
          <a:xfrm>
            <a:off x="2743200" y="4110228"/>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سَاعَدْتِ</a:t>
            </a:r>
            <a:endParaRPr lang="ar-SA" sz="2400" dirty="0"/>
          </a:p>
        </p:txBody>
      </p:sp>
      <p:sp>
        <p:nvSpPr>
          <p:cNvPr id="45" name="Text 42"/>
          <p:cNvSpPr txBox="1"/>
          <p:nvPr/>
        </p:nvSpPr>
        <p:spPr>
          <a:xfrm>
            <a:off x="548640"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أَنْتِ</a:t>
            </a:r>
            <a:endParaRPr lang="ar-SA" sz="24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8796528" y="4724400"/>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nu-</a:t>
            </a:r>
            <a:endParaRPr lang="en-US" sz="1100" dirty="0"/>
          </a:p>
        </p:txBody>
      </p:sp>
      <p:sp>
        <p:nvSpPr>
          <p:cNvPr id="48" name="Text 45"/>
          <p:cNvSpPr txBox="1"/>
          <p:nvPr/>
        </p:nvSpPr>
        <p:spPr>
          <a:xfrm>
            <a:off x="5669280" y="4724400"/>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نُسَاعِدُ</a:t>
            </a:r>
            <a:endParaRPr lang="ar-SA" sz="2400" dirty="0"/>
          </a:p>
        </p:txBody>
      </p:sp>
      <p:sp>
        <p:nvSpPr>
          <p:cNvPr id="49" name="Text 46"/>
          <p:cNvSpPr txBox="1"/>
          <p:nvPr/>
        </p:nvSpPr>
        <p:spPr>
          <a:xfrm>
            <a:off x="2743200" y="4724400"/>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سَاعَدْنَا</a:t>
            </a:r>
            <a:endParaRPr lang="ar-SA" sz="2400" dirty="0"/>
          </a:p>
        </p:txBody>
      </p:sp>
      <p:sp>
        <p:nvSpPr>
          <p:cNvPr id="50" name="Text 47"/>
          <p:cNvSpPr txBox="1"/>
          <p:nvPr/>
        </p:nvSpPr>
        <p:spPr>
          <a:xfrm>
            <a:off x="548640"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نَحْنُ</a:t>
            </a:r>
            <a:endParaRPr lang="ar-SA" sz="24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8796528" y="533857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yu- … -ūna</a:t>
            </a:r>
            <a:endParaRPr lang="en-US" sz="1100" dirty="0"/>
          </a:p>
        </p:txBody>
      </p:sp>
      <p:sp>
        <p:nvSpPr>
          <p:cNvPr id="53" name="Text 50"/>
          <p:cNvSpPr txBox="1"/>
          <p:nvPr/>
        </p:nvSpPr>
        <p:spPr>
          <a:xfrm>
            <a:off x="5669280" y="533857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يُسَاعِدُونَ</a:t>
            </a:r>
            <a:endParaRPr lang="ar-SA" sz="2400" dirty="0"/>
          </a:p>
        </p:txBody>
      </p:sp>
      <p:sp>
        <p:nvSpPr>
          <p:cNvPr id="54" name="Text 51"/>
          <p:cNvSpPr txBox="1"/>
          <p:nvPr/>
        </p:nvSpPr>
        <p:spPr>
          <a:xfrm>
            <a:off x="2743200" y="533857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سَاعَدُوا</a:t>
            </a:r>
            <a:endParaRPr lang="ar-SA" sz="2400" dirty="0"/>
          </a:p>
        </p:txBody>
      </p:sp>
      <p:sp>
        <p:nvSpPr>
          <p:cNvPr id="55" name="Text 52"/>
          <p:cNvSpPr txBox="1"/>
          <p:nvPr/>
        </p:nvSpPr>
        <p:spPr>
          <a:xfrm>
            <a:off x="548640"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هُمْ</a:t>
            </a:r>
            <a:endParaRPr lang="ar-SA" sz="24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“Look closely”: compare a Form I verb with shāraka / yushāriku — the long vowel is the clue. Like Form II, the present prefix vowel is u.</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GM-VF-03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III?</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سَعَدَ</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تَسَاعَدَ</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سَاعَدَ</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present of shāraka.</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يُشَارِكُ</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يَتَشَارَكُ</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يَشْرَكُ</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help my mother”.</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أُسَاعِدُ مَعَ أُمِّي</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أُسَاعِدُ أُمِّي</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أَسْعَدُ أُمِّي</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tried”.</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حَاوَلْنَا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نُحَاوِلُ</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حَاوَلُوا</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GM-VF-03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III?</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سَعَدَ</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تَسَاعَدَ</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سَاعَدَ</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long ā after the first letter is the Form III feature.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present of shāraka.</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يُشَارِكُ</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يَتَشَارَكُ</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يَشْرَكُ</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Form III commonly follows yufāʿilu.</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help my mother”.</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أُسَاعِدُ مَعَ أُمِّي</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أُسَاعِدُ أُمِّي</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أَسْعَدُ أُمِّي</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Direct object — no maʿa.</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tried”.</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حَاوَلْنَا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نُحَاوِلُ</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حَاوَلُوا</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Past + -nā.</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GM-VF-03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Watch me describe a school activity with Form III</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Root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ش ر ك</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Sharing.</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Form III</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شَارَكَ</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ā: participate.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Present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أُشَارِكُ</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u- for I.</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Noun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مُشَارَكَةٌ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mufāʿala.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FORM III</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OTHER FORMS</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950" b="1" dirty="0">
                <a:solidFill>
                  <a:srgbClr val="0E7C86"/>
                </a:solidFill>
                <a:latin typeface="Amiri" pitchFamily="2" charset="-78"/>
                <a:cs typeface="Amiri" pitchFamily="2" charset="-78"/>
              </a:rPr>
              <a:t>أُشَارِكُ</a:t>
            </a:r>
            <a:pPr rtl="1" algn="r" indent="0" marL="0">
              <a:buNone/>
            </a:pPr>
            <a:r>
              <a:rPr lang="ar-SA" altLang="en-US" sz="1950" b="1" dirty="0">
                <a:solidFill>
                  <a:srgbClr val="1B3B6F"/>
                </a:solidFill>
                <a:latin typeface="Amiri" pitchFamily="2" charset="-78"/>
                <a:cs typeface="Amiri" pitchFamily="2" charset="-78"/>
              </a:rPr>
              <a:t> فِي نَادِي الْقِرَاءَةِ. أَمْسِ </a:t>
            </a:r>
            <a:pPr rtl="1" algn="r" indent="0" marL="0">
              <a:buNone/>
            </a:pPr>
            <a:r>
              <a:rPr lang="ar-SA" altLang="en-US" sz="1950" b="1" dirty="0">
                <a:solidFill>
                  <a:srgbClr val="0E7C86"/>
                </a:solidFill>
                <a:latin typeface="Amiri" pitchFamily="2" charset="-78"/>
                <a:cs typeface="Amiri" pitchFamily="2" charset="-78"/>
              </a:rPr>
              <a:t>سَاعَدْتُ</a:t>
            </a:r>
            <a:pPr rtl="1" algn="r" indent="0" marL="0">
              <a:buNone/>
            </a:pPr>
            <a:r>
              <a:rPr lang="ar-SA" altLang="en-US" sz="1950" b="1" dirty="0">
                <a:solidFill>
                  <a:srgbClr val="1B3B6F"/>
                </a:solidFill>
                <a:latin typeface="Amiri" pitchFamily="2" charset="-78"/>
                <a:cs typeface="Amiri" pitchFamily="2" charset="-78"/>
              </a:rPr>
              <a:t> صَدِيقَتِي فِي الْوَاجِبِ. </a:t>
            </a:r>
            <a:pPr rtl="1" algn="r" indent="0" marL="0">
              <a:buNone/>
            </a:pPr>
            <a:r>
              <a:rPr lang="ar-SA" altLang="en-US" sz="1950" b="1" dirty="0">
                <a:solidFill>
                  <a:srgbClr val="0E7C86"/>
                </a:solidFill>
                <a:latin typeface="Amiri" pitchFamily="2" charset="-78"/>
                <a:cs typeface="Amiri" pitchFamily="2" charset="-78"/>
              </a:rPr>
              <a:t>نُحَاوِلُ</a:t>
            </a:r>
            <a:pPr rtl="1" algn="r" indent="0" marL="0">
              <a:buNone/>
            </a:pPr>
            <a:r>
              <a:rPr lang="ar-SA" altLang="en-US" sz="1950" b="1" dirty="0">
                <a:solidFill>
                  <a:srgbClr val="1B3B6F"/>
                </a:solidFill>
                <a:latin typeface="Amiri" pitchFamily="2" charset="-78"/>
                <a:cs typeface="Amiri" pitchFamily="2" charset="-78"/>
              </a:rPr>
              <a:t> أَنْ </a:t>
            </a:r>
            <a:pPr rtl="1" algn="r" indent="0" marL="0">
              <a:buNone/>
            </a:pPr>
            <a:r>
              <a:rPr lang="ar-SA" altLang="en-US" sz="1950" b="1" dirty="0">
                <a:solidFill>
                  <a:srgbClr val="D6336C"/>
                </a:solidFill>
                <a:latin typeface="Amiri" pitchFamily="2" charset="-78"/>
                <a:cs typeface="Amiri" pitchFamily="2" charset="-78"/>
              </a:rPr>
              <a:t>نَتَحَدَّثَ</a:t>
            </a:r>
            <a:pPr rtl="1" algn="r" indent="0" marL="0">
              <a:buNone/>
            </a:pPr>
            <a:r>
              <a:rPr lang="ar-SA" altLang="en-US" sz="1950" b="1" dirty="0">
                <a:solidFill>
                  <a:srgbClr val="1B3B6F"/>
                </a:solidFill>
                <a:latin typeface="Amiri" pitchFamily="2" charset="-78"/>
                <a:cs typeface="Amiri" pitchFamily="2" charset="-78"/>
              </a:rPr>
              <a:t> بِالْعَرَبِيَّةِ كُلَّ يَوْمٍ. وَ</a:t>
            </a:r>
            <a:pPr rtl="1" algn="r" indent="0" marL="0">
              <a:buNone/>
            </a:pPr>
            <a:r>
              <a:rPr lang="ar-SA" altLang="en-US" sz="1950" b="1" dirty="0">
                <a:solidFill>
                  <a:srgbClr val="0E7C86"/>
                </a:solidFill>
                <a:latin typeface="Amiri" pitchFamily="2" charset="-78"/>
                <a:cs typeface="Amiri" pitchFamily="2" charset="-78"/>
              </a:rPr>
              <a:t>سَافَرْنَا</a:t>
            </a:r>
            <a:pPr rtl="1" algn="r" indent="0" marL="0">
              <a:buNone/>
            </a:pPr>
            <a:r>
              <a:rPr lang="ar-SA" altLang="en-US" sz="1950" b="1" dirty="0">
                <a:solidFill>
                  <a:srgbClr val="1B3B6F"/>
                </a:solidFill>
                <a:latin typeface="Amiri" pitchFamily="2" charset="-78"/>
                <a:cs typeface="Amiri" pitchFamily="2" charset="-78"/>
              </a:rPr>
              <a:t> إِلَى لَنْدَنَ فِي الصَّيْفِ.</a:t>
            </a:r>
            <a:endParaRPr lang="ar-SA" sz="19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50" i="1" dirty="0">
                <a:solidFill>
                  <a:srgbClr val="5A6472"/>
                </a:solidFill>
                <a:latin typeface="Calibri" pitchFamily="34" charset="0"/>
                <a:cs typeface="Amiri" pitchFamily="2" charset="-78"/>
              </a:rPr>
              <a:t>I participate in the reading club. Yesterday I helped my friend with the homework. We try to speak Arabic every day. We travelled to London in the summer.</a:t>
            </a:r>
            <a:endParaRPr lang="en-US" sz="115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GM-VF-03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أُشَارِكُ فِي نَادِي الْقِرَاءَةِ.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participate in the reading club.</a:t>
            </a:r>
            <a:endParaRPr lang="en-US" sz="1250" dirty="0"/>
          </a:p>
          <a:p>
            <a:pPr indent="0" marL="0">
              <a:buNone/>
            </a:pPr>
            <a:r>
              <a:rPr lang="en-US" sz="1050" i="1" dirty="0">
                <a:solidFill>
                  <a:srgbClr val="8A6D1E"/>
                </a:solidFill>
                <a:latin typeface="Calibri" pitchFamily="34" charset="0"/>
                <a:cs typeface="Amiri" pitchFamily="2" charset="-78"/>
              </a:rPr>
              <a:t>Website.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سَاعَدَتْ سَلْمَى صَدِيقَتَهَا.</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Salmā helped her friend.</a:t>
            </a:r>
            <a:endParaRPr lang="en-US" sz="1250" dirty="0"/>
          </a:p>
          <a:p>
            <a:pPr indent="0" marL="0">
              <a:buNone/>
            </a:pPr>
            <a:r>
              <a:rPr lang="en-US" sz="1050" i="1" dirty="0">
                <a:solidFill>
                  <a:srgbClr val="8A6D1E"/>
                </a:solidFill>
                <a:latin typeface="Calibri" pitchFamily="34" charset="0"/>
                <a:cs typeface="Amiri" pitchFamily="2" charset="-78"/>
              </a:rPr>
              <a:t>Direct object.</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نُحَاوِلُ أَنْ نَتَحَدَّثَ بِالْعَرَبِيَّةِ.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try to speak Arabic.</a:t>
            </a:r>
            <a:endParaRPr lang="en-US" sz="1250" dirty="0"/>
          </a:p>
          <a:p>
            <a:pPr indent="0" marL="0">
              <a:buNone/>
            </a:pPr>
            <a:r>
              <a:rPr lang="en-US" sz="1050" i="1" dirty="0">
                <a:solidFill>
                  <a:srgbClr val="8A6D1E"/>
                </a:solidFill>
                <a:latin typeface="Calibri" pitchFamily="34" charset="0"/>
                <a:cs typeface="Amiri" pitchFamily="2" charset="-78"/>
              </a:rPr>
              <a:t>ḥāwala + an.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قَابَلْتُ الْمُدِيرَ الْيَوْمَ.</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met the head teacher today.</a:t>
            </a:r>
            <a:endParaRPr lang="en-US" sz="1250" dirty="0"/>
          </a:p>
          <a:p>
            <a:pPr indent="0" marL="0">
              <a:buNone/>
            </a:pPr>
            <a:r>
              <a:rPr lang="en-US" sz="1050" i="1" dirty="0">
                <a:solidFill>
                  <a:srgbClr val="8A6D1E"/>
                </a:solidFill>
                <a:latin typeface="Calibri" pitchFamily="34" charset="0"/>
                <a:cs typeface="Amiri" pitchFamily="2" charset="-78"/>
              </a:rPr>
              <a:t>qābala.</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GM-VF-03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SAME ROOT, DIFFERENT FORM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the long ā adds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مِنَ الْأَوَّلِ إِلَى الثَّالِثِ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546811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Form III</a:t>
            </a:r>
            <a:endParaRPr lang="en-US" sz="1100" dirty="0"/>
          </a:p>
        </p:txBody>
      </p:sp>
      <p:sp>
        <p:nvSpPr>
          <p:cNvPr id="18" name="Text 15"/>
          <p:cNvSpPr txBox="1"/>
          <p:nvPr/>
        </p:nvSpPr>
        <p:spPr>
          <a:xfrm>
            <a:off x="30906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Base verb</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065008" y="2267712"/>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write to / correspond with</a:t>
            </a:r>
            <a:endParaRPr lang="en-US" sz="1100" dirty="0"/>
          </a:p>
        </p:txBody>
      </p:sp>
      <p:sp>
        <p:nvSpPr>
          <p:cNvPr id="22" name="Text 19"/>
          <p:cNvSpPr txBox="1"/>
          <p:nvPr/>
        </p:nvSpPr>
        <p:spPr>
          <a:xfrm>
            <a:off x="5486400" y="2267712"/>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كَاتَبَ</a:t>
            </a:r>
            <a:endParaRPr lang="ar-SA" sz="2400" dirty="0"/>
          </a:p>
        </p:txBody>
      </p:sp>
      <p:sp>
        <p:nvSpPr>
          <p:cNvPr id="23" name="Text 20"/>
          <p:cNvSpPr txBox="1"/>
          <p:nvPr/>
        </p:nvSpPr>
        <p:spPr>
          <a:xfrm>
            <a:off x="312724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write</a:t>
            </a:r>
            <a:endParaRPr lang="en-US" sz="1100" dirty="0"/>
          </a:p>
        </p:txBody>
      </p:sp>
      <p:sp>
        <p:nvSpPr>
          <p:cNvPr id="24" name="Text 21"/>
          <p:cNvSpPr txBox="1"/>
          <p:nvPr/>
        </p:nvSpPr>
        <p:spPr>
          <a:xfrm>
            <a:off x="548640" y="2267712"/>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كَتَبَ</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065008" y="300471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sit with someone</a:t>
            </a:r>
            <a:endParaRPr lang="en-US" sz="1100" dirty="0"/>
          </a:p>
        </p:txBody>
      </p:sp>
      <p:sp>
        <p:nvSpPr>
          <p:cNvPr id="29" name="Text 26"/>
          <p:cNvSpPr txBox="1"/>
          <p:nvPr/>
        </p:nvSpPr>
        <p:spPr>
          <a:xfrm>
            <a:off x="5486400" y="300471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جَالَسَ</a:t>
            </a:r>
            <a:endParaRPr lang="ar-SA" sz="2400" dirty="0"/>
          </a:p>
        </p:txBody>
      </p:sp>
      <p:sp>
        <p:nvSpPr>
          <p:cNvPr id="30" name="Text 27"/>
          <p:cNvSpPr txBox="1"/>
          <p:nvPr/>
        </p:nvSpPr>
        <p:spPr>
          <a:xfrm>
            <a:off x="312724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sit</a:t>
            </a:r>
            <a:endParaRPr lang="en-US" sz="1100" dirty="0"/>
          </a:p>
        </p:txBody>
      </p:sp>
      <p:sp>
        <p:nvSpPr>
          <p:cNvPr id="31" name="Text 28"/>
          <p:cNvSpPr txBox="1"/>
          <p:nvPr/>
        </p:nvSpPr>
        <p:spPr>
          <a:xfrm>
            <a:off x="548640" y="300471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جَلَسَ</a:t>
            </a:r>
            <a:endParaRPr lang="ar-SA" sz="24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065008" y="3741725"/>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meet (someone)</a:t>
            </a:r>
            <a:endParaRPr lang="en-US" sz="1100" dirty="0"/>
          </a:p>
        </p:txBody>
      </p:sp>
      <p:sp>
        <p:nvSpPr>
          <p:cNvPr id="36" name="Text 33"/>
          <p:cNvSpPr txBox="1"/>
          <p:nvPr/>
        </p:nvSpPr>
        <p:spPr>
          <a:xfrm>
            <a:off x="5486400" y="3741725"/>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قَابَلَ</a:t>
            </a:r>
            <a:endParaRPr lang="ar-SA" sz="2400" dirty="0"/>
          </a:p>
        </p:txBody>
      </p:sp>
      <p:sp>
        <p:nvSpPr>
          <p:cNvPr id="37" name="Text 34"/>
          <p:cNvSpPr txBox="1"/>
          <p:nvPr/>
        </p:nvSpPr>
        <p:spPr>
          <a:xfrm>
            <a:off x="312724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accept</a:t>
            </a:r>
            <a:endParaRPr lang="en-US" sz="1100" dirty="0"/>
          </a:p>
        </p:txBody>
      </p:sp>
      <p:sp>
        <p:nvSpPr>
          <p:cNvPr id="38" name="Text 35"/>
          <p:cNvSpPr txBox="1"/>
          <p:nvPr/>
        </p:nvSpPr>
        <p:spPr>
          <a:xfrm>
            <a:off x="548640" y="3741725"/>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قَبِلَ</a:t>
            </a:r>
            <a:endParaRPr lang="ar-SA" sz="24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065008" y="4478731"/>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treat / deal with</a:t>
            </a:r>
            <a:endParaRPr lang="en-US" sz="1100" dirty="0"/>
          </a:p>
        </p:txBody>
      </p:sp>
      <p:sp>
        <p:nvSpPr>
          <p:cNvPr id="43" name="Text 40"/>
          <p:cNvSpPr txBox="1"/>
          <p:nvPr/>
        </p:nvSpPr>
        <p:spPr>
          <a:xfrm>
            <a:off x="5486400" y="4478731"/>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عَامَلَ</a:t>
            </a:r>
            <a:endParaRPr lang="ar-SA" sz="2400" dirty="0"/>
          </a:p>
        </p:txBody>
      </p:sp>
      <p:sp>
        <p:nvSpPr>
          <p:cNvPr id="44" name="Text 41"/>
          <p:cNvSpPr txBox="1"/>
          <p:nvPr/>
        </p:nvSpPr>
        <p:spPr>
          <a:xfrm>
            <a:off x="312724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work</a:t>
            </a:r>
            <a:endParaRPr lang="en-US" sz="1100" dirty="0"/>
          </a:p>
        </p:txBody>
      </p:sp>
      <p:sp>
        <p:nvSpPr>
          <p:cNvPr id="45" name="Text 42"/>
          <p:cNvSpPr txBox="1"/>
          <p:nvPr/>
        </p:nvSpPr>
        <p:spPr>
          <a:xfrm>
            <a:off x="548640" y="4478731"/>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عَمِلَ</a:t>
            </a:r>
            <a:endParaRPr lang="ar-SA" sz="24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8065008" y="521573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help (own meaning)</a:t>
            </a:r>
            <a:endParaRPr lang="en-US" sz="1100" dirty="0"/>
          </a:p>
        </p:txBody>
      </p:sp>
      <p:sp>
        <p:nvSpPr>
          <p:cNvPr id="48" name="Text 45"/>
          <p:cNvSpPr txBox="1"/>
          <p:nvPr/>
        </p:nvSpPr>
        <p:spPr>
          <a:xfrm>
            <a:off x="5486400" y="521573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سَاعَدَ</a:t>
            </a:r>
            <a:endParaRPr lang="ar-SA" sz="2400" dirty="0"/>
          </a:p>
        </p:txBody>
      </p:sp>
      <p:sp>
        <p:nvSpPr>
          <p:cNvPr id="49" name="Text 46"/>
          <p:cNvSpPr txBox="1"/>
          <p:nvPr/>
        </p:nvSpPr>
        <p:spPr>
          <a:xfrm>
            <a:off x="312724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be happy</a:t>
            </a:r>
            <a:endParaRPr lang="en-US" sz="1100" dirty="0"/>
          </a:p>
        </p:txBody>
      </p:sp>
      <p:sp>
        <p:nvSpPr>
          <p:cNvPr id="50" name="Text 47"/>
          <p:cNvSpPr txBox="1"/>
          <p:nvPr/>
        </p:nvSpPr>
        <p:spPr>
          <a:xfrm>
            <a:off x="548640" y="521573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سَعِدَ</a:t>
            </a:r>
            <a:endParaRPr lang="ar-SA" sz="24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Often another person is involved (write to, sit with, meet). But sāʿada shows the meaning can be its own — learn each verb (website clinic).</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GM-VF-03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COUNT THE ROOT LETTERS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Form III, or hollow Form I?</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وَزْنٌ ثَالِثٌ أَمْ أَجْوَفُ؟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شَارَكَ</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سَاعَدَ</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حَاوَلَ</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سَافَرَ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قَالَ</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نَامَ</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زَارَ</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كَانَ</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Form III (3 letters + ā)</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Hollow Form I (ā is the root)</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GM-VF-03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GM-VF-03</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Form III (3 letters + ā)</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شَارَكَ</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سَاعَدَ</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حَاوَلَ</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سَافَرَ</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Hollow Form I (ā is the root)</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قَالَ</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نَامَ</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زَارَ</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كَانَ</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GM-VF-03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هُوَ يَشَارِكُ فِي النَّادِي</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 or yu-?</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سَاعَدْتُ مَعَ صَدِيقِي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maʿa needed?</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أُحَاوِلُ أَدْرُسُ</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comes after try?</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GM-VF-03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هُوَ يَشَارِكُ فِي النَّادِي</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هُوَ يُشَارِكُ فِي النَّادِي</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Form III present: yu-.</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سَاعَدْتُ مَعَ صَدِيقِي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سَاعَدْتُ صَدِيقِي</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Sāʿada takes a direct object.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أُحَاوِلُ أَدْرُسُ</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أُحَاوِلُ أَنْ أَدْرُسَ</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Ḥāwala + an + subjunctive (GM-V-10).</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GM-VF-03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2F6FB0"/>
                </a:solidFill>
                <a:latin typeface="Calibri" pitchFamily="34" charset="0"/>
                <a:cs typeface="Amiri" pitchFamily="2" charset="-78"/>
              </a:rPr>
              <a:t>WE DO · GUIDED PRACTICE · WEBSITE SELF-CHECK ITEM AND TEACHER-WRITTEN QUESTIONS</a:t>
            </a:r>
            <a:endParaRPr lang="en-US" sz="874"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best interpretation of Form III?</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always means a reciprocal action.</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simply the plural of Form I.</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often suggests interaction, but each verb has its own meaning.</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participates”.</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تَشْرَكُ</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تُشَارِكُ</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شَارَكَتْ</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verbal noun of </a:t>
            </a:r>
            <a:pPr algn="l" indent="0" marL="0">
              <a:buNone/>
            </a:pPr>
            <a:r>
              <a:rPr lang="ar-SA" altLang="en-US" sz="1650" b="1" dirty="0">
                <a:solidFill>
                  <a:srgbClr val="1B3B6F"/>
                </a:solidFill>
                <a:latin typeface="Amiri" pitchFamily="2" charset="-78"/>
                <a:cs typeface="Amiri" pitchFamily="2" charset="-78"/>
              </a:rPr>
              <a:t>سَاعَدَ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سَعَادَةٌ</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مُسَاعَدَةٌ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مُسَاعِدٌ</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Form III?</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نَامَ</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نَقَشَ</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نَاقَشَ</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GM-VF-03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best interpretation of Form III?</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always means a reciprocal action.</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simply the plural of Form I.</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It often suggests interaction, but each verb has its own meaning.</a:t>
            </a:r>
            <a:endParaRPr lang="en-US" sz="12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Meaning depends on the actual verb and context.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participates”.</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تَشْرَكُ</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تُشَارِكُ</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شَارَكَتْ</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tu- + ā.</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verbal noun of </a:t>
            </a:r>
            <a:pPr algn="l" indent="0" marL="0">
              <a:buNone/>
            </a:pPr>
            <a:r>
              <a:rPr lang="ar-SA" altLang="en-US" sz="1650" b="1" dirty="0">
                <a:solidFill>
                  <a:srgbClr val="1B3B6F"/>
                </a:solidFill>
                <a:latin typeface="Amiri" pitchFamily="2" charset="-78"/>
                <a:cs typeface="Amiri" pitchFamily="2" charset="-78"/>
              </a:rPr>
              <a:t>سَاعَدَ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سَعَادَةٌ</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مُسَاعَدَةٌ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مُسَاعِدٌ</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mufāʿala.</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Form III?</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نَامَ</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نَقَشَ</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نَاقَشَ</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3 letters n-q-sh + ā.</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GM-VF-03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1E6B52"/>
                </a:solidFill>
                <a:latin typeface="Calibri" pitchFamily="34" charset="0"/>
                <a:cs typeface="Amiri" pitchFamily="2" charset="-78"/>
              </a:rPr>
              <a:t>YOU DO · READ AND NOTICE · READING FOR FORM III (TEACHER-WRITTEN ACCOUNT)</a:t>
            </a:r>
            <a:endParaRPr lang="en-US" sz="96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charity day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GM-VF-03</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فِي يَوْمِ الْخَيْرِ شَارَكَ كُلُّ الطُّلَّابِ فِي الْأَنْشِطَةِ. سَاعَدْنَا الْمُعَلِّمِينَ فِي تَنْظِيمِ السُّوقِ، وَحَاوَلَتْ أُخْتِي أَنْ تَبِيعَ الْكَعْكَ. شَاهَدَ الْآبَاءُ الْعَرْضَ، وَنَاقَشْنَا فِكْرَةَ رِحْلَةٍ خَيْرِيَّةٍ. فِي الصَّيْفِ سَيُسَافِرُ بَعْضُ الطُّلَّابِ لِمُسَاعَدَةِ الْأَطْفَالِ.</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يَوْمِ الْخَيْرِ</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charity day</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الْأَنْشِطَةِ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activities</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تَبِيعَ</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sell</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الْكَعْكَ</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cakes</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الْعَرْضَ</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show</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GM-VF-03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writer’s sister try to do?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watch the show</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sell cakes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travel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watched the show?</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teachers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children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parents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some students do in summer?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travel to help children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organise a market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sell cakes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a Form III verbal noun?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تَنْظِيمِ</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مُسَاعَدَةِ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الْأَنْشِطَةِ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GM-VF-03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writer’s sister try to do?</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watch the show</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sell cakes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travel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Ḥāwalat an tabīʿa l-kaʿk.</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watched the show?</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teachers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children</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parents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Shāhada l-ābāʾ.</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some students do in summer?</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travel to help children</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organise a market</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sell cakes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Sa-yusāfiru … li-musāʿadati l-aṭfāl.</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a Form III verbal noun?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تَنْظِيمِ</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مُسَاعَدَةِ</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الْأَنْشِطَةِ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mufāʿala; tanẓīm is Form II.</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GM-VF-03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activities I take part in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أَيِّ نَشَاطٍ تُشَارِكُ؟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مَنْ سَاعَدْتَ هَذَا الْأُسْبُوعَ؟ وَكَيْفَ؟</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تُحَاوِلُ أَنْ تُحَسِّنَ؟ وَإِلَى أَيْنَ سَافَرْتَ؟</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أُشَارِكُ فِي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سَاعَدْتُ ___ فِي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أُحَاوِلُ أَنْ ___ ، وَسَافَرْتُ إِلَى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فِي أَيِّ نَشَاطٍ تُشَارِكِينَ؟</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Which activity do you take part in?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أُشَارِكُ فِي فَرِيقِ السِّبَاحَةِ، وَأُسَاعِدُ الطَّالِبَاتِ الصَّغِيرَاتِ. أُحَاوِلُ أَنْ أَسْبَحَ أَسْرَعَ كُلَّ أُسْبُوعٍ.</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 take part in the swimming team, and I help the younger girls. I try to swim faster every week.</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GM-VF-03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shāraka · sāʿada · ḥāwala.</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sāfara, shāhada and a verbal noun.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Present with u-.</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 charity or club day with five Form III verbs.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One Form I / Form III contrast.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GM-VF-03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شَاهَدْتُ ______ مَعَ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watched … with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نُنَاقِشُ ______ فِي الصَّفِّ.</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discuss … in class</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الْمُشَارَكَةُ فِي ______ مُفِيدَةٌ.</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Participation in … is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قَابَلْتُ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met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أُشَارِكُ فِي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participate in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أَمْسِ سَاعَدْتُ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Yesterday I helped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نُحَاوِلُ أَنْ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try to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سَافَرْنَا إِلَى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travelled to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شَارَكَ · يُشَارِكُ  ·  سَاعَدَ · يُسَاعِدُ  ·  حَاوَلَ · يُحَاوِلُ  ·  سَافَرَ · يُسَافِرُ  ·  شَاهَدَ · يُشَاهِدُ  ·  نَاقَشَ · يُنَاقِشُ  ·  قَابَلَ · يُقَابِلُ  ·  مُشَارَكَةٌ  ·  مُسَاعَدَةٌ</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GM-VF-03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about a charity or club day with five Form III verbs and one Form I / Form III contrast.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Five Form III verbs with the long ā.</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Present forms with u-.</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event and a present habit.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verbal noun (mufāʿala).</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Sāʿada with a direct object.</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يَوْمِ</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on the day of</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مَعَ زُمَلَائِي</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with my classmates</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لِمُسَاعَدَةِ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to help</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كُلَّ أُسْبُوعٍ</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every week</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الصَّيْفِ الْمَاضِي</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last summer</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بِالْعَرَبِيَّةِ</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Arabic</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GM-VF-03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أُشَارِكُ فِي نَادِي الْمُنَاظَرَاتِ كُلَّ أُسْبُوعٍ. نُنَاقِشُ مَوْضُوعَاتٍ مُهِمَّةً، وَأُحَاوِلُ أَنْ أَتَكَلَّمَ بِثِقَةٍ. فِي الشَّهْرِ الْمَاضِي سَافَرْنَا إِلَى مَدِينَةٍ أُخْرَى، وَشَارَكْنَا فِي مُسَابَقَةٍ كَبِيرَةٍ. سَاعَدَنِي مُدَرِّبِي كَثِيرًا، وَشَاهَدَ وَالِدَايَ الْمُنَاظَرَةَ. قَابَلْتُ طُلَّابًا جُدُدًا، وَكَاتَبْتُهُمْ بَعْدَ ذَلِكَ. الْمُشَارَكَةُ فِي النَّادِي عَلَّمَتْنِي الصَّبْرَ.</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take part in the debating club every week. We discuss important topics, and I try to speak confidently. Last month we travelled to another city and took part in a big competition. My coach helped me a lot, and my parents watched the debate. I met new students and corresponded with them afterwards. Taking part in the club has taught me patience.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Form III past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Form III present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mufāʿala noun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Form II verb</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GM-VF-03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Form III verbs have a long ā after the first letter.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sāʿada with a direct object.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present forms start with u-.</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verbal noun like mushāraka.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did not confuse Form III with hollow verbs.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GM-VF-03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III?</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سَاعَدَ</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تَسَاعَدَ</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سَعَدَ</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help”.</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سَاعَدُوا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يُسَاعِدُونَ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يَسْعَدُونَ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NOT Form III?</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زَارَ</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سَافَرَ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حَاوَلَ</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GM-VF-03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III?</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سَاعَدَ</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تَسَاعَدَ</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سَعَدَ</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long ā after the first root letter is the Form III feature.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help”.</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سَاعَدُوا</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يُسَاعِدُونَ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يَسْعَدُونَ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yu- … -ūna.</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NOT Form III?</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زَارَ</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سَافَرَ</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حَاوَلَ</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zāra is a hollow Form I verb.</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GM-VF-03 · Arabic Verb Forms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Before GM-VF-04: get ready at home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GM-VF-04 · Form IV: Causing and Bringing About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أَرْسَلَ · يُرْسِلُ</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send</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أَخْرَجَ · يُخْرِجُ</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take out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أَدْخَلَ · يُدْخِلُ</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bring in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أَعْلَنَ · يُعْلِنُ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announce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خَرَجَ</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go out (Form I)</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Kharaja = to go out. What do you think akhraja means?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خَرَجَ · أَخْرَجَ</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five sentences with shāraka, sāʿada and ḥāwala.</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Conjugate shāraka in past and present for six persons.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club day with five Form III verbs.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GM-VF-03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cs typeface="Amiri" pitchFamily="2" charset="-78"/>
              </a:rPr>
              <a:t>GM-VF-04 · Form IV: Causing and Bringing About</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الْوَزْنُ الرَّابِعُ</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Form III = long ā after the first letter (fāʿala) · present yu- … -i- (yushāriku) · noun mufāʿala · often involves another person, but not always · don’t confuse it with hollow qāla.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GM-VF-03 · Form III: Participation and Interaction</dc:title>
  <dc:subject>PptxGenJS Presentation</dc:subject>
  <dc:creator>Al Madina Online School · Arabic Department</dc:creator>
  <cp:lastModifiedBy>Al Madina Online School · Arabic Department</cp:lastModifiedBy>
  <cp:revision>1</cp:revision>
  <dcterms:created xsi:type="dcterms:W3CDTF">2026-10-11T06:42:42Z</dcterms:created>
  <dcterms:modified xsi:type="dcterms:W3CDTF">2026-10-11T06:42:42Z</dcterms:modified>
</cp:coreProperties>
</file>