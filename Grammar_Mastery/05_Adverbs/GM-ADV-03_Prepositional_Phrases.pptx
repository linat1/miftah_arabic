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Adverbs › GM-ADV-03 (“Adverb + Noun: Prepositional Phrases”).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eight high-frequency manner chunks with بِـ (بِسُرْعَةٍ · بِبُطْءٍ · بِسُهُولَةٍ · بِصُعُوبَةٍ · بِهُدُوءٍ · بِوُضُوحٍ · بِعِنَايَةٍ · بِأَمَانٍ) and فِي + place / time. Develop: genitive endings; spelling (بِـ attaches, فِي stays separate; بِالْـ). Stretch: means vs manner (بِالْحَافِلَةِ / بِسُرْعَةٍ); choosing direct adverb vs phrase (سَرِيعًا / بِسُرْعَةٍ); layering manner + place + time.
• Website warning: do not attach بِـ to the ADJECTIVE (بِسَرِيعٍ ✗) — the chunk uses the NOUN (سُرْعَةٌ).
• Chunk learning: teach each phrase as a single vocabulary item with a gesture (fast hands, slow hands, finger on lips for calmly…).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The website Entry Check (questions 1–3, 5 and 6) — it uses the bi- phrases prepared at the end of GM-ADV-02.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bi- + NOUN (genitive) = “-ly”: with speed = quickly. fī + noun = in / at (time or 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(4 min) — website table “bi- + noun: expressing manner”. Teach each chunk with a gesture; chant noun → phrase: سُرْعَةٌ → بِسُرْعَةٍ.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(3 min) — the website “transformation drill” words (سَرِيعٌ، سَهْلٌ، وَاضِحٌ، هَادِئٌ، آمِنٌ) as a teaching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(3 min) — website “fī + noun” and “Position and sentence rhythm”.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bi- and fī checks.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Website layering model plus a means phrase (بِالْحَافِلَةِ). Ask: “Is ‘by bus’ the same kind of information as ‘quickly’?” — means vs manner.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 website reading task “label each phrase as time, place, means or manner”. Students type 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 website reading task “label each phrase as time, place, means or manner”. Students type 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phrase mastery questions 4, 5, 7 and 9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reading text, extended by the teacher. Read it aloud once while students follow; then they hunt for today’s grammar.
Task: Website: label each phrase as time, place, means or manner.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The first two sentences are the website text; the rest is teacher-written. Questions teacher-written.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instruction challenge. Sequence: ● 10s think → ↔ 45s rehearse aloud with mic muted → ◎ two named students on open mic (warned in advance) → + ? the class types one follow-up in chat → ↺ one student summarises.
Routes: Core uses the Core prompt and stem; Develop the Develop prompt; Stretch the last prompt.
Website: explain how to complete a school task using carefully, clearly, quickly and one time / place phrase. Listening cloze (website): partner omits each phrase; listener supplies it from the bank.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90–110 words explaining how you study, cook, travel, exercise or use technology, with at least six bi- manner phrases and four fī time / place phrases.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writing task,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(GM-ADV-04 · Common Adverbial Phrases for Fluency) will spend class time USING this language, so students prepare it tonight — short, simple, easy to access (school guidance: “Simple, Short, Interesting, Relevant, Easy to access”). The five words prepare GM-ADV-04 (website Adverbs lesson 4: common adverbial phrases for fluency).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MIFTAH GRAMMAR MASTERY  ·  ADVERBS  ·  GM-ADV-03</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GM-ADV-03</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950" b="1" dirty="0">
                <a:solidFill>
                  <a:srgbClr val="FFFFFF"/>
                </a:solidFill>
                <a:latin typeface="Cambria" pitchFamily="34" charset="0"/>
                <a:ea typeface="Cambria" pitchFamily="34" charset="-122"/>
                <a:cs typeface="Cambria" pitchFamily="34" charset="-120"/>
              </a:rPr>
              <a:t>Adverb + Noun: Prepositional Phrases</a:t>
            </a:r>
            <a:endParaRPr lang="en-US" sz="29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التَّرَاكِيبُ الظَّرْفِيَّةُ بِالْجَارِّ وَالْمَجْرُورِ</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Arabic often says “-ly” with bi- + a NOUN: bi-surʿatin = with speed = quickly. Fī + noun gives time and place: in the morning, at school. After both, the noun is genitive (-in / -i).</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GM-ADV-03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Grammar › Adverbs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GM-ADV-03 · Adverbs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Adverbs · GM-ADV-03</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33</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GM-ADV-03 · Adverbs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Adverbs · GM-ADV-03</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bi- + noun for manner; fī + noun for time and place; position.</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Adjective → noun → phrase; sort; repair.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GM-ADV-04.</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33</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GM-ADV-03 · Adverbs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Adverbs · GM-ADV-03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“quickly” as a prepositional phrase.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سَرِيعٌ</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بِسُرْعَةٍ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سَرِيعٍ</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“easily”.</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بِسُهُولَةٍ</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سَهْلَةٌ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سَهْلٍ</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45" name="Text 42"/>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أَدْرُسُ ___ الْمَدْرَسَةِ.</a:t>
            </a:r>
            <a:endParaRPr lang="ar-SA" sz="1500" dirty="0"/>
          </a:p>
        </p:txBody>
      </p:sp>
      <p:sp>
        <p:nvSpPr>
          <p:cNvPr id="46" name="Shape 43"/>
          <p:cNvSpPr/>
          <p:nvPr/>
        </p:nvSpPr>
        <p:spPr>
          <a:xfrm>
            <a:off x="8278368" y="2532888"/>
            <a:ext cx="256032" cy="256032"/>
          </a:xfrm>
          <a:prstGeom prst="ellipse">
            <a:avLst/>
          </a:prstGeom>
          <a:solidFill>
            <a:srgbClr val="F4F1EA"/>
          </a:solidFill>
          <a:ln w="12700">
            <a:solidFill>
              <a:srgbClr val="F4F1EA"/>
            </a:solidFill>
            <a:prstDash val="solid"/>
          </a:ln>
        </p:spPr>
      </p:sp>
      <p:sp>
        <p:nvSpPr>
          <p:cNvPr id="47" name="Text 44"/>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بِسُرْعَةٍ</a:t>
            </a:r>
            <a:endParaRPr lang="ar-SA" sz="2050" dirty="0"/>
          </a:p>
        </p:txBody>
      </p:sp>
      <p:sp>
        <p:nvSpPr>
          <p:cNvPr id="49" name="Shape 46"/>
          <p:cNvSpPr/>
          <p:nvPr/>
        </p:nvSpPr>
        <p:spPr>
          <a:xfrm>
            <a:off x="8278368" y="29900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1" name="Text 48"/>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هُنَاكَ مِنْ</a:t>
            </a:r>
            <a:endParaRPr lang="ar-SA" sz="2050" dirty="0"/>
          </a:p>
        </p:txBody>
      </p:sp>
      <p:sp>
        <p:nvSpPr>
          <p:cNvPr id="52" name="Shape 49"/>
          <p:cNvSpPr/>
          <p:nvPr/>
        </p:nvSpPr>
        <p:spPr>
          <a:xfrm>
            <a:off x="8278368" y="34472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4" name="Text 51"/>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55" name="Shape 52"/>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85216"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8" name="Text 55"/>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Repair:</a:t>
            </a:r>
            <a:endParaRPr lang="en-US" sz="1200" dirty="0"/>
          </a:p>
        </p:txBody>
      </p:sp>
      <p:sp>
        <p:nvSpPr>
          <p:cNvPr id="59" name="Text 56"/>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كَتَبْتُ بِعِنَايَةٌ.</a:t>
            </a:r>
            <a:endParaRPr lang="ar-SA" sz="150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كَتَبْتُ عِنَايَةٌ.</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كَتَبْتُ بِعِنَايَةَ.</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كَتَبْتُ بِعِنَايَةٍ.</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statement is accurate?</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000" dirty="0">
                <a:solidFill>
                  <a:srgbClr val="1F2A37"/>
                </a:solidFill>
                <a:latin typeface="Calibri" pitchFamily="34" charset="0"/>
                <a:ea typeface="Calibri" pitchFamily="34" charset="-122"/>
                <a:cs typeface="Calibri" pitchFamily="34" charset="-120"/>
              </a:rPr>
              <a:t>Many Arabic adverbial meanings use preposition + noun, but the phrase must be learned naturally.</a:t>
            </a:r>
            <a:endParaRPr lang="en-US" sz="100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Every English -ly word is formed by adding </a:t>
            </a:r>
            <a:pPr algn="l" indent="0" marL="0">
              <a:buNone/>
            </a:pPr>
            <a:r>
              <a:rPr lang="ar-SA" altLang="en-US" sz="1650" dirty="0">
                <a:solidFill>
                  <a:srgbClr val="1F2A37"/>
                </a:solidFill>
                <a:latin typeface="Amiri" pitchFamily="34" charset="0"/>
                <a:ea typeface="Amiri" pitchFamily="34" charset="-122"/>
                <a:cs typeface="Amiri" pitchFamily="34" charset="-120"/>
              </a:rPr>
              <a:t>بِ</a:t>
            </a:r>
            <a:pPr algn="l" indent="0" marL="0">
              <a:buNone/>
            </a:pPr>
            <a:r>
              <a:rPr lang="en-US" sz="1250" dirty="0">
                <a:solidFill>
                  <a:srgbClr val="1F2A37"/>
                </a:solidFill>
                <a:latin typeface="Calibri" pitchFamily="34" charset="0"/>
                <a:ea typeface="Calibri" pitchFamily="34" charset="-122"/>
                <a:cs typeface="Calibri" pitchFamily="34" charset="-120"/>
              </a:rPr>
              <a:t> to the Arabic adjective.</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34" charset="0"/>
                <a:ea typeface="Amiri" pitchFamily="34" charset="-122"/>
                <a:cs typeface="Amiri" pitchFamily="34" charset="-120"/>
              </a:rPr>
              <a:t>في</a:t>
            </a:r>
            <a:pPr algn="l" indent="0" marL="0">
              <a:buNone/>
            </a:pPr>
            <a:r>
              <a:rPr lang="en-US" sz="1250" dirty="0">
                <a:solidFill>
                  <a:srgbClr val="1F2A37"/>
                </a:solidFill>
                <a:latin typeface="Calibri" pitchFamily="34" charset="0"/>
                <a:ea typeface="Calibri" pitchFamily="34" charset="-122"/>
                <a:cs typeface="Calibri" pitchFamily="34" charset="-120"/>
              </a:rPr>
              <a:t> always means “quickly”.</a:t>
            </a:r>
            <a:endParaRPr lang="en-US" sz="1250" dirty="0"/>
          </a:p>
        </p:txBody>
      </p:sp>
      <p:sp>
        <p:nvSpPr>
          <p:cNvPr id="82" name="Shape 79"/>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4" name="Text 81"/>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5" name="Text 82"/>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6" name="Text 83"/>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7" name="Text 8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33</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GM-ADV-03 · Adverbs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Adverbs · GM-ADV-03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“quickly” as a prepositional phrase.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سَرِيعٌ</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بِسُرْعَةٍ</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 سَرِيعٍ</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Bi- + the noun surʿa (speed) forms the manner phrase.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“easily”.</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بِسُهُولَةٍ</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سَهْلَةٌ</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 سَهْلٍ</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noun suhūla becomes genitive after bi-.</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49" name="Text 46"/>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أَدْرُسُ ___ الْمَدْرَسَةِ.</a:t>
            </a:r>
            <a:endParaRPr lang="ar-SA" sz="1500" dirty="0"/>
          </a:p>
        </p:txBody>
      </p:sp>
      <p:sp>
        <p:nvSpPr>
          <p:cNvPr id="50" name="Shape 47"/>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بِسُرْعَةٍ</a:t>
            </a:r>
            <a:endParaRPr lang="ar-SA" sz="17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هُنَاكَ مِنْ</a:t>
            </a:r>
            <a:endParaRPr lang="ar-SA" sz="1700" dirty="0"/>
          </a:p>
        </p:txBody>
      </p:sp>
      <p:sp>
        <p:nvSpPr>
          <p:cNvPr id="56" name="Shape 53"/>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4"/>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5"/>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9" name="Text 56"/>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فِي</a:t>
            </a:r>
            <a:endParaRPr lang="ar-SA" sz="1700" dirty="0"/>
          </a:p>
        </p:txBody>
      </p:sp>
      <p:sp>
        <p:nvSpPr>
          <p:cNvPr id="60" name="Text 57"/>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Fī + a place noun creates a location phrase.</a:t>
            </a:r>
            <a:endParaRPr lang="en-US" sz="1050" dirty="0"/>
          </a:p>
        </p:txBody>
      </p:sp>
      <p:sp>
        <p:nvSpPr>
          <p:cNvPr id="61" name="Shape 58"/>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1"/>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Repair:</a:t>
            </a:r>
            <a:endParaRPr lang="en-US" sz="1200" dirty="0"/>
          </a:p>
        </p:txBody>
      </p:sp>
      <p:sp>
        <p:nvSpPr>
          <p:cNvPr id="65" name="Text 62"/>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كَتَبْتُ بِعِنَايَةٌ.</a:t>
            </a:r>
            <a:endParaRPr lang="ar-SA" sz="150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كَتَبْتُ عِنَايَةٌ.</a:t>
            </a:r>
            <a:endParaRPr lang="ar-SA" sz="1700" dirty="0"/>
          </a:p>
        </p:txBody>
      </p:sp>
      <p:sp>
        <p:nvSpPr>
          <p:cNvPr id="69"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كَتَبْتُ بِعِنَايَةَ.</a:t>
            </a:r>
            <a:endParaRPr lang="ar-SA" sz="1700" dirty="0"/>
          </a:p>
        </p:txBody>
      </p:sp>
      <p:sp>
        <p:nvSpPr>
          <p:cNvPr id="72"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كَتَبْتُ بِعِنَايَةٍ.</a:t>
            </a:r>
            <a:endParaRPr lang="ar-SA" sz="170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noun after bi- is genitive: -in.</a:t>
            </a:r>
            <a:endParaRPr lang="en-US" sz="10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statement is accurate?</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000" b="1" dirty="0">
                <a:solidFill>
                  <a:srgbClr val="1F2A37"/>
                </a:solidFill>
                <a:latin typeface="Calibri" pitchFamily="34" charset="0"/>
                <a:ea typeface="Calibri" pitchFamily="34" charset="-122"/>
                <a:cs typeface="Calibri" pitchFamily="34" charset="-120"/>
              </a:rPr>
              <a:t>Many Arabic adverbial meanings use preposition + noun, but the phrase must be learned naturally.</a:t>
            </a:r>
            <a:endParaRPr lang="en-US" sz="100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ea typeface="Calibri" pitchFamily="34" charset="-122"/>
                <a:cs typeface="Calibri" pitchFamily="34" charset="-120"/>
              </a:rPr>
              <a:t>Every English -ly word is formed by adding </a:t>
            </a:r>
            <a:pPr algn="l" indent="0" marL="0">
              <a:buNone/>
            </a:pPr>
            <a:r>
              <a:rPr lang="ar-SA" altLang="en-US" sz="1500" dirty="0">
                <a:solidFill>
                  <a:srgbClr val="9AA1AB"/>
                </a:solidFill>
                <a:latin typeface="Amiri" pitchFamily="34" charset="0"/>
                <a:ea typeface="Amiri" pitchFamily="34" charset="-122"/>
                <a:cs typeface="Amiri" pitchFamily="34" charset="-120"/>
              </a:rPr>
              <a:t>بِ</a:t>
            </a:r>
            <a:pPr algn="l" indent="0" marL="0">
              <a:buNone/>
            </a:pPr>
            <a:r>
              <a:rPr lang="en-US" sz="1150" dirty="0">
                <a:solidFill>
                  <a:srgbClr val="9AA1AB"/>
                </a:solidFill>
                <a:latin typeface="Calibri" pitchFamily="34" charset="0"/>
                <a:ea typeface="Calibri" pitchFamily="34" charset="-122"/>
                <a:cs typeface="Calibri" pitchFamily="34" charset="-120"/>
              </a:rPr>
              <a:t> to the Arabic adjective.</a:t>
            </a:r>
            <a:endParaRPr lang="en-US" sz="11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34" charset="0"/>
                <a:ea typeface="Amiri" pitchFamily="34" charset="-122"/>
                <a:cs typeface="Amiri" pitchFamily="34" charset="-120"/>
              </a:rPr>
              <a:t>في</a:t>
            </a:r>
            <a:pPr algn="l" indent="0" marL="0">
              <a:buNone/>
            </a:pPr>
            <a:r>
              <a:rPr lang="en-US" sz="1250" dirty="0">
                <a:solidFill>
                  <a:srgbClr val="9AA1AB"/>
                </a:solidFill>
                <a:latin typeface="Calibri" pitchFamily="34" charset="0"/>
                <a:ea typeface="Calibri" pitchFamily="34" charset="-122"/>
                <a:cs typeface="Calibri" pitchFamily="34" charset="-120"/>
              </a:rPr>
              <a:t> always means “quickly”.</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pattern is productive, but natural lexical choices matter.</a:t>
            </a:r>
            <a:endParaRPr lang="en-US" sz="1050" dirty="0"/>
          </a:p>
        </p:txBody>
      </p:sp>
      <p:sp>
        <p:nvSpPr>
          <p:cNvPr id="92" name="Shape 89"/>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4" name="Text 91"/>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bi- + NOUN (genitive) = “-ly”: with speed = quickly. fī + noun = in / at (time or place).</a:t>
            </a:r>
            <a:endParaRPr lang="en-US" sz="1300" dirty="0"/>
          </a:p>
        </p:txBody>
      </p:sp>
      <p:sp>
        <p:nvSpPr>
          <p:cNvPr id="95" name="Text 92"/>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بِ</a:t>
            </a:r>
            <a:pPr rtl="1" algn="ctr" indent="0" marL="0">
              <a:buNone/>
            </a:pPr>
            <a:r>
              <a:rPr lang="ar-SA" altLang="en-US" sz="2400" b="1" dirty="0">
                <a:solidFill>
                  <a:srgbClr val="D6336C"/>
                </a:solidFill>
                <a:latin typeface="Amiri" pitchFamily="34" charset="0"/>
                <a:ea typeface="Amiri" pitchFamily="34" charset="-122"/>
                <a:cs typeface="Amiri" pitchFamily="34" charset="-120"/>
              </a:rPr>
              <a:t>سُرْعَةٍ</a:t>
            </a:r>
            <a:pPr rtl="1" algn="ctr" indent="0" marL="0">
              <a:buNone/>
            </a:pPr>
            <a:r>
              <a:rPr lang="ar-SA" altLang="en-US" sz="2400" b="1" dirty="0">
                <a:solidFill>
                  <a:srgbClr val="1B3B6F"/>
                </a:solidFill>
                <a:latin typeface="Amiri" pitchFamily="34" charset="0"/>
                <a:ea typeface="Amiri" pitchFamily="34" charset="-122"/>
                <a:cs typeface="Amiri" pitchFamily="34" charset="-120"/>
              </a:rPr>
              <a:t> ‖ </a:t>
            </a:r>
            <a:pPr rtl="1" algn="ctr" indent="0" marL="0">
              <a:buNone/>
            </a:pPr>
            <a:r>
              <a:rPr lang="ar-SA" altLang="en-US" sz="2400" b="1" dirty="0">
                <a:solidFill>
                  <a:srgbClr val="0E7C86"/>
                </a:solidFill>
                <a:latin typeface="Amiri" pitchFamily="34" charset="0"/>
                <a:ea typeface="Amiri" pitchFamily="34" charset="-122"/>
                <a:cs typeface="Amiri" pitchFamily="34" charset="-120"/>
              </a:rPr>
              <a:t>فِي</a:t>
            </a:r>
            <a:pPr rtl="1" algn="ctr" indent="0" marL="0">
              <a:buNone/>
            </a:pPr>
            <a:r>
              <a:rPr lang="ar-SA" altLang="en-US" sz="2400" b="1" dirty="0">
                <a:solidFill>
                  <a:srgbClr val="1B3B6F"/>
                </a:solidFill>
                <a:latin typeface="Amiri" pitchFamily="34" charset="0"/>
                <a:ea typeface="Amiri" pitchFamily="34" charset="-122"/>
                <a:cs typeface="Amiri" pitchFamily="34" charset="-120"/>
              </a:rPr>
              <a:t> </a:t>
            </a:r>
            <a:pPr rtl="1" algn="ctr" indent="0" marL="0">
              <a:buNone/>
            </a:pPr>
            <a:r>
              <a:rPr lang="ar-SA" altLang="en-US" sz="2400" b="1" dirty="0">
                <a:solidFill>
                  <a:srgbClr val="D6336C"/>
                </a:solidFill>
                <a:latin typeface="Amiri" pitchFamily="34" charset="0"/>
                <a:ea typeface="Amiri" pitchFamily="34" charset="-122"/>
                <a:cs typeface="Amiri" pitchFamily="34" charset="-120"/>
              </a:rPr>
              <a:t>الصَّبَاحِ</a:t>
            </a:r>
            <a:endParaRPr lang="ar-SA" sz="240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33</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GM-ADV-03 · Adverbs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Adverbs · GM-ADV-03</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common bi- + noun phrases for manner.</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fī + noun for time and place.</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Put the noun after a preposition in the genitive.</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Choose a natural chunk instead of translating word by word.</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use quickly, slowly, carefully, clearly.</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say in the morning and at school.</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write -in / -i after every preposition.</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attach bi- but keep fī separate.</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tell means (by bus) from manner (quickly).</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layer manner, place and time in one sentence.</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33</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GM-ADV-03 · Adverbs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Adverbs · GM-ADV-03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حَرْفُ الْجَرِّ</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preposition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ḥar-fu al-jar-ri</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بِـ · فِي</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الْمَجْرُورُ</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genitive noun after it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al-maj-rū-ru</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بِسُرْعَةٍ</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بِـ</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with, by (attached)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bi-</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بِعِنَايَةٍ · بِالْحَافِلَةِ</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فِي</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 at (separate)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fī</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فِي الْمَدْرَسَةِ</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سُرْعَةٌ</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speed (noun)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sur-ʿa-tun</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34" charset="0"/>
                <a:ea typeface="Amiri" pitchFamily="34" charset="-122"/>
                <a:cs typeface="Amiri" pitchFamily="34" charset="-120"/>
              </a:rPr>
              <a:t>بِسُرْعَةٍ</a:t>
            </a:r>
            <a:pPr algn="l" indent="0" marL="0">
              <a:buNone/>
            </a:pPr>
            <a:r>
              <a:rPr lang="en-US" sz="1000" i="1" dirty="0">
                <a:solidFill>
                  <a:srgbClr val="8A6D1E"/>
                </a:solidFill>
                <a:latin typeface="Calibri" pitchFamily="34" charset="0"/>
                <a:ea typeface="Calibri" pitchFamily="34" charset="-122"/>
                <a:cs typeface="Calibri" pitchFamily="34" charset="-120"/>
              </a:rPr>
              <a:t> = quickly</a:t>
            </a:r>
            <a:endParaRPr lang="en-US" sz="10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الْوَسِيلَةُ</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means (how you travel)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al-wa-sī-la-tu</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بِالسَّيَّارَةِ</a:t>
            </a:r>
            <a:endParaRPr lang="ar-SA" sz="13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33</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GM-ADV-03 · Adverbs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 PART 1 · BI- + NOUN: EXPRESSING MANNER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Eight -ly chunks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بِـ + اسْمٍ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Adverbs · GM-ADV-03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5833872" y="1810512"/>
            <a:ext cx="58247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Natural model (website)</a:t>
            </a:r>
            <a:endParaRPr lang="en-US" sz="1100" dirty="0"/>
          </a:p>
        </p:txBody>
      </p:sp>
      <p:sp>
        <p:nvSpPr>
          <p:cNvPr id="17" name="Text 14"/>
          <p:cNvSpPr txBox="1"/>
          <p:nvPr/>
        </p:nvSpPr>
        <p:spPr>
          <a:xfrm>
            <a:off x="327355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8" name="Text 15"/>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Phrase</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5852160" y="2267712"/>
            <a:ext cx="578815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أَكْمَلْتُ الْعَمَلَ بِسُرْعَةٍ.</a:t>
            </a:r>
            <a:endParaRPr lang="ar-SA" sz="2200" dirty="0"/>
          </a:p>
        </p:txBody>
      </p:sp>
      <p:sp>
        <p:nvSpPr>
          <p:cNvPr id="21" name="Text 18"/>
          <p:cNvSpPr txBox="1"/>
          <p:nvPr/>
        </p:nvSpPr>
        <p:spPr>
          <a:xfrm>
            <a:off x="3310128" y="2267712"/>
            <a:ext cx="23774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quickly</a:t>
            </a:r>
            <a:endParaRPr lang="en-US" sz="1100" dirty="0"/>
          </a:p>
        </p:txBody>
      </p:sp>
      <p:sp>
        <p:nvSpPr>
          <p:cNvPr id="22" name="Text 19"/>
          <p:cNvSpPr txBox="1"/>
          <p:nvPr/>
        </p:nvSpPr>
        <p:spPr>
          <a:xfrm>
            <a:off x="548640" y="2267712"/>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بِسُرْعَةٍ</a:t>
            </a:r>
            <a:endParaRPr lang="ar-SA" sz="24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5852160" y="2881884"/>
            <a:ext cx="578815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تَحَدَّثَ بِبُطْءٍ.</a:t>
            </a:r>
            <a:endParaRPr lang="ar-SA" sz="2200" dirty="0"/>
          </a:p>
        </p:txBody>
      </p:sp>
      <p:sp>
        <p:nvSpPr>
          <p:cNvPr id="27" name="Text 24"/>
          <p:cNvSpPr txBox="1"/>
          <p:nvPr/>
        </p:nvSpPr>
        <p:spPr>
          <a:xfrm>
            <a:off x="3310128" y="2881884"/>
            <a:ext cx="23774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slowly</a:t>
            </a:r>
            <a:endParaRPr lang="en-US" sz="1100" dirty="0"/>
          </a:p>
        </p:txBody>
      </p:sp>
      <p:sp>
        <p:nvSpPr>
          <p:cNvPr id="28" name="Text 25"/>
          <p:cNvSpPr txBox="1"/>
          <p:nvPr/>
        </p:nvSpPr>
        <p:spPr>
          <a:xfrm>
            <a:off x="548640" y="2881884"/>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بِبُطْءٍ</a:t>
            </a:r>
            <a:endParaRPr lang="ar-SA" sz="24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5852160" y="3496056"/>
            <a:ext cx="578815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فَهِمْتُ الدَّرْسَ بِسُهُولَةٍ.</a:t>
            </a:r>
            <a:endParaRPr lang="ar-SA" sz="2200" dirty="0"/>
          </a:p>
        </p:txBody>
      </p:sp>
      <p:sp>
        <p:nvSpPr>
          <p:cNvPr id="33" name="Text 30"/>
          <p:cNvSpPr txBox="1"/>
          <p:nvPr/>
        </p:nvSpPr>
        <p:spPr>
          <a:xfrm>
            <a:off x="3310128" y="3496056"/>
            <a:ext cx="23774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easily</a:t>
            </a:r>
            <a:endParaRPr lang="en-US" sz="1100" dirty="0"/>
          </a:p>
        </p:txBody>
      </p:sp>
      <p:sp>
        <p:nvSpPr>
          <p:cNvPr id="34" name="Text 31"/>
          <p:cNvSpPr txBox="1"/>
          <p:nvPr/>
        </p:nvSpPr>
        <p:spPr>
          <a:xfrm>
            <a:off x="548640" y="3496056"/>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بِسُهُولَةٍ</a:t>
            </a:r>
            <a:endParaRPr lang="ar-SA" sz="24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5852160" y="4110228"/>
            <a:ext cx="578815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وَجَدْنَا الْمَكَانَ بِصُعُوبَةٍ.</a:t>
            </a:r>
            <a:endParaRPr lang="ar-SA" sz="2200" dirty="0"/>
          </a:p>
        </p:txBody>
      </p:sp>
      <p:sp>
        <p:nvSpPr>
          <p:cNvPr id="39" name="Text 36"/>
          <p:cNvSpPr txBox="1"/>
          <p:nvPr/>
        </p:nvSpPr>
        <p:spPr>
          <a:xfrm>
            <a:off x="3310128" y="4110228"/>
            <a:ext cx="23774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with difficulty</a:t>
            </a:r>
            <a:endParaRPr lang="en-US" sz="1100" dirty="0"/>
          </a:p>
        </p:txBody>
      </p:sp>
      <p:sp>
        <p:nvSpPr>
          <p:cNvPr id="40" name="Text 37"/>
          <p:cNvSpPr txBox="1"/>
          <p:nvPr/>
        </p:nvSpPr>
        <p:spPr>
          <a:xfrm>
            <a:off x="548640" y="4110228"/>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بِصُعُوبَةٍ</a:t>
            </a:r>
            <a:endParaRPr lang="ar-SA" sz="2400" dirty="0"/>
          </a:p>
        </p:txBody>
      </p:sp>
      <p:sp>
        <p:nvSpPr>
          <p:cNvPr id="41" name="Shape 3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3" name="Shape 4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4" name="Text 41"/>
          <p:cNvSpPr txBox="1"/>
          <p:nvPr/>
        </p:nvSpPr>
        <p:spPr>
          <a:xfrm>
            <a:off x="5852160" y="4724400"/>
            <a:ext cx="578815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أَجَابَتْ بِهُدُوءٍ وَبِوُضُوحٍ.</a:t>
            </a:r>
            <a:endParaRPr lang="ar-SA" sz="2200" dirty="0"/>
          </a:p>
        </p:txBody>
      </p:sp>
      <p:sp>
        <p:nvSpPr>
          <p:cNvPr id="45" name="Text 42"/>
          <p:cNvSpPr txBox="1"/>
          <p:nvPr/>
        </p:nvSpPr>
        <p:spPr>
          <a:xfrm>
            <a:off x="3310128" y="4724400"/>
            <a:ext cx="23774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calmly · clearly</a:t>
            </a:r>
            <a:endParaRPr lang="en-US" sz="1100" dirty="0"/>
          </a:p>
        </p:txBody>
      </p:sp>
      <p:sp>
        <p:nvSpPr>
          <p:cNvPr id="46" name="Text 43"/>
          <p:cNvSpPr txBox="1"/>
          <p:nvPr/>
        </p:nvSpPr>
        <p:spPr>
          <a:xfrm>
            <a:off x="548640" y="4724400"/>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بِهُدُوءٍ · بِوُضُوحٍ</a:t>
            </a:r>
            <a:endParaRPr lang="ar-SA" sz="2400" dirty="0"/>
          </a:p>
        </p:txBody>
      </p:sp>
      <p:sp>
        <p:nvSpPr>
          <p:cNvPr id="47" name="Shape 44"/>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8" name="Text 45"/>
          <p:cNvSpPr txBox="1"/>
          <p:nvPr/>
        </p:nvSpPr>
        <p:spPr>
          <a:xfrm>
            <a:off x="5852160" y="5338572"/>
            <a:ext cx="578815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قُدْ بِعِنَايَةٍ وَبِأَمَانٍ.</a:t>
            </a:r>
            <a:endParaRPr lang="ar-SA" sz="2200" dirty="0"/>
          </a:p>
        </p:txBody>
      </p:sp>
      <p:sp>
        <p:nvSpPr>
          <p:cNvPr id="49" name="Text 46"/>
          <p:cNvSpPr txBox="1"/>
          <p:nvPr/>
        </p:nvSpPr>
        <p:spPr>
          <a:xfrm>
            <a:off x="3310128" y="5338572"/>
            <a:ext cx="23774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carefully · safely</a:t>
            </a:r>
            <a:endParaRPr lang="en-US" sz="1100" dirty="0"/>
          </a:p>
        </p:txBody>
      </p:sp>
      <p:sp>
        <p:nvSpPr>
          <p:cNvPr id="50" name="Text 47"/>
          <p:cNvSpPr txBox="1"/>
          <p:nvPr/>
        </p:nvSpPr>
        <p:spPr>
          <a:xfrm>
            <a:off x="548640" y="5338572"/>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بِعِنَايَةٍ · بِأَمَانٍ</a:t>
            </a:r>
            <a:endParaRPr lang="ar-SA" sz="24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bi- means “with / by / in a manner of”; the noun after it is genitive — surʿatun → bi-surʿatin.</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33</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GM-ADV-03 · Adverbs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88" b="1" spc="150" kern="0" dirty="0">
                <a:solidFill>
                  <a:srgbClr val="1B3B6F"/>
                </a:solidFill>
                <a:latin typeface="Calibri" pitchFamily="34" charset="0"/>
                <a:ea typeface="Calibri" pitchFamily="34" charset="-122"/>
                <a:cs typeface="Calibri" pitchFamily="34" charset="-120"/>
              </a:rPr>
              <a:t>GRAMMAR · PART 2 · USE THE NOUN, NOT THE ADJECTIVE (WEBSITE WARNING) · DEVELOP</a:t>
            </a:r>
            <a:endParaRPr lang="en-US" sz="888"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Adjective → noun → phrase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مِنَ الصِّفَةِ إِلَى الْعِبَارَةِ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Adverbs · GM-ADV-03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7" name="Text 14"/>
          <p:cNvSpPr txBox="1"/>
          <p:nvPr/>
        </p:nvSpPr>
        <p:spPr>
          <a:xfrm>
            <a:off x="60167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Phrase</a:t>
            </a:r>
            <a:endParaRPr lang="en-US" sz="1100" dirty="0"/>
          </a:p>
        </p:txBody>
      </p:sp>
      <p:sp>
        <p:nvSpPr>
          <p:cNvPr id="18" name="Text 15"/>
          <p:cNvSpPr txBox="1"/>
          <p:nvPr/>
        </p:nvSpPr>
        <p:spPr>
          <a:xfrm>
            <a:off x="32735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Noun</a:t>
            </a:r>
            <a:endParaRPr lang="en-US" sz="1100" dirty="0"/>
          </a:p>
        </p:txBody>
      </p:sp>
      <p:sp>
        <p:nvSpPr>
          <p:cNvPr id="19" name="Text 16"/>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Adjective</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796528" y="2267712"/>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fast → quickly</a:t>
            </a:r>
            <a:endParaRPr lang="en-US" sz="1100" dirty="0"/>
          </a:p>
        </p:txBody>
      </p:sp>
      <p:sp>
        <p:nvSpPr>
          <p:cNvPr id="22" name="Text 19"/>
          <p:cNvSpPr txBox="1"/>
          <p:nvPr/>
        </p:nvSpPr>
        <p:spPr>
          <a:xfrm>
            <a:off x="6035040" y="2267712"/>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بِسُرْعَةٍ</a:t>
            </a:r>
            <a:endParaRPr lang="ar-SA" sz="2400" dirty="0"/>
          </a:p>
        </p:txBody>
      </p:sp>
      <p:sp>
        <p:nvSpPr>
          <p:cNvPr id="23" name="Text 20"/>
          <p:cNvSpPr txBox="1"/>
          <p:nvPr/>
        </p:nvSpPr>
        <p:spPr>
          <a:xfrm>
            <a:off x="3291840" y="2267712"/>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سُرْعَةٌ</a:t>
            </a:r>
            <a:endParaRPr lang="ar-SA" sz="2400" dirty="0"/>
          </a:p>
        </p:txBody>
      </p:sp>
      <p:sp>
        <p:nvSpPr>
          <p:cNvPr id="24" name="Text 21"/>
          <p:cNvSpPr txBox="1"/>
          <p:nvPr/>
        </p:nvSpPr>
        <p:spPr>
          <a:xfrm>
            <a:off x="548640" y="2267712"/>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سَرِيعٌ</a:t>
            </a:r>
            <a:endParaRPr lang="ar-SA" sz="24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796528" y="3004718"/>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easy → easily</a:t>
            </a:r>
            <a:endParaRPr lang="en-US" sz="1100" dirty="0"/>
          </a:p>
        </p:txBody>
      </p:sp>
      <p:sp>
        <p:nvSpPr>
          <p:cNvPr id="29" name="Text 26"/>
          <p:cNvSpPr txBox="1"/>
          <p:nvPr/>
        </p:nvSpPr>
        <p:spPr>
          <a:xfrm>
            <a:off x="6035040" y="3004718"/>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بِسُهُولَةٍ</a:t>
            </a:r>
            <a:endParaRPr lang="ar-SA" sz="2400" dirty="0"/>
          </a:p>
        </p:txBody>
      </p:sp>
      <p:sp>
        <p:nvSpPr>
          <p:cNvPr id="30" name="Text 27"/>
          <p:cNvSpPr txBox="1"/>
          <p:nvPr/>
        </p:nvSpPr>
        <p:spPr>
          <a:xfrm>
            <a:off x="3291840" y="3004718"/>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سُهُولَةٌ</a:t>
            </a:r>
            <a:endParaRPr lang="ar-SA" sz="2400" dirty="0"/>
          </a:p>
        </p:txBody>
      </p:sp>
      <p:sp>
        <p:nvSpPr>
          <p:cNvPr id="31" name="Text 28"/>
          <p:cNvSpPr txBox="1"/>
          <p:nvPr/>
        </p:nvSpPr>
        <p:spPr>
          <a:xfrm>
            <a:off x="548640" y="3004718"/>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سَهْلٌ</a:t>
            </a:r>
            <a:endParaRPr lang="ar-SA" sz="24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796528" y="3741725"/>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clear → clearly</a:t>
            </a:r>
            <a:endParaRPr lang="en-US" sz="1100" dirty="0"/>
          </a:p>
        </p:txBody>
      </p:sp>
      <p:sp>
        <p:nvSpPr>
          <p:cNvPr id="36" name="Text 33"/>
          <p:cNvSpPr txBox="1"/>
          <p:nvPr/>
        </p:nvSpPr>
        <p:spPr>
          <a:xfrm>
            <a:off x="6035040" y="3741725"/>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بِوُضُوحٍ</a:t>
            </a:r>
            <a:endParaRPr lang="ar-SA" sz="2400" dirty="0"/>
          </a:p>
        </p:txBody>
      </p:sp>
      <p:sp>
        <p:nvSpPr>
          <p:cNvPr id="37" name="Text 34"/>
          <p:cNvSpPr txBox="1"/>
          <p:nvPr/>
        </p:nvSpPr>
        <p:spPr>
          <a:xfrm>
            <a:off x="3291840" y="3741725"/>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وُضُوحٌ</a:t>
            </a:r>
            <a:endParaRPr lang="ar-SA" sz="2400" dirty="0"/>
          </a:p>
        </p:txBody>
      </p:sp>
      <p:sp>
        <p:nvSpPr>
          <p:cNvPr id="38" name="Text 35"/>
          <p:cNvSpPr txBox="1"/>
          <p:nvPr/>
        </p:nvSpPr>
        <p:spPr>
          <a:xfrm>
            <a:off x="548640" y="3741725"/>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وَاضِحٌ</a:t>
            </a:r>
            <a:endParaRPr lang="ar-SA" sz="24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8796528" y="4478731"/>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calm → calmly</a:t>
            </a:r>
            <a:endParaRPr lang="en-US" sz="1100" dirty="0"/>
          </a:p>
        </p:txBody>
      </p:sp>
      <p:sp>
        <p:nvSpPr>
          <p:cNvPr id="43" name="Text 40"/>
          <p:cNvSpPr txBox="1"/>
          <p:nvPr/>
        </p:nvSpPr>
        <p:spPr>
          <a:xfrm>
            <a:off x="6035040" y="4478731"/>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بِهُدُوءٍ</a:t>
            </a:r>
            <a:endParaRPr lang="ar-SA" sz="2400" dirty="0"/>
          </a:p>
        </p:txBody>
      </p:sp>
      <p:sp>
        <p:nvSpPr>
          <p:cNvPr id="44" name="Text 41"/>
          <p:cNvSpPr txBox="1"/>
          <p:nvPr/>
        </p:nvSpPr>
        <p:spPr>
          <a:xfrm>
            <a:off x="3291840" y="4478731"/>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هُدُوءٌ</a:t>
            </a:r>
            <a:endParaRPr lang="ar-SA" sz="2400" dirty="0"/>
          </a:p>
        </p:txBody>
      </p:sp>
      <p:sp>
        <p:nvSpPr>
          <p:cNvPr id="45" name="Text 42"/>
          <p:cNvSpPr txBox="1"/>
          <p:nvPr/>
        </p:nvSpPr>
        <p:spPr>
          <a:xfrm>
            <a:off x="548640" y="4478731"/>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هَادِئٌ</a:t>
            </a:r>
            <a:endParaRPr lang="ar-SA" sz="2400" dirty="0"/>
          </a:p>
        </p:txBody>
      </p:sp>
      <p:sp>
        <p:nvSpPr>
          <p:cNvPr id="46" name="Shape 43"/>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7" name="Text 44"/>
          <p:cNvSpPr txBox="1"/>
          <p:nvPr/>
        </p:nvSpPr>
        <p:spPr>
          <a:xfrm>
            <a:off x="8796528" y="5215738"/>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safe → safely</a:t>
            </a:r>
            <a:endParaRPr lang="en-US" sz="1100" dirty="0"/>
          </a:p>
        </p:txBody>
      </p:sp>
      <p:sp>
        <p:nvSpPr>
          <p:cNvPr id="48" name="Text 45"/>
          <p:cNvSpPr txBox="1"/>
          <p:nvPr/>
        </p:nvSpPr>
        <p:spPr>
          <a:xfrm>
            <a:off x="6035040" y="5215738"/>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بِأَمَانٍ</a:t>
            </a:r>
            <a:endParaRPr lang="ar-SA" sz="2400" dirty="0"/>
          </a:p>
        </p:txBody>
      </p:sp>
      <p:sp>
        <p:nvSpPr>
          <p:cNvPr id="49" name="Text 46"/>
          <p:cNvSpPr txBox="1"/>
          <p:nvPr/>
        </p:nvSpPr>
        <p:spPr>
          <a:xfrm>
            <a:off x="3291840" y="5215738"/>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أَمَانٌ</a:t>
            </a:r>
            <a:endParaRPr lang="ar-SA" sz="2400" dirty="0"/>
          </a:p>
        </p:txBody>
      </p:sp>
      <p:sp>
        <p:nvSpPr>
          <p:cNvPr id="50" name="Text 47"/>
          <p:cNvSpPr txBox="1"/>
          <p:nvPr/>
        </p:nvSpPr>
        <p:spPr>
          <a:xfrm>
            <a:off x="548640" y="5215738"/>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آمِنٌ</a:t>
            </a:r>
            <a:endParaRPr lang="ar-SA" sz="24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never attach bi- to the adjective (bi-sarīʿin ✗). Learn the common noun-based chunk.</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33</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GM-ADV-03 · Adverbs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 PART 3 · FĪ + NOUN, SPELLING AND POSITION (WEBSITE) · STRETCH</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In, at — and where the phrase goes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فِي + اسْمٍ وَالتَّرْتِيبُ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Adverbs · GM-ADV-03</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THE RULE, STEP BY STEP</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1</a:t>
            </a:r>
            <a:endParaRPr lang="en-US" sz="1100" dirty="0"/>
          </a:p>
        </p:txBody>
      </p:sp>
      <p:sp>
        <p:nvSpPr>
          <p:cNvPr id="19" name="Text 16"/>
          <p:cNvSpPr txBox="1"/>
          <p:nvPr/>
        </p:nvSpPr>
        <p:spPr>
          <a:xfrm>
            <a:off x="1078992" y="2176272"/>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Fī + noun creates everyday place and time expressions (website).</a:t>
            </a:r>
            <a:endParaRPr lang="en-US" sz="1300" dirty="0"/>
          </a:p>
        </p:txBody>
      </p:sp>
      <p:sp>
        <p:nvSpPr>
          <p:cNvPr id="20" name="Shape 17"/>
          <p:cNvSpPr/>
          <p:nvPr/>
        </p:nvSpPr>
        <p:spPr>
          <a:xfrm>
            <a:off x="658368" y="2885846"/>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288584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2</a:t>
            </a:r>
            <a:endParaRPr lang="en-US" sz="1100" dirty="0"/>
          </a:p>
        </p:txBody>
      </p:sp>
      <p:sp>
        <p:nvSpPr>
          <p:cNvPr id="22" name="Text 19"/>
          <p:cNvSpPr txBox="1"/>
          <p:nvPr/>
        </p:nvSpPr>
        <p:spPr>
          <a:xfrm>
            <a:off x="1078992" y="2776118"/>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Spelling: fī stays SEPARATE; bi- ATTACHES — bi-surʿatin, bi-l-ḥāfila (website).</a:t>
            </a:r>
            <a:endParaRPr lang="en-US" sz="1300" dirty="0"/>
          </a:p>
        </p:txBody>
      </p:sp>
      <p:sp>
        <p:nvSpPr>
          <p:cNvPr id="23" name="Shape 20"/>
          <p:cNvSpPr/>
          <p:nvPr/>
        </p:nvSpPr>
        <p:spPr>
          <a:xfrm>
            <a:off x="658368" y="3485693"/>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485693"/>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3</a:t>
            </a:r>
            <a:endParaRPr lang="en-US" sz="1100" dirty="0"/>
          </a:p>
        </p:txBody>
      </p:sp>
      <p:sp>
        <p:nvSpPr>
          <p:cNvPr id="25" name="Text 22"/>
          <p:cNvSpPr txBox="1"/>
          <p:nvPr/>
        </p:nvSpPr>
        <p:spPr>
          <a:xfrm>
            <a:off x="1078992" y="3375965"/>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A manner phrase usually follows the verb or its object (website).</a:t>
            </a:r>
            <a:endParaRPr lang="en-US" sz="1300" dirty="0"/>
          </a:p>
        </p:txBody>
      </p:sp>
      <p:sp>
        <p:nvSpPr>
          <p:cNvPr id="26" name="Shape 23"/>
          <p:cNvSpPr/>
          <p:nvPr/>
        </p:nvSpPr>
        <p:spPr>
          <a:xfrm>
            <a:off x="658368" y="4085539"/>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085539"/>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4</a:t>
            </a:r>
            <a:endParaRPr lang="en-US" sz="1100" dirty="0"/>
          </a:p>
        </p:txBody>
      </p:sp>
      <p:sp>
        <p:nvSpPr>
          <p:cNvPr id="28" name="Text 25"/>
          <p:cNvSpPr txBox="1"/>
          <p:nvPr/>
        </p:nvSpPr>
        <p:spPr>
          <a:xfrm>
            <a:off x="1078992" y="3975811"/>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Time and place phrases can move to the front for emphasis (website).</a:t>
            </a:r>
            <a:endParaRPr lang="en-US" sz="1300" dirty="0"/>
          </a:p>
        </p:txBody>
      </p:sp>
      <p:sp>
        <p:nvSpPr>
          <p:cNvPr id="29" name="Shape 26"/>
          <p:cNvSpPr/>
          <p:nvPr/>
        </p:nvSpPr>
        <p:spPr>
          <a:xfrm>
            <a:off x="658368" y="4685386"/>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58368" y="468538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5</a:t>
            </a:r>
            <a:endParaRPr lang="en-US" sz="1100" dirty="0"/>
          </a:p>
        </p:txBody>
      </p:sp>
      <p:sp>
        <p:nvSpPr>
          <p:cNvPr id="31" name="Text 28"/>
          <p:cNvSpPr txBox="1"/>
          <p:nvPr/>
        </p:nvSpPr>
        <p:spPr>
          <a:xfrm>
            <a:off x="1078992" y="4575658"/>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Means vs manner: by bus answers “how did you travel?”; quickly answers “in what way?”</a:t>
            </a:r>
            <a:endParaRPr lang="en-US" sz="1300" dirty="0"/>
          </a:p>
        </p:txBody>
      </p:sp>
      <p:sp>
        <p:nvSpPr>
          <p:cNvPr id="32" name="Shape 29"/>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Text 30"/>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WORKED EXAMPLES</a:t>
            </a:r>
            <a:endParaRPr lang="en-US" sz="1000" dirty="0"/>
          </a:p>
        </p:txBody>
      </p:sp>
      <p:sp>
        <p:nvSpPr>
          <p:cNvPr id="34" name="Text 31"/>
          <p:cNvSpPr txBox="1"/>
          <p:nvPr/>
        </p:nvSpPr>
        <p:spPr>
          <a:xfrm>
            <a:off x="6949440" y="2194560"/>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فِي الْبَيْتِ · فِي الْخَارِجِ</a:t>
            </a:r>
            <a:endParaRPr lang="ar-SA" sz="1950" dirty="0"/>
          </a:p>
        </p:txBody>
      </p:sp>
      <p:sp>
        <p:nvSpPr>
          <p:cNvPr id="35" name="Text 32"/>
          <p:cNvSpPr txBox="1"/>
          <p:nvPr/>
        </p:nvSpPr>
        <p:spPr>
          <a:xfrm>
            <a:off x="6949440" y="2619573"/>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at home · abroad  ·  website · place</a:t>
            </a:r>
            <a:endParaRPr lang="en-US" sz="1100" dirty="0"/>
          </a:p>
        </p:txBody>
      </p:sp>
      <p:sp>
        <p:nvSpPr>
          <p:cNvPr id="36" name="Shape 33"/>
          <p:cNvSpPr/>
          <p:nvPr/>
        </p:nvSpPr>
        <p:spPr>
          <a:xfrm>
            <a:off x="6995160" y="2935224"/>
            <a:ext cx="4553712" cy="0"/>
          </a:xfrm>
          <a:prstGeom prst="line">
            <a:avLst/>
          </a:prstGeom>
          <a:noFill/>
          <a:ln w="9525">
            <a:solidFill>
              <a:srgbClr val="E4DCCB"/>
            </a:solidFill>
            <a:prstDash val="dash"/>
          </a:ln>
        </p:spPr>
      </p:sp>
      <p:sp>
        <p:nvSpPr>
          <p:cNvPr id="37" name="Text 34"/>
          <p:cNvSpPr txBox="1"/>
          <p:nvPr/>
        </p:nvSpPr>
        <p:spPr>
          <a:xfrm>
            <a:off x="6949440" y="2953512"/>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فِي الصَّبَاحِ · فِي الشِّتَاءِ</a:t>
            </a:r>
            <a:endParaRPr lang="ar-SA" sz="1950" dirty="0"/>
          </a:p>
        </p:txBody>
      </p:sp>
      <p:sp>
        <p:nvSpPr>
          <p:cNvPr id="38" name="Text 35"/>
          <p:cNvSpPr txBox="1"/>
          <p:nvPr/>
        </p:nvSpPr>
        <p:spPr>
          <a:xfrm>
            <a:off x="6949440" y="3378525"/>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in the morning · in winter  ·  website · time</a:t>
            </a:r>
            <a:endParaRPr lang="en-US" sz="1100" dirty="0"/>
          </a:p>
        </p:txBody>
      </p:sp>
      <p:sp>
        <p:nvSpPr>
          <p:cNvPr id="39" name="Shape 36"/>
          <p:cNvSpPr/>
          <p:nvPr/>
        </p:nvSpPr>
        <p:spPr>
          <a:xfrm>
            <a:off x="6995160" y="3694176"/>
            <a:ext cx="4553712" cy="0"/>
          </a:xfrm>
          <a:prstGeom prst="line">
            <a:avLst/>
          </a:prstGeom>
          <a:noFill/>
          <a:ln w="9525">
            <a:solidFill>
              <a:srgbClr val="E4DCCB"/>
            </a:solidFill>
            <a:prstDash val="dash"/>
          </a:ln>
        </p:spPr>
      </p:sp>
      <p:sp>
        <p:nvSpPr>
          <p:cNvPr id="40" name="Text 37"/>
          <p:cNvSpPr txBox="1"/>
          <p:nvPr/>
        </p:nvSpPr>
        <p:spPr>
          <a:xfrm>
            <a:off x="6949440" y="3712464"/>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قَرَأْتُ النَّصَّ بِعِنَايَةٍ.</a:t>
            </a:r>
            <a:endParaRPr lang="ar-SA" sz="1950" dirty="0"/>
          </a:p>
        </p:txBody>
      </p:sp>
      <p:sp>
        <p:nvSpPr>
          <p:cNvPr id="41" name="Text 38"/>
          <p:cNvSpPr txBox="1"/>
          <p:nvPr/>
        </p:nvSpPr>
        <p:spPr>
          <a:xfrm>
            <a:off x="6949440" y="4137477"/>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I read the text carefully.  ·  website · manner after object</a:t>
            </a:r>
            <a:endParaRPr lang="en-US" sz="1100" dirty="0"/>
          </a:p>
        </p:txBody>
      </p:sp>
      <p:sp>
        <p:nvSpPr>
          <p:cNvPr id="42" name="Shape 39"/>
          <p:cNvSpPr/>
          <p:nvPr/>
        </p:nvSpPr>
        <p:spPr>
          <a:xfrm>
            <a:off x="6995160" y="4453128"/>
            <a:ext cx="4553712" cy="0"/>
          </a:xfrm>
          <a:prstGeom prst="line">
            <a:avLst/>
          </a:prstGeom>
          <a:noFill/>
          <a:ln w="9525">
            <a:solidFill>
              <a:srgbClr val="E4DCCB"/>
            </a:solidFill>
            <a:prstDash val="dash"/>
          </a:ln>
        </p:spPr>
      </p:sp>
      <p:sp>
        <p:nvSpPr>
          <p:cNvPr id="43" name="Text 40"/>
          <p:cNvSpPr txBox="1"/>
          <p:nvPr/>
        </p:nvSpPr>
        <p:spPr>
          <a:xfrm>
            <a:off x="6949440" y="4471416"/>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أَكْمَلْتُ الْوَاجِبَ بِسُرْعَةٍ فِي الْمَكْتَبَةِ أَمْسِ.</a:t>
            </a:r>
            <a:endParaRPr lang="ar-SA" sz="1950" dirty="0"/>
          </a:p>
        </p:txBody>
      </p:sp>
      <p:sp>
        <p:nvSpPr>
          <p:cNvPr id="44" name="Text 41"/>
          <p:cNvSpPr txBox="1"/>
          <p:nvPr/>
        </p:nvSpPr>
        <p:spPr>
          <a:xfrm>
            <a:off x="6949440" y="4896429"/>
            <a:ext cx="4645152" cy="303581"/>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 finished the homework quickly in the library yesterday.  ·  website · layering</a:t>
            </a:r>
            <a:endParaRPr lang="en-US" sz="950" dirty="0"/>
          </a:p>
        </p:txBody>
      </p:sp>
      <p:sp>
        <p:nvSpPr>
          <p:cNvPr id="45" name="Shape 42"/>
          <p:cNvSpPr/>
          <p:nvPr/>
        </p:nvSpPr>
        <p:spPr>
          <a:xfrm>
            <a:off x="457200" y="5394960"/>
            <a:ext cx="11274552" cy="914400"/>
          </a:xfrm>
          <a:prstGeom prst="roundRect">
            <a:avLst>
              <a:gd name="adj" fmla="val 8000"/>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8A6D1E"/>
                </a:solidFill>
                <a:latin typeface="Calibri" pitchFamily="34" charset="0"/>
                <a:ea typeface="Calibri" pitchFamily="34" charset="-122"/>
                <a:cs typeface="Calibri" pitchFamily="34" charset="-120"/>
              </a:rPr>
              <a:t>REMEMBER</a:t>
            </a:r>
            <a:endParaRPr lang="en-US" sz="1100" dirty="0"/>
          </a:p>
        </p:txBody>
      </p:sp>
      <p:sp>
        <p:nvSpPr>
          <p:cNvPr id="47" name="Text 44"/>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Website: use only as much detail as the message needs — manner, place and time can all be layered, but clarity comes first.</a:t>
            </a:r>
            <a:endParaRPr lang="en-US" sz="12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33</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GM-ADV-03 · Adverbs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Adverbs · GM-ADV-03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“carefully”.</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عِنَايَةٌ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بِعِنَايَةُ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بِعِنَايَةٍ</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student answered calmly.”</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أَجَابَ الطَّالِبُ بِهُدُوءٍ.</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أَجَابَ الطَّالِبُ هَادِئٌ.</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أَجَابَ الطَّالِبُ فِي هَادِئٍ.</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“in the morning”.</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بِالصَّبَاحُ</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الصَّبَاحِ</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الصَّبَاحَ فِي</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time phrase rather than a place phrase?</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الْمَسَاءِ</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الْمَكْتَبَةِ</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الْحَدِيقَةِ</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33</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GM-ADV-03 · Adverbs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Adverbs · GM-ADV-03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“carefully”.</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عِنَايَةٌ</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بِعِنَايَةُ</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بِعِنَايَةٍ</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Bi- + genitive noun.</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student answered calmly.”</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أَجَابَ الطَّالِبُ بِهُدُوءٍ.</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أَجَابَ الطَّالِبُ هَادِئٌ.</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أَجَابَ الطَّالِبُ فِي هَادِئٍ.</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Bi-hudūʾin describes the manner of answering.</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“in the morning”.</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بِالصَّبَاحُ</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فِي الصَّبَاحِ</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الصَّبَاحَ فِي</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Fī + a definite genitive noun.</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time phrase rather than a place phrase?</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فِي الْمَسَاءِ</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 الْمَكْتَبَةِ</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 الْحَدِيقَةِ</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In the evening is a time phrase.</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33</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GM-ADV-03 · Adverbs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ea typeface="Cambria" pitchFamily="34" charset="-122"/>
                <a:cs typeface="Cambria" pitchFamily="34" charset="-120"/>
              </a:rPr>
              <a:t>Watch me add manner, place and time</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Adverbs · GM-ADV-03</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Verb + object</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أَكْمَلْتُ الْوَاجِبَ</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What happened?</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Manner</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بِسُرْعَةٍ</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bi- + noun, -in.</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Place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فِي الْمَكْتَبَةِ</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fī + noun, -i.</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Time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أَمْسِ</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When?</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MANNER (bi-)</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PLACE / TIME (fī)</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أَكْمَلْتُ الْوَاجِبَ </a:t>
            </a:r>
            <a:pPr rtl="1" algn="r" indent="0" marL="0">
              <a:buNone/>
            </a:pPr>
            <a:r>
              <a:rPr lang="ar-SA" altLang="en-US" sz="2600" b="1" dirty="0">
                <a:solidFill>
                  <a:srgbClr val="0E7C86"/>
                </a:solidFill>
                <a:latin typeface="Amiri" pitchFamily="34" charset="0"/>
                <a:ea typeface="Amiri" pitchFamily="34" charset="-122"/>
                <a:cs typeface="Amiri" pitchFamily="34" charset="-120"/>
              </a:rPr>
              <a:t>بِسُرْعَةٍ</a:t>
            </a:r>
            <a:pPr rtl="1" algn="r" indent="0" marL="0">
              <a:buNone/>
            </a:pPr>
            <a:r>
              <a:rPr lang="ar-SA" altLang="en-US" sz="2600" b="1" dirty="0">
                <a:solidFill>
                  <a:srgbClr val="1B3B6F"/>
                </a:solidFill>
                <a:latin typeface="Amiri" pitchFamily="34" charset="0"/>
                <a:ea typeface="Amiri" pitchFamily="34" charset="-122"/>
                <a:cs typeface="Amiri" pitchFamily="34" charset="-120"/>
              </a:rPr>
              <a:t> </a:t>
            </a:r>
            <a:pPr rtl="1" algn="r" indent="0" marL="0">
              <a:buNone/>
            </a:pPr>
            <a:r>
              <a:rPr lang="ar-SA" altLang="en-US" sz="2600" b="1" dirty="0">
                <a:solidFill>
                  <a:srgbClr val="D6336C"/>
                </a:solidFill>
                <a:latin typeface="Amiri" pitchFamily="34" charset="0"/>
                <a:ea typeface="Amiri" pitchFamily="34" charset="-122"/>
                <a:cs typeface="Amiri" pitchFamily="34" charset="-120"/>
              </a:rPr>
              <a:t>فِي الْمَكْتَبَةِ</a:t>
            </a:r>
            <a:pPr rtl="1" algn="r" indent="0" marL="0">
              <a:buNone/>
            </a:pPr>
            <a:r>
              <a:rPr lang="ar-SA" altLang="en-US" sz="2600" b="1" dirty="0">
                <a:solidFill>
                  <a:srgbClr val="1B3B6F"/>
                </a:solidFill>
                <a:latin typeface="Amiri" pitchFamily="34" charset="0"/>
                <a:ea typeface="Amiri" pitchFamily="34" charset="-122"/>
                <a:cs typeface="Amiri" pitchFamily="34" charset="-120"/>
              </a:rPr>
              <a:t> أَمْسِ، ثُمَّ رَجَعْتُ </a:t>
            </a:r>
            <a:pPr rtl="1" algn="r" indent="0" marL="0">
              <a:buNone/>
            </a:pPr>
            <a:r>
              <a:rPr lang="ar-SA" altLang="en-US" sz="2600" b="1" dirty="0">
                <a:solidFill>
                  <a:srgbClr val="0E7C86"/>
                </a:solidFill>
                <a:latin typeface="Amiri" pitchFamily="34" charset="0"/>
                <a:ea typeface="Amiri" pitchFamily="34" charset="-122"/>
                <a:cs typeface="Amiri" pitchFamily="34" charset="-120"/>
              </a:rPr>
              <a:t>بِالْحَافِلَةِ</a:t>
            </a:r>
            <a:pPr rtl="1" algn="r" indent="0" marL="0">
              <a:buNone/>
            </a:pPr>
            <a:r>
              <a:rPr lang="ar-SA" altLang="en-US" sz="2600" b="1" dirty="0">
                <a:solidFill>
                  <a:srgbClr val="1B3B6F"/>
                </a:solidFill>
                <a:latin typeface="Amiri" pitchFamily="34" charset="0"/>
                <a:ea typeface="Amiri" pitchFamily="34" charset="-122"/>
                <a:cs typeface="Amiri" pitchFamily="34" charset="-120"/>
              </a:rPr>
              <a:t> وَوَصَلْتُ </a:t>
            </a:r>
            <a:pPr rtl="1" algn="r" indent="0" marL="0">
              <a:buNone/>
            </a:pPr>
            <a:r>
              <a:rPr lang="ar-SA" altLang="en-US" sz="2600" b="1" dirty="0">
                <a:solidFill>
                  <a:srgbClr val="0E7C86"/>
                </a:solidFill>
                <a:latin typeface="Amiri" pitchFamily="34" charset="0"/>
                <a:ea typeface="Amiri" pitchFamily="34" charset="-122"/>
                <a:cs typeface="Amiri" pitchFamily="34" charset="-120"/>
              </a:rPr>
              <a:t>بِأَمَانٍ</a:t>
            </a:r>
            <a:pPr rtl="1" algn="r" indent="0" marL="0">
              <a:buNone/>
            </a:pPr>
            <a:r>
              <a:rPr lang="ar-SA" altLang="en-US" sz="2600" b="1" dirty="0">
                <a:solidFill>
                  <a:srgbClr val="1B3B6F"/>
                </a:solidFill>
                <a:latin typeface="Amiri" pitchFamily="34" charset="0"/>
                <a:ea typeface="Amiri" pitchFamily="34" charset="-122"/>
                <a:cs typeface="Amiri" pitchFamily="34" charset="-120"/>
              </a:rPr>
              <a:t>.</a:t>
            </a:r>
            <a:endParaRPr lang="ar-SA" sz="26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ea typeface="Calibri" pitchFamily="34" charset="-122"/>
                <a:cs typeface="Calibri" pitchFamily="34" charset="-120"/>
              </a:rPr>
              <a:t>I finished the homework quickly in the library yesterday, then I went back by bus and arrived safely.</a:t>
            </a:r>
            <a:endParaRPr lang="en-US" sz="13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33</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GM-ADV-03 · Adverbs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Adverbs · GM-ADV-03</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فَهِمْتُ الدَّرْسَ بِسُهُولَةٍ.</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understood the lesson easily.</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Website model.</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فِي الْمَسَاءِ أَدْرُسُ فِي غُرْفَتِي.</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In the evening I study in my room.</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Website model: time + place.</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أَكْتُبُ إِجَابَاتِي بِوُضُوحٍ.</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write my answers clearly.</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Website model: manner.</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ذَهَبْتُ إِلَى الْمَدْرَسَةِ بِالْحَافِلَةِ.</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went to school by bus.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Website reading: means.</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33</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GM-ADV-03 · Adverbs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 IT · WHAT DOES THE PHRASE TELL US?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Manner, place, time or means?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كَيْفَ؟ أَيْنَ؟ مَتَى؟ بِمَاذَا؟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Adverbs · GM-ADV-03</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بِعِنَايَةٍ</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فِي السُّوقِ</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فِي اللَّيْلِ</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بِالْقِطَارِ</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بِبُطْءٍ</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فِي الْخَارِجِ</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فِي الشِّتَاءِ</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بِالسَّيَّارَةِ</a:t>
            </a:r>
            <a:endParaRPr lang="ar-SA" sz="1800" dirty="0"/>
          </a:p>
        </p:txBody>
      </p:sp>
      <p:sp>
        <p:nvSpPr>
          <p:cNvPr id="31" name="Shape 28"/>
          <p:cNvSpPr/>
          <p:nvPr/>
        </p:nvSpPr>
        <p:spPr>
          <a:xfrm>
            <a:off x="9050274" y="3017520"/>
            <a:ext cx="2681478" cy="3291840"/>
          </a:xfrm>
          <a:prstGeom prst="roundRect">
            <a:avLst>
              <a:gd name="adj" fmla="val 2728"/>
            </a:avLst>
          </a:prstGeom>
          <a:solidFill>
            <a:srgbClr val="EEF3FA"/>
          </a:solidFill>
          <a:ln w="9525">
            <a:solidFill>
              <a:srgbClr val="C9D6EA"/>
            </a:solidFill>
            <a:prstDash val="solid"/>
          </a:ln>
        </p:spPr>
      </p:sp>
      <p:sp>
        <p:nvSpPr>
          <p:cNvPr id="32" name="Shape 29"/>
          <p:cNvSpPr/>
          <p:nvPr/>
        </p:nvSpPr>
        <p:spPr>
          <a:xfrm>
            <a:off x="9187434" y="3127248"/>
            <a:ext cx="2407158"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9187434" y="3127248"/>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Manner</a:t>
            </a:r>
            <a:endParaRPr lang="en-US" sz="950" dirty="0"/>
          </a:p>
        </p:txBody>
      </p:sp>
      <p:sp>
        <p:nvSpPr>
          <p:cNvPr id="34" name="Shape 31"/>
          <p:cNvSpPr/>
          <p:nvPr/>
        </p:nvSpPr>
        <p:spPr>
          <a:xfrm>
            <a:off x="6185916" y="3017520"/>
            <a:ext cx="2681478" cy="3291840"/>
          </a:xfrm>
          <a:prstGeom prst="roundRect">
            <a:avLst>
              <a:gd name="adj" fmla="val 2728"/>
            </a:avLst>
          </a:prstGeom>
          <a:solidFill>
            <a:srgbClr val="EEF3FA"/>
          </a:solidFill>
          <a:ln w="9525">
            <a:solidFill>
              <a:srgbClr val="C9D6EA"/>
            </a:solidFill>
            <a:prstDash val="solid"/>
          </a:ln>
        </p:spPr>
      </p:sp>
      <p:sp>
        <p:nvSpPr>
          <p:cNvPr id="35" name="Shape 32"/>
          <p:cNvSpPr/>
          <p:nvPr/>
        </p:nvSpPr>
        <p:spPr>
          <a:xfrm>
            <a:off x="6323076" y="3127248"/>
            <a:ext cx="2407158"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6323076" y="3127248"/>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Place</a:t>
            </a:r>
            <a:endParaRPr lang="en-US" sz="950" dirty="0"/>
          </a:p>
        </p:txBody>
      </p:sp>
      <p:sp>
        <p:nvSpPr>
          <p:cNvPr id="37" name="Shape 34"/>
          <p:cNvSpPr/>
          <p:nvPr/>
        </p:nvSpPr>
        <p:spPr>
          <a:xfrm>
            <a:off x="3321558" y="3017520"/>
            <a:ext cx="2681478" cy="3291840"/>
          </a:xfrm>
          <a:prstGeom prst="roundRect">
            <a:avLst>
              <a:gd name="adj" fmla="val 2728"/>
            </a:avLst>
          </a:prstGeom>
          <a:solidFill>
            <a:srgbClr val="EEF3FA"/>
          </a:solidFill>
          <a:ln w="9525">
            <a:solidFill>
              <a:srgbClr val="C9D6EA"/>
            </a:solidFill>
            <a:prstDash val="solid"/>
          </a:ln>
        </p:spPr>
      </p:sp>
      <p:sp>
        <p:nvSpPr>
          <p:cNvPr id="38" name="Shape 35"/>
          <p:cNvSpPr/>
          <p:nvPr/>
        </p:nvSpPr>
        <p:spPr>
          <a:xfrm>
            <a:off x="3458718" y="3127248"/>
            <a:ext cx="2407158" cy="310896"/>
          </a:xfrm>
          <a:prstGeom prst="roundRect">
            <a:avLst>
              <a:gd name="adj" fmla="val 50000"/>
            </a:avLst>
          </a:prstGeom>
          <a:solidFill>
            <a:srgbClr val="2F6FB0"/>
          </a:solidFill>
          <a:ln w="12700">
            <a:solidFill>
              <a:srgbClr val="2F6FB0"/>
            </a:solidFill>
            <a:prstDash val="solid"/>
          </a:ln>
        </p:spPr>
      </p:sp>
      <p:sp>
        <p:nvSpPr>
          <p:cNvPr id="39" name="Text 36"/>
          <p:cNvSpPr txBox="1"/>
          <p:nvPr/>
        </p:nvSpPr>
        <p:spPr>
          <a:xfrm>
            <a:off x="3458718" y="3127248"/>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Time</a:t>
            </a:r>
            <a:endParaRPr lang="en-US" sz="950" dirty="0"/>
          </a:p>
        </p:txBody>
      </p:sp>
      <p:sp>
        <p:nvSpPr>
          <p:cNvPr id="40" name="Shape 37"/>
          <p:cNvSpPr/>
          <p:nvPr/>
        </p:nvSpPr>
        <p:spPr>
          <a:xfrm>
            <a:off x="457200" y="3017520"/>
            <a:ext cx="2681478" cy="3291840"/>
          </a:xfrm>
          <a:prstGeom prst="roundRect">
            <a:avLst>
              <a:gd name="adj" fmla="val 2728"/>
            </a:avLst>
          </a:prstGeom>
          <a:solidFill>
            <a:srgbClr val="EEF3FA"/>
          </a:solidFill>
          <a:ln w="9525">
            <a:solidFill>
              <a:srgbClr val="C9D6EA"/>
            </a:solidFill>
            <a:prstDash val="solid"/>
          </a:ln>
        </p:spPr>
      </p:sp>
      <p:sp>
        <p:nvSpPr>
          <p:cNvPr id="41" name="Shape 38"/>
          <p:cNvSpPr/>
          <p:nvPr/>
        </p:nvSpPr>
        <p:spPr>
          <a:xfrm>
            <a:off x="594360" y="3127248"/>
            <a:ext cx="2407158" cy="310896"/>
          </a:xfrm>
          <a:prstGeom prst="roundRect">
            <a:avLst>
              <a:gd name="adj" fmla="val 50000"/>
            </a:avLst>
          </a:prstGeom>
          <a:solidFill>
            <a:srgbClr val="2F6FB0"/>
          </a:solidFill>
          <a:ln w="12700">
            <a:solidFill>
              <a:srgbClr val="2F6FB0"/>
            </a:solidFill>
            <a:prstDash val="solid"/>
          </a:ln>
        </p:spPr>
      </p:sp>
      <p:sp>
        <p:nvSpPr>
          <p:cNvPr id="42" name="Text 39"/>
          <p:cNvSpPr txBox="1"/>
          <p:nvPr/>
        </p:nvSpPr>
        <p:spPr>
          <a:xfrm>
            <a:off x="594360" y="3127248"/>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4 · Means</a:t>
            </a:r>
            <a:endParaRPr lang="en-US" sz="9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33</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GM-ADV-03 · Adverbs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Adverbs · GM-ADV-03</a:t>
            </a:r>
            <a:endParaRPr lang="en-US" sz="850" dirty="0"/>
          </a:p>
        </p:txBody>
      </p:sp>
      <p:sp>
        <p:nvSpPr>
          <p:cNvPr id="15" name="Shape 12"/>
          <p:cNvSpPr/>
          <p:nvPr/>
        </p:nvSpPr>
        <p:spPr>
          <a:xfrm>
            <a:off x="9050274" y="1810512"/>
            <a:ext cx="2681478" cy="4498848"/>
          </a:xfrm>
          <a:prstGeom prst="roundRect">
            <a:avLst>
              <a:gd name="adj" fmla="val 2728"/>
            </a:avLst>
          </a:prstGeom>
          <a:solidFill>
            <a:srgbClr val="EEF3FA"/>
          </a:solidFill>
          <a:ln w="9525">
            <a:solidFill>
              <a:srgbClr val="C9D6EA"/>
            </a:solidFill>
            <a:prstDash val="solid"/>
          </a:ln>
        </p:spPr>
      </p:sp>
      <p:sp>
        <p:nvSpPr>
          <p:cNvPr id="16" name="Shape 13"/>
          <p:cNvSpPr/>
          <p:nvPr/>
        </p:nvSpPr>
        <p:spPr>
          <a:xfrm>
            <a:off x="9187434" y="1920240"/>
            <a:ext cx="2407158"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9187434" y="1920240"/>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Manner</a:t>
            </a:r>
            <a:endParaRPr lang="en-US" sz="950" dirty="0"/>
          </a:p>
        </p:txBody>
      </p:sp>
      <p:sp>
        <p:nvSpPr>
          <p:cNvPr id="18" name="Shape 15"/>
          <p:cNvSpPr/>
          <p:nvPr/>
        </p:nvSpPr>
        <p:spPr>
          <a:xfrm>
            <a:off x="9187434" y="2377440"/>
            <a:ext cx="2407158"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9278874" y="2377440"/>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بِعِنَايَةٍ</a:t>
            </a:r>
            <a:endParaRPr lang="ar-SA" sz="1800" dirty="0"/>
          </a:p>
        </p:txBody>
      </p:sp>
      <p:sp>
        <p:nvSpPr>
          <p:cNvPr id="20" name="Shape 17"/>
          <p:cNvSpPr/>
          <p:nvPr/>
        </p:nvSpPr>
        <p:spPr>
          <a:xfrm>
            <a:off x="9187434" y="2889504"/>
            <a:ext cx="2407158"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9278874" y="2889504"/>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بِبُطْءٍ</a:t>
            </a:r>
            <a:endParaRPr lang="ar-SA" sz="1800" dirty="0"/>
          </a:p>
        </p:txBody>
      </p:sp>
      <p:sp>
        <p:nvSpPr>
          <p:cNvPr id="22" name="Shape 19"/>
          <p:cNvSpPr/>
          <p:nvPr/>
        </p:nvSpPr>
        <p:spPr>
          <a:xfrm>
            <a:off x="6185916" y="1810512"/>
            <a:ext cx="2681478" cy="4498848"/>
          </a:xfrm>
          <a:prstGeom prst="roundRect">
            <a:avLst>
              <a:gd name="adj" fmla="val 2728"/>
            </a:avLst>
          </a:prstGeom>
          <a:solidFill>
            <a:srgbClr val="EEF3FA"/>
          </a:solidFill>
          <a:ln w="9525">
            <a:solidFill>
              <a:srgbClr val="C9D6EA"/>
            </a:solidFill>
            <a:prstDash val="solid"/>
          </a:ln>
        </p:spPr>
      </p:sp>
      <p:sp>
        <p:nvSpPr>
          <p:cNvPr id="23" name="Shape 20"/>
          <p:cNvSpPr/>
          <p:nvPr/>
        </p:nvSpPr>
        <p:spPr>
          <a:xfrm>
            <a:off x="6323076" y="1920240"/>
            <a:ext cx="2407158" cy="310896"/>
          </a:xfrm>
          <a:prstGeom prst="roundRect">
            <a:avLst>
              <a:gd name="adj" fmla="val 50000"/>
            </a:avLst>
          </a:prstGeom>
          <a:solidFill>
            <a:srgbClr val="2F6FB0"/>
          </a:solidFill>
          <a:ln w="12700">
            <a:solidFill>
              <a:srgbClr val="2F6FB0"/>
            </a:solidFill>
            <a:prstDash val="solid"/>
          </a:ln>
        </p:spPr>
      </p:sp>
      <p:sp>
        <p:nvSpPr>
          <p:cNvPr id="24" name="Text 21"/>
          <p:cNvSpPr txBox="1"/>
          <p:nvPr/>
        </p:nvSpPr>
        <p:spPr>
          <a:xfrm>
            <a:off x="6323076" y="1920240"/>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Place</a:t>
            </a:r>
            <a:endParaRPr lang="en-US" sz="950" dirty="0"/>
          </a:p>
        </p:txBody>
      </p:sp>
      <p:sp>
        <p:nvSpPr>
          <p:cNvPr id="25" name="Shape 22"/>
          <p:cNvSpPr/>
          <p:nvPr/>
        </p:nvSpPr>
        <p:spPr>
          <a:xfrm>
            <a:off x="6323076" y="2377440"/>
            <a:ext cx="2407158" cy="438912"/>
          </a:xfrm>
          <a:prstGeom prst="roundRect">
            <a:avLst>
              <a:gd name="adj" fmla="val 12500"/>
            </a:avLst>
          </a:prstGeom>
          <a:solidFill>
            <a:srgbClr val="FFF4DC"/>
          </a:solidFill>
          <a:ln w="9525">
            <a:solidFill>
              <a:srgbClr val="E6C98A"/>
            </a:solidFill>
            <a:prstDash val="solid"/>
          </a:ln>
        </p:spPr>
      </p:sp>
      <p:sp>
        <p:nvSpPr>
          <p:cNvPr id="26" name="Text 23"/>
          <p:cNvSpPr txBox="1"/>
          <p:nvPr/>
        </p:nvSpPr>
        <p:spPr>
          <a:xfrm>
            <a:off x="6414516" y="2377440"/>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فِي السُّوقِ</a:t>
            </a:r>
            <a:endParaRPr lang="ar-SA" sz="1800" dirty="0"/>
          </a:p>
        </p:txBody>
      </p:sp>
      <p:sp>
        <p:nvSpPr>
          <p:cNvPr id="27" name="Shape 24"/>
          <p:cNvSpPr/>
          <p:nvPr/>
        </p:nvSpPr>
        <p:spPr>
          <a:xfrm>
            <a:off x="6323076" y="2889504"/>
            <a:ext cx="2407158"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6414516" y="2889504"/>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فِي الْخَارِجِ</a:t>
            </a:r>
            <a:endParaRPr lang="ar-SA" sz="1800" dirty="0"/>
          </a:p>
        </p:txBody>
      </p:sp>
      <p:sp>
        <p:nvSpPr>
          <p:cNvPr id="29" name="Shape 26"/>
          <p:cNvSpPr/>
          <p:nvPr/>
        </p:nvSpPr>
        <p:spPr>
          <a:xfrm>
            <a:off x="3321558" y="1810512"/>
            <a:ext cx="2681478" cy="4498848"/>
          </a:xfrm>
          <a:prstGeom prst="roundRect">
            <a:avLst>
              <a:gd name="adj" fmla="val 2728"/>
            </a:avLst>
          </a:prstGeom>
          <a:solidFill>
            <a:srgbClr val="EEF3FA"/>
          </a:solidFill>
          <a:ln w="9525">
            <a:solidFill>
              <a:srgbClr val="C9D6EA"/>
            </a:solidFill>
            <a:prstDash val="solid"/>
          </a:ln>
        </p:spPr>
      </p:sp>
      <p:sp>
        <p:nvSpPr>
          <p:cNvPr id="30" name="Shape 27"/>
          <p:cNvSpPr/>
          <p:nvPr/>
        </p:nvSpPr>
        <p:spPr>
          <a:xfrm>
            <a:off x="3458718" y="1920240"/>
            <a:ext cx="2407158" cy="310896"/>
          </a:xfrm>
          <a:prstGeom prst="roundRect">
            <a:avLst>
              <a:gd name="adj" fmla="val 50000"/>
            </a:avLst>
          </a:prstGeom>
          <a:solidFill>
            <a:srgbClr val="2F6FB0"/>
          </a:solidFill>
          <a:ln w="12700">
            <a:solidFill>
              <a:srgbClr val="2F6FB0"/>
            </a:solidFill>
            <a:prstDash val="solid"/>
          </a:ln>
        </p:spPr>
      </p:sp>
      <p:sp>
        <p:nvSpPr>
          <p:cNvPr id="31" name="Text 28"/>
          <p:cNvSpPr txBox="1"/>
          <p:nvPr/>
        </p:nvSpPr>
        <p:spPr>
          <a:xfrm>
            <a:off x="3458718" y="1920240"/>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Time</a:t>
            </a:r>
            <a:endParaRPr lang="en-US" sz="950" dirty="0"/>
          </a:p>
        </p:txBody>
      </p:sp>
      <p:sp>
        <p:nvSpPr>
          <p:cNvPr id="32" name="Shape 29"/>
          <p:cNvSpPr/>
          <p:nvPr/>
        </p:nvSpPr>
        <p:spPr>
          <a:xfrm>
            <a:off x="3458718" y="2377440"/>
            <a:ext cx="2407158" cy="438912"/>
          </a:xfrm>
          <a:prstGeom prst="roundRect">
            <a:avLst>
              <a:gd name="adj" fmla="val 12500"/>
            </a:avLst>
          </a:prstGeom>
          <a:solidFill>
            <a:srgbClr val="FFF4DC"/>
          </a:solidFill>
          <a:ln w="9525">
            <a:solidFill>
              <a:srgbClr val="E6C98A"/>
            </a:solidFill>
            <a:prstDash val="solid"/>
          </a:ln>
        </p:spPr>
      </p:sp>
      <p:sp>
        <p:nvSpPr>
          <p:cNvPr id="33" name="Text 30"/>
          <p:cNvSpPr txBox="1"/>
          <p:nvPr/>
        </p:nvSpPr>
        <p:spPr>
          <a:xfrm>
            <a:off x="3550158" y="2377440"/>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فِي اللَّيْلِ</a:t>
            </a:r>
            <a:endParaRPr lang="ar-SA" sz="1800" dirty="0"/>
          </a:p>
        </p:txBody>
      </p:sp>
      <p:sp>
        <p:nvSpPr>
          <p:cNvPr id="34" name="Shape 31"/>
          <p:cNvSpPr/>
          <p:nvPr/>
        </p:nvSpPr>
        <p:spPr>
          <a:xfrm>
            <a:off x="3458718" y="2889504"/>
            <a:ext cx="2407158" cy="438912"/>
          </a:xfrm>
          <a:prstGeom prst="roundRect">
            <a:avLst>
              <a:gd name="adj" fmla="val 12500"/>
            </a:avLst>
          </a:prstGeom>
          <a:solidFill>
            <a:srgbClr val="FFF4DC"/>
          </a:solidFill>
          <a:ln w="9525">
            <a:solidFill>
              <a:srgbClr val="E6C98A"/>
            </a:solidFill>
            <a:prstDash val="solid"/>
          </a:ln>
        </p:spPr>
      </p:sp>
      <p:sp>
        <p:nvSpPr>
          <p:cNvPr id="35" name="Text 32"/>
          <p:cNvSpPr txBox="1"/>
          <p:nvPr/>
        </p:nvSpPr>
        <p:spPr>
          <a:xfrm>
            <a:off x="3550158" y="2889504"/>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فِي الشِّتَاءِ</a:t>
            </a:r>
            <a:endParaRPr lang="ar-SA" sz="1800" dirty="0"/>
          </a:p>
        </p:txBody>
      </p:sp>
      <p:sp>
        <p:nvSpPr>
          <p:cNvPr id="36" name="Shape 33"/>
          <p:cNvSpPr/>
          <p:nvPr/>
        </p:nvSpPr>
        <p:spPr>
          <a:xfrm>
            <a:off x="457200" y="1810512"/>
            <a:ext cx="2681478" cy="4498848"/>
          </a:xfrm>
          <a:prstGeom prst="roundRect">
            <a:avLst>
              <a:gd name="adj" fmla="val 2728"/>
            </a:avLst>
          </a:prstGeom>
          <a:solidFill>
            <a:srgbClr val="EEF3FA"/>
          </a:solidFill>
          <a:ln w="9525">
            <a:solidFill>
              <a:srgbClr val="C9D6EA"/>
            </a:solidFill>
            <a:prstDash val="solid"/>
          </a:ln>
        </p:spPr>
      </p:sp>
      <p:sp>
        <p:nvSpPr>
          <p:cNvPr id="37" name="Shape 34"/>
          <p:cNvSpPr/>
          <p:nvPr/>
        </p:nvSpPr>
        <p:spPr>
          <a:xfrm>
            <a:off x="594360" y="1920240"/>
            <a:ext cx="2407158"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594360" y="1920240"/>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4 · Means</a:t>
            </a:r>
            <a:endParaRPr lang="en-US" sz="950" dirty="0"/>
          </a:p>
        </p:txBody>
      </p:sp>
      <p:sp>
        <p:nvSpPr>
          <p:cNvPr id="39" name="Shape 36"/>
          <p:cNvSpPr/>
          <p:nvPr/>
        </p:nvSpPr>
        <p:spPr>
          <a:xfrm>
            <a:off x="594360" y="2377440"/>
            <a:ext cx="2407158" cy="438912"/>
          </a:xfrm>
          <a:prstGeom prst="roundRect">
            <a:avLst>
              <a:gd name="adj" fmla="val 12500"/>
            </a:avLst>
          </a:prstGeom>
          <a:solidFill>
            <a:srgbClr val="FFF4DC"/>
          </a:solidFill>
          <a:ln w="9525">
            <a:solidFill>
              <a:srgbClr val="E6C98A"/>
            </a:solidFill>
            <a:prstDash val="solid"/>
          </a:ln>
        </p:spPr>
      </p:sp>
      <p:sp>
        <p:nvSpPr>
          <p:cNvPr id="40" name="Text 37"/>
          <p:cNvSpPr txBox="1"/>
          <p:nvPr/>
        </p:nvSpPr>
        <p:spPr>
          <a:xfrm>
            <a:off x="685800" y="2377440"/>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بِالْقِطَارِ</a:t>
            </a:r>
            <a:endParaRPr lang="ar-SA" sz="1800" dirty="0"/>
          </a:p>
        </p:txBody>
      </p:sp>
      <p:sp>
        <p:nvSpPr>
          <p:cNvPr id="41" name="Shape 38"/>
          <p:cNvSpPr/>
          <p:nvPr/>
        </p:nvSpPr>
        <p:spPr>
          <a:xfrm>
            <a:off x="594360" y="2889504"/>
            <a:ext cx="2407158" cy="438912"/>
          </a:xfrm>
          <a:prstGeom prst="roundRect">
            <a:avLst>
              <a:gd name="adj" fmla="val 12500"/>
            </a:avLst>
          </a:prstGeom>
          <a:solidFill>
            <a:srgbClr val="FFF4DC"/>
          </a:solidFill>
          <a:ln w="9525">
            <a:solidFill>
              <a:srgbClr val="E6C98A"/>
            </a:solidFill>
            <a:prstDash val="solid"/>
          </a:ln>
        </p:spPr>
      </p:sp>
      <p:sp>
        <p:nvSpPr>
          <p:cNvPr id="42" name="Text 39"/>
          <p:cNvSpPr txBox="1"/>
          <p:nvPr/>
        </p:nvSpPr>
        <p:spPr>
          <a:xfrm>
            <a:off x="685800" y="2889504"/>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بِالسَّيَّارَةِ</a:t>
            </a:r>
            <a:endParaRPr lang="ar-SA" sz="180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33</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GM-ADV-03 · Adverbs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Adverbs · GM-ADV-03</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كَتَبْتُ بِعِنَايَةٌ.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Which ending after bi-?</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أَجَابَ بِسَرِيعٍ.</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Adjective or noun?</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نَلْعَبُ فِي الْحَدِيقَةُ.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Which ending after fī?</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33</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GM-ADV-03 · Adverbs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Adverbs · GM-ADV-03</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كَتَبْتُ بِعِنَايَةٌ.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كَتَبْتُ بِعِنَايَةٍ.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noun after bi- is genitive (website).</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أَجَابَ بِسَرِيعٍ.</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أَجَابَ بِسُرْعَةٍ.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Use the noun, not the adjective (website warning).</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نَلْعَبُ فِي الْحَدِيقَةُ.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نَلْعَبُ فِي الْحَدِيقَةِ.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Genitive after fī.</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33</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GM-ADV-03 · Adverbs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83" b="1" spc="150" kern="0" dirty="0">
                <a:solidFill>
                  <a:srgbClr val="2F6FB0"/>
                </a:solidFill>
                <a:latin typeface="Calibri" pitchFamily="34" charset="0"/>
                <a:ea typeface="Calibri" pitchFamily="34" charset="-122"/>
                <a:cs typeface="Calibri" pitchFamily="34" charset="-120"/>
              </a:rPr>
              <a:t>WE DO · GUIDED PRACTICE · WEBSITE PHRASE MASTERY QUESTIONS 4, 5, 7 AND 9</a:t>
            </a:r>
            <a:endParaRPr lang="en-US" sz="983"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Adverbs · GM-ADV-03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“clearly”.</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وَاضِحَةٌ</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وَاضِحٍ</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بِوُضُوحٍ</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نَلْعَبُ ___ الْحَدِيقَةِ.</a:t>
            </a:r>
            <a:endParaRPr lang="ar-SA" sz="150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بِسُرْعَةٍ</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تَحْتَ فقط</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7" name="Text 44"/>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Repair:</a:t>
            </a:r>
            <a:endParaRPr lang="en-US" sz="1200" dirty="0"/>
          </a:p>
        </p:txBody>
      </p:sp>
      <p:sp>
        <p:nvSpPr>
          <p:cNvPr id="48" name="Text 45"/>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سَافَرْنَا بِأَمَانٌ.</a:t>
            </a:r>
            <a:endParaRPr lang="ar-SA" sz="1500" dirty="0"/>
          </a:p>
        </p:txBody>
      </p:sp>
      <p:sp>
        <p:nvSpPr>
          <p:cNvPr id="49" name="Shape 46"/>
          <p:cNvSpPr/>
          <p:nvPr/>
        </p:nvSpPr>
        <p:spPr>
          <a:xfrm>
            <a:off x="640080" y="48737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سَافَرْنَا أَمَانٌ.</a:t>
            </a:r>
            <a:endParaRPr lang="ar-SA" sz="2050" dirty="0"/>
          </a:p>
        </p:txBody>
      </p:sp>
      <p:sp>
        <p:nvSpPr>
          <p:cNvPr id="52" name="Shape 49"/>
          <p:cNvSpPr/>
          <p:nvPr/>
        </p:nvSpPr>
        <p:spPr>
          <a:xfrm>
            <a:off x="640080" y="53309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سَافَرْنَا بِأَمَانٍ.</a:t>
            </a:r>
            <a:endParaRPr lang="ar-SA" sz="2050" dirty="0"/>
          </a:p>
        </p:txBody>
      </p:sp>
      <p:sp>
        <p:nvSpPr>
          <p:cNvPr id="55" name="Shape 52"/>
          <p:cNvSpPr/>
          <p:nvPr/>
        </p:nvSpPr>
        <p:spPr>
          <a:xfrm>
            <a:off x="640080" y="5788152"/>
            <a:ext cx="256032" cy="256032"/>
          </a:xfrm>
          <a:prstGeom prst="ellipse">
            <a:avLst/>
          </a:prstGeom>
          <a:solidFill>
            <a:srgbClr val="F4F1EA"/>
          </a:solidFill>
          <a:ln w="12700">
            <a:solidFill>
              <a:srgbClr val="F4F1EA"/>
            </a:solidFill>
            <a:prstDash val="solid"/>
          </a:ln>
        </p:spPr>
      </p:sp>
      <p:sp>
        <p:nvSpPr>
          <p:cNvPr id="56" name="Text 5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7" name="Text 54"/>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سَافَرْنَا بِآمِنَةٌ.</a:t>
            </a:r>
            <a:endParaRPr lang="ar-SA" sz="2050" dirty="0"/>
          </a:p>
        </p:txBody>
      </p:sp>
      <p:sp>
        <p:nvSpPr>
          <p:cNvPr id="58" name="Shape 55"/>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6313932" y="4288536"/>
            <a:ext cx="310896" cy="310896"/>
          </a:xfrm>
          <a:prstGeom prst="ellipse">
            <a:avLst/>
          </a:prstGeom>
          <a:solidFill>
            <a:srgbClr val="1B3B6F"/>
          </a:solidFill>
          <a:ln w="12700">
            <a:solidFill>
              <a:srgbClr val="1B3B6F"/>
            </a:solidFill>
            <a:prstDash val="solid"/>
          </a:ln>
        </p:spPr>
      </p:sp>
      <p:sp>
        <p:nvSpPr>
          <p:cNvPr id="60" name="Text 57"/>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1" name="Text 58"/>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natural sentence.</a:t>
            </a:r>
            <a:endParaRPr lang="en-US" sz="1250" dirty="0"/>
          </a:p>
        </p:txBody>
      </p:sp>
      <p:sp>
        <p:nvSpPr>
          <p:cNvPr id="62" name="Shape 59"/>
          <p:cNvSpPr/>
          <p:nvPr/>
        </p:nvSpPr>
        <p:spPr>
          <a:xfrm>
            <a:off x="6368796"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4" name="Text 61"/>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فَهِمْتُ السُّؤَالَ بِسَهْلٌ.</a:t>
            </a:r>
            <a:endParaRPr lang="ar-SA" sz="2050" dirty="0"/>
          </a:p>
        </p:txBody>
      </p:sp>
      <p:sp>
        <p:nvSpPr>
          <p:cNvPr id="65" name="Shape 62"/>
          <p:cNvSpPr/>
          <p:nvPr/>
        </p:nvSpPr>
        <p:spPr>
          <a:xfrm>
            <a:off x="6368796"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7" name="Text 64"/>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فَهِمْتُ بِالسُّؤَالِ سُهُولَةٌ.</a:t>
            </a:r>
            <a:endParaRPr lang="ar-SA" sz="2050" dirty="0"/>
          </a:p>
        </p:txBody>
      </p:sp>
      <p:sp>
        <p:nvSpPr>
          <p:cNvPr id="68" name="Shape 65"/>
          <p:cNvSpPr/>
          <p:nvPr/>
        </p:nvSpPr>
        <p:spPr>
          <a:xfrm>
            <a:off x="6368796"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0" name="Text 67"/>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فَهِمْتُ السُّؤَالَ بِسُهُولَةٍ.</a:t>
            </a:r>
            <a:endParaRPr lang="ar-SA" sz="205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33</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GM-ADV-03 · Adverbs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Adverbs · GM-ADV-03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“clearly”.</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وَاضِحَةٌ</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 وَاضِحٍ</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بِوُضُوحٍ</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manner phrase is bi-wuḍūḥin.</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6" name="Text 33"/>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نَلْعَبُ ___ الْحَدِيقَةِ.</a:t>
            </a:r>
            <a:endParaRPr lang="ar-SA" sz="150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بِسُرْعَةٍ</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فِي</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تَحْتَ فقط</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Fī introduces place.</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1" name="Text 48"/>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Repair:</a:t>
            </a:r>
            <a:endParaRPr lang="en-US" sz="1200" dirty="0"/>
          </a:p>
        </p:txBody>
      </p:sp>
      <p:sp>
        <p:nvSpPr>
          <p:cNvPr id="52" name="Text 49"/>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سَافَرْنَا بِأَمَانٌ.</a:t>
            </a:r>
            <a:endParaRPr lang="ar-SA" sz="1500" dirty="0"/>
          </a:p>
        </p:txBody>
      </p:sp>
      <p:sp>
        <p:nvSpPr>
          <p:cNvPr id="53" name="Shape 50"/>
          <p:cNvSpPr/>
          <p:nvPr/>
        </p:nvSpPr>
        <p:spPr>
          <a:xfrm>
            <a:off x="640080" y="4831080"/>
            <a:ext cx="256032" cy="256032"/>
          </a:xfrm>
          <a:prstGeom prst="ellipse">
            <a:avLst/>
          </a:prstGeom>
          <a:solidFill>
            <a:srgbClr val="C9CED6"/>
          </a:solidFill>
          <a:ln w="12700">
            <a:solidFill>
              <a:srgbClr val="C9CED6"/>
            </a:solidFill>
            <a:prstDash val="solid"/>
          </a:ln>
        </p:spPr>
      </p:sp>
      <p:sp>
        <p:nvSpPr>
          <p:cNvPr id="54" name="Text 51"/>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5" name="Text 52"/>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سَافَرْنَا أَمَانٌ.</a:t>
            </a:r>
            <a:endParaRPr lang="ar-SA" sz="1700" dirty="0"/>
          </a:p>
        </p:txBody>
      </p:sp>
      <p:sp>
        <p:nvSpPr>
          <p:cNvPr id="56" name="Shape 53"/>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7" name="Shape 54"/>
          <p:cNvSpPr/>
          <p:nvPr/>
        </p:nvSpPr>
        <p:spPr>
          <a:xfrm>
            <a:off x="640080" y="5202936"/>
            <a:ext cx="256032" cy="256032"/>
          </a:xfrm>
          <a:prstGeom prst="ellipse">
            <a:avLst/>
          </a:prstGeom>
          <a:solidFill>
            <a:srgbClr val="2E8B57"/>
          </a:solidFill>
          <a:ln w="12700">
            <a:solidFill>
              <a:srgbClr val="2E8B57"/>
            </a:solidFill>
            <a:prstDash val="solid"/>
          </a:ln>
        </p:spPr>
      </p:sp>
      <p:sp>
        <p:nvSpPr>
          <p:cNvPr id="58" name="Text 5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9" name="Text 56"/>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سَافَرْنَا بِأَمَانٍ.</a:t>
            </a:r>
            <a:endParaRPr lang="ar-SA" sz="1700" dirty="0"/>
          </a:p>
        </p:txBody>
      </p:sp>
      <p:sp>
        <p:nvSpPr>
          <p:cNvPr id="60" name="Shape 57"/>
          <p:cNvSpPr/>
          <p:nvPr/>
        </p:nvSpPr>
        <p:spPr>
          <a:xfrm>
            <a:off x="640080" y="5574792"/>
            <a:ext cx="256032" cy="256032"/>
          </a:xfrm>
          <a:prstGeom prst="ellipse">
            <a:avLst/>
          </a:prstGeom>
          <a:solidFill>
            <a:srgbClr val="C9CED6"/>
          </a:solidFill>
          <a:ln w="12700">
            <a:solidFill>
              <a:srgbClr val="C9CED6"/>
            </a:solidFill>
            <a:prstDash val="solid"/>
          </a:ln>
        </p:spPr>
      </p:sp>
      <p:sp>
        <p:nvSpPr>
          <p:cNvPr id="61" name="Text 58"/>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2" name="Text 59"/>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سَافَرْنَا بِآمِنَةٌ.</a:t>
            </a:r>
            <a:endParaRPr lang="ar-SA" sz="1700" dirty="0"/>
          </a:p>
        </p:txBody>
      </p:sp>
      <p:sp>
        <p:nvSpPr>
          <p:cNvPr id="63" name="Text 60"/>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Genitive after bi-.</a:t>
            </a:r>
            <a:endParaRPr lang="en-US" sz="1050" dirty="0"/>
          </a:p>
        </p:txBody>
      </p:sp>
      <p:sp>
        <p:nvSpPr>
          <p:cNvPr id="64" name="Shape 6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5" name="Shape 62"/>
          <p:cNvSpPr/>
          <p:nvPr/>
        </p:nvSpPr>
        <p:spPr>
          <a:xfrm>
            <a:off x="6313932" y="4288536"/>
            <a:ext cx="310896" cy="310896"/>
          </a:xfrm>
          <a:prstGeom prst="ellipse">
            <a:avLst/>
          </a:prstGeom>
          <a:solidFill>
            <a:srgbClr val="1B3B6F"/>
          </a:solidFill>
          <a:ln w="12700">
            <a:solidFill>
              <a:srgbClr val="1B3B6F"/>
            </a:solidFill>
            <a:prstDash val="solid"/>
          </a:ln>
        </p:spPr>
      </p:sp>
      <p:sp>
        <p:nvSpPr>
          <p:cNvPr id="66" name="Text 6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7" name="Text 6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natural sentence.</a:t>
            </a:r>
            <a:endParaRPr lang="en-US" sz="1250" dirty="0"/>
          </a:p>
        </p:txBody>
      </p:sp>
      <p:sp>
        <p:nvSpPr>
          <p:cNvPr id="68" name="Shape 65"/>
          <p:cNvSpPr/>
          <p:nvPr/>
        </p:nvSpPr>
        <p:spPr>
          <a:xfrm>
            <a:off x="6368796" y="4831080"/>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0" name="Text 67"/>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فَهِمْتُ السُّؤَالَ بِسَهْلٌ.</a:t>
            </a:r>
            <a:endParaRPr lang="ar-SA" sz="1700" dirty="0"/>
          </a:p>
        </p:txBody>
      </p:sp>
      <p:sp>
        <p:nvSpPr>
          <p:cNvPr id="71" name="Shape 68"/>
          <p:cNvSpPr/>
          <p:nvPr/>
        </p:nvSpPr>
        <p:spPr>
          <a:xfrm>
            <a:off x="6368796" y="5202936"/>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3" name="Text 70"/>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فَهِمْتُ بِالسُّؤَالِ سُهُولَةٌ.</a:t>
            </a:r>
            <a:endParaRPr lang="ar-SA" sz="1700" dirty="0"/>
          </a:p>
        </p:txBody>
      </p:sp>
      <p:sp>
        <p:nvSpPr>
          <p:cNvPr id="74" name="Shape 71"/>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5" name="Shape 72"/>
          <p:cNvSpPr/>
          <p:nvPr/>
        </p:nvSpPr>
        <p:spPr>
          <a:xfrm>
            <a:off x="6368796" y="5574792"/>
            <a:ext cx="256032" cy="256032"/>
          </a:xfrm>
          <a:prstGeom prst="ellipse">
            <a:avLst/>
          </a:prstGeom>
          <a:solidFill>
            <a:srgbClr val="2E8B57"/>
          </a:solidFill>
          <a:ln w="12700">
            <a:solidFill>
              <a:srgbClr val="2E8B57"/>
            </a:solidFill>
            <a:prstDash val="solid"/>
          </a:ln>
        </p:spPr>
      </p:sp>
      <p:sp>
        <p:nvSpPr>
          <p:cNvPr id="76" name="Text 73"/>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7" name="Text 74"/>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فَهِمْتُ السُّؤَالَ بِسُهُولَةٍ.</a:t>
            </a:r>
            <a:endParaRPr lang="ar-SA" sz="1700" dirty="0"/>
          </a:p>
        </p:txBody>
      </p:sp>
      <p:sp>
        <p:nvSpPr>
          <p:cNvPr id="78" name="Text 75"/>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phrase naturally modifies the verb.</a:t>
            </a:r>
            <a:endParaRPr lang="en-US" sz="10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33</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GM-ADV-03 · Adverbs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83" b="1" spc="150" kern="0" dirty="0">
                <a:solidFill>
                  <a:srgbClr val="1E6B52"/>
                </a:solidFill>
                <a:latin typeface="Calibri" pitchFamily="34" charset="0"/>
                <a:ea typeface="Calibri" pitchFamily="34" charset="-122"/>
                <a:cs typeface="Calibri" pitchFamily="34" charset="-120"/>
              </a:rPr>
              <a:t>YOU DO · READ AND NOTICE · WEBSITE READING TEXT, EXTENDED BY THE TEACHER</a:t>
            </a:r>
            <a:endParaRPr lang="en-US" sz="98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 busy school day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Adverbs · GM-ADV-03</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فِي الصَّبَاحِ ذَهَبْتُ إِلَى الْمَدْرَسَةِ بِالْحَافِلَةِ. أَجَبْتُ عَنِ الْأَسْئِلَةِ بِعِنَايَةٍ، وَلَكِنِّي أَكْمَلْتُ التَّمْرِينَ الْأَخِيرَ بِصُعُوبَةٍ. فِي الِاسْتِرَاحَةِ أَكَلْتُ بِسُرْعَةٍ وَلَعِبْتُ فِي السَّاحَةِ. فِي الْمَسَاءِ رَجَعْتُ إِلَى الْبَيْتِ بِأَمَانٍ.</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بِالْحَافِلَةِ</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by bus</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أَجَبْتُ عَنْ</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answered</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التَّمْرِينَ الْأَخِيرَ</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last exercise</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الِاسْتِرَاحَةِ</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break</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السَّاحَةِ</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playground</a:t>
            </a:r>
            <a:endParaRPr lang="en-US" sz="1050" dirty="0"/>
          </a:p>
        </p:txBody>
      </p:sp>
      <p:sp>
        <p:nvSpPr>
          <p:cNvPr id="29" name="Text 26"/>
          <p:cNvSpPr txBox="1"/>
          <p:nvPr/>
        </p:nvSpPr>
        <p:spPr>
          <a:xfrm>
            <a:off x="10102291" y="47274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رَجَعْتُ</a:t>
            </a:r>
            <a:endParaRPr lang="ar-SA" sz="1600" dirty="0"/>
          </a:p>
        </p:txBody>
      </p:sp>
      <p:sp>
        <p:nvSpPr>
          <p:cNvPr id="30" name="Text 27"/>
          <p:cNvSpPr txBox="1"/>
          <p:nvPr/>
        </p:nvSpPr>
        <p:spPr>
          <a:xfrm>
            <a:off x="8851392" y="47274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returned</a:t>
            </a:r>
            <a:endParaRPr lang="en-US" sz="1050" dirty="0"/>
          </a:p>
        </p:txBody>
      </p:sp>
      <p:sp>
        <p:nvSpPr>
          <p:cNvPr id="31" name="Text 2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33</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GM-ADV-03 · Adverbs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Adverbs · GM-ADV-03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did the writer travel to school?</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by car</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by bus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 foot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did the writer finish the last exercise?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easily</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quickly</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with difficulty</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did the writer play?</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the playground</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at home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the library</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is a time phrase?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بِأَمَانٍ</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الْمَسَاءِ</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بِعِنَايَةٍ</a:t>
            </a:r>
            <a:endParaRPr lang="ar-SA" sz="20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the phrase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33</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GM-ADV-03 · Adverbs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Adverbs · GM-ADV-03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did the writer travel to school?</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by car</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by bus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 foot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بِالْحَافِلَةِ</a:t>
            </a:r>
            <a:pPr algn="l" indent="0" marL="0">
              <a:buNone/>
            </a:pPr>
            <a:r>
              <a:rPr lang="en-US" sz="1050" i="1" dirty="0">
                <a:solidFill>
                  <a:srgbClr val="8A6D1E"/>
                </a:solidFill>
                <a:latin typeface="Calibri" pitchFamily="34" charset="0"/>
                <a:ea typeface="Calibri" pitchFamily="34" charset="-122"/>
                <a:cs typeface="Calibri" pitchFamily="34" charset="-120"/>
              </a:rPr>
              <a:t> = means.</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did the writer finish the last exercise?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easily</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quickly</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with difficulty</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بِصُعُوبَةٍ.</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did the writer play?</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in the playground</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at home</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 the library</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فِي السَّاحَةِ.</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is a time phrase?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بِأَمَانٍ</a:t>
            </a:r>
            <a:endParaRPr lang="ar-SA" sz="170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فِي الْمَسَاءِ</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بِعِنَايَةٍ</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Fī + a time noun.</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the phrase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33</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GM-ADV-03 · Adverbs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Instruction challenge: how to do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Adverbs · GM-ADV-03</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كَيْفَ تَكْتُبُ وَاجِبَكَ؟</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كَيْفَ تَسْتَعِدُّ لِلِاخْتِبَارِ؟ مَتَى؟ أَيْنَ؟</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اشْرَحْ لِصَدِيقٍ كَيْفَ يَقْطَعُ الشَّارِعَ بِأَمَانٍ.</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أَكْتُبُ وَاجِبِي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فِي ___ أَدْرُسُ فِي ___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انْظُرْ ___ ، ثُمَّ امْشِ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كَيْفَ تُرَاجِعُ لِلِاخْتِبَارِ؟</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How do you revise for the test?</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فِي الْمَسَاءِ أُرَاجِعُ فِي غُرْفَتِي بِهُدُوءٍ. أَقْرَأُ الْمُلَاحَظَاتِ بِعِنَايَةٍ، ثُمَّ أَكْتُبُ الْكَلِمَاتِ بِسُرْعَةٍ.</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ea typeface="Calibri" pitchFamily="34" charset="-122"/>
                <a:cs typeface="Calibri" pitchFamily="34" charset="-120"/>
              </a:rPr>
              <a:t>In the evening I revise in my room calmly. I read the notes carefully, then I write the words quickly.</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33</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GM-ADV-03 · Adverbs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Adverbs · GM-ADV-03</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6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Explain how you study using bi- phrases.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carefully, quickly, calmly …</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fī time and place phrases.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in the evening, in my room …</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90–110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Website task: how I complete a task.</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Include one means phrase and one layered sentence.</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33</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GM-ADV-03 · Adverbs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Adverbs · GM-ADV-03</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الصَّبَاحِ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In the morning I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أَدْرُسُ فِي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study in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فَهِمْتُ الدَّرْسَ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understood the lesson easily.</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الشِّتَاءِ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In winter we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أَقْرَأُ التَّعْلِيمَاتِ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read the instructions carefully.</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أَكْتُبُ إِجَابَاتِي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write my answers clearly.</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آكُلُ الْفَطُورَ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eat breakfast quickly.</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أَذْهَبُ إِلَى الْمَدْرَسَةِ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go to school by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بِسُرْعَةٍ  ·  بِبُطْءٍ  ·  بِسُهُولَةٍ  ·  بِصُعُوبَةٍ  ·  بِهُدُوءٍ  ·  بِوُضُوحٍ  ·  بِعِنَايَةٍ  ·  بِأَمَانٍ  ·  بِالْحَافِلَةِ  ·  فِي الْبَيْتِ  ·  فِي الْمَسَاءِ  ·  فِي غُرْفَتِي</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33</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GM-ADV-03 · Adverbs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Adverbs · GM-ADV-03</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Website writing task: 90–110 words on how you study, cook, travel, exercise or use technology.</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Six bi- manner phrases with genitive nouns.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Four fī time or place phrases.</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means phrase (by bus / by car).</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layered sentence: manner + place + time.</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No bi- attached to an adjective.</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بِعِنَايَةٍ</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carefully</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بِوُضُوحٍ</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clearly</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بِالسَّيَّارَةِ</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by car</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الْمَطْبَخِ</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in the kitchen</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نِهَايَةِ الْأُسْبُوعِ</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at the weekend</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بِأَمَانٍ</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safely</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33</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GM-ADV-03 · Adverbs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Adverbs · GM-ADV-03</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أُحِبُّ الطَّبْخَ فِي نِهَايَةِ الْأُسْبُوعِ. فِي الصَّبَاحِ أَذْهَبُ إِلَى السُّوقِ بِالدَّرَّاجَةِ، وَأَخْتَارُ الْخُضَارَ بِعِنَايَةٍ. فِي الْمَطْبَخِ أَغْسِلُ يَدَيَّ جَيِّدًا، ثُمَّ أَقْطَعُ الْخُضَارَ بِبُطْءٍ وَبِأَمَانٍ. أَقْرَأُ الْوَصْفَةَ بِوُضُوحٍ لِأُخْتِي، وَهِيَ تُسَاعِدُنِي بِسُرْعَةٍ. فِي الْمَسَاءِ نَأْكُلُ مَعًا بِسَعَادَةٍ.</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I love cooking at the weekend. In the morning I go to the market by bike, and I choose the vegetables carefully. In the kitchen I wash my hands well, then I cut the vegetables slowly and safely. I read the recipe clearly to my sister, and she helps me quickly. In the evening we eat together happily.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bi- manner</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fī time</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fī place</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means</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33</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GM-ADV-03 · Adverbs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Adverbs · GM-ADV-03</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six bi- phrases.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Every noun after bi- ends in -in or -i.</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fī for time and place.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Bi- is attached; fī is separate.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a means phrase and a layered sentence.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33</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GM-ADV-03 · Adverbs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Adverbs · GM-ADV-03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is safest for “safely”?</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بِأَمَانٍ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أَمِينٌ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بِآمِنٌ</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“in winter”.</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الشِّتَاءُ</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الشِّتَاءِ</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بِشِتَاءٌ</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contains a definite genitive noun?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الْمَدْرَسَةِ</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بِسُرْعَةٍ</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هُنَا</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33</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GM-ADV-03 · Adverbs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Adverbs · GM-ADV-03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is safest for “safely”?</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بِأَمَانٍ</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أَمِينٌ</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بِآمِنٌ</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Bi-amānin is a natural manner phrase.</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“in winter”.</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فِي الشِّتَاءُ</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فِي الشِّتَاءِ</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بِشِتَاءٌ</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Fī + a genitive definite noun.</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contains a definite genitive noun?</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فِي الْمَدْرَسَةِ</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بِسُرْعَةٍ</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هُنَا</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school is definite and genitive after fī.</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33</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GM-ADV-03 · Adverbs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ea typeface="Cambria" pitchFamily="34" charset="-122"/>
                <a:cs typeface="Cambria" pitchFamily="34" charset="-120"/>
              </a:rPr>
              <a:t>Before GM-ADV-04: get ready at home</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Adverbs · GM-ADV-03</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GM-ADV-04 · Common Adverbial Phrases for Fluency</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عَادَةً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usually</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أَوَّلًا</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first</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بَعْدَ ذَلِكَ</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after that</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أَخِيرًا</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finally</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فِي الْبِدَايَةِ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at the beginning</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Put these in order to tell a story: finally, first, after that. Which word starts the story?</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أَوَّلًا … ثُمَّ … ______</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Learn the eight bi- chunks with their meanings.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eight sentences: four bi- and four fī phrases.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how I complete a task.</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33</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GM-ADV-03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850" b="1" dirty="0">
                <a:solidFill>
                  <a:srgbClr val="FFFFFF"/>
                </a:solidFill>
                <a:latin typeface="Cambria" pitchFamily="34" charset="0"/>
                <a:ea typeface="Cambria" pitchFamily="34" charset="-122"/>
                <a:cs typeface="Cambria" pitchFamily="34" charset="-120"/>
              </a:rPr>
              <a:t>GM-ADV-04 · Common Adverbial Phrases for Fluency</a:t>
            </a:r>
            <a:endParaRPr lang="en-US" sz="18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عِبَارَاتٌ ظَرْفِيَّةٌ شَائِعَةٌ لِلطَّلَاقَةِ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bi- + noun (genitive) = “-ly” · use the noun, not the adjective · fī + noun for time and place · bi- attaches, fī stays separate.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GM-ADV-03 · Adverb + Noun: Prepositional Phrases</dc:title>
  <dc:subject>PptxGenJS Presentation</dc:subject>
  <dc:creator>Al Madina Online School · Arabic Department</dc:creator>
  <cp:lastModifiedBy>Al Madina Online School · Arabic Department</cp:lastModifiedBy>
  <cp:revision>1</cp:revision>
  <dcterms:created xsi:type="dcterms:W3CDTF">2026-10-03T20:12:48Z</dcterms:created>
  <dcterms:modified xsi:type="dcterms:W3CDTF">2026-10-03T20:12:48Z</dcterms:modified>
</cp:coreProperties>
</file>