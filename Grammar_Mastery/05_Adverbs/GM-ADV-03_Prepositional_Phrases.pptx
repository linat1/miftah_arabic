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Adverbs › GM-ADV-03 (“Adverb + Noun: Prepositional Phrases”).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eight high-frequency manner chunks with بِـ (بِسُرْعَةٍ · بِبُطْءٍ · بِسُهُولَةٍ · بِصُعُوبَةٍ · بِهُدُوءٍ · بِوُضُوحٍ · بِعِنَايَةٍ · بِأَمَانٍ) and فِي + place / time. Develop: genitive endings; spelling (بِـ attaches, فِي stays separate; بِالْـ). Stretch: means vs manner (بِالْحَافِلَةِ / بِسُرْعَةٍ); choosing direct adverb vs phrase (سَرِيعًا / بِسُرْعَةٍ); layering manner + place + time.
• Website warning: do not attach بِـ to the ADJECTIVE (بِسَرِيعٍ ✗) — the chunk uses the NOUN (سُرْعَةٌ).
• Chunk learning: teach each phrase as a single vocabulary item with a gesture (fast hands, slow hands, finger on lips for calmly…).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1–3, 5 and 6) — it uses the bi- phrases prepared at the end of GM-ADV-02.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bi- + NOUN (genitive) = “-ly”: with speed = quickly. fī + noun = in / at (time or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(4 min) — website table “bi- + noun: expressing manner”. Teach each chunk with a gesture; chant noun → phrase: سُرْعَةٌ →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2 (3 min) — the website “transformation drill” words (سَرِيعٌ، سَهْلٌ، وَاضِحٌ، هَادِئٌ، آمِنٌ) as a teaching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“fī + noun” and “Position and sentence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bi- and fī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Website layering model plus a means phrase (بِالْحَافِلَةِ). Ask: “Is ‘by bus’ the same kind of information as ‘quickly’?” — means vs manner.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reading task “label each phrase as time, place, means or manner”. Students type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reading task “label each phrase as time, place, means or manner”. Students type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phrase mastery questions 4, 5, 7 and 9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label each phrase as time, place, means or manner.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instruction challenge. Sequence: ● 10s think → ↔ 45s rehearse aloud with mic muted → ◎ two named students on open mic (warned in advance) → + ? the class types one follow-up in chat → ↺ one student summarises.
Routes: Core uses the Core prompt and stem; Develop the Develop prompt; Stretch the last prompt.
Website: explain how to complete a school task using carefully, clearly, quickly and one time / place phrase. Listening cloze (website): partner omits each phrase; listener supplies it from the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90–110 words explaining how you study, cook, travel, exercise or use technology, with at least six bi- manner phrases and four fī time / place phrases.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(GM-ADV-04 · Common Adverbial Phrases for Fluency) will spend class time USING this language, so students prepare it tonight — short, simple, easy to access (school guidance: “Simple, Short, Interesting, Relevant, Easy to access”). The five words prepare GM-ADV-04 (website Adverbs lesson 4: common adverbial phrases for fluency).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ADVERBS  ·  GM-ADV-03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GM-ADV-03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Adverb + Noun: Prepositional Phrases</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التَّرَاكِيبُ الظَّرْفِيَّةُ بِالْجَارِّ وَالْمَجْرُورِ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often says “-ly” with bi- + a NOUN: bi-surʿatin = with speed = quickly. Fī + noun gives time and place: in the morning, at school. After both, the noun is genitive (-in / -i).</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GM-ADV-03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bi- + noun for manner; fī + noun for time and place; position.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Adjective → noun → phrase; sort;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GM-ADV-04.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“quickly” as a prepositional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بِسُرْعَةٍ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سَرِيعٍ</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“easily”.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بِسُهُولَةٍ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سَهْلَةٌ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سَهْلٍ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أَدْرُسُ ___ الْمَدْرَسَةِ.</a:t>
            </a:r>
            <a:endParaRPr lang="ar-SA" sz="15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بِسُرْعَةٍ</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مِنْ</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كَتَبْتُ بِعِنَايَةٌ.</a:t>
            </a:r>
            <a:endParaRPr lang="ar-SA" sz="15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عِنَايَةٌ.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بِعِنَايَةَ.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بِعِنَايَةٍ.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cs typeface="Amiri" pitchFamily="2" charset="-78"/>
              </a:rPr>
              <a:t>Many Arabic adverbial meanings use preposition + noun, but the phrase must be learned naturally.</a:t>
            </a:r>
            <a:endParaRPr lang="en-US" sz="10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English -ly word is formed by adding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to the Arabic adjective.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 always means “quickly”.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“quickly” as a prepositional phrase.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سَرِيعٌ</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بِسُرْعَةٍ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سَرِيعٍ</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 + the noun surʿa (speed) forms the manner phrase.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“easily”.</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بِسُهُولَةٍ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سَهْلَةٌ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سَهْلٍ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suhūla becomes genitive after bi-.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أَدْرُسُ ___ الْمَدْرَسَةِ.</a:t>
            </a:r>
            <a:endParaRPr lang="ar-SA" sz="15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بِسُرْعَةٍ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هُنَاكَ مِنْ</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 a place noun creates a location phrase.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كَتَبْتُ بِعِنَايَةٌ.</a:t>
            </a:r>
            <a:endParaRPr lang="ar-SA" sz="15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 عِنَايَةٌ.</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 بِعِنَايَةَ.</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 بِعِنَايَةٍ.</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after bi- is genitive: -in.</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cs typeface="Amiri" pitchFamily="2" charset="-78"/>
              </a:rPr>
              <a:t>Many Arabic adverbial meanings use preposition + noun, but the phrase must be learned naturally.</a:t>
            </a:r>
            <a:endParaRPr lang="en-US" sz="10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Every English -ly word is formed by adding </a:t>
            </a:r>
            <a:pPr algn="l" indent="0" marL="0">
              <a:buNone/>
            </a:pPr>
            <a:r>
              <a:rPr lang="ar-SA" altLang="en-US" sz="1500" dirty="0">
                <a:solidFill>
                  <a:srgbClr val="9AA1AB"/>
                </a:solidFill>
                <a:latin typeface="Amiri" pitchFamily="2" charset="-78"/>
                <a:ea typeface="Amiri" pitchFamily="2" charset="-78"/>
                <a:cs typeface="Amiri" pitchFamily="2" charset="-78"/>
              </a:rPr>
              <a:t>بِ</a:t>
            </a:r>
            <a:pPr algn="l" indent="0" marL="0">
              <a:buNone/>
            </a:pPr>
            <a:r>
              <a:rPr lang="en-US" sz="1150" dirty="0">
                <a:solidFill>
                  <a:srgbClr val="9AA1AB"/>
                </a:solidFill>
                <a:latin typeface="Calibri" pitchFamily="34" charset="0"/>
                <a:cs typeface="Amiri" pitchFamily="2" charset="-78"/>
              </a:rPr>
              <a:t> to the Arabic adjective.</a:t>
            </a:r>
            <a:endParaRPr lang="en-US" sz="11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في</a:t>
            </a:r>
            <a:pPr algn="l" indent="0" marL="0">
              <a:buNone/>
            </a:pPr>
            <a:r>
              <a:rPr lang="en-US" sz="1250" dirty="0">
                <a:solidFill>
                  <a:srgbClr val="9AA1AB"/>
                </a:solidFill>
                <a:latin typeface="Calibri" pitchFamily="34" charset="0"/>
                <a:cs typeface="Amiri" pitchFamily="2" charset="-78"/>
              </a:rPr>
              <a:t> always means “quickly”.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is productive, but natural lexical choices matter.</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bi- + NOUN (genitive) = “-ly”: with speed = quickly. fī + noun = in / at (time or place).</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a:t>
            </a:r>
            <a:pPr rtl="1" algn="ctr" indent="0" marL="0">
              <a:buNone/>
            </a:pPr>
            <a:r>
              <a:rPr lang="ar-SA" altLang="en-US" sz="2400" b="1" dirty="0">
                <a:solidFill>
                  <a:srgbClr val="D6336C"/>
                </a:solidFill>
                <a:latin typeface="Amiri" pitchFamily="2" charset="-78"/>
                <a:ea typeface="Amiri" pitchFamily="2" charset="-78"/>
                <a:cs typeface="Amiri" pitchFamily="2" charset="-78"/>
              </a:rPr>
              <a:t>سُرْعَةٍ</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فِي</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ea typeface="Amiri" pitchFamily="2" charset="-78"/>
                <a:cs typeface="Amiri" pitchFamily="2" charset="-78"/>
              </a:rPr>
              <a:t>الصَّبَاحِ</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common bi- + noun phrases for manner.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fī + noun for time and place.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the noun after a preposition in the genitive.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a natural chunk instead of translating word by word.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quickly, slowly, carefully, clearly.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in the morning and at school.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-in / -i after every preposition.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attach bi- but keep fī separate.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tell means (by bus) from manner (quickly).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layer manner, place and time in one sentence.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الْجَرِّ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preposition</a:t>
            </a:r>
            <a:endParaRPr lang="en-US" sz="1350" dirty="0"/>
          </a:p>
          <a:p>
            <a:pPr indent="0" marL="0">
              <a:buNone/>
            </a:pPr>
            <a:r>
              <a:rPr lang="en-US" sz="1100" i="1" dirty="0">
                <a:solidFill>
                  <a:srgbClr val="5A6472"/>
                </a:solidFill>
                <a:latin typeface="Calibri" pitchFamily="34" charset="0"/>
                <a:cs typeface="Amiri" pitchFamily="2" charset="-78"/>
              </a:rPr>
              <a:t>ḥar-fu al-jar-ri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بِـ · فِي</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الْمَجْرُورُ</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genitive noun after it</a:t>
            </a:r>
            <a:endParaRPr lang="en-US" sz="1350" dirty="0"/>
          </a:p>
          <a:p>
            <a:pPr indent="0" marL="0">
              <a:buNone/>
            </a:pPr>
            <a:r>
              <a:rPr lang="en-US" sz="1100" i="1" dirty="0">
                <a:solidFill>
                  <a:srgbClr val="5A6472"/>
                </a:solidFill>
                <a:latin typeface="Calibri" pitchFamily="34" charset="0"/>
                <a:cs typeface="Amiri" pitchFamily="2" charset="-78"/>
              </a:rPr>
              <a:t>al-maj-rū-ru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بِسُرْعَةٍ</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بِـ</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by (attached)</a:t>
            </a:r>
            <a:endParaRPr lang="en-US" sz="1350" dirty="0"/>
          </a:p>
          <a:p>
            <a:pPr indent="0" marL="0">
              <a:buNone/>
            </a:pPr>
            <a:r>
              <a:rPr lang="en-US" sz="1100" i="1" dirty="0">
                <a:solidFill>
                  <a:srgbClr val="5A6472"/>
                </a:solidFill>
                <a:latin typeface="Calibri" pitchFamily="34" charset="0"/>
                <a:cs typeface="Amiri" pitchFamily="2" charset="-78"/>
              </a:rPr>
              <a:t>bi-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بِعِنَايَةٍ · بِالْحَافِلَةِ</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at (separate)</a:t>
            </a:r>
            <a:endParaRPr lang="en-US" sz="1350" dirty="0"/>
          </a:p>
          <a:p>
            <a:pPr indent="0" marL="0">
              <a:buNone/>
            </a:pPr>
            <a:r>
              <a:rPr lang="en-US" sz="1100" i="1" dirty="0">
                <a:solidFill>
                  <a:srgbClr val="5A6472"/>
                </a:solidFill>
                <a:latin typeface="Calibri" pitchFamily="34" charset="0"/>
                <a:cs typeface="Amiri" pitchFamily="2" charset="-78"/>
              </a:rPr>
              <a:t>fī</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فِي الْمَدْرَسَةِ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سُرْعَةٌ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speed (noun)</a:t>
            </a:r>
            <a:endParaRPr lang="en-US" sz="1350" dirty="0"/>
          </a:p>
          <a:p>
            <a:pPr indent="0" marL="0">
              <a:buNone/>
            </a:pPr>
            <a:r>
              <a:rPr lang="en-US" sz="1100" i="1" dirty="0">
                <a:solidFill>
                  <a:srgbClr val="5A6472"/>
                </a:solidFill>
                <a:latin typeface="Calibri" pitchFamily="34" charset="0"/>
                <a:cs typeface="Amiri" pitchFamily="2" charset="-78"/>
              </a:rPr>
              <a:t>sur-ʿa-tun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بِسُرْعَةٍ</a:t>
            </a:r>
            <a:pPr algn="l" indent="0" marL="0">
              <a:buNone/>
            </a:pPr>
            <a:r>
              <a:rPr lang="en-US" sz="1000" i="1" dirty="0">
                <a:solidFill>
                  <a:srgbClr val="8A6D1E"/>
                </a:solidFill>
                <a:latin typeface="Calibri" pitchFamily="34" charset="0"/>
                <a:cs typeface="Amiri" pitchFamily="2" charset="-78"/>
              </a:rPr>
              <a:t> = quickly</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الْوَسِيلَةُ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means (how you travel)</a:t>
            </a:r>
            <a:endParaRPr lang="en-US" sz="1350" dirty="0"/>
          </a:p>
          <a:p>
            <a:pPr indent="0" marL="0">
              <a:buNone/>
            </a:pPr>
            <a:r>
              <a:rPr lang="en-US" sz="1100" i="1" dirty="0">
                <a:solidFill>
                  <a:srgbClr val="5A6472"/>
                </a:solidFill>
                <a:latin typeface="Calibri" pitchFamily="34" charset="0"/>
                <a:cs typeface="Amiri" pitchFamily="2" charset="-78"/>
              </a:rPr>
              <a:t>al-wa-sī-la-tu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بِالسَّيَّارَةِ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BI- + NOUN: EXPRESSING MANNER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Eight -ly chunks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بِـ + اسْمٍ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Natural model (website)</a:t>
            </a:r>
            <a:endParaRPr lang="en-US" sz="1100" dirty="0"/>
          </a:p>
        </p:txBody>
      </p:sp>
      <p:sp>
        <p:nvSpPr>
          <p:cNvPr id="17" name="Text 14"/>
          <p:cNvSpPr txBox="1"/>
          <p:nvPr/>
        </p:nvSpPr>
        <p:spPr>
          <a:xfrm>
            <a:off x="32735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أَكْمَلْتُ الْعَمَلَ بِسُرْعَةٍ.</a:t>
            </a:r>
            <a:endParaRPr lang="ar-SA" sz="2200" dirty="0"/>
          </a:p>
        </p:txBody>
      </p:sp>
      <p:sp>
        <p:nvSpPr>
          <p:cNvPr id="21" name="Text 18"/>
          <p:cNvSpPr txBox="1"/>
          <p:nvPr/>
        </p:nvSpPr>
        <p:spPr>
          <a:xfrm>
            <a:off x="3310128" y="226771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quickly</a:t>
            </a:r>
            <a:endParaRPr lang="en-US" sz="1100" dirty="0"/>
          </a:p>
        </p:txBody>
      </p:sp>
      <p:sp>
        <p:nvSpPr>
          <p:cNvPr id="22" name="Text 19"/>
          <p:cNvSpPr txBox="1"/>
          <p:nvPr/>
        </p:nvSpPr>
        <p:spPr>
          <a:xfrm>
            <a:off x="54864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بِسُرْعَةٍ</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تَحَدَّثَ بِبُطْءٍ.</a:t>
            </a:r>
            <a:endParaRPr lang="ar-SA" sz="2200" dirty="0"/>
          </a:p>
        </p:txBody>
      </p:sp>
      <p:sp>
        <p:nvSpPr>
          <p:cNvPr id="27" name="Text 24"/>
          <p:cNvSpPr txBox="1"/>
          <p:nvPr/>
        </p:nvSpPr>
        <p:spPr>
          <a:xfrm>
            <a:off x="3310128" y="2881884"/>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slowly</a:t>
            </a:r>
            <a:endParaRPr lang="en-US" sz="1100" dirty="0"/>
          </a:p>
        </p:txBody>
      </p:sp>
      <p:sp>
        <p:nvSpPr>
          <p:cNvPr id="28" name="Text 25"/>
          <p:cNvSpPr txBox="1"/>
          <p:nvPr/>
        </p:nvSpPr>
        <p:spPr>
          <a:xfrm>
            <a:off x="54864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بِبُطْءٍ</a:t>
            </a:r>
            <a:endParaRPr lang="ar-SA" sz="24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فَهِمْتُ الدَّرْسَ بِسُهُولَةٍ.</a:t>
            </a:r>
            <a:endParaRPr lang="ar-SA" sz="2200" dirty="0"/>
          </a:p>
        </p:txBody>
      </p:sp>
      <p:sp>
        <p:nvSpPr>
          <p:cNvPr id="33" name="Text 30"/>
          <p:cNvSpPr txBox="1"/>
          <p:nvPr/>
        </p:nvSpPr>
        <p:spPr>
          <a:xfrm>
            <a:off x="3310128" y="3496056"/>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easily</a:t>
            </a:r>
            <a:endParaRPr lang="en-US" sz="1100" dirty="0"/>
          </a:p>
        </p:txBody>
      </p:sp>
      <p:sp>
        <p:nvSpPr>
          <p:cNvPr id="34" name="Text 31"/>
          <p:cNvSpPr txBox="1"/>
          <p:nvPr/>
        </p:nvSpPr>
        <p:spPr>
          <a:xfrm>
            <a:off x="54864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بِسُهُولَةٍ</a:t>
            </a:r>
            <a:endParaRPr lang="ar-SA" sz="24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وَجَدْنَا الْمَكَانَ بِصُعُوبَةٍ.</a:t>
            </a:r>
            <a:endParaRPr lang="ar-SA" sz="2200" dirty="0"/>
          </a:p>
        </p:txBody>
      </p:sp>
      <p:sp>
        <p:nvSpPr>
          <p:cNvPr id="39" name="Text 36"/>
          <p:cNvSpPr txBox="1"/>
          <p:nvPr/>
        </p:nvSpPr>
        <p:spPr>
          <a:xfrm>
            <a:off x="3310128" y="4110228"/>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difficulty</a:t>
            </a:r>
            <a:endParaRPr lang="en-US" sz="1100" dirty="0"/>
          </a:p>
        </p:txBody>
      </p:sp>
      <p:sp>
        <p:nvSpPr>
          <p:cNvPr id="40" name="Text 37"/>
          <p:cNvSpPr txBox="1"/>
          <p:nvPr/>
        </p:nvSpPr>
        <p:spPr>
          <a:xfrm>
            <a:off x="54864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بِصُعُوبَةٍ</a:t>
            </a:r>
            <a:endParaRPr lang="ar-SA" sz="24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أَجَابَتْ بِهُدُوءٍ وَبِوُضُوحٍ.</a:t>
            </a:r>
            <a:endParaRPr lang="ar-SA" sz="2200" dirty="0"/>
          </a:p>
        </p:txBody>
      </p:sp>
      <p:sp>
        <p:nvSpPr>
          <p:cNvPr id="45" name="Text 42"/>
          <p:cNvSpPr txBox="1"/>
          <p:nvPr/>
        </p:nvSpPr>
        <p:spPr>
          <a:xfrm>
            <a:off x="3310128" y="4724400"/>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calmly · clearly</a:t>
            </a:r>
            <a:endParaRPr lang="en-US" sz="1100" dirty="0"/>
          </a:p>
        </p:txBody>
      </p:sp>
      <p:sp>
        <p:nvSpPr>
          <p:cNvPr id="46" name="Text 43"/>
          <p:cNvSpPr txBox="1"/>
          <p:nvPr/>
        </p:nvSpPr>
        <p:spPr>
          <a:xfrm>
            <a:off x="54864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بِهُدُوءٍ · بِوُضُوحٍ</a:t>
            </a:r>
            <a:endParaRPr lang="ar-SA" sz="24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قُدْ بِعِنَايَةٍ وَبِأَمَانٍ.</a:t>
            </a:r>
            <a:endParaRPr lang="ar-SA" sz="2200" dirty="0"/>
          </a:p>
        </p:txBody>
      </p:sp>
      <p:sp>
        <p:nvSpPr>
          <p:cNvPr id="49" name="Text 46"/>
          <p:cNvSpPr txBox="1"/>
          <p:nvPr/>
        </p:nvSpPr>
        <p:spPr>
          <a:xfrm>
            <a:off x="3310128" y="533857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carefully · safely</a:t>
            </a:r>
            <a:endParaRPr lang="en-US" sz="1100" dirty="0"/>
          </a:p>
        </p:txBody>
      </p:sp>
      <p:sp>
        <p:nvSpPr>
          <p:cNvPr id="50" name="Text 47"/>
          <p:cNvSpPr txBox="1"/>
          <p:nvPr/>
        </p:nvSpPr>
        <p:spPr>
          <a:xfrm>
            <a:off x="548640"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بِعِنَايَةٍ · بِأَمَانٍ</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bi- means “with / by / in a manner of”; the noun after it is genitive — surʿatun → bi-surʿatin.</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 PART 2 · USE THE NOUN, NOT THE ADJECTIVE (WEBSITE WARNING) · DEVELOP</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Adjective → noun → phrase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الصِّفَةِ إِلَى الْعِبَارَةِ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0167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8" name="Text 15"/>
          <p:cNvSpPr txBox="1"/>
          <p:nvPr/>
        </p:nvSpPr>
        <p:spPr>
          <a:xfrm>
            <a:off x="32735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fast → quickly</a:t>
            </a:r>
            <a:endParaRPr lang="en-US" sz="1100" dirty="0"/>
          </a:p>
        </p:txBody>
      </p:sp>
      <p:sp>
        <p:nvSpPr>
          <p:cNvPr id="22" name="Text 19"/>
          <p:cNvSpPr txBox="1"/>
          <p:nvPr/>
        </p:nvSpPr>
        <p:spPr>
          <a:xfrm>
            <a:off x="60350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بِسُرْعَةٍ</a:t>
            </a:r>
            <a:endParaRPr lang="ar-SA" sz="2400" dirty="0"/>
          </a:p>
        </p:txBody>
      </p:sp>
      <p:sp>
        <p:nvSpPr>
          <p:cNvPr id="23" name="Text 20"/>
          <p:cNvSpPr txBox="1"/>
          <p:nvPr/>
        </p:nvSpPr>
        <p:spPr>
          <a:xfrm>
            <a:off x="32918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سُرْعَةٌ</a:t>
            </a:r>
            <a:endParaRPr lang="ar-SA" sz="2400" dirty="0"/>
          </a:p>
        </p:txBody>
      </p:sp>
      <p:sp>
        <p:nvSpPr>
          <p:cNvPr id="24" name="Text 21"/>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سَرِيعٌ</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easy → easily</a:t>
            </a:r>
            <a:endParaRPr lang="en-US" sz="1100" dirty="0"/>
          </a:p>
        </p:txBody>
      </p:sp>
      <p:sp>
        <p:nvSpPr>
          <p:cNvPr id="29" name="Text 26"/>
          <p:cNvSpPr txBox="1"/>
          <p:nvPr/>
        </p:nvSpPr>
        <p:spPr>
          <a:xfrm>
            <a:off x="60350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بِسُهُولَةٍ</a:t>
            </a:r>
            <a:endParaRPr lang="ar-SA" sz="2400" dirty="0"/>
          </a:p>
        </p:txBody>
      </p:sp>
      <p:sp>
        <p:nvSpPr>
          <p:cNvPr id="30" name="Text 27"/>
          <p:cNvSpPr txBox="1"/>
          <p:nvPr/>
        </p:nvSpPr>
        <p:spPr>
          <a:xfrm>
            <a:off x="32918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سُهُولَةٌ</a:t>
            </a:r>
            <a:endParaRPr lang="ar-SA" sz="2400" dirty="0"/>
          </a:p>
        </p:txBody>
      </p:sp>
      <p:sp>
        <p:nvSpPr>
          <p:cNvPr id="31" name="Text 28"/>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سَهْلٌ</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clear → clearly</a:t>
            </a:r>
            <a:endParaRPr lang="en-US" sz="1100" dirty="0"/>
          </a:p>
        </p:txBody>
      </p:sp>
      <p:sp>
        <p:nvSpPr>
          <p:cNvPr id="36" name="Text 33"/>
          <p:cNvSpPr txBox="1"/>
          <p:nvPr/>
        </p:nvSpPr>
        <p:spPr>
          <a:xfrm>
            <a:off x="60350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بِوُضُوحٍ</a:t>
            </a:r>
            <a:endParaRPr lang="ar-SA" sz="2400" dirty="0"/>
          </a:p>
        </p:txBody>
      </p:sp>
      <p:sp>
        <p:nvSpPr>
          <p:cNvPr id="37" name="Text 34"/>
          <p:cNvSpPr txBox="1"/>
          <p:nvPr/>
        </p:nvSpPr>
        <p:spPr>
          <a:xfrm>
            <a:off x="32918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وُضُوحٌ</a:t>
            </a:r>
            <a:endParaRPr lang="ar-SA" sz="2400" dirty="0"/>
          </a:p>
        </p:txBody>
      </p:sp>
      <p:sp>
        <p:nvSpPr>
          <p:cNvPr id="38" name="Text 35"/>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وَاضِحٌ</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calm → calmly</a:t>
            </a:r>
            <a:endParaRPr lang="en-US" sz="1100" dirty="0"/>
          </a:p>
        </p:txBody>
      </p:sp>
      <p:sp>
        <p:nvSpPr>
          <p:cNvPr id="43" name="Text 40"/>
          <p:cNvSpPr txBox="1"/>
          <p:nvPr/>
        </p:nvSpPr>
        <p:spPr>
          <a:xfrm>
            <a:off x="60350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بِهُدُوءٍ</a:t>
            </a:r>
            <a:endParaRPr lang="ar-SA" sz="2400" dirty="0"/>
          </a:p>
        </p:txBody>
      </p:sp>
      <p:sp>
        <p:nvSpPr>
          <p:cNvPr id="44" name="Text 41"/>
          <p:cNvSpPr txBox="1"/>
          <p:nvPr/>
        </p:nvSpPr>
        <p:spPr>
          <a:xfrm>
            <a:off x="32918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هُدُوءٌ</a:t>
            </a:r>
            <a:endParaRPr lang="ar-SA" sz="2400" dirty="0"/>
          </a:p>
        </p:txBody>
      </p:sp>
      <p:sp>
        <p:nvSpPr>
          <p:cNvPr id="45" name="Text 42"/>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هَادِئٌ</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safe → safely</a:t>
            </a:r>
            <a:endParaRPr lang="en-US" sz="1100" dirty="0"/>
          </a:p>
        </p:txBody>
      </p:sp>
      <p:sp>
        <p:nvSpPr>
          <p:cNvPr id="48" name="Text 45"/>
          <p:cNvSpPr txBox="1"/>
          <p:nvPr/>
        </p:nvSpPr>
        <p:spPr>
          <a:xfrm>
            <a:off x="60350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بِأَمَانٍ</a:t>
            </a:r>
            <a:endParaRPr lang="ar-SA" sz="2400" dirty="0"/>
          </a:p>
        </p:txBody>
      </p:sp>
      <p:sp>
        <p:nvSpPr>
          <p:cNvPr id="49" name="Text 46"/>
          <p:cNvSpPr txBox="1"/>
          <p:nvPr/>
        </p:nvSpPr>
        <p:spPr>
          <a:xfrm>
            <a:off x="32918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أَمَانٌ</a:t>
            </a:r>
            <a:endParaRPr lang="ar-SA" sz="2400" dirty="0"/>
          </a:p>
        </p:txBody>
      </p:sp>
      <p:sp>
        <p:nvSpPr>
          <p:cNvPr id="50" name="Text 47"/>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آمِنٌ</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never attach bi- to the adjective (bi-sarīʿin ✗). Learn the common noun-based chunk.</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FĪ + NOUN, SPELLING AND POSITION (WEBSITE)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at — and where the phrase goes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 اسْمٍ وَالتَّرْتِيبُ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Fī + noun creates everyday place and time expressions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Spelling: fī stays SEPARATE; bi- ATTACHES — bi-surʿatin, bi-l-ḥāfila (website).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manner phrase usually follows the verb or its object (website).</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Time and place phrases can move to the front for emphasis (website).</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Means vs manner: by bus answers “how did you travel?”; quickly answers “in what way?”</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فِي الْبَيْتِ · فِي الْخَارِجِ</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at home · abroad  ·  website · place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فِي الصَّبَاحِ · فِي الشِّتَاءِ</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the morning · in winter  ·  website · time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قَرَأْتُ النَّصَّ بِعِنَايَةٍ.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read the text carefully.  ·  website · manner after object</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أَكْمَلْتُ الْوَاجِبَ بِسُرْعَةٍ فِي الْمَكْتَبَةِ أَمْسِ.</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finished the homework quickly in the library yesterday.  ·  website · layering</a:t>
            </a:r>
            <a:endParaRPr lang="en-US" sz="95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use only as much detail as the message needs — manner, place and time can all be layered, but clarity comes first.</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“carefully”.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عِنَايَةٌ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بِعِنَايَةُ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بِعِنَايَةٍ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 answered calmly.”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أَجَابَ الطَّالِبُ بِهُدُوءٍ.</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أَجَابَ الطَّالِبُ هَادِئٌ.</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أَجَابَ الطَّالِبُ فِي هَادِئٍ.</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morning”.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بِالصَّبَاحُ</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الصَّبَاحِ</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الصَّبَاحَ فِي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time phrase rather than a place phrase?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الْمَسَاءِ</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الْمَكْتَبَةِ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الْحَدِيقَةِ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“carefully”.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عِنَايَةٌ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بِعِنَايَةُ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بِعِنَايَةٍ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 + genitive 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 answered calmly.”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أَجَابَ الطَّالِبُ بِهُدُوءٍ.</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أَجَابَ الطَّالِبُ هَادِئٌ.</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أَجَابَ الطَّالِبُ فِي هَادِئٍ.</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Bi-hudūʾin describes the manner of answering.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morning”.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بِالصَّبَاحُ</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الصَّبَاحِ</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الصَّبَاحَ فِي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 a definite genitive noun.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time phrase rather than a place phrase?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الْمَسَاءِ</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الْمَكْتَبَةِ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الْحَدِيقَةِ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 the evening is a time phrase.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add manner, place and time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 + object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أَكْمَلْتُ الْوَاجِبَ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happened?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Manner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بِسُرْعَةٍ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 + noun, -in.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فِي الْمَكْتَبَةِ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fī + noun, -i.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Time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أَمْسِ</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When?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MANNER (bi-)</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PLACE / TIME (fī)</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أَكْمَلْتُ الْوَاجِبَ </a:t>
            </a:r>
            <a:pPr rtl="1" algn="r" indent="0" marL="0">
              <a:buNone/>
            </a:pPr>
            <a:r>
              <a:rPr lang="ar-SA" altLang="en-US" sz="2600" b="1" dirty="0">
                <a:solidFill>
                  <a:srgbClr val="0E7C86"/>
                </a:solidFill>
                <a:latin typeface="Amiri" pitchFamily="2" charset="-78"/>
                <a:ea typeface="Amiri" pitchFamily="2" charset="-78"/>
                <a:cs typeface="Amiri" pitchFamily="2" charset="-78"/>
              </a:rPr>
              <a:t>بِسُرْعَةٍ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فِي الْمَكْتَبَةِ</a:t>
            </a:r>
            <a:pPr rtl="1" algn="r" indent="0" marL="0">
              <a:buNone/>
            </a:pPr>
            <a:r>
              <a:rPr lang="ar-SA" altLang="en-US" sz="2600" b="1" dirty="0">
                <a:solidFill>
                  <a:srgbClr val="1B3B6F"/>
                </a:solidFill>
                <a:latin typeface="Amiri" pitchFamily="2" charset="-78"/>
                <a:ea typeface="Amiri" pitchFamily="2" charset="-78"/>
                <a:cs typeface="Amiri" pitchFamily="2" charset="-78"/>
              </a:rPr>
              <a:t> أَمْسِ، ثُمَّ رَجَعْتُ </a:t>
            </a:r>
            <a:pPr rtl="1" algn="r" indent="0" marL="0">
              <a:buNone/>
            </a:pPr>
            <a:r>
              <a:rPr lang="ar-SA" altLang="en-US" sz="2600" b="1" dirty="0">
                <a:solidFill>
                  <a:srgbClr val="0E7C86"/>
                </a:solidFill>
                <a:latin typeface="Amiri" pitchFamily="2" charset="-78"/>
                <a:ea typeface="Amiri" pitchFamily="2" charset="-78"/>
                <a:cs typeface="Amiri" pitchFamily="2" charset="-78"/>
              </a:rPr>
              <a:t>بِالْحَافِلَةِ</a:t>
            </a:r>
            <a:pPr rtl="1" algn="r" indent="0" marL="0">
              <a:buNone/>
            </a:pPr>
            <a:r>
              <a:rPr lang="ar-SA" altLang="en-US" sz="2600" b="1" dirty="0">
                <a:solidFill>
                  <a:srgbClr val="1B3B6F"/>
                </a:solidFill>
                <a:latin typeface="Amiri" pitchFamily="2" charset="-78"/>
                <a:ea typeface="Amiri" pitchFamily="2" charset="-78"/>
                <a:cs typeface="Amiri" pitchFamily="2" charset="-78"/>
              </a:rPr>
              <a:t> وَوَصَلْتُ </a:t>
            </a:r>
            <a:pPr rtl="1" algn="r" indent="0" marL="0">
              <a:buNone/>
            </a:pPr>
            <a:r>
              <a:rPr lang="ar-SA" altLang="en-US" sz="2600" b="1" dirty="0">
                <a:solidFill>
                  <a:srgbClr val="0E7C86"/>
                </a:solidFill>
                <a:latin typeface="Amiri" pitchFamily="2" charset="-78"/>
                <a:ea typeface="Amiri" pitchFamily="2" charset="-78"/>
                <a:cs typeface="Amiri" pitchFamily="2" charset="-78"/>
              </a:rPr>
              <a:t>بِأَمَانٍ</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finished the homework quickly in the library yesterday, then I went back by bus and arrived safely.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فَهِمْتُ الدَّرْسَ بِسُهُولَةٍ.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understood the lesson easily.</a:t>
            </a:r>
            <a:endParaRPr lang="en-US" sz="1250" dirty="0"/>
          </a:p>
          <a:p>
            <a:pPr indent="0" marL="0">
              <a:buNone/>
            </a:pPr>
            <a:r>
              <a:rPr lang="en-US" sz="1050" i="1" dirty="0">
                <a:solidFill>
                  <a:srgbClr val="8A6D1E"/>
                </a:solidFill>
                <a:latin typeface="Calibri" pitchFamily="34" charset="0"/>
                <a:cs typeface="Amiri" pitchFamily="2" charset="-78"/>
              </a:rPr>
              <a:t>Website model.</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الْمَسَاءِ أَدْرُسُ فِي غُرْفَتِي.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the evening I study in my room.</a:t>
            </a:r>
            <a:endParaRPr lang="en-US" sz="1250" dirty="0"/>
          </a:p>
          <a:p>
            <a:pPr indent="0" marL="0">
              <a:buNone/>
            </a:pPr>
            <a:r>
              <a:rPr lang="en-US" sz="1050" i="1" dirty="0">
                <a:solidFill>
                  <a:srgbClr val="8A6D1E"/>
                </a:solidFill>
                <a:latin typeface="Calibri" pitchFamily="34" charset="0"/>
                <a:cs typeface="Amiri" pitchFamily="2" charset="-78"/>
              </a:rPr>
              <a:t>Website model: time + place.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أَكْتُبُ إِجَابَاتِي بِوُضُوحٍ.</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write my answers clearly.</a:t>
            </a:r>
            <a:endParaRPr lang="en-US" sz="1250" dirty="0"/>
          </a:p>
          <a:p>
            <a:pPr indent="0" marL="0">
              <a:buNone/>
            </a:pPr>
            <a:r>
              <a:rPr lang="en-US" sz="1050" i="1" dirty="0">
                <a:solidFill>
                  <a:srgbClr val="8A6D1E"/>
                </a:solidFill>
                <a:latin typeface="Calibri" pitchFamily="34" charset="0"/>
                <a:cs typeface="Amiri" pitchFamily="2" charset="-78"/>
              </a:rPr>
              <a:t>Website model: manner.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ذَهَبْتُ إِلَى الْمَدْرَسَةِ بِالْحَافِلَةِ.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went to school by bus.</a:t>
            </a:r>
            <a:endParaRPr lang="en-US" sz="1250" dirty="0"/>
          </a:p>
          <a:p>
            <a:pPr indent="0" marL="0">
              <a:buNone/>
            </a:pPr>
            <a:r>
              <a:rPr lang="en-US" sz="1050" i="1" dirty="0">
                <a:solidFill>
                  <a:srgbClr val="8A6D1E"/>
                </a:solidFill>
                <a:latin typeface="Calibri" pitchFamily="34" charset="0"/>
                <a:cs typeface="Amiri" pitchFamily="2" charset="-78"/>
              </a:rPr>
              <a:t>Website reading: means.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WHAT DOES THE PHRASE TELL 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Manner, place, time or means?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أَيْنَ؟ مَتَى؟ بِمَاذَا؟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بِعِنَايَةٍ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السُّوقِ</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اللَّيْلِ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بِالْقِطَارِ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بِبُطْءٍ</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الْخَارِجِ</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الشِّتَاءِ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بِالسَّيَّارَةِ</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Manner</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Place</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Time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Means</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Manner</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بِعِنَايَةٍ</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بِبُطْءٍ</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Place</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السُّوقِ</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الْخَارِجِ</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Time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اللَّيْلِ</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الشِّتَاءِ</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Means</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بِالْقِطَارِ</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بِالسَّيَّارَةِ</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كَتَبْتُ بِعِنَايَةٌ.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after bi-?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أَجَابَ بِسَرِيعٍ.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Adjective or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نَلْعَبُ فِي الْحَدِيقَةُ.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after fī?</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كَتَبْتُ بِعِنَايَةٌ.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كَتَبْتُ بِعِنَايَةٍ.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noun after bi- is genitive (website).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أَجَابَ بِسَرِيعٍ.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أَجَابَ بِسُرْعَةٍ.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noun, not the adjective (website warning).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نَلْعَبُ فِي الْحَدِيقَةُ.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نَلْعَبُ فِي الْحَدِيقَةِ.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Genitive after fī.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WE DO · GUIDED PRACTICE · WEBSITE PHRASE MASTERY QUESTIONS 4, 5, 7 AND 9</a:t>
            </a:r>
            <a:endParaRPr lang="en-US" sz="98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“clearly”.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وَاضِحَةٌ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وَاضِحٍ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بِوُضُوحٍ</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نَلْعَبُ ___ الْحَدِيقَةِ.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بِسُرْعَةٍ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فقط</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سَافَرْنَا بِأَمَانٌ.</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سَافَرْنَا أَمَانٌ.</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سَافَرْنَا بِأَمَانٍ.</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سَافَرْنَا بِآمِنَةٌ.</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natural sentence.</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فَهِمْتُ السُّؤَالَ بِسَهْلٌ.</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فَهِمْتُ بِالسُّؤَالِ سُهُولَةٌ.</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فَهِمْتُ السُّؤَالَ بِسُهُولَةٍ.</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“clearly”.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وَاضِحَةٌ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وَاضِحٍ</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بِوُضُوحٍ</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manner phrase is bi-wuḍūḥin.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نَلْعَبُ ___ الْحَدِيقَةِ.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بِسُرْعَةٍ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 فقط</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introduces place.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سَافَرْنَا بِأَمَانٌ.</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سَافَرْنَا أَمَانٌ.</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سَافَرْنَا بِأَمَانٍ.</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سَافَرْنَا بِآمِنَةٌ.</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 after bi-.</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natural sentence.</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فَهِمْتُ السُّؤَالَ بِسَهْلٌ.</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فَهِمْتُ بِالسُّؤَالِ سُهُولَةٌ.</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فَهِمْتُ السُّؤَالَ بِسُهُولَةٍ.</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naturally modifies the verb.</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busy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الصَّبَاحِ ذَهَبْتُ إِلَى الْمَدْرَسَةِ بِالْحَافِلَةِ. أَجَبْتُ عَنِ الْأَسْئِلَةِ بِعِنَايَةٍ، وَلَكِنِّي أَكْمَلْتُ التَّمْرِينَ الْأَخِيرَ بِصُعُوبَةٍ. فِي الِاسْتِرَاحَةِ أَكَلْتُ بِسُرْعَةٍ وَلَعِبْتُ فِي السَّاحَةِ. فِي الْمَسَاءِ رَجَعْتُ إِلَى الْبَيْتِ بِأَمَانٍ.</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بِالْحَافِلَةِ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bus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أَجَبْتُ عَنْ</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answered</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التَّمْرِينَ الْأَخِيرَ</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last exercise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الِاسْتِرَاحَةِ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break</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السَّاحَةِ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playground</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رَجَعْتُ</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returned</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travel to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finish the last exercise?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easily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quickly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difficulty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play?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playground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library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time phrase?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بِأَمَانٍ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الْمَسَاءِ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بِعِنَايَةٍ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travel to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بِالْحَافِلَةِ</a:t>
            </a:r>
            <a:pPr algn="l" indent="0" marL="0">
              <a:buNone/>
            </a:pPr>
            <a:r>
              <a:rPr lang="en-US" sz="1050" i="1" dirty="0">
                <a:solidFill>
                  <a:srgbClr val="8A6D1E"/>
                </a:solidFill>
                <a:latin typeface="Calibri" pitchFamily="34" charset="0"/>
                <a:cs typeface="Amiri" pitchFamily="2" charset="-78"/>
              </a:rPr>
              <a:t> = means.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finish the last exercise?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easily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quickly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difficulty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بِصُعُوبَةٍ.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play?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playground</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home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library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السَّاحَةِ.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time phrase?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بِأَمَانٍ</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الْمَسَاءِ</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بِعِنَايَةٍ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 a time noun.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Instruction challenge: how to do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تَكْتُبُ وَاجِبَكَ؟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تَسْتَعِدُّ لِلِاخْتِبَارِ؟ مَتَى؟ أَيْنَ؟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اشْرَحْ لِصَدِيقٍ كَيْفَ يَقْطَعُ الشَّارِعَ بِأَمَانٍ.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أَكْتُبُ وَاجِبِي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___ أَدْرُسُ فِي ___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انْظُرْ ___ ، ثُمَّ امْشِ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تُرَاجِعُ لِلِاخْتِبَارِ؟</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revise for the test?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الْمَسَاءِ أُرَاجِعُ فِي غُرْفَتِي بِهُدُوءٍ. أَقْرَأُ الْمُلَاحَظَاتِ بِعِنَايَةٍ، ثُمَّ أَكْتُبُ الْكَلِمَاتِ بِسُرْعَةٍ.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In the evening I revise in my room calmly. I read the notes carefully, then I write the words quickly.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how you study using bi- phrases.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carefully, quickly, calmly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fī time and place phrases.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 the evening, in my room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how I complete a task.</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one means phrase and one layered sentence.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الصَّبَاحِ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morning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فَهِمْتُ الدَّرْسَ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understood the lesson easily.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الشِّتَاءِ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winter we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أَقْرَأُ التَّعْلِيمَاتِ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the instructions carefully.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أَكْتُبُ إِجَابَاتِي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write my answers clearly.</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الْفَطُورَ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breakfast quickly.</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by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بِسُرْعَةٍ  ·  بِبُطْءٍ  ·  بِسُهُولَةٍ  ·  بِصُعُوبَةٍ  ·  بِهُدُوءٍ  ·  بِوُضُوحٍ  ·  بِعِنَايَةٍ  ·  بِأَمَانٍ  ·  بِالْحَافِلَةِ  ·  فِي الْبَيْتِ  ·  فِي الْمَسَاءِ  ·  فِي غُرْفَتِي</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task: 90–110 words on how you study, cook, travel, exercise or use technology.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bi- manner phrases with genitive nouns.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fī time or place phrases.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means phrase (by bus / by car).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layered sentence: manner + place + time.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bi- attached to an adjective.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بِعِنَايَةٍ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carefully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بِوُضُوحٍ</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clearly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بِالسَّيَّارَةِ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by car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الْمَطْبَخِ</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kitchen</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weekend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بِأَمَانٍ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safely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الطَّبْخَ فِي نِهَايَةِ الْأُسْبُوعِ. فِي الصَّبَاحِ أَذْهَبُ إِلَى السُّوقِ بِالدَّرَّاجَةِ، وَأَخْتَارُ الْخُضَارَ بِعِنَايَةٍ. فِي الْمَطْبَخِ أَغْسِلُ يَدَيَّ جَيِّدًا، ثُمَّ أَقْطَعُ الْخُضَارَ بِبُطْءٍ وَبِأَمَانٍ. أَقْرَأُ الْوَصْفَةَ بِوُضُوحٍ لِأُخْتِي، وَهِيَ تُسَاعِدُنِي بِسُرْعَةٍ. فِي الْمَسَاءِ نَأْكُلُ مَعًا بِسَعَادَةٍ.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love cooking at the weekend. In the morning I go to the market by bike, and I choose the vegetables carefully. In the kitchen I wash my hands well, then I cut the vegetables slowly and safely. I read the recipe clearly to my sister, and she helps me quickly. In the evening we eat together happily.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 manner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fī time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fī place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means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six bi- phrases.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noun after bi- ends in -in or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fī for time and place.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Bi- is attached; fī is separate.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means phrase and a layered sentence.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safest for “safely”?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بِأَمَانٍ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بِآمِنٌ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winter”.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الشِّتَاءُ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الشِّتَاءِ</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بِشِتَاءٌ</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contains a definite genitive noun?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الْمَدْرَسَةِ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بِسُرْعَةٍ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safest for “safely”?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بِأَمَانٍ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أَمِينٌ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بِآمِنٌ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Bi-amānin is a natural manner phrase.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winter”.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الشِّتَاءُ</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الشِّتَاءِ</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بِشِتَاءٌ</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 a genitive definite noun.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contains a definite genitive noun?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الْمَدْرَسَةِ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بِسُرْعَةٍ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school is definite and genitive after fī.</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GM-ADV-03 · Adverbs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GM-ADV-04: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GM-ADV-04 · Common Adverbial Phrases for Fluency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usually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first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ذَلِكَ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after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أَخِيرًا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finally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الْبِدَايَةِ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at the beginning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Put these in order to tell a story: finally, first, after that. Which word starts the story?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أَوَّلًا … ثُمَّ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eight bi- chunks with their meanings.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four bi- and four fī phrases.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how I complete a task.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GM-ADV-03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GM-ADV-04 · Common Adverbial Phrases for Fluency</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عِبَارَاتٌ ظَرْفِيَّةٌ شَائِعَةٌ لِلطَّلَاقَةِ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bi- + noun (genitive) = “-ly” · use the noun, not the adjective · fī + noun for time and place · bi- attaches, fī stays separate.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GM-ADV-03 · Adverb + Noun: Prepositional Phrases</dc:title>
  <dc:subject>PptxGenJS Presentation</dc:subject>
  <dc:creator>Al Madina Online School · Arabic Department</dc:creator>
  <cp:lastModifiedBy>Al Madina Online School · Arabic Department</cp:lastModifiedBy>
  <cp:revision>1</cp:revision>
  <dcterms:created xsi:type="dcterms:W3CDTF">2026-10-11T06:42:06Z</dcterms:created>
  <dcterms:modified xsi:type="dcterms:W3CDTF">2026-10-11T06:42:06Z</dcterms:modified>
</cp:coreProperties>
</file>