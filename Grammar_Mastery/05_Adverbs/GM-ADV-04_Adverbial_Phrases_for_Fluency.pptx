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GM-ADV-04 (“Common Adverbial Phrases for Fluency”).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frequency (كُلَّ يَوْمٍ · مَرَّتَيْنِ فِي الْأُسْبُوعِ), time of day (فِي الصَّبَاحِ · فِي الْمَسَاءِ) and future (فِي الْمُسْتَقْبَلِ). Develop: sequence links (فِي الْبِدَايَةِ · بَعْدَ ذَلِكَ · أَخِيرًا) without the “ثُمَّ chain”. Stretch: layer frequency, time, place and sequence in sustained speaking and writing; direction chunks for role plays.
• This is the final Adverbs lesson: the website calls it the “package mastery”. Return to the final check in 3–7 days (spaced retrieval).
• Exam value: these chunks turn a one-line IGCSE answer into a developed one — model the “extended answer ladder” explicitly.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sequence words prepared at the end of GM-ADV-03.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Learn useful phrases as WHOLE chunks — then you can say more, faster, and organise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“Frequency and routine chunks”. Chant each chunk with its meaning; then “kam marratan?” questions round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website “Parts of the day and time horizon”. Model the website pair: فِي الْوَقْتِ الْحَالِيِّ أَدْرُسُ الْعَرَبِيَّةَ · فِي الْمُسْتَقْبَلِ سَأَسْتَعْمِلُهَا فِي 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“Sequence and fluency links” and “Place and direction chunks”. Directions are especially useful for role plays (travel, town,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Frequency, Sequence and Place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“extended answer ladder”: basic answer → add frequency / time → add sequence or future. Build it rung by rung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(“identify frequency, time-of-day, place and sequence phrases”) as a sort.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reading task (“identify frequency, time-of-day, place and sequence phrases”) as a sort. Students type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“chunk audit”. Cover the right column; students rewrite the chain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adverbial phrase mastery questions 5, 6, 8 and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identify frequency, time-of-day, place and sequence phrases, and explain how each guides the reader.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text; the last sentence and the questions are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extended answer ladder.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in three stages — basic answer; add a frequency / time phrase; add sequence or future. Route listening (website): one partner gives directions, the other draws the route and repeats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as an email, blog entry or short article about a routine, trip or future plan, with at least ten different adverbial chunks.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extends the website model for the integrated fluency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(GM-PRO-01 · Subject Pronouns) will spend class time USING this language, so students prepare it tonight — short, simple, easy to access (school guidance: “Simple, Short, Interesting, Relevant, Easy to access”). The five words prepare GM-PRO-01 (website Pronouns lesson 1: subject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Common Adverbial Phrases for Fluency</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عِبَارَاتٌ ظَرْفِيَّةٌ شَائِعَةٌ لِلطَّلَاقَةِ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Fluent speakers retrieve ready-made chunks: every day, twice a week, after that, finally, near the school. Learn each phrase whole, then plug it into your sentences to extend, organise and connect your answers.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Frequency; time of day and horizon; sequence; place and direction.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chunks; climb the answer ladder.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“every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future”.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الْمَاضِي غَدًا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الْيَمِينِ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sequences the next event?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الْخَارِجِ</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وَقْتٍ لِآخَرَ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“from time to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وَقْتٍ لِآخَرَ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الْوَقْتِ نَفْسِهِ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“every 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يَوْمٌ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 يَوْمٍ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phrase is kulla yawmin.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future”.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الْمُسْتَقْبَلِ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الْمَاضِي غَدًا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الْيَمِينِ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l-mustaqbal is a set future phrase.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the morning”.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ذَلِكَ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بِالْقُرْبِ مِنْ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الصَّبَاحِ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phrase places the action in the morning.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sequences the next event?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الْخَارِجِ</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وَقْتٍ لِآخَرَ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Baʿda dhālika moves the story forward.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“from time to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وَقْتٍ لِآخَرَ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الْوَقْتِ نَفْسِهِ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يَوْمٍ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expresses occasional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Learn useful phrases as WHOLE chunks — then you can say more, faster, and organise your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كُلَّ يَوْمٍ</a:t>
            </a:r>
            <a:pPr rtl="1" algn="ctr" indent="0" marL="0">
              <a:lnSpc>
                <a:spcPct val="120000"/>
              </a:lnSpc>
              <a:buNone/>
            </a:pPr>
            <a:r>
              <a:rPr lang="ar-SA" altLang="en-US" sz="2150" b="1" dirty="0">
                <a:solidFill>
                  <a:srgbClr val="1B3B6F"/>
                </a:solidFill>
                <a:latin typeface="Amiri" pitchFamily="2" charset="-78"/>
                <a:cs typeface="Amiri" pitchFamily="2" charset="-78"/>
              </a:rPr>
              <a:t> ·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بَعْدَ ذَلِكَ</a:t>
            </a:r>
            <a:pPr rtl="1" algn="ctr" indent="0" marL="0">
              <a:lnSpc>
                <a:spcPct val="120000"/>
              </a:lnSpc>
              <a:buNone/>
            </a:pPr>
            <a:r>
              <a:rPr lang="ar-SA" altLang="en-US" sz="2150" b="1" dirty="0">
                <a:solidFill>
                  <a:srgbClr val="1B3B6F"/>
                </a:solidFill>
                <a:latin typeface="Amiri" pitchFamily="2" charset="-78"/>
                <a:cs typeface="Amiri" pitchFamily="2" charset="-78"/>
              </a:rPr>
              <a:t> · </a:t>
            </a:r>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فِي الْمُسْتَقْبَلِ</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frequency and routine chunks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time-of-day and time-horizon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events with varied links.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directions with place chunks.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every day, twice a week, in the morning.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in the future.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sequence: at first, after that, finally.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avoid repeating thumma.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layer four kinds of chunk in one answer.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directions: on the right, near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التَّكْرَارُ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frequency (how often?)</a:t>
            </a:r>
            <a:endParaRPr lang="en-US" sz="1350" dirty="0"/>
          </a:p>
          <a:p>
            <a:pPr indent="0" marL="0">
              <a:buNone/>
            </a:pPr>
            <a:r>
              <a:rPr lang="en-US" sz="1100" i="1" dirty="0">
                <a:solidFill>
                  <a:srgbClr val="5A6472"/>
                </a:solidFill>
                <a:latin typeface="Calibri" pitchFamily="34" charset="0"/>
                <a:cs typeface="Amiri" pitchFamily="2" charset="-78"/>
              </a:rPr>
              <a:t>at-tak-rā-ru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كُلَّ 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التَّرْتِيبُ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a:t>
            </a:r>
            <a:endParaRPr lang="en-US" sz="1350" dirty="0"/>
          </a:p>
          <a:p>
            <a:pPr indent="0" marL="0">
              <a:buNone/>
            </a:pPr>
            <a:r>
              <a:rPr lang="en-US" sz="1100" i="1" dirty="0">
                <a:solidFill>
                  <a:srgbClr val="5A6472"/>
                </a:solidFill>
                <a:latin typeface="Calibri" pitchFamily="34" charset="0"/>
                <a:cs typeface="Amiri" pitchFamily="2" charset="-78"/>
              </a:rPr>
              <a:t>at-tar-tī-bu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أَوَّلًا · أَخِيرًا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الِاتِّجَاهُ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al-ِt-ti-jā-hu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عَلَى الْيَمِينِ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مَرَّةً؟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often?</a:t>
            </a:r>
            <a:endParaRPr lang="en-US" sz="1350" dirty="0"/>
          </a:p>
          <a:p>
            <a:pPr indent="0" marL="0">
              <a:buNone/>
            </a:pPr>
            <a:r>
              <a:rPr lang="en-US" sz="1100" i="1" dirty="0">
                <a:solidFill>
                  <a:srgbClr val="5A6472"/>
                </a:solidFill>
                <a:latin typeface="Calibri" pitchFamily="34" charset="0"/>
                <a:cs typeface="Amiri" pitchFamily="2" charset="-78"/>
              </a:rPr>
              <a:t>kam mar-ra-tan?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مَرَّةً فِي الْأُسْبُوعِ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عِبَارَةٌ جَاهِزَةٌ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ready-made chunk</a:t>
            </a:r>
            <a:endParaRPr lang="en-US" sz="1350" dirty="0"/>
          </a:p>
          <a:p>
            <a:pPr indent="0" marL="0">
              <a:buNone/>
            </a:pPr>
            <a:r>
              <a:rPr lang="en-US" sz="1100" i="1" dirty="0">
                <a:solidFill>
                  <a:srgbClr val="5A6472"/>
                </a:solidFill>
                <a:latin typeface="Calibri" pitchFamily="34" charset="0"/>
                <a:cs typeface="Amiri" pitchFamily="2" charset="-78"/>
              </a:rPr>
              <a:t>ʿi-bā-ra-tun jā-hi-za-tun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learn it whole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speed and flow</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FREQUENCY AND ROUTINE CHUNKS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عِبَارَاتُ التَّكْرَارِ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766560" y="226771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كُلَّ يَوْمٍ.</a:t>
            </a:r>
            <a:endParaRPr lang="ar-SA" sz="2200" dirty="0"/>
          </a:p>
        </p:txBody>
      </p:sp>
      <p:sp>
        <p:nvSpPr>
          <p:cNvPr id="21" name="Text 18"/>
          <p:cNvSpPr txBox="1"/>
          <p:nvPr/>
        </p:nvSpPr>
        <p:spPr>
          <a:xfrm>
            <a:off x="40416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day</a:t>
            </a:r>
            <a:endParaRPr lang="en-US" sz="1100" dirty="0"/>
          </a:p>
        </p:txBody>
      </p:sp>
      <p:sp>
        <p:nvSpPr>
          <p:cNvPr id="22" name="Text 19"/>
          <p:cNvSpPr txBox="1"/>
          <p:nvPr/>
        </p:nvSpPr>
        <p:spPr>
          <a:xfrm>
            <a:off x="548640" y="226771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كُلَّ يَوْمٍ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766560" y="2881884"/>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أَمْشِي كُلَّ صَبَاحٍ.</a:t>
            </a:r>
            <a:endParaRPr lang="ar-SA" sz="2200" dirty="0"/>
          </a:p>
        </p:txBody>
      </p:sp>
      <p:sp>
        <p:nvSpPr>
          <p:cNvPr id="27" name="Text 24"/>
          <p:cNvSpPr txBox="1"/>
          <p:nvPr/>
        </p:nvSpPr>
        <p:spPr>
          <a:xfrm>
            <a:off x="404164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morning · evening</a:t>
            </a:r>
            <a:endParaRPr lang="en-US" sz="1100" dirty="0"/>
          </a:p>
        </p:txBody>
      </p:sp>
      <p:sp>
        <p:nvSpPr>
          <p:cNvPr id="28" name="Text 25"/>
          <p:cNvSpPr txBox="1"/>
          <p:nvPr/>
        </p:nvSpPr>
        <p:spPr>
          <a:xfrm>
            <a:off x="548640" y="2881884"/>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كُلَّ صَبَاحٍ · كُلَّ مَسَاءٍ</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766560" y="3496056"/>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أَسْبَحُ مَرَّةً فِي الْأُسْبُوعِ.</a:t>
            </a:r>
            <a:endParaRPr lang="ar-SA" sz="2200" dirty="0"/>
          </a:p>
        </p:txBody>
      </p:sp>
      <p:sp>
        <p:nvSpPr>
          <p:cNvPr id="33" name="Text 30"/>
          <p:cNvSpPr txBox="1"/>
          <p:nvPr/>
        </p:nvSpPr>
        <p:spPr>
          <a:xfrm>
            <a:off x="40416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once a week</a:t>
            </a:r>
            <a:endParaRPr lang="en-US" sz="1100" dirty="0"/>
          </a:p>
        </p:txBody>
      </p:sp>
      <p:sp>
        <p:nvSpPr>
          <p:cNvPr id="34" name="Text 31"/>
          <p:cNvSpPr txBox="1"/>
          <p:nvPr/>
        </p:nvSpPr>
        <p:spPr>
          <a:xfrm>
            <a:off x="548640" y="3496056"/>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مَرَّةً فِي الْأُسْبُوعِ</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766560" y="4110228"/>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أَتَدَرَّبُ مَرَّتَيْنِ فِي الْأُسْبُوعِ.</a:t>
            </a:r>
            <a:endParaRPr lang="ar-SA" sz="2200" dirty="0"/>
          </a:p>
        </p:txBody>
      </p:sp>
      <p:sp>
        <p:nvSpPr>
          <p:cNvPr id="39" name="Text 36"/>
          <p:cNvSpPr txBox="1"/>
          <p:nvPr/>
        </p:nvSpPr>
        <p:spPr>
          <a:xfrm>
            <a:off x="404164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twice a week</a:t>
            </a:r>
            <a:endParaRPr lang="en-US" sz="1100" dirty="0"/>
          </a:p>
        </p:txBody>
      </p:sp>
      <p:sp>
        <p:nvSpPr>
          <p:cNvPr id="40" name="Text 37"/>
          <p:cNvSpPr txBox="1"/>
          <p:nvPr/>
        </p:nvSpPr>
        <p:spPr>
          <a:xfrm>
            <a:off x="548640" y="4110228"/>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مَرَّتَيْنِ فِي الْأُسْبُوعِ</a:t>
            </a:r>
            <a:endParaRPr lang="ar-SA" sz="22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766560" y="4724400"/>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نَزُورُ جَدِّي مَرَّةً فِي الشَّهْرِ.</a:t>
            </a:r>
            <a:endParaRPr lang="ar-SA" sz="2200" dirty="0"/>
          </a:p>
        </p:txBody>
      </p:sp>
      <p:sp>
        <p:nvSpPr>
          <p:cNvPr id="45" name="Text 42"/>
          <p:cNvSpPr txBox="1"/>
          <p:nvPr/>
        </p:nvSpPr>
        <p:spPr>
          <a:xfrm>
            <a:off x="40416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once a month</a:t>
            </a:r>
            <a:endParaRPr lang="en-US" sz="1100" dirty="0"/>
          </a:p>
        </p:txBody>
      </p:sp>
      <p:sp>
        <p:nvSpPr>
          <p:cNvPr id="46" name="Text 43"/>
          <p:cNvSpPr txBox="1"/>
          <p:nvPr/>
        </p:nvSpPr>
        <p:spPr>
          <a:xfrm>
            <a:off x="548640" y="4724400"/>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مَرَّةً فِي الشَّهْرِ</a:t>
            </a:r>
            <a:endParaRPr lang="ar-SA" sz="22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766560" y="5338572"/>
            <a:ext cx="48737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أَزُورُهُمْ مِنْ وَقْتٍ لِآخَرَ.</a:t>
            </a:r>
            <a:endParaRPr lang="ar-SA" sz="2200" dirty="0"/>
          </a:p>
        </p:txBody>
      </p:sp>
      <p:sp>
        <p:nvSpPr>
          <p:cNvPr id="49" name="Text 46"/>
          <p:cNvSpPr txBox="1"/>
          <p:nvPr/>
        </p:nvSpPr>
        <p:spPr>
          <a:xfrm>
            <a:off x="404164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time to time</a:t>
            </a:r>
            <a:endParaRPr lang="en-US" sz="1100" dirty="0"/>
          </a:p>
        </p:txBody>
      </p:sp>
      <p:sp>
        <p:nvSpPr>
          <p:cNvPr id="50" name="Text 47"/>
          <p:cNvSpPr txBox="1"/>
          <p:nvPr/>
        </p:nvSpPr>
        <p:spPr>
          <a:xfrm>
            <a:off x="548640" y="533857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وَقْتٍ لِآخَرَ</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 kulla yawmin, kulla is accusative and the noun after it is genitive. Accurate use matters more than naming the case.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PARTS OF THE DAY AND TIME HORIZON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When in the day — and when in life?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أَوْقَاتُ الْيَوْمِ وَالْأُفُقُ الزَّمَنِيُّ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1996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Longer period</a:t>
            </a:r>
            <a:endParaRPr lang="en-US" sz="1100" dirty="0"/>
          </a:p>
        </p:txBody>
      </p:sp>
      <p:sp>
        <p:nvSpPr>
          <p:cNvPr id="18" name="Text 15"/>
          <p:cNvSpPr txBox="1"/>
          <p:nvPr/>
        </p:nvSpPr>
        <p:spPr>
          <a:xfrm>
            <a:off x="36393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Within the day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currently</a:t>
            </a:r>
            <a:endParaRPr lang="en-US" sz="1100" dirty="0"/>
          </a:p>
        </p:txBody>
      </p:sp>
      <p:sp>
        <p:nvSpPr>
          <p:cNvPr id="22" name="Text 19"/>
          <p:cNvSpPr txBox="1"/>
          <p:nvPr/>
        </p:nvSpPr>
        <p:spPr>
          <a:xfrm>
            <a:off x="62179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الْوَقْتِ الْحَالِيِّ</a:t>
            </a:r>
            <a:endParaRPr lang="ar-SA" sz="2200" dirty="0"/>
          </a:p>
        </p:txBody>
      </p:sp>
      <p:sp>
        <p:nvSpPr>
          <p:cNvPr id="23" name="Text 20"/>
          <p:cNvSpPr txBox="1"/>
          <p:nvPr/>
        </p:nvSpPr>
        <p:spPr>
          <a:xfrm>
            <a:off x="367588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morning</a:t>
            </a:r>
            <a:endParaRPr lang="en-US" sz="11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الصَّبَاحِ</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until now</a:t>
            </a:r>
            <a:endParaRPr lang="en-US" sz="1100" dirty="0"/>
          </a:p>
        </p:txBody>
      </p:sp>
      <p:sp>
        <p:nvSpPr>
          <p:cNvPr id="29" name="Text 26"/>
          <p:cNvSpPr txBox="1"/>
          <p:nvPr/>
        </p:nvSpPr>
        <p:spPr>
          <a:xfrm>
            <a:off x="62179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حَتَّى الْآنَ</a:t>
            </a:r>
            <a:endParaRPr lang="ar-SA" sz="2200" dirty="0"/>
          </a:p>
        </p:txBody>
      </p:sp>
      <p:sp>
        <p:nvSpPr>
          <p:cNvPr id="30" name="Text 27"/>
          <p:cNvSpPr txBox="1"/>
          <p:nvPr/>
        </p:nvSpPr>
        <p:spPr>
          <a:xfrm>
            <a:off x="367588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afternoon</a:t>
            </a:r>
            <a:endParaRPr lang="en-US" sz="11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بَعْدَ الظُّهْرِ</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later</a:t>
            </a:r>
            <a:endParaRPr lang="en-US" sz="1100" dirty="0"/>
          </a:p>
        </p:txBody>
      </p:sp>
      <p:sp>
        <p:nvSpPr>
          <p:cNvPr id="36" name="Text 33"/>
          <p:cNvSpPr txBox="1"/>
          <p:nvPr/>
        </p:nvSpPr>
        <p:spPr>
          <a:xfrm>
            <a:off x="62179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وَقْتٍ لَاحِقٍ</a:t>
            </a:r>
            <a:endParaRPr lang="ar-SA" sz="2200" dirty="0"/>
          </a:p>
        </p:txBody>
      </p:sp>
      <p:sp>
        <p:nvSpPr>
          <p:cNvPr id="37" name="Text 34"/>
          <p:cNvSpPr txBox="1"/>
          <p:nvPr/>
        </p:nvSpPr>
        <p:spPr>
          <a:xfrm>
            <a:off x="367588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evening</a:t>
            </a:r>
            <a:endParaRPr lang="en-US" sz="11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الْمَسَاءِ</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future</a:t>
            </a:r>
            <a:endParaRPr lang="en-US" sz="1100" dirty="0"/>
          </a:p>
        </p:txBody>
      </p:sp>
      <p:sp>
        <p:nvSpPr>
          <p:cNvPr id="43" name="Text 40"/>
          <p:cNvSpPr txBox="1"/>
          <p:nvPr/>
        </p:nvSpPr>
        <p:spPr>
          <a:xfrm>
            <a:off x="62179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الْمُسْتَقْبَلِ</a:t>
            </a:r>
            <a:endParaRPr lang="ar-SA" sz="2200" dirty="0"/>
          </a:p>
        </p:txBody>
      </p:sp>
      <p:sp>
        <p:nvSpPr>
          <p:cNvPr id="44" name="Text 41"/>
          <p:cNvSpPr txBox="1"/>
          <p:nvPr/>
        </p:nvSpPr>
        <p:spPr>
          <a:xfrm>
            <a:off x="367588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night</a:t>
            </a:r>
            <a:endParaRPr lang="en-US" sz="1100" dirty="0"/>
          </a:p>
        </p:txBody>
      </p:sp>
      <p:sp>
        <p:nvSpPr>
          <p:cNvPr id="45" name="Text 42"/>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اللَّيْلِ</a:t>
            </a:r>
            <a:endParaRPr lang="ar-SA" sz="22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day</a:t>
            </a:r>
            <a:endParaRPr lang="en-US" sz="1100" dirty="0"/>
          </a:p>
        </p:txBody>
      </p:sp>
      <p:sp>
        <p:nvSpPr>
          <p:cNvPr id="48" name="Text 45"/>
          <p:cNvSpPr txBox="1"/>
          <p:nvPr/>
        </p:nvSpPr>
        <p:spPr>
          <a:xfrm>
            <a:off x="62179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يَوْمًا مَا</a:t>
            </a:r>
            <a:endParaRPr lang="ar-SA" sz="2200" dirty="0"/>
          </a:p>
        </p:txBody>
      </p:sp>
      <p:sp>
        <p:nvSpPr>
          <p:cNvPr id="49" name="Text 46"/>
          <p:cNvSpPr txBox="1"/>
          <p:nvPr/>
        </p:nvSpPr>
        <p:spPr>
          <a:xfrm>
            <a:off x="367588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midnight</a:t>
            </a:r>
            <a:endParaRPr lang="en-US" sz="1100" dirty="0"/>
          </a:p>
        </p:txBody>
      </p:sp>
      <p:sp>
        <p:nvSpPr>
          <p:cNvPr id="50" name="Text 47"/>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 مُنْتَصَفِ اللَّيْلِ</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model: currently I study Arabic; in the future I will use it in my work.</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3 · SEQUENCE LINKS AND PLACE CHUNKS (WEBSITE)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Organise the story — and give directions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التَّرْتِيبُ وَالِاتِّجَاهَاتُ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phrases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 / use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the first stage</a:t>
            </a:r>
            <a:endParaRPr lang="en-US" sz="11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الْبِدَايَةِ · أَوَّلًا</a:t>
            </a:r>
            <a:endParaRPr lang="ar-SA" sz="22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move forward</a:t>
            </a:r>
            <a:endParaRPr lang="en-US" sz="11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 بَعْدَ ذَلِكَ · فِي وَقْتٍ لَاحِقٍ</a:t>
            </a:r>
            <a:endParaRPr lang="ar-SA" sz="22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continuation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things together</a:t>
            </a:r>
            <a:endParaRPr lang="en-US" sz="1100" dirty="0"/>
          </a:p>
        </p:txBody>
      </p:sp>
      <p:sp>
        <p:nvSpPr>
          <p:cNvPr id="33" name="Text 30"/>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الْوَقْتِ نَفْسِهِ</a:t>
            </a:r>
            <a:endParaRPr lang="ar-SA" sz="22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simultaneous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 the sequence</a:t>
            </a:r>
            <a:endParaRPr lang="en-US" sz="1100" dirty="0"/>
          </a:p>
        </p:txBody>
      </p:sp>
      <p:sp>
        <p:nvSpPr>
          <p:cNvPr id="37" name="Text 34"/>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أَخِيرًا · فِي النِّهَايَةِ</a:t>
            </a:r>
            <a:endParaRPr lang="ar-SA" sz="22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ending</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exactly</a:t>
            </a:r>
            <a:endParaRPr lang="en-US" sz="1100" dirty="0"/>
          </a:p>
        </p:txBody>
      </p:sp>
      <p:sp>
        <p:nvSpPr>
          <p:cNvPr id="43" name="Text 40"/>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ea typeface="Amiri" pitchFamily="2" charset="-78"/>
                <a:cs typeface="Amiri" pitchFamily="2" charset="-78"/>
              </a:rPr>
              <a:t>فِي الدَّاخِلِ · فِي الْخَارِجِ · عَلَى الْيَمِينِ · عَلَى الْيَسَارِ</a:t>
            </a:r>
            <a:endParaRPr lang="ar-SA" sz="2050" dirty="0"/>
          </a:p>
        </p:txBody>
      </p:sp>
      <p:sp>
        <p:nvSpPr>
          <p:cNvPr id="44" name="Text 41"/>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position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 far from</a:t>
            </a:r>
            <a:endParaRPr lang="en-US" sz="1100" dirty="0"/>
          </a:p>
        </p:txBody>
      </p:sp>
      <p:sp>
        <p:nvSpPr>
          <p:cNvPr id="47" name="Text 44"/>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بِالْقُرْبِ مِنْ · بَعِيدًا عَنْ</a:t>
            </a:r>
            <a:endParaRPr lang="ar-SA" sz="2200" dirty="0"/>
          </a:p>
        </p:txBody>
      </p:sp>
      <p:sp>
        <p:nvSpPr>
          <p:cNvPr id="48" name="Text 45"/>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distance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avoid the “thumma chain” — repeating thumma before every sentence sounds mechanical. Vary the links.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مَرَّةٌ 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“once a month”?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فِي الشَّهْرِ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الشَّهْرُ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شَهْرًا مَرَّةٌ فِي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opening phrase.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 فقط</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“near the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بَعِيدًا عَنِ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مَرَّتَانِ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مَرَّةٌ 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marratayni in this fixed phrase.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“once a month”?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مَرَّةً فِي الشَّهْرِ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 الشَّهْرُ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شَهْرًا مَرَّةٌ فِي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common frequency chunk.</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opening phrase.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الْبِدَايَةِ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ذَلِكَ فقط</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l-bidāya introduces the first stage.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“near the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بِالْقُرْبِ مِنَ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بَعِيدًا عَنِ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Bi-l-qurbi min expresses “near”.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Basic</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أَلْعَبُ كُرَةَ الْقَدَمِ.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short answer.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 Frequency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مَرَّتَيْنِ فِي الْأُسْبُوعِ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often?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 Time / 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بَعْدَ الظُّهْرِ بِالْقُرْبِ مِنْ بَيْتِي</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When? Where?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 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فِي الْمُسْتَقْبَلِ سَأَلْعَبُ فِي فَرِيقٍ</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Develop forward.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CHUNK</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DEVELOPMENT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ea typeface="Amiri" pitchFamily="2" charset="-78"/>
                <a:cs typeface="Amiri" pitchFamily="2" charset="-78"/>
              </a:rPr>
              <a:t>أَلْعَبُ كُرَةَ الْقَدَمِ </a:t>
            </a:r>
            <a:pPr rtl="1" algn="r" indent="0" marL="0">
              <a:buNone/>
            </a:pPr>
            <a:r>
              <a:rPr lang="ar-SA" altLang="en-US" sz="2050" b="1" dirty="0">
                <a:solidFill>
                  <a:srgbClr val="0E7C86"/>
                </a:solidFill>
                <a:latin typeface="Amiri" pitchFamily="2" charset="-78"/>
                <a:ea typeface="Amiri" pitchFamily="2" charset="-78"/>
                <a:cs typeface="Amiri" pitchFamily="2" charset="-78"/>
              </a:rPr>
              <a:t>مَرَّتَيْنِ فِي الْأُسْبُوعِ</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0E7C86"/>
                </a:solidFill>
                <a:latin typeface="Amiri" pitchFamily="2" charset="-78"/>
                <a:ea typeface="Amiri" pitchFamily="2" charset="-78"/>
                <a:cs typeface="Amiri" pitchFamily="2" charset="-78"/>
              </a:rPr>
              <a:t>بَعْدَ الظُّهْرِ</a:t>
            </a:r>
            <a:pPr rtl="1" algn="r" indent="0" marL="0">
              <a:buNone/>
            </a:pPr>
            <a:r>
              <a:rPr lang="ar-SA" altLang="en-US" sz="2050" b="1" dirty="0">
                <a:solidFill>
                  <a:srgbClr val="1B3B6F"/>
                </a:solidFill>
                <a:latin typeface="Amiri" pitchFamily="2" charset="-78"/>
                <a:ea typeface="Amiri" pitchFamily="2" charset="-78"/>
                <a:cs typeface="Amiri" pitchFamily="2" charset="-78"/>
              </a:rPr>
              <a:t> فِي حَدِيقَةٍ </a:t>
            </a:r>
            <a:pPr rtl="1" algn="r" indent="0" marL="0">
              <a:buNone/>
            </a:pPr>
            <a:r>
              <a:rPr lang="ar-SA" altLang="en-US" sz="2050" b="1" dirty="0">
                <a:solidFill>
                  <a:srgbClr val="0E7C86"/>
                </a:solidFill>
                <a:latin typeface="Amiri" pitchFamily="2" charset="-78"/>
                <a:ea typeface="Amiri" pitchFamily="2" charset="-78"/>
                <a:cs typeface="Amiri" pitchFamily="2" charset="-78"/>
              </a:rPr>
              <a:t>بِالْقُرْبِ مِنْ</a:t>
            </a:r>
            <a:pPr rtl="1" algn="r" indent="0" marL="0">
              <a:buNone/>
            </a:pPr>
            <a:r>
              <a:rPr lang="ar-SA" altLang="en-US" sz="2050" b="1" dirty="0">
                <a:solidFill>
                  <a:srgbClr val="1B3B6F"/>
                </a:solidFill>
                <a:latin typeface="Amiri" pitchFamily="2" charset="-78"/>
                <a:ea typeface="Amiri" pitchFamily="2" charset="-78"/>
                <a:cs typeface="Amiri" pitchFamily="2" charset="-78"/>
              </a:rPr>
              <a:t> بَيْتِي، وَ</a:t>
            </a:r>
            <a:pPr rtl="1" algn="r" indent="0" marL="0">
              <a:buNone/>
            </a:pPr>
            <a:r>
              <a:rPr lang="ar-SA" altLang="en-US" sz="2050" b="1" dirty="0">
                <a:solidFill>
                  <a:srgbClr val="D6336C"/>
                </a:solidFill>
                <a:latin typeface="Amiri" pitchFamily="2" charset="-78"/>
                <a:ea typeface="Amiri" pitchFamily="2" charset="-78"/>
                <a:cs typeface="Amiri" pitchFamily="2" charset="-78"/>
              </a:rPr>
              <a:t>فِي الْمُسْتَقْبَلِ</a:t>
            </a:r>
            <a:pPr rtl="1" algn="r" indent="0" marL="0">
              <a:buNone/>
            </a:pPr>
            <a:r>
              <a:rPr lang="ar-SA" altLang="en-US" sz="2050" b="1" dirty="0">
                <a:solidFill>
                  <a:srgbClr val="1B3B6F"/>
                </a:solidFill>
                <a:latin typeface="Amiri" pitchFamily="2" charset="-78"/>
                <a:ea typeface="Amiri" pitchFamily="2" charset="-78"/>
                <a:cs typeface="Amiri" pitchFamily="2" charset="-78"/>
              </a:rPr>
              <a:t> سَأَلْعَبُ فِي فَرِيقِ الْمَدْرَسَةِ.</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play football twice a week in the afternoon in a park near my house, and in the future I will play in the school team.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أَسْتَيْقِظُ كُلَّ صَبَاحٍ فِي السَّاعَةِ السَّابِعَةِ.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every morning at seven.</a:t>
            </a:r>
            <a:endParaRPr lang="en-US" sz="1250" dirty="0"/>
          </a:p>
          <a:p>
            <a:pPr indent="0" marL="0">
              <a:buNone/>
            </a:pPr>
            <a:r>
              <a:rPr lang="en-US" sz="1050" i="1" dirty="0">
                <a:solidFill>
                  <a:srgbClr val="8A6D1E"/>
                </a:solidFill>
                <a:latin typeface="Calibri" pitchFamily="34" charset="0"/>
                <a:cs typeface="Amiri" pitchFamily="2" charset="-78"/>
              </a:rPr>
              <a:t>Frequency +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الْبِدَايَةِ أَغْسِلُ وَجْهِي، وَبَعْدَ ذَلِكَ أُصَلِّي.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First I wash my face, and after that I pray.</a:t>
            </a:r>
            <a:endParaRPr lang="en-US" sz="1250" dirty="0"/>
          </a:p>
          <a:p>
            <a:pPr indent="0" marL="0">
              <a:buNone/>
            </a:pPr>
            <a:r>
              <a:rPr lang="en-US" sz="1050" i="1" dirty="0">
                <a:solidFill>
                  <a:srgbClr val="8A6D1E"/>
                </a:solidFill>
                <a:latin typeface="Calibri" pitchFamily="34" charset="0"/>
                <a:cs typeface="Amiri" pitchFamily="2" charset="-78"/>
              </a:rPr>
              <a:t>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الْمَكْتَبَةُ عَلَى الْيَسَارِ بِالْقُرْبِ مِنَ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library is on the left near the school.</a:t>
            </a:r>
            <a:endParaRPr lang="en-US" sz="1250" dirty="0"/>
          </a:p>
          <a:p>
            <a:pPr indent="0" marL="0">
              <a:buNone/>
            </a:pPr>
            <a:r>
              <a:rPr lang="en-US" sz="1050" i="1" dirty="0">
                <a:solidFill>
                  <a:srgbClr val="8A6D1E"/>
                </a:solidFill>
                <a:latin typeface="Calibri" pitchFamily="34" charset="0"/>
                <a:cs typeface="Amiri" pitchFamily="2" charset="-78"/>
              </a:rPr>
              <a:t>Website: directions.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وَقْتٍ لَاحِقٍ سَأُرْسِلُ الرِّسَالَةَ.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Later, I will send the message.</a:t>
            </a:r>
            <a:endParaRPr lang="en-US" sz="1250" dirty="0"/>
          </a:p>
          <a:p>
            <a:pPr indent="0" marL="0">
              <a:buNone/>
            </a:pPr>
            <a:r>
              <a:rPr lang="en-US" sz="1050" i="1" dirty="0">
                <a:solidFill>
                  <a:srgbClr val="8A6D1E"/>
                </a:solidFill>
                <a:latin typeface="Calibri" pitchFamily="34" charset="0"/>
                <a:cs typeface="Amiri" pitchFamily="2" charset="-78"/>
              </a:rPr>
              <a:t>Website game: later + future.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THE CHUNKS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each chunk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الْعِبَارَاتِ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فِي الشَّهْرِ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الظُّهْرِ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الْيَمِينِ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مَسَاءٍ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يَوْمًا 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الْوَقْتِ نَفْسِهِ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بَعِيدًا عَنِ الْبَيْتِ</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Frequency</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Sequence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Place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Frequency</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فِي الشَّهْرِ</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 مَسَاءٍ</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الظُّهْرِ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يَوْمًا مَا</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Sequence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الْوَقْتِ نَفْسِهِ</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Place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الْيَمِينِ</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بَعِيدًا عَنِ الْبَيْتِ</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CHUNK AUDIT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Break the “thumma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نَوِّعِ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Varied (better)</a:t>
            </a:r>
            <a:endParaRPr lang="en-US" sz="1100" dirty="0"/>
          </a:p>
        </p:txBody>
      </p:sp>
      <p:sp>
        <p:nvSpPr>
          <p:cNvPr id="17" name="Text 14"/>
          <p:cNvSpPr txBox="1"/>
          <p:nvPr/>
        </p:nvSpPr>
        <p:spPr>
          <a:xfrm>
            <a:off x="254203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Thumma chain (weak)</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949440" y="2267712"/>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الْبِدَايَةِ اسْتَيْقَظْتُ.</a:t>
            </a:r>
            <a:endParaRPr lang="ar-SA" sz="2200" dirty="0"/>
          </a:p>
        </p:txBody>
      </p:sp>
      <p:sp>
        <p:nvSpPr>
          <p:cNvPr id="21" name="Text 18"/>
          <p:cNvSpPr txBox="1"/>
          <p:nvPr/>
        </p:nvSpPr>
        <p:spPr>
          <a:xfrm>
            <a:off x="2560320" y="2267712"/>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اسْتَيْقَظْتُ.</a:t>
            </a:r>
            <a:endParaRPr lang="ar-SA" sz="22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949440" y="3054096"/>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بَعْدَ ذَلِكَ أَكَلْتُ الْفَطُورَ.</a:t>
            </a:r>
            <a:endParaRPr lang="ar-SA" sz="2200" dirty="0"/>
          </a:p>
        </p:txBody>
      </p:sp>
      <p:sp>
        <p:nvSpPr>
          <p:cNvPr id="27" name="Text 24"/>
          <p:cNvSpPr txBox="1"/>
          <p:nvPr/>
        </p:nvSpPr>
        <p:spPr>
          <a:xfrm>
            <a:off x="2560320" y="3054096"/>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أَكَلْتُ.</a:t>
            </a:r>
            <a:endParaRPr lang="ar-SA" sz="22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949440" y="3840480"/>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ذَهَبْتُ إِلَى الْمَدْرَسَةِ.</a:t>
            </a:r>
            <a:endParaRPr lang="ar-SA" sz="2200" dirty="0"/>
          </a:p>
        </p:txBody>
      </p:sp>
      <p:sp>
        <p:nvSpPr>
          <p:cNvPr id="33" name="Text 30"/>
          <p:cNvSpPr txBox="1"/>
          <p:nvPr/>
        </p:nvSpPr>
        <p:spPr>
          <a:xfrm>
            <a:off x="2560320" y="3840480"/>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ذَهَبْتُ.</a:t>
            </a:r>
            <a:endParaRPr lang="ar-SA" sz="22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949440" y="4626864"/>
            <a:ext cx="46908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أَخِيرًا رَجَعْتُ إِلَى الْبَيْتِ.</a:t>
            </a:r>
            <a:endParaRPr lang="ar-SA" sz="2200" dirty="0"/>
          </a:p>
        </p:txBody>
      </p:sp>
      <p:sp>
        <p:nvSpPr>
          <p:cNvPr id="39" name="Text 36"/>
          <p:cNvSpPr txBox="1"/>
          <p:nvPr/>
        </p:nvSpPr>
        <p:spPr>
          <a:xfrm>
            <a:off x="2560320" y="4626864"/>
            <a:ext cx="42062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 رَجَعْتُ.</a:t>
            </a:r>
            <a:endParaRPr lang="ar-SA" sz="2200" dirty="0"/>
          </a:p>
        </p:txBody>
      </p:sp>
      <p:sp>
        <p:nvSpPr>
          <p:cNvPr id="40" name="Text 37"/>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thumma is fine — once. Vary the links, and only use a phrase when it adds meaning.</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fixed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أَسْبَحُ مَرَّتَانِ الْأُسْبُوعُ.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chunk complete?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الصَّبَاحُ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كُلَّ 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the fixed form: kulla yawmin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أَسْبَحُ مَرَّتَانِ الْأُسْبُوعُ.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أَسْبَحُ مَرَّتَيْنِ فِي الْأُسْبُوعِ.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whole chunk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الصَّبَاحُ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الصَّبَاحِ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Genitive after fī.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ADVERBIAL PHRASE MASTERY QUESTIONS 5, 6, 8 AND 9</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الْوَقْتِ نَفْسِهِ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صَبَاحٍ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وَقْتٍ لَاحِقٍ</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the same time”.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وَقْتٍ لِآخَرَ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الْوَقْتِ نَفْسِهِ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 ... فِي الْبِدَايَةِ ... أَوَّلًا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 ... بَعْدَ ذَلِكَ ... أَخِيرًا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 ... سَرِيعًا ... أَمْسِ فقط</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“near the park”.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بَعِيدًا عَنِ الْحَدِيقَةِ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اللَّيْلِ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بِالْقُرْبِ مِنَ الْحَدِيقَةِ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“later”.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الْوَقْتِ نَفْسِهِ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صَبَاحٍ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وَقْتٍ لَاحِقٍ</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means at a later time.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the same time”.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وَقْتٍ لِآخَرَ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الْوَقْتِ نَفْسِهِ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بِالْقُرْبِ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Simultaneous timing.</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 ... فِي الْبِدَايَةِ ... أَوَّلًا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 ... بَعْدَ ذَلِكَ ... أَخِيرًا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 ... سَرِيعًا ... أَمْسِ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moves logically from first to last.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“near the park”.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بَعِيدًا عَنِ الْحَدِيقَةِ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اللَّيْلِ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بِالْقُرْبِ مِنَ الْحَدِيقَةِ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Bi-l-qurbi min = near.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the coast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وَصَلْنَا إِلَى الْمَحَطَّةِ فِي الصَّبَاحِ. بَعْدَ ذَلِكَ مَشَيْنَا إِلَى فُنْدُقٍ بِالْقُرْبِ مِنَ الْبَحْرِ. فِي الْمَسَاءِ خَرَجْنَا مِنْ وَقْتٍ لِآخَرَ لِزِيَارَةِ السُّوقِ، وَأَخِيرًا عُدْنَا إِلَى الْفُنْدُقِ. فِي الْمُسْتَقْبَلِ سَنَرْجِعُ إِلَى هُنَاكَ مَرَّةً فِي السَّنَةِ.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وَصَلْنَا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arrived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مَشَيْنَا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walked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خَرَجْنَا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went out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لِزِيَارَةِ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visit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عُدْنَا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returned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سَنَرْجِعُ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will go back</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hotel?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the sea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sea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the story?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did they visit the market?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time to time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they do in the future?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at home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back once a year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 to the hotel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hotel?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 from the sea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the sea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بِالْقُرْبِ مِنَ الْبَحْرِ.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the story?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ذَلِكَ</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الْبِدَايَةِ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Opening link.</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did they visit the market?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time to time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وَقْتٍ لِآخَرَ.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they do in the future?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at home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 back once a year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move to the hotel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Teacher-added last sentence.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يَوْمًا عَادِيًّا مِنَ الْبِدَايَةِ إِلَى النِّهَايَةِ.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أَصِلُ مِنْ مَدْرَسَتِكَ إِلَى أَقْرَبِ مَكْتَبَةٍ؟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كُلَّ صَبَاحٍ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فِي الْبِدَايَةِ ___ ، بَعْدَ ذَلِكَ ___ ، وَأَخِيرًا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امْشِ ___ ، ثُمَّ ___ ؛ الْمَكْتَبَةُ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أَصِلُ إِلَى الْمَسْجِدِ؟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I get to the mosque?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الْبِدَايَةِ امْشِ إِلَى الْأَمَامِ، بَعْدَ ذَلِكَ خُذْ أَوَّلَ شَارِعٍ عَلَى الْيَمِينِ. الْمَسْجِدُ بِالْقُرْبِ مِنَ الْحَدِيقَةِ، لَيْسَ بَعِيدًا عَنْ هُنَا.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First walk straight on, after that take the first street on the right. The mosque is near the park, not far from here.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your routine with frequency and time-of-day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every morning, twice a week, in the evening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Organise a day with varied sequence links.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at first, after that, at the same time, finally.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integrated fluency task (ten chunks).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directions and a future plan.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first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مَدْرَسَتِي بِالْقُرْبِ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school is near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صَبَاحٍ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morning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مَرَّتَيْنِ فِي الْأُسْبُوعِ.</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twice a week.</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كُلَّ يَوْمٍ  ·  كُلَّ صَبَاحٍ  ·  مَرَّةً فِي الْأُسْبُوعِ  ·  مِنْ وَقْتٍ لِآخَرَ  ·  بَعْدَ الظُّهْرِ  ·  حَتَّى الْآنَ  ·  فِي الْمُسْتَقْبَلِ  ·  فِي الْبِدَايَةِ  ·  بَعْدَ ذَلِكَ  ·  أَخِيرًا  ·  عَلَى الْيَمِينِ  ·  بِالْقُرْبِ مِنْ</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fluency task: 120–140 words (email, blog or article) about a routine, trip or future plan, with ten different adverbial chunks.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frequency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time-of-day or time-horizon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different sequence links (no thumma chain).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place or direction phrases.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Coherent time frames — every chunk adds meaning.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beginning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وَقْتٍ لِآخَرَ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time to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الْوَقْتِ نَفْسِهِ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same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بَعِيدًا عَنْ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far from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يَوْمًا 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day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يَا سَارَةُ، فِي الْبِدَايَةِ سَأَصِفُ رُوتِينِي. أَسْتَيْقِظُ كُلَّ صَبَاحٍ فِي السَّاعَةِ السَّادِسَةِ، وَبَعْدَ ذَلِكَ أَذْهَبُ إِلَى مَدْرَسَتِي الَّتِي تَقَعُ بِالْقُرْبِ مِنْ بَيْتِي. بَعْدَ الظُّهْرِ أَتَدَرَّبُ مَرَّتَيْنِ فِي الْأُسْبُوعِ، وَمِنْ وَقْتٍ لِآخَرَ أَزُورُ جَدَّتِي. فِي الْمَسَاءِ أُسَاعِدُ أُمِّي فِي الْمَطْبَخِ وَأَتَحَدَّثُ مَعَهَا فِي الْوَقْتِ نَفْسِهِ. فِي الْمُسْتَقْبَلِ سَأَدْرُسُ فِي الْخَارِجِ، وَيَوْمًا مَا سَأَزُورُكِ! أَخِيرًا، اكْتُبِي لِي قَرِيبًا.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Sara, first I will describe my routine. I wake up every morning at six, and after that I go to my school, which is near my house. In the afternoon I train twice a week, and from time to time I visit my grandmother. In the evening I help my mother in the kitchen and chat with her at the same time. In the future I will study abroad, and one day I will visit you! Finally, write to me soon.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frequency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frequency chunks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time-of-day phrases with fī.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different sequence links.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repeat thumma before every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directions and a future plan.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natural routine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أَسْبَحُ مَرَّتَيْنِ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أَسْبَحُ مَرَّتَانِ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أَسْبَحُ فِي مَرَّتَيْنِ أُسْبُوعٌ.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the same time”.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وَقْتٍ لَاحِقٍ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الْوَقْتِ نَفْسِهِ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الْيَمِينِ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الْيَسَارِ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الْخَارِجِ</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natural routine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أَسْبَحُ مَرَّتَيْنِ فِي الأُسْبُوعِ.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أَسْبَحُ مَرَّتَانِ الأُسْبُوعُ.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أَسْبَحُ فِي مَرَّتَيْنِ أُسْبُوعٌ.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phrase follows the verb naturally.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the same time”.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وَقْتٍ لَاحِقٍ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الْوَقْتِ نَفْسِهِ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الْمُسْتَقْبَلِ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links two things happening together.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right”.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 الْيَمِينِ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 الْيَسَارِ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الْخَارِجِ</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ʿAlā l-yamīn gives the direction.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GM-ADV-04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GM-PRO-01 · Subject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أَنْتَ · أَنْتِ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 هِيَ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نَحْنُ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هُمْ · هُنَّ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Arabic has different words for “you” to a boy and to a girl. Can you think of why that is useful?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أَنْتَ طَالِبٌ · ______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twelve chunks with their meanings.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an old paragraph with varied sequence links.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integrated fluency task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GM-PRO-01 · Subject Pronouns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ضَمَائِرُ الرَّفْعِ الْمُنْفَصِلَةُ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chunks whole · kulla yawmin, marratayni fī l-usbūʿ · sequence with variety, not a thumma chain · directions: on the right, near, far from.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GM-ADV-04 · Common Adverbial Phrases for Fluency</dc:title>
  <dc:subject>PptxGenJS Presentation</dc:subject>
  <dc:creator>Al Madina Online School · Arabic Department</dc:creator>
  <cp:lastModifiedBy>Al Madina Online School · Arabic Department</cp:lastModifiedBy>
  <cp:revision>1</cp:revision>
  <dcterms:created xsi:type="dcterms:W3CDTF">2026-10-11T06:42:06Z</dcterms:created>
  <dcterms:modified xsi:type="dcterms:W3CDTF">2026-10-11T06:42:06Z</dcterms:modified>
</cp:coreProperties>
</file>