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Adverbs › GM-ADV-04 (“Common Adverbial Phrases for Fluency”).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frequency (كُلَّ يَوْمٍ · مَرَّتَيْنِ فِي الْأُسْبُوعِ), time of day (فِي الصَّبَاحِ · فِي الْمَسَاءِ) and future (فِي الْمُسْتَقْبَلِ). Develop: sequence links (فِي الْبِدَايَةِ · بَعْدَ ذَلِكَ · أَخِيرًا) without the “ثُمَّ chain”. Stretch: layer frequency, time, place and sequence in sustained speaking and writing; direction chunks for role plays.
• This is the final Adverbs lesson: the website calls it the “package mastery”. Return to the final check in 3–7 days (spaced retrieval).
• Exam value: these chunks turn a one-line IGCSE answer into a developed one — model the “extended answer ladder” explicitly.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uses the sequence words prepared at the end of GM-ADV-03.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Learn useful phrases as WHOLE chunks — then you can say more, faster, and organise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“Frequency and routine chunks”. Chant each chunk with its meaning; then “kam marratan?” questions round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“Parts of the day and time horizon”. Model the website pair: فِي الْوَقْتِ الْحَالِيِّ أَدْرُسُ الْعَرَبِيَّةَ · فِي الْمُسْتَقْبَلِ سَأَسْتَعْمِلُهَا فِي 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“Sequence and fluency links” and “Place and direction chunks”. Directions are especially useful for role plays (travel, town,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Frequency, Sequence and Place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“extended answer ladder”: basic answer → add frequency / time → add sequence or future. Build it rung by rung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reading task (“identify frequency, time-of-day, place and sequence phrases”) as a sort. Students type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reading task (“identify frequency, time-of-day, place and sequence phrases”) as a sort. Students type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“chunk audit”. Cover the right column; students rewrite the chain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adverbial phrase mastery questions 5, 6, 8 and 9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identify frequency, time-of-day, place and sequence phrases, and explain how each guides the reader.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three sentences are the website text; the last sentence and the questions are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extended answer ladder. Sequence: ● 10s think → ↔ 45s rehearse aloud with mic muted → ◎ two named students on open mic (warned in advance) → + ? the class types one follow-up in chat → ↺ one student summarises.
Routes: Core uses the Core prompt and stem; Develop the Develop prompt; Stretch the last prompt.
Website: answer in three stages — basic answer; add a frequency / time phrase; add sequence or future. Route listening (website): one partner gives directions, the other draws the route and repeats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120–140 words as an email, blog entry or short article about a routine, trip or future plan, with at least ten different adverbial chunks.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extends the website model for the integrated fluency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(GM-PRO-01 · Subject Pronouns) will spend class time USING this language, so students prepare it tonight — short, simple, easy to access (school guidance: “Simple, Short, Interesting, Relevant, Easy to access”). The five words prepare GM-PRO-01 (website Pronouns lesson 1: subject pronouns).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ADVERBS  ·  GM-ADV-04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GM-ADV-04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Common Adverbial Phrases for Fluency</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عِبَارَاتٌ ظَرْفِيَّةٌ شَائِعَةٌ لِلطَّلَاقَةِ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Fluent speakers retrieve ready-made chunks: every day, twice a week, after that, finally, near the school. Learn each phrase whole, then plug it into your sentences to extend, organise and connect your answers.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GM-ADV-04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Adverbs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Frequency; time of day and horizon; sequence; place and direction.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the chunks; climb the answer ladder.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GM-PRO-01.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“every 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يَوْمٌ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يَوْمٍ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يَوْمٌ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the future”.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الْمُسْتَقْبَلِ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الْمَاضِي غَدًا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الْيَمِينِ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the morning”.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ذَلِكَ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بِالْقُرْبِ مِنْ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الصَّبَاحِ</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sequences the next event?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الْخَارِجِ</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وَقْتٍ لِآخَرَ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ذَلِكَ</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“from time to time”?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وَقْتٍ لِآخَرَ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الْوَقْتِ نَفْسِهِ</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يَوْمٍ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“every day”.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يَوْمٌ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كُلَّ يَوْمٍ</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يَوْمٌ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fixed phrase is kulla yawmin.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the future”.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الْمُسْتَقْبَلِ</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الْمَاضِي غَدًا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الْيَمِينِ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Fī l-mustaqbal is a set future phrase.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the morning”.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ذَلِكَ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بِالْقُرْبِ مِنْ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الصَّبَاحِ</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phrase places the action in the morning.</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sequences the next event?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الْخَارِجِ</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وَقْتٍ لِآخَرَ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ذَلِكَ</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Baʿda dhālika moves the story forward.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“from time to time”?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وَقْتٍ لِآخَرَ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الْوَقْتِ نَفْسِهِ</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يَوْمٍ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expresses occasional frequency.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Learn useful phrases as WHOLE chunks — then you can say more, faster, and organise your answer.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150" b="1" dirty="0">
                <a:solidFill>
                  <a:srgbClr val="0E7C86"/>
                </a:solidFill>
                <a:latin typeface="Amiri" pitchFamily="34" charset="0"/>
                <a:ea typeface="Amiri" pitchFamily="34" charset="-122"/>
                <a:cs typeface="Amiri" pitchFamily="34" charset="-120"/>
              </a:rPr>
              <a:t>كُلَّ يَوْمٍ</a:t>
            </a:r>
            <a:pPr rtl="1" algn="ctr" indent="0" marL="0">
              <a:lnSpc>
                <a:spcPct val="120000"/>
              </a:lnSpc>
              <a:buNone/>
            </a:pPr>
            <a:r>
              <a:rPr lang="ar-SA" altLang="en-US" sz="21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150" b="1" dirty="0">
                <a:solidFill>
                  <a:srgbClr val="D6336C"/>
                </a:solidFill>
                <a:latin typeface="Amiri" pitchFamily="34" charset="0"/>
                <a:ea typeface="Amiri" pitchFamily="34" charset="-122"/>
                <a:cs typeface="Amiri" pitchFamily="34" charset="-120"/>
              </a:rPr>
              <a:t>بَعْدَ ذَلِكَ</a:t>
            </a:r>
            <a:pPr rtl="1" algn="ctr" indent="0" marL="0">
              <a:lnSpc>
                <a:spcPct val="120000"/>
              </a:lnSpc>
              <a:buNone/>
            </a:pPr>
            <a:r>
              <a:rPr lang="ar-SA" altLang="en-US" sz="21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150" b="1" dirty="0">
                <a:solidFill>
                  <a:srgbClr val="0E7C86"/>
                </a:solidFill>
                <a:latin typeface="Amiri" pitchFamily="34" charset="0"/>
                <a:ea typeface="Amiri" pitchFamily="34" charset="-122"/>
                <a:cs typeface="Amiri" pitchFamily="34" charset="-120"/>
              </a:rPr>
              <a:t>فِي الْمُسْتَقْبَلِ</a:t>
            </a:r>
            <a:endParaRPr lang="ar-SA" sz="21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frequency and routine chunks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time-of-day and time-horizon phrases.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Sequence events with varied links.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directions with place chunks.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every day, twice a week, in the morning.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in the future.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sequence: at first, after that, finally.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avoid repeating thumma.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layer four kinds of chunk in one answer.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give directions: on the right, near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التَّكْرَارُ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frequency (how often?)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at-tak-rā-ru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كُلَّ يَوْمٍ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التَّرْتِيبُ</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sequence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at-tar-tī-bu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أَوَّلًا · أَخِيرًا</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الِاتِّجَاهُ</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direction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al-ِt-ti-jā-hu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عَلَى الْيَمِينِ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مَرَّةً؟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often?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mar-ra-tan?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مَرَّةً فِي الْأُسْبُوعِ</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عِبَارَةٌ جَاهِزَةٌ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ready-made chunk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ʿi-bā-ra-tun jā-hi-za-tun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learn it whole</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الطَّلَاقَةُ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fluency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aṭ-ṭa-lā-qa-tu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speed and flow</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FREQUENCY AND ROUTINE CHUNKS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often?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عِبَارَاتُ التَّكْرَارِ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748272" y="1810512"/>
            <a:ext cx="4910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a:t>
            </a:r>
            <a:endParaRPr lang="en-US" sz="1100" dirty="0"/>
          </a:p>
        </p:txBody>
      </p:sp>
      <p:sp>
        <p:nvSpPr>
          <p:cNvPr id="17" name="Text 14"/>
          <p:cNvSpPr txBox="1"/>
          <p:nvPr/>
        </p:nvSpPr>
        <p:spPr>
          <a:xfrm>
            <a:off x="40050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Phrase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766560" y="2267712"/>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أَقْرَأُ كُلَّ يَوْمٍ.</a:t>
            </a:r>
            <a:endParaRPr lang="ar-SA" sz="2200" dirty="0"/>
          </a:p>
        </p:txBody>
      </p:sp>
      <p:sp>
        <p:nvSpPr>
          <p:cNvPr id="21" name="Text 18"/>
          <p:cNvSpPr txBox="1"/>
          <p:nvPr/>
        </p:nvSpPr>
        <p:spPr>
          <a:xfrm>
            <a:off x="404164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every day</a:t>
            </a:r>
            <a:endParaRPr lang="en-US" sz="1100" dirty="0"/>
          </a:p>
        </p:txBody>
      </p:sp>
      <p:sp>
        <p:nvSpPr>
          <p:cNvPr id="22" name="Text 19"/>
          <p:cNvSpPr txBox="1"/>
          <p:nvPr/>
        </p:nvSpPr>
        <p:spPr>
          <a:xfrm>
            <a:off x="548640" y="2267712"/>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كُلَّ يَوْمٍ</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766560" y="2881884"/>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أَمْشِي كُلَّ صَبَاحٍ.</a:t>
            </a:r>
            <a:endParaRPr lang="ar-SA" sz="2200" dirty="0"/>
          </a:p>
        </p:txBody>
      </p:sp>
      <p:sp>
        <p:nvSpPr>
          <p:cNvPr id="27" name="Text 24"/>
          <p:cNvSpPr txBox="1"/>
          <p:nvPr/>
        </p:nvSpPr>
        <p:spPr>
          <a:xfrm>
            <a:off x="404164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every morning · evening</a:t>
            </a:r>
            <a:endParaRPr lang="en-US" sz="1100" dirty="0"/>
          </a:p>
        </p:txBody>
      </p:sp>
      <p:sp>
        <p:nvSpPr>
          <p:cNvPr id="28" name="Text 25"/>
          <p:cNvSpPr txBox="1"/>
          <p:nvPr/>
        </p:nvSpPr>
        <p:spPr>
          <a:xfrm>
            <a:off x="548640" y="2881884"/>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كُلَّ صَبَاحٍ · كُلَّ مَسَاءٍ</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766560" y="3496056"/>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أَسْبَحُ مَرَّةً فِي الْأُسْبُوعِ.</a:t>
            </a:r>
            <a:endParaRPr lang="ar-SA" sz="2200" dirty="0"/>
          </a:p>
        </p:txBody>
      </p:sp>
      <p:sp>
        <p:nvSpPr>
          <p:cNvPr id="33" name="Text 30"/>
          <p:cNvSpPr txBox="1"/>
          <p:nvPr/>
        </p:nvSpPr>
        <p:spPr>
          <a:xfrm>
            <a:off x="404164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once a week</a:t>
            </a:r>
            <a:endParaRPr lang="en-US" sz="1100" dirty="0"/>
          </a:p>
        </p:txBody>
      </p:sp>
      <p:sp>
        <p:nvSpPr>
          <p:cNvPr id="34" name="Text 31"/>
          <p:cNvSpPr txBox="1"/>
          <p:nvPr/>
        </p:nvSpPr>
        <p:spPr>
          <a:xfrm>
            <a:off x="548640" y="3496056"/>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مَرَّةً فِي الْأُسْبُوعِ</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6766560" y="4110228"/>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أَتَدَرَّبُ مَرَّتَيْنِ فِي الْأُسْبُوعِ.</a:t>
            </a:r>
            <a:endParaRPr lang="ar-SA" sz="2200" dirty="0"/>
          </a:p>
        </p:txBody>
      </p:sp>
      <p:sp>
        <p:nvSpPr>
          <p:cNvPr id="39" name="Text 36"/>
          <p:cNvSpPr txBox="1"/>
          <p:nvPr/>
        </p:nvSpPr>
        <p:spPr>
          <a:xfrm>
            <a:off x="404164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twice a week</a:t>
            </a:r>
            <a:endParaRPr lang="en-US" sz="1100" dirty="0"/>
          </a:p>
        </p:txBody>
      </p:sp>
      <p:sp>
        <p:nvSpPr>
          <p:cNvPr id="40" name="Text 37"/>
          <p:cNvSpPr txBox="1"/>
          <p:nvPr/>
        </p:nvSpPr>
        <p:spPr>
          <a:xfrm>
            <a:off x="548640" y="4110228"/>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مَرَّتَيْنِ فِي الْأُسْبُوعِ</a:t>
            </a:r>
            <a:endParaRPr lang="ar-SA" sz="22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6766560" y="4724400"/>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نَزُورُ جَدِّي مَرَّةً فِي الشَّهْرِ.</a:t>
            </a:r>
            <a:endParaRPr lang="ar-SA" sz="2200" dirty="0"/>
          </a:p>
        </p:txBody>
      </p:sp>
      <p:sp>
        <p:nvSpPr>
          <p:cNvPr id="45" name="Text 42"/>
          <p:cNvSpPr txBox="1"/>
          <p:nvPr/>
        </p:nvSpPr>
        <p:spPr>
          <a:xfrm>
            <a:off x="404164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once a month</a:t>
            </a:r>
            <a:endParaRPr lang="en-US" sz="1100" dirty="0"/>
          </a:p>
        </p:txBody>
      </p:sp>
      <p:sp>
        <p:nvSpPr>
          <p:cNvPr id="46" name="Text 43"/>
          <p:cNvSpPr txBox="1"/>
          <p:nvPr/>
        </p:nvSpPr>
        <p:spPr>
          <a:xfrm>
            <a:off x="548640" y="4724400"/>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مَرَّةً فِي الشَّهْرِ</a:t>
            </a:r>
            <a:endParaRPr lang="ar-SA" sz="22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6766560" y="5338572"/>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أَزُورُهُمْ مِنْ وَقْتٍ لِآخَرَ.</a:t>
            </a:r>
            <a:endParaRPr lang="ar-SA" sz="2200" dirty="0"/>
          </a:p>
        </p:txBody>
      </p:sp>
      <p:sp>
        <p:nvSpPr>
          <p:cNvPr id="49" name="Text 46"/>
          <p:cNvSpPr txBox="1"/>
          <p:nvPr/>
        </p:nvSpPr>
        <p:spPr>
          <a:xfrm>
            <a:off x="404164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from time to time</a:t>
            </a:r>
            <a:endParaRPr lang="en-US" sz="1100" dirty="0"/>
          </a:p>
        </p:txBody>
      </p:sp>
      <p:sp>
        <p:nvSpPr>
          <p:cNvPr id="50" name="Text 47"/>
          <p:cNvSpPr txBox="1"/>
          <p:nvPr/>
        </p:nvSpPr>
        <p:spPr>
          <a:xfrm>
            <a:off x="548640" y="5338572"/>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وَقْتٍ لِآخَرَ</a:t>
            </a:r>
            <a:endParaRPr lang="ar-SA" sz="22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in kulla yawmin, kulla is accusative and the noun after it is genitive. Accurate use matters more than naming the case.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PARTS OF THE DAY AND TIME HORIZON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When in the day — and when in life?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أَوْقَاتُ الْيَوْمِ وَالْأُفُقُ الزَّمَنِيُّ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61996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Longer period</a:t>
            </a:r>
            <a:endParaRPr lang="en-US" sz="1100" dirty="0"/>
          </a:p>
        </p:txBody>
      </p:sp>
      <p:sp>
        <p:nvSpPr>
          <p:cNvPr id="18" name="Text 15"/>
          <p:cNvSpPr txBox="1"/>
          <p:nvPr/>
        </p:nvSpPr>
        <p:spPr>
          <a:xfrm>
            <a:off x="36393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Within the day</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currently</a:t>
            </a:r>
            <a:endParaRPr lang="en-US" sz="1100" dirty="0"/>
          </a:p>
        </p:txBody>
      </p:sp>
      <p:sp>
        <p:nvSpPr>
          <p:cNvPr id="22" name="Text 19"/>
          <p:cNvSpPr txBox="1"/>
          <p:nvPr/>
        </p:nvSpPr>
        <p:spPr>
          <a:xfrm>
            <a:off x="6217920" y="2267712"/>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الْوَقْتِ الْحَالِيِّ</a:t>
            </a:r>
            <a:endParaRPr lang="ar-SA" sz="2200" dirty="0"/>
          </a:p>
        </p:txBody>
      </p:sp>
      <p:sp>
        <p:nvSpPr>
          <p:cNvPr id="23" name="Text 20"/>
          <p:cNvSpPr txBox="1"/>
          <p:nvPr/>
        </p:nvSpPr>
        <p:spPr>
          <a:xfrm>
            <a:off x="3675888" y="2267712"/>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the morning</a:t>
            </a:r>
            <a:endParaRPr lang="en-US" sz="1100" dirty="0"/>
          </a:p>
        </p:txBody>
      </p:sp>
      <p:sp>
        <p:nvSpPr>
          <p:cNvPr id="24" name="Text 21"/>
          <p:cNvSpPr txBox="1"/>
          <p:nvPr/>
        </p:nvSpPr>
        <p:spPr>
          <a:xfrm>
            <a:off x="548640" y="2267712"/>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الصَّبَاحِ</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until now</a:t>
            </a:r>
            <a:endParaRPr lang="en-US" sz="1100" dirty="0"/>
          </a:p>
        </p:txBody>
      </p:sp>
      <p:sp>
        <p:nvSpPr>
          <p:cNvPr id="29" name="Text 26"/>
          <p:cNvSpPr txBox="1"/>
          <p:nvPr/>
        </p:nvSpPr>
        <p:spPr>
          <a:xfrm>
            <a:off x="6217920" y="300471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حَتَّى الْآنَ</a:t>
            </a:r>
            <a:endParaRPr lang="ar-SA" sz="2200" dirty="0"/>
          </a:p>
        </p:txBody>
      </p:sp>
      <p:sp>
        <p:nvSpPr>
          <p:cNvPr id="30" name="Text 27"/>
          <p:cNvSpPr txBox="1"/>
          <p:nvPr/>
        </p:nvSpPr>
        <p:spPr>
          <a:xfrm>
            <a:off x="3675888" y="300471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the afternoon</a:t>
            </a:r>
            <a:endParaRPr lang="en-US" sz="1100" dirty="0"/>
          </a:p>
        </p:txBody>
      </p:sp>
      <p:sp>
        <p:nvSpPr>
          <p:cNvPr id="31" name="Text 28"/>
          <p:cNvSpPr txBox="1"/>
          <p:nvPr/>
        </p:nvSpPr>
        <p:spPr>
          <a:xfrm>
            <a:off x="548640" y="300471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بَعْدَ الظُّهْرِ</a:t>
            </a:r>
            <a:endParaRPr lang="ar-SA" sz="22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later</a:t>
            </a:r>
            <a:endParaRPr lang="en-US" sz="1100" dirty="0"/>
          </a:p>
        </p:txBody>
      </p:sp>
      <p:sp>
        <p:nvSpPr>
          <p:cNvPr id="36" name="Text 33"/>
          <p:cNvSpPr txBox="1"/>
          <p:nvPr/>
        </p:nvSpPr>
        <p:spPr>
          <a:xfrm>
            <a:off x="6217920" y="3741725"/>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وَقْتٍ لَاحِقٍ</a:t>
            </a:r>
            <a:endParaRPr lang="ar-SA" sz="2200" dirty="0"/>
          </a:p>
        </p:txBody>
      </p:sp>
      <p:sp>
        <p:nvSpPr>
          <p:cNvPr id="37" name="Text 34"/>
          <p:cNvSpPr txBox="1"/>
          <p:nvPr/>
        </p:nvSpPr>
        <p:spPr>
          <a:xfrm>
            <a:off x="3675888" y="3741725"/>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the evening</a:t>
            </a:r>
            <a:endParaRPr lang="en-US" sz="1100" dirty="0"/>
          </a:p>
        </p:txBody>
      </p:sp>
      <p:sp>
        <p:nvSpPr>
          <p:cNvPr id="38" name="Text 35"/>
          <p:cNvSpPr txBox="1"/>
          <p:nvPr/>
        </p:nvSpPr>
        <p:spPr>
          <a:xfrm>
            <a:off x="548640" y="3741725"/>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الْمَسَاءِ</a:t>
            </a:r>
            <a:endParaRPr lang="ar-SA" sz="22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the future</a:t>
            </a:r>
            <a:endParaRPr lang="en-US" sz="1100" dirty="0"/>
          </a:p>
        </p:txBody>
      </p:sp>
      <p:sp>
        <p:nvSpPr>
          <p:cNvPr id="43" name="Text 40"/>
          <p:cNvSpPr txBox="1"/>
          <p:nvPr/>
        </p:nvSpPr>
        <p:spPr>
          <a:xfrm>
            <a:off x="6217920" y="4478731"/>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الْمُسْتَقْبَلِ</a:t>
            </a:r>
            <a:endParaRPr lang="ar-SA" sz="2200" dirty="0"/>
          </a:p>
        </p:txBody>
      </p:sp>
      <p:sp>
        <p:nvSpPr>
          <p:cNvPr id="44" name="Text 41"/>
          <p:cNvSpPr txBox="1"/>
          <p:nvPr/>
        </p:nvSpPr>
        <p:spPr>
          <a:xfrm>
            <a:off x="3675888" y="4478731"/>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night</a:t>
            </a:r>
            <a:endParaRPr lang="en-US" sz="1100" dirty="0"/>
          </a:p>
        </p:txBody>
      </p:sp>
      <p:sp>
        <p:nvSpPr>
          <p:cNvPr id="45" name="Text 42"/>
          <p:cNvSpPr txBox="1"/>
          <p:nvPr/>
        </p:nvSpPr>
        <p:spPr>
          <a:xfrm>
            <a:off x="548640" y="4478731"/>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اللَّيْلِ</a:t>
            </a:r>
            <a:endParaRPr lang="ar-SA" sz="22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day</a:t>
            </a:r>
            <a:endParaRPr lang="en-US" sz="1100" dirty="0"/>
          </a:p>
        </p:txBody>
      </p:sp>
      <p:sp>
        <p:nvSpPr>
          <p:cNvPr id="48" name="Text 45"/>
          <p:cNvSpPr txBox="1"/>
          <p:nvPr/>
        </p:nvSpPr>
        <p:spPr>
          <a:xfrm>
            <a:off x="6217920" y="521573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يَوْمًا مَا</a:t>
            </a:r>
            <a:endParaRPr lang="ar-SA" sz="2200" dirty="0"/>
          </a:p>
        </p:txBody>
      </p:sp>
      <p:sp>
        <p:nvSpPr>
          <p:cNvPr id="49" name="Text 46"/>
          <p:cNvSpPr txBox="1"/>
          <p:nvPr/>
        </p:nvSpPr>
        <p:spPr>
          <a:xfrm>
            <a:off x="3675888" y="521573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midnight</a:t>
            </a:r>
            <a:endParaRPr lang="en-US" sz="1100" dirty="0"/>
          </a:p>
        </p:txBody>
      </p:sp>
      <p:sp>
        <p:nvSpPr>
          <p:cNvPr id="50" name="Text 47"/>
          <p:cNvSpPr txBox="1"/>
          <p:nvPr/>
        </p:nvSpPr>
        <p:spPr>
          <a:xfrm>
            <a:off x="548640" y="521573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 مُنْتَصَفِ اللَّيْلِ</a:t>
            </a:r>
            <a:endParaRPr lang="ar-SA" sz="22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model: currently I study Arabic; in the future I will use it in my work.</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ea typeface="Calibri" pitchFamily="34" charset="-122"/>
                <a:cs typeface="Calibri" pitchFamily="34" charset="-120"/>
              </a:rPr>
              <a:t>GRAMMAR · PART 3 · SEQUENCE LINKS AND PLACE CHUNKS (WEBSITE) · DEVELOP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Organise the story — and give directions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التَّرْتِيبُ وَالِاتِّجَاهَاتُ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Function</a:t>
            </a:r>
            <a:endParaRPr lang="en-US" sz="1100" dirty="0"/>
          </a:p>
        </p:txBody>
      </p:sp>
      <p:sp>
        <p:nvSpPr>
          <p:cNvPr id="17" name="Text 14"/>
          <p:cNvSpPr txBox="1"/>
          <p:nvPr/>
        </p:nvSpPr>
        <p:spPr>
          <a:xfrm>
            <a:off x="32735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Useful phrases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Stage / use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introduce the first stage</a:t>
            </a:r>
            <a:endParaRPr lang="en-US" sz="1100" dirty="0"/>
          </a:p>
        </p:txBody>
      </p:sp>
      <p:sp>
        <p:nvSpPr>
          <p:cNvPr id="21" name="Text 18"/>
          <p:cNvSpPr txBox="1"/>
          <p:nvPr/>
        </p:nvSpPr>
        <p:spPr>
          <a:xfrm>
            <a:off x="3291840" y="226771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الْبِدَايَةِ · أَوَّلًا</a:t>
            </a:r>
            <a:endParaRPr lang="ar-SA" sz="2200" dirty="0"/>
          </a:p>
        </p:txBody>
      </p:sp>
      <p:sp>
        <p:nvSpPr>
          <p:cNvPr id="22" name="Text 19"/>
          <p:cNvSpPr txBox="1"/>
          <p:nvPr/>
        </p:nvSpPr>
        <p:spPr>
          <a:xfrm>
            <a:off x="56692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opening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move forward</a:t>
            </a:r>
            <a:endParaRPr lang="en-US" sz="1100" dirty="0"/>
          </a:p>
        </p:txBody>
      </p:sp>
      <p:sp>
        <p:nvSpPr>
          <p:cNvPr id="27" name="Text 24"/>
          <p:cNvSpPr txBox="1"/>
          <p:nvPr/>
        </p:nvSpPr>
        <p:spPr>
          <a:xfrm>
            <a:off x="3291840" y="2881884"/>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ثُمَّ · بَعْدَ ذَلِكَ · فِي وَقْتٍ لَاحِقٍ</a:t>
            </a:r>
            <a:endParaRPr lang="ar-SA" sz="2200" dirty="0"/>
          </a:p>
        </p:txBody>
      </p:sp>
      <p:sp>
        <p:nvSpPr>
          <p:cNvPr id="28" name="Text 25"/>
          <p:cNvSpPr txBox="1"/>
          <p:nvPr/>
        </p:nvSpPr>
        <p:spPr>
          <a:xfrm>
            <a:off x="56692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continuation</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things together</a:t>
            </a:r>
            <a:endParaRPr lang="en-US" sz="1100" dirty="0"/>
          </a:p>
        </p:txBody>
      </p:sp>
      <p:sp>
        <p:nvSpPr>
          <p:cNvPr id="33" name="Text 30"/>
          <p:cNvSpPr txBox="1"/>
          <p:nvPr/>
        </p:nvSpPr>
        <p:spPr>
          <a:xfrm>
            <a:off x="3291840" y="3496056"/>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الْوَقْتِ نَفْسِهِ</a:t>
            </a:r>
            <a:endParaRPr lang="ar-SA" sz="2200" dirty="0"/>
          </a:p>
        </p:txBody>
      </p:sp>
      <p:sp>
        <p:nvSpPr>
          <p:cNvPr id="34" name="Text 31"/>
          <p:cNvSpPr txBox="1"/>
          <p:nvPr/>
        </p:nvSpPr>
        <p:spPr>
          <a:xfrm>
            <a:off x="56692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simultaneous</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close the sequence</a:t>
            </a:r>
            <a:endParaRPr lang="en-US" sz="1100" dirty="0"/>
          </a:p>
        </p:txBody>
      </p:sp>
      <p:sp>
        <p:nvSpPr>
          <p:cNvPr id="37" name="Text 34"/>
          <p:cNvSpPr txBox="1"/>
          <p:nvPr/>
        </p:nvSpPr>
        <p:spPr>
          <a:xfrm>
            <a:off x="3291840" y="4110228"/>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أَخِيرًا · فِي النِّهَايَةِ</a:t>
            </a:r>
            <a:endParaRPr lang="ar-SA" sz="2200" dirty="0"/>
          </a:p>
        </p:txBody>
      </p:sp>
      <p:sp>
        <p:nvSpPr>
          <p:cNvPr id="38" name="Text 35"/>
          <p:cNvSpPr txBox="1"/>
          <p:nvPr/>
        </p:nvSpPr>
        <p:spPr>
          <a:xfrm>
            <a:off x="56692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ending</a:t>
            </a:r>
            <a:endParaRPr lang="en-US" sz="11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where exactly</a:t>
            </a:r>
            <a:endParaRPr lang="en-US" sz="1100" dirty="0"/>
          </a:p>
        </p:txBody>
      </p:sp>
      <p:sp>
        <p:nvSpPr>
          <p:cNvPr id="43" name="Text 40"/>
          <p:cNvSpPr txBox="1"/>
          <p:nvPr/>
        </p:nvSpPr>
        <p:spPr>
          <a:xfrm>
            <a:off x="3291840" y="4724400"/>
            <a:ext cx="4937760" cy="559308"/>
          </a:xfrm>
          <a:prstGeom prst="rect">
            <a:avLst/>
          </a:prstGeom>
          <a:noFill/>
          <a:ln/>
        </p:spPr>
        <p:txBody>
          <a:bodyPr wrap="square" lIns="0" tIns="0" rIns="0" bIns="0" rtlCol="0" anchor="ctr"/>
          <a:lstStyle/>
          <a:p>
            <a:pPr rtl="1" algn="ctr" indent="0" marL="0">
              <a:buNone/>
            </a:pPr>
            <a:r>
              <a:rPr lang="ar-SA" altLang="en-US" sz="2050" b="1" dirty="0">
                <a:solidFill>
                  <a:srgbClr val="1B3B6F"/>
                </a:solidFill>
                <a:latin typeface="Amiri" pitchFamily="34" charset="0"/>
                <a:ea typeface="Amiri" pitchFamily="34" charset="-122"/>
                <a:cs typeface="Amiri" pitchFamily="34" charset="-120"/>
              </a:rPr>
              <a:t>فِي الدَّاخِلِ · فِي الْخَارِجِ · عَلَى الْيَمِينِ · عَلَى الْيَسَارِ</a:t>
            </a:r>
            <a:endParaRPr lang="ar-SA" sz="2050" dirty="0"/>
          </a:p>
        </p:txBody>
      </p:sp>
      <p:sp>
        <p:nvSpPr>
          <p:cNvPr id="44" name="Text 41"/>
          <p:cNvSpPr txBox="1"/>
          <p:nvPr/>
        </p:nvSpPr>
        <p:spPr>
          <a:xfrm>
            <a:off x="56692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position</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near · far from</a:t>
            </a:r>
            <a:endParaRPr lang="en-US" sz="1100" dirty="0"/>
          </a:p>
        </p:txBody>
      </p:sp>
      <p:sp>
        <p:nvSpPr>
          <p:cNvPr id="47" name="Text 44"/>
          <p:cNvSpPr txBox="1"/>
          <p:nvPr/>
        </p:nvSpPr>
        <p:spPr>
          <a:xfrm>
            <a:off x="3291840" y="533857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بِالْقُرْبِ مِنْ · بَعِيدًا عَنْ</a:t>
            </a:r>
            <a:endParaRPr lang="ar-SA" sz="2200" dirty="0"/>
          </a:p>
        </p:txBody>
      </p:sp>
      <p:sp>
        <p:nvSpPr>
          <p:cNvPr id="48" name="Text 45"/>
          <p:cNvSpPr txBox="1"/>
          <p:nvPr/>
        </p:nvSpPr>
        <p:spPr>
          <a:xfrm>
            <a:off x="56692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distance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warning: avoid the “thumma chain” — repeating thumma before every sentence sounds mechanical. Vary the links.</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“twice a week”.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مَرَّتَانِ الأُسْبُوعُ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مَرَّةٌ أُسْبُوعٌ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مَرَّتَيْنِ فِي الأُسْبُوعِ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“once a month”?</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مَرَّةً فِي الشَّهْرِ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مَرَّةٌ الشَّهْرُ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شَهْرًا مَرَّةٌ فِي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opening phrase.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أَخِيرًا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الْبِدَايَةِ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ذَلِكَ فقط</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“near the school”.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بِالْقُرْبِ مِنَ الْمَدْرَسَةِ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بَعِيدًا عَنِ الْمَدْرَسَةِ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الْمُسْتَقْبَلِ</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“twice a week”.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مَرَّتَانِ الأُسْبُوعُ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مَرَّةٌ أُسْبُوعٌ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مَرَّتَيْنِ فِي الأُسْبُوعِ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dual marratayni in this fixed phrase.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“once a month”?</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مَرَّةً فِي الشَّهْرِ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مَرَّةٌ الشَّهْرُ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شَهْرًا مَرَّةٌ فِي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common frequency chunk.</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opening phrase.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أَخِيرًا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الْبِدَايَةِ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ذَلِكَ فقط</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Fī l-bidāya introduces the first stage.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“near the school”.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بِالْقُرْبِ مِنَ الْمَدْرَسَةِ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بَعِيدًا عَنِ الْمَدْرَسَةِ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الْمُسْتَقْبَلِ</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Bi-l-qurbi min expresses “near”.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Watch me climb the answer ladder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Basic</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أَلْعَبُ كُرَةَ الْقَدَمِ.</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One short answer.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 Frequency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مَرَّتَيْنِ فِي الْأُسْبُوعِ</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How often?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 Time / place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بَعْدَ الظُّهْرِ بِالْقُرْبِ مِنْ بَيْتِي</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When? Where?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 Future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فِي الْمُسْتَقْبَلِ سَأَلْعَبُ فِي فَرِيقٍ</a:t>
            </a:r>
            <a:endParaRPr lang="ar-SA" sz="19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Develop forward.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CHUNK</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DEVELOPMENT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050" b="1" dirty="0">
                <a:solidFill>
                  <a:srgbClr val="1B3B6F"/>
                </a:solidFill>
                <a:latin typeface="Amiri" pitchFamily="34" charset="0"/>
                <a:ea typeface="Amiri" pitchFamily="34" charset="-122"/>
                <a:cs typeface="Amiri" pitchFamily="34" charset="-120"/>
              </a:rPr>
              <a:t>أَلْعَبُ كُرَةَ الْقَدَمِ </a:t>
            </a:r>
            <a:pPr rtl="1" algn="r" indent="0" marL="0">
              <a:buNone/>
            </a:pPr>
            <a:r>
              <a:rPr lang="ar-SA" altLang="en-US" sz="2050" b="1" dirty="0">
                <a:solidFill>
                  <a:srgbClr val="0E7C86"/>
                </a:solidFill>
                <a:latin typeface="Amiri" pitchFamily="34" charset="0"/>
                <a:ea typeface="Amiri" pitchFamily="34" charset="-122"/>
                <a:cs typeface="Amiri" pitchFamily="34" charset="-120"/>
              </a:rPr>
              <a:t>مَرَّتَيْنِ فِي الْأُسْبُوعِ</a:t>
            </a:r>
            <a:pPr rtl="1" algn="r" indent="0" marL="0">
              <a:buNone/>
            </a:pPr>
            <a:r>
              <a:rPr lang="ar-SA" altLang="en-US" sz="2050" b="1" dirty="0">
                <a:solidFill>
                  <a:srgbClr val="1B3B6F"/>
                </a:solidFill>
                <a:latin typeface="Amiri" pitchFamily="34" charset="0"/>
                <a:ea typeface="Amiri" pitchFamily="34" charset="-122"/>
                <a:cs typeface="Amiri" pitchFamily="34" charset="-120"/>
              </a:rPr>
              <a:t> </a:t>
            </a:r>
            <a:pPr rtl="1" algn="r" indent="0" marL="0">
              <a:buNone/>
            </a:pPr>
            <a:r>
              <a:rPr lang="ar-SA" altLang="en-US" sz="2050" b="1" dirty="0">
                <a:solidFill>
                  <a:srgbClr val="0E7C86"/>
                </a:solidFill>
                <a:latin typeface="Amiri" pitchFamily="34" charset="0"/>
                <a:ea typeface="Amiri" pitchFamily="34" charset="-122"/>
                <a:cs typeface="Amiri" pitchFamily="34" charset="-120"/>
              </a:rPr>
              <a:t>بَعْدَ الظُّهْرِ</a:t>
            </a:r>
            <a:pPr rtl="1" algn="r" indent="0" marL="0">
              <a:buNone/>
            </a:pPr>
            <a:r>
              <a:rPr lang="ar-SA" altLang="en-US" sz="2050" b="1" dirty="0">
                <a:solidFill>
                  <a:srgbClr val="1B3B6F"/>
                </a:solidFill>
                <a:latin typeface="Amiri" pitchFamily="34" charset="0"/>
                <a:ea typeface="Amiri" pitchFamily="34" charset="-122"/>
                <a:cs typeface="Amiri" pitchFamily="34" charset="-120"/>
              </a:rPr>
              <a:t> فِي حَدِيقَةٍ </a:t>
            </a:r>
            <a:pPr rtl="1" algn="r" indent="0" marL="0">
              <a:buNone/>
            </a:pPr>
            <a:r>
              <a:rPr lang="ar-SA" altLang="en-US" sz="2050" b="1" dirty="0">
                <a:solidFill>
                  <a:srgbClr val="0E7C86"/>
                </a:solidFill>
                <a:latin typeface="Amiri" pitchFamily="34" charset="0"/>
                <a:ea typeface="Amiri" pitchFamily="34" charset="-122"/>
                <a:cs typeface="Amiri" pitchFamily="34" charset="-120"/>
              </a:rPr>
              <a:t>بِالْقُرْبِ مِنْ</a:t>
            </a:r>
            <a:pPr rtl="1" algn="r" indent="0" marL="0">
              <a:buNone/>
            </a:pPr>
            <a:r>
              <a:rPr lang="ar-SA" altLang="en-US" sz="2050" b="1" dirty="0">
                <a:solidFill>
                  <a:srgbClr val="1B3B6F"/>
                </a:solidFill>
                <a:latin typeface="Amiri" pitchFamily="34" charset="0"/>
                <a:ea typeface="Amiri" pitchFamily="34" charset="-122"/>
                <a:cs typeface="Amiri" pitchFamily="34" charset="-120"/>
              </a:rPr>
              <a:t> بَيْتِي، وَ</a:t>
            </a:r>
            <a:pPr rtl="1" algn="r" indent="0" marL="0">
              <a:buNone/>
            </a:pPr>
            <a:r>
              <a:rPr lang="ar-SA" altLang="en-US" sz="2050" b="1" dirty="0">
                <a:solidFill>
                  <a:srgbClr val="D6336C"/>
                </a:solidFill>
                <a:latin typeface="Amiri" pitchFamily="34" charset="0"/>
                <a:ea typeface="Amiri" pitchFamily="34" charset="-122"/>
                <a:cs typeface="Amiri" pitchFamily="34" charset="-120"/>
              </a:rPr>
              <a:t>فِي الْمُسْتَقْبَلِ</a:t>
            </a:r>
            <a:pPr rtl="1" algn="r" indent="0" marL="0">
              <a:buNone/>
            </a:pPr>
            <a:r>
              <a:rPr lang="ar-SA" altLang="en-US" sz="2050" b="1" dirty="0">
                <a:solidFill>
                  <a:srgbClr val="1B3B6F"/>
                </a:solidFill>
                <a:latin typeface="Amiri" pitchFamily="34" charset="0"/>
                <a:ea typeface="Amiri" pitchFamily="34" charset="-122"/>
                <a:cs typeface="Amiri" pitchFamily="34" charset="-120"/>
              </a:rPr>
              <a:t> سَأَلْعَبُ فِي فَرِيقِ الْمَدْرَسَةِ.</a:t>
            </a:r>
            <a:endParaRPr lang="ar-SA" sz="20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play football twice a week in the afternoon in a park near my house, and in the future I will play in the school team.</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أَسْتَيْقِظُ كُلَّ صَبَاحٍ فِي السَّاعَةِ السَّابِعَةِ.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wake up every morning at seven.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Frequency + time.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الْبِدَايَةِ أَغْسِلُ وَجْهِي، وَبَعْدَ ذَلِكَ أُصَلِّي.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First I wash my face, and after that I pray.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Sequence.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الْمَكْتَبَةُ عَلَى الْيَسَارِ بِالْقُرْبِ مِنَ الْمَدْرَسَةِ.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library is on the left near the school.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directions.</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وَقْتٍ لَاحِقٍ سَأُرْسِلُ الرِّسَالَةَ.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Later, I will send the message.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later + future.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THE CHUNKS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does each chunk do?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 الْعِبَارَاتِ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مَرَّةً فِي الشَّهْرِ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الظُّهْرِ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أَخِيرًا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الْيَمِينِ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كُلَّ مَسَاءٍ</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يَوْمًا مَا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الْوَقْتِ نَفْسِهِ</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بَعِيدًا عَنِ الْبَيْتِ</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Frequency</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Time</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Sequence</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Place</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Frequency</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مَرَّةً فِي الشَّهْرِ</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كُلَّ مَسَاءٍ</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Time</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الظُّهْرِ</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يَوْمًا مَا</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Sequence</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أَخِيرًا</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الْوَقْتِ نَفْسِهِ</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Place</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الْيَمِينِ</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بَعِيدًا عَنِ الْبَيْتِ</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CHUNK AUDIT (WEBSITE)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Break the “thumma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نَوِّعِ الرَّوَابِطَ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Varied (better)</a:t>
            </a:r>
            <a:endParaRPr lang="en-US" sz="1100" dirty="0"/>
          </a:p>
        </p:txBody>
      </p:sp>
      <p:sp>
        <p:nvSpPr>
          <p:cNvPr id="17" name="Text 14"/>
          <p:cNvSpPr txBox="1"/>
          <p:nvPr/>
        </p:nvSpPr>
        <p:spPr>
          <a:xfrm>
            <a:off x="254203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Thumma chain (weak)</a:t>
            </a:r>
            <a:endParaRPr lang="en-US" sz="1100" dirty="0"/>
          </a:p>
        </p:txBody>
      </p:sp>
      <p:sp>
        <p:nvSpPr>
          <p:cNvPr id="18" name="Text 15"/>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Step</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6949440" y="2267712"/>
            <a:ext cx="46908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الْبِدَايَةِ اسْتَيْقَظْتُ.</a:t>
            </a:r>
            <a:endParaRPr lang="ar-SA" sz="2200" dirty="0"/>
          </a:p>
        </p:txBody>
      </p:sp>
      <p:sp>
        <p:nvSpPr>
          <p:cNvPr id="21" name="Text 18"/>
          <p:cNvSpPr txBox="1"/>
          <p:nvPr/>
        </p:nvSpPr>
        <p:spPr>
          <a:xfrm>
            <a:off x="2560320" y="2267712"/>
            <a:ext cx="42062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ثُمَّ اسْتَيْقَظْتُ.</a:t>
            </a:r>
            <a:endParaRPr lang="ar-SA" sz="2200" dirty="0"/>
          </a:p>
        </p:txBody>
      </p:sp>
      <p:sp>
        <p:nvSpPr>
          <p:cNvPr id="22" name="Text 19"/>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6949440" y="3054096"/>
            <a:ext cx="46908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بَعْدَ ذَلِكَ أَكَلْتُ الْفَطُورَ.</a:t>
            </a:r>
            <a:endParaRPr lang="ar-SA" sz="2200" dirty="0"/>
          </a:p>
        </p:txBody>
      </p:sp>
      <p:sp>
        <p:nvSpPr>
          <p:cNvPr id="27" name="Text 24"/>
          <p:cNvSpPr txBox="1"/>
          <p:nvPr/>
        </p:nvSpPr>
        <p:spPr>
          <a:xfrm>
            <a:off x="2560320" y="3054096"/>
            <a:ext cx="42062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ثُمَّ أَكَلْتُ.</a:t>
            </a:r>
            <a:endParaRPr lang="ar-SA" sz="2200" dirty="0"/>
          </a:p>
        </p:txBody>
      </p:sp>
      <p:sp>
        <p:nvSpPr>
          <p:cNvPr id="28" name="Text 25"/>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6949440" y="3840480"/>
            <a:ext cx="46908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ثُمَّ ذَهَبْتُ إِلَى الْمَدْرَسَةِ.</a:t>
            </a:r>
            <a:endParaRPr lang="ar-SA" sz="2200" dirty="0"/>
          </a:p>
        </p:txBody>
      </p:sp>
      <p:sp>
        <p:nvSpPr>
          <p:cNvPr id="33" name="Text 30"/>
          <p:cNvSpPr txBox="1"/>
          <p:nvPr/>
        </p:nvSpPr>
        <p:spPr>
          <a:xfrm>
            <a:off x="2560320" y="3840480"/>
            <a:ext cx="42062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ثُمَّ ذَهَبْتُ.</a:t>
            </a:r>
            <a:endParaRPr lang="ar-SA" sz="2200" dirty="0"/>
          </a:p>
        </p:txBody>
      </p:sp>
      <p:sp>
        <p:nvSpPr>
          <p:cNvPr id="34" name="Text 31"/>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6949440" y="4626864"/>
            <a:ext cx="46908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أَخِيرًا رَجَعْتُ إِلَى الْبَيْتِ.</a:t>
            </a:r>
            <a:endParaRPr lang="ar-SA" sz="2200" dirty="0"/>
          </a:p>
        </p:txBody>
      </p:sp>
      <p:sp>
        <p:nvSpPr>
          <p:cNvPr id="39" name="Text 36"/>
          <p:cNvSpPr txBox="1"/>
          <p:nvPr/>
        </p:nvSpPr>
        <p:spPr>
          <a:xfrm>
            <a:off x="2560320" y="4626864"/>
            <a:ext cx="42062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ثُمَّ رَجَعْتُ.</a:t>
            </a:r>
            <a:endParaRPr lang="ar-SA" sz="2200" dirty="0"/>
          </a:p>
        </p:txBody>
      </p:sp>
      <p:sp>
        <p:nvSpPr>
          <p:cNvPr id="40" name="Text 37"/>
          <p:cNvSpPr txBox="1"/>
          <p:nvPr/>
        </p:nvSpPr>
        <p:spPr>
          <a:xfrm>
            <a:off x="566928"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a:t>
            </a:r>
            <a:endParaRPr lang="en-US" sz="11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thumma is fine — once. Vary the links, and only use a phrase when it adds meaning.</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كُلُّ يَوْمٌ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fixed form?</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أَسْبَحُ مَرَّتَانِ الْأُسْبُوعُ.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the chunk complete?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الصَّبَاحُ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Ending after fī?</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كُلُّ يَوْمٌ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كُلَّ يَوْمٍ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Learn the fixed form: kulla yawmin (website).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أَسْبَحُ مَرَّتَانِ الْأُسْبُوعُ.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أَسْبَحُ مَرَّتَيْنِ فِي الْأُسْبُوعِ.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whole chunk (website).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فِي الصَّبَاحُ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الصَّبَاحِ</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Genitive after fī.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2F6FB0"/>
                </a:solidFill>
                <a:latin typeface="Calibri" pitchFamily="34" charset="0"/>
                <a:ea typeface="Calibri" pitchFamily="34" charset="-122"/>
                <a:cs typeface="Calibri" pitchFamily="34" charset="-120"/>
              </a:rPr>
              <a:t>WE DO · GUIDED PRACTICE · WEBSITE ADVERBIAL PHRASE MASTERY QUESTIONS 5, 6, 8 AND 9</a:t>
            </a:r>
            <a:endParaRPr lang="en-US" sz="83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“later”.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الْوَقْتِ نَفْسِهِ</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صَبَاحٍ</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وَقْتٍ لَاحِقٍ</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“at the same time”.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وَقْتٍ لِآخَرَ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الْوَقْتِ نَفْسِهِ</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بِالْقُرْبِ 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sequence.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أَخِيرًا ... فِي الْبِدَايَةِ ... أَوَّلًا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 ... بَعْدَ ذَلِكَ ... أَخِيرًا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 ... سَرِيعًا ... أَمْسِ فقط</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“near the park”.</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بَعِيدًا عَنِ الْحَدِيقَةِ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اللَّيْلِ</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بِالْقُرْبِ مِنَ الْحَدِيقَةِ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“later”.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الْوَقْتِ نَفْسِهِ</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صَبَاحٍ</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وَقْتٍ لَاحِقٍ</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phrase means at a later time.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“at the same time”.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وَقْتٍ لِآخَرَ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الْوَقْتِ نَفْسِهِ</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بِالْقُرْبِ 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Simultaneous timing.</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sequence.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أَخِيرًا ... فِي الْبِدَايَةِ ... أَوَّلًا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أَوَّلًا ... بَعْدَ ذَلِكَ ... أَخِيرًا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هُنَا ... سَرِيعًا ... أَمْسِ فقط</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sequence moves logically from first to last.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“near the park”.</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بَعِيدًا عَنِ الْحَدِيقَةِ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اللَّيْلِ</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بِالْقُرْبِ مِنَ الْحَدِيقَةِ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Bi-l-qurbi min = near.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ea typeface="Calibri" pitchFamily="34" charset="-122"/>
                <a:cs typeface="Calibri" pitchFamily="34" charset="-120"/>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trip to the coast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الْبِدَايَةِ وَصَلْنَا إِلَى الْمَحَطَّةِ فِي الصَّبَاحِ. بَعْدَ ذَلِكَ مَشَيْنَا إِلَى فُنْدُقٍ بِالْقُرْبِ مِنَ الْبَحْرِ. فِي الْمَسَاءِ خَرَجْنَا مِنْ وَقْتٍ لِآخَرَ لِزِيَارَةِ السُّوقِ، وَأَخِيرًا عُدْنَا إِلَى الْفُنْدُقِ. فِي الْمُسْتَقْبَلِ سَنَرْجِعُ إِلَى هُنَاكَ مَرَّةً فِي السَّنَةِ.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وَصَلْنَا</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arrived</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الْمَحَطَّةِ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station</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مَشَيْنَا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walked</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خَرَجْنَا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went out</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لِزِيَارَةِ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visit</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عُدْنَا</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returned</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سَنَرْجِعُ</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will go back</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was the hotel?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far from the sea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near the sea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station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opens the story?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أَخِيرًا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ذَلِكَ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الْبِدَايَةِ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did they visit the market?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from time to time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they do in the future?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stay at home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 back once a year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move to the hotel</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was the hotel?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far from the sea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near the sea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station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بِالْقُرْبِ مِنَ الْبَحْرِ.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opens the story?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أَخِيرًا</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ذَلِكَ</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الْبِدَايَةِ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Opening link.</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did they visit the market?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from time to time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وَقْتٍ لِآخَرَ.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they do in the future?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stay at home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go back once a year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move to the hotel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Teacher-added last sentence.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Extended answer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فِي الصَّبَاحِ؟</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يَوْمًا عَادِيًّا مِنَ الْبِدَايَةِ إِلَى النِّهَايَةِ.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أَصِلُ مِنْ مَدْرَسَتِكَ إِلَى أَقْرَبِ مَكْتَبَةٍ؟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كُلَّ صَبَاحٍ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34" charset="0"/>
                <a:ea typeface="Amiri" pitchFamily="34" charset="-122"/>
                <a:cs typeface="Amiri" pitchFamily="34" charset="-120"/>
              </a:rPr>
              <a:t>فِي الْبِدَايَةِ ___ ، بَعْدَ ذَلِكَ ___ ، وَأَخِيرًا ___ .</a:t>
            </a:r>
            <a:endParaRPr lang="ar-SA" sz="12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امْشِ ___ ، ثُمَّ ___ ؛ الْمَكْتَبَةُ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أَصِلُ إِلَى الْمَسْجِدِ؟</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 I get to the mosque?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فِي الْبِدَايَةِ امْشِ إِلَى الْأَمَامِ، بَعْدَ ذَلِكَ خُذْ أَوَّلَ شَارِعٍ عَلَى الْيَمِينِ. الْمَسْجِدُ بِالْقُرْبِ مِنَ الْحَدِيقَةِ، لَيْسَ بَعِيدًا عَنْ هُنَا.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First walk straight on, after that take the first street on the right. The mosque is near the park, not far from here.</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your routine with frequency and time-of-day chunks.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every morning, twice a week, in the evening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Organise a day with varied sequence links.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at first, after that, at the same time, finally.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integrated fluency task (ten chunks).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Include directions and a future plan.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الْبِدَايَةِ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At first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أَخِيرًا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Finally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مَدْرَسَتِي بِالْقُرْبِ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school is near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كُلَّ صَبَاحٍ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Every morning I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مَرَّتَيْنِ فِي الْأُسْبُوعِ.</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 twice a week.</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الْمَسَاءِ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evening I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الْمُسْتَقْبَلِ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future I will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34" charset="0"/>
                <a:ea typeface="Amiri" pitchFamily="34" charset="-122"/>
                <a:cs typeface="Amiri" pitchFamily="34" charset="-120"/>
              </a:rPr>
              <a:t>كُلَّ يَوْمٍ  ·  كُلَّ صَبَاحٍ  ·  مَرَّةً فِي الْأُسْبُوعِ  ·  مِنْ وَقْتٍ لِآخَرَ  ·  بَعْدَ الظُّهْرِ  ·  حَتَّى الْآنَ  ·  فِي الْمُسْتَقْبَلِ  ·  فِي الْبِدَايَةِ  ·  بَعْدَ ذَلِكَ  ·  أَخِيرًا  ·  عَلَى الْيَمِينِ  ·  بِالْقُرْبِ مِنْ</a:t>
            </a:r>
            <a:endParaRPr lang="ar-SA" sz="15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integrated fluency task: 120–140 words (email, blog or article) about a routine, trip or future plan, with ten different adverbial chunks.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frequency phrases.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time-of-day or time-horizon phrases.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different sequence links (no thumma chain).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place or direction phrases.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Coherent time frames — every chunk adds meaning.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الْبِدَايَةِ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at the beginning</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وَقْتٍ لِآخَرَ</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from time to time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الْوَقْتِ نَفْسِهِ</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at the same time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بَعِيدًا عَنْ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far from</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يَوْمًا مَا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one day</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النِّهَايَةِ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end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مَرْحَبًا يَا سَارَةُ، فِي الْبِدَايَةِ سَأَصِفُ رُوتِينِي. أَسْتَيْقِظُ كُلَّ صَبَاحٍ فِي السَّاعَةِ السَّادِسَةِ، وَبَعْدَ ذَلِكَ أَذْهَبُ إِلَى مَدْرَسَتِي الَّتِي تَقَعُ بِالْقُرْبِ مِنْ بَيْتِي. بَعْدَ الظُّهْرِ أَتَدَرَّبُ مَرَّتَيْنِ فِي الْأُسْبُوعِ، وَمِنْ وَقْتٍ لِآخَرَ أَزُورُ جَدَّتِي. فِي الْمَسَاءِ أُسَاعِدُ أُمِّي فِي الْمَطْبَخِ وَأَتَحَدَّثُ مَعَهَا فِي الْوَقْتِ نَفْسِهِ. فِي الْمُسْتَقْبَلِ سَأَدْرُسُ فِي الْخَارِجِ، وَيَوْمًا مَا سَأَزُورُكِ! أَخِيرًا، اكْتُبِي لِي قَرِيبًا.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Hello Sara, first I will describe my routine. I wake up every morning at six, and after that I go to my school, which is near my house. In the afternoon I train twice a week, and from time to time I visit my grandmother. In the evening I help my mother in the kitchen and chat with her at the same time. In the future I will study abroad, and one day I will visit you! Finally, write to me soon.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frequency</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time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sequence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place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two frequency chunks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time-of-day phrases with fī.</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three different sequence links.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did not repeat thumma before every sentence.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included directions and a future plan.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natural routine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أَسْبَحُ مَرَّتَيْنِ فِي الأُسْبُوعِ.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أَسْبَحُ مَرَّتَانِ الأُسْبُوعُ.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أَسْبَحُ فِي مَرَّتَيْنِ أُسْبُوعٌ.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“at the same time”.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وَقْتٍ لَاحِقٍ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الْوَقْتِ نَفْسِهِ</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الْمُسْتَقْبَلِ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“on the right”.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الْيَمِينِ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الْيَسَارِ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الْخَارِجِ</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natural routine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أَسْبَحُ مَرَّتَيْنِ فِي الأُسْبُوعِ.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أَسْبَحُ مَرَّتَانِ الأُسْبُوعُ.</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أَسْبَحُ فِي مَرَّتَيْنِ أُسْبُوعٌ.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complete phrase follows the verb naturally.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“at the same time”.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وَقْتٍ لَاحِقٍ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 الْوَقْتِ نَفْسِهِ</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الْمُسْتَقْبَلِ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phrase links two things happening together.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“on the right”.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عَلَى الْيَمِينِ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 الْيَسَارِ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الْخَارِجِ</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ʿAlā l-yamīn gives the direction.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GM-ADV-04 · Adverbs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GM-PRO-01: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Adverbs · GM-ADV-04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GM-PRO-01 · Subject Pronouns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أَنْتَ · أَنْتِ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you (m. · 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 هِيَ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 she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نَحْنُ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هُمْ · هُنَّ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they (m. · 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Arabic has different words for “you” to a boy and to a girl. Can you think of why that is useful?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أَنْتَ طَالِبٌ · ______ طَالِبَةٌ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twelve chunks with their meanings.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Rewrite an old paragraph with varied sequence links.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integrated fluency task (120–140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GM-ADV-04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GM-PRO-01 · Subject Pronouns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ضَمَائِرُ الرَّفْعِ الْمُنْفَصِلَةُ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chunks whole · kulla yawmin, marratayni fī l-usbūʿ · sequence with variety, not a thumma chain · directions: on the right, near, far from.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GM-ADV-04 · Common Adverbial Phrases for Fluency</dc:title>
  <dc:subject>PptxGenJS Presentation</dc:subject>
  <dc:creator>Al Madina Online School · Arabic Department</dc:creator>
  <cp:lastModifiedBy>Al Madina Online School · Arabic Department</cp:lastModifiedBy>
  <cp:revision>1</cp:revision>
  <dcterms:created xsi:type="dcterms:W3CDTF">2026-10-03T20:14:51Z</dcterms:created>
  <dcterms:modified xsi:type="dcterms:W3CDTF">2026-10-03T20:14:51Z</dcterms:modified>
</cp:coreProperties>
</file>