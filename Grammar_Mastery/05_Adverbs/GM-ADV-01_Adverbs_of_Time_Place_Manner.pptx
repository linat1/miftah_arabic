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Adverbs › GM-ADV-01 (“Common Adverbs of Time, Place and Manner”).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high-frequency time (الْيَوْمَ · أَمْسِ · غَدًا · الآنَ), place (هُنَا · هُنَاكَ) and manner words (جَيِّدًا · سَرِيعًا · مَعًا). Develop: place word + genitive noun (فَوْقَ الطَّاوِلَةِ); adjective vs adverb (سَرِيعَةٌ / سَرِيعًا). Stretch: fronting for emphasis; manner phrases with بِـ (بِهُدُوءٍ · بِعِنَايَةٍ).
• Website communication test: after every sentence, ask “when? where? how?” — مَتَى؟ أَيْنَ؟ كَيْفَ؟
• Frequency words (دَائِمًا · غَالِبًا · أَحْيَانًا · نَادِرًا) are gold for IGCSE daily-routine writing.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adverbs prepared at the end of GM-ADJ-09.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three questions of every verb: WHEN? WHERE? HOW? The answers are adverbs.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table “Adverbs of time”. Show the website pair: غَدًا سَأَذْهَبُ إِلَى السُّوقِ · سَأَذْهَبُ إِلَى السُّوقِ غَدًا.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“Adverbs and expressions of place”. Use a pen and a book on camera: fawqa / taḥta / amāma / khalfa.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“Adverbs of manner”. The bi- phrases are developed in GM-ADV-03.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Time, Place and Manner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Start with the bare verb and keep asking متى؟ أين؟ كيف؟ — each answer adds an adverb. Note مَسَاءً (in the evening) ends in -an like many time adverbs.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Words from the website game. Students type T, P or M, then use one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Words from the website game. Students type T, P or M, then use one in 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mastery check questions 4, 5, 7 and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detective, extended by the teacher. Read it aloud once while students follow; then they hunt for today’s grammar.
Task: Website: sort the adverbs into time, place and manner, then say which verb each one modifies.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three sentences are the website text; the last sentence and the questions are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grid.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grid: describe three actions, each with one time, one place and one manner expression. Listening reconstruction (website): partner reads twice — verbs first, then when / where /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80–100 words about one ordinary day, with at least four time, three place and three manner expressions.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(GM-ADV-02 · Time Frames with Adverbs) will spend class time USING this language, so students prepare it tonight — short, simple, easy to access (school guidance: “Simple, Short, Interesting, Relevant, Easy to access”). The five words prepare GM-ADV-02 (website Adverbs lesson 2: time frames).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ADVERBS  ·  GM-ADV-01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GM-ADV-01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Common Adverbs of Time, Place and Manner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ظُرُوفُ الزَّمَانِ وَالْمَكَانِ وَالْحَالِ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 verb says what happens; adverbs add WHEN (today, tomorrow), WHERE (here, under the table) and HOW (well, slowly). Many end in -an; place words take a genitive noun; manner can also be bi- + noun.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GM-ADV-01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Time, place and manner; adjective vs adverb.</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when / where / how;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GM-ADV-02.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tells us WHEN: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سَأَزُورُ جَدَّتِي غَدًا.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سَأَزُورُ</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جَدَّتِي</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for “The train moves quickly.”</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سَرِيعٌ.</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يَسِيرُ الْقِطَارُ سَرِيعَةٌ.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يَسِيرُ الْقِطَارُ سَرِيعًا.</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الْكِتَابُ ___ الطَّاوِلَةِ.</a:t>
            </a:r>
            <a:endParaRPr lang="ar-SA" sz="15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جَيِّدًا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an adjective rather than an adverb?</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كِتَابٌ جَيِّدٌ.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يَكْتُبُ جَيِّدًا.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تَحَدَّثَ جَيِّدًا.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tells us WHEN:</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سَأَزُورُ جَدَّتِي غَدًا.</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سَأَزُورُ</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غَدًا</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جَدَّتِي</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Ghadan (tomorrow) places the visit in the future.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“here”.</a:t>
            </a:r>
            <a:endParaRPr lang="en-US" sz="125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هُنَا</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Hunā means here; hunāka means there.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sentence for “The train moves quickly.”</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سَرِيعٌ.</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يَسِيرُ الْقِطَارُ سَرِيعَةٌ.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يَسِيرُ الْقِطَارُ سَرِيعًا.</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Sarīʿan describes how the train moves.</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الْكِتَابُ ___ الطَّاوِلَةِ.</a:t>
            </a:r>
            <a:endParaRPr lang="ar-SA" sz="15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غَدًا</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جَيِّدًا</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فَوْقَ</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Fawqa expresses place; the next noun is genitive.</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uses an adjective rather than an adverb?</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كِتَابٌ جَيِّدٌ.</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يَكْتُبُ جَيِّدًا.</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تَحَدَّثَ جَيِّدًا.</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Jayyidun agrees with “book”: it describes a noun.</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three questions of every verb: WHEN? WHERE? HOW? The answers are adverbs.</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غَدًا</a:t>
            </a:r>
            <a:pPr rtl="1" algn="ctr" indent="0" marL="0">
              <a:buNone/>
            </a:pPr>
            <a:r>
              <a:rPr lang="ar-SA" altLang="en-US" sz="2400" b="1" dirty="0">
                <a:solidFill>
                  <a:srgbClr val="1B3B6F"/>
                </a:solidFill>
                <a:latin typeface="Amiri" pitchFamily="2" charset="-78"/>
                <a:ea typeface="Amiri" pitchFamily="2" charset="-78"/>
                <a:cs typeface="Amiri" pitchFamily="2" charset="-78"/>
              </a:rPr>
              <a:t> أَدْرُسُ </a:t>
            </a:r>
            <a:pPr rtl="1" algn="ctr" indent="0" marL="0">
              <a:buNone/>
            </a:pPr>
            <a:r>
              <a:rPr lang="ar-SA" altLang="en-US" sz="2400" b="1" dirty="0">
                <a:solidFill>
                  <a:srgbClr val="D6336C"/>
                </a:solidFill>
                <a:latin typeface="Amiri" pitchFamily="2" charset="-78"/>
                <a:ea typeface="Amiri" pitchFamily="2" charset="-78"/>
                <a:cs typeface="Amiri" pitchFamily="2" charset="-78"/>
              </a:rPr>
              <a:t>هُنَا</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0E7C86"/>
                </a:solidFill>
                <a:latin typeface="Amiri" pitchFamily="2" charset="-78"/>
                <a:ea typeface="Amiri" pitchFamily="2" charset="-78"/>
                <a:cs typeface="Amiri" pitchFamily="2" charset="-78"/>
              </a:rPr>
              <a:t>جَيِّدًا</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common adverbs of time, place and manner.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place phrases with a genitive noun.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an adjective (describes a noun) from an adverb (describes an action).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a time adverb for emphasis.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when / where / how with one word.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use today, tomorrow, here, there, well.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write under the chair with a genitive noun.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choose a fast car vs it moves fast.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front a time word for emphasis.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bi- phrases: calmly, carefully.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الزَّمَانِ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adverb of time (when?)</a:t>
            </a:r>
            <a:endParaRPr lang="en-US" sz="1350" dirty="0"/>
          </a:p>
          <a:p>
            <a:pPr indent="0" marL="0">
              <a:buNone/>
            </a:pPr>
            <a:r>
              <a:rPr lang="en-US" sz="1100" i="1" dirty="0">
                <a:solidFill>
                  <a:srgbClr val="5A6472"/>
                </a:solidFill>
                <a:latin typeface="Calibri" pitchFamily="34" charset="0"/>
                <a:cs typeface="Amiri" pitchFamily="2" charset="-78"/>
              </a:rPr>
              <a:t>ẓar-fu az-za-mā-ni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غَدًا · الْيَوْمَ</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ظَرْفُ الْمَكَانِ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adverb of place (where?)</a:t>
            </a:r>
            <a:endParaRPr lang="en-US" sz="1350" dirty="0"/>
          </a:p>
          <a:p>
            <a:pPr indent="0" marL="0">
              <a:buNone/>
            </a:pPr>
            <a:r>
              <a:rPr lang="en-US" sz="1100" i="1" dirty="0">
                <a:solidFill>
                  <a:srgbClr val="5A6472"/>
                </a:solidFill>
                <a:latin typeface="Calibri" pitchFamily="34" charset="0"/>
                <a:cs typeface="Amiri" pitchFamily="2" charset="-78"/>
              </a:rPr>
              <a:t>ẓar-fu al-ma-kā-ni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هُنَا · فَوْقَ</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الْحَالُ</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manner (how?)</a:t>
            </a:r>
            <a:endParaRPr lang="en-US" sz="1350" dirty="0"/>
          </a:p>
          <a:p>
            <a:pPr indent="0" marL="0">
              <a:buNone/>
            </a:pPr>
            <a:r>
              <a:rPr lang="en-US" sz="1100" i="1" dirty="0">
                <a:solidFill>
                  <a:srgbClr val="5A6472"/>
                </a:solidFill>
                <a:latin typeface="Calibri" pitchFamily="34" charset="0"/>
                <a:cs typeface="Amiri" pitchFamily="2" charset="-78"/>
              </a:rPr>
              <a:t>al-ḥā-lu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جَيِّدًا · بِبُطْءٍ</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when?</a:t>
            </a:r>
            <a:endParaRPr lang="en-US" sz="1350" dirty="0"/>
          </a:p>
          <a:p>
            <a:pPr indent="0" marL="0">
              <a:buNone/>
            </a:pPr>
            <a:r>
              <a:rPr lang="en-US" sz="1100" i="1" dirty="0">
                <a:solidFill>
                  <a:srgbClr val="5A6472"/>
                </a:solidFill>
                <a:latin typeface="Calibri" pitchFamily="34" charset="0"/>
                <a:cs typeface="Amiri" pitchFamily="2" charset="-78"/>
              </a:rPr>
              <a:t>matā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مَتَى تَدْرُسُ؟</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أَيْنَ الْكِتَابُ؟</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كَيْفَ؟</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a:t>
            </a:r>
            <a:endParaRPr lang="en-US" sz="1350" dirty="0"/>
          </a:p>
          <a:p>
            <a:pPr indent="0" marL="0">
              <a:buNone/>
            </a:pPr>
            <a:r>
              <a:rPr lang="en-US" sz="1100" i="1" dirty="0">
                <a:solidFill>
                  <a:srgbClr val="5A6472"/>
                </a:solidFill>
                <a:latin typeface="Calibri" pitchFamily="34" charset="0"/>
                <a:cs typeface="Amiri" pitchFamily="2" charset="-78"/>
              </a:rPr>
              <a:t>kayfa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كَيْفَ تَكْتُبُ؟</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ADVERBS OF TIME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When? — time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الزَّمَانِ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in context (website)</a:t>
            </a:r>
            <a:endParaRPr lang="en-US" sz="1100" dirty="0"/>
          </a:p>
        </p:txBody>
      </p:sp>
      <p:sp>
        <p:nvSpPr>
          <p:cNvPr id="17" name="Text 14"/>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الْعَرَبِيَّةَ الْيَوْمَ.</a:t>
            </a:r>
            <a:endParaRPr lang="ar-SA" sz="2200" dirty="0"/>
          </a:p>
        </p:txBody>
      </p:sp>
      <p:sp>
        <p:nvSpPr>
          <p:cNvPr id="21" name="Text 18"/>
          <p:cNvSpPr txBox="1"/>
          <p:nvPr/>
        </p:nvSpPr>
        <p:spPr>
          <a:xfrm>
            <a:off x="33101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today</a:t>
            </a:r>
            <a:endParaRPr lang="en-US" sz="1100" dirty="0"/>
          </a:p>
        </p:txBody>
      </p:sp>
      <p:sp>
        <p:nvSpPr>
          <p:cNvPr id="22" name="Text 19"/>
          <p:cNvSpPr txBox="1"/>
          <p:nvPr/>
        </p:nvSpPr>
        <p:spPr>
          <a:xfrm>
            <a:off x="548640" y="2267712"/>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الْيَوْمَ</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زُرْتُ صَدِيقِي أَمْسِ.</a:t>
            </a:r>
            <a:endParaRPr lang="ar-SA" sz="2200" dirty="0"/>
          </a:p>
        </p:txBody>
      </p:sp>
      <p:sp>
        <p:nvSpPr>
          <p:cNvPr id="27" name="Text 24"/>
          <p:cNvSpPr txBox="1"/>
          <p:nvPr/>
        </p:nvSpPr>
        <p:spPr>
          <a:xfrm>
            <a:off x="33101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a:t>
            </a:r>
            <a:endParaRPr lang="en-US" sz="1100" dirty="0"/>
          </a:p>
        </p:txBody>
      </p:sp>
      <p:sp>
        <p:nvSpPr>
          <p:cNvPr id="28" name="Text 25"/>
          <p:cNvSpPr txBox="1"/>
          <p:nvPr/>
        </p:nvSpPr>
        <p:spPr>
          <a:xfrm>
            <a:off x="548640" y="2881884"/>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أَمْسِ</a:t>
            </a:r>
            <a:endParaRPr lang="ar-SA" sz="24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سَأَعْمَلُ غَدًا.</a:t>
            </a:r>
            <a:endParaRPr lang="ar-SA" sz="2200" dirty="0"/>
          </a:p>
        </p:txBody>
      </p:sp>
      <p:sp>
        <p:nvSpPr>
          <p:cNvPr id="33" name="Text 30"/>
          <p:cNvSpPr txBox="1"/>
          <p:nvPr/>
        </p:nvSpPr>
        <p:spPr>
          <a:xfrm>
            <a:off x="33101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tomorrow</a:t>
            </a:r>
            <a:endParaRPr lang="en-US" sz="1100" dirty="0"/>
          </a:p>
        </p:txBody>
      </p:sp>
      <p:sp>
        <p:nvSpPr>
          <p:cNvPr id="34" name="Text 31"/>
          <p:cNvSpPr txBox="1"/>
          <p:nvPr/>
        </p:nvSpPr>
        <p:spPr>
          <a:xfrm>
            <a:off x="548640" y="3496056"/>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غَدًا</a:t>
            </a:r>
            <a:endParaRPr lang="ar-SA" sz="24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أَقْرَأُ الآنَ.</a:t>
            </a:r>
            <a:endParaRPr lang="ar-SA" sz="2200" dirty="0"/>
          </a:p>
        </p:txBody>
      </p:sp>
      <p:sp>
        <p:nvSpPr>
          <p:cNvPr id="39" name="Text 36"/>
          <p:cNvSpPr txBox="1"/>
          <p:nvPr/>
        </p:nvSpPr>
        <p:spPr>
          <a:xfrm>
            <a:off x="33101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now</a:t>
            </a:r>
            <a:endParaRPr lang="en-US" sz="1100" dirty="0"/>
          </a:p>
        </p:txBody>
      </p:sp>
      <p:sp>
        <p:nvSpPr>
          <p:cNvPr id="40" name="Text 37"/>
          <p:cNvSpPr txBox="1"/>
          <p:nvPr/>
        </p:nvSpPr>
        <p:spPr>
          <a:xfrm>
            <a:off x="548640" y="4110228"/>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الآنَ</a:t>
            </a:r>
            <a:endParaRPr lang="ar-SA" sz="24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سَنَبْدَأُ قَرِيبًا.</a:t>
            </a:r>
            <a:endParaRPr lang="ar-SA" sz="2200" dirty="0"/>
          </a:p>
        </p:txBody>
      </p:sp>
      <p:sp>
        <p:nvSpPr>
          <p:cNvPr id="45" name="Text 42"/>
          <p:cNvSpPr txBox="1"/>
          <p:nvPr/>
        </p:nvSpPr>
        <p:spPr>
          <a:xfrm>
            <a:off x="33101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soon</a:t>
            </a:r>
            <a:endParaRPr lang="en-US" sz="1100" dirty="0"/>
          </a:p>
        </p:txBody>
      </p:sp>
      <p:sp>
        <p:nvSpPr>
          <p:cNvPr id="46" name="Text 43"/>
          <p:cNvSpPr txBox="1"/>
          <p:nvPr/>
        </p:nvSpPr>
        <p:spPr>
          <a:xfrm>
            <a:off x="548640" y="4724400"/>
            <a:ext cx="25603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قَرِيبًا</a:t>
            </a:r>
            <a:endParaRPr lang="ar-SA" sz="24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أُصَلِّي دَائِمًا فِي الْمَسْجِدِ.</a:t>
            </a:r>
            <a:endParaRPr lang="ar-SA" sz="2200" dirty="0"/>
          </a:p>
        </p:txBody>
      </p:sp>
      <p:sp>
        <p:nvSpPr>
          <p:cNvPr id="49" name="Text 46"/>
          <p:cNvSpPr txBox="1"/>
          <p:nvPr/>
        </p:nvSpPr>
        <p:spPr>
          <a:xfrm>
            <a:off x="33101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always · often · sometimes · rarely</a:t>
            </a:r>
            <a:endParaRPr lang="en-US" sz="1100" dirty="0"/>
          </a:p>
        </p:txBody>
      </p:sp>
      <p:sp>
        <p:nvSpPr>
          <p:cNvPr id="50" name="Text 47"/>
          <p:cNvSpPr txBox="1"/>
          <p:nvPr/>
        </p:nvSpPr>
        <p:spPr>
          <a:xfrm>
            <a:off x="548640" y="5338572"/>
            <a:ext cx="2560320" cy="559308"/>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دَائِمًا · غَالِبًا · أَحْيَانًا · نَادِرًا</a:t>
            </a:r>
            <a:endParaRPr lang="ar-SA" sz="1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both orders are possible — fronting the time word (tomorrow I will go …) highlights the time; putting it later sounds neutral.</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ADVERBS AND EXPRESSIONS OF PLACE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Where? — alone, or + a genitive noun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ظُرُوفُ الْمَكَانِ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Some place words stand alone: here, there, inside, outside (website).</a:t>
            </a:r>
            <a:endParaRPr lang="en-US" sz="1300" dirty="0"/>
          </a:p>
        </p:txBody>
      </p:sp>
      <p:sp>
        <p:nvSpPr>
          <p:cNvPr id="20" name="Shape 17"/>
          <p:cNvSpPr/>
          <p:nvPr/>
        </p:nvSpPr>
        <p:spPr>
          <a:xfrm>
            <a:off x="658368" y="3094330"/>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9433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84602"/>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Others need a noun to complete the location: on, under, in front of, behind, between (website).</a:t>
            </a:r>
            <a:endParaRPr lang="en-US" sz="1300" dirty="0"/>
          </a:p>
        </p:txBody>
      </p:sp>
      <p:sp>
        <p:nvSpPr>
          <p:cNvPr id="23" name="Shape 20"/>
          <p:cNvSpPr/>
          <p:nvPr/>
        </p:nvSpPr>
        <p:spPr>
          <a:xfrm>
            <a:off x="658368" y="3902659"/>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90265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79293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noun after these place words is GENITIVE, like an iḍāfa (website).</a:t>
            </a:r>
            <a:endParaRPr lang="en-US" sz="1300" dirty="0"/>
          </a:p>
        </p:txBody>
      </p:sp>
      <p:sp>
        <p:nvSpPr>
          <p:cNvPr id="26" name="Shape 23"/>
          <p:cNvSpPr/>
          <p:nvPr/>
        </p:nvSpPr>
        <p:spPr>
          <a:xfrm>
            <a:off x="658368" y="471098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71098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601261"/>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 the bag is under the chair = taḥta l-kursiyyi, with -i.</a:t>
            </a:r>
            <a:endParaRPr lang="en-US" sz="1300" dirty="0"/>
          </a:p>
        </p:txBody>
      </p:sp>
      <p:sp>
        <p:nvSpPr>
          <p:cNvPr id="29" name="Shape 26"/>
          <p:cNvSpPr/>
          <p:nvPr/>
        </p:nvSpPr>
        <p:spPr>
          <a:xfrm>
            <a:off x="658368" y="5519318"/>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551931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5409590"/>
            <a:ext cx="5394960" cy="771754"/>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Website warning: not fawqa ṭ-ṭāwilatu, but fawqa ṭ-ṭāwilati.</a:t>
            </a:r>
            <a:endParaRPr lang="en-US" sz="1300" dirty="0"/>
          </a:p>
        </p:txBody>
      </p:sp>
      <p:sp>
        <p:nvSpPr>
          <p:cNvPr id="32" name="Shape 29"/>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أَسْكُنُ هُنَا، وَلَكِنَّ مَدْرَسَتِي هُنَاكَ.</a:t>
            </a:r>
            <a:endParaRPr lang="ar-SA" sz="2650" dirty="0"/>
          </a:p>
        </p:txBody>
      </p:sp>
      <p:sp>
        <p:nvSpPr>
          <p:cNvPr id="35" name="Text 32"/>
          <p:cNvSpPr txBox="1"/>
          <p:nvPr/>
        </p:nvSpPr>
        <p:spPr>
          <a:xfrm>
            <a:off x="6949440" y="2765511"/>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live here, but my school is there.  ·  website · stand-alone</a:t>
            </a:r>
            <a:endParaRPr lang="en-US" sz="1100" dirty="0"/>
          </a:p>
        </p:txBody>
      </p:sp>
      <p:sp>
        <p:nvSpPr>
          <p:cNvPr id="36" name="Shape 33"/>
          <p:cNvSpPr/>
          <p:nvPr/>
        </p:nvSpPr>
        <p:spPr>
          <a:xfrm>
            <a:off x="6995160" y="3195828"/>
            <a:ext cx="4553712" cy="0"/>
          </a:xfrm>
          <a:prstGeom prst="line">
            <a:avLst/>
          </a:prstGeom>
          <a:noFill/>
          <a:ln w="9525">
            <a:solidFill>
              <a:srgbClr val="E4DCCB"/>
            </a:solidFill>
            <a:prstDash val="dash"/>
          </a:ln>
        </p:spPr>
      </p:sp>
      <p:sp>
        <p:nvSpPr>
          <p:cNvPr id="37" name="Text 34"/>
          <p:cNvSpPr txBox="1"/>
          <p:nvPr/>
        </p:nvSpPr>
        <p:spPr>
          <a:xfrm>
            <a:off x="6949440" y="3214116"/>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فَوْقَ الطَّاوِلَةِ · تَحْتَ الْكُرْسِيِّ</a:t>
            </a:r>
            <a:endParaRPr lang="ar-SA" sz="2650" dirty="0"/>
          </a:p>
        </p:txBody>
      </p:sp>
      <p:sp>
        <p:nvSpPr>
          <p:cNvPr id="38" name="Text 35"/>
          <p:cNvSpPr txBox="1"/>
          <p:nvPr/>
        </p:nvSpPr>
        <p:spPr>
          <a:xfrm>
            <a:off x="6949440" y="3785067"/>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table · under the chair  ·  website</a:t>
            </a:r>
            <a:endParaRPr lang="en-US" sz="1100" dirty="0"/>
          </a:p>
        </p:txBody>
      </p:sp>
      <p:sp>
        <p:nvSpPr>
          <p:cNvPr id="39" name="Shape 36"/>
          <p:cNvSpPr/>
          <p:nvPr/>
        </p:nvSpPr>
        <p:spPr>
          <a:xfrm>
            <a:off x="6995160" y="4215384"/>
            <a:ext cx="4553712" cy="0"/>
          </a:xfrm>
          <a:prstGeom prst="line">
            <a:avLst/>
          </a:prstGeom>
          <a:noFill/>
          <a:ln w="9525">
            <a:solidFill>
              <a:srgbClr val="E4DCCB"/>
            </a:solidFill>
            <a:prstDash val="dash"/>
          </a:ln>
        </p:spPr>
      </p:sp>
      <p:sp>
        <p:nvSpPr>
          <p:cNvPr id="40" name="Text 37"/>
          <p:cNvSpPr txBox="1"/>
          <p:nvPr/>
        </p:nvSpPr>
        <p:spPr>
          <a:xfrm>
            <a:off x="6949440" y="4233672"/>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أَمَامَ الْمَدْرَسَةِ · خَلْفَ الْبَيْتِ</a:t>
            </a:r>
            <a:endParaRPr lang="ar-SA" sz="2650" dirty="0"/>
          </a:p>
        </p:txBody>
      </p:sp>
      <p:sp>
        <p:nvSpPr>
          <p:cNvPr id="41" name="Text 38"/>
          <p:cNvSpPr txBox="1"/>
          <p:nvPr/>
        </p:nvSpPr>
        <p:spPr>
          <a:xfrm>
            <a:off x="6949440" y="4804623"/>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front of the school · behind the house  ·  website</a:t>
            </a:r>
            <a:endParaRPr lang="en-US" sz="1100" dirty="0"/>
          </a:p>
        </p:txBody>
      </p:sp>
      <p:sp>
        <p:nvSpPr>
          <p:cNvPr id="42" name="Shape 39"/>
          <p:cNvSpPr/>
          <p:nvPr/>
        </p:nvSpPr>
        <p:spPr>
          <a:xfrm>
            <a:off x="6995160" y="5234940"/>
            <a:ext cx="4553712" cy="0"/>
          </a:xfrm>
          <a:prstGeom prst="line">
            <a:avLst/>
          </a:prstGeom>
          <a:noFill/>
          <a:ln w="9525">
            <a:solidFill>
              <a:srgbClr val="E4DCCB"/>
            </a:solidFill>
            <a:prstDash val="dash"/>
          </a:ln>
        </p:spPr>
      </p:sp>
      <p:sp>
        <p:nvSpPr>
          <p:cNvPr id="43" name="Text 40"/>
          <p:cNvSpPr txBox="1"/>
          <p:nvPr/>
        </p:nvSpPr>
        <p:spPr>
          <a:xfrm>
            <a:off x="6949440" y="5253228"/>
            <a:ext cx="464515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بَيْنَ الْمَكْتَبَيْنِ</a:t>
            </a:r>
            <a:endParaRPr lang="ar-SA" sz="2650" dirty="0"/>
          </a:p>
        </p:txBody>
      </p:sp>
      <p:sp>
        <p:nvSpPr>
          <p:cNvPr id="44" name="Text 41"/>
          <p:cNvSpPr txBox="1"/>
          <p:nvPr/>
        </p:nvSpPr>
        <p:spPr>
          <a:xfrm>
            <a:off x="6949440" y="5824179"/>
            <a:ext cx="464515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between the two desks  ·  website · dual genitive</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3 · ADVERBS OF MANNER (WEBSITE)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 and adjective vs adverb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يَحْدُثُ الْفِعْلُ؟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well · quickly · suddenly · together</a:t>
            </a:r>
            <a:endParaRPr lang="en-US" sz="1100" dirty="0"/>
          </a:p>
        </p:txBody>
      </p:sp>
      <p:sp>
        <p:nvSpPr>
          <p:cNvPr id="21" name="Text 18"/>
          <p:cNvSpPr txBox="1"/>
          <p:nvPr/>
        </p:nvSpPr>
        <p:spPr>
          <a:xfrm>
            <a:off x="3291840" y="2267712"/>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جَيِّدًا · سَرِيعًا · فَجْأَةً · مَعًا</a:t>
            </a:r>
            <a:endParaRPr lang="ar-SA" sz="24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single word in -an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slowly · calmly · clearly · carefully</a:t>
            </a:r>
            <a:endParaRPr lang="en-US" sz="1100" dirty="0"/>
          </a:p>
        </p:txBody>
      </p:sp>
      <p:sp>
        <p:nvSpPr>
          <p:cNvPr id="27" name="Text 24"/>
          <p:cNvSpPr txBox="1"/>
          <p:nvPr/>
        </p:nvSpPr>
        <p:spPr>
          <a:xfrm>
            <a:off x="3291840" y="300471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بِبُطْءٍ · بِهُدُوءٍ · بِوُضُوحٍ · بِعِنَايَةٍ</a:t>
            </a:r>
            <a:endParaRPr lang="ar-SA" sz="24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noun</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 (he / she)</a:t>
            </a:r>
            <a:endParaRPr lang="en-US" sz="1100" dirty="0"/>
          </a:p>
        </p:txBody>
      </p:sp>
      <p:sp>
        <p:nvSpPr>
          <p:cNvPr id="31" name="Text 28"/>
          <p:cNvSpPr txBox="1"/>
          <p:nvPr/>
        </p:nvSpPr>
        <p:spPr>
          <a:xfrm>
            <a:off x="3291840" y="3741725"/>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وَحْدَهُ · وَحْدَهَا</a:t>
            </a:r>
            <a:endParaRPr lang="ar-SA" sz="2400" dirty="0"/>
          </a:p>
        </p:txBody>
      </p:sp>
      <p:sp>
        <p:nvSpPr>
          <p:cNvPr id="32" name="Text 29"/>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fast car</a:t>
            </a:r>
            <a:endParaRPr lang="en-US" sz="1100" dirty="0"/>
          </a:p>
        </p:txBody>
      </p:sp>
      <p:sp>
        <p:nvSpPr>
          <p:cNvPr id="35" name="Text 32"/>
          <p:cNvSpPr txBox="1"/>
          <p:nvPr/>
        </p:nvSpPr>
        <p:spPr>
          <a:xfrm>
            <a:off x="3291840" y="4478731"/>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سَيَّارَةٌ سَرِيعَةٌ</a:t>
            </a:r>
            <a:endParaRPr lang="ar-SA" sz="2400" dirty="0"/>
          </a:p>
        </p:txBody>
      </p:sp>
      <p:sp>
        <p:nvSpPr>
          <p:cNvPr id="36" name="Text 33"/>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(describes a noun)</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 moves fast.</a:t>
            </a:r>
            <a:endParaRPr lang="en-US" sz="1100" dirty="0"/>
          </a:p>
        </p:txBody>
      </p:sp>
      <p:sp>
        <p:nvSpPr>
          <p:cNvPr id="41" name="Text 38"/>
          <p:cNvSpPr txBox="1"/>
          <p:nvPr/>
        </p:nvSpPr>
        <p:spPr>
          <a:xfrm>
            <a:off x="3291840" y="5215738"/>
            <a:ext cx="4389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تَسِيرُ السَّيَّارَةُ سَرِيعًا.</a:t>
            </a:r>
            <a:endParaRPr lang="ar-SA" sz="24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ADVERB (describes an action)</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adjective agrees with its noun; the adverb describes the verb and does not agree with anything.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studying now.”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 غَدًا.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سَأَدْرُسُ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 الآنَ.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travelled yesterday.”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سَافَرْنَا أَمْسِ.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سَنُسَافِرُ أَمْسِ.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نُسَافِرُ غَدًا.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الْحَقِيبَةُ ___ الْكُرْسِيِّ.</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reads well.”</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جَيِّدًا.</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قَارِئَةٌ جَيِّدَةٌ.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تَقْرَأُ جَيِّدَةٌ.</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studying now.”</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 غَدًا.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سَأَدْرُسُ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أَدْرُسُ الآنَ.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Al-āna (now) places the action in the present.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travelled yesterday.”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سَافَرْنَا أَمْسِ.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سَنُسَافِرُ أَمْسِ.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نُسَافِرُ غَدًا.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Amsi (yesterday) goes with the past tense.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الْحَقِيبَةُ ___ الْكُرْسِيِّ.</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سَرِيعًا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Taḥta gives the location; the chair is genitive.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reads well.”</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تَقْرَأُ جَيِّدًا.</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قَارِئَةٌ جَيِّدَةٌ.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تَقْرَأُ جَيِّدَةٌ.</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Jayyidan describes the reading action.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answer when, where and how</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أَدْرُسُ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happens?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أَدْرُسُ مَسَاءً</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Time: in the evening.</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غُرْفَتِي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Place phrase.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بِهُدُوءٍ</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Manner: calmly.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WHEN / WHERE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ea typeface="Amiri" pitchFamily="2" charset="-78"/>
                <a:cs typeface="Amiri" pitchFamily="2" charset="-78"/>
              </a:rPr>
              <a:t>مَسَاءً</a:t>
            </a:r>
            <a:pPr rtl="1" algn="r" indent="0" marL="0">
              <a:buNone/>
            </a:pPr>
            <a:r>
              <a:rPr lang="ar-SA" altLang="en-US" sz="2600" b="1" dirty="0">
                <a:solidFill>
                  <a:srgbClr val="1B3B6F"/>
                </a:solidFill>
                <a:latin typeface="Amiri" pitchFamily="2" charset="-78"/>
                <a:ea typeface="Amiri" pitchFamily="2" charset="-78"/>
                <a:cs typeface="Amiri" pitchFamily="2" charset="-78"/>
              </a:rPr>
              <a:t> أَدْرُسُ </a:t>
            </a:r>
            <a:pPr rtl="1" algn="r" indent="0" marL="0">
              <a:buNone/>
            </a:pPr>
            <a:r>
              <a:rPr lang="ar-SA" altLang="en-US" sz="2600" b="1" dirty="0">
                <a:solidFill>
                  <a:srgbClr val="0E7C86"/>
                </a:solidFill>
                <a:latin typeface="Amiri" pitchFamily="2" charset="-78"/>
                <a:ea typeface="Amiri" pitchFamily="2" charset="-78"/>
                <a:cs typeface="Amiri" pitchFamily="2" charset="-78"/>
              </a:rPr>
              <a:t>هُنَا فِي غُرْفَتِي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بِهُدُوءٍ</a:t>
            </a:r>
            <a:pPr rtl="1" algn="r" indent="0" marL="0">
              <a:buNone/>
            </a:pPr>
            <a:r>
              <a:rPr lang="ar-SA" altLang="en-US" sz="2600" b="1" dirty="0">
                <a:solidFill>
                  <a:srgbClr val="1B3B6F"/>
                </a:solidFill>
                <a:latin typeface="Amiri" pitchFamily="2" charset="-78"/>
                <a:ea typeface="Amiri" pitchFamily="2" charset="-78"/>
                <a:cs typeface="Amiri" pitchFamily="2" charset="-78"/>
              </a:rPr>
              <a:t>، وَ</a:t>
            </a:r>
            <a:pPr rtl="1" algn="r" indent="0" marL="0">
              <a:buNone/>
            </a:pPr>
            <a:r>
              <a:rPr lang="ar-SA" altLang="en-US" sz="2600" b="1" dirty="0">
                <a:solidFill>
                  <a:srgbClr val="0E7C86"/>
                </a:solidFill>
                <a:latin typeface="Amiri" pitchFamily="2" charset="-78"/>
                <a:ea typeface="Amiri" pitchFamily="2" charset="-78"/>
                <a:cs typeface="Amiri" pitchFamily="2" charset="-78"/>
              </a:rPr>
              <a:t>غَدًا</a:t>
            </a:r>
            <a:pPr rtl="1" algn="r" indent="0" marL="0">
              <a:buNone/>
            </a:pPr>
            <a:r>
              <a:rPr lang="ar-SA" altLang="en-US" sz="2600" b="1" dirty="0">
                <a:solidFill>
                  <a:srgbClr val="1B3B6F"/>
                </a:solidFill>
                <a:latin typeface="Amiri" pitchFamily="2" charset="-78"/>
                <a:ea typeface="Amiri" pitchFamily="2" charset="-78"/>
                <a:cs typeface="Amiri" pitchFamily="2" charset="-78"/>
              </a:rPr>
              <a:t> سَأَدْرُسُ </a:t>
            </a:r>
            <a:pPr rtl="1" algn="r" indent="0" marL="0">
              <a:buNone/>
            </a:pPr>
            <a:r>
              <a:rPr lang="ar-SA" altLang="en-US" sz="2600" b="1" dirty="0">
                <a:solidFill>
                  <a:srgbClr val="D6336C"/>
                </a:solidFill>
                <a:latin typeface="Amiri" pitchFamily="2" charset="-78"/>
                <a:ea typeface="Amiri" pitchFamily="2" charset="-78"/>
                <a:cs typeface="Amiri" pitchFamily="2" charset="-78"/>
              </a:rPr>
              <a:t>مَعَ صَدِيقِي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فِي الْمَكْتَبَةِ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the evening I study here in my room calmly, and tomorrow I will study with my friend in the library.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أَسْتَيْقِظُ مُبَكِّرًا كُلَّ يَوْمٍ.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wake up early every day.</a:t>
            </a:r>
            <a:endParaRPr lang="en-US" sz="1250" dirty="0"/>
          </a:p>
          <a:p>
            <a:pPr indent="0" marL="0">
              <a:buNone/>
            </a:pPr>
            <a:r>
              <a:rPr lang="en-US" sz="1050" i="1" dirty="0">
                <a:solidFill>
                  <a:srgbClr val="8A6D1E"/>
                </a:solidFill>
                <a:latin typeface="Calibri" pitchFamily="34" charset="0"/>
                <a:cs typeface="Amiri" pitchFamily="2" charset="-78"/>
              </a:rPr>
              <a:t>Website reading text.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الْحَقِيبَةُ تَحْتَ الْكُرْسِيِّ.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bag is under the chair.</a:t>
            </a:r>
            <a:endParaRPr lang="en-US" sz="1250" dirty="0"/>
          </a:p>
          <a:p>
            <a:pPr indent="0" marL="0">
              <a:buNone/>
            </a:pPr>
            <a:r>
              <a:rPr lang="en-US" sz="1050" i="1" dirty="0">
                <a:solidFill>
                  <a:srgbClr val="8A6D1E"/>
                </a:solidFill>
                <a:latin typeface="Calibri" pitchFamily="34" charset="0"/>
                <a:cs typeface="Amiri" pitchFamily="2" charset="-78"/>
              </a:rPr>
              <a:t>Place + genitive.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تَكَلَّمَتِ الْمُعَلِّمَةُ بِوُضُوحٍ.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teacher spoke clearly.</a:t>
            </a:r>
            <a:endParaRPr lang="en-US" sz="1250" dirty="0"/>
          </a:p>
          <a:p>
            <a:pPr indent="0" marL="0">
              <a:buNone/>
            </a:pPr>
            <a:r>
              <a:rPr lang="en-US" sz="1050" i="1" dirty="0">
                <a:solidFill>
                  <a:srgbClr val="8A6D1E"/>
                </a:solidFill>
                <a:latin typeface="Calibri" pitchFamily="34" charset="0"/>
                <a:cs typeface="Amiri" pitchFamily="2" charset="-78"/>
              </a:rPr>
              <a:t>Manner phrase.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أَحْيَانًا نَأْكُلُ مَعًا فِي الْمَطْعَمِ.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Sometimes we eat together at the restaurant.</a:t>
            </a:r>
            <a:endParaRPr lang="en-US" sz="1250" dirty="0"/>
          </a:p>
          <a:p>
            <a:pPr indent="0" marL="0">
              <a:buNone/>
            </a:pPr>
            <a:r>
              <a:rPr lang="en-US" sz="1050" i="1" dirty="0">
                <a:solidFill>
                  <a:srgbClr val="8A6D1E"/>
                </a:solidFill>
                <a:latin typeface="Calibri" pitchFamily="34" charset="0"/>
                <a:cs typeface="Amiri" pitchFamily="2" charset="-78"/>
              </a:rPr>
              <a:t>Frequency + manner + place.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WHEN, WHERE OR HOW? (WEBSITE GAME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 place or manner?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مَتَى؟ أَيْنَ؟ كَيْفَ؟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بِهُدُوءٍ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الآنَ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 الْكُرْسِيِّ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جَيِّدًا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فَوْقَ الْمَكْتَبِ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When?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Where? (place)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(manner)</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When?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غَدًا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الآنَ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Where? (place)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تَحْتَ الْكُرْسِيِّ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فَوْقَ الْمَكْتَبِ</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How? (manner)</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بِهُدُوءٍ</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جَيِّدًا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قِطَارٌ سَرِيعًا.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Noun or action?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الْحَقِيبَةُ تَحْتَ الْكُرْسِيُّ.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follows taḥta?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تَكَلَّمَ جَيِّدٌ.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did he speak?</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قِطَارٌ سَرِيعًا.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قِطَارٌ سَرِيعٌ.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Describing a noun → adjective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الْحَقِيبَةُ تَحْتَ الْكُرْسِيُّ.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الْحَقِيبَةُ تَحْتَ الْكُرْسِيِّ.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Genitive after a place word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تَكَلَّمَ جَيِّدٌ.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تَكَلَّمَ جَيِّدًا.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Describing an action → adverb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MASTERY CHECK QUESTIONS 4, 5, 7 AND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child runs quickly.”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الطِّفْلُ سَرِيعٌ.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يَرْكُضُ الطِّفْلُ سَرِيعَةٌ.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يَرْكُضُ الطِّفْلُ سَرِيعًا.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fast child”.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الطِّفْلُ سَرِيعًا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الطِّفْلُ السَّرِيعُ</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يَرْكُضُ سَرِيعٌ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الصُّورَةُ ___ الْمَكْتَبِ.</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جَيِّدًا</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correctly constructed?</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الطَّاوِلَةُ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الطَّاوِلَةَ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الطَّاوِلَةِ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child runs quickly.”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الطِّفْلُ سَرِيعٌ.</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يَرْكُضُ الطِّفْلُ سَرِيعَةٌ.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يَرْكُضُ الطِّفْلُ سَرِيعًا.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manner form sarīʿan for “runs quickly”.</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fast child”.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الطِّفْلُ سَرِيعًا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الطِّفْلُ السَّرِيعُ</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يَرْكُضُ سَرِيعٌ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follows and agrees with the noun.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الصُّورَةُ ___ الْمَكْتَبِ.</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جَيِّدًا</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فَوْقَ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Fawqa gives the location.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correctly constructed?</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 الطَّاوِلَةُ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 الطَّاوِلَةَ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 الطَّاوِلَةِ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after the place word is genitive.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E6B52"/>
                </a:solidFill>
                <a:latin typeface="Calibri" pitchFamily="34" charset="0"/>
                <a:cs typeface="Amiri" pitchFamily="2" charset="-78"/>
              </a:rPr>
              <a:t>YOU DO · READ AND NOTICE · WEBSITE READING DETECTIVE, EXTENDED BY THE TEACHER</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study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أَسْتَيْقِظُ مُبَكِّرًا كُلَّ يَوْمٍ. أَدْرُسُ هُنَا فِي غُرْفَتِي، وَأَكْتُبُ وَاجِبِي بِعِنَايَةٍ. غَدًا سَأَدْرُسُ مَعَ صَدِيقَتِي هُنَاكَ فِي الْمَكْتَبَةِ. أَحْيَانًا نَقْرَأُ بِصَوْتٍ عَالٍ، وَلَكِنَّ الْمَكْتَبَةَ هَادِئَةٌ دَائِمًا.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wake up</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مُبَكِّرًا</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early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وَاجِبِي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homework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بِعِنَايَةٍ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carefully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سَأَدْرُسُ</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study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بِصَوْتٍ عَالٍ</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aloud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هَادِئَةٌ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early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write her homework?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quickly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together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carefully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she study tomorrow?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library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her 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frequency adverb?</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أَحْيَانًا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بِعِنَايَةٍ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writer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early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night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مُبَكِّرًا</a:t>
            </a:r>
            <a:pPr algn="l" indent="0" marL="0">
              <a:buNone/>
            </a:pPr>
            <a:r>
              <a:rPr lang="en-US" sz="1050" i="1" dirty="0">
                <a:solidFill>
                  <a:srgbClr val="8A6D1E"/>
                </a:solidFill>
                <a:latin typeface="Calibri" pitchFamily="34" charset="0"/>
                <a:cs typeface="Amiri" pitchFamily="2" charset="-78"/>
              </a:rPr>
              <a:t> = early.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write her homework?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quickly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together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carefully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بِعِنَايَةٍ</a:t>
            </a:r>
            <a:pPr algn="l" indent="0" marL="0">
              <a:buNone/>
            </a:pPr>
            <a:r>
              <a:rPr lang="en-US" sz="1050" i="1" dirty="0">
                <a:solidFill>
                  <a:srgbClr val="8A6D1E"/>
                </a:solidFill>
                <a:latin typeface="Calibri" pitchFamily="34" charset="0"/>
                <a:cs typeface="Amiri" pitchFamily="2" charset="-78"/>
              </a:rPr>
              <a:t> = carefully.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she study tomorrow?</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library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her 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هُنَاكَ فِي الْمَكْتَبَةِ.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frequency adverb?</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أَحْيَانًا</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بِعِنَايَةٍ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Sometimes.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grid: when, where, how?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تَدْرُسُ؟ أَيْنَ تَدْرُسُ؟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تَدْرُسُ؟ (بِسُرْعَةٍ، بِهُدُوءٍ، مَعَ صَدِيقٍ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ثَلَاثَةَ أَعْمَالٍ: مَتَى وَأَيْنَ وَكَيْفَ؟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أَدْرُسُ ___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أَدْرُسُ ___ ، وَأَكْتُبُ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___ أُصَلِّي ___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وَأَيْنَ تَلْعَبُ كُرَةَ الْقَدَمِ؟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and where do you play football?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أَلْعَبُ أَحْيَانًا يَوْمَ السَّبْتِ فِي الْحَدِيقَةِ خَلْفَ الْبَيْتِ، وَأَلْعَبُ بِحَمَاسٍ!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sometimes play on Saturday in the park behind the house, and I play enthusiastically!</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sentences about your day, each with a time word.</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today, now, always, sometimes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place phrases with a genitive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 front of the school, behind the house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one ordinary day.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Vary the position of two time words; use bi- manner phrases.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حَقِيبَتِي تَحْتَ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bag is under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خَلْفَ ______ حَدِيقَةٌ.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garden behind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وَاجِبِي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 my homework carefully.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غَدًا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Tomorrow I will … (future verb)</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دَائِمًا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______ ، وَمَدْرَسَتِي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here, but my school is there.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أَكْتُبُ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write well.</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الْيَوْمَ  ·  أَمْسِ  ·  غَدًا  ·  الآنَ  ·  دَائِمًا  ·  أَحْيَانًا  ·  هُنَا  ·  هُنَاكَ  ·  أَمَامَ  ·  خَلْفَ  ·  تَحْتَ  ·  فَوْقَ  ·  جَيِّدًا  ·  بِسُرْعَةٍ  ·  بِعِنَايَةٍ  ·  مَعًا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task: 80–100 words about one ordinary day, with at least four time, three place and three manner expressions.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time expressions, two of them in different 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place expressions with correct genitive nouns.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manner expressions (one -an word, one bi- phrase).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No adjective used where an adverb is needed.</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Accurate verb forms for past, present and future.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الصَّبَاحِ</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morning</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 school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أَمَامَ الْبَيْتِ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front of the house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بِسُرْعَةٍ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بِعِنَايَةٍ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carefully</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عَائِلَتِي</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family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الْيَوْمَ أَسْتَيْقِظُ مُبَكِّرًا، ثُمَّ أُصَلِّي الْفَجْرَ مَعَ أَبِي فِي الْمَسْجِدِ أَمَامَ بَيْتِنَا. بَعْدَ ذَلِكَ آكُلُ الْفَطُورَ بِسُرْعَةٍ وَأَذْهَبُ إِلَى الْمَدْرَسَةِ. فِي الصَّفِّ أَجْلِسُ دَائِمًا قُرْبَ النَّافِذَةِ، وَأَسْتَمِعُ إِلَى الْمُعَلِّمِ بِهُدُوءٍ. مَسَاءً أَكْتُبُ وَاجِبِي بِعِنَايَةٍ هُنَا فِي غُرْفَتِي. غَدًا سَأَلْعَبُ مَعَ أَصْدِقَائِي خَلْفَ الْمَدْرَسَةِ.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Today I wake up early, then pray Fajr with my father in the mosque in front of our house. After that I eat breakfast quickly and go to school. In class I always sit near the window and listen to the teacher calmly. In the evening I write my homework carefully here in my room. Tomorrow I will play with my friends behind the school.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time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place + genitive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manner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fronted time word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time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here / there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Nouns after place words are genitive (-i).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Adverbs describe verbs; adjectives describe nouns.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moved a time word to the front for emphasis.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time adverb: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سَنَبْدَأُ قَرِيبًا.</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قَرِيبًا</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سَنَبْدَأُ</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place expression:</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الْمِفْتَاحُ تَحْتَ الْكِتَابِ.</a:t>
            </a:r>
            <a:endParaRPr lang="ar-SA" sz="15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الْمِفْتَاحُ</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الْكِتَابِ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فقط</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manner adverb:</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تَكَلَّمَتْ بِوُضُوحٍ.</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بِوُضُوحٍ</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تَكَلَّمَتْ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57" name="Shape 54"/>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9" name="Text 56"/>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time adverb:</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سَنَبْدَأُ قَرِيبًا.</a:t>
            </a:r>
            <a:endParaRPr lang="ar-SA" sz="15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قَرِيبًا</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سَنَبْدَأُ</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Qarīban means soon.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place expression:</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الْمِفْتَاحُ تَحْتَ الْكِتَابِ.</a:t>
            </a:r>
            <a:endParaRPr lang="ar-SA" sz="15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الْمِفْتَاحُ</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تَحْتَ الْكِتَابِ</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فقط</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whole phrase tells where the key is.</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Identify the manner adverb:</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تَكَلَّمَتْ بِوُضُوحٍ.</a:t>
            </a:r>
            <a:endParaRPr lang="ar-SA" sz="1500" dirty="0"/>
          </a:p>
        </p:txBody>
      </p:sp>
      <p:sp>
        <p:nvSpPr>
          <p:cNvPr id="52" name="Shape 49"/>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5328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بِوُضُوحٍ</a:t>
            </a:r>
            <a:endParaRPr lang="ar-SA" sz="2050" dirty="0"/>
          </a:p>
        </p:txBody>
      </p:sp>
      <p:sp>
        <p:nvSpPr>
          <p:cNvPr id="56" name="Shape 53"/>
          <p:cNvSpPr/>
          <p:nvPr/>
        </p:nvSpPr>
        <p:spPr>
          <a:xfrm>
            <a:off x="8278368" y="29900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تَكَلَّمَتْ</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a:t>
            </a:r>
            <a:endParaRPr lang="ar-SA" sz="2050" dirty="0"/>
          </a:p>
        </p:txBody>
      </p:sp>
      <p:sp>
        <p:nvSpPr>
          <p:cNvPr id="62" name="Text 59"/>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Bi-wuḍūḥin tells how she spoke.</a:t>
            </a:r>
            <a:endParaRPr lang="en-US" sz="1050" dirty="0"/>
          </a:p>
        </p:txBody>
      </p:sp>
      <p:sp>
        <p:nvSpPr>
          <p:cNvPr id="63" name="Shape 60"/>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5" name="Text 62"/>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GM-ADV-01 · Adverbs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GM-ADV-02: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Adverbs · GM-ADV-01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GM-ADV-02 · Time Frames with Adverbs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الْمَاضِيَ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last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الْآنَ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الْقَادِمَ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next week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سَـ / سَوْفَ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will (future)</a:t>
            </a:r>
            <a:pPr indent="0" marL="0">
              <a:buNone/>
            </a:pPr>
            <a:r>
              <a:rPr lang="ar-SA" sz="1000" i="1" dirty="0">
                <a:solidFill>
                  <a:srgbClr val="5A6472"/>
                </a:solidFill>
                <a:latin typeface="Amiri" pitchFamily="2" charset="-78"/>
                <a:ea typeface="Amiri" pitchFamily="2" charset="-78"/>
                <a:cs typeface="Amiri" pitchFamily="2" charset="-78"/>
              </a:rPr>
              <a:t>  سَأَدْرُسُ</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كُلَّ يَوْمٍ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every day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tense goes with “last week”, “now” and “next week”? Write one verb for each.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الْأُسْبُوعَ الْمَاضِيَ دَرَسْتُ — الْآنَ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sentences: one adverb in each.</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Draw your room and label five place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one ordinary day (80–100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GM-ADV-01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GM-ADV-02 · Time Frames with Adverbs</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الظُّرُوفُ وَالْأُطُرُ الزَّمَنِيَّةُ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adverbs answer when, where and how · place word + genitive noun · adjective describes a noun, adverb describes an action · front a time word to stress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GM-ADV-01 · Common Adverbs of Time, Place and Manner</dc:title>
  <dc:subject>PptxGenJS Presentation</dc:subject>
  <dc:creator>Al Madina Online School · Arabic Department</dc:creator>
  <cp:lastModifiedBy>Al Madina Online School · Arabic Department</cp:lastModifiedBy>
  <cp:revision>1</cp:revision>
  <dcterms:created xsi:type="dcterms:W3CDTF">2026-10-11T06:42:04Z</dcterms:created>
  <dcterms:modified xsi:type="dcterms:W3CDTF">2026-10-11T06:42:04Z</dcterms:modified>
</cp:coreProperties>
</file>