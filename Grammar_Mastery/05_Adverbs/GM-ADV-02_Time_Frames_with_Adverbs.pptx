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Adverbs › GM-ADV-02 (“Time Frames with Adverbs”).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match past / present / future verbs with أَمْسِ · الآنَ · غَدًا. Develop: habitual present (كُلَّ يَوْمٍ · مَرَّتَيْنِ فِي الْأُسْبُوعِ) and three time frames in one answer. Stretch: past habit (كُنْتُ أَدْرُسُ), سَوْفَ and future negative لَنْ + subjunctive (لَنْ أَتَأَخَّرَ).
• Website key principle: the time expression does NOT replace the tense. Students often write سَأَدْرُسُ أَمْسِ — use the repair routine.
• Exam value: Cambridge speaking questions switch frames (“What did you do last weekend? What will you do next weekend?”) — this lesson trains that switch.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1–4 and 6) — it uses the time words prepared at the end of GM-ADV-01.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verb and the time word work TOGETHER: past + yesterday, present + now, sa- + verb +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PART 1 (3 min) — website “Past time frame”. Develop / Stretch: كُنْتُ أَدْرُسُ = “I used to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“Present and habitual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“Future time frame”. Stretch: after lan, the verb ends in fatḥa (atakhkhara), never ḍamma.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Past, Present and Future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This is the website reading timeline. Draw three columns (past / present / future) and place each verb with its time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“listening switch” as a sort: students type PAST, NOW or FUTURE, then say one verb that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“listening switch” as a sort: students type PAST, NOW or FUTURE, then say one verb that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“tense-time repair”. Cover columns 2–3; students offer both repairs.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three-time-frame mastery questions 3, 5, 6 and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timeline, extended by the teacher. Read it aloud once while students follow; then they hunt for today’s grammar.
Task: Website: build a three-column timeline and copy each verb with its time expression.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topic conversation. Sequence: ● 10s think → ↔ 45s rehearse aloud with mic muted → ◎ two named students on open mic (warned in advance) → + ? the class types one follow-up in chat → ↺ one student summarises.
Routes: Core uses the Core prompt and stem; Develop the Develop prompt; Stretch the last prompt.
Website: answer the three questions with two developed sentences each. Listen for verb–time matching in each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100–120 words about your learning, leisure or travel: a completed past event, a present routine and at least two future plans.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paragraph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(GM-ADV-03 · Adverb + Noun: Prepositional Phrases) will spend class time USING this language, so students prepare it tonight — short, simple, easy to access (school guidance: “Simple, Short, Interesting, Relevant, Easy to access”). The five words prepare GM-ADV-03 (website Adverbs lesson 3: prepositional phrases).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ADVERBS  ·  GM-ADV-02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GM-ADV-02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Time Frames with Adverbs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الظُّرُوفُ وَالْأُطُرُ الزَّمَنِيَّةُ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time word does not replace the tense — the verb and the time word must match. Past verb + yesterday; present verb + now / every day; sa- or sawfa + present verb + tomorrow; lan + verb for “will not”.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GM-ADV-02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Past, present / habitual, future; tense and time together.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by time frame; repair mismatches.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GM-ADV-03.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 clear past time frame.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أُسَافِرُ الآنَ.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 أَمْسِ.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سَأُسَافِرُ غَدًا.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 clear future time frame.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سَأَزُورُهَا غَدًا.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زُرْتُهَا غَدًا.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أَزُورُهَا أَمْسِ.</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expression means “at the moment / currently”?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الْمُسْتَقْبَلِ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الأُسْبُوعَ الْمَاضِيَ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الْوَقْتِ الْحَالِيِّ</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a tense-time mismatch?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دَرَسْتُ أَمْسِ.</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الآنَ.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سَأَدْرُسُ أَمْسِ.</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clearest IGCSE answer for “I will travel tomorrow”?</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سَأُسَافِرُ غَدًا.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أُسَافِرُ غَدًا.</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سَافَرْتُ غَدًا.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 clear past time frame.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أُسَافِرُ الآنَ.</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سَافَرْتُ أَمْسِ.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سَأُسَافِرُ غَدًا.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verb + yesterday creates a clear past frame.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 clear future time frame.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سَأَزُورُهَا غَدًا.</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زُرْتُهَا غَدًا.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أَزُورُهَا أَمْسِ.</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 present verb + tomorrow gives a clear future.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expression means “at the moment / currently”?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الْمُسْتَقْبَلِ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الأُسْبُوعَ الْمَاضِيَ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الْوَقْتِ الْحَالِيِّ</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places the action in the present period.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a tense-time mismatch?</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دَرَسْتُ أَمْسِ.</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 الآنَ.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سَأَدْرُسُ أَمْسِ.</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Future sa- clashes with “yesterday”.</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clearest IGCSE answer for “I will travel tomorrow”?</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سَأُسَافِرُ غَدًا.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أُسَافِرُ غَدًا.</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سَافَرْتُ غَدًا.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makes the future explicit and unambiguous.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verb and the time word work TOGETHER: past + yesterday, present + now, sa- + verb + tomorrow.</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دَرَسْتُ</a:t>
            </a:r>
            <a:pPr rtl="1" algn="ctr" indent="0" marL="0">
              <a:buNone/>
            </a:pPr>
            <a:r>
              <a:rPr lang="ar-SA" altLang="en-US" sz="2400" b="1" dirty="0">
                <a:solidFill>
                  <a:srgbClr val="1B3B6F"/>
                </a:solidFill>
                <a:latin typeface="Amiri" pitchFamily="2" charset="-78"/>
                <a:ea typeface="Amiri" pitchFamily="2" charset="-78"/>
                <a:cs typeface="Amiri" pitchFamily="2" charset="-78"/>
              </a:rPr>
              <a:t> أَمْسِ ‖ </a:t>
            </a:r>
            <a:pPr rtl="1" algn="ctr" indent="0" marL="0">
              <a:buNone/>
            </a:pPr>
            <a:r>
              <a:rPr lang="ar-SA" altLang="en-US" sz="2400" b="1" dirty="0">
                <a:solidFill>
                  <a:srgbClr val="D6336C"/>
                </a:solidFill>
                <a:latin typeface="Amiri" pitchFamily="2" charset="-78"/>
                <a:ea typeface="Amiri" pitchFamily="2" charset="-78"/>
                <a:cs typeface="Amiri" pitchFamily="2" charset="-78"/>
              </a:rPr>
              <a:t>سَأَدْرُسُ</a:t>
            </a:r>
            <a:pPr rtl="1" algn="ctr" indent="0" marL="0">
              <a:buNone/>
            </a:pPr>
            <a:r>
              <a:rPr lang="ar-SA" altLang="en-US" sz="2400" b="1" dirty="0">
                <a:solidFill>
                  <a:srgbClr val="1B3B6F"/>
                </a:solidFill>
                <a:latin typeface="Amiri" pitchFamily="2" charset="-78"/>
                <a:ea typeface="Amiri" pitchFamily="2" charset="-78"/>
                <a:cs typeface="Amiri" pitchFamily="2" charset="-78"/>
              </a:rPr>
              <a:t> غَدًا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past, present and future verbs with suitable time expressions.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“happening now” from “happens regularly”.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the future with sa-, sawfa and lan.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Move between three time frames in one answer.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match yesterday, now and tomorrow to the right verb.</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I will travel tomorrow with sa-.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describe habits with every day / twice a week.</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answer in three time frames.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say I used to … with kuntu + present.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say I will not … with lan.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a:t>
            </a:r>
            <a:endParaRPr lang="en-US" sz="1350" dirty="0"/>
          </a:p>
          <a:p>
            <a:pPr indent="0" marL="0">
              <a:buNone/>
            </a:pPr>
            <a:r>
              <a:rPr lang="en-US" sz="1100" i="1" dirty="0">
                <a:solidFill>
                  <a:srgbClr val="5A6472"/>
                </a:solidFill>
                <a:latin typeface="Calibri" pitchFamily="34" charset="0"/>
                <a:cs typeface="Amiri" pitchFamily="2" charset="-78"/>
              </a:rPr>
              <a:t>al-mā-ḍī</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دَرَسْتُ أَمْسِ</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الْمُضَارِعُ</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 (verb form)</a:t>
            </a:r>
            <a:endParaRPr lang="en-US" sz="1350" dirty="0"/>
          </a:p>
          <a:p>
            <a:pPr indent="0" marL="0">
              <a:buNone/>
            </a:pPr>
            <a:r>
              <a:rPr lang="en-US" sz="1100" i="1" dirty="0">
                <a:solidFill>
                  <a:srgbClr val="5A6472"/>
                </a:solidFill>
                <a:latin typeface="Calibri" pitchFamily="34" charset="0"/>
                <a:cs typeface="Amiri" pitchFamily="2" charset="-78"/>
              </a:rPr>
              <a:t>al-mu-ḍā-ri-ʿu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أَدْرُسُ الآنَ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الْمُسْتَقْبَلُ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future</a:t>
            </a:r>
            <a:endParaRPr lang="en-US" sz="1350" dirty="0"/>
          </a:p>
          <a:p>
            <a:pPr indent="0" marL="0">
              <a:buNone/>
            </a:pPr>
            <a:r>
              <a:rPr lang="en-US" sz="1100" i="1" dirty="0">
                <a:solidFill>
                  <a:srgbClr val="5A6472"/>
                </a:solidFill>
                <a:latin typeface="Calibri" pitchFamily="34" charset="0"/>
                <a:cs typeface="Amiri" pitchFamily="2" charset="-78"/>
              </a:rPr>
              <a:t>al-mus-taq-ba-lu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سَأَدْرُسُ غَدًا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سَـ · سَوْفَ</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(future markers)</a:t>
            </a:r>
            <a:endParaRPr lang="en-US" sz="1350" dirty="0"/>
          </a:p>
          <a:p>
            <a:pPr indent="0" marL="0">
              <a:buNone/>
            </a:pPr>
            <a:r>
              <a:rPr lang="en-US" sz="1100" i="1" dirty="0">
                <a:solidFill>
                  <a:srgbClr val="5A6472"/>
                </a:solidFill>
                <a:latin typeface="Calibri" pitchFamily="34" charset="0"/>
                <a:cs typeface="Amiri" pitchFamily="2" charset="-78"/>
              </a:rPr>
              <a:t>sa- · sawfa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سَوْفَ نَبْدَأُ</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will not</a:t>
            </a:r>
            <a:endParaRPr lang="en-US" sz="1350" dirty="0"/>
          </a:p>
          <a:p>
            <a:pPr indent="0" marL="0">
              <a:buNone/>
            </a:pPr>
            <a:r>
              <a:rPr lang="en-US" sz="1100" i="1" dirty="0">
                <a:solidFill>
                  <a:srgbClr val="5A6472"/>
                </a:solidFill>
                <a:latin typeface="Calibri" pitchFamily="34" charset="0"/>
                <a:cs typeface="Amiri" pitchFamily="2" charset="-78"/>
              </a:rPr>
              <a:t>lan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لَنْ أَتَأَخَّرَ</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الْعَادَةُ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habit, routine</a:t>
            </a:r>
            <a:endParaRPr lang="en-US" sz="1350" dirty="0"/>
          </a:p>
          <a:p>
            <a:pPr indent="0" marL="0">
              <a:buNone/>
            </a:pPr>
            <a:r>
              <a:rPr lang="en-US" sz="1100" i="1" dirty="0">
                <a:solidFill>
                  <a:srgbClr val="5A6472"/>
                </a:solidFill>
                <a:latin typeface="Calibri" pitchFamily="34" charset="0"/>
                <a:cs typeface="Amiri" pitchFamily="2" charset="-78"/>
              </a:rPr>
              <a:t>al-ʿā-da-tu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كُلَّ يَوْمٍ</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PAST TIME FRAME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Completed — and used to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الزَّمَنُ الْمَاضِي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38221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Expression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583680" y="2267712"/>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لَعِبْتُ كُرَةَ الْقَدَمِ أَمْسِ.</a:t>
            </a:r>
            <a:endParaRPr lang="ar-SA" sz="2200" dirty="0"/>
          </a:p>
        </p:txBody>
      </p:sp>
      <p:sp>
        <p:nvSpPr>
          <p:cNvPr id="21" name="Text 18"/>
          <p:cNvSpPr txBox="1"/>
          <p:nvPr/>
        </p:nvSpPr>
        <p:spPr>
          <a:xfrm>
            <a:off x="385876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a:t>
            </a:r>
            <a:endParaRPr lang="en-US" sz="1100" dirty="0"/>
          </a:p>
        </p:txBody>
      </p:sp>
      <p:sp>
        <p:nvSpPr>
          <p:cNvPr id="22" name="Text 19"/>
          <p:cNvSpPr txBox="1"/>
          <p:nvPr/>
        </p:nvSpPr>
        <p:spPr>
          <a:xfrm>
            <a:off x="548640" y="2267712"/>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أَمْسِ</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583680" y="3004718"/>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وَصَلَتِ الرِّسَالَةُ أَوَّلَ أَمْسِ.</a:t>
            </a:r>
            <a:endParaRPr lang="ar-SA" sz="2200" dirty="0"/>
          </a:p>
        </p:txBody>
      </p:sp>
      <p:sp>
        <p:nvSpPr>
          <p:cNvPr id="27" name="Text 24"/>
          <p:cNvSpPr txBox="1"/>
          <p:nvPr/>
        </p:nvSpPr>
        <p:spPr>
          <a:xfrm>
            <a:off x="385876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day before yesterday</a:t>
            </a:r>
            <a:endParaRPr lang="en-US" sz="1100" dirty="0"/>
          </a:p>
        </p:txBody>
      </p:sp>
      <p:sp>
        <p:nvSpPr>
          <p:cNvPr id="28" name="Text 25"/>
          <p:cNvSpPr txBox="1"/>
          <p:nvPr/>
        </p:nvSpPr>
        <p:spPr>
          <a:xfrm>
            <a:off x="548640" y="3004718"/>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أَوَّلَ أَمْسِ</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583680" y="3741725"/>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زُرْنَا الْمَتْحَفَ فِي الْأُسْبُوعِ الْمَاضِي.</a:t>
            </a:r>
            <a:endParaRPr lang="ar-SA" sz="2200" dirty="0"/>
          </a:p>
        </p:txBody>
      </p:sp>
      <p:sp>
        <p:nvSpPr>
          <p:cNvPr id="33" name="Text 30"/>
          <p:cNvSpPr txBox="1"/>
          <p:nvPr/>
        </p:nvSpPr>
        <p:spPr>
          <a:xfrm>
            <a:off x="385876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a:t>
            </a:r>
            <a:endParaRPr lang="en-US" sz="1100" dirty="0"/>
          </a:p>
        </p:txBody>
      </p:sp>
      <p:sp>
        <p:nvSpPr>
          <p:cNvPr id="34" name="Text 31"/>
          <p:cNvSpPr txBox="1"/>
          <p:nvPr/>
        </p:nvSpPr>
        <p:spPr>
          <a:xfrm>
            <a:off x="548640" y="3741725"/>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الْأُسْبُوعِ الْمَاضِي</a:t>
            </a:r>
            <a:endParaRPr lang="ar-SA" sz="22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6583680" y="4478731"/>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انْتَقَلْنَا إِلَى هُنَا مُنْذُ سَنَةٍ.</a:t>
            </a:r>
            <a:endParaRPr lang="ar-SA" sz="2200" dirty="0"/>
          </a:p>
        </p:txBody>
      </p:sp>
      <p:sp>
        <p:nvSpPr>
          <p:cNvPr id="39" name="Text 36"/>
          <p:cNvSpPr txBox="1"/>
          <p:nvPr/>
        </p:nvSpPr>
        <p:spPr>
          <a:xfrm>
            <a:off x="385876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year ago / for a year</a:t>
            </a:r>
            <a:endParaRPr lang="en-US" sz="1100" dirty="0"/>
          </a:p>
        </p:txBody>
      </p:sp>
      <p:sp>
        <p:nvSpPr>
          <p:cNvPr id="40" name="Text 37"/>
          <p:cNvSpPr txBox="1"/>
          <p:nvPr/>
        </p:nvSpPr>
        <p:spPr>
          <a:xfrm>
            <a:off x="548640" y="4478731"/>
            <a:ext cx="31089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مُنْذُ سَنَةٍ</a:t>
            </a:r>
            <a:endParaRPr lang="ar-SA" sz="22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583680" y="5215738"/>
            <a:ext cx="50566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كُنْتُ أَدْرُسُ فِي الْمَسَاءِ.</a:t>
            </a:r>
            <a:endParaRPr lang="ar-SA" sz="2200" dirty="0"/>
          </a:p>
        </p:txBody>
      </p:sp>
      <p:sp>
        <p:nvSpPr>
          <p:cNvPr id="43" name="Text 40"/>
          <p:cNvSpPr txBox="1"/>
          <p:nvPr/>
        </p:nvSpPr>
        <p:spPr>
          <a:xfrm>
            <a:off x="385876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used to …</a:t>
            </a:r>
            <a:endParaRPr lang="en-US" sz="1100" dirty="0"/>
          </a:p>
        </p:txBody>
      </p:sp>
      <p:sp>
        <p:nvSpPr>
          <p:cNvPr id="44" name="Text 41"/>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كُنْتُ</a:t>
            </a:r>
            <a:pPr algn="l" indent="0" marL="0">
              <a:buNone/>
            </a:pPr>
            <a:r>
              <a:rPr lang="en-US" sz="1100" dirty="0">
                <a:solidFill>
                  <a:srgbClr val="5A6472"/>
                </a:solidFill>
                <a:latin typeface="Calibri" pitchFamily="34" charset="0"/>
                <a:cs typeface="Amiri" pitchFamily="2" charset="-78"/>
              </a:rPr>
              <a:t> + present verb</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expressions confirm that an event is completed (website). Stretch: kuntu + present verb = a past habit.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PRESENT AND HABITUAL TIME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Now — or every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الْحَاضِرُ وَالْعَادَةُ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Arabic present form can mean what is happening NOW or what happens REGULARLY (website).</a:t>
            </a:r>
            <a:endParaRPr lang="en-US" sz="1300" dirty="0"/>
          </a:p>
        </p:txBody>
      </p:sp>
      <p:sp>
        <p:nvSpPr>
          <p:cNvPr id="20" name="Shape 17"/>
          <p:cNvSpPr/>
          <p:nvPr/>
        </p:nvSpPr>
        <p:spPr>
          <a:xfrm>
            <a:off x="658368" y="3094330"/>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9433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8460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time words make the meaning clear: now, currently → happening now.</a:t>
            </a:r>
            <a:endParaRPr lang="en-US" sz="1300" dirty="0"/>
          </a:p>
        </p:txBody>
      </p:sp>
      <p:sp>
        <p:nvSpPr>
          <p:cNvPr id="23" name="Shape 20"/>
          <p:cNvSpPr/>
          <p:nvPr/>
        </p:nvSpPr>
        <p:spPr>
          <a:xfrm>
            <a:off x="658368" y="3902659"/>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90265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79293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Every day, twice a week, often, sometimes → a habit.</a:t>
            </a:r>
            <a:endParaRPr lang="en-US" sz="1300" dirty="0"/>
          </a:p>
        </p:txBody>
      </p:sp>
      <p:sp>
        <p:nvSpPr>
          <p:cNvPr id="26" name="Shape 23"/>
          <p:cNvSpPr/>
          <p:nvPr/>
        </p:nvSpPr>
        <p:spPr>
          <a:xfrm>
            <a:off x="658368" y="471098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71098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60126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the same verb can mean “I study” or “I am studying” (website).</a:t>
            </a:r>
            <a:endParaRPr lang="en-US" sz="1300" dirty="0"/>
          </a:p>
        </p:txBody>
      </p:sp>
      <p:sp>
        <p:nvSpPr>
          <p:cNvPr id="29" name="Shape 26"/>
          <p:cNvSpPr/>
          <p:nvPr/>
        </p:nvSpPr>
        <p:spPr>
          <a:xfrm>
            <a:off x="658368" y="5519318"/>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551931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5409590"/>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speaking, add a time phrase to turn a one-word answer into a developed one.</a:t>
            </a:r>
            <a:endParaRPr lang="en-US" sz="1300" dirty="0"/>
          </a:p>
        </p:txBody>
      </p:sp>
      <p:sp>
        <p:nvSpPr>
          <p:cNvPr id="32" name="Shape 29"/>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أَكْتُبُ الآنَ.</a:t>
            </a:r>
            <a:endParaRPr lang="ar-SA" sz="2650" dirty="0"/>
          </a:p>
        </p:txBody>
      </p:sp>
      <p:sp>
        <p:nvSpPr>
          <p:cNvPr id="35" name="Text 32"/>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am writing now.  ·  website · now</a:t>
            </a:r>
            <a:endParaRPr lang="en-US" sz="1100" dirty="0"/>
          </a:p>
        </p:txBody>
      </p:sp>
      <p:sp>
        <p:nvSpPr>
          <p:cNvPr id="36" name="Shape 33"/>
          <p:cNvSpPr/>
          <p:nvPr/>
        </p:nvSpPr>
        <p:spPr>
          <a:xfrm>
            <a:off x="6995160" y="3195828"/>
            <a:ext cx="4553712" cy="0"/>
          </a:xfrm>
          <a:prstGeom prst="line">
            <a:avLst/>
          </a:prstGeom>
          <a:noFill/>
          <a:ln w="9525">
            <a:solidFill>
              <a:srgbClr val="E4DCCB"/>
            </a:solidFill>
            <a:prstDash val="dash"/>
          </a:ln>
        </p:spPr>
      </p:sp>
      <p:sp>
        <p:nvSpPr>
          <p:cNvPr id="37" name="Text 34"/>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فِي الْوَقْتِ الْحَالِيِّ أَعْمَلُ مِنَ الْمَنْزِلِ.</a:t>
            </a:r>
            <a:endParaRPr lang="ar-SA" sz="2650" dirty="0"/>
          </a:p>
        </p:txBody>
      </p:sp>
      <p:sp>
        <p:nvSpPr>
          <p:cNvPr id="38" name="Text 35"/>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Currently I work from home.  ·  website · now</a:t>
            </a:r>
            <a:endParaRPr lang="en-US" sz="1100" dirty="0"/>
          </a:p>
        </p:txBody>
      </p:sp>
      <p:sp>
        <p:nvSpPr>
          <p:cNvPr id="39" name="Shape 36"/>
          <p:cNvSpPr/>
          <p:nvPr/>
        </p:nvSpPr>
        <p:spPr>
          <a:xfrm>
            <a:off x="6995160" y="4215384"/>
            <a:ext cx="4553712" cy="0"/>
          </a:xfrm>
          <a:prstGeom prst="line">
            <a:avLst/>
          </a:prstGeom>
          <a:noFill/>
          <a:ln w="9525">
            <a:solidFill>
              <a:srgbClr val="E4DCCB"/>
            </a:solidFill>
            <a:prstDash val="dash"/>
          </a:ln>
        </p:spPr>
      </p:sp>
      <p:sp>
        <p:nvSpPr>
          <p:cNvPr id="40" name="Text 37"/>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أَذْهَبُ إِلَى الْمَدْرَسَةِ كُلَّ يَوْمٍ.</a:t>
            </a:r>
            <a:endParaRPr lang="ar-SA" sz="2650" dirty="0"/>
          </a:p>
        </p:txBody>
      </p:sp>
      <p:sp>
        <p:nvSpPr>
          <p:cNvPr id="41" name="Text 38"/>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go to school every day.  ·  website · habit</a:t>
            </a:r>
            <a:endParaRPr lang="en-US" sz="1100" dirty="0"/>
          </a:p>
        </p:txBody>
      </p:sp>
      <p:sp>
        <p:nvSpPr>
          <p:cNvPr id="42" name="Shape 39"/>
          <p:cNvSpPr/>
          <p:nvPr/>
        </p:nvSpPr>
        <p:spPr>
          <a:xfrm>
            <a:off x="6995160" y="5234940"/>
            <a:ext cx="4553712" cy="0"/>
          </a:xfrm>
          <a:prstGeom prst="line">
            <a:avLst/>
          </a:prstGeom>
          <a:noFill/>
          <a:ln w="9525">
            <a:solidFill>
              <a:srgbClr val="E4DCCB"/>
            </a:solidFill>
            <a:prstDash val="dash"/>
          </a:ln>
        </p:spPr>
      </p:sp>
      <p:sp>
        <p:nvSpPr>
          <p:cNvPr id="43" name="Text 40"/>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أَتَدَرَّبُ مَرَّتَيْنِ فِي الْأُسْبُوعِ.</a:t>
            </a:r>
            <a:endParaRPr lang="ar-SA" sz="2650" dirty="0"/>
          </a:p>
        </p:txBody>
      </p:sp>
      <p:sp>
        <p:nvSpPr>
          <p:cNvPr id="44" name="Text 41"/>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train twice a week.  ·  website · habit</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GRAMMAR · PART 3 · FUTURE TIME FRAME (WEBSITE TABLE) · DEVELOP / STRETCH</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Will — and will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زَمَنُ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96912" y="1810512"/>
            <a:ext cx="43616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382219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 (website)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315200" y="2267712"/>
            <a:ext cx="432511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سَأُسَافِرُ غَدًا.</a:t>
            </a:r>
            <a:endParaRPr lang="ar-SA" sz="2400" dirty="0"/>
          </a:p>
        </p:txBody>
      </p:sp>
      <p:sp>
        <p:nvSpPr>
          <p:cNvPr id="21" name="Text 18"/>
          <p:cNvSpPr txBox="1"/>
          <p:nvPr/>
        </p:nvSpPr>
        <p:spPr>
          <a:xfrm>
            <a:off x="3858768" y="2267712"/>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common, near or neutral future</a:t>
            </a:r>
            <a:endParaRPr lang="en-US" sz="1100" dirty="0"/>
          </a:p>
        </p:txBody>
      </p:sp>
      <p:sp>
        <p:nvSpPr>
          <p:cNvPr id="22" name="Text 19"/>
          <p:cNvSpPr txBox="1"/>
          <p:nvPr/>
        </p:nvSpPr>
        <p:spPr>
          <a:xfrm>
            <a:off x="56692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present verb</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315200" y="3054096"/>
            <a:ext cx="432511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سَوْفَ نَبْدَأُ قَرِيبًا.</a:t>
            </a:r>
            <a:endParaRPr lang="ar-SA" sz="2400" dirty="0"/>
          </a:p>
        </p:txBody>
      </p:sp>
      <p:sp>
        <p:nvSpPr>
          <p:cNvPr id="27" name="Text 24"/>
          <p:cNvSpPr txBox="1"/>
          <p:nvPr/>
        </p:nvSpPr>
        <p:spPr>
          <a:xfrm>
            <a:off x="3858768" y="3054096"/>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separate, formal or emphatic future</a:t>
            </a:r>
            <a:endParaRPr lang="en-US" sz="1100" dirty="0"/>
          </a:p>
        </p:txBody>
      </p:sp>
      <p:sp>
        <p:nvSpPr>
          <p:cNvPr id="28" name="Text 25"/>
          <p:cNvSpPr txBox="1"/>
          <p:nvPr/>
        </p:nvSpPr>
        <p:spPr>
          <a:xfrm>
            <a:off x="56692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sawfa + present verb</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315200" y="3840480"/>
            <a:ext cx="432511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أَتَأَخَّرَ غَدًا.</a:t>
            </a:r>
            <a:endParaRPr lang="ar-SA" sz="2400" dirty="0"/>
          </a:p>
        </p:txBody>
      </p:sp>
      <p:sp>
        <p:nvSpPr>
          <p:cNvPr id="33" name="Text 30"/>
          <p:cNvSpPr txBox="1"/>
          <p:nvPr/>
        </p:nvSpPr>
        <p:spPr>
          <a:xfrm>
            <a:off x="3858768" y="3840480"/>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negative: will not</a:t>
            </a:r>
            <a:endParaRPr lang="en-US" sz="1100" dirty="0"/>
          </a:p>
        </p:txBody>
      </p:sp>
      <p:sp>
        <p:nvSpPr>
          <p:cNvPr id="34" name="Text 31"/>
          <p:cNvSpPr txBox="1"/>
          <p:nvPr/>
        </p:nvSpPr>
        <p:spPr>
          <a:xfrm>
            <a:off x="56692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 + present verb (-a ending)</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315200" y="4626864"/>
            <a:ext cx="4325112"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أُسَافِرُ غَدًا.</a:t>
            </a:r>
            <a:endParaRPr lang="ar-SA" sz="2400" dirty="0"/>
          </a:p>
        </p:txBody>
      </p:sp>
      <p:sp>
        <p:nvSpPr>
          <p:cNvPr id="37" name="Text 34"/>
          <p:cNvSpPr txBox="1"/>
          <p:nvPr/>
        </p:nvSpPr>
        <p:spPr>
          <a:xfrm>
            <a:off x="3858768" y="4626864"/>
            <a:ext cx="32918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possible for a plan, less explicit</a:t>
            </a:r>
            <a:endParaRPr lang="en-US" sz="1100" dirty="0"/>
          </a:p>
        </p:txBody>
      </p:sp>
      <p:sp>
        <p:nvSpPr>
          <p:cNvPr id="38" name="Text 35"/>
          <p:cNvSpPr txBox="1"/>
          <p:nvPr/>
        </p:nvSpPr>
        <p:spPr>
          <a:xfrm>
            <a:off x="56692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verb + future time</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IGCSE clarity: “usāfiru ghadan” can be natural for a plan, but “sa-usāfiru ghadan” is clearer and safer in the exam.</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ذَهَبْتُ إِلَى الطَّبِيبِ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غَدًا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قَرِيبًا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writing now.”</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أَكْتُبُ الآنَ.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الآنَ.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سَأَكْتُبُ أَمْسِ.</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start soon.”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بَدَأْتُ غَدًا.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سَأَبْدَأُ قَرِيبًا.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أَبْدَأُ أَمْسِ.</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not be late tomorrow.”</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أَتَأَخَّرَ غَدًا.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أَتَأَخَّرُ غَدًا.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أَتَأَخَّرُ أَمْسِ.</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ذَهَبْتُ إِلَى الطَّبِيبِ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غَدًا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قَرِيبًا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أَمْسِ</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Yesterday provides past context.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am writing now.”</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أَكْتُبُ الآنَ.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 الآنَ.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سَأَكْتُبُ أَمْسِ.</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Present verb + now gives a current action.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start soon.”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بَدَأْتُ غَدًا.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سَأَبْدَأُ قَرِيبًا.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أَبْدَأُ أَمْسِ.</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 + present verb + soon gives a clear future.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not be late tomorrow.”</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أَتَأَخَّرَ غَدًا.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أَتَأَخَّرُ غَدًا.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أَتَأَخَّرُ أَمْسِ.</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 verb ending in -a negates the future.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Watch me move through three time frames</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أَمْسِ دَرَسْتُ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verb + yesterday.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الْيَوْمَ أُرَاجِعُ</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Present verb + today.</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Future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غَدًا سَأَكْتُبُ</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 + verb + tomorrow.</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Negative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لَنْ أَتَأَخَّرَ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lan + -a.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 WORD</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MATCHING VERB</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0E7C86"/>
                </a:solidFill>
                <a:latin typeface="Amiri" pitchFamily="2" charset="-78"/>
                <a:ea typeface="Amiri" pitchFamily="2" charset="-78"/>
                <a:cs typeface="Amiri" pitchFamily="2" charset="-78"/>
              </a:rPr>
              <a:t>أَمْسِ</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دَرَسْتُ</a:t>
            </a:r>
            <a:pPr rtl="1" algn="r" indent="0" marL="0">
              <a:buNone/>
            </a:pPr>
            <a:r>
              <a:rPr lang="ar-SA" altLang="en-US" sz="2600" b="1" dirty="0">
                <a:solidFill>
                  <a:srgbClr val="1B3B6F"/>
                </a:solidFill>
                <a:latin typeface="Amiri" pitchFamily="2" charset="-78"/>
                <a:ea typeface="Amiri" pitchFamily="2" charset="-78"/>
                <a:cs typeface="Amiri" pitchFamily="2" charset="-78"/>
              </a:rPr>
              <a:t> فِي الْمَكْتَبَةِ. </a:t>
            </a:r>
            <a:pPr rtl="1" algn="r" indent="0" marL="0">
              <a:buNone/>
            </a:pPr>
            <a:r>
              <a:rPr lang="ar-SA" altLang="en-US" sz="2600" b="1" dirty="0">
                <a:solidFill>
                  <a:srgbClr val="0E7C86"/>
                </a:solidFill>
                <a:latin typeface="Amiri" pitchFamily="2" charset="-78"/>
                <a:ea typeface="Amiri" pitchFamily="2" charset="-78"/>
                <a:cs typeface="Amiri" pitchFamily="2" charset="-78"/>
              </a:rPr>
              <a:t>الْيَوْمَ</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أُرَاجِعُ</a:t>
            </a:r>
            <a:pPr rtl="1" algn="r" indent="0" marL="0">
              <a:buNone/>
            </a:pPr>
            <a:r>
              <a:rPr lang="ar-SA" altLang="en-US" sz="2600" b="1" dirty="0">
                <a:solidFill>
                  <a:srgbClr val="1B3B6F"/>
                </a:solidFill>
                <a:latin typeface="Amiri" pitchFamily="2" charset="-78"/>
                <a:ea typeface="Amiri" pitchFamily="2" charset="-78"/>
                <a:cs typeface="Amiri" pitchFamily="2" charset="-78"/>
              </a:rPr>
              <a:t> فِي الْبَيْتِ، وَ</a:t>
            </a:r>
            <a:pPr rtl="1" algn="r" indent="0" marL="0">
              <a:buNone/>
            </a:pPr>
            <a:r>
              <a:rPr lang="ar-SA" altLang="en-US" sz="2600" b="1" dirty="0">
                <a:solidFill>
                  <a:srgbClr val="0E7C86"/>
                </a:solidFill>
                <a:latin typeface="Amiri" pitchFamily="2" charset="-78"/>
                <a:ea typeface="Amiri" pitchFamily="2" charset="-78"/>
                <a:cs typeface="Amiri" pitchFamily="2" charset="-78"/>
              </a:rPr>
              <a:t>غَدًا</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سَأَكْتُبُ</a:t>
            </a:r>
            <a:pPr rtl="1" algn="r" indent="0" marL="0">
              <a:buNone/>
            </a:pPr>
            <a:r>
              <a:rPr lang="ar-SA" altLang="en-US" sz="2600" b="1" dirty="0">
                <a:solidFill>
                  <a:srgbClr val="1B3B6F"/>
                </a:solidFill>
                <a:latin typeface="Amiri" pitchFamily="2" charset="-78"/>
                <a:ea typeface="Amiri" pitchFamily="2" charset="-78"/>
                <a:cs typeface="Amiri" pitchFamily="2" charset="-78"/>
              </a:rPr>
              <a:t> الْمَشْرُوعَ.</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Yesterday I studied in the library. Today I am revising at home, and tomorrow I will write the project.</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زُرْنَا الْمَتْحَفَ فِي الْأُسْبُوعِ الْمَاضِي.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visited the museum last week.</a:t>
            </a:r>
            <a:endParaRPr lang="en-US" sz="1250" dirty="0"/>
          </a:p>
          <a:p>
            <a:pPr indent="0" marL="0">
              <a:buNone/>
            </a:pPr>
            <a:r>
              <a:rPr lang="en-US" sz="1050" i="1" dirty="0">
                <a:solidFill>
                  <a:srgbClr val="8A6D1E"/>
                </a:solidFill>
                <a:latin typeface="Calibri" pitchFamily="34" charset="0"/>
                <a:cs typeface="Amiri" pitchFamily="2" charset="-78"/>
              </a:rPr>
              <a:t>Website: past period.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أَقْرَأُ غَالِبًا قَبْلَ النَّوْمِ.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often read before sleeping.</a:t>
            </a:r>
            <a:endParaRPr lang="en-US" sz="1250" dirty="0"/>
          </a:p>
          <a:p>
            <a:pPr indent="0" marL="0">
              <a:buNone/>
            </a:pPr>
            <a:r>
              <a:rPr lang="en-US" sz="1050" i="1" dirty="0">
                <a:solidFill>
                  <a:srgbClr val="8A6D1E"/>
                </a:solidFill>
                <a:latin typeface="Calibri" pitchFamily="34" charset="0"/>
                <a:cs typeface="Amiri" pitchFamily="2" charset="-78"/>
              </a:rPr>
              <a:t>Website: habit.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سَأَدْرُسُ فِي الْخَارِجِ فِي السَّنَةِ الْقَادِمَةِ.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study abroad next year.</a:t>
            </a:r>
            <a:endParaRPr lang="en-US" sz="1250" dirty="0"/>
          </a:p>
          <a:p>
            <a:pPr indent="0" marL="0">
              <a:buNone/>
            </a:pPr>
            <a:r>
              <a:rPr lang="en-US" sz="1050" i="1" dirty="0">
                <a:solidFill>
                  <a:srgbClr val="8A6D1E"/>
                </a:solidFill>
                <a:latin typeface="Calibri" pitchFamily="34" charset="0"/>
                <a:cs typeface="Amiri" pitchFamily="2" charset="-78"/>
              </a:rPr>
              <a:t>Website game: future period.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 أَنْسَى الْمَوْعِدَ غَدًا.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not forget the appointment tomorrow.</a:t>
            </a:r>
            <a:endParaRPr lang="en-US" sz="1250" dirty="0"/>
          </a:p>
          <a:p>
            <a:pPr indent="0" marL="0">
              <a:buNone/>
            </a:pPr>
            <a:r>
              <a:rPr lang="en-US" sz="1050" i="1" dirty="0">
                <a:solidFill>
                  <a:srgbClr val="8A6D1E"/>
                </a:solidFill>
                <a:latin typeface="Calibri" pitchFamily="34" charset="0"/>
                <a:cs typeface="Amiri" pitchFamily="2" charset="-78"/>
              </a:rPr>
              <a:t>Website: future negative.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WHICH TIME FRAME?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present or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مَاضٍ أَمْ حَاضِرٌ أَمْ 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الآنَ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غَدًا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 يَوْمٍ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السَّنَةِ الْقَادِمَةِ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 أَمْسِ</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الْوَقْتِ الْحَالِيِّ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غَدٍ</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 habit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 أَمْسِ</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 habit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الآنَ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كُلَّ يَوْمٍ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الْوَقْتِ الْحَالِيِّ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غَدًا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السَّنَةِ الْقَادِمَةِ</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غَدٍ</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TENSE–TIME REPAIR (WEBSITE)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 the mismatch — two ways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أَصْلِحِ التَّعَارُضَ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Fix the time word</a:t>
            </a:r>
            <a:endParaRPr lang="en-US" sz="1100" dirty="0"/>
          </a:p>
        </p:txBody>
      </p:sp>
      <p:sp>
        <p:nvSpPr>
          <p:cNvPr id="17" name="Text 14"/>
          <p:cNvSpPr txBox="1"/>
          <p:nvPr/>
        </p:nvSpPr>
        <p:spPr>
          <a:xfrm>
            <a:off x="40050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Fix the verb</a:t>
            </a:r>
            <a:endParaRPr lang="en-US" sz="1100" dirty="0"/>
          </a:p>
        </p:txBody>
      </p:sp>
      <p:sp>
        <p:nvSpPr>
          <p:cNvPr id="18" name="Text 15"/>
          <p:cNvSpPr txBox="1"/>
          <p:nvPr/>
        </p:nvSpPr>
        <p:spPr>
          <a:xfrm>
            <a:off x="530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Mismatch</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63840" y="2267712"/>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زُرْتُهُ أَمْسِ.</a:t>
            </a:r>
            <a:endParaRPr lang="ar-SA" sz="2200" dirty="0"/>
          </a:p>
        </p:txBody>
      </p:sp>
      <p:sp>
        <p:nvSpPr>
          <p:cNvPr id="21" name="Text 18"/>
          <p:cNvSpPr txBox="1"/>
          <p:nvPr/>
        </p:nvSpPr>
        <p:spPr>
          <a:xfrm>
            <a:off x="4023360"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سَأَزُورُهُ غَدًا.</a:t>
            </a:r>
            <a:endParaRPr lang="ar-SA" sz="2200" dirty="0"/>
          </a:p>
        </p:txBody>
      </p:sp>
      <p:sp>
        <p:nvSpPr>
          <p:cNvPr id="22" name="Text 19"/>
          <p:cNvSpPr txBox="1"/>
          <p:nvPr/>
        </p:nvSpPr>
        <p:spPr>
          <a:xfrm>
            <a:off x="548640" y="2267712"/>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زُرْتُهُ غَدًا.</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863840" y="3054096"/>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سَأَكْتُبُ الرِّسَالَةَ غَدًا.</a:t>
            </a:r>
            <a:endParaRPr lang="ar-SA" sz="2200" dirty="0"/>
          </a:p>
        </p:txBody>
      </p:sp>
      <p:sp>
        <p:nvSpPr>
          <p:cNvPr id="27" name="Text 24"/>
          <p:cNvSpPr txBox="1"/>
          <p:nvPr/>
        </p:nvSpPr>
        <p:spPr>
          <a:xfrm>
            <a:off x="4023360"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كَتَبْتُ الرِّسَالَةَ أَمْسِ.</a:t>
            </a:r>
            <a:endParaRPr lang="ar-SA" sz="2200" dirty="0"/>
          </a:p>
        </p:txBody>
      </p:sp>
      <p:sp>
        <p:nvSpPr>
          <p:cNvPr id="28" name="Text 25"/>
          <p:cNvSpPr txBox="1"/>
          <p:nvPr/>
        </p:nvSpPr>
        <p:spPr>
          <a:xfrm>
            <a:off x="548640" y="3054096"/>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سَأَكْتُبُ الرِّسَالَةَ أَمْسِ.</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863840" y="3840480"/>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سَافَرْنَا الْأُسْبُوعَ الْمَاضِيَ.</a:t>
            </a:r>
            <a:endParaRPr lang="ar-SA" sz="2200" dirty="0"/>
          </a:p>
        </p:txBody>
      </p:sp>
      <p:sp>
        <p:nvSpPr>
          <p:cNvPr id="33" name="Text 30"/>
          <p:cNvSpPr txBox="1"/>
          <p:nvPr/>
        </p:nvSpPr>
        <p:spPr>
          <a:xfrm>
            <a:off x="4023360"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سَنُسَافِرُ الْأُسْبُوعَ الْقَادِمَ.</a:t>
            </a:r>
            <a:endParaRPr lang="ar-SA" sz="2200" dirty="0"/>
          </a:p>
        </p:txBody>
      </p:sp>
      <p:sp>
        <p:nvSpPr>
          <p:cNvPr id="34" name="Text 31"/>
          <p:cNvSpPr txBox="1"/>
          <p:nvPr/>
        </p:nvSpPr>
        <p:spPr>
          <a:xfrm>
            <a:off x="548640" y="3840480"/>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سَافَرْنَا الْأُسْبُوعَ الْقَادِمَ.</a:t>
            </a:r>
            <a:endParaRPr lang="ar-SA" sz="22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7863840" y="4626864"/>
            <a:ext cx="377647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الآنَ.</a:t>
            </a:r>
            <a:endParaRPr lang="ar-SA" sz="2200" dirty="0"/>
          </a:p>
        </p:txBody>
      </p:sp>
      <p:sp>
        <p:nvSpPr>
          <p:cNvPr id="39" name="Text 36"/>
          <p:cNvSpPr txBox="1"/>
          <p:nvPr/>
        </p:nvSpPr>
        <p:spPr>
          <a:xfrm>
            <a:off x="4023360" y="4626864"/>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دَرَسْتُ أَمْسِ.</a:t>
            </a:r>
            <a:endParaRPr lang="ar-SA" sz="2200" dirty="0"/>
          </a:p>
        </p:txBody>
      </p:sp>
      <p:sp>
        <p:nvSpPr>
          <p:cNvPr id="40" name="Text 37"/>
          <p:cNvSpPr txBox="1"/>
          <p:nvPr/>
        </p:nvSpPr>
        <p:spPr>
          <a:xfrm>
            <a:off x="548640" y="4626864"/>
            <a:ext cx="329184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أَمْسِ.</a:t>
            </a:r>
            <a:endParaRPr lang="ar-SA" sz="22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repair EITHER the verb OR the time expression — it depends on what you meant.</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سَأُشَاهِدُ الْفِيلْمَ أَمْسِ.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verb for yesterday?</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 أَتَأَخَّرُ غَدًا.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follows lan?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كَتَبْتُ الآنَ.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verb for now?</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سَأُشَاهِدُ الْفِيلْمَ أَمْسِ.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شَاهَدْتُ الْفِيلْمَ أَمْسِ.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Yesterday needs a past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 أَتَأَخَّرُ غَدًا.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أَتَأَخَّرَ غَدًا.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lan the verb ends in -a (Stretch).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كَتَبْتُ الآنَ.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أَكْتُبُ الآنَ.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Now needs a present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2F6FB0"/>
                </a:solidFill>
                <a:latin typeface="Calibri" pitchFamily="34" charset="0"/>
                <a:cs typeface="Amiri" pitchFamily="2" charset="-78"/>
              </a:rPr>
              <a:t>WE DO · GUIDED PRACTICE · WEBSITE THREE-TIME-FRAME MASTERY QUESTIONS 3, 5, 6 AND 8</a:t>
            </a:r>
            <a:endParaRPr lang="en-US" sz="83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Habit: choose the best sentence.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غَدًا كُلَّ لَيْلَةٍ.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سَأَقْرَأُ أَمْسِ.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أَقْرَأُ قَبْلَ النَّوْمِ كُلَّ لَيْلَةٍ.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negative: choose the best sentence.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أَنْسَى غَدًا.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أَنْسَى الْمَوْعِدَ غَدًا.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نَسِيتُ غَدًا.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expression means “until now”?</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غَدٍ</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حَتَّى الآنَ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الأُسْبُوعِ الْمَاضِي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سَأَكْتُبُ الرِّسَالَةَ أَمْسِ.</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كَتَبْتُ الرِّسَالَةَ أَمْسِ.</a:t>
            </a:r>
            <a:endParaRPr lang="ar-SA" sz="220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ea typeface="Amiri" pitchFamily="2" charset="-78"/>
                <a:cs typeface="Amiri" pitchFamily="2" charset="-78"/>
              </a:rPr>
              <a:t>سَأَكْتُبُ الرِّسَالَةَ غَدًا.</a:t>
            </a:r>
            <a:endParaRPr lang="ar-SA" sz="220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Either A or B, depending on intended meaning.</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Habit: choose the best sentence.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 غَدًا كُلَّ لَيْلَةٍ.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سَأَقْرَأُ أَمْسِ.</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أَقْرَأُ قَبْلَ النَّوْمِ كُلَّ لَيْلَةٍ.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phrase signals a repeated routine.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negative: choose the best sentence.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أَنْسَى غَدًا.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أَنْسَى الْمَوْعِدَ غَدًا.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نَسِيتُ غَدًا.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 present form ending in -a.</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expression means “until now”?</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بَعْدَ غَدٍ</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حَتَّى الآنَ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الأُسْبُوعِ الْمَاضِي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Until now: from earlier time up to the present.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سَأَكْتُبُ الرِّسَالَةَ أَمْسِ.</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كَتَبْتُ الرِّسَالَةَ أَمْسِ.</a:t>
            </a:r>
            <a:endParaRPr lang="ar-SA" sz="22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ea typeface="Amiri" pitchFamily="2" charset="-78"/>
                <a:cs typeface="Amiri" pitchFamily="2" charset="-78"/>
              </a:rPr>
              <a:t>سَأَكْتُبُ الرِّسَالَةَ غَدًا.</a:t>
            </a:r>
            <a:endParaRPr lang="ar-SA" sz="22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Either A or B, depending on intended meaning.</a:t>
            </a:r>
            <a:endParaRPr lang="en-US" sz="125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Repair either the verb or the time expression.</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READING TIMELINE, EXTENDED BY THE TEACHER</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present,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أَمْسِ دَرَسْتُ فِي الْمَكْتَبَةِ. الْيَوْمَ أُرَاجِعُ فِي الْبَيْتِ، وَغَدًا سَأَكْتُبُ الْمَشْرُوعَ. كُنْتُ أَدْرُسُ فِي الْمَسَاءِ، وَلَكِنِّي الْآنَ أَدْرُسُ فِي الصَّبَاحِ كُلَّ يَوْمٍ. فِي الْأُسْبُوعِ الْقَادِمِ سَأُقَدِّمُ الِاخْتِبَارَ، وَلَنْ أَتَأَخَّرَ.</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أُرَاجِعُ</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revise</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الْمَشْرُوعَ</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project</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كُنْتُ أَدْرُسُ</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used to study</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لَكِنِّي</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but I</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سَأُقَدِّمُ الِاخْتِبَارَ</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sit the exam</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لَنْ أَتَأَخَّرَ</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not be late</a:t>
            </a:r>
            <a:endParaRPr lang="en-US" sz="10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study yesterday?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library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writer study now?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morning every day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كُنْتُ أَدْرُسُ</a:t>
            </a:r>
            <a:pPr algn="l" indent="0" marL="0">
              <a:buNone/>
            </a:pPr>
            <a:r>
              <a:rPr lang="en-US" sz="1250" b="1" dirty="0">
                <a:solidFill>
                  <a:srgbClr val="1B3B6F"/>
                </a:solidFill>
                <a:latin typeface="Calibri" pitchFamily="34" charset="0"/>
                <a:cs typeface="Amiri" pitchFamily="2" charset="-78"/>
              </a:rPr>
              <a:t> express?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habit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future plan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present action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future negative?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سَأُقَدِّمُ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أَتَأَخَّرَ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أُرَاجِعُ</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study yesterday?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home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library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أَمْسِ دَرَسْتُ فِي الْمَكْتَبَةِ.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writer study now?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evening</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morning every day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الْآنَ أَدْرُسُ فِي الصَّبَاحِ كُلَّ يَوْمٍ.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كُنْتُ أَدْرُسُ</a:t>
            </a:r>
            <a:pPr algn="l" indent="0" marL="0">
              <a:buNone/>
            </a:pPr>
            <a:r>
              <a:rPr lang="en-US" sz="1250" b="1" dirty="0">
                <a:solidFill>
                  <a:srgbClr val="1B3B6F"/>
                </a:solidFill>
                <a:latin typeface="Calibri" pitchFamily="34" charset="0"/>
                <a:cs typeface="Amiri" pitchFamily="2" charset="-78"/>
              </a:rPr>
              <a:t> express?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past habit</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future plan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present action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kuntu + present = used to.</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future negative?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سَأُقَدِّمُ</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أَتَأَخَّرَ</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أُرَاجِعُ</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 verb.</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Topic conversation: last, usually, next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فَعَلْتَ فِي عُطْلَةِ نِهَايَةِ الْأُسْبُوعِ الْمَاضِيَةِ؟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عَادَةً بَعْدَ الْمَدْرَسَةِ؟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سَتَفْعَلُ فِي عُطْلَةِ نِهَايَةِ الْأُسْبُوعِ الْقَادِمَةِ؟ وَمَاذَا لَنْ تَفْعَلَ؟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الْأُسْبُوعِ الْمَاضِي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عَادَةً ___ بَعْدَ الْمَدْرَسَةِ.</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غَدًا ___ ، وَلَنْ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فَعَلْتِ فِي الْأُسْبُوعِ الْمَاضِي؟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you do last week?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زُرْتُ جَدَّتِي. عَادَةً أَزُورُهَا كُلَّ شَهْرٍ، وَفِي الْأُسْبُوعِ الْقَادِمِ سَنَذْهَبُ مَعًا إِلَى السُّوقِ.</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visited my grandmother. I usually visit her every month, and next week we will go to the market together.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Two past, two present, two future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yesterday / now / tomorrow + matching verb.</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habits and longer time phrases.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every day, last week, next year.</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paragraph with a past habit and a future negative.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kuntu + verb · lan + verb (-a).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we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الْوَقْتِ الْحَالِيِّ أَسْكُنُ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Currently I live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السَّنَةِ الْقَادِمَةِ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year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______ غَدًا.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not … tomorrow.</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I am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Tomorrow I will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يَوْمٍ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Every day I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أَمْسِ  ·  أَوَّلَ أَمْسِ  ·  الْآنَ  ·  كُلَّ يَوْمٍ  ·  عَادَةً  ·  غَدًا  ·  بَعْدَ غَدٍ  ·  قَرِيبًا  ·  سَـ  ·  سَوْفَ  ·  لَنْ  ·  كُنْتُ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paragraph: 100–120 words about your learning, leisure or travel across three time frames.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past time expressions with past verbs.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present / habitual expressions with present verbs.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future expressions with sa- or sawfa.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past habit with kuntu + present verb.</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future negative with lan (verb ending in -a).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الْعُطْلَةِ الْمَاضِيَةِ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holiday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أَلْعَبُ</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play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usually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مَرَّتَيْنِ فِي الْأُسْبُوعِ</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twice a week</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not forget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عِنْدَمَا كُنْتُ صَغِيرًا، كُنْتُ أَلْعَبُ كُرَةَ الْقَدَمِ كُلَّ يَوْمٍ. فِي الصَّيْفِ الْمَاضِي سَافَرْتُ إِلَى الْمَغْرِبِ وَزُرْتُ مُدُنًا جَمِيلَةً. فِي الْوَقْتِ الْحَالِيِّ أَدْرُسُ كَثِيرًا لِأَنَّ الِاخْتِبَارَاتِ قَرِيبَةٌ، وَأَتَدَرَّبُ مَرَّتَيْنِ فِي الْأُسْبُوعِ فَقَطْ. فِي الْعُطْلَةِ الْقَادِمَةِ سَأَزُورُ جَدِّي، وَسَوْفَ أَتَعَلَّمُ السِّبَاحَةَ. لَنْ أُضَيِّعَ وَقْتِي!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When I was little, I used to play football every day. Last summer I travelled to Morocco and visited beautiful cities. Currently I study a lot because the exams are near, and I train only twice a week. Next holiday I will visit my grandfather, and I will learn to swim. I will not waste my time!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habit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completed past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present / habit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future + negative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time word matches its verb.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future verbs have sa- or sawfa.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habit phrases with present verbs.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 moves through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kuntu + verb and lan + verb (-a).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choose the best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شَاهَدْتُ الْفِيلْمَ أَمْسِ.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أُشَاهِدُ الْفِيلْمَ غَدًا أَمْسِ.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سَأُشَاهِدُ الْفِيلْمَ أَمْسِ.</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Present now: choose the best sentence.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تَحَدَّثْتُ مَعَكَ غَدًا.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أَتَحَدَّثُ مَعَكَ الآنَ.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سَأَتَحَدَّثُ أَمْسِ.</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choose the best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سَنَزُورُ الْمَتْحَفَ غَدًا.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زُرْنَا الْمَتْحَفَ غَدًا.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نَزُورُ الْمَتْحَفَ أَمْسِ.</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Past: choose the best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شَاهَدْتُ الْفِيلْمَ أَمْسِ.</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أُشَاهِدُ الْفِيلْمَ غَدًا أَمْسِ.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سَأُشَاهِدُ الْفِيلْمَ أَمْسِ.</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verb agrees with yesterday.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Present now: choose the best sentence.</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تَحَدَّثْتُ مَعَكَ غَدًا.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أَتَحَدَّثُ مَعَكَ الآنَ.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سَأَتَحَدَّثُ أَمْسِ.</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Present verb + now.</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Future: choose the best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سَنَزُورُ الْمَتْحَفَ غَدًا.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زُرْنَا الْمَتْحَفَ غَدًا.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نَزُورُ الْمَتْحَفَ أَمْسِ.</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Future marker and future adverb match.</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GM-ADV-02 · Adverbs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GM-ADV-03: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Adverbs · GM-ADV-02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GM-ADV-03 · Adverb + Noun: Prepositional Phrases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with, by</a:t>
            </a:r>
            <a:pPr indent="0" marL="0">
              <a:buNone/>
            </a:pPr>
            <a:r>
              <a:rPr lang="ar-SA" sz="1000" i="1" dirty="0">
                <a:solidFill>
                  <a:srgbClr val="5A6472"/>
                </a:solidFill>
                <a:latin typeface="Calibri" pitchFamily="34" charset="0"/>
                <a:ea typeface="Amiri" pitchFamily="2" charset="-78"/>
                <a:cs typeface="Amiri" pitchFamily="2" charset="-78"/>
              </a:rPr>
              <a:t>  بِسُرْعَةٍ = quickly</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بِسُرْعَةٍ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quickly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بِهُدُوءٍ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calmly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الْبَيْتِ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at home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الصَّبَاحِ</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the morning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Bi-surʿatin literally means “with speed”. What do you think bi-hudūʾin and bi-ʿināyatin mean?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algn="l" indent="0" marL="0">
              <a:buNone/>
            </a:pPr>
            <a:r>
              <a:rPr lang="ar-SA" altLang="en-US" sz="2200" b="1" dirty="0">
                <a:solidFill>
                  <a:srgbClr val="1B3B6F"/>
                </a:solidFill>
                <a:latin typeface="Amiri" pitchFamily="2" charset="-78"/>
                <a:ea typeface="Amiri" pitchFamily="2" charset="-78"/>
                <a:cs typeface="Amiri" pitchFamily="2" charset="-78"/>
              </a:rPr>
              <a:t>بِسُرْعَةٍ</a:t>
            </a:r>
            <a:pPr algn="l" indent="0" marL="0">
              <a:buNone/>
            </a:pPr>
            <a:r>
              <a:rPr lang="en-US" sz="1700" b="1" dirty="0">
                <a:solidFill>
                  <a:srgbClr val="1B3B6F"/>
                </a:solidFill>
                <a:latin typeface="Calibri" pitchFamily="34" charset="0"/>
                <a:cs typeface="Amiri" pitchFamily="2" charset="-78"/>
              </a:rPr>
              <a:t> = quickly · </a:t>
            </a:r>
            <a:pPr algn="l" indent="0" marL="0">
              <a:buNone/>
            </a:pPr>
            <a:r>
              <a:rPr lang="ar-SA" altLang="en-US" sz="2200" b="1" dirty="0">
                <a:solidFill>
                  <a:srgbClr val="1B3B6F"/>
                </a:solidFill>
                <a:latin typeface="Amiri" pitchFamily="2" charset="-78"/>
                <a:ea typeface="Amiri" pitchFamily="2" charset="-78"/>
                <a:cs typeface="Amiri" pitchFamily="2" charset="-78"/>
              </a:rPr>
              <a:t>بِهُدُوءٍ</a:t>
            </a:r>
            <a:pPr algn="l" indent="0" marL="0">
              <a:buNone/>
            </a:pPr>
            <a:r>
              <a:rPr lang="en-US" sz="1700" b="1" dirty="0">
                <a:solidFill>
                  <a:srgbClr val="1B3B6F"/>
                </a:solidFill>
                <a:latin typeface="Calibri" pitchFamily="34" charset="0"/>
                <a:cs typeface="Amiri" pitchFamily="2" charset="-78"/>
              </a:rPr>
              <a:t> = ______</a:t>
            </a:r>
            <a:endParaRPr lang="en-US"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two past, two present, two future.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Answer the three topic-conversation questions in writing.</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paragraph (100–120 words) with kuntu and lan.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GM-ADV-02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cs typeface="Amiri" pitchFamily="2" charset="-78"/>
              </a:rPr>
              <a:t>GM-ADV-03 · Adverb + Noun: Prepositional Phrases</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التَّرَاكِيبُ الظَّرْفِيَّةُ بِالْجَارِّ وَالْمَجْرُورِ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time word does not replace the tense · past + yesterday · present + now / every day · sa- / sawfa + verb + tomorrow · lan + verb (-a) = will not.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GM-ADV-02 · Time Frames with Adverbs</dc:title>
  <dc:subject>PptxGenJS Presentation</dc:subject>
  <dc:creator>Al Madina Online School · Arabic Department</dc:creator>
  <cp:lastModifiedBy>Al Madina Online School · Arabic Department</cp:lastModifiedBy>
  <cp:revision>1</cp:revision>
  <dcterms:created xsi:type="dcterms:W3CDTF">2026-10-11T06:42:05Z</dcterms:created>
  <dcterms:modified xsi:type="dcterms:W3CDTF">2026-10-11T06:42:05Z</dcterms:modified>
</cp:coreProperties>
</file>