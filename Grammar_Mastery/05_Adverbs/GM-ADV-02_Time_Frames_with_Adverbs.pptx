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GM-ADV-02 (“Time Frames with Adverbs”).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match past / present / future verbs with أَمْسِ · الآنَ · غَدًا. Develop: habitual present (كُلَّ يَوْمٍ · مَرَّتَيْنِ فِي الْأُسْبُوعِ) and three time frames in one answer. Stretch: past habit (كُنْتُ أَدْرُسُ), سَوْفَ and future negative لَنْ + subjunctive (لَنْ أَتَأَخَّرَ).
• Website key principle: the time expression does NOT replace the tense. Students often write سَأَدْرُسُ أَمْسِ — use the repair routine.
• Exam value: Cambridge speaking questions switch frames (“What did you do last weekend? What will you do next weekend?”) — this lesson trains that switch.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1–4 and 6) — it uses the time words prepared at the end of GM-ADV-01.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verb and the time word work TOGETHER: past + yesterday, present + now, sa- + verb +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“Past time frame”. Develop / Stretch: كُنْتُ أَدْرُسُ = “I used to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“Present and habitual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“Future time frame”. Stretch: after lan, the verb ends in fatḥa (atakhkhara), never ḍamma.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Present and Future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This is the website reading timeline. Draw three columns (past / present / future) and place each verb with its time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 switch” as a sort: students type PAST, NOW or FUTURE, then say one verb that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 switch” as a sort: students type PAST, NOW or FUTURE, then say one verb that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“tense-time repair”. Cover columns 2–3; students offer both repairs.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three-time-frame mastery questions 3, 5, 6 and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timeline, extended by the teacher. Read it aloud once while students follow; then they hunt for today’s grammar.
Task: Website: build a three-column timeline and copy each verb with its time expression.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topic conversation.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the three questions with two developed sentences each. Listen for verb–time matching in each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words about your learning, leisure or travel: a completed past event, a present routine and at least two future plans.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paragraph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(GM-ADV-03 · Adverb + Noun: Prepositional Phrases) will spend class time USING this language, so students prepare it tonight — short, simple, easy to access (school guidance: “Simple, Short, Interesting, Relevant, Easy to access”). The five words prepare GM-ADV-03 (website Adverbs lesson 3: prepositional phrases).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ADVERBS  ·  GM-ADV-02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GM-ADV-02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Time Frames with Adverbs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الظُّرُوفُ وَالْأُطُرُ الزَّمَنِيَّةُ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 time word does not replace the tense — the verb and the time word must match. Past verb + yesterday; present verb + now / every day; sa- or sawfa + present verb + tomorrow; lan + verb for “will not”.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GM-ADV-02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Past, present / habitual, future; tense and time together.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time frame; repair mismatches.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GM-ADV-03.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 clear past time frame.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الآنَ.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 غَدًا.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 clear future time frame.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سَأَزُورُهَا غَدًا.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زُرْتُهَا غَدًا.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أَزُورُهَا أَمْسِ.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expression means “at the moment / currently”?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الأُسْبُوعَ الْمَاضِيَ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الْوَقْتِ الْحَالِيِّ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 tense-time mismatch?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 أَمْسِ.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الآنَ.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 أَمْسِ.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clearest IGCSE answer for “I will travel tomorrow”?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 غَدًا.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غَدًا.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غَدًا.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 clear past time frame.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الآنَ.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سَافَرْتُ أَمْسِ.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سَأُسَافِرُ غَدًا.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verb + yesterday creates a clear past frame.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 clear future time frame.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سَأَزُورُهَا غَدًا.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زُرْتُهَا غَدًا.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أَزُورُهَا أَمْسِ.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present verb + tomorrow gives a clear future.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expression means “at the moment / currently”?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الْمُسْتَقْبَلِ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الأُسْبُوعَ الْمَاضِيَ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الْوَقْتِ الْحَالِيِّ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places the action in the present period.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 tense-time mismatch?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 أَمْسِ.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 الآنَ.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 أَمْسِ.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Future sa- clashes with “yesterday”.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clearest IGCSE answer for “I will travel tomorrow”?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سَأُسَافِرُ غَدًا.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غَدًا.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 غَدًا.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makes the future explicit and unambiguous.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verb and the time word work TOGETHER: past + yesterday, present + now, sa- + verb + tomorrow.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دَرَسْتُ</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 ‖ </a:t>
            </a:r>
            <a:pPr rtl="1" algn="ctr" indent="0" marL="0">
              <a:buNone/>
            </a:pPr>
            <a:r>
              <a:rPr lang="ar-SA" altLang="en-US" sz="2400" b="1" dirty="0">
                <a:solidFill>
                  <a:srgbClr val="D6336C"/>
                </a:solidFill>
                <a:latin typeface="Amiri" pitchFamily="34" charset="0"/>
                <a:ea typeface="Amiri" pitchFamily="34" charset="-122"/>
                <a:cs typeface="Amiri" pitchFamily="34" charset="-120"/>
              </a:rPr>
              <a:t>سَأَدْرُسُ</a:t>
            </a:r>
            <a:pPr rtl="1" algn="ctr" indent="0" marL="0">
              <a:buNone/>
            </a:pPr>
            <a:r>
              <a:rPr lang="ar-SA" altLang="en-US" sz="2400" b="1" dirty="0">
                <a:solidFill>
                  <a:srgbClr val="1B3B6F"/>
                </a:solidFill>
                <a:latin typeface="Amiri" pitchFamily="34" charset="0"/>
                <a:ea typeface="Amiri" pitchFamily="34" charset="-122"/>
                <a:cs typeface="Amiri" pitchFamily="34" charset="-120"/>
              </a:rPr>
              <a:t> غَدًا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past, present and future verbs with suitable time expressions.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“happening now” from “happens regularly”.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the future with sa-, sawfa and lan.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Move between three time frames in one answer.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match yesterday, now and tomorrow to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I will travel tomorrow with sa-.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describe habits with every day / twice a week.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answer in three time frames.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say I used to … with kuntu + present.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say I will not … with lan.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دَرَسْتُ أَمْسِ</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 (verb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أَدْرُسُ الآنَ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الْمُسْتَقْبَلُ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al-mus-taq-ba-lu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سَأَدْرُسُ غَدًا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 · سَوْفَ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(future markers)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 · sawfa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سَوْفَ نَبْدَأُ</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not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لَنْ أَتَأَخَّرَ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habit,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al-ʿā-da-tu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كُلَّ يَوْمٍ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PAST TIME FRAME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Completed — and used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الزَّمَنُ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38221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لَعِبْتُ كُرَةَ الْقَدَمِ أَمْسِ.</a:t>
            </a:r>
            <a:endParaRPr lang="ar-SA" sz="2200" dirty="0"/>
          </a:p>
        </p:txBody>
      </p:sp>
      <p:sp>
        <p:nvSpPr>
          <p:cNvPr id="21" name="Text 18"/>
          <p:cNvSpPr txBox="1"/>
          <p:nvPr/>
        </p:nvSpPr>
        <p:spPr>
          <a:xfrm>
            <a:off x="385876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yesterday</a:t>
            </a:r>
            <a:endParaRPr lang="en-US" sz="1100" dirty="0"/>
          </a:p>
        </p:txBody>
      </p:sp>
      <p:sp>
        <p:nvSpPr>
          <p:cNvPr id="22" name="Text 19"/>
          <p:cNvSpPr txBox="1"/>
          <p:nvPr/>
        </p:nvSpPr>
        <p:spPr>
          <a:xfrm>
            <a:off x="5486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أَمْسِ</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وَصَلَتِ الرِّسَالَةُ أَوَّلَ أَمْسِ.</a:t>
            </a:r>
            <a:endParaRPr lang="ar-SA" sz="2200" dirty="0"/>
          </a:p>
        </p:txBody>
      </p:sp>
      <p:sp>
        <p:nvSpPr>
          <p:cNvPr id="27" name="Text 24"/>
          <p:cNvSpPr txBox="1"/>
          <p:nvPr/>
        </p:nvSpPr>
        <p:spPr>
          <a:xfrm>
            <a:off x="385876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day before yesterday</a:t>
            </a:r>
            <a:endParaRPr lang="en-US" sz="1100" dirty="0"/>
          </a:p>
        </p:txBody>
      </p:sp>
      <p:sp>
        <p:nvSpPr>
          <p:cNvPr id="28" name="Text 25"/>
          <p:cNvSpPr txBox="1"/>
          <p:nvPr/>
        </p:nvSpPr>
        <p:spPr>
          <a:xfrm>
            <a:off x="5486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أَوَّلَ أَمْسِ</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زُرْنَا الْمَتْحَفَ فِي الْأُسْبُوعِ الْمَاضِي.</a:t>
            </a:r>
            <a:endParaRPr lang="ar-SA" sz="2200" dirty="0"/>
          </a:p>
        </p:txBody>
      </p:sp>
      <p:sp>
        <p:nvSpPr>
          <p:cNvPr id="33" name="Text 30"/>
          <p:cNvSpPr txBox="1"/>
          <p:nvPr/>
        </p:nvSpPr>
        <p:spPr>
          <a:xfrm>
            <a:off x="385876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last week</a:t>
            </a:r>
            <a:endParaRPr lang="en-US" sz="1100" dirty="0"/>
          </a:p>
        </p:txBody>
      </p:sp>
      <p:sp>
        <p:nvSpPr>
          <p:cNvPr id="34" name="Text 31"/>
          <p:cNvSpPr txBox="1"/>
          <p:nvPr/>
        </p:nvSpPr>
        <p:spPr>
          <a:xfrm>
            <a:off x="5486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الْأُسْبُوعِ الْمَاضِي</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انْتَقَلْنَا إِلَى هُنَا مُنْذُ سَنَةٍ.</a:t>
            </a:r>
            <a:endParaRPr lang="ar-SA" sz="2200" dirty="0"/>
          </a:p>
        </p:txBody>
      </p:sp>
      <p:sp>
        <p:nvSpPr>
          <p:cNvPr id="39" name="Text 36"/>
          <p:cNvSpPr txBox="1"/>
          <p:nvPr/>
        </p:nvSpPr>
        <p:spPr>
          <a:xfrm>
            <a:off x="385876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year ago / for a year</a:t>
            </a:r>
            <a:endParaRPr lang="en-US" sz="1100" dirty="0"/>
          </a:p>
        </p:txBody>
      </p:sp>
      <p:sp>
        <p:nvSpPr>
          <p:cNvPr id="40" name="Text 37"/>
          <p:cNvSpPr txBox="1"/>
          <p:nvPr/>
        </p:nvSpPr>
        <p:spPr>
          <a:xfrm>
            <a:off x="5486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مُنْذُ سَنَةٍ</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كُنْتُ أَدْرُسُ فِي الْمَسَاءِ.</a:t>
            </a:r>
            <a:endParaRPr lang="ar-SA" sz="2200" dirty="0"/>
          </a:p>
        </p:txBody>
      </p:sp>
      <p:sp>
        <p:nvSpPr>
          <p:cNvPr id="43" name="Text 40"/>
          <p:cNvSpPr txBox="1"/>
          <p:nvPr/>
        </p:nvSpPr>
        <p:spPr>
          <a:xfrm>
            <a:off x="385876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used to …</a:t>
            </a:r>
            <a:endParaRPr lang="en-US" sz="1100" dirty="0"/>
          </a:p>
        </p:txBody>
      </p:sp>
      <p:sp>
        <p:nvSpPr>
          <p:cNvPr id="44" name="Text 41"/>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كُنْتُ</a:t>
            </a:r>
            <a:pPr algn="l" indent="0" marL="0">
              <a:buNone/>
            </a:pPr>
            <a:r>
              <a:rPr lang="en-US" sz="1100" dirty="0">
                <a:solidFill>
                  <a:srgbClr val="5A6472"/>
                </a:solidFill>
                <a:latin typeface="Calibri" pitchFamily="34" charset="0"/>
                <a:ea typeface="Calibri" pitchFamily="34" charset="-122"/>
                <a:cs typeface="Calibri" pitchFamily="34" charset="-120"/>
              </a:rPr>
              <a:t> + present verb</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Past expressions confirm that an event is completed (website). Stretch: kuntu + present verb = a past habit.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PRESENT AND HABITUAL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Now — or every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الْحَاضِرُ وَالْعَادَةُ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Arabic present form can mean what is happening NOW or what happens REGULARLY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time words make the meaning clear: now, currently → happening now.</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Every day, twice a week, often, sometimes → a habit.</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the same verb can mean “I study” or “I am studying” (website).</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speaking, add a time phrase to turn a one-word answer into a developed one.</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أَكْتُبُ الآنَ.</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am writing now.  ·  website · now</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فِي الْوَقْتِ الْحَالِيِّ أَعْمَلُ مِنَ الْمَنْزِلِ.</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Currently I work from home.  ·  website · now</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أَذْهَبُ إِلَى الْمَدْرَسَةِ كُلَّ يَوْمٍ.</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go to school every day.  ·  website · habit</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أَتَدَرَّبُ مَرَّتَيْنِ فِي الْأُسْبُوعِ.</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train twice a week.  ·  website · habit</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3 · FUTURE TIME FRAME (WEBSITE TABLE) · DEVELOP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Will — and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زَمَنُ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382219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315200" y="2267712"/>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سَأُسَافِرُ غَدًا.</a:t>
            </a:r>
            <a:endParaRPr lang="ar-SA" sz="2400" dirty="0"/>
          </a:p>
        </p:txBody>
      </p:sp>
      <p:sp>
        <p:nvSpPr>
          <p:cNvPr id="21" name="Text 18"/>
          <p:cNvSpPr txBox="1"/>
          <p:nvPr/>
        </p:nvSpPr>
        <p:spPr>
          <a:xfrm>
            <a:off x="385876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common, near or neutral future</a:t>
            </a:r>
            <a:endParaRPr lang="en-US" sz="11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315200" y="3054096"/>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سَوْفَ نَبْدَأُ قَرِيبًا.</a:t>
            </a:r>
            <a:endParaRPr lang="ar-SA" sz="2400" dirty="0"/>
          </a:p>
        </p:txBody>
      </p:sp>
      <p:sp>
        <p:nvSpPr>
          <p:cNvPr id="27" name="Text 24"/>
          <p:cNvSpPr txBox="1"/>
          <p:nvPr/>
        </p:nvSpPr>
        <p:spPr>
          <a:xfrm>
            <a:off x="385876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separate, formal or emphatic future</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sawfa + present verb</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315200" y="3840480"/>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أَتَأَخَّرَ غَدًا.</a:t>
            </a:r>
            <a:endParaRPr lang="ar-SA" sz="2400" dirty="0"/>
          </a:p>
        </p:txBody>
      </p:sp>
      <p:sp>
        <p:nvSpPr>
          <p:cNvPr id="33" name="Text 30"/>
          <p:cNvSpPr txBox="1"/>
          <p:nvPr/>
        </p:nvSpPr>
        <p:spPr>
          <a:xfrm>
            <a:off x="385876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negative: will not</a:t>
            </a:r>
            <a:endParaRPr lang="en-US" sz="11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 + present verb (-a ending)</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315200" y="4626864"/>
            <a:ext cx="432511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أُسَافِرُ غَدًا.</a:t>
            </a:r>
            <a:endParaRPr lang="ar-SA" sz="2400" dirty="0"/>
          </a:p>
        </p:txBody>
      </p:sp>
      <p:sp>
        <p:nvSpPr>
          <p:cNvPr id="37" name="Text 34"/>
          <p:cNvSpPr txBox="1"/>
          <p:nvPr/>
        </p:nvSpPr>
        <p:spPr>
          <a:xfrm>
            <a:off x="385876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possible for a plan, less explicit</a:t>
            </a:r>
            <a:endParaRPr lang="en-US" sz="11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verb + future time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IGCSE clarity: “usāfiru ghadan” can be natural for a plan, but “sa-usāfiru ghadan” is clearer and safer in the exam.</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ذَهَبْتُ إِلَى الطَّبِيبِ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writing 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الآنَ.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الآنَ.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سَأَكْتُبُ أَمْسِ.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start soon.”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بَدَأْتُ غَدًا.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سَأَبْدَأُ قَرِيبًا.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أَبْدَأُ أَمْسِ.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not be late tomorrow.”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أَتَأَخَّرَ غَدًا.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أَتَأَخَّرُ غَدًا.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أَتَأَخَّرُ أَمْسِ.</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ذَهَبْتُ إِلَى الطَّبِيبِ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Yesterday provides past context.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writing 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أَكْتُبُ الآنَ.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 الآنَ.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سَأَكْتُبُ أَمْسِ.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Present verb + now gives a current action.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start soon.”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بَدَأْتُ غَدًا.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سَأَبْدَأُ قَرِيبًا.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أَبْدَأُ أَمْسِ.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present verb + soon gives a clear future.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not be late tomorrow.”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أَتَأَخَّرَ غَدًا.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أَتَأَخَّرُ غَدًا.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أَتَأَخَّرُ أَمْسِ.</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 verb ending in -a negates the future.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Watch me move through three time frames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أَمْسِ دَرَسْتُ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verb + yesterday.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الْيَوْمَ أُرَاجِعُ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Present verb + today.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غَدًا سَأَكْتُبُ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verb + tomorrow.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Negative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لَنْ أَتَأَخَّرَ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MATCHING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أَمْسِ</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دَرَسْتُ</a:t>
            </a:r>
            <a:pPr rtl="1" algn="r" indent="0" marL="0">
              <a:buNone/>
            </a:pPr>
            <a:r>
              <a:rPr lang="ar-SA" altLang="en-US" sz="2600" b="1" dirty="0">
                <a:solidFill>
                  <a:srgbClr val="1B3B6F"/>
                </a:solidFill>
                <a:latin typeface="Amiri" pitchFamily="34" charset="0"/>
                <a:ea typeface="Amiri" pitchFamily="34" charset="-122"/>
                <a:cs typeface="Amiri" pitchFamily="34" charset="-120"/>
              </a:rPr>
              <a:t> فِي الْمَكْتَبَةِ. </a:t>
            </a:r>
            <a:pPr rtl="1" algn="r" indent="0" marL="0">
              <a:buNone/>
            </a:pPr>
            <a:r>
              <a:rPr lang="ar-SA" altLang="en-US" sz="2600" b="1" dirty="0">
                <a:solidFill>
                  <a:srgbClr val="0E7C86"/>
                </a:solidFill>
                <a:latin typeface="Amiri" pitchFamily="34" charset="0"/>
                <a:ea typeface="Amiri" pitchFamily="34" charset="-122"/>
                <a:cs typeface="Amiri" pitchFamily="34" charset="-120"/>
              </a:rPr>
              <a:t>الْيَوْمَ</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أُرَاجِعُ</a:t>
            </a:r>
            <a:pPr rtl="1" algn="r" indent="0" marL="0">
              <a:buNone/>
            </a:pPr>
            <a:r>
              <a:rPr lang="ar-SA" altLang="en-US" sz="2600" b="1" dirty="0">
                <a:solidFill>
                  <a:srgbClr val="1B3B6F"/>
                </a:solidFill>
                <a:latin typeface="Amiri" pitchFamily="34" charset="0"/>
                <a:ea typeface="Amiri" pitchFamily="34" charset="-122"/>
                <a:cs typeface="Amiri" pitchFamily="34" charset="-120"/>
              </a:rPr>
              <a:t> فِي الْبَيْتِ، وَ</a:t>
            </a:r>
            <a:pPr rtl="1" algn="r" indent="0" marL="0">
              <a:buNone/>
            </a:pPr>
            <a:r>
              <a:rPr lang="ar-SA" altLang="en-US" sz="2600" b="1" dirty="0">
                <a:solidFill>
                  <a:srgbClr val="0E7C86"/>
                </a:solidFill>
                <a:latin typeface="Amiri" pitchFamily="34" charset="0"/>
                <a:ea typeface="Amiri" pitchFamily="34" charset="-122"/>
                <a:cs typeface="Amiri" pitchFamily="34" charset="-120"/>
              </a:rPr>
              <a:t>غَدًا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سَأَكْتُبُ</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الْمَشْرُوعَ.</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Yesterday I studied in the library. Today I am revising at home, and tomorrow I will write the project.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زُرْنَا الْمَتْحَفَ فِي الْأُسْبُوعِ الْمَاضِي.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visited the museum last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past period.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أَقْرَأُ غَالِبًا قَبْلَ النَّوْمِ.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often read before sleeping.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habit.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سَأَدْرُسُ فِي الْخَارِجِ فِي السَّنَةِ الْقَادِمَةِ.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abroad next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future period.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 أَنْسَى الْمَوْعِدَ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not forget the appointment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future negative.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TIME FRAME?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present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الآنَ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 يَوْمٍ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السَّنَةِ الْقَادِمَةِ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أَوَّلَ 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الْوَقْتِ الْحَالِيِّ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غَدٍ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أَوَّلَ أَمْسِ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الآنَ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 يَوْمٍ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الْوَقْتِ الْحَالِيِّ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السَّنَةِ الْقَادِمَةِ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غَدٍ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TENSE–TIME REPAIR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 the mismatch — two 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أَصْلِحِ التَّعَارُضَ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Fix the time word</a:t>
            </a:r>
            <a:endParaRPr lang="en-US" sz="1100" dirty="0"/>
          </a:p>
        </p:txBody>
      </p:sp>
      <p:sp>
        <p:nvSpPr>
          <p:cNvPr id="17" name="Text 14"/>
          <p:cNvSpPr txBox="1"/>
          <p:nvPr/>
        </p:nvSpPr>
        <p:spPr>
          <a:xfrm>
            <a:off x="40050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Fix the verb</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Mismatch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زُرْتُهُ أَمْسِ.</a:t>
            </a:r>
            <a:endParaRPr lang="ar-SA" sz="2200" dirty="0"/>
          </a:p>
        </p:txBody>
      </p:sp>
      <p:sp>
        <p:nvSpPr>
          <p:cNvPr id="21" name="Text 18"/>
          <p:cNvSpPr txBox="1"/>
          <p:nvPr/>
        </p:nvSpPr>
        <p:spPr>
          <a:xfrm>
            <a:off x="402336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سَأَزُورُهُ غَدًا.</a:t>
            </a:r>
            <a:endParaRPr lang="ar-SA" sz="2200" dirty="0"/>
          </a:p>
        </p:txBody>
      </p:sp>
      <p:sp>
        <p:nvSpPr>
          <p:cNvPr id="22" name="Text 19"/>
          <p:cNvSpPr txBox="1"/>
          <p:nvPr/>
        </p:nvSpPr>
        <p:spPr>
          <a:xfrm>
            <a:off x="54864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زُرْتُهُ غَدًا.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سَأَكْتُبُ الرِّسَالَةَ غَدًا.</a:t>
            </a:r>
            <a:endParaRPr lang="ar-SA" sz="2200" dirty="0"/>
          </a:p>
        </p:txBody>
      </p:sp>
      <p:sp>
        <p:nvSpPr>
          <p:cNvPr id="27" name="Text 24"/>
          <p:cNvSpPr txBox="1"/>
          <p:nvPr/>
        </p:nvSpPr>
        <p:spPr>
          <a:xfrm>
            <a:off x="402336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كَتَبْتُ الرِّسَالَةَ أَمْسِ.</a:t>
            </a:r>
            <a:endParaRPr lang="ar-SA" sz="2200" dirty="0"/>
          </a:p>
        </p:txBody>
      </p:sp>
      <p:sp>
        <p:nvSpPr>
          <p:cNvPr id="28" name="Text 25"/>
          <p:cNvSpPr txBox="1"/>
          <p:nvPr/>
        </p:nvSpPr>
        <p:spPr>
          <a:xfrm>
            <a:off x="54864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سَأَكْتُبُ الرِّسَالَةَ أَمْسِ.</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سَافَرْنَا الْأُسْبُوعَ الْمَاضِيَ.</a:t>
            </a:r>
            <a:endParaRPr lang="ar-SA" sz="2200" dirty="0"/>
          </a:p>
        </p:txBody>
      </p:sp>
      <p:sp>
        <p:nvSpPr>
          <p:cNvPr id="33" name="Text 30"/>
          <p:cNvSpPr txBox="1"/>
          <p:nvPr/>
        </p:nvSpPr>
        <p:spPr>
          <a:xfrm>
            <a:off x="402336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سَنُسَافِرُ الْأُسْبُوعَ الْقَادِمَ.</a:t>
            </a:r>
            <a:endParaRPr lang="ar-SA" sz="2200" dirty="0"/>
          </a:p>
        </p:txBody>
      </p:sp>
      <p:sp>
        <p:nvSpPr>
          <p:cNvPr id="34" name="Text 31"/>
          <p:cNvSpPr txBox="1"/>
          <p:nvPr/>
        </p:nvSpPr>
        <p:spPr>
          <a:xfrm>
            <a:off x="54864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سَافَرْنَا الْأُسْبُوعَ الْقَادِمَ.</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الآنَ.</a:t>
            </a:r>
            <a:endParaRPr lang="ar-SA" sz="2200" dirty="0"/>
          </a:p>
        </p:txBody>
      </p:sp>
      <p:sp>
        <p:nvSpPr>
          <p:cNvPr id="39" name="Text 36"/>
          <p:cNvSpPr txBox="1"/>
          <p:nvPr/>
        </p:nvSpPr>
        <p:spPr>
          <a:xfrm>
            <a:off x="402336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دَرَسْتُ أَمْسِ.</a:t>
            </a:r>
            <a:endParaRPr lang="ar-SA" sz="2200" dirty="0"/>
          </a:p>
        </p:txBody>
      </p:sp>
      <p:sp>
        <p:nvSpPr>
          <p:cNvPr id="40" name="Text 37"/>
          <p:cNvSpPr txBox="1"/>
          <p:nvPr/>
        </p:nvSpPr>
        <p:spPr>
          <a:xfrm>
            <a:off x="548640" y="4626864"/>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أَمْسِ.</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repair EITHER the verb OR the time expression — it depends on what you meant.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سَأُشَاهِدُ الْفِيلْمَ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Past verb for yesterday?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لَنْ أَتَأَخَّرُ غَدًا.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follows 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كَتَبْتُ الآنَ.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verb for now?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سَأُشَاهِدُ الْفِيلْمَ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شَاهَدْتُ الْفِيلْمَ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Yesterday needs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لَنْ أَتَأَخَّرُ غَدًا.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لَنْ أَتَأَخَّرَ غَدًا.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lan the verb ends in -a (Stretch).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كَتَبْتُ الآنَ.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أَكْتُبُ الآنَ.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needs a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GUIDED PRACTICE · WEBSITE THREE-TIME-FRAME MASTERY QUESTIONS 3, 5, 6 AND 8</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Habit: choose the best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غَدًا كُلَّ لَيْلَةٍ.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سَأَقْرَأُ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أَقْرَأُ قَبْلَ النَّوْمِ كُلَّ لَيْلَةٍ.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negative: choose the best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أَنْسَى غَدًا.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أَنْسَى الْمَوْعِدَ غَدًا.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نَسِيتُ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expression means “until now”?</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غَدٍ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حَتَّى الآنَ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الأُسْبُوعِ الْمَاضِي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سَأَكْتُبُ الرِّسَالَةَ أَمْسِ.</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كَتَبْتُ الرِّسَالَةَ أَمْسِ.</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سَأَكْتُبُ الرِّسَالَةَ غَدًا.</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Either A or B, depending on intended meaning.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Habit: choose the best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غَدًا كُلَّ لَيْلَةٍ.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سَأَقْرَأُ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أَقْرَأُ قَبْلَ النَّوْمِ كُلَّ لَيْلَةٍ.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signals a repeated routine.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negative: choose the best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أَنْسَى غَدًا.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أَنْسَى الْمَوْعِدَ غَدًا.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نَسِيتُ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 present form ending in -a.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expression means “until now”?</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غَدٍ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حَتَّى الآنَ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الأُسْبُوعِ الْمَاضِي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Until now: from earlier time up to the present.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سَأَكْتُبُ الرِّسَالَةَ أَمْسِ.</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كَتَبْتُ الرِّسَالَةَ أَمْسِ.</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سَأَكْتُبُ الرِّسَالَةَ غَدًا.</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Either A or B, depending on intended meaning.</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Repair either the verb or the time expression.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READING TIMELINE, EXTENDED BY THE TEACHER</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present,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أَمْسِ دَرَسْتُ فِي الْمَكْتَبَةِ. الْيَوْمَ أُرَاجِعُ فِي الْبَيْتِ، وَغَدًا سَأَكْتُبُ الْمَشْرُوعَ. كُنْتُ أَدْرُسُ فِي الْمَسَاءِ، وَلَكِنِّي الْآنَ أَدْرُسُ فِي الصَّبَاحِ كُلَّ يَوْمٍ. فِي الْأُسْبُوعِ الْقَادِمِ سَأُقَدِّمُ الِاخْتِبَارَ، وَلَنْ أَتَأَخَّرَ.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revise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project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أَدْرُسُ</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study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لَكِنِّي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but I</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سَأُقَدِّمُ الِاخْتِبَارَ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sit the exam</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لَنْ أَتَأَخَّرَ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not be late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study yesterday?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writer study now?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 every 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كُنْتُ أَدْرُسُ</a:t>
            </a:r>
            <a:pPr algn="l" indent="0" marL="0">
              <a:buNone/>
            </a:pPr>
            <a:r>
              <a:rPr lang="en-US" sz="1250" b="1" dirty="0">
                <a:solidFill>
                  <a:srgbClr val="1B3B6F"/>
                </a:solidFill>
                <a:latin typeface="Calibri" pitchFamily="34" charset="0"/>
                <a:ea typeface="Calibri" pitchFamily="34" charset="-122"/>
                <a:cs typeface="Calibri" pitchFamily="34" charset="-120"/>
              </a:rPr>
              <a:t> express?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present 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future negative?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سَأُقَدِّمُ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أَتَأَخَّرَ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study yesterday?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home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أَمْسِ دَرَسْتُ فِي الْمَكْتَبَةِ.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writer study now?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evening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 every 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الْآنَ أَدْرُسُ فِي الصَّبَاحِ كُلَّ 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كُنْتُ أَدْرُسُ</a:t>
            </a:r>
            <a:pPr algn="l" indent="0" marL="0">
              <a:buNone/>
            </a:pPr>
            <a:r>
              <a:rPr lang="en-US" sz="1250" b="1" dirty="0">
                <a:solidFill>
                  <a:srgbClr val="1B3B6F"/>
                </a:solidFill>
                <a:latin typeface="Calibri" pitchFamily="34" charset="0"/>
                <a:ea typeface="Calibri" pitchFamily="34" charset="-122"/>
                <a:cs typeface="Calibri" pitchFamily="34" charset="-120"/>
              </a:rPr>
              <a:t> express?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past habit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present 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kuntu + present = used to.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future negative?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سَأُقَدِّمُ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أَتَأَخَّرَ</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Topic conversation: last, usually, next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فِي عُطْلَةِ نِهَايَةِ الْأُسْبُوعِ الْمَاضِيَةِ؟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عَادَةً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سَتَفْعَلُ فِي عُطْلَةِ نِهَايَةِ الْأُسْبُوعِ الْقَادِمَةِ؟ وَمَاذَا لَنْ تَفْعَلَ؟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الْأُسْبُوعِ الْمَاضِي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عَادَةً ___ بَعْدَ الْمَدْرَسَةِ.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غَدًا ___ ، وَلَنْ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فَعَلْتِ فِي الْأُسْبُوعِ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you do last week?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زُرْتُ جَدَّتِي. عَادَةً أَزُورُهَا كُلَّ شَهْرٍ، وَفِي الْأُسْبُوعِ الْقَادِمِ سَنَذْهَبُ مَعًا إِلَى السُّوقِ.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visited my grandmother. I usually visit her every month, and next week we will go to the market together.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Two past, two present, two future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yesterday / now / tomorrow + matching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habits and longer time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every day, last week, next year.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paragraph with a past habit and a future negative.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kuntu + verb · lan + verb (-a).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week we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الْوَقْتِ الْحَالِيِّ أَسْكُنُ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Currently I live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السَّنَةِ الْقَادِمَةِ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year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______ غَدًا.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not … tomorrow.</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الْآنَ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I am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 day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أَمْسِ  ·  أَوَّلَ أَمْسِ  ·  الْآنَ  ·  كُلَّ يَوْمٍ  ·  عَادَةً  ·  غَدًا  ·  بَعْدَ غَدٍ  ·  قَرِيبًا  ·  سَـ  ·  سَوْفَ  ·  لَنْ  ·  كُنْتُ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paragraph: 100–120 words about your learning, leisure or travel across three time frames.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past time expressions with past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present / habitual expressions with present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future expressions with sa- or sawfa.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 habit with kuntu + present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negative with lan (verb ending in -a).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الْعُطْلَةِ الْمَاضِيَةِ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holiday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أَلْعَبُ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used to play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usually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twice a week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future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أَنْسَى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not forget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عِنْدَمَا كُنْتُ صَغِيرًا، كُنْتُ أَلْعَبُ كُرَةَ الْقَدَمِ كُلَّ يَوْمٍ. فِي الصَّيْفِ الْمَاضِي سَافَرْتُ إِلَى الْمَغْرِبِ وَزُرْتُ مُدُنًا جَمِيلَةً. فِي الْوَقْتِ الْحَالِيِّ أَدْرُسُ كَثِيرًا لِأَنَّ الِاخْتِبَارَاتِ قَرِيبَةٌ، وَأَتَدَرَّبُ مَرَّتَيْنِ فِي الْأُسْبُوعِ فَقَطْ. فِي الْعُطْلَةِ الْقَادِمَةِ سَأَزُورُ جَدِّي، وَسَوْفَ أَتَعَلَّمُ السِّبَاحَةَ. لَنْ أُضَيِّعَ وَقْتِي!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When I was little, I used to play football every day. Last summer I travelled to Morocco and visited beautiful cities. Currently I study a lot because the exams are near, and I train only twice a week. Next holiday I will visit my grandfather, and I will learn to swim. I will not waste my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completed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present / habit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future + negative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time word matches its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have sa- or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habit phrases with present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 moves through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kuntu + verb and lan + verb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choose the best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الْفِيلْمَ أَمْسِ.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أُشَاهِدُ الْفِيلْمَ غَدًا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سَأُشَاهِدُ الْفِيلْمَ أَمْسِ.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Present now: choose the best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تَحَدَّثْتُ مَعَكَ غَدًا.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أَتَحَدَّثُ مَعَكَ الآنَ.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سَأَتَحَدَّثُ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choose the best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سَنَزُورُ الْمَتْحَفَ غَدًا.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 الْمَتْحَفَ غَدًا.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نَزُورُ الْمَتْحَفَ أَمْسِ.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choose the best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شَاهَدْتُ الْفِيلْمَ أَمْسِ.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أُشَاهِدُ الْفِيلْمَ غَدًا أَمْسِ.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سَأُشَاهِدُ الْفِيلْمَ أَمْسِ.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verb agrees with yesterday.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Present now: choose the best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تَحَدَّثْتُ مَعَكَ غَدًا.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أَتَحَدَّثُ مَعَكَ الآنَ.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سَأَتَحَدَّثُ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Present verb + now.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choose the best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سَنَزُورُ الْمَتْحَفَ غَدًا.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زُرْنَا الْمَتْحَفَ غَدًا.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نَزُورُ الْمَتْحَفَ أَمْسِ.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Future marker and future adverb match.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GM-ADV-02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GM-ADV-03: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GM-ADV-03 · Adverb + Noun: Prepositional Phrases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by</a:t>
            </a:r>
            <a:pPr indent="0" marL="0">
              <a:buNone/>
            </a:pPr>
            <a:r>
              <a:rPr lang="en-US" sz="1000" i="1" dirty="0">
                <a:solidFill>
                  <a:srgbClr val="5A6472"/>
                </a:solidFill>
                <a:latin typeface="Calibri" pitchFamily="34" charset="0"/>
                <a:ea typeface="Calibri" pitchFamily="34" charset="-122"/>
                <a:cs typeface="Calibri" pitchFamily="34" charset="-120"/>
              </a:rPr>
              <a:t>  بِسُرْعَةٍ = quickly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بِسُرْعَةٍ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quickly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بِهُدُوءٍ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calmly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at home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الصَّبَاحِ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morning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Bi-surʿatin literally means “with speed”. What do you think bi-hudūʾin and bi-ʿināyatin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34" charset="0"/>
                <a:ea typeface="Amiri" pitchFamily="34" charset="-122"/>
                <a:cs typeface="Amiri" pitchFamily="34" charset="-120"/>
              </a:rPr>
              <a:t>بِسُرْعَةٍ</a:t>
            </a:r>
            <a:pPr algn="l" indent="0" marL="0">
              <a:buNone/>
            </a:pPr>
            <a:r>
              <a:rPr lang="en-US" sz="1700" b="1" dirty="0">
                <a:solidFill>
                  <a:srgbClr val="1B3B6F"/>
                </a:solidFill>
                <a:latin typeface="Calibri" pitchFamily="34" charset="0"/>
                <a:ea typeface="Calibri" pitchFamily="34" charset="-122"/>
                <a:cs typeface="Calibri" pitchFamily="34" charset="-120"/>
              </a:rPr>
              <a:t> = quickly · </a:t>
            </a:r>
            <a:pPr algn="l" indent="0" marL="0">
              <a:buNone/>
            </a:pPr>
            <a:r>
              <a:rPr lang="ar-SA" altLang="en-US" sz="2200" b="1" dirty="0">
                <a:solidFill>
                  <a:srgbClr val="1B3B6F"/>
                </a:solidFill>
                <a:latin typeface="Amiri" pitchFamily="34" charset="0"/>
                <a:ea typeface="Amiri" pitchFamily="34" charset="-122"/>
                <a:cs typeface="Amiri" pitchFamily="34" charset="-120"/>
              </a:rPr>
              <a:t>بِهُدُوءٍ</a:t>
            </a:r>
            <a:pPr algn="l" indent="0" marL="0">
              <a:buNone/>
            </a:pPr>
            <a:r>
              <a:rPr lang="en-US" sz="1700" b="1" dirty="0">
                <a:solidFill>
                  <a:srgbClr val="1B3B6F"/>
                </a:solidFill>
                <a:latin typeface="Calibri" pitchFamily="34" charset="0"/>
                <a:ea typeface="Calibri" pitchFamily="34" charset="-122"/>
                <a:cs typeface="Calibri" pitchFamily="34" charset="-120"/>
              </a:rPr>
              <a:t> = ______</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two past, two present, two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Answer the three topic-conversation questions in writing.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paragraph (100–120 words) with kuntu and 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GM-ADV-02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GM-ADV-03 · Adverb + Noun: Prepositional Phrases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التَّرَاكِيبُ الظَّرْفِيَّةُ بِالْجَارِّ وَالْمَجْرُورِ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time word does not replace the tense · past + yesterday · present + now / every day · sa- / sawfa + verb + tomorrow · lan + verb (-a) = will not.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GM-ADV-02 · Time Frames with Adverbs</dc:title>
  <dc:subject>PptxGenJS Presentation</dc:subject>
  <dc:creator>Al Madina Online School · Arabic Department</dc:creator>
  <cp:lastModifiedBy>Al Madina Online School · Arabic Department</cp:lastModifiedBy>
  <cp:revision>1</cp:revision>
  <dcterms:created xsi:type="dcterms:W3CDTF">2026-10-03T20:10:29Z</dcterms:created>
  <dcterms:modified xsi:type="dcterms:W3CDTF">2026-10-03T20:10:29Z</dcterms:modified>
</cp:coreProperties>
</file>