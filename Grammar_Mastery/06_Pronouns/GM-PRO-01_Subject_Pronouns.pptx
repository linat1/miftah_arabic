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GM-PRO-01 (“Subject Pronouns”).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core six (أَنَا · نَحْنُ · أَنْتَ · أَنْتِ · هُوَ · هِيَ) and pronoun + noun / adjective sentences with no “is” (هِيَ مُعَلِّمَةٌ). Develop: the full grid including dual and plural; mixed groups → هُمْ; pronoun + present verb (هِيَ تَدْرُسُ). Stretch: dropping the pronoun when the verb shows the subject; feminine dual verbs (هُمَا تَدْرُسَانِ); addressed feminine plural (أَنْتُنَّ تَكْتُبْنَ).
• Website “big difference”: English has one “you”; Arabic has five — decide gender and number BEFORE choosing.
• 14 grammatical slots, 12 written forms: أَنْتُمَا and هُمَا each cover masculine and feminine dual.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pronouns prepared at the end of GM-ADV-04.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pronoun answers three questions: WHO (person)? HOW MANY (number)? WHICH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“Every pronoun answers three questions” and “Singular, dual and plural forms”. Core six first (rows 1–5, singular column + نَحْنُ); then fill the dual and plural columns. Hand gestures: point to self (1st), to the camera (2nd), to the side (3rd).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“Arabic normally needs no separate am, is or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verb table and “feminine dual detail”. Note: anta tadrusu and hiya tadrusu look identical — context or the pronoun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mini-checks “build from the clues” and “build the description”.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From the website reading text. Ask three questions aloud each time: who? how many? which gender? Then point to the agreeing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say each in English with its gender: anti = you (one female)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say each in English with its gender: anti = you (one female)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“agreement detective”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Read it aloud once while students follow; then they hunt for today’s grammar.
Task: Website: who does each pronoun refer to? Draw an arrow from every pronoun to the person or group.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and “reading detective” questions; the final sentence is completed from the website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studio. Sequence: ● 10s think → ↔ 45s rehearse aloud with mic muted → ◎ two named students on open mic (warned in advance) → + ? the class types one follow-up in chat → ↺ one student summarises.
Routes: Core uses the Core prompt and stem; Develop the Develop prompt; Stretch the last prompt.
Website: at least six different pronouns; one nominal sentence, one present-verb sentence, one dual or plural form; answer “man huwa? man hiya? man hum?”.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7–10 connected sentences about your family or class, using pronouns to avoid repeating names.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based on the website listening studio characters,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website final mastery challenge questions 2, 4, 7 and 9.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(GM-PRO-02 · Possessive Pronoun Suffixes) will spend class time USING this language, so students prepare it tonight — short, simple, easy to access (school guidance: “Simple, Short, Interesting, Relevant, Easy to access”). The five words prepare GM-PRO-02 (website Pronouns lesson 2: possessive suffixes).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PRONOUNS  ·  GM-PRO-01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GM-PRO-01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Subject Pronouns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ضَمَائِرُ الرَّفْعِ الْمُنْفَصِلَةُ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Arabic pronouns show person, number AND gender: five different words for “you”. Learn the 12 forms as a grid, use them with no “is / are”, and let the pronoun choose the verb’s prefix and ending.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GM-PRO-01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Person, number, gender; the 12-form grid; no “is”; verb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pronouns from clues; sort;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GM-PRO-02.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one female student. Choose “you”.</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addresses two people of any gender?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أَنْتُمَا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refers to an all-female group?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________ الْعَرَبِيَّةَ.</a:t>
            </a:r>
            <a:endParaRPr lang="ar-SA" sz="15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Hiya means “she”; huwa means “he”.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one female student. Choose “you”.</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female addressee: anti (with a final -i sound).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addresses two people of any gender?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أَنْتُمَا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Antumā = you two — two males, two females or a mixed pair.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refers to an all-female group?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Hunna = three or more females; a mixed group uses hum.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________ الْعَرَبِيَّةَ.</a:t>
            </a:r>
            <a:endParaRPr lang="ar-SA" sz="15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تَدْرُسُ</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studies” = hiya tadrusu: the verb begins with ta-.</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Every pronoun answers three questions: WHO (person)? HOW MANY (number)? WHICH GENDER?</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أَنْتَ</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050" b="1" dirty="0">
                <a:solidFill>
                  <a:srgbClr val="D6336C"/>
                </a:solidFill>
                <a:latin typeface="Amiri" pitchFamily="34" charset="0"/>
                <a:ea typeface="Amiri" pitchFamily="34" charset="-122"/>
                <a:cs typeface="Amiri" pitchFamily="34" charset="-120"/>
              </a:rPr>
              <a:t>أَنْتِ</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أَنْتُمَا</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050" b="1" dirty="0">
                <a:solidFill>
                  <a:srgbClr val="D6336C"/>
                </a:solidFill>
                <a:latin typeface="Amiri" pitchFamily="34" charset="0"/>
                <a:ea typeface="Amiri" pitchFamily="34" charset="-122"/>
                <a:cs typeface="Amiri" pitchFamily="34" charset="-120"/>
              </a:rPr>
              <a:t>أَنْتُمْ</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أَنْتُنَّ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any pronoun from person, number and gender.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12 written forms, including the dual.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simple present sentences with no “is / are”.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Match the present verb to its pronoun.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know the core six pronouns.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she is a teacher with no “is”.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the dual and plural forms.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she studies with the right verb.</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drop the pronoun when the verb is clear.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two girls write and you (f. pl.) write.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الضَّمِيرُ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aḍ-ḍa-mī-ru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أَنَا · هُوَ · هِيَ</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الْمُتَكَلِّمُ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1st person (speaker)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al-mu-ta-kal-li-mu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أَنَا · نَحْنُ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الْمُخَاطَبُ</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2nd person (addressed)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al-mu-khā-ṭa-bu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أَنْتَ · أَنْتِ …</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الْغَائِبُ</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3rd person (spoken about)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al-ghā-ʾi-bu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هُوَ · هِيَ · هُمْ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الْمُثَنَّى</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dual (exactly two)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al-mu-than-nā</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أَنْتُمَا · هُمَا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الْجَمْعُ</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plural (three or more)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al-jam-ʿu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نَحْنُ · هُمْ · هُنَّ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FULL GRID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12 written forms, 14 slots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جَدْوَلُ الضَّمَائِرِ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 (3+)</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Dual (two)</a:t>
            </a:r>
            <a:endParaRPr lang="en-US" sz="1100" dirty="0"/>
          </a:p>
        </p:txBody>
      </p:sp>
      <p:sp>
        <p:nvSpPr>
          <p:cNvPr id="18" name="Text 15"/>
          <p:cNvSpPr txBox="1"/>
          <p:nvPr/>
        </p:nvSpPr>
        <p:spPr>
          <a:xfrm>
            <a:off x="23591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Singular</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12480" y="2267712"/>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22" name="Text 19"/>
          <p:cNvSpPr txBox="1"/>
          <p:nvPr/>
        </p:nvSpPr>
        <p:spPr>
          <a:xfrm>
            <a:off x="568756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3" name="Text 20"/>
          <p:cNvSpPr txBox="1"/>
          <p:nvPr/>
        </p:nvSpPr>
        <p:spPr>
          <a:xfrm>
            <a:off x="2377440" y="2267712"/>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4" name="Text 21"/>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1st (I / we)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412480" y="3004718"/>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a:t>
            </a:r>
            <a:endParaRPr lang="ar-SA" sz="2400" dirty="0"/>
          </a:p>
        </p:txBody>
      </p:sp>
      <p:sp>
        <p:nvSpPr>
          <p:cNvPr id="29" name="Text 26"/>
          <p:cNvSpPr txBox="1"/>
          <p:nvPr/>
        </p:nvSpPr>
        <p:spPr>
          <a:xfrm>
            <a:off x="566928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أَنْتُمَا</a:t>
            </a:r>
            <a:endParaRPr lang="ar-SA" sz="2400" dirty="0"/>
          </a:p>
        </p:txBody>
      </p:sp>
      <p:sp>
        <p:nvSpPr>
          <p:cNvPr id="30" name="Text 27"/>
          <p:cNvSpPr txBox="1"/>
          <p:nvPr/>
        </p:nvSpPr>
        <p:spPr>
          <a:xfrm>
            <a:off x="2377440" y="300471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1" name="Text 28"/>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2nd m. (you)</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412480" y="3741725"/>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أَنْتُنَّ</a:t>
            </a:r>
            <a:endParaRPr lang="ar-SA" sz="2400" dirty="0"/>
          </a:p>
        </p:txBody>
      </p:sp>
      <p:sp>
        <p:nvSpPr>
          <p:cNvPr id="36" name="Text 33"/>
          <p:cNvSpPr txBox="1"/>
          <p:nvPr/>
        </p:nvSpPr>
        <p:spPr>
          <a:xfrm>
            <a:off x="566928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أَنْتُمَا</a:t>
            </a:r>
            <a:endParaRPr lang="ar-SA" sz="2400" dirty="0"/>
          </a:p>
        </p:txBody>
      </p:sp>
      <p:sp>
        <p:nvSpPr>
          <p:cNvPr id="37" name="Text 34"/>
          <p:cNvSpPr txBox="1"/>
          <p:nvPr/>
        </p:nvSpPr>
        <p:spPr>
          <a:xfrm>
            <a:off x="2377440" y="3741725"/>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8" name="Text 35"/>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2nd f. (you)</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412480" y="4478731"/>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43" name="Text 40"/>
          <p:cNvSpPr txBox="1"/>
          <p:nvPr/>
        </p:nvSpPr>
        <p:spPr>
          <a:xfrm>
            <a:off x="566928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هُمَا</a:t>
            </a:r>
            <a:endParaRPr lang="ar-SA" sz="2400" dirty="0"/>
          </a:p>
        </p:txBody>
      </p:sp>
      <p:sp>
        <p:nvSpPr>
          <p:cNvPr id="44" name="Text 41"/>
          <p:cNvSpPr txBox="1"/>
          <p:nvPr/>
        </p:nvSpPr>
        <p:spPr>
          <a:xfrm>
            <a:off x="2377440" y="4478731"/>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45" name="Text 42"/>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3rd m. (he / they)</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412480" y="5215738"/>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هُنَّ</a:t>
            </a:r>
            <a:endParaRPr lang="ar-SA" sz="2400" dirty="0"/>
          </a:p>
        </p:txBody>
      </p:sp>
      <p:sp>
        <p:nvSpPr>
          <p:cNvPr id="50" name="Text 47"/>
          <p:cNvSpPr txBox="1"/>
          <p:nvPr/>
        </p:nvSpPr>
        <p:spPr>
          <a:xfrm>
            <a:off x="566928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هُمَا</a:t>
            </a:r>
            <a:endParaRPr lang="ar-SA" sz="2400" dirty="0"/>
          </a:p>
        </p:txBody>
      </p:sp>
      <p:sp>
        <p:nvSpPr>
          <p:cNvPr id="51" name="Text 48"/>
          <p:cNvSpPr txBox="1"/>
          <p:nvPr/>
        </p:nvSpPr>
        <p:spPr>
          <a:xfrm>
            <a:off x="2377440" y="521573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52" name="Text 49"/>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3rd f. (she / they)</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first-person forms never change for gender; the two dual forms serve both genders — that is why 14 slots have only 12 spellings. A mixed group takes hum.</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NO SEPARATE “AM, IS, ARE”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Pronoun + description = a full sentence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الضَّمِيرُ فِي الْجُمْلَةِ الِاسْمِيَّةِ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 pronoun can begin a present-time nominal sentence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Put the information straight after it — Arabic has no word for “am / is / are” here.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description agrees with the pronoun: hiya → muʿallima (f.); hum → plural.</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Anā is shared by boys and girls: the description shows the speaker’s gender.</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Website note: “was” (kāna) and “is not” (laysa) belong to later grammar.</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هُوَ مُهَنْدِسٌ.</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 is an engineer.  ·  website · + noun</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أَنْتِ مُجْتَهِدَةٌ.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You are hardworking (one female).  ·  website · + adjective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نَحْنُ فِي الْفَصْلِ.</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We are in the classroom.  ·  website · + place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هُمَا مُجْتَهِدَتَانِ.</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They two are hardworking (f.).  ·  website · dual</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COMMON ERROR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 not translate “is” word for word: “anā akūnu ṭāliba” is wrong — just say anā ṭālibatun.</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 PART 3 · THE PRONOUN CONTROLS THE PRESENT VERB (WEBSITE TABLE)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Prefix and ending show the subject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الضَّمِيرُ وَالْفِعْلُ الْمُضَارِعُ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to study</a:t>
            </a:r>
            <a:endParaRPr lang="en-US" sz="1100" dirty="0"/>
          </a:p>
        </p:txBody>
      </p:sp>
      <p:sp>
        <p:nvSpPr>
          <p:cNvPr id="18" name="Text 15"/>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na-</a:t>
            </a:r>
            <a:endParaRPr lang="en-US" sz="1100" dirty="0"/>
          </a:p>
        </p:txBody>
      </p:sp>
      <p:sp>
        <p:nvSpPr>
          <p:cNvPr id="22" name="Text 19"/>
          <p:cNvSpPr txBox="1"/>
          <p:nvPr/>
        </p:nvSpPr>
        <p:spPr>
          <a:xfrm>
            <a:off x="530352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أَدْرُسُ · نَدْرُسُ</a:t>
            </a:r>
            <a:endParaRPr lang="ar-SA" sz="2400" dirty="0"/>
          </a:p>
        </p:txBody>
      </p:sp>
      <p:sp>
        <p:nvSpPr>
          <p:cNvPr id="23" name="Text 20"/>
          <p:cNvSpPr txBox="1"/>
          <p:nvPr/>
        </p:nvSpPr>
        <p:spPr>
          <a:xfrm>
            <a:off x="294436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 we</a:t>
            </a:r>
            <a:endParaRPr lang="en-US" sz="11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 · نَحْنُ</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 ta-…-īna</a:t>
            </a:r>
            <a:endParaRPr lang="en-US" sz="1100" dirty="0"/>
          </a:p>
        </p:txBody>
      </p:sp>
      <p:sp>
        <p:nvSpPr>
          <p:cNvPr id="29" name="Text 26"/>
          <p:cNvSpPr txBox="1"/>
          <p:nvPr/>
        </p:nvSpPr>
        <p:spPr>
          <a:xfrm>
            <a:off x="530352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تَدْرُسُ · تَدْرُسِينَ</a:t>
            </a:r>
            <a:endParaRPr lang="ar-SA" sz="2400" dirty="0"/>
          </a:p>
        </p:txBody>
      </p:sp>
      <p:sp>
        <p:nvSpPr>
          <p:cNvPr id="30" name="Text 27"/>
          <p:cNvSpPr txBox="1"/>
          <p:nvPr/>
        </p:nvSpPr>
        <p:spPr>
          <a:xfrm>
            <a:off x="294436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 · f.</a:t>
            </a:r>
            <a:endParaRPr lang="en-US" sz="11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 · أَنْتِ</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 · ta-</a:t>
            </a:r>
            <a:endParaRPr lang="en-US" sz="1100" dirty="0"/>
          </a:p>
        </p:txBody>
      </p:sp>
      <p:sp>
        <p:nvSpPr>
          <p:cNvPr id="36" name="Text 33"/>
          <p:cNvSpPr txBox="1"/>
          <p:nvPr/>
        </p:nvSpPr>
        <p:spPr>
          <a:xfrm>
            <a:off x="530352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يَدْرُسُ · تَدْرُسُ</a:t>
            </a:r>
            <a:endParaRPr lang="ar-SA" sz="2400" dirty="0"/>
          </a:p>
        </p:txBody>
      </p:sp>
      <p:sp>
        <p:nvSpPr>
          <p:cNvPr id="37" name="Text 34"/>
          <p:cNvSpPr txBox="1"/>
          <p:nvPr/>
        </p:nvSpPr>
        <p:spPr>
          <a:xfrm>
            <a:off x="294436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 she</a:t>
            </a:r>
            <a:endParaRPr lang="en-US" sz="1100" dirty="0"/>
          </a:p>
        </p:txBody>
      </p:sp>
      <p:sp>
        <p:nvSpPr>
          <p:cNvPr id="38" name="Text 35"/>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 · 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-āni (two girls: ta-…-āni)</a:t>
            </a:r>
            <a:endParaRPr lang="en-US" sz="1100" dirty="0"/>
          </a:p>
        </p:txBody>
      </p:sp>
      <p:sp>
        <p:nvSpPr>
          <p:cNvPr id="43" name="Text 40"/>
          <p:cNvSpPr txBox="1"/>
          <p:nvPr/>
        </p:nvSpPr>
        <p:spPr>
          <a:xfrm>
            <a:off x="530352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تَدْرُسَانِ · يَدْرُسَانِ</a:t>
            </a:r>
            <a:endParaRPr lang="ar-SA" sz="2400" dirty="0"/>
          </a:p>
        </p:txBody>
      </p:sp>
      <p:sp>
        <p:nvSpPr>
          <p:cNvPr id="44" name="Text 41"/>
          <p:cNvSpPr txBox="1"/>
          <p:nvPr/>
        </p:nvSpPr>
        <p:spPr>
          <a:xfrm>
            <a:off x="294436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two · they two</a:t>
            </a:r>
            <a:endParaRPr lang="en-US" sz="1100" dirty="0"/>
          </a:p>
        </p:txBody>
      </p:sp>
      <p:sp>
        <p:nvSpPr>
          <p:cNvPr id="45" name="Text 42"/>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أَنْتُمَا · هُمَا</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-ūna</a:t>
            </a:r>
            <a:endParaRPr lang="en-US" sz="1100" dirty="0"/>
          </a:p>
        </p:txBody>
      </p:sp>
      <p:sp>
        <p:nvSpPr>
          <p:cNvPr id="48" name="Text 45"/>
          <p:cNvSpPr txBox="1"/>
          <p:nvPr/>
        </p:nvSpPr>
        <p:spPr>
          <a:xfrm>
            <a:off x="530352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تَدْرُسُونَ · يَدْرُسُونَ</a:t>
            </a:r>
            <a:endParaRPr lang="ar-SA" sz="2400" dirty="0"/>
          </a:p>
        </p:txBody>
      </p:sp>
      <p:sp>
        <p:nvSpPr>
          <p:cNvPr id="49" name="Text 46"/>
          <p:cNvSpPr txBox="1"/>
          <p:nvPr/>
        </p:nvSpPr>
        <p:spPr>
          <a:xfrm>
            <a:off x="294436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 they (m. / mixed)</a:t>
            </a:r>
            <a:endParaRPr lang="en-US" sz="1100" dirty="0"/>
          </a:p>
        </p:txBody>
      </p:sp>
      <p:sp>
        <p:nvSpPr>
          <p:cNvPr id="50" name="Text 47"/>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 · 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a:t>
            </a:r>
            <a:endParaRPr lang="en-US" sz="1100" dirty="0"/>
          </a:p>
        </p:txBody>
      </p:sp>
      <p:sp>
        <p:nvSpPr>
          <p:cNvPr id="53" name="Text 50"/>
          <p:cNvSpPr txBox="1"/>
          <p:nvPr/>
        </p:nvSpPr>
        <p:spPr>
          <a:xfrm>
            <a:off x="530352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تَدْرُسْنَ · يَدْرُسْنَ</a:t>
            </a:r>
            <a:endParaRPr lang="ar-SA" sz="2400" dirty="0"/>
          </a:p>
        </p:txBody>
      </p:sp>
      <p:sp>
        <p:nvSpPr>
          <p:cNvPr id="54" name="Text 51"/>
          <p:cNvSpPr txBox="1"/>
          <p:nvPr/>
        </p:nvSpPr>
        <p:spPr>
          <a:xfrm>
            <a:off x="294436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 they (f.)</a:t>
            </a:r>
            <a:endParaRPr lang="en-US" sz="1100" dirty="0"/>
          </a:p>
        </p:txBody>
      </p:sp>
      <p:sp>
        <p:nvSpPr>
          <p:cNvPr id="55" name="Text 52"/>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أَنْتُنَّ · هُنَّ</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verb already contains the subject, so adrusu alone means “I study”. Add anā for clarity, contrast or emphasis.</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First person + plural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Second person + singular + masculine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a teacher.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مُعَلِّمٌ.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مُعَلِّمَةٌ.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مُعَلِّمٌ.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Ali, Sara and Mona are students. Which pronoun refers to the mixed group?</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First person + plural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speakers include themselves: naḥnu =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Second person + singular + masculine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Speaking directly to one male: anta.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a teacher.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مُعَلِّمٌ.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مُعَلِّمَةٌ.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مُعَلِّمٌ.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pronoun and profession are feminine.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Ali, Sara and Mona are students. Which pronoun refers to the mixed group?</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mixed plural group normally uses hum.</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choose the pronoun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Person?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أَتَكَلَّمُ عَنْ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Spoken about → 3rd.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many?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أُخْتَانِ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 dual.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Pronoun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هُمَا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Dual: hum-ā.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هُمَا تَقْرَآنِ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girls → ta-…-āni.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PRONOUN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AGREEING WORD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34" charset="0"/>
                <a:ea typeface="Amiri" pitchFamily="34" charset="-122"/>
                <a:cs typeface="Amiri" pitchFamily="34" charset="-120"/>
              </a:rPr>
              <a:t>أَنَا</a:t>
            </a:r>
            <a:pPr rtl="1" algn="r" indent="0" marL="0">
              <a:buNone/>
            </a:pPr>
            <a:r>
              <a:rPr lang="ar-SA" altLang="en-US" sz="2600" b="1" dirty="0">
                <a:solidFill>
                  <a:srgbClr val="1B3B6F"/>
                </a:solidFill>
                <a:latin typeface="Amiri" pitchFamily="34" charset="0"/>
                <a:ea typeface="Amiri" pitchFamily="34" charset="-122"/>
                <a:cs typeface="Amiri" pitchFamily="34" charset="-120"/>
              </a:rPr>
              <a:t> لَيْلَى، وَ</a:t>
            </a:r>
            <a:pPr rtl="1" algn="r" indent="0" marL="0">
              <a:buNone/>
            </a:pPr>
            <a:r>
              <a:rPr lang="ar-SA" altLang="en-US" sz="2600" b="1" dirty="0">
                <a:solidFill>
                  <a:srgbClr val="0E7C86"/>
                </a:solidFill>
                <a:latin typeface="Amiri" pitchFamily="34" charset="0"/>
                <a:ea typeface="Amiri" pitchFamily="34" charset="-122"/>
                <a:cs typeface="Amiri" pitchFamily="34" charset="-120"/>
              </a:rPr>
              <a:t>أَنَا</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طَالِبَةٌ</a:t>
            </a:r>
            <a:pPr rtl="1" algn="r" indent="0" marL="0">
              <a:buNone/>
            </a:pPr>
            <a:r>
              <a:rPr lang="ar-SA" altLang="en-US" sz="2600" b="1" dirty="0">
                <a:solidFill>
                  <a:srgbClr val="1B3B6F"/>
                </a:solidFill>
                <a:latin typeface="Amiri" pitchFamily="34" charset="0"/>
                <a:ea typeface="Amiri" pitchFamily="34" charset="-122"/>
                <a:cs typeface="Amiri" pitchFamily="34" charset="-120"/>
              </a:rPr>
              <a:t>. لِي أُخْتَانِ؛ </a:t>
            </a:r>
            <a:pPr rtl="1" algn="r" indent="0" marL="0">
              <a:buNone/>
            </a:pPr>
            <a:r>
              <a:rPr lang="ar-SA" altLang="en-US" sz="2600" b="1" dirty="0">
                <a:solidFill>
                  <a:srgbClr val="0E7C86"/>
                </a:solidFill>
                <a:latin typeface="Amiri" pitchFamily="34" charset="0"/>
                <a:ea typeface="Amiri" pitchFamily="34" charset="-122"/>
                <a:cs typeface="Amiri" pitchFamily="34" charset="-120"/>
              </a:rPr>
              <a:t>هُمَا</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مُجْتَهِدَتَانِ</a:t>
            </a:r>
            <a:pPr rtl="1" algn="r" indent="0" marL="0">
              <a:buNone/>
            </a:pPr>
            <a:r>
              <a:rPr lang="ar-SA" altLang="en-US" sz="2600" b="1" dirty="0">
                <a:solidFill>
                  <a:srgbClr val="1B3B6F"/>
                </a:solidFill>
                <a:latin typeface="Amiri" pitchFamily="34" charset="0"/>
                <a:ea typeface="Amiri" pitchFamily="34" charset="-122"/>
                <a:cs typeface="Amiri" pitchFamily="34" charset="-120"/>
              </a:rPr>
              <a:t>، وَ</a:t>
            </a:r>
            <a:pPr rtl="1" algn="r" indent="0" marL="0">
              <a:buNone/>
            </a:pPr>
            <a:r>
              <a:rPr lang="ar-SA" altLang="en-US" sz="2600" b="1" dirty="0">
                <a:solidFill>
                  <a:srgbClr val="0E7C86"/>
                </a:solidFill>
                <a:latin typeface="Amiri" pitchFamily="34" charset="0"/>
                <a:ea typeface="Amiri" pitchFamily="34" charset="-122"/>
                <a:cs typeface="Amiri" pitchFamily="34" charset="-120"/>
              </a:rPr>
              <a:t>هُمَا</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تَقْرَآنِ</a:t>
            </a:r>
            <a:pPr rtl="1" algn="r" indent="0" marL="0">
              <a:buNone/>
            </a:pPr>
            <a:r>
              <a:rPr lang="ar-SA" altLang="en-US" sz="2600" b="1" dirty="0">
                <a:solidFill>
                  <a:srgbClr val="1B3B6F"/>
                </a:solidFill>
                <a:latin typeface="Amiri" pitchFamily="34" charset="0"/>
                <a:ea typeface="Amiri" pitchFamily="34" charset="-122"/>
                <a:cs typeface="Amiri" pitchFamily="34" charset="-120"/>
              </a:rPr>
              <a:t> كُلَّ يَوْمٍ.</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am Layla, and I am a student. I have two sisters; they are hardworking, and they read every day.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أَبِي، وَهُوَ مُهَنْدِسٌ.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my father, and he is an engineer.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reading text.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يَا مَرْيَمُ، أَنْتِ مُجْتَهِدَةٌ.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Maryam, you are hardworking.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clinic: anti.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هُمْ مِنْ لَنْدَنَ.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They are from London.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 place phrase.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 أَدْرُسُ الْعَرَبِيَّةَ، وَهُوَ يَدْرُسُ الْفَرَنْسِيَّةَ.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study Arabic, and he studies French.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pronouns for contrast.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HOW MANY PEOPLE?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Singular, dual or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مُفْرَدٌ أَمْ مُثَنًّى أَمْ 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نَحْنُ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هُمَا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أَنْتُنَّ</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One</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Exactly two</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Three or more</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One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Exactly two</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هُمَا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Three or more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نَحْنُ</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هُنَّ</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أَنْتُنَّ</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يَا مَرْيَمُ، أَنْتَ مُجْتَهِدَةٌ.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addressed?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يَدْرُسُ.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prefix for she?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عَلِيٌّ وَسَارَةُ وَمُنَى: هُنَّ طُلَّابٌ.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group all female?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يَا مَرْيَمُ، أَنْتَ مُجْتَهِدَةٌ.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يَا مَرْيَمُ، أَنْتِ مُجْتَهِدَةٌ.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Choose by the person addressed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يَدْرُسُ.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تَدْرُسُ.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She → ta-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عَلِيٌّ وَسَارَةُ وَمُنَى: هُنَّ طُلَّابٌ.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عَلِيٌّ وَسَارَةُ وَمُنَى: هُمْ طُلَّابٌ.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mixed group takes hum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MINI-CHECK “AGREEMENT DETECTIVE”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أَنْتِ ________ رِسَالَةً.</a:t>
            </a:r>
            <a:endParaRPr lang="ar-SA"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تَكْتُبِينَ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هُمْ ________ إِلَى الْمَدْرَسَةِ.</a:t>
            </a:r>
            <a:endParaRPr lang="ar-SA"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تَذْهَبْنَ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يَذْهَبُونَ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يَذْهَبَانِ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Two sisters are studying. 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هُمَا ________.</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يَدْرُسَانِ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تَدْرُسَانِ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“You all write” to an all-female group?</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أَنْتُمْ تَكْتُبُونَ.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 يَكْتُبْنَ.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أَنْتُنَّ تَكْتُبْنَ.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أَنْتِ ________ رِسَالَةً.</a:t>
            </a:r>
            <a:endParaRPr lang="ar-SA"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تَكْتُبُ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يَكْتُبُونَ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تَكْتُبِينَ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female addressed: anti taktubīna.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هُمْ ________ إِلَى الْمَدْرَسَةِ.</a:t>
            </a:r>
            <a:endParaRPr lang="ar-SA"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تَذْهَبْنَ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يَذْهَبُونَ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يَذْهَبَانِ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 mixed plural: hum yadhhabūna.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Two sisters are studying. 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هُمَا ________.</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يَدْرُسَانِ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تَدْرُسَانِ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females: humā tadrusāni.</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“You all write” to an all-female group?</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أَنْتُمْ تَكْتُبُونَ.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 يَكْتُبْنَ.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أَنْتُنَّ تَكْتُبْنَ.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Addressed feminine plural: antunna taktubna.</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Layla’s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34" charset="0"/>
                <a:ea typeface="Amiri" pitchFamily="34" charset="-122"/>
                <a:cs typeface="Amiri" pitchFamily="34" charset="-120"/>
              </a:rPr>
              <a:t>أَنَا لَيْلَى، وَأَنَا طَالِبَةٌ فِي مَدْرَسَةٍ فِي لَنْدَنَ. أَعِيشُ مَعَ أُسْرَتِي. هُوَ أَبِي، وَهُوَ مُهَنْدِسٌ. هِيَ أُمِّي، وَهِيَ مُعَلِّمَةٌ. لِي أَخَوَانِ. هُمَا طَالِبَانِ، وَهُمَا يُحِبَّانِ الرِّيَاضَةَ. لِي أُخْتَانِ أَيْضًا. هُمَا مُجْتَهِدَتَانِ، وَهُمَا تَقْرَآنِ كُلَّ يَوْمٍ. فِي نِهَايَةِ الْأُسْبُوعِ نَحْنُ نَذْهَبُ إِلَى الْحَدِيقَةِ.</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أَعِيشُ</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live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أُسْرَتِي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family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have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أَخَوَانِ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brothers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أُخْتَانِ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sisters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يُحِبَّانِ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(two) love</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تَقْرَآنِ</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(two f.) read</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first </a:t>
            </a:r>
            <a:pPr algn="l" indent="0" marL="0">
              <a:buNone/>
            </a:pPr>
            <a:r>
              <a:rPr lang="ar-SA" altLang="en-US" sz="1650" b="1" dirty="0">
                <a:solidFill>
                  <a:srgbClr val="1B3B6F"/>
                </a:solidFill>
                <a:latin typeface="Amiri" pitchFamily="34" charset="0"/>
                <a:ea typeface="Amiri" pitchFamily="34" charset="-122"/>
                <a:cs typeface="Amiri" pitchFamily="34" charset="-120"/>
              </a:rPr>
              <a:t>هُوَ</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 mother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 father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sentence “they two are students (m.)” refers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two sisters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parents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two brothers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verb for the two sisters begin with ta-?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refers to two females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refers to one male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dual verbs begin with </a:t>
            </a:r>
            <a:pPr algn="l" indent="0" marL="0">
              <a:buNone/>
            </a:pPr>
            <a:r>
              <a:rPr lang="ar-SA" altLang="en-US" sz="1650" dirty="0">
                <a:solidFill>
                  <a:srgbClr val="1F2A37"/>
                </a:solidFill>
                <a:latin typeface="Amiri" pitchFamily="34" charset="0"/>
                <a:ea typeface="Amiri" pitchFamily="34" charset="-122"/>
                <a:cs typeface="Amiri" pitchFamily="34" charset="-120"/>
              </a:rPr>
              <a:t>ت</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included in </a:t>
            </a:r>
            <a:pPr algn="l" indent="0" marL="0">
              <a:buNone/>
            </a:pPr>
            <a:r>
              <a:rPr lang="ar-SA" altLang="en-US" sz="1650" b="1" dirty="0">
                <a:solidFill>
                  <a:srgbClr val="1B3B6F"/>
                </a:solidFill>
                <a:latin typeface="Amiri" pitchFamily="34" charset="0"/>
                <a:ea typeface="Amiri" pitchFamily="34" charset="-122"/>
                <a:cs typeface="Amiri" pitchFamily="34" charset="-120"/>
              </a:rPr>
              <a:t>نَحْنُ نَذْهَبُ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brothers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and her family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parents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first </a:t>
            </a:r>
            <a:pPr algn="l" indent="0" marL="0">
              <a:buNone/>
            </a:pPr>
            <a:r>
              <a:rPr lang="ar-SA" altLang="en-US" sz="1650" b="1" dirty="0">
                <a:solidFill>
                  <a:srgbClr val="1B3B6F"/>
                </a:solidFill>
                <a:latin typeface="Amiri" pitchFamily="34" charset="0"/>
                <a:ea typeface="Amiri" pitchFamily="34" charset="-122"/>
                <a:cs typeface="Amiri" pitchFamily="34" charset="-120"/>
              </a:rPr>
              <a:t>هُوَ</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Layla’s mother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Layla’s father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“he is my father”.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sentence “they two are students (m.)” refers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two sisters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parents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two brothers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dual follows “two brothers”.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verb for the two sisters begin with ta-?</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refers to two females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refers to one male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dual verbs begin with </a:t>
            </a:r>
            <a:pPr algn="l" indent="0" marL="0">
              <a:buNone/>
            </a:pPr>
            <a:r>
              <a:rPr lang="ar-SA" altLang="en-US" sz="1650" dirty="0">
                <a:solidFill>
                  <a:srgbClr val="9AA1AB"/>
                </a:solidFill>
                <a:latin typeface="Amiri" pitchFamily="34" charset="0"/>
                <a:ea typeface="Amiri" pitchFamily="34" charset="-122"/>
                <a:cs typeface="Amiri" pitchFamily="34" charset="-120"/>
              </a:rPr>
              <a:t>ت</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subject is the two sisters → feminine dual ta-…-āni.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included in </a:t>
            </a:r>
            <a:pPr algn="l" indent="0" marL="0">
              <a:buNone/>
            </a:pPr>
            <a:r>
              <a:rPr lang="ar-SA" altLang="en-US" sz="1650" b="1" dirty="0">
                <a:solidFill>
                  <a:srgbClr val="1B3B6F"/>
                </a:solidFill>
                <a:latin typeface="Amiri" pitchFamily="34" charset="0"/>
                <a:ea typeface="Amiri" pitchFamily="34" charset="-122"/>
                <a:cs typeface="Amiri" pitchFamily="34" charset="-120"/>
              </a:rPr>
              <a:t>نَحْنُ نَذْهَبُ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brothers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 and her family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parents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Naḥnu includes Layla and her family.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Speaking studio: introduce your circle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أَنْتَ؟ مَنْ هُوَ صَدِيقُكَ؟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قَدِّمْ أُسْرَتَكَ: أَنَا … هُوَ … هِيَ … هُمَا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هُمْ أَصْدِقَاؤُكَ؟ مَاذَا يَفْعَلُونَ؟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أَنَا ___ ، وَهُوَ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هِيَ أُمِّي، وَهِيَ ___ . هُمَا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نَحْنُ ___ ، وَهُمْ ___ كُلَّ يَوْمٍ.</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هِيَ؟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is she?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هِيَ أُخْتِي سَارَةُ. هِيَ طَالِبَةٌ، وَتَدْرُسُ الطِّبَّ. نَحْنُ نُحِبُّ الْقِرَاءَةَ.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She is my sister Sara. She is a student, and she studies medicine. We love reading.</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Introduce six people with he / she / I / we.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Pronoun + noun or adjective — no “is”.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dual and a plural, and present verbs.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 prefix and ending against the grid.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writing workshop: my family or class.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pronoun only where it adds clarity.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هُمَا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They two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They (a group)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تَدْرُسُ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studies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 (one female)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is my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is a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نَحْنُ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are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أَنَا  ·  نَحْنُ  ·  أَنْتَ  ·  أَنْتِ  ·  هُوَ  ·  هِيَ  ·  هُمَا  ·  هُمْ  ·  هُنَّ  ·  طَالِبٌ  ·  طَالِبَةٌ  ·  مُجْتَهِدَانِ  ·  مُعَلِّمَةٌ  ·  يَدْرُسُ  ·  تَدْرُسُ</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workshop: 7–10 connected sentences about your family or class.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Six different pronouns.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nominal sentence with no “is”.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present verb that matches its pronoun.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dual form with correct agreement.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Hum for a mixed group; hunna only for all-female.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طَالِبٌ / طَالِبَةٌ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a student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أَبِي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is my father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هُمَا تَوْأَمَانِ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are twins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نَحْنُ نَعِيشُ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live in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هُمْ أَصْدِقَائِي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are my friends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هُنَّ أَخَوَاتِي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are my sisters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أَنَا يُوسُفُ، وَأَنَا فِي الصَّفِّ التَّاسِعِ. هَذَا صَدِيقِي عُمَرُ؛ هُوَ ذَكِيٌّ وَيُحِبُّ الرِّيَاضِيَّاتِ. أُخْتِي مَرْيَمُ مَعَنَا فِي الْمَدْرَسَةِ، وَهِيَ تَدْرُسُ الْعَرَبِيَّةَ. فِي صَفِّنَا طَالِبَتَانِ جَدِيدَتَانِ؛ هُمَا مُجْتَهِدَتَانِ، وَتَتَكَلَّمَانِ الْعَرَبِيَّةَ جَيِّدًا. نَحْنُ نَلْعَبُ مَعًا بَعْدَ الْمَدْرَسَةِ، وَهُمْ أَصْدِقَاءُ رَائِعُونَ.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am Yusuf, and I am in Year 9. This is my friend Omar; he is clever and loves maths. My sister Maryam is with us at school, and she studies Arabic. In our class there are two new girls; they are hardworking and speak Arabic well. We play together after school, and they are great friends.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1st person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3rd singular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dual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plural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six different pronouns.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translate “is” word for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verbs match their pronouns.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dual for exactly two people.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Hum for mixed groups; hunna for all-female.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two”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أَنْتُمَا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two are doctors” for two women.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 طَبِيبَتَانِ.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هُمَا طَبِيبَتَانِ.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هُمَا طَبِيبَانِ.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Two girls write. Choose the full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هُمَا تَكْتُبَانِ.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هُمَا يَكْتُبَانِ.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 تَكْتُبَانِ.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two”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أَنْتُمَا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هُمَا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أَنْتُمْ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Second-person dual: antumā.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two are doctors” for two women.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هُنَّ طَبِيبَتَانِ.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هُمَا طَبِيبَتَانِ.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هُمَا طَبِيبَانِ.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Pronoun humā; feminine dual predicate.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Two girls write. Choose the full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هُمَا تَكْتُبَانِ.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هُمَا يَكْتُبَانِ.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هُنَّ تَكْتُبَانِ.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dual third person: humā taktubāni.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An all-female group says “we”. Which pronoun?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 ________ الْعَرَبِيَّةَ.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تَدْرُسُونَ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يَدْرُسُونَ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normally refers to Ali, Sara and Fatima together?</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أَنْتُنَّ تَذْهَبْنَ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go, all female</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two go</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all go, all female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6"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An all-female group says “we”. Which pronoun?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a:t>
            </a:r>
            <a:endParaRPr lang="ar-SA" sz="1700" dirty="0"/>
          </a:p>
        </p:txBody>
      </p:sp>
      <p:sp>
        <p:nvSpPr>
          <p:cNvPr id="23" name="Shape 21"/>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أَنْتُنَّ</a:t>
            </a:r>
            <a:endParaRPr lang="ar-SA" sz="1700" dirty="0"/>
          </a:p>
        </p:txBody>
      </p:sp>
      <p:sp>
        <p:nvSpPr>
          <p:cNvPr id="30"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First-person plural has no gender: naḥnu.</a:t>
            </a:r>
            <a:endParaRPr lang="en-US" sz="1050" dirty="0"/>
          </a:p>
        </p:txBody>
      </p:sp>
      <p:sp>
        <p:nvSpPr>
          <p:cNvPr id="31"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 ________ الْعَرَبِيَّةَ.</a:t>
            </a:r>
            <a:endParaRPr lang="ar-SA" sz="1500" dirty="0"/>
          </a:p>
        </p:txBody>
      </p:sp>
      <p:sp>
        <p:nvSpPr>
          <p:cNvPr id="36" name="Shape 34"/>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تَدْرُسُونَ</a:t>
            </a:r>
            <a:endParaRPr lang="ar-SA" sz="1700" dirty="0"/>
          </a:p>
        </p:txBody>
      </p:sp>
      <p:sp>
        <p:nvSpPr>
          <p:cNvPr id="40" name="Shape 38"/>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يَدْرُسُونَ</a:t>
            </a:r>
            <a:endParaRPr lang="ar-SA" sz="1700" dirty="0"/>
          </a:p>
        </p:txBody>
      </p:sp>
      <p:sp>
        <p:nvSpPr>
          <p:cNvPr id="43"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تَدْرُسْنَ</a:t>
            </a:r>
            <a:endParaRPr lang="ar-SA" sz="1700" dirty="0"/>
          </a:p>
        </p:txBody>
      </p:sp>
      <p:sp>
        <p:nvSpPr>
          <p:cNvPr id="46"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Addressed masculine / mixed plural: antum tadrusūna.</a:t>
            </a:r>
            <a:endParaRPr lang="en-US" sz="1050" dirty="0"/>
          </a:p>
        </p:txBody>
      </p:sp>
      <p:sp>
        <p:nvSpPr>
          <p:cNvPr id="47"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normally refers to Ali, Sara and Fatima together?</a:t>
            </a:r>
            <a:endParaRPr lang="en-US" sz="1250" dirty="0"/>
          </a:p>
        </p:txBody>
      </p:sp>
      <p:sp>
        <p:nvSpPr>
          <p:cNvPr id="51"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a:t>
            </a:r>
            <a:endParaRPr lang="ar-SA" sz="1700" dirty="0"/>
          </a:p>
        </p:txBody>
      </p:sp>
      <p:sp>
        <p:nvSpPr>
          <p:cNvPr id="54" name="Shape 52"/>
          <p:cNvSpPr/>
          <p:nvPr/>
        </p:nvSpPr>
        <p:spPr>
          <a:xfrm>
            <a:off x="640080" y="5202936"/>
            <a:ext cx="256032" cy="256032"/>
          </a:xfrm>
          <a:prstGeom prst="ellipse">
            <a:avLst/>
          </a:prstGeom>
          <a:solidFill>
            <a:srgbClr val="C9CED6"/>
          </a:solidFill>
          <a:ln w="12700">
            <a:solidFill>
              <a:srgbClr val="C9CED6"/>
            </a:solidFill>
            <a:prstDash val="solid"/>
          </a:ln>
        </p:spPr>
      </p:sp>
      <p:sp>
        <p:nvSpPr>
          <p:cNvPr id="55"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هُمَا</a:t>
            </a:r>
            <a:endParaRPr lang="ar-SA" sz="1700" dirty="0"/>
          </a:p>
        </p:txBody>
      </p:sp>
      <p:sp>
        <p:nvSpPr>
          <p:cNvPr id="57" name="Shape 55"/>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640080" y="5574792"/>
            <a:ext cx="256032" cy="256032"/>
          </a:xfrm>
          <a:prstGeom prst="ellipse">
            <a:avLst/>
          </a:prstGeom>
          <a:solidFill>
            <a:srgbClr val="2E8B57"/>
          </a:solidFill>
          <a:ln w="12700">
            <a:solidFill>
              <a:srgbClr val="2E8B57"/>
            </a:solidFill>
            <a:prstDash val="solid"/>
          </a:ln>
        </p:spPr>
      </p:sp>
      <p:sp>
        <p:nvSpPr>
          <p:cNvPr id="59"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هُمْ</a:t>
            </a:r>
            <a:endParaRPr lang="ar-SA" sz="1700" dirty="0"/>
          </a:p>
        </p:txBody>
      </p:sp>
      <p:sp>
        <p:nvSpPr>
          <p:cNvPr id="61"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mixed human group normally takes hum.</a:t>
            </a:r>
            <a:endParaRPr lang="en-US" sz="1050" dirty="0"/>
          </a:p>
        </p:txBody>
      </p:sp>
      <p:sp>
        <p:nvSpPr>
          <p:cNvPr id="62"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أَنْتُنَّ تَذْهَبْنَ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6"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go, all female</a:t>
            </a:r>
            <a:endParaRPr lang="en-US" sz="1250" dirty="0"/>
          </a:p>
        </p:txBody>
      </p:sp>
      <p:sp>
        <p:nvSpPr>
          <p:cNvPr id="69"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 two go</a:t>
            </a:r>
            <a:endParaRPr lang="en-US" sz="1250" dirty="0"/>
          </a:p>
        </p:txBody>
      </p:sp>
      <p:sp>
        <p:nvSpPr>
          <p:cNvPr id="72"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 all go, all female</a:t>
            </a:r>
            <a:endParaRPr lang="en-US" sz="1250" dirty="0"/>
          </a:p>
        </p:txBody>
      </p:sp>
      <p:sp>
        <p:nvSpPr>
          <p:cNvPr id="76"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Antunna is addressed feminine plural.</a:t>
            </a:r>
            <a:endParaRPr lang="en-US" sz="1050" dirty="0"/>
          </a:p>
        </p:txBody>
      </p:sp>
      <p:sp>
        <p:nvSpPr>
          <p:cNvPr id="77"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GM-PRO-01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GM-PRO-02: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GM-PRO-02 · Possessive Pronoun Suffixes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my book</a:t>
            </a:r>
            <a:pPr indent="0" marL="0">
              <a:buNone/>
            </a:pPr>
            <a:r>
              <a:rPr lang="en-US" sz="1000" i="1" dirty="0">
                <a:solidFill>
                  <a:srgbClr val="5A6472"/>
                </a:solidFill>
                <a:latin typeface="Calibri" pitchFamily="34" charset="0"/>
                <a:ea typeface="Calibri" pitchFamily="34" charset="-122"/>
                <a:cs typeface="Calibri" pitchFamily="34" charset="-120"/>
              </a:rPr>
              <a:t>  -ī</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your book (m.)</a:t>
            </a:r>
            <a:pPr indent="0" marL="0">
              <a:buNone/>
            </a:pPr>
            <a:r>
              <a:rPr lang="en-US" sz="1000" i="1" dirty="0">
                <a:solidFill>
                  <a:srgbClr val="5A6472"/>
                </a:solidFill>
                <a:latin typeface="Calibri" pitchFamily="34" charset="0"/>
                <a:ea typeface="Calibri" pitchFamily="34" charset="-122"/>
                <a:cs typeface="Calibri" pitchFamily="34" charset="-120"/>
              </a:rPr>
              <a:t>  -ka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your book (f.)</a:t>
            </a:r>
            <a:pPr indent="0" marL="0">
              <a:buNone/>
            </a:pPr>
            <a:r>
              <a:rPr lang="en-US" sz="1000" i="1" dirty="0">
                <a:solidFill>
                  <a:srgbClr val="5A6472"/>
                </a:solidFill>
                <a:latin typeface="Calibri" pitchFamily="34" charset="0"/>
                <a:ea typeface="Calibri" pitchFamily="34" charset="-122"/>
                <a:cs typeface="Calibri" pitchFamily="34" charset="-120"/>
              </a:rPr>
              <a:t>  -ki</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his book</a:t>
            </a:r>
            <a:pPr indent="0" marL="0">
              <a:buNone/>
            </a:pPr>
            <a:r>
              <a:rPr lang="en-US" sz="1000" i="1" dirty="0">
                <a:solidFill>
                  <a:srgbClr val="5A6472"/>
                </a:solidFill>
                <a:latin typeface="Calibri" pitchFamily="34" charset="0"/>
                <a:ea typeface="Calibri" pitchFamily="34" charset="-122"/>
                <a:cs typeface="Calibri" pitchFamily="34" charset="-120"/>
              </a:rPr>
              <a:t>  -hu</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كِتَابُهَا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her book</a:t>
            </a:r>
            <a:pPr indent="0" marL="0">
              <a:buNone/>
            </a:pPr>
            <a:r>
              <a:rPr lang="en-US" sz="1000" i="1" dirty="0">
                <a:solidFill>
                  <a:srgbClr val="5A6472"/>
                </a:solidFill>
                <a:latin typeface="Calibri" pitchFamily="34" charset="0"/>
                <a:ea typeface="Calibri" pitchFamily="34" charset="-122"/>
                <a:cs typeface="Calibri" pitchFamily="34" charset="-120"/>
              </a:rPr>
              <a:t>  -hā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Compare hiya (she) and kitābuhā (her book). What do they share?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هِيَ · كِتَابُهَا — هُوَ · كِتَابُ______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core six pronouns with gestures.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Copy the full grid from memory and check it.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my family or class.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GM-PRO-01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GM-PRO-02 · Possessive Pronoun Suffixes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الضَّمَائِرُ الْمُتَّصِلَةُ بِالْأَسْمَاءِ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person + number + gender · five words for “you” · no word for “is” · the pronoun chooses the verb prefix and ending · mixed group → hum.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GM-PRO-01 · Subject Pronouns</dc:title>
  <dc:subject>PptxGenJS Presentation</dc:subject>
  <dc:creator>Al Madina Online School · Arabic Department</dc:creator>
  <cp:lastModifiedBy>Al Madina Online School · Arabic Department</cp:lastModifiedBy>
  <cp:revision>1</cp:revision>
  <dcterms:created xsi:type="dcterms:W3CDTF">2026-10-03T20:17:12Z</dcterms:created>
  <dcterms:modified xsi:type="dcterms:W3CDTF">2026-10-03T20:17:12Z</dcterms:modified>
</cp:coreProperties>
</file>