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Pronouns › GM-PRO-04 (“أَسْمَاءُ الْإِشَارَةِ”).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هَذَا · هَذِهِ · هَؤُلَاءِ in identification sentences (هَذَا طَالِبٌ · هَذِهِ طَالِبَةٌ · هَؤُلَاءِ طُلَّابٌ). Develop: far forms ذَلِكَ · تِلْكَ · أُولَئِكَ; human vs non-human plurals (هَذِهِ كُتُبٌ). Stretch: dual demonstratives and their case forms (هَذَانِ / هَذَيْنِ · هَاتَانِ / هَاتَيْنِ); “This is a book” vs “this book”.
• Revisits GM-ADJ-07 (demonstrative + al-noun). Here the demonstrative is the PRONOUN subject of a sentence.
• Website pronunciation note: هَذَا · ذَلِكَ · هَؤُلَاءِ · أُولَئِكَ contain a long ā that is not written with a normal alif (the website shows a small dagger alif: هٰذَا).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of GM-ADJ-07 (demonstratives) and GM-PRO-03.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demonstrative can BE the subject: “This is …”. Choose it by distance, gender and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tables “Near demonstratives” and “Far demonstratives”. Gesture: hand on the desk (near) / point out of the window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“Gender, number and human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“Dual demonstratives”. Stretch only; link to GM-N-02 (-āni / -ayni).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from the website translation sentences.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reading text. Share a picture of a museum on screen and point as you speak.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five of the website’s ten translation sentences (the rest appear elsewhere in the deck). Cover the right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or 2, then say the full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or 2, then say the full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practice on the website content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Read it aloud once while students follow; then they hunt for today’s grammar.
Task: Website: follow the demonstratives — mark each one near or far, and person or thing.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reading text (dagger-alif spelling normalised);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picture-description practice. Sequence: ● 10s think → ↔ 45s rehearse aloud with mic muted → ◎ two named students on open mic (warned in advance) → + ? the class types one follow-up in chat → ↺ one student summarises.
Routes: Core uses the Core prompt and stem; Develop the Develop prompt; Stretch the last prompt.
Students share a picture and point as they speak. Check people vs things and the dual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the website’s ten translation sentences, then a short description of a picture or place using demonstratives.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picture-description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(GM-PRO-05 · Relative Pronouns) will spend class time USING this language, so students prepare it tonight — short, simple, easy to access (school guidance: “Simple, Short, Interesting, Relevant, Easy to access”). The five words prepare GM-PRO-05 (website Pronouns lesson 5: relative pronouns).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PRONOUNS  ·  GM-PRO-04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GM-PRO-04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Demonstrative Pronouns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أَسْمَاءُ الْإِشَارَةِ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Point and identify: hādhā kitābun = This is a book. Choose the demonstrative by distance (near / far), gender and number — and remember that plural things take hādhihi / tilka.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GM-PRO-04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Pronouns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Near and far; human vs non-human plural; duals; phrase vs sentence.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Point and say; translate;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GM-PRO-05.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school” (from GM-ADJ-07).</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الْمَدْرَسَةُ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الْمَدْرَسَةُ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هَؤُلَاءِ الْمَدْرَسَةُ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“those men”.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أُولَئِكَ الرِّجَالُ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تِلْكَ الرِّجَالُ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ذَلِكَ الرِّجَالُ</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books”.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هَؤُلَاءِ الْكُتُبُ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الْكُتُبُ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الْكُتُبُ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saw him.”</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رَأَيْتُهَا.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رَأَيْتُكَ.</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رَأَيْتُهُ.</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هَذَا كِتَابٌ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is a book.</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book</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book</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school” (from GM-ADJ-07).</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الْمَدْرَسَةُ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هَذِهِ الْمَدْرَسَةُ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هَؤُلَاءِ الْمَدْرَسَةُ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School is feminine.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“those men”.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أُولَئِكَ الرِّجَالُ</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تِلْكَ الرِّجَالُ</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ذَلِكَ الرِّجَالُ</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People, far → ulāʾika.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books”.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هَؤُلَاءِ الْكُتُبُ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الْكُتُبُ</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هَذِهِ الْكُتُبُ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Plural things → hādhihi.</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saw him.”</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رَأَيْتُهَا.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رَأَيْتُكَ.</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رَأَيْتُهُ.</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Retrieval from GM-PRO-03.</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هَذَا كِتَابٌ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This is a book.</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this book</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book</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 al- → a full sentence.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demonstrative can BE the subject: “This is …”. Choose it by distance, gender and number.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هَذَا</a:t>
            </a:r>
            <a:pPr rtl="1" algn="ctr" indent="0" marL="0">
              <a:buNone/>
            </a:pPr>
            <a:r>
              <a:rPr lang="ar-SA" altLang="en-US" sz="2400" b="1" dirty="0">
                <a:solidFill>
                  <a:srgbClr val="1B3B6F"/>
                </a:solidFill>
                <a:latin typeface="Amiri" pitchFamily="2" charset="-78"/>
                <a:cs typeface="Amiri" pitchFamily="2" charset="-78"/>
              </a:rPr>
              <a:t> كِتَابٌ ‖ </a:t>
            </a:r>
            <a:pPr rtl="1" algn="ctr" indent="0" marL="0">
              <a:buNone/>
            </a:pPr>
            <a:r>
              <a:rPr lang="ar-SA" altLang="en-US" sz="2400" b="1" dirty="0">
                <a:solidFill>
                  <a:srgbClr val="D6336C"/>
                </a:solidFill>
                <a:latin typeface="Amiri" pitchFamily="2" charset="-78"/>
                <a:cs typeface="Amiri" pitchFamily="2" charset="-78"/>
              </a:rPr>
              <a:t>تِلْكَ</a:t>
            </a:r>
            <a:pPr rtl="1" algn="ctr" indent="0" marL="0">
              <a:buNone/>
            </a:pPr>
            <a:r>
              <a:rPr lang="ar-SA" altLang="en-US" sz="2400" b="1" dirty="0">
                <a:solidFill>
                  <a:srgbClr val="1B3B6F"/>
                </a:solidFill>
                <a:latin typeface="Amiri" pitchFamily="2" charset="-78"/>
                <a:cs typeface="Amiri" pitchFamily="2" charset="-78"/>
              </a:rPr>
              <a:t> سَيَّارَةٌ</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Identify people and things with near demonstratives.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far demonstratives for things further away.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Choose hādhihi / tilka for plural things and hāʾulāʾi / ulāʾika for people.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the dual demonstratives.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This is a … with hādhā / hādhihi.</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These are … for people.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that / those correctly.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say These are useful books with hādhihi.</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these two (m. / f.).</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tell “This is a book” from “this book”.</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اسْمُ الْإِشَارَةِ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demonstrative</a:t>
            </a:r>
            <a:endParaRPr lang="en-US" sz="1350" dirty="0"/>
          </a:p>
          <a:p>
            <a:pPr indent="0" marL="0">
              <a:buNone/>
            </a:pPr>
            <a:r>
              <a:rPr lang="en-US" sz="1100" i="1" dirty="0">
                <a:solidFill>
                  <a:srgbClr val="5A6472"/>
                </a:solidFill>
                <a:latin typeface="Calibri" pitchFamily="34" charset="0"/>
                <a:cs typeface="Amiri" pitchFamily="2" charset="-78"/>
              </a:rPr>
              <a:t>as-mu al-i-shā-ra-ti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this / that / these / those</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الْقَرِيبُ</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near</a:t>
            </a:r>
            <a:endParaRPr lang="en-US" sz="1350" dirty="0"/>
          </a:p>
          <a:p>
            <a:pPr indent="0" marL="0">
              <a:buNone/>
            </a:pPr>
            <a:r>
              <a:rPr lang="en-US" sz="1100" i="1" dirty="0">
                <a:solidFill>
                  <a:srgbClr val="5A6472"/>
                </a:solidFill>
                <a:latin typeface="Calibri" pitchFamily="34" charset="0"/>
                <a:cs typeface="Amiri" pitchFamily="2" charset="-78"/>
              </a:rPr>
              <a:t>al-qa-rī-bu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هَذَا · هَذِهِ · هَؤُلَاءِ</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الْبَعِيدُ</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far</a:t>
            </a:r>
            <a:endParaRPr lang="en-US" sz="1350" dirty="0"/>
          </a:p>
          <a:p>
            <a:pPr indent="0" marL="0">
              <a:buNone/>
            </a:pPr>
            <a:r>
              <a:rPr lang="en-US" sz="1100" i="1" dirty="0">
                <a:solidFill>
                  <a:srgbClr val="5A6472"/>
                </a:solidFill>
                <a:latin typeface="Calibri" pitchFamily="34" charset="0"/>
                <a:cs typeface="Amiri" pitchFamily="2" charset="-78"/>
              </a:rPr>
              <a:t>al-ba-ʿī-du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ذَلِكَ · تِلْكَ · أُولَئِكَ</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هَذَانِ · هَاتَانِ</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these two (m. · f.)</a:t>
            </a:r>
            <a:endParaRPr lang="en-US" sz="1350" dirty="0"/>
          </a:p>
          <a:p>
            <a:pPr indent="0" marL="0">
              <a:buNone/>
            </a:pPr>
            <a:r>
              <a:rPr lang="en-US" sz="1100" i="1" dirty="0">
                <a:solidFill>
                  <a:srgbClr val="5A6472"/>
                </a:solidFill>
                <a:latin typeface="Calibri" pitchFamily="34" charset="0"/>
                <a:cs typeface="Amiri" pitchFamily="2" charset="-78"/>
              </a:rPr>
              <a:t>ha-dhā-ni · hā-tā-ni</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dual</a:t>
            </a:r>
            <a:endParaRPr lang="en-US" sz="10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الْعَاقِلُ</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human</a:t>
            </a:r>
            <a:endParaRPr lang="en-US" sz="1350" dirty="0"/>
          </a:p>
          <a:p>
            <a:pPr indent="0" marL="0">
              <a:buNone/>
            </a:pPr>
            <a:r>
              <a:rPr lang="en-US" sz="1100" i="1" dirty="0">
                <a:solidFill>
                  <a:srgbClr val="5A6472"/>
                </a:solidFill>
                <a:latin typeface="Calibri" pitchFamily="34" charset="0"/>
                <a:cs typeface="Amiri" pitchFamily="2" charset="-78"/>
              </a:rPr>
              <a:t>al-ʿā-qi-lu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هَؤُلَاءِ طُلَّابٌ</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غَيْرُ الْعَاقِلِ</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non-human</a:t>
            </a:r>
            <a:endParaRPr lang="en-US" sz="1350" dirty="0"/>
          </a:p>
          <a:p>
            <a:pPr indent="0" marL="0">
              <a:buNone/>
            </a:pPr>
            <a:r>
              <a:rPr lang="en-US" sz="1100" i="1" dirty="0">
                <a:solidFill>
                  <a:srgbClr val="5A6472"/>
                </a:solidFill>
                <a:latin typeface="Calibri" pitchFamily="34" charset="0"/>
                <a:cs typeface="Amiri" pitchFamily="2" charset="-78"/>
              </a:rPr>
              <a:t>ghay-ru al-ʿā-qi-li</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هَذِهِ كُتُبٌ</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NEAR AND FAR (WEBSITE TABLES)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This, that, these, those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الْقَرِيبُ وَالْبَعِيدُ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131552" y="1810512"/>
            <a:ext cx="1527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83027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Far</a:t>
            </a:r>
            <a:endParaRPr lang="en-US" sz="1100" dirty="0"/>
          </a:p>
        </p:txBody>
      </p:sp>
      <p:sp>
        <p:nvSpPr>
          <p:cNvPr id="18" name="Text 15"/>
          <p:cNvSpPr txBox="1"/>
          <p:nvPr/>
        </p:nvSpPr>
        <p:spPr>
          <a:xfrm>
            <a:off x="565099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9" name="Text 16"/>
          <p:cNvSpPr txBox="1"/>
          <p:nvPr/>
        </p:nvSpPr>
        <p:spPr>
          <a:xfrm>
            <a:off x="345643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Near</a:t>
            </a:r>
            <a:endParaRPr lang="en-US" sz="1100" dirty="0"/>
          </a:p>
        </p:txBody>
      </p:sp>
      <p:sp>
        <p:nvSpPr>
          <p:cNvPr id="20" name="Text 17"/>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Use</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10149840" y="2267712"/>
            <a:ext cx="14904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ذَلِكَ بَيْتٌ.</a:t>
            </a:r>
            <a:endParaRPr lang="ar-SA" sz="2000" dirty="0"/>
          </a:p>
        </p:txBody>
      </p:sp>
      <p:sp>
        <p:nvSpPr>
          <p:cNvPr id="23" name="Text 20"/>
          <p:cNvSpPr txBox="1"/>
          <p:nvPr/>
        </p:nvSpPr>
        <p:spPr>
          <a:xfrm>
            <a:off x="8321040" y="2267712"/>
            <a:ext cx="16459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ذَلِكَ</a:t>
            </a:r>
            <a:endParaRPr lang="ar-SA" sz="2400" dirty="0"/>
          </a:p>
        </p:txBody>
      </p:sp>
      <p:sp>
        <p:nvSpPr>
          <p:cNvPr id="24" name="Text 21"/>
          <p:cNvSpPr txBox="1"/>
          <p:nvPr/>
        </p:nvSpPr>
        <p:spPr>
          <a:xfrm>
            <a:off x="5669280" y="2267712"/>
            <a:ext cx="24688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هَذَا طَالِبٌ.</a:t>
            </a:r>
            <a:endParaRPr lang="ar-SA" sz="2200" dirty="0"/>
          </a:p>
        </p:txBody>
      </p:sp>
      <p:sp>
        <p:nvSpPr>
          <p:cNvPr id="25" name="Text 22"/>
          <p:cNvSpPr txBox="1"/>
          <p:nvPr/>
        </p:nvSpPr>
        <p:spPr>
          <a:xfrm>
            <a:off x="3474720" y="2267712"/>
            <a:ext cx="20116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هَذَا</a:t>
            </a:r>
            <a:endParaRPr lang="ar-SA" sz="2400" dirty="0"/>
          </a:p>
        </p:txBody>
      </p:sp>
      <p:sp>
        <p:nvSpPr>
          <p:cNvPr id="26" name="Text 23"/>
          <p:cNvSpPr txBox="1"/>
          <p:nvPr/>
        </p:nvSpPr>
        <p:spPr>
          <a:xfrm>
            <a:off x="56692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masculine singular</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0" name="Text 27"/>
          <p:cNvSpPr txBox="1"/>
          <p:nvPr/>
        </p:nvSpPr>
        <p:spPr>
          <a:xfrm>
            <a:off x="10149840" y="3054096"/>
            <a:ext cx="14904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تِلْكَ مَدْرَسَةٌ.</a:t>
            </a:r>
            <a:endParaRPr lang="ar-SA" sz="2000" dirty="0"/>
          </a:p>
        </p:txBody>
      </p:sp>
      <p:sp>
        <p:nvSpPr>
          <p:cNvPr id="31" name="Text 28"/>
          <p:cNvSpPr txBox="1"/>
          <p:nvPr/>
        </p:nvSpPr>
        <p:spPr>
          <a:xfrm>
            <a:off x="8321040" y="3054096"/>
            <a:ext cx="16459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تِلْكَ</a:t>
            </a:r>
            <a:endParaRPr lang="ar-SA" sz="2400" dirty="0"/>
          </a:p>
        </p:txBody>
      </p:sp>
      <p:sp>
        <p:nvSpPr>
          <p:cNvPr id="32" name="Text 29"/>
          <p:cNvSpPr txBox="1"/>
          <p:nvPr/>
        </p:nvSpPr>
        <p:spPr>
          <a:xfrm>
            <a:off x="5669280" y="3054096"/>
            <a:ext cx="24688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هَذِهِ طَالِبَةٌ.</a:t>
            </a:r>
            <a:endParaRPr lang="ar-SA" sz="2200" dirty="0"/>
          </a:p>
        </p:txBody>
      </p:sp>
      <p:sp>
        <p:nvSpPr>
          <p:cNvPr id="33" name="Text 30"/>
          <p:cNvSpPr txBox="1"/>
          <p:nvPr/>
        </p:nvSpPr>
        <p:spPr>
          <a:xfrm>
            <a:off x="3474720" y="3054096"/>
            <a:ext cx="20116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هَذِهِ</a:t>
            </a:r>
            <a:endParaRPr lang="ar-SA" sz="2400" dirty="0"/>
          </a:p>
        </p:txBody>
      </p:sp>
      <p:sp>
        <p:nvSpPr>
          <p:cNvPr id="34" name="Text 31"/>
          <p:cNvSpPr txBox="1"/>
          <p:nvPr/>
        </p:nvSpPr>
        <p:spPr>
          <a:xfrm>
            <a:off x="56692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 singular</a:t>
            </a:r>
            <a:endParaRPr lang="en-US" sz="1100" dirty="0"/>
          </a:p>
        </p:txBody>
      </p:sp>
      <p:sp>
        <p:nvSpPr>
          <p:cNvPr id="35" name="Shape 32"/>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8" name="Text 35"/>
          <p:cNvSpPr txBox="1"/>
          <p:nvPr/>
        </p:nvSpPr>
        <p:spPr>
          <a:xfrm>
            <a:off x="10149840" y="3840480"/>
            <a:ext cx="14904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أُولَئِكَ مُعَلِّمُونَ.</a:t>
            </a:r>
            <a:endParaRPr lang="ar-SA" sz="2000" dirty="0"/>
          </a:p>
        </p:txBody>
      </p:sp>
      <p:sp>
        <p:nvSpPr>
          <p:cNvPr id="39" name="Text 36"/>
          <p:cNvSpPr txBox="1"/>
          <p:nvPr/>
        </p:nvSpPr>
        <p:spPr>
          <a:xfrm>
            <a:off x="8321040" y="3840480"/>
            <a:ext cx="16459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أُولَئِكَ</a:t>
            </a:r>
            <a:endParaRPr lang="ar-SA" sz="2400" dirty="0"/>
          </a:p>
        </p:txBody>
      </p:sp>
      <p:sp>
        <p:nvSpPr>
          <p:cNvPr id="40" name="Text 37"/>
          <p:cNvSpPr txBox="1"/>
          <p:nvPr/>
        </p:nvSpPr>
        <p:spPr>
          <a:xfrm>
            <a:off x="5669280" y="3840480"/>
            <a:ext cx="24688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هَؤُلَاءِ طُلَّابٌ.</a:t>
            </a:r>
            <a:endParaRPr lang="ar-SA" sz="2200" dirty="0"/>
          </a:p>
        </p:txBody>
      </p:sp>
      <p:sp>
        <p:nvSpPr>
          <p:cNvPr id="41" name="Text 38"/>
          <p:cNvSpPr txBox="1"/>
          <p:nvPr/>
        </p:nvSpPr>
        <p:spPr>
          <a:xfrm>
            <a:off x="3474720" y="3840480"/>
            <a:ext cx="20116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هَؤُلَاءِ</a:t>
            </a:r>
            <a:endParaRPr lang="ar-SA" sz="2400" dirty="0"/>
          </a:p>
        </p:txBody>
      </p:sp>
      <p:sp>
        <p:nvSpPr>
          <p:cNvPr id="42" name="Text 39"/>
          <p:cNvSpPr txBox="1"/>
          <p:nvPr/>
        </p:nvSpPr>
        <p:spPr>
          <a:xfrm>
            <a:off x="56692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human plural (m., f. or mixed)</a:t>
            </a:r>
            <a:endParaRPr lang="en-US" sz="1100" dirty="0"/>
          </a:p>
        </p:txBody>
      </p:sp>
      <p:sp>
        <p:nvSpPr>
          <p:cNvPr id="43" name="Shape 40"/>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6" name="Text 43"/>
          <p:cNvSpPr txBox="1"/>
          <p:nvPr/>
        </p:nvSpPr>
        <p:spPr>
          <a:xfrm>
            <a:off x="10149840" y="4626864"/>
            <a:ext cx="14904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تِلْكَ سَيَّارَاتٌ.</a:t>
            </a:r>
            <a:endParaRPr lang="ar-SA" sz="2000" dirty="0"/>
          </a:p>
        </p:txBody>
      </p:sp>
      <p:sp>
        <p:nvSpPr>
          <p:cNvPr id="47" name="Text 44"/>
          <p:cNvSpPr txBox="1"/>
          <p:nvPr/>
        </p:nvSpPr>
        <p:spPr>
          <a:xfrm>
            <a:off x="8321040" y="4626864"/>
            <a:ext cx="16459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تِلْكَ</a:t>
            </a:r>
            <a:endParaRPr lang="ar-SA" sz="2400" dirty="0"/>
          </a:p>
        </p:txBody>
      </p:sp>
      <p:sp>
        <p:nvSpPr>
          <p:cNvPr id="48" name="Text 45"/>
          <p:cNvSpPr txBox="1"/>
          <p:nvPr/>
        </p:nvSpPr>
        <p:spPr>
          <a:xfrm>
            <a:off x="5669280" y="4626864"/>
            <a:ext cx="24688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هَذِهِ كُتُبٌ.</a:t>
            </a:r>
            <a:endParaRPr lang="ar-SA" sz="2200" dirty="0"/>
          </a:p>
        </p:txBody>
      </p:sp>
      <p:sp>
        <p:nvSpPr>
          <p:cNvPr id="49" name="Text 46"/>
          <p:cNvSpPr txBox="1"/>
          <p:nvPr/>
        </p:nvSpPr>
        <p:spPr>
          <a:xfrm>
            <a:off x="3474720" y="4626864"/>
            <a:ext cx="20116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هَذِهِ</a:t>
            </a:r>
            <a:endParaRPr lang="ar-SA" sz="2400" dirty="0"/>
          </a:p>
        </p:txBody>
      </p:sp>
      <p:sp>
        <p:nvSpPr>
          <p:cNvPr id="50" name="Text 47"/>
          <p:cNvSpPr txBox="1"/>
          <p:nvPr/>
        </p:nvSpPr>
        <p:spPr>
          <a:xfrm>
            <a:off x="56692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non-human plural</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key point: Arabic has no single word for “this” — choose by the grammatical gender of the noun. The long ā in hādhā / dhālika is not written as a normal alif.</a:t>
            </a:r>
            <a:endParaRPr lang="en-US" sz="110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GENDER, NUMBER AND HUMAN REFERENCE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People or things?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الْعَاقِلُ وَغَيْرُ الْعَاقِلِ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Hādhā + masculine noun; hādhihi + feminine noun (website).</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Hāʾulāʾi / ulāʾika are for HUMAN plurals — male, female or mixed (website).</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Non-human plurals are treated as feminine singular, so they take hādhihi / tilka (website).</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In “This is a …” the noun has NO al-: hādhā kitābun.</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With al-, it becomes a phrase: hādhā l-kitābu = this book … (needs more).</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هَذَا كِتَابٌ جَدِيدٌ.</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This is a new book.  ·  website</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هَذِهِ حَقِيبَةٌ جَدِيدَةٌ.</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This is a new bag.  ·  website</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هَؤُلَاءِ طَالِبَاتٌ مُجْتَهِدَاتٌ.</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These are hardworking female students.  ·  website · people</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هَذِهِ كُتُبٌ مُفِيدَةٌ.</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These are useful books.  ·  website · things</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cs typeface="Amiri" pitchFamily="2" charset="-78"/>
              </a:rPr>
              <a:t>WEBSITE RULE</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 not use hāʾulāʾi with things: “hāʾulāʾi kutubun” is wrong — say hādhihi kutubun.</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3 · DUAL DEMONSTRATIVES (WEBSITE TABLE)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These two, those two — and their case forms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أَسْمَاءُ الْإِشَارَةِ لِلْمُثَنَّى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5833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Object / after a preposition</a:t>
            </a:r>
            <a:endParaRPr lang="en-US" sz="1100" dirty="0"/>
          </a:p>
        </p:txBody>
      </p:sp>
      <p:sp>
        <p:nvSpPr>
          <p:cNvPr id="18" name="Text 15"/>
          <p:cNvSpPr txBox="1"/>
          <p:nvPr/>
        </p:nvSpPr>
        <p:spPr>
          <a:xfrm>
            <a:off x="3456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Subject</a:t>
            </a:r>
            <a:endParaRPr lang="en-US" sz="1100" dirty="0"/>
          </a:p>
        </p:txBody>
      </p:sp>
      <p:sp>
        <p:nvSpPr>
          <p:cNvPr id="19" name="Text 16"/>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595360" y="2267712"/>
            <a:ext cx="304495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هَذَانِ طَالِبَانِ.</a:t>
            </a:r>
            <a:endParaRPr lang="ar-SA" sz="2200" dirty="0"/>
          </a:p>
        </p:txBody>
      </p:sp>
      <p:sp>
        <p:nvSpPr>
          <p:cNvPr id="22" name="Text 19"/>
          <p:cNvSpPr txBox="1"/>
          <p:nvPr/>
        </p:nvSpPr>
        <p:spPr>
          <a:xfrm>
            <a:off x="5852160" y="2267712"/>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هَذَيْنِ</a:t>
            </a:r>
            <a:endParaRPr lang="ar-SA" sz="2400" dirty="0"/>
          </a:p>
        </p:txBody>
      </p:sp>
      <p:sp>
        <p:nvSpPr>
          <p:cNvPr id="23" name="Text 20"/>
          <p:cNvSpPr txBox="1"/>
          <p:nvPr/>
        </p:nvSpPr>
        <p:spPr>
          <a:xfrm>
            <a:off x="3474720" y="2267712"/>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هَذَانِ</a:t>
            </a:r>
            <a:endParaRPr lang="ar-SA" sz="2400" dirty="0"/>
          </a:p>
        </p:txBody>
      </p:sp>
      <p:sp>
        <p:nvSpPr>
          <p:cNvPr id="24" name="Text 21"/>
          <p:cNvSpPr txBox="1"/>
          <p:nvPr/>
        </p:nvSpPr>
        <p:spPr>
          <a:xfrm>
            <a:off x="56692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these two (m.)</a:t>
            </a:r>
            <a:endParaRPr lang="en-US" sz="110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595360" y="3054096"/>
            <a:ext cx="304495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هَاتَانِ طَالِبَتَانِ.</a:t>
            </a:r>
            <a:endParaRPr lang="ar-SA" sz="2200" dirty="0"/>
          </a:p>
        </p:txBody>
      </p:sp>
      <p:sp>
        <p:nvSpPr>
          <p:cNvPr id="27" name="Text 24"/>
          <p:cNvSpPr txBox="1"/>
          <p:nvPr/>
        </p:nvSpPr>
        <p:spPr>
          <a:xfrm>
            <a:off x="5852160" y="3054096"/>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هَاتَيْنِ</a:t>
            </a:r>
            <a:endParaRPr lang="ar-SA" sz="2400" dirty="0"/>
          </a:p>
        </p:txBody>
      </p:sp>
      <p:sp>
        <p:nvSpPr>
          <p:cNvPr id="28" name="Text 25"/>
          <p:cNvSpPr txBox="1"/>
          <p:nvPr/>
        </p:nvSpPr>
        <p:spPr>
          <a:xfrm>
            <a:off x="3474720" y="3054096"/>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هَاتَانِ</a:t>
            </a:r>
            <a:endParaRPr lang="ar-SA" sz="2400" dirty="0"/>
          </a:p>
        </p:txBody>
      </p:sp>
      <p:sp>
        <p:nvSpPr>
          <p:cNvPr id="29" name="Text 26"/>
          <p:cNvSpPr txBox="1"/>
          <p:nvPr/>
        </p:nvSpPr>
        <p:spPr>
          <a:xfrm>
            <a:off x="56692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these two (f.)</a:t>
            </a:r>
            <a:endParaRPr lang="en-US" sz="1100" dirty="0"/>
          </a:p>
        </p:txBody>
      </p:sp>
      <p:sp>
        <p:nvSpPr>
          <p:cNvPr id="30" name="Shape 27"/>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1" name="Text 28"/>
          <p:cNvSpPr txBox="1"/>
          <p:nvPr/>
        </p:nvSpPr>
        <p:spPr>
          <a:xfrm>
            <a:off x="8595360" y="3840480"/>
            <a:ext cx="304495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ذَانِكَ طَالِبَانِ.</a:t>
            </a:r>
            <a:endParaRPr lang="ar-SA" sz="2200" dirty="0"/>
          </a:p>
        </p:txBody>
      </p:sp>
      <p:sp>
        <p:nvSpPr>
          <p:cNvPr id="32" name="Text 29"/>
          <p:cNvSpPr txBox="1"/>
          <p:nvPr/>
        </p:nvSpPr>
        <p:spPr>
          <a:xfrm>
            <a:off x="5852160" y="3840480"/>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ذَيْنِكَ</a:t>
            </a:r>
            <a:endParaRPr lang="ar-SA" sz="2400" dirty="0"/>
          </a:p>
        </p:txBody>
      </p:sp>
      <p:sp>
        <p:nvSpPr>
          <p:cNvPr id="33" name="Text 30"/>
          <p:cNvSpPr txBox="1"/>
          <p:nvPr/>
        </p:nvSpPr>
        <p:spPr>
          <a:xfrm>
            <a:off x="3474720" y="3840480"/>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ذَانِكَ</a:t>
            </a:r>
            <a:endParaRPr lang="ar-SA" sz="2400" dirty="0"/>
          </a:p>
        </p:txBody>
      </p:sp>
      <p:sp>
        <p:nvSpPr>
          <p:cNvPr id="34" name="Text 31"/>
          <p:cNvSpPr txBox="1"/>
          <p:nvPr/>
        </p:nvSpPr>
        <p:spPr>
          <a:xfrm>
            <a:off x="56692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those two (m.)</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595360" y="4626864"/>
            <a:ext cx="304495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تَانِكَ طَالِبَتَانِ.</a:t>
            </a:r>
            <a:endParaRPr lang="ar-SA" sz="2200" dirty="0"/>
          </a:p>
        </p:txBody>
      </p:sp>
      <p:sp>
        <p:nvSpPr>
          <p:cNvPr id="37" name="Text 34"/>
          <p:cNvSpPr txBox="1"/>
          <p:nvPr/>
        </p:nvSpPr>
        <p:spPr>
          <a:xfrm>
            <a:off x="5852160" y="4626864"/>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تَيْنِكَ</a:t>
            </a:r>
            <a:endParaRPr lang="ar-SA" sz="2400" dirty="0"/>
          </a:p>
        </p:txBody>
      </p:sp>
      <p:sp>
        <p:nvSpPr>
          <p:cNvPr id="38" name="Text 35"/>
          <p:cNvSpPr txBox="1"/>
          <p:nvPr/>
        </p:nvSpPr>
        <p:spPr>
          <a:xfrm>
            <a:off x="3474720" y="4626864"/>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تَانِكَ</a:t>
            </a:r>
            <a:endParaRPr lang="ar-SA" sz="2400" dirty="0"/>
          </a:p>
        </p:txBody>
      </p:sp>
      <p:sp>
        <p:nvSpPr>
          <p:cNvPr id="39" name="Text 36"/>
          <p:cNvSpPr txBox="1"/>
          <p:nvPr/>
        </p:nvSpPr>
        <p:spPr>
          <a:xfrm>
            <a:off x="56692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those two (f.)</a:t>
            </a:r>
            <a:endParaRPr lang="en-US" sz="1100" dirty="0"/>
          </a:p>
        </p:txBody>
      </p:sp>
      <p:sp>
        <p:nvSpPr>
          <p:cNvPr id="40" name="Text 3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revision boundary: secure the singular and plural forms first; the dual is extra support. Like dual nouns, -āni becomes -ayni as object or after a preposition.</a:t>
            </a:r>
            <a:endParaRPr lang="en-US" sz="110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a car.”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سَيَّارَةٌ.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هَؤُلَاءِ سَيَّارَةٌ.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سَيَّارَةٌ.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“Those are teachers (m.).”</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أُولَئِكَ مُعَلِّمُونَ.</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تِلْكَ مُعَلِّمُونَ.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ذَلِكَ مُعَلِّمُونَ.</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“Those are fast cars.”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أُولَئِكَ سَيَّارَاتٌ سَرِيعَةٌ.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تِلْكَ سَيَّارَاتٌ سَرِيعَةٌ.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تِلْكَ سَيَّارَاتٌ سَرِيعَاتٌ.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two are female students.”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هَاتَانِ طَالِبَتَانِ.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هَذَانِ طَالِبَتَانِ.</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هَؤُلَاءِ طَالِبَتَانِ.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a car.”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سَيَّارَةٌ.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هَؤُلَاءِ سَيَّارَةٌ.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هَذِهِ سَيَّارَةٌ.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Car is feminine.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“Those are teachers (m.).”</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أُولَئِكَ مُعَلِّمُونَ.</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تِلْكَ مُعَلِّمُونَ.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ذَلِكَ مُعَلِّمُونَ.</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People, far → ulāʾika.</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“Those are fast cars.”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أُولَئِكَ سَيَّارَاتٌ سَرِيعَةٌ.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تِلْكَ سَيَّارَاتٌ سَرِيعَةٌ.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تِلْكَ سَيَّارَاتٌ سَرِيعَاتٌ.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Plural things → tilka + feminine singular.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two are female students.”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هَاتَانِ طَالِبَتَانِ.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هَذَانِ طَالِبَتَانِ.</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هَؤُلَاءِ طَالِبَتَانِ.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dual → hātāni.</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describe a museum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Near, 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هَذَا مَتْحَفٌ</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Museum, here.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Near, f.</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هَذِهِ قَاعَةٌ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Hall is feminine.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People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هَؤُلَاءِ زُوَّارٌ</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Visitors are people.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Far things</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تِلْكَ صُوَرٌ</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Pictures → tilka.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NEAR</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FAR</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350" b="1" dirty="0">
                <a:solidFill>
                  <a:srgbClr val="0E7C86"/>
                </a:solidFill>
                <a:latin typeface="Amiri" pitchFamily="2" charset="-78"/>
                <a:cs typeface="Amiri" pitchFamily="2" charset="-78"/>
              </a:rPr>
              <a:t>هَذَا</a:t>
            </a:r>
            <a:pPr rtl="1" algn="r" indent="0" marL="0">
              <a:buNone/>
            </a:pPr>
            <a:r>
              <a:rPr lang="ar-SA" altLang="en-US" sz="2350" b="1" dirty="0">
                <a:solidFill>
                  <a:srgbClr val="1B3B6F"/>
                </a:solidFill>
                <a:latin typeface="Amiri" pitchFamily="2" charset="-78"/>
                <a:cs typeface="Amiri" pitchFamily="2" charset="-78"/>
              </a:rPr>
              <a:t> مَتْحَفٌ جَدِيدٌ، وَ</a:t>
            </a:r>
            <a:pPr rtl="1" algn="r" indent="0" marL="0">
              <a:buNone/>
            </a:pPr>
            <a:r>
              <a:rPr lang="ar-SA" altLang="en-US" sz="2350" b="1" dirty="0">
                <a:solidFill>
                  <a:srgbClr val="0E7C86"/>
                </a:solidFill>
                <a:latin typeface="Amiri" pitchFamily="2" charset="-78"/>
                <a:cs typeface="Amiri" pitchFamily="2" charset="-78"/>
              </a:rPr>
              <a:t>هَذِهِ</a:t>
            </a:r>
            <a:pPr rtl="1" algn="r" indent="0" marL="0">
              <a:buNone/>
            </a:pPr>
            <a:r>
              <a:rPr lang="ar-SA" altLang="en-US" sz="2350" b="1" dirty="0">
                <a:solidFill>
                  <a:srgbClr val="1B3B6F"/>
                </a:solidFill>
                <a:latin typeface="Amiri" pitchFamily="2" charset="-78"/>
                <a:cs typeface="Amiri" pitchFamily="2" charset="-78"/>
              </a:rPr>
              <a:t> قَاعَةٌ كَبِيرَةٌ. </a:t>
            </a:r>
            <a:pPr rtl="1" algn="r" indent="0" marL="0">
              <a:buNone/>
            </a:pPr>
            <a:r>
              <a:rPr lang="ar-SA" altLang="en-US" sz="2350" b="1" dirty="0">
                <a:solidFill>
                  <a:srgbClr val="0E7C86"/>
                </a:solidFill>
                <a:latin typeface="Amiri" pitchFamily="2" charset="-78"/>
                <a:cs typeface="Amiri" pitchFamily="2" charset="-78"/>
              </a:rPr>
              <a:t>هَؤُلَاءِ</a:t>
            </a:r>
            <a:pPr rtl="1" algn="r" indent="0" marL="0">
              <a:buNone/>
            </a:pPr>
            <a:r>
              <a:rPr lang="ar-SA" altLang="en-US" sz="2350" b="1" dirty="0">
                <a:solidFill>
                  <a:srgbClr val="1B3B6F"/>
                </a:solidFill>
                <a:latin typeface="Amiri" pitchFamily="2" charset="-78"/>
                <a:cs typeface="Amiri" pitchFamily="2" charset="-78"/>
              </a:rPr>
              <a:t> زُوَّارٌ مِنْ بِلَادٍ مُخْتَلِفَةٍ. </a:t>
            </a:r>
            <a:pPr rtl="1" algn="r" indent="0" marL="0">
              <a:buNone/>
            </a:pPr>
            <a:r>
              <a:rPr lang="ar-SA" altLang="en-US" sz="2350" b="1" dirty="0">
                <a:solidFill>
                  <a:srgbClr val="D6336C"/>
                </a:solidFill>
                <a:latin typeface="Amiri" pitchFamily="2" charset="-78"/>
                <a:cs typeface="Amiri" pitchFamily="2" charset="-78"/>
              </a:rPr>
              <a:t>تِلْكَ</a:t>
            </a:r>
            <a:pPr rtl="1" algn="r" indent="0" marL="0">
              <a:buNone/>
            </a:pPr>
            <a:r>
              <a:rPr lang="ar-SA" altLang="en-US" sz="2350" b="1" dirty="0">
                <a:solidFill>
                  <a:srgbClr val="1B3B6F"/>
                </a:solidFill>
                <a:latin typeface="Amiri" pitchFamily="2" charset="-78"/>
                <a:cs typeface="Amiri" pitchFamily="2" charset="-78"/>
              </a:rPr>
              <a:t> صُوَرٌ قَدِيمَةٌ، وَ</a:t>
            </a:r>
            <a:pPr rtl="1" algn="r" indent="0" marL="0">
              <a:buNone/>
            </a:pPr>
            <a:r>
              <a:rPr lang="ar-SA" altLang="en-US" sz="2350" b="1" dirty="0">
                <a:solidFill>
                  <a:srgbClr val="D6336C"/>
                </a:solidFill>
                <a:latin typeface="Amiri" pitchFamily="2" charset="-78"/>
                <a:cs typeface="Amiri" pitchFamily="2" charset="-78"/>
              </a:rPr>
              <a:t>ذَلِكَ</a:t>
            </a:r>
            <a:pPr rtl="1" algn="r" indent="0" marL="0">
              <a:buNone/>
            </a:pPr>
            <a:r>
              <a:rPr lang="ar-SA" altLang="en-US" sz="2350" b="1" dirty="0">
                <a:solidFill>
                  <a:srgbClr val="1B3B6F"/>
                </a:solidFill>
                <a:latin typeface="Amiri" pitchFamily="2" charset="-78"/>
                <a:cs typeface="Amiri" pitchFamily="2" charset="-78"/>
              </a:rPr>
              <a:t> تِمْثَالٌ مَشْهُورٌ.</a:t>
            </a:r>
            <a:endParaRPr lang="ar-SA" sz="23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250" i="1" dirty="0">
                <a:solidFill>
                  <a:srgbClr val="5A6472"/>
                </a:solidFill>
                <a:latin typeface="Calibri" pitchFamily="34" charset="0"/>
                <a:cs typeface="Amiri" pitchFamily="2" charset="-78"/>
              </a:rPr>
              <a:t>This is a new museum, and this is a large hall. These are visitors from different countries. Those are old pictures, and that is a famous statue.</a:t>
            </a:r>
            <a:endParaRPr lang="en-US" sz="125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هَذَا مُعَلِّمٌ.</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a teacher (m.).</a:t>
            </a:r>
            <a:endParaRPr lang="en-US" sz="1250" dirty="0"/>
          </a:p>
          <a:p>
            <a:pPr indent="0" marL="0">
              <a:buNone/>
            </a:pPr>
            <a:r>
              <a:rPr lang="en-US" sz="1050" i="1" dirty="0">
                <a:solidFill>
                  <a:srgbClr val="8A6D1E"/>
                </a:solidFill>
                <a:latin typeface="Calibri" pitchFamily="34" charset="0"/>
                <a:cs typeface="Amiri" pitchFamily="2" charset="-78"/>
              </a:rPr>
              <a:t>Website translation 1.</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ذَلِكَ بَيْتٌ.</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That is a house.</a:t>
            </a:r>
            <a:endParaRPr lang="en-US" sz="1250" dirty="0"/>
          </a:p>
          <a:p>
            <a:pPr indent="0" marL="0">
              <a:buNone/>
            </a:pPr>
            <a:r>
              <a:rPr lang="en-US" sz="1050" i="1" dirty="0">
                <a:solidFill>
                  <a:srgbClr val="8A6D1E"/>
                </a:solidFill>
                <a:latin typeface="Calibri" pitchFamily="34" charset="0"/>
                <a:cs typeface="Amiri" pitchFamily="2" charset="-78"/>
              </a:rPr>
              <a:t>Website translation 4.</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هَذِهِ الْمَكْتَبَةُ الْجَدِيدَةُ كَبِيرَةٌ.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new library is large.</a:t>
            </a:r>
            <a:endParaRPr lang="en-US" sz="1250" dirty="0"/>
          </a:p>
          <a:p>
            <a:pPr indent="0" marL="0">
              <a:buNone/>
            </a:pPr>
            <a:r>
              <a:rPr lang="en-US" sz="1050" i="1" dirty="0">
                <a:solidFill>
                  <a:srgbClr val="8A6D1E"/>
                </a:solidFill>
                <a:latin typeface="Calibri" pitchFamily="34" charset="0"/>
                <a:cs typeface="Amiri" pitchFamily="2" charset="-78"/>
              </a:rPr>
              <a:t>Website translation 10: phrase + predicate.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مَا هَذَا؟ — هَذَا هَاتِفِي.</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What is this? — This is my phone.</a:t>
            </a:r>
            <a:endParaRPr lang="en-US" sz="1250" dirty="0"/>
          </a:p>
          <a:p>
            <a:pPr indent="0" marL="0">
              <a:buNone/>
            </a:pPr>
            <a:r>
              <a:rPr lang="en-US" sz="1050" i="1" dirty="0">
                <a:solidFill>
                  <a:srgbClr val="8A6D1E"/>
                </a:solidFill>
                <a:latin typeface="Calibri" pitchFamily="34" charset="0"/>
                <a:cs typeface="Amiri" pitchFamily="2" charset="-78"/>
              </a:rPr>
              <a:t>With a possessive (GM-PRO-02).</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TRANSLATE ACCURATELY (WEBSITE)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Ten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تَرْجِمْ بِدِقَّةٍ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016752" y="1810512"/>
            <a:ext cx="5641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translation (website)</a:t>
            </a:r>
            <a:endParaRPr lang="en-US" sz="1100" dirty="0"/>
          </a:p>
        </p:txBody>
      </p:sp>
      <p:sp>
        <p:nvSpPr>
          <p:cNvPr id="17" name="Text 14"/>
          <p:cNvSpPr txBox="1"/>
          <p:nvPr/>
        </p:nvSpPr>
        <p:spPr>
          <a:xfrm>
            <a:off x="53035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 (website)</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6035040" y="2267712"/>
            <a:ext cx="56052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هَذِهِ مَدْرَسَةٌ.</a:t>
            </a:r>
            <a:endParaRPr lang="ar-SA" sz="2400" dirty="0"/>
          </a:p>
        </p:txBody>
      </p:sp>
      <p:sp>
        <p:nvSpPr>
          <p:cNvPr id="20" name="Text 17"/>
          <p:cNvSpPr txBox="1"/>
          <p:nvPr/>
        </p:nvSpPr>
        <p:spPr>
          <a:xfrm>
            <a:off x="566928" y="2267712"/>
            <a:ext cx="5303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is a school.</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6035040" y="3004718"/>
            <a:ext cx="56052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هَؤُلَاءِ طُلَّابٌ.</a:t>
            </a:r>
            <a:endParaRPr lang="ar-SA" sz="2400" dirty="0"/>
          </a:p>
        </p:txBody>
      </p:sp>
      <p:sp>
        <p:nvSpPr>
          <p:cNvPr id="25" name="Text 22"/>
          <p:cNvSpPr txBox="1"/>
          <p:nvPr/>
        </p:nvSpPr>
        <p:spPr>
          <a:xfrm>
            <a:off x="566928" y="3004718"/>
            <a:ext cx="5303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These are students.</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6035040" y="3741725"/>
            <a:ext cx="56052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أُولَئِكَ مُعَلِّمُونَ.</a:t>
            </a:r>
            <a:endParaRPr lang="ar-SA" sz="2400" dirty="0"/>
          </a:p>
        </p:txBody>
      </p:sp>
      <p:sp>
        <p:nvSpPr>
          <p:cNvPr id="30" name="Text 27"/>
          <p:cNvSpPr txBox="1"/>
          <p:nvPr/>
        </p:nvSpPr>
        <p:spPr>
          <a:xfrm>
            <a:off x="566928" y="3741725"/>
            <a:ext cx="5303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Those are teachers.</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6035040" y="4478731"/>
            <a:ext cx="56052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هَذِهِ كُتُبٌ مُفِيدَةٌ.</a:t>
            </a:r>
            <a:endParaRPr lang="ar-SA" sz="2400" dirty="0"/>
          </a:p>
        </p:txBody>
      </p:sp>
      <p:sp>
        <p:nvSpPr>
          <p:cNvPr id="35" name="Text 32"/>
          <p:cNvSpPr txBox="1"/>
          <p:nvPr/>
        </p:nvSpPr>
        <p:spPr>
          <a:xfrm>
            <a:off x="566928" y="4478731"/>
            <a:ext cx="5303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These are useful books.</a:t>
            </a:r>
            <a:endParaRPr lang="en-US" sz="1100" dirty="0"/>
          </a:p>
        </p:txBody>
      </p:sp>
      <p:sp>
        <p:nvSpPr>
          <p:cNvPr id="36" name="Shape 3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7" name="Text 34"/>
          <p:cNvSpPr txBox="1"/>
          <p:nvPr/>
        </p:nvSpPr>
        <p:spPr>
          <a:xfrm>
            <a:off x="6035040" y="5215738"/>
            <a:ext cx="56052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ذَانِكَ مُعَلِّمَانِ.</a:t>
            </a:r>
            <a:endParaRPr lang="ar-SA" sz="2400" dirty="0"/>
          </a:p>
        </p:txBody>
      </p:sp>
      <p:sp>
        <p:nvSpPr>
          <p:cNvPr id="38" name="Text 35"/>
          <p:cNvSpPr txBox="1"/>
          <p:nvPr/>
        </p:nvSpPr>
        <p:spPr>
          <a:xfrm>
            <a:off x="566928" y="5215738"/>
            <a:ext cx="5303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Those two are male teachers.</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check distance, gender, number and definiteness; write first, then reveal the model and correct in a different colour.</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WHICH “THESE”?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hādhihi or hāʾulāʾi?</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هَذِهِ أَمْ هَؤُلَاءِ؟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سَيَّارَاتٌ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مُهَنْدِسُونَ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حَقِيبَةٌ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زُوَّارٌ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صُوَرٌ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أَطْفَالٌ</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مَدِينَةٌ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مُرْشِدُونَ</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hādhihi (f. sing. / things)</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hāʾulāʾi (people)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hādhihi (f. sing. / things)</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سَيَّارَاتٌ</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حَقِيبَةٌ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صُوَرٌ</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مَدِينَةٌ</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hāʾulāʾi (people)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مُهَنْدِسُونَ</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زُوَّارٌ</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أَطْفَالٌ</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مُرْشِدُونَ</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هَذَا سَيَّارَةٌ.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car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هَؤُلَاءِ كُتُبٌ.</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Are books people?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هَذَانِ طَالِبَتَانِ.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Two girls?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هَذَا سَيَّارَةٌ.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هَذِهِ سَيَّارَةٌ.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Car is feminine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هَؤُلَاءِ كُتُبٌ.</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هَذِهِ كُتُبٌ.</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Plural things → hādhihi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هَذَانِ طَالِبَتَانِ.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هَاتَانِ طَالِبَتَانِ.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dual uses hātāni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2F6FB0"/>
                </a:solidFill>
                <a:latin typeface="Calibri" pitchFamily="34" charset="0"/>
                <a:cs typeface="Amiri" pitchFamily="2" charset="-78"/>
              </a:rPr>
              <a:t>WE DO · GUIDED PRACTICE · TEACHER-WRITTEN PRACTICE ON THE WEBSITE CONTENT</a:t>
            </a:r>
            <a:endParaRPr lang="en-US" sz="966"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object is next to you. Choose “This is a pen.”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ذَلِكَ قَلَمٌ.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تِلْكَ قَلَمٌ.</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قَلَمٌ.</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“That is a hospital.”</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تِلْكَ مُسْتَشْفًى.</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ذَلِكَ مُسْتَشْفًى.</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أُولَئِكَ مُسْتَشْفًى.</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are my friends.”</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أَصْدِقَائِي.</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هَؤُلَاءِ أَصْدِقَائِي.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أَصْدِقَائِي.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هَذَا الْكِتَابُ جَدِيدٌ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is a new book.</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is the book.</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book is new.</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object is next to you. Choose “This is a pen.”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ذَلِكَ قَلَمٌ.</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تِلْكَ قَلَمٌ.</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هَذَا قَلَمٌ.</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Near → hādhā (website clinic: don’t use the far form for something close).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“That is a hospital.”</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تِلْكَ مُسْتَشْفًى.</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ذَلِكَ مُسْتَشْفًى.</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أُولَئِكَ مُسْتَشْفًى.</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Hospital is masculine → dhālika.</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are my friends.”</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هَذِهِ أَصْدِقَائِي.</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هَؤُلَاءِ أَصْدِقَائِي.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أَصْدِقَائِي.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People → hāʾulāʾi.</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هَذَا الْكِتَابُ جَدِيدٌ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This is a new book.</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This is the book.</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This book is new.</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Phrase + predicate.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 AND NOTICE · WEBSITE READING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At the museum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هَذَا مَتْحَفٌ جَدِيدٌ، وَهَذِهِ قَاعَةٌ كَبِيرَةٌ. هَؤُلَاءِ زُوَّارٌ مِنْ بِلَادٍ مُخْتَلِفَةٍ. فِي آخِرِ الْقَاعَةِ تِلْكَ صُوَرٌ قَدِيمَةٌ، وَذَلِكَ تِمْثَالٌ مَشْهُورٌ. أُولَئِكَ مُرْشِدُونَ يَشْرَحُونَ تَارِيخَ الْمَكَانِ.</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مَتْحَفٌ</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museum</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قَاعَةٌ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hall</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زُوَّارٌ</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visitors</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صُوَرٌ</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pictures</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تِمْثَالٌ</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statue</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مُرْشِدُونَ</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guides</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يَشْرَحُونَ</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they explain</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cs typeface="Amiri" pitchFamily="2" charset="-78"/>
              </a:rPr>
              <a:t>هَذِهِ</a:t>
            </a:r>
            <a:pPr algn="l" indent="0" marL="0">
              <a:buNone/>
            </a:pPr>
            <a:r>
              <a:rPr lang="en-US" sz="1250" b="1" dirty="0">
                <a:solidFill>
                  <a:srgbClr val="1B3B6F"/>
                </a:solidFill>
                <a:latin typeface="Calibri" pitchFamily="34" charset="0"/>
                <a:cs typeface="Amiri" pitchFamily="2" charset="-78"/>
              </a:rPr>
              <a:t> before the hall?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Hall is plural.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Hall is feminine.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Hall is far away.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cs typeface="Amiri" pitchFamily="2" charset="-78"/>
              </a:rPr>
              <a:t>تِلْكَ</a:t>
            </a:r>
            <a:pPr algn="l" indent="0" marL="0">
              <a:buNone/>
            </a:pPr>
            <a:r>
              <a:rPr lang="en-US" sz="1250" b="1" dirty="0">
                <a:solidFill>
                  <a:srgbClr val="1B3B6F"/>
                </a:solidFill>
                <a:latin typeface="Calibri" pitchFamily="34" charset="0"/>
                <a:cs typeface="Amiri" pitchFamily="2" charset="-78"/>
              </a:rPr>
              <a:t> before the pictures?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Pictures are people.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mistake.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Pictures are plural things, far away.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are </a:t>
            </a:r>
            <a:pPr algn="l" indent="0" marL="0">
              <a:buNone/>
            </a:pPr>
            <a:r>
              <a:rPr lang="ar-SA" altLang="en-US" sz="1650" b="1" dirty="0">
                <a:solidFill>
                  <a:srgbClr val="1B3B6F"/>
                </a:solidFill>
                <a:latin typeface="Amiri" pitchFamily="2" charset="-78"/>
                <a:cs typeface="Amiri" pitchFamily="2" charset="-78"/>
              </a:rPr>
              <a:t>أُولَئِكَ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guides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visitors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pictures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demonstrative refers to the statue?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ذَلِكَ</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هَؤُلَاءِ</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cs typeface="Amiri" pitchFamily="2" charset="-78"/>
              </a:rPr>
              <a:t>هَذِهِ</a:t>
            </a:r>
            <a:pPr algn="l" indent="0" marL="0">
              <a:buNone/>
            </a:pPr>
            <a:r>
              <a:rPr lang="en-US" sz="1250" b="1" dirty="0">
                <a:solidFill>
                  <a:srgbClr val="1B3B6F"/>
                </a:solidFill>
                <a:latin typeface="Calibri" pitchFamily="34" charset="0"/>
                <a:cs typeface="Amiri" pitchFamily="2" charset="-78"/>
              </a:rPr>
              <a:t> before the hall?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Hall is plural.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Hall is feminine.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Hall is far away.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singular.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cs typeface="Amiri" pitchFamily="2" charset="-78"/>
              </a:rPr>
              <a:t>تِلْكَ</a:t>
            </a:r>
            <a:pPr algn="l" indent="0" marL="0">
              <a:buNone/>
            </a:pPr>
            <a:r>
              <a:rPr lang="en-US" sz="1250" b="1" dirty="0">
                <a:solidFill>
                  <a:srgbClr val="1B3B6F"/>
                </a:solidFill>
                <a:latin typeface="Calibri" pitchFamily="34" charset="0"/>
                <a:cs typeface="Amiri" pitchFamily="2" charset="-78"/>
              </a:rPr>
              <a:t> before the pictures?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Pictures are people.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mistake.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Pictures are plural things, far away.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 → tilka.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are </a:t>
            </a:r>
            <a:pPr algn="l" indent="0" marL="0">
              <a:buNone/>
            </a:pPr>
            <a:r>
              <a:rPr lang="ar-SA" altLang="en-US" sz="1650" b="1" dirty="0">
                <a:solidFill>
                  <a:srgbClr val="1B3B6F"/>
                </a:solidFill>
                <a:latin typeface="Amiri" pitchFamily="2" charset="-78"/>
                <a:cs typeface="Amiri" pitchFamily="2" charset="-78"/>
              </a:rPr>
              <a:t>أُولَئِكَ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guides</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visitors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pictures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Far, people.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demonstrative refers to the statue?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هَذِهِ</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ذَلِكَ</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هَؤُلَاءِ</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far.</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 picture or room tour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هَذَا؟ مَا هَذِهِ؟ (أَشْيَاءُ حَوْلَكَ)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صُورَةً لِمَدْرَسَتِكَ: هَذَا … ذَلِكَ … هَؤُلَاءِ …</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صُورَةً لِأُسْرَتِكَ مَعَ الْمُثَنَّى: هَذَانِ … هَاتَانِ …</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هَذَا ___ ، وَهَذِهِ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تِلْكَ ___ ، وَأُولَئِكَ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هَذَانِ ___ ، وَهَاتَانِ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مَنْ هَؤُلَاءِ فِي الصُّورَةِ؟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Who are these people in the photo?</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هَؤُلَاءِ أَبْنَاءُ عَمِّي. هَذَانِ أَخَوَانِ، وَهَاتَانِ أُخْتَاهُمَا. وَتِلْكَ حَدِيقَةُ بَيْتِهِمْ.</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These are my cousins. These two are brothers, and these two are their sisters. And that is their garden.</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Identify six things around you: This is … / That is …</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Choose by gender and distance.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people and plural things.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hāʾulāʾi for people; hādhihi for things.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8–10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Describe a picture with near, far and dual forms.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one “this … is …” phrase sentence.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أُولَئِكَ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Those are … (people)</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هَذِهِ كُتُبٌ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These are … books.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تِلْكَ سَيَّارَاتٌ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Those are … cars.</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هَذِهِ السَّيَّارَةُ الْجَدِيدَةُ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new car is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هَذَا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a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هَذِهِ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a … (f.)</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ذَلِكَ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That is a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هَؤُلَاءِ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These are … (people)</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هَذَا  ·  هَذِهِ  ·  هَؤُلَاءِ  ·  ذَلِكَ  ·  تِلْكَ  ·  أُولَئِكَ  ·  هَذَانِ  ·  هَاتَانِ  ·  طَالِبٌ  ·  مَدْرَسَةٌ  ·  طُلَّابٌ  ·  كُتُبٌ  ·  مُفِيدَةٌ  ·  سَرِيعَةٌ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Describe a picture or place in 8–10 sentences using demonstrative pronouns.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near singular (m. and f.).</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far singular (m. and f.).</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human plural (hāʾulāʾi or ulāʾika).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non-human plural with hādhihi or tilka.</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dual demonstrative.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هَذَا مَسْجِدٌ</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this is a mosque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تِلْكَ حَدِيقَةٌ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that is a garden</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أُولَئِكَ زُوَّارٌ</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those are visitors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هَذِهِ مَحَلَّاتٌ</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these are shops</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هَاتَانِ أُخْتَايَ</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these two are my sisters</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ذَلِكَ؟</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what is that?</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هَذِهِ صُورَةٌ لِمَدِينَتِي. هَذَا مَسْجِدٌ كَبِيرٌ، وَتِلْكَ مَدْرَسَتِي. هَؤُلَاءِ طُلَّابٌ يَلْعَبُونَ فِي السَّاحَةِ، وَأُولَئِكَ مُعَلِّمُونَ يَتَحَدَّثُونَ. هَذِهِ مَحَلَّاتٌ صَغِيرَةٌ، وَتِلْكَ سَيَّارَاتٌ كَثِيرَةٌ. هَذَانِ أَخَوَايَ، وَهَاتَانِ صَدِيقَتَانِ لِأُخْتِي. ذَلِكَ الْمَبْنَى الْعَالِي مُسْتَشْفًى.</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This is a picture of my city. This is a big mosque, and that is my school. These are students playing in the playground, and those are teachers talking. These are small shops, and those are many cars. These two are my brothers, and these two are friends of my sister. That tall building is a hospital.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near</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far</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people / things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dual</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demonstratives match the noun’s gender.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“This is a …” sentences have no al- on the noun.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Hāʾulāʾi / ulāʾika only for people.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Plural things take hādhihi / tilka.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dual demonstrative correctly.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“That is a garden.”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تِلْكَ حَدِيقَةٌ.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ذَلِكَ حَدِيقَةٌ.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أُولَئِكَ حَدِيقَةٌ.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are visitors.”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زُوَّارٌ.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هَؤُلَاءِ زُوَّارٌ.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زُوَّارٌ.</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are old pictures.”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صُوَرٌ قَدِيمَةٌ.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هَؤُلَاءِ صُوَرٌ قَدِيمَةٌ.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صُوَرٌ قَدِيمَاتٌ.</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“That is a garden.”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تِلْكَ حَدِيقَةٌ.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ذَلِكَ حَدِيقَةٌ.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أُولَئِكَ حَدِيقَةٌ.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Garden is feminine.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are visitors.”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هَذِهِ زُوَّارٌ.</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هَؤُلَاءِ زُوَّارٌ.</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هَذَا زُوَّارٌ.</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People → hāʾulāʾi.</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are old pictures.”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هَذِهِ صُوَرٌ قَدِيمَةٌ.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هَؤُلَاءِ صُوَرٌ قَدِيمَةٌ.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هَذِهِ صُوَرٌ قَدِيمَاتٌ.</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Plural things → hādhihi + f. sing.</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GM-PRO-05: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GM-PRO-05 · Relative Pronouns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الَّذِي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who / which (m.)</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الَّتِي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who / which (f.)</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الَّذِينَ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who (m. pl., people)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whoever, the one who</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مَا</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what, that which</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would you join these: “This is the student. He won the prize.” Which word means “who”?</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هَذَا الطَّالِبُ ______ فَازَ بِالْجَائِزَةِ.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Label ten things at home: This is … / That is …</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Complete the website’s ten translation sentences.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Describe a family photo with dual forms.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GM-PRO-04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GM-PRO-05 · Relative Pronouns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الْأَسْمَاءُ الْمَوْصُولَةُ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near hādhā / hādhihi / hāʾulāʾi · far dhālika / tilka / ulāʾika · people plural vs things (hādhihi) · two → hādhāni / hātāni · “This is a …” = no al-.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GM-PRO-04 · Demonstrative Pronouns</dc:title>
  <dc:subject>PptxGenJS Presentation</dc:subject>
  <dc:creator>Al Madina Online School · Arabic Department</dc:creator>
  <cp:lastModifiedBy>Al Madina Online School · Arabic Department</cp:lastModifiedBy>
  <cp:revision>1</cp:revision>
  <dcterms:created xsi:type="dcterms:W3CDTF">2026-10-11T06:42:29Z</dcterms:created>
  <dcterms:modified xsi:type="dcterms:W3CDTF">2026-10-11T06:42:29Z</dcterms:modified>
</cp:coreProperties>
</file>