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GM-PRO-04 (“أَسْمَاءُ الْإِشَارَةِ”).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هَذَا · هَذِهِ · هَؤُلَاءِ in identification sentences (هَذَا طَالِبٌ · هَذِهِ طَالِبَةٌ · هَؤُلَاءِ طُلَّابٌ). Develop: far forms ذَلِكَ · تِلْكَ · أُولَئِكَ; human vs non-human plurals (هَذِهِ كُتُبٌ). Stretch: dual demonstratives and their case forms (هَذَانِ / هَذَيْنِ · هَاتَانِ / هَاتَيْنِ); “This is a book” vs “this book”.
• Revisits GM-ADJ-07 (demonstrative + al-noun). Here the demonstrative is the PRONOUN subject of a sentence.
• Website pronunciation note: هَذَا · ذَلِكَ · هَؤُلَاءِ · أُولَئِكَ contain a long ā that is not written with a normal alif (the website shows a small dagger alif: هٰذَا).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GM-ADJ-07 (demonstratives) and GM-PRO-03.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demonstrative can BE the subject: “This is …”. Choose it by distance, gender and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tables “Near demonstratives” and “Far demonstratives”. Gesture: hand on the desk (near) / point out of the window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“Gender, number and human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“Dual demonstratives”. Stretch only; link to GM-N-02 (-āni / -ayni).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from the website translation sentences.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text. Share a picture of a museum on screen and point as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five of the website’s ten translation sentences (the rest appear elsewhere in the deck). Cover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then say the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then say the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content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Read it aloud once while students follow; then they hunt for today’s grammar.
Task: Website: follow the demonstratives — mark each one near or far, and person or thing.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text (dagger-alif spelling normalised);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picture-description practice. Sequence: ● 10s think → ↔ 45s rehearse aloud with mic muted → ◎ two named students on open mic (warned in advance) → + ? the class types one follow-up in chat → ↺ one student summarises.
Routes: Core uses the Core prompt and stem; Develop the Develop prompt; Stretch the last prompt.
Students share a picture and point as they speak. Check people vs things and the dual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the website’s ten translation sentences, then a short description of a picture or place using demonstratives.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picture-description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(GM-PRO-05 · Relative Pronouns) will spend class time USING this language, so students prepare it tonight — short, simple, easy to access (school guidance: “Simple, Short, Interesting, Relevant, Easy to access”). The five words prepare GM-PRO-05 (website Pronouns lesson 5: relative pronouns).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Demonstrative Pronouns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أَسْمَاءُ الْإِشَارَةِ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Point and identify: hādhā kitābun = This is a book. Choose the demonstrative by distance (near / far), gender and number — and remember that plural things take hādhihi / tilka.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Near and far; human vs non-human plural; duals; phrase vs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Point and say; translate;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 (from GM-ADJ-07).</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الْمَدْرَسَةُ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men”.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الرِّجَالُ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الرِّجَالُ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الرِّجَالُ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الْكُتُبُ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الْكُتُبُ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him.”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 كِتَابٌ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book.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book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book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 (from GM-ADJ-07).</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الْمَدْرَسَةُ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الْمَدْرَسَةُ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الْمَدْرَسَةُ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School is feminine.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men”.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أُولَئِكَ الرِّجَالُ</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الرِّجَالُ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الرِّجَالُ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far → ulāʾika.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الْكُتُبُ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الْكُتُبُ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الْكُتُبُ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hādhihi.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him.”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رَأَيْتُهَا.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رَأَيْتُهُ.</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Retrieval from GM-PRO-03.</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 كِتَابٌ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This is a book.</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book</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book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al- → a full sentence.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demonstrative can BE the subject: “This is …”. Choose it by distance, gender and number.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كِتَابٌ ‖ </a:t>
            </a:r>
            <a:pPr rtl="1" algn="ctr" indent="0" marL="0">
              <a:buNone/>
            </a:pPr>
            <a:r>
              <a:rPr lang="ar-SA" altLang="en-US" sz="2400" b="1" dirty="0">
                <a:solidFill>
                  <a:srgbClr val="D6336C"/>
                </a:solidFill>
                <a:latin typeface="Amiri" pitchFamily="2" charset="-78"/>
                <a:ea typeface="Amiri" pitchFamily="2" charset="-78"/>
                <a:cs typeface="Amiri" pitchFamily="2" charset="-78"/>
              </a:rPr>
              <a:t>تِلْكَ</a:t>
            </a:r>
            <a:pPr rtl="1" algn="ctr" indent="0" marL="0">
              <a:buNone/>
            </a:pPr>
            <a:r>
              <a:rPr lang="ar-SA" altLang="en-US" sz="2400" b="1" dirty="0">
                <a:solidFill>
                  <a:srgbClr val="1B3B6F"/>
                </a:solidFill>
                <a:latin typeface="Amiri" pitchFamily="2" charset="-78"/>
                <a:ea typeface="Amiri" pitchFamily="2" charset="-78"/>
                <a:cs typeface="Amiri" pitchFamily="2" charset="-78"/>
              </a:rPr>
              <a:t> سَيَّارَةٌ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people and things with near demonstratives.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far demonstratives for things further away.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hādhihi / tilka for plural things and hāʾulāʾi / ulāʾika for people.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dual demonstratives.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This is a … with hādhā / hādhihi.</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These are … for people.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that / those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These are useful books with hādhihi.</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these two (m. / f.).</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tell “This is a book” from “this book”.</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الْإِشَارَةِ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demonstrative</a:t>
            </a:r>
            <a:endParaRPr lang="en-US" sz="1350" dirty="0"/>
          </a:p>
          <a:p>
            <a:pPr indent="0" marL="0">
              <a:buNone/>
            </a:pPr>
            <a:r>
              <a:rPr lang="en-US" sz="1100" i="1" dirty="0">
                <a:solidFill>
                  <a:srgbClr val="5A6472"/>
                </a:solidFill>
                <a:latin typeface="Calibri" pitchFamily="34" charset="0"/>
                <a:cs typeface="Amiri" pitchFamily="2" charset="-78"/>
              </a:rPr>
              <a:t>as-mu al-i-shā-ra-ti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this / that / these / those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الْقَرِيبُ</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a:t>
            </a:r>
            <a:endParaRPr lang="en-US" sz="1350" dirty="0"/>
          </a:p>
          <a:p>
            <a:pPr indent="0" marL="0">
              <a:buNone/>
            </a:pPr>
            <a:r>
              <a:rPr lang="en-US" sz="1100" i="1" dirty="0">
                <a:solidFill>
                  <a:srgbClr val="5A6472"/>
                </a:solidFill>
                <a:latin typeface="Calibri" pitchFamily="34" charset="0"/>
                <a:cs typeface="Amiri" pitchFamily="2" charset="-78"/>
              </a:rPr>
              <a:t>al-qa-rī-bu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هَذَا · هَذِهِ · هَؤُلَاءِ</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الْبَعِيدُ</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far</a:t>
            </a:r>
            <a:endParaRPr lang="en-US" sz="1350" dirty="0"/>
          </a:p>
          <a:p>
            <a:pPr indent="0" marL="0">
              <a:buNone/>
            </a:pPr>
            <a:r>
              <a:rPr lang="en-US" sz="1100" i="1" dirty="0">
                <a:solidFill>
                  <a:srgbClr val="5A6472"/>
                </a:solidFill>
                <a:latin typeface="Calibri" pitchFamily="34" charset="0"/>
                <a:cs typeface="Amiri" pitchFamily="2" charset="-78"/>
              </a:rPr>
              <a:t>al-ba-ʿī-du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ذَلِكَ · تِلْكَ · أُولَئِكَ</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هَذَانِ · هَاتَانِ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these two (m. · f.)</a:t>
            </a:r>
            <a:endParaRPr lang="en-US" sz="1350" dirty="0"/>
          </a:p>
          <a:p>
            <a:pPr indent="0" marL="0">
              <a:buNone/>
            </a:pPr>
            <a:r>
              <a:rPr lang="en-US" sz="1100" i="1" dirty="0">
                <a:solidFill>
                  <a:srgbClr val="5A6472"/>
                </a:solidFill>
                <a:latin typeface="Calibri" pitchFamily="34" charset="0"/>
                <a:cs typeface="Amiri" pitchFamily="2" charset="-78"/>
              </a:rPr>
              <a:t>ha-dhā-ni · hā-tā-ni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dual</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الْعَاقِلُ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a:t>
            </a:r>
            <a:endParaRPr lang="en-US" sz="1350" dirty="0"/>
          </a:p>
          <a:p>
            <a:pPr indent="0" marL="0">
              <a:buNone/>
            </a:pPr>
            <a:r>
              <a:rPr lang="en-US" sz="1100" i="1" dirty="0">
                <a:solidFill>
                  <a:srgbClr val="5A6472"/>
                </a:solidFill>
                <a:latin typeface="Calibri" pitchFamily="34" charset="0"/>
                <a:cs typeface="Amiri" pitchFamily="2" charset="-78"/>
              </a:rPr>
              <a:t>al-ʿā-qi-lu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هَؤُلَاءِ طُلَّابٌ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الْعَاقِلِ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a:t>
            </a:r>
            <a:endParaRPr lang="en-US" sz="1350" dirty="0"/>
          </a:p>
          <a:p>
            <a:pPr indent="0" marL="0">
              <a:buNone/>
            </a:pPr>
            <a:r>
              <a:rPr lang="en-US" sz="1100" i="1" dirty="0">
                <a:solidFill>
                  <a:srgbClr val="5A6472"/>
                </a:solidFill>
                <a:latin typeface="Calibri" pitchFamily="34" charset="0"/>
                <a:cs typeface="Amiri" pitchFamily="2" charset="-78"/>
              </a:rPr>
              <a:t>ghay-ru al-ʿā-qi-li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هَذِهِ كُتُبٌ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NEAR AND FAR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that, these, those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الْقَرِيبُ وَالْبَعِيدُ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31552" y="1810512"/>
            <a:ext cx="1527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83027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Far</a:t>
            </a:r>
            <a:endParaRPr lang="en-US" sz="1100" dirty="0"/>
          </a:p>
        </p:txBody>
      </p:sp>
      <p:sp>
        <p:nvSpPr>
          <p:cNvPr id="18" name="Text 15"/>
          <p:cNvSpPr txBox="1"/>
          <p:nvPr/>
        </p:nvSpPr>
        <p:spPr>
          <a:xfrm>
            <a:off x="565099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34564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Near</a:t>
            </a:r>
            <a:endParaRPr lang="en-US" sz="1100" dirty="0"/>
          </a:p>
        </p:txBody>
      </p:sp>
      <p:sp>
        <p:nvSpPr>
          <p:cNvPr id="20" name="Text 17"/>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10149840" y="2267712"/>
            <a:ext cx="1490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ذَلِكَ بَيْتٌ.</a:t>
            </a:r>
            <a:endParaRPr lang="ar-SA" sz="2000" dirty="0"/>
          </a:p>
        </p:txBody>
      </p:sp>
      <p:sp>
        <p:nvSpPr>
          <p:cNvPr id="23" name="Text 20"/>
          <p:cNvSpPr txBox="1"/>
          <p:nvPr/>
        </p:nvSpPr>
        <p:spPr>
          <a:xfrm>
            <a:off x="8321040" y="2267712"/>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ذَلِكَ</a:t>
            </a:r>
            <a:endParaRPr lang="ar-SA" sz="2400" dirty="0"/>
          </a:p>
        </p:txBody>
      </p:sp>
      <p:sp>
        <p:nvSpPr>
          <p:cNvPr id="24" name="Text 21"/>
          <p:cNvSpPr txBox="1"/>
          <p:nvPr/>
        </p:nvSpPr>
        <p:spPr>
          <a:xfrm>
            <a:off x="5669280" y="2267712"/>
            <a:ext cx="2468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طَالِبٌ.</a:t>
            </a:r>
            <a:endParaRPr lang="ar-SA" sz="2200" dirty="0"/>
          </a:p>
        </p:txBody>
      </p:sp>
      <p:sp>
        <p:nvSpPr>
          <p:cNvPr id="25" name="Text 22"/>
          <p:cNvSpPr txBox="1"/>
          <p:nvPr/>
        </p:nvSpPr>
        <p:spPr>
          <a:xfrm>
            <a:off x="3474720" y="2267712"/>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a:t>
            </a:r>
            <a:endParaRPr lang="ar-SA" sz="2400" dirty="0"/>
          </a:p>
        </p:txBody>
      </p:sp>
      <p:sp>
        <p:nvSpPr>
          <p:cNvPr id="26" name="Text 23"/>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singular</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10149840" y="3054096"/>
            <a:ext cx="1490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تِلْكَ مَدْرَسَةٌ.</a:t>
            </a:r>
            <a:endParaRPr lang="ar-SA" sz="2000" dirty="0"/>
          </a:p>
        </p:txBody>
      </p:sp>
      <p:sp>
        <p:nvSpPr>
          <p:cNvPr id="31" name="Text 28"/>
          <p:cNvSpPr txBox="1"/>
          <p:nvPr/>
        </p:nvSpPr>
        <p:spPr>
          <a:xfrm>
            <a:off x="8321040" y="3054096"/>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a:t>
            </a:r>
            <a:endParaRPr lang="ar-SA" sz="2400" dirty="0"/>
          </a:p>
        </p:txBody>
      </p:sp>
      <p:sp>
        <p:nvSpPr>
          <p:cNvPr id="32" name="Text 29"/>
          <p:cNvSpPr txBox="1"/>
          <p:nvPr/>
        </p:nvSpPr>
        <p:spPr>
          <a:xfrm>
            <a:off x="5669280" y="3054096"/>
            <a:ext cx="2468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طَالِبَةٌ.</a:t>
            </a:r>
            <a:endParaRPr lang="ar-SA" sz="2200" dirty="0"/>
          </a:p>
        </p:txBody>
      </p:sp>
      <p:sp>
        <p:nvSpPr>
          <p:cNvPr id="33" name="Text 30"/>
          <p:cNvSpPr txBox="1"/>
          <p:nvPr/>
        </p:nvSpPr>
        <p:spPr>
          <a:xfrm>
            <a:off x="3474720" y="3054096"/>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a:t>
            </a:r>
            <a:endParaRPr lang="ar-SA" sz="2400" dirty="0"/>
          </a:p>
        </p:txBody>
      </p:sp>
      <p:sp>
        <p:nvSpPr>
          <p:cNvPr id="34" name="Text 31"/>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10149840" y="3840480"/>
            <a:ext cx="1490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أُولَئِكَ مُعَلِّمُونَ.</a:t>
            </a:r>
            <a:endParaRPr lang="ar-SA" sz="2000" dirty="0"/>
          </a:p>
        </p:txBody>
      </p:sp>
      <p:sp>
        <p:nvSpPr>
          <p:cNvPr id="39" name="Text 36"/>
          <p:cNvSpPr txBox="1"/>
          <p:nvPr/>
        </p:nvSpPr>
        <p:spPr>
          <a:xfrm>
            <a:off x="8321040" y="3840480"/>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أُولَئِكَ</a:t>
            </a:r>
            <a:endParaRPr lang="ar-SA" sz="2400" dirty="0"/>
          </a:p>
        </p:txBody>
      </p:sp>
      <p:sp>
        <p:nvSpPr>
          <p:cNvPr id="40" name="Text 37"/>
          <p:cNvSpPr txBox="1"/>
          <p:nvPr/>
        </p:nvSpPr>
        <p:spPr>
          <a:xfrm>
            <a:off x="5669280" y="3840480"/>
            <a:ext cx="2468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هَؤُلَاءِ طُلَّابٌ.</a:t>
            </a:r>
            <a:endParaRPr lang="ar-SA" sz="2200" dirty="0"/>
          </a:p>
        </p:txBody>
      </p:sp>
      <p:sp>
        <p:nvSpPr>
          <p:cNvPr id="41" name="Text 38"/>
          <p:cNvSpPr txBox="1"/>
          <p:nvPr/>
        </p:nvSpPr>
        <p:spPr>
          <a:xfrm>
            <a:off x="3474720" y="3840480"/>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هَؤُلَاءِ</a:t>
            </a:r>
            <a:endParaRPr lang="ar-SA" sz="2400" dirty="0"/>
          </a:p>
        </p:txBody>
      </p:sp>
      <p:sp>
        <p:nvSpPr>
          <p:cNvPr id="42" name="Text 39"/>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plural (m., f. or mixed)</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10149840" y="4626864"/>
            <a:ext cx="1490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تِلْكَ سَيَّارَاتٌ.</a:t>
            </a:r>
            <a:endParaRPr lang="ar-SA" sz="2000" dirty="0"/>
          </a:p>
        </p:txBody>
      </p:sp>
      <p:sp>
        <p:nvSpPr>
          <p:cNvPr id="47" name="Text 44"/>
          <p:cNvSpPr txBox="1"/>
          <p:nvPr/>
        </p:nvSpPr>
        <p:spPr>
          <a:xfrm>
            <a:off x="8321040" y="4626864"/>
            <a:ext cx="16459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a:t>
            </a:r>
            <a:endParaRPr lang="ar-SA" sz="2400" dirty="0"/>
          </a:p>
        </p:txBody>
      </p:sp>
      <p:sp>
        <p:nvSpPr>
          <p:cNvPr id="48" name="Text 45"/>
          <p:cNvSpPr txBox="1"/>
          <p:nvPr/>
        </p:nvSpPr>
        <p:spPr>
          <a:xfrm>
            <a:off x="5669280" y="4626864"/>
            <a:ext cx="2468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كُتُبٌ.</a:t>
            </a:r>
            <a:endParaRPr lang="ar-SA" sz="2200" dirty="0"/>
          </a:p>
        </p:txBody>
      </p:sp>
      <p:sp>
        <p:nvSpPr>
          <p:cNvPr id="49" name="Text 46"/>
          <p:cNvSpPr txBox="1"/>
          <p:nvPr/>
        </p:nvSpPr>
        <p:spPr>
          <a:xfrm>
            <a:off x="3474720" y="4626864"/>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a:t>
            </a:r>
            <a:endParaRPr lang="ar-SA" sz="2400" dirty="0"/>
          </a:p>
        </p:txBody>
      </p:sp>
      <p:sp>
        <p:nvSpPr>
          <p:cNvPr id="50" name="Text 47"/>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key point: Arabic has no single word for “this” — choose by the grammatical gender of the noun. The long ā in hādhā / dhālika is not written as a normal alif.</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GENDER, NUMBER AND HUMAN REFERENCE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or things?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الْعَاقِلُ وَغَيْرُ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Hādhā + masculine noun; hādhihi + feminine noun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Hāʾulāʾi / ulāʾika are for HUMAN plurals — male, female or mixed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Non-human plurals are treated as feminine singular, so they take hādhihi / tilka (website).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“This is a …” the noun has NO al-: hādhā kitābun.</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With al-, it becomes a phrase: hādhā l-kitābu = this book … (needs more).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هَذَا كِتَابٌ جَدِيدٌ.</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is a new book.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هَذِهِ حَقِيبَةٌ جَدِيدَةٌ.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is a new bag.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هَؤُلَاءِ طَالِبَاتٌ مُجْتَهِدَاتٌ.</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These are hardworking female students.  ·  website · people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هَذِهِ كُتُبٌ مُفِيدَةٌ.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These are useful books.  ·  website · things</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RULE</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not use hāʾulāʾi with things: “hāʾulāʾi kutubun” is wrong — say hādhihi kutubun.</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DUAL DEMONSTRATIVES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These two, those two — and their case forms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أَسْمَاءُ الْإِشَارَةِ لِلْمُثَنَّى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5833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 / after a preposition</a:t>
            </a:r>
            <a:endParaRPr lang="en-US" sz="1100" dirty="0"/>
          </a:p>
        </p:txBody>
      </p:sp>
      <p:sp>
        <p:nvSpPr>
          <p:cNvPr id="18" name="Text 15"/>
          <p:cNvSpPr txBox="1"/>
          <p:nvPr/>
        </p:nvSpPr>
        <p:spPr>
          <a:xfrm>
            <a:off x="3456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595360" y="2267712"/>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هَذَانِ طَالِبَانِ.</a:t>
            </a:r>
            <a:endParaRPr lang="ar-SA" sz="2200" dirty="0"/>
          </a:p>
        </p:txBody>
      </p:sp>
      <p:sp>
        <p:nvSpPr>
          <p:cNvPr id="22" name="Text 19"/>
          <p:cNvSpPr txBox="1"/>
          <p:nvPr/>
        </p:nvSpPr>
        <p:spPr>
          <a:xfrm>
            <a:off x="5852160" y="2267712"/>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هَذَيْنِ</a:t>
            </a:r>
            <a:endParaRPr lang="ar-SA" sz="2400" dirty="0"/>
          </a:p>
        </p:txBody>
      </p:sp>
      <p:sp>
        <p:nvSpPr>
          <p:cNvPr id="23" name="Text 20"/>
          <p:cNvSpPr txBox="1"/>
          <p:nvPr/>
        </p:nvSpPr>
        <p:spPr>
          <a:xfrm>
            <a:off x="347472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هَذَانِ</a:t>
            </a:r>
            <a:endParaRPr lang="ar-SA" sz="2400" dirty="0"/>
          </a:p>
        </p:txBody>
      </p:sp>
      <p:sp>
        <p:nvSpPr>
          <p:cNvPr id="24" name="Text 21"/>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two (m.)</a:t>
            </a:r>
            <a:endParaRPr lang="en-US" sz="110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595360" y="3054096"/>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هَاتَانِ طَالِبَتَانِ.</a:t>
            </a:r>
            <a:endParaRPr lang="ar-SA" sz="2200" dirty="0"/>
          </a:p>
        </p:txBody>
      </p:sp>
      <p:sp>
        <p:nvSpPr>
          <p:cNvPr id="27" name="Text 24"/>
          <p:cNvSpPr txBox="1"/>
          <p:nvPr/>
        </p:nvSpPr>
        <p:spPr>
          <a:xfrm>
            <a:off x="5852160" y="3054096"/>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هَاتَيْنِ</a:t>
            </a:r>
            <a:endParaRPr lang="ar-SA" sz="2400" dirty="0"/>
          </a:p>
        </p:txBody>
      </p:sp>
      <p:sp>
        <p:nvSpPr>
          <p:cNvPr id="28" name="Text 25"/>
          <p:cNvSpPr txBox="1"/>
          <p:nvPr/>
        </p:nvSpPr>
        <p:spPr>
          <a:xfrm>
            <a:off x="347472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هَاتَانِ</a:t>
            </a:r>
            <a:endParaRPr lang="ar-SA" sz="2400" dirty="0"/>
          </a:p>
        </p:txBody>
      </p:sp>
      <p:sp>
        <p:nvSpPr>
          <p:cNvPr id="29" name="Text 26"/>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two (f.)</a:t>
            </a:r>
            <a:endParaRPr lang="en-US" sz="110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8595360" y="3840480"/>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ذَانِكَ طَالِبَانِ.</a:t>
            </a:r>
            <a:endParaRPr lang="ar-SA" sz="2200" dirty="0"/>
          </a:p>
        </p:txBody>
      </p:sp>
      <p:sp>
        <p:nvSpPr>
          <p:cNvPr id="32" name="Text 29"/>
          <p:cNvSpPr txBox="1"/>
          <p:nvPr/>
        </p:nvSpPr>
        <p:spPr>
          <a:xfrm>
            <a:off x="5852160" y="3840480"/>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ذَيْنِكَ</a:t>
            </a:r>
            <a:endParaRPr lang="ar-SA" sz="2400" dirty="0"/>
          </a:p>
        </p:txBody>
      </p:sp>
      <p:sp>
        <p:nvSpPr>
          <p:cNvPr id="33" name="Text 30"/>
          <p:cNvSpPr txBox="1"/>
          <p:nvPr/>
        </p:nvSpPr>
        <p:spPr>
          <a:xfrm>
            <a:off x="347472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ذَانِكَ</a:t>
            </a:r>
            <a:endParaRPr lang="ar-SA" sz="2400" dirty="0"/>
          </a:p>
        </p:txBody>
      </p:sp>
      <p:sp>
        <p:nvSpPr>
          <p:cNvPr id="34" name="Text 31"/>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those two (m.)</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595360" y="4626864"/>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تَانِكَ طَالِبَتَانِ.</a:t>
            </a:r>
            <a:endParaRPr lang="ar-SA" sz="2200" dirty="0"/>
          </a:p>
        </p:txBody>
      </p:sp>
      <p:sp>
        <p:nvSpPr>
          <p:cNvPr id="37" name="Text 34"/>
          <p:cNvSpPr txBox="1"/>
          <p:nvPr/>
        </p:nvSpPr>
        <p:spPr>
          <a:xfrm>
            <a:off x="5852160" y="4626864"/>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تَيْنِكَ</a:t>
            </a:r>
            <a:endParaRPr lang="ar-SA" sz="2400" dirty="0"/>
          </a:p>
        </p:txBody>
      </p:sp>
      <p:sp>
        <p:nvSpPr>
          <p:cNvPr id="38" name="Text 35"/>
          <p:cNvSpPr txBox="1"/>
          <p:nvPr/>
        </p:nvSpPr>
        <p:spPr>
          <a:xfrm>
            <a:off x="347472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تَانِكَ</a:t>
            </a:r>
            <a:endParaRPr lang="ar-SA" sz="2400" dirty="0"/>
          </a:p>
        </p:txBody>
      </p:sp>
      <p:sp>
        <p:nvSpPr>
          <p:cNvPr id="39" name="Text 36"/>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those two (f.)</a:t>
            </a:r>
            <a:endParaRPr lang="en-US" sz="1100" dirty="0"/>
          </a:p>
        </p:txBody>
      </p:sp>
      <p:sp>
        <p:nvSpPr>
          <p:cNvPr id="40" name="Text 3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revision boundary: secure the singular and plural forms first; the dual is extra support. Like dual nouns, -āni becomes -ayni as object or after a preposition.</a:t>
            </a:r>
            <a:endParaRPr lang="en-US" sz="11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car.”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سَيَّارَةٌ.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سَيَّارَةٌ.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سَيَّارَةٌ.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are teachers (m.).”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مُعَلِّمُونَ.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مُعَلِّمُونَ.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مُعَلِّمُونَ.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are fast cars.”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سَيَّارَاتٌ سَرِيعَةٌ.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سَيَّارَاتٌ سَرِيعَةٌ.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سَيَّارَاتٌ سَرِيعَاتٌ.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two are female students.”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هَاتَانِ طَالِبَتَانِ.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هَذَانِ طَالِبَتَانِ.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طَالِبَتَانِ.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car.”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سَيَّارَةٌ.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سَيَّارَةٌ.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سَيَّارَةٌ.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are teachers (m.).”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أُولَئِكَ مُعَلِّمُونَ.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مُعَلِّمُونَ.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مُعَلِّمُونَ.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far → ulāʾika.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are fast cars.”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أُولَئِكَ سَيَّارَاتٌ سَرِيعَةٌ.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تِلْكَ سَيَّارَاتٌ سَرِيعَةٌ.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سَيَّارَاتٌ سَرِيعَاتٌ.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tilka + feminine singular.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two are female students.”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هَاتَانِ طَالِبَتَانِ.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هَذَانِ طَالِبَتَانِ.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طَالِبَتَانِ.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dual → hātāni.</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 museum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Near, 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مَتْحَفٌ</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Museum, here.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Near, 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هَذِهِ قَاعَةٌ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Hall is feminine.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People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هَؤُلَاءِ زُوَّارٌ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Visitors are people.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Far things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تِلْكَ صُوَرٌ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Pictures → tilka.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NEAR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FAR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50" b="1" dirty="0">
                <a:solidFill>
                  <a:srgbClr val="0E7C86"/>
                </a:solidFill>
                <a:latin typeface="Amiri" pitchFamily="2" charset="-78"/>
                <a:ea typeface="Amiri" pitchFamily="2" charset="-78"/>
                <a:cs typeface="Amiri" pitchFamily="2" charset="-78"/>
              </a:rPr>
              <a:t>هَذَا</a:t>
            </a:r>
            <a:pPr rtl="1" algn="r" indent="0" marL="0">
              <a:buNone/>
            </a:pPr>
            <a:r>
              <a:rPr lang="ar-SA" altLang="en-US" sz="2350" b="1" dirty="0">
                <a:solidFill>
                  <a:srgbClr val="1B3B6F"/>
                </a:solidFill>
                <a:latin typeface="Amiri" pitchFamily="2" charset="-78"/>
                <a:ea typeface="Amiri" pitchFamily="2" charset="-78"/>
                <a:cs typeface="Amiri" pitchFamily="2" charset="-78"/>
              </a:rPr>
              <a:t> مَتْحَفٌ جَدِيدٌ، وَ</a:t>
            </a:r>
            <a:pPr rtl="1" algn="r" indent="0" marL="0">
              <a:buNone/>
            </a:pPr>
            <a:r>
              <a:rPr lang="ar-SA" altLang="en-US" sz="2350" b="1" dirty="0">
                <a:solidFill>
                  <a:srgbClr val="0E7C86"/>
                </a:solidFill>
                <a:latin typeface="Amiri" pitchFamily="2" charset="-78"/>
                <a:ea typeface="Amiri" pitchFamily="2" charset="-78"/>
                <a:cs typeface="Amiri" pitchFamily="2" charset="-78"/>
              </a:rPr>
              <a:t>هَذِهِ</a:t>
            </a:r>
            <a:pPr rtl="1" algn="r" indent="0" marL="0">
              <a:buNone/>
            </a:pPr>
            <a:r>
              <a:rPr lang="ar-SA" altLang="en-US" sz="2350" b="1" dirty="0">
                <a:solidFill>
                  <a:srgbClr val="1B3B6F"/>
                </a:solidFill>
                <a:latin typeface="Amiri" pitchFamily="2" charset="-78"/>
                <a:ea typeface="Amiri" pitchFamily="2" charset="-78"/>
                <a:cs typeface="Amiri" pitchFamily="2" charset="-78"/>
              </a:rPr>
              <a:t> قَاعَةٌ كَبِيرَةٌ. </a:t>
            </a:r>
            <a:pPr rtl="1" algn="r" indent="0" marL="0">
              <a:buNone/>
            </a:pPr>
            <a:r>
              <a:rPr lang="ar-SA" altLang="en-US" sz="2350" b="1" dirty="0">
                <a:solidFill>
                  <a:srgbClr val="0E7C86"/>
                </a:solidFill>
                <a:latin typeface="Amiri" pitchFamily="2" charset="-78"/>
                <a:ea typeface="Amiri" pitchFamily="2" charset="-78"/>
                <a:cs typeface="Amiri" pitchFamily="2" charset="-78"/>
              </a:rPr>
              <a:t>هَؤُلَاءِ</a:t>
            </a:r>
            <a:pPr rtl="1" algn="r" indent="0" marL="0">
              <a:buNone/>
            </a:pPr>
            <a:r>
              <a:rPr lang="ar-SA" altLang="en-US" sz="2350" b="1" dirty="0">
                <a:solidFill>
                  <a:srgbClr val="1B3B6F"/>
                </a:solidFill>
                <a:latin typeface="Amiri" pitchFamily="2" charset="-78"/>
                <a:ea typeface="Amiri" pitchFamily="2" charset="-78"/>
                <a:cs typeface="Amiri" pitchFamily="2" charset="-78"/>
              </a:rPr>
              <a:t> زُوَّارٌ مِنْ بِلَادٍ مُخْتَلِفَةٍ. </a:t>
            </a:r>
            <a:pPr rtl="1" algn="r" indent="0" marL="0">
              <a:buNone/>
            </a:pPr>
            <a:r>
              <a:rPr lang="ar-SA" altLang="en-US" sz="2350" b="1" dirty="0">
                <a:solidFill>
                  <a:srgbClr val="D6336C"/>
                </a:solidFill>
                <a:latin typeface="Amiri" pitchFamily="2" charset="-78"/>
                <a:ea typeface="Amiri" pitchFamily="2" charset="-78"/>
                <a:cs typeface="Amiri" pitchFamily="2" charset="-78"/>
              </a:rPr>
              <a:t>تِلْكَ</a:t>
            </a:r>
            <a:pPr rtl="1" algn="r" indent="0" marL="0">
              <a:buNone/>
            </a:pPr>
            <a:r>
              <a:rPr lang="ar-SA" altLang="en-US" sz="2350" b="1" dirty="0">
                <a:solidFill>
                  <a:srgbClr val="1B3B6F"/>
                </a:solidFill>
                <a:latin typeface="Amiri" pitchFamily="2" charset="-78"/>
                <a:ea typeface="Amiri" pitchFamily="2" charset="-78"/>
                <a:cs typeface="Amiri" pitchFamily="2" charset="-78"/>
              </a:rPr>
              <a:t> صُوَرٌ قَدِيمَةٌ، وَ</a:t>
            </a:r>
            <a:pPr rtl="1" algn="r" indent="0" marL="0">
              <a:buNone/>
            </a:pPr>
            <a:r>
              <a:rPr lang="ar-SA" altLang="en-US" sz="2350" b="1" dirty="0">
                <a:solidFill>
                  <a:srgbClr val="D6336C"/>
                </a:solidFill>
                <a:latin typeface="Amiri" pitchFamily="2" charset="-78"/>
                <a:ea typeface="Amiri" pitchFamily="2" charset="-78"/>
                <a:cs typeface="Amiri" pitchFamily="2" charset="-78"/>
              </a:rPr>
              <a:t>ذَلِكَ</a:t>
            </a:r>
            <a:pPr rtl="1" algn="r" indent="0" marL="0">
              <a:buNone/>
            </a:pPr>
            <a:r>
              <a:rPr lang="ar-SA" altLang="en-US" sz="2350" b="1" dirty="0">
                <a:solidFill>
                  <a:srgbClr val="1B3B6F"/>
                </a:solidFill>
                <a:latin typeface="Amiri" pitchFamily="2" charset="-78"/>
                <a:ea typeface="Amiri" pitchFamily="2" charset="-78"/>
                <a:cs typeface="Amiri" pitchFamily="2" charset="-78"/>
              </a:rPr>
              <a:t> تِمْثَالٌ مَشْهُورٌ.</a:t>
            </a:r>
            <a:endParaRPr lang="ar-SA" sz="23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This is a new museum, and this is a large hall. These are visitors from different countries. Those are old pictures, and that is a famous statue.</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مُعَلِّمٌ.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teacher (m.).</a:t>
            </a:r>
            <a:endParaRPr lang="en-US" sz="1250" dirty="0"/>
          </a:p>
          <a:p>
            <a:pPr indent="0" marL="0">
              <a:buNone/>
            </a:pPr>
            <a:r>
              <a:rPr lang="en-US" sz="1050" i="1" dirty="0">
                <a:solidFill>
                  <a:srgbClr val="8A6D1E"/>
                </a:solidFill>
                <a:latin typeface="Calibri" pitchFamily="34" charset="0"/>
                <a:cs typeface="Amiri" pitchFamily="2" charset="-78"/>
              </a:rPr>
              <a:t>Website translation 1.</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ذَلِكَ بَيْتٌ.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That is a house.</a:t>
            </a:r>
            <a:endParaRPr lang="en-US" sz="1250" dirty="0"/>
          </a:p>
          <a:p>
            <a:pPr indent="0" marL="0">
              <a:buNone/>
            </a:pPr>
            <a:r>
              <a:rPr lang="en-US" sz="1050" i="1" dirty="0">
                <a:solidFill>
                  <a:srgbClr val="8A6D1E"/>
                </a:solidFill>
                <a:latin typeface="Calibri" pitchFamily="34" charset="0"/>
                <a:cs typeface="Amiri" pitchFamily="2" charset="-78"/>
              </a:rPr>
              <a:t>Website translation 4.</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الْمَكْتَبَةُ الْجَدِيدَةُ كَبِيرَةٌ.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new library is large.</a:t>
            </a:r>
            <a:endParaRPr lang="en-US" sz="1250" dirty="0"/>
          </a:p>
          <a:p>
            <a:pPr indent="0" marL="0">
              <a:buNone/>
            </a:pPr>
            <a:r>
              <a:rPr lang="en-US" sz="1050" i="1" dirty="0">
                <a:solidFill>
                  <a:srgbClr val="8A6D1E"/>
                </a:solidFill>
                <a:latin typeface="Calibri" pitchFamily="34" charset="0"/>
                <a:cs typeface="Amiri" pitchFamily="2" charset="-78"/>
              </a:rPr>
              <a:t>Website translation 10: phrase + predicate.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هَذَا؟ — هَذَا هَاتِفِي.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is this? — This is my phone.</a:t>
            </a:r>
            <a:endParaRPr lang="en-US" sz="1250" dirty="0"/>
          </a:p>
          <a:p>
            <a:pPr indent="0" marL="0">
              <a:buNone/>
            </a:pPr>
            <a:r>
              <a:rPr lang="en-US" sz="1050" i="1" dirty="0">
                <a:solidFill>
                  <a:srgbClr val="8A6D1E"/>
                </a:solidFill>
                <a:latin typeface="Calibri" pitchFamily="34" charset="0"/>
                <a:cs typeface="Amiri" pitchFamily="2" charset="-78"/>
              </a:rPr>
              <a:t>With a possessive (GM-PRO-02).</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TRANSLATE ACCURATELY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تَرْجِمْ بِدِقَّةٍ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translation (website)</a:t>
            </a:r>
            <a:endParaRPr lang="en-US" sz="1100" dirty="0"/>
          </a:p>
        </p:txBody>
      </p:sp>
      <p:sp>
        <p:nvSpPr>
          <p:cNvPr id="17" name="Text 14"/>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 (website)</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035040" y="2267712"/>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مَدْرَسَةٌ.</a:t>
            </a:r>
            <a:endParaRPr lang="ar-SA" sz="2400" dirty="0"/>
          </a:p>
        </p:txBody>
      </p:sp>
      <p:sp>
        <p:nvSpPr>
          <p:cNvPr id="20" name="Text 17"/>
          <p:cNvSpPr txBox="1"/>
          <p:nvPr/>
        </p:nvSpPr>
        <p:spPr>
          <a:xfrm>
            <a:off x="566928" y="2267712"/>
            <a:ext cx="5303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school.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035040" y="3004718"/>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هَؤُلَاءِ طُلَّابٌ.</a:t>
            </a:r>
            <a:endParaRPr lang="ar-SA" sz="2400" dirty="0"/>
          </a:p>
        </p:txBody>
      </p:sp>
      <p:sp>
        <p:nvSpPr>
          <p:cNvPr id="25" name="Text 22"/>
          <p:cNvSpPr txBox="1"/>
          <p:nvPr/>
        </p:nvSpPr>
        <p:spPr>
          <a:xfrm>
            <a:off x="566928" y="3004718"/>
            <a:ext cx="5303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are students.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035040" y="3741725"/>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أُولَئِكَ مُعَلِّمُونَ.</a:t>
            </a:r>
            <a:endParaRPr lang="ar-SA" sz="2400" dirty="0"/>
          </a:p>
        </p:txBody>
      </p:sp>
      <p:sp>
        <p:nvSpPr>
          <p:cNvPr id="30" name="Text 27"/>
          <p:cNvSpPr txBox="1"/>
          <p:nvPr/>
        </p:nvSpPr>
        <p:spPr>
          <a:xfrm>
            <a:off x="566928" y="3741725"/>
            <a:ext cx="5303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Those are teachers.</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035040" y="4478731"/>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كُتُبٌ مُفِيدَةٌ.</a:t>
            </a:r>
            <a:endParaRPr lang="ar-SA" sz="2400" dirty="0"/>
          </a:p>
        </p:txBody>
      </p:sp>
      <p:sp>
        <p:nvSpPr>
          <p:cNvPr id="35" name="Text 32"/>
          <p:cNvSpPr txBox="1"/>
          <p:nvPr/>
        </p:nvSpPr>
        <p:spPr>
          <a:xfrm>
            <a:off x="566928" y="4478731"/>
            <a:ext cx="5303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are useful books.</a:t>
            </a:r>
            <a:endParaRPr lang="en-US" sz="1100" dirty="0"/>
          </a:p>
        </p:txBody>
      </p:sp>
      <p:sp>
        <p:nvSpPr>
          <p:cNvPr id="36" name="Shape 3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7" name="Text 34"/>
          <p:cNvSpPr txBox="1"/>
          <p:nvPr/>
        </p:nvSpPr>
        <p:spPr>
          <a:xfrm>
            <a:off x="6035040" y="5215738"/>
            <a:ext cx="56052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ذَانِكَ مُعَلِّمَانِ.</a:t>
            </a:r>
            <a:endParaRPr lang="ar-SA" sz="2400" dirty="0"/>
          </a:p>
        </p:txBody>
      </p:sp>
      <p:sp>
        <p:nvSpPr>
          <p:cNvPr id="38" name="Text 35"/>
          <p:cNvSpPr txBox="1"/>
          <p:nvPr/>
        </p:nvSpPr>
        <p:spPr>
          <a:xfrm>
            <a:off x="566928" y="5215738"/>
            <a:ext cx="5303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Those two are male teachers.</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check distance, gender, number and definiteness; write first, then reveal the model and correct in a different colour.</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“THESE”?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hādhihi or hāʾulāʾi?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هَذِهِ أَمْ هَؤُلَاءِ؟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مُهَنْدِسُونَ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زُوَّارٌ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صُوَرٌ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أَطْفَالٌ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مُرْشِدُونَ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hādhihi (f. sing. / things)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hāʾulāʾi (people)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hādhihi (f. sing. / things)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سَيَّارَاتٌ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صُوَرٌ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hāʾulāʾi (people)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مُهَنْدِسُونَ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زُوَّارٌ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أَطْفَالٌ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مُرْشِدُونَ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سَيَّارَةٌ.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car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هَؤُلَاءِ كُتُبٌ.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books people?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هَذَانِ طَالِبَتَانِ.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girls?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سَيَّارَةٌ.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سَيَّارَةٌ.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Car is feminine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هَؤُلَاءِ كُتُبٌ.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كُتُبٌ.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things → hādhihi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هَذَانِ طَالِبَتَانِ.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هَاتَانِ طَالِبَتَانِ.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dual uses hātāni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TEACHER-WRITTEN PRACTICE ON THE WEBSITE CONTENT</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object is next to you. Choose “This is a pen.”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قَلَمٌ.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قَلَمٌ.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قَلَمٌ.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a hospital.”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مُسْتَشْفًى.</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مُسْتَشْفًى.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مُسْتَشْفًى.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my friends.”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أَصْدِقَائِي.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أَصْدِقَائِي.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أَصْدِقَائِي.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 الْكِتَابُ 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new book.</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the book.</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book is new.</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object is next to you. Choose “This is a pen.”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قَلَمٌ.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قَلَمٌ.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قَلَمٌ.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Near → hādhā (website clinic: don’t use the far form for something close).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a hospital.”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مُسْتَشْفًى.</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ذَلِكَ مُسْتَشْفًى.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أُولَئِكَ مُسْتَشْفًى.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Hospital is masculine → dhālika.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my friends.”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أَصْدِقَائِي.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هَؤُلَاءِ أَصْدِقَائِي.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أَصْدِقَائِي.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hāʾulāʾi.</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 الْكِتَابُ 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is a new book.</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is the book.</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This book is new.</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Phrase + predicate.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museum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مَتْحَفٌ جَدِيدٌ، وَهَذِهِ قَاعَةٌ كَبِيرَةٌ. هَؤُلَاءِ زُوَّارٌ مِنْ بِلَادٍ مُخْتَلِفَةٍ. فِي آخِرِ الْقَاعَةِ تِلْكَ صُوَرٌ قَدِيمَةٌ، وَذَلِكَ تِمْثَالٌ مَشْهُورٌ. أُولَئِكَ مُرْشِدُونَ يَشْرَحُونَ تَارِيخَ الْمَكَانِ.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مَتْحَفٌ</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museum</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hall</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زُوَّارٌ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visitors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صُوَرٌ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pictures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تِمْثَالٌ</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statue</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مُرْشِدُونَ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guides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يَشْرَحُونَ</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explain</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before the hall?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Hall is plural.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Hall is feminine.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Hall is far away.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تِلْكَ</a:t>
            </a:r>
            <a:pPr algn="l" indent="0" marL="0">
              <a:buNone/>
            </a:pPr>
            <a:r>
              <a:rPr lang="en-US" sz="1250" b="1" dirty="0">
                <a:solidFill>
                  <a:srgbClr val="1B3B6F"/>
                </a:solidFill>
                <a:latin typeface="Calibri" pitchFamily="34" charset="0"/>
                <a:cs typeface="Amiri" pitchFamily="2" charset="-78"/>
              </a:rPr>
              <a:t> before the pictures?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Pictures are people.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Pictures are plural things, far away.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are </a:t>
            </a:r>
            <a:pPr algn="l" indent="0" marL="0">
              <a:buNone/>
            </a:pPr>
            <a:r>
              <a:rPr lang="ar-SA" altLang="en-US" sz="1650" b="1" dirty="0">
                <a:solidFill>
                  <a:srgbClr val="1B3B6F"/>
                </a:solidFill>
                <a:latin typeface="Amiri" pitchFamily="2" charset="-78"/>
                <a:ea typeface="Amiri" pitchFamily="2" charset="-78"/>
                <a:cs typeface="Amiri" pitchFamily="2" charset="-78"/>
              </a:rPr>
              <a:t>أُولَئِكَ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guides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visitors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pictures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refers to the statue?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before the hall?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Hall is plural.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Hall is feminine.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Hall is far away.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تِلْكَ</a:t>
            </a:r>
            <a:pPr algn="l" indent="0" marL="0">
              <a:buNone/>
            </a:pPr>
            <a:r>
              <a:rPr lang="en-US" sz="1250" b="1" dirty="0">
                <a:solidFill>
                  <a:srgbClr val="1B3B6F"/>
                </a:solidFill>
                <a:latin typeface="Calibri" pitchFamily="34" charset="0"/>
                <a:cs typeface="Amiri" pitchFamily="2" charset="-78"/>
              </a:rPr>
              <a:t> before the pictures?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Pictures are people.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Pictures are plural things, far away.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tilka.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are </a:t>
            </a:r>
            <a:pPr algn="l" indent="0" marL="0">
              <a:buNone/>
            </a:pPr>
            <a:r>
              <a:rPr lang="ar-SA" altLang="en-US" sz="1650" b="1" dirty="0">
                <a:solidFill>
                  <a:srgbClr val="1B3B6F"/>
                </a:solidFill>
                <a:latin typeface="Amiri" pitchFamily="2" charset="-78"/>
                <a:ea typeface="Amiri" pitchFamily="2" charset="-78"/>
                <a:cs typeface="Amiri" pitchFamily="2" charset="-78"/>
              </a:rPr>
              <a:t>أُولَئِكَ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guides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visitors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pictures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Far, people.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refers to the statue?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ذَلِكَ</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far.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picture or room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مَا هَذِهِ؟ (أَشْيَاءُ حَوْلَكَ)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صُورَةً لِمَدْرَسَتِكَ: هَذَا … ذَلِكَ … هَؤُلَاءِ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صُورَةً لِأُسْرَتِكَ مَعَ الْمُثَنَّى: هَذَانِ … هَاتَانِ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 وَهَذِهِ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تِلْكَ ___ ، وَأُولَئِكَ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هَذَانِ ___ ، وَهَاتَانِ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هَؤُلَاءِ فِي الصُّورَةِ؟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are these people in the photo?</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هَؤُلَاءِ أَبْنَاءُ عَمِّي. هَذَانِ أَخَوَانِ، وَهَاتَانِ أُخْتَاهُمَا. وَتِلْكَ حَدِيقَةُ بَيْتِهِمْ.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These are my cousins. These two are brothers, and these two are their sisters. And that is their garden.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six things around you: This is … / That is …</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Choose by gender and distance.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people and plural things.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hāʾulāʾi for people; hādhihi for things.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a picture with near, far and dual forms.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one “this … is …” phrase sentence.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أُولَئِكَ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Those are … (people)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كُتُبٌ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are … books.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تِلْكَ سَيَّارَاتٌ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Those are … cars.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السَّيَّارَةُ الْجَدِيدَةُ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new car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 (f.)</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ذَلِكَ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That is a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هَؤُلَاءِ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are … (people)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  هَذِهِ  ·  هَؤُلَاءِ  ·  ذَلِكَ  ·  تِلْكَ  ·  أُولَئِكَ  ·  هَذَانِ  ·  هَاتَانِ  ·  طَالِبٌ  ·  مَدْرَسَةٌ  ·  طُلَّابٌ  ·  كُتُبٌ  ·  مُفِيدَةٌ  ·  سَرِيعَةٌ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Describe a picture or place in 8–10 sentences using demonstrative pronouns.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near singular (m. and f.).</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far singular (m. and f.).</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human plural (hāʾulāʾi or ulāʾika).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non-human plural with hādhihi or tilka.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demonstrative.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مَسْجِدٌ</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a mosque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تِلْكَ حَدِيقَةٌ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is a garden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أُولَئِكَ زُوَّارٌ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those are visitors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مَحَلَّاتٌ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are shops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هَاتَانِ أُخْتَايَ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two are my sisters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ذَلِكَ؟</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is that?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صُورَةٌ لِمَدِينَتِي. هَذَا مَسْجِدٌ كَبِيرٌ، وَتِلْكَ مَدْرَسَتِي. هَؤُلَاءِ طُلَّابٌ يَلْعَبُونَ فِي السَّاحَةِ، وَأُولَئِكَ مُعَلِّمُونَ يَتَحَدَّثُونَ. هَذِهِ مَحَلَّاتٌ صَغِيرَةٌ، وَتِلْكَ سَيَّارَاتٌ كَثِيرَةٌ. هَذَانِ أَخَوَايَ، وَهَاتَانِ صَدِيقَتَانِ لِأُخْتِي. ذَلِكَ الْمَبْنَى الْعَالِي مُسْتَشْفًى.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a picture of my city. This is a big mosque, and that is my school. These are students playing in the playground, and those are teachers talking. These are small shops, and those are many cars. These two are my brothers, and these two are friends of my sister. That tall building is a hospital.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near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far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people / things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demonstratives match the noun’s gender.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“This is a …” sentences have no al- on the noun.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Hāʾulāʾi / ulāʾika only for people.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take hādhihi / tilka.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dual demonstrative correctly.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a garden.”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حَدِيقَةٌ.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حَدِيقَةٌ.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حَدِيقَةٌ.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visitors.”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زُوَّارٌ.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زُوَّارٌ.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زُوَّارٌ.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old pictures.”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صُوَرٌ قَدِيمَةٌ.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صُوَرٌ قَدِيمَةٌ.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صُوَرٌ قَدِيمَاتٌ.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a garden.”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تِلْكَ حَدِيقَةٌ.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ذَلِكَ حَدِيقَةٌ.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أُولَئِكَ حَدِيقَةٌ.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Garden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visitors.”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زُوَّارٌ.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هَؤُلَاءِ زُوَّارٌ.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زُوَّارٌ.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hāʾulāʾi.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are old pictures.”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صُوَرٌ قَدِيمَةٌ.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هَؤُلَاءِ صُوَرٌ قَدِيمَةٌ.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صُوَرٌ قَدِيمَاتٌ.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hādhihi + f. sing.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GM-PRO-04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GM-PRO-05: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GM-PRO-05 · Relative Pronouns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الَّذِي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 which (m.)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 which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الَّذِينَ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(m. pl., people)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whoever, the one who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that which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join these: “This is the student. He won the prize.” Which word means “who”?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هَذَا الطَّالِبُ ______ فَازَ بِالْجَائِزَةِ.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ten things at home: This is … / That is …</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the website’s ten translation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a family photo with dual forms.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GM-PRO-05 · Relative Pronouns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الْأَسْمَاءُ الْمَوْصُولَةُ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near hādhā / hādhihi / hāʾulāʾi · far dhālika / tilka / ulāʾika · people plural vs things (hādhihi) · two → hādhāni / hātāni · “This is a …” = no 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GM-PRO-04 · Demonstrative Pronouns</dc:title>
  <dc:subject>PptxGenJS Presentation</dc:subject>
  <dc:creator>Al Madina Online School · Arabic Department</dc:creator>
  <cp:lastModifiedBy>Al Madina Online School · Arabic Department</cp:lastModifiedBy>
  <cp:revision>1</cp:revision>
  <dcterms:created xsi:type="dcterms:W3CDTF">2026-10-11T06:42:29Z</dcterms:created>
  <dcterms:modified xsi:type="dcterms:W3CDTF">2026-10-11T06:42:29Z</dcterms:modified>
</cp:coreProperties>
</file>