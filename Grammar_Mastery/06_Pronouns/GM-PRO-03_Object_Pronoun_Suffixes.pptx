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Pronouns › GM-PRO-03 (“ضَمَائِرُ الْمَفْعُولِ بِهِ”).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who receives the action; the singular endings ـنِي · ـكَ · ـكِ · ـهُ · ـهَا · ـنَا on common verbs (سَاعَدَ · رَأَى · قَابَلَ). Develop: dual and plural objects (ـهُمَا · ـهُمْ · ـهُنَّ · ـكُمْ); objects that are things (قَرَأْتُهُ / قَرَأْتُهَا). Stretch: two pronoun signals in one word (سَاعَدَتْنِي); “me” = ـنِي on a verb vs ـِي on a noun.
• Link to GM-PRO-02: the same family as the possessive endings — except “me” (ـنِي) instead of “my” (ـِي).
• Teaching routine from the website game “The Kindness Chain — who helped whom?”: draw arrows from the doer to the receiver.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of GM-PRO-02 (possessive endings) plus a first look at the receiver of an action.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object ending names the person who RECEIVES the action — and saves you repeating their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“Why object pronouns matter” and “Subject or object?”. Draw an arrow from doer to receiver for every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table “The complete object-pronoun family”. Compare with the GM-PRO-02 grid — only the first row 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“Three patterns students must see”. Hold up a book (kitāb → qaraʾtuhu) and a story / car (qiṣṣa → qaraʾtuhā).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parts.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From the website reading text. For each verb: “Who did it? Who received it?” — then point to the two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then translate. Note shakarnāhum: -nā = we (doer) + -hum = them (receiver).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then translate. Note shakarnāhum: -nā = we (doer) + -hum = them (receiver).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Cover the right column; students say the short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content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Read it aloud once while students follow; then they hunt for today’s grammar.
Task: Website: track who receives each action — draw an arrow from each object ending to the person.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text;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Sequence: ● 10s think → ↔ 45s rehearse aloud with mic muted → ◎ two named students on open mic (warned in advance) → + ? the class types one follow-up in chat → ↺ one student summarises.
Routes: Core uses the Core prompt and stem; Develop the Develop prompt; Stretch the last prompt.
Website stems. Final performance: include “me” or “us”, one singular, one dual and one plural object, and one verb that shows both subject and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7–9 sentences about a school event or helpful experience, with at least five different object endings,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(GM-PRO-04 · Demonstrative Pronouns) will spend class time USING this language, so students prepare it tonight — short, simple, easy to access (school guidance: “Simple, Short, Interesting, Relevant, Easy to access”). The five words prepare GM-PRO-04 (website Pronouns lesson 4: demonstrative pronouns).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PRONOUNS  ·  GM-PRO-03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GM-PRO-03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Object Pronoun Suffixes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ضَمَائِرُ الْمَفْعُولِ بِهِ</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Instead of repeating a name, Arabic attaches the person RECEIVING the action to the verb: Ali helped her = ʿAliyyun sāʿadahā. One verb can show who did it AND who received it: sāʿadatnī = she helped me.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GM-PRO-03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Pronouns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Subject vs object; the 12 endings; three patterns.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Who helped whom? Replace the name;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GM-PRO-04.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means “my” on a noun?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-nā, as in “our book”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-ī, as in “my book”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 as in “his book”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bag”.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حَقِيبَتُهَا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حَقِيبَتُهُ</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حَقِيبَتُكِ</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“their house” (two owners).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بَيْتُهُمْ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بَيْتُكُمَا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بَيْتُهُمَا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“Ali helped Maryam”, who RECEIVES the help?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Ali</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replaces “Maryam” as “her”?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ـهَا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ـهُ</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ـهُمْ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means “my” on a noun?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-nā, as in “our book”</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-ī, as in “my book”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 as in “his book”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Retrieval from GM-PRO-02.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bag”.</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حَقِيبَتُهَا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حَقِيبَتُهُ</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حَقِيبَتُكِ</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-hā = her.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“their house” (two owners).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بَيْتُهُمْ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بَيْتُكُمَا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بَيْتُهُمَا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-humā = two owners.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“Ali helped Maryam”, who RECEIVES the help?</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Ali</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receiver is the object.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replaces “Maryam” as “her”?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ـهَا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ـهُ</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ـهُمْ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Maryam is one female → -hā.</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object ending names the person who RECEIVES the action — and saves you repeating their name.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عَلِيٌّ سَاعَدَ مَرْيَمَ ‖ عَلِيٌّ </a:t>
            </a:r>
            <a:pPr rtl="1" algn="ctr" indent="0" marL="0">
              <a:buNone/>
            </a:pPr>
            <a:r>
              <a:rPr lang="ar-SA" altLang="en-US" sz="2400" b="1" dirty="0">
                <a:solidFill>
                  <a:srgbClr val="D6336C"/>
                </a:solidFill>
                <a:latin typeface="Amiri" pitchFamily="2" charset="-78"/>
                <a:ea typeface="Amiri" pitchFamily="2" charset="-78"/>
                <a:cs typeface="Amiri" pitchFamily="2" charset="-78"/>
              </a:rPr>
              <a:t>سَاعَدَهَا</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the doer (subject) from the receiver (object).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the 12 object endings on verbs.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singular, dual and plural object endings.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Replace things with -hu or -hā by grammatical gender.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find who receives the action.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he helped me / I saw him / I saw her.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them two, them (m.) and them (f.).</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replace a book with -hu and a car with -hā.</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read sāʿadatnī as “she helped me”.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-nī (me) vs -ī (my).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الْفَاعِلُ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subject (the doer)</a:t>
            </a:r>
            <a:endParaRPr lang="en-US" sz="1350" dirty="0"/>
          </a:p>
          <a:p>
            <a:pPr indent="0" marL="0">
              <a:buNone/>
            </a:pPr>
            <a:r>
              <a:rPr lang="en-US" sz="1100" i="1" dirty="0">
                <a:solidFill>
                  <a:srgbClr val="5A6472"/>
                </a:solidFill>
                <a:latin typeface="Calibri" pitchFamily="34" charset="0"/>
                <a:cs typeface="Amiri" pitchFamily="2" charset="-78"/>
              </a:rPr>
              <a:t>al-fā-ʿi-lu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عَلِيٌّ سَاعَدَ</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الْمَفْعُولُ بِهِ</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object (the receiver)</a:t>
            </a:r>
            <a:endParaRPr lang="en-US" sz="1350" dirty="0"/>
          </a:p>
          <a:p>
            <a:pPr indent="0" marL="0">
              <a:buNone/>
            </a:pPr>
            <a:r>
              <a:rPr lang="en-US" sz="1100" i="1" dirty="0">
                <a:solidFill>
                  <a:srgbClr val="5A6472"/>
                </a:solidFill>
                <a:latin typeface="Calibri" pitchFamily="34" charset="0"/>
                <a:cs typeface="Amiri" pitchFamily="2" charset="-78"/>
              </a:rPr>
              <a:t>al-maf-ʿū-lu bi-hi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سَاعَدَ مَرْيَمَ</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ضَمِيرُ الْمَفْعُولِ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object pronoun (ending)</a:t>
            </a:r>
            <a:endParaRPr lang="en-US" sz="1350" dirty="0"/>
          </a:p>
          <a:p>
            <a:pPr indent="0" marL="0">
              <a:buNone/>
            </a:pPr>
            <a:r>
              <a:rPr lang="en-US" sz="1100" i="1" dirty="0">
                <a:solidFill>
                  <a:srgbClr val="5A6472"/>
                </a:solidFill>
                <a:latin typeface="Calibri" pitchFamily="34" charset="0"/>
                <a:cs typeface="Amiri" pitchFamily="2" charset="-78"/>
              </a:rPr>
              <a:t>ḍa-mī-ru al-maf-ʿū-li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سَاعَدَهَا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ـنِي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 (on a verb)</a:t>
            </a:r>
            <a:endParaRPr lang="en-US" sz="1350" dirty="0"/>
          </a:p>
          <a:p>
            <a:pPr indent="0" marL="0">
              <a:buNone/>
            </a:pPr>
            <a:r>
              <a:rPr lang="en-US" sz="1100" i="1" dirty="0">
                <a:solidFill>
                  <a:srgbClr val="5A6472"/>
                </a:solidFill>
                <a:latin typeface="Calibri" pitchFamily="34" charset="0"/>
                <a:cs typeface="Amiri" pitchFamily="2" charset="-78"/>
              </a:rPr>
              <a:t>-nī</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سَاعَدَنِي</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سَاعَدَ</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helped</a:t>
            </a:r>
            <a:endParaRPr lang="en-US" sz="1350" dirty="0"/>
          </a:p>
          <a:p>
            <a:pPr indent="0" marL="0">
              <a:buNone/>
            </a:pPr>
            <a:r>
              <a:rPr lang="en-US" sz="1100" i="1" dirty="0">
                <a:solidFill>
                  <a:srgbClr val="5A6472"/>
                </a:solidFill>
                <a:latin typeface="Calibri" pitchFamily="34" charset="0"/>
                <a:cs typeface="Amiri" pitchFamily="2" charset="-78"/>
              </a:rPr>
              <a:t>sā-ʿa-da</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يُسَاعِدُ</a:t>
            </a:r>
            <a:pPr algn="l" indent="0" marL="0">
              <a:buNone/>
            </a:pPr>
            <a:r>
              <a:rPr lang="en-US" sz="1000" i="1" dirty="0">
                <a:solidFill>
                  <a:srgbClr val="8A6D1E"/>
                </a:solidFill>
                <a:latin typeface="Calibri" pitchFamily="34" charset="0"/>
                <a:cs typeface="Amiri" pitchFamily="2" charset="-78"/>
              </a:rPr>
              <a:t> = helps</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سَاعَدَ مَنْ؟</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helped whom?</a:t>
            </a:r>
            <a:endParaRPr lang="en-US" sz="1350" dirty="0"/>
          </a:p>
          <a:p>
            <a:pPr indent="0" marL="0">
              <a:buNone/>
            </a:pPr>
            <a:r>
              <a:rPr lang="en-US" sz="1100" i="1" dirty="0">
                <a:solidFill>
                  <a:srgbClr val="5A6472"/>
                </a:solidFill>
                <a:latin typeface="Calibri" pitchFamily="34" charset="0"/>
                <a:cs typeface="Amiri" pitchFamily="2" charset="-78"/>
              </a:rPr>
              <a:t>man sā-ʿa-da man?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website game</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SUBJECT OR OBJECT?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doer and the receiver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الْفَاعِلُ وَالْمَفْعُولُ 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SUBJECT performs the action; the OBJECT receives it (website).</a:t>
            </a:r>
            <a:endParaRPr lang="en-US" sz="1300" dirty="0"/>
          </a:p>
        </p:txBody>
      </p:sp>
      <p:sp>
        <p:nvSpPr>
          <p:cNvPr id="20" name="Shape 17"/>
          <p:cNvSpPr/>
          <p:nvPr/>
        </p:nvSpPr>
        <p:spPr>
          <a:xfrm>
            <a:off x="658368" y="3094330"/>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9433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8460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Arabic attaches the object to the verb as a short ending, instead of repeating the name.</a:t>
            </a:r>
            <a:endParaRPr lang="en-US" sz="1300" dirty="0"/>
          </a:p>
        </p:txBody>
      </p:sp>
      <p:sp>
        <p:nvSpPr>
          <p:cNvPr id="23" name="Shape 20"/>
          <p:cNvSpPr/>
          <p:nvPr/>
        </p:nvSpPr>
        <p:spPr>
          <a:xfrm>
            <a:off x="658368" y="3902659"/>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90265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79293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 Ali helped Maryam becomes Ali helped her: sāʿadahā.</a:t>
            </a:r>
            <a:endParaRPr lang="en-US" sz="1300" dirty="0"/>
          </a:p>
        </p:txBody>
      </p:sp>
      <p:sp>
        <p:nvSpPr>
          <p:cNvPr id="26" name="Shape 23"/>
          <p:cNvSpPr/>
          <p:nvPr/>
        </p:nvSpPr>
        <p:spPr>
          <a:xfrm>
            <a:off x="658368" y="471098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71098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60126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One verb can carry two signals: in sāʿadatnī, -at = she (doer) and -nī = me (receiver).</a:t>
            </a:r>
            <a:endParaRPr lang="en-US" sz="1300" dirty="0"/>
          </a:p>
        </p:txBody>
      </p:sp>
      <p:sp>
        <p:nvSpPr>
          <p:cNvPr id="29" name="Shape 26"/>
          <p:cNvSpPr/>
          <p:nvPr/>
        </p:nvSpPr>
        <p:spPr>
          <a:xfrm>
            <a:off x="658368" y="5519318"/>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551931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5409590"/>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both: does the verb show the right doer, and the ending the right receiver?</a:t>
            </a:r>
            <a:endParaRPr lang="en-US" sz="1300" dirty="0"/>
          </a:p>
        </p:txBody>
      </p:sp>
      <p:sp>
        <p:nvSpPr>
          <p:cNvPr id="32" name="Shape 29"/>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عَلِيٌّ سَاعَدَ مَرْيَمَ.</a:t>
            </a:r>
            <a:endParaRPr lang="ar-SA" sz="2650" dirty="0"/>
          </a:p>
        </p:txBody>
      </p:sp>
      <p:sp>
        <p:nvSpPr>
          <p:cNvPr id="35" name="Text 32"/>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Ali helped Maryam.  ·  website · name</a:t>
            </a:r>
            <a:endParaRPr lang="en-US" sz="1100" dirty="0"/>
          </a:p>
        </p:txBody>
      </p:sp>
      <p:sp>
        <p:nvSpPr>
          <p:cNvPr id="36" name="Shape 33"/>
          <p:cNvSpPr/>
          <p:nvPr/>
        </p:nvSpPr>
        <p:spPr>
          <a:xfrm>
            <a:off x="6995160" y="3195828"/>
            <a:ext cx="4553712" cy="0"/>
          </a:xfrm>
          <a:prstGeom prst="line">
            <a:avLst/>
          </a:prstGeom>
          <a:noFill/>
          <a:ln w="9525">
            <a:solidFill>
              <a:srgbClr val="E4DCCB"/>
            </a:solidFill>
            <a:prstDash val="dash"/>
          </a:ln>
        </p:spPr>
      </p:sp>
      <p:sp>
        <p:nvSpPr>
          <p:cNvPr id="37" name="Text 34"/>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عَلِيٌّ سَاعَدَهَا.</a:t>
            </a:r>
            <a:endParaRPr lang="ar-SA" sz="2650" dirty="0"/>
          </a:p>
        </p:txBody>
      </p:sp>
      <p:sp>
        <p:nvSpPr>
          <p:cNvPr id="38" name="Text 35"/>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Ali helped her.  ·  website · ending</a:t>
            </a:r>
            <a:endParaRPr lang="en-US" sz="1100" dirty="0"/>
          </a:p>
        </p:txBody>
      </p:sp>
      <p:sp>
        <p:nvSpPr>
          <p:cNvPr id="39" name="Shape 36"/>
          <p:cNvSpPr/>
          <p:nvPr/>
        </p:nvSpPr>
        <p:spPr>
          <a:xfrm>
            <a:off x="6995160" y="4215384"/>
            <a:ext cx="4553712" cy="0"/>
          </a:xfrm>
          <a:prstGeom prst="line">
            <a:avLst/>
          </a:prstGeom>
          <a:noFill/>
          <a:ln w="9525">
            <a:solidFill>
              <a:srgbClr val="E4DCCB"/>
            </a:solidFill>
            <a:prstDash val="dash"/>
          </a:ln>
        </p:spPr>
      </p:sp>
      <p:sp>
        <p:nvSpPr>
          <p:cNvPr id="40" name="Text 37"/>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هِيَ سَاعَدَتْنِي.</a:t>
            </a:r>
            <a:endParaRPr lang="ar-SA" sz="2650" dirty="0"/>
          </a:p>
        </p:txBody>
      </p:sp>
      <p:sp>
        <p:nvSpPr>
          <p:cNvPr id="41" name="Text 38"/>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She helped me.  ·  website · two signals</a:t>
            </a:r>
            <a:endParaRPr lang="en-US" sz="1100" dirty="0"/>
          </a:p>
        </p:txBody>
      </p:sp>
      <p:sp>
        <p:nvSpPr>
          <p:cNvPr id="42" name="Shape 39"/>
          <p:cNvSpPr/>
          <p:nvPr/>
        </p:nvSpPr>
        <p:spPr>
          <a:xfrm>
            <a:off x="6995160" y="5234940"/>
            <a:ext cx="4553712" cy="0"/>
          </a:xfrm>
          <a:prstGeom prst="line">
            <a:avLst/>
          </a:prstGeom>
          <a:noFill/>
          <a:ln w="9525">
            <a:solidFill>
              <a:srgbClr val="E4DCCB"/>
            </a:solidFill>
            <a:prstDash val="dash"/>
          </a:ln>
        </p:spPr>
      </p:sp>
      <p:sp>
        <p:nvSpPr>
          <p:cNvPr id="43" name="Text 40"/>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رَأَيْتُهُ.</a:t>
            </a:r>
            <a:endParaRPr lang="ar-SA" sz="2650" dirty="0"/>
          </a:p>
        </p:txBody>
      </p:sp>
      <p:sp>
        <p:nvSpPr>
          <p:cNvPr id="44" name="Text 41"/>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saw him.  ·  website · -tu = I, -hu = him</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THE COMPLETE OBJECT-PRONOUN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Twelve endings on the 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ضَمَائِرُ الْمَفْعُولِ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8338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3456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helped me · us</a:t>
            </a:r>
            <a:endParaRPr lang="en-US" sz="1100" dirty="0"/>
          </a:p>
        </p:txBody>
      </p:sp>
      <p:sp>
        <p:nvSpPr>
          <p:cNvPr id="22" name="Text 19"/>
          <p:cNvSpPr txBox="1"/>
          <p:nvPr/>
        </p:nvSpPr>
        <p:spPr>
          <a:xfrm>
            <a:off x="585216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سَاعَدَنِي · سَاعَدَنَا</a:t>
            </a:r>
            <a:endParaRPr lang="ar-SA" sz="2400" dirty="0"/>
          </a:p>
        </p:txBody>
      </p:sp>
      <p:sp>
        <p:nvSpPr>
          <p:cNvPr id="23" name="Text 20"/>
          <p:cNvSpPr txBox="1"/>
          <p:nvPr/>
        </p:nvSpPr>
        <p:spPr>
          <a:xfrm>
            <a:off x="347472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ـنِي · ـنَا</a:t>
            </a:r>
            <a:endParaRPr lang="ar-SA" sz="2400" dirty="0"/>
          </a:p>
        </p:txBody>
      </p:sp>
      <p:sp>
        <p:nvSpPr>
          <p:cNvPr id="24" name="Text 21"/>
          <p:cNvSpPr txBox="1"/>
          <p:nvPr/>
        </p:nvSpPr>
        <p:spPr>
          <a:xfrm>
            <a:off x="5669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 · us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helped you</a:t>
            </a:r>
            <a:endParaRPr lang="en-US" sz="1100" dirty="0"/>
          </a:p>
        </p:txBody>
      </p:sp>
      <p:sp>
        <p:nvSpPr>
          <p:cNvPr id="29" name="Text 26"/>
          <p:cNvSpPr txBox="1"/>
          <p:nvPr/>
        </p:nvSpPr>
        <p:spPr>
          <a:xfrm>
            <a:off x="585216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سَاعَدَكَ · سَاعَدَكِ</a:t>
            </a:r>
            <a:endParaRPr lang="ar-SA" sz="2400" dirty="0"/>
          </a:p>
        </p:txBody>
      </p:sp>
      <p:sp>
        <p:nvSpPr>
          <p:cNvPr id="30" name="Text 27"/>
          <p:cNvSpPr txBox="1"/>
          <p:nvPr/>
        </p:nvSpPr>
        <p:spPr>
          <a:xfrm>
            <a:off x="347472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ـكَ · ـكِ</a:t>
            </a:r>
            <a:endParaRPr lang="ar-SA" sz="2400" dirty="0"/>
          </a:p>
        </p:txBody>
      </p:sp>
      <p:sp>
        <p:nvSpPr>
          <p:cNvPr id="31" name="Text 28"/>
          <p:cNvSpPr txBox="1"/>
          <p:nvPr/>
        </p:nvSpPr>
        <p:spPr>
          <a:xfrm>
            <a:off x="5669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 you (f.)</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helped him · her</a:t>
            </a:r>
            <a:endParaRPr lang="en-US" sz="1100" dirty="0"/>
          </a:p>
        </p:txBody>
      </p:sp>
      <p:sp>
        <p:nvSpPr>
          <p:cNvPr id="36" name="Text 33"/>
          <p:cNvSpPr txBox="1"/>
          <p:nvPr/>
        </p:nvSpPr>
        <p:spPr>
          <a:xfrm>
            <a:off x="585216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سَاعَدَهُ · سَاعَدَهَا</a:t>
            </a:r>
            <a:endParaRPr lang="ar-SA" sz="2400" dirty="0"/>
          </a:p>
        </p:txBody>
      </p:sp>
      <p:sp>
        <p:nvSpPr>
          <p:cNvPr id="37" name="Text 34"/>
          <p:cNvSpPr txBox="1"/>
          <p:nvPr/>
        </p:nvSpPr>
        <p:spPr>
          <a:xfrm>
            <a:off x="347472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ـهُ · ـهَا</a:t>
            </a:r>
            <a:endParaRPr lang="ar-SA" sz="2400" dirty="0"/>
          </a:p>
        </p:txBody>
      </p:sp>
      <p:sp>
        <p:nvSpPr>
          <p:cNvPr id="38" name="Text 35"/>
          <p:cNvSpPr txBox="1"/>
          <p:nvPr/>
        </p:nvSpPr>
        <p:spPr>
          <a:xfrm>
            <a:off x="5669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him · her</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helped you / them (two)</a:t>
            </a:r>
            <a:endParaRPr lang="en-US" sz="1100" dirty="0"/>
          </a:p>
        </p:txBody>
      </p:sp>
      <p:sp>
        <p:nvSpPr>
          <p:cNvPr id="43" name="Text 40"/>
          <p:cNvSpPr txBox="1"/>
          <p:nvPr/>
        </p:nvSpPr>
        <p:spPr>
          <a:xfrm>
            <a:off x="585216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سَاعَدَكُمَا · سَاعَدَهُمَا</a:t>
            </a:r>
            <a:endParaRPr lang="ar-SA" sz="2400" dirty="0"/>
          </a:p>
        </p:txBody>
      </p:sp>
      <p:sp>
        <p:nvSpPr>
          <p:cNvPr id="44" name="Text 41"/>
          <p:cNvSpPr txBox="1"/>
          <p:nvPr/>
        </p:nvSpPr>
        <p:spPr>
          <a:xfrm>
            <a:off x="347472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ـكُمَا · ـهُمَا</a:t>
            </a:r>
            <a:endParaRPr lang="ar-SA" sz="2400" dirty="0"/>
          </a:p>
        </p:txBody>
      </p:sp>
      <p:sp>
        <p:nvSpPr>
          <p:cNvPr id="45" name="Text 42"/>
          <p:cNvSpPr txBox="1"/>
          <p:nvPr/>
        </p:nvSpPr>
        <p:spPr>
          <a:xfrm>
            <a:off x="5669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two · them two</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helped you / them</a:t>
            </a:r>
            <a:endParaRPr lang="en-US" sz="1100" dirty="0"/>
          </a:p>
        </p:txBody>
      </p:sp>
      <p:sp>
        <p:nvSpPr>
          <p:cNvPr id="48" name="Text 45"/>
          <p:cNvSpPr txBox="1"/>
          <p:nvPr/>
        </p:nvSpPr>
        <p:spPr>
          <a:xfrm>
            <a:off x="585216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سَاعَدَكُمْ · سَاعَدَهُمْ</a:t>
            </a:r>
            <a:endParaRPr lang="ar-SA" sz="2400" dirty="0"/>
          </a:p>
        </p:txBody>
      </p:sp>
      <p:sp>
        <p:nvSpPr>
          <p:cNvPr id="49" name="Text 46"/>
          <p:cNvSpPr txBox="1"/>
          <p:nvPr/>
        </p:nvSpPr>
        <p:spPr>
          <a:xfrm>
            <a:off x="347472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ـكُمْ · ـهُمْ</a:t>
            </a:r>
            <a:endParaRPr lang="ar-SA" sz="2400" dirty="0"/>
          </a:p>
        </p:txBody>
      </p:sp>
      <p:sp>
        <p:nvSpPr>
          <p:cNvPr id="50" name="Text 47"/>
          <p:cNvSpPr txBox="1"/>
          <p:nvPr/>
        </p:nvSpPr>
        <p:spPr>
          <a:xfrm>
            <a:off x="5669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 them (m. / mixed)</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helped you / them</a:t>
            </a:r>
            <a:endParaRPr lang="en-US" sz="1100" dirty="0"/>
          </a:p>
        </p:txBody>
      </p:sp>
      <p:sp>
        <p:nvSpPr>
          <p:cNvPr id="53" name="Text 50"/>
          <p:cNvSpPr txBox="1"/>
          <p:nvPr/>
        </p:nvSpPr>
        <p:spPr>
          <a:xfrm>
            <a:off x="585216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سَاعَدَكُنَّ · سَاعَدَهُنَّ</a:t>
            </a:r>
            <a:endParaRPr lang="ar-SA" sz="2400" dirty="0"/>
          </a:p>
        </p:txBody>
      </p:sp>
      <p:sp>
        <p:nvSpPr>
          <p:cNvPr id="54" name="Text 51"/>
          <p:cNvSpPr txBox="1"/>
          <p:nvPr/>
        </p:nvSpPr>
        <p:spPr>
          <a:xfrm>
            <a:off x="347472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ـكُنَّ · ـهُنَّ</a:t>
            </a:r>
            <a:endParaRPr lang="ar-SA" sz="2400" dirty="0"/>
          </a:p>
        </p:txBody>
      </p:sp>
      <p:sp>
        <p:nvSpPr>
          <p:cNvPr id="55" name="Text 52"/>
          <p:cNvSpPr txBox="1"/>
          <p:nvPr/>
        </p:nvSpPr>
        <p:spPr>
          <a:xfrm>
            <a:off x="5669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 them (all female)</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contrast: “my” on a noun is -ī (kitābī), but “me” on a verb is -nī (sāʿadanī). All the other endings match the possessive family.</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GRAMMAR · PART 3 · THREE PATTERNS STUDENTS MUST SEE (WEBSITE) · DEVELOP / STRETCH</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groups — and things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ثَلَاثَةُ أَنْمَاطٍ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748272" y="1810512"/>
            <a:ext cx="4910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4564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784848" y="2267712"/>
            <a:ext cx="4873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saw him. (-tu = I, -hu = him)</a:t>
            </a:r>
            <a:endParaRPr lang="en-US" sz="1100" dirty="0"/>
          </a:p>
        </p:txBody>
      </p:sp>
      <p:sp>
        <p:nvSpPr>
          <p:cNvPr id="21" name="Text 18"/>
          <p:cNvSpPr txBox="1"/>
          <p:nvPr/>
        </p:nvSpPr>
        <p:spPr>
          <a:xfrm>
            <a:off x="3474720" y="2267712"/>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رَأَيْتُهُ.</a:t>
            </a:r>
            <a:endParaRPr lang="ar-SA" sz="2400" dirty="0"/>
          </a:p>
        </p:txBody>
      </p:sp>
      <p:sp>
        <p:nvSpPr>
          <p:cNvPr id="22" name="Text 19"/>
          <p:cNvSpPr txBox="1"/>
          <p:nvPr/>
        </p:nvSpPr>
        <p:spPr>
          <a:xfrm>
            <a:off x="5669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 object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784848" y="3004718"/>
            <a:ext cx="4873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met them two.</a:t>
            </a:r>
            <a:endParaRPr lang="en-US" sz="1100" dirty="0"/>
          </a:p>
        </p:txBody>
      </p:sp>
      <p:sp>
        <p:nvSpPr>
          <p:cNvPr id="27" name="Text 24"/>
          <p:cNvSpPr txBox="1"/>
          <p:nvPr/>
        </p:nvSpPr>
        <p:spPr>
          <a:xfrm>
            <a:off x="3474720" y="3004718"/>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قَابَلْتُهُمَا.</a:t>
            </a:r>
            <a:endParaRPr lang="ar-SA" sz="2400" dirty="0"/>
          </a:p>
        </p:txBody>
      </p:sp>
      <p:sp>
        <p:nvSpPr>
          <p:cNvPr id="28" name="Text 25"/>
          <p:cNvSpPr txBox="1"/>
          <p:nvPr/>
        </p:nvSpPr>
        <p:spPr>
          <a:xfrm>
            <a:off x="5669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object</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6784848" y="3741725"/>
            <a:ext cx="4873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met them (females).</a:t>
            </a:r>
            <a:endParaRPr lang="en-US" sz="1100" dirty="0"/>
          </a:p>
        </p:txBody>
      </p:sp>
      <p:sp>
        <p:nvSpPr>
          <p:cNvPr id="31" name="Text 28"/>
          <p:cNvSpPr txBox="1"/>
          <p:nvPr/>
        </p:nvSpPr>
        <p:spPr>
          <a:xfrm>
            <a:off x="3474720" y="3741725"/>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قَابَلْتُهُنَّ.</a:t>
            </a:r>
            <a:endParaRPr lang="ar-SA" sz="2400" dirty="0"/>
          </a:p>
        </p:txBody>
      </p:sp>
      <p:sp>
        <p:nvSpPr>
          <p:cNvPr id="32" name="Text 29"/>
          <p:cNvSpPr txBox="1"/>
          <p:nvPr/>
        </p:nvSpPr>
        <p:spPr>
          <a:xfrm>
            <a:off x="5669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plural object</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784848" y="4478731"/>
            <a:ext cx="4873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read it (the book).</a:t>
            </a:r>
            <a:endParaRPr lang="en-US" sz="1100" dirty="0"/>
          </a:p>
        </p:txBody>
      </p:sp>
      <p:sp>
        <p:nvSpPr>
          <p:cNvPr id="35" name="Text 32"/>
          <p:cNvSpPr txBox="1"/>
          <p:nvPr/>
        </p:nvSpPr>
        <p:spPr>
          <a:xfrm>
            <a:off x="3474720" y="4478731"/>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قَرَأْتُهُ.</a:t>
            </a:r>
            <a:endParaRPr lang="ar-SA" sz="2400" dirty="0"/>
          </a:p>
        </p:txBody>
      </p:sp>
      <p:sp>
        <p:nvSpPr>
          <p:cNvPr id="36" name="Text 33"/>
          <p:cNvSpPr txBox="1"/>
          <p:nvPr/>
        </p:nvSpPr>
        <p:spPr>
          <a:xfrm>
            <a:off x="5669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 — masculine noun</a:t>
            </a:r>
            <a:endParaRPr lang="en-US" sz="1100" dirty="0"/>
          </a:p>
        </p:txBody>
      </p:sp>
      <p:sp>
        <p:nvSpPr>
          <p:cNvPr id="37" name="Shape 3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6784848" y="5215738"/>
            <a:ext cx="4873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read it (the story).</a:t>
            </a:r>
            <a:endParaRPr lang="en-US" sz="1100" dirty="0"/>
          </a:p>
        </p:txBody>
      </p:sp>
      <p:sp>
        <p:nvSpPr>
          <p:cNvPr id="41" name="Text 38"/>
          <p:cNvSpPr txBox="1"/>
          <p:nvPr/>
        </p:nvSpPr>
        <p:spPr>
          <a:xfrm>
            <a:off x="3474720" y="5215738"/>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قَرَأْتُهَا.</a:t>
            </a:r>
            <a:endParaRPr lang="ar-SA" sz="2400" dirty="0"/>
          </a:p>
        </p:txBody>
      </p:sp>
      <p:sp>
        <p:nvSpPr>
          <p:cNvPr id="42" name="Text 39"/>
          <p:cNvSpPr txBox="1"/>
          <p:nvPr/>
        </p:nvSpPr>
        <p:spPr>
          <a:xfrm>
            <a:off x="5669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 — feminine noun</a:t>
            </a:r>
            <a:endParaRPr lang="en-US" sz="11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for things, use -hu or -hā according to the GRAMMATICAL gender of the noun replaced — book → -hu, story / car → -hā.</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helped 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سَاعَدْتُهُ.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سَاعَدَنِي.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her.”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رَأَيْتُهَا.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رَأَتْنِي.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met them” (two students).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قَابَلْتُهُمْ.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قَابَلْتُهُمَا.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قَابَلْتُهُنَّ.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car? “I washed it.”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غَسَلْتُهَا.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غَسَلْتُهُ.</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غَسَلْتُهُمْ.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helped me.”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سَاعَدِي.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سَاعَدْتُهُ.</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سَاعَدَنِي.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Verbal “me” is -nī.</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her.”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رَأَيْتُهَا.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رَأَيْتُهُ.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رَأَتْنِي.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 = I; -hā = her.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met them” (two students).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قَابَلْتُهُمْ.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قَابَلْتُهُمَا.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قَابَلْتُهُنَّ.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Exactly two → dual -humā.</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car? “I washed it.”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غَسَلْتُهَا.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غَسَلْتُهُ.</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غَسَلْتُهُمْ.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 is feminine → -hā.</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replace the name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Full sentence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قَابَلْتُ صَدِيقَيْنِ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met two friends.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Receiver?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صَدِيقَيْنِ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 dual.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Ending</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ـهُمَا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them two.</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New sentence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وَسَأَلْتُهُمَا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and I asked them.</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OBJECT ENDING</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350" b="1" dirty="0">
                <a:solidFill>
                  <a:srgbClr val="1B3B6F"/>
                </a:solidFill>
                <a:latin typeface="Amiri" pitchFamily="2" charset="-78"/>
                <a:ea typeface="Amiri" pitchFamily="2" charset="-78"/>
                <a:cs typeface="Amiri" pitchFamily="2" charset="-78"/>
              </a:rPr>
              <a:t>فِي الْأَمْسِ </a:t>
            </a:r>
            <a:pPr rtl="1" algn="r" indent="0" marL="0">
              <a:buNone/>
            </a:pPr>
            <a:r>
              <a:rPr lang="ar-SA" altLang="en-US" sz="2350" b="1" dirty="0">
                <a:solidFill>
                  <a:srgbClr val="0E7C86"/>
                </a:solidFill>
                <a:latin typeface="Amiri" pitchFamily="2" charset="-78"/>
                <a:ea typeface="Amiri" pitchFamily="2" charset="-78"/>
                <a:cs typeface="Amiri" pitchFamily="2" charset="-78"/>
              </a:rPr>
              <a:t>سَاعَدَتْنِي</a:t>
            </a:r>
            <a:pPr rtl="1" algn="r" indent="0" marL="0">
              <a:buNone/>
            </a:pPr>
            <a:r>
              <a:rPr lang="ar-SA" altLang="en-US" sz="2350" b="1" dirty="0">
                <a:solidFill>
                  <a:srgbClr val="1B3B6F"/>
                </a:solidFill>
                <a:latin typeface="Amiri" pitchFamily="2" charset="-78"/>
                <a:ea typeface="Amiri" pitchFamily="2" charset="-78"/>
                <a:cs typeface="Amiri" pitchFamily="2" charset="-78"/>
              </a:rPr>
              <a:t> مُعَلِّمَتِي. قَابَلْتُ صَدِيقَيْنِ </a:t>
            </a:r>
            <a:pPr rtl="1" algn="r" indent="0" marL="0">
              <a:buNone/>
            </a:pPr>
            <a:r>
              <a:rPr lang="ar-SA" altLang="en-US" sz="2350" b="1" dirty="0">
                <a:solidFill>
                  <a:srgbClr val="D6336C"/>
                </a:solidFill>
                <a:latin typeface="Amiri" pitchFamily="2" charset="-78"/>
                <a:ea typeface="Amiri" pitchFamily="2" charset="-78"/>
                <a:cs typeface="Amiri" pitchFamily="2" charset="-78"/>
              </a:rPr>
              <a:t>وَسَأَلْتُهُمَا</a:t>
            </a:r>
            <a:pPr rtl="1" algn="r" indent="0" marL="0">
              <a:buNone/>
            </a:pPr>
            <a:r>
              <a:rPr lang="ar-SA" altLang="en-US" sz="2350" b="1" dirty="0">
                <a:solidFill>
                  <a:srgbClr val="1B3B6F"/>
                </a:solidFill>
                <a:latin typeface="Amiri" pitchFamily="2" charset="-78"/>
                <a:ea typeface="Amiri" pitchFamily="2" charset="-78"/>
                <a:cs typeface="Amiri" pitchFamily="2" charset="-78"/>
              </a:rPr>
              <a:t> عَنِ الْعَمَلِ، ثُمَّ رَأَيْتُ طَالِبَاتٍ </a:t>
            </a:r>
            <a:pPr rtl="1" algn="r" indent="0" marL="0">
              <a:buNone/>
            </a:pPr>
            <a:r>
              <a:rPr lang="ar-SA" altLang="en-US" sz="2350" b="1" dirty="0">
                <a:solidFill>
                  <a:srgbClr val="D6336C"/>
                </a:solidFill>
                <a:latin typeface="Amiri" pitchFamily="2" charset="-78"/>
                <a:ea typeface="Amiri" pitchFamily="2" charset="-78"/>
                <a:cs typeface="Amiri" pitchFamily="2" charset="-78"/>
              </a:rPr>
              <a:t>وَدَعَوْتُهُنَّ</a:t>
            </a:r>
            <a:pPr rtl="1" algn="r" indent="0" marL="0">
              <a:buNone/>
            </a:pPr>
            <a:r>
              <a:rPr lang="ar-SA" altLang="en-US" sz="2350" b="1" dirty="0">
                <a:solidFill>
                  <a:srgbClr val="1B3B6F"/>
                </a:solidFill>
                <a:latin typeface="Amiri" pitchFamily="2" charset="-78"/>
                <a:ea typeface="Amiri" pitchFamily="2" charset="-78"/>
                <a:cs typeface="Amiri" pitchFamily="2" charset="-78"/>
              </a:rPr>
              <a:t> إِلَى فَرِيقِنَا.</a:t>
            </a:r>
            <a:endParaRPr lang="ar-SA" sz="23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cs typeface="Amiri" pitchFamily="2" charset="-78"/>
              </a:rPr>
              <a:t>Yesterday my teacher helped me. I met two friends and asked them about the work, then I saw some female students and invited them to our team.</a:t>
            </a:r>
            <a:endParaRPr lang="en-US" sz="12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عَلِيٌّ سَاعَدَهَا.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Ali helped her.</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سَاعَدَتْنِي.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helped me.</a:t>
            </a:r>
            <a:endParaRPr lang="en-US" sz="1250" dirty="0"/>
          </a:p>
          <a:p>
            <a:pPr indent="0" marL="0">
              <a:buNone/>
            </a:pPr>
            <a:r>
              <a:rPr lang="en-US" sz="1050" i="1" dirty="0">
                <a:solidFill>
                  <a:srgbClr val="8A6D1E"/>
                </a:solidFill>
                <a:latin typeface="Calibri" pitchFamily="34" charset="0"/>
                <a:cs typeface="Amiri" pitchFamily="2" charset="-78"/>
              </a:rPr>
              <a:t>Website: two signals.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أَيْنَ كِتَابُكَ؟ — قَرَأْتُهُ أَمْسِ.</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Where is your book? — I read it yesterday.</a:t>
            </a:r>
            <a:endParaRPr lang="en-US" sz="1250" dirty="0"/>
          </a:p>
          <a:p>
            <a:pPr indent="0" marL="0">
              <a:buNone/>
            </a:pPr>
            <a:r>
              <a:rPr lang="en-US" sz="1050" i="1" dirty="0">
                <a:solidFill>
                  <a:srgbClr val="8A6D1E"/>
                </a:solidFill>
                <a:latin typeface="Calibri" pitchFamily="34" charset="0"/>
                <a:cs typeface="Amiri" pitchFamily="2" charset="-78"/>
              </a:rPr>
              <a:t>Thing (m.) → -hu.</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أُحِبُّكُمْ فِي اللَّهِ.</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love you (all) for the sake of Allah.</a:t>
            </a:r>
            <a:endParaRPr lang="en-US" sz="1250" dirty="0"/>
          </a:p>
          <a:p>
            <a:pPr indent="0" marL="0">
              <a:buNone/>
            </a:pPr>
            <a:r>
              <a:rPr lang="en-US" sz="1050" i="1" dirty="0">
                <a:solidFill>
                  <a:srgbClr val="8A6D1E"/>
                </a:solidFill>
                <a:latin typeface="Calibri" pitchFamily="34" charset="0"/>
                <a:cs typeface="Amiri" pitchFamily="2" charset="-78"/>
              </a:rPr>
              <a:t>A common phrase: -kum.</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WHO RECEIVES THE ACTION?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person, two, or a group?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يَسْتَقْبِلُ الْفِعْلَ؟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سَاعَدَنِي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سَاعَدَهُمَا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سَاعَدَهُمْ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رَأَيْتُكِ</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رَأَيْتُكُمَا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رَأَيْتُهُنَّ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شَكَرْتُهُ</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شَكَرْنَاهُمْ</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One person</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Exactly two</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 group</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One person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سَاعَدَنِي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رَأَيْتُكِ</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شَكَرْتُهُ</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Exactly two</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سَاعَدَهُمَا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رَأَيْتُكُمَا</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 group</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سَاعَدَهُمْ</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رَأَيْتُهُنَّ</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شَكَرْنَاهُمْ</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REPLACE THE NAME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Name →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ضَعِ الضَّمِيرَ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9691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an ending</a:t>
            </a:r>
            <a:endParaRPr lang="en-US" sz="1100" dirty="0"/>
          </a:p>
        </p:txBody>
      </p:sp>
      <p:sp>
        <p:nvSpPr>
          <p:cNvPr id="17" name="Text 14"/>
          <p:cNvSpPr txBox="1"/>
          <p:nvPr/>
        </p:nvSpPr>
        <p:spPr>
          <a:xfrm>
            <a:off x="473659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Receiver</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 name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315200" y="2267712"/>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سَاعَدْتُهَا.</a:t>
            </a:r>
            <a:endParaRPr lang="ar-SA" sz="2400" dirty="0"/>
          </a:p>
        </p:txBody>
      </p:sp>
      <p:sp>
        <p:nvSpPr>
          <p:cNvPr id="21" name="Text 18"/>
          <p:cNvSpPr txBox="1"/>
          <p:nvPr/>
        </p:nvSpPr>
        <p:spPr>
          <a:xfrm>
            <a:off x="4773168" y="2267712"/>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female</a:t>
            </a:r>
            <a:endParaRPr lang="en-US" sz="1100" dirty="0"/>
          </a:p>
        </p:txBody>
      </p:sp>
      <p:sp>
        <p:nvSpPr>
          <p:cNvPr id="22" name="Text 19"/>
          <p:cNvSpPr txBox="1"/>
          <p:nvPr/>
        </p:nvSpPr>
        <p:spPr>
          <a:xfrm>
            <a:off x="548640" y="2267712"/>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سَاعَدْتُ أُمِّي.</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315200" y="3004718"/>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رَأَيْتُهُ.</a:t>
            </a:r>
            <a:endParaRPr lang="ar-SA" sz="2400" dirty="0"/>
          </a:p>
        </p:txBody>
      </p:sp>
      <p:sp>
        <p:nvSpPr>
          <p:cNvPr id="27" name="Text 24"/>
          <p:cNvSpPr txBox="1"/>
          <p:nvPr/>
        </p:nvSpPr>
        <p:spPr>
          <a:xfrm>
            <a:off x="4773168" y="300471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male</a:t>
            </a:r>
            <a:endParaRPr lang="en-US" sz="1100" dirty="0"/>
          </a:p>
        </p:txBody>
      </p:sp>
      <p:sp>
        <p:nvSpPr>
          <p:cNvPr id="28" name="Text 25"/>
          <p:cNvSpPr txBox="1"/>
          <p:nvPr/>
        </p:nvSpPr>
        <p:spPr>
          <a:xfrm>
            <a:off x="548640" y="300471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رَأَيْتُ أَحْمَدَ.</a:t>
            </a:r>
            <a:endParaRPr lang="ar-SA" sz="22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315200" y="3741725"/>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قَرَأْتُهُ.</a:t>
            </a:r>
            <a:endParaRPr lang="ar-SA" sz="2400" dirty="0"/>
          </a:p>
        </p:txBody>
      </p:sp>
      <p:sp>
        <p:nvSpPr>
          <p:cNvPr id="33" name="Text 30"/>
          <p:cNvSpPr txBox="1"/>
          <p:nvPr/>
        </p:nvSpPr>
        <p:spPr>
          <a:xfrm>
            <a:off x="4773168" y="3741725"/>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 (m.)</a:t>
            </a:r>
            <a:endParaRPr lang="en-US" sz="1100" dirty="0"/>
          </a:p>
        </p:txBody>
      </p:sp>
      <p:sp>
        <p:nvSpPr>
          <p:cNvPr id="34" name="Text 31"/>
          <p:cNvSpPr txBox="1"/>
          <p:nvPr/>
        </p:nvSpPr>
        <p:spPr>
          <a:xfrm>
            <a:off x="548640" y="3741725"/>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قَرَأْتُ الْكِتَابَ.</a:t>
            </a:r>
            <a:endParaRPr lang="ar-SA" sz="22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315200" y="4478731"/>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زُرْتُهُمَا.</a:t>
            </a:r>
            <a:endParaRPr lang="ar-SA" sz="2400" dirty="0"/>
          </a:p>
        </p:txBody>
      </p:sp>
      <p:sp>
        <p:nvSpPr>
          <p:cNvPr id="39" name="Text 36"/>
          <p:cNvSpPr txBox="1"/>
          <p:nvPr/>
        </p:nvSpPr>
        <p:spPr>
          <a:xfrm>
            <a:off x="4773168" y="4478731"/>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people</a:t>
            </a:r>
            <a:endParaRPr lang="en-US" sz="1100" dirty="0"/>
          </a:p>
        </p:txBody>
      </p:sp>
      <p:sp>
        <p:nvSpPr>
          <p:cNvPr id="40" name="Text 37"/>
          <p:cNvSpPr txBox="1"/>
          <p:nvPr/>
        </p:nvSpPr>
        <p:spPr>
          <a:xfrm>
            <a:off x="548640" y="4478731"/>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زُرْتُ جَدَّيَّ.</a:t>
            </a:r>
            <a:endParaRPr lang="ar-SA" sz="22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315200" y="5215738"/>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شَكَرْتُهُنَّ.</a:t>
            </a:r>
            <a:endParaRPr lang="ar-SA" sz="2400" dirty="0"/>
          </a:p>
        </p:txBody>
      </p:sp>
      <p:sp>
        <p:nvSpPr>
          <p:cNvPr id="43" name="Text 40"/>
          <p:cNvSpPr txBox="1"/>
          <p:nvPr/>
        </p:nvSpPr>
        <p:spPr>
          <a:xfrm>
            <a:off x="4773168" y="521573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female group</a:t>
            </a:r>
            <a:endParaRPr lang="en-US" sz="1100" dirty="0"/>
          </a:p>
        </p:txBody>
      </p:sp>
      <p:sp>
        <p:nvSpPr>
          <p:cNvPr id="44" name="Text 41"/>
          <p:cNvSpPr txBox="1"/>
          <p:nvPr/>
        </p:nvSpPr>
        <p:spPr>
          <a:xfrm>
            <a:off x="548640" y="521573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شَكَرْتُ الْمُعَلِّمَاتِ.</a:t>
            </a:r>
            <a:endParaRPr lang="ar-SA" sz="22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Decide the receiver first (one / two / group; male / female; person / thing), then choose the ending.</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سَاعَدَِي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ending means me?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مَرْيَمُ؟ رَأَيْتُهُ.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Maryam male?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سَاعَدَهَا.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Doer and receiver?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سَاعَدَِي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سَاعَدَنِي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Verbal “me” uses -nī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مَرْيَمُ؟ رَأَيْتُهُ.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مَرْيَمُ؟ رَأَيْتُهَا.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Maryam is feminine → -hā (website).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سَاعَدَهَا.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سَاعَدَتْنِي.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 “she helped me”: verb shows she, ending shows me (website).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2F6FB0"/>
                </a:solidFill>
                <a:latin typeface="Calibri" pitchFamily="34" charset="0"/>
                <a:cs typeface="Amiri" pitchFamily="2" charset="-78"/>
              </a:rPr>
              <a:t>WE DO · GUIDED PRACTICE · TEACHER-WRITTEN PRACTICE ON THE WEBSITE CONTENT</a:t>
            </a:r>
            <a:endParaRPr lang="en-US" sz="96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thanked them all” (a mixed group).</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شَكَرْنَاهُنَّ جَمِيعًا.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شَكَرْتُهُمْ جَمِيعًا.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شَكَرْنَاهُمْ جَمِيعًا.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helped us.”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سَاعَدَنَا.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سَاعَدَتْنَا.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سَاعَدْنَاهَا.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invited you” (one female).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دَعَوْتُكَ.</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دَعَوْتُكِ.</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دَعَوْتُهَا.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story? “I wrote it.”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كَتَبْتُهُ.</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كَتَبْتُهُمَا.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كَتَبْتُهَا.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thanked them all” (a mixed group).</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شَكَرْنَاهُنَّ جَمِيعًا.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شَكَرْتُهُمْ جَمِيعًا.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شَكَرْنَاهُمْ جَمِيعًا.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-nā = we; -hum = them (mixed).</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helped us.”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سَاعَدَنَا.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سَاعَدَتْنَا.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سَاعَدْنَاهَا.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 = she; -nā = us.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invited you” (one female).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دَعَوْتُكَ.</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دَعَوْتُكِ.</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دَعَوْتُهَا.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 = you (one female).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story? “I wrote it.”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كَتَبْتُهُ.</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كَتَبْتُهُمَا.</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كَتَبْتُهَا.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Story is feminine → -hā.</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helpful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الْأَمْسِ سَاعَدَتْنِي مُعَلِّمَتِي فِي الْمَشْرُوعِ. بَعْدَ ذَلِكَ قَابَلْتُ صَدِيقَيْنِ وَسَأَلْتُهُمَا عَنِ الْعَمَلِ. رَأَيْتُ طَالِبَاتٍ فِي الْمَكْتَبَةِ وَدَعَوْتُهُنَّ إِلَى فَرِيقِنَا. فِي النِّهَايَةِ شَكَرْنَاهُمْ جَمِيعًا.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الْمَشْرُوعِ</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project</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قَابَلْتُ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met</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سَأَلْتُ</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asked</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دَعَوْتُ</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invited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فَرِيقِنَا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team</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شَكَرْنَا</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thanked</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helped the writer?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friends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 (f.)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ending in “asked them” refer to?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female students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two friends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-hunna refer to?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female students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two friends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شَكَرْنَاهُمْ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thanked us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thanked them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thanked him</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helped the writer?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friends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teacher (f.)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Sāʿadatnī muʿallimatī.</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ending in “asked them” refer to?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female students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two friends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-humā = two.</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-hunna refer to?</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female students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two friends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plural.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شَكَرْنَاهُمْ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thanked us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 thanked them</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thanked him</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-nā = we; -hum = them.</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describe a helpful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سَاعَدَكَ هَذَا الْأُسْبُوعَ؟</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قَابَلْتَ فِي الْمَدْرَسَةِ؟ مَاذَا سَأَلْتَهُمْ؟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مَشْرُوعًا: مَنْ سَاعَدَكَ وَمَنْ سَاعَدْتَ؟</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سَاعَدَنِي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قَابَلْتُ ___ وَسَأَلْتُهُ / سَأَلْتُهَا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النِّهَايَةِ شَكَرْنَا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سَاعَدَكِ فِي الْوَاجِبِ؟</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helped you with the homework?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سَاعَدَنِي أَخِي، وَبَعْدَ ذَلِكَ سَاعَدْتُهُ فِي الرِّيَاضِيَّاتِ. شَكَرْتُهُ كَثِيرًا!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My brother helped me, and after that I helped him with maths. I thanked him a lot!</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Who helped you, and whom did you help?</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sāʿadanī · sāʿadtuhu · sāʿadtuhā.</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dual and plural objects.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-humā · -hum · -hunna.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7–9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writing task with five different endings.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a thing (-hu / -hā) and a two-signal verb.</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قَابَلْتُ صَدِيقَيْنِ وَ______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met two friends and asked them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إِلَى الْحَفْلَةِ.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invited them (girls).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الْمُعَلِّمُ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 thanked us.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helped me.</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سَاعَدَنِي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helped me.</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فِي الْوَاجِبِ.</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helped him / her.</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صَدِيقِي وَ______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saw my friend and thanked him.</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الْكِتَابُ؟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is the book? I read it.</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سَاعَدَنِي  ·  سَاعَدْتُهُ  ·  سَاعَدْتُهَا  ·  رَأَيْتُهُ  ·  شَكَرْتُهُ  ·  سَأَلْتُهُمَا  ·  دَعَوْنَاهُنَّ  ·  شَكَرَنَا  ·  سَاعَدَتْنِي  ·  قَرَأْتُهُ  ·  قَرَأْتُهَا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task: 7–9 sentences about a school event or helpful experience, with at least five different object endings.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form meaning me or us.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singular object (him / her / you).</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object (-humā or -kumā).</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plural object (-hum or -hunna).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 showing both doer and receiver (e.g. sāʿadatnī).</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سَاعَدَتْنِي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helped me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قَابَلْتُهُمَا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met them two</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دَعَوْتُهُنَّ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invited them (f.)</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شَكَرْنَاهُمْ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thanked them</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زُرْنَاهُ</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visited him</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أَعْطَانِي</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gave me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الْأُسْبُوعِ الْمَاضِي نَظَّمْنَا يَوْمًا خَيْرِيًّا فِي الْمَدْرَسَةِ. سَاعَدَتْنِي أُمِّي فِي صُنْعِ الْكَعْكِ، وَحَمَلْتُهُ إِلَى الْمَدْرَسَةِ. قَابَلْتُ مُعَلِّمَيْنِ عِنْدَ الْبَابِ وَسَأَلْتُهُمَا عَنِ الطَّاوِلَاتِ. رَأَيْتُ صَدِيقَاتِي فِي السَّاحَةِ وَدَعَوْتُهُنَّ إِلَى الْمُسَاعَدَةِ. بِعْنَا الْكَعْكَ كُلَّهُ، وَفِي النِّهَايَةِ شَكَرَنَا الْمُدِيرُ، وَشَكَرْنَاهُ أَيْضًا.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week we organised a charity day at school. My mother helped me make cakes, and I carried them to school. I met two teachers at the door and asked them about the tables. I saw my friends in the playground and invited them to help. We sold all the cakes, and at the end the headteacher thanked us, and we thanked him too.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me / us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him / it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them two</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them (f.)</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ending refers to a person or thing already mentioned.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-nī for “me” on a verb.</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distinguished dual, masculine and feminine plural.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Things take -hu or -hā by grammatical gender.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verb still shows the subject correctly.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helped 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سَاعَدُونِي.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سَاعَدَنِي.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سَاعَدْتُهُمْ.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them” (all female).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رَأَيْتُهُمْ.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رَأَيْتُهُنَّ.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رَأَيْتُهُمَا.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“my” and not “me”?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سَاعَدَنِي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رَأَتْنِي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helped me.”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سَاعَدُونِي.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سَاعَدَنِي.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سَاعَدْتُهُمْ.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They (doer) + -nī (me).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them” (all female).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رَأَيْتُهُمْ.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رَأَيْتُهُنَّ.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رَأَيْتُهُمَا.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Female group → -hunna.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“my” and not “me”?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كِتَابِي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سَاعَدَنِي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رَأَتْنِي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Nouns take -ī; verbs take -nī.</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GM-PRO-03 · Pronouns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GM-PRO-04: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GM-PRO-04 · Demonstrative Pronouns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 هَذِهِ</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this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ذَلِكَ · تِلْكَ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that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هَؤُلَاءِ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these (people)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هَذَانِ · هَاتَانِ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these two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هُنَا · هُنَاكَ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here · there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In GM-ADJ-07 you used this / that before nouns. Can hādhā stand alone as a pronoun? Try: “This is mine.”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هَذَا كِتَابِي · ______ لِي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with -nī, -hu and -hā.</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Rewrite a paragraph replacing repeated names with endings.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helpful experience.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GM-PRO-03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50" b="1" dirty="0">
                <a:solidFill>
                  <a:srgbClr val="FFFFFF"/>
                </a:solidFill>
                <a:latin typeface="Cambria" pitchFamily="34" charset="0"/>
                <a:cs typeface="Amiri" pitchFamily="2" charset="-78"/>
              </a:rPr>
              <a:t>GM-PRO-04 · Demonstrative Pronouns</a:t>
            </a:r>
            <a:endParaRPr lang="en-US" sz="25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أَسْمَاءُ الْإِشَارَةِ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object ending = the receiver · “me” on a verb is -nī · two → -humā, group → -hum / -hunna · things take -hu or -hā by grammatical gender · check doer AND receiver.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GM-PRO-03 · Object Pronoun Suffixes</dc:title>
  <dc:subject>PptxGenJS Presentation</dc:subject>
  <dc:creator>Al Madina Online School · Arabic Department</dc:creator>
  <cp:lastModifiedBy>Al Madina Online School · Arabic Department</cp:lastModifiedBy>
  <cp:revision>1</cp:revision>
  <dcterms:created xsi:type="dcterms:W3CDTF">2026-10-11T06:42:28Z</dcterms:created>
  <dcterms:modified xsi:type="dcterms:W3CDTF">2026-10-11T06:42:28Z</dcterms:modified>
</cp:coreProperties>
</file>