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Pronouns › GM-PRO-05 (“الأَسْمَاءُ الْمَوْصُولَةُ”).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الَّذِي and الَّتِي after a definite noun; joining two short ideas (أَعْرِفُ الْوَلَدَ الَّذِي يَسْكُنُ هُنَا). Develop: plural forms الَّذِينَ · اللَّاتِي; verb agreement inside the clause; tracking relative pronouns in reading. Stretch: the dual (اللَّذَانِ / اللَّذَيْنِ · اللَّتَانِ / اللَّتَيْنِ); resumptive pronouns (قَرَأْتُهُ · فِيهَا); no relative pronoun after an indefinite noun (جَاءَ طَالِبٌ فَازَ).
• This lesson pulls together Lessons 1–4: subject pronouns, possessive and object endings, and demonstratives all appear inside relative clauses.
• Non-human plural trap (website game): things in the plural take الَّتِي — الْكُتُبُ الَّتِي قَرَأْتُهَا.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of GM-PRO-02, 03 and 04 (all reappear inside relative clauses).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Join two ideas with who / which / that. The relative pronoun agrees with the noun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(4 min) — website “The relative-pronoun family”. Core: rows 1–3. The non-human plural uses allatī (website game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“The three-part structure” and “agreement”. Underline the antecedent, circle the relative pronoun, box the clause (website mastery routine).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(4 min) — website “Definite nouns normally take a relative pronoun”, “The resumptive pronoun” and the link to Lesson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parts.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resumptive-pronoun examples. Cross out the repeated noun in idea 2 and replace it with the bridge + the pointing-back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“The Connector”. Students type 1–3. Trap: cars are a non-human plural → allatī.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website game “The Connector”. Students type 1–3. Trap: cars are a non-human plural → allatī.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Cover the right column; students join the ideas aloud. Row 4 is Stretch (resumptive pronoun).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content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Read it aloud once while students follow; then they hunt for today’s grammar.
Task: Website: underline each antecedent, circle each relative pronoun and find the extra information.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Website reading text (spelling normalised);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supported speaking. Sequence: ● 10s think → ↔ 45s rehearse aloud with mic muted → ◎ two named students on open mic (warned in advance) → + ? the class types one follow-up in chat → ↺ one student summarises.
Routes: Core uses the Core prompt and stem; Develop the Develop prompt; Stretch the last prompt.
Website stems. Final performance: one masculine, one feminine and one plural relative pronoun, one resumptive pronoun, and one link to a demonstrative or possessive.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8–10 sentences about your school, family, a person you admire or a book you enjoyed, with at least six relative pronouns.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(GM-PRO-06 · Pronouns with li and bi) will spend class time USING this language, so students prepare it tonight — short, simple, easy to access (school guidance: “Simple, Short, Interesting, Relevant, Easy to access”). The five words prepare GM-PRO-06 (website Pronouns lesson 6: pronouns with li and bi).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PRONOUNS  ·  GM-PRO-05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GM-PRO-05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Relative Pronouns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الْأَسْمَاءُ الْمَوْصُولَةُ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Join two ideas with “who / which / that”: alladhī for a masculine noun, allatī for a feminine one, alladhīna for a group of men. Use them after a DEFINITE noun — and point back to the noun with a pronoun when needed: the book that I read 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GM-PRO-05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Pronouns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The family; three-part structure; agreement; definite vs indefinite; resumptive pronoun.</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the bridge; join sentences;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GM-PRO-06.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كِتَابٌ.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كِتَابٌ.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هَؤُلَاءِ كِتَابٌ.</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read it” (the book).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قَرَأْتُهُ.</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قَرَأْتُهَا.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قَرَأْتُكَ.</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كِتَابُهُ</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female students”.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الطُّلَّابُ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الطَّالِبَتَانِ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Two ideas: “I know the boy. The boy lives here.” What word would join them in English?</a:t>
            </a:r>
            <a:endParaRPr lang="en-US" sz="110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كِتَابٌ.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كِتَابٌ.</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هَؤُلَاءِ كِتَابٌ.</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Retrieval from GM-PRO-04.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read it” (the book).</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قَرَأْتُهُ.</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قَرَأْتُهَا.</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قَرَأْتُكَ.</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Book is masculine → -hu (GM-PRO-03).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“his book”.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كِتَابُهَا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كِتَابُهُ</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 = his (GM-PRO-02).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female students”.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الطُّلَّابُ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الطَّالِبَتَانِ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plural -āt.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Two ideas: “I know the boy. The boy lives here.” What word would join them in English?</a:t>
            </a:r>
            <a:endParaRPr lang="en-US" sz="110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relative pronoun: who.</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Join two ideas with who / which / that. The relative pronoun agrees with the noun before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الْوَلَدُ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الَّذِي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يَسْكُنُ هُنَا ‖ الْبِنْتُ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الَّتِي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تَسْكُنُ هُنَا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Join two ideas with a relative pronoun.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relative pronoun that agrees with the antecedent.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verb inside the clause agree.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 resumptive pronoun and know when no relative pronoun is needed.</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alladhī and allatī after a definite noun.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join two short sentences.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alladhīna and allātī for groups of people.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make the verb in the clause agree.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the book that I read it (qaraʾtuhu).</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link an indefinite noun directly, with no alladhī.</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 الْمَوْصُولُ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relative pronoun</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al-ِs-mu al-maw-ṣū-lu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الَّذِي · الَّتِي</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 which (m. sing.)</a:t>
            </a:r>
            <a:endParaRPr lang="en-US" sz="1350" dirty="0"/>
          </a:p>
          <a:p>
            <a:pPr indent="0" marL="0">
              <a:buNone/>
            </a:pPr>
            <a:r>
              <a:rPr lang="en-US" sz="1100" i="1" dirty="0">
                <a:solidFill>
                  <a:srgbClr val="5A6472"/>
                </a:solidFill>
                <a:latin typeface="Calibri" pitchFamily="34" charset="0"/>
                <a:cs typeface="Amiri" pitchFamily="2" charset="-78"/>
              </a:rPr>
              <a:t>alladhī</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 الَّذِي فَازَ</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 which (f. sing. &amp; things)</a:t>
            </a:r>
            <a:endParaRPr lang="en-US" sz="1350" dirty="0"/>
          </a:p>
          <a:p>
            <a:pPr indent="0" marL="0">
              <a:buNone/>
            </a:pPr>
            <a:r>
              <a:rPr lang="en-US" sz="1100" i="1" dirty="0">
                <a:solidFill>
                  <a:srgbClr val="5A6472"/>
                </a:solidFill>
                <a:latin typeface="Calibri" pitchFamily="34" charset="0"/>
                <a:cs typeface="Amiri" pitchFamily="2" charset="-78"/>
              </a:rPr>
              <a:t>allatī</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الطَّالِبَةُ الَّتِي فَازَتْ</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الَّذِينَ</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(m. / mixed people)</a:t>
            </a:r>
            <a:endParaRPr lang="en-US" sz="1350" dirty="0"/>
          </a:p>
          <a:p>
            <a:pPr indent="0" marL="0">
              <a:buNone/>
            </a:pPr>
            <a:r>
              <a:rPr lang="en-US" sz="1100" i="1" dirty="0">
                <a:solidFill>
                  <a:srgbClr val="5A6472"/>
                </a:solidFill>
                <a:latin typeface="Calibri" pitchFamily="34" charset="0"/>
                <a:cs typeface="Amiri" pitchFamily="2" charset="-78"/>
              </a:rPr>
              <a:t>alladhīna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الطُّلَّابُ الَّذِينَ حَضَرُوا</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جُمْلَةُ الصِّلَةِ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relative clause</a:t>
            </a:r>
            <a:endParaRPr lang="en-US" sz="1350" dirty="0"/>
          </a:p>
          <a:p>
            <a:pPr indent="0" marL="0">
              <a:buNone/>
            </a:pPr>
            <a:r>
              <a:rPr lang="en-US" sz="1100" i="1" dirty="0">
                <a:solidFill>
                  <a:srgbClr val="5A6472"/>
                </a:solidFill>
                <a:latin typeface="Calibri" pitchFamily="34" charset="0"/>
                <a:cs typeface="Amiri" pitchFamily="2" charset="-78"/>
              </a:rPr>
              <a:t>jum-la-tu aṣ-ṣi-la-ti</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extra information</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الضَّمِيرُ الْعَائِدُ</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resumptive pronoun (refers back)</a:t>
            </a:r>
            <a:endParaRPr lang="en-US" sz="1350" dirty="0"/>
          </a:p>
          <a:p>
            <a:pPr indent="0" marL="0">
              <a:buNone/>
            </a:pPr>
            <a:r>
              <a:rPr lang="en-US" sz="1100" i="1" dirty="0">
                <a:solidFill>
                  <a:srgbClr val="5A6472"/>
                </a:solidFill>
                <a:latin typeface="Calibri" pitchFamily="34" charset="0"/>
                <a:cs typeface="Amiri" pitchFamily="2" charset="-78"/>
              </a:rPr>
              <a:t>aḍ-ḍa-mī-ru al-ʿā-ʾi-du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قَرَأْتُهُ</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RELATIVE-PRONOUN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which, that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الْأَسْمَاءُ الْمَوْصُولَةُ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382219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Used with</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6217920" y="2267712"/>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 الَّذِي فَازَ</a:t>
            </a:r>
            <a:endParaRPr lang="ar-SA" sz="2200" dirty="0"/>
          </a:p>
        </p:txBody>
      </p:sp>
      <p:sp>
        <p:nvSpPr>
          <p:cNvPr id="21" name="Text 18"/>
          <p:cNvSpPr txBox="1"/>
          <p:nvPr/>
        </p:nvSpPr>
        <p:spPr>
          <a:xfrm>
            <a:off x="3840480" y="226771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الَّذِي</a:t>
            </a:r>
            <a:endParaRPr lang="ar-SA" sz="2400" dirty="0"/>
          </a:p>
        </p:txBody>
      </p:sp>
      <p:sp>
        <p:nvSpPr>
          <p:cNvPr id="22" name="Text 19"/>
          <p:cNvSpPr txBox="1"/>
          <p:nvPr/>
        </p:nvSpPr>
        <p:spPr>
          <a:xfrm>
            <a:off x="566928" y="226771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singular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6217920" y="2881884"/>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الطَّالِبَةُ الَّتِي فَازَتْ</a:t>
            </a:r>
            <a:endParaRPr lang="ar-SA" sz="2200" dirty="0"/>
          </a:p>
        </p:txBody>
      </p:sp>
      <p:sp>
        <p:nvSpPr>
          <p:cNvPr id="27" name="Text 24"/>
          <p:cNvSpPr txBox="1"/>
          <p:nvPr/>
        </p:nvSpPr>
        <p:spPr>
          <a:xfrm>
            <a:off x="3840480" y="2881884"/>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الَّتِي</a:t>
            </a:r>
            <a:endParaRPr lang="ar-SA" sz="2400" dirty="0"/>
          </a:p>
        </p:txBody>
      </p:sp>
      <p:sp>
        <p:nvSpPr>
          <p:cNvPr id="28" name="Text 25"/>
          <p:cNvSpPr txBox="1"/>
          <p:nvPr/>
        </p:nvSpPr>
        <p:spPr>
          <a:xfrm>
            <a:off x="566928" y="2881884"/>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singular (and plural things)</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6217920" y="3496056"/>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الطُّلَّابُ الَّذِينَ حَضَرُوا</a:t>
            </a:r>
            <a:endParaRPr lang="ar-SA" sz="2200" dirty="0"/>
          </a:p>
        </p:txBody>
      </p:sp>
      <p:sp>
        <p:nvSpPr>
          <p:cNvPr id="33" name="Text 30"/>
          <p:cNvSpPr txBox="1"/>
          <p:nvPr/>
        </p:nvSpPr>
        <p:spPr>
          <a:xfrm>
            <a:off x="3840480" y="3496056"/>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الَّذِينَ</a:t>
            </a:r>
            <a:endParaRPr lang="ar-SA" sz="2400" dirty="0"/>
          </a:p>
        </p:txBody>
      </p:sp>
      <p:sp>
        <p:nvSpPr>
          <p:cNvPr id="34" name="Text 31"/>
          <p:cNvSpPr txBox="1"/>
          <p:nvPr/>
        </p:nvSpPr>
        <p:spPr>
          <a:xfrm>
            <a:off x="566928" y="3496056"/>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or mixed human plural</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6217920" y="4110228"/>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الطَّالِبَاتُ اللَّاتِي حَضَرْنَ</a:t>
            </a:r>
            <a:endParaRPr lang="ar-SA" sz="2200" dirty="0"/>
          </a:p>
        </p:txBody>
      </p:sp>
      <p:sp>
        <p:nvSpPr>
          <p:cNvPr id="39" name="Text 36"/>
          <p:cNvSpPr txBox="1"/>
          <p:nvPr/>
        </p:nvSpPr>
        <p:spPr>
          <a:xfrm>
            <a:off x="3840480" y="4110228"/>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اللَّاتِي</a:t>
            </a:r>
            <a:endParaRPr lang="ar-SA" sz="2400" dirty="0"/>
          </a:p>
        </p:txBody>
      </p:sp>
      <p:sp>
        <p:nvSpPr>
          <p:cNvPr id="40" name="Text 37"/>
          <p:cNvSpPr txBox="1"/>
          <p:nvPr/>
        </p:nvSpPr>
        <p:spPr>
          <a:xfrm>
            <a:off x="566928" y="4110228"/>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human plural</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6217920" y="4724400"/>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الطَّالِبَانِ اللَّذَانِ نَجَحَا</a:t>
            </a:r>
            <a:endParaRPr lang="ar-SA" sz="2200" dirty="0"/>
          </a:p>
        </p:txBody>
      </p:sp>
      <p:sp>
        <p:nvSpPr>
          <p:cNvPr id="43" name="Text 40"/>
          <p:cNvSpPr txBox="1"/>
          <p:nvPr/>
        </p:nvSpPr>
        <p:spPr>
          <a:xfrm>
            <a:off x="3840480" y="4724400"/>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اللَّذَانِ</a:t>
            </a:r>
            <a:endParaRPr lang="ar-SA" sz="2400" dirty="0"/>
          </a:p>
        </p:txBody>
      </p:sp>
      <p:sp>
        <p:nvSpPr>
          <p:cNvPr id="44" name="Text 41"/>
          <p:cNvSpPr txBox="1"/>
          <p:nvPr/>
        </p:nvSpPr>
        <p:spPr>
          <a:xfrm>
            <a:off x="566928" y="4724400"/>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 dual (subject)</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6217920" y="5338572"/>
            <a:ext cx="5422392"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الطَّالِبَتَانِ اللَّتَانِ نَجَحَتَا</a:t>
            </a:r>
            <a:endParaRPr lang="ar-SA" sz="2200" dirty="0"/>
          </a:p>
        </p:txBody>
      </p:sp>
      <p:sp>
        <p:nvSpPr>
          <p:cNvPr id="47" name="Text 44"/>
          <p:cNvSpPr txBox="1"/>
          <p:nvPr/>
        </p:nvSpPr>
        <p:spPr>
          <a:xfrm>
            <a:off x="3840480" y="5338572"/>
            <a:ext cx="219456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اللَّتَانِ</a:t>
            </a:r>
            <a:endParaRPr lang="ar-SA" sz="2400" dirty="0"/>
          </a:p>
        </p:txBody>
      </p:sp>
      <p:sp>
        <p:nvSpPr>
          <p:cNvPr id="48" name="Text 45"/>
          <p:cNvSpPr txBox="1"/>
          <p:nvPr/>
        </p:nvSpPr>
        <p:spPr>
          <a:xfrm>
            <a:off x="566928" y="5338572"/>
            <a:ext cx="31089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dual (subject)</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house form: allātī for the feminine plural; allāʾī is also correct. Dual forms become alladhayni / allatayni as object or after a preposition (Stretch).</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THREE-PART STRUCTURE AND AGREEMENT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Noun + who + extra information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الْمَوْصُوفُ · الْمَوْصُولُ · الصِّلَةُ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noun being described is the ANTECEDENT; the words after the relative pronoun are the RELATIVE CLAUSE (website).</a:t>
            </a:r>
            <a:endParaRPr lang="en-US" sz="1300" dirty="0"/>
          </a:p>
        </p:txBody>
      </p:sp>
      <p:sp>
        <p:nvSpPr>
          <p:cNvPr id="20" name="Shape 17"/>
          <p:cNvSpPr/>
          <p:nvPr/>
        </p:nvSpPr>
        <p:spPr>
          <a:xfrm>
            <a:off x="658368" y="3094330"/>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9433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84602"/>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Step 1: check the antecedent — masculine or feminine? one, two or a group? person or thing?</a:t>
            </a:r>
            <a:endParaRPr lang="en-US" sz="1300" dirty="0"/>
          </a:p>
        </p:txBody>
      </p:sp>
      <p:sp>
        <p:nvSpPr>
          <p:cNvPr id="23" name="Shape 20"/>
          <p:cNvSpPr/>
          <p:nvPr/>
        </p:nvSpPr>
        <p:spPr>
          <a:xfrm>
            <a:off x="658368" y="3902659"/>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90265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79293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Step 2: choose the relative pronoun that matches it.</a:t>
            </a:r>
            <a:endParaRPr lang="en-US" sz="1300" dirty="0"/>
          </a:p>
        </p:txBody>
      </p:sp>
      <p:sp>
        <p:nvSpPr>
          <p:cNvPr id="26" name="Shape 23"/>
          <p:cNvSpPr/>
          <p:nvPr/>
        </p:nvSpPr>
        <p:spPr>
          <a:xfrm>
            <a:off x="658368" y="471098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71098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601261"/>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Step 3: make the verb inside the clause agree with its subject (website: agreement is cumulative).</a:t>
            </a:r>
            <a:endParaRPr lang="en-US" sz="1300" dirty="0"/>
          </a:p>
        </p:txBody>
      </p:sp>
      <p:sp>
        <p:nvSpPr>
          <p:cNvPr id="29" name="Shape 26"/>
          <p:cNvSpPr/>
          <p:nvPr/>
        </p:nvSpPr>
        <p:spPr>
          <a:xfrm>
            <a:off x="658368" y="5519318"/>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551931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5409590"/>
            <a:ext cx="5394960" cy="771754"/>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Do not repeat the noun — the relative pronoun replaces it.</a:t>
            </a:r>
            <a:endParaRPr lang="en-US" sz="1300" dirty="0"/>
          </a:p>
        </p:txBody>
      </p:sp>
      <p:sp>
        <p:nvSpPr>
          <p:cNvPr id="32" name="Shape 29"/>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أَعْرِفُ الْوَلَدَ الَّذِي يَسْكُنُ هُنَا.</a:t>
            </a:r>
            <a:endParaRPr lang="ar-SA" sz="2650" dirty="0"/>
          </a:p>
        </p:txBody>
      </p:sp>
      <p:sp>
        <p:nvSpPr>
          <p:cNvPr id="35" name="Text 32"/>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know the boy who lives here.  ·  website · joining two ideas</a:t>
            </a:r>
            <a:endParaRPr lang="en-US" sz="1100" dirty="0"/>
          </a:p>
        </p:txBody>
      </p:sp>
      <p:sp>
        <p:nvSpPr>
          <p:cNvPr id="36" name="Shape 33"/>
          <p:cNvSpPr/>
          <p:nvPr/>
        </p:nvSpPr>
        <p:spPr>
          <a:xfrm>
            <a:off x="6995160" y="3195828"/>
            <a:ext cx="4553712" cy="0"/>
          </a:xfrm>
          <a:prstGeom prst="line">
            <a:avLst/>
          </a:prstGeom>
          <a:noFill/>
          <a:ln w="9525">
            <a:solidFill>
              <a:srgbClr val="E4DCCB"/>
            </a:solidFill>
            <a:prstDash val="dash"/>
          </a:ln>
        </p:spPr>
      </p:sp>
      <p:sp>
        <p:nvSpPr>
          <p:cNvPr id="37" name="Text 34"/>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الطَّالِبُ الَّذِي يَدْرُسُ كَثِيرًا مُجْتَهِدٌ.</a:t>
            </a:r>
            <a:endParaRPr lang="ar-SA" sz="2650" dirty="0"/>
          </a:p>
        </p:txBody>
      </p:sp>
      <p:sp>
        <p:nvSpPr>
          <p:cNvPr id="38" name="Text 35"/>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student who studies a lot is hardworking.  ·  website · three parts</a:t>
            </a:r>
            <a:endParaRPr lang="en-US" sz="1100" dirty="0"/>
          </a:p>
        </p:txBody>
      </p:sp>
      <p:sp>
        <p:nvSpPr>
          <p:cNvPr id="39" name="Shape 36"/>
          <p:cNvSpPr/>
          <p:nvPr/>
        </p:nvSpPr>
        <p:spPr>
          <a:xfrm>
            <a:off x="6995160" y="4215384"/>
            <a:ext cx="4553712" cy="0"/>
          </a:xfrm>
          <a:prstGeom prst="line">
            <a:avLst/>
          </a:prstGeom>
          <a:noFill/>
          <a:ln w="9525">
            <a:solidFill>
              <a:srgbClr val="E4DCCB"/>
            </a:solidFill>
            <a:prstDash val="dash"/>
          </a:ln>
        </p:spPr>
      </p:sp>
      <p:sp>
        <p:nvSpPr>
          <p:cNvPr id="40" name="Text 37"/>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الطَّالِبَةُ الَّتِي تَكْتُبُ</a:t>
            </a:r>
            <a:endParaRPr lang="ar-SA" sz="2650" dirty="0"/>
          </a:p>
        </p:txBody>
      </p:sp>
      <p:sp>
        <p:nvSpPr>
          <p:cNvPr id="41" name="Text 38"/>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student (f.) who writes  ·  website</a:t>
            </a:r>
            <a:endParaRPr lang="en-US" sz="1100" dirty="0"/>
          </a:p>
        </p:txBody>
      </p:sp>
      <p:sp>
        <p:nvSpPr>
          <p:cNvPr id="42" name="Shape 39"/>
          <p:cNvSpPr/>
          <p:nvPr/>
        </p:nvSpPr>
        <p:spPr>
          <a:xfrm>
            <a:off x="6995160" y="5234940"/>
            <a:ext cx="4553712" cy="0"/>
          </a:xfrm>
          <a:prstGeom prst="line">
            <a:avLst/>
          </a:prstGeom>
          <a:noFill/>
          <a:ln w="9525">
            <a:solidFill>
              <a:srgbClr val="E4DCCB"/>
            </a:solidFill>
            <a:prstDash val="dash"/>
          </a:ln>
        </p:spPr>
      </p:sp>
      <p:sp>
        <p:nvSpPr>
          <p:cNvPr id="43" name="Text 40"/>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الطَّالِبَاتُ اللَّاتِي يَكْتُبْنَ</a:t>
            </a:r>
            <a:endParaRPr lang="ar-SA" sz="2650" dirty="0"/>
          </a:p>
        </p:txBody>
      </p:sp>
      <p:sp>
        <p:nvSpPr>
          <p:cNvPr id="44" name="Text 41"/>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students (f.) who write  ·  website</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PART 3 · DEFINITE VS INDEFINITE · THE RESUMPTIVE PRONOUN (WEBSITE)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When to use it — and pointing 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التَّعْرِيفُ وَالضَّمِيرُ الْعَائِدُ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63931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Point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430768" y="2267712"/>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who won came.</a:t>
            </a:r>
            <a:endParaRPr lang="en-US" sz="1100" dirty="0"/>
          </a:p>
        </p:txBody>
      </p:sp>
      <p:sp>
        <p:nvSpPr>
          <p:cNvPr id="21" name="Text 18"/>
          <p:cNvSpPr txBox="1"/>
          <p:nvPr/>
        </p:nvSpPr>
        <p:spPr>
          <a:xfrm>
            <a:off x="3657600" y="2267712"/>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جَاءَ الطَّالِبُ الَّذِي فَازَ.</a:t>
            </a:r>
            <a:endParaRPr lang="ar-SA" sz="22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noun → relative pronoun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430768" y="300471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student who won the competition came.</a:t>
            </a:r>
            <a:endParaRPr lang="en-US" sz="1100" dirty="0"/>
          </a:p>
        </p:txBody>
      </p:sp>
      <p:sp>
        <p:nvSpPr>
          <p:cNvPr id="27" name="Text 24"/>
          <p:cNvSpPr txBox="1"/>
          <p:nvPr/>
        </p:nvSpPr>
        <p:spPr>
          <a:xfrm>
            <a:off x="3657600" y="300471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جَاءَ طَالِبٌ فَازَ فِي الْمُسَابَقَةِ.</a:t>
            </a:r>
            <a:endParaRPr lang="ar-SA" sz="22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noun → linked directly</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8430768" y="3741725"/>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the book that I read.</a:t>
            </a:r>
            <a:endParaRPr lang="en-US" sz="1100" dirty="0"/>
          </a:p>
        </p:txBody>
      </p:sp>
      <p:sp>
        <p:nvSpPr>
          <p:cNvPr id="31" name="Text 28"/>
          <p:cNvSpPr txBox="1"/>
          <p:nvPr/>
        </p:nvSpPr>
        <p:spPr>
          <a:xfrm>
            <a:off x="3657600" y="3741725"/>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هُوَ الْكِتَابُ الَّذِي قَرَأْتُهُ.</a:t>
            </a:r>
            <a:endParaRPr lang="ar-SA" sz="2200" dirty="0"/>
          </a:p>
        </p:txBody>
      </p:sp>
      <p:sp>
        <p:nvSpPr>
          <p:cNvPr id="32" name="Text 29"/>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refers back as an object</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8430768" y="4478731"/>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the school in which I study.</a:t>
            </a:r>
            <a:endParaRPr lang="en-US" sz="1100" dirty="0"/>
          </a:p>
        </p:txBody>
      </p:sp>
      <p:sp>
        <p:nvSpPr>
          <p:cNvPr id="35" name="Text 32"/>
          <p:cNvSpPr txBox="1"/>
          <p:nvPr/>
        </p:nvSpPr>
        <p:spPr>
          <a:xfrm>
            <a:off x="3657600" y="4478731"/>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هِيَ الْمَدْرَسَةُ الَّتِي أَدْرُسُ فِيهَا.</a:t>
            </a:r>
            <a:endParaRPr lang="ar-SA" sz="2200" dirty="0"/>
          </a:p>
        </p:txBody>
      </p:sp>
      <p:sp>
        <p:nvSpPr>
          <p:cNvPr id="36" name="Text 33"/>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refers back after a preposition</a:t>
            </a:r>
            <a:endParaRPr lang="en-US" sz="1100" dirty="0"/>
          </a:p>
        </p:txBody>
      </p:sp>
      <p:sp>
        <p:nvSpPr>
          <p:cNvPr id="37" name="Shape 3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8430768" y="5215738"/>
            <a:ext cx="32278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student whose book is new</a:t>
            </a:r>
            <a:endParaRPr lang="en-US" sz="1100" dirty="0"/>
          </a:p>
        </p:txBody>
      </p:sp>
      <p:sp>
        <p:nvSpPr>
          <p:cNvPr id="39" name="Text 36"/>
          <p:cNvSpPr txBox="1"/>
          <p:nvPr/>
        </p:nvSpPr>
        <p:spPr>
          <a:xfrm>
            <a:off x="3657600" y="5215738"/>
            <a:ext cx="4572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الطَّالِبُ الَّذِي كِتَابُهُ جَدِيدٌ</a:t>
            </a:r>
            <a:endParaRPr lang="ar-SA" sz="2200" dirty="0"/>
          </a:p>
        </p:txBody>
      </p:sp>
      <p:sp>
        <p:nvSpPr>
          <p:cNvPr id="40" name="Text 37"/>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possessive inside the clause</a:t>
            </a:r>
            <a:endParaRPr lang="en-US" sz="11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in qaraʾtuhu, -hu refers back to the book; in fīhā, -hā refers back to the school. English “who / which / that” works after any noun — Arabic does not.</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 (f.) who helped 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الْمُعَلِّمَةُ الَّذِي سَاعَدَتْنِي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الْمُعَلِّمَةُ الَّذِينَ سَاعَدُونِي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الْمُعَلِّمَةُ الَّتِي سَاعَدَتْنِي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players who won”.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الَّذِينَ فَازُوا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الَّذِي فَازُوا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اللَّاعِبُونَ الَّتِي فَازُوا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that I bought”.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الَّذِينَ اشْتَرَيْتُهُمْ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الَّتِي اشْتَرَيْتُهَا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الْكُتُبُ الَّذِي اشْتَرَيْتُهُ</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girl who speaks Arabic came.”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جَاءَتْ بِنْتٌ تَتَكَلَّمُ الْعَرَبِيَّةَ.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جَاءَتْ بِنْتٌ الَّتِي تَتَكَلَّمُ الْعَرَبِيَّةَ.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جَاءَتْ الْبِنْتُ الَّذِي تَتَكَلَّمُ الْعَرَبِيَّةَ.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teacher (f.) who helped 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الْمُعَلِّمَةُ الَّذِي سَاعَدَتْنِي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الْمُعَلِّمَةُ الَّذِينَ سَاعَدُونِي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الْمُعَلِّمَةُ الَّتِي سَاعَدَتْنِي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singular → allatī.</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players who won”.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اللَّاعِبُونَ الَّذِينَ فَازُوا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اللَّاعِبُونَ الَّذِي فَازُوا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اللَّاعِبُونَ الَّتِي فَازُوا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human plural → alladhīna.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that I bought”.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الْكُتُبُ الَّذِينَ اشْتَرَيْتُهُمْ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الْكُتُبُ الَّتِي اشْتَرَيْتُهَا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الْكُتُبُ الَّذِي اشْتَرَيْتُهُ</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Plural things → allatī + -hā.</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girl who speaks Arabic came.”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جَاءَتْ بِنْتٌ تَتَكَلَّمُ الْعَرَبِيَّةَ.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جَاءَتْ بِنْتٌ الَّتِي تَتَكَلَّمُ الْعَرَبِيَّةَ.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جَاءَتْ الْبِنْتُ الَّذِي تَتَكَلَّمُ الْعَرَبِيَّةَ.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noun → no relative pronoun.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join two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Idea 1</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هَذَا هُوَ الْكِتَابُ.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Antecedent: the book (m.).</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Idea 2</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قَرَأْتُ الْكِتَابَ.</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Same book.</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Bridge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الَّذِي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Masculine singular.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Point back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الْكِتَابُ الَّذِي قَرَأْتُهُ</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-hu = the book.</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RELATIVE PRONOUN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POINTS BACK</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هُوَ الْكِتَابُ </a:t>
            </a:r>
            <a:pPr rtl="1" algn="r" indent="0" marL="0">
              <a:buNone/>
            </a:pPr>
            <a:r>
              <a:rPr lang="ar-SA" altLang="en-US" sz="2600" b="1" dirty="0">
                <a:solidFill>
                  <a:srgbClr val="0E7C86"/>
                </a:solidFill>
                <a:latin typeface="Amiri" pitchFamily="2" charset="-78"/>
                <a:ea typeface="Amiri" pitchFamily="2" charset="-78"/>
                <a:cs typeface="Amiri" pitchFamily="2" charset="-78"/>
              </a:rPr>
              <a:t>الَّذِي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قَرَأْتُهُ</a:t>
            </a:r>
            <a:pPr rtl="1" algn="r" indent="0" marL="0">
              <a:buNone/>
            </a:pPr>
            <a:r>
              <a:rPr lang="ar-SA" altLang="en-US" sz="2600" b="1" dirty="0">
                <a:solidFill>
                  <a:srgbClr val="1B3B6F"/>
                </a:solidFill>
                <a:latin typeface="Amiri" pitchFamily="2" charset="-78"/>
                <a:ea typeface="Amiri" pitchFamily="2" charset="-78"/>
                <a:cs typeface="Amiri" pitchFamily="2" charset="-78"/>
              </a:rPr>
              <a:t>، وَهَذِهِ هِيَ الْمَكْتَبَةُ </a:t>
            </a:r>
            <a:pPr rtl="1" algn="r" indent="0" marL="0">
              <a:buNone/>
            </a:pPr>
            <a:r>
              <a:rPr lang="ar-SA" altLang="en-US" sz="2600" b="1" dirty="0">
                <a:solidFill>
                  <a:srgbClr val="0E7C86"/>
                </a:solidFill>
                <a:latin typeface="Amiri" pitchFamily="2" charset="-78"/>
                <a:ea typeface="Amiri" pitchFamily="2" charset="-78"/>
                <a:cs typeface="Amiri" pitchFamily="2" charset="-78"/>
              </a:rPr>
              <a:t>الَّتِي</a:t>
            </a:r>
            <a:pPr rtl="1" algn="r" indent="0" marL="0">
              <a:buNone/>
            </a:pPr>
            <a:r>
              <a:rPr lang="ar-SA" altLang="en-US" sz="2600" b="1" dirty="0">
                <a:solidFill>
                  <a:srgbClr val="1B3B6F"/>
                </a:solidFill>
                <a:latin typeface="Amiri" pitchFamily="2" charset="-78"/>
                <a:ea typeface="Amiri" pitchFamily="2" charset="-78"/>
                <a:cs typeface="Amiri" pitchFamily="2" charset="-78"/>
              </a:rPr>
              <a:t> أَقْرَأُ </a:t>
            </a:r>
            <a:pPr rtl="1" algn="r" indent="0" marL="0">
              <a:buNone/>
            </a:pPr>
            <a:r>
              <a:rPr lang="ar-SA" altLang="en-US" sz="2600" b="1" dirty="0">
                <a:solidFill>
                  <a:srgbClr val="D6336C"/>
                </a:solidFill>
                <a:latin typeface="Amiri" pitchFamily="2" charset="-78"/>
                <a:ea typeface="Amiri" pitchFamily="2" charset="-78"/>
                <a:cs typeface="Amiri" pitchFamily="2" charset="-78"/>
              </a:rPr>
              <a:t>فِيهَا</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is the book that I read, and this is the library in which I read.</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أَعْرِفُ الْوَلَدَ الَّذِي يَسْكُنُ هُنَا.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know the boy who lives here.</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هِيَ الْمُعَلِّمَةُ الَّتِي تُدَرِّسُنَا.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the teacher who teaches us.</a:t>
            </a:r>
            <a:endParaRPr lang="en-US" sz="1250" dirty="0"/>
          </a:p>
          <a:p>
            <a:pPr indent="0" marL="0">
              <a:buNone/>
            </a:pPr>
            <a:r>
              <a:rPr lang="en-US" sz="1050" i="1" dirty="0">
                <a:solidFill>
                  <a:srgbClr val="8A6D1E"/>
                </a:solidFill>
                <a:latin typeface="Calibri" pitchFamily="34" charset="0"/>
                <a:cs typeface="Amiri" pitchFamily="2" charset="-78"/>
              </a:rPr>
              <a:t>Website: with a demonstrative.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شَكَرْنَا الطُّلَّابَ الَّذِينَ سَاعَدُونَا.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thanked the students who helped us.</a:t>
            </a:r>
            <a:endParaRPr lang="en-US" sz="1250" dirty="0"/>
          </a:p>
          <a:p>
            <a:pPr indent="0" marL="0">
              <a:buNone/>
            </a:pPr>
            <a:r>
              <a:rPr lang="en-US" sz="1050" i="1" dirty="0">
                <a:solidFill>
                  <a:srgbClr val="8A6D1E"/>
                </a:solidFill>
                <a:latin typeface="Calibri" pitchFamily="34" charset="0"/>
                <a:cs typeface="Amiri" pitchFamily="2" charset="-78"/>
              </a:rPr>
              <a:t>Plural + object ending.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الْمَشْرُوعُ الَّذِي أَعْلَنَتْهُ الْمَدْرَسَةُ مُفِيدٌ.</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project that the school announced is useful.</a:t>
            </a:r>
            <a:endParaRPr lang="en-US" sz="1250" dirty="0"/>
          </a:p>
          <a:p>
            <a:pPr indent="0" marL="0">
              <a:buNone/>
            </a:pPr>
            <a:r>
              <a:rPr lang="en-US" sz="1050" i="1" dirty="0">
                <a:solidFill>
                  <a:srgbClr val="8A6D1E"/>
                </a:solidFill>
                <a:latin typeface="Calibri" pitchFamily="34" charset="0"/>
                <a:cs typeface="Amiri" pitchFamily="2" charset="-78"/>
              </a:rPr>
              <a:t>Website: news style.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BUILD THE BRIDGE (WEBSITE GAME) · WHICH RELATIVE PRONOUN?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alladhī, allatī or alladhīna?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الْجِسْرَ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الْمُدِيرُ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الْجَامِعَةُ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الْمُهَنْدِسُونَ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الْبَابُ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السَّيَّارَاتُ</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الْأَصْدِقَاءُ</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الْفِيلْمُ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الْقِصَّةُ</a:t>
            </a:r>
            <a:endParaRPr lang="ar-SA" sz="1800" dirty="0"/>
          </a:p>
        </p:txBody>
      </p:sp>
      <p:sp>
        <p:nvSpPr>
          <p:cNvPr id="31" name="Shape 28"/>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alladhī (m. sing.)</a:t>
            </a:r>
            <a:endParaRPr lang="en-US" sz="950" dirty="0"/>
          </a:p>
        </p:txBody>
      </p:sp>
      <p:sp>
        <p:nvSpPr>
          <p:cNvPr id="34" name="Shape 31"/>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allatī (f. sing. / things)</a:t>
            </a:r>
            <a:endParaRPr lang="en-US" sz="950" dirty="0"/>
          </a:p>
        </p:txBody>
      </p:sp>
      <p:sp>
        <p:nvSpPr>
          <p:cNvPr id="37" name="Shape 34"/>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8" name="Shape 35"/>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9" name="Text 36"/>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alladhīna (people, pl.)</a:t>
            </a:r>
            <a:endParaRPr lang="en-US" sz="9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alladhī (m. sing.)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الْمُدِيرُ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الْبَابُ</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الْفِيلْمُ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allatī (f. sing. / things)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الْجَامِعَةُ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السَّيَّارَاتُ</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الْقِصَّةُ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alladhīna (people, pl.)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الْمُهَنْدِسُونَ</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الْأَصْدِقَاءُ</a:t>
            </a:r>
            <a:endParaRPr lang="ar-SA" sz="18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JOIN THE TWO IDEAS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sentences → 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اجْمَعِ الْجُمْلَتَيْنِ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65099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One sentence</a:t>
            </a:r>
            <a:endParaRPr lang="en-US" sz="1100" dirty="0"/>
          </a:p>
        </p:txBody>
      </p:sp>
      <p:sp>
        <p:nvSpPr>
          <p:cNvPr id="17" name="Text 14"/>
          <p:cNvSpPr txBox="1"/>
          <p:nvPr/>
        </p:nvSpPr>
        <p:spPr>
          <a:xfrm>
            <a:off x="53035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Two ideas</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5669280" y="2267712"/>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الطَّالِبُ الَّذِي فَازَ.</a:t>
            </a:r>
            <a:endParaRPr lang="ar-SA" sz="2200" dirty="0"/>
          </a:p>
        </p:txBody>
      </p:sp>
      <p:sp>
        <p:nvSpPr>
          <p:cNvPr id="20" name="Text 17"/>
          <p:cNvSpPr txBox="1"/>
          <p:nvPr/>
        </p:nvSpPr>
        <p:spPr>
          <a:xfrm>
            <a:off x="548640" y="2267712"/>
            <a:ext cx="49377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الطَّالِبُ. الطَّالِبُ فَازَ.</a:t>
            </a:r>
            <a:endParaRPr lang="ar-SA" sz="20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5669280" y="3054096"/>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الْمُعَلِّمَةَ الَّتِي تُسَاعِدُنَا.</a:t>
            </a:r>
            <a:endParaRPr lang="ar-SA" sz="2200" dirty="0"/>
          </a:p>
        </p:txBody>
      </p:sp>
      <p:sp>
        <p:nvSpPr>
          <p:cNvPr id="25" name="Text 22"/>
          <p:cNvSpPr txBox="1"/>
          <p:nvPr/>
        </p:nvSpPr>
        <p:spPr>
          <a:xfrm>
            <a:off x="548640" y="3054096"/>
            <a:ext cx="49377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الْمُعَلِّمَةَ. الْمُعَلِّمَةُ تُسَاعِدُنَا.</a:t>
            </a:r>
            <a:endParaRPr lang="ar-SA" sz="20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5669280" y="3840480"/>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رَأَيْتُ الطُّلَّابَ الَّذِينَ حَضَرُوا.</a:t>
            </a:r>
            <a:endParaRPr lang="ar-SA" sz="2200" dirty="0"/>
          </a:p>
        </p:txBody>
      </p:sp>
      <p:sp>
        <p:nvSpPr>
          <p:cNvPr id="30" name="Text 27"/>
          <p:cNvSpPr txBox="1"/>
          <p:nvPr/>
        </p:nvSpPr>
        <p:spPr>
          <a:xfrm>
            <a:off x="548640" y="3840480"/>
            <a:ext cx="49377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رَأَيْتُ الطُّلَّابَ. الطُّلَّابُ حَضَرُوا.</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5669280" y="4626864"/>
            <a:ext cx="597103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الْقِصَّةُ الَّتِي كَتَبْتُهَا.</a:t>
            </a:r>
            <a:endParaRPr lang="ar-SA" sz="2200" dirty="0"/>
          </a:p>
        </p:txBody>
      </p:sp>
      <p:sp>
        <p:nvSpPr>
          <p:cNvPr id="33" name="Text 30"/>
          <p:cNvSpPr txBox="1"/>
          <p:nvPr/>
        </p:nvSpPr>
        <p:spPr>
          <a:xfrm>
            <a:off x="548640" y="4626864"/>
            <a:ext cx="49377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هَذِهِ الْقِصَّةُ. كَتَبْتُ الْقِصَّةَ.</a:t>
            </a:r>
            <a:endParaRPr lang="ar-SA" sz="2000" dirty="0"/>
          </a:p>
        </p:txBody>
      </p:sp>
      <p:sp>
        <p:nvSpPr>
          <p:cNvPr id="34" name="Text 3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Replace the repeated noun with the relative pronoun; if the noun was an object, point back with an ending (-hā).</a:t>
            </a:r>
            <a:endParaRPr lang="en-US" sz="11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الطَّالِبَةُ الَّذِي فَازَتْ</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student female?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الطُّلَّابُ الَّذِي حَضَرُوا</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One or many?</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الْكِتَابُ الَّذِي قَرَأْتُ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refers back?</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الطَّالِبَةُ الَّذِي فَازَتْ</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الطَّالِبَةُ الَّتِي فَازَتْ</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antecedent is feminine singular (website).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الطُّلَّابُ الَّذِي حَضَرُوا</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الطُّلَّابُ الَّذِينَ حَضَرُوا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Masculine or mixed human plural → alladhīna (website).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الْكِتَابُ الَّذِي قَرَأْتُ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الْكِتَابُ الَّذِي قَرَأْتُهُ</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object ending refers back to the book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2F6FB0"/>
                </a:solidFill>
                <a:latin typeface="Calibri" pitchFamily="34" charset="0"/>
                <a:cs typeface="Amiri" pitchFamily="2" charset="-78"/>
              </a:rPr>
              <a:t>WE DO · GUIDED PRACTICE · TEACHER-WRITTEN PRACTICE ON THE WEBSITE CONTENT</a:t>
            </a:r>
            <a:endParaRPr lang="en-US" sz="966"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students who succeeded” (m.).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الطَّالِبَانِ الَّذِينَ نَجَحُوا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الطَّالِبَانِ الَّذِي نَجَحَ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الطَّالِبَانِ اللَّذَانِ نَجَحَا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girls who attended”.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الْبَنَاتُ الَّذِينَ حَضَرُوا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الْبَنَاتُ اللَّاتِي حَضَرْنَ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الْبَنَاتُ الَّتِي حَضَرَتْ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house in which I live”.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الَّذِي أَسْكُنُ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الَّذِي أَسْكُنُ فِيهِ</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الْبَيْتُ الَّتِي أَسْكُنُ فِيهَا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correct?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 طَالِبٌ الَّذِي فَازَ.</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 الطَّالِبُ فَازَ الَّذِي.</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 طَالِبٌ فَازَ فِي الْمُسَابَقَةِ.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students who succeeded” (m.).</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الطَّالِبَانِ الَّذِينَ نَجَحُوا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الطَّالِبَانِ الَّذِي نَجَحَ</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الطَّالِبَانِ اللَّذَانِ نَجَحَا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dual → alladhāni (website).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girls who attended”.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الْبَنَاتُ الَّذِينَ حَضَرُوا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الْبَنَاتُ اللَّاتِي حَضَرْنَ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الْبَنَاتُ الَّتِي حَضَرَتْ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human plural → allātī.</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house in which I live”.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الَّذِي أَسْكُنُ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الْبَيْتُ الَّذِي أَسْكُنُ فِيهِ</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الْبَيْتُ الَّتِي أَسْكُنُ فِيهَا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 fīhi points back.</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correct?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جَاءَ طَالِبٌ الَّذِي فَازَ.</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جَاءَ الطَّالِبُ فَازَ الَّذِي.</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جَاءَ طَالِبٌ فَازَ فِي الْمُسَابَقَةِ.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antecedent → link directly (website clinic).</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 AND NOTICE · WEBSITE READING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school stars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200" dirty="0">
                <a:solidFill>
                  <a:srgbClr val="1F2A37"/>
                </a:solidFill>
                <a:latin typeface="Amiri" pitchFamily="2" charset="-78"/>
                <a:ea typeface="Amiri" pitchFamily="2" charset="-78"/>
                <a:cs typeface="Amiri" pitchFamily="2" charset="-78"/>
              </a:rPr>
              <a:t>فِي مَدْرَسَتِنَا طُلَّابٌ كَثِيرُونَ. الطَّالِبُ الَّذِي فَازَ فِي الْمُسَابَقَةِ اسْمُهُ سَامِرٌ. وَالطَّالِبَةُ الَّتِي كَتَبَتِ الْقِصَّةَ اسْمُهَا لَيْلَى. هَؤُلَاءِ هُمُ الطُّلَّابُ الَّذِينَ يُسَاعِدُونَ زُمَلَاءَهُمْ، وَتِلْكَ هِيَ الْمُعَلِّمَةُ الَّتِي تُشَجِّعُهُمْ دَائِمًا. أُحِبُّ الْمَكْتَبَةَ الَّتِي أَقْرَأُ فِيهَا، وَهَذَا هُوَ الْكِتَابُ الَّذِي قَرَأْتُهُ فِي الْأُسْبُوعِ الْمَاضِي.</a:t>
            </a:r>
            <a:endParaRPr lang="ar-SA" sz="22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الْمُسَابَقَةِ</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competition</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زُمَلَاءَهُمْ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their classmates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تُشَجِّعُهُمْ</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encourages them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دَائِمًا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always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فِيهَا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 it</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won the competition?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Layla do?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won the competition.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helps the students.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wrote the story.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الَّذِينَ</a:t>
            </a:r>
            <a:pPr algn="l" indent="0" marL="0">
              <a:buNone/>
            </a:pPr>
            <a:r>
              <a:rPr lang="en-US" sz="1250" b="1" dirty="0">
                <a:solidFill>
                  <a:srgbClr val="1B3B6F"/>
                </a:solidFill>
                <a:latin typeface="Calibri" pitchFamily="34" charset="0"/>
                <a:cs typeface="Amiri" pitchFamily="2" charset="-78"/>
              </a:rPr>
              <a:t> before “help their classmates”?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students are a group of people.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things.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dual.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فِيهَا</a:t>
            </a:r>
            <a:pPr algn="l" indent="0" marL="0">
              <a:buNone/>
            </a:pPr>
            <a:r>
              <a:rPr lang="en-US" sz="1250" b="1" dirty="0">
                <a:solidFill>
                  <a:srgbClr val="1B3B6F"/>
                </a:solidFill>
                <a:latin typeface="Calibri" pitchFamily="34" charset="0"/>
                <a:cs typeface="Amiri" pitchFamily="2" charset="-78"/>
              </a:rPr>
              <a:t> refer back to?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story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library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won the competition?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Samer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الطَّالِبُ الَّذِي فَازَ … سَامِرٌ.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Layla do?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won the competition.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helps the students.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wrote the story.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الَّتِي كَتَبَتِ الْقِصَّةَ.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الَّذِينَ</a:t>
            </a:r>
            <a:pPr algn="l" indent="0" marL="0">
              <a:buNone/>
            </a:pPr>
            <a:r>
              <a:rPr lang="en-US" sz="1250" b="1" dirty="0">
                <a:solidFill>
                  <a:srgbClr val="1B3B6F"/>
                </a:solidFill>
                <a:latin typeface="Calibri" pitchFamily="34" charset="0"/>
                <a:cs typeface="Amiri" pitchFamily="2" charset="-78"/>
              </a:rPr>
              <a:t> before “help their classmates”?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students are a group of people.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things.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dual.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Human plural.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فِيهَا</a:t>
            </a:r>
            <a:pPr algn="l" indent="0" marL="0">
              <a:buNone/>
            </a:pPr>
            <a:r>
              <a:rPr lang="en-US" sz="1250" b="1" dirty="0">
                <a:solidFill>
                  <a:srgbClr val="1B3B6F"/>
                </a:solidFill>
                <a:latin typeface="Calibri" pitchFamily="34" charset="0"/>
                <a:cs typeface="Amiri" pitchFamily="2" charset="-78"/>
              </a:rPr>
              <a:t> refer back to?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story</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library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Resumptive pronoun.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Speaking: describe people and places precisely</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صَدِيقُكَ؟ صِفْهُ بِـ «الَّذِي».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مُعَلِّمَةً وَمَكَانًا تُحِبُّهُمَا.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كِتَابًا أَوْ فِيلْمًا أَعْجَبَكَ: الْكِتَابُ الَّذِي قَرَأْتُهُ …</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صَدِيقِي هُوَ الشَّخْصُ الَّذِي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مُعَلِّمَتِي هِيَ الَّتِي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مَدْرَسَتِي هِيَ الْمَكَانُ الَّذِي ___ فِيهِ.</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مَنْ هُوَ صَدِيقُكَ الْمُفَضَّلُ؟</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is your best friend?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صَدِيقِي هُوَ الشَّخْصُ الَّذِي يُسَاعِدُنِي دَائِمًا، وَأُمُّهُ هِيَ الَّتِي تَطْبُخُ لَنَا الْكَعْكَ!</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friend is the person who always helps me, and his mother is the one who bakes us cakes!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sentences with alladhī or allatī.</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Definite noun + relative pronoun + clause.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plural forms and check verb agreement.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alladhīna + -ūna; allātī + -na.</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with resumptive pronouns.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book that I read it · the school in which I study.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الطُّلَّابُ الَّذِينَ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who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الْكِتَابُ الَّذِي قَرَأْتُهُ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 that I read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الْمَدْرَسَةُ الَّتِي أَدْرُسُ فِيهَا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school in which I study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الْبَنَاتُ اللَّاتِي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girls who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هُوَ الشَّخْصُ الَّذِي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is the person who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هِيَ الَّتِي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the one who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الْمُعَلِّمَ الَّذِي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the teacher who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هِيَ الْمَدِينَةُ الَّتِي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the city that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الَّذِي  ·  الَّتِي  ·  الَّذِينَ  ·  اللَّاتِي  ·  اللَّذَانِ  ·  اللَّتَانِ  ·  يُسَاعِدُنِي  ·  فَازَ  ·  كَتَبَتْ  ·  قَرَأْتُهُ  ·  فِيهَا  ·  فِيهِ</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writing task: a connected description (8–10 sentences) with at least six relative pronouns.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alladhī and one allatī.</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plural relative pronoun (alladhīna or allātī).</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resumptive pronoun (an ending that points back).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indefinite noun linked without a relative pronoun.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Varied sentence patterns — not the same short sentence repeated.</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الشَّخْصُ الَّذِي أُعْجِبُ بِهِ</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person I admire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الْكِتَابُ الَّذِي قَرَأْتُهُ</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book that I read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الْمَدِينَةُ الَّتِي وُلِدْتُ فِيهَا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city in which I was born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الْأَصْدِقَاءُ الَّذِينَ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friends who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الْمُعَلِّمَاتُ اللَّاتِي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teachers (f.) who …</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الَّذِي …</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 the one who …</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الشَّخْصُ الَّذِي أُعْجِبُ بِهِ كَثِيرًا هُوَ جَدِّي. جَدِّي هُوَ الَّذِي عَلَّمَنِي الْقُرْآنَ، وَجَدَّتِي هِيَ الَّتِي تَحْكِي لَنَا الْقِصَصَ. أُحِبُّ الْبَيْتَ الَّذِي يَسْكُنَانِ فِيهِ، لِأَنَّ فِيهِ حَدِيقَةً كَبِيرَةً. أَبْنَاءُ عَمِّي الَّذِينَ يَزُورُونَهُمَا كُلَّ أُسْبُوعٍ أَصْدِقَائِي. وَالْكِتَابُ الَّذِي أَهْدَانِي جَدِّي هُوَ أَغْلَى كِتَابٍ عِنْدِي.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person I admire most is my grandfather. My grandfather is the one who taught me the Qur’an, and my grandmother is the one who tells us stories. I love the house in which they live, because it has a big garden. My cousins, who visit them every week, are my friends. And the book that my grandfather gave me is the most precious book I have.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alladhī</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allatī</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alladhīna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points back</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relative pronoun agrees with its antecedent.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relative pronouns after definite nouns.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inside each clause agrees.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plural relative pronoun.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resumptive pronoun where needed.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man who came”.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الرَّجُلُ الَّذِي جَاءَ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الرَّجُلُ الَّتِي جَاءَ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الرَّجُلُ الَّذِينَ جَاءُوا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mothers who cooked”.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الْأُمَّهَاتُ الَّذِينَ طَبَخُوا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الْأُمَّهَاتُ اللَّاتِي طَبَخْنَ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الْأُمَّهَاتُ الَّذِي طَبَخَ</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film that I watched”.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الْفِيلْمُ الَّذِي شَاهَدْتُهُ</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الْفِيلْمُ الَّذِي شَاهَدْتُ هُوَ</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الْفِيلْمُ الَّتِي شَاهَدْتُهَا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man who came”.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الرَّجُلُ الَّذِي جَاءَ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الرَّجُلُ الَّتِي جَاءَ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الرَّجُلُ الَّذِينَ جَاءُوا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singular → alladhī.</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mothers who cooked”.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الْأُمَّهَاتُ الَّذِينَ طَبَخُوا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الْأُمَّهَاتُ اللَّاتِي طَبَخْنَ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الْأُمَّهَاتُ الَّذِي طَبَخَ</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human plural → allātī.</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film that I watched”.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الْفِيلْمُ الَّذِي شَاهَدْتُهُ</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الْفِيلْمُ الَّذِي شَاهَدْتُ هُوَ</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الْفِيلْمُ الَّتِي شَاهَدْتُهَا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 -hu points back.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GM-PRO-05 · Pronouns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GM-PRO-06: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Pronouns · GM-PRO-05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GM-PRO-06 · Pronouns with li and bi</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me, I have</a:t>
            </a:r>
            <a:pPr indent="0" marL="0">
              <a:buNone/>
            </a:pPr>
            <a:r>
              <a:rPr lang="en-US" sz="1000" i="1" dirty="0">
                <a:solidFill>
                  <a:srgbClr val="5A6472"/>
                </a:solidFill>
                <a:latin typeface="Calibri" pitchFamily="34" charset="0"/>
                <a:cs typeface="Amiri" pitchFamily="2" charset="-78"/>
              </a:rPr>
              <a:t>  li + -ī</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 · لَكِ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you (m. · 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لَهُ · لَهَا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 him · her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بِهِ</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 it / him</a:t>
            </a:r>
            <a:pPr indent="0" marL="0">
              <a:buNone/>
            </a:pPr>
            <a:r>
              <a:rPr lang="en-US" sz="1000" i="1" dirty="0">
                <a:solidFill>
                  <a:srgbClr val="5A6472"/>
                </a:solidFill>
                <a:latin typeface="Calibri" pitchFamily="34" charset="0"/>
                <a:cs typeface="Amiri" pitchFamily="2" charset="-78"/>
              </a:rPr>
              <a:t>  bi + -hi</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with me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You know li- (for) and bi- (with). What happens when an ending like -ī or -hu is added to them?</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لِي · لَكَ · لَكِ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with alladhī and allatī.</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Join ten pairs of sentences with relative pronouns.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person you admire.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GM-PRO-05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GM-PRO-06 · Pronouns with li and bi</a:t>
            </a:r>
            <a:endParaRPr lang="en-US" sz="2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الضَّمَائِرُ مَعَ اللَّامِ وَالْبَاءِ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antecedent → matching relative pronoun → agreeing verb · alladhī / allatī / alladhīna / allātī · plural things → allatī · point back with an ending · indefinite noun → no relative pronoun.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GM-PRO-05 · Relative Pronouns</dc:title>
  <dc:subject>PptxGenJS Presentation</dc:subject>
  <dc:creator>Al Madina Online School · Arabic Department</dc:creator>
  <cp:lastModifiedBy>Al Madina Online School · Arabic Department</cp:lastModifiedBy>
  <cp:revision>1</cp:revision>
  <dcterms:created xsi:type="dcterms:W3CDTF">2026-10-11T06:42:29Z</dcterms:created>
  <dcterms:modified xsi:type="dcterms:W3CDTF">2026-10-11T06:42:29Z</dcterms:modified>
</cp:coreProperties>
</file>