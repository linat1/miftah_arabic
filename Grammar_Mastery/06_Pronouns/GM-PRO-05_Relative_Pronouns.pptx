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GM-PRO-05 (“الأَسْمَاءُ الْمَوْصُولَةُ”).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الَّذِي and الَّتِي after a definite noun; joining two short ideas (أَعْرِفُ الْوَلَدَ الَّذِي يَسْكُنُ هُنَا). Develop: plural forms الَّذِينَ · اللَّاتِي; verb agreement inside the clause; tracking relative pronouns in reading. Stretch: the dual (اللَّذَانِ / اللَّذَيْنِ · اللَّتَانِ / اللَّتَيْنِ); resumptive pronouns (قَرَأْتُهُ · فِيهَا); no relative pronoun after an indefinite noun (جَاءَ طَالِبٌ فَازَ).
• This lesson pulls together Lessons 1–4: subject pronouns, possessive and object endings, and demonstratives all appear inside relative clauses.
• Non-human plural trap (website game): things in the plural take الَّتِي — الْكُتُبُ الَّتِي قَرَأْتُهَا.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GM-PRO-02, 03 and 04 (all reappear inside relative clauses).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Join two ideas with who / which / that. The relative pronoun agrees with the noun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relative-pronoun family”. Core: rows 1–3. The non-human plural uses allatī (website game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three-part structure” and “agreement”. Underline the antecedent, circle the relative pronoun, box the clause (website mastery routine).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“Definite nouns normally take a relative pronoun”, “The resumptive pronoun” and the link to Lesson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parts.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resumptive-pronoun examples. Cross out the repeated noun in idea 2 and replace it with the bridge + the pointing-back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“The Connector”. Students type 1–3. Trap: cars are a non-human plural → allatī.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“The Connector”. Students type 1–3. Trap: cars are a non-human plural → allatī.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the right column; students join the ideas aloud. Row 4 is Stretch (resumptive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content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underline each antecedent, circle each relative pronoun and find the extra information.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(spelling normalised);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supported speaking. Sequence: ● 10s think → ↔ 45s rehearse aloud with mic muted → ◎ two named students on open mic (warned in advance) → + ? the class types one follow-up in chat → ↺ one student summarises.
Routes: Core uses the Core prompt and stem; Develop the Develop prompt; Stretch the last prompt.
Website stems. Final performance: one masculine, one feminine and one plural relative pronoun, one resumptive pronoun, and one link to a demonstrative or possessive.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8–10 sentences about your school, family, a person you admire or a book you enjoyed, with at least six relative pronouns.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(GM-PRO-06 · Pronouns with li and bi) will spend class time USING this language, so students prepare it tonight — short, simple, easy to access (school guidance: “Simple, Short, Interesting, Relevant, Easy to access”). The five words prepare GM-PRO-06 (website Pronouns lesson 6: pronouns with li and bi).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PRONOUNS  ·  GM-PRO-05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GM-PRO-05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Relative Pronouns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الْأَسْمَاءُ الْمَوْصُولَةُ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Join two ideas with “who / which / that”: alladhī for a masculine noun, allatī for a feminine one, alladhīna for a group of men. Use them after a DEFINITE noun — and point back to the noun with a pronoun when needed: the book that I read 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GM-PRO-05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The family; three-part structure; agreement; definite vs indefinite; resumptive pronoun.</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the bridge; join sentences;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GM-PRO-06.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كِتَابٌ.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كِتَابٌ.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read it” (the book).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قَرَأْتُهَا.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كِتَابُهُ</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female students”.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الطَّالِبَتَانِ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Two ideas: “I know the boy. The boy lives here.” What word would join them in English?</a:t>
            </a:r>
            <a:endParaRPr lang="en-US" sz="110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كِتَابٌ.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كِتَابٌ.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Retrieval from GM-PRO-04.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read it” (the book).</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قَرَأْتُهُ.</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قَرَأْتُهَا.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Book is masculine → -hu (GM-PRO-03).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book”.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كِتَابُهَا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كِتَابُهُ</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 = his (GM-PRO-02).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female students”.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الطُّلَّابُ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الطَّالِبَتَانِ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الطَّالِبَاتُ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plural -āt.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Two ideas: “I know the boy. The boy lives here.” What word would join them in English?</a:t>
            </a:r>
            <a:endParaRPr lang="en-US" sz="110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who</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relative pronoun: who.</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Join two ideas with who / which / that. The relative pronoun agrees with the noun before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الْوَلَدُ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الَّذِي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يَسْكُنُ هُنَا ‖ الْبِنْتُ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الَّتِي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تَسْكُنُ هُنَا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Join two ideas with a relative pronoun.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relative pronoun that agrees with the antecedent.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the verb inside the clause agree.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resumptive pronoun and know when no relative pronoun is needed.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alladhī and allatī after a definite noun.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join two short sentences.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alladhīna and allātī for groups of people.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make the verb in the clause agree.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the book that I read it (qaraʾtuhu).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link an indefinite noun directly, with no alladhī.</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 الْمَوْصُولُ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relative pronoun</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al-ِs-mu al-maw-ṣū-lu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الَّذِي · الَّتِي</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الَّذِي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 / which (m. sing.)</a:t>
            </a:r>
            <a:endParaRPr lang="en-US" sz="1350" dirty="0"/>
          </a:p>
          <a:p>
            <a:pPr indent="0" marL="0">
              <a:buNone/>
            </a:pPr>
            <a:r>
              <a:rPr lang="en-US" sz="1100" i="1" dirty="0">
                <a:solidFill>
                  <a:srgbClr val="5A6472"/>
                </a:solidFill>
                <a:latin typeface="Calibri" pitchFamily="34" charset="0"/>
                <a:cs typeface="Amiri" pitchFamily="2" charset="-78"/>
              </a:rPr>
              <a:t>alladhī</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الطَّالِبُ الَّذِي فَازَ</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 / which (f. sing. &amp; things)</a:t>
            </a:r>
            <a:endParaRPr lang="en-US" sz="1350" dirty="0"/>
          </a:p>
          <a:p>
            <a:pPr indent="0" marL="0">
              <a:buNone/>
            </a:pPr>
            <a:r>
              <a:rPr lang="en-US" sz="1100" i="1" dirty="0">
                <a:solidFill>
                  <a:srgbClr val="5A6472"/>
                </a:solidFill>
                <a:latin typeface="Calibri" pitchFamily="34" charset="0"/>
                <a:cs typeface="Amiri" pitchFamily="2" charset="-78"/>
              </a:rPr>
              <a:t>allatī</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الطَّالِبَةُ الَّتِي فَازَتْ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الَّذِينَ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 (m. / mixed people)</a:t>
            </a:r>
            <a:endParaRPr lang="en-US" sz="1350" dirty="0"/>
          </a:p>
          <a:p>
            <a:pPr indent="0" marL="0">
              <a:buNone/>
            </a:pPr>
            <a:r>
              <a:rPr lang="en-US" sz="1100" i="1" dirty="0">
                <a:solidFill>
                  <a:srgbClr val="5A6472"/>
                </a:solidFill>
                <a:latin typeface="Calibri" pitchFamily="34" charset="0"/>
                <a:cs typeface="Amiri" pitchFamily="2" charset="-78"/>
              </a:rPr>
              <a:t>alladhīna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الطُّلَّابُ الَّذِينَ حَضَرُوا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جُمْلَةُ الصِّلَةِ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relative clause</a:t>
            </a:r>
            <a:endParaRPr lang="en-US" sz="1350" dirty="0"/>
          </a:p>
          <a:p>
            <a:pPr indent="0" marL="0">
              <a:buNone/>
            </a:pPr>
            <a:r>
              <a:rPr lang="en-US" sz="1100" i="1" dirty="0">
                <a:solidFill>
                  <a:srgbClr val="5A6472"/>
                </a:solidFill>
                <a:latin typeface="Calibri" pitchFamily="34" charset="0"/>
                <a:cs typeface="Amiri" pitchFamily="2" charset="-78"/>
              </a:rPr>
              <a:t>jum-la-tu aṣ-ṣi-la-ti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extra information</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الضَّمِيرُ الْعَائِدُ</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resumptive pronoun (refers back)</a:t>
            </a:r>
            <a:endParaRPr lang="en-US" sz="1350" dirty="0"/>
          </a:p>
          <a:p>
            <a:pPr indent="0" marL="0">
              <a:buNone/>
            </a:pPr>
            <a:r>
              <a:rPr lang="en-US" sz="1100" i="1" dirty="0">
                <a:solidFill>
                  <a:srgbClr val="5A6472"/>
                </a:solidFill>
                <a:latin typeface="Calibri" pitchFamily="34" charset="0"/>
                <a:cs typeface="Amiri" pitchFamily="2" charset="-78"/>
              </a:rPr>
              <a:t>aḍ-ḍa-mī-ru al-ʿā-ʾi-du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قَرَأْتُهُ</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RELATIVE-PRONOUN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which, that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الْأَسْمَاءُ الْمَوْصُولَةُ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38221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Used with</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217920" y="2267712"/>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 الَّذِي فَازَ</a:t>
            </a:r>
            <a:endParaRPr lang="ar-SA" sz="2200" dirty="0"/>
          </a:p>
        </p:txBody>
      </p:sp>
      <p:sp>
        <p:nvSpPr>
          <p:cNvPr id="21" name="Text 18"/>
          <p:cNvSpPr txBox="1"/>
          <p:nvPr/>
        </p:nvSpPr>
        <p:spPr>
          <a:xfrm>
            <a:off x="384048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الَّذِي</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singular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217920" y="2881884"/>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الطَّالِبَةُ الَّتِي فَازَتْ</a:t>
            </a:r>
            <a:endParaRPr lang="ar-SA" sz="2200" dirty="0"/>
          </a:p>
        </p:txBody>
      </p:sp>
      <p:sp>
        <p:nvSpPr>
          <p:cNvPr id="27" name="Text 24"/>
          <p:cNvSpPr txBox="1"/>
          <p:nvPr/>
        </p:nvSpPr>
        <p:spPr>
          <a:xfrm>
            <a:off x="384048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الَّتِي</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 (and plural things)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217920" y="3496056"/>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الطُّلَّابُ الَّذِينَ حَضَرُوا</a:t>
            </a:r>
            <a:endParaRPr lang="ar-SA" sz="2200" dirty="0"/>
          </a:p>
        </p:txBody>
      </p:sp>
      <p:sp>
        <p:nvSpPr>
          <p:cNvPr id="33" name="Text 30"/>
          <p:cNvSpPr txBox="1"/>
          <p:nvPr/>
        </p:nvSpPr>
        <p:spPr>
          <a:xfrm>
            <a:off x="384048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الَّذِينَ</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or mixed human plural</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217920" y="4110228"/>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الطَّالِبَاتُ اللَّاتِي حَضَرْنَ</a:t>
            </a:r>
            <a:endParaRPr lang="ar-SA" sz="2200" dirty="0"/>
          </a:p>
        </p:txBody>
      </p:sp>
      <p:sp>
        <p:nvSpPr>
          <p:cNvPr id="39" name="Text 36"/>
          <p:cNvSpPr txBox="1"/>
          <p:nvPr/>
        </p:nvSpPr>
        <p:spPr>
          <a:xfrm>
            <a:off x="384048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اللَّاتِي</a:t>
            </a:r>
            <a:endParaRPr lang="ar-SA" sz="24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human plural</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217920" y="4724400"/>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الطَّالِبَانِ اللَّذَانِ نَجَحَا</a:t>
            </a:r>
            <a:endParaRPr lang="ar-SA" sz="2200" dirty="0"/>
          </a:p>
        </p:txBody>
      </p:sp>
      <p:sp>
        <p:nvSpPr>
          <p:cNvPr id="43" name="Text 40"/>
          <p:cNvSpPr txBox="1"/>
          <p:nvPr/>
        </p:nvSpPr>
        <p:spPr>
          <a:xfrm>
            <a:off x="384048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اللَّذَانِ</a:t>
            </a:r>
            <a:endParaRPr lang="ar-SA" sz="2400" dirty="0"/>
          </a:p>
        </p:txBody>
      </p:sp>
      <p:sp>
        <p:nvSpPr>
          <p:cNvPr id="44" name="Text 41"/>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dual (subject)</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217920" y="5338572"/>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الطَّالِبَتَانِ اللَّتَانِ نَجَحَتَا</a:t>
            </a:r>
            <a:endParaRPr lang="ar-SA" sz="2200" dirty="0"/>
          </a:p>
        </p:txBody>
      </p:sp>
      <p:sp>
        <p:nvSpPr>
          <p:cNvPr id="47" name="Text 44"/>
          <p:cNvSpPr txBox="1"/>
          <p:nvPr/>
        </p:nvSpPr>
        <p:spPr>
          <a:xfrm>
            <a:off x="384048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اللَّتَانِ</a:t>
            </a:r>
            <a:endParaRPr lang="ar-SA" sz="24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dual (subject)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house form: allātī for the feminine plural; allāʾī is also correct. Dual forms become alladhayni / allatayni as object or after a preposition (Stretch).</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THREE-PART STRUCTURE AND AGREEMENT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Noun + who + extra information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الْمَوْصُوفُ · الْمَوْصُولُ · الصِّلَةُ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noun being described is the ANTECEDENT; the words after the relative pronoun are the RELATIVE CLAUSE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Step 1: check the antecedent — masculine or feminine? one, two or a group? person or thing?</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Step 2: choose the relative pronoun that matches it.</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Step 3: make the verb inside the clause agree with its subject (website: agreement is cumulative).</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Do not repeat the noun — the relative pronoun replaces it.</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أَعْرِفُ الْوَلَدَ الَّذِي يَسْكُنُ هُنَا.</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know the boy who lives here.  ·  website · joining two ideas</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الطَّالِبُ الَّذِي يَدْرُسُ كَثِيرًا مُجْتَهِدٌ.</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student who studies a lot is hardworking.  ·  website · three parts</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الطَّالِبَةُ الَّتِي تَكْتُبُ</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student (f.) who writes  ·  website</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الطَّالِبَاتُ اللَّاتِي يَكْتُبْنَ</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students (f.) who write  ·  website</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DEFINITE VS INDEFINITE · THE RESUMPTIVE PRONOUN (WEBSITE)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to use it — and pointing back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التَّعْرِيفُ وَالضَّمِيرُ الْعَائِدُ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63931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Point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who won came.</a:t>
            </a:r>
            <a:endParaRPr lang="en-US" sz="1100" dirty="0"/>
          </a:p>
        </p:txBody>
      </p:sp>
      <p:sp>
        <p:nvSpPr>
          <p:cNvPr id="21" name="Text 18"/>
          <p:cNvSpPr txBox="1"/>
          <p:nvPr/>
        </p:nvSpPr>
        <p:spPr>
          <a:xfrm>
            <a:off x="3657600"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جَاءَ الطَّالِبُ الَّذِي فَازَ.</a:t>
            </a:r>
            <a:endParaRPr lang="ar-SA" sz="22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noun → relative pronoun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student who won the competition came.</a:t>
            </a:r>
            <a:endParaRPr lang="en-US" sz="1100" dirty="0"/>
          </a:p>
        </p:txBody>
      </p:sp>
      <p:sp>
        <p:nvSpPr>
          <p:cNvPr id="27" name="Text 24"/>
          <p:cNvSpPr txBox="1"/>
          <p:nvPr/>
        </p:nvSpPr>
        <p:spPr>
          <a:xfrm>
            <a:off x="3657600"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جَاءَ طَالِبٌ فَازَ فِي الْمُسَابَقَةِ.</a:t>
            </a:r>
            <a:endParaRPr lang="ar-SA" sz="22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noun → linked directly</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the book that I read.</a:t>
            </a:r>
            <a:endParaRPr lang="en-US" sz="1100" dirty="0"/>
          </a:p>
        </p:txBody>
      </p:sp>
      <p:sp>
        <p:nvSpPr>
          <p:cNvPr id="31" name="Text 28"/>
          <p:cNvSpPr txBox="1"/>
          <p:nvPr/>
        </p:nvSpPr>
        <p:spPr>
          <a:xfrm>
            <a:off x="3657600"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هُوَ الْكِتَابُ الَّذِي قَرَأْتُهُ.</a:t>
            </a:r>
            <a:endParaRPr lang="ar-SA" sz="2200" dirty="0"/>
          </a:p>
        </p:txBody>
      </p:sp>
      <p:sp>
        <p:nvSpPr>
          <p:cNvPr id="32" name="Text 29"/>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refers back as an object</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the school in which I study.</a:t>
            </a:r>
            <a:endParaRPr lang="en-US" sz="1100" dirty="0"/>
          </a:p>
        </p:txBody>
      </p:sp>
      <p:sp>
        <p:nvSpPr>
          <p:cNvPr id="35" name="Text 32"/>
          <p:cNvSpPr txBox="1"/>
          <p:nvPr/>
        </p:nvSpPr>
        <p:spPr>
          <a:xfrm>
            <a:off x="3657600"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هِيَ الْمَدْرَسَةُ الَّتِي أَدْرُسُ فِيهَا.</a:t>
            </a:r>
            <a:endParaRPr lang="ar-SA" sz="2200" dirty="0"/>
          </a:p>
        </p:txBody>
      </p:sp>
      <p:sp>
        <p:nvSpPr>
          <p:cNvPr id="36" name="Text 33"/>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refers back after a preposition</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whose book is new</a:t>
            </a:r>
            <a:endParaRPr lang="en-US" sz="1100" dirty="0"/>
          </a:p>
        </p:txBody>
      </p:sp>
      <p:sp>
        <p:nvSpPr>
          <p:cNvPr id="39" name="Text 36"/>
          <p:cNvSpPr txBox="1"/>
          <p:nvPr/>
        </p:nvSpPr>
        <p:spPr>
          <a:xfrm>
            <a:off x="3657600"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الطَّالِبُ الَّذِي كِتَابُهُ جَدِيدٌ</a:t>
            </a:r>
            <a:endParaRPr lang="ar-SA" sz="2200" dirty="0"/>
          </a:p>
        </p:txBody>
      </p:sp>
      <p:sp>
        <p:nvSpPr>
          <p:cNvPr id="40" name="Text 37"/>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possessive inside the clause</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in qaraʾtuhu, -hu refers back to the book; in fīhā, -hā refers back to the school. English “who / which / that” works after any noun — Arabic does not.</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teacher (f.) who helped 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الْمُعَلِّمَةُ الَّذِي سَاعَدَتْنِي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الْمُعَلِّمَةُ الَّذِينَ سَاعَدُونِي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الْمُعَلِّمَةُ الَّتِي سَاعَدَتْنِي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players who won”.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اللَّاعِبُونَ الَّذِينَ فَازُوا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اللَّاعِبُونَ الَّذِي فَازُوا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اللَّاعِبُونَ الَّتِي فَازُوا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that I bought”.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الَّذِينَ اشْتَرَيْتُهُمْ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الَّتِي اشْتَرَيْتُهَا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الَّذِي اشْتَرَيْتُهُ</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girl who speaks Arabic came.”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جَاءَتْ بِنْتٌ تَتَكَلَّمُ الْعَرَبِيَّةَ.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جَاءَتْ بِنْتٌ الَّتِي تَتَكَلَّمُ الْعَرَبِيَّةَ.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جَاءَتْ الْبِنْتُ الَّذِي تَتَكَلَّمُ الْعَرَبِيَّةَ.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teacher (f.) who helped 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الْمُعَلِّمَةُ الَّذِي سَاعَدَتْنِي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الْمُعَلِّمَةُ الَّذِينَ سَاعَدُونِي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الْمُعَلِّمَةُ الَّتِي سَاعَدَتْنِي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 → allatī.</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players who won”.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اللَّاعِبُونَ الَّذِينَ فَازُوا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اللَّاعِبُونَ الَّذِي فَازُوا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اللَّاعِبُونَ الَّتِي فَازُوا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human plural → alladhīna.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that I bought”.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الْكُتُبُ الَّذِينَ اشْتَرَيْتُهُمْ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الْكُتُبُ الَّتِي اشْتَرَيْتُهَا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الْكُتُبُ الَّذِي اشْتَرَيْتُهُ</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allatī + -hā.</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girl who speaks Arabic came.”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جَاءَتْ بِنْتٌ تَتَكَلَّمُ الْعَرَبِيَّةَ.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جَاءَتْ بِنْتٌ الَّتِي تَتَكَلَّمُ الْعَرَبِيَّةَ.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جَاءَتْ الْبِنْتُ الَّذِي تَتَكَلَّمُ الْعَرَبِيَّةَ.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noun → no relative pronoun.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join two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Idea 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هَذَا هُوَ الْكِتَابُ.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Antecedent: the book (m.).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Idea 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قَرَأْتُ الْكِتَابَ.</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Same book.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Bridge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الَّذِي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Masculine singular.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Point back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الْكِتَابُ الَّذِي قَرَأْتُهُ</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-hu = the book.</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RELATIVE PRONOUN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POINTS BACK</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هُوَ الْكِتَابُ </a:t>
            </a:r>
            <a:pPr rtl="1" algn="r" indent="0" marL="0">
              <a:buNone/>
            </a:pPr>
            <a:r>
              <a:rPr lang="ar-SA" altLang="en-US" sz="2600" b="1" dirty="0">
                <a:solidFill>
                  <a:srgbClr val="0E7C86"/>
                </a:solidFill>
                <a:latin typeface="Amiri" pitchFamily="2" charset="-78"/>
                <a:ea typeface="Amiri" pitchFamily="2" charset="-78"/>
                <a:cs typeface="Amiri" pitchFamily="2" charset="-78"/>
              </a:rPr>
              <a:t>الَّذِي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قَرَأْتُهُ</a:t>
            </a:r>
            <a:pPr rtl="1" algn="r" indent="0" marL="0">
              <a:buNone/>
            </a:pPr>
            <a:r>
              <a:rPr lang="ar-SA" altLang="en-US" sz="2600" b="1" dirty="0">
                <a:solidFill>
                  <a:srgbClr val="1B3B6F"/>
                </a:solidFill>
                <a:latin typeface="Amiri" pitchFamily="2" charset="-78"/>
                <a:ea typeface="Amiri" pitchFamily="2" charset="-78"/>
                <a:cs typeface="Amiri" pitchFamily="2" charset="-78"/>
              </a:rPr>
              <a:t>، وَهَذِهِ هِيَ الْمَكْتَبَةُ </a:t>
            </a:r>
            <a:pPr rtl="1" algn="r" indent="0" marL="0">
              <a:buNone/>
            </a:pPr>
            <a:r>
              <a:rPr lang="ar-SA" altLang="en-US" sz="2600" b="1" dirty="0">
                <a:solidFill>
                  <a:srgbClr val="0E7C86"/>
                </a:solidFill>
                <a:latin typeface="Amiri" pitchFamily="2" charset="-78"/>
                <a:ea typeface="Amiri" pitchFamily="2" charset="-78"/>
                <a:cs typeface="Amiri" pitchFamily="2" charset="-78"/>
              </a:rPr>
              <a:t>الَّتِي</a:t>
            </a:r>
            <a:pPr rtl="1" algn="r" indent="0" marL="0">
              <a:buNone/>
            </a:pPr>
            <a:r>
              <a:rPr lang="ar-SA" altLang="en-US" sz="2600" b="1" dirty="0">
                <a:solidFill>
                  <a:srgbClr val="1B3B6F"/>
                </a:solidFill>
                <a:latin typeface="Amiri" pitchFamily="2" charset="-78"/>
                <a:ea typeface="Amiri" pitchFamily="2" charset="-78"/>
                <a:cs typeface="Amiri" pitchFamily="2" charset="-78"/>
              </a:rPr>
              <a:t> أَقْرَأُ </a:t>
            </a:r>
            <a:pPr rtl="1" algn="r" indent="0" marL="0">
              <a:buNone/>
            </a:pPr>
            <a:r>
              <a:rPr lang="ar-SA" altLang="en-US" sz="2600" b="1" dirty="0">
                <a:solidFill>
                  <a:srgbClr val="D6336C"/>
                </a:solidFill>
                <a:latin typeface="Amiri" pitchFamily="2" charset="-78"/>
                <a:ea typeface="Amiri" pitchFamily="2" charset="-78"/>
                <a:cs typeface="Amiri" pitchFamily="2" charset="-78"/>
              </a:rPr>
              <a:t>فِيهَا</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This is the book that I read, and this is the library in which I read.</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أَعْرِفُ الْوَلَدَ الَّذِي يَسْكُنُ هُنَا.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know the boy who lives here.</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هِيَ الْمُعَلِّمَةُ الَّتِي تُدَرِّسُنَا.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the teacher who teaches us.</a:t>
            </a:r>
            <a:endParaRPr lang="en-US" sz="1250" dirty="0"/>
          </a:p>
          <a:p>
            <a:pPr indent="0" marL="0">
              <a:buNone/>
            </a:pPr>
            <a:r>
              <a:rPr lang="en-US" sz="1050" i="1" dirty="0">
                <a:solidFill>
                  <a:srgbClr val="8A6D1E"/>
                </a:solidFill>
                <a:latin typeface="Calibri" pitchFamily="34" charset="0"/>
                <a:cs typeface="Amiri" pitchFamily="2" charset="-78"/>
              </a:rPr>
              <a:t>Website: with a demonstrative.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شَكَرْنَا الطُّلَّابَ الَّذِينَ سَاعَدُونَا.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thanked the students who helped us.</a:t>
            </a:r>
            <a:endParaRPr lang="en-US" sz="1250" dirty="0"/>
          </a:p>
          <a:p>
            <a:pPr indent="0" marL="0">
              <a:buNone/>
            </a:pPr>
            <a:r>
              <a:rPr lang="en-US" sz="1050" i="1" dirty="0">
                <a:solidFill>
                  <a:srgbClr val="8A6D1E"/>
                </a:solidFill>
                <a:latin typeface="Calibri" pitchFamily="34" charset="0"/>
                <a:cs typeface="Amiri" pitchFamily="2" charset="-78"/>
              </a:rPr>
              <a:t>Plural + object ending.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الْمَشْرُوعُ الَّذِي أَعْلَنَتْهُ الْمَدْرَسَةُ مُفِيدٌ.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project that the school announced is useful.</a:t>
            </a:r>
            <a:endParaRPr lang="en-US" sz="1250" dirty="0"/>
          </a:p>
          <a:p>
            <a:pPr indent="0" marL="0">
              <a:buNone/>
            </a:pPr>
            <a:r>
              <a:rPr lang="en-US" sz="1050" i="1" dirty="0">
                <a:solidFill>
                  <a:srgbClr val="8A6D1E"/>
                </a:solidFill>
                <a:latin typeface="Calibri" pitchFamily="34" charset="0"/>
                <a:cs typeface="Amiri" pitchFamily="2" charset="-78"/>
              </a:rPr>
              <a:t>Website: news style.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BUILD THE BRIDGE (WEBSITE GAME) · WHICH RELATIVE PRONOUN?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alladhī, allatī or alladhīna?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الْمُدِيرُ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الْجَامِعَةُ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الْمُهَنْدِسُونَ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السَّيَّارَاتُ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الْأَصْدِقَاءُ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الْفِيلْمُ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الْقِصَّةُ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alladhī (m. sing.)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allatī (f. sing. / things)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alladhīna (people, pl.)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alladhī (m. sing.)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الْمُدِيرُ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الْبَابُ</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الْفِيلْمُ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allatī (f. sing. / things)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الْجَامِعَةُ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السَّيَّارَاتُ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الْقِصَّةُ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alladhīna (people, pl.)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الْمُهَنْدِسُونَ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الْأَصْدِقَاءُ</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JOIN THE TWO IDEAS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sentences → 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اجْمَعِ الْجُمْلَتَيْنِ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One sentence</a:t>
            </a:r>
            <a:endParaRPr lang="en-US" sz="1100" dirty="0"/>
          </a:p>
        </p:txBody>
      </p:sp>
      <p:sp>
        <p:nvSpPr>
          <p:cNvPr id="17" name="Text 14"/>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Two ideas</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5669280" y="2267712"/>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الطَّالِبُ الَّذِي فَازَ.</a:t>
            </a:r>
            <a:endParaRPr lang="ar-SA" sz="2200" dirty="0"/>
          </a:p>
        </p:txBody>
      </p:sp>
      <p:sp>
        <p:nvSpPr>
          <p:cNvPr id="20" name="Text 17"/>
          <p:cNvSpPr txBox="1"/>
          <p:nvPr/>
        </p:nvSpPr>
        <p:spPr>
          <a:xfrm>
            <a:off x="548640" y="2267712"/>
            <a:ext cx="49377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هَذَا الطَّالِبُ. الطَّالِبُ فَازَ.</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5669280" y="3054096"/>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الْمُعَلِّمَةَ الَّتِي تُسَاعِدُنَا.</a:t>
            </a:r>
            <a:endParaRPr lang="ar-SA" sz="2200" dirty="0"/>
          </a:p>
        </p:txBody>
      </p:sp>
      <p:sp>
        <p:nvSpPr>
          <p:cNvPr id="25" name="Text 22"/>
          <p:cNvSpPr txBox="1"/>
          <p:nvPr/>
        </p:nvSpPr>
        <p:spPr>
          <a:xfrm>
            <a:off x="548640" y="3054096"/>
            <a:ext cx="49377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أُحِبُّ الْمُعَلِّمَةَ. الْمُعَلِّمَةُ تُسَاعِدُنَا.</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5669280" y="3840480"/>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رَأَيْتُ الطُّلَّابَ الَّذِينَ حَضَرُوا.</a:t>
            </a:r>
            <a:endParaRPr lang="ar-SA" sz="2200" dirty="0"/>
          </a:p>
        </p:txBody>
      </p:sp>
      <p:sp>
        <p:nvSpPr>
          <p:cNvPr id="30" name="Text 27"/>
          <p:cNvSpPr txBox="1"/>
          <p:nvPr/>
        </p:nvSpPr>
        <p:spPr>
          <a:xfrm>
            <a:off x="548640" y="3840480"/>
            <a:ext cx="49377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رَأَيْتُ الطُّلَّابَ. الطُّلَّابُ حَضَرُوا.</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5669280" y="4626864"/>
            <a:ext cx="597103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الْقِصَّةُ الَّتِي كَتَبْتُهَا.</a:t>
            </a:r>
            <a:endParaRPr lang="ar-SA" sz="2200" dirty="0"/>
          </a:p>
        </p:txBody>
      </p:sp>
      <p:sp>
        <p:nvSpPr>
          <p:cNvPr id="33" name="Text 30"/>
          <p:cNvSpPr txBox="1"/>
          <p:nvPr/>
        </p:nvSpPr>
        <p:spPr>
          <a:xfrm>
            <a:off x="548640" y="4626864"/>
            <a:ext cx="49377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هَذِهِ الْقِصَّةُ. كَتَبْتُ الْقِصَّةَ.</a:t>
            </a:r>
            <a:endParaRPr lang="ar-SA" sz="200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Replace the repeated noun with the relative pronoun; if the noun was an object, point back with an ending (-hā).</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الطَّالِبَةُ الَّذِي فَازَتْ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student female?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الطُّلَّابُ الَّذِي حَضَرُوا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One or many?</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الْكِتَابُ الَّذِي قَرَأْتُ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refers back?</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الطَّالِبَةُ الَّذِي فَازَتْ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الطَّالِبَةُ الَّتِي فَازَتْ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antecedent is feminine singular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الطُّلَّابُ الَّذِي حَضَرُوا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الطُّلَّابُ الَّذِينَ حَضَرُوا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Masculine or mixed human plural → alladhīna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الْكِتَابُ الَّذِي قَرَأْتُ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الْكِتَابُ الَّذِي قَرَأْتُهُ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object ending refers back to the book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TEACHER-WRITTEN PRACTICE ON THE WEBSITE CONTENT</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two students who succeeded” (m.).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الطَّالِبَانِ الَّذِينَ نَجَحُوا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الطَّالِبَانِ الَّذِي نَجَحَ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الطَّالِبَانِ اللَّذَانِ نَجَحَا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girls who attended”.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الْبَنَاتُ الَّذِينَ حَضَرُوا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الْبَنَاتُ اللَّاتِي حَضَرْنَ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الْبَنَاتُ الَّتِي حَضَرَتْ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house in which I live”.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الَّذِي أَسْكُنُ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الَّذِي أَسْكُنُ فِيهِ</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الَّتِي أَسْكُنُ فِيهَا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correct?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 طَالِبٌ الَّذِي فَازَ.</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 الطَّالِبُ فَازَ الَّذِي.</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 طَالِبٌ فَازَ فِي الْمُسَابَقَةِ.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two students who succeeded” (m.).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الطَّالِبَانِ الَّذِينَ نَجَحُوا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الطَّالِبَانِ الَّذِي نَجَحَ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الطَّالِبَانِ اللَّذَانِ نَجَحَا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dual → alladhāni (website).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girls who attended”.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الْبَنَاتُ الَّذِينَ حَضَرُوا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الْبَنَاتُ اللَّاتِي حَضَرْنَ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الْبَنَاتُ الَّتِي حَضَرَتْ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human plural → allātī.</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house in which I live”.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 الَّذِي أَسْكُنُ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الْبَيْتُ الَّذِي أَسْكُنُ فِيهِ</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 الَّتِي أَسْكُنُ فِيهَا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 fīhi points back.</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correct?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جَاءَ طَالِبٌ الَّذِي فَازَ.</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جَاءَ الطَّالِبُ فَازَ الَّذِي.</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جَاءَ طَالِبٌ فَازَ فِي الْمُسَابَقَةِ.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antecedent → link directly (website clinic).</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 stars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2" charset="-78"/>
                <a:ea typeface="Amiri" pitchFamily="2" charset="-78"/>
                <a:cs typeface="Amiri" pitchFamily="2" charset="-78"/>
              </a:rPr>
              <a:t>فِي مَدْرَسَتِنَا طُلَّابٌ كَثِيرُونَ. الطَّالِبُ الَّذِي فَازَ فِي الْمُسَابَقَةِ اسْمُهُ سَامِرٌ. وَالطَّالِبَةُ الَّتِي كَتَبَتِ الْقِصَّةَ اسْمُهَا لَيْلَى. هَؤُلَاءِ هُمُ الطُّلَّابُ الَّذِينَ يُسَاعِدُونَ زُمَلَاءَهُمْ، وَتِلْكَ هِيَ الْمُعَلِّمَةُ الَّتِي تُشَجِّعُهُمْ دَائِمًا. أُحِبُّ الْمَكْتَبَةَ الَّتِي أَقْرَأُ فِيهَا، وَهَذَا هُوَ الْكِتَابُ الَّذِي قَرَأْتُهُ فِي الْأُسْبُوعِ الْمَاضِي.</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الْمُسَابَقَةِ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competition</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زُمَلَاءَهُمْ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classmates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تُشَجِّعُهُمْ</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encourages them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دَائِمًا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always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فِيهَا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it</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won the competition?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Layla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won the competition.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helps the students.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wrote the story.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الَّذِينَ</a:t>
            </a:r>
            <a:pPr algn="l" indent="0" marL="0">
              <a:buNone/>
            </a:pPr>
            <a:r>
              <a:rPr lang="en-US" sz="1250" b="1" dirty="0">
                <a:solidFill>
                  <a:srgbClr val="1B3B6F"/>
                </a:solidFill>
                <a:latin typeface="Calibri" pitchFamily="34" charset="0"/>
                <a:cs typeface="Amiri" pitchFamily="2" charset="-78"/>
              </a:rPr>
              <a:t> before “help their classmates”?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 are a group of people.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things.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dual.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فِيهَا</a:t>
            </a:r>
            <a:pPr algn="l" indent="0" marL="0">
              <a:buNone/>
            </a:pPr>
            <a:r>
              <a:rPr lang="en-US" sz="1250" b="1" dirty="0">
                <a:solidFill>
                  <a:srgbClr val="1B3B6F"/>
                </a:solidFill>
                <a:latin typeface="Calibri" pitchFamily="34" charset="0"/>
                <a:cs typeface="Amiri" pitchFamily="2" charset="-78"/>
              </a:rPr>
              <a:t> refer back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won the competition?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الطَّالِبُ الَّذِي فَازَ … سَامِرٌ.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Layla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won the competition.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helps the students.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wrote the story.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الَّتِي كَتَبَتِ الْقِصَّةَ.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الَّذِينَ</a:t>
            </a:r>
            <a:pPr algn="l" indent="0" marL="0">
              <a:buNone/>
            </a:pPr>
            <a:r>
              <a:rPr lang="en-US" sz="1250" b="1" dirty="0">
                <a:solidFill>
                  <a:srgbClr val="1B3B6F"/>
                </a:solidFill>
                <a:latin typeface="Calibri" pitchFamily="34" charset="0"/>
                <a:cs typeface="Amiri" pitchFamily="2" charset="-78"/>
              </a:rPr>
              <a:t> before “help their classmates”?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students are a group of people.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things.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dual.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plural.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فِيهَا</a:t>
            </a:r>
            <a:pPr algn="l" indent="0" marL="0">
              <a:buNone/>
            </a:pPr>
            <a:r>
              <a:rPr lang="en-US" sz="1250" b="1" dirty="0">
                <a:solidFill>
                  <a:srgbClr val="1B3B6F"/>
                </a:solidFill>
                <a:latin typeface="Calibri" pitchFamily="34" charset="0"/>
                <a:cs typeface="Amiri" pitchFamily="2" charset="-78"/>
              </a:rPr>
              <a:t> refer back to?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story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library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Resumptive pronoun.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Speaking: describe people and places precisely</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صَدِيقُكَ؟ صِفْهُ بِـ «الَّذِي».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مُعَلِّمَةً وَمَكَانًا تُحِبُّهُمَا.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كِتَابًا أَوْ فِيلْمًا أَعْجَبَكَ: الْكِتَابُ الَّذِي قَرَأْتُهُ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صَدِيقِي هُوَ الشَّخْصُ الَّذِي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مُعَلِّمَتِي هِيَ الَّتِي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مَدْرَسَتِي هِيَ الْمَكَانُ الَّذِي ___ فِيهِ.</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هُوَ صَدِيقُكَ الْمُفَضَّلُ؟</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is your best friend?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صَدِيقِي هُوَ الشَّخْصُ الَّذِي يُسَاعِدُنِي دَائِمًا، وَأُمُّهُ هِيَ الَّتِي تَطْبُخُ لَنَا الْكَعْكَ!</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friend is the person who always helps me, and his mother is the one who bakes us cakes!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with alladhī or allatī.</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Definite noun + relative pronoun + clause.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plural forms and check verb agreement.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alladhīna + -ūna; allātī + -na.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resumptive pronouns.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book that I read it · the school in which I study.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الطُّلَّابُ الَّذِينَ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students who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الْكِتَابُ الَّذِي قَرَأْتُهُ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book that I read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الْمَدْرَسَةُ الَّتِي أَدْرُسُ فِيهَا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school in which I study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الْبَنَاتُ اللَّاتِي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who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هُوَ الشَّخْصُ الَّذِي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is the person who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هِيَ الَّتِي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is the one who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الْمُعَلِّمَ الَّذِي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the teacher who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هِيَ الْمَدِينَةُ الَّتِي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the city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الَّذِي  ·  الَّتِي  ·  الَّذِينَ  ·  اللَّاتِي  ·  اللَّذَانِ  ·  اللَّتَانِ  ·  يُسَاعِدُنِي  ·  فَازَ  ·  كَتَبَتْ  ·  قَرَأْتُهُ  ·  فِيهَا  ·  فِيهِ</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task: a connected description (8–10 sentences) with at least six relative pronouns.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alladhī and one allatī.</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plural relative pronoun (alladhīna or allātī).</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resumptive pronoun (an ending that points back).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indefinite noun linked without a relative pronoun.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Varied sentence patterns — not the same short sentence repeated.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الشَّخْصُ الَّذِي أُعْجِبُ بِهِ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person I admire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الْكِتَابُ الَّذِي قَرَأْتُهُ</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book that I read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الْمَدِينَةُ الَّتِي وُلِدْتُ فِيهَا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city in which I was born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الْأَصْدِقَاءُ الَّذِينَ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friends who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الْمُعَلِّمَاتُ اللَّاتِي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teachers (f.) who …</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الَّذِي …</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is the one who …</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الشَّخْصُ الَّذِي أُعْجِبُ بِهِ كَثِيرًا هُوَ جَدِّي. جَدِّي هُوَ الَّذِي عَلَّمَنِي الْقُرْآنَ، وَجَدَّتِي هِيَ الَّتِي تَحْكِي لَنَا الْقِصَصَ. أُحِبُّ الْبَيْتَ الَّذِي يَسْكُنَانِ فِيهِ، لِأَنَّ فِيهِ حَدِيقَةً كَبِيرَةً. أَبْنَاءُ عَمِّي الَّذِينَ يَزُورُونَهُمَا كُلَّ أُسْبُوعٍ أَصْدِقَائِي. وَالْكِتَابُ الَّذِي أَهْدَانِي جَدِّي هُوَ أَغْلَى كِتَابٍ عِنْدِي.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person I admire most is my grandfather. My grandfather is the one who taught me the Qur’an, and my grandmother is the one who tells us stories. I love the house in which they live, because it has a big garden. My cousins, who visit them every week, are my friends. And the book that my grandfather gave me is the most precious book I have.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alladhī</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allatī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alladhīna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points back</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relative pronoun agrees with its antecedent.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relative pronouns after definite nouns.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verb inside each clause agrees.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plural relative pronoun.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resumptive pronoun where needed.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man who came”.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الرَّجُلُ الَّذِي جَاءَ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الرَّجُلُ الَّتِي جَاءَ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الرَّجُلُ الَّذِينَ جَاءُوا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mothers who cooked”.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الْأُمَّهَاتُ الَّذِينَ طَبَخُوا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الْأُمَّهَاتُ اللَّاتِي طَبَخْنَ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الْأُمَّهَاتُ الَّذِي طَبَخَ</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film that I watched”.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الْفِيلْمُ الَّذِي شَاهَدْتُهُ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الْفِيلْمُ الَّذِي شَاهَدْتُ هُوَ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الْفِيلْمُ الَّتِي شَاهَدْتُهَا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man who came”.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الرَّجُلُ الَّذِي جَاءَ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الرَّجُلُ الَّتِي جَاءَ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الرَّجُلُ الَّذِينَ جَاءُوا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singular → alladhī.</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mothers who cooked”.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الْأُمَّهَاتُ الَّذِينَ طَبَخُوا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الْأُمَّهَاتُ اللَّاتِي طَبَخْنَ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الْأُمَّهَاتُ الَّذِي طَبَخَ</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human plural → allātī.</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film that I watched”.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الْفِيلْمُ الَّذِي شَاهَدْتُهُ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الْفِيلْمُ الَّذِي شَاهَدْتُ هُوَ</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الْفِيلْمُ الَّتِي شَاهَدْتُهَا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 -hu points back.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GM-PRO-05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GM-PRO-06: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GM-PRO-06 · Pronouns with li and bi</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 me, I have</a:t>
            </a:r>
            <a:pPr indent="0" marL="0">
              <a:buNone/>
            </a:pPr>
            <a:r>
              <a:rPr lang="en-US" sz="1000" i="1" dirty="0">
                <a:solidFill>
                  <a:srgbClr val="5A6472"/>
                </a:solidFill>
                <a:latin typeface="Calibri" pitchFamily="34" charset="0"/>
                <a:cs typeface="Amiri" pitchFamily="2" charset="-78"/>
              </a:rPr>
              <a:t>  li + -ī</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لَكَ · 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 you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لَهُ · لَهَا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 him · 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with it / him</a:t>
            </a:r>
            <a:pPr indent="0" marL="0">
              <a:buNone/>
            </a:pPr>
            <a:r>
              <a:rPr lang="en-US" sz="1000" i="1" dirty="0">
                <a:solidFill>
                  <a:srgbClr val="5A6472"/>
                </a:solidFill>
                <a:latin typeface="Calibri" pitchFamily="34" charset="0"/>
                <a:cs typeface="Amiri" pitchFamily="2" charset="-78"/>
              </a:rPr>
              <a:t>  bi + -hi</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with 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li- (for) and bi- (with). What happens when an ending like -ī or -hu is added to them?</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لِي · لَكَ · لَكِ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with alladhī and allatī.</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Join ten pairs of sentences with relative pronouns.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person you admire.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GM-PRO-05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GM-PRO-06 · Pronouns with li and bi</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الضَّمَائِرُ مَعَ اللَّامِ وَالْبَاءِ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antecedent → matching relative pronoun → agreeing verb · alladhī / allatī / alladhīna / allātī · plural things → allatī · point back with an ending · indefinite noun → no relative pronoun.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GM-PRO-05 · Relative Pronouns</dc:title>
  <dc:subject>PptxGenJS Presentation</dc:subject>
  <dc:creator>Al Madina Online School · Arabic Department</dc:creator>
  <cp:lastModifiedBy>Al Madina Online School · Arabic Department</cp:lastModifiedBy>
  <cp:revision>1</cp:revision>
  <dcterms:created xsi:type="dcterms:W3CDTF">2026-10-11T06:42:29Z</dcterms:created>
  <dcterms:modified xsi:type="dcterms:W3CDTF">2026-10-11T06:42:29Z</dcterms:modified>
</cp:coreProperties>
</file>