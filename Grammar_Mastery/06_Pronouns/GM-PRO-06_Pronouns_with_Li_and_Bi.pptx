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GM-PRO-06 (“— Pronouns with لِ and بِ”).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لِي · لَكَ · لَكِ · لَهُ · لَهَا · لَنَا and “having” (لِي أُخْتٌ); بِكَ · بِكِ in أَهْلًا بِكَ / مَا بِكَ؟. Develop: all twelve forms of each family; the fatḥa switch (لِـ → لَـ except لِي). Stretch: the kasra chain (بِهِ · بِهِمَا · بِهِمْ · بِهِنَّ, but بِهَا); no protecting nūn with prepositions (لِي, not لِنِي — compare سَاعَدَنِي).
• Exam weight (website): لِي أَخَوَانِ وَأُخْتٌ lists your family in Speaking; أَهْلًا بِكَ opens role-plays; هَذَا لَكَ gives a gift; reading texts use بِهِ / بِهَا constantly.
• Heritage link: الْحَمْدُ لِلَّهِ (li + Allāh) · بِسْمِ اللَّهِ (bi) · رَبِّ اغْفِرْ لِي.
• This closes the Pronouns area: the same family now lives on nouns (PRO-02), verbs (PRO-03) and prepositions (PRO-06).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03 and 05, plus the five words prepared at the end of GM-PRO-05.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pronoun family attaches to li- (for, to, having) and bi- (with, by). Watch the vowel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li family” master grid. Colour لِي differently: the one form that keeps its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bi family” master grid. Link to GM-PRO-02 Stretch: fī baytihi used the same “shy ḍamma”.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“The rules, side by side” and “Having &amp; welcoming”. Model the family exchange: hal laka ikhwatun? — naʿam, lī akhun kabīrun wa-ukhtāni ṣaghīratāni.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exchange “Tell me about your family”. Point to the vowel each time: lī (kasra) · lahu (fatḥa) · bihā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Gift Post”. Students type L or B and translate.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Gift Post”. Students type L or B and translate.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summary of the whole Pronouns area. Cover a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Read it aloud once while students follow; then they hunt for today’s grammar.
Task: Website: find every li- and bi- form, and say who or what each pronoun refers to.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Eid letter and website question set (answers re-keyed as multiple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examiner prompts.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aloud, then write, using at least four li- / bi- forms. Role-play: welcome a guest — ahlan bika / biki / bikum.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homework (Mild / Spicy / Hot): chart, ten sentences, or an Eid welcome letter with ten li- / bi- forms.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“Hot”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(GM-V-01 · Verb Foundations and the Conjugation Map) will spend class time USING this language, so students prepare it tonight — short, simple, easy to access (school guidance: “Simple, Short, Interesting, Relevant, Easy to access”). The five words prepare GM-V-01 (website Verbs lesson 1: verb foundations).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PRONOUNS  ·  GM-PRO-06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GM-PRO-06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Pronouns with li and bi</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الضَّمَائِرُ مَعَ اللَّامِ وَالْبَاءِ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has no verb “to have”: lī akhun = I have a brother (literally “to me is a brother”). With a pronoun, li- becomes la- (laka, lahā) — except lī. Bi- (with, by) keeps its kasra and makes -hu become -hi: bihi, bihim.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GM-PRO-06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li family and “having”; the bi family; three rules; everyday exchanges.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Gift post: li or bi?;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helped 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سَاعَدْتُهُ</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بِسْمِ اللَّهِ</a:t>
            </a:r>
            <a:pPr algn="l" indent="0" marL="0">
              <a:buNone/>
            </a:pPr>
            <a:r>
              <a:rPr lang="en-US" sz="1250" b="1" dirty="0">
                <a:solidFill>
                  <a:srgbClr val="1B3B6F"/>
                </a:solidFill>
                <a:latin typeface="Calibri" pitchFamily="34" charset="0"/>
                <a:ea typeface="Calibri" pitchFamily="34" charset="-122"/>
                <a:cs typeface="Calibri" pitchFamily="34" charset="-120"/>
              </a:rPr>
              <a:t> begin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 (for)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fī (in)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 (with / in)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الْحَمْدُ لِلَّهِ</a:t>
            </a:r>
            <a:pPr algn="l" indent="0" marL="0">
              <a:buNone/>
            </a:pPr>
            <a:r>
              <a:rPr lang="en-US" sz="1250" b="1" dirty="0">
                <a:solidFill>
                  <a:srgbClr val="1B3B6F"/>
                </a:solidFill>
                <a:latin typeface="Calibri" pitchFamily="34" charset="0"/>
                <a:ea typeface="Calibri" pitchFamily="34" charset="-122"/>
                <a:cs typeface="Calibri" pitchFamily="34" charset="-120"/>
              </a:rPr>
              <a:t> contain?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 (to / for) + Allāh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 + Allāh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 + Allāh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كِتَابُنِي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Nouns take -ī (GM-PRO-02).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helped 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سَاعَدَنِي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سَاعَدْتُهُ</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Verbs take -nī (GM-PRO-03).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الْبِنْتُ 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الْبِنْتُ 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الْبِنْتُ 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allatī (GM-PRO-05).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بِسْمِ اللَّهِ</a:t>
            </a:r>
            <a:pPr algn="l" indent="0" marL="0">
              <a:buNone/>
            </a:pPr>
            <a:r>
              <a:rPr lang="en-US" sz="1250" b="1" dirty="0">
                <a:solidFill>
                  <a:srgbClr val="1B3B6F"/>
                </a:solidFill>
                <a:latin typeface="Calibri" pitchFamily="34" charset="0"/>
                <a:ea typeface="Calibri" pitchFamily="34" charset="-122"/>
                <a:cs typeface="Calibri" pitchFamily="34" charset="-120"/>
              </a:rPr>
              <a:t> begin with?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 (for)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fī (in)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 (with / in)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 + ism.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الْحَمْدُ لِلَّهِ</a:t>
            </a:r>
            <a:pPr algn="l" indent="0" marL="0">
              <a:buNone/>
            </a:pPr>
            <a:r>
              <a:rPr lang="en-US" sz="1250" b="1" dirty="0">
                <a:solidFill>
                  <a:srgbClr val="1B3B6F"/>
                </a:solidFill>
                <a:latin typeface="Calibri" pitchFamily="34" charset="0"/>
                <a:ea typeface="Calibri" pitchFamily="34" charset="-122"/>
                <a:cs typeface="Calibri" pitchFamily="34" charset="-120"/>
              </a:rPr>
              <a:t> contain?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 (to / for) + Allāh</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 + Allāh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 + Allāh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Praise be TO Allah.</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pronoun family attaches to li- (for, to, having) and bi- (with, by). Watch the vowel changes.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لِي</a:t>
            </a:r>
            <a:pPr rtl="1" algn="ctr" indent="0" marL="0">
              <a:buNone/>
            </a:pPr>
            <a:r>
              <a:rPr lang="ar-SA" altLang="en-US" sz="2400" b="1" dirty="0">
                <a:solidFill>
                  <a:srgbClr val="1B3B6F"/>
                </a:solidFill>
                <a:latin typeface="Amiri" pitchFamily="34" charset="0"/>
                <a:ea typeface="Amiri" pitchFamily="34" charset="-122"/>
                <a:cs typeface="Amiri" pitchFamily="34" charset="-120"/>
              </a:rPr>
              <a:t> أَخٌ ‖ أَهْلًا </a:t>
            </a:r>
            <a:pPr rtl="1" algn="ctr" indent="0" marL="0">
              <a:buNone/>
            </a:pPr>
            <a:r>
              <a:rPr lang="ar-SA" altLang="en-US" sz="2400" b="1" dirty="0">
                <a:solidFill>
                  <a:srgbClr val="D6336C"/>
                </a:solidFill>
                <a:latin typeface="Amiri" pitchFamily="34" charset="0"/>
                <a:ea typeface="Amiri" pitchFamily="34" charset="-122"/>
                <a:cs typeface="Amiri" pitchFamily="34" charset="-120"/>
              </a:rPr>
              <a:t>بِكُمْ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every pronoun to li- (with the fatḥa switch and the lī exception).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every pronoun to bi- (with the kasra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li- to say what you and others have.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star phrases ahlan bikum and mā bika?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have a brother with lī.</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welcome a guest with ahlan bika / biki.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build all twelve forms of li-.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explain why li- becomes la- (except lī).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kasra chain: bihi, bihim, bihinna.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describe people: lahā shaʿrun ṭawīl.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لِـ · بِـ</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for — and “having”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لِي · لَكَ · لَهَا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بِهِ · بِهَا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لِمَنْ هَذَا؟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Whose is this?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li-man ha-dhā?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لِي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أَهْلًا بِكُمْ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Welcome (all of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ah-lan bi-kum</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bi + -kum</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بِكَ؟</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the matter with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bi-ka?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answer: </a:t>
            </a:r>
            <a:pPr algn="l" indent="0" marL="0">
              <a:buNone/>
            </a:pPr>
            <a:r>
              <a:rPr lang="ar-SA" altLang="en-US" sz="1300" dirty="0">
                <a:solidFill>
                  <a:srgbClr val="8A6D1E"/>
                </a:solidFill>
                <a:latin typeface="Amiri" pitchFamily="34" charset="0"/>
                <a:ea typeface="Amiri" pitchFamily="34" charset="-122"/>
                <a:cs typeface="Amiri" pitchFamily="34" charset="-120"/>
              </a:rPr>
              <a:t>أَنَا بِخَيْرٍ</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1 · THE LI FAMILY — TO, FOR, HAVING (WEBSITE MASTER GRID)</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lām straightens — except for 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عَائِلَةُ اللَّامِ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Dual</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لَنَا</a:t>
            </a:r>
            <a:endParaRPr lang="ar-SA" sz="24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Text 20"/>
          <p:cNvSpPr txBox="1"/>
          <p:nvPr/>
        </p:nvSpPr>
        <p:spPr>
          <a:xfrm>
            <a:off x="29260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we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لَكُمْ</a:t>
            </a:r>
            <a:endParaRPr lang="ar-SA" sz="2400" dirty="0"/>
          </a:p>
        </p:txBody>
      </p:sp>
      <p:sp>
        <p:nvSpPr>
          <p:cNvPr id="29" name="Text 26"/>
          <p:cNvSpPr txBox="1"/>
          <p:nvPr/>
        </p:nvSpPr>
        <p:spPr>
          <a:xfrm>
            <a:off x="585216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لَكُمَا</a:t>
            </a:r>
            <a:endParaRPr lang="ar-SA" sz="2400" dirty="0"/>
          </a:p>
        </p:txBody>
      </p:sp>
      <p:sp>
        <p:nvSpPr>
          <p:cNvPr id="30" name="Text 27"/>
          <p:cNvSpPr txBox="1"/>
          <p:nvPr/>
        </p:nvSpPr>
        <p:spPr>
          <a:xfrm>
            <a:off x="29260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لَكُنَّ</a:t>
            </a:r>
            <a:endParaRPr lang="ar-SA" sz="2400" dirty="0"/>
          </a:p>
        </p:txBody>
      </p:sp>
      <p:sp>
        <p:nvSpPr>
          <p:cNvPr id="36" name="Text 33"/>
          <p:cNvSpPr txBox="1"/>
          <p:nvPr/>
        </p:nvSpPr>
        <p:spPr>
          <a:xfrm>
            <a:off x="585216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لَكُمَا</a:t>
            </a:r>
            <a:endParaRPr lang="ar-SA" sz="2400" dirty="0"/>
          </a:p>
        </p:txBody>
      </p:sp>
      <p:sp>
        <p:nvSpPr>
          <p:cNvPr id="37" name="Text 34"/>
          <p:cNvSpPr txBox="1"/>
          <p:nvPr/>
        </p:nvSpPr>
        <p:spPr>
          <a:xfrm>
            <a:off x="29260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لَكِ</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لَهُمْ</a:t>
            </a:r>
            <a:endParaRPr lang="ar-SA" sz="2400" dirty="0"/>
          </a:p>
        </p:txBody>
      </p:sp>
      <p:sp>
        <p:nvSpPr>
          <p:cNvPr id="43" name="Text 40"/>
          <p:cNvSpPr txBox="1"/>
          <p:nvPr/>
        </p:nvSpPr>
        <p:spPr>
          <a:xfrm>
            <a:off x="585216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لَهُمَا</a:t>
            </a:r>
            <a:endParaRPr lang="ar-SA" sz="2400" dirty="0"/>
          </a:p>
        </p:txBody>
      </p:sp>
      <p:sp>
        <p:nvSpPr>
          <p:cNvPr id="44" name="Text 41"/>
          <p:cNvSpPr txBox="1"/>
          <p:nvPr/>
        </p:nvSpPr>
        <p:spPr>
          <a:xfrm>
            <a:off x="29260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they (m.)</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لَهُنَّ</a:t>
            </a:r>
            <a:endParaRPr lang="ar-SA" sz="2400" dirty="0"/>
          </a:p>
        </p:txBody>
      </p:sp>
      <p:sp>
        <p:nvSpPr>
          <p:cNvPr id="50" name="Text 47"/>
          <p:cNvSpPr txBox="1"/>
          <p:nvPr/>
        </p:nvSpPr>
        <p:spPr>
          <a:xfrm>
            <a:off x="585216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لَهُمَا</a:t>
            </a:r>
            <a:endParaRPr lang="ar-SA" sz="2400" dirty="0"/>
          </a:p>
        </p:txBody>
      </p:sp>
      <p:sp>
        <p:nvSpPr>
          <p:cNvPr id="51" name="Text 48"/>
          <p:cNvSpPr txBox="1"/>
          <p:nvPr/>
        </p:nvSpPr>
        <p:spPr>
          <a:xfrm>
            <a:off x="29260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لَهَا</a:t>
            </a:r>
            <a:endParaRPr lang="ar-SA" sz="2400" dirty="0"/>
          </a:p>
        </p:txBody>
      </p:sp>
      <p:sp>
        <p:nvSpPr>
          <p:cNvPr id="52" name="Text 4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 they (f.)</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rule 1: before a noun li- has kasra (li-Muḥammadin); before a pronoun it becomes la- (laka, lahā, lanā) — except lī, because the ī of “me” wants a kasra before it.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2 · THE BI FAMILY — WITH AND BY (WEBSITE MASTER GRID)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bā keeps its kasra — and -hu follows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عَائِلَةُ الْبَاءِ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Dual</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بِنَا</a:t>
            </a:r>
            <a:endParaRPr lang="ar-SA" sz="24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3" name="Text 20"/>
          <p:cNvSpPr txBox="1"/>
          <p:nvPr/>
        </p:nvSpPr>
        <p:spPr>
          <a:xfrm>
            <a:off x="29260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 / us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بِكُمْ</a:t>
            </a:r>
            <a:endParaRPr lang="ar-SA" sz="2400" dirty="0"/>
          </a:p>
        </p:txBody>
      </p:sp>
      <p:sp>
        <p:nvSpPr>
          <p:cNvPr id="29" name="Text 26"/>
          <p:cNvSpPr txBox="1"/>
          <p:nvPr/>
        </p:nvSpPr>
        <p:spPr>
          <a:xfrm>
            <a:off x="585216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بِكُمَا</a:t>
            </a:r>
            <a:endParaRPr lang="ar-SA" sz="2400" dirty="0"/>
          </a:p>
        </p:txBody>
      </p:sp>
      <p:sp>
        <p:nvSpPr>
          <p:cNvPr id="30" name="Text 27"/>
          <p:cNvSpPr txBox="1"/>
          <p:nvPr/>
        </p:nvSpPr>
        <p:spPr>
          <a:xfrm>
            <a:off x="29260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بِكُنَّ</a:t>
            </a:r>
            <a:endParaRPr lang="ar-SA" sz="2400" dirty="0"/>
          </a:p>
        </p:txBody>
      </p:sp>
      <p:sp>
        <p:nvSpPr>
          <p:cNvPr id="36" name="Text 33"/>
          <p:cNvSpPr txBox="1"/>
          <p:nvPr/>
        </p:nvSpPr>
        <p:spPr>
          <a:xfrm>
            <a:off x="585216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بِكُمَا</a:t>
            </a:r>
            <a:endParaRPr lang="ar-SA" sz="2400" dirty="0"/>
          </a:p>
        </p:txBody>
      </p:sp>
      <p:sp>
        <p:nvSpPr>
          <p:cNvPr id="37" name="Text 34"/>
          <p:cNvSpPr txBox="1"/>
          <p:nvPr/>
        </p:nvSpPr>
        <p:spPr>
          <a:xfrm>
            <a:off x="29260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بِهِمْ</a:t>
            </a:r>
            <a:endParaRPr lang="ar-SA" sz="2400" dirty="0"/>
          </a:p>
        </p:txBody>
      </p:sp>
      <p:sp>
        <p:nvSpPr>
          <p:cNvPr id="43" name="Text 40"/>
          <p:cNvSpPr txBox="1"/>
          <p:nvPr/>
        </p:nvSpPr>
        <p:spPr>
          <a:xfrm>
            <a:off x="585216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بِهِمَا</a:t>
            </a:r>
            <a:endParaRPr lang="ar-SA" sz="2400" dirty="0"/>
          </a:p>
        </p:txBody>
      </p:sp>
      <p:sp>
        <p:nvSpPr>
          <p:cNvPr id="44" name="Text 41"/>
          <p:cNvSpPr txBox="1"/>
          <p:nvPr/>
        </p:nvSpPr>
        <p:spPr>
          <a:xfrm>
            <a:off x="29260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him / them (m.)</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بِهِنَّ</a:t>
            </a:r>
            <a:endParaRPr lang="ar-SA" sz="2400" dirty="0"/>
          </a:p>
        </p:txBody>
      </p:sp>
      <p:sp>
        <p:nvSpPr>
          <p:cNvPr id="48" name="Text 45"/>
          <p:cNvSpPr txBox="1"/>
          <p:nvPr/>
        </p:nvSpPr>
        <p:spPr>
          <a:xfrm>
            <a:off x="585216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بِهِمَا</a:t>
            </a:r>
            <a:endParaRPr lang="ar-SA" sz="2400" dirty="0"/>
          </a:p>
        </p:txBody>
      </p:sp>
      <p:sp>
        <p:nvSpPr>
          <p:cNvPr id="49" name="Text 46"/>
          <p:cNvSpPr txBox="1"/>
          <p:nvPr/>
        </p:nvSpPr>
        <p:spPr>
          <a:xfrm>
            <a:off x="29260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بِهَا</a:t>
            </a:r>
            <a:endParaRPr lang="ar-SA" sz="24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them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rule 2 — the kasra chain: after bi-, -hu becomes -hi (bihi, bihimā, bihim, bihinna); bihā stays because the alif shields it. The k-forms and -nā never change.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HAVING, WELCOMING — AND RULE 3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everyday conversations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الْمِلْكِيَّةُ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Arabic has no verb “to have”: li- does the job — literally “to me is a brother”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Li- also describes people: she has long hair = lahā shaʿrun ṭawīlun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Bi- is for tools, transport and welcome: I wrote with it = katabtu bihi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Rule 3: prepositions take plain -ī — lī, bī — no protecting nūn. Only verbs take -nī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Caring question: mā bika? — answer: lā shayʾa, anā bi-khayr (website).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لِي أَخٌ وَأُخْتَانِ.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have a brother and two sisters.  ·  website · having</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لِمَنْ هَذَا الْقَلَمُ؟ — هَذَا لِي!</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Whose is this pen? — It’s mine!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كَتَبْتُ بِالْقَلَمِ · كَتَبْتُ بِهِ</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wrote with the pen · I wrote with it  ·  website · kasra chain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أَهْلًا وَسَهْلًا بِكُمْ!</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Welcome, all of you!  ·  website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cliffhanger answered: “rabbi-ghfir lī” — not “linī” — because the guarding nūn protects verbs only.</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sister.”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أُخْتٌ.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أُخْتٌ.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أَمْلِكُ أُخْتٌ.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“with him / with it” (m.).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(one female). Choose the welcome.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بِكِ!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بِكَ!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لَكِ!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 becomes la- before a pronoun.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sister.”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 أُخْتٌ.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 أُخْتٌ.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أَمْلِكُ أُخْتٌ.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Lī keeps its kasra.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“with him / with it” (m.).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chain: bihi.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guest arrives (one female). Choose the welcome.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أَهْلًا بِكِ!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بِكَ!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لَكِ!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 + -ki.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talk about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هَلْ لَكَ إِخْوَةٌ؟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la-ka: for you.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 have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لِي أَخٌ</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lī keeps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 has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لَهُ دَرَّاجَةٌ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Welcome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أَهْلًا بِكُمْ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 -kum.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 (HAVING / FOR)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bi- (WITH / WELCOME)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لِي</a:t>
            </a:r>
            <a:pPr rtl="1" algn="r" indent="0" marL="0">
              <a:buNone/>
            </a:pPr>
            <a:r>
              <a:rPr lang="ar-SA" altLang="en-US" sz="2600" b="1" dirty="0">
                <a:solidFill>
                  <a:srgbClr val="1B3B6F"/>
                </a:solidFill>
                <a:latin typeface="Amiri" pitchFamily="34" charset="0"/>
                <a:ea typeface="Amiri" pitchFamily="34" charset="-122"/>
                <a:cs typeface="Amiri" pitchFamily="34" charset="-120"/>
              </a:rPr>
              <a:t> أَخٌ كَبِيرٌ وَأُخْتَانِ. </a:t>
            </a:r>
            <a:pPr rtl="1" algn="r" indent="0" marL="0">
              <a:buNone/>
            </a:pPr>
            <a:r>
              <a:rPr lang="ar-SA" altLang="en-US" sz="2600" b="1" dirty="0">
                <a:solidFill>
                  <a:srgbClr val="0E7C86"/>
                </a:solidFill>
                <a:latin typeface="Amiri" pitchFamily="34" charset="0"/>
                <a:ea typeface="Amiri" pitchFamily="34" charset="-122"/>
                <a:cs typeface="Amiri" pitchFamily="34" charset="-120"/>
              </a:rPr>
              <a:t>لَهُ</a:t>
            </a:r>
            <a:pPr rtl="1" algn="r" indent="0" marL="0">
              <a:buNone/>
            </a:pPr>
            <a:r>
              <a:rPr lang="ar-SA" altLang="en-US" sz="2600" b="1" dirty="0">
                <a:solidFill>
                  <a:srgbClr val="1B3B6F"/>
                </a:solidFill>
                <a:latin typeface="Amiri" pitchFamily="34" charset="0"/>
                <a:ea typeface="Amiri" pitchFamily="34" charset="-122"/>
                <a:cs typeface="Amiri" pitchFamily="34" charset="-120"/>
              </a:rPr>
              <a:t> سَيَّارَةٌ، وَنُسَافِرُ </a:t>
            </a:r>
            <a:pPr rtl="1" algn="r" indent="0" marL="0">
              <a:buNone/>
            </a:pPr>
            <a:r>
              <a:rPr lang="ar-SA" altLang="en-US" sz="2600" b="1" dirty="0">
                <a:solidFill>
                  <a:srgbClr val="D6336C"/>
                </a:solidFill>
                <a:latin typeface="Amiri" pitchFamily="34" charset="0"/>
                <a:ea typeface="Amiri" pitchFamily="34" charset="-122"/>
                <a:cs typeface="Amiri" pitchFamily="34" charset="-120"/>
              </a:rPr>
              <a:t>بِهَا</a:t>
            </a:r>
            <a:pPr rtl="1" algn="r" indent="0" marL="0">
              <a:buNone/>
            </a:pPr>
            <a:r>
              <a:rPr lang="ar-SA" altLang="en-US" sz="2600" b="1" dirty="0">
                <a:solidFill>
                  <a:srgbClr val="1B3B6F"/>
                </a:solidFill>
                <a:latin typeface="Amiri" pitchFamily="34" charset="0"/>
                <a:ea typeface="Amiri" pitchFamily="34" charset="-122"/>
                <a:cs typeface="Amiri" pitchFamily="34" charset="-120"/>
              </a:rPr>
              <a:t> كُلَّ عُطْلَةٍ. أَهْلًا </a:t>
            </a:r>
            <a:pPr rtl="1" algn="r" indent="0" marL="0">
              <a:buNone/>
            </a:pPr>
            <a:r>
              <a:rPr lang="ar-SA" altLang="en-US" sz="2600" b="1" dirty="0">
                <a:solidFill>
                  <a:srgbClr val="D6336C"/>
                </a:solidFill>
                <a:latin typeface="Amiri" pitchFamily="34" charset="0"/>
                <a:ea typeface="Amiri" pitchFamily="34" charset="-122"/>
                <a:cs typeface="Amiri" pitchFamily="34" charset="-120"/>
              </a:rPr>
              <a:t>بِكُمْ</a:t>
            </a:r>
            <a:pPr rtl="1" algn="r" indent="0" marL="0">
              <a:buNone/>
            </a:pPr>
            <a:r>
              <a:rPr lang="ar-SA" altLang="en-US" sz="2600" b="1" dirty="0">
                <a:solidFill>
                  <a:srgbClr val="1B3B6F"/>
                </a:solidFill>
                <a:latin typeface="Amiri" pitchFamily="34" charset="0"/>
                <a:ea typeface="Amiri" pitchFamily="34" charset="-122"/>
                <a:cs typeface="Amiri" pitchFamily="34" charset="-120"/>
              </a:rPr>
              <a:t> فِي بَيْتِنَا!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have a big brother and two sisters. He has a car, and we travel in it every holiday. Welcome to our house!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لَنَا بَيْتٌ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have a beautiful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لَهَا صَدِيقَاتٌ كَثِيرَاتٌ.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has many friends.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الْهَدِيَّةُ 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present is for you.</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Eid gift.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بِكِ؟ — لَا شَيْءَ، أَنَا بِخَيْرٍ.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What’s wrong? — Nothing, I’m fine.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the caring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THE GIFT POST (WEBSITE GAME) · LI OR BI?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Having / for — or with / by?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لِمَنْ؟ بِمَاذَا؟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بِكَ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 أُخْتَانِ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سَافَرْنَا بِهَا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لَهُمْ هَدَايَا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بِكِ؟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صَوْتٌ جَمِيلٌ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كَتَبْتُ بِهِ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li- : for, having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bi- : with, by, welcome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li- : for, having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 أُخْتَانِ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لَهُمْ هَدَايَا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صَوْتٌ جَمِيلٌ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bi- : with, by, welcome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أَهْلًا بِكَ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سَافَرْنَا بِهَا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بِكِ؟</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كَتَبْتُ بِهِ</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THREE HOMES, ONE FAMILY (WEBSITE RULE 3)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Noun, verb,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 فِعْلٌ · 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me)</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(my …)</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778240" y="2267712"/>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 · بِي</a:t>
            </a:r>
            <a:endParaRPr lang="ar-SA" sz="2400" dirty="0"/>
          </a:p>
        </p:txBody>
      </p:sp>
      <p:sp>
        <p:nvSpPr>
          <p:cNvPr id="22" name="Text 19"/>
          <p:cNvSpPr txBox="1"/>
          <p:nvPr/>
        </p:nvSpPr>
        <p:spPr>
          <a:xfrm>
            <a:off x="5669280"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سَاعَدَنِي</a:t>
            </a:r>
            <a:endParaRPr lang="ar-SA" sz="2400" dirty="0"/>
          </a:p>
        </p:txBody>
      </p:sp>
      <p:sp>
        <p:nvSpPr>
          <p:cNvPr id="23" name="Text 20"/>
          <p:cNvSpPr txBox="1"/>
          <p:nvPr/>
        </p:nvSpPr>
        <p:spPr>
          <a:xfrm>
            <a:off x="2743200" y="2267712"/>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كِتَابِي</a:t>
            </a:r>
            <a:endParaRPr lang="ar-SA" sz="2400" dirty="0"/>
          </a:p>
        </p:txBody>
      </p:sp>
      <p:sp>
        <p:nvSpPr>
          <p:cNvPr id="24" name="Text 21"/>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778240" y="3054096"/>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 · بِهِ</a:t>
            </a:r>
            <a:endParaRPr lang="ar-SA" sz="2400" dirty="0"/>
          </a:p>
        </p:txBody>
      </p:sp>
      <p:sp>
        <p:nvSpPr>
          <p:cNvPr id="29" name="Text 26"/>
          <p:cNvSpPr txBox="1"/>
          <p:nvPr/>
        </p:nvSpPr>
        <p:spPr>
          <a:xfrm>
            <a:off x="5669280"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سَاعَدَهُ</a:t>
            </a:r>
            <a:endParaRPr lang="ar-SA" sz="2400" dirty="0"/>
          </a:p>
        </p:txBody>
      </p:sp>
      <p:sp>
        <p:nvSpPr>
          <p:cNvPr id="30" name="Text 27"/>
          <p:cNvSpPr txBox="1"/>
          <p:nvPr/>
        </p:nvSpPr>
        <p:spPr>
          <a:xfrm>
            <a:off x="2743200" y="3054096"/>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a:t>
            </a:r>
            <a:endParaRPr lang="ar-SA" sz="2400" dirty="0"/>
          </a:p>
        </p:txBody>
      </p:sp>
      <p:sp>
        <p:nvSpPr>
          <p:cNvPr id="31" name="Text 28"/>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him</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778240" y="3840480"/>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لَهَا · بِهَا</a:t>
            </a:r>
            <a:endParaRPr lang="ar-SA" sz="2400" dirty="0"/>
          </a:p>
        </p:txBody>
      </p:sp>
      <p:sp>
        <p:nvSpPr>
          <p:cNvPr id="36" name="Text 33"/>
          <p:cNvSpPr txBox="1"/>
          <p:nvPr/>
        </p:nvSpPr>
        <p:spPr>
          <a:xfrm>
            <a:off x="5669280"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سَاعَدَهَا</a:t>
            </a:r>
            <a:endParaRPr lang="ar-SA" sz="2400" dirty="0"/>
          </a:p>
        </p:txBody>
      </p:sp>
      <p:sp>
        <p:nvSpPr>
          <p:cNvPr id="37" name="Text 34"/>
          <p:cNvSpPr txBox="1"/>
          <p:nvPr/>
        </p:nvSpPr>
        <p:spPr>
          <a:xfrm>
            <a:off x="2743200" y="3840480"/>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كِتَابُهَا</a:t>
            </a:r>
            <a:endParaRPr lang="ar-SA" sz="2400" dirty="0"/>
          </a:p>
        </p:txBody>
      </p:sp>
      <p:sp>
        <p:nvSpPr>
          <p:cNvPr id="38" name="Text 35"/>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778240" y="4626864"/>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لَهُمْ · بِهِمْ</a:t>
            </a:r>
            <a:endParaRPr lang="ar-SA" sz="2400" dirty="0"/>
          </a:p>
        </p:txBody>
      </p:sp>
      <p:sp>
        <p:nvSpPr>
          <p:cNvPr id="43" name="Text 40"/>
          <p:cNvSpPr txBox="1"/>
          <p:nvPr/>
        </p:nvSpPr>
        <p:spPr>
          <a:xfrm>
            <a:off x="5669280"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سَاعَدَهُمْ</a:t>
            </a:r>
            <a:endParaRPr lang="ar-SA" sz="2400" dirty="0"/>
          </a:p>
        </p:txBody>
      </p:sp>
      <p:sp>
        <p:nvSpPr>
          <p:cNvPr id="44" name="Text 41"/>
          <p:cNvSpPr txBox="1"/>
          <p:nvPr/>
        </p:nvSpPr>
        <p:spPr>
          <a:xfrm>
            <a:off x="2743200" y="4626864"/>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كِتَابُهُمْ</a:t>
            </a:r>
            <a:endParaRPr lang="ar-SA" sz="2400" dirty="0"/>
          </a:p>
        </p:txBody>
      </p:sp>
      <p:sp>
        <p:nvSpPr>
          <p:cNvPr id="45" name="Text 42"/>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them (m.)</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the VERB adds the protecting nūn for “me” (-nī). Nouns and prepositions take plain -ī.</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 or li-?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رَبِّ اغْفِرْ لِنِي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Verb or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كَتَبْتُ بِهُ.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after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 becomes la- before a pronoun (rule 1).</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رَبِّ اغْفِرْ لِنِي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رَبِّ اغْفِرْ 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protecting nūn after a preposition (rule 3).</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كَتَبْتُ بِهُ.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كَتَبْتُ بِهِ.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Kasra chain after bi- (rule 2).</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 have a big house.”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لِهُمْ بَيْتٌ كَبِيرٌ.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بِهِمْ بَيْتٌ كَبِيرٌ.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لَهُمْ بَيْتٌ كَبِيرٌ.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has a beautiful voice.”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صَوْتٌ جَمِيلٌ.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صَوْتٌ جَمِيلٌ.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 صَوْتٌ جَمِيلٌ.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car? “We travelled in 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بِهِ.</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بِهَا.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سَافَرْنَا لَهَا.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you have siblings?” (to a boy).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لِكَ إِخْوَةٌ؟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بِكَ إِخْوَةٌ؟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لَكَ إِخْوَةٌ؟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 have a big house.”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لِهُمْ بَيْتٌ كَبِيرٌ.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بِهِمْ بَيْتٌ كَبِيرٌ.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لَهُمْ بَيْتٌ كَبِيرٌ.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Having → la-hum.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has a beautiful voice.”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 صَوْتٌ جَمِيلٌ.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 صَوْتٌ جَمِيلٌ.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بِهِ صَوْتٌ جَمِيلٌ.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Describing people with la-hu (website).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car? “We travelled in 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سَافَرْنَا بِهِ.</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سَافَرْنَا بِهَا.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سَافَرْنَا لَهَا.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 is feminine; bihā.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“Do you have siblings?” (to a boy).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لِكَ إِخْوَةٌ؟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بِكَ إِخْوَةٌ؟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لَكَ إِخْوَةٌ؟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examiner prompt.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Eid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34" charset="0"/>
                <a:ea typeface="Amiri" pitchFamily="34" charset="-122"/>
                <a:cs typeface="Amiri" pitchFamily="34" charset="-120"/>
              </a:rPr>
              <a:t>عِيدٌ مُبَارَكٌ يَا صَدِيقِي! أَهْلًا بِكَ فِي بَيْتِنَا غَدًا. لِي هَدِيَّةٌ جَمِيلَةٌ لَكَ، أَتَمَنَّى أَنْ تُعْجِبَكَ. عَائِلَتِي كُلُّهَا هُنَا: لِي أَخَوَانِ وَأُخْتٌ، وَلَهُمْ هَدَايَا لَكَ أَيْضًا! جَدَّتِي أَعَدَّتِ الْحَلْوَى، وَسَتُرَحِّبُ بِكُمْ جَمِيعًا. هَلْ لَكُمْ سَيَّارَةٌ؟ إِنْ لَمْ تَكُنْ، فَلَا تَقْلَقْ: سَنَأْتِي بِهَا إِلَيْكُمْ.</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هَدِيَّةٌ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gift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أَتَمَنَّى</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hope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تُعْجِبَكَ</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like it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هَدَايَا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gifts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أَعَدَّتْ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prepared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سَتُرَحِّبُ</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will welcome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تَقْلَقْ</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worry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siblings does the writer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else has gifts for the friend?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friend’s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siblings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will the grandmother welcome?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friend’s whole family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friend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siblings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بِهَا</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gift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siblings does the writer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brothers + one sister.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else has gifts for the friend?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grandmother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friend’s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siblings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Lahum = they have.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will the grandmother welcome?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friend’s whole family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friend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siblings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Bikum = you (all).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بِهَا</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gift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grandmother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 is feminine → bihā.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your family and your welcome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لَكَ إِخْوَةٌ وَأَخَوَاتٌ؟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لَكَ فِي 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تُرَحِّبُ بِضُيُوفِكَ؟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لِي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غُرْفَتِي لِي ___ ، وَلِأَخِي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أَقُولُ: أَهْلًا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لَكِ إِخْوَةٌ؟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have siblings?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لِي أَخٌ كَبِيرٌ وَأُخْتَانِ صَغِيرَتَانِ. لَهُمَا قِطَّةٌ صَغِيرَةٌ، وَتَلْعَبَانِ بِهَا كُلَّ يَوْمٍ.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Yes, I have a big brother and two little sisters. They have a small cat, and they play with it every 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Mild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Two-column chart: twelve li- forms beside twelve bi- forms.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Highlight lī and every bihi-type form.</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Spicy</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Ten sentences: five with li-, five with bi-.</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a mā bika? exchange and one kasra-chain form.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Hot</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Eid welcome letter «</a:t>
            </a:r>
            <a:pPr algn="l" indent="0" marL="0">
              <a:buNone/>
            </a:pPr>
            <a:r>
              <a:rPr lang="ar-SA" altLang="en-US" sz="1800" b="1" dirty="0">
                <a:solidFill>
                  <a:srgbClr val="1F2A37"/>
                </a:solidFill>
                <a:latin typeface="Amiri" pitchFamily="34" charset="0"/>
                <a:ea typeface="Amiri" pitchFamily="34" charset="-122"/>
                <a:cs typeface="Amiri" pitchFamily="34" charset="-120"/>
              </a:rPr>
              <a:t>أَهْلًا بِكُمْ</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Ten li- / bi- forms, each underlined and labelled.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لَهَا ______ طَوِيلٌ.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has long hair.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لِمَنْ هَذَا؟ هَذَا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Whose is this? It is mine.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كَتَبْتُ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wrote with it (the pen).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What’s wrong (to a girl)?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 أَخٌ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brother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لَنَا بَيْتٌ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have a … house.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الْهَدِيَّةُ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gift is for you.</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Welcome (to a boy)!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  ·  لَكَ  ·  لَكِ  ·  لَهُ  ·  لَهَا  ·  لَنَا  ·  لَهُمْ  ·  بِكَ  ·  بِكِ  ·  بِكُمْ  ·  بِهِ  ·  بِهَا  ·  بِخَيْرٍ  ·  شَعْرٌ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“Hot” challenge: an Eid welcome letter «</a:t>
            </a:r>
            <a:pPr algn="l" indent="0" marL="0">
              <a:buNone/>
            </a:pPr>
            <a:r>
              <a:rPr lang="ar-SA" altLang="en-US" sz="1750" b="1" dirty="0">
                <a:solidFill>
                  <a:srgbClr val="1F2A37"/>
                </a:solidFill>
                <a:latin typeface="Amiri" pitchFamily="34" charset="0"/>
                <a:ea typeface="Amiri" pitchFamily="34" charset="-122"/>
                <a:cs typeface="Amiri" pitchFamily="34" charset="-120"/>
              </a:rPr>
              <a:t>أَهْلًا بِكُمْ</a:t>
            </a:r>
            <a:pPr algn="l" indent="0" marL="0">
              <a:buNone/>
            </a:pPr>
            <a:r>
              <a:rPr lang="en-US" sz="1350" b="1" dirty="0">
                <a:solidFill>
                  <a:srgbClr val="1F2A37"/>
                </a:solidFill>
                <a:latin typeface="Calibri" pitchFamily="34" charset="0"/>
                <a:ea typeface="Calibri" pitchFamily="34" charset="-122"/>
                <a:cs typeface="Calibri" pitchFamily="34" charset="-120"/>
              </a:rPr>
              <a:t>» in the style of the reading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Invite a friend’s family and welcome them (bikum).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List what you have for them (lī … lakum).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a family member with lahu / lahā.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kasra-chain form (bihi, bihim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Ten li- / bi- forms in total, each labelled.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أَهْلًا وَسَهْلًا بِكُمْ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welcome, all of you</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 هَدِيَّةٌ 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a gift for you</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لَهُمْ هَدَايَا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have gifts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سَنَأْتِي بِهَا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will bring it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عِيدٌ مُبَارَكٌ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blessed Eid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الْحَمْدُ لِلَّهِ</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praise be to Allah</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عِيدٌ مُبَارَكٌ يَا أَحْمَدُ! أَهْلًا وَسَهْلًا بِكُمْ فِي بَيْتِنَا يَوْمَ الْعِيدِ. لِي هَدِيَّةٌ صَغِيرَةٌ لَكَ، وَلِأُخْتِي هَدِيَّةٌ لِأُخْتِكَ. أُمِّي لَهَا يَدٌ سِحْرِيَّةٌ فِي الطَّبْخِ، وَسَتَصْنَعُ الْكَعْكَ بِالتَّمْرِ. لَنَا حَدِيقَةٌ كَبِيرَةٌ، وَسَنَلْعَبُ فِيهَا بِالْكُرَةِ. إِذَا لَمْ تَكُنْ لَكُمْ سَيَّارَةٌ، فَأَبِي سَيَأْتِي بِكُمْ. الْحَمْدُ لِلَّهِ عَلَى هَذَا الْعِيدِ!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Blessed Eid, Ahmad! Welcome to our house on Eid day. I have a small gift for you, and my sister has a gift for your sister. My mother has a magic touch in cooking, and she will make date cakes. We have a big garden, and we will play ball in it. If you don’t have a car, my father will bring you. Praise be to Allah for this Eid!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lī / lanā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bikum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 +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lī to say what I have.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welcomed someone with ahlan bika / biki / bikum.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 became la- with every pronoun except lī.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li- to describe someone (lahu / lahā).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kasra chain: bihi, bihim.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have a cat.”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لَنَا قِطَّةٌ.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لِنَا قِطَّةٌ.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بِنَا قِطَّةٌ.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“with them” (m.).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have a cat.”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لَنَا قِطَّةٌ.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لِنَا قِطَّةٌ.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بِنَا قِطَّةٌ.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 + -nā.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“for 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Lī: no protecting nūn, kasra stays.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“with them” (m.).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بِهِمْ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Kasra chain: bihim.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GM-PRO-06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Pronouns · GM-PRO-06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GM-V-01 · Verb Foundations and the Conjugation Map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الْمَاضِي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past tense</a:t>
            </a:r>
            <a:pPr indent="0" marL="0">
              <a:buNone/>
            </a:pPr>
            <a:r>
              <a:rPr lang="en-US" sz="1000" i="1" dirty="0">
                <a:solidFill>
                  <a:srgbClr val="5A6472"/>
                </a:solidFill>
                <a:latin typeface="Calibri" pitchFamily="34" charset="0"/>
                <a:ea typeface="Calibri" pitchFamily="34" charset="-122"/>
                <a:cs typeface="Calibri" pitchFamily="34" charset="-120"/>
              </a:rPr>
              <a:t>  كَتَبَ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الْمُضَارِعُ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present tense</a:t>
            </a:r>
            <a:pPr indent="0" marL="0">
              <a:buNone/>
            </a:pPr>
            <a:r>
              <a:rPr lang="en-US" sz="1000" i="1" dirty="0">
                <a:solidFill>
                  <a:srgbClr val="5A6472"/>
                </a:solidFill>
                <a:latin typeface="Calibri" pitchFamily="34" charset="0"/>
                <a:ea typeface="Calibri" pitchFamily="34" charset="-122"/>
                <a:cs typeface="Calibri" pitchFamily="34" charset="-120"/>
              </a:rPr>
              <a:t>  يَكْتُبُ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الْأَمْرُ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command</a:t>
            </a:r>
            <a:pPr indent="0" marL="0">
              <a:buNone/>
            </a:pPr>
            <a:r>
              <a:rPr lang="en-US" sz="1000" i="1" dirty="0">
                <a:solidFill>
                  <a:srgbClr val="5A6472"/>
                </a:solidFill>
                <a:latin typeface="Calibri" pitchFamily="34" charset="0"/>
                <a:ea typeface="Calibri" pitchFamily="34" charset="-122"/>
                <a:cs typeface="Calibri" pitchFamily="34" charset="-120"/>
              </a:rPr>
              <a:t>  اُكْتُبْ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الْجِذْرُ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root (three letters)</a:t>
            </a:r>
            <a:pPr indent="0" marL="0">
              <a:buNone/>
            </a:pPr>
            <a:r>
              <a:rPr lang="en-US" sz="1000" i="1" dirty="0">
                <a:solidFill>
                  <a:srgbClr val="5A6472"/>
                </a:solidFill>
                <a:latin typeface="Calibri" pitchFamily="34" charset="0"/>
                <a:ea typeface="Calibri" pitchFamily="34" charset="-122"/>
                <a:cs typeface="Calibri" pitchFamily="34" charset="-120"/>
              </a:rPr>
              <a:t>  ك ت 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Kataba, yaktubu, maktab and kitāb share three letters. What are they, and what idea do they share?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كَتَبَ · يَكْتُبُ · كِتَابٌ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Mild: the two-column li- / bi- chart.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Spicy: ten sentences with li- and bi-.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Hot: an Eid welcome letter.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GM-PRO-06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GM-V-01 · Verb Foundations and the Conjugation Map</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أُسُسُ الْأَفْعَالِ وَخَرِيطَةُ التَّصْرِيفِ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 = for / having → la- with pronouns, except lī · bi- = with / by → keeps kasra; bihi, bihim, but bihā · prepositions take -ī, verbs take -nī · ahlan bikum!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GM-PRO-06 · Pronouns with li and bi</dc:title>
  <dc:subject>PptxGenJS Presentation</dc:subject>
  <dc:creator>Al Madina Online School · Arabic Department</dc:creator>
  <cp:lastModifiedBy>Al Madina Online School · Arabic Department</cp:lastModifiedBy>
  <cp:revision>1</cp:revision>
  <dcterms:created xsi:type="dcterms:W3CDTF">2026-10-04T01:07:41Z</dcterms:created>
  <dcterms:modified xsi:type="dcterms:W3CDTF">2026-10-04T01:07:41Z</dcterms:modified>
</cp:coreProperties>
</file>