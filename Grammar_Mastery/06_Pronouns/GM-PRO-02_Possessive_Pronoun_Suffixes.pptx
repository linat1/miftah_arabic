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GM-PRO-02 (“”).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core endings ـِي · ـنَا · ـكَ · ـكِ · ـهُ · ـهَا with كِتَابٌ and بَيْتٌ. Develop: the full family (ـكُمَا · ـكُمْ · ـكُنَّ · ـهُمَا · ـهُمْ · ـهُنَّ); ة → ت (مَدْرَسَتِي); possessive sentences (هَذَا بَيْتُنَا · أَيْنَ حَقِيبَتُكِ؟). Stretch: adjective agreement with the thing possessed (سَيَّارَتُهُ الْجَدِيدَةُ); case vowel before the suffix (فِي كِتَابِهِ).
• Website pattern families: second-person endings begin with ك, third-person endings begin with ه — teach as two families.
• Pronunciation: ـكَ / ـكِ differ only in the final vowel; pronounce the doubled نّ in ـكُنَّ / ـهُنَّ clearly.
• Note for the teacher: the website quiz answer keys were re-keyed for this deck.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“Pronoun Bridge” check (5 of 6 questions) — it retrieves GM-PRO-01 and the five words prepared there.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owner has an ending that grows from its pronoun: hiya → -hā, naḥnu → -nā. Attach it to the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table “All possessive endings with kitāb”. Point out the shared shapes: hiya / -hā, hum / -hum, hunna / -hunna, antum / -kum.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“Four rules” and “Pattern lab: nouns ending in ة”. Common error from the website success criteria: madrasatī, not “madrasaī”.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“Move from a word to meaningful communication” (patterns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“Attachment Clinic”, re-keyed.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From the website reading text. Colour separates the speaker’s things (my) from other owners (his / her). Narrate the four rules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translate each word; listen for -ka / -ki and -kum / -hum.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translate each word; listen for -ka / -ki and -kum / -hum.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columns 2–3; call out an owner, students say both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“Meaning and Agreement” check, re-keyed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Read it aloud once while students follow; then they hunt for today’s grammar.
Task: Website: underline each attached ending and identify its owner (write the matching pronoun).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text and website reading-comprehension questions (re-keyed).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communication patterns. Sequence: ● 10s think → ↔ 45s rehearse aloud with mic muted → ◎ two named students on open mic (warned in advance) → + ? the class types one follow-up in chat → ↺ one student summarises.
Routes: Core uses the Core prompt and stem; Develop the Develop prompt; Stretch the last prompt.
Pairs ask “ayna …-ka / -ki?” and answer with -ī. Listen for -ka vs -ki and the t in ة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about your family and home, using possessive endings to show who owns what.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pattern,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(GM-PRO-03 · Object Pronoun Suffixes) will spend class time USING this language, so students prepare it tonight — short, simple, easy to access (school guidance: “Simple, Short, Interesting, Relevant, Easy to access”). The five words prepare GM-PRO-03 (website Pronouns lesson 3: object pronouns).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PRONOUNS  ·  GM-PRO-02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GM-PRO-02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cs typeface="Amiri" pitchFamily="2" charset="-78"/>
              </a:rPr>
              <a:t>Possessive Pronoun Suffixes</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الضَّمَائِرُ الْمُتَّصِلَةُ بِالْأَسْمَاءِ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says “my book” in ONE word: kitāb + -ī = kitābī. Each owner has an ending that grows from its pronoun (hiya → -hā). Attach it directly, drop al- and tanwīn, and turn tāʾ marbūṭa into t: madrasatī.</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GM-PRO-02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From pronoun to ending; the full family; four rules; sentences.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Switch the owner; sort the families;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GM-PRO-03.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(-nā)</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(-ī)</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(-hu)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cs typeface="Amiri" pitchFamily="2" charset="-78"/>
              </a:rPr>
              <a:t>أَنْتِ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feminine singular (-ki)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masculine singular (-ka)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(-hā)</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cs typeface="Amiri" pitchFamily="2" charset="-78"/>
              </a:rPr>
              <a:t>أَنْتُمَا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dual (-humā)</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plural (-kum)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dual (-kumā)</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cs typeface="Amiri" pitchFamily="2" charset="-78"/>
              </a:rPr>
              <a:t>هُوَ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(-hā)</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(-hum)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(-hu)</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(-nā)</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(-ī)</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(-hum)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our (-nā)</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my (-ī)</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(-hu)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Anā becomes -ī, meaning “my”.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cs typeface="Amiri" pitchFamily="2" charset="-78"/>
              </a:rPr>
              <a:t>أَنْتِ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your, feminine singular (-ki)</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your, masculine singular (-ka)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(-hā)</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Anti corresponds to -ki.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cs typeface="Amiri" pitchFamily="2" charset="-78"/>
              </a:rPr>
              <a:t>أَنْتُمَا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dual (-humā)</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your, plural (-kum)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your, dual (-kumā)</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Direct address + exactly two = -kumā.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cs typeface="Amiri" pitchFamily="2" charset="-78"/>
              </a:rPr>
              <a:t>هُوَ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(-hā)</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(-hum)</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(-hu)</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Huwa corresponds to -hu, “his”.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our (-nā)</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(-ī)</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(-hum)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Naḥnu corresponds to -nā, “our”.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owner has an ending that grows from its pronoun: hiya → -hā, naḥnu → -nā. Attach it to the noun.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a:t>
            </a:r>
            <a:pPr rtl="1" algn="ctr" indent="0" marL="0">
              <a:buNone/>
            </a:pPr>
            <a:r>
              <a:rPr lang="ar-SA" altLang="en-US" sz="2400" b="1" dirty="0">
                <a:solidFill>
                  <a:srgbClr val="0E7C86"/>
                </a:solidFill>
                <a:latin typeface="Amiri" pitchFamily="2" charset="-78"/>
                <a:cs typeface="Amiri" pitchFamily="2" charset="-78"/>
              </a:rPr>
              <a:t>هَا</a:t>
            </a:r>
            <a:pPr rtl="1" algn="ctr" indent="0" marL="0">
              <a:buNone/>
            </a:pPr>
            <a:r>
              <a:rPr lang="ar-SA" altLang="en-US" sz="2400" b="1" dirty="0">
                <a:solidFill>
                  <a:srgbClr val="1B3B6F"/>
                </a:solidFill>
                <a:latin typeface="Amiri" pitchFamily="2" charset="-78"/>
                <a:cs typeface="Amiri" pitchFamily="2" charset="-78"/>
              </a:rPr>
              <a:t> ‖ بَيْتُ</a:t>
            </a:r>
            <a:pPr rtl="1" algn="ctr" indent="0" marL="0">
              <a:buNone/>
            </a:pPr>
            <a:r>
              <a:rPr lang="ar-SA" altLang="en-US" sz="2400" b="1" dirty="0">
                <a:solidFill>
                  <a:srgbClr val="D6336C"/>
                </a:solidFill>
                <a:latin typeface="Amiri" pitchFamily="2" charset="-78"/>
                <a:cs typeface="Amiri" pitchFamily="2" charset="-78"/>
              </a:rPr>
              <a:t>نَا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each subject pronoun to its possessive ending.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Attach endings to nouns: no al-, no tanwīn.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tāʾ marbūṭa to t before an ending.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possessive nouns in sentences, with correct adjective agreement.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my, your, his, her and our book.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hear the difference between -ka and -ki.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my school as madrasatī.</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-kum / -kunna and -hum / -hunna.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give the adjective the gender of the thing owned.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notice fī kitābihi (vowel change).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الضَّمِيرُ الْمُتَّصِلُ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attached pronoun (suffix)</a:t>
            </a:r>
            <a:endParaRPr lang="en-US" sz="1350" dirty="0"/>
          </a:p>
          <a:p>
            <a:pPr indent="0" marL="0">
              <a:buNone/>
            </a:pPr>
            <a:r>
              <a:rPr lang="en-US" sz="1100" i="1" dirty="0">
                <a:solidFill>
                  <a:srgbClr val="5A6472"/>
                </a:solidFill>
                <a:latin typeface="Calibri" pitchFamily="34" charset="0"/>
                <a:cs typeface="Amiri" pitchFamily="2" charset="-78"/>
              </a:rPr>
              <a:t>aḍ-ḍa-mī-ru al-mut-ta-ṣi-lu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ـِي · ـكَ · ـهَا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الْمَالِكُ</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owner</a:t>
            </a:r>
            <a:endParaRPr lang="en-US" sz="1350" dirty="0"/>
          </a:p>
          <a:p>
            <a:pPr indent="0" marL="0">
              <a:buNone/>
            </a:pPr>
            <a:r>
              <a:rPr lang="en-US" sz="1100" i="1" dirty="0">
                <a:solidFill>
                  <a:srgbClr val="5A6472"/>
                </a:solidFill>
                <a:latin typeface="Calibri" pitchFamily="34" charset="0"/>
                <a:cs typeface="Amiri" pitchFamily="2" charset="-78"/>
              </a:rPr>
              <a:t>al-mā-li-ku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shown by the ending</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الْمَمْلُوكُ</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thing owned</a:t>
            </a:r>
            <a:endParaRPr lang="en-US" sz="1350" dirty="0"/>
          </a:p>
          <a:p>
            <a:pPr indent="0" marL="0">
              <a:buNone/>
            </a:pPr>
            <a:r>
              <a:rPr lang="en-US" sz="1100" i="1" dirty="0">
                <a:solidFill>
                  <a:srgbClr val="5A6472"/>
                </a:solidFill>
                <a:latin typeface="Calibri" pitchFamily="34" charset="0"/>
                <a:cs typeface="Amiri" pitchFamily="2" charset="-78"/>
              </a:rPr>
              <a:t>al-mam-lū-ku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noun itself</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التَّاءُ الْمَرْبُوطَةُ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tāʾ marbūṭa</a:t>
            </a:r>
            <a:endParaRPr lang="en-US" sz="1350" dirty="0"/>
          </a:p>
          <a:p>
            <a:pPr indent="0" marL="0">
              <a:buNone/>
            </a:pPr>
            <a:r>
              <a:rPr lang="en-US" sz="1100" i="1" dirty="0">
                <a:solidFill>
                  <a:srgbClr val="5A6472"/>
                </a:solidFill>
                <a:latin typeface="Calibri" pitchFamily="34" charset="0"/>
                <a:cs typeface="Amiri" pitchFamily="2" charset="-78"/>
              </a:rPr>
              <a:t>at-tā-ʾu al-mar-bū-ṭa-tu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مَدْرَسَةٌ · مَدْرَسَتِي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التَّنْوِينُ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tanwīn (-un, -an, -in)</a:t>
            </a:r>
            <a:endParaRPr lang="en-US" sz="1350" dirty="0"/>
          </a:p>
          <a:p>
            <a:pPr indent="0" marL="0">
              <a:buNone/>
            </a:pPr>
            <a:r>
              <a:rPr lang="en-US" sz="1100" i="1" dirty="0">
                <a:solidFill>
                  <a:srgbClr val="5A6472"/>
                </a:solidFill>
                <a:latin typeface="Calibri" pitchFamily="34" charset="0"/>
                <a:cs typeface="Amiri" pitchFamily="2" charset="-78"/>
              </a:rPr>
              <a:t>at-tan-wī-nu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dropped before a suffix</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لِمَنْ هَذَا؟</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Whose is this?</a:t>
            </a:r>
            <a:endParaRPr lang="en-US" sz="1350" dirty="0"/>
          </a:p>
          <a:p>
            <a:pPr indent="0" marL="0">
              <a:buNone/>
            </a:pPr>
            <a:r>
              <a:rPr lang="en-US" sz="1100" i="1" dirty="0">
                <a:solidFill>
                  <a:srgbClr val="5A6472"/>
                </a:solidFill>
                <a:latin typeface="Calibri" pitchFamily="34" charset="0"/>
                <a:cs typeface="Amiri" pitchFamily="2" charset="-78"/>
              </a:rPr>
              <a:t>li-man ha-dhā?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هَذَا كِتَابِي</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ALL POSSESSIVE ENDINGS WITH KITĀB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pronoun to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الضَّمِيرِ إِلَى اللَّاحِقَةِ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7365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book</a:t>
            </a:r>
            <a:endParaRPr lang="en-US" sz="1100" dirty="0"/>
          </a:p>
        </p:txBody>
      </p:sp>
      <p:sp>
        <p:nvSpPr>
          <p:cNvPr id="18" name="Text 15"/>
          <p:cNvSpPr txBox="1"/>
          <p:nvPr/>
        </p:nvSpPr>
        <p:spPr>
          <a:xfrm>
            <a:off x="27249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699248" y="226771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book · our book</a:t>
            </a:r>
            <a:endParaRPr lang="en-US" sz="1100" dirty="0"/>
          </a:p>
        </p:txBody>
      </p:sp>
      <p:sp>
        <p:nvSpPr>
          <p:cNvPr id="22" name="Text 19"/>
          <p:cNvSpPr txBox="1"/>
          <p:nvPr/>
        </p:nvSpPr>
        <p:spPr>
          <a:xfrm>
            <a:off x="475488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كِتَابِي · كِتَابُنَا</a:t>
            </a:r>
            <a:endParaRPr lang="ar-SA" sz="2400" dirty="0"/>
          </a:p>
        </p:txBody>
      </p:sp>
      <p:sp>
        <p:nvSpPr>
          <p:cNvPr id="23" name="Text 20"/>
          <p:cNvSpPr txBox="1"/>
          <p:nvPr/>
        </p:nvSpPr>
        <p:spPr>
          <a:xfrm>
            <a:off x="274320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ـِي · ـنَا</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 · نَحْنُ</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699248" y="2881884"/>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book (to a boy · to a girl)</a:t>
            </a:r>
            <a:endParaRPr lang="en-US" sz="1100" dirty="0"/>
          </a:p>
        </p:txBody>
      </p:sp>
      <p:sp>
        <p:nvSpPr>
          <p:cNvPr id="29" name="Text 26"/>
          <p:cNvSpPr txBox="1"/>
          <p:nvPr/>
        </p:nvSpPr>
        <p:spPr>
          <a:xfrm>
            <a:off x="475488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كِتَابُكَ · كِتَابُكِ</a:t>
            </a:r>
            <a:endParaRPr lang="ar-SA" sz="2400" dirty="0"/>
          </a:p>
        </p:txBody>
      </p:sp>
      <p:sp>
        <p:nvSpPr>
          <p:cNvPr id="30" name="Text 27"/>
          <p:cNvSpPr txBox="1"/>
          <p:nvPr/>
        </p:nvSpPr>
        <p:spPr>
          <a:xfrm>
            <a:off x="274320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ـكَ · ـكِ</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 · أَنْتِ</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699248" y="3496056"/>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 book · her book</a:t>
            </a:r>
            <a:endParaRPr lang="en-US" sz="1100" dirty="0"/>
          </a:p>
        </p:txBody>
      </p:sp>
      <p:sp>
        <p:nvSpPr>
          <p:cNvPr id="36" name="Text 33"/>
          <p:cNvSpPr txBox="1"/>
          <p:nvPr/>
        </p:nvSpPr>
        <p:spPr>
          <a:xfrm>
            <a:off x="475488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كِتَابُهُ · كِتَابُهَا</a:t>
            </a:r>
            <a:endParaRPr lang="ar-SA" sz="2400" dirty="0"/>
          </a:p>
        </p:txBody>
      </p:sp>
      <p:sp>
        <p:nvSpPr>
          <p:cNvPr id="37" name="Text 34"/>
          <p:cNvSpPr txBox="1"/>
          <p:nvPr/>
        </p:nvSpPr>
        <p:spPr>
          <a:xfrm>
            <a:off x="274320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ـهُ · ـهَا</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 · 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699248" y="4110228"/>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 their book (two owners)</a:t>
            </a:r>
            <a:endParaRPr lang="en-US" sz="1100" dirty="0"/>
          </a:p>
        </p:txBody>
      </p:sp>
      <p:sp>
        <p:nvSpPr>
          <p:cNvPr id="43" name="Text 40"/>
          <p:cNvSpPr txBox="1"/>
          <p:nvPr/>
        </p:nvSpPr>
        <p:spPr>
          <a:xfrm>
            <a:off x="475488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كِتَابُكُمَا · كِتَابُهُمَا</a:t>
            </a:r>
            <a:endParaRPr lang="ar-SA" sz="2400" dirty="0"/>
          </a:p>
        </p:txBody>
      </p:sp>
      <p:sp>
        <p:nvSpPr>
          <p:cNvPr id="44" name="Text 41"/>
          <p:cNvSpPr txBox="1"/>
          <p:nvPr/>
        </p:nvSpPr>
        <p:spPr>
          <a:xfrm>
            <a:off x="274320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ـكُمَا · ـهُمَا</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أَنْتُمَا · هُمَا</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7699248" y="4724400"/>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 their book (m. or mixed)</a:t>
            </a:r>
            <a:endParaRPr lang="en-US" sz="1100" dirty="0"/>
          </a:p>
        </p:txBody>
      </p:sp>
      <p:sp>
        <p:nvSpPr>
          <p:cNvPr id="48" name="Text 45"/>
          <p:cNvSpPr txBox="1"/>
          <p:nvPr/>
        </p:nvSpPr>
        <p:spPr>
          <a:xfrm>
            <a:off x="475488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كِتَابُكُمْ · كِتَابُهُمْ</a:t>
            </a:r>
            <a:endParaRPr lang="ar-SA" sz="2400" dirty="0"/>
          </a:p>
        </p:txBody>
      </p:sp>
      <p:sp>
        <p:nvSpPr>
          <p:cNvPr id="49" name="Text 46"/>
          <p:cNvSpPr txBox="1"/>
          <p:nvPr/>
        </p:nvSpPr>
        <p:spPr>
          <a:xfrm>
            <a:off x="274320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ـكُمْ · ـهُمْ</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أَنْتُمْ · هُمْ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699248" y="533857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 their book (all female)</a:t>
            </a:r>
            <a:endParaRPr lang="en-US" sz="1100" dirty="0"/>
          </a:p>
        </p:txBody>
      </p:sp>
      <p:sp>
        <p:nvSpPr>
          <p:cNvPr id="53" name="Text 50"/>
          <p:cNvSpPr txBox="1"/>
          <p:nvPr/>
        </p:nvSpPr>
        <p:spPr>
          <a:xfrm>
            <a:off x="475488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كِتَابُكُنَّ · كِتَابُهُنَّ</a:t>
            </a:r>
            <a:endParaRPr lang="ar-SA" sz="2400" dirty="0"/>
          </a:p>
        </p:txBody>
      </p:sp>
      <p:sp>
        <p:nvSpPr>
          <p:cNvPr id="54" name="Text 51"/>
          <p:cNvSpPr txBox="1"/>
          <p:nvPr/>
        </p:nvSpPr>
        <p:spPr>
          <a:xfrm>
            <a:off x="274320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ـكُنَّ · ـهُنَّ</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أَنْتُنَّ · هُنَّ</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pattern families: “your” endings begin with k; “his / her / their” endings begin with h. Ka and ki differ only in the final vowel.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FOUR RULES FOR BUILDING POSSESSIVE NOUNS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Attach — no al- — no tanwīn — </a:t>
            </a:r>
            <a:pPr algn="l" indent="0" marL="0">
              <a:buNone/>
            </a:pPr>
            <a:r>
              <a:rPr lang="ar-SA" altLang="en-US" sz="3000" b="1" dirty="0">
                <a:solidFill>
                  <a:srgbClr val="1B3B6F"/>
                </a:solidFill>
                <a:latin typeface="Amiri" pitchFamily="2" charset="-78"/>
                <a:cs typeface="Amiri" pitchFamily="2" charset="-78"/>
              </a:rPr>
              <a:t>ة</a:t>
            </a:r>
            <a:pPr algn="l" indent="0" marL="0">
              <a:buNone/>
            </a:pPr>
            <a:r>
              <a:rPr lang="en-US" sz="2300" b="1" dirty="0">
                <a:solidFill>
                  <a:srgbClr val="1B3B6F"/>
                </a:solidFill>
                <a:latin typeface="Cambria" pitchFamily="34" charset="0"/>
                <a:cs typeface="Amiri" pitchFamily="2" charset="-78"/>
              </a:rPr>
              <a:t> becomes </a:t>
            </a:r>
            <a:pPr algn="l" indent="0" marL="0">
              <a:buNone/>
            </a:pPr>
            <a:r>
              <a:rPr lang="ar-SA" altLang="en-US" sz="3000" b="1" dirty="0">
                <a:solidFill>
                  <a:srgbClr val="1B3B6F"/>
                </a:solidFill>
                <a:latin typeface="Amiri" pitchFamily="2" charset="-78"/>
                <a:cs typeface="Amiri" pitchFamily="2" charset="-78"/>
              </a:rPr>
              <a:t>ت</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أَرْبَعُ 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63825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a:t>
            </a:r>
            <a:endParaRPr lang="en-US" sz="1100" dirty="0"/>
          </a:p>
        </p:txBody>
      </p:sp>
      <p:sp>
        <p:nvSpPr>
          <p:cNvPr id="18" name="Text 15"/>
          <p:cNvSpPr txBox="1"/>
          <p:nvPr/>
        </p:nvSpPr>
        <p:spPr>
          <a:xfrm>
            <a:off x="38221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Before</a:t>
            </a:r>
            <a:endParaRPr lang="en-US" sz="1100" dirty="0"/>
          </a:p>
        </p:txBody>
      </p:sp>
      <p:sp>
        <p:nvSpPr>
          <p:cNvPr id="19" name="Text 16"/>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written word</a:t>
            </a:r>
            <a:endParaRPr lang="en-US" sz="1100" dirty="0"/>
          </a:p>
        </p:txBody>
      </p:sp>
      <p:sp>
        <p:nvSpPr>
          <p:cNvPr id="22" name="Text 19"/>
          <p:cNvSpPr txBox="1"/>
          <p:nvPr/>
        </p:nvSpPr>
        <p:spPr>
          <a:xfrm>
            <a:off x="640080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بَيْتُنَا</a:t>
            </a:r>
            <a:endParaRPr lang="ar-SA" sz="2400" dirty="0"/>
          </a:p>
        </p:txBody>
      </p:sp>
      <p:sp>
        <p:nvSpPr>
          <p:cNvPr id="23" name="Text 20"/>
          <p:cNvSpPr txBox="1"/>
          <p:nvPr/>
        </p:nvSpPr>
        <p:spPr>
          <a:xfrm>
            <a:off x="384048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بَيْتٌ</a:t>
            </a:r>
            <a:endParaRPr lang="ar-SA" sz="2400" dirty="0"/>
          </a:p>
        </p:txBody>
      </p:sp>
      <p:sp>
        <p:nvSpPr>
          <p:cNvPr id="24" name="Text 21"/>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attach the ending directly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ending already makes it definite</a:t>
            </a:r>
            <a:endParaRPr lang="en-US" sz="1100" dirty="0"/>
          </a:p>
        </p:txBody>
      </p:sp>
      <p:sp>
        <p:nvSpPr>
          <p:cNvPr id="29" name="Text 26"/>
          <p:cNvSpPr txBox="1"/>
          <p:nvPr/>
        </p:nvSpPr>
        <p:spPr>
          <a:xfrm>
            <a:off x="640080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كِتَابِي</a:t>
            </a:r>
            <a:endParaRPr lang="ar-SA" sz="2400" dirty="0"/>
          </a:p>
        </p:txBody>
      </p:sp>
      <p:sp>
        <p:nvSpPr>
          <p:cNvPr id="30" name="Text 27"/>
          <p:cNvSpPr txBox="1"/>
          <p:nvPr/>
        </p:nvSpPr>
        <p:spPr>
          <a:xfrm>
            <a:off x="384048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الْكِتَابُ</a:t>
            </a:r>
            <a:endParaRPr lang="ar-SA" sz="2400" dirty="0"/>
          </a:p>
        </p:txBody>
      </p:sp>
      <p:sp>
        <p:nvSpPr>
          <p:cNvPr id="31" name="Text 28"/>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no al-</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 and a suffix never meet</a:t>
            </a:r>
            <a:endParaRPr lang="en-US" sz="1100" dirty="0"/>
          </a:p>
        </p:txBody>
      </p:sp>
      <p:sp>
        <p:nvSpPr>
          <p:cNvPr id="36" name="Text 33"/>
          <p:cNvSpPr txBox="1"/>
          <p:nvPr/>
        </p:nvSpPr>
        <p:spPr>
          <a:xfrm>
            <a:off x="640080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كِتَابُهُ</a:t>
            </a:r>
            <a:endParaRPr lang="ar-SA" sz="2400" dirty="0"/>
          </a:p>
        </p:txBody>
      </p:sp>
      <p:sp>
        <p:nvSpPr>
          <p:cNvPr id="37" name="Text 34"/>
          <p:cNvSpPr txBox="1"/>
          <p:nvPr/>
        </p:nvSpPr>
        <p:spPr>
          <a:xfrm>
            <a:off x="384048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a:t>
            </a:r>
            <a:endParaRPr lang="ar-SA" sz="2400" dirty="0"/>
          </a:p>
        </p:txBody>
      </p:sp>
      <p:sp>
        <p:nvSpPr>
          <p:cNvPr id="38" name="Text 35"/>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no tanwīn</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hidden t appears</a:t>
            </a:r>
            <a:endParaRPr lang="en-US" sz="1100" dirty="0"/>
          </a:p>
        </p:txBody>
      </p:sp>
      <p:sp>
        <p:nvSpPr>
          <p:cNvPr id="43" name="Text 40"/>
          <p:cNvSpPr txBox="1"/>
          <p:nvPr/>
        </p:nvSpPr>
        <p:spPr>
          <a:xfrm>
            <a:off x="640080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مَدْرَسَتِي</a:t>
            </a:r>
            <a:endParaRPr lang="ar-SA" sz="2400" dirty="0"/>
          </a:p>
        </p:txBody>
      </p:sp>
      <p:sp>
        <p:nvSpPr>
          <p:cNvPr id="44" name="Text 41"/>
          <p:cNvSpPr txBox="1"/>
          <p:nvPr/>
        </p:nvSpPr>
        <p:spPr>
          <a:xfrm>
            <a:off x="384048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مَدْرَسَةٌ</a:t>
            </a:r>
            <a:endParaRPr lang="ar-SA" sz="2400" dirty="0"/>
          </a:p>
        </p:txBody>
      </p:sp>
      <p:sp>
        <p:nvSpPr>
          <p:cNvPr id="45" name="Text 42"/>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tāʾ marbūṭa → t</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bag (f.) · her car</a:t>
            </a:r>
            <a:endParaRPr lang="en-US" sz="1100" dirty="0"/>
          </a:p>
        </p:txBody>
      </p:sp>
      <p:sp>
        <p:nvSpPr>
          <p:cNvPr id="50" name="Text 47"/>
          <p:cNvSpPr txBox="1"/>
          <p:nvPr/>
        </p:nvSpPr>
        <p:spPr>
          <a:xfrm>
            <a:off x="640080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حَقِيبَتُكِ · سَيَّارَتُهَا</a:t>
            </a:r>
            <a:endParaRPr lang="ar-SA" sz="2400" dirty="0"/>
          </a:p>
        </p:txBody>
      </p:sp>
      <p:sp>
        <p:nvSpPr>
          <p:cNvPr id="51" name="Text 48"/>
          <p:cNvSpPr txBox="1"/>
          <p:nvPr/>
        </p:nvSpPr>
        <p:spPr>
          <a:xfrm>
            <a:off x="384048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حَقِيبَةٌ · سَيَّارَةٌ</a:t>
            </a:r>
            <a:endParaRPr lang="ar-SA" sz="2400" dirty="0"/>
          </a:p>
        </p:txBody>
      </p:sp>
      <p:sp>
        <p:nvSpPr>
          <p:cNvPr id="52" name="Text 49"/>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a:t>
            </a:r>
            <a:pPr algn="l" indent="0" marL="0">
              <a:buNone/>
            </a:pPr>
            <a:r>
              <a:rPr lang="ar-SA" altLang="en-US" sz="1450" dirty="0">
                <a:solidFill>
                  <a:srgbClr val="5A6472"/>
                </a:solidFill>
                <a:latin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 nouns (website)</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 room · our family</a:t>
            </a:r>
            <a:endParaRPr lang="en-US" sz="1100" dirty="0"/>
          </a:p>
        </p:txBody>
      </p:sp>
      <p:sp>
        <p:nvSpPr>
          <p:cNvPr id="55" name="Text 52"/>
          <p:cNvSpPr txBox="1"/>
          <p:nvPr/>
        </p:nvSpPr>
        <p:spPr>
          <a:xfrm>
            <a:off x="640080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غُرْفَتُهُ · أُسْرَتُنَا</a:t>
            </a:r>
            <a:endParaRPr lang="ar-SA" sz="2400" dirty="0"/>
          </a:p>
        </p:txBody>
      </p:sp>
      <p:sp>
        <p:nvSpPr>
          <p:cNvPr id="56" name="Text 53"/>
          <p:cNvSpPr txBox="1"/>
          <p:nvPr/>
        </p:nvSpPr>
        <p:spPr>
          <a:xfrm>
            <a:off x="384048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غُرْفَةٌ · أُسْرَةٌ</a:t>
            </a:r>
            <a:endParaRPr lang="ar-SA" sz="2400" dirty="0"/>
          </a:p>
        </p:txBody>
      </p:sp>
      <p:sp>
        <p:nvSpPr>
          <p:cNvPr id="57" name="Text 54"/>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a:t>
            </a:r>
            <a:pPr algn="l" indent="0" marL="0">
              <a:buNone/>
            </a:pPr>
            <a:r>
              <a:rPr lang="ar-SA" altLang="en-US" sz="1450" dirty="0">
                <a:solidFill>
                  <a:srgbClr val="5A6472"/>
                </a:solidFill>
                <a:latin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 nouns (website)</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Stretch: the short vowel before the ending can change with the noun’s role — hādhā kitābuhu, but fī kitābihi. The owner stays the same.</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3 · FROM A WORD TO A SENTENCE (WEBSITE) · DEVELOP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Using possessives in real communication</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التَّوَاصُلُ بِالْمِلْكِيَّةِ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Pattern 1 — This is my / your / his …: hādhā + possessive noun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Pattern 2 — ask about a possession: ayna …? / mā …?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Choose -ka or -ki by the person you are SPEAKING TO.</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Pattern 3 — possessive noun + adjective: the adjective takes al- (website).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adjective agrees with the THING owned, not the owner (website).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هَذِهِ حَقِيبَتُكِ.</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is your bag (to one female).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أَيْنَ كِتَابُكَ؟</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Where is your book? (to one male)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مَا اسْمُهَا؟</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What is her name?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سَيَّارَتُهُ الْجَدِيدَةُ سَرِيعَةٌ.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His new car is fast.  ·  website · car is feminine</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AGREEMENT INSIGHT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car takes FEMININE adjectives because car is feminine — even though the owner is a man (website).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مَدْرَسَةِي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الْمَدْرَسَتِي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house”.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بَيْتُنَا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الْبَيْتُنَا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بَيْتٌنَا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bag”.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حَقِيبَةُهَا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حَقِيبَتُهَا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حَقِيبَهَا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“your book” — to two people.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كِتَابُكُمَا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كِتَابُكُمْ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كِتَابُهُمَا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مَدْرَسَةِي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الْمَدْرَسَتِي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مَدْرَسَتِي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Tāʾ marbūṭa changes to 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house”.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بَيْتُنَا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الْبَيْتُنَا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بَيْتٌنَا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Attach -nā directly and remove tanwīn.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bag”.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حَقِيبَةُهَا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حَقِيبَتُهَا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حَقِيبَهَا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Ḥaqība becomes ḥaqībat- before the ending.</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“your book” — to two people.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كِتَابُكُمَا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كِتَابُكُمْ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كِتَابُهُمَا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Second person + dual = -kumā.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possessive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غُرْفَةٌ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room — ends in </a:t>
            </a:r>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Owner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her → -hā.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Attach</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غُرْفَتُهَا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 t, no tanwīn.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غُرْفَتُهَا كَبِيرَةٌ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Room is f. → kabīra.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MY …</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HIS / HER …</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cs typeface="Amiri" pitchFamily="2" charset="-78"/>
              </a:rPr>
              <a:t>اسْمِي</a:t>
            </a:r>
            <a:pPr rtl="1" algn="r" indent="0" marL="0">
              <a:buNone/>
            </a:pPr>
            <a:r>
              <a:rPr lang="ar-SA" altLang="en-US" sz="2600" b="1" dirty="0">
                <a:solidFill>
                  <a:srgbClr val="1B3B6F"/>
                </a:solidFill>
                <a:latin typeface="Amiri" pitchFamily="2" charset="-78"/>
                <a:cs typeface="Amiri" pitchFamily="2" charset="-78"/>
              </a:rPr>
              <a:t> سَلْمَى. </a:t>
            </a:r>
            <a:pPr rtl="1" algn="r" indent="0" marL="0">
              <a:buNone/>
            </a:pPr>
            <a:r>
              <a:rPr lang="ar-SA" altLang="en-US" sz="2600" b="1" dirty="0">
                <a:solidFill>
                  <a:srgbClr val="0E7C86"/>
                </a:solidFill>
                <a:latin typeface="Amiri" pitchFamily="2" charset="-78"/>
                <a:cs typeface="Amiri" pitchFamily="2" charset="-78"/>
              </a:rPr>
              <a:t>غُرْفَتِي</a:t>
            </a:r>
            <a:pPr rtl="1" algn="r" indent="0" marL="0">
              <a:buNone/>
            </a:pPr>
            <a:r>
              <a:rPr lang="ar-SA" altLang="en-US" sz="2600" b="1" dirty="0">
                <a:solidFill>
                  <a:srgbClr val="1B3B6F"/>
                </a:solidFill>
                <a:latin typeface="Amiri" pitchFamily="2" charset="-78"/>
                <a:cs typeface="Amiri" pitchFamily="2" charset="-78"/>
              </a:rPr>
              <a:t> صَغِيرَةٌ، وَ</a:t>
            </a:r>
            <a:pPr rtl="1" algn="r" indent="0" marL="0">
              <a:buNone/>
            </a:pPr>
            <a:r>
              <a:rPr lang="ar-SA" altLang="en-US" sz="2600" b="1" dirty="0">
                <a:solidFill>
                  <a:srgbClr val="D6336C"/>
                </a:solidFill>
                <a:latin typeface="Amiri" pitchFamily="2" charset="-78"/>
                <a:cs typeface="Amiri" pitchFamily="2" charset="-78"/>
              </a:rPr>
              <a:t>غُرْفَتُهُ</a:t>
            </a:r>
            <a:pPr rtl="1" algn="r" indent="0" marL="0">
              <a:buNone/>
            </a:pPr>
            <a:r>
              <a:rPr lang="ar-SA" altLang="en-US" sz="2600" b="1" dirty="0">
                <a:solidFill>
                  <a:srgbClr val="1B3B6F"/>
                </a:solidFill>
                <a:latin typeface="Amiri" pitchFamily="2" charset="-78"/>
                <a:cs typeface="Amiri" pitchFamily="2" charset="-78"/>
              </a:rPr>
              <a:t> كَبِيرَةٌ، وَ</a:t>
            </a:r>
            <a:pPr rtl="1" algn="r" indent="0" marL="0">
              <a:buNone/>
            </a:pPr>
            <a:r>
              <a:rPr lang="ar-SA" altLang="en-US" sz="2600" b="1" dirty="0">
                <a:solidFill>
                  <a:srgbClr val="D6336C"/>
                </a:solidFill>
                <a:latin typeface="Amiri" pitchFamily="2" charset="-78"/>
                <a:cs typeface="Amiri" pitchFamily="2" charset="-78"/>
              </a:rPr>
              <a:t>حَقِيبَتُهَا</a:t>
            </a:r>
            <a:pPr rtl="1" algn="r" indent="0" marL="0">
              <a:buNone/>
            </a:pPr>
            <a:r>
              <a:rPr lang="ar-SA" altLang="en-US" sz="2600" b="1" dirty="0">
                <a:solidFill>
                  <a:srgbClr val="1B3B6F"/>
                </a:solidFill>
                <a:latin typeface="Amiri" pitchFamily="2" charset="-78"/>
                <a:cs typeface="Amiri" pitchFamily="2" charset="-78"/>
              </a:rPr>
              <a:t> زَرْقَاءُ.</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My name is Salma. My room is small, his room is big, and her bag is blue.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اِسْمِي لَيْلَى.</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name is Layla.</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بَيْتُنَا.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our house.</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هَلْ هَذَا فَصْلُكُمْ؟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Is this your classroom? (to a group)</a:t>
            </a:r>
            <a:endParaRPr lang="en-US" sz="1250" dirty="0"/>
          </a:p>
          <a:p>
            <a:pPr indent="0" marL="0">
              <a:buNone/>
            </a:pPr>
            <a:r>
              <a:rPr lang="en-US" sz="1050" i="1" dirty="0">
                <a:solidFill>
                  <a:srgbClr val="8A6D1E"/>
                </a:solidFill>
                <a:latin typeface="Calibri" pitchFamily="34" charset="0"/>
                <a:cs typeface="Amiri" pitchFamily="2" charset="-78"/>
              </a:rPr>
              <a:t>Website: -kum.</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كِتَابُهَا الْجَدِيدُ مُفِيدٌ.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Her new book is useful.</a:t>
            </a:r>
            <a:endParaRPr lang="en-US" sz="1250" dirty="0"/>
          </a:p>
          <a:p>
            <a:pPr indent="0" marL="0">
              <a:buNone/>
            </a:pPr>
            <a:r>
              <a:rPr lang="en-US" sz="1050" i="1" dirty="0">
                <a:solidFill>
                  <a:srgbClr val="8A6D1E"/>
                </a:solidFill>
                <a:latin typeface="Calibri" pitchFamily="34" charset="0"/>
                <a:cs typeface="Amiri" pitchFamily="2" charset="-78"/>
              </a:rPr>
              <a:t>Website: + adjective.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WHOSE IS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Speaker, listener, or someone else?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لِمَنْ هَذَا؟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قَلَمُكَ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قَلَمُهُ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بَيْتُنَا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بَيْتُكِ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بَيْتُهَا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غُرْفَتُكُمْ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غُرْفَتُهُمْ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My / our (speaker)</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Your (listener)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His / her / their</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My / our (speaker)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قَلَمِي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بَيْتُنَا</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Your (listener)</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قَلَمُكَ</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بَيْتُكِ</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غُرْفَتُكُمْ</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His / her / their</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قَلَمُهُ</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بَيْتُهَا</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غُرْفَتُهُمْ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OWNERSHIP SWITCH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Change only the owner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غَيِّرِ الْمَالِكَ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This is … car</a:t>
            </a:r>
            <a:endParaRPr lang="en-US" sz="1100" dirty="0"/>
          </a:p>
        </p:txBody>
      </p:sp>
      <p:sp>
        <p:nvSpPr>
          <p:cNvPr id="17" name="Text 14"/>
          <p:cNvSpPr txBox="1"/>
          <p:nvPr/>
        </p:nvSpPr>
        <p:spPr>
          <a:xfrm>
            <a:off x="32735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This is … book</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Owner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498080" y="2267712"/>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 سَيَّارَتِي.</a:t>
            </a:r>
            <a:endParaRPr lang="ar-SA" sz="2400" dirty="0"/>
          </a:p>
        </p:txBody>
      </p:sp>
      <p:sp>
        <p:nvSpPr>
          <p:cNvPr id="21" name="Text 18"/>
          <p:cNvSpPr txBox="1"/>
          <p:nvPr/>
        </p:nvSpPr>
        <p:spPr>
          <a:xfrm>
            <a:off x="329184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 كِتَابِي.</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498080" y="3004718"/>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 سَيَّارَتُهُ.</a:t>
            </a:r>
            <a:endParaRPr lang="ar-SA" sz="2400" dirty="0"/>
          </a:p>
        </p:txBody>
      </p:sp>
      <p:sp>
        <p:nvSpPr>
          <p:cNvPr id="27" name="Text 24"/>
          <p:cNvSpPr txBox="1"/>
          <p:nvPr/>
        </p:nvSpPr>
        <p:spPr>
          <a:xfrm>
            <a:off x="329184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 كِتَابُهُ.</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498080" y="3741725"/>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 سَيَّارَتُنَا.</a:t>
            </a:r>
            <a:endParaRPr lang="ar-SA" sz="2400" dirty="0"/>
          </a:p>
        </p:txBody>
      </p:sp>
      <p:sp>
        <p:nvSpPr>
          <p:cNvPr id="33" name="Text 30"/>
          <p:cNvSpPr txBox="1"/>
          <p:nvPr/>
        </p:nvSpPr>
        <p:spPr>
          <a:xfrm>
            <a:off x="329184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 كِتَابُنَا.</a:t>
            </a:r>
            <a:endParaRPr lang="ar-SA" sz="24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498080" y="4478731"/>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 سَيَّارَتُكِ.</a:t>
            </a:r>
            <a:endParaRPr lang="ar-SA" sz="2400" dirty="0"/>
          </a:p>
        </p:txBody>
      </p:sp>
      <p:sp>
        <p:nvSpPr>
          <p:cNvPr id="39" name="Text 36"/>
          <p:cNvSpPr txBox="1"/>
          <p:nvPr/>
        </p:nvSpPr>
        <p:spPr>
          <a:xfrm>
            <a:off x="329184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 كِتَابُكِ.</a:t>
            </a:r>
            <a:endParaRPr lang="ar-SA" sz="24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(one girl)</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498080" y="5215738"/>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 سَيَّارَتُهُنَّ.</a:t>
            </a:r>
            <a:endParaRPr lang="ar-SA" sz="2400" dirty="0"/>
          </a:p>
        </p:txBody>
      </p:sp>
      <p:sp>
        <p:nvSpPr>
          <p:cNvPr id="43" name="Text 40"/>
          <p:cNvSpPr txBox="1"/>
          <p:nvPr/>
        </p:nvSpPr>
        <p:spPr>
          <a:xfrm>
            <a:off x="329184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 كِتَابُهُنَّ.</a:t>
            </a:r>
            <a:endParaRPr lang="ar-SA" sz="24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(all female)</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“Ownership Switch”: keep the noun accurate and change only the ending. Car always needs the 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الْكِتَابِي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 with an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مَدْرَسَةُهُ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happens to </a:t>
            </a:r>
            <a:pPr algn="l" indent="0" marL="0">
              <a:buNone/>
            </a:pPr>
            <a:r>
              <a:rPr lang="ar-SA" altLang="en-US" sz="1700" dirty="0">
                <a:solidFill>
                  <a:srgbClr val="5A6472"/>
                </a:solidFill>
                <a:latin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يَا مَرْيَمُ، أَيْنَ حَقِيبَتُكَ؟</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Boy or girl listening?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الْكِتَابِي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كِتَابِي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al- with a possessive ending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مَدْرَسَةُهُ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مَدْرَسَتُهُ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Tāʾ marbūṭa becomes t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يَا مَرْيَمُ، أَيْنَ حَقِيبَتُكَ؟</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يَا مَرْيَمُ، أَيْنَ حَقِيبَتُكِ؟</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Speaking to a girl → -ki.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WEBSITE “MEANING AND AGREEMENT” CHECK, RE-KEYED</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“Where is your bag?” — to one female.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حَقِيبَتُكَ؟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حَقِيبَتُهَا؟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حَقِيبَتُكِ؟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their house” — two owners.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بَيْتُهُمْ.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بَيْتُهُمَا.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بَيْتُكُمَا.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new car is fast.”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سَيَّارَتُهُ الْجَدِيدُ سَرِيعٌ.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سَيَّارَتُهُ الْجَدِيدَةُ سَرِيعَةٌ.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سَيَّارَتُهَا الْجَدِيدَةُ سَرِيعَةٌ.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“Is this your classroom?” — to a mixed group.</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هَذَا فَصْلُهُمْ؟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هَذَا فَصْلُكُنَّ؟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هَذَا فَصْلُكُمْ؟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“Where is your bag?” — to one female.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حَقِيبَتُكَ؟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حَقِيبَتُهَا؟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أَيْنَ حَقِيبَتُكِ؟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female listener takes -ki.</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their house” — two owners.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بَيْتُهُمْ.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بَيْتُهُمَا.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بَيْتُكُمَا.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 person + dual = -humā.</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new car is fast.”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سَيَّارَتُهُ الْجَدِيدُ سَرِيعٌ.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سَيَّارَتُهُ الْجَدِيدَةُ سَرِيعَةٌ.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سَيَّارَتُهَا الْجَدِيدَةُ سَرِيعَةٌ.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 is feminine, so the adjectives are feminine.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“Is this your classroom?” — to a mixed group.</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هَذَا فَصْلُهُمْ؟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هَذَا فَصْلُكُنَّ؟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هَذَا فَصْلُكُمْ؟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mixed group being addressed takes -kum.</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family and our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2" charset="-78"/>
                <a:cs typeface="Amiri" pitchFamily="2" charset="-78"/>
              </a:rPr>
              <a:t>اِسْمِي سَلْمَى، وَهَذِهِ أُسْرَتِي. بَيْتُنَا قَرِيبٌ مِنْ مَدْرَسَتِي. غُرْفَتِي صَغِيرَةٌ وَلَكِنَّهَا مُرَتَّبَةٌ. هَذَا أَخِي خَالِدٌ. غُرْفَتُهُ كَبِيرَةٌ، وَحَاسُوبُهُ جَدِيدٌ. هَذِهِ أُخْتِي مَرْيَمُ. حَقِيبَتُهَا زَرْقَاءُ، وَكُتُبُهَا فِي غُرْفَتِهَا. وَالِدَايَ مُعَلِّمَانِ، وَمَدْرَسَتُهُمَا قَرِيبَةٌ مِنْ بَيْتِنَا. نَحْنُ نُحِبُّ بَيْتَنَا وَحَدِيقَتَنَا.</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أُسْرَتِي</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family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مُرَتَّبَةٌ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tidy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حَاسُوبُهُ</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computer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زَرْقَاءُ</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blue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وَالِدَايَ</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parents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حَدِيقَتَنَا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garden</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“our house” belong to?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only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and her family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Khalid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room is big?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Khalid’s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bag is blue?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Khalid’s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works at the school mentioned with -humā?</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children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two parents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girls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“our house” belong to?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 only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 and her family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Khalid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-nā means “our”.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room is big?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Khalid’s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Ghurfatuhu — -hu = his (Khalid).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bag is blue?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Khalid’s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Ḥaqībatuhā — -hā = her (Maryam).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works at the school mentioned with -humā?</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children</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two parents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girls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-humā marks two owners.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whose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اسْمُكَ؟ مَا اسْمُ أَبِيكَ؟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غُرْفَتَكَ وَغُرْفَةَ أَخِيكَ أَوْ أُخْتِكَ.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بَيْتَكُمْ وَأَشْيَاءَ أُسْرَتِكَ.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اسْمِي ___ ، وَاسْمُ أَبِي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غُرْفَتِي ___ ، وَغُرْفَتُهَا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بَيْتُنَا ___ ، وَسَيَّارَتُنَا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أَيْنَ حَقِيبَتُكِ؟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is your bag?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حَقِيبَتِي فِي غُرْفَتِي، وَحَقِيبَةُ أَخِي فِي سَيَّارَتِهِ.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bag is in my room, and my brother’s bag is in his car.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with my and our.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ismī, baytunā, ghurfatī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his, her and their, with </a:t>
            </a:r>
            <a:pPr algn="l" indent="0" marL="0">
              <a:buNone/>
            </a:pPr>
            <a:r>
              <a:rPr lang="ar-SA" altLang="en-US" sz="1800" b="1" dirty="0">
                <a:solidFill>
                  <a:srgbClr val="1F2A37"/>
                </a:solidFill>
                <a:latin typeface="Amiri" pitchFamily="2" charset="-78"/>
                <a:cs typeface="Amiri" pitchFamily="2" charset="-78"/>
              </a:rPr>
              <a:t>ة</a:t>
            </a:r>
            <a:pPr algn="l" indent="0" marL="0">
              <a:buNone/>
            </a:pPr>
            <a:r>
              <a:rPr lang="en-US" sz="1400" b="1" dirty="0">
                <a:solidFill>
                  <a:srgbClr val="1F2A37"/>
                </a:solidFill>
                <a:latin typeface="Calibri" pitchFamily="34" charset="0"/>
                <a:cs typeface="Amiri" pitchFamily="2" charset="-78"/>
              </a:rPr>
              <a:t> 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the t: madrasatuhu.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family possessions with adjectives.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Adjective agrees with the thing owned.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غُرْفَتُهُ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room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حَقِيبَتُهَا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bag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مَدْرَسَتُهُمْ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Their school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is your book?</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بَيْتُنَا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house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غُرْفَتِي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bag.</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ـِي  ·  ـنَا  ·  ـكَ  ·  ـكِ  ·  ـهُ  ·  ـهَا  ·  ـهُمْ  ·  ـهُنَّ  ·  كَبِيرٌ  ·  صَغِيرَةٌ  ·  جَدِيدٌ  ·  قَرِيبَةٌ  ·  مُرَتَّبَةٌ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8–10 sentences about your family and home, showing who owns what.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different possessive endings.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a:t>
            </a:r>
            <a:pPr algn="l" indent="0" marL="0">
              <a:buNone/>
            </a:pPr>
            <a:r>
              <a:rPr lang="ar-SA" altLang="en-US" sz="1550" dirty="0">
                <a:solidFill>
                  <a:srgbClr val="1F2A37"/>
                </a:solidFill>
                <a:latin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nouns with t before the ending.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al- and no tanwīn before an ending.</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question: ayna …? or mā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possessive noun + adjective with correct agreement.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اسْمُهُ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name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سَيَّارَتُنَا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our car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أُسْرَتِي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family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غُرْفَتُهَا الْجَدِيدَةُ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her new room</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مَدْرَسَتُهُمْ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their school</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بَيْتُكِ؟</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where is your house? (f.)</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اسْمِي آدَمُ، وَهَذِهِ أُسْرَتِي. أَبِي طَبِيبٌ، وَمُسْتَشْفَاهُ قَرِيبٌ مِنْ بَيْتِنَا. أُمِّي مُعَلِّمَةٌ، وَمَدْرَسَتُهَا كَبِيرَةٌ. أَخِي يُوسُفُ عِنْدَهُ دَرَّاجَةٌ؛ دَرَّاجَتُهُ الْجَدِيدَةُ حَمْرَاءُ. أُخْتَايَ تَوْأَمَانِ، وَغُرْفَتُهُمَا مُرَتَّبَةٌ دَائِمًا. غُرْفَتِي صَغِيرَةٌ، لَكِنِّي أُحِبُّهَا. نَحْنُ نُحِبُّ بَيْتَنَا كَثِيرًا.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name is Adam, and this is my family. My father is a doctor, and his hospital is near our house. My mother is a teacher, and her school is big. My brother Yusuf has a bike; his new bike is red. My two sisters are twins, and their room is always tidy. My room is small, but I love it. We love our house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my / our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his / her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their (dual)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ة → 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ending matches the right owner.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al- or tanwīn before an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t>
            </a:r>
            <a:pPr algn="l" indent="0" marL="0">
              <a:buNone/>
            </a:pPr>
            <a:r>
              <a:rPr lang="ar-SA" altLang="en-US" sz="1700" dirty="0">
                <a:solidFill>
                  <a:srgbClr val="1F2A37"/>
                </a:solidFill>
                <a:latin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nouns show t before the ending.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-ka or -ki by the listener.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Adjectives agree with the thing owned.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“their room” — female plural owners.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غُرْفَتُهُنَّ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غُرْفَتُهُمْ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غُرْفَتُكُنَّ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family”.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أُسْرَةُنَا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أُسْرَتُنَا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الْأُسْرَتُنَا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“What is her name?”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“their room” — female plural owners.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غُرْفَتُهُنَّ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غُرْفَتُهُمْ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غُرْفَتُكُنَّ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 person + feminine plural = -hunna.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family”.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أُسْرَةُنَا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أُسْرَتُنَا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الْأُسْرَتُنَا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Usra becomes usrat- before -nā.</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“What is her name?”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مَا اسْمُهَا؟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 اسْمُهُ؟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 اسْمُكِ؟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-hā means “her”.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GM-PRO-03: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GM-PRO-03 · Object Pronoun Suffixes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يُسَاعِدُنِي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helps me</a:t>
            </a:r>
            <a:pPr indent="0" marL="0">
              <a:buNone/>
            </a:pPr>
            <a:r>
              <a:rPr lang="en-US" sz="1000" i="1" dirty="0">
                <a:solidFill>
                  <a:srgbClr val="5A6472"/>
                </a:solidFill>
                <a:latin typeface="Calibri" pitchFamily="34" charset="0"/>
                <a:cs typeface="Amiri" pitchFamily="2" charset="-78"/>
              </a:rPr>
              <a:t>  -nī</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يُسَاعِدُكَ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helps you (m.)</a:t>
            </a:r>
            <a:pPr indent="0" marL="0">
              <a:buNone/>
            </a:pPr>
            <a:r>
              <a:rPr lang="en-US" sz="1000" i="1" dirty="0">
                <a:solidFill>
                  <a:srgbClr val="5A6472"/>
                </a:solidFill>
                <a:latin typeface="Calibri" pitchFamily="34" charset="0"/>
                <a:cs typeface="Amiri" pitchFamily="2" charset="-78"/>
              </a:rPr>
              <a:t>  -ka</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يُسَاعِدُهُ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helps him</a:t>
            </a:r>
            <a:pPr indent="0" marL="0">
              <a:buNone/>
            </a:pPr>
            <a:r>
              <a:rPr lang="en-US" sz="1000" i="1" dirty="0">
                <a:solidFill>
                  <a:srgbClr val="5A6472"/>
                </a:solidFill>
                <a:latin typeface="Calibri" pitchFamily="34" charset="0"/>
                <a:cs typeface="Amiri" pitchFamily="2" charset="-78"/>
              </a:rPr>
              <a:t>  -hu</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يُسَاعِدُهَا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helps her</a:t>
            </a:r>
            <a:pPr indent="0" marL="0">
              <a:buNone/>
            </a:pPr>
            <a:r>
              <a:rPr lang="en-US" sz="1000" i="1" dirty="0">
                <a:solidFill>
                  <a:srgbClr val="5A6472"/>
                </a:solidFill>
                <a:latin typeface="Calibri" pitchFamily="34" charset="0"/>
                <a:cs typeface="Amiri" pitchFamily="2" charset="-78"/>
              </a:rPr>
              <a:t>  -hā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يُسَاعِدُنَا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helps us</a:t>
            </a:r>
            <a:pPr indent="0" marL="0">
              <a:buNone/>
            </a:pPr>
            <a:r>
              <a:rPr lang="en-US" sz="1000" i="1" dirty="0">
                <a:solidFill>
                  <a:srgbClr val="5A6472"/>
                </a:solidFill>
                <a:latin typeface="Calibri" pitchFamily="34" charset="0"/>
                <a:cs typeface="Amiri" pitchFamily="2" charset="-78"/>
              </a:rPr>
              <a:t>  -nā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kitābī (my book). Why do you think “helps me” is yusāʿidunī and not “yusāʿidī”?</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كِتَابُهُ · يُسَاعِدُهُ — كِتَابُهَا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my, your, his, her and our with five nouns.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Label ten objects at home with their owners.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8–10 sentences: my family and our home.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GM-PRO-02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50" b="1" dirty="0">
                <a:solidFill>
                  <a:srgbClr val="FFFFFF"/>
                </a:solidFill>
                <a:latin typeface="Cambria" pitchFamily="34" charset="0"/>
                <a:cs typeface="Amiri" pitchFamily="2" charset="-78"/>
              </a:rPr>
              <a:t>GM-PRO-03 · Object Pronoun Suffixes</a:t>
            </a:r>
            <a:endParaRPr lang="en-US" sz="25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ضَمَائِرُ الْمَفْعُولِ بِهِ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one word — noun + owner ending · no al-, no tanwīn · </a:t>
            </a:r>
            <a:pPr algn="l" indent="0" marL="0">
              <a:buNone/>
            </a:pPr>
            <a:r>
              <a:rPr lang="ar-SA" altLang="en-US" sz="1700" b="1" dirty="0">
                <a:solidFill>
                  <a:srgbClr val="FFFFFF"/>
                </a:solidFill>
                <a:latin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becomes t · -ka for a boy, -ki for a girl · the adjective agrees with the thing owned.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GM-PRO-02 · Possessive Pronoun Suffixes</dc:title>
  <dc:subject>PptxGenJS Presentation</dc:subject>
  <dc:creator>Al Madina Online School · Arabic Department</dc:creator>
  <cp:lastModifiedBy>Al Madina Online School · Arabic Department</cp:lastModifiedBy>
  <cp:revision>1</cp:revision>
  <dcterms:created xsi:type="dcterms:W3CDTF">2026-10-11T06:42:28Z</dcterms:created>
  <dcterms:modified xsi:type="dcterms:W3CDTF">2026-10-11T06:42:28Z</dcterms:modified>
</cp:coreProperties>
</file>