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Pronouns › GM-PRO-02 (“”).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core endings ـِي · ـنَا · ـكَ · ـكِ · ـهُ · ـهَا with كِتَابٌ and بَيْتٌ. Develop: the full family (ـكُمَا · ـكُمْ · ـكُنَّ · ـهُمَا · ـهُمْ · ـهُنَّ); ة → ت (مَدْرَسَتِي); possessive sentences (هَذَا بَيْتُنَا · أَيْنَ حَقِيبَتُكِ؟). Stretch: adjective agreement with the thing possessed (سَيَّارَتُهُ الْجَدِيدَةُ); case vowel before the suffix (فِي كِتَابِهِ).
• Website pattern families: second-person endings begin with ك, third-person endings begin with ه — teach as two families.
• Pronunciation: ـكَ / ـكِ differ only in the final vowel; pronounce the doubled نّ in ـكُنَّ / ـهُنَّ clearly.
• Note for the teacher: the website quiz answer keys were re-keyed for this deck.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“Pronoun Bridge” check (5 of 6 questions) — it retrieves GM-PRO-01 and the five words prepared there.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owner has an ending that grows from its pronoun: hiya → -hā, naḥnu → -nā. Attach it to the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table “All possessive endings with kitāb”. Point out the shared shapes: hiya / -hā, hum / -hum, hunna / -hunna, antum / -kum.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“Four rules” and “Pattern lab: nouns ending in ة”. Common error from the website success criteria: madrasatī, not “madrasaī”.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“Move from a word to meaningful communication” (patterns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“Attachment Clinic”, re-keyed.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From the website reading text. Colour separates the speaker’s things (my) from other owners (his / her). Narrate the four rules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Then translate each word; listen for -ka / -ki and -kum / -hum.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Then translate each word; listen for -ka / -ki and -kum / -hum.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Cover columns 2–3; call out an owner, students say both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“Meaning and Agreement” check, re-keyed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Read it aloud once while students follow; then they hunt for today’s grammar.
Task: Website: underline each attached ending and identify its owner (write the matching pronoun).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text and website reading-comprehension questions (re-keyed).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communication patterns. Sequence: ● 10s think → ↔ 45s rehearse aloud with mic muted → ◎ two named students on open mic (warned in advance) → + ? the class types one follow-up in chat → ↺ one student summarises.
Routes: Core uses the Core prompt and stem; Develop the Develop prompt; Stretch the last prompt.
Pairs ask “ayna …-ka / -ki?” and answer with -ī. Listen for -ka vs -ki and the t in ة nouns.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about your family and home, using possessive endings to show who owns what.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pattern,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(GM-PRO-03 · Object Pronoun Suffixes) will spend class time USING this language, so students prepare it tonight — short, simple, easy to access (school guidance: “Simple, Short, Interesting, Relevant, Easy to access”). The five words prepare GM-PRO-03 (website Pronouns lesson 3: object pronouns).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PRONOUNS  ·  GM-PRO-02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GM-PRO-02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00" b="1" dirty="0">
                <a:solidFill>
                  <a:srgbClr val="FFFFFF"/>
                </a:solidFill>
                <a:latin typeface="Cambria" pitchFamily="34" charset="0"/>
                <a:ea typeface="Cambria" pitchFamily="34" charset="-122"/>
                <a:cs typeface="Cambria" pitchFamily="34" charset="-120"/>
              </a:rPr>
              <a:t>Possessive Pronoun Suffixes</a:t>
            </a:r>
            <a:endParaRPr lang="en-US" sz="3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الضَّمَائِرُ الْمُتَّصِلَةُ بِالْأَسْمَاءِ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Arabic says “my book” in ONE word: kitāb + -ī = kitābī. Each owner has an ending that grows from its pronoun (hiya → -hā). Attach it directly, drop al- and tanwīn, and turn tāʾ marbūṭa into t: madrasatī.</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GM-PRO-02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Pronouns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From pronoun to ending; the full family; four rules; sentences.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Switch the owner; sort the families;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GM-PRO-03.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ending matches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our (-nā)</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(-ī)</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(-hu)</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ending matches </a:t>
            </a:r>
            <a:pPr algn="l" indent="0" marL="0">
              <a:buNone/>
            </a:pPr>
            <a:r>
              <a:rPr lang="ar-SA" altLang="en-US" sz="1650" b="1" dirty="0">
                <a:solidFill>
                  <a:srgbClr val="1B3B6F"/>
                </a:solidFill>
                <a:latin typeface="Amiri" pitchFamily="34" charset="0"/>
                <a:ea typeface="Amiri" pitchFamily="34" charset="-122"/>
                <a:cs typeface="Amiri" pitchFamily="34" charset="-120"/>
              </a:rPr>
              <a:t>أَنْتِ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your, feminine singular (-ki)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your, masculine singular (-ka)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(-hā)</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ending matches </a:t>
            </a:r>
            <a:pPr algn="l" indent="0" marL="0">
              <a:buNone/>
            </a:pPr>
            <a:r>
              <a:rPr lang="ar-SA" altLang="en-US" sz="1650" b="1" dirty="0">
                <a:solidFill>
                  <a:srgbClr val="1B3B6F"/>
                </a:solidFill>
                <a:latin typeface="Amiri" pitchFamily="34" charset="0"/>
                <a:ea typeface="Amiri" pitchFamily="34" charset="-122"/>
                <a:cs typeface="Amiri" pitchFamily="34" charset="-120"/>
              </a:rPr>
              <a:t>أَنْتُمَا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dual (-humā)</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your, plural (-kum)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your, dual (-kumā)</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ending matches </a:t>
            </a:r>
            <a:pPr algn="l" indent="0" marL="0">
              <a:buNone/>
            </a:pPr>
            <a:r>
              <a:rPr lang="ar-SA" altLang="en-US" sz="1650" b="1" dirty="0">
                <a:solidFill>
                  <a:srgbClr val="1B3B6F"/>
                </a:solidFill>
                <a:latin typeface="Amiri" pitchFamily="34" charset="0"/>
                <a:ea typeface="Amiri" pitchFamily="34" charset="-122"/>
                <a:cs typeface="Amiri" pitchFamily="34" charset="-120"/>
              </a:rPr>
              <a:t>هُوَ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(-hā)</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(-hum)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(-hu)</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ending matches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our (-nā)</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(-ī)</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(-hum)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ending matches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our (-nā)</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my (-ī)</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(-hu)</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Anā becomes -ī, meaning “my”.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ending matches </a:t>
            </a:r>
            <a:pPr algn="l" indent="0" marL="0">
              <a:buNone/>
            </a:pPr>
            <a:r>
              <a:rPr lang="ar-SA" altLang="en-US" sz="1650" b="1" dirty="0">
                <a:solidFill>
                  <a:srgbClr val="1B3B6F"/>
                </a:solidFill>
                <a:latin typeface="Amiri" pitchFamily="34" charset="0"/>
                <a:ea typeface="Amiri" pitchFamily="34" charset="-122"/>
                <a:cs typeface="Amiri" pitchFamily="34" charset="-120"/>
              </a:rPr>
              <a:t>أَنْتِ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your, feminine singular (-ki)</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your, masculine singular (-ka)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(-hā)</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Anti corresponds to -ki.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ending matches </a:t>
            </a:r>
            <a:pPr algn="l" indent="0" marL="0">
              <a:buNone/>
            </a:pPr>
            <a:r>
              <a:rPr lang="ar-SA" altLang="en-US" sz="1650" b="1" dirty="0">
                <a:solidFill>
                  <a:srgbClr val="1B3B6F"/>
                </a:solidFill>
                <a:latin typeface="Amiri" pitchFamily="34" charset="0"/>
                <a:ea typeface="Amiri" pitchFamily="34" charset="-122"/>
                <a:cs typeface="Amiri" pitchFamily="34" charset="-120"/>
              </a:rPr>
              <a:t>أَنْتُمَا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their, dual (-humā)</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your, plural (-kum)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your, dual (-kumā)</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Direct address + exactly two = -kumā.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ending matches </a:t>
            </a:r>
            <a:pPr algn="l" indent="0" marL="0">
              <a:buNone/>
            </a:pPr>
            <a:r>
              <a:rPr lang="ar-SA" altLang="en-US" sz="1650" b="1" dirty="0">
                <a:solidFill>
                  <a:srgbClr val="1B3B6F"/>
                </a:solidFill>
                <a:latin typeface="Amiri" pitchFamily="34" charset="0"/>
                <a:ea typeface="Amiri" pitchFamily="34" charset="-122"/>
                <a:cs typeface="Amiri" pitchFamily="34" charset="-120"/>
              </a:rPr>
              <a:t>هُوَ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(-hā)</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their (-hum)</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 (-hu)</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Huwa corresponds to -hu, “his”.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ending matches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our (-nā)</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my (-ī)</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their (-hum)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Naḥnu corresponds to -nā, “our”.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Each owner has an ending that grows from its pronoun: hiya → -hā, naḥnu → -nā. Attach it to the noun.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a:t>
            </a:r>
            <a:pPr rtl="1" algn="ctr" indent="0" marL="0">
              <a:buNone/>
            </a:pPr>
            <a:r>
              <a:rPr lang="ar-SA" altLang="en-US" sz="2400" b="1" dirty="0">
                <a:solidFill>
                  <a:srgbClr val="0E7C86"/>
                </a:solidFill>
                <a:latin typeface="Amiri" pitchFamily="34" charset="0"/>
                <a:ea typeface="Amiri" pitchFamily="34" charset="-122"/>
                <a:cs typeface="Amiri" pitchFamily="34" charset="-120"/>
              </a:rPr>
              <a:t>هَا</a:t>
            </a:r>
            <a:pPr rtl="1" algn="ctr" indent="0" marL="0">
              <a:buNone/>
            </a:pPr>
            <a:r>
              <a:rPr lang="ar-SA" altLang="en-US" sz="2400" b="1" dirty="0">
                <a:solidFill>
                  <a:srgbClr val="1B3B6F"/>
                </a:solidFill>
                <a:latin typeface="Amiri" pitchFamily="34" charset="0"/>
                <a:ea typeface="Amiri" pitchFamily="34" charset="-122"/>
                <a:cs typeface="Amiri" pitchFamily="34" charset="-120"/>
              </a:rPr>
              <a:t> ‖ بَيْتُ</a:t>
            </a:r>
            <a:pPr rtl="1" algn="ctr" indent="0" marL="0">
              <a:buNone/>
            </a:pPr>
            <a:r>
              <a:rPr lang="ar-SA" altLang="en-US" sz="2400" b="1" dirty="0">
                <a:solidFill>
                  <a:srgbClr val="D6336C"/>
                </a:solidFill>
                <a:latin typeface="Amiri" pitchFamily="34" charset="0"/>
                <a:ea typeface="Amiri" pitchFamily="34" charset="-122"/>
                <a:cs typeface="Amiri" pitchFamily="34" charset="-120"/>
              </a:rPr>
              <a:t>نَا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Match each subject pronoun to its possessive ending.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Attach endings to nouns: no al-, no tanwīn.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Change tāʾ marbūṭa to t before an ending.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possessive nouns in sentences, with correct adjective agreement.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my, your, his, her and our book.</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hear the difference between -ka and -ki.</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write my school as madrasatī.</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-kum / -kunna and -hum / -hunna.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give the adjective the gender of the thing owned.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notice fī kitābihi (vowel change).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الضَّمِيرُ الْمُتَّصِلُ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attached pronoun (suffix)</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aḍ-ḍa-mī-ru al-mut-ta-ṣi-lu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ـِي · ـكَ · ـهَا</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الْمَالِكُ</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owner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al-mā-li-ku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shown by the ending</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الْمَمْلُوكُ</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thing owned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al-mam-lū-ku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noun itself</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التَّاءُ الْمَرْبُوطَةُ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tāʾ marbūṭa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at-tā-ʾu al-mar-bū-ṭa-tu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مَدْرَسَةٌ · مَدْرَسَتِي</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التَّنْوِينُ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tanwīn (-un, -an,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at-tan-wī-nu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dropped before a suffix</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لِمَنْ هَذَا؟</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Whose is this?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li-man ha-dhā?</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هَذَا كِتَابِي</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ALL POSSESSIVE ENDINGS WITH KITĀB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pronoun to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الضَّمِيرِ إِلَى اللَّاحِقَةِ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473659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book</a:t>
            </a:r>
            <a:endParaRPr lang="en-US" sz="1100" dirty="0"/>
          </a:p>
        </p:txBody>
      </p:sp>
      <p:sp>
        <p:nvSpPr>
          <p:cNvPr id="18" name="Text 15"/>
          <p:cNvSpPr txBox="1"/>
          <p:nvPr/>
        </p:nvSpPr>
        <p:spPr>
          <a:xfrm>
            <a:off x="272491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Ending</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Pronoun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699248" y="226771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book · our book</a:t>
            </a:r>
            <a:endParaRPr lang="en-US" sz="1100" dirty="0"/>
          </a:p>
        </p:txBody>
      </p:sp>
      <p:sp>
        <p:nvSpPr>
          <p:cNvPr id="22" name="Text 19"/>
          <p:cNvSpPr txBox="1"/>
          <p:nvPr/>
        </p:nvSpPr>
        <p:spPr>
          <a:xfrm>
            <a:off x="475488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كِتَابِي · كِتَابُنَا</a:t>
            </a:r>
            <a:endParaRPr lang="ar-SA" sz="2400" dirty="0"/>
          </a:p>
        </p:txBody>
      </p:sp>
      <p:sp>
        <p:nvSpPr>
          <p:cNvPr id="23" name="Text 20"/>
          <p:cNvSpPr txBox="1"/>
          <p:nvPr/>
        </p:nvSpPr>
        <p:spPr>
          <a:xfrm>
            <a:off x="2743200" y="226771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ـِي · ـنَا</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 · نَحْنُ</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699248" y="2881884"/>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book (to a boy · to a girl)</a:t>
            </a:r>
            <a:endParaRPr lang="en-US" sz="1100" dirty="0"/>
          </a:p>
        </p:txBody>
      </p:sp>
      <p:sp>
        <p:nvSpPr>
          <p:cNvPr id="29" name="Text 26"/>
          <p:cNvSpPr txBox="1"/>
          <p:nvPr/>
        </p:nvSpPr>
        <p:spPr>
          <a:xfrm>
            <a:off x="475488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كِتَابُكَ · كِتَابُكِ</a:t>
            </a:r>
            <a:endParaRPr lang="ar-SA" sz="2400" dirty="0"/>
          </a:p>
        </p:txBody>
      </p:sp>
      <p:sp>
        <p:nvSpPr>
          <p:cNvPr id="30" name="Text 27"/>
          <p:cNvSpPr txBox="1"/>
          <p:nvPr/>
        </p:nvSpPr>
        <p:spPr>
          <a:xfrm>
            <a:off x="2743200" y="2881884"/>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ـكَ · ـكِ</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 · أَنْتِ</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699248" y="3496056"/>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his book · her book</a:t>
            </a:r>
            <a:endParaRPr lang="en-US" sz="1100" dirty="0"/>
          </a:p>
        </p:txBody>
      </p:sp>
      <p:sp>
        <p:nvSpPr>
          <p:cNvPr id="36" name="Text 33"/>
          <p:cNvSpPr txBox="1"/>
          <p:nvPr/>
        </p:nvSpPr>
        <p:spPr>
          <a:xfrm>
            <a:off x="475488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كِتَابُهُ · كِتَابُهَا</a:t>
            </a:r>
            <a:endParaRPr lang="ar-SA" sz="2400" dirty="0"/>
          </a:p>
        </p:txBody>
      </p:sp>
      <p:sp>
        <p:nvSpPr>
          <p:cNvPr id="37" name="Text 34"/>
          <p:cNvSpPr txBox="1"/>
          <p:nvPr/>
        </p:nvSpPr>
        <p:spPr>
          <a:xfrm>
            <a:off x="2743200" y="3496056"/>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ـهُ · ـهَا</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 · 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7699248" y="4110228"/>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 their book (two owners)</a:t>
            </a:r>
            <a:endParaRPr lang="en-US" sz="1100" dirty="0"/>
          </a:p>
        </p:txBody>
      </p:sp>
      <p:sp>
        <p:nvSpPr>
          <p:cNvPr id="43" name="Text 40"/>
          <p:cNvSpPr txBox="1"/>
          <p:nvPr/>
        </p:nvSpPr>
        <p:spPr>
          <a:xfrm>
            <a:off x="475488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كِتَابُكُمَا · كِتَابُهُمَا</a:t>
            </a:r>
            <a:endParaRPr lang="ar-SA" sz="2400" dirty="0"/>
          </a:p>
        </p:txBody>
      </p:sp>
      <p:sp>
        <p:nvSpPr>
          <p:cNvPr id="44" name="Text 41"/>
          <p:cNvSpPr txBox="1"/>
          <p:nvPr/>
        </p:nvSpPr>
        <p:spPr>
          <a:xfrm>
            <a:off x="2743200" y="4110228"/>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ـكُمَا · ـهُمَا</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أَنْتُمَا · هُمَا</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7699248" y="4724400"/>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 their book (m. or mixed)</a:t>
            </a:r>
            <a:endParaRPr lang="en-US" sz="1100" dirty="0"/>
          </a:p>
        </p:txBody>
      </p:sp>
      <p:sp>
        <p:nvSpPr>
          <p:cNvPr id="48" name="Text 45"/>
          <p:cNvSpPr txBox="1"/>
          <p:nvPr/>
        </p:nvSpPr>
        <p:spPr>
          <a:xfrm>
            <a:off x="475488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كِتَابُكُمْ · كِتَابُهُمْ</a:t>
            </a:r>
            <a:endParaRPr lang="ar-SA" sz="2400" dirty="0"/>
          </a:p>
        </p:txBody>
      </p:sp>
      <p:sp>
        <p:nvSpPr>
          <p:cNvPr id="49" name="Text 46"/>
          <p:cNvSpPr txBox="1"/>
          <p:nvPr/>
        </p:nvSpPr>
        <p:spPr>
          <a:xfrm>
            <a:off x="2743200" y="4724400"/>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ـكُمْ · ـهُمْ</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أَنْتُمْ · هُمْ</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7699248" y="533857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 their book (all female)</a:t>
            </a:r>
            <a:endParaRPr lang="en-US" sz="1100" dirty="0"/>
          </a:p>
        </p:txBody>
      </p:sp>
      <p:sp>
        <p:nvSpPr>
          <p:cNvPr id="53" name="Text 50"/>
          <p:cNvSpPr txBox="1"/>
          <p:nvPr/>
        </p:nvSpPr>
        <p:spPr>
          <a:xfrm>
            <a:off x="475488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كِتَابُكُنَّ · كِتَابُهُنَّ</a:t>
            </a:r>
            <a:endParaRPr lang="ar-SA" sz="2400" dirty="0"/>
          </a:p>
        </p:txBody>
      </p:sp>
      <p:sp>
        <p:nvSpPr>
          <p:cNvPr id="54" name="Text 51"/>
          <p:cNvSpPr txBox="1"/>
          <p:nvPr/>
        </p:nvSpPr>
        <p:spPr>
          <a:xfrm>
            <a:off x="2743200" y="533857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ـكُنَّ · ـهُنَّ</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أَنْتُنَّ · هُنَّ</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pattern families: “your” endings begin with k; “his / her / their” endings begin with h. Ka and ki differ only in the final vowel.</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FOUR RULES FOR BUILDING POSSESSIVE NOUNS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Attach — no al- — no tanwīn — </a:t>
            </a:r>
            <a:pPr algn="l" indent="0" marL="0">
              <a:buNone/>
            </a:pPr>
            <a:r>
              <a:rPr lang="ar-SA" altLang="en-US" sz="3000" b="1" dirty="0">
                <a:solidFill>
                  <a:srgbClr val="1B3B6F"/>
                </a:solidFill>
                <a:latin typeface="Amiri" pitchFamily="34" charset="0"/>
                <a:ea typeface="Amiri" pitchFamily="34" charset="-122"/>
                <a:cs typeface="Amiri" pitchFamily="34" charset="-120"/>
              </a:rPr>
              <a:t>ة</a:t>
            </a:r>
            <a:pPr algn="l" indent="0" marL="0">
              <a:buNone/>
            </a:pPr>
            <a:r>
              <a:rPr lang="en-US" sz="2300" b="1" dirty="0">
                <a:solidFill>
                  <a:srgbClr val="1B3B6F"/>
                </a:solidFill>
                <a:latin typeface="Cambria" pitchFamily="34" charset="0"/>
                <a:ea typeface="Cambria" pitchFamily="34" charset="-122"/>
                <a:cs typeface="Cambria" pitchFamily="34" charset="-120"/>
              </a:rPr>
              <a:t> becomes </a:t>
            </a:r>
            <a:pPr algn="l" indent="0" marL="0">
              <a:buNone/>
            </a:pPr>
            <a:r>
              <a:rPr lang="ar-SA" altLang="en-US" sz="3000" b="1" dirty="0">
                <a:solidFill>
                  <a:srgbClr val="1B3B6F"/>
                </a:solidFill>
                <a:latin typeface="Amiri" pitchFamily="34" charset="0"/>
                <a:ea typeface="Amiri" pitchFamily="34" charset="-122"/>
                <a:cs typeface="Amiri" pitchFamily="34" charset="-120"/>
              </a:rPr>
              <a:t>ت</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أَرْبَعُ 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p>
        </p:txBody>
      </p:sp>
      <p:sp>
        <p:nvSpPr>
          <p:cNvPr id="17" name="Text 14"/>
          <p:cNvSpPr txBox="1"/>
          <p:nvPr/>
        </p:nvSpPr>
        <p:spPr>
          <a:xfrm>
            <a:off x="63825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a:t>
            </a:r>
            <a:endParaRPr lang="en-US" sz="1100" dirty="0"/>
          </a:p>
        </p:txBody>
      </p:sp>
      <p:sp>
        <p:nvSpPr>
          <p:cNvPr id="18" name="Text 15"/>
          <p:cNvSpPr txBox="1"/>
          <p:nvPr/>
        </p:nvSpPr>
        <p:spPr>
          <a:xfrm>
            <a:off x="382219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Before</a:t>
            </a:r>
            <a:endParaRPr lang="en-US" sz="1100" dirty="0"/>
          </a:p>
        </p:txBody>
      </p:sp>
      <p:sp>
        <p:nvSpPr>
          <p:cNvPr id="19" name="Text 16"/>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Rule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979408" y="226771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written word</a:t>
            </a:r>
            <a:endParaRPr lang="en-US" sz="1100" dirty="0"/>
          </a:p>
        </p:txBody>
      </p:sp>
      <p:sp>
        <p:nvSpPr>
          <p:cNvPr id="22" name="Text 19"/>
          <p:cNvSpPr txBox="1"/>
          <p:nvPr/>
        </p:nvSpPr>
        <p:spPr>
          <a:xfrm>
            <a:off x="640080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بَيْتُنَا</a:t>
            </a:r>
            <a:endParaRPr lang="ar-SA" sz="2400" dirty="0"/>
          </a:p>
        </p:txBody>
      </p:sp>
      <p:sp>
        <p:nvSpPr>
          <p:cNvPr id="23" name="Text 20"/>
          <p:cNvSpPr txBox="1"/>
          <p:nvPr/>
        </p:nvSpPr>
        <p:spPr>
          <a:xfrm>
            <a:off x="384048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a:t>
            </a:r>
            <a:endParaRPr lang="ar-SA" sz="2400" dirty="0"/>
          </a:p>
        </p:txBody>
      </p:sp>
      <p:sp>
        <p:nvSpPr>
          <p:cNvPr id="24" name="Text 21"/>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attach the ending directly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979408" y="2881884"/>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ending already makes it definite</a:t>
            </a:r>
            <a:endParaRPr lang="en-US" sz="1100" dirty="0"/>
          </a:p>
        </p:txBody>
      </p:sp>
      <p:sp>
        <p:nvSpPr>
          <p:cNvPr id="29" name="Text 26"/>
          <p:cNvSpPr txBox="1"/>
          <p:nvPr/>
        </p:nvSpPr>
        <p:spPr>
          <a:xfrm>
            <a:off x="640080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كِتَابِي</a:t>
            </a:r>
            <a:endParaRPr lang="ar-SA" sz="2400" dirty="0"/>
          </a:p>
        </p:txBody>
      </p:sp>
      <p:sp>
        <p:nvSpPr>
          <p:cNvPr id="30" name="Text 27"/>
          <p:cNvSpPr txBox="1"/>
          <p:nvPr/>
        </p:nvSpPr>
        <p:spPr>
          <a:xfrm>
            <a:off x="384048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الْكِتَابُ</a:t>
            </a:r>
            <a:endParaRPr lang="ar-SA" sz="2400" dirty="0"/>
          </a:p>
        </p:txBody>
      </p:sp>
      <p:sp>
        <p:nvSpPr>
          <p:cNvPr id="31" name="Text 28"/>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no al-</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979408" y="3496056"/>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tanwīn and a suffix never meet</a:t>
            </a:r>
            <a:endParaRPr lang="en-US" sz="1100" dirty="0"/>
          </a:p>
        </p:txBody>
      </p:sp>
      <p:sp>
        <p:nvSpPr>
          <p:cNvPr id="36" name="Text 33"/>
          <p:cNvSpPr txBox="1"/>
          <p:nvPr/>
        </p:nvSpPr>
        <p:spPr>
          <a:xfrm>
            <a:off x="640080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كِتَابُهُ</a:t>
            </a:r>
            <a:endParaRPr lang="ar-SA" sz="2400" dirty="0"/>
          </a:p>
        </p:txBody>
      </p:sp>
      <p:sp>
        <p:nvSpPr>
          <p:cNvPr id="37" name="Text 34"/>
          <p:cNvSpPr txBox="1"/>
          <p:nvPr/>
        </p:nvSpPr>
        <p:spPr>
          <a:xfrm>
            <a:off x="384048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a:t>
            </a:r>
            <a:endParaRPr lang="ar-SA" sz="2400" dirty="0"/>
          </a:p>
        </p:txBody>
      </p:sp>
      <p:sp>
        <p:nvSpPr>
          <p:cNvPr id="38" name="Text 35"/>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no tanwīn</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979408" y="4110228"/>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hidden t appears</a:t>
            </a:r>
            <a:endParaRPr lang="en-US" sz="1100" dirty="0"/>
          </a:p>
        </p:txBody>
      </p:sp>
      <p:sp>
        <p:nvSpPr>
          <p:cNvPr id="43" name="Text 40"/>
          <p:cNvSpPr txBox="1"/>
          <p:nvPr/>
        </p:nvSpPr>
        <p:spPr>
          <a:xfrm>
            <a:off x="640080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مَدْرَسَتِي</a:t>
            </a:r>
            <a:endParaRPr lang="ar-SA" sz="2400" dirty="0"/>
          </a:p>
        </p:txBody>
      </p:sp>
      <p:sp>
        <p:nvSpPr>
          <p:cNvPr id="44" name="Text 41"/>
          <p:cNvSpPr txBox="1"/>
          <p:nvPr/>
        </p:nvSpPr>
        <p:spPr>
          <a:xfrm>
            <a:off x="384048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مَدْرَسَةٌ</a:t>
            </a:r>
            <a:endParaRPr lang="ar-SA" sz="2400" dirty="0"/>
          </a:p>
        </p:txBody>
      </p:sp>
      <p:sp>
        <p:nvSpPr>
          <p:cNvPr id="45" name="Text 42"/>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tāʾ marbūṭa → t</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8979408" y="4724400"/>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bag (f.) · her car</a:t>
            </a:r>
            <a:endParaRPr lang="en-US" sz="1100" dirty="0"/>
          </a:p>
        </p:txBody>
      </p:sp>
      <p:sp>
        <p:nvSpPr>
          <p:cNvPr id="50" name="Text 47"/>
          <p:cNvSpPr txBox="1"/>
          <p:nvPr/>
        </p:nvSpPr>
        <p:spPr>
          <a:xfrm>
            <a:off x="640080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حَقِيبَتُكِ · سَيَّارَتُهَا</a:t>
            </a:r>
            <a:endParaRPr lang="ar-SA" sz="2400" dirty="0"/>
          </a:p>
        </p:txBody>
      </p:sp>
      <p:sp>
        <p:nvSpPr>
          <p:cNvPr id="51" name="Text 48"/>
          <p:cNvSpPr txBox="1"/>
          <p:nvPr/>
        </p:nvSpPr>
        <p:spPr>
          <a:xfrm>
            <a:off x="384048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حَقِيبَةٌ · سَيَّارَةٌ</a:t>
            </a:r>
            <a:endParaRPr lang="ar-SA" sz="2400" dirty="0"/>
          </a:p>
        </p:txBody>
      </p:sp>
      <p:sp>
        <p:nvSpPr>
          <p:cNvPr id="52" name="Text 49"/>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more </a:t>
            </a:r>
            <a:pPr algn="l" indent="0" marL="0">
              <a:buNone/>
            </a:pPr>
            <a:r>
              <a:rPr lang="ar-SA" altLang="en-US" sz="1450" dirty="0">
                <a:solidFill>
                  <a:srgbClr val="5A6472"/>
                </a:solidFill>
                <a:latin typeface="Amiri" pitchFamily="34" charset="0"/>
                <a:ea typeface="Amiri" pitchFamily="34" charset="-122"/>
                <a:cs typeface="Amiri" pitchFamily="34" charset="-120"/>
              </a:rPr>
              <a:t>ة</a:t>
            </a:r>
            <a:pPr algn="l" indent="0" marL="0">
              <a:buNone/>
            </a:pPr>
            <a:r>
              <a:rPr lang="en-US" sz="1100" dirty="0">
                <a:solidFill>
                  <a:srgbClr val="5A6472"/>
                </a:solidFill>
                <a:latin typeface="Calibri" pitchFamily="34" charset="0"/>
                <a:ea typeface="Calibri" pitchFamily="34" charset="-122"/>
                <a:cs typeface="Calibri" pitchFamily="34" charset="-120"/>
              </a:rPr>
              <a:t> nouns (website)</a:t>
            </a:r>
            <a:endParaRPr lang="en-US" sz="11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8979408" y="533857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his room · our family</a:t>
            </a:r>
            <a:endParaRPr lang="en-US" sz="1100" dirty="0"/>
          </a:p>
        </p:txBody>
      </p:sp>
      <p:sp>
        <p:nvSpPr>
          <p:cNvPr id="55" name="Text 52"/>
          <p:cNvSpPr txBox="1"/>
          <p:nvPr/>
        </p:nvSpPr>
        <p:spPr>
          <a:xfrm>
            <a:off x="640080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غُرْفَتُهُ · أُسْرَتُنَا</a:t>
            </a:r>
            <a:endParaRPr lang="ar-SA" sz="2400" dirty="0"/>
          </a:p>
        </p:txBody>
      </p:sp>
      <p:sp>
        <p:nvSpPr>
          <p:cNvPr id="56" name="Text 53"/>
          <p:cNvSpPr txBox="1"/>
          <p:nvPr/>
        </p:nvSpPr>
        <p:spPr>
          <a:xfrm>
            <a:off x="384048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غُرْفَةٌ · أُسْرَةٌ</a:t>
            </a:r>
            <a:endParaRPr lang="ar-SA" sz="2400" dirty="0"/>
          </a:p>
        </p:txBody>
      </p:sp>
      <p:sp>
        <p:nvSpPr>
          <p:cNvPr id="57" name="Text 54"/>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more </a:t>
            </a:r>
            <a:pPr algn="l" indent="0" marL="0">
              <a:buNone/>
            </a:pPr>
            <a:r>
              <a:rPr lang="ar-SA" altLang="en-US" sz="1450" dirty="0">
                <a:solidFill>
                  <a:srgbClr val="5A6472"/>
                </a:solidFill>
                <a:latin typeface="Amiri" pitchFamily="34" charset="0"/>
                <a:ea typeface="Amiri" pitchFamily="34" charset="-122"/>
                <a:cs typeface="Amiri" pitchFamily="34" charset="-120"/>
              </a:rPr>
              <a:t>ة</a:t>
            </a:r>
            <a:pPr algn="l" indent="0" marL="0">
              <a:buNone/>
            </a:pPr>
            <a:r>
              <a:rPr lang="en-US" sz="1100" dirty="0">
                <a:solidFill>
                  <a:srgbClr val="5A6472"/>
                </a:solidFill>
                <a:latin typeface="Calibri" pitchFamily="34" charset="0"/>
                <a:ea typeface="Calibri" pitchFamily="34" charset="-122"/>
                <a:cs typeface="Calibri" pitchFamily="34" charset="-120"/>
              </a:rPr>
              <a:t> nouns (website)</a:t>
            </a:r>
            <a:endParaRPr lang="en-US" sz="11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Stretch: the short vowel before the ending can change with the noun’s role — hādhā kitābuhu, but fī kitābihi. The owner stays the same.</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 PART 3 · FROM A WORD TO A SENTENCE (WEBSITE) · DEVELOP / STRETCH</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Using possessives in real communication</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التَّوَاصُلُ بِالْمِلْكِيَّةِ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Pattern 1 — This is my / your / his …: hādhā + possessive noun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Pattern 2 — ask about a possession: ayna …? / mā …? (website).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Choose -ka or -ki by the person you are SPEAKING TO.</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Pattern 3 — possessive noun + adjective: the adjective takes al- (website).</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adjective agrees with the THING owned, not the owner (website).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هَذِهِ حَقِيبَتُكِ.</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This is your bag (to one female).  ·  website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أَيْنَ كِتَابُكَ؟</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Where is your book? (to one male)  ·  website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مَا اسْمُهَا؟</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What is her name?  ·  website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سَيَّارَتُهُ الْجَدِيدَةُ سَرِيعَةٌ.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His new car is fast.  ·  website · car is feminine</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ea typeface="Calibri" pitchFamily="34" charset="-122"/>
                <a:cs typeface="Calibri" pitchFamily="34" charset="-120"/>
              </a:rPr>
              <a:t>AGREEMENT INSIGHT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car takes FEMININE adjectives because car is feminine — even though the owner is a man (website).</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الْمَدْرَسَتِي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مَدْرَسَتِي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“our house”.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بَيْتُنَا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الْبَيْتُنَا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بَيْتٌنَا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 bag”.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حَقِيبَةُهَا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حَقِيبَتُهَا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حَقِيبَهَا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“your book” — to two people.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كِتَابُكُمَا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كِتَابُكُمْ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كِتَابُهُمَا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مَدْرَسَةِي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الْمَدْرَسَتِي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مَدْرَسَتِي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Tāʾ marbūṭa changes to 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“our house”.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بَيْتُنَا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الْبَيْتُنَا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بَيْتٌنَا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Attach -nā directly and remove tanwīn.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 bag”.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حَقِيبَةُهَا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حَقِيبَتُهَا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حَقِيبَهَا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Ḥaqība becomes ḥaqībat- before the ending.</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“your book” — to two people.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كِتَابُكُمَا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كِتَابُكُمْ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كِتَابُهُمَا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Second person + dual = -kumā.</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a possessive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غُرْفَةٌ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room — ends in </a:t>
            </a:r>
            <a:pPr algn="l" indent="0" marL="0">
              <a:buNone/>
            </a:pPr>
            <a:r>
              <a:rPr lang="ar-SA" altLang="en-US" sz="1500" dirty="0">
                <a:solidFill>
                  <a:srgbClr val="1F2A37"/>
                </a:solidFill>
                <a:latin typeface="Amiri" pitchFamily="34" charset="0"/>
                <a:ea typeface="Amiri" pitchFamily="34" charset="-122"/>
                <a:cs typeface="Amiri" pitchFamily="34" charset="-120"/>
              </a:rPr>
              <a:t>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Owner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her → -hā.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Attach</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غُرْفَتُهَا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ة</a:t>
            </a:r>
            <a:pPr algn="l" indent="0" marL="0">
              <a:buNone/>
            </a:pPr>
            <a:r>
              <a:rPr lang="en-US" sz="1150" dirty="0">
                <a:solidFill>
                  <a:srgbClr val="1F2A37"/>
                </a:solidFill>
                <a:latin typeface="Calibri" pitchFamily="34" charset="0"/>
                <a:ea typeface="Calibri" pitchFamily="34" charset="-122"/>
                <a:cs typeface="Calibri" pitchFamily="34" charset="-120"/>
              </a:rPr>
              <a:t> → t, no tanwīn.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غُرْفَتُهَا كَبِيرَةٌ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Room is f. → kabīra.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MY …</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HIS / HER …</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34" charset="0"/>
                <a:ea typeface="Amiri" pitchFamily="34" charset="-122"/>
                <a:cs typeface="Amiri" pitchFamily="34" charset="-120"/>
              </a:rPr>
              <a:t>اسْمِي</a:t>
            </a:r>
            <a:pPr rtl="1" algn="r" indent="0" marL="0">
              <a:buNone/>
            </a:pPr>
            <a:r>
              <a:rPr lang="ar-SA" altLang="en-US" sz="2600" b="1" dirty="0">
                <a:solidFill>
                  <a:srgbClr val="1B3B6F"/>
                </a:solidFill>
                <a:latin typeface="Amiri" pitchFamily="34" charset="0"/>
                <a:ea typeface="Amiri" pitchFamily="34" charset="-122"/>
                <a:cs typeface="Amiri" pitchFamily="34" charset="-120"/>
              </a:rPr>
              <a:t> سَلْمَى. </a:t>
            </a:r>
            <a:pPr rtl="1" algn="r" indent="0" marL="0">
              <a:buNone/>
            </a:pPr>
            <a:r>
              <a:rPr lang="ar-SA" altLang="en-US" sz="2600" b="1" dirty="0">
                <a:solidFill>
                  <a:srgbClr val="0E7C86"/>
                </a:solidFill>
                <a:latin typeface="Amiri" pitchFamily="34" charset="0"/>
                <a:ea typeface="Amiri" pitchFamily="34" charset="-122"/>
                <a:cs typeface="Amiri" pitchFamily="34" charset="-120"/>
              </a:rPr>
              <a:t>غُرْفَتِي</a:t>
            </a:r>
            <a:pPr rtl="1" algn="r" indent="0" marL="0">
              <a:buNone/>
            </a:pPr>
            <a:r>
              <a:rPr lang="ar-SA" altLang="en-US" sz="2600" b="1" dirty="0">
                <a:solidFill>
                  <a:srgbClr val="1B3B6F"/>
                </a:solidFill>
                <a:latin typeface="Amiri" pitchFamily="34" charset="0"/>
                <a:ea typeface="Amiri" pitchFamily="34" charset="-122"/>
                <a:cs typeface="Amiri" pitchFamily="34" charset="-120"/>
              </a:rPr>
              <a:t> صَغِيرَةٌ، وَ</a:t>
            </a:r>
            <a:pPr rtl="1" algn="r" indent="0" marL="0">
              <a:buNone/>
            </a:pPr>
            <a:r>
              <a:rPr lang="ar-SA" altLang="en-US" sz="2600" b="1" dirty="0">
                <a:solidFill>
                  <a:srgbClr val="D6336C"/>
                </a:solidFill>
                <a:latin typeface="Amiri" pitchFamily="34" charset="0"/>
                <a:ea typeface="Amiri" pitchFamily="34" charset="-122"/>
                <a:cs typeface="Amiri" pitchFamily="34" charset="-120"/>
              </a:rPr>
              <a:t>غُرْفَتُهُ</a:t>
            </a:r>
            <a:pPr rtl="1" algn="r" indent="0" marL="0">
              <a:buNone/>
            </a:pPr>
            <a:r>
              <a:rPr lang="ar-SA" altLang="en-US" sz="2600" b="1" dirty="0">
                <a:solidFill>
                  <a:srgbClr val="1B3B6F"/>
                </a:solidFill>
                <a:latin typeface="Amiri" pitchFamily="34" charset="0"/>
                <a:ea typeface="Amiri" pitchFamily="34" charset="-122"/>
                <a:cs typeface="Amiri" pitchFamily="34" charset="-120"/>
              </a:rPr>
              <a:t> كَبِيرَةٌ، وَ</a:t>
            </a:r>
            <a:pPr rtl="1" algn="r" indent="0" marL="0">
              <a:buNone/>
            </a:pPr>
            <a:r>
              <a:rPr lang="ar-SA" altLang="en-US" sz="2600" b="1" dirty="0">
                <a:solidFill>
                  <a:srgbClr val="D6336C"/>
                </a:solidFill>
                <a:latin typeface="Amiri" pitchFamily="34" charset="0"/>
                <a:ea typeface="Amiri" pitchFamily="34" charset="-122"/>
                <a:cs typeface="Amiri" pitchFamily="34" charset="-120"/>
              </a:rPr>
              <a:t>حَقِيبَتُهَا</a:t>
            </a:r>
            <a:pPr rtl="1" algn="r" indent="0" marL="0">
              <a:buNone/>
            </a:pPr>
            <a:r>
              <a:rPr lang="ar-SA" altLang="en-US" sz="2600" b="1" dirty="0">
                <a:solidFill>
                  <a:srgbClr val="1B3B6F"/>
                </a:solidFill>
                <a:latin typeface="Amiri" pitchFamily="34" charset="0"/>
                <a:ea typeface="Amiri" pitchFamily="34" charset="-122"/>
                <a:cs typeface="Amiri" pitchFamily="34" charset="-120"/>
              </a:rPr>
              <a:t> زَرْقَاءُ.</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My name is Salma. My room is small, his room is big, and her bag is blue.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اِسْمِي لَيْلَى.</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name is Layla.</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بَيْتُنَا.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our house.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هَلْ هَذَا فَصْلُكُمْ؟</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Is this your classroom? (to a group)</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-kum.</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كِتَابُهَا الْجَدِيدُ مُفِيدٌ.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Her new book is useful.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 adjective.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WHOSE IS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Speaker, listener, or someone else?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لِمَنْ هَذَا؟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قَلَمِي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قَلَمُكَ</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قَلَمُهُ</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بَيْتُنَا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بَيْتُكِ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بَيْتُهَا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غُرْفَتُكُمْ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غُرْفَتُهُمْ</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My / our (speaker)</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Your (listener)</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His / her / their</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My / our (speaker)</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قَلَمِي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بَيْتُنَا</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Your (listener)</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قَلَمُكَ</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بَيْتُكِ</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غُرْفَتُكُمْ</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His / her / their</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قَلَمُهُ</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بَيْتُهَا</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غُرْفَتُهُمْ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OWNERSHIP SWITCH (WEBSITE GAME)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Change only the owner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غَيِّرِ الْمَالِكَ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This is … car</a:t>
            </a:r>
            <a:endParaRPr lang="en-US" sz="1100" dirty="0"/>
          </a:p>
        </p:txBody>
      </p:sp>
      <p:sp>
        <p:nvSpPr>
          <p:cNvPr id="17" name="Text 14"/>
          <p:cNvSpPr txBox="1"/>
          <p:nvPr/>
        </p:nvSpPr>
        <p:spPr>
          <a:xfrm>
            <a:off x="32735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This is … book</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Owner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498080" y="2267712"/>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هَذِهِ سَيَّارَتِي.</a:t>
            </a:r>
            <a:endParaRPr lang="ar-SA" sz="2400" dirty="0"/>
          </a:p>
        </p:txBody>
      </p:sp>
      <p:sp>
        <p:nvSpPr>
          <p:cNvPr id="21" name="Text 18"/>
          <p:cNvSpPr txBox="1"/>
          <p:nvPr/>
        </p:nvSpPr>
        <p:spPr>
          <a:xfrm>
            <a:off x="329184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هَذَا كِتَابِي.</a:t>
            </a:r>
            <a:endParaRPr lang="ar-SA" sz="24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498080" y="3004718"/>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هَذِهِ سَيَّارَتُهُ.</a:t>
            </a:r>
            <a:endParaRPr lang="ar-SA" sz="2400" dirty="0"/>
          </a:p>
        </p:txBody>
      </p:sp>
      <p:sp>
        <p:nvSpPr>
          <p:cNvPr id="27" name="Text 24"/>
          <p:cNvSpPr txBox="1"/>
          <p:nvPr/>
        </p:nvSpPr>
        <p:spPr>
          <a:xfrm>
            <a:off x="329184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هَذَا كِتَابُهُ.</a:t>
            </a:r>
            <a:endParaRPr lang="ar-SA" sz="24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498080" y="3741725"/>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هَذِهِ سَيَّارَتُنَا.</a:t>
            </a:r>
            <a:endParaRPr lang="ar-SA" sz="2400" dirty="0"/>
          </a:p>
        </p:txBody>
      </p:sp>
      <p:sp>
        <p:nvSpPr>
          <p:cNvPr id="33" name="Text 30"/>
          <p:cNvSpPr txBox="1"/>
          <p:nvPr/>
        </p:nvSpPr>
        <p:spPr>
          <a:xfrm>
            <a:off x="329184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هَذَا كِتَابُنَا.</a:t>
            </a:r>
            <a:endParaRPr lang="ar-SA" sz="24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498080" y="4478731"/>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هَذِهِ سَيَّارَتُكِ.</a:t>
            </a:r>
            <a:endParaRPr lang="ar-SA" sz="2400" dirty="0"/>
          </a:p>
        </p:txBody>
      </p:sp>
      <p:sp>
        <p:nvSpPr>
          <p:cNvPr id="39" name="Text 36"/>
          <p:cNvSpPr txBox="1"/>
          <p:nvPr/>
        </p:nvSpPr>
        <p:spPr>
          <a:xfrm>
            <a:off x="329184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هَذَا كِتَابُكِ.</a:t>
            </a:r>
            <a:endParaRPr lang="ar-SA" sz="2400" dirty="0"/>
          </a:p>
        </p:txBody>
      </p:sp>
      <p:sp>
        <p:nvSpPr>
          <p:cNvPr id="40" name="Text 37"/>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(one girl)</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498080" y="5215738"/>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هَذِهِ سَيَّارَتُهُنَّ.</a:t>
            </a:r>
            <a:endParaRPr lang="ar-SA" sz="2400" dirty="0"/>
          </a:p>
        </p:txBody>
      </p:sp>
      <p:sp>
        <p:nvSpPr>
          <p:cNvPr id="43" name="Text 40"/>
          <p:cNvSpPr txBox="1"/>
          <p:nvPr/>
        </p:nvSpPr>
        <p:spPr>
          <a:xfrm>
            <a:off x="329184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هَذَا كِتَابُهُنَّ.</a:t>
            </a:r>
            <a:endParaRPr lang="ar-SA" sz="24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(all female)</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game “Ownership Switch”: keep the noun accurate and change only the ending. Car always needs the 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الْكِتَابِي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 with an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مَدْرَسَةُهُ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happens to </a:t>
            </a:r>
            <a:pPr algn="l" indent="0" marL="0">
              <a:buNone/>
            </a:pPr>
            <a:r>
              <a:rPr lang="ar-SA" altLang="en-US" sz="1700" dirty="0">
                <a:solidFill>
                  <a:srgbClr val="5A6472"/>
                </a:solidFill>
                <a:latin typeface="Amiri" pitchFamily="34" charset="0"/>
                <a:ea typeface="Amiri" pitchFamily="34" charset="-122"/>
                <a:cs typeface="Amiri" pitchFamily="34" charset="-120"/>
              </a:rPr>
              <a:t>ة</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يَا مَرْيَمُ، أَيْنَ حَقِيبَتُكَ؟</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Boy or girl listening?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الْكِتَابِي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كِتَابِي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 al- with a possessive ending (website).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مَدْرَسَةُهُ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مَدْرَسَتُهُ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Tāʾ marbūṭa becomes t (website).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يَا مَرْيَمُ، أَيْنَ حَقِيبَتُكَ؟</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يَا مَرْيَمُ، أَيْنَ حَقِيبَتُكِ؟</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Speaking to a girl → -ki.</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ea typeface="Calibri" pitchFamily="34" charset="-122"/>
                <a:cs typeface="Calibri" pitchFamily="34" charset="-120"/>
              </a:rPr>
              <a:t>WE DO · GUIDED PRACTICE · WEBSITE “MEANING AND AGREEMENT” CHECK, RE-KEYED</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“Where is your bag?” — to one female.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حَقِيبَتُكَ؟</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حَقِيبَتُهَا؟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حَقِيبَتُكِ؟</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their house” — two owners.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بَيْتُهُمْ.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بَيْتُهُمَا.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بَيْتُكُمَا.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“His new car is fast.”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سَيَّارَتُهُ الْجَدِيدُ سَرِيعٌ.</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سَيَّارَتُهُ الْجَدِيدَةُ سَرِيعَةٌ.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سَيَّارَتُهَا الْجَدِيدَةُ سَرِيعَةٌ.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“Is this your classroom?” — to a mixed group.</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هَذَا فَصْلُهُمْ؟</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هَذَا فَصْلُكُنَّ؟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هَذَا فَصْلُكُمْ؟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“Where is your bag?” — to one female.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حَقِيبَتُكَ؟</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حَقِيبَتُهَا؟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أَيْنَ حَقِيبَتُكِ؟</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female listener takes -ki.</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their house” — two owners.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بَيْتُهُمْ.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بَيْتُهُمَا.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بَيْتُكُمَا.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Third person + dual = -humā.</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“His new car is fast.”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سَيَّارَتُهُ الْجَدِيدُ سَرِيعٌ.</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سَيَّارَتُهُ الْجَدِيدَةُ سَرِيعَةٌ.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سَيَّارَتُهَا الْجَدِيدَةُ سَرِيعَةٌ.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Car is feminine, so the adjectives are feminine.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“Is this your classroom?” — to a mixed group.</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هَذَا فَصْلُهُمْ؟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هَذَا فَصْلُكُنَّ؟</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هَذَا فَصْلُكُمْ؟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mixed group being addressed takes -kum.</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 AND NOTICE · WEBSITE READING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family and our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200" dirty="0">
                <a:solidFill>
                  <a:srgbClr val="1F2A37"/>
                </a:solidFill>
                <a:latin typeface="Amiri" pitchFamily="34" charset="0"/>
                <a:ea typeface="Amiri" pitchFamily="34" charset="-122"/>
                <a:cs typeface="Amiri" pitchFamily="34" charset="-120"/>
              </a:rPr>
              <a:t>اِسْمِي سَلْمَى، وَهَذِهِ أُسْرَتِي. بَيْتُنَا قَرِيبٌ مِنْ مَدْرَسَتِي. غُرْفَتِي صَغِيرَةٌ وَلَكِنَّهَا مُرَتَّبَةٌ. هَذَا أَخِي خَالِدٌ. غُرْفَتُهُ كَبِيرَةٌ، وَحَاسُوبُهُ جَدِيدٌ. هَذِهِ أُخْتِي مَرْيَمُ. حَقِيبَتُهَا زَرْقَاءُ، وَكُتُبُهَا فِي غُرْفَتِهَا. وَالِدَايَ مُعَلِّمَانِ، وَمَدْرَسَتُهُمَا قَرِيبَةٌ مِنْ بَيْتِنَا. نَحْنُ نُحِبُّ بَيْتَنَا وَحَدِيقَتَنَا.</a:t>
            </a:r>
            <a:endParaRPr lang="ar-SA" sz="22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أُسْرَتِي</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family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مُرَتَّبَةٌ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tidy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حَاسُوبُهُ</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his computer</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زَرْقَاءُ</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blue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وَالِدَايَ</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parents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حَدِيقَتَنَا</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our garden</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does “our house” belong to?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 only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 and her family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Khalid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room is big?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Khalid’s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bag is blue?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Khalid’s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works at the school mentioned with -humā?</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children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two parents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girls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does “our house” belong to?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Salma only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Salma and her family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Khalid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-nā means “our”.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room is big?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Maryam’s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Salma’s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Khalid’s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Ghurfatuhu — -hu = his (Khalid).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bag is blue?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Maryam’s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Salma’s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Khalid’s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Ḥaqībatuhā — -hā = her (Maryam).</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works at the school mentioned with -humā?</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children</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two parents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girls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-humā marks two owners.</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whose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اسْمُكَ؟ مَا اسْمُ أَبِيكَ؟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غُرْفَتَكَ وَغُرْفَةَ أَخِيكَ أَوْ أُخْتِكَ.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بَيْتَكُمْ وَأَشْيَاءَ أُسْرَتِكَ.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اسْمِي ___ ، وَاسْمُ أَبِي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غُرْفَتِي ___ ، وَغُرْفَتُهَا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بَيْتُنَا ___ ، وَسَيَّارَتُنَا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أَيْنَ حَقِيبَتُكِ؟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Where is your bag?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حَقِيبَتِي فِي غُرْفَتِي، وَحَقِيبَةُ أَخِي فِي سَيَّارَتِهِ.</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My bag is in my room, and my brother’s bag is in his car.</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sentences with my and our.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ismī, baytunā, ghurfatī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his, her and their, with </a:t>
            </a:r>
            <a:pPr algn="l" indent="0" marL="0">
              <a:buNone/>
            </a:pPr>
            <a:r>
              <a:rPr lang="ar-SA" altLang="en-US" sz="1800" b="1" dirty="0">
                <a:solidFill>
                  <a:srgbClr val="1F2A37"/>
                </a:solidFill>
                <a:latin typeface="Amiri" pitchFamily="34" charset="0"/>
                <a:ea typeface="Amiri" pitchFamily="34" charset="-122"/>
                <a:cs typeface="Amiri" pitchFamily="34" charset="-120"/>
              </a:rPr>
              <a:t>ة</a:t>
            </a:r>
            <a:pPr algn="l" indent="0" marL="0">
              <a:buNone/>
            </a:pPr>
            <a:r>
              <a:rPr lang="en-US" sz="1400" b="1" dirty="0">
                <a:solidFill>
                  <a:srgbClr val="1F2A37"/>
                </a:solidFill>
                <a:latin typeface="Calibri" pitchFamily="34" charset="0"/>
                <a:ea typeface="Calibri" pitchFamily="34" charset="-122"/>
                <a:cs typeface="Calibri" pitchFamily="34" charset="-120"/>
              </a:rPr>
              <a:t> nouns.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Check the t: madrasatuhu.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family possessions with adjectives.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Adjective agrees with the thing owned.</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غُرْفَتُهُ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room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حَقِيبَتُهَا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Her bag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مَدْرَسَتُهُمْ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Their school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Where is your book?</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name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بَيْتُنَا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Our house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غُرْفَتِي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room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bag.</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ـِي  ·  ـنَا  ·  ـكَ  ·  ـكِ  ·  ـهُ  ·  ـهَا  ·  ـهُمْ  ·  ـهُنَّ  ·  كَبِيرٌ  ·  صَغِيرَةٌ  ·  جَدِيدٌ  ·  قَرِيبَةٌ  ·  مُرَتَّبَةٌ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8–10 sentences about your family and home, showing who owns what.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Five different possessive endings.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a:t>
            </a:r>
            <a:pPr algn="l" indent="0" marL="0">
              <a:buNone/>
            </a:pPr>
            <a:r>
              <a:rPr lang="ar-SA" altLang="en-US" sz="1550" dirty="0">
                <a:solidFill>
                  <a:srgbClr val="1F2A37"/>
                </a:solidFill>
                <a:latin typeface="Amiri" pitchFamily="34" charset="0"/>
                <a:ea typeface="Amiri" pitchFamily="34" charset="-122"/>
                <a:cs typeface="Amiri" pitchFamily="34" charset="-120"/>
              </a:rPr>
              <a:t>ة</a:t>
            </a:r>
            <a:pPr algn="l" indent="0" marL="0">
              <a:buNone/>
            </a:pPr>
            <a:r>
              <a:rPr lang="en-US" sz="1200" dirty="0">
                <a:solidFill>
                  <a:srgbClr val="1F2A37"/>
                </a:solidFill>
                <a:latin typeface="Calibri" pitchFamily="34" charset="0"/>
                <a:ea typeface="Calibri" pitchFamily="34" charset="-122"/>
                <a:cs typeface="Calibri" pitchFamily="34" charset="-120"/>
              </a:rPr>
              <a:t> nouns with t before the ending.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No al- and no tanwīn before an ending.</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question: ayna …? or mā …?</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possessive noun + adjective with correct agreement.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اسْمُهُ</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his name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سَيَّارَتُنَا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our car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أُسْرَتِي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family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غُرْفَتُهَا الْجَدِيدَةُ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her new room</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مَدْرَسَتُهُمْ</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their school</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بَيْتُكِ؟</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where is your house? (f.)</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اسْمِي آدَمُ، وَهَذِهِ أُسْرَتِي. أَبِي طَبِيبٌ، وَمُسْتَشْفَاهُ قَرِيبٌ مِنْ بَيْتِنَا. أُمِّي مُعَلِّمَةٌ، وَمَدْرَسَتُهَا كَبِيرَةٌ. أَخِي يُوسُفُ عِنْدَهُ دَرَّاجَةٌ؛ دَرَّاجَتُهُ الْجَدِيدَةُ حَمْرَاءُ. أُخْتَايَ تَوْأَمَانِ، وَغُرْفَتُهُمَا مُرَتَّبَةٌ دَائِمًا. غُرْفَتِي صَغِيرَةٌ، لَكِنِّي أُحِبُّهَا. نَحْنُ نُحِبُّ بَيْتَنَا كَثِيرًا.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name is Adam, and this is my family. My father is a doctor, and his hospital is near our house. My mother is a teacher, and her school is big. My brother Yusuf has a bike; his new bike is red. My two sisters are twins, and their room is always tidy. My room is small, but I love it. We love our house very much.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my / our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his / her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their (dual)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ة → 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ending matches the right owner.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 al- or tanwīn before an ending.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t>
            </a:r>
            <a:pPr algn="l" indent="0" marL="0">
              <a:buNone/>
            </a:pPr>
            <a:r>
              <a:rPr lang="ar-SA" altLang="en-US" sz="1700" dirty="0">
                <a:solidFill>
                  <a:srgbClr val="1F2A37"/>
                </a:solidFill>
                <a:latin typeface="Amiri" pitchFamily="34" charset="0"/>
                <a:ea typeface="Amiri" pitchFamily="34" charset="-122"/>
                <a:cs typeface="Amiri" pitchFamily="34" charset="-120"/>
              </a:rPr>
              <a:t>ة</a:t>
            </a:r>
            <a:pPr algn="l" indent="0" marL="0">
              <a:buNone/>
            </a:pPr>
            <a:r>
              <a:rPr lang="en-US" sz="1300" dirty="0">
                <a:solidFill>
                  <a:srgbClr val="1F2A37"/>
                </a:solidFill>
                <a:latin typeface="Calibri" pitchFamily="34" charset="0"/>
                <a:ea typeface="Calibri" pitchFamily="34" charset="-122"/>
                <a:cs typeface="Calibri" pitchFamily="34" charset="-120"/>
              </a:rPr>
              <a:t> nouns show t before the ending.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chose -ka or -ki by the listener.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Adjectives agree with the thing owned.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“their room” — female plural owners.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غُرْفَتُهُنَّ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غُرْفَتُهُمْ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غُرْفَتُكُنَّ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“our family”.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أُسْرَةُنَا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أُسْرَتُنَا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الْأُسْرَتُنَا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“What is her name?”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“their room” — female plural owners.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غُرْفَتُهُنَّ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غُرْفَتُهُمْ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غُرْفَتُكُنَّ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Third person + feminine plural = -hunna.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“our family”.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أُسْرَةُنَا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أُسْرَتُنَا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الْأُسْرَتُنَا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Usra becomes usrat- before -nā.</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“What is her name?”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مَا اسْمُهَا؟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 اسْمُهُ؟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 اسْمُكِ؟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-hā means “her”.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GM-PRO-02 · Pronouns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GM-PRO-03: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GM-PRO-03 · Object Pronoun Suffixes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يُسَاعِدُنِي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helps me</a:t>
            </a:r>
            <a:pPr indent="0" marL="0">
              <a:buNone/>
            </a:pPr>
            <a:r>
              <a:rPr lang="en-US" sz="1000" i="1" dirty="0">
                <a:solidFill>
                  <a:srgbClr val="5A6472"/>
                </a:solidFill>
                <a:latin typeface="Calibri" pitchFamily="34" charset="0"/>
                <a:ea typeface="Calibri" pitchFamily="34" charset="-122"/>
                <a:cs typeface="Calibri" pitchFamily="34" charset="-120"/>
              </a:rPr>
              <a:t>  -nī</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يُسَاعِدُكَ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helps you (m.)</a:t>
            </a:r>
            <a:pPr indent="0" marL="0">
              <a:buNone/>
            </a:pPr>
            <a:r>
              <a:rPr lang="en-US" sz="1000" i="1" dirty="0">
                <a:solidFill>
                  <a:srgbClr val="5A6472"/>
                </a:solidFill>
                <a:latin typeface="Calibri" pitchFamily="34" charset="0"/>
                <a:ea typeface="Calibri" pitchFamily="34" charset="-122"/>
                <a:cs typeface="Calibri" pitchFamily="34" charset="-120"/>
              </a:rPr>
              <a:t>  -ka</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يُسَاعِدُهُ</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helps him</a:t>
            </a:r>
            <a:pPr indent="0" marL="0">
              <a:buNone/>
            </a:pPr>
            <a:r>
              <a:rPr lang="en-US" sz="1000" i="1" dirty="0">
                <a:solidFill>
                  <a:srgbClr val="5A6472"/>
                </a:solidFill>
                <a:latin typeface="Calibri" pitchFamily="34" charset="0"/>
                <a:ea typeface="Calibri" pitchFamily="34" charset="-122"/>
                <a:cs typeface="Calibri" pitchFamily="34" charset="-120"/>
              </a:rPr>
              <a:t>  -hu</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يُسَاعِدُهَا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helps her</a:t>
            </a:r>
            <a:pPr indent="0" marL="0">
              <a:buNone/>
            </a:pPr>
            <a:r>
              <a:rPr lang="en-US" sz="1000" i="1" dirty="0">
                <a:solidFill>
                  <a:srgbClr val="5A6472"/>
                </a:solidFill>
                <a:latin typeface="Calibri" pitchFamily="34" charset="0"/>
                <a:ea typeface="Calibri" pitchFamily="34" charset="-122"/>
                <a:cs typeface="Calibri" pitchFamily="34" charset="-120"/>
              </a:rPr>
              <a:t>  -hā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يُسَاعِدُنَا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helps us</a:t>
            </a:r>
            <a:pPr indent="0" marL="0">
              <a:buNone/>
            </a:pPr>
            <a:r>
              <a:rPr lang="en-US" sz="1000" i="1" dirty="0">
                <a:solidFill>
                  <a:srgbClr val="5A6472"/>
                </a:solidFill>
                <a:latin typeface="Calibri" pitchFamily="34" charset="0"/>
                <a:ea typeface="Calibri" pitchFamily="34" charset="-122"/>
                <a:cs typeface="Calibri" pitchFamily="34" charset="-120"/>
              </a:rPr>
              <a:t>  -nā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You know kitābī (my book). Why do you think “helps me” is yusāʿidunī and not “yusāʿidī”?</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كِتَابُهُ · يُسَاعِدُهُ — كِتَابُهَا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my, your, his, her and our with five nouns.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Label ten objects at home with their owners.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8–10 sentences: my family and our home.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GM-PRO-02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50" b="1" dirty="0">
                <a:solidFill>
                  <a:srgbClr val="FFFFFF"/>
                </a:solidFill>
                <a:latin typeface="Cambria" pitchFamily="34" charset="0"/>
                <a:ea typeface="Cambria" pitchFamily="34" charset="-122"/>
                <a:cs typeface="Cambria" pitchFamily="34" charset="-120"/>
              </a:rPr>
              <a:t>GM-PRO-03 · Object Pronoun Suffixes</a:t>
            </a:r>
            <a:endParaRPr lang="en-US" sz="25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ضَمَائِرُ الْمَفْعُولِ بِهِ</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one word — noun + owner ending · no al-, no tanwīn · </a:t>
            </a:r>
            <a:pPr algn="l" indent="0" marL="0">
              <a:buNone/>
            </a:pPr>
            <a:r>
              <a:rPr lang="ar-SA" altLang="en-US" sz="1700" b="1" dirty="0">
                <a:solidFill>
                  <a:srgbClr val="FFFFFF"/>
                </a:solidFill>
                <a:latin typeface="Amiri" pitchFamily="34" charset="0"/>
                <a:ea typeface="Amiri" pitchFamily="34" charset="-122"/>
                <a:cs typeface="Amiri" pitchFamily="34" charset="-120"/>
              </a:rPr>
              <a:t>ة</a:t>
            </a:r>
            <a:pPr algn="l" indent="0" marL="0">
              <a:buNone/>
            </a:pPr>
            <a:r>
              <a:rPr lang="en-US" sz="1300" b="1" dirty="0">
                <a:solidFill>
                  <a:srgbClr val="FFFFFF"/>
                </a:solidFill>
                <a:latin typeface="Calibri" pitchFamily="34" charset="0"/>
                <a:ea typeface="Calibri" pitchFamily="34" charset="-122"/>
                <a:cs typeface="Calibri" pitchFamily="34" charset="-120"/>
              </a:rPr>
              <a:t> becomes t · -ka for a boy, -ki for a girl · the adjective agrees with the thing owned.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GM-PRO-02 · Possessive Pronoun Suffixes</dc:title>
  <dc:subject>PptxGenJS Presentation</dc:subject>
  <dc:creator>Al Madina Online School · Arabic Department</dc:creator>
  <cp:lastModifiedBy>Al Madina Online School · Arabic Department</cp:lastModifiedBy>
  <cp:revision>1</cp:revision>
  <dcterms:created xsi:type="dcterms:W3CDTF">2026-10-03T20:19:34Z</dcterms:created>
  <dcterms:modified xsi:type="dcterms:W3CDTF">2026-10-03T20:19:34Z</dcterms:modified>
</cp:coreProperties>
</file>